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bin" ContentType="application/vnd.openxmlformats-officedocument.oleObject"/>
  <Default Extension="png" ContentType="image/png"/>
  <Default Extension="gif" ContentType="image/gif"/>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78" r:id="rId12"/>
    <p:sldMasterId id="2147483791" r:id="rId13"/>
    <p:sldMasterId id="2147483804" r:id="rId14"/>
    <p:sldMasterId id="2147483817" r:id="rId15"/>
    <p:sldMasterId id="2147483830" r:id="rId16"/>
    <p:sldMasterId id="2147483843" r:id="rId17"/>
  </p:sldMasterIdLst>
  <p:notesMasterIdLst>
    <p:notesMasterId r:id="rId19"/>
  </p:notesMasterIdLst>
  <p:handoutMasterIdLst>
    <p:handoutMasterId r:id="rId150"/>
  </p:handoutMasterIdLst>
  <p:sldIdLst>
    <p:sldId id="256" r:id="rId18"/>
    <p:sldId id="1282" r:id="rId20"/>
    <p:sldId id="268" r:id="rId21"/>
    <p:sldId id="314" r:id="rId22"/>
    <p:sldId id="1284" r:id="rId23"/>
    <p:sldId id="271" r:id="rId24"/>
    <p:sldId id="315" r:id="rId25"/>
    <p:sldId id="331" r:id="rId26"/>
    <p:sldId id="330" r:id="rId27"/>
    <p:sldId id="290" r:id="rId28"/>
    <p:sldId id="316" r:id="rId29"/>
    <p:sldId id="292" r:id="rId30"/>
    <p:sldId id="317" r:id="rId31"/>
    <p:sldId id="293" r:id="rId32"/>
    <p:sldId id="320" r:id="rId33"/>
    <p:sldId id="294" r:id="rId34"/>
    <p:sldId id="295" r:id="rId35"/>
    <p:sldId id="321" r:id="rId36"/>
    <p:sldId id="319" r:id="rId37"/>
    <p:sldId id="322" r:id="rId38"/>
    <p:sldId id="323" r:id="rId39"/>
    <p:sldId id="267" r:id="rId40"/>
    <p:sldId id="324" r:id="rId41"/>
    <p:sldId id="272" r:id="rId42"/>
    <p:sldId id="325" r:id="rId43"/>
    <p:sldId id="650" r:id="rId44"/>
    <p:sldId id="653" r:id="rId45"/>
    <p:sldId id="654" r:id="rId46"/>
    <p:sldId id="352" r:id="rId47"/>
    <p:sldId id="280" r:id="rId48"/>
    <p:sldId id="747" r:id="rId49"/>
    <p:sldId id="749" r:id="rId50"/>
    <p:sldId id="748" r:id="rId51"/>
    <p:sldId id="750" r:id="rId52"/>
    <p:sldId id="751" r:id="rId53"/>
    <p:sldId id="754" r:id="rId54"/>
    <p:sldId id="755" r:id="rId55"/>
    <p:sldId id="756" r:id="rId56"/>
    <p:sldId id="1409" r:id="rId57"/>
    <p:sldId id="1410" r:id="rId58"/>
    <p:sldId id="380" r:id="rId59"/>
    <p:sldId id="655" r:id="rId60"/>
    <p:sldId id="536" r:id="rId61"/>
    <p:sldId id="537" r:id="rId62"/>
    <p:sldId id="538" r:id="rId63"/>
    <p:sldId id="539" r:id="rId64"/>
    <p:sldId id="274" r:id="rId65"/>
    <p:sldId id="386" r:id="rId66"/>
    <p:sldId id="326" r:id="rId67"/>
    <p:sldId id="546" r:id="rId68"/>
    <p:sldId id="1112" r:id="rId69"/>
    <p:sldId id="1113" r:id="rId70"/>
    <p:sldId id="1114" r:id="rId71"/>
    <p:sldId id="540" r:id="rId72"/>
    <p:sldId id="541" r:id="rId73"/>
    <p:sldId id="542" r:id="rId74"/>
    <p:sldId id="859" r:id="rId75"/>
    <p:sldId id="657" r:id="rId76"/>
    <p:sldId id="975" r:id="rId77"/>
    <p:sldId id="658" r:id="rId78"/>
    <p:sldId id="976" r:id="rId79"/>
    <p:sldId id="659" r:id="rId80"/>
    <p:sldId id="660" r:id="rId81"/>
    <p:sldId id="661" r:id="rId82"/>
    <p:sldId id="663" r:id="rId83"/>
    <p:sldId id="978" r:id="rId84"/>
    <p:sldId id="303" r:id="rId85"/>
    <p:sldId id="283" r:id="rId86"/>
    <p:sldId id="387" r:id="rId87"/>
    <p:sldId id="279" r:id="rId88"/>
    <p:sldId id="977" r:id="rId89"/>
    <p:sldId id="328" r:id="rId90"/>
    <p:sldId id="354" r:id="rId91"/>
    <p:sldId id="662" r:id="rId92"/>
    <p:sldId id="391" r:id="rId93"/>
    <p:sldId id="470" r:id="rId94"/>
    <p:sldId id="471" r:id="rId95"/>
    <p:sldId id="925" r:id="rId96"/>
    <p:sldId id="1230" r:id="rId97"/>
    <p:sldId id="1231" r:id="rId98"/>
    <p:sldId id="1232" r:id="rId99"/>
    <p:sldId id="548" r:id="rId100"/>
    <p:sldId id="465" r:id="rId101"/>
    <p:sldId id="466" r:id="rId102"/>
    <p:sldId id="483" r:id="rId103"/>
    <p:sldId id="278" r:id="rId104"/>
    <p:sldId id="1040" r:id="rId105"/>
    <p:sldId id="484" r:id="rId106"/>
    <p:sldId id="1186" r:id="rId107"/>
    <p:sldId id="286" r:id="rId108"/>
    <p:sldId id="467" r:id="rId109"/>
    <p:sldId id="475" r:id="rId110"/>
    <p:sldId id="1041" r:id="rId111"/>
    <p:sldId id="288" r:id="rId112"/>
    <p:sldId id="287" r:id="rId113"/>
    <p:sldId id="485" r:id="rId114"/>
    <p:sldId id="1081" r:id="rId115"/>
    <p:sldId id="363" r:id="rId116"/>
    <p:sldId id="472" r:id="rId117"/>
    <p:sldId id="473" r:id="rId118"/>
    <p:sldId id="474" r:id="rId119"/>
    <p:sldId id="478" r:id="rId120"/>
    <p:sldId id="479" r:id="rId121"/>
    <p:sldId id="480" r:id="rId122"/>
    <p:sldId id="476" r:id="rId123"/>
    <p:sldId id="477" r:id="rId124"/>
    <p:sldId id="1411" r:id="rId125"/>
    <p:sldId id="298" r:id="rId126"/>
    <p:sldId id="299" r:id="rId127"/>
    <p:sldId id="300" r:id="rId128"/>
    <p:sldId id="301" r:id="rId129"/>
    <p:sldId id="752" r:id="rId130"/>
    <p:sldId id="753" r:id="rId131"/>
    <p:sldId id="304" r:id="rId132"/>
    <p:sldId id="305" r:id="rId133"/>
    <p:sldId id="309" r:id="rId134"/>
    <p:sldId id="311" r:id="rId135"/>
    <p:sldId id="306" r:id="rId136"/>
    <p:sldId id="382" r:id="rId137"/>
    <p:sldId id="357" r:id="rId138"/>
    <p:sldId id="307" r:id="rId139"/>
    <p:sldId id="358" r:id="rId140"/>
    <p:sldId id="491" r:id="rId141"/>
    <p:sldId id="308" r:id="rId142"/>
    <p:sldId id="360" r:id="rId143"/>
    <p:sldId id="383" r:id="rId144"/>
    <p:sldId id="489" r:id="rId145"/>
    <p:sldId id="1187" r:id="rId146"/>
    <p:sldId id="1188" r:id="rId147"/>
    <p:sldId id="1189" r:id="rId148"/>
    <p:sldId id="486" r:id="rId149"/>
  </p:sldIdLst>
  <p:sldSz cx="9144000" cy="6858000" type="screen4x3"/>
  <p:notesSz cx="6858000" cy="9144000"/>
  <p:custDataLst>
    <p:tags r:id="rId155"/>
  </p:custDataLst>
  <p:defaultTextStyle>
    <a:defPPr>
      <a:defRPr lang="zh-CN"/>
    </a:defPPr>
    <a:lvl1pPr algn="l" rtl="0" fontAlgn="base">
      <a:spcBef>
        <a:spcPct val="0"/>
      </a:spcBef>
      <a:spcAft>
        <a:spcPct val="0"/>
      </a:spcAft>
      <a:defRPr kumimoji="1" sz="2000" kern="1200">
        <a:solidFill>
          <a:schemeClr val="tx1"/>
        </a:solidFill>
        <a:latin typeface="Times New Roman" panose="02020603050405020304" pitchFamily="18" charset="0"/>
        <a:ea typeface="华文中宋" panose="02010600040101010101" pitchFamily="2" charset="-122"/>
        <a:cs typeface="+mn-cs"/>
      </a:defRPr>
    </a:lvl1pPr>
    <a:lvl2pPr marL="457200" algn="l" rtl="0" fontAlgn="base">
      <a:spcBef>
        <a:spcPct val="0"/>
      </a:spcBef>
      <a:spcAft>
        <a:spcPct val="0"/>
      </a:spcAft>
      <a:defRPr kumimoji="1" sz="2000" kern="1200">
        <a:solidFill>
          <a:schemeClr val="tx1"/>
        </a:solidFill>
        <a:latin typeface="Times New Roman" panose="02020603050405020304" pitchFamily="18" charset="0"/>
        <a:ea typeface="华文中宋" panose="02010600040101010101" pitchFamily="2" charset="-122"/>
        <a:cs typeface="+mn-cs"/>
      </a:defRPr>
    </a:lvl2pPr>
    <a:lvl3pPr marL="914400" algn="l" rtl="0" fontAlgn="base">
      <a:spcBef>
        <a:spcPct val="0"/>
      </a:spcBef>
      <a:spcAft>
        <a:spcPct val="0"/>
      </a:spcAft>
      <a:defRPr kumimoji="1" sz="2000" kern="1200">
        <a:solidFill>
          <a:schemeClr val="tx1"/>
        </a:solidFill>
        <a:latin typeface="Times New Roman" panose="02020603050405020304" pitchFamily="18" charset="0"/>
        <a:ea typeface="华文中宋" panose="02010600040101010101" pitchFamily="2" charset="-122"/>
        <a:cs typeface="+mn-cs"/>
      </a:defRPr>
    </a:lvl3pPr>
    <a:lvl4pPr marL="1371600" algn="l" rtl="0" fontAlgn="base">
      <a:spcBef>
        <a:spcPct val="0"/>
      </a:spcBef>
      <a:spcAft>
        <a:spcPct val="0"/>
      </a:spcAft>
      <a:defRPr kumimoji="1" sz="2000" kern="1200">
        <a:solidFill>
          <a:schemeClr val="tx1"/>
        </a:solidFill>
        <a:latin typeface="Times New Roman" panose="02020603050405020304" pitchFamily="18" charset="0"/>
        <a:ea typeface="华文中宋" panose="02010600040101010101" pitchFamily="2" charset="-122"/>
        <a:cs typeface="+mn-cs"/>
      </a:defRPr>
    </a:lvl4pPr>
    <a:lvl5pPr marL="1828800" algn="l" rtl="0" fontAlgn="base">
      <a:spcBef>
        <a:spcPct val="0"/>
      </a:spcBef>
      <a:spcAft>
        <a:spcPct val="0"/>
      </a:spcAft>
      <a:defRPr kumimoji="1" sz="2000" kern="1200">
        <a:solidFill>
          <a:schemeClr val="tx1"/>
        </a:solidFill>
        <a:latin typeface="Times New Roman" panose="02020603050405020304" pitchFamily="18" charset="0"/>
        <a:ea typeface="华文中宋" panose="0201060004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华文中宋" panose="0201060004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华文中宋" panose="0201060004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华文中宋" panose="0201060004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华文中宋" panose="02010600040101010101" pitchFamily="2" charset="-122"/>
        <a:cs typeface="+mn-cs"/>
      </a:defRPr>
    </a:lvl9pPr>
  </p:defaultTextStyle>
  <p:extLst>
    <p:ext uri="{521415D9-36F7-43E2-AB2F-B90AF26B5E84}">
      <p14:sectionLst xmlns:p14="http://schemas.microsoft.com/office/powerpoint/2010/main">
        <p14:section name="默认节" id="{49d8475e-2e83-4e88-a235-e2a3b2169b72}">
          <p14:sldIdLst>
            <p14:sldId id="256"/>
            <p14:sldId id="1282"/>
            <p14:sldId id="268"/>
            <p14:sldId id="314"/>
            <p14:sldId id="1284"/>
            <p14:sldId id="271"/>
            <p14:sldId id="315"/>
            <p14:sldId id="331"/>
            <p14:sldId id="330"/>
            <p14:sldId id="290"/>
            <p14:sldId id="316"/>
            <p14:sldId id="292"/>
            <p14:sldId id="317"/>
            <p14:sldId id="293"/>
            <p14:sldId id="320"/>
            <p14:sldId id="294"/>
            <p14:sldId id="295"/>
            <p14:sldId id="321"/>
            <p14:sldId id="319"/>
            <p14:sldId id="322"/>
            <p14:sldId id="323"/>
            <p14:sldId id="267"/>
            <p14:sldId id="324"/>
            <p14:sldId id="272"/>
            <p14:sldId id="325"/>
            <p14:sldId id="650"/>
            <p14:sldId id="653"/>
            <p14:sldId id="654"/>
            <p14:sldId id="352"/>
            <p14:sldId id="280"/>
            <p14:sldId id="747"/>
            <p14:sldId id="749"/>
            <p14:sldId id="748"/>
            <p14:sldId id="750"/>
            <p14:sldId id="751"/>
            <p14:sldId id="754"/>
            <p14:sldId id="755"/>
            <p14:sldId id="756"/>
            <p14:sldId id="1409"/>
            <p14:sldId id="1410"/>
            <p14:sldId id="380"/>
            <p14:sldId id="655"/>
            <p14:sldId id="536"/>
            <p14:sldId id="537"/>
            <p14:sldId id="538"/>
            <p14:sldId id="539"/>
            <p14:sldId id="274"/>
            <p14:sldId id="386"/>
            <p14:sldId id="326"/>
            <p14:sldId id="546"/>
            <p14:sldId id="1112"/>
            <p14:sldId id="1113"/>
            <p14:sldId id="1114"/>
            <p14:sldId id="540"/>
            <p14:sldId id="541"/>
            <p14:sldId id="542"/>
            <p14:sldId id="859"/>
            <p14:sldId id="657"/>
            <p14:sldId id="975"/>
            <p14:sldId id="658"/>
            <p14:sldId id="976"/>
            <p14:sldId id="659"/>
            <p14:sldId id="660"/>
            <p14:sldId id="661"/>
            <p14:sldId id="663"/>
            <p14:sldId id="978"/>
          </p14:sldIdLst>
        </p14:section>
        <p14:section name="无标题节" id="{b9469111-5146-4e98-b942-5a853a8053db}">
          <p14:sldIdLst>
            <p14:sldId id="303"/>
            <p14:sldId id="283"/>
            <p14:sldId id="387"/>
            <p14:sldId id="279"/>
            <p14:sldId id="977"/>
            <p14:sldId id="328"/>
            <p14:sldId id="354"/>
            <p14:sldId id="662"/>
            <p14:sldId id="391"/>
            <p14:sldId id="470"/>
            <p14:sldId id="471"/>
            <p14:sldId id="925"/>
            <p14:sldId id="1230"/>
            <p14:sldId id="1231"/>
            <p14:sldId id="1232"/>
            <p14:sldId id="548"/>
            <p14:sldId id="465"/>
            <p14:sldId id="466"/>
            <p14:sldId id="483"/>
            <p14:sldId id="278"/>
            <p14:sldId id="1040"/>
            <p14:sldId id="484"/>
            <p14:sldId id="1186"/>
            <p14:sldId id="286"/>
            <p14:sldId id="467"/>
            <p14:sldId id="475"/>
            <p14:sldId id="1041"/>
            <p14:sldId id="288"/>
            <p14:sldId id="287"/>
            <p14:sldId id="485"/>
            <p14:sldId id="1081"/>
            <p14:sldId id="363"/>
            <p14:sldId id="472"/>
            <p14:sldId id="473"/>
            <p14:sldId id="474"/>
            <p14:sldId id="478"/>
            <p14:sldId id="479"/>
            <p14:sldId id="480"/>
            <p14:sldId id="476"/>
            <p14:sldId id="477"/>
            <p14:sldId id="1411"/>
            <p14:sldId id="298"/>
            <p14:sldId id="299"/>
            <p14:sldId id="300"/>
            <p14:sldId id="301"/>
            <p14:sldId id="752"/>
            <p14:sldId id="753"/>
            <p14:sldId id="304"/>
            <p14:sldId id="305"/>
            <p14:sldId id="309"/>
            <p14:sldId id="311"/>
            <p14:sldId id="306"/>
            <p14:sldId id="382"/>
            <p14:sldId id="357"/>
            <p14:sldId id="307"/>
            <p14:sldId id="358"/>
            <p14:sldId id="491"/>
            <p14:sldId id="308"/>
            <p14:sldId id="360"/>
            <p14:sldId id="383"/>
            <p14:sldId id="489"/>
            <p14:sldId id="1187"/>
            <p14:sldId id="1188"/>
            <p14:sldId id="1189"/>
            <p14:sldId id="486"/>
          </p14:sldIdLst>
        </p14:section>
      </p14:sectionLst>
    </p:ext>
    <p:ext uri="{EFAFB233-063F-42B5-8137-9DF3F51BA10A}">
      <p15:sldGuideLst xmlns:p15="http://schemas.microsoft.com/office/powerpoint/2012/main">
        <p15:guide id="1" orient="horz" pos="2212"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99"/>
    <a:srgbClr val="25FC57"/>
    <a:srgbClr val="0000CC"/>
    <a:srgbClr val="FF3300"/>
    <a:srgbClr val="A50021"/>
    <a:srgbClr val="000000"/>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7" autoAdjust="0"/>
    <p:restoredTop sz="93702" autoAdjust="0"/>
  </p:normalViewPr>
  <p:slideViewPr>
    <p:cSldViewPr snapToGrid="0" showGuides="1">
      <p:cViewPr varScale="1">
        <p:scale>
          <a:sx n="66" d="100"/>
          <a:sy n="66" d="100"/>
        </p:scale>
        <p:origin x="1280" y="32"/>
      </p:cViewPr>
      <p:guideLst>
        <p:guide orient="horz" pos="2212"/>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2016"/>
    </p:cViewPr>
  </p:sorterViewPr>
  <p:gridSpacing cx="36000" cy="36000"/>
</p:viewPr>
</file>

<file path=ppt/_rels/presentation.xml.rels><?xml version="1.0" encoding="UTF-8" standalone="yes"?>
<Relationships xmlns="http://schemas.openxmlformats.org/package/2006/relationships"><Relationship Id="rId99" Type="http://schemas.openxmlformats.org/officeDocument/2006/relationships/slide" Target="slides/slide81.xml"/><Relationship Id="rId98" Type="http://schemas.openxmlformats.org/officeDocument/2006/relationships/slide" Target="slides/slide80.xml"/><Relationship Id="rId97" Type="http://schemas.openxmlformats.org/officeDocument/2006/relationships/slide" Target="slides/slide79.xml"/><Relationship Id="rId96" Type="http://schemas.openxmlformats.org/officeDocument/2006/relationships/slide" Target="slides/slide78.xml"/><Relationship Id="rId95" Type="http://schemas.openxmlformats.org/officeDocument/2006/relationships/slide" Target="slides/slide77.xml"/><Relationship Id="rId94" Type="http://schemas.openxmlformats.org/officeDocument/2006/relationships/slide" Target="slides/slide76.xml"/><Relationship Id="rId93" Type="http://schemas.openxmlformats.org/officeDocument/2006/relationships/slide" Target="slides/slide75.xml"/><Relationship Id="rId92" Type="http://schemas.openxmlformats.org/officeDocument/2006/relationships/slide" Target="slides/slide74.xml"/><Relationship Id="rId91" Type="http://schemas.openxmlformats.org/officeDocument/2006/relationships/slide" Target="slides/slide73.xml"/><Relationship Id="rId90" Type="http://schemas.openxmlformats.org/officeDocument/2006/relationships/slide" Target="slides/slide72.xml"/><Relationship Id="rId9" Type="http://schemas.openxmlformats.org/officeDocument/2006/relationships/slideMaster" Target="slideMasters/slideMaster8.xml"/><Relationship Id="rId89" Type="http://schemas.openxmlformats.org/officeDocument/2006/relationships/slide" Target="slides/slide71.xml"/><Relationship Id="rId88" Type="http://schemas.openxmlformats.org/officeDocument/2006/relationships/slide" Target="slides/slide70.xml"/><Relationship Id="rId87" Type="http://schemas.openxmlformats.org/officeDocument/2006/relationships/slide" Target="slides/slide69.xml"/><Relationship Id="rId86" Type="http://schemas.openxmlformats.org/officeDocument/2006/relationships/slide" Target="slides/slide68.xml"/><Relationship Id="rId85" Type="http://schemas.openxmlformats.org/officeDocument/2006/relationships/slide" Target="slides/slide67.xml"/><Relationship Id="rId84" Type="http://schemas.openxmlformats.org/officeDocument/2006/relationships/slide" Target="slides/slide66.xml"/><Relationship Id="rId83" Type="http://schemas.openxmlformats.org/officeDocument/2006/relationships/slide" Target="slides/slide65.xml"/><Relationship Id="rId82" Type="http://schemas.openxmlformats.org/officeDocument/2006/relationships/slide" Target="slides/slide64.xml"/><Relationship Id="rId81" Type="http://schemas.openxmlformats.org/officeDocument/2006/relationships/slide" Target="slides/slide63.xml"/><Relationship Id="rId80" Type="http://schemas.openxmlformats.org/officeDocument/2006/relationships/slide" Target="slides/slide62.xml"/><Relationship Id="rId8" Type="http://schemas.openxmlformats.org/officeDocument/2006/relationships/slideMaster" Target="slideMasters/slideMaster7.xml"/><Relationship Id="rId79" Type="http://schemas.openxmlformats.org/officeDocument/2006/relationships/slide" Target="slides/slide61.xml"/><Relationship Id="rId78" Type="http://schemas.openxmlformats.org/officeDocument/2006/relationships/slide" Target="slides/slide60.xml"/><Relationship Id="rId77" Type="http://schemas.openxmlformats.org/officeDocument/2006/relationships/slide" Target="slides/slide59.xml"/><Relationship Id="rId76" Type="http://schemas.openxmlformats.org/officeDocument/2006/relationships/slide" Target="slides/slide58.xml"/><Relationship Id="rId75" Type="http://schemas.openxmlformats.org/officeDocument/2006/relationships/slide" Target="slides/slide57.xml"/><Relationship Id="rId74" Type="http://schemas.openxmlformats.org/officeDocument/2006/relationships/slide" Target="slides/slide56.xml"/><Relationship Id="rId73" Type="http://schemas.openxmlformats.org/officeDocument/2006/relationships/slide" Target="slides/slide55.xml"/><Relationship Id="rId72" Type="http://schemas.openxmlformats.org/officeDocument/2006/relationships/slide" Target="slides/slide54.xml"/><Relationship Id="rId71" Type="http://schemas.openxmlformats.org/officeDocument/2006/relationships/slide" Target="slides/slide53.xml"/><Relationship Id="rId70" Type="http://schemas.openxmlformats.org/officeDocument/2006/relationships/slide" Target="slides/slide52.xml"/><Relationship Id="rId7" Type="http://schemas.openxmlformats.org/officeDocument/2006/relationships/slideMaster" Target="slideMasters/slideMaster6.xml"/><Relationship Id="rId69" Type="http://schemas.openxmlformats.org/officeDocument/2006/relationships/slide" Target="slides/slide51.xml"/><Relationship Id="rId68" Type="http://schemas.openxmlformats.org/officeDocument/2006/relationships/slide" Target="slides/slide50.xml"/><Relationship Id="rId67" Type="http://schemas.openxmlformats.org/officeDocument/2006/relationships/slide" Target="slides/slide49.xml"/><Relationship Id="rId66" Type="http://schemas.openxmlformats.org/officeDocument/2006/relationships/slide" Target="slides/slide48.xml"/><Relationship Id="rId65" Type="http://schemas.openxmlformats.org/officeDocument/2006/relationships/slide" Target="slides/slide47.xml"/><Relationship Id="rId64" Type="http://schemas.openxmlformats.org/officeDocument/2006/relationships/slide" Target="slides/slide46.xml"/><Relationship Id="rId63" Type="http://schemas.openxmlformats.org/officeDocument/2006/relationships/slide" Target="slides/slide45.xml"/><Relationship Id="rId62" Type="http://schemas.openxmlformats.org/officeDocument/2006/relationships/slide" Target="slides/slide44.xml"/><Relationship Id="rId61" Type="http://schemas.openxmlformats.org/officeDocument/2006/relationships/slide" Target="slides/slide43.xml"/><Relationship Id="rId60" Type="http://schemas.openxmlformats.org/officeDocument/2006/relationships/slide" Target="slides/slide42.xml"/><Relationship Id="rId6" Type="http://schemas.openxmlformats.org/officeDocument/2006/relationships/slideMaster" Target="slideMasters/slideMaster5.xml"/><Relationship Id="rId59" Type="http://schemas.openxmlformats.org/officeDocument/2006/relationships/slide" Target="slides/slide41.xml"/><Relationship Id="rId58" Type="http://schemas.openxmlformats.org/officeDocument/2006/relationships/slide" Target="slides/slide40.xml"/><Relationship Id="rId57" Type="http://schemas.openxmlformats.org/officeDocument/2006/relationships/slide" Target="slides/slide39.xml"/><Relationship Id="rId56" Type="http://schemas.openxmlformats.org/officeDocument/2006/relationships/slide" Target="slides/slide38.xml"/><Relationship Id="rId55" Type="http://schemas.openxmlformats.org/officeDocument/2006/relationships/slide" Target="slides/slide37.xml"/><Relationship Id="rId54" Type="http://schemas.openxmlformats.org/officeDocument/2006/relationships/slide" Target="slides/slide36.xml"/><Relationship Id="rId53" Type="http://schemas.openxmlformats.org/officeDocument/2006/relationships/slide" Target="slides/slide35.xml"/><Relationship Id="rId52" Type="http://schemas.openxmlformats.org/officeDocument/2006/relationships/slide" Target="slides/slide34.xml"/><Relationship Id="rId51" Type="http://schemas.openxmlformats.org/officeDocument/2006/relationships/slide" Target="slides/slide33.xml"/><Relationship Id="rId50" Type="http://schemas.openxmlformats.org/officeDocument/2006/relationships/slide" Target="slides/slide32.xml"/><Relationship Id="rId5" Type="http://schemas.openxmlformats.org/officeDocument/2006/relationships/slideMaster" Target="slideMasters/slideMaster4.xml"/><Relationship Id="rId49" Type="http://schemas.openxmlformats.org/officeDocument/2006/relationships/slide" Target="slides/slide31.xml"/><Relationship Id="rId48" Type="http://schemas.openxmlformats.org/officeDocument/2006/relationships/slide" Target="slides/slide30.xml"/><Relationship Id="rId47" Type="http://schemas.openxmlformats.org/officeDocument/2006/relationships/slide" Target="slides/slide29.xml"/><Relationship Id="rId46" Type="http://schemas.openxmlformats.org/officeDocument/2006/relationships/slide" Target="slides/slide28.xml"/><Relationship Id="rId45" Type="http://schemas.openxmlformats.org/officeDocument/2006/relationships/slide" Target="slides/slide27.xml"/><Relationship Id="rId44" Type="http://schemas.openxmlformats.org/officeDocument/2006/relationships/slide" Target="slides/slide26.xml"/><Relationship Id="rId43" Type="http://schemas.openxmlformats.org/officeDocument/2006/relationships/slide" Target="slides/slide25.xml"/><Relationship Id="rId42" Type="http://schemas.openxmlformats.org/officeDocument/2006/relationships/slide" Target="slides/slide24.xml"/><Relationship Id="rId41" Type="http://schemas.openxmlformats.org/officeDocument/2006/relationships/slide" Target="slides/slide23.xml"/><Relationship Id="rId40" Type="http://schemas.openxmlformats.org/officeDocument/2006/relationships/slide" Target="slides/slide22.xml"/><Relationship Id="rId4" Type="http://schemas.openxmlformats.org/officeDocument/2006/relationships/slideMaster" Target="slideMasters/slideMaster3.xml"/><Relationship Id="rId39" Type="http://schemas.openxmlformats.org/officeDocument/2006/relationships/slide" Target="slides/slide21.xml"/><Relationship Id="rId38" Type="http://schemas.openxmlformats.org/officeDocument/2006/relationships/slide" Target="slides/slide20.xml"/><Relationship Id="rId37" Type="http://schemas.openxmlformats.org/officeDocument/2006/relationships/slide" Target="slides/slide19.xml"/><Relationship Id="rId36" Type="http://schemas.openxmlformats.org/officeDocument/2006/relationships/slide" Target="slides/slide18.xml"/><Relationship Id="rId35" Type="http://schemas.openxmlformats.org/officeDocument/2006/relationships/slide" Target="slides/slide17.xml"/><Relationship Id="rId34" Type="http://schemas.openxmlformats.org/officeDocument/2006/relationships/slide" Target="slides/slide16.xml"/><Relationship Id="rId33" Type="http://schemas.openxmlformats.org/officeDocument/2006/relationships/slide" Target="slides/slide15.xml"/><Relationship Id="rId32" Type="http://schemas.openxmlformats.org/officeDocument/2006/relationships/slide" Target="slides/slide14.xml"/><Relationship Id="rId31" Type="http://schemas.openxmlformats.org/officeDocument/2006/relationships/slide" Target="slides/slide13.xml"/><Relationship Id="rId30" Type="http://schemas.openxmlformats.org/officeDocument/2006/relationships/slide" Target="slides/slide12.xml"/><Relationship Id="rId3" Type="http://schemas.openxmlformats.org/officeDocument/2006/relationships/slideMaster" Target="slideMasters/slideMaster2.xml"/><Relationship Id="rId29" Type="http://schemas.openxmlformats.org/officeDocument/2006/relationships/slide" Target="slides/slide11.xml"/><Relationship Id="rId28" Type="http://schemas.openxmlformats.org/officeDocument/2006/relationships/slide" Target="slides/slide10.xml"/><Relationship Id="rId27" Type="http://schemas.openxmlformats.org/officeDocument/2006/relationships/slide" Target="slides/slide9.xml"/><Relationship Id="rId26" Type="http://schemas.openxmlformats.org/officeDocument/2006/relationships/slide" Target="slides/slide8.xml"/><Relationship Id="rId25" Type="http://schemas.openxmlformats.org/officeDocument/2006/relationships/slide" Target="slides/slide7.xml"/><Relationship Id="rId24" Type="http://schemas.openxmlformats.org/officeDocument/2006/relationships/slide" Target="slides/slide6.xml"/><Relationship Id="rId23" Type="http://schemas.openxmlformats.org/officeDocument/2006/relationships/slide" Target="slides/slide5.xml"/><Relationship Id="rId22" Type="http://schemas.openxmlformats.org/officeDocument/2006/relationships/slide" Target="slides/slide4.xml"/><Relationship Id="rId21" Type="http://schemas.openxmlformats.org/officeDocument/2006/relationships/slide" Target="slides/slide3.xml"/><Relationship Id="rId20" Type="http://schemas.openxmlformats.org/officeDocument/2006/relationships/slide" Target="slides/slide2.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5" Type="http://schemas.openxmlformats.org/officeDocument/2006/relationships/tags" Target="tags/tag30.xml"/><Relationship Id="rId154" Type="http://schemas.openxmlformats.org/officeDocument/2006/relationships/commentAuthors" Target="commentAuthors.xml"/><Relationship Id="rId153" Type="http://schemas.openxmlformats.org/officeDocument/2006/relationships/tableStyles" Target="tableStyles.xml"/><Relationship Id="rId152" Type="http://schemas.openxmlformats.org/officeDocument/2006/relationships/viewProps" Target="viewProps.xml"/><Relationship Id="rId151" Type="http://schemas.openxmlformats.org/officeDocument/2006/relationships/presProps" Target="presProps.xml"/><Relationship Id="rId150" Type="http://schemas.openxmlformats.org/officeDocument/2006/relationships/handoutMaster" Target="handoutMasters/handoutMaster1.xml"/><Relationship Id="rId15" Type="http://schemas.openxmlformats.org/officeDocument/2006/relationships/slideMaster" Target="slideMasters/slideMaster14.xml"/><Relationship Id="rId149" Type="http://schemas.openxmlformats.org/officeDocument/2006/relationships/slide" Target="slides/slide131.xml"/><Relationship Id="rId148" Type="http://schemas.openxmlformats.org/officeDocument/2006/relationships/slide" Target="slides/slide130.xml"/><Relationship Id="rId147" Type="http://schemas.openxmlformats.org/officeDocument/2006/relationships/slide" Target="slides/slide129.xml"/><Relationship Id="rId146" Type="http://schemas.openxmlformats.org/officeDocument/2006/relationships/slide" Target="slides/slide128.xml"/><Relationship Id="rId145" Type="http://schemas.openxmlformats.org/officeDocument/2006/relationships/slide" Target="slides/slide127.xml"/><Relationship Id="rId144" Type="http://schemas.openxmlformats.org/officeDocument/2006/relationships/slide" Target="slides/slide126.xml"/><Relationship Id="rId143" Type="http://schemas.openxmlformats.org/officeDocument/2006/relationships/slide" Target="slides/slide125.xml"/><Relationship Id="rId142" Type="http://schemas.openxmlformats.org/officeDocument/2006/relationships/slide" Target="slides/slide124.xml"/><Relationship Id="rId141" Type="http://schemas.openxmlformats.org/officeDocument/2006/relationships/slide" Target="slides/slide123.xml"/><Relationship Id="rId140" Type="http://schemas.openxmlformats.org/officeDocument/2006/relationships/slide" Target="slides/slide122.xml"/><Relationship Id="rId14" Type="http://schemas.openxmlformats.org/officeDocument/2006/relationships/slideMaster" Target="slideMasters/slideMaster13.xml"/><Relationship Id="rId139" Type="http://schemas.openxmlformats.org/officeDocument/2006/relationships/slide" Target="slides/slide121.xml"/><Relationship Id="rId138" Type="http://schemas.openxmlformats.org/officeDocument/2006/relationships/slide" Target="slides/slide120.xml"/><Relationship Id="rId137" Type="http://schemas.openxmlformats.org/officeDocument/2006/relationships/slide" Target="slides/slide119.xml"/><Relationship Id="rId136" Type="http://schemas.openxmlformats.org/officeDocument/2006/relationships/slide" Target="slides/slide118.xml"/><Relationship Id="rId135" Type="http://schemas.openxmlformats.org/officeDocument/2006/relationships/slide" Target="slides/slide117.xml"/><Relationship Id="rId134" Type="http://schemas.openxmlformats.org/officeDocument/2006/relationships/slide" Target="slides/slide116.xml"/><Relationship Id="rId133" Type="http://schemas.openxmlformats.org/officeDocument/2006/relationships/slide" Target="slides/slide115.xml"/><Relationship Id="rId132" Type="http://schemas.openxmlformats.org/officeDocument/2006/relationships/slide" Target="slides/slide114.xml"/><Relationship Id="rId131" Type="http://schemas.openxmlformats.org/officeDocument/2006/relationships/slide" Target="slides/slide113.xml"/><Relationship Id="rId130" Type="http://schemas.openxmlformats.org/officeDocument/2006/relationships/slide" Target="slides/slide112.xml"/><Relationship Id="rId13" Type="http://schemas.openxmlformats.org/officeDocument/2006/relationships/slideMaster" Target="slideMasters/slideMaster12.xml"/><Relationship Id="rId129" Type="http://schemas.openxmlformats.org/officeDocument/2006/relationships/slide" Target="slides/slide111.xml"/><Relationship Id="rId128" Type="http://schemas.openxmlformats.org/officeDocument/2006/relationships/slide" Target="slides/slide110.xml"/><Relationship Id="rId127" Type="http://schemas.openxmlformats.org/officeDocument/2006/relationships/slide" Target="slides/slide109.xml"/><Relationship Id="rId126" Type="http://schemas.openxmlformats.org/officeDocument/2006/relationships/slide" Target="slides/slide108.xml"/><Relationship Id="rId125" Type="http://schemas.openxmlformats.org/officeDocument/2006/relationships/slide" Target="slides/slide107.xml"/><Relationship Id="rId124" Type="http://schemas.openxmlformats.org/officeDocument/2006/relationships/slide" Target="slides/slide106.xml"/><Relationship Id="rId123" Type="http://schemas.openxmlformats.org/officeDocument/2006/relationships/slide" Target="slides/slide105.xml"/><Relationship Id="rId122" Type="http://schemas.openxmlformats.org/officeDocument/2006/relationships/slide" Target="slides/slide104.xml"/><Relationship Id="rId121" Type="http://schemas.openxmlformats.org/officeDocument/2006/relationships/slide" Target="slides/slide103.xml"/><Relationship Id="rId120" Type="http://schemas.openxmlformats.org/officeDocument/2006/relationships/slide" Target="slides/slide102.xml"/><Relationship Id="rId12" Type="http://schemas.openxmlformats.org/officeDocument/2006/relationships/slideMaster" Target="slideMasters/slideMaster11.xml"/><Relationship Id="rId119" Type="http://schemas.openxmlformats.org/officeDocument/2006/relationships/slide" Target="slides/slide101.xml"/><Relationship Id="rId118" Type="http://schemas.openxmlformats.org/officeDocument/2006/relationships/slide" Target="slides/slide100.xml"/><Relationship Id="rId117" Type="http://schemas.openxmlformats.org/officeDocument/2006/relationships/slide" Target="slides/slide99.xml"/><Relationship Id="rId116" Type="http://schemas.openxmlformats.org/officeDocument/2006/relationships/slide" Target="slides/slide98.xml"/><Relationship Id="rId115" Type="http://schemas.openxmlformats.org/officeDocument/2006/relationships/slide" Target="slides/slide97.xml"/><Relationship Id="rId114" Type="http://schemas.openxmlformats.org/officeDocument/2006/relationships/slide" Target="slides/slide96.xml"/><Relationship Id="rId113" Type="http://schemas.openxmlformats.org/officeDocument/2006/relationships/slide" Target="slides/slide95.xml"/><Relationship Id="rId112" Type="http://schemas.openxmlformats.org/officeDocument/2006/relationships/slide" Target="slides/slide94.xml"/><Relationship Id="rId111" Type="http://schemas.openxmlformats.org/officeDocument/2006/relationships/slide" Target="slides/slide93.xml"/><Relationship Id="rId110" Type="http://schemas.openxmlformats.org/officeDocument/2006/relationships/slide" Target="slides/slide92.xml"/><Relationship Id="rId11" Type="http://schemas.openxmlformats.org/officeDocument/2006/relationships/slideMaster" Target="slideMasters/slideMaster10.xml"/><Relationship Id="rId109" Type="http://schemas.openxmlformats.org/officeDocument/2006/relationships/slide" Target="slides/slide91.xml"/><Relationship Id="rId108" Type="http://schemas.openxmlformats.org/officeDocument/2006/relationships/slide" Target="slides/slide90.xml"/><Relationship Id="rId107" Type="http://schemas.openxmlformats.org/officeDocument/2006/relationships/slide" Target="slides/slide89.xml"/><Relationship Id="rId106" Type="http://schemas.openxmlformats.org/officeDocument/2006/relationships/slide" Target="slides/slide88.xml"/><Relationship Id="rId105" Type="http://schemas.openxmlformats.org/officeDocument/2006/relationships/slide" Target="slides/slide87.xml"/><Relationship Id="rId104" Type="http://schemas.openxmlformats.org/officeDocument/2006/relationships/slide" Target="slides/slide86.xml"/><Relationship Id="rId103" Type="http://schemas.openxmlformats.org/officeDocument/2006/relationships/slide" Target="slides/slide85.xml"/><Relationship Id="rId102" Type="http://schemas.openxmlformats.org/officeDocument/2006/relationships/slide" Target="slides/slide84.xml"/><Relationship Id="rId101" Type="http://schemas.openxmlformats.org/officeDocument/2006/relationships/slide" Target="slides/slide83.xml"/><Relationship Id="rId100" Type="http://schemas.openxmlformats.org/officeDocument/2006/relationships/slide" Target="slides/slide82.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44.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4.png"/></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4.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84.wmf"/><Relationship Id="rId5" Type="http://schemas.openxmlformats.org/officeDocument/2006/relationships/image" Target="../media/image77.wmf"/><Relationship Id="rId4" Type="http://schemas.openxmlformats.org/officeDocument/2006/relationships/image" Target="../media/image44.wmf"/><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0.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89.wmf"/><Relationship Id="rId3" Type="http://schemas.openxmlformats.org/officeDocument/2006/relationships/image" Target="../media/image120.wmf"/><Relationship Id="rId2" Type="http://schemas.openxmlformats.org/officeDocument/2006/relationships/image" Target="../media/image118.wmf"/><Relationship Id="rId1" Type="http://schemas.openxmlformats.org/officeDocument/2006/relationships/image" Target="../media/image117.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94.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image" Target="../media/image12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39.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29.vml.rels><?xml version="1.0" encoding="UTF-8" standalone="yes"?>
<Relationships xmlns="http://schemas.openxmlformats.org/package/2006/relationships"><Relationship Id="rId7" Type="http://schemas.openxmlformats.org/officeDocument/2006/relationships/image" Target="../media/image153.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0.w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158.wmf"/><Relationship Id="rId4" Type="http://schemas.openxmlformats.org/officeDocument/2006/relationships/image" Target="../media/image157.wmf"/><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167.wmf"/><Relationship Id="rId8" Type="http://schemas.openxmlformats.org/officeDocument/2006/relationships/image" Target="../media/image166.wmf"/><Relationship Id="rId7" Type="http://schemas.openxmlformats.org/officeDocument/2006/relationships/image" Target="../media/image165.wmf"/><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 Id="rId3" Type="http://schemas.openxmlformats.org/officeDocument/2006/relationships/image" Target="../media/image161.wmf"/><Relationship Id="rId2" Type="http://schemas.openxmlformats.org/officeDocument/2006/relationships/image" Target="../media/image160.wmf"/><Relationship Id="rId11" Type="http://schemas.openxmlformats.org/officeDocument/2006/relationships/image" Target="../media/image169.wmf"/><Relationship Id="rId10" Type="http://schemas.openxmlformats.org/officeDocument/2006/relationships/image" Target="../media/image168.wmf"/><Relationship Id="rId1" Type="http://schemas.openxmlformats.org/officeDocument/2006/relationships/image" Target="../media/image159.w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174.wmf"/><Relationship Id="rId4" Type="http://schemas.openxmlformats.org/officeDocument/2006/relationships/image" Target="../media/image173.wmf"/><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76.wmf"/></Relationships>
</file>

<file path=ppt/drawings/_rels/vmlDrawing34.vml.rels><?xml version="1.0" encoding="UTF-8" standalone="yes"?>
<Relationships xmlns="http://schemas.openxmlformats.org/package/2006/relationships"><Relationship Id="rId5" Type="http://schemas.openxmlformats.org/officeDocument/2006/relationships/image" Target="../media/image181.wmf"/><Relationship Id="rId4" Type="http://schemas.openxmlformats.org/officeDocument/2006/relationships/image" Target="../media/image180.wmf"/><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s>
</file>

<file path=ppt/drawings/_rels/vmlDrawing35.vml.rels><?xml version="1.0" encoding="UTF-8" standalone="yes"?>
<Relationships xmlns="http://schemas.openxmlformats.org/package/2006/relationships"><Relationship Id="rId9" Type="http://schemas.openxmlformats.org/officeDocument/2006/relationships/image" Target="../media/image201.wmf"/><Relationship Id="rId8" Type="http://schemas.openxmlformats.org/officeDocument/2006/relationships/image" Target="../media/image200.wmf"/><Relationship Id="rId7" Type="http://schemas.openxmlformats.org/officeDocument/2006/relationships/image" Target="../media/image199.wmf"/><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6.wmf"/><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210.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12.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220.wmf"/><Relationship Id="rId1" Type="http://schemas.openxmlformats.org/officeDocument/2006/relationships/image" Target="../media/image218.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224.wmf"/><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27.wmf"/><Relationship Id="rId1" Type="http://schemas.openxmlformats.org/officeDocument/2006/relationships/image" Target="../media/image226.wmf"/></Relationships>
</file>

<file path=ppt/drawings/_rels/vmlDrawing41.vml.rels><?xml version="1.0" encoding="UTF-8" standalone="yes"?>
<Relationships xmlns="http://schemas.openxmlformats.org/package/2006/relationships"><Relationship Id="rId5" Type="http://schemas.openxmlformats.org/officeDocument/2006/relationships/image" Target="../media/image234.wmf"/><Relationship Id="rId4" Type="http://schemas.openxmlformats.org/officeDocument/2006/relationships/image" Target="../media/image233.wmf"/><Relationship Id="rId3" Type="http://schemas.openxmlformats.org/officeDocument/2006/relationships/image" Target="../media/image232.wmf"/><Relationship Id="rId2" Type="http://schemas.openxmlformats.org/officeDocument/2006/relationships/image" Target="../media/image231.wmf"/><Relationship Id="rId1" Type="http://schemas.openxmlformats.org/officeDocument/2006/relationships/image" Target="../media/image230.wmf"/></Relationships>
</file>

<file path=ppt/drawings/_rels/vmlDrawing42.vml.rels><?xml version="1.0" encoding="UTF-8" standalone="yes"?>
<Relationships xmlns="http://schemas.openxmlformats.org/package/2006/relationships"><Relationship Id="rId5" Type="http://schemas.openxmlformats.org/officeDocument/2006/relationships/image" Target="../media/image239.emf"/><Relationship Id="rId4" Type="http://schemas.openxmlformats.org/officeDocument/2006/relationships/image" Target="../media/image238.emf"/><Relationship Id="rId3" Type="http://schemas.openxmlformats.org/officeDocument/2006/relationships/image" Target="../media/image237.emf"/><Relationship Id="rId2" Type="http://schemas.openxmlformats.org/officeDocument/2006/relationships/image" Target="../media/image236.wmf"/><Relationship Id="rId1" Type="http://schemas.openxmlformats.org/officeDocument/2006/relationships/image" Target="../media/image23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43.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49.wmf"/><Relationship Id="rId2" Type="http://schemas.openxmlformats.org/officeDocument/2006/relationships/image" Target="../media/image247.wmf"/><Relationship Id="rId1" Type="http://schemas.openxmlformats.org/officeDocument/2006/relationships/image" Target="../media/image246.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251.wmf"/><Relationship Id="rId1" Type="http://schemas.openxmlformats.org/officeDocument/2006/relationships/image" Target="../media/image250.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263.wmf"/><Relationship Id="rId1" Type="http://schemas.openxmlformats.org/officeDocument/2006/relationships/image" Target="../media/image262.wmf"/></Relationships>
</file>

<file path=ppt/drawings/_rels/vmlDrawing47.vml.rels><?xml version="1.0" encoding="UTF-8" standalone="yes"?>
<Relationships xmlns="http://schemas.openxmlformats.org/package/2006/relationships"><Relationship Id="rId4" Type="http://schemas.openxmlformats.org/officeDocument/2006/relationships/image" Target="../media/image274.wmf"/><Relationship Id="rId3" Type="http://schemas.openxmlformats.org/officeDocument/2006/relationships/image" Target="../media/image273.wmf"/><Relationship Id="rId2" Type="http://schemas.openxmlformats.org/officeDocument/2006/relationships/image" Target="../media/image272.wmf"/><Relationship Id="rId1" Type="http://schemas.openxmlformats.org/officeDocument/2006/relationships/image" Target="../media/image27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pitchFamily="34" charset="0"/>
                <a:ea typeface="宋体" panose="02010600030101010101" pitchFamily="2" charset="-122"/>
              </a:defRPr>
            </a:lvl1pPr>
          </a:lstStyle>
          <a:p>
            <a:pPr>
              <a:defRPr/>
            </a:pPr>
            <a:endParaRPr lang="en-US" altLang="zh-CN"/>
          </a:p>
        </p:txBody>
      </p:sp>
      <p:sp>
        <p:nvSpPr>
          <p:cNvPr id="3277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宋体" panose="02010600030101010101" pitchFamily="2" charset="-122"/>
              </a:defRPr>
            </a:lvl1pPr>
          </a:lstStyle>
          <a:p>
            <a:pPr>
              <a:defRPr/>
            </a:pPr>
            <a:endParaRPr lang="en-US" altLang="zh-CN"/>
          </a:p>
        </p:txBody>
      </p:sp>
      <p:sp>
        <p:nvSpPr>
          <p:cNvPr id="3277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pitchFamily="34" charset="0"/>
                <a:ea typeface="宋体" panose="02010600030101010101" pitchFamily="2" charset="-122"/>
              </a:defRPr>
            </a:lvl1pPr>
          </a:lstStyle>
          <a:p>
            <a:pPr>
              <a:defRPr/>
            </a:pPr>
            <a:endParaRPr lang="en-US" altLang="zh-CN"/>
          </a:p>
        </p:txBody>
      </p:sp>
      <p:sp>
        <p:nvSpPr>
          <p:cNvPr id="3277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宋体" panose="02010600030101010101" pitchFamily="2" charset="-122"/>
              </a:defRPr>
            </a:lvl1pPr>
          </a:lstStyle>
          <a:p>
            <a:fld id="{A87394D2-509B-4EB5-AF8B-28A17896C6C5}"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pitchFamily="34" charset="0"/>
                <a:ea typeface="宋体" panose="02010600030101010101" pitchFamily="2" charset="-122"/>
              </a:defRPr>
            </a:lvl1pPr>
          </a:lstStyle>
          <a:p>
            <a:pPr>
              <a:defRPr/>
            </a:pPr>
            <a:endParaRPr lang="en-US" altLang="zh-CN"/>
          </a:p>
        </p:txBody>
      </p:sp>
      <p:sp>
        <p:nvSpPr>
          <p:cNvPr id="3174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宋体" panose="02010600030101010101" pitchFamily="2" charset="-122"/>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174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175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pitchFamily="34" charset="0"/>
                <a:ea typeface="宋体" panose="02010600030101010101" pitchFamily="2" charset="-122"/>
              </a:defRPr>
            </a:lvl1pPr>
          </a:lstStyle>
          <a:p>
            <a:pPr>
              <a:defRPr/>
            </a:pPr>
            <a:endParaRPr lang="en-US" altLang="zh-CN"/>
          </a:p>
        </p:txBody>
      </p:sp>
      <p:sp>
        <p:nvSpPr>
          <p:cNvPr id="3175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宋体" panose="02010600030101010101" pitchFamily="2" charset="-122"/>
              </a:defRPr>
            </a:lvl1pPr>
          </a:lstStyle>
          <a:p>
            <a:fld id="{1D142F72-B92E-4550-8344-70F52493F9E8}"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9D7D7086-7C01-4E2D-BDC6-5FEFDEF1B8E9}"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F022FEBB-F7BE-4AB7-BFEE-AABE2AF9F83C}"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defRPr/>
            </a:pPr>
            <a:r>
              <a:rPr lang="zh-CN" altLang="en-US" dirty="0" smtClean="0">
                <a:solidFill>
                  <a:srgbClr val="000099"/>
                </a:solidFill>
                <a:latin typeface="Tahoma" panose="020B0604030504040204" pitchFamily="34" charset="0"/>
              </a:rPr>
              <a:t>　</a:t>
            </a:r>
            <a:r>
              <a:rPr lang="zh-CN" altLang="en-US" dirty="0" smtClean="0">
                <a:solidFill>
                  <a:srgbClr val="000099"/>
                </a:solidFill>
                <a:latin typeface="黑体" panose="02010609060101010101" pitchFamily="49" charset="-122"/>
                <a:ea typeface="黑体" panose="02010609060101010101" pitchFamily="49" charset="-122"/>
              </a:rPr>
              <a:t>由于齿轮其它部分（齿圈、轮辐、轮毂等）通常是经验设计的，其尺寸对于强度和刚度而言均较富裕，实践中也极少失效。</a:t>
            </a:r>
            <a:endParaRPr lang="zh-CN" altLang="en-US" dirty="0" smtClean="0">
              <a:solidFill>
                <a:srgbClr val="000099"/>
              </a:solidFill>
              <a:latin typeface="黑体" panose="02010609060101010101" pitchFamily="49" charset="-122"/>
              <a:ea typeface="黑体" panose="02010609060101010101" pitchFamily="49" charset="-122"/>
            </a:endParaRPr>
          </a:p>
          <a:p>
            <a:pPr eaLnBrk="1" hangingPunct="1"/>
            <a:endParaRPr lang="zh-CN" altLang="zh-CN"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7DA8BC4F-237D-4DA6-9904-7E44C2973519}"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6B6DE224-FB46-4D14-B1C4-5A0BF5038FFB}"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34026660-C6BF-481E-8732-3C4AB00FBA99}"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34026660-C6BF-481E-8732-3C4AB00FBA99}"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5431E5AD-F09B-4414-932D-4FF10131D6B2}"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5431E5AD-F09B-4414-932D-4FF10131D6B2}"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1D97282C-DEFF-491C-B8AF-CEB3C75959C4}"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8EF87DCF-68B3-4AEE-8B7E-952BD6FA1669}" type="slidenum">
              <a:rPr lang="en-US" altLang="zh-CN"/>
            </a:fld>
            <a:endParaRPr lang="en-US" altLang="zh-CN"/>
          </a:p>
        </p:txBody>
      </p:sp>
      <p:sp>
        <p:nvSpPr>
          <p:cNvPr id="249858"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dirty="0"/>
          </a:p>
        </p:txBody>
      </p:sp>
      <p:sp>
        <p:nvSpPr>
          <p:cNvPr id="249859"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9D69A95E-8506-4DFA-8EA7-CA8739ED3AAD}"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华文中宋" panose="02010600040101010101" pitchFamily="2" charset="-122"/>
                <a:sym typeface="+mn-ea"/>
              </a:rPr>
              <a:t>钢：许多钢材经</a:t>
            </a:r>
            <a:r>
              <a:rPr lang="zh-CN" altLang="en-US" dirty="0">
                <a:latin typeface="华文中宋" panose="02010600040101010101" pitchFamily="2" charset="-122"/>
                <a:sym typeface="+mn-ea"/>
                <a:hlinkClick r:id="rId3" action="ppaction://hlinksldjump"/>
              </a:rPr>
              <a:t>热处理</a:t>
            </a:r>
            <a:r>
              <a:rPr lang="zh-CN" altLang="en-US" dirty="0">
                <a:latin typeface="华文中宋" panose="02010600040101010101" pitchFamily="2" charset="-122"/>
                <a:sym typeface="+mn-ea"/>
              </a:rPr>
              <a:t>后，可以成为常用的齿轮材料（如</a:t>
            </a:r>
            <a:r>
              <a:rPr lang="en-US" altLang="zh-CN" dirty="0">
                <a:latin typeface="华文中宋" panose="02010600040101010101" pitchFamily="2" charset="-122"/>
                <a:sym typeface="+mn-ea"/>
              </a:rPr>
              <a:t>45</a:t>
            </a:r>
            <a:r>
              <a:rPr lang="zh-CN" altLang="en-US" dirty="0">
                <a:latin typeface="华文中宋" panose="02010600040101010101" pitchFamily="2" charset="-122"/>
                <a:sym typeface="+mn-ea"/>
              </a:rPr>
              <a:t>、</a:t>
            </a:r>
            <a:r>
              <a:rPr lang="en-US" altLang="zh-CN" dirty="0">
                <a:latin typeface="华文中宋" panose="02010600040101010101" pitchFamily="2" charset="-122"/>
                <a:sym typeface="+mn-ea"/>
              </a:rPr>
              <a:t>40Cr</a:t>
            </a:r>
            <a:r>
              <a:rPr lang="zh-CN" altLang="en-US" dirty="0">
                <a:latin typeface="华文中宋" panose="02010600040101010101" pitchFamily="2" charset="-122"/>
                <a:sym typeface="+mn-ea"/>
              </a:rPr>
              <a:t>）；铸铁：常作为低速、轻载、不太重要的场合的齿轮材料； </a:t>
            </a:r>
            <a:endParaRPr lang="zh-CN" altLang="en-US" dirty="0">
              <a:latin typeface="华文中宋" panose="02010600040101010101" pitchFamily="2" charset="-122"/>
              <a:sym typeface="+mn-ea"/>
            </a:endParaRPr>
          </a:p>
          <a:p>
            <a:pPr eaLnBrk="1" hangingPunct="1"/>
            <a:r>
              <a:rPr lang="zh-CN" altLang="en-US" dirty="0">
                <a:latin typeface="华文中宋" panose="02010600040101010101" pitchFamily="2" charset="-122"/>
                <a:sym typeface="+mn-ea"/>
              </a:rPr>
              <a:t>非金属材料：适用于高速、轻载且要求降低噪声的场合。</a:t>
            </a:r>
            <a:endParaRPr lang="zh-CN" altLang="en-US" dirty="0">
              <a:latin typeface="华文中宋" panose="02010600040101010101" pitchFamily="2" charset="-122"/>
            </a:endParaRPr>
          </a:p>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9D69A95E-8506-4DFA-8EA7-CA8739ED3AAD}"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dirty="0">
                <a:solidFill>
                  <a:schemeClr val="accent2"/>
                </a:solidFill>
                <a:ea typeface="华文中宋" panose="02010600040101010101" pitchFamily="2" charset="-122"/>
                <a:sym typeface="+mn-ea"/>
              </a:rPr>
              <a:t>圆周力</a:t>
            </a:r>
            <a:r>
              <a:rPr lang="en-US" altLang="zh-CN" dirty="0">
                <a:solidFill>
                  <a:schemeClr val="accent2"/>
                </a:solidFill>
                <a:ea typeface="华文中宋" panose="02010600040101010101" pitchFamily="2" charset="-122"/>
                <a:sym typeface="+mn-ea"/>
              </a:rPr>
              <a:t>Ft</a:t>
            </a:r>
            <a:r>
              <a:rPr lang="zh-CN" altLang="en-US" dirty="0">
                <a:solidFill>
                  <a:schemeClr val="accent2"/>
                </a:solidFill>
                <a:ea typeface="华文中宋" panose="02010600040101010101" pitchFamily="2" charset="-122"/>
                <a:sym typeface="+mn-ea"/>
              </a:rPr>
              <a:t>的方向在主动轮上与运动方向相反，在从动论上与运动方向相同；径向力指向各自的轴心；轴向力的方向由螺旋方向和轮齿工作面而定。</a:t>
            </a:r>
            <a:endParaRPr lang="zh-CN" altLang="en-US" b="0" i="1" dirty="0">
              <a:solidFill>
                <a:schemeClr val="accent2"/>
              </a:solidFill>
              <a:latin typeface="Times New Roman" panose="02020603050405020304" pitchFamily="18" charset="0"/>
              <a:ea typeface="华文中宋" panose="02010600040101010101" pitchFamily="2" charset="-122"/>
            </a:endParaRPr>
          </a:p>
          <a:p>
            <a:endParaRPr lang="zh-CN" altLang="en-US"/>
          </a:p>
        </p:txBody>
      </p:sp>
      <p:sp>
        <p:nvSpPr>
          <p:cNvPr id="4" name="灯片编号占位符 3"/>
          <p:cNvSpPr>
            <a:spLocks noGrp="1"/>
          </p:cNvSpPr>
          <p:nvPr>
            <p:ph type="sldNum" sz="quarter" idx="5"/>
          </p:nvPr>
        </p:nvSpPr>
        <p:spPr/>
        <p:txBody>
          <a:bodyPr/>
          <a:p>
            <a:pPr lvl="0" algn="r">
              <a:spcBef>
                <a:spcPct val="50000"/>
              </a:spcBef>
            </a:pPr>
            <a:fld id="{9A0DB2DC-4C9A-4742-B13C-FB6460FD3503}" type="slidenum">
              <a:rPr lang="zh-CN" altLang="en-US" sz="1200" b="1" dirty="0">
                <a:solidFill>
                  <a:schemeClr val="bg1"/>
                </a:solidFill>
              </a:rPr>
            </a:fld>
            <a:endParaRPr lang="zh-CN" altLang="en-US" sz="1200" b="1" dirty="0">
              <a:solidFill>
                <a:schemeClr val="bg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C78D5CD4-5E43-4A5C-A10E-D1E8EAFF8225}"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C78D5CD4-5E43-4A5C-A10E-D1E8EAFF8225}"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C78D5CD4-5E43-4A5C-A10E-D1E8EAFF8225}"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当量齿轮在节点处啮合，当量齿轮在节点接触时的曲率半径</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0" hangingPunct="0"/>
            <a:fld id="{9A0DB2DC-4C9A-4742-B13C-FB6460FD3503}" type="slidenum">
              <a:rPr lang="zh-CN" altLang="en-US" sz="1000" b="0" i="1" dirty="0"/>
            </a:fld>
            <a:endParaRPr lang="zh-CN" altLang="en-US" sz="1000" b="0" i="1" dirty="0"/>
          </a:p>
        </p:txBody>
      </p:sp>
      <p:sp>
        <p:nvSpPr>
          <p:cNvPr id="321538" name="文本占位符 321537"/>
          <p:cNvSpPr/>
          <p:nvPr>
            <p:ph type="body" idx="1"/>
          </p:nvPr>
        </p:nvSpPr>
        <p:spPr>
          <a:xfrm>
            <a:off x="914400" y="4645025"/>
            <a:ext cx="5029200" cy="4114800"/>
          </a:xfrm>
          <a:noFill/>
          <a:ln w="9525">
            <a:noFill/>
          </a:ln>
        </p:spPr>
        <p:txBody>
          <a:bodyPr vert="horz" wrap="square" lIns="92075" tIns="46038" rIns="92075" bIns="46038" anchor="t"/>
          <a:p>
            <a:pPr lvl="0"/>
            <a:endParaRPr dirty="0"/>
          </a:p>
        </p:txBody>
      </p:sp>
      <p:sp>
        <p:nvSpPr>
          <p:cNvPr id="321539" name="幻灯片图像占位符 321538"/>
          <p:cNvSpPr/>
          <p:nvPr>
            <p:ph type="sldImg"/>
          </p:nvPr>
        </p:nvSpPr>
        <p:spPr>
          <a:xfrm>
            <a:off x="1141413" y="847725"/>
            <a:ext cx="4575175" cy="3432175"/>
          </a:xfrm>
          <a:noFill/>
          <a:ln w="12700" cap="flat" cmpd="sng">
            <a:solidFill>
              <a:schemeClr val="tx1">
                <a:alpha val="100000"/>
              </a:schemeClr>
            </a:solidFill>
            <a:prstDash val="solid"/>
            <a:headEnd type="none" w="med" len="med"/>
            <a:tailEnd type="none" w="med" len="med"/>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dirty="0">
                <a:solidFill>
                  <a:srgbClr val="000099"/>
                </a:solidFill>
                <a:sym typeface="+mn-ea"/>
              </a:rPr>
              <a:t>斜齿轮圆柱齿轮的齿根弯曲疲劳强度计算以直齿轮的强度计算为基础，将斜齿轮转化为当量齿轮来进行，除引入应力修正系数、重合度系数外，考虑斜齿轮的特点引入螺旋角系数</a:t>
            </a:r>
            <a:r>
              <a:rPr lang="en-US" altLang="zh-CN" i="1" dirty="0">
                <a:solidFill>
                  <a:srgbClr val="000099"/>
                </a:solidFill>
                <a:sym typeface="+mn-ea"/>
              </a:rPr>
              <a:t>Y</a:t>
            </a:r>
            <a:r>
              <a:rPr lang="en-US" altLang="zh-CN" baseline="-25000" dirty="0">
                <a:solidFill>
                  <a:srgbClr val="000099"/>
                </a:solidFill>
                <a:sym typeface="+mn-ea"/>
              </a:rPr>
              <a:t>β</a:t>
            </a:r>
            <a:r>
              <a:rPr lang="zh-CN" altLang="en-US" dirty="0">
                <a:solidFill>
                  <a:srgbClr val="000099"/>
                </a:solidFill>
                <a:sym typeface="+mn-ea"/>
              </a:rPr>
              <a:t>。</a:t>
            </a:r>
            <a:endParaRPr lang="zh-CN" altLang="en-US" dirty="0">
              <a:solidFill>
                <a:srgbClr val="000099"/>
              </a:solidFill>
            </a:endParaRPr>
          </a:p>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fld id="{C78D5CD4-5E43-4A5C-A10E-D1E8EAFF8225}" type="slidenum">
              <a:rPr lang="en-US" altLang="zh-CN" sz="1200">
                <a:latin typeface="Tahoma" panose="020B0604030504040204" pitchFamily="34" charset="0"/>
                <a:ea typeface="宋体" panose="02010600030101010101" pitchFamily="2" charset="-122"/>
              </a:rPr>
            </a:fld>
            <a:endParaRPr lang="en-US" altLang="zh-CN" sz="1200">
              <a:latin typeface="Tahoma" panose="020B060403050404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E0A46043-CB95-4AAC-968A-E330A091D3BC}" type="slidenum">
              <a:rPr lang="en-US" altLang="zh-CN"/>
            </a:fld>
            <a:endParaRPr lang="en-US" altLang="zh-CN"/>
          </a:p>
        </p:txBody>
      </p:sp>
      <p:sp>
        <p:nvSpPr>
          <p:cNvPr id="359426"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359427"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A3202E0A-A8ED-4E31-A6BF-0ABDAF05FBB1}" type="slidenum">
              <a:rPr lang="en-US" altLang="zh-CN"/>
            </a:fld>
            <a:endParaRPr lang="en-US" altLang="zh-CN"/>
          </a:p>
        </p:txBody>
      </p:sp>
      <p:sp>
        <p:nvSpPr>
          <p:cNvPr id="369666"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369667"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C7B7D7-4F30-477B-9755-3987BFA0F949}"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latin typeface="Arial" panose="020B0604020202020204"/>
                <a:ea typeface="Arial" panose="020B0604020202020204"/>
                <a:sym typeface="+mn-ea"/>
              </a:rPr>
              <a:t>大</a:t>
            </a:r>
            <a:r>
              <a:rPr lang="zh-CN" altLang="en-US" b="1">
                <a:latin typeface="Arial" panose="020B0604020202020204"/>
                <a:ea typeface="Arial" panose="020B0604020202020204"/>
                <a:sym typeface="+mn-ea"/>
              </a:rPr>
              <a:t>齿轮</a:t>
            </a:r>
            <a:r>
              <a:rPr lang="zh-CN" altLang="en-US">
                <a:latin typeface="Arial" panose="020B0604020202020204"/>
                <a:ea typeface="Arial" panose="020B0604020202020204"/>
                <a:sym typeface="+mn-ea"/>
              </a:rPr>
              <a:t>的齿顶圆到油池底面的距离应大于</a:t>
            </a:r>
            <a:r>
              <a:rPr lang="en-US" altLang="zh-CN">
                <a:latin typeface="Arial" panose="020B0604020202020204"/>
                <a:ea typeface="Arial" panose="020B0604020202020204"/>
                <a:sym typeface="+mn-ea"/>
              </a:rPr>
              <a:t>30mm</a:t>
            </a:r>
            <a:r>
              <a:rPr lang="zh-CN" altLang="en-US">
                <a:latin typeface="Arial" panose="020B0604020202020204"/>
                <a:ea typeface="Arial" panose="020B0604020202020204"/>
                <a:sym typeface="+mn-ea"/>
              </a:rPr>
              <a:t>，一般定为</a:t>
            </a:r>
            <a:r>
              <a:rPr lang="en-US" altLang="zh-CN">
                <a:latin typeface="Arial" panose="020B0604020202020204"/>
                <a:ea typeface="Arial" panose="020B0604020202020204"/>
                <a:sym typeface="+mn-ea"/>
              </a:rPr>
              <a:t>30</a:t>
            </a:r>
            <a:r>
              <a:rPr lang="zh-CN" altLang="en-US">
                <a:latin typeface="Arial" panose="020B0604020202020204"/>
                <a:ea typeface="Arial" panose="020B0604020202020204"/>
                <a:sym typeface="+mn-ea"/>
              </a:rPr>
              <a:t>～</a:t>
            </a:r>
            <a:r>
              <a:rPr lang="en-US" altLang="zh-CN">
                <a:latin typeface="Arial" panose="020B0604020202020204"/>
                <a:ea typeface="Arial" panose="020B0604020202020204"/>
                <a:sym typeface="+mn-ea"/>
              </a:rPr>
              <a:t>50mm</a:t>
            </a:r>
            <a:endParaRPr lang="en-US" altLang="zh-CN" b="0" i="0">
              <a:latin typeface="Arial" panose="020B0604020202020204"/>
              <a:ea typeface="Arial" panose="020B0604020202020204"/>
            </a:endParaRPr>
          </a:p>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根据国家标准</a:t>
            </a:r>
            <a:r>
              <a:rPr lang="en-US" altLang="zh-CN"/>
              <a:t>GB5903-2011</a:t>
            </a:r>
            <a:r>
              <a:rPr lang="zh-CN" altLang="en-US"/>
              <a:t>规定，</a:t>
            </a:r>
            <a:r>
              <a:rPr lang="en-US" altLang="zh-CN"/>
              <a:t>L-CKC</a:t>
            </a:r>
            <a:r>
              <a:rPr lang="zh-CN" altLang="en-US"/>
              <a:t>齿轮油属于工业闭式齿轮润滑剂分类中的中等负荷级别产品，其主要功能是润滑齿面接触应力不超过</a:t>
            </a:r>
            <a:r>
              <a:rPr lang="en-US" altLang="zh-CN"/>
              <a:t>1100N/mm</a:t>
            </a:r>
            <a:r>
              <a:rPr lang="en-US" altLang="en-US"/>
              <a:t>²</a:t>
            </a:r>
            <a:r>
              <a:rPr lang="zh-CN" altLang="en-US"/>
              <a:t>的工业齿轮传动系统。该分类体系通过字母代码明确产品定位：</a:t>
            </a:r>
            <a:r>
              <a:rPr lang="en-US" altLang="zh-CN"/>
              <a:t>"L"</a:t>
            </a:r>
            <a:r>
              <a:rPr lang="zh-CN" altLang="en-US"/>
              <a:t>代表润滑剂类，</a:t>
            </a:r>
            <a:r>
              <a:rPr lang="en-US" altLang="zh-CN"/>
              <a:t>"C"</a:t>
            </a:r>
            <a:r>
              <a:rPr lang="zh-CN" altLang="en-US"/>
              <a:t>表示齿轮用油，</a:t>
            </a:r>
            <a:r>
              <a:rPr lang="en-US" altLang="zh-CN"/>
              <a:t>"KC"</a:t>
            </a:r>
            <a:r>
              <a:rPr lang="zh-CN" altLang="en-US"/>
              <a:t>特指中等负荷闭式齿轮应用场景。</a:t>
            </a:r>
            <a:r>
              <a:rPr lang="en-US" altLang="zh-CN"/>
              <a:t>L-CKB</a:t>
            </a:r>
            <a:r>
              <a:rPr lang="zh-CN" altLang="en-US"/>
              <a:t>：适用于接触应力＜</a:t>
            </a:r>
            <a:r>
              <a:rPr lang="en-US" altLang="zh-CN"/>
              <a:t>500N/mm</a:t>
            </a:r>
            <a:r>
              <a:rPr lang="en-US" altLang="en-US"/>
              <a:t>²</a:t>
            </a:r>
            <a:r>
              <a:rPr lang="zh-CN" altLang="en-US"/>
              <a:t>的一般负荷齿轮，不含极压添加剂</a:t>
            </a:r>
            <a:r>
              <a:rPr lang="en-US" altLang="zh-CN"/>
              <a:t>L-CKC</a:t>
            </a:r>
            <a:r>
              <a:rPr lang="zh-CN" altLang="en-US"/>
              <a:t>：对应</a:t>
            </a:r>
            <a:r>
              <a:rPr lang="en-US" altLang="zh-CN"/>
              <a:t>500-1100N/mm</a:t>
            </a:r>
            <a:r>
              <a:rPr lang="en-US" altLang="en-US"/>
              <a:t>²</a:t>
            </a:r>
            <a:r>
              <a:rPr lang="zh-CN" altLang="en-US"/>
              <a:t>应力范围，含硫磷型抗磨剂</a:t>
            </a:r>
            <a:r>
              <a:rPr lang="en-US" altLang="zh-CN"/>
              <a:t>L-CKD</a:t>
            </a:r>
            <a:r>
              <a:rPr lang="zh-CN" altLang="en-US"/>
              <a:t>：针对＞</a:t>
            </a:r>
            <a:r>
              <a:rPr lang="en-US" altLang="zh-CN"/>
              <a:t>1100N/mm</a:t>
            </a:r>
            <a:r>
              <a:rPr lang="en-US" altLang="en-US"/>
              <a:t>²</a:t>
            </a:r>
            <a:r>
              <a:rPr lang="zh-CN" altLang="en-US"/>
              <a:t>的重负荷工况，采用更高浓度的极压添加剂</a:t>
            </a:r>
            <a:endParaRPr lang="zh-CN" altLang="en-US"/>
          </a:p>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8499331D-3B53-469E-9EC4-D50B07C87B8E}" type="slidenum">
              <a:rPr lang="en-US" altLang="zh-CN"/>
            </a:fld>
            <a:endParaRPr lang="en-US" altLang="zh-CN"/>
          </a:p>
        </p:txBody>
      </p:sp>
      <p:sp>
        <p:nvSpPr>
          <p:cNvPr id="343042"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343043"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A53957D5-97CA-48CC-AA9E-4C8606F4EF9D}" type="slidenum">
              <a:rPr lang="en-US" altLang="zh-CN"/>
            </a:fld>
            <a:endParaRPr lang="en-US" altLang="zh-CN"/>
          </a:p>
        </p:txBody>
      </p:sp>
      <p:sp>
        <p:nvSpPr>
          <p:cNvPr id="345090"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dirty="0"/>
          </a:p>
        </p:txBody>
      </p:sp>
      <p:sp>
        <p:nvSpPr>
          <p:cNvPr id="345091"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348363D5-3D4D-4BCF-BE42-BF22250AFF9B}" type="slidenum">
              <a:rPr lang="en-US" altLang="zh-CN"/>
            </a:fld>
            <a:endParaRPr lang="en-US" altLang="zh-CN"/>
          </a:p>
        </p:txBody>
      </p:sp>
      <p:sp>
        <p:nvSpPr>
          <p:cNvPr id="347138"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347139"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CDE62F7F-F6EE-4331-A558-C8D97213A09E}" type="slidenum">
              <a:rPr lang="en-US" altLang="zh-CN"/>
            </a:fld>
            <a:endParaRPr lang="en-US" altLang="zh-CN"/>
          </a:p>
        </p:txBody>
      </p:sp>
      <p:sp>
        <p:nvSpPr>
          <p:cNvPr id="353282"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353283"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D437C276-B366-4E11-A606-A18208B2E0A4}" type="slidenum">
              <a:rPr lang="en-US" altLang="zh-CN"/>
            </a:fld>
            <a:endParaRPr lang="en-US" altLang="zh-CN"/>
          </a:p>
        </p:txBody>
      </p:sp>
      <p:sp>
        <p:nvSpPr>
          <p:cNvPr id="357378"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357379"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142F72-B92E-4550-8344-70F52493F9E8}"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latin typeface="Tahoma" panose="020B0604030504040204" pitchFamily="34" charset="0"/>
                <a:ea typeface="宋体" panose="02010600030101010101" pitchFamily="2" charset="-122"/>
              </a:defRPr>
            </a:lvl1pPr>
          </a:lstStyle>
          <a:p>
            <a:fld id="{226C0410-8F91-4790-B15D-1B9DEBDD79B9}" type="slidenum">
              <a:rPr lang="en-US" altLang="zh-CN"/>
            </a:fld>
            <a:endParaRPr lang="en-US" altLang="zh-CN"/>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92100"/>
            <a:ext cx="8229600" cy="57277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a:prstGeom prst="rect">
            <a:avLst/>
          </a:prstGeom>
        </p:spPr>
        <p:txBody>
          <a:bodyPr/>
          <a:lstStyle>
            <a:lvl1pPr>
              <a:defRPr/>
            </a:lvl1pPr>
          </a:lstStyle>
          <a:p>
            <a:fld id="{8438A2D3-38C6-4A20-9EBE-0A1B18B4FAC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pn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pn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pn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4" Type="http://schemas.openxmlformats.org/officeDocument/2006/relationships/theme" Target="../theme/theme6.xml"/><Relationship Id="rId13" Type="http://schemas.openxmlformats.org/officeDocument/2006/relationships/image" Target="../media/image1.png"/><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 Type="http://schemas.openxmlformats.org/officeDocument/2006/relationships/slideLayout" Target="../slideLayouts/slideLayout74.xml"/><Relationship Id="rId14" Type="http://schemas.openxmlformats.org/officeDocument/2006/relationships/theme" Target="../theme/theme7.xml"/><Relationship Id="rId13" Type="http://schemas.openxmlformats.org/officeDocument/2006/relationships/image" Target="../media/image1.png"/><Relationship Id="rId12" Type="http://schemas.openxmlformats.org/officeDocument/2006/relationships/slideLayout" Target="../slideLayouts/slideLayout84.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 Type="http://schemas.openxmlformats.org/officeDocument/2006/relationships/slideLayout" Target="../slideLayouts/slideLayout86.xml"/><Relationship Id="rId14" Type="http://schemas.openxmlformats.org/officeDocument/2006/relationships/theme" Target="../theme/theme8.xml"/><Relationship Id="rId13" Type="http://schemas.openxmlformats.org/officeDocument/2006/relationships/image" Target="../media/image1.png"/><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5.xml"/><Relationship Id="rId8" Type="http://schemas.openxmlformats.org/officeDocument/2006/relationships/slideLayout" Target="../slideLayouts/slideLayout104.xml"/><Relationship Id="rId7" Type="http://schemas.openxmlformats.org/officeDocument/2006/relationships/slideLayout" Target="../slideLayouts/slideLayout103.xml"/><Relationship Id="rId6" Type="http://schemas.openxmlformats.org/officeDocument/2006/relationships/slideLayout" Target="../slideLayouts/slideLayout102.xml"/><Relationship Id="rId5" Type="http://schemas.openxmlformats.org/officeDocument/2006/relationships/slideLayout" Target="../slideLayouts/slideLayout101.xml"/><Relationship Id="rId4" Type="http://schemas.openxmlformats.org/officeDocument/2006/relationships/slideLayout" Target="../slideLayouts/slideLayout100.xml"/><Relationship Id="rId3" Type="http://schemas.openxmlformats.org/officeDocument/2006/relationships/slideLayout" Target="../slideLayouts/slideLayout99.xml"/><Relationship Id="rId2" Type="http://schemas.openxmlformats.org/officeDocument/2006/relationships/slideLayout" Target="../slideLayouts/slideLayout98.xml"/><Relationship Id="rId14" Type="http://schemas.openxmlformats.org/officeDocument/2006/relationships/theme" Target="../theme/theme9.xml"/><Relationship Id="rId13" Type="http://schemas.openxmlformats.org/officeDocument/2006/relationships/image" Target="../media/image1.png"/><Relationship Id="rId12" Type="http://schemas.openxmlformats.org/officeDocument/2006/relationships/slideLayout" Target="../slideLayouts/slideLayout108.xml"/><Relationship Id="rId11" Type="http://schemas.openxmlformats.org/officeDocument/2006/relationships/slideLayout" Target="../slideLayouts/slideLayout107.xml"/><Relationship Id="rId10" Type="http://schemas.openxmlformats.org/officeDocument/2006/relationships/slideLayout" Target="../slideLayouts/slideLayout106.xml"/><Relationship Id="rId1"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7.xml"/><Relationship Id="rId8" Type="http://schemas.openxmlformats.org/officeDocument/2006/relationships/slideLayout" Target="../slideLayouts/slideLayout116.xml"/><Relationship Id="rId7" Type="http://schemas.openxmlformats.org/officeDocument/2006/relationships/slideLayout" Target="../slideLayouts/slideLayout115.xml"/><Relationship Id="rId6" Type="http://schemas.openxmlformats.org/officeDocument/2006/relationships/slideLayout" Target="../slideLayouts/slideLayout114.xml"/><Relationship Id="rId5" Type="http://schemas.openxmlformats.org/officeDocument/2006/relationships/slideLayout" Target="../slideLayouts/slideLayout113.xml"/><Relationship Id="rId4" Type="http://schemas.openxmlformats.org/officeDocument/2006/relationships/slideLayout" Target="../slideLayouts/slideLayout112.xml"/><Relationship Id="rId3" Type="http://schemas.openxmlformats.org/officeDocument/2006/relationships/slideLayout" Target="../slideLayouts/slideLayout111.xml"/><Relationship Id="rId2" Type="http://schemas.openxmlformats.org/officeDocument/2006/relationships/slideLayout" Target="../slideLayouts/slideLayout110.xml"/><Relationship Id="rId14" Type="http://schemas.openxmlformats.org/officeDocument/2006/relationships/theme" Target="../theme/theme10.xml"/><Relationship Id="rId13" Type="http://schemas.openxmlformats.org/officeDocument/2006/relationships/image" Target="../media/image1.png"/><Relationship Id="rId12" Type="http://schemas.openxmlformats.org/officeDocument/2006/relationships/slideLayout" Target="../slideLayouts/slideLayout120.xml"/><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 Type="http://schemas.openxmlformats.org/officeDocument/2006/relationships/slideLayout" Target="../slideLayouts/slideLayout109.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9.xml"/><Relationship Id="rId8" Type="http://schemas.openxmlformats.org/officeDocument/2006/relationships/slideLayout" Target="../slideLayouts/slideLayout128.xml"/><Relationship Id="rId7" Type="http://schemas.openxmlformats.org/officeDocument/2006/relationships/slideLayout" Target="../slideLayouts/slideLayout127.xml"/><Relationship Id="rId6" Type="http://schemas.openxmlformats.org/officeDocument/2006/relationships/slideLayout" Target="../slideLayouts/slideLayout126.xml"/><Relationship Id="rId5" Type="http://schemas.openxmlformats.org/officeDocument/2006/relationships/slideLayout" Target="../slideLayouts/slideLayout125.xml"/><Relationship Id="rId4" Type="http://schemas.openxmlformats.org/officeDocument/2006/relationships/slideLayout" Target="../slideLayouts/slideLayout124.xml"/><Relationship Id="rId3" Type="http://schemas.openxmlformats.org/officeDocument/2006/relationships/slideLayout" Target="../slideLayouts/slideLayout123.xml"/><Relationship Id="rId2" Type="http://schemas.openxmlformats.org/officeDocument/2006/relationships/slideLayout" Target="../slideLayouts/slideLayout122.xml"/><Relationship Id="rId14" Type="http://schemas.openxmlformats.org/officeDocument/2006/relationships/theme" Target="../theme/theme11.xml"/><Relationship Id="rId13" Type="http://schemas.openxmlformats.org/officeDocument/2006/relationships/image" Target="../media/image1.png"/><Relationship Id="rId12" Type="http://schemas.openxmlformats.org/officeDocument/2006/relationships/slideLayout" Target="../slideLayouts/slideLayout132.xml"/><Relationship Id="rId11" Type="http://schemas.openxmlformats.org/officeDocument/2006/relationships/slideLayout" Target="../slideLayouts/slideLayout131.xml"/><Relationship Id="rId10" Type="http://schemas.openxmlformats.org/officeDocument/2006/relationships/slideLayout" Target="../slideLayouts/slideLayout130.xml"/><Relationship Id="rId1" Type="http://schemas.openxmlformats.org/officeDocument/2006/relationships/slideLayout" Target="../slideLayouts/slideLayout12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4" Type="http://schemas.openxmlformats.org/officeDocument/2006/relationships/theme" Target="../theme/theme12.xml"/><Relationship Id="rId13" Type="http://schemas.openxmlformats.org/officeDocument/2006/relationships/image" Target="../media/image1.png"/><Relationship Id="rId12" Type="http://schemas.openxmlformats.org/officeDocument/2006/relationships/slideLayout" Target="../slideLayouts/slideLayout144.xml"/><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4" Type="http://schemas.openxmlformats.org/officeDocument/2006/relationships/theme" Target="../theme/theme13.xml"/><Relationship Id="rId13" Type="http://schemas.openxmlformats.org/officeDocument/2006/relationships/image" Target="../media/image1.png"/><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65.xml"/><Relationship Id="rId8" Type="http://schemas.openxmlformats.org/officeDocument/2006/relationships/slideLayout" Target="../slideLayouts/slideLayout164.xml"/><Relationship Id="rId7" Type="http://schemas.openxmlformats.org/officeDocument/2006/relationships/slideLayout" Target="../slideLayouts/slideLayout163.xml"/><Relationship Id="rId6" Type="http://schemas.openxmlformats.org/officeDocument/2006/relationships/slideLayout" Target="../slideLayouts/slideLayout162.xml"/><Relationship Id="rId5" Type="http://schemas.openxmlformats.org/officeDocument/2006/relationships/slideLayout" Target="../slideLayouts/slideLayout161.xml"/><Relationship Id="rId4" Type="http://schemas.openxmlformats.org/officeDocument/2006/relationships/slideLayout" Target="../slideLayouts/slideLayout160.xml"/><Relationship Id="rId3" Type="http://schemas.openxmlformats.org/officeDocument/2006/relationships/slideLayout" Target="../slideLayouts/slideLayout159.xml"/><Relationship Id="rId2" Type="http://schemas.openxmlformats.org/officeDocument/2006/relationships/slideLayout" Target="../slideLayouts/slideLayout158.xml"/><Relationship Id="rId14" Type="http://schemas.openxmlformats.org/officeDocument/2006/relationships/theme" Target="../theme/theme14.xml"/><Relationship Id="rId13" Type="http://schemas.openxmlformats.org/officeDocument/2006/relationships/image" Target="../media/image1.png"/><Relationship Id="rId12" Type="http://schemas.openxmlformats.org/officeDocument/2006/relationships/slideLayout" Target="../slideLayouts/slideLayout168.xml"/><Relationship Id="rId11" Type="http://schemas.openxmlformats.org/officeDocument/2006/relationships/slideLayout" Target="../slideLayouts/slideLayout167.xml"/><Relationship Id="rId10" Type="http://schemas.openxmlformats.org/officeDocument/2006/relationships/slideLayout" Target="../slideLayouts/slideLayout166.xml"/><Relationship Id="rId1" Type="http://schemas.openxmlformats.org/officeDocument/2006/relationships/slideLayout" Target="../slideLayouts/slideLayout157.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77.xml"/><Relationship Id="rId8" Type="http://schemas.openxmlformats.org/officeDocument/2006/relationships/slideLayout" Target="../slideLayouts/slideLayout176.xml"/><Relationship Id="rId7" Type="http://schemas.openxmlformats.org/officeDocument/2006/relationships/slideLayout" Target="../slideLayouts/slideLayout175.xml"/><Relationship Id="rId6" Type="http://schemas.openxmlformats.org/officeDocument/2006/relationships/slideLayout" Target="../slideLayouts/slideLayout174.xml"/><Relationship Id="rId5" Type="http://schemas.openxmlformats.org/officeDocument/2006/relationships/slideLayout" Target="../slideLayouts/slideLayout173.xml"/><Relationship Id="rId4" Type="http://schemas.openxmlformats.org/officeDocument/2006/relationships/slideLayout" Target="../slideLayouts/slideLayout172.xml"/><Relationship Id="rId3" Type="http://schemas.openxmlformats.org/officeDocument/2006/relationships/slideLayout" Target="../slideLayouts/slideLayout171.xml"/><Relationship Id="rId2" Type="http://schemas.openxmlformats.org/officeDocument/2006/relationships/slideLayout" Target="../slideLayouts/slideLayout170.xml"/><Relationship Id="rId14" Type="http://schemas.openxmlformats.org/officeDocument/2006/relationships/theme" Target="../theme/theme15.xml"/><Relationship Id="rId13" Type="http://schemas.openxmlformats.org/officeDocument/2006/relationships/image" Target="../media/image1.png"/><Relationship Id="rId12" Type="http://schemas.openxmlformats.org/officeDocument/2006/relationships/slideLayout" Target="../slideLayouts/slideLayout180.xml"/><Relationship Id="rId11" Type="http://schemas.openxmlformats.org/officeDocument/2006/relationships/slideLayout" Target="../slideLayouts/slideLayout179.xml"/><Relationship Id="rId10" Type="http://schemas.openxmlformats.org/officeDocument/2006/relationships/slideLayout" Target="../slideLayouts/slideLayout178.xml"/><Relationship Id="rId1" Type="http://schemas.openxmlformats.org/officeDocument/2006/relationships/slideLayout" Target="../slideLayouts/slideLayout169.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89.xml"/><Relationship Id="rId8" Type="http://schemas.openxmlformats.org/officeDocument/2006/relationships/slideLayout" Target="../slideLayouts/slideLayout188.xml"/><Relationship Id="rId7" Type="http://schemas.openxmlformats.org/officeDocument/2006/relationships/slideLayout" Target="../slideLayouts/slideLayout187.xml"/><Relationship Id="rId6" Type="http://schemas.openxmlformats.org/officeDocument/2006/relationships/slideLayout" Target="../slideLayouts/slideLayout186.xml"/><Relationship Id="rId5" Type="http://schemas.openxmlformats.org/officeDocument/2006/relationships/slideLayout" Target="../slideLayouts/slideLayout185.xml"/><Relationship Id="rId4" Type="http://schemas.openxmlformats.org/officeDocument/2006/relationships/slideLayout" Target="../slideLayouts/slideLayout184.xml"/><Relationship Id="rId3" Type="http://schemas.openxmlformats.org/officeDocument/2006/relationships/slideLayout" Target="../slideLayouts/slideLayout183.xml"/><Relationship Id="rId2" Type="http://schemas.openxmlformats.org/officeDocument/2006/relationships/slideLayout" Target="../slideLayouts/slideLayout182.xml"/><Relationship Id="rId14" Type="http://schemas.openxmlformats.org/officeDocument/2006/relationships/theme" Target="../theme/theme16.xml"/><Relationship Id="rId13" Type="http://schemas.openxmlformats.org/officeDocument/2006/relationships/image" Target="../media/image1.png"/><Relationship Id="rId12" Type="http://schemas.openxmlformats.org/officeDocument/2006/relationships/slideLayout" Target="../slideLayouts/slideLayout192.xml"/><Relationship Id="rId11" Type="http://schemas.openxmlformats.org/officeDocument/2006/relationships/slideLayout" Target="../slideLayouts/slideLayout191.xml"/><Relationship Id="rId10" Type="http://schemas.openxmlformats.org/officeDocument/2006/relationships/slideLayout" Target="../slideLayouts/slideLayout190.xml"/><Relationship Id="rId1" Type="http://schemas.openxmlformats.org/officeDocument/2006/relationships/slideLayout" Target="../slideLayouts/slideLayout1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62" name="Rectangle 142"/>
          <p:cNvSpPr>
            <a:spLocks noChangeArrowheads="1"/>
          </p:cNvSpPr>
          <p:nvPr userDrawn="1"/>
        </p:nvSpPr>
        <p:spPr bwMode="auto">
          <a:xfrm>
            <a:off x="0" y="3014663"/>
            <a:ext cx="9144000" cy="0"/>
          </a:xfrm>
          <a:prstGeom prst="rect">
            <a:avLst/>
          </a:prstGeom>
          <a:noFill/>
          <a:ln w="9525">
            <a:noFill/>
            <a:miter lim="800000"/>
          </a:ln>
          <a:effectLst/>
        </p:spPr>
        <p:txBody>
          <a:bodyPr wrap="none" anchor="ctr">
            <a:spAutoFit/>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 Target="slide19.xml"/><Relationship Id="rId8" Type="http://schemas.openxmlformats.org/officeDocument/2006/relationships/image" Target="../media/image2.png"/><Relationship Id="rId7" Type="http://schemas.openxmlformats.org/officeDocument/2006/relationships/slide" Target="slide1.xml"/><Relationship Id="rId6" Type="http://schemas.openxmlformats.org/officeDocument/2006/relationships/slide" Target="slide86.xml"/><Relationship Id="rId5" Type="http://schemas.openxmlformats.org/officeDocument/2006/relationships/slide" Target="slide24.xml"/><Relationship Id="rId4" Type="http://schemas.openxmlformats.org/officeDocument/2006/relationships/slide" Target="slide14.xml"/><Relationship Id="rId3" Type="http://schemas.openxmlformats.org/officeDocument/2006/relationships/slide" Target="slide10.xml"/><Relationship Id="rId2" Type="http://schemas.openxmlformats.org/officeDocument/2006/relationships/slide" Target="slide3.xml"/><Relationship Id="rId12" Type="http://schemas.openxmlformats.org/officeDocument/2006/relationships/notesSlide" Target="../notesSlides/notesSlide1.xml"/><Relationship Id="rId11" Type="http://schemas.openxmlformats.org/officeDocument/2006/relationships/slideLayout" Target="../slideLayouts/slideLayout7.xml"/><Relationship Id="rId10" Type="http://schemas.openxmlformats.org/officeDocument/2006/relationships/slide" Target="slide12.xml"/><Relationship Id="rId1" Type="http://schemas.openxmlformats.org/officeDocument/2006/relationships/slide" Target="slide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baike.baidu.com/item/%E5%8F%91%E5%B1%95%E8%B6%8B%E5%8A%BF/53360266?fromModule=lemma_inlink" TargetMode="Externa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9" Type="http://schemas.openxmlformats.org/officeDocument/2006/relationships/hyperlink" Target="file:///D:\&#30005;&#23376;&#25945;&#26696;\&#26426;&#26800;&#35774;&#35745;&#22522;&#30784;2008\&#20869;&#21870;&#21512;&#40831;&#36718;.exe" TargetMode="External"/><Relationship Id="rId8" Type="http://schemas.openxmlformats.org/officeDocument/2006/relationships/hyperlink" Target="/&#26426;&#26800;&#35774;&#35745;&#22522;&#30784;/&#34583;&#36718;&#34583;&#26438;.exe" TargetMode="External"/><Relationship Id="rId7" Type="http://schemas.openxmlformats.org/officeDocument/2006/relationships/slide" Target="slide11.xml"/><Relationship Id="rId6" Type="http://schemas.openxmlformats.org/officeDocument/2006/relationships/hyperlink" Target="/&#26426;&#26800;&#35774;&#35745;&#22522;&#30784;/&#30452;&#40831;&#22278;&#38181;&#40831;&#36718;.exe" TargetMode="External"/><Relationship Id="rId5" Type="http://schemas.openxmlformats.org/officeDocument/2006/relationships/hyperlink" Target="file:///D:\&#26426;&#26800;&#35774;&#35745;&#22522;&#30784;\&#20154;&#23383;&#40831;&#36718;.exe" TargetMode="External"/><Relationship Id="rId4" Type="http://schemas.openxmlformats.org/officeDocument/2006/relationships/hyperlink" Target="file:///D:\&#26426;&#26800;&#35774;&#35745;&#22522;&#30784;\&#26012;&#40831;&#36718;.exe" TargetMode="External"/><Relationship Id="rId3" Type="http://schemas.openxmlformats.org/officeDocument/2006/relationships/hyperlink" Target="file:///L:\&#26012;&#40831;&#36718;.exe" TargetMode="External"/><Relationship Id="rId2" Type="http://schemas.openxmlformats.org/officeDocument/2006/relationships/hyperlink" Target="file:///L:\&#30452;&#40831;&#36718;1.exe" TargetMode="External"/><Relationship Id="rId11" Type="http://schemas.openxmlformats.org/officeDocument/2006/relationships/slideLayout" Target="../slideLayouts/slideLayout7.xml"/><Relationship Id="rId10" Type="http://schemas.openxmlformats.org/officeDocument/2006/relationships/hyperlink" Target="file:///D:\&#30005;&#23376;&#25945;&#26696;\&#26426;&#26800;&#35774;&#35745;&#22522;&#30784;2008\&#40831;&#36718;&#40831;&#26465;.exe" TargetMode="External"/><Relationship Id="rId1" Type="http://schemas.openxmlformats.org/officeDocument/2006/relationships/hyperlink" Target="file:///D:\&#30005;&#23376;&#25945;&#26696;\&#26426;&#26800;&#35774;&#35745;&#22522;&#30784;2008\&#30452;&#40831;&#36718;1.exe" TargetMode="Externa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jpeg"/><Relationship Id="rId3" Type="http://schemas.openxmlformats.org/officeDocument/2006/relationships/image" Target="../media/image12.png"/><Relationship Id="rId2" Type="http://schemas.openxmlformats.org/officeDocument/2006/relationships/image" Target="../media/image11.GIF"/><Relationship Id="rId1" Type="http://schemas.openxmlformats.org/officeDocument/2006/relationships/image" Target="../media/image10.GIF"/></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jpe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oleObject" Target="../embeddings/oleObject1.bin"/><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25.jpeg"/><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12.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slide" Target="slide108.xml"/><Relationship Id="rId2" Type="http://schemas.openxmlformats.org/officeDocument/2006/relationships/image" Target="../media/image21.pn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9.png"/><Relationship Id="rId7" Type="http://schemas.openxmlformats.org/officeDocument/2006/relationships/image" Target="../media/image21.png"/><Relationship Id="rId6" Type="http://schemas.openxmlformats.org/officeDocument/2006/relationships/image" Target="../media/image30.emf"/><Relationship Id="rId5" Type="http://schemas.openxmlformats.org/officeDocument/2006/relationships/oleObject" Target="../embeddings/oleObject4.bin"/><Relationship Id="rId4" Type="http://schemas.openxmlformats.org/officeDocument/2006/relationships/image" Target="../media/image29.emf"/><Relationship Id="rId3" Type="http://schemas.openxmlformats.org/officeDocument/2006/relationships/oleObject" Target="../embeddings/oleObject3.bin"/><Relationship Id="rId2" Type="http://schemas.openxmlformats.org/officeDocument/2006/relationships/image" Target="../media/image28.emf"/><Relationship Id="rId12" Type="http://schemas.openxmlformats.org/officeDocument/2006/relationships/notesSlide" Target="../notesSlides/notesSlide15.xml"/><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5.wmf"/><Relationship Id="rId7" Type="http://schemas.openxmlformats.org/officeDocument/2006/relationships/oleObject" Target="../embeddings/oleObject8.bin"/><Relationship Id="rId6" Type="http://schemas.openxmlformats.org/officeDocument/2006/relationships/image" Target="../media/image34.wmf"/><Relationship Id="rId5" Type="http://schemas.openxmlformats.org/officeDocument/2006/relationships/oleObject" Target="../embeddings/oleObject7.bin"/><Relationship Id="rId4" Type="http://schemas.openxmlformats.org/officeDocument/2006/relationships/image" Target="../media/image33.wmf"/><Relationship Id="rId3" Type="http://schemas.openxmlformats.org/officeDocument/2006/relationships/oleObject" Target="../embeddings/oleObject6.bin"/><Relationship Id="rId2" Type="http://schemas.openxmlformats.org/officeDocument/2006/relationships/image" Target="../media/image32.wmf"/><Relationship Id="rId11" Type="http://schemas.openxmlformats.org/officeDocument/2006/relationships/notesSlide" Target="../notesSlides/notesSlide16.xml"/><Relationship Id="rId10" Type="http://schemas.openxmlformats.org/officeDocument/2006/relationships/vmlDrawing" Target="../drawings/vmlDrawing3.vml"/><Relationship Id="rId1"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36.wmf"/><Relationship Id="rId3" Type="http://schemas.openxmlformats.org/officeDocument/2006/relationships/oleObject" Target="../embeddings/oleObject9.bin"/><Relationship Id="rId2" Type="http://schemas.openxmlformats.org/officeDocument/2006/relationships/hyperlink" Target="ppt/slides/ppt/slides/ppt/slides/ppt/slides/clipboard/drawings/clipboard/slides/\&#26426;&#26800;&#35774;&#35745;&#22522;&#30784;\&#26012;&#40831;&#36718;.exe" TargetMode="External"/><Relationship Id="rId1" Type="http://schemas.openxmlformats.org/officeDocument/2006/relationships/image" Target="../media/image13.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12.bin"/><Relationship Id="rId4" Type="http://schemas.openxmlformats.org/officeDocument/2006/relationships/image" Target="../media/image38.wmf"/><Relationship Id="rId3" Type="http://schemas.openxmlformats.org/officeDocument/2006/relationships/oleObject" Target="../embeddings/oleObject11.bin"/><Relationship Id="rId2" Type="http://schemas.openxmlformats.org/officeDocument/2006/relationships/image" Target="../media/image37.wmf"/><Relationship Id="rId1" Type="http://schemas.openxmlformats.org/officeDocument/2006/relationships/oleObject" Target="../embeddings/oleObject10.bin"/></Relationships>
</file>

<file path=ppt/slides/_rels/slide29.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42.wmf"/><Relationship Id="rId7" Type="http://schemas.openxmlformats.org/officeDocument/2006/relationships/oleObject" Target="../embeddings/oleObject15.bin"/><Relationship Id="rId6" Type="http://schemas.openxmlformats.org/officeDocument/2006/relationships/image" Target="../media/image41.wmf"/><Relationship Id="rId5" Type="http://schemas.openxmlformats.org/officeDocument/2006/relationships/oleObject" Target="../embeddings/oleObject14.bin"/><Relationship Id="rId4" Type="http://schemas.openxmlformats.org/officeDocument/2006/relationships/image" Target="../media/image40.wmf"/><Relationship Id="rId3" Type="http://schemas.openxmlformats.org/officeDocument/2006/relationships/oleObject" Target="../embeddings/oleObject13.bin"/><Relationship Id="rId2" Type="http://schemas.openxmlformats.org/officeDocument/2006/relationships/image" Target="../media/image9.png"/><Relationship Id="rId14" Type="http://schemas.openxmlformats.org/officeDocument/2006/relationships/notesSlide" Target="../notesSlides/notesSlide18.xml"/><Relationship Id="rId13" Type="http://schemas.openxmlformats.org/officeDocument/2006/relationships/vmlDrawing" Target="../drawings/vmlDrawing6.vml"/><Relationship Id="rId12" Type="http://schemas.openxmlformats.org/officeDocument/2006/relationships/slideLayout" Target="../slideLayouts/slideLayout2.xml"/><Relationship Id="rId11" Type="http://schemas.openxmlformats.org/officeDocument/2006/relationships/image" Target="../media/image44.wmf"/><Relationship Id="rId10" Type="http://schemas.openxmlformats.org/officeDocument/2006/relationships/oleObject" Target="../embeddings/oleObject16.bin"/><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03.xml"/><Relationship Id="rId2" Type="http://schemas.openxmlformats.org/officeDocument/2006/relationships/image" Target="../media/image45.emf"/><Relationship Id="rId1" Type="http://schemas.openxmlformats.org/officeDocument/2006/relationships/oleObject" Target="../embeddings/Document1.doc"/></Relationships>
</file>

<file path=ppt/slides/_rels/slide32.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emf"/><Relationship Id="rId13" Type="http://schemas.openxmlformats.org/officeDocument/2006/relationships/vmlDrawing" Target="../drawings/vmlDrawing8.vml"/><Relationship Id="rId12" Type="http://schemas.openxmlformats.org/officeDocument/2006/relationships/slideLayout" Target="../slideLayouts/slideLayout103.xml"/><Relationship Id="rId11" Type="http://schemas.openxmlformats.org/officeDocument/2006/relationships/image" Target="../media/image54.png"/><Relationship Id="rId10" Type="http://schemas.openxmlformats.org/officeDocument/2006/relationships/image" Target="../media/image53.png"/><Relationship Id="rId1" Type="http://schemas.openxmlformats.org/officeDocument/2006/relationships/oleObject" Target="../embeddings/Document2.doc"/></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9.vml"/><Relationship Id="rId3" Type="http://schemas.openxmlformats.org/officeDocument/2006/relationships/slideLayout" Target="../slideLayouts/slideLayout103.xml"/><Relationship Id="rId2" Type="http://schemas.openxmlformats.org/officeDocument/2006/relationships/image" Target="../media/image55.emf"/><Relationship Id="rId1" Type="http://schemas.openxmlformats.org/officeDocument/2006/relationships/oleObject" Target="../embeddings/Document3.doc"/></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115.xml"/><Relationship Id="rId3" Type="http://schemas.openxmlformats.org/officeDocument/2006/relationships/image" Target="../media/image45.emf"/><Relationship Id="rId2" Type="http://schemas.openxmlformats.org/officeDocument/2006/relationships/oleObject" Target="../embeddings/Document4.doc"/><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15.xml"/><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127.xml"/><Relationship Id="rId6" Type="http://schemas.openxmlformats.org/officeDocument/2006/relationships/image" Target="../media/image63.wmf"/><Relationship Id="rId5" Type="http://schemas.openxmlformats.org/officeDocument/2006/relationships/oleObject" Target="../embeddings/oleObject19.bin"/><Relationship Id="rId4" Type="http://schemas.openxmlformats.org/officeDocument/2006/relationships/image" Target="../media/image62.wmf"/><Relationship Id="rId3" Type="http://schemas.openxmlformats.org/officeDocument/2006/relationships/oleObject" Target="../embeddings/oleObject18.bin"/><Relationship Id="rId2" Type="http://schemas.openxmlformats.org/officeDocument/2006/relationships/image" Target="../media/image61.wmf"/><Relationship Id="rId1" Type="http://schemas.openxmlformats.org/officeDocument/2006/relationships/oleObject" Target="../embeddings/oleObject17.bin"/></Relationships>
</file>

<file path=ppt/slides/_rels/slide37.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132.xml"/><Relationship Id="rId5" Type="http://schemas.openxmlformats.org/officeDocument/2006/relationships/image" Target="../media/image66.wmf"/><Relationship Id="rId4" Type="http://schemas.openxmlformats.org/officeDocument/2006/relationships/oleObject" Target="../embeddings/oleObject21.bin"/><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oleObject" Target="../embeddings/oleObject20.bin"/></Relationships>
</file>

<file path=ppt/slides/_rels/slide38.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132.xml"/><Relationship Id="rId7" Type="http://schemas.openxmlformats.org/officeDocument/2006/relationships/image" Target="../media/image68.wmf"/><Relationship Id="rId6" Type="http://schemas.openxmlformats.org/officeDocument/2006/relationships/oleObject" Target="../embeddings/oleObject24.bin"/><Relationship Id="rId5" Type="http://schemas.openxmlformats.org/officeDocument/2006/relationships/image" Target="../media/image65.png"/><Relationship Id="rId4" Type="http://schemas.openxmlformats.org/officeDocument/2006/relationships/image" Target="../media/image67.wmf"/><Relationship Id="rId3" Type="http://schemas.openxmlformats.org/officeDocument/2006/relationships/oleObject" Target="../embeddings/oleObject23.bin"/><Relationship Id="rId2" Type="http://schemas.openxmlformats.org/officeDocument/2006/relationships/image" Target="../media/image64.png"/><Relationship Id="rId1" Type="http://schemas.openxmlformats.org/officeDocument/2006/relationships/oleObject" Target="../embeddings/oleObject22.bin"/></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7.xml"/><Relationship Id="rId2" Type="http://schemas.openxmlformats.org/officeDocument/2006/relationships/image" Target="../media/image56.png"/><Relationship Id="rId1" Type="http://schemas.openxmlformats.org/officeDocument/2006/relationships/image" Target="../media/image6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7.xml"/><Relationship Id="rId1"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38.xml"/><Relationship Id="rId4" Type="http://schemas.openxmlformats.org/officeDocument/2006/relationships/slide" Target="slide112.xml"/><Relationship Id="rId3" Type="http://schemas.openxmlformats.org/officeDocument/2006/relationships/slide" Target="slide111.xml"/><Relationship Id="rId2" Type="http://schemas.openxmlformats.org/officeDocument/2006/relationships/slide" Target="slide110.xml"/><Relationship Id="rId1" Type="http://schemas.openxmlformats.org/officeDocument/2006/relationships/slide" Target="slide109.xml"/></Relationships>
</file>

<file path=ppt/slides/_rels/slide43.xml.rels><?xml version="1.0" encoding="UTF-8" standalone="yes"?>
<Relationships xmlns="http://schemas.openxmlformats.org/package/2006/relationships"><Relationship Id="rId9" Type="http://schemas.openxmlformats.org/officeDocument/2006/relationships/image" Target="../media/image75.emf"/><Relationship Id="rId8" Type="http://schemas.openxmlformats.org/officeDocument/2006/relationships/image" Target="../media/image74.emf"/><Relationship Id="rId7" Type="http://schemas.openxmlformats.org/officeDocument/2006/relationships/image" Target="../media/image73.png"/><Relationship Id="rId6" Type="http://schemas.openxmlformats.org/officeDocument/2006/relationships/image" Target="../media/image72.wmf"/><Relationship Id="rId5" Type="http://schemas.openxmlformats.org/officeDocument/2006/relationships/oleObject" Target="../embeddings/oleObject25.bin"/><Relationship Id="rId4" Type="http://schemas.openxmlformats.org/officeDocument/2006/relationships/image" Target="../media/image71.png"/><Relationship Id="rId3" Type="http://schemas.openxmlformats.org/officeDocument/2006/relationships/image" Target="../media/image8.png"/><Relationship Id="rId2" Type="http://schemas.openxmlformats.org/officeDocument/2006/relationships/image" Target="../media/image9.png"/><Relationship Id="rId11" Type="http://schemas.openxmlformats.org/officeDocument/2006/relationships/vmlDrawing" Target="../drawings/vmlDrawing14.vml"/><Relationship Id="rId10" Type="http://schemas.openxmlformats.org/officeDocument/2006/relationships/slideLayout" Target="../slideLayouts/slideLayout2.xml"/><Relationship Id="rId1" Type="http://schemas.openxmlformats.org/officeDocument/2006/relationships/image" Target="../media/image21.png"/></Relationships>
</file>

<file path=ppt/slides/_rels/slide44.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79.png"/><Relationship Id="rId7" Type="http://schemas.openxmlformats.org/officeDocument/2006/relationships/image" Target="../media/image78.png"/><Relationship Id="rId6" Type="http://schemas.openxmlformats.org/officeDocument/2006/relationships/image" Target="../media/image77.wmf"/><Relationship Id="rId5" Type="http://schemas.openxmlformats.org/officeDocument/2006/relationships/oleObject" Target="../embeddings/oleObject26.bin"/><Relationship Id="rId4" Type="http://schemas.openxmlformats.org/officeDocument/2006/relationships/image" Target="../media/image76.png"/><Relationship Id="rId3" Type="http://schemas.openxmlformats.org/officeDocument/2006/relationships/image" Target="../media/image8.png"/><Relationship Id="rId2" Type="http://schemas.openxmlformats.org/officeDocument/2006/relationships/image" Target="../media/image9.png"/><Relationship Id="rId11" Type="http://schemas.openxmlformats.org/officeDocument/2006/relationships/vmlDrawing" Target="../drawings/vmlDrawing15.vml"/><Relationship Id="rId10" Type="http://schemas.openxmlformats.org/officeDocument/2006/relationships/slideLayout" Target="../slideLayouts/slideLayout2.xml"/><Relationship Id="rId1" Type="http://schemas.openxmlformats.org/officeDocument/2006/relationships/image" Target="../media/image21.png"/></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44.wmf"/><Relationship Id="rId7" Type="http://schemas.openxmlformats.org/officeDocument/2006/relationships/oleObject" Target="../embeddings/oleObject30.bin"/><Relationship Id="rId6" Type="http://schemas.openxmlformats.org/officeDocument/2006/relationships/image" Target="../media/image83.wmf"/><Relationship Id="rId5" Type="http://schemas.openxmlformats.org/officeDocument/2006/relationships/oleObject" Target="../embeddings/oleObject29.bin"/><Relationship Id="rId4" Type="http://schemas.openxmlformats.org/officeDocument/2006/relationships/image" Target="../media/image82.wmf"/><Relationship Id="rId3" Type="http://schemas.openxmlformats.org/officeDocument/2006/relationships/oleObject" Target="../embeddings/oleObject28.bin"/><Relationship Id="rId2" Type="http://schemas.openxmlformats.org/officeDocument/2006/relationships/image" Target="../media/image81.wmf"/><Relationship Id="rId14" Type="http://schemas.openxmlformats.org/officeDocument/2006/relationships/vmlDrawing" Target="../drawings/vmlDrawing16.vml"/><Relationship Id="rId13" Type="http://schemas.openxmlformats.org/officeDocument/2006/relationships/slideLayout" Target="../slideLayouts/slideLayout14.xml"/><Relationship Id="rId12" Type="http://schemas.openxmlformats.org/officeDocument/2006/relationships/image" Target="../media/image84.wmf"/><Relationship Id="rId11" Type="http://schemas.openxmlformats.org/officeDocument/2006/relationships/oleObject" Target="../embeddings/oleObject32.bin"/><Relationship Id="rId10" Type="http://schemas.openxmlformats.org/officeDocument/2006/relationships/image" Target="../media/image77.wmf"/><Relationship Id="rId1" Type="http://schemas.openxmlformats.org/officeDocument/2006/relationships/oleObject" Target="../embeddings/oleObject27.bin"/></Relationships>
</file>

<file path=ppt/slides/_rels/slide46.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2.xml"/><Relationship Id="rId5" Type="http://schemas.openxmlformats.org/officeDocument/2006/relationships/image" Target="../media/image88.wmf"/><Relationship Id="rId4" Type="http://schemas.openxmlformats.org/officeDocument/2006/relationships/oleObject" Target="../embeddings/oleObject33.bin"/><Relationship Id="rId3" Type="http://schemas.openxmlformats.org/officeDocument/2006/relationships/image" Target="../media/image87.emf"/><Relationship Id="rId2" Type="http://schemas.openxmlformats.org/officeDocument/2006/relationships/image" Target="../media/image86.png"/><Relationship Id="rId1" Type="http://schemas.openxmlformats.org/officeDocument/2006/relationships/image" Target="../media/image85.jpeg"/></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91.wmf"/><Relationship Id="rId7" Type="http://schemas.openxmlformats.org/officeDocument/2006/relationships/oleObject" Target="../embeddings/oleObject36.bin"/><Relationship Id="rId6" Type="http://schemas.openxmlformats.org/officeDocument/2006/relationships/slide" Target="slide115.xml"/><Relationship Id="rId5" Type="http://schemas.openxmlformats.org/officeDocument/2006/relationships/image" Target="../media/image90.wmf"/><Relationship Id="rId4" Type="http://schemas.openxmlformats.org/officeDocument/2006/relationships/oleObject" Target="../embeddings/oleObject35.bin"/><Relationship Id="rId3" Type="http://schemas.openxmlformats.org/officeDocument/2006/relationships/slide" Target="slide49.xml"/><Relationship Id="rId2" Type="http://schemas.openxmlformats.org/officeDocument/2006/relationships/image" Target="../media/image89.wmf"/><Relationship Id="rId13" Type="http://schemas.openxmlformats.org/officeDocument/2006/relationships/notesSlide" Target="../notesSlides/notesSlide22.xml"/><Relationship Id="rId12" Type="http://schemas.openxmlformats.org/officeDocument/2006/relationships/vmlDrawing" Target="../drawings/vmlDrawing18.vml"/><Relationship Id="rId11" Type="http://schemas.openxmlformats.org/officeDocument/2006/relationships/slideLayout" Target="../slideLayouts/slideLayout2.xml"/><Relationship Id="rId10" Type="http://schemas.openxmlformats.org/officeDocument/2006/relationships/image" Target="../media/image92.wmf"/><Relationship Id="rId1" Type="http://schemas.openxmlformats.org/officeDocument/2006/relationships/oleObject" Target="../embeddings/oleObject34.bin"/></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3.png"/></Relationships>
</file>

<file path=ppt/slides/_rels/slide49.xml.rels><?xml version="1.0" encoding="UTF-8" standalone="yes"?>
<Relationships xmlns="http://schemas.openxmlformats.org/package/2006/relationships"><Relationship Id="rId9" Type="http://schemas.openxmlformats.org/officeDocument/2006/relationships/vmlDrawing" Target="../drawings/vmlDrawing19.vml"/><Relationship Id="rId8" Type="http://schemas.openxmlformats.org/officeDocument/2006/relationships/slideLayout" Target="../slideLayouts/slideLayout2.xml"/><Relationship Id="rId7" Type="http://schemas.openxmlformats.org/officeDocument/2006/relationships/slide" Target="slide51.xml"/><Relationship Id="rId6" Type="http://schemas.openxmlformats.org/officeDocument/2006/relationships/image" Target="../media/image96.wmf"/><Relationship Id="rId5" Type="http://schemas.openxmlformats.org/officeDocument/2006/relationships/oleObject" Target="../embeddings/oleObject40.bin"/><Relationship Id="rId4" Type="http://schemas.openxmlformats.org/officeDocument/2006/relationships/image" Target="../media/image95.wmf"/><Relationship Id="rId3" Type="http://schemas.openxmlformats.org/officeDocument/2006/relationships/oleObject" Target="../embeddings/oleObject39.bin"/><Relationship Id="rId2" Type="http://schemas.openxmlformats.org/officeDocument/2006/relationships/image" Target="../media/image94.wmf"/><Relationship Id="rId10" Type="http://schemas.openxmlformats.org/officeDocument/2006/relationships/notesSlide" Target="../notesSlides/notesSlide23.xml"/><Relationship Id="rId1" Type="http://schemas.openxmlformats.org/officeDocument/2006/relationships/oleObject" Target="../embeddings/oleObject38.bin"/></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image" Target="../media/image100.wmf"/><Relationship Id="rId7" Type="http://schemas.openxmlformats.org/officeDocument/2006/relationships/oleObject" Target="../embeddings/oleObject44.bin"/><Relationship Id="rId6" Type="http://schemas.openxmlformats.org/officeDocument/2006/relationships/image" Target="../media/image99.wmf"/><Relationship Id="rId5" Type="http://schemas.openxmlformats.org/officeDocument/2006/relationships/oleObject" Target="../embeddings/oleObject43.bin"/><Relationship Id="rId4" Type="http://schemas.openxmlformats.org/officeDocument/2006/relationships/image" Target="../media/image98.wmf"/><Relationship Id="rId3" Type="http://schemas.openxmlformats.org/officeDocument/2006/relationships/oleObject" Target="../embeddings/oleObject42.bin"/><Relationship Id="rId2" Type="http://schemas.openxmlformats.org/officeDocument/2006/relationships/image" Target="../media/image97.wmf"/><Relationship Id="rId11" Type="http://schemas.openxmlformats.org/officeDocument/2006/relationships/notesSlide" Target="../notesSlides/notesSlide24.xml"/><Relationship Id="rId10" Type="http://schemas.openxmlformats.org/officeDocument/2006/relationships/vmlDrawing" Target="../drawings/vmlDrawing20.vml"/><Relationship Id="rId1" Type="http://schemas.openxmlformats.org/officeDocument/2006/relationships/oleObject" Target="../embeddings/oleObject41.bin"/></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2.emf"/><Relationship Id="rId1" Type="http://schemas.openxmlformats.org/officeDocument/2006/relationships/image" Target="../media/image101.emf"/></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6.emf"/><Relationship Id="rId3" Type="http://schemas.openxmlformats.org/officeDocument/2006/relationships/image" Target="../media/image105.emf"/><Relationship Id="rId2" Type="http://schemas.openxmlformats.org/officeDocument/2006/relationships/image" Target="../media/image104.jpeg"/><Relationship Id="rId1" Type="http://schemas.openxmlformats.org/officeDocument/2006/relationships/image" Target="../media/image103.jpeg"/></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hyperlink" Target="&#40831;&#36718;&#34920;&#38754;&#28140;&#28779;.mp4" TargetMode="External"/><Relationship Id="rId4" Type="http://schemas.openxmlformats.org/officeDocument/2006/relationships/hyperlink" Target="&#40831;&#36718;&#28909;&#22788;&#29702;&#26041;&#27861;.mp4" TargetMode="External"/><Relationship Id="rId3" Type="http://schemas.openxmlformats.org/officeDocument/2006/relationships/image" Target="../media/image107.jpeg"/><Relationship Id="rId2" Type="http://schemas.openxmlformats.org/officeDocument/2006/relationships/image" Target="../media/image8.png"/><Relationship Id="rId1" Type="http://schemas.openxmlformats.org/officeDocument/2006/relationships/slide" Target="slide6.xml"/></Relationships>
</file>

<file path=ppt/slides/_rels/slide54.xml.rels><?xml version="1.0" encoding="UTF-8" standalone="yes"?>
<Relationships xmlns="http://schemas.openxmlformats.org/package/2006/relationships"><Relationship Id="rId9" Type="http://schemas.openxmlformats.org/officeDocument/2006/relationships/image" Target="../media/image112.emf"/><Relationship Id="rId8" Type="http://schemas.openxmlformats.org/officeDocument/2006/relationships/image" Target="../media/image111.emf"/><Relationship Id="rId7" Type="http://schemas.openxmlformats.org/officeDocument/2006/relationships/image" Target="../media/image110.wmf"/><Relationship Id="rId6" Type="http://schemas.openxmlformats.org/officeDocument/2006/relationships/oleObject" Target="../embeddings/oleObject45.bin"/><Relationship Id="rId5" Type="http://schemas.openxmlformats.org/officeDocument/2006/relationships/image" Target="../media/image85.jpeg"/><Relationship Id="rId4" Type="http://schemas.openxmlformats.org/officeDocument/2006/relationships/image" Target="../media/image109.png"/><Relationship Id="rId3" Type="http://schemas.openxmlformats.org/officeDocument/2006/relationships/image" Target="../media/image8.png"/><Relationship Id="rId2" Type="http://schemas.openxmlformats.org/officeDocument/2006/relationships/image" Target="../media/image9.png"/><Relationship Id="rId16" Type="http://schemas.openxmlformats.org/officeDocument/2006/relationships/notesSlide" Target="../notesSlides/notesSlide25.xml"/><Relationship Id="rId15" Type="http://schemas.openxmlformats.org/officeDocument/2006/relationships/vmlDrawing" Target="../drawings/vmlDrawing21.vml"/><Relationship Id="rId14" Type="http://schemas.openxmlformats.org/officeDocument/2006/relationships/slideLayout" Target="../slideLayouts/slideLayout2.xml"/><Relationship Id="rId13" Type="http://schemas.openxmlformats.org/officeDocument/2006/relationships/image" Target="../media/image115.wmf"/><Relationship Id="rId12" Type="http://schemas.openxmlformats.org/officeDocument/2006/relationships/oleObject" Target="../embeddings/oleObject46.bin"/><Relationship Id="rId11" Type="http://schemas.openxmlformats.org/officeDocument/2006/relationships/image" Target="../media/image114.emf"/><Relationship Id="rId10" Type="http://schemas.openxmlformats.org/officeDocument/2006/relationships/image" Target="../media/image113.emf"/><Relationship Id="rId1" Type="http://schemas.openxmlformats.org/officeDocument/2006/relationships/image" Target="../media/image21.png"/></Relationships>
</file>

<file path=ppt/slides/_rels/slide55.xml.rels><?xml version="1.0" encoding="UTF-8" standalone="yes"?>
<Relationships xmlns="http://schemas.openxmlformats.org/package/2006/relationships"><Relationship Id="rId9" Type="http://schemas.openxmlformats.org/officeDocument/2006/relationships/image" Target="../media/image119.png"/><Relationship Id="rId8" Type="http://schemas.openxmlformats.org/officeDocument/2006/relationships/image" Target="../media/image118.wmf"/><Relationship Id="rId7" Type="http://schemas.openxmlformats.org/officeDocument/2006/relationships/oleObject" Target="../embeddings/oleObject48.bin"/><Relationship Id="rId6" Type="http://schemas.openxmlformats.org/officeDocument/2006/relationships/image" Target="../media/image117.wmf"/><Relationship Id="rId5" Type="http://schemas.openxmlformats.org/officeDocument/2006/relationships/oleObject" Target="../embeddings/oleObject47.bin"/><Relationship Id="rId4" Type="http://schemas.openxmlformats.org/officeDocument/2006/relationships/image" Target="../media/image116.png"/><Relationship Id="rId3" Type="http://schemas.openxmlformats.org/officeDocument/2006/relationships/image" Target="../media/image8.png"/><Relationship Id="rId2" Type="http://schemas.openxmlformats.org/officeDocument/2006/relationships/image" Target="../media/image9.png"/><Relationship Id="rId19" Type="http://schemas.openxmlformats.org/officeDocument/2006/relationships/vmlDrawing" Target="../drawings/vmlDrawing22.vml"/><Relationship Id="rId18" Type="http://schemas.openxmlformats.org/officeDocument/2006/relationships/slideLayout" Target="../slideLayouts/slideLayout2.xml"/><Relationship Id="rId17" Type="http://schemas.openxmlformats.org/officeDocument/2006/relationships/image" Target="../media/image89.wmf"/><Relationship Id="rId16" Type="http://schemas.openxmlformats.org/officeDocument/2006/relationships/oleObject" Target="../embeddings/oleObject50.bin"/><Relationship Id="rId15" Type="http://schemas.openxmlformats.org/officeDocument/2006/relationships/image" Target="../media/image124.emf"/><Relationship Id="rId14" Type="http://schemas.openxmlformats.org/officeDocument/2006/relationships/image" Target="../media/image123.emf"/><Relationship Id="rId13" Type="http://schemas.openxmlformats.org/officeDocument/2006/relationships/image" Target="../media/image122.png"/><Relationship Id="rId12" Type="http://schemas.openxmlformats.org/officeDocument/2006/relationships/image" Target="../media/image121.png"/><Relationship Id="rId11" Type="http://schemas.openxmlformats.org/officeDocument/2006/relationships/image" Target="../media/image120.wmf"/><Relationship Id="rId10" Type="http://schemas.openxmlformats.org/officeDocument/2006/relationships/oleObject" Target="../embeddings/oleObject49.bin"/><Relationship Id="rId1" Type="http://schemas.openxmlformats.org/officeDocument/2006/relationships/image" Target="../media/image21.png"/></Relationships>
</file>

<file path=ppt/slides/_rels/slide56.xml.rels><?xml version="1.0" encoding="UTF-8" standalone="yes"?>
<Relationships xmlns="http://schemas.openxmlformats.org/package/2006/relationships"><Relationship Id="rId9" Type="http://schemas.openxmlformats.org/officeDocument/2006/relationships/image" Target="../media/image94.wmf"/><Relationship Id="rId8" Type="http://schemas.openxmlformats.org/officeDocument/2006/relationships/oleObject" Target="../embeddings/oleObject51.bin"/><Relationship Id="rId7" Type="http://schemas.openxmlformats.org/officeDocument/2006/relationships/image" Target="../media/image128.png"/><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 Id="rId3" Type="http://schemas.openxmlformats.org/officeDocument/2006/relationships/image" Target="../media/image8.png"/><Relationship Id="rId2" Type="http://schemas.openxmlformats.org/officeDocument/2006/relationships/image" Target="../media/image9.png"/><Relationship Id="rId13" Type="http://schemas.openxmlformats.org/officeDocument/2006/relationships/vmlDrawing" Target="../drawings/vmlDrawing23.vml"/><Relationship Id="rId12" Type="http://schemas.openxmlformats.org/officeDocument/2006/relationships/slideLayout" Target="../slideLayouts/slideLayout2.xml"/><Relationship Id="rId11" Type="http://schemas.openxmlformats.org/officeDocument/2006/relationships/image" Target="../media/image90.wmf"/><Relationship Id="rId10" Type="http://schemas.openxmlformats.org/officeDocument/2006/relationships/oleObject" Target="../embeddings/oleObject52.bin"/><Relationship Id="rId1" Type="http://schemas.openxmlformats.org/officeDocument/2006/relationships/image" Target="../media/image21.png"/></Relationships>
</file>

<file path=ppt/slides/_rels/slide57.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vmlDrawing" Target="../drawings/vmlDrawing24.vml"/><Relationship Id="rId5" Type="http://schemas.openxmlformats.org/officeDocument/2006/relationships/slideLayout" Target="../slideLayouts/slideLayout2.xml"/><Relationship Id="rId4" Type="http://schemas.openxmlformats.org/officeDocument/2006/relationships/image" Target="../media/image130.wmf"/><Relationship Id="rId3" Type="http://schemas.openxmlformats.org/officeDocument/2006/relationships/oleObject" Target="../embeddings/oleObject54.bin"/><Relationship Id="rId2" Type="http://schemas.openxmlformats.org/officeDocument/2006/relationships/image" Target="../media/image129.wmf"/><Relationship Id="rId1" Type="http://schemas.openxmlformats.org/officeDocument/2006/relationships/oleObject" Target="../embeddings/oleObject53.bin"/></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image" Target="../media/image131.jpe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21.png"/></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146.xml"/><Relationship Id="rId8" Type="http://schemas.openxmlformats.org/officeDocument/2006/relationships/image" Target="../media/image135.wmf"/><Relationship Id="rId7" Type="http://schemas.openxmlformats.org/officeDocument/2006/relationships/oleObject" Target="../embeddings/oleObject55.bin"/><Relationship Id="rId6" Type="http://schemas.openxmlformats.org/officeDocument/2006/relationships/image" Target="../media/image134.emf"/><Relationship Id="rId5" Type="http://schemas.openxmlformats.org/officeDocument/2006/relationships/image" Target="../media/image133.emf"/><Relationship Id="rId4" Type="http://schemas.openxmlformats.org/officeDocument/2006/relationships/image" Target="../media/image131.jpeg"/><Relationship Id="rId3" Type="http://schemas.openxmlformats.org/officeDocument/2006/relationships/image" Target="../media/image8.png"/><Relationship Id="rId2" Type="http://schemas.openxmlformats.org/officeDocument/2006/relationships/image" Target="../media/image9.png"/><Relationship Id="rId10" Type="http://schemas.openxmlformats.org/officeDocument/2006/relationships/vmlDrawing" Target="../drawings/vmlDrawing25.vml"/><Relationship Id="rId1" Type="http://schemas.openxmlformats.org/officeDocument/2006/relationships/image" Target="../media/image21.png"/></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9.wmf"/><Relationship Id="rId7" Type="http://schemas.openxmlformats.org/officeDocument/2006/relationships/oleObject" Target="../embeddings/oleObject56.bin"/><Relationship Id="rId6" Type="http://schemas.openxmlformats.org/officeDocument/2006/relationships/image" Target="../media/image138.jpeg"/><Relationship Id="rId5" Type="http://schemas.openxmlformats.org/officeDocument/2006/relationships/image" Target="../media/image137.png"/><Relationship Id="rId4" Type="http://schemas.openxmlformats.org/officeDocument/2006/relationships/image" Target="../media/image136.png"/><Relationship Id="rId3" Type="http://schemas.openxmlformats.org/officeDocument/2006/relationships/image" Target="../media/image8.png"/><Relationship Id="rId2" Type="http://schemas.openxmlformats.org/officeDocument/2006/relationships/image" Target="../media/image9.png"/><Relationship Id="rId10" Type="http://schemas.openxmlformats.org/officeDocument/2006/relationships/vmlDrawing" Target="../drawings/vmlDrawing26.vml"/><Relationship Id="rId1" Type="http://schemas.openxmlformats.org/officeDocument/2006/relationships/image" Target="../media/image21.png"/></Relationships>
</file>

<file path=ppt/slides/_rels/slide61.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158.xml"/><Relationship Id="rId6" Type="http://schemas.openxmlformats.org/officeDocument/2006/relationships/image" Target="../media/image142.wmf"/><Relationship Id="rId5" Type="http://schemas.openxmlformats.org/officeDocument/2006/relationships/oleObject" Target="../embeddings/oleObject59.bin"/><Relationship Id="rId4" Type="http://schemas.openxmlformats.org/officeDocument/2006/relationships/image" Target="../media/image141.wmf"/><Relationship Id="rId3" Type="http://schemas.openxmlformats.org/officeDocument/2006/relationships/oleObject" Target="../embeddings/oleObject58.bin"/><Relationship Id="rId2" Type="http://schemas.openxmlformats.org/officeDocument/2006/relationships/image" Target="../media/image140.wmf"/><Relationship Id="rId1" Type="http://schemas.openxmlformats.org/officeDocument/2006/relationships/oleObject" Target="../embeddings/oleObject57.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62.bin"/><Relationship Id="rId8" Type="http://schemas.openxmlformats.org/officeDocument/2006/relationships/image" Target="../media/image145.wmf"/><Relationship Id="rId7" Type="http://schemas.openxmlformats.org/officeDocument/2006/relationships/oleObject" Target="../embeddings/oleObject61.bin"/><Relationship Id="rId6" Type="http://schemas.openxmlformats.org/officeDocument/2006/relationships/image" Target="../media/image144.wmf"/><Relationship Id="rId5" Type="http://schemas.openxmlformats.org/officeDocument/2006/relationships/oleObject" Target="../embeddings/oleObject60.bin"/><Relationship Id="rId4" Type="http://schemas.openxmlformats.org/officeDocument/2006/relationships/image" Target="../media/image143.png"/><Relationship Id="rId3" Type="http://schemas.openxmlformats.org/officeDocument/2006/relationships/image" Target="../media/image8.png"/><Relationship Id="rId2" Type="http://schemas.openxmlformats.org/officeDocument/2006/relationships/image" Target="../media/image9.png"/><Relationship Id="rId13" Type="http://schemas.openxmlformats.org/officeDocument/2006/relationships/notesSlide" Target="../notesSlides/notesSlide27.xml"/><Relationship Id="rId12" Type="http://schemas.openxmlformats.org/officeDocument/2006/relationships/vmlDrawing" Target="../drawings/vmlDrawing28.vml"/><Relationship Id="rId11" Type="http://schemas.openxmlformats.org/officeDocument/2006/relationships/slideLayout" Target="../slideLayouts/slideLayout2.xml"/><Relationship Id="rId10" Type="http://schemas.openxmlformats.org/officeDocument/2006/relationships/image" Target="../media/image146.wmf"/><Relationship Id="rId1" Type="http://schemas.openxmlformats.org/officeDocument/2006/relationships/image" Target="../media/image21.png"/></Relationships>
</file>

<file path=ppt/slides/_rels/slide63.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66.bin"/><Relationship Id="rId7" Type="http://schemas.openxmlformats.org/officeDocument/2006/relationships/image" Target="../media/image149.wmf"/><Relationship Id="rId6" Type="http://schemas.openxmlformats.org/officeDocument/2006/relationships/oleObject" Target="../embeddings/oleObject65.bin"/><Relationship Id="rId5" Type="http://schemas.openxmlformats.org/officeDocument/2006/relationships/image" Target="../media/image148.wmf"/><Relationship Id="rId4" Type="http://schemas.openxmlformats.org/officeDocument/2006/relationships/oleObject" Target="../embeddings/oleObject64.bin"/><Relationship Id="rId3" Type="http://schemas.openxmlformats.org/officeDocument/2006/relationships/image" Target="../media/image140.wmf"/><Relationship Id="rId2" Type="http://schemas.openxmlformats.org/officeDocument/2006/relationships/oleObject" Target="../embeddings/oleObject63.bin"/><Relationship Id="rId17" Type="http://schemas.openxmlformats.org/officeDocument/2006/relationships/vmlDrawing" Target="../drawings/vmlDrawing29.vml"/><Relationship Id="rId16" Type="http://schemas.openxmlformats.org/officeDocument/2006/relationships/slideLayout" Target="../slideLayouts/slideLayout50.xml"/><Relationship Id="rId15" Type="http://schemas.openxmlformats.org/officeDocument/2006/relationships/image" Target="../media/image153.wmf"/><Relationship Id="rId14" Type="http://schemas.openxmlformats.org/officeDocument/2006/relationships/oleObject" Target="../embeddings/oleObject69.bin"/><Relationship Id="rId13" Type="http://schemas.openxmlformats.org/officeDocument/2006/relationships/image" Target="../media/image152.wmf"/><Relationship Id="rId12" Type="http://schemas.openxmlformats.org/officeDocument/2006/relationships/oleObject" Target="../embeddings/oleObject68.bin"/><Relationship Id="rId11" Type="http://schemas.openxmlformats.org/officeDocument/2006/relationships/image" Target="../media/image151.wmf"/><Relationship Id="rId10" Type="http://schemas.openxmlformats.org/officeDocument/2006/relationships/oleObject" Target="../embeddings/oleObject67.bin"/><Relationship Id="rId1" Type="http://schemas.openxmlformats.org/officeDocument/2006/relationships/image" Target="../media/image147.png"/></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157.wmf"/><Relationship Id="rId7" Type="http://schemas.openxmlformats.org/officeDocument/2006/relationships/oleObject" Target="../embeddings/oleObject73.bin"/><Relationship Id="rId6" Type="http://schemas.openxmlformats.org/officeDocument/2006/relationships/image" Target="../media/image156.wmf"/><Relationship Id="rId5" Type="http://schemas.openxmlformats.org/officeDocument/2006/relationships/oleObject" Target="../embeddings/oleObject72.bin"/><Relationship Id="rId4" Type="http://schemas.openxmlformats.org/officeDocument/2006/relationships/image" Target="../media/image155.wmf"/><Relationship Id="rId3" Type="http://schemas.openxmlformats.org/officeDocument/2006/relationships/oleObject" Target="../embeddings/oleObject71.bin"/><Relationship Id="rId2" Type="http://schemas.openxmlformats.org/officeDocument/2006/relationships/image" Target="../media/image154.wmf"/><Relationship Id="rId13" Type="http://schemas.openxmlformats.org/officeDocument/2006/relationships/notesSlide" Target="../notesSlides/notesSlide28.xml"/><Relationship Id="rId12" Type="http://schemas.openxmlformats.org/officeDocument/2006/relationships/vmlDrawing" Target="../drawings/vmlDrawing30.vml"/><Relationship Id="rId11" Type="http://schemas.openxmlformats.org/officeDocument/2006/relationships/slideLayout" Target="../slideLayouts/slideLayout62.xml"/><Relationship Id="rId10" Type="http://schemas.openxmlformats.org/officeDocument/2006/relationships/image" Target="../media/image158.wmf"/><Relationship Id="rId1" Type="http://schemas.openxmlformats.org/officeDocument/2006/relationships/oleObject" Target="../embeddings/oleObject70.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79.bin"/><Relationship Id="rId8" Type="http://schemas.openxmlformats.org/officeDocument/2006/relationships/image" Target="../media/image162.wmf"/><Relationship Id="rId7" Type="http://schemas.openxmlformats.org/officeDocument/2006/relationships/oleObject" Target="../embeddings/oleObject78.bin"/><Relationship Id="rId6" Type="http://schemas.openxmlformats.org/officeDocument/2006/relationships/image" Target="../media/image161.wmf"/><Relationship Id="rId5" Type="http://schemas.openxmlformats.org/officeDocument/2006/relationships/oleObject" Target="../embeddings/oleObject77.bin"/><Relationship Id="rId4" Type="http://schemas.openxmlformats.org/officeDocument/2006/relationships/image" Target="../media/image160.wmf"/><Relationship Id="rId3" Type="http://schemas.openxmlformats.org/officeDocument/2006/relationships/oleObject" Target="../embeddings/oleObject76.bin"/><Relationship Id="rId25" Type="http://schemas.openxmlformats.org/officeDocument/2006/relationships/notesSlide" Target="../notesSlides/notesSlide29.xml"/><Relationship Id="rId24" Type="http://schemas.openxmlformats.org/officeDocument/2006/relationships/vmlDrawing" Target="../drawings/vmlDrawing31.vml"/><Relationship Id="rId23" Type="http://schemas.openxmlformats.org/officeDocument/2006/relationships/slideLayout" Target="../slideLayouts/slideLayout91.xml"/><Relationship Id="rId22" Type="http://schemas.openxmlformats.org/officeDocument/2006/relationships/image" Target="../media/image169.wmf"/><Relationship Id="rId21" Type="http://schemas.openxmlformats.org/officeDocument/2006/relationships/oleObject" Target="../embeddings/oleObject85.bin"/><Relationship Id="rId20" Type="http://schemas.openxmlformats.org/officeDocument/2006/relationships/image" Target="../media/image168.wmf"/><Relationship Id="rId2" Type="http://schemas.openxmlformats.org/officeDocument/2006/relationships/image" Target="../media/image159.wmf"/><Relationship Id="rId19" Type="http://schemas.openxmlformats.org/officeDocument/2006/relationships/oleObject" Target="../embeddings/oleObject84.bin"/><Relationship Id="rId18" Type="http://schemas.openxmlformats.org/officeDocument/2006/relationships/image" Target="../media/image167.wmf"/><Relationship Id="rId17" Type="http://schemas.openxmlformats.org/officeDocument/2006/relationships/oleObject" Target="../embeddings/oleObject83.bin"/><Relationship Id="rId16" Type="http://schemas.openxmlformats.org/officeDocument/2006/relationships/image" Target="../media/image166.wmf"/><Relationship Id="rId15" Type="http://schemas.openxmlformats.org/officeDocument/2006/relationships/oleObject" Target="../embeddings/oleObject82.bin"/><Relationship Id="rId14" Type="http://schemas.openxmlformats.org/officeDocument/2006/relationships/image" Target="../media/image165.wmf"/><Relationship Id="rId13" Type="http://schemas.openxmlformats.org/officeDocument/2006/relationships/oleObject" Target="../embeddings/oleObject81.bin"/><Relationship Id="rId12" Type="http://schemas.openxmlformats.org/officeDocument/2006/relationships/image" Target="../media/image164.wmf"/><Relationship Id="rId11" Type="http://schemas.openxmlformats.org/officeDocument/2006/relationships/oleObject" Target="../embeddings/oleObject80.bin"/><Relationship Id="rId10" Type="http://schemas.openxmlformats.org/officeDocument/2006/relationships/image" Target="../media/image163.wmf"/><Relationship Id="rId1" Type="http://schemas.openxmlformats.org/officeDocument/2006/relationships/oleObject" Target="../embeddings/oleObject75.bin"/></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image" Target="../media/image8.png"/></Relationships>
</file>

<file path=ppt/slides/_rels/slide68.xml.rels><?xml version="1.0" encoding="UTF-8" standalone="yes"?>
<Relationships xmlns="http://schemas.openxmlformats.org/package/2006/relationships"><Relationship Id="rId9" Type="http://schemas.openxmlformats.org/officeDocument/2006/relationships/image" Target="../media/image172.wmf"/><Relationship Id="rId8" Type="http://schemas.openxmlformats.org/officeDocument/2006/relationships/oleObject" Target="../embeddings/oleObject88.bin"/><Relationship Id="rId7" Type="http://schemas.openxmlformats.org/officeDocument/2006/relationships/image" Target="../media/image171.wmf"/><Relationship Id="rId6" Type="http://schemas.openxmlformats.org/officeDocument/2006/relationships/oleObject" Target="../embeddings/oleObject87.bin"/><Relationship Id="rId5" Type="http://schemas.openxmlformats.org/officeDocument/2006/relationships/image" Target="../media/image170.wmf"/><Relationship Id="rId4" Type="http://schemas.openxmlformats.org/officeDocument/2006/relationships/oleObject" Target="../embeddings/oleObject86.bin"/><Relationship Id="rId3" Type="http://schemas.openxmlformats.org/officeDocument/2006/relationships/image" Target="../media/image9.png"/><Relationship Id="rId2" Type="http://schemas.openxmlformats.org/officeDocument/2006/relationships/image" Target="../media/image21.png"/><Relationship Id="rId15" Type="http://schemas.openxmlformats.org/officeDocument/2006/relationships/vmlDrawing" Target="../drawings/vmlDrawing32.vml"/><Relationship Id="rId14" Type="http://schemas.openxmlformats.org/officeDocument/2006/relationships/slideLayout" Target="../slideLayouts/slideLayout2.xml"/><Relationship Id="rId13" Type="http://schemas.openxmlformats.org/officeDocument/2006/relationships/image" Target="../media/image174.wmf"/><Relationship Id="rId12" Type="http://schemas.openxmlformats.org/officeDocument/2006/relationships/oleObject" Target="../embeddings/oleObject90.bin"/><Relationship Id="rId11" Type="http://schemas.openxmlformats.org/officeDocument/2006/relationships/image" Target="../media/image173.wmf"/><Relationship Id="rId10" Type="http://schemas.openxmlformats.org/officeDocument/2006/relationships/oleObject" Target="../embeddings/oleObject89.bin"/><Relationship Id="rId1" Type="http://schemas.openxmlformats.org/officeDocument/2006/relationships/image" Target="../media/image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2.xml"/><Relationship Id="rId3" Type="http://schemas.openxmlformats.org/officeDocument/2006/relationships/slide" Target="slide116.xml"/><Relationship Id="rId2" Type="http://schemas.openxmlformats.org/officeDocument/2006/relationships/image" Target="../media/image9.png"/><Relationship Id="rId1" Type="http://schemas.openxmlformats.org/officeDocument/2006/relationships/image" Target="../media/image21.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5.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7.xml"/><Relationship Id="rId3" Type="http://schemas.openxmlformats.org/officeDocument/2006/relationships/tags" Target="../tags/tag10.xml"/><Relationship Id="rId2" Type="http://schemas.openxmlformats.org/officeDocument/2006/relationships/image" Target="../media/image175.GIF"/><Relationship Id="rId1" Type="http://schemas.openxmlformats.org/officeDocument/2006/relationships/slide" Target="slide117.xml"/></Relationships>
</file>

<file path=ppt/slides/_rels/slide73.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176.wmf"/><Relationship Id="rId1" Type="http://schemas.openxmlformats.org/officeDocument/2006/relationships/oleObject" Target="../embeddings/oleObject91.bin"/></Relationships>
</file>

<file path=ppt/slides/_rels/slide74.xml.rels><?xml version="1.0" encoding="UTF-8" standalone="yes"?>
<Relationships xmlns="http://schemas.openxmlformats.org/package/2006/relationships"><Relationship Id="rId9" Type="http://schemas.openxmlformats.org/officeDocument/2006/relationships/slide" Target="slide118.xml"/><Relationship Id="rId8" Type="http://schemas.openxmlformats.org/officeDocument/2006/relationships/slide" Target="slide121.xml"/><Relationship Id="rId7" Type="http://schemas.openxmlformats.org/officeDocument/2006/relationships/image" Target="../media/image179.wmf"/><Relationship Id="rId6" Type="http://schemas.openxmlformats.org/officeDocument/2006/relationships/oleObject" Target="../embeddings/oleObject94.bin"/><Relationship Id="rId5" Type="http://schemas.openxmlformats.org/officeDocument/2006/relationships/image" Target="../media/image178.wmf"/><Relationship Id="rId4" Type="http://schemas.openxmlformats.org/officeDocument/2006/relationships/oleObject" Target="../embeddings/oleObject93.bin"/><Relationship Id="rId3" Type="http://schemas.openxmlformats.org/officeDocument/2006/relationships/image" Target="../media/image177.wmf"/><Relationship Id="rId2" Type="http://schemas.openxmlformats.org/officeDocument/2006/relationships/oleObject" Target="../embeddings/oleObject92.bin"/><Relationship Id="rId16" Type="http://schemas.openxmlformats.org/officeDocument/2006/relationships/vmlDrawing" Target="../drawings/vmlDrawing34.vml"/><Relationship Id="rId15" Type="http://schemas.openxmlformats.org/officeDocument/2006/relationships/slideLayout" Target="../slideLayouts/slideLayout74.xml"/><Relationship Id="rId14" Type="http://schemas.openxmlformats.org/officeDocument/2006/relationships/image" Target="../media/image181.wmf"/><Relationship Id="rId13" Type="http://schemas.openxmlformats.org/officeDocument/2006/relationships/oleObject" Target="../embeddings/oleObject96.bin"/><Relationship Id="rId12" Type="http://schemas.openxmlformats.org/officeDocument/2006/relationships/image" Target="../media/image180.wmf"/><Relationship Id="rId11" Type="http://schemas.openxmlformats.org/officeDocument/2006/relationships/oleObject" Target="../embeddings/oleObject95.bin"/><Relationship Id="rId10" Type="http://schemas.openxmlformats.org/officeDocument/2006/relationships/slide" Target="slide124.xml"/><Relationship Id="rId1" Type="http://schemas.openxmlformats.org/officeDocument/2006/relationships/image" Target="../media/image9.png"/></Relationships>
</file>

<file path=ppt/slides/_rels/slide75.xml.rels><?xml version="1.0" encoding="UTF-8" standalone="yes"?>
<Relationships xmlns="http://schemas.openxmlformats.org/package/2006/relationships"><Relationship Id="rId9" Type="http://schemas.openxmlformats.org/officeDocument/2006/relationships/image" Target="../media/image190.jpeg"/><Relationship Id="rId8" Type="http://schemas.openxmlformats.org/officeDocument/2006/relationships/image" Target="../media/image189.jpeg"/><Relationship Id="rId7" Type="http://schemas.openxmlformats.org/officeDocument/2006/relationships/image" Target="../media/image188.png"/><Relationship Id="rId6" Type="http://schemas.openxmlformats.org/officeDocument/2006/relationships/image" Target="../media/image187.png"/><Relationship Id="rId5" Type="http://schemas.openxmlformats.org/officeDocument/2006/relationships/image" Target="../media/image186.jpeg"/><Relationship Id="rId4" Type="http://schemas.openxmlformats.org/officeDocument/2006/relationships/image" Target="../media/image185.png"/><Relationship Id="rId3" Type="http://schemas.openxmlformats.org/officeDocument/2006/relationships/image" Target="../media/image184.jpeg"/><Relationship Id="rId2" Type="http://schemas.openxmlformats.org/officeDocument/2006/relationships/image" Target="../media/image183.png"/><Relationship Id="rId10" Type="http://schemas.openxmlformats.org/officeDocument/2006/relationships/slideLayout" Target="../slideLayouts/slideLayout7.xml"/><Relationship Id="rId1" Type="http://schemas.openxmlformats.org/officeDocument/2006/relationships/image" Target="../media/image182.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192.png"/><Relationship Id="rId1" Type="http://schemas.openxmlformats.org/officeDocument/2006/relationships/image" Target="../media/image191.jpeg"/></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101.bin"/><Relationship Id="rId8" Type="http://schemas.openxmlformats.org/officeDocument/2006/relationships/image" Target="../media/image196.wmf"/><Relationship Id="rId7" Type="http://schemas.openxmlformats.org/officeDocument/2006/relationships/oleObject" Target="../embeddings/oleObject100.bin"/><Relationship Id="rId6" Type="http://schemas.openxmlformats.org/officeDocument/2006/relationships/image" Target="../media/image195.wmf"/><Relationship Id="rId5" Type="http://schemas.openxmlformats.org/officeDocument/2006/relationships/oleObject" Target="../embeddings/oleObject99.bin"/><Relationship Id="rId4" Type="http://schemas.openxmlformats.org/officeDocument/2006/relationships/image" Target="../media/image194.wmf"/><Relationship Id="rId3" Type="http://schemas.openxmlformats.org/officeDocument/2006/relationships/oleObject" Target="../embeddings/oleObject98.bin"/><Relationship Id="rId21" Type="http://schemas.openxmlformats.org/officeDocument/2006/relationships/notesSlide" Target="../notesSlides/notesSlide34.xml"/><Relationship Id="rId20" Type="http://schemas.openxmlformats.org/officeDocument/2006/relationships/vmlDrawing" Target="../drawings/vmlDrawing35.vml"/><Relationship Id="rId2" Type="http://schemas.openxmlformats.org/officeDocument/2006/relationships/image" Target="../media/image193.wmf"/><Relationship Id="rId19" Type="http://schemas.openxmlformats.org/officeDocument/2006/relationships/slideLayout" Target="../slideLayouts/slideLayout2.xml"/><Relationship Id="rId18" Type="http://schemas.openxmlformats.org/officeDocument/2006/relationships/image" Target="../media/image201.wmf"/><Relationship Id="rId17" Type="http://schemas.openxmlformats.org/officeDocument/2006/relationships/oleObject" Target="../embeddings/oleObject105.bin"/><Relationship Id="rId16" Type="http://schemas.openxmlformats.org/officeDocument/2006/relationships/image" Target="../media/image200.wmf"/><Relationship Id="rId15" Type="http://schemas.openxmlformats.org/officeDocument/2006/relationships/oleObject" Target="../embeddings/oleObject104.bin"/><Relationship Id="rId14" Type="http://schemas.openxmlformats.org/officeDocument/2006/relationships/image" Target="../media/image199.wmf"/><Relationship Id="rId13" Type="http://schemas.openxmlformats.org/officeDocument/2006/relationships/oleObject" Target="../embeddings/oleObject103.bin"/><Relationship Id="rId12" Type="http://schemas.openxmlformats.org/officeDocument/2006/relationships/image" Target="../media/image198.wmf"/><Relationship Id="rId11" Type="http://schemas.openxmlformats.org/officeDocument/2006/relationships/oleObject" Target="../embeddings/oleObject102.bin"/><Relationship Id="rId10" Type="http://schemas.openxmlformats.org/officeDocument/2006/relationships/image" Target="../media/image197.wmf"/><Relationship Id="rId1" Type="http://schemas.openxmlformats.org/officeDocument/2006/relationships/oleObject" Target="../embeddings/oleObject97.bin"/></Relationships>
</file>

<file path=ppt/slides/_rels/slide78.xml.rels><?xml version="1.0" encoding="UTF-8" standalone="yes"?>
<Relationships xmlns="http://schemas.openxmlformats.org/package/2006/relationships"><Relationship Id="rId9" Type="http://schemas.openxmlformats.org/officeDocument/2006/relationships/slideLayout" Target="../slideLayouts/slideLayout134.xml"/><Relationship Id="rId8" Type="http://schemas.openxmlformats.org/officeDocument/2006/relationships/image" Target="../media/image21.png"/><Relationship Id="rId7" Type="http://schemas.openxmlformats.org/officeDocument/2006/relationships/image" Target="../media/image207.png"/><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4.png"/><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image" Target="../media/image9.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39.xml"/><Relationship Id="rId2" Type="http://schemas.openxmlformats.org/officeDocument/2006/relationships/image" Target="../media/image208.png"/><Relationship Id="rId1" Type="http://schemas.openxmlformats.org/officeDocument/2006/relationships/tags" Target="../tags/tag11.xml"/></Relationships>
</file>

<file path=ppt/slides/_rels/slide80.xml.rels><?xml version="1.0" encoding="UTF-8" standalone="yes"?>
<Relationships xmlns="http://schemas.openxmlformats.org/package/2006/relationships"><Relationship Id="rId5" Type="http://schemas.openxmlformats.org/officeDocument/2006/relationships/slideLayout" Target="../slideLayouts/slideLayout139.xml"/><Relationship Id="rId4" Type="http://schemas.openxmlformats.org/officeDocument/2006/relationships/image" Target="../media/image209.png"/><Relationship Id="rId3" Type="http://schemas.openxmlformats.org/officeDocument/2006/relationships/tags" Target="../tags/tag13.xml"/><Relationship Id="rId2" Type="http://schemas.openxmlformats.org/officeDocument/2006/relationships/image" Target="../media/image192.png"/><Relationship Id="rId1" Type="http://schemas.openxmlformats.org/officeDocument/2006/relationships/tags" Target="../tags/tag12.xml"/></Relationships>
</file>

<file path=ppt/slides/_rels/slide81.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image" Target="../media/image210.wmf"/><Relationship Id="rId5" Type="http://schemas.openxmlformats.org/officeDocument/2006/relationships/oleObject" Target="../embeddings/oleObject106.bin"/><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4" Type="http://schemas.openxmlformats.org/officeDocument/2006/relationships/notesSlide" Target="../notesSlides/notesSlide35.xml"/><Relationship Id="rId13" Type="http://schemas.openxmlformats.org/officeDocument/2006/relationships/vmlDrawing" Target="../drawings/vmlDrawing36.vml"/><Relationship Id="rId12" Type="http://schemas.openxmlformats.org/officeDocument/2006/relationships/slideLayout" Target="../slideLayouts/slideLayout7.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4.xml"/></Relationships>
</file>

<file path=ppt/slides/_rels/slide82.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2.xml"/><Relationship Id="rId6" Type="http://schemas.openxmlformats.org/officeDocument/2006/relationships/image" Target="../media/image212.wmf"/><Relationship Id="rId5" Type="http://schemas.openxmlformats.org/officeDocument/2006/relationships/oleObject" Target="../embeddings/oleObject107.bin"/><Relationship Id="rId4" Type="http://schemas.openxmlformats.org/officeDocument/2006/relationships/image" Target="../media/image8.png"/><Relationship Id="rId3" Type="http://schemas.openxmlformats.org/officeDocument/2006/relationships/image" Target="../media/image211.jpeg"/><Relationship Id="rId2" Type="http://schemas.openxmlformats.org/officeDocument/2006/relationships/tags" Target="../tags/tag23.xml"/><Relationship Id="rId1" Type="http://schemas.openxmlformats.org/officeDocument/2006/relationships/image" Target="../media/image9.png"/></Relationships>
</file>

<file path=ppt/slides/_rels/slide83.xml.rels><?xml version="1.0" encoding="UTF-8" standalone="yes"?>
<Relationships xmlns="http://schemas.openxmlformats.org/package/2006/relationships"><Relationship Id="rId9" Type="http://schemas.openxmlformats.org/officeDocument/2006/relationships/image" Target="../media/image215.png"/><Relationship Id="rId8" Type="http://schemas.openxmlformats.org/officeDocument/2006/relationships/hyperlink" Target="../../&#26426;&#26800;&#21407;&#29702;(&#21452;&#35821;&#25945;&#23398;)/zxw_&#26426;&#26800;&#21407;&#29702;&#21160;&#30011;/&#40831;&#36718;&#26426;&#26500;/&#30452;&#40831;&#38181;&#40831;&#36718;&#20256;&#21160;.avi" TargetMode="External"/><Relationship Id="rId7" Type="http://schemas.openxmlformats.org/officeDocument/2006/relationships/hyperlink" Target="../&#30452;&#40831;&#22278;&#38181;&#40831;&#36718;.exe" TargetMode="External"/><Relationship Id="rId6" Type="http://schemas.openxmlformats.org/officeDocument/2006/relationships/image" Target="../media/image214.jpeg"/><Relationship Id="rId5" Type="http://schemas.openxmlformats.org/officeDocument/2006/relationships/hyperlink" Target="../&#26426;&#26800;&#21407;&#29702;&#19979;&#22791;&#20221;(hgd)/CaiHtml2/chapter5/caihtml/5_1/11.avi" TargetMode="External"/><Relationship Id="rId4" Type="http://schemas.openxmlformats.org/officeDocument/2006/relationships/image" Target="../media/image213.jpeg"/><Relationship Id="rId3" Type="http://schemas.openxmlformats.org/officeDocument/2006/relationships/hyperlink" Target="../&#26426;&#26800;&#21407;&#29702;&#19979;&#22791;&#20221;(hgd)/CaiHtml2/chapter5/caihtml/5_1/xiezui.avi" TargetMode="External"/><Relationship Id="rId2" Type="http://schemas.openxmlformats.org/officeDocument/2006/relationships/hyperlink" Target="../&#26426;&#26800;&#21407;&#29702;&#19979;&#22791;&#20221;(hgd)/CaiHtml2/chapter5/caihtml/5_1/zczcl.avi" TargetMode="External"/><Relationship Id="rId11" Type="http://schemas.openxmlformats.org/officeDocument/2006/relationships/notesSlide" Target="../notesSlides/notesSlide36.xml"/><Relationship Id="rId10" Type="http://schemas.openxmlformats.org/officeDocument/2006/relationships/slideLayout" Target="../slideLayouts/slideLayout12.xml"/><Relationship Id="rId1" Type="http://schemas.openxmlformats.org/officeDocument/2006/relationships/tags" Target="../tags/tag24.xml"/></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2.xml"/><Relationship Id="rId2" Type="http://schemas.openxmlformats.org/officeDocument/2006/relationships/image" Target="../media/image217.png"/><Relationship Id="rId1" Type="http://schemas.openxmlformats.org/officeDocument/2006/relationships/image" Target="../media/image216.png"/></Relationships>
</file>

<file path=ppt/slides/_rels/slide85.xml.rels><?xml version="1.0" encoding="UTF-8" standalone="yes"?>
<Relationships xmlns="http://schemas.openxmlformats.org/package/2006/relationships"><Relationship Id="rId9" Type="http://schemas.openxmlformats.org/officeDocument/2006/relationships/vmlDrawing" Target="../drawings/vmlDrawing38.vml"/><Relationship Id="rId8" Type="http://schemas.openxmlformats.org/officeDocument/2006/relationships/slideLayout" Target="../slideLayouts/slideLayout2.xml"/><Relationship Id="rId7" Type="http://schemas.openxmlformats.org/officeDocument/2006/relationships/image" Target="../media/image220.wmf"/><Relationship Id="rId6" Type="http://schemas.openxmlformats.org/officeDocument/2006/relationships/oleObject" Target="../embeddings/oleObject109.bin"/><Relationship Id="rId5" Type="http://schemas.openxmlformats.org/officeDocument/2006/relationships/image" Target="../media/image219.png"/><Relationship Id="rId4" Type="http://schemas.openxmlformats.org/officeDocument/2006/relationships/image" Target="../media/image218.wmf"/><Relationship Id="rId3" Type="http://schemas.openxmlformats.org/officeDocument/2006/relationships/oleObject" Target="../embeddings/oleObject108.bin"/><Relationship Id="rId2" Type="http://schemas.openxmlformats.org/officeDocument/2006/relationships/image" Target="../media/image9.png"/><Relationship Id="rId1" Type="http://schemas.openxmlformats.org/officeDocument/2006/relationships/image" Target="../media/image21.png"/></Relationships>
</file>

<file path=ppt/slides/_rels/slide86.xml.rels><?xml version="1.0" encoding="UTF-8" standalone="yes"?>
<Relationships xmlns="http://schemas.openxmlformats.org/package/2006/relationships"><Relationship Id="rId9" Type="http://schemas.openxmlformats.org/officeDocument/2006/relationships/image" Target="../media/image223.wmf"/><Relationship Id="rId8" Type="http://schemas.openxmlformats.org/officeDocument/2006/relationships/oleObject" Target="../embeddings/oleObject112.bin"/><Relationship Id="rId7" Type="http://schemas.openxmlformats.org/officeDocument/2006/relationships/image" Target="../media/image222.wmf"/><Relationship Id="rId6" Type="http://schemas.openxmlformats.org/officeDocument/2006/relationships/oleObject" Target="../embeddings/oleObject111.bin"/><Relationship Id="rId5" Type="http://schemas.openxmlformats.org/officeDocument/2006/relationships/image" Target="../media/image221.wmf"/><Relationship Id="rId4" Type="http://schemas.openxmlformats.org/officeDocument/2006/relationships/oleObject" Target="../embeddings/oleObject110.bin"/><Relationship Id="rId3" Type="http://schemas.openxmlformats.org/officeDocument/2006/relationships/image" Target="../media/image219.png"/><Relationship Id="rId2" Type="http://schemas.openxmlformats.org/officeDocument/2006/relationships/image" Target="../media/image9.png"/><Relationship Id="rId13" Type="http://schemas.openxmlformats.org/officeDocument/2006/relationships/vmlDrawing" Target="../drawings/vmlDrawing39.vml"/><Relationship Id="rId12" Type="http://schemas.openxmlformats.org/officeDocument/2006/relationships/slideLayout" Target="../slideLayouts/slideLayout2.xml"/><Relationship Id="rId11" Type="http://schemas.openxmlformats.org/officeDocument/2006/relationships/image" Target="../media/image224.wmf"/><Relationship Id="rId10" Type="http://schemas.openxmlformats.org/officeDocument/2006/relationships/oleObject" Target="../embeddings/oleObject113.bin"/><Relationship Id="rId1" Type="http://schemas.openxmlformats.org/officeDocument/2006/relationships/image" Target="../media/image21.png"/></Relationships>
</file>

<file path=ppt/slides/_rels/slide87.xml.rels><?xml version="1.0" encoding="UTF-8" standalone="yes"?>
<Relationships xmlns="http://schemas.openxmlformats.org/package/2006/relationships"><Relationship Id="rId8" Type="http://schemas.openxmlformats.org/officeDocument/2006/relationships/vmlDrawing" Target="../drawings/vmlDrawing40.vml"/><Relationship Id="rId7" Type="http://schemas.openxmlformats.org/officeDocument/2006/relationships/slideLayout" Target="../slideLayouts/slideLayout12.xml"/><Relationship Id="rId6" Type="http://schemas.openxmlformats.org/officeDocument/2006/relationships/image" Target="../media/image227.wmf"/><Relationship Id="rId5" Type="http://schemas.openxmlformats.org/officeDocument/2006/relationships/oleObject" Target="../embeddings/oleObject115.bin"/><Relationship Id="rId4" Type="http://schemas.openxmlformats.org/officeDocument/2006/relationships/image" Target="../media/image226.wmf"/><Relationship Id="rId3" Type="http://schemas.openxmlformats.org/officeDocument/2006/relationships/oleObject" Target="../embeddings/oleObject114.bin"/><Relationship Id="rId2" Type="http://schemas.openxmlformats.org/officeDocument/2006/relationships/image" Target="../media/image225.png"/><Relationship Id="rId1" Type="http://schemas.openxmlformats.org/officeDocument/2006/relationships/image" Target="../media/image217.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28.png"/><Relationship Id="rId1" Type="http://schemas.openxmlformats.org/officeDocument/2006/relationships/image" Target="../media/image217.png"/></Relationships>
</file>

<file path=ppt/slides/_rels/slide89.xml.rels><?xml version="1.0" encoding="UTF-8" standalone="yes"?>
<Relationships xmlns="http://schemas.openxmlformats.org/package/2006/relationships"><Relationship Id="rId9" Type="http://schemas.openxmlformats.org/officeDocument/2006/relationships/image" Target="../media/image231.wmf"/><Relationship Id="rId8" Type="http://schemas.openxmlformats.org/officeDocument/2006/relationships/oleObject" Target="../embeddings/oleObject117.bin"/><Relationship Id="rId7" Type="http://schemas.openxmlformats.org/officeDocument/2006/relationships/image" Target="../media/image230.wmf"/><Relationship Id="rId6" Type="http://schemas.openxmlformats.org/officeDocument/2006/relationships/oleObject" Target="../embeddings/oleObject116.bin"/><Relationship Id="rId5" Type="http://schemas.openxmlformats.org/officeDocument/2006/relationships/image" Target="../media/image8.png"/><Relationship Id="rId4" Type="http://schemas.openxmlformats.org/officeDocument/2006/relationships/hyperlink" Target="&#34920;3.10-1.pdf" TargetMode="External"/><Relationship Id="rId3" Type="http://schemas.openxmlformats.org/officeDocument/2006/relationships/image" Target="../media/image229.png"/><Relationship Id="rId2" Type="http://schemas.openxmlformats.org/officeDocument/2006/relationships/image" Target="../media/image9.png"/><Relationship Id="rId17" Type="http://schemas.openxmlformats.org/officeDocument/2006/relationships/vmlDrawing" Target="../drawings/vmlDrawing41.vml"/><Relationship Id="rId16" Type="http://schemas.openxmlformats.org/officeDocument/2006/relationships/slideLayout" Target="../slideLayouts/slideLayout2.xml"/><Relationship Id="rId15" Type="http://schemas.openxmlformats.org/officeDocument/2006/relationships/image" Target="../media/image234.wmf"/><Relationship Id="rId14" Type="http://schemas.openxmlformats.org/officeDocument/2006/relationships/oleObject" Target="../embeddings/oleObject120.bin"/><Relationship Id="rId13" Type="http://schemas.openxmlformats.org/officeDocument/2006/relationships/image" Target="../media/image233.wmf"/><Relationship Id="rId12" Type="http://schemas.openxmlformats.org/officeDocument/2006/relationships/oleObject" Target="../embeddings/oleObject119.bin"/><Relationship Id="rId11" Type="http://schemas.openxmlformats.org/officeDocument/2006/relationships/image" Target="../media/image232.wmf"/><Relationship Id="rId10" Type="http://schemas.openxmlformats.org/officeDocument/2006/relationships/oleObject" Target="../embeddings/oleObject118.bin"/><Relationship Id="rId1" Type="http://schemas.openxmlformats.org/officeDocument/2006/relationships/image" Target="../media/image21.png"/></Relationships>
</file>

<file path=ppt/slides/_rels/slide90.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238.emf"/><Relationship Id="rId7" Type="http://schemas.openxmlformats.org/officeDocument/2006/relationships/oleObject" Target="../embeddings/oleObject124.bin"/><Relationship Id="rId6" Type="http://schemas.openxmlformats.org/officeDocument/2006/relationships/image" Target="../media/image237.emf"/><Relationship Id="rId5" Type="http://schemas.openxmlformats.org/officeDocument/2006/relationships/oleObject" Target="../embeddings/oleObject123.bin"/><Relationship Id="rId4" Type="http://schemas.openxmlformats.org/officeDocument/2006/relationships/image" Target="../media/image236.wmf"/><Relationship Id="rId3" Type="http://schemas.openxmlformats.org/officeDocument/2006/relationships/oleObject" Target="../embeddings/oleObject122.bin"/><Relationship Id="rId2" Type="http://schemas.openxmlformats.org/officeDocument/2006/relationships/image" Target="../media/image235.wmf"/><Relationship Id="rId16" Type="http://schemas.openxmlformats.org/officeDocument/2006/relationships/vmlDrawing" Target="../drawings/vmlDrawing42.vml"/><Relationship Id="rId15" Type="http://schemas.openxmlformats.org/officeDocument/2006/relationships/slideLayout" Target="../slideLayouts/slideLayout2.xml"/><Relationship Id="rId14" Type="http://schemas.openxmlformats.org/officeDocument/2006/relationships/image" Target="../media/image240.png"/><Relationship Id="rId13" Type="http://schemas.openxmlformats.org/officeDocument/2006/relationships/image" Target="../media/image239.emf"/><Relationship Id="rId12" Type="http://schemas.openxmlformats.org/officeDocument/2006/relationships/oleObject" Target="../embeddings/oleObject125.bin"/><Relationship Id="rId11" Type="http://schemas.openxmlformats.org/officeDocument/2006/relationships/image" Target="../media/image9.png"/><Relationship Id="rId10" Type="http://schemas.openxmlformats.org/officeDocument/2006/relationships/image" Target="../media/image21.png"/><Relationship Id="rId1" Type="http://schemas.openxmlformats.org/officeDocument/2006/relationships/oleObject" Target="../embeddings/oleObject121.bin"/></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2.xml"/><Relationship Id="rId2" Type="http://schemas.openxmlformats.org/officeDocument/2006/relationships/image" Target="../media/image242.png"/><Relationship Id="rId1" Type="http://schemas.openxmlformats.org/officeDocument/2006/relationships/image" Target="../media/image24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182.xml"/><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wmf"/><Relationship Id="rId3" Type="http://schemas.openxmlformats.org/officeDocument/2006/relationships/oleObject" Target="../embeddings/oleObject126.bin"/><Relationship Id="rId2" Type="http://schemas.openxmlformats.org/officeDocument/2006/relationships/image" Target="../media/image9.png"/><Relationship Id="rId1" Type="http://schemas.openxmlformats.org/officeDocument/2006/relationships/image" Target="../media/image8.png"/></Relationships>
</file>

<file path=ppt/slides/_rels/slide94.xml.rels><?xml version="1.0" encoding="UTF-8" standalone="yes"?>
<Relationships xmlns="http://schemas.openxmlformats.org/package/2006/relationships"><Relationship Id="rId9" Type="http://schemas.openxmlformats.org/officeDocument/2006/relationships/image" Target="../media/image249.wmf"/><Relationship Id="rId8" Type="http://schemas.openxmlformats.org/officeDocument/2006/relationships/oleObject" Target="../embeddings/oleObject129.bin"/><Relationship Id="rId7" Type="http://schemas.openxmlformats.org/officeDocument/2006/relationships/image" Target="../media/image248.png"/><Relationship Id="rId6" Type="http://schemas.openxmlformats.org/officeDocument/2006/relationships/image" Target="../media/image247.wmf"/><Relationship Id="rId5" Type="http://schemas.openxmlformats.org/officeDocument/2006/relationships/oleObject" Target="../embeddings/oleObject128.bin"/><Relationship Id="rId4" Type="http://schemas.openxmlformats.org/officeDocument/2006/relationships/image" Target="../media/image246.wmf"/><Relationship Id="rId3" Type="http://schemas.openxmlformats.org/officeDocument/2006/relationships/oleObject" Target="../embeddings/oleObject127.bin"/><Relationship Id="rId2" Type="http://schemas.openxmlformats.org/officeDocument/2006/relationships/image" Target="../media/image9.png"/><Relationship Id="rId11" Type="http://schemas.openxmlformats.org/officeDocument/2006/relationships/vmlDrawing" Target="../drawings/vmlDrawing44.vml"/><Relationship Id="rId10" Type="http://schemas.openxmlformats.org/officeDocument/2006/relationships/slideLayout" Target="../slideLayouts/slideLayout2.xml"/><Relationship Id="rId1" Type="http://schemas.openxmlformats.org/officeDocument/2006/relationships/image" Target="../media/image8.png"/></Relationships>
</file>

<file path=ppt/slides/_rels/slide95.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vmlDrawing" Target="../drawings/vmlDrawing45.vml"/><Relationship Id="rId5" Type="http://schemas.openxmlformats.org/officeDocument/2006/relationships/slideLayout" Target="../slideLayouts/slideLayout2.xml"/><Relationship Id="rId4" Type="http://schemas.openxmlformats.org/officeDocument/2006/relationships/image" Target="../media/image251.wmf"/><Relationship Id="rId3" Type="http://schemas.openxmlformats.org/officeDocument/2006/relationships/oleObject" Target="../embeddings/oleObject131.bin"/><Relationship Id="rId2" Type="http://schemas.openxmlformats.org/officeDocument/2006/relationships/image" Target="../media/image250.wmf"/><Relationship Id="rId1" Type="http://schemas.openxmlformats.org/officeDocument/2006/relationships/oleObject" Target="../embeddings/oleObject130.bin"/></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4.png"/><Relationship Id="rId2" Type="http://schemas.openxmlformats.org/officeDocument/2006/relationships/image" Target="../media/image253.png"/><Relationship Id="rId1" Type="http://schemas.openxmlformats.org/officeDocument/2006/relationships/image" Target="../media/image252.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256.png"/><Relationship Id="rId1" Type="http://schemas.openxmlformats.org/officeDocument/2006/relationships/image" Target="../media/image255.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7.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258.jpe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2.xml"/><Relationship Id="rId4" Type="http://schemas.openxmlformats.org/officeDocument/2006/relationships/slide" Target="slide19.xml"/><Relationship Id="rId3" Type="http://schemas.openxmlformats.org/officeDocument/2006/relationships/image" Target="../media/image259.png"/><Relationship Id="rId2" Type="http://schemas.openxmlformats.org/officeDocument/2006/relationships/tags" Target="../tags/tag25.xml"/><Relationship Id="rId1" Type="http://schemas.openxmlformats.org/officeDocument/2006/relationships/image" Target="../media/image9.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42.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0.png"/><Relationship Id="rId1" Type="http://schemas.openxmlformats.org/officeDocument/2006/relationships/slide" Target="slide42.xml"/></Relationships>
</file>

<file path=ppt/slides/_rels/slide111.xml.rels><?xml version="1.0" encoding="UTF-8" standalone="yes"?>
<Relationships xmlns="http://schemas.openxmlformats.org/package/2006/relationships"><Relationship Id="rId9" Type="http://schemas.openxmlformats.org/officeDocument/2006/relationships/vmlDrawing" Target="../drawings/vmlDrawing46.vml"/><Relationship Id="rId8" Type="http://schemas.openxmlformats.org/officeDocument/2006/relationships/slideLayout" Target="../slideLayouts/slideLayout2.xml"/><Relationship Id="rId7" Type="http://schemas.openxmlformats.org/officeDocument/2006/relationships/image" Target="../media/image263.wmf"/><Relationship Id="rId6" Type="http://schemas.openxmlformats.org/officeDocument/2006/relationships/oleObject" Target="../embeddings/oleObject133.bin"/><Relationship Id="rId5" Type="http://schemas.openxmlformats.org/officeDocument/2006/relationships/image" Target="../media/image262.wmf"/><Relationship Id="rId4" Type="http://schemas.openxmlformats.org/officeDocument/2006/relationships/oleObject" Target="../embeddings/oleObject132.bin"/><Relationship Id="rId3" Type="http://schemas.openxmlformats.org/officeDocument/2006/relationships/image" Target="../media/image261.png"/><Relationship Id="rId2" Type="http://schemas.openxmlformats.org/officeDocument/2006/relationships/tags" Target="../tags/tag26.xml"/><Relationship Id="rId1" Type="http://schemas.openxmlformats.org/officeDocument/2006/relationships/slide" Target="slide42.xml"/></Relationships>
</file>

<file path=ppt/slides/_rels/slide112.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slideLayout" Target="../slideLayouts/slideLayout2.xml"/><Relationship Id="rId4" Type="http://schemas.openxmlformats.org/officeDocument/2006/relationships/image" Target="../media/image267.png"/><Relationship Id="rId3" Type="http://schemas.openxmlformats.org/officeDocument/2006/relationships/image" Target="../media/image266.png"/><Relationship Id="rId2" Type="http://schemas.openxmlformats.org/officeDocument/2006/relationships/image" Target="../media/image265.png"/><Relationship Id="rId1" Type="http://schemas.openxmlformats.org/officeDocument/2006/relationships/image" Target="../media/image264.jpeg"/></Relationships>
</file>

<file path=ppt/slides/_rels/slide1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42.xml"/><Relationship Id="rId3" Type="http://schemas.openxmlformats.org/officeDocument/2006/relationships/image" Target="../media/image270.png"/><Relationship Id="rId2" Type="http://schemas.openxmlformats.org/officeDocument/2006/relationships/image" Target="../media/image269.jpeg"/><Relationship Id="rId1" Type="http://schemas.openxmlformats.org/officeDocument/2006/relationships/image" Target="../media/image268.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slide" Target="slide1.xml"/></Relationships>
</file>

<file path=ppt/slides/_rels/slide115.xml.rels><?xml version="1.0" encoding="UTF-8" standalone="yes"?>
<Relationships xmlns="http://schemas.openxmlformats.org/package/2006/relationships"><Relationship Id="rId9" Type="http://schemas.openxmlformats.org/officeDocument/2006/relationships/oleObject" Target="../embeddings/oleObject137.bin"/><Relationship Id="rId8" Type="http://schemas.openxmlformats.org/officeDocument/2006/relationships/image" Target="../media/image273.wmf"/><Relationship Id="rId7" Type="http://schemas.openxmlformats.org/officeDocument/2006/relationships/oleObject" Target="../embeddings/oleObject136.bin"/><Relationship Id="rId6" Type="http://schemas.openxmlformats.org/officeDocument/2006/relationships/image" Target="../media/image272.wmf"/><Relationship Id="rId5" Type="http://schemas.openxmlformats.org/officeDocument/2006/relationships/oleObject" Target="../embeddings/oleObject135.bin"/><Relationship Id="rId4" Type="http://schemas.openxmlformats.org/officeDocument/2006/relationships/tags" Target="../tags/tag28.xml"/><Relationship Id="rId3" Type="http://schemas.openxmlformats.org/officeDocument/2006/relationships/image" Target="../media/image271.wmf"/><Relationship Id="rId2" Type="http://schemas.openxmlformats.org/officeDocument/2006/relationships/oleObject" Target="../embeddings/oleObject134.bin"/><Relationship Id="rId12" Type="http://schemas.openxmlformats.org/officeDocument/2006/relationships/vmlDrawing" Target="../drawings/vmlDrawing47.vml"/><Relationship Id="rId11" Type="http://schemas.openxmlformats.org/officeDocument/2006/relationships/slideLayout" Target="../slideLayouts/slideLayout2.xml"/><Relationship Id="rId10" Type="http://schemas.openxmlformats.org/officeDocument/2006/relationships/image" Target="../media/image274.wmf"/><Relationship Id="rId1" Type="http://schemas.openxmlformats.org/officeDocument/2006/relationships/slide" Target="slide47.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0.xml"/></Relationships>
</file>

<file path=ppt/slides/_rels/slide117.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slide" Target="slide1.xml"/></Relationships>
</file>

<file path=ppt/slides/_rels/slide118.xml.rels><?xml version="1.0" encoding="UTF-8" standalone="yes"?>
<Relationships xmlns="http://schemas.openxmlformats.org/package/2006/relationships"><Relationship Id="rId7" Type="http://schemas.openxmlformats.org/officeDocument/2006/relationships/notesSlide" Target="../notesSlides/notesSlide50.xml"/><Relationship Id="rId6" Type="http://schemas.openxmlformats.org/officeDocument/2006/relationships/slideLayout" Target="../slideLayouts/slideLayout2.xml"/><Relationship Id="rId5" Type="http://schemas.openxmlformats.org/officeDocument/2006/relationships/image" Target="../media/image278.png"/><Relationship Id="rId4" Type="http://schemas.openxmlformats.org/officeDocument/2006/relationships/image" Target="../media/image277.png"/><Relationship Id="rId3" Type="http://schemas.openxmlformats.org/officeDocument/2006/relationships/image" Target="../media/image276.png"/><Relationship Id="rId2" Type="http://schemas.openxmlformats.org/officeDocument/2006/relationships/image" Target="../media/image275.png"/><Relationship Id="rId1" Type="http://schemas.openxmlformats.org/officeDocument/2006/relationships/slide" Target="slide1.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2.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0.png"/><Relationship Id="rId1" Type="http://schemas.openxmlformats.org/officeDocument/2006/relationships/image" Target="../media/image279.png"/></Relationships>
</file>

<file path=ppt/slides/_rels/slide121.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2.xml"/><Relationship Id="rId4" Type="http://schemas.openxmlformats.org/officeDocument/2006/relationships/image" Target="../media/image283.jpeg"/><Relationship Id="rId3" Type="http://schemas.openxmlformats.org/officeDocument/2006/relationships/image" Target="../media/image282.png"/><Relationship Id="rId2" Type="http://schemas.openxmlformats.org/officeDocument/2006/relationships/image" Target="../media/image281.png"/><Relationship Id="rId1" Type="http://schemas.openxmlformats.org/officeDocument/2006/relationships/slide" Target="slide1.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4.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6.png"/><Relationship Id="rId1" Type="http://schemas.openxmlformats.org/officeDocument/2006/relationships/image" Target="../media/image285.png"/></Relationships>
</file>

<file path=ppt/slides/_rels/slide1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8.png"/><Relationship Id="rId2" Type="http://schemas.openxmlformats.org/officeDocument/2006/relationships/image" Target="../media/image287.png"/><Relationship Id="rId1" Type="http://schemas.openxmlformats.org/officeDocument/2006/relationships/slide" Target="slide1.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9.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3.png"/></Relationships>
</file>

<file path=ppt/slides/_rels/slide127.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7.xml"/><Relationship Id="rId2" Type="http://schemas.openxmlformats.org/officeDocument/2006/relationships/slide" Target="slide1.xml"/><Relationship Id="rId1" Type="http://schemas.openxmlformats.org/officeDocument/2006/relationships/image" Target="../media/image290.png"/></Relationships>
</file>

<file path=ppt/slides/_rels/slide1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93.png"/><Relationship Id="rId5" Type="http://schemas.openxmlformats.org/officeDocument/2006/relationships/image" Target="../media/image292.png"/><Relationship Id="rId4" Type="http://schemas.openxmlformats.org/officeDocument/2006/relationships/image" Target="../media/image291.pn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21.png"/></Relationships>
</file>

<file path=ppt/slides/_rels/slide1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96.png"/><Relationship Id="rId5" Type="http://schemas.openxmlformats.org/officeDocument/2006/relationships/image" Target="../media/image295.png"/><Relationship Id="rId4" Type="http://schemas.openxmlformats.org/officeDocument/2006/relationships/image" Target="../media/image294.pn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21.png"/></Relationships>
</file>

<file path=ppt/slides/_rels/slide1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99.png"/><Relationship Id="rId4" Type="http://schemas.openxmlformats.org/officeDocument/2006/relationships/image" Target="../media/image298.png"/><Relationship Id="rId3" Type="http://schemas.openxmlformats.org/officeDocument/2006/relationships/image" Target="../media/image297.png"/><Relationship Id="rId2" Type="http://schemas.openxmlformats.org/officeDocument/2006/relationships/image" Target="../media/image8.png"/><Relationship Id="rId1" Type="http://schemas.openxmlformats.org/officeDocument/2006/relationships/image" Target="../media/image9.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bwMode="auto">
          <a:xfrm>
            <a:off x="2773680" y="280670"/>
            <a:ext cx="386207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p>
            <a:pPr eaLnBrk="1" hangingPunct="1"/>
            <a:r>
              <a:rPr lang="zh-CN" altLang="en-US" sz="3200" dirty="0" smtClean="0">
                <a:solidFill>
                  <a:srgbClr val="CC3300"/>
                </a:solidFill>
                <a:latin typeface="黑体" panose="02010609060101010101" pitchFamily="49" charset="-122"/>
                <a:ea typeface="黑体" panose="02010609060101010101" pitchFamily="49" charset="-122"/>
              </a:rPr>
              <a:t>第</a:t>
            </a:r>
            <a:r>
              <a:rPr lang="en-US" altLang="zh-CN" sz="3200" dirty="0" smtClean="0">
                <a:solidFill>
                  <a:srgbClr val="CC3300"/>
                </a:solidFill>
                <a:latin typeface="黑体" panose="02010609060101010101" pitchFamily="49" charset="-122"/>
                <a:ea typeface="黑体" panose="02010609060101010101" pitchFamily="49" charset="-122"/>
              </a:rPr>
              <a:t>3.4</a:t>
            </a:r>
            <a:r>
              <a:rPr lang="zh-CN" altLang="en-US" sz="3200" dirty="0" smtClean="0">
                <a:solidFill>
                  <a:srgbClr val="CC3300"/>
                </a:solidFill>
                <a:latin typeface="黑体" panose="02010609060101010101" pitchFamily="49" charset="-122"/>
                <a:ea typeface="黑体" panose="02010609060101010101" pitchFamily="49" charset="-122"/>
              </a:rPr>
              <a:t>章 齿轮传动</a:t>
            </a:r>
            <a:endParaRPr lang="zh-CN" altLang="en-US" sz="3200" dirty="0" smtClean="0">
              <a:solidFill>
                <a:srgbClr val="CC3300"/>
              </a:solidFill>
              <a:latin typeface="黑体" panose="02010609060101010101" pitchFamily="49" charset="-122"/>
              <a:ea typeface="黑体" panose="02010609060101010101" pitchFamily="49" charset="-122"/>
            </a:endParaRPr>
          </a:p>
        </p:txBody>
      </p:sp>
      <p:sp>
        <p:nvSpPr>
          <p:cNvPr id="18435" name="Text Box 3">
            <a:hlinkClick r:id="rId1" action="ppaction://hlinksldjump"/>
          </p:cNvPr>
          <p:cNvSpPr txBox="1">
            <a:spLocks noChangeArrowheads="1"/>
          </p:cNvSpPr>
          <p:nvPr/>
        </p:nvSpPr>
        <p:spPr bwMode="auto">
          <a:xfrm>
            <a:off x="1119079" y="1173933"/>
            <a:ext cx="44053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sz="2400" dirty="0" smtClean="0">
                <a:solidFill>
                  <a:srgbClr val="000099"/>
                </a:solidFill>
                <a:latin typeface="黑体" panose="02010609060101010101" pitchFamily="49" charset="-122"/>
                <a:ea typeface="黑体" panose="02010609060101010101" pitchFamily="49" charset="-122"/>
              </a:rPr>
              <a:t>3.4-1  </a:t>
            </a:r>
            <a:r>
              <a:rPr lang="zh-CN" altLang="en-US" sz="2400" dirty="0" smtClean="0">
                <a:solidFill>
                  <a:srgbClr val="000099"/>
                </a:solidFill>
                <a:latin typeface="黑体" panose="02010609060101010101" pitchFamily="49" charset="-122"/>
                <a:ea typeface="黑体" panose="02010609060101010101" pitchFamily="49" charset="-122"/>
                <a:hlinkClick r:id="rId2" action="ppaction://hlinksldjump"/>
              </a:rPr>
              <a:t>齿轮传动</a:t>
            </a:r>
            <a:r>
              <a:rPr lang="zh-CN" altLang="en-US" sz="2400" dirty="0">
                <a:solidFill>
                  <a:srgbClr val="000099"/>
                </a:solidFill>
                <a:latin typeface="黑体" panose="02010609060101010101" pitchFamily="49" charset="-122"/>
                <a:ea typeface="黑体" panose="02010609060101010101" pitchFamily="49" charset="-122"/>
                <a:hlinkClick r:id="rId2" action="ppaction://hlinksldjump"/>
              </a:rPr>
              <a:t>概述</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18436" name="Text Box 4">
            <a:hlinkClick r:id="rId2" action="ppaction://hlinksldjump" highlightClick="1"/>
          </p:cNvPr>
          <p:cNvSpPr txBox="1">
            <a:spLocks noChangeArrowheads="1"/>
          </p:cNvSpPr>
          <p:nvPr/>
        </p:nvSpPr>
        <p:spPr bwMode="auto">
          <a:xfrm>
            <a:off x="1119078" y="1695451"/>
            <a:ext cx="5516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000099"/>
                </a:solidFill>
                <a:latin typeface="黑体" panose="02010609060101010101" pitchFamily="49" charset="-122"/>
                <a:ea typeface="黑体" panose="02010609060101010101" pitchFamily="49" charset="-122"/>
              </a:rPr>
              <a:t>3.4-2  </a:t>
            </a:r>
            <a:r>
              <a:rPr lang="zh-CN" altLang="en-US" sz="2400" dirty="0" smtClean="0">
                <a:solidFill>
                  <a:srgbClr val="000099"/>
                </a:solidFill>
                <a:latin typeface="黑体" panose="02010609060101010101" pitchFamily="49" charset="-122"/>
                <a:ea typeface="黑体" panose="02010609060101010101" pitchFamily="49" charset="-122"/>
                <a:hlinkClick r:id="rId3" action="ppaction://hlinksldjump"/>
              </a:rPr>
              <a:t>齿轮传动</a:t>
            </a:r>
            <a:r>
              <a:rPr lang="zh-CN" altLang="en-US" sz="2400" dirty="0">
                <a:solidFill>
                  <a:srgbClr val="000099"/>
                </a:solidFill>
                <a:latin typeface="黑体" panose="02010609060101010101" pitchFamily="49" charset="-122"/>
                <a:ea typeface="黑体" panose="02010609060101010101" pitchFamily="49" charset="-122"/>
                <a:hlinkClick r:id="rId3" action="ppaction://hlinksldjump"/>
              </a:rPr>
              <a:t>的失效形式</a:t>
            </a:r>
            <a:r>
              <a:rPr lang="zh-CN" altLang="en-US" sz="2400" dirty="0" smtClean="0">
                <a:solidFill>
                  <a:srgbClr val="000099"/>
                </a:solidFill>
                <a:latin typeface="黑体" panose="02010609060101010101" pitchFamily="49" charset="-122"/>
                <a:ea typeface="黑体" panose="02010609060101010101" pitchFamily="49" charset="-122"/>
                <a:hlinkClick r:id="rId3" action="ppaction://hlinksldjump"/>
              </a:rPr>
              <a:t>及设计准则</a:t>
            </a:r>
            <a:endParaRPr lang="zh-CN" altLang="en-US" sz="2400" dirty="0">
              <a:solidFill>
                <a:srgbClr val="000099"/>
              </a:solidFill>
              <a:latin typeface="黑体" panose="02010609060101010101" pitchFamily="49" charset="-122"/>
              <a:ea typeface="黑体" panose="02010609060101010101" pitchFamily="49" charset="-122"/>
              <a:hlinkClick r:id="rId2" action="ppaction://hlinksldjump"/>
            </a:endParaRPr>
          </a:p>
        </p:txBody>
      </p:sp>
      <p:sp>
        <p:nvSpPr>
          <p:cNvPr id="18438" name="Text Box 9">
            <a:hlinkClick r:id="rId4" action="ppaction://hlinksldjump"/>
          </p:cNvPr>
          <p:cNvSpPr txBox="1">
            <a:spLocks noChangeArrowheads="1"/>
          </p:cNvSpPr>
          <p:nvPr/>
        </p:nvSpPr>
        <p:spPr bwMode="auto">
          <a:xfrm>
            <a:off x="1130846" y="2784384"/>
            <a:ext cx="460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000099"/>
                </a:solidFill>
                <a:latin typeface="黑体" panose="02010609060101010101" pitchFamily="49" charset="-122"/>
                <a:ea typeface="黑体" panose="02010609060101010101" pitchFamily="49" charset="-122"/>
              </a:rPr>
              <a:t>3.4-4  </a:t>
            </a:r>
            <a:r>
              <a:rPr lang="zh-CN" altLang="en-US" sz="2400" dirty="0" smtClean="0">
                <a:solidFill>
                  <a:srgbClr val="000099"/>
                </a:solidFill>
                <a:latin typeface="黑体" panose="02010609060101010101" pitchFamily="49" charset="-122"/>
                <a:ea typeface="黑体" panose="02010609060101010101" pitchFamily="49" charset="-122"/>
                <a:hlinkClick r:id="rId5" action="ppaction://hlinksldjump"/>
              </a:rPr>
              <a:t>标准</a:t>
            </a:r>
            <a:r>
              <a:rPr lang="zh-CN" altLang="en-US" sz="2400" dirty="0">
                <a:solidFill>
                  <a:srgbClr val="000099"/>
                </a:solidFill>
                <a:latin typeface="黑体" panose="02010609060101010101" pitchFamily="49" charset="-122"/>
                <a:ea typeface="黑体" panose="02010609060101010101" pitchFamily="49" charset="-122"/>
                <a:hlinkClick r:id="rId5" action="ppaction://hlinksldjump"/>
              </a:rPr>
              <a:t>圆柱齿轮传动</a:t>
            </a:r>
            <a:r>
              <a:rPr lang="zh-CN" altLang="en-US" sz="2400" dirty="0" smtClean="0">
                <a:solidFill>
                  <a:srgbClr val="000099"/>
                </a:solidFill>
                <a:latin typeface="黑体" panose="02010609060101010101" pitchFamily="49" charset="-122"/>
                <a:ea typeface="黑体" panose="02010609060101010101" pitchFamily="49" charset="-122"/>
                <a:hlinkClick r:id="rId5" action="ppaction://hlinksldjump"/>
              </a:rPr>
              <a:t>的设计</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18439" name="Text Box 10">
            <a:hlinkClick r:id="rId4" action="ppaction://hlinksldjump"/>
          </p:cNvPr>
          <p:cNvSpPr txBox="1">
            <a:spLocks noChangeArrowheads="1"/>
          </p:cNvSpPr>
          <p:nvPr/>
        </p:nvSpPr>
        <p:spPr bwMode="auto">
          <a:xfrm>
            <a:off x="1119108" y="3418480"/>
            <a:ext cx="6736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000099"/>
                </a:solidFill>
                <a:latin typeface="黑体" panose="02010609060101010101" pitchFamily="49" charset="-122"/>
                <a:ea typeface="黑体" panose="02010609060101010101" pitchFamily="49" charset="-122"/>
              </a:rPr>
              <a:t>3.4-5  </a:t>
            </a:r>
            <a:r>
              <a:rPr lang="zh-CN" altLang="en-US" sz="2400" dirty="0" smtClean="0">
                <a:solidFill>
                  <a:srgbClr val="000099"/>
                </a:solidFill>
                <a:latin typeface="黑体" panose="02010609060101010101" pitchFamily="49" charset="-122"/>
                <a:ea typeface="黑体" panose="02010609060101010101" pitchFamily="49" charset="-122"/>
              </a:rPr>
              <a:t>案例</a:t>
            </a:r>
            <a:r>
              <a:rPr lang="en-US" altLang="zh-CN" sz="2400" dirty="0" smtClean="0">
                <a:solidFill>
                  <a:srgbClr val="000099"/>
                </a:solidFill>
                <a:latin typeface="黑体" panose="02010609060101010101" pitchFamily="49" charset="-122"/>
                <a:ea typeface="黑体" panose="02010609060101010101" pitchFamily="49" charset="-122"/>
              </a:rPr>
              <a:t>2“</a:t>
            </a:r>
            <a:r>
              <a:rPr lang="zh-CN" altLang="en-US" sz="2400" dirty="0" smtClean="0">
                <a:solidFill>
                  <a:srgbClr val="000099"/>
                </a:solidFill>
                <a:latin typeface="黑体" panose="02010609060101010101" pitchFamily="49" charset="-122"/>
                <a:ea typeface="黑体" panose="02010609060101010101" pitchFamily="49" charset="-122"/>
              </a:rPr>
              <a:t>传动方案</a:t>
            </a:r>
            <a:r>
              <a:rPr lang="en-US" altLang="zh-CN" sz="2400" dirty="0" smtClean="0">
                <a:solidFill>
                  <a:srgbClr val="000099"/>
                </a:solidFill>
                <a:latin typeface="黑体" panose="02010609060101010101" pitchFamily="49" charset="-122"/>
                <a:ea typeface="黑体" panose="02010609060101010101" pitchFamily="49" charset="-122"/>
              </a:rPr>
              <a:t>1”</a:t>
            </a:r>
            <a:r>
              <a:rPr lang="zh-CN" altLang="en-US" sz="2400" dirty="0" smtClean="0">
                <a:solidFill>
                  <a:srgbClr val="000099"/>
                </a:solidFill>
                <a:latin typeface="黑体" panose="02010609060101010101" pitchFamily="49" charset="-122"/>
                <a:ea typeface="黑体" panose="02010609060101010101" pitchFamily="49" charset="-122"/>
              </a:rPr>
              <a:t>圆柱齿轮传动的设计</a:t>
            </a:r>
            <a:endParaRPr lang="zh-CN" altLang="en-US" sz="2400" dirty="0" smtClean="0">
              <a:solidFill>
                <a:srgbClr val="000099"/>
              </a:solidFill>
              <a:latin typeface="黑体" panose="02010609060101010101" pitchFamily="49" charset="-122"/>
              <a:ea typeface="黑体" panose="02010609060101010101" pitchFamily="49" charset="-122"/>
            </a:endParaRPr>
          </a:p>
        </p:txBody>
      </p:sp>
      <p:sp>
        <p:nvSpPr>
          <p:cNvPr id="18441" name="Text Box 27">
            <a:hlinkClick r:id="rId4" action="ppaction://hlinksldjump"/>
          </p:cNvPr>
          <p:cNvSpPr txBox="1">
            <a:spLocks noChangeArrowheads="1"/>
          </p:cNvSpPr>
          <p:nvPr/>
        </p:nvSpPr>
        <p:spPr bwMode="auto">
          <a:xfrm>
            <a:off x="1137503" y="4067343"/>
            <a:ext cx="643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000099"/>
                </a:solidFill>
                <a:latin typeface="黑体" panose="02010609060101010101" pitchFamily="49" charset="-122"/>
                <a:ea typeface="黑体" panose="02010609060101010101" pitchFamily="49" charset="-122"/>
              </a:rPr>
              <a:t>3.4-6  </a:t>
            </a:r>
            <a:r>
              <a:rPr lang="zh-CN" altLang="en-US" sz="2400" dirty="0" smtClean="0">
                <a:solidFill>
                  <a:srgbClr val="000099"/>
                </a:solidFill>
                <a:latin typeface="黑体" panose="02010609060101010101" pitchFamily="49" charset="-122"/>
                <a:ea typeface="黑体" panose="02010609060101010101" pitchFamily="49" charset="-122"/>
                <a:hlinkClick r:id="rId6" action="ppaction://hlinksldjump"/>
              </a:rPr>
              <a:t>直齿锥齿轮</a:t>
            </a:r>
            <a:r>
              <a:rPr lang="zh-CN" altLang="en-US" sz="2400" dirty="0">
                <a:solidFill>
                  <a:srgbClr val="000099"/>
                </a:solidFill>
                <a:latin typeface="黑体" panose="02010609060101010101" pitchFamily="49" charset="-122"/>
                <a:ea typeface="黑体" panose="02010609060101010101" pitchFamily="49" charset="-122"/>
                <a:hlinkClick r:id="rId6" action="ppaction://hlinksldjump"/>
              </a:rPr>
              <a:t>传动的受力分析和强度计算</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18442" name="Text Box 28">
            <a:hlinkClick r:id="rId4" action="ppaction://hlinksldjump"/>
          </p:cNvPr>
          <p:cNvSpPr txBox="1">
            <a:spLocks noChangeArrowheads="1"/>
          </p:cNvSpPr>
          <p:nvPr/>
        </p:nvSpPr>
        <p:spPr bwMode="auto">
          <a:xfrm>
            <a:off x="1128314" y="4790613"/>
            <a:ext cx="3383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000099"/>
                </a:solidFill>
                <a:latin typeface="黑体" panose="02010609060101010101" pitchFamily="49" charset="-122"/>
                <a:ea typeface="黑体" panose="02010609060101010101" pitchFamily="49" charset="-122"/>
              </a:rPr>
              <a:t>3.4-7  </a:t>
            </a:r>
            <a:r>
              <a:rPr lang="zh-CN" altLang="en-US" sz="2400" dirty="0" smtClean="0">
                <a:solidFill>
                  <a:srgbClr val="000099"/>
                </a:solidFill>
                <a:latin typeface="黑体" panose="02010609060101010101" pitchFamily="49" charset="-122"/>
                <a:ea typeface="黑体" panose="02010609060101010101" pitchFamily="49" charset="-122"/>
                <a:hlinkClick r:id="rId7" action="ppaction://hlinksldjump"/>
              </a:rPr>
              <a:t>齿轮</a:t>
            </a:r>
            <a:r>
              <a:rPr lang="zh-CN" altLang="en-US" sz="2400" dirty="0">
                <a:solidFill>
                  <a:srgbClr val="000099"/>
                </a:solidFill>
                <a:latin typeface="黑体" panose="02010609060101010101" pitchFamily="49" charset="-122"/>
                <a:ea typeface="黑体" panose="02010609060101010101" pitchFamily="49" charset="-122"/>
                <a:hlinkClick r:id="rId7" action="ppaction://hlinksldjump"/>
              </a:rPr>
              <a:t>的结构设计</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18443" name="Rectangle 1080"/>
          <p:cNvSpPr>
            <a:spLocks noChangeArrowheads="1"/>
          </p:cNvSpPr>
          <p:nvPr/>
        </p:nvSpPr>
        <p:spPr bwMode="auto">
          <a:xfrm>
            <a:off x="0" y="3014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18447" name="直接连接符 6"/>
          <p:cNvSpPr>
            <a:spLocks noChangeShapeType="1"/>
          </p:cNvSpPr>
          <p:nvPr/>
        </p:nvSpPr>
        <p:spPr bwMode="auto">
          <a:xfrm>
            <a:off x="0" y="89192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6" name="组合 1"/>
          <p:cNvGrpSpPr/>
          <p:nvPr/>
        </p:nvGrpSpPr>
        <p:grpSpPr>
          <a:xfrm>
            <a:off x="6368657" y="5940646"/>
            <a:ext cx="2630487" cy="827087"/>
            <a:chOff x="10088" y="9497"/>
            <a:chExt cx="4141" cy="1302"/>
          </a:xfrm>
        </p:grpSpPr>
        <p:sp>
          <p:nvSpPr>
            <p:cNvPr id="17"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8" name="图片 1073742872" descr="44303071dc0a1f9688d599dbc999570副本"/>
            <p:cNvPicPr>
              <a:picLocks noChangeAspect="1"/>
            </p:cNvPicPr>
            <p:nvPr/>
          </p:nvPicPr>
          <p:blipFill>
            <a:blip r:embed="rId8"/>
            <a:stretch>
              <a:fillRect/>
            </a:stretch>
          </p:blipFill>
          <p:spPr>
            <a:xfrm>
              <a:off x="10088" y="9497"/>
              <a:ext cx="1435" cy="1303"/>
            </a:xfrm>
            <a:prstGeom prst="rect">
              <a:avLst/>
            </a:prstGeom>
            <a:noFill/>
            <a:ln w="9525">
              <a:noFill/>
            </a:ln>
          </p:spPr>
        </p:pic>
      </p:grpSp>
      <p:sp>
        <p:nvSpPr>
          <p:cNvPr id="19" name="Text Box 4">
            <a:hlinkClick r:id="rId2" action="ppaction://hlinksldjump" highlightClick="1"/>
          </p:cNvPr>
          <p:cNvSpPr txBox="1">
            <a:spLocks noChangeArrowheads="1"/>
          </p:cNvSpPr>
          <p:nvPr/>
        </p:nvSpPr>
        <p:spPr bwMode="auto">
          <a:xfrm>
            <a:off x="1137185" y="2193391"/>
            <a:ext cx="4907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000099"/>
                </a:solidFill>
                <a:latin typeface="黑体" panose="02010609060101010101" pitchFamily="49" charset="-122"/>
                <a:ea typeface="黑体" panose="02010609060101010101" pitchFamily="49" charset="-122"/>
              </a:rPr>
              <a:t>3.4-3  </a:t>
            </a:r>
            <a:r>
              <a:rPr lang="zh-CN" altLang="en-US" sz="2400" dirty="0" smtClean="0">
                <a:solidFill>
                  <a:srgbClr val="000099"/>
                </a:solidFill>
                <a:latin typeface="黑体" panose="02010609060101010101" pitchFamily="49" charset="-122"/>
                <a:ea typeface="黑体" panose="02010609060101010101" pitchFamily="49" charset="-122"/>
                <a:hlinkClick r:id="rId9" action="ppaction://hlinksldjump"/>
              </a:rPr>
              <a:t>齿轮传的材料及其选择原则</a:t>
            </a:r>
            <a:endParaRPr lang="zh-CN" altLang="en-US" sz="2400" dirty="0">
              <a:solidFill>
                <a:srgbClr val="000099"/>
              </a:solidFill>
              <a:latin typeface="黑体" panose="02010609060101010101" pitchFamily="49" charset="-122"/>
              <a:ea typeface="黑体" panose="02010609060101010101" pitchFamily="49" charset="-122"/>
              <a:hlinkClick r:id="rId2" action="ppaction://hlinksldjump"/>
            </a:endParaRPr>
          </a:p>
        </p:txBody>
      </p:sp>
      <p:sp>
        <p:nvSpPr>
          <p:cNvPr id="20" name="Text Box 29">
            <a:hlinkClick r:id="rId10" action="ppaction://hlinksldjump"/>
          </p:cNvPr>
          <p:cNvSpPr txBox="1">
            <a:spLocks noChangeArrowheads="1"/>
          </p:cNvSpPr>
          <p:nvPr/>
        </p:nvSpPr>
        <p:spPr bwMode="auto">
          <a:xfrm>
            <a:off x="1167986" y="5382330"/>
            <a:ext cx="31800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smtClean="0">
                <a:solidFill>
                  <a:srgbClr val="000099"/>
                </a:solidFill>
                <a:ea typeface="黑体" panose="02010609060101010101" pitchFamily="49" charset="-122"/>
              </a:rPr>
              <a:t>3.4-8   </a:t>
            </a:r>
            <a:r>
              <a:rPr lang="zh-CN" altLang="en-US" sz="2400" dirty="0" smtClean="0">
                <a:solidFill>
                  <a:srgbClr val="000099"/>
                </a:solidFill>
                <a:ea typeface="黑体" panose="02010609060101010101" pitchFamily="49" charset="-122"/>
                <a:hlinkClick r:id="rId4" action="ppaction://hlinksldjump"/>
              </a:rPr>
              <a:t>齿轮传动</a:t>
            </a:r>
            <a:r>
              <a:rPr lang="zh-CN" altLang="en-US" sz="2400" dirty="0">
                <a:solidFill>
                  <a:srgbClr val="000099"/>
                </a:solidFill>
                <a:ea typeface="黑体" panose="02010609060101010101" pitchFamily="49" charset="-122"/>
                <a:hlinkClick r:id="rId4" action="ppaction://hlinksldjump"/>
              </a:rPr>
              <a:t>的润滑</a:t>
            </a:r>
            <a:endParaRPr lang="zh-CN" altLang="en-US" sz="2400" dirty="0">
              <a:solidFill>
                <a:srgbClr val="000099"/>
              </a:solidFill>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ChangeArrowheads="1"/>
          </p:cNvSpPr>
          <p:nvPr/>
        </p:nvSpPr>
        <p:spPr bwMode="auto">
          <a:xfrm>
            <a:off x="2773680" y="280670"/>
            <a:ext cx="386207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r>
              <a:rPr lang="zh-CN" altLang="en-US" sz="3200" dirty="0" smtClean="0">
                <a:solidFill>
                  <a:srgbClr val="CC3300"/>
                </a:solidFill>
                <a:latin typeface="黑体" panose="02010609060101010101" pitchFamily="49" charset="-122"/>
                <a:ea typeface="黑体" panose="02010609060101010101" pitchFamily="49" charset="-122"/>
              </a:rPr>
              <a:t>第</a:t>
            </a:r>
            <a:r>
              <a:rPr lang="en-US" altLang="zh-CN" sz="3200" dirty="0" smtClean="0">
                <a:solidFill>
                  <a:srgbClr val="CC3300"/>
                </a:solidFill>
                <a:latin typeface="黑体" panose="02010609060101010101" pitchFamily="49" charset="-122"/>
                <a:ea typeface="黑体" panose="02010609060101010101" pitchFamily="49" charset="-122"/>
              </a:rPr>
              <a:t>3.4</a:t>
            </a:r>
            <a:r>
              <a:rPr lang="zh-CN" altLang="en-US" sz="3200" dirty="0" smtClean="0">
                <a:solidFill>
                  <a:srgbClr val="CC3300"/>
                </a:solidFill>
                <a:latin typeface="黑体" panose="02010609060101010101" pitchFamily="49" charset="-122"/>
                <a:ea typeface="黑体" panose="02010609060101010101" pitchFamily="49" charset="-122"/>
              </a:rPr>
              <a:t>章 齿轮传动</a:t>
            </a:r>
            <a:endParaRPr lang="zh-CN" altLang="en-US" sz="3200" dirty="0" smtClean="0">
              <a:solidFill>
                <a:srgbClr val="CC3300"/>
              </a:solidFill>
              <a:latin typeface="黑体" panose="02010609060101010101" pitchFamily="49" charset="-122"/>
              <a:ea typeface="黑体" panose="02010609060101010101" pitchFamily="49" charset="-122"/>
            </a:endParaRPr>
          </a:p>
        </p:txBody>
      </p:sp>
      <p:sp>
        <p:nvSpPr>
          <p:cNvPr id="18447" name="直接连接符 6"/>
          <p:cNvSpPr>
            <a:spLocks noChangeShapeType="1"/>
          </p:cNvSpPr>
          <p:nvPr/>
        </p:nvSpPr>
        <p:spPr bwMode="auto">
          <a:xfrm>
            <a:off x="0" y="89192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6" name="组合 1"/>
          <p:cNvGrpSpPr/>
          <p:nvPr/>
        </p:nvGrpSpPr>
        <p:grpSpPr>
          <a:xfrm>
            <a:off x="6368657" y="5940646"/>
            <a:ext cx="2630487" cy="827087"/>
            <a:chOff x="10088" y="9497"/>
            <a:chExt cx="4141" cy="1302"/>
          </a:xfrm>
        </p:grpSpPr>
        <p:sp>
          <p:nvSpPr>
            <p:cNvPr id="17"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8"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2" name="文本框 1"/>
          <p:cNvSpPr txBox="1"/>
          <p:nvPr/>
        </p:nvSpPr>
        <p:spPr>
          <a:xfrm>
            <a:off x="367030" y="977900"/>
            <a:ext cx="2533650" cy="521970"/>
          </a:xfrm>
          <a:prstGeom prst="rect">
            <a:avLst/>
          </a:prstGeom>
          <a:noFill/>
        </p:spPr>
        <p:txBody>
          <a:bodyPr wrap="square" rtlCol="0">
            <a:spAutoFit/>
          </a:bodyPr>
          <a:p>
            <a:r>
              <a:rPr lang="zh-CN" altLang="en-US" sz="2800">
                <a:solidFill>
                  <a:srgbClr val="C00000"/>
                </a:solidFill>
                <a:latin typeface="黑体" panose="02010609060101010101" pitchFamily="49" charset="-122"/>
                <a:ea typeface="黑体" panose="02010609060101010101" pitchFamily="49" charset="-122"/>
              </a:rPr>
              <a:t>本章重点：</a:t>
            </a:r>
            <a:endParaRPr lang="zh-CN" altLang="en-US" sz="280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1189990" y="1477010"/>
            <a:ext cx="7044055" cy="2399665"/>
          </a:xfrm>
          <a:prstGeom prst="rect">
            <a:avLst/>
          </a:prstGeom>
          <a:solidFill>
            <a:schemeClr val="accent1">
              <a:lumMod val="20000"/>
              <a:lumOff val="80000"/>
              <a:alpha val="50000"/>
            </a:schemeClr>
          </a:solidFill>
          <a:ln>
            <a:solidFill>
              <a:srgbClr val="0000FF"/>
            </a:solidFill>
          </a:ln>
        </p:spPr>
        <p:txBody>
          <a:bodyPr wrap="square" rtlCol="0">
            <a:spAutoFit/>
          </a:bodyPr>
          <a:p>
            <a:pPr marL="0" indent="0" eaLnBrk="1" latinLnBrk="0" hangingPunct="1">
              <a:lnSpc>
                <a:spcPct val="150000"/>
              </a:lnSpc>
            </a:pPr>
            <a:r>
              <a:rPr lang="zh-CN" altLang="en-US">
                <a:latin typeface="黑体" panose="02010609060101010101" pitchFamily="49" charset="-122"/>
                <a:ea typeface="黑体" panose="02010609060101010101" pitchFamily="49" charset="-122"/>
              </a:rPr>
              <a:t>齿轮传动的失效形式；</a:t>
            </a:r>
            <a:endParaRPr lang="zh-CN" altLang="en-US">
              <a:latin typeface="黑体" panose="02010609060101010101" pitchFamily="49" charset="-122"/>
              <a:ea typeface="黑体" panose="02010609060101010101" pitchFamily="49" charset="-122"/>
            </a:endParaRPr>
          </a:p>
          <a:p>
            <a:pPr marL="0" indent="0" eaLnBrk="1" latinLnBrk="0" hangingPunct="1">
              <a:lnSpc>
                <a:spcPct val="150000"/>
              </a:lnSpc>
            </a:pPr>
            <a:r>
              <a:rPr lang="zh-CN" altLang="en-US">
                <a:latin typeface="黑体" panose="02010609060101010101" pitchFamily="49" charset="-122"/>
                <a:ea typeface="黑体" panose="02010609060101010101" pitchFamily="49" charset="-122"/>
              </a:rPr>
              <a:t>齿轮传动的受力分析；</a:t>
            </a:r>
            <a:endParaRPr lang="zh-CN" altLang="en-US">
              <a:latin typeface="黑体" panose="02010609060101010101" pitchFamily="49" charset="-122"/>
              <a:ea typeface="黑体" panose="02010609060101010101" pitchFamily="49" charset="-122"/>
            </a:endParaRPr>
          </a:p>
          <a:p>
            <a:pPr marL="0" indent="0" eaLnBrk="1" latinLnBrk="0" hangingPunct="1">
              <a:lnSpc>
                <a:spcPct val="150000"/>
              </a:lnSpc>
            </a:pPr>
            <a:r>
              <a:rPr lang="zh-CN" altLang="en-US">
                <a:latin typeface="黑体" panose="02010609060101010101" pitchFamily="49" charset="-122"/>
                <a:ea typeface="黑体" panose="02010609060101010101" pitchFamily="49" charset="-122"/>
              </a:rPr>
              <a:t>直齿圆柱齿轮传动的接触疲劳强度和弯曲疲劳强度的计算；</a:t>
            </a:r>
            <a:endParaRPr lang="zh-CN" altLang="en-US">
              <a:latin typeface="黑体" panose="02010609060101010101" pitchFamily="49" charset="-122"/>
              <a:ea typeface="黑体" panose="02010609060101010101" pitchFamily="49" charset="-122"/>
            </a:endParaRPr>
          </a:p>
          <a:p>
            <a:pPr marL="0" indent="0" eaLnBrk="1" latinLnBrk="0" hangingPunct="1">
              <a:lnSpc>
                <a:spcPct val="150000"/>
              </a:lnSpc>
            </a:pPr>
            <a:r>
              <a:rPr lang="zh-CN" altLang="en-US">
                <a:latin typeface="黑体" panose="02010609060101010101" pitchFamily="49" charset="-122"/>
                <a:ea typeface="黑体" panose="02010609060101010101" pitchFamily="49" charset="-122"/>
              </a:rPr>
              <a:t>斜齿圆柱齿轮传动的强度计算；</a:t>
            </a:r>
            <a:endParaRPr lang="zh-CN" altLang="en-US">
              <a:latin typeface="黑体" panose="02010609060101010101" pitchFamily="49" charset="-122"/>
              <a:ea typeface="黑体" panose="02010609060101010101" pitchFamily="49" charset="-122"/>
            </a:endParaRPr>
          </a:p>
          <a:p>
            <a:pPr marL="0" indent="0" eaLnBrk="1" latinLnBrk="0" hangingPunct="1">
              <a:lnSpc>
                <a:spcPct val="150000"/>
              </a:lnSpc>
            </a:pPr>
            <a:r>
              <a:rPr lang="zh-CN" altLang="en-US">
                <a:latin typeface="黑体" panose="02010609060101010101" pitchFamily="49" charset="-122"/>
                <a:ea typeface="黑体" panose="02010609060101010101" pitchFamily="49" charset="-122"/>
              </a:rPr>
              <a:t>直齿锥齿轮传动的强度计算；</a:t>
            </a:r>
            <a:endParaRPr lang="zh-CN" altLang="en-US">
              <a:latin typeface="黑体" panose="02010609060101010101" pitchFamily="49" charset="-122"/>
              <a:ea typeface="黑体" panose="02010609060101010101" pitchFamily="49" charset="-122"/>
            </a:endParaRPr>
          </a:p>
        </p:txBody>
      </p:sp>
      <p:sp>
        <p:nvSpPr>
          <p:cNvPr id="4" name="文本框 3"/>
          <p:cNvSpPr txBox="1"/>
          <p:nvPr/>
        </p:nvSpPr>
        <p:spPr>
          <a:xfrm>
            <a:off x="387350" y="3971290"/>
            <a:ext cx="2533650" cy="521970"/>
          </a:xfrm>
          <a:prstGeom prst="rect">
            <a:avLst/>
          </a:prstGeom>
          <a:noFill/>
        </p:spPr>
        <p:txBody>
          <a:bodyPr wrap="square" rtlCol="0">
            <a:spAutoFit/>
          </a:bodyPr>
          <a:p>
            <a:r>
              <a:rPr lang="zh-CN" altLang="en-US" sz="2800">
                <a:solidFill>
                  <a:srgbClr val="C00000"/>
                </a:solidFill>
                <a:latin typeface="黑体" panose="02010609060101010101" pitchFamily="49" charset="-122"/>
                <a:ea typeface="黑体" panose="02010609060101010101" pitchFamily="49" charset="-122"/>
              </a:rPr>
              <a:t>本章难点：</a:t>
            </a:r>
            <a:endParaRPr lang="zh-CN" altLang="en-US" sz="2800">
              <a:solidFill>
                <a:srgbClr val="C00000"/>
              </a:solidFill>
              <a:latin typeface="黑体" panose="02010609060101010101" pitchFamily="49" charset="-122"/>
              <a:ea typeface="黑体" panose="02010609060101010101" pitchFamily="49" charset="-122"/>
            </a:endParaRPr>
          </a:p>
        </p:txBody>
      </p:sp>
      <p:sp>
        <p:nvSpPr>
          <p:cNvPr id="5" name="文本框 4"/>
          <p:cNvSpPr txBox="1"/>
          <p:nvPr/>
        </p:nvSpPr>
        <p:spPr>
          <a:xfrm>
            <a:off x="1189990" y="4490720"/>
            <a:ext cx="7044055" cy="1476375"/>
          </a:xfrm>
          <a:prstGeom prst="rect">
            <a:avLst/>
          </a:prstGeom>
          <a:solidFill>
            <a:schemeClr val="tx2">
              <a:lumMod val="20000"/>
              <a:lumOff val="80000"/>
              <a:alpha val="36000"/>
            </a:schemeClr>
          </a:solidFill>
          <a:ln>
            <a:solidFill>
              <a:srgbClr val="000099"/>
            </a:solidFill>
          </a:ln>
        </p:spPr>
        <p:txBody>
          <a:bodyPr wrap="square" rtlCol="0">
            <a:spAutoFit/>
          </a:bodyPr>
          <a:p>
            <a:pPr marL="0" indent="0" eaLnBrk="1" latinLnBrk="0" hangingPunct="1">
              <a:lnSpc>
                <a:spcPct val="150000"/>
              </a:lnSpc>
            </a:pPr>
            <a:r>
              <a:rPr lang="zh-CN" altLang="en-US">
                <a:latin typeface="黑体" panose="02010609060101010101" pitchFamily="49" charset="-122"/>
                <a:ea typeface="黑体" panose="02010609060101010101" pitchFamily="49" charset="-122"/>
              </a:rPr>
              <a:t>齿轮传动的设计参数选择；</a:t>
            </a:r>
            <a:endParaRPr lang="zh-CN" altLang="en-US">
              <a:latin typeface="黑体" panose="02010609060101010101" pitchFamily="49" charset="-122"/>
              <a:ea typeface="黑体" panose="02010609060101010101" pitchFamily="49" charset="-122"/>
            </a:endParaRPr>
          </a:p>
          <a:p>
            <a:pPr marL="0" indent="0" eaLnBrk="1" latinLnBrk="0" hangingPunct="1">
              <a:lnSpc>
                <a:spcPct val="150000"/>
              </a:lnSpc>
            </a:pPr>
            <a:r>
              <a:rPr lang="zh-CN" altLang="en-US">
                <a:latin typeface="黑体" panose="02010609060101010101" pitchFamily="49" charset="-122"/>
                <a:ea typeface="黑体" panose="02010609060101010101" pitchFamily="49" charset="-122"/>
              </a:rPr>
              <a:t>斜齿圆柱齿轮传动</a:t>
            </a:r>
            <a:r>
              <a:rPr lang="zh-CN" altLang="en-US">
                <a:latin typeface="黑体" panose="02010609060101010101" pitchFamily="49" charset="-122"/>
                <a:ea typeface="黑体" panose="02010609060101010101" pitchFamily="49" charset="-122"/>
                <a:sym typeface="+mn-ea"/>
              </a:rPr>
              <a:t>的受力分析；</a:t>
            </a:r>
            <a:endParaRPr lang="zh-CN" altLang="en-US">
              <a:latin typeface="黑体" panose="02010609060101010101" pitchFamily="49" charset="-122"/>
              <a:ea typeface="黑体" panose="02010609060101010101" pitchFamily="49" charset="-122"/>
            </a:endParaRPr>
          </a:p>
          <a:p>
            <a:pPr marL="0" indent="0" eaLnBrk="1" latinLnBrk="0" hangingPunct="1">
              <a:lnSpc>
                <a:spcPct val="150000"/>
              </a:lnSpc>
            </a:pPr>
            <a:r>
              <a:rPr lang="zh-CN" altLang="en-US">
                <a:latin typeface="黑体" panose="02010609060101010101" pitchFamily="49" charset="-122"/>
                <a:ea typeface="黑体" panose="02010609060101010101" pitchFamily="49" charset="-122"/>
              </a:rPr>
              <a:t>直齿锥齿轮传动的</a:t>
            </a:r>
            <a:r>
              <a:rPr lang="zh-CN" altLang="en-US">
                <a:latin typeface="黑体" panose="02010609060101010101" pitchFamily="49" charset="-122"/>
                <a:ea typeface="黑体" panose="02010609060101010101" pitchFamily="49" charset="-122"/>
                <a:sym typeface="+mn-ea"/>
              </a:rPr>
              <a:t>受力分析</a:t>
            </a:r>
            <a:r>
              <a:rPr lang="zh-CN" altLang="en-US">
                <a:latin typeface="黑体" panose="02010609060101010101" pitchFamily="49" charset="-122"/>
                <a:ea typeface="黑体" panose="02010609060101010101" pitchFamily="49" charset="-122"/>
              </a:rPr>
              <a:t>；</a:t>
            </a:r>
            <a:endParaRPr lang="zh-CN" altLang="en-US">
              <a:latin typeface="黑体" panose="02010609060101010101" pitchFamily="49" charset="-122"/>
              <a:ea typeface="黑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5295900" y="895350"/>
            <a:ext cx="25717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黑体" panose="02010609060101010101" pitchFamily="49" charset="-122"/>
                <a:ea typeface="黑体" panose="02010609060101010101" pitchFamily="49" charset="-122"/>
              </a:rPr>
              <a:t>齿轮传动概述</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54276" name="Text Box 4"/>
          <p:cNvSpPr txBox="1">
            <a:spLocks noChangeArrowheads="1"/>
          </p:cNvSpPr>
          <p:nvPr/>
        </p:nvSpPr>
        <p:spPr bwMode="auto">
          <a:xfrm>
            <a:off x="244475" y="1795117"/>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一、齿轮传动的主要</a:t>
            </a:r>
            <a:r>
              <a:rPr lang="zh-CN" altLang="en-US" sz="2400" dirty="0" smtClean="0">
                <a:solidFill>
                  <a:srgbClr val="0000FF"/>
                </a:solidFill>
                <a:latin typeface="黑体" panose="02010609060101010101" pitchFamily="49" charset="-122"/>
                <a:ea typeface="黑体" panose="02010609060101010101" pitchFamily="49" charset="-122"/>
              </a:rPr>
              <a:t>特点</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54277" name="Text Box 5"/>
          <p:cNvSpPr txBox="1">
            <a:spLocks noChangeArrowheads="1"/>
          </p:cNvSpPr>
          <p:nvPr/>
        </p:nvSpPr>
        <p:spPr bwMode="auto">
          <a:xfrm>
            <a:off x="280689" y="2306637"/>
            <a:ext cx="854643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SzPct val="80000"/>
              <a:buFontTx/>
              <a:buBlip>
                <a:blip r:embed="rId1"/>
              </a:buBlip>
            </a:pPr>
            <a:r>
              <a:rPr lang="en-US" altLang="zh-CN" dirty="0">
                <a:solidFill>
                  <a:srgbClr val="000099"/>
                </a:solidFill>
              </a:rPr>
              <a:t> </a:t>
            </a:r>
            <a:r>
              <a:rPr lang="zh-CN" altLang="en-US" sz="2200" dirty="0">
                <a:solidFill>
                  <a:srgbClr val="C00000"/>
                </a:solidFill>
                <a:latin typeface="黑体" panose="02010609060101010101" pitchFamily="49" charset="-122"/>
                <a:ea typeface="黑体" panose="02010609060101010101" pitchFamily="49" charset="-122"/>
              </a:rPr>
              <a:t>传动效率高</a:t>
            </a:r>
            <a:r>
              <a:rPr lang="zh-CN" altLang="en-US" sz="2200" dirty="0">
                <a:solidFill>
                  <a:srgbClr val="000099"/>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可达</a:t>
            </a:r>
            <a:r>
              <a:rPr lang="en-US" altLang="zh-CN" sz="2200" dirty="0">
                <a:solidFill>
                  <a:srgbClr val="002060"/>
                </a:solidFill>
                <a:latin typeface="黑体" panose="02010609060101010101" pitchFamily="49" charset="-122"/>
                <a:ea typeface="黑体" panose="02010609060101010101" pitchFamily="49" charset="-122"/>
              </a:rPr>
              <a:t>99</a:t>
            </a:r>
            <a:r>
              <a:rPr lang="zh-CN" altLang="en-US" sz="2200" dirty="0">
                <a:solidFill>
                  <a:srgbClr val="002060"/>
                </a:solidFill>
                <a:latin typeface="黑体" panose="02010609060101010101" pitchFamily="49" charset="-122"/>
                <a:ea typeface="黑体" panose="02010609060101010101" pitchFamily="49" charset="-122"/>
              </a:rPr>
              <a:t>％。在常用的机械传动中，齿轮传动的效率为最高；</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54278" name="Text Box 6"/>
          <p:cNvSpPr txBox="1">
            <a:spLocks noChangeArrowheads="1"/>
          </p:cNvSpPr>
          <p:nvPr/>
        </p:nvSpPr>
        <p:spPr bwMode="auto">
          <a:xfrm>
            <a:off x="320059" y="3077773"/>
            <a:ext cx="8455905"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buSzPct val="80000"/>
              <a:buFontTx/>
              <a:buBlip>
                <a:blip r:embed="rId1"/>
              </a:buBlip>
            </a:pPr>
            <a:r>
              <a:rPr lang="en-US" altLang="zh-CN" dirty="0">
                <a:solidFill>
                  <a:srgbClr val="000099"/>
                </a:solidFill>
                <a:latin typeface="华文中宋" panose="02010600040101010101" pitchFamily="2" charset="-122"/>
              </a:rPr>
              <a:t> </a:t>
            </a:r>
            <a:r>
              <a:rPr lang="zh-CN" altLang="en-US" sz="2200" dirty="0">
                <a:solidFill>
                  <a:srgbClr val="C00000"/>
                </a:solidFill>
                <a:latin typeface="黑体" panose="02010609060101010101" pitchFamily="49" charset="-122"/>
                <a:ea typeface="黑体" panose="02010609060101010101" pitchFamily="49" charset="-122"/>
              </a:rPr>
              <a:t>结构紧凑</a:t>
            </a:r>
            <a:r>
              <a:rPr lang="zh-CN" altLang="en-US" dirty="0">
                <a:solidFill>
                  <a:srgbClr val="000099"/>
                </a:solidFill>
                <a:latin typeface="华文中宋" panose="02010600040101010101" pitchFamily="2" charset="-122"/>
              </a:rPr>
              <a:t>　</a:t>
            </a:r>
            <a:r>
              <a:rPr lang="zh-CN" altLang="en-US" sz="2200" dirty="0">
                <a:solidFill>
                  <a:srgbClr val="002060"/>
                </a:solidFill>
                <a:latin typeface="黑体" panose="02010609060101010101" pitchFamily="49" charset="-122"/>
                <a:ea typeface="黑体" panose="02010609060101010101" pitchFamily="49" charset="-122"/>
              </a:rPr>
              <a:t>与带传动、链传动相比，在同样的使用条件下，</a:t>
            </a:r>
            <a:r>
              <a:rPr lang="zh-CN" altLang="en-US" sz="2200" dirty="0" smtClean="0">
                <a:solidFill>
                  <a:srgbClr val="002060"/>
                </a:solidFill>
                <a:latin typeface="黑体" panose="02010609060101010101" pitchFamily="49" charset="-122"/>
                <a:ea typeface="黑体" panose="02010609060101010101" pitchFamily="49" charset="-122"/>
              </a:rPr>
              <a:t>齿轮</a:t>
            </a:r>
            <a:r>
              <a:rPr lang="en-US" altLang="zh-CN" sz="2200" dirty="0" smtClean="0">
                <a:solidFill>
                  <a:srgbClr val="002060"/>
                </a:solidFill>
                <a:latin typeface="黑体" panose="02010609060101010101" pitchFamily="49" charset="-122"/>
                <a:ea typeface="黑体" panose="02010609060101010101" pitchFamily="49" charset="-122"/>
              </a:rPr>
              <a:t>	</a:t>
            </a:r>
            <a:r>
              <a:rPr lang="zh-CN" altLang="en-US" sz="2200" dirty="0" smtClean="0">
                <a:solidFill>
                  <a:srgbClr val="002060"/>
                </a:solidFill>
                <a:latin typeface="黑体" panose="02010609060101010101" pitchFamily="49" charset="-122"/>
                <a:ea typeface="黑体" panose="02010609060101010101" pitchFamily="49" charset="-122"/>
              </a:rPr>
              <a:t>传动</a:t>
            </a:r>
            <a:r>
              <a:rPr lang="zh-CN" altLang="en-US" sz="2200" dirty="0">
                <a:solidFill>
                  <a:srgbClr val="002060"/>
                </a:solidFill>
                <a:latin typeface="黑体" panose="02010609060101010101" pitchFamily="49" charset="-122"/>
                <a:ea typeface="黑体" panose="02010609060101010101" pitchFamily="49" charset="-122"/>
              </a:rPr>
              <a:t>所</a:t>
            </a:r>
            <a:r>
              <a:rPr lang="zh-CN" altLang="en-US" sz="2200" dirty="0" smtClean="0">
                <a:solidFill>
                  <a:srgbClr val="002060"/>
                </a:solidFill>
                <a:latin typeface="黑体" panose="02010609060101010101" pitchFamily="49" charset="-122"/>
                <a:ea typeface="黑体" panose="02010609060101010101" pitchFamily="49" charset="-122"/>
              </a:rPr>
              <a:t>需的</a:t>
            </a:r>
            <a:r>
              <a:rPr lang="zh-CN" altLang="en-US" sz="2200" dirty="0">
                <a:solidFill>
                  <a:srgbClr val="002060"/>
                </a:solidFill>
                <a:latin typeface="黑体" panose="02010609060101010101" pitchFamily="49" charset="-122"/>
                <a:ea typeface="黑体" panose="02010609060101010101" pitchFamily="49" charset="-122"/>
              </a:rPr>
              <a:t>空间一般较小；</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54279" name="Text Box 7"/>
          <p:cNvSpPr txBox="1">
            <a:spLocks noChangeArrowheads="1"/>
          </p:cNvSpPr>
          <p:nvPr/>
        </p:nvSpPr>
        <p:spPr bwMode="auto">
          <a:xfrm>
            <a:off x="325956" y="4063859"/>
            <a:ext cx="88065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SzPct val="80000"/>
              <a:buFontTx/>
              <a:buBlip>
                <a:blip r:embed="rId1"/>
              </a:buBlip>
            </a:pPr>
            <a:r>
              <a:rPr lang="zh-CN" altLang="en-US" sz="2200" dirty="0">
                <a:solidFill>
                  <a:srgbClr val="C00000"/>
                </a:solidFill>
                <a:latin typeface="黑体" panose="02010609060101010101" pitchFamily="49" charset="-122"/>
                <a:ea typeface="黑体" panose="02010609060101010101" pitchFamily="49" charset="-122"/>
              </a:rPr>
              <a:t>工作可靠，寿命</a:t>
            </a:r>
            <a:r>
              <a:rPr lang="zh-CN" altLang="en-US" sz="2200" dirty="0" smtClean="0">
                <a:solidFill>
                  <a:srgbClr val="C00000"/>
                </a:solidFill>
                <a:latin typeface="黑体" panose="02010609060101010101" pitchFamily="49" charset="-122"/>
                <a:ea typeface="黑体" panose="02010609060101010101" pitchFamily="49" charset="-122"/>
              </a:rPr>
              <a:t>长：</a:t>
            </a:r>
            <a:r>
              <a:rPr lang="zh-CN" altLang="en-US" sz="2200" dirty="0" smtClean="0">
                <a:solidFill>
                  <a:srgbClr val="002060"/>
                </a:solidFill>
                <a:latin typeface="黑体" panose="02010609060101010101" pitchFamily="49" charset="-122"/>
                <a:ea typeface="黑体" panose="02010609060101010101" pitchFamily="49" charset="-122"/>
              </a:rPr>
              <a:t>与</a:t>
            </a:r>
            <a:r>
              <a:rPr lang="zh-CN" altLang="en-US" sz="2200" dirty="0">
                <a:solidFill>
                  <a:srgbClr val="002060"/>
                </a:solidFill>
                <a:latin typeface="黑体" panose="02010609060101010101" pitchFamily="49" charset="-122"/>
                <a:ea typeface="黑体" panose="02010609060101010101" pitchFamily="49" charset="-122"/>
              </a:rPr>
              <a:t>各类传动相比，齿轮传动工作可靠，寿命长；</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54280" name="Text Box 8"/>
          <p:cNvSpPr txBox="1">
            <a:spLocks noChangeArrowheads="1"/>
          </p:cNvSpPr>
          <p:nvPr/>
        </p:nvSpPr>
        <p:spPr bwMode="auto">
          <a:xfrm>
            <a:off x="334539" y="4546804"/>
            <a:ext cx="836537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buSzPct val="80000"/>
              <a:buFontTx/>
              <a:buBlip>
                <a:blip r:embed="rId1"/>
              </a:buBlip>
            </a:pPr>
            <a:r>
              <a:rPr lang="en-US" altLang="zh-CN" dirty="0">
                <a:solidFill>
                  <a:srgbClr val="000099"/>
                </a:solidFill>
                <a:latin typeface="华文中宋" panose="02010600040101010101" pitchFamily="2" charset="-122"/>
              </a:rPr>
              <a:t> </a:t>
            </a:r>
            <a:r>
              <a:rPr lang="zh-CN" altLang="en-US" sz="2200" dirty="0">
                <a:solidFill>
                  <a:srgbClr val="C00000"/>
                </a:solidFill>
                <a:latin typeface="黑体" panose="02010609060101010101" pitchFamily="49" charset="-122"/>
                <a:ea typeface="黑体" panose="02010609060101010101" pitchFamily="49" charset="-122"/>
              </a:rPr>
              <a:t>传动比稳定　</a:t>
            </a:r>
            <a:r>
              <a:rPr lang="zh-CN" altLang="en-US" sz="2200" dirty="0">
                <a:solidFill>
                  <a:srgbClr val="002060"/>
                </a:solidFill>
                <a:latin typeface="黑体" panose="02010609060101010101" pitchFamily="49" charset="-122"/>
                <a:ea typeface="黑体" panose="02010609060101010101" pitchFamily="49" charset="-122"/>
              </a:rPr>
              <a:t>无论是平均值还是瞬时值。这也是齿轮传动获得</a:t>
            </a:r>
            <a:r>
              <a:rPr lang="zh-CN" altLang="en-US" sz="2200" dirty="0" smtClean="0">
                <a:solidFill>
                  <a:srgbClr val="002060"/>
                </a:solidFill>
                <a:latin typeface="黑体" panose="02010609060101010101" pitchFamily="49" charset="-122"/>
                <a:ea typeface="黑体" panose="02010609060101010101" pitchFamily="49" charset="-122"/>
              </a:rPr>
              <a:t>广</a:t>
            </a:r>
            <a:r>
              <a:rPr lang="en-US" altLang="zh-CN" sz="2200" dirty="0" smtClean="0">
                <a:solidFill>
                  <a:srgbClr val="002060"/>
                </a:solidFill>
                <a:latin typeface="黑体" panose="02010609060101010101" pitchFamily="49" charset="-122"/>
                <a:ea typeface="黑体" panose="02010609060101010101" pitchFamily="49" charset="-122"/>
              </a:rPr>
              <a:t>	</a:t>
            </a:r>
            <a:r>
              <a:rPr lang="zh-CN" altLang="en-US" sz="2200" dirty="0" smtClean="0">
                <a:solidFill>
                  <a:srgbClr val="002060"/>
                </a:solidFill>
                <a:latin typeface="黑体" panose="02010609060101010101" pitchFamily="49" charset="-122"/>
                <a:ea typeface="黑体" panose="02010609060101010101" pitchFamily="49" charset="-122"/>
              </a:rPr>
              <a:t>泛</a:t>
            </a:r>
            <a:r>
              <a:rPr lang="zh-CN" altLang="en-US" sz="2200" dirty="0">
                <a:solidFill>
                  <a:srgbClr val="002060"/>
                </a:solidFill>
                <a:latin typeface="黑体" panose="02010609060101010101" pitchFamily="49" charset="-122"/>
                <a:ea typeface="黑体" panose="02010609060101010101" pitchFamily="49" charset="-122"/>
              </a:rPr>
              <a:t>应用</a:t>
            </a:r>
            <a:r>
              <a:rPr lang="zh-CN" altLang="en-US" sz="2200" dirty="0" smtClean="0">
                <a:solidFill>
                  <a:srgbClr val="002060"/>
                </a:solidFill>
                <a:latin typeface="黑体" panose="02010609060101010101" pitchFamily="49" charset="-122"/>
                <a:ea typeface="黑体" panose="02010609060101010101" pitchFamily="49" charset="-122"/>
              </a:rPr>
              <a:t>的原因</a:t>
            </a:r>
            <a:r>
              <a:rPr lang="zh-CN" altLang="en-US" sz="2200" dirty="0">
                <a:solidFill>
                  <a:srgbClr val="002060"/>
                </a:solidFill>
                <a:latin typeface="黑体" panose="02010609060101010101" pitchFamily="49" charset="-122"/>
                <a:ea typeface="黑体" panose="02010609060101010101" pitchFamily="49" charset="-122"/>
              </a:rPr>
              <a:t>之一；</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54281" name="Text Box 9"/>
          <p:cNvSpPr txBox="1">
            <a:spLocks noChangeArrowheads="1"/>
          </p:cNvSpPr>
          <p:nvPr/>
        </p:nvSpPr>
        <p:spPr bwMode="auto">
          <a:xfrm>
            <a:off x="393901" y="5434899"/>
            <a:ext cx="864711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buSzPct val="80000"/>
              <a:buFontTx/>
              <a:buBlip>
                <a:blip r:embed="rId1"/>
              </a:buBlip>
            </a:pPr>
            <a:r>
              <a:rPr lang="zh-CN" altLang="en-US" sz="2200" dirty="0" smtClean="0">
                <a:solidFill>
                  <a:srgbClr val="002060"/>
                </a:solidFill>
                <a:latin typeface="黑体" panose="02010609060101010101" pitchFamily="49" charset="-122"/>
                <a:ea typeface="黑体" panose="02010609060101010101" pitchFamily="49" charset="-122"/>
              </a:rPr>
              <a:t>与</a:t>
            </a:r>
            <a:r>
              <a:rPr lang="zh-CN" altLang="en-US" sz="2200" dirty="0">
                <a:solidFill>
                  <a:srgbClr val="002060"/>
                </a:solidFill>
                <a:latin typeface="黑体" panose="02010609060101010101" pitchFamily="49" charset="-122"/>
                <a:ea typeface="黑体" panose="02010609060101010101" pitchFamily="49" charset="-122"/>
              </a:rPr>
              <a:t>带传动、链传动相比，齿轮的制造及安装精度要求高，价格较贵。不适用于传动距离过大的场合</a:t>
            </a:r>
            <a:r>
              <a:rPr lang="zh-CN" altLang="en-US" sz="2200" dirty="0">
                <a:solidFill>
                  <a:srgbClr val="000099"/>
                </a:solidFill>
                <a:latin typeface="黑体" panose="02010609060101010101" pitchFamily="49" charset="-122"/>
                <a:ea typeface="黑体" panose="02010609060101010101" pitchFamily="49" charset="-122"/>
              </a:rPr>
              <a:t>。</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54283" name="Text Box 11"/>
          <p:cNvSpPr txBox="1">
            <a:spLocks noChangeArrowheads="1"/>
          </p:cNvSpPr>
          <p:nvPr/>
        </p:nvSpPr>
        <p:spPr bwMode="auto">
          <a:xfrm>
            <a:off x="244475" y="968375"/>
            <a:ext cx="8631238"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solidFill>
                  <a:srgbClr val="000099"/>
                </a:solidFill>
                <a:latin typeface="华文中宋" panose="02010600040101010101" pitchFamily="2" charset="-122"/>
              </a:rPr>
              <a:t>　　</a:t>
            </a:r>
            <a:r>
              <a:rPr lang="zh-CN" altLang="en-US" dirty="0">
                <a:solidFill>
                  <a:srgbClr val="002060"/>
                </a:solidFill>
              </a:rPr>
              <a:t>齿轮传动是机械传动中最重要的传动之一，型式多样，应用广泛，传递功率从很小到很大（可高达数万千瓦），圆周速度可达</a:t>
            </a:r>
            <a:r>
              <a:rPr lang="en-US" altLang="en-US" dirty="0">
                <a:solidFill>
                  <a:srgbClr val="002060"/>
                </a:solidFill>
              </a:rPr>
              <a:t>300m/s</a:t>
            </a:r>
            <a:r>
              <a:rPr lang="zh-CN" altLang="en-US" dirty="0">
                <a:solidFill>
                  <a:srgbClr val="002060"/>
                </a:solidFill>
              </a:rPr>
              <a:t>。</a:t>
            </a:r>
            <a:endParaRPr lang="zh-CN" altLang="en-US" dirty="0">
              <a:solidFill>
                <a:srgbClr val="002060"/>
              </a:solidFill>
            </a:endParaRPr>
          </a:p>
        </p:txBody>
      </p:sp>
      <p:sp>
        <p:nvSpPr>
          <p:cNvPr id="19466" name="Rectangle 17"/>
          <p:cNvSpPr>
            <a:spLocks noChangeArrowheads="1"/>
          </p:cNvSpPr>
          <p:nvPr/>
        </p:nvSpPr>
        <p:spPr bwMode="auto">
          <a:xfrm>
            <a:off x="4833938" y="196850"/>
            <a:ext cx="3700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3.4-1 </a:t>
            </a:r>
            <a:r>
              <a:rPr lang="zh-CN" altLang="en-US" sz="3000" dirty="0">
                <a:solidFill>
                  <a:srgbClr val="CC3300"/>
                </a:solidFill>
                <a:latin typeface="黑体" panose="02010609060101010101" pitchFamily="49" charset="-122"/>
                <a:ea typeface="黑体" panose="02010609060101010101" pitchFamily="49" charset="-122"/>
              </a:rPr>
              <a:t>齿轮传动概述</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4296" name="Text Box 24"/>
          <p:cNvSpPr txBox="1">
            <a:spLocks noChangeArrowheads="1"/>
          </p:cNvSpPr>
          <p:nvPr/>
        </p:nvSpPr>
        <p:spPr bwMode="auto">
          <a:xfrm>
            <a:off x="7034213" y="593566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latin typeface="Tahoma" panose="020B0604030504040204" pitchFamily="34" charset="0"/>
                <a:ea typeface="宋体" panose="02010600030101010101" pitchFamily="2" charset="-122"/>
              </a:rPr>
              <a:t>　</a:t>
            </a:r>
            <a:endParaRPr lang="zh-CN" altLang="en-US">
              <a:latin typeface="Tahoma" panose="020B0604030504040204" pitchFamily="34" charset="0"/>
              <a:ea typeface="宋体" panose="02010600030101010101" pitchFamily="2" charset="-122"/>
            </a:endParaRPr>
          </a:p>
        </p:txBody>
      </p:sp>
      <p:sp>
        <p:nvSpPr>
          <p:cNvPr id="194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83"/>
                                        </p:tgtEl>
                                        <p:attrNameLst>
                                          <p:attrName>style.visibility</p:attrName>
                                        </p:attrNameLst>
                                      </p:cBhvr>
                                      <p:to>
                                        <p:strVal val="visible"/>
                                      </p:to>
                                    </p:set>
                                    <p:animEffect transition="in" filter="wipe(left)">
                                      <p:cBhvr>
                                        <p:cTn id="7" dur="500"/>
                                        <p:tgtEl>
                                          <p:spTgt spid="542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6"/>
                                        </p:tgtEl>
                                        <p:attrNameLst>
                                          <p:attrName>style.visibility</p:attrName>
                                        </p:attrNameLst>
                                      </p:cBhvr>
                                      <p:to>
                                        <p:strVal val="visible"/>
                                      </p:to>
                                    </p:set>
                                    <p:animEffect transition="in" filter="wipe(left)">
                                      <p:cBhvr>
                                        <p:cTn id="12" dur="500"/>
                                        <p:tgtEl>
                                          <p:spTgt spid="542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7"/>
                                        </p:tgtEl>
                                        <p:attrNameLst>
                                          <p:attrName>style.visibility</p:attrName>
                                        </p:attrNameLst>
                                      </p:cBhvr>
                                      <p:to>
                                        <p:strVal val="visible"/>
                                      </p:to>
                                    </p:set>
                                    <p:animEffect transition="in" filter="wipe(left)">
                                      <p:cBhvr>
                                        <p:cTn id="17" dur="500"/>
                                        <p:tgtEl>
                                          <p:spTgt spid="542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278"/>
                                        </p:tgtEl>
                                        <p:attrNameLst>
                                          <p:attrName>style.visibility</p:attrName>
                                        </p:attrNameLst>
                                      </p:cBhvr>
                                      <p:to>
                                        <p:strVal val="visible"/>
                                      </p:to>
                                    </p:set>
                                    <p:animEffect transition="in" filter="wipe(left)">
                                      <p:cBhvr>
                                        <p:cTn id="22" dur="500"/>
                                        <p:tgtEl>
                                          <p:spTgt spid="542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4279"/>
                                        </p:tgtEl>
                                        <p:attrNameLst>
                                          <p:attrName>style.visibility</p:attrName>
                                        </p:attrNameLst>
                                      </p:cBhvr>
                                      <p:to>
                                        <p:strVal val="visible"/>
                                      </p:to>
                                    </p:set>
                                    <p:animEffect transition="in" filter="wipe(left)">
                                      <p:cBhvr>
                                        <p:cTn id="27" dur="500"/>
                                        <p:tgtEl>
                                          <p:spTgt spid="542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4280"/>
                                        </p:tgtEl>
                                        <p:attrNameLst>
                                          <p:attrName>style.visibility</p:attrName>
                                        </p:attrNameLst>
                                      </p:cBhvr>
                                      <p:to>
                                        <p:strVal val="visible"/>
                                      </p:to>
                                    </p:set>
                                    <p:animEffect transition="in" filter="wipe(left)">
                                      <p:cBhvr>
                                        <p:cTn id="32" dur="500"/>
                                        <p:tgtEl>
                                          <p:spTgt spid="5428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4281"/>
                                        </p:tgtEl>
                                        <p:attrNameLst>
                                          <p:attrName>style.visibility</p:attrName>
                                        </p:attrNameLst>
                                      </p:cBhvr>
                                      <p:to>
                                        <p:strVal val="visible"/>
                                      </p:to>
                                    </p:set>
                                    <p:animEffect transition="in" filter="wipe(left)">
                                      <p:cBhvr>
                                        <p:cTn id="37" dur="500"/>
                                        <p:tgtEl>
                                          <p:spTgt spid="5428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54296"/>
                                        </p:tgtEl>
                                        <p:attrNameLst>
                                          <p:attrName>style.visibility</p:attrName>
                                        </p:attrNameLst>
                                      </p:cBhvr>
                                      <p:to>
                                        <p:strVal val="visible"/>
                                      </p:to>
                                    </p:set>
                                    <p:anim calcmode="lin" valueType="num">
                                      <p:cBhvr additive="base">
                                        <p:cTn id="42" dur="500" fill="hold"/>
                                        <p:tgtEl>
                                          <p:spTgt spid="54296"/>
                                        </p:tgtEl>
                                        <p:attrNameLst>
                                          <p:attrName>ppt_x</p:attrName>
                                        </p:attrNameLst>
                                      </p:cBhvr>
                                      <p:tavLst>
                                        <p:tav tm="0">
                                          <p:val>
                                            <p:strVal val="0-#ppt_w/2"/>
                                          </p:val>
                                        </p:tav>
                                        <p:tav tm="100000">
                                          <p:val>
                                            <p:strVal val="#ppt_x"/>
                                          </p:val>
                                        </p:tav>
                                      </p:tavLst>
                                    </p:anim>
                                    <p:anim calcmode="lin" valueType="num">
                                      <p:cBhvr additive="base">
                                        <p:cTn id="43" dur="500" fill="hold"/>
                                        <p:tgtEl>
                                          <p:spTgt spid="542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autoUpdateAnimBg="0"/>
      <p:bldP spid="54277" grpId="0" autoUpdateAnimBg="0"/>
      <p:bldP spid="54278" grpId="0" autoUpdateAnimBg="0"/>
      <p:bldP spid="54279" grpId="0" autoUpdateAnimBg="0"/>
      <p:bldP spid="54280" grpId="0" autoUpdateAnimBg="0"/>
      <p:bldP spid="54281" grpId="0" autoUpdateAnimBg="0"/>
      <p:bldP spid="54283" grpId="0" autoUpdateAnimBg="0"/>
      <p:bldP spid="5429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24064" y="1081055"/>
            <a:ext cx="8794765" cy="275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400" dirty="0" smtClean="0">
                <a:solidFill>
                  <a:srgbClr val="C00000"/>
                </a:solidFill>
                <a:latin typeface="黑体" panose="02010609060101010101" pitchFamily="49" charset="-122"/>
                <a:ea typeface="黑体" panose="02010609060101010101" pitchFamily="49" charset="-122"/>
              </a:rPr>
              <a:t>优点</a:t>
            </a:r>
            <a:r>
              <a:rPr lang="zh-CN" altLang="en-US" sz="2400" dirty="0">
                <a:solidFill>
                  <a:srgbClr val="C00000"/>
                </a:solidFill>
                <a:latin typeface="黑体" panose="02010609060101010101" pitchFamily="49" charset="-122"/>
                <a:ea typeface="黑体" panose="02010609060101010101" pitchFamily="49" charset="-122"/>
              </a:rPr>
              <a:t>：</a:t>
            </a:r>
            <a:endParaRPr lang="zh-CN" altLang="en-US" sz="2400" dirty="0">
              <a:solidFill>
                <a:srgbClr val="C00000"/>
              </a:solidFill>
              <a:latin typeface="黑体" panose="02010609060101010101" pitchFamily="49" charset="-122"/>
              <a:ea typeface="黑体" panose="02010609060101010101" pitchFamily="49" charset="-122"/>
            </a:endParaRPr>
          </a:p>
          <a:p>
            <a:pPr eaLnBrk="1" hangingPunct="1">
              <a:lnSpc>
                <a:spcPct val="120000"/>
              </a:lnSpc>
              <a:spcBef>
                <a:spcPct val="0"/>
              </a:spcBef>
              <a:buFontTx/>
              <a:buNone/>
            </a:pP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效率高；</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传动比准确；</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结构紧凑；</a:t>
            </a:r>
            <a:r>
              <a:rPr lang="en-US" altLang="zh-CN" sz="2400" dirty="0">
                <a:latin typeface="黑体" panose="02010609060101010101" pitchFamily="49" charset="-122"/>
                <a:ea typeface="黑体" panose="02010609060101010101" pitchFamily="49" charset="-122"/>
              </a:rPr>
              <a:t>4.</a:t>
            </a:r>
            <a:r>
              <a:rPr lang="zh-CN" altLang="en-US" sz="2400" dirty="0">
                <a:latin typeface="黑体" panose="02010609060101010101" pitchFamily="49" charset="-122"/>
                <a:ea typeface="黑体" panose="02010609060101010101" pitchFamily="49" charset="-122"/>
              </a:rPr>
              <a:t>工作可靠；</a:t>
            </a:r>
            <a:r>
              <a:rPr lang="en-US" altLang="zh-CN" sz="2400" dirty="0">
                <a:latin typeface="黑体" panose="02010609060101010101" pitchFamily="49" charset="-122"/>
                <a:ea typeface="黑体" panose="02010609060101010101" pitchFamily="49" charset="-122"/>
              </a:rPr>
              <a:t>5.</a:t>
            </a:r>
            <a:r>
              <a:rPr lang="zh-CN" altLang="en-US" sz="2400" dirty="0">
                <a:latin typeface="黑体" panose="02010609060101010101" pitchFamily="49" charset="-122"/>
                <a:ea typeface="黑体" panose="02010609060101010101" pitchFamily="49" charset="-122"/>
              </a:rPr>
              <a:t>寿命长</a:t>
            </a:r>
            <a:endParaRPr lang="zh-CN" altLang="en-US" sz="2400" dirty="0">
              <a:latin typeface="黑体" panose="02010609060101010101" pitchFamily="49" charset="-122"/>
              <a:ea typeface="黑体" panose="02010609060101010101" pitchFamily="49" charset="-122"/>
            </a:endParaRPr>
          </a:p>
          <a:p>
            <a:pPr eaLnBrk="1" hangingPunct="1">
              <a:lnSpc>
                <a:spcPct val="120000"/>
              </a:lnSpc>
              <a:spcBef>
                <a:spcPct val="0"/>
              </a:spcBef>
              <a:buFontTx/>
              <a:buNone/>
            </a:pPr>
            <a:r>
              <a:rPr lang="zh-CN" altLang="en-US" sz="2400" dirty="0">
                <a:solidFill>
                  <a:srgbClr val="C00000"/>
                </a:solidFill>
                <a:latin typeface="黑体" panose="02010609060101010101" pitchFamily="49" charset="-122"/>
                <a:ea typeface="黑体" panose="02010609060101010101" pitchFamily="49" charset="-122"/>
              </a:rPr>
              <a:t>缺点：</a:t>
            </a:r>
            <a:endParaRPr lang="zh-CN" altLang="en-US" sz="2400" dirty="0">
              <a:solidFill>
                <a:srgbClr val="C00000"/>
              </a:solidFill>
              <a:latin typeface="黑体" panose="02010609060101010101" pitchFamily="49" charset="-122"/>
              <a:ea typeface="黑体" panose="02010609060101010101" pitchFamily="49" charset="-122"/>
            </a:endParaRPr>
          </a:p>
          <a:p>
            <a:pPr eaLnBrk="1" hangingPunct="1">
              <a:lnSpc>
                <a:spcPct val="120000"/>
              </a:lnSpc>
              <a:spcBef>
                <a:spcPct val="0"/>
              </a:spcBef>
              <a:buFontTx/>
              <a:buNone/>
            </a:pP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制造成本高；</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装配精度要求高；</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不适于两轴距离远的场合。</a:t>
            </a:r>
            <a:endParaRPr lang="zh-CN" altLang="en-US" sz="2400" dirty="0">
              <a:latin typeface="黑体" panose="02010609060101010101" pitchFamily="49" charset="-122"/>
              <a:ea typeface="黑体" panose="02010609060101010101" pitchFamily="49" charset="-122"/>
            </a:endParaRPr>
          </a:p>
          <a:p>
            <a:pPr eaLnBrk="1" hangingPunct="1">
              <a:lnSpc>
                <a:spcPct val="120000"/>
              </a:lnSpc>
              <a:spcBef>
                <a:spcPct val="0"/>
              </a:spcBef>
              <a:buFontTx/>
              <a:buNone/>
            </a:pPr>
            <a:r>
              <a:rPr lang="zh-CN" altLang="en-US" sz="2400" dirty="0">
                <a:latin typeface="黑体" panose="02010609060101010101" pitchFamily="49" charset="-122"/>
                <a:ea typeface="黑体" panose="02010609060101010101" pitchFamily="49" charset="-122"/>
              </a:rPr>
              <a:t>目前已达到的水平：</a:t>
            </a:r>
            <a:endParaRPr lang="zh-CN" altLang="en-US" sz="2400" dirty="0">
              <a:latin typeface="黑体" panose="02010609060101010101" pitchFamily="49" charset="-122"/>
              <a:ea typeface="黑体" panose="02010609060101010101" pitchFamily="49" charset="-122"/>
            </a:endParaRPr>
          </a:p>
          <a:p>
            <a:pPr eaLnBrk="1" hangingPunct="1">
              <a:lnSpc>
                <a:spcPct val="120000"/>
              </a:lnSpc>
              <a:spcBef>
                <a:spcPct val="0"/>
              </a:spcBef>
              <a:buFontTx/>
              <a:buNone/>
            </a:pPr>
            <a:r>
              <a:rPr lang="zh-CN" altLang="en-US" sz="2400" dirty="0">
                <a:solidFill>
                  <a:schemeClr val="tx2"/>
                </a:solidFill>
                <a:latin typeface="黑体" panose="02010609060101010101" pitchFamily="49" charset="-122"/>
                <a:ea typeface="黑体" panose="02010609060101010101" pitchFamily="49" charset="-122"/>
              </a:rPr>
              <a:t>传递功率：</a:t>
            </a:r>
            <a:r>
              <a:rPr lang="en-US" altLang="zh-CN" sz="2400" dirty="0">
                <a:solidFill>
                  <a:schemeClr val="tx2"/>
                </a:solidFill>
                <a:latin typeface="黑体" panose="02010609060101010101" pitchFamily="49" charset="-122"/>
                <a:ea typeface="黑体" panose="02010609060101010101" pitchFamily="49" charset="-122"/>
              </a:rPr>
              <a:t>10</a:t>
            </a:r>
            <a:r>
              <a:rPr lang="zh-CN" altLang="en-US" sz="2400" dirty="0">
                <a:solidFill>
                  <a:schemeClr val="tx2"/>
                </a:solidFill>
                <a:latin typeface="黑体" panose="02010609060101010101" pitchFamily="49" charset="-122"/>
                <a:ea typeface="黑体" panose="02010609060101010101" pitchFamily="49" charset="-122"/>
              </a:rPr>
              <a:t>万</a:t>
            </a:r>
            <a:r>
              <a:rPr lang="en-US" altLang="zh-CN" sz="2400" dirty="0">
                <a:solidFill>
                  <a:schemeClr val="tx2"/>
                </a:solidFill>
                <a:latin typeface="黑体" panose="02010609060101010101" pitchFamily="49" charset="-122"/>
                <a:ea typeface="黑体" panose="02010609060101010101" pitchFamily="49" charset="-122"/>
              </a:rPr>
              <a:t>kW</a:t>
            </a:r>
            <a:r>
              <a:rPr lang="zh-CN" altLang="en-US" sz="2400" dirty="0">
                <a:solidFill>
                  <a:schemeClr val="tx2"/>
                </a:solidFill>
                <a:latin typeface="黑体" panose="02010609060101010101" pitchFamily="49" charset="-122"/>
                <a:ea typeface="黑体" panose="02010609060101010101" pitchFamily="49" charset="-122"/>
              </a:rPr>
              <a:t>；圆周速度：</a:t>
            </a:r>
            <a:r>
              <a:rPr lang="en-US" altLang="zh-CN" sz="2400" dirty="0">
                <a:solidFill>
                  <a:schemeClr val="tx2"/>
                </a:solidFill>
                <a:latin typeface="黑体" panose="02010609060101010101" pitchFamily="49" charset="-122"/>
                <a:ea typeface="黑体" panose="02010609060101010101" pitchFamily="49" charset="-122"/>
              </a:rPr>
              <a:t>300m/s</a:t>
            </a:r>
            <a:r>
              <a:rPr lang="zh-CN" altLang="en-US" sz="2400" dirty="0">
                <a:solidFill>
                  <a:schemeClr val="tx2"/>
                </a:solidFill>
                <a:latin typeface="黑体" panose="02010609060101010101" pitchFamily="49" charset="-122"/>
                <a:ea typeface="黑体" panose="02010609060101010101" pitchFamily="49" charset="-122"/>
              </a:rPr>
              <a:t>：转速：</a:t>
            </a:r>
            <a:r>
              <a:rPr lang="en-US" altLang="zh-CN" sz="2400" dirty="0">
                <a:solidFill>
                  <a:schemeClr val="tx2"/>
                </a:solidFill>
                <a:latin typeface="黑体" panose="02010609060101010101" pitchFamily="49" charset="-122"/>
                <a:ea typeface="黑体" panose="02010609060101010101" pitchFamily="49" charset="-122"/>
              </a:rPr>
              <a:t>100000r/min</a:t>
            </a:r>
            <a:endParaRPr lang="en-US" altLang="zh-CN" sz="2400" dirty="0">
              <a:solidFill>
                <a:schemeClr val="tx2"/>
              </a:solidFill>
              <a:latin typeface="黑体" panose="02010609060101010101" pitchFamily="49" charset="-122"/>
              <a:ea typeface="黑体" panose="02010609060101010101" pitchFamily="49" charset="-122"/>
            </a:endParaRPr>
          </a:p>
        </p:txBody>
      </p:sp>
      <p:pic>
        <p:nvPicPr>
          <p:cNvPr id="30723" name="Picture 3" descr="u=242165314,2906783990&amp;fm=23&amp;gp=0"/>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3277" y="4261065"/>
            <a:ext cx="2187575" cy="197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4" descr="u=2451021521,4088488916&amp;fm=23&amp;gp=0"/>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04185" y="4051300"/>
            <a:ext cx="263271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 name="Rectangle 17"/>
          <p:cNvSpPr>
            <a:spLocks noChangeArrowheads="1"/>
          </p:cNvSpPr>
          <p:nvPr/>
        </p:nvSpPr>
        <p:spPr bwMode="auto">
          <a:xfrm>
            <a:off x="4833938" y="196850"/>
            <a:ext cx="3700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3.4-1 </a:t>
            </a:r>
            <a:r>
              <a:rPr lang="zh-CN" altLang="en-US" sz="3000" dirty="0">
                <a:solidFill>
                  <a:srgbClr val="CC3300"/>
                </a:solidFill>
                <a:latin typeface="黑体" panose="02010609060101010101" pitchFamily="49" charset="-122"/>
                <a:ea typeface="黑体" panose="02010609060101010101" pitchFamily="49" charset="-122"/>
              </a:rPr>
              <a:t>齿轮传动概述</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3" name="图片 2"/>
          <p:cNvPicPr/>
          <p:nvPr/>
        </p:nvPicPr>
        <p:blipFill>
          <a:blip r:embed="rId3"/>
        </p:blipFill>
        <p:spPr>
          <a:xfrm>
            <a:off x="5789930" y="4062730"/>
            <a:ext cx="2992755" cy="24015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clrChange>
              <a:clrFrom>
                <a:srgbClr val="FFFFFF">
                  <a:alpha val="100000"/>
                </a:srgbClr>
              </a:clrFrom>
              <a:clrTo>
                <a:srgbClr val="FFFFFF">
                  <a:alpha val="100000"/>
                  <a:alpha val="0"/>
                </a:srgbClr>
              </a:clrTo>
            </a:clrChange>
          </a:blip>
          <a:srcRect r="11600"/>
        </p:blipFill>
        <p:spPr>
          <a:xfrm>
            <a:off x="1290955" y="601345"/>
            <a:ext cx="6121400" cy="3629025"/>
          </a:xfrm>
          <a:prstGeom prst="rect">
            <a:avLst/>
          </a:prstGeom>
        </p:spPr>
      </p:pic>
      <p:sp>
        <p:nvSpPr>
          <p:cNvPr id="3" name="文本框 2"/>
          <p:cNvSpPr txBox="1"/>
          <p:nvPr/>
        </p:nvSpPr>
        <p:spPr>
          <a:xfrm>
            <a:off x="631825" y="4467860"/>
            <a:ext cx="7926705" cy="1527175"/>
          </a:xfrm>
          <a:prstGeom prst="rect">
            <a:avLst/>
          </a:prstGeom>
        </p:spPr>
        <p:txBody>
          <a:bodyPr wrap="square">
            <a:spAutoFit/>
          </a:bodyPr>
          <a:p>
            <a:pPr marL="0" indent="0" eaLnBrk="1" latinLnBrk="0" hangingPunct="1">
              <a:lnSpc>
                <a:spcPts val="2800"/>
              </a:lnSpc>
            </a:pPr>
            <a:r>
              <a:rPr lang="en-US" altLang="zh-CN">
                <a:latin typeface="黑体" panose="02010609060101010101" pitchFamily="49" charset="-122"/>
                <a:ea typeface="黑体" panose="02010609060101010101" pitchFamily="49" charset="-122"/>
                <a:cs typeface="黑体" panose="02010609060101010101" pitchFamily="49" charset="-122"/>
              </a:rPr>
              <a:t>    </a:t>
            </a:r>
            <a:r>
              <a:rPr lang="zh-CN" altLang="en-US">
                <a:latin typeface="黑体" panose="02010609060101010101" pitchFamily="49" charset="-122"/>
                <a:ea typeface="黑体" panose="02010609060101010101" pitchFamily="49" charset="-122"/>
                <a:cs typeface="黑体" panose="02010609060101010101" pitchFamily="49" charset="-122"/>
              </a:rPr>
              <a:t>RV减速器是一种两级减速机构，由‌渐开线</a:t>
            </a:r>
            <a:r>
              <a:rPr lang="zh-CN" altLang="en-US">
                <a:solidFill>
                  <a:srgbClr val="C00000"/>
                </a:solidFill>
                <a:latin typeface="黑体" panose="02010609060101010101" pitchFamily="49" charset="-122"/>
                <a:ea typeface="黑体" panose="02010609060101010101" pitchFamily="49" charset="-122"/>
                <a:cs typeface="黑体" panose="02010609060101010101" pitchFamily="49" charset="-122"/>
              </a:rPr>
              <a:t>行星齿轮</a:t>
            </a:r>
            <a:r>
              <a:rPr lang="zh-CN" altLang="en-US">
                <a:latin typeface="黑体" panose="02010609060101010101" pitchFamily="49" charset="-122"/>
                <a:ea typeface="黑体" panose="02010609060101010101" pitchFamily="49" charset="-122"/>
                <a:cs typeface="黑体" panose="02010609060101010101" pitchFamily="49" charset="-122"/>
              </a:rPr>
              <a:t>传动和‌</a:t>
            </a:r>
            <a:r>
              <a:rPr lang="zh-CN" altLang="en-US">
                <a:solidFill>
                  <a:srgbClr val="C00000"/>
                </a:solidFill>
                <a:latin typeface="黑体" panose="02010609060101010101" pitchFamily="49" charset="-122"/>
                <a:ea typeface="黑体" panose="02010609060101010101" pitchFamily="49" charset="-122"/>
                <a:cs typeface="黑体" panose="02010609060101010101" pitchFamily="49" charset="-122"/>
              </a:rPr>
              <a:t>摆线针轮</a:t>
            </a:r>
            <a:r>
              <a:rPr lang="zh-CN" altLang="en-US">
                <a:latin typeface="黑体" panose="02010609060101010101" pitchFamily="49" charset="-122"/>
                <a:ea typeface="黑体" panose="02010609060101010101" pitchFamily="49" charset="-122"/>
                <a:cs typeface="黑体" panose="02010609060101010101" pitchFamily="49" charset="-122"/>
              </a:rPr>
              <a:t>传动构成，具有体积小、重量轻、传动比范围大、寿命长、精度保持稳定、效率高、传动平稳等一系列优点，被广泛应用于</a:t>
            </a:r>
            <a:r>
              <a:rPr lang="zh-CN" altLang="en-US">
                <a:latin typeface="黑体" panose="02010609060101010101" pitchFamily="49" charset="-122"/>
                <a:ea typeface="黑体" panose="02010609060101010101" pitchFamily="49" charset="-122"/>
                <a:cs typeface="黑体" panose="02010609060101010101" pitchFamily="49" charset="-122"/>
                <a:sym typeface="+mn-ea"/>
              </a:rPr>
              <a:t>高精度机器人传动、</a:t>
            </a:r>
            <a:r>
              <a:rPr lang="zh-CN" altLang="en-US">
                <a:latin typeface="黑体" panose="02010609060101010101" pitchFamily="49" charset="-122"/>
                <a:ea typeface="黑体" panose="02010609060101010101" pitchFamily="49" charset="-122"/>
                <a:cs typeface="黑体" panose="02010609060101010101" pitchFamily="49" charset="-122"/>
              </a:rPr>
              <a:t>机床、医疗检测设备、卫星接收系统等领域。</a:t>
            </a:r>
            <a:endParaRPr lang="zh-CN" altLang="en-US">
              <a:latin typeface="黑体" panose="02010609060101010101" pitchFamily="49" charset="-122"/>
              <a:ea typeface="黑体" panose="02010609060101010101" pitchFamily="49" charset="-122"/>
              <a:cs typeface="黑体" panose="02010609060101010101" pitchFamily="49" charset="-122"/>
              <a:hlinkClick r:id="rId2"/>
            </a:endParaRPr>
          </a:p>
        </p:txBody>
      </p:sp>
      <p:sp>
        <p:nvSpPr>
          <p:cNvPr id="6" name="文本框 5"/>
          <p:cNvSpPr txBox="1"/>
          <p:nvPr/>
        </p:nvSpPr>
        <p:spPr>
          <a:xfrm>
            <a:off x="4467225" y="3707765"/>
            <a:ext cx="3708400" cy="398780"/>
          </a:xfrm>
          <a:prstGeom prst="rect">
            <a:avLst/>
          </a:prstGeom>
          <a:noFill/>
        </p:spPr>
        <p:txBody>
          <a:bodyPr wrap="square" rtlCol="0">
            <a:spAutoFit/>
          </a:bodyPr>
          <a:p>
            <a:r>
              <a:rPr lang="en-US" altLang="zh-CN">
                <a:solidFill>
                  <a:srgbClr val="C00000"/>
                </a:solidFill>
              </a:rPr>
              <a:t>RV</a:t>
            </a:r>
            <a:r>
              <a:rPr lang="zh-CN" altLang="en-US">
                <a:solidFill>
                  <a:srgbClr val="C00000"/>
                </a:solidFill>
              </a:rPr>
              <a:t>减速器爆炸图</a:t>
            </a:r>
            <a:endParaRPr lang="zh-CN" altLang="en-US">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bwMode="auto">
          <a:xfrm>
            <a:off x="6438900" y="723900"/>
            <a:ext cx="9334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黑体" panose="02010609060101010101" pitchFamily="49" charset="-122"/>
                <a:ea typeface="黑体" panose="02010609060101010101" pitchFamily="49" charset="-122"/>
              </a:rPr>
              <a:t>齿轮传动概述</a:t>
            </a:r>
            <a:r>
              <a:rPr lang="en-US" altLang="zh-CN" sz="800" smtClean="0">
                <a:solidFill>
                  <a:schemeClr val="bg1"/>
                </a:solidFill>
                <a:latin typeface="黑体" panose="02010609060101010101" pitchFamily="49" charset="-122"/>
                <a:ea typeface="黑体" panose="02010609060101010101" pitchFamily="49" charset="-122"/>
              </a:rPr>
              <a:t>2</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57348" name="Text Box 1028"/>
          <p:cNvSpPr txBox="1">
            <a:spLocks noChangeArrowheads="1"/>
          </p:cNvSpPr>
          <p:nvPr/>
        </p:nvSpPr>
        <p:spPr bwMode="auto">
          <a:xfrm>
            <a:off x="234950" y="804863"/>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二、齿轮传动的分类</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57349" name="Text Box 1029"/>
          <p:cNvSpPr txBox="1">
            <a:spLocks noChangeArrowheads="1"/>
          </p:cNvSpPr>
          <p:nvPr/>
        </p:nvSpPr>
        <p:spPr bwMode="auto">
          <a:xfrm>
            <a:off x="514033" y="1340168"/>
            <a:ext cx="7380287"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solidFill>
                  <a:srgbClr val="C00000"/>
                </a:solidFill>
                <a:latin typeface="黑体" panose="02010609060101010101" pitchFamily="49" charset="-122"/>
                <a:ea typeface="黑体" panose="02010609060101010101" pitchFamily="49" charset="-122"/>
              </a:rPr>
              <a:t>按齿轮类型分：</a:t>
            </a:r>
            <a:r>
              <a:rPr lang="zh-CN" altLang="en-US" dirty="0">
                <a:solidFill>
                  <a:srgbClr val="002060"/>
                </a:solidFill>
                <a:latin typeface="华文中宋" panose="02010600040101010101" pitchFamily="2" charset="-122"/>
              </a:rPr>
              <a:t>直齿圆柱齿轮传动　　斜齿圆柱齿轮传动　</a:t>
            </a:r>
            <a:endParaRPr lang="zh-CN" altLang="en-US" dirty="0">
              <a:solidFill>
                <a:srgbClr val="002060"/>
              </a:solidFill>
              <a:latin typeface="华文中宋" panose="02010600040101010101" pitchFamily="2" charset="-122"/>
            </a:endParaRPr>
          </a:p>
          <a:p>
            <a:pPr eaLnBrk="1" hangingPunct="1">
              <a:lnSpc>
                <a:spcPct val="125000"/>
              </a:lnSpc>
            </a:pPr>
            <a:r>
              <a:rPr lang="zh-CN" altLang="en-US" dirty="0">
                <a:solidFill>
                  <a:srgbClr val="002060"/>
                </a:solidFill>
                <a:latin typeface="华文中宋" panose="02010600040101010101" pitchFamily="2" charset="-122"/>
              </a:rPr>
              <a:t>　　　　　　　锥齿轮传动　　　　　人字齿轮传动　</a:t>
            </a:r>
            <a:endParaRPr lang="zh-CN" altLang="en-US" dirty="0">
              <a:solidFill>
                <a:srgbClr val="002060"/>
              </a:solidFill>
              <a:latin typeface="华文中宋" panose="02010600040101010101" pitchFamily="2" charset="-122"/>
            </a:endParaRPr>
          </a:p>
        </p:txBody>
      </p:sp>
      <p:sp>
        <p:nvSpPr>
          <p:cNvPr id="57350" name="Text Box 1030"/>
          <p:cNvSpPr txBox="1">
            <a:spLocks noChangeArrowheads="1"/>
          </p:cNvSpPr>
          <p:nvPr/>
        </p:nvSpPr>
        <p:spPr bwMode="auto">
          <a:xfrm>
            <a:off x="412980" y="2811054"/>
            <a:ext cx="602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按装置形式分：</a:t>
            </a:r>
            <a:r>
              <a:rPr lang="zh-CN" altLang="en-US" dirty="0">
                <a:solidFill>
                  <a:srgbClr val="002060"/>
                </a:solidFill>
                <a:latin typeface="华文中宋" panose="02010600040101010101" pitchFamily="2" charset="-122"/>
              </a:rPr>
              <a:t>开式传动、半开式传动、闭式传动。</a:t>
            </a:r>
            <a:endParaRPr lang="zh-CN" altLang="en-US" dirty="0">
              <a:solidFill>
                <a:srgbClr val="002060"/>
              </a:solidFill>
              <a:latin typeface="华文中宋" panose="02010600040101010101" pitchFamily="2" charset="-122"/>
            </a:endParaRPr>
          </a:p>
        </p:txBody>
      </p:sp>
      <p:sp>
        <p:nvSpPr>
          <p:cNvPr id="57351" name="Text Box 1031"/>
          <p:cNvSpPr txBox="1">
            <a:spLocks noChangeArrowheads="1"/>
          </p:cNvSpPr>
          <p:nvPr/>
        </p:nvSpPr>
        <p:spPr bwMode="auto">
          <a:xfrm>
            <a:off x="278646" y="3588586"/>
            <a:ext cx="858837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solidFill>
                  <a:srgbClr val="C00000"/>
                </a:solidFill>
                <a:latin typeface="黑体" panose="02010609060101010101" pitchFamily="49" charset="-122"/>
                <a:ea typeface="黑体" panose="02010609060101010101" pitchFamily="49" charset="-122"/>
              </a:rPr>
              <a:t>按使用情况分：</a:t>
            </a:r>
            <a:r>
              <a:rPr lang="zh-CN" altLang="en-US" dirty="0">
                <a:solidFill>
                  <a:srgbClr val="002060"/>
                </a:solidFill>
                <a:latin typeface="黑体" panose="02010609060101010101" pitchFamily="49" charset="-122"/>
                <a:ea typeface="黑体" panose="02010609060101010101" pitchFamily="49" charset="-122"/>
              </a:rPr>
              <a:t>动力齿轮</a:t>
            </a:r>
            <a:r>
              <a:rPr lang="zh-CN" altLang="en-US" dirty="0">
                <a:solidFill>
                  <a:srgbClr val="002060"/>
                </a:solidFill>
                <a:latin typeface="华文中宋" panose="02010600040101010101" pitchFamily="2" charset="-122"/>
              </a:rPr>
              <a:t>─以动力传输为主，常为高速重载或低速重载传动。</a:t>
            </a:r>
            <a:endParaRPr lang="zh-CN" altLang="en-US" dirty="0">
              <a:solidFill>
                <a:srgbClr val="002060"/>
              </a:solidFill>
              <a:latin typeface="华文中宋" panose="02010600040101010101" pitchFamily="2" charset="-122"/>
            </a:endParaRPr>
          </a:p>
          <a:p>
            <a:pPr eaLnBrk="1" hangingPunct="1">
              <a:lnSpc>
                <a:spcPct val="120000"/>
              </a:lnSpc>
            </a:pPr>
            <a:r>
              <a:rPr lang="zh-CN" altLang="en-US" dirty="0">
                <a:solidFill>
                  <a:srgbClr val="002060"/>
                </a:solidFill>
                <a:latin typeface="华文中宋" panose="02010600040101010101" pitchFamily="2" charset="-122"/>
              </a:rPr>
              <a:t>　　　　　　　</a:t>
            </a:r>
            <a:r>
              <a:rPr lang="zh-CN" altLang="en-US" dirty="0">
                <a:solidFill>
                  <a:srgbClr val="002060"/>
                </a:solidFill>
                <a:latin typeface="黑体" panose="02010609060101010101" pitchFamily="49" charset="-122"/>
                <a:ea typeface="黑体" panose="02010609060101010101" pitchFamily="49" charset="-122"/>
              </a:rPr>
              <a:t>传动齿轮</a:t>
            </a:r>
            <a:r>
              <a:rPr lang="zh-CN" altLang="en-US" dirty="0">
                <a:solidFill>
                  <a:srgbClr val="002060"/>
                </a:solidFill>
                <a:latin typeface="华文中宋" panose="02010600040101010101" pitchFamily="2" charset="-122"/>
              </a:rPr>
              <a:t>─以运动准确为主，一般为轻载高精度传动。</a:t>
            </a:r>
            <a:endParaRPr lang="zh-CN" altLang="en-US" dirty="0">
              <a:solidFill>
                <a:srgbClr val="002060"/>
              </a:solidFill>
              <a:latin typeface="华文中宋" panose="02010600040101010101" pitchFamily="2" charset="-122"/>
            </a:endParaRPr>
          </a:p>
        </p:txBody>
      </p:sp>
      <p:pic>
        <p:nvPicPr>
          <p:cNvPr id="57356" name="Picture 1036" descr="back">
            <a:hlinkClick r:id="" tooltip="上一页"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011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8" name="Picture 1038" descr="rewind">
            <a:hlinkClick r:id="" tooltip="本章首页"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9" name="Text Box 1043"/>
          <p:cNvSpPr txBox="1">
            <a:spLocks noChangeArrowheads="1"/>
          </p:cNvSpPr>
          <p:nvPr/>
        </p:nvSpPr>
        <p:spPr bwMode="auto">
          <a:xfrm>
            <a:off x="6670675" y="628173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latin typeface="Tahoma" panose="020B0604030504040204" pitchFamily="34" charset="0"/>
                <a:ea typeface="宋体" panose="02010600030101010101" pitchFamily="2" charset="-122"/>
              </a:rPr>
              <a:t>　</a:t>
            </a:r>
            <a:endParaRPr lang="zh-CN" altLang="en-US">
              <a:latin typeface="Tahoma" panose="020B0604030504040204" pitchFamily="34" charset="0"/>
              <a:ea typeface="宋体" panose="02010600030101010101" pitchFamily="2" charset="-122"/>
            </a:endParaRPr>
          </a:p>
        </p:txBody>
      </p:sp>
      <p:sp>
        <p:nvSpPr>
          <p:cNvPr id="20490" name="Rectangle 17"/>
          <p:cNvSpPr>
            <a:spLocks noChangeArrowheads="1"/>
          </p:cNvSpPr>
          <p:nvPr/>
        </p:nvSpPr>
        <p:spPr bwMode="auto">
          <a:xfrm>
            <a:off x="4833938" y="196850"/>
            <a:ext cx="3700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3.4-1 </a:t>
            </a:r>
            <a:r>
              <a:rPr lang="zh-CN" altLang="en-US" sz="3000" dirty="0">
                <a:solidFill>
                  <a:srgbClr val="CC3300"/>
                </a:solidFill>
                <a:latin typeface="黑体" panose="02010609060101010101" pitchFamily="49" charset="-122"/>
                <a:ea typeface="黑体" panose="02010609060101010101" pitchFamily="49" charset="-122"/>
              </a:rPr>
              <a:t>齿轮传动概述</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7899" name="矩形 15"/>
          <p:cNvSpPr>
            <a:spLocks noChangeArrowheads="1"/>
          </p:cNvSpPr>
          <p:nvPr/>
        </p:nvSpPr>
        <p:spPr bwMode="auto">
          <a:xfrm>
            <a:off x="396452" y="4800334"/>
            <a:ext cx="85852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dirty="0" smtClean="0">
                <a:solidFill>
                  <a:srgbClr val="C00000"/>
                </a:solidFill>
                <a:latin typeface="黑体" panose="02010609060101010101" pitchFamily="49" charset="-122"/>
                <a:ea typeface="黑体" panose="02010609060101010101" pitchFamily="49" charset="-122"/>
              </a:rPr>
              <a:t>齿轮</a:t>
            </a:r>
            <a:r>
              <a:rPr lang="zh-CN" altLang="en-US" dirty="0">
                <a:solidFill>
                  <a:srgbClr val="C00000"/>
                </a:solidFill>
                <a:latin typeface="黑体" panose="02010609060101010101" pitchFamily="49" charset="-122"/>
                <a:ea typeface="黑体" panose="02010609060101010101" pitchFamily="49" charset="-122"/>
              </a:rPr>
              <a:t>按齿面硬度分：</a:t>
            </a:r>
            <a:r>
              <a:rPr lang="zh-CN" altLang="en-US" dirty="0">
                <a:solidFill>
                  <a:srgbClr val="002060"/>
                </a:solidFill>
                <a:latin typeface="华文中宋" panose="02010600040101010101" pitchFamily="2" charset="-122"/>
              </a:rPr>
              <a:t>可以分为软齿面齿轮和硬齿面</a:t>
            </a:r>
            <a:r>
              <a:rPr lang="zh-CN" altLang="en-US" dirty="0" smtClean="0">
                <a:solidFill>
                  <a:srgbClr val="002060"/>
                </a:solidFill>
                <a:latin typeface="华文中宋" panose="02010600040101010101" pitchFamily="2" charset="-122"/>
              </a:rPr>
              <a:t>齿轮：</a:t>
            </a:r>
            <a:endParaRPr lang="en-US" altLang="zh-CN" dirty="0" smtClean="0">
              <a:solidFill>
                <a:srgbClr val="002060"/>
              </a:solidFill>
              <a:latin typeface="华文中宋" panose="02010600040101010101" pitchFamily="2" charset="-122"/>
            </a:endParaRPr>
          </a:p>
          <a:p>
            <a:pPr eaLnBrk="1" hangingPunct="1">
              <a:lnSpc>
                <a:spcPct val="150000"/>
              </a:lnSpc>
            </a:pPr>
            <a:r>
              <a:rPr lang="zh-CN" altLang="en-US" dirty="0" smtClean="0">
                <a:solidFill>
                  <a:srgbClr val="000099"/>
                </a:solidFill>
                <a:latin typeface="华文中宋" panose="02010600040101010101" pitchFamily="2" charset="-122"/>
              </a:rPr>
              <a:t>   </a:t>
            </a:r>
            <a:r>
              <a:rPr lang="zh-CN" altLang="en-US" dirty="0" smtClean="0">
                <a:solidFill>
                  <a:srgbClr val="002060"/>
                </a:solidFill>
                <a:latin typeface="华文中宋" panose="02010600040101010101" pitchFamily="2" charset="-122"/>
              </a:rPr>
              <a:t>齿轮</a:t>
            </a:r>
            <a:r>
              <a:rPr lang="zh-CN" altLang="en-US" dirty="0">
                <a:solidFill>
                  <a:srgbClr val="002060"/>
                </a:solidFill>
                <a:latin typeface="华文中宋" panose="02010600040101010101" pitchFamily="2" charset="-122"/>
              </a:rPr>
              <a:t>工作齿面的硬度小于或等于</a:t>
            </a:r>
            <a:r>
              <a:rPr lang="en-US" altLang="en-US" dirty="0">
                <a:solidFill>
                  <a:srgbClr val="002060"/>
                </a:solidFill>
                <a:latin typeface="华文中宋" panose="02010600040101010101" pitchFamily="2" charset="-122"/>
              </a:rPr>
              <a:t>350HBW</a:t>
            </a:r>
            <a:r>
              <a:rPr lang="zh-CN" altLang="en-US" dirty="0">
                <a:solidFill>
                  <a:srgbClr val="002060"/>
                </a:solidFill>
                <a:latin typeface="华文中宋" panose="02010600040101010101" pitchFamily="2" charset="-122"/>
              </a:rPr>
              <a:t>或</a:t>
            </a:r>
            <a:r>
              <a:rPr lang="en-US" altLang="en-US" dirty="0">
                <a:solidFill>
                  <a:srgbClr val="002060"/>
                </a:solidFill>
                <a:latin typeface="华文中宋" panose="02010600040101010101" pitchFamily="2" charset="-122"/>
              </a:rPr>
              <a:t>38HRC</a:t>
            </a:r>
            <a:r>
              <a:rPr lang="zh-CN" altLang="en-US" dirty="0">
                <a:solidFill>
                  <a:srgbClr val="002060"/>
                </a:solidFill>
                <a:latin typeface="华文中宋" panose="02010600040101010101" pitchFamily="2" charset="-122"/>
              </a:rPr>
              <a:t>称为软齿面齿轮</a:t>
            </a:r>
            <a:r>
              <a:rPr lang="zh-CN" altLang="en-US" dirty="0" smtClean="0">
                <a:solidFill>
                  <a:srgbClr val="002060"/>
                </a:solidFill>
                <a:latin typeface="华文中宋" panose="02010600040101010101" pitchFamily="2" charset="-122"/>
              </a:rPr>
              <a:t>；</a:t>
            </a:r>
            <a:endParaRPr lang="en-US" altLang="zh-CN" dirty="0" smtClean="0">
              <a:solidFill>
                <a:srgbClr val="002060"/>
              </a:solidFill>
              <a:latin typeface="华文中宋" panose="02010600040101010101" pitchFamily="2" charset="-122"/>
            </a:endParaRPr>
          </a:p>
          <a:p>
            <a:pPr eaLnBrk="1" hangingPunct="1">
              <a:lnSpc>
                <a:spcPct val="150000"/>
              </a:lnSpc>
            </a:pPr>
            <a:r>
              <a:rPr lang="zh-CN" altLang="en-US" dirty="0" smtClean="0">
                <a:solidFill>
                  <a:srgbClr val="002060"/>
                </a:solidFill>
                <a:latin typeface="华文中宋" panose="02010600040101010101" pitchFamily="2" charset="-122"/>
              </a:rPr>
              <a:t>    齿轮</a:t>
            </a:r>
            <a:r>
              <a:rPr lang="zh-CN" altLang="en-US" dirty="0">
                <a:solidFill>
                  <a:srgbClr val="002060"/>
                </a:solidFill>
                <a:latin typeface="华文中宋" panose="02010600040101010101" pitchFamily="2" charset="-122"/>
              </a:rPr>
              <a:t>工作齿面的硬度大于</a:t>
            </a:r>
            <a:r>
              <a:rPr lang="en-US" altLang="en-US" dirty="0">
                <a:solidFill>
                  <a:srgbClr val="002060"/>
                </a:solidFill>
                <a:latin typeface="华文中宋" panose="02010600040101010101" pitchFamily="2" charset="-122"/>
              </a:rPr>
              <a:t>350HBW</a:t>
            </a:r>
            <a:r>
              <a:rPr lang="zh-CN" altLang="en-US" dirty="0">
                <a:solidFill>
                  <a:srgbClr val="002060"/>
                </a:solidFill>
                <a:latin typeface="华文中宋" panose="02010600040101010101" pitchFamily="2" charset="-122"/>
              </a:rPr>
              <a:t>或</a:t>
            </a:r>
            <a:r>
              <a:rPr lang="en-US" altLang="en-US" dirty="0">
                <a:solidFill>
                  <a:srgbClr val="002060"/>
                </a:solidFill>
                <a:latin typeface="华文中宋" panose="02010600040101010101" pitchFamily="2" charset="-122"/>
              </a:rPr>
              <a:t>38HRC</a:t>
            </a:r>
            <a:r>
              <a:rPr lang="zh-CN" altLang="en-US" dirty="0">
                <a:solidFill>
                  <a:srgbClr val="002060"/>
                </a:solidFill>
                <a:latin typeface="华文中宋" panose="02010600040101010101" pitchFamily="2" charset="-122"/>
              </a:rPr>
              <a:t>称为硬齿面齿轮。</a:t>
            </a:r>
            <a:endParaRPr lang="zh-CN" altLang="en-US" dirty="0">
              <a:solidFill>
                <a:srgbClr val="002060"/>
              </a:solidFill>
              <a:latin typeface="华文中宋" panose="02010600040101010101" pitchFamily="2" charset="-122"/>
            </a:endParaRPr>
          </a:p>
        </p:txBody>
      </p:sp>
      <p:sp>
        <p:nvSpPr>
          <p:cNvPr id="2049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7348"/>
                                        </p:tgtEl>
                                        <p:attrNameLst>
                                          <p:attrName>style.visibility</p:attrName>
                                        </p:attrNameLst>
                                      </p:cBhvr>
                                      <p:to>
                                        <p:strVal val="visible"/>
                                      </p:to>
                                    </p:set>
                                    <p:animEffect transition="in" filter="wipe(left)">
                                      <p:cBhvr>
                                        <p:cTn id="7" dur="500"/>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9"/>
                                        </p:tgtEl>
                                        <p:attrNameLst>
                                          <p:attrName>style.visibility</p:attrName>
                                        </p:attrNameLst>
                                      </p:cBhvr>
                                      <p:to>
                                        <p:strVal val="visible"/>
                                      </p:to>
                                    </p:set>
                                    <p:animEffect transition="in" filter="wipe(left)">
                                      <p:cBhvr>
                                        <p:cTn id="12" dur="500"/>
                                        <p:tgtEl>
                                          <p:spTgt spid="573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50"/>
                                        </p:tgtEl>
                                        <p:attrNameLst>
                                          <p:attrName>style.visibility</p:attrName>
                                        </p:attrNameLst>
                                      </p:cBhvr>
                                      <p:to>
                                        <p:strVal val="visible"/>
                                      </p:to>
                                    </p:set>
                                    <p:animEffect transition="in" filter="wipe(left)">
                                      <p:cBhvr>
                                        <p:cTn id="17" dur="500"/>
                                        <p:tgtEl>
                                          <p:spTgt spid="573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351"/>
                                        </p:tgtEl>
                                        <p:attrNameLst>
                                          <p:attrName>style.visibility</p:attrName>
                                        </p:attrNameLst>
                                      </p:cBhvr>
                                      <p:to>
                                        <p:strVal val="visible"/>
                                      </p:to>
                                    </p:set>
                                    <p:animEffect transition="in" filter="wipe(left)">
                                      <p:cBhvr>
                                        <p:cTn id="22" dur="500"/>
                                        <p:tgtEl>
                                          <p:spTgt spid="5735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899"/>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499"/>
                                          </p:stCondLst>
                                        </p:cTn>
                                        <p:tgtEl>
                                          <p:spTgt spid="57356"/>
                                        </p:tgtEl>
                                        <p:attrNameLst>
                                          <p:attrName>style.visibility</p:attrName>
                                        </p:attrNameLst>
                                      </p:cBhvr>
                                      <p:to>
                                        <p:strVal val="visible"/>
                                      </p:to>
                                    </p:set>
                                  </p:childTnLst>
                                </p:cTn>
                              </p:par>
                            </p:childTnLst>
                          </p:cTn>
                        </p:par>
                        <p:par>
                          <p:cTn id="30" fill="hold">
                            <p:stCondLst>
                              <p:cond delay="500"/>
                            </p:stCondLst>
                            <p:childTnLst>
                              <p:par>
                                <p:cTn id="31" presetID="2" presetClass="entr" presetSubtype="8" fill="hold" nodeType="afterEffect">
                                  <p:stCondLst>
                                    <p:cond delay="0"/>
                                  </p:stCondLst>
                                  <p:childTnLst>
                                    <p:set>
                                      <p:cBhvr>
                                        <p:cTn id="32" dur="1" fill="hold">
                                          <p:stCondLst>
                                            <p:cond delay="0"/>
                                          </p:stCondLst>
                                        </p:cTn>
                                        <p:tgtEl>
                                          <p:spTgt spid="57358"/>
                                        </p:tgtEl>
                                        <p:attrNameLst>
                                          <p:attrName>style.visibility</p:attrName>
                                        </p:attrNameLst>
                                      </p:cBhvr>
                                      <p:to>
                                        <p:strVal val="visible"/>
                                      </p:to>
                                    </p:set>
                                    <p:anim calcmode="lin" valueType="num">
                                      <p:cBhvr additive="base">
                                        <p:cTn id="33" dur="500" fill="hold"/>
                                        <p:tgtEl>
                                          <p:spTgt spid="57358"/>
                                        </p:tgtEl>
                                        <p:attrNameLst>
                                          <p:attrName>ppt_x</p:attrName>
                                        </p:attrNameLst>
                                      </p:cBhvr>
                                      <p:tavLst>
                                        <p:tav tm="0">
                                          <p:val>
                                            <p:strVal val="0-#ppt_w/2"/>
                                          </p:val>
                                        </p:tav>
                                        <p:tav tm="100000">
                                          <p:val>
                                            <p:strVal val="#ppt_x"/>
                                          </p:val>
                                        </p:tav>
                                      </p:tavLst>
                                    </p:anim>
                                    <p:anim calcmode="lin" valueType="num">
                                      <p:cBhvr additive="base">
                                        <p:cTn id="34" dur="500" fill="hold"/>
                                        <p:tgtEl>
                                          <p:spTgt spid="573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utoUpdateAnimBg="0"/>
      <p:bldP spid="57349" grpId="0" autoUpdateAnimBg="0"/>
      <p:bldP spid="57350" grpId="0" autoUpdateAnimBg="0"/>
      <p:bldP spid="57351" grpId="0" autoUpdateAnimBg="0"/>
      <p:bldP spid="3789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8375" name="Text Box 199"/>
          <p:cNvSpPr txBox="1">
            <a:spLocks noChangeArrowheads="1"/>
          </p:cNvSpPr>
          <p:nvPr/>
        </p:nvSpPr>
        <p:spPr bwMode="auto">
          <a:xfrm>
            <a:off x="2143125" y="1014413"/>
            <a:ext cx="256063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平面齿轮传动</a:t>
            </a:r>
            <a:endParaRPr lang="zh-CN" altLang="en-US" sz="2200" dirty="0">
              <a:solidFill>
                <a:srgbClr val="002060"/>
              </a:solidFill>
              <a:latin typeface="黑体" panose="02010609060101010101" pitchFamily="49" charset="-122"/>
              <a:ea typeface="黑体" panose="02010609060101010101" pitchFamily="49" charset="-122"/>
            </a:endParaRPr>
          </a:p>
          <a:p>
            <a:pPr algn="l"/>
            <a:r>
              <a:rPr kumimoji="1" lang="zh-CN" altLang="en-US" sz="2200" dirty="0">
                <a:solidFill>
                  <a:schemeClr val="bg1"/>
                </a:solidFill>
                <a:latin typeface="黑体" panose="02010609060101010101" pitchFamily="49" charset="-122"/>
                <a:ea typeface="黑体" panose="02010609060101010101" pitchFamily="49" charset="-122"/>
              </a:rPr>
              <a:t> </a:t>
            </a:r>
            <a:r>
              <a:rPr kumimoji="1" lang="zh-CN" altLang="en-US" sz="2200" dirty="0">
                <a:solidFill>
                  <a:srgbClr val="C00000"/>
                </a:solidFill>
                <a:latin typeface="黑体" panose="02010609060101010101" pitchFamily="49" charset="-122"/>
                <a:ea typeface="黑体" panose="02010609060101010101" pitchFamily="49" charset="-122"/>
              </a:rPr>
              <a:t>（轴线平行）</a:t>
            </a:r>
            <a:endParaRPr kumimoji="1" lang="zh-CN" altLang="en-US" sz="2200" dirty="0">
              <a:solidFill>
                <a:srgbClr val="C00000"/>
              </a:solidFill>
              <a:latin typeface="黑体" panose="02010609060101010101" pitchFamily="49" charset="-122"/>
              <a:ea typeface="黑体" panose="02010609060101010101" pitchFamily="49" charset="-122"/>
            </a:endParaRPr>
          </a:p>
        </p:txBody>
      </p:sp>
      <p:sp>
        <p:nvSpPr>
          <p:cNvPr id="178376" name="Text Box 200"/>
          <p:cNvSpPr txBox="1">
            <a:spLocks noChangeArrowheads="1"/>
          </p:cNvSpPr>
          <p:nvPr/>
        </p:nvSpPr>
        <p:spPr bwMode="auto">
          <a:xfrm>
            <a:off x="7304088" y="-88900"/>
            <a:ext cx="1824037" cy="579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4000"/>
              </a:lnSpc>
            </a:pPr>
            <a:r>
              <a:rPr kumimoji="1" lang="zh-CN" altLang="en-US" sz="2200" dirty="0">
                <a:solidFill>
                  <a:schemeClr val="bg1"/>
                </a:solidFill>
                <a:latin typeface="Times New Roman" panose="02020603050405020304" pitchFamily="18" charset="0"/>
                <a:hlinkClick r:id="rId1" action="ppaction://program"/>
              </a:rPr>
              <a:t>外齿轮</a:t>
            </a:r>
            <a:r>
              <a:rPr kumimoji="1" lang="zh-CN" altLang="en-US" sz="2200" dirty="0">
                <a:latin typeface="Times New Roman" panose="02020603050405020304" pitchFamily="18" charset="0"/>
              </a:rPr>
              <a:t>传动</a:t>
            </a:r>
            <a:endParaRPr kumimoji="1" lang="zh-CN" altLang="en-US" sz="2200" dirty="0">
              <a:latin typeface="Times New Roman" panose="02020603050405020304" pitchFamily="18" charset="0"/>
            </a:endParaRPr>
          </a:p>
        </p:txBody>
      </p:sp>
      <p:sp>
        <p:nvSpPr>
          <p:cNvPr id="178377" name="Text Box 201">
            <a:hlinkClick r:id="rId2" action="ppaction://hlinkfile"/>
          </p:cNvPr>
          <p:cNvSpPr txBox="1">
            <a:spLocks noChangeArrowheads="1"/>
          </p:cNvSpPr>
          <p:nvPr/>
        </p:nvSpPr>
        <p:spPr bwMode="auto">
          <a:xfrm>
            <a:off x="6124575" y="247650"/>
            <a:ext cx="10064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dirty="0">
                <a:latin typeface="黑体" panose="02010609060101010101" pitchFamily="49" charset="-122"/>
                <a:ea typeface="黑体" panose="02010609060101010101" pitchFamily="49" charset="-122"/>
              </a:rPr>
              <a:t>直齿</a:t>
            </a:r>
            <a:endParaRPr kumimoji="1" lang="zh-CN" altLang="en-US" sz="2200" dirty="0">
              <a:latin typeface="黑体" panose="02010609060101010101" pitchFamily="49" charset="-122"/>
              <a:ea typeface="黑体" panose="02010609060101010101" pitchFamily="49" charset="-122"/>
            </a:endParaRPr>
          </a:p>
        </p:txBody>
      </p:sp>
      <p:sp>
        <p:nvSpPr>
          <p:cNvPr id="178378" name="Text Box 202">
            <a:hlinkClick r:id="rId3" action="ppaction://hlinkfile"/>
          </p:cNvPr>
          <p:cNvSpPr txBox="1">
            <a:spLocks noChangeArrowheads="1"/>
          </p:cNvSpPr>
          <p:nvPr/>
        </p:nvSpPr>
        <p:spPr bwMode="auto">
          <a:xfrm>
            <a:off x="6156325" y="665163"/>
            <a:ext cx="10064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a:solidFill>
                  <a:schemeClr val="bg1"/>
                </a:solidFill>
                <a:latin typeface="黑体" panose="02010609060101010101" pitchFamily="49" charset="-122"/>
                <a:ea typeface="黑体" panose="02010609060101010101" pitchFamily="49" charset="-122"/>
                <a:hlinkClick r:id="rId4" action="ppaction://program"/>
              </a:rPr>
              <a:t>斜齿</a:t>
            </a:r>
            <a:endParaRPr kumimoji="1" lang="zh-CN" altLang="en-US" sz="2200">
              <a:solidFill>
                <a:schemeClr val="bg1"/>
              </a:solidFill>
              <a:latin typeface="黑体" panose="02010609060101010101" pitchFamily="49" charset="-122"/>
              <a:ea typeface="黑体" panose="02010609060101010101" pitchFamily="49" charset="-122"/>
            </a:endParaRPr>
          </a:p>
        </p:txBody>
      </p:sp>
      <p:sp>
        <p:nvSpPr>
          <p:cNvPr id="178379" name="Text Box 203"/>
          <p:cNvSpPr txBox="1">
            <a:spLocks noChangeArrowheads="1"/>
          </p:cNvSpPr>
          <p:nvPr/>
        </p:nvSpPr>
        <p:spPr bwMode="auto">
          <a:xfrm>
            <a:off x="6164263" y="1084263"/>
            <a:ext cx="13430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a:solidFill>
                  <a:schemeClr val="folHlink"/>
                </a:solidFill>
                <a:latin typeface="黑体" panose="02010609060101010101" pitchFamily="49" charset="-122"/>
                <a:ea typeface="黑体" panose="02010609060101010101" pitchFamily="49" charset="-122"/>
                <a:hlinkClick r:id="rId5" action="ppaction://program"/>
              </a:rPr>
              <a:t>人字齿</a:t>
            </a:r>
            <a:endParaRPr kumimoji="1" lang="zh-CN" altLang="en-US" sz="2200">
              <a:solidFill>
                <a:schemeClr val="folHlink"/>
              </a:solidFill>
              <a:latin typeface="黑体" panose="02010609060101010101" pitchFamily="49" charset="-122"/>
              <a:ea typeface="黑体" panose="02010609060101010101" pitchFamily="49" charset="-122"/>
            </a:endParaRPr>
          </a:p>
        </p:txBody>
      </p:sp>
      <p:sp>
        <p:nvSpPr>
          <p:cNvPr id="178380" name="Text Box 204"/>
          <p:cNvSpPr txBox="1">
            <a:spLocks noChangeArrowheads="1"/>
          </p:cNvSpPr>
          <p:nvPr/>
        </p:nvSpPr>
        <p:spPr bwMode="auto">
          <a:xfrm>
            <a:off x="4340650" y="603549"/>
            <a:ext cx="149383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圆柱齿轮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381" name="Text Box 205"/>
          <p:cNvSpPr txBox="1">
            <a:spLocks noChangeArrowheads="1"/>
          </p:cNvSpPr>
          <p:nvPr/>
        </p:nvSpPr>
        <p:spPr bwMode="auto">
          <a:xfrm>
            <a:off x="4317308" y="1361651"/>
            <a:ext cx="191928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dirty="0">
                <a:solidFill>
                  <a:schemeClr val="folHlink"/>
                </a:solidFill>
                <a:latin typeface="黑体" panose="02010609060101010101" pitchFamily="49" charset="-122"/>
                <a:ea typeface="黑体" panose="02010609060101010101" pitchFamily="49" charset="-122"/>
              </a:rPr>
              <a:t>非圆柱齿轮</a:t>
            </a:r>
            <a:endParaRPr kumimoji="1" lang="zh-CN" altLang="en-US" sz="2200" dirty="0">
              <a:solidFill>
                <a:schemeClr val="folHlink"/>
              </a:solidFill>
              <a:latin typeface="黑体" panose="02010609060101010101" pitchFamily="49" charset="-122"/>
              <a:ea typeface="黑体" panose="02010609060101010101" pitchFamily="49" charset="-122"/>
            </a:endParaRPr>
          </a:p>
        </p:txBody>
      </p:sp>
      <p:sp>
        <p:nvSpPr>
          <p:cNvPr id="178382" name="Text Box 206"/>
          <p:cNvSpPr txBox="1">
            <a:spLocks noChangeArrowheads="1"/>
          </p:cNvSpPr>
          <p:nvPr/>
        </p:nvSpPr>
        <p:spPr bwMode="auto">
          <a:xfrm>
            <a:off x="2020888" y="2370138"/>
            <a:ext cx="256063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200" b="0" dirty="0">
                <a:solidFill>
                  <a:schemeClr val="bg1"/>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空间齿轮传动</a:t>
            </a:r>
            <a:r>
              <a:rPr lang="zh-CN" altLang="en-US" sz="2200" dirty="0">
                <a:latin typeface="黑体" panose="02010609060101010101" pitchFamily="49" charset="-122"/>
                <a:ea typeface="黑体" panose="02010609060101010101" pitchFamily="49" charset="-122"/>
              </a:rPr>
              <a:t> </a:t>
            </a:r>
            <a:endParaRPr lang="zh-CN" altLang="en-US" sz="2200" dirty="0">
              <a:latin typeface="黑体" panose="02010609060101010101" pitchFamily="49" charset="-122"/>
              <a:ea typeface="黑体" panose="02010609060101010101" pitchFamily="49" charset="-122"/>
            </a:endParaRPr>
          </a:p>
          <a:p>
            <a:pPr algn="l"/>
            <a:r>
              <a:rPr kumimoji="1" lang="zh-CN" altLang="en-US" sz="2200" dirty="0">
                <a:latin typeface="黑体" panose="02010609060101010101" pitchFamily="49" charset="-122"/>
                <a:ea typeface="黑体" panose="02010609060101010101" pitchFamily="49" charset="-122"/>
              </a:rPr>
              <a:t>（</a:t>
            </a:r>
            <a:r>
              <a:rPr kumimoji="1" lang="zh-CN" altLang="en-US" sz="2200" dirty="0">
                <a:solidFill>
                  <a:srgbClr val="C00000"/>
                </a:solidFill>
                <a:latin typeface="黑体" panose="02010609060101010101" pitchFamily="49" charset="-122"/>
                <a:ea typeface="黑体" panose="02010609060101010101" pitchFamily="49" charset="-122"/>
              </a:rPr>
              <a:t>轴线不平行）</a:t>
            </a:r>
            <a:endParaRPr kumimoji="1" lang="zh-CN" altLang="en-US" sz="2200" b="0" dirty="0">
              <a:solidFill>
                <a:srgbClr val="C00000"/>
              </a:solidFill>
              <a:latin typeface="黑体" panose="02010609060101010101" pitchFamily="49" charset="-122"/>
              <a:ea typeface="黑体" panose="02010609060101010101" pitchFamily="49" charset="-122"/>
            </a:endParaRPr>
          </a:p>
        </p:txBody>
      </p:sp>
      <p:sp>
        <p:nvSpPr>
          <p:cNvPr id="178383" name="Text Box 207"/>
          <p:cNvSpPr txBox="1">
            <a:spLocks noChangeArrowheads="1"/>
          </p:cNvSpPr>
          <p:nvPr/>
        </p:nvSpPr>
        <p:spPr bwMode="auto">
          <a:xfrm>
            <a:off x="714155" y="1574377"/>
            <a:ext cx="126523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dirty="0">
                <a:solidFill>
                  <a:srgbClr val="002060"/>
                </a:solidFill>
                <a:latin typeface="黑体" panose="02010609060101010101" pitchFamily="49" charset="-122"/>
                <a:ea typeface="黑体" panose="02010609060101010101" pitchFamily="49" charset="-122"/>
              </a:rPr>
              <a:t>按相对运动分 </a:t>
            </a:r>
            <a:endParaRPr kumimoji="1" lang="zh-CN" altLang="en-US" sz="2200" dirty="0">
              <a:solidFill>
                <a:srgbClr val="002060"/>
              </a:solidFill>
              <a:latin typeface="黑体" panose="02010609060101010101" pitchFamily="49" charset="-122"/>
              <a:ea typeface="黑体" panose="02010609060101010101" pitchFamily="49" charset="-122"/>
            </a:endParaRPr>
          </a:p>
        </p:txBody>
      </p:sp>
      <p:sp>
        <p:nvSpPr>
          <p:cNvPr id="178384" name="Text Box 208"/>
          <p:cNvSpPr txBox="1">
            <a:spLocks noChangeArrowheads="1"/>
          </p:cNvSpPr>
          <p:nvPr/>
        </p:nvSpPr>
        <p:spPr bwMode="auto">
          <a:xfrm>
            <a:off x="649491" y="4025585"/>
            <a:ext cx="256063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按齿廓曲线分</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385" name="Text Box 209"/>
          <p:cNvSpPr txBox="1">
            <a:spLocks noChangeArrowheads="1"/>
          </p:cNvSpPr>
          <p:nvPr/>
        </p:nvSpPr>
        <p:spPr bwMode="auto">
          <a:xfrm>
            <a:off x="7473950" y="1354138"/>
            <a:ext cx="10064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a:solidFill>
                  <a:schemeClr val="folHlink"/>
                </a:solidFill>
                <a:latin typeface="黑体" panose="02010609060101010101" pitchFamily="49" charset="-122"/>
                <a:ea typeface="黑体" panose="02010609060101010101" pitchFamily="49" charset="-122"/>
                <a:hlinkClick r:id="rId6" action="ppaction://program"/>
              </a:rPr>
              <a:t>直齿</a:t>
            </a:r>
            <a:endParaRPr kumimoji="1" lang="zh-CN" altLang="en-US" sz="2200">
              <a:solidFill>
                <a:schemeClr val="folHlink"/>
              </a:solidFill>
              <a:latin typeface="黑体" panose="02010609060101010101" pitchFamily="49" charset="-122"/>
              <a:ea typeface="黑体" panose="02010609060101010101" pitchFamily="49" charset="-122"/>
            </a:endParaRPr>
          </a:p>
        </p:txBody>
      </p:sp>
      <p:sp>
        <p:nvSpPr>
          <p:cNvPr id="178386" name="Text Box 210"/>
          <p:cNvSpPr txBox="1">
            <a:spLocks noChangeArrowheads="1"/>
          </p:cNvSpPr>
          <p:nvPr/>
        </p:nvSpPr>
        <p:spPr bwMode="auto">
          <a:xfrm>
            <a:off x="7480300" y="1811338"/>
            <a:ext cx="10064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a:solidFill>
                  <a:schemeClr val="folHlink"/>
                </a:solidFill>
                <a:latin typeface="黑体" panose="02010609060101010101" pitchFamily="49" charset="-122"/>
                <a:ea typeface="黑体" panose="02010609060101010101" pitchFamily="49" charset="-122"/>
                <a:hlinkClick r:id="rId7" action="ppaction://hlinksldjump"/>
              </a:rPr>
              <a:t>斜齿</a:t>
            </a:r>
            <a:endParaRPr kumimoji="1" lang="zh-CN" altLang="en-US" sz="2200">
              <a:solidFill>
                <a:schemeClr val="folHlink"/>
              </a:solidFill>
              <a:latin typeface="黑体" panose="02010609060101010101" pitchFamily="49" charset="-122"/>
              <a:ea typeface="黑体" panose="02010609060101010101" pitchFamily="49" charset="-122"/>
            </a:endParaRPr>
          </a:p>
        </p:txBody>
      </p:sp>
      <p:sp>
        <p:nvSpPr>
          <p:cNvPr id="178387" name="Text Box 211"/>
          <p:cNvSpPr txBox="1">
            <a:spLocks noChangeArrowheads="1"/>
          </p:cNvSpPr>
          <p:nvPr/>
        </p:nvSpPr>
        <p:spPr bwMode="auto">
          <a:xfrm>
            <a:off x="7477125" y="2268066"/>
            <a:ext cx="16668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dirty="0">
                <a:solidFill>
                  <a:schemeClr val="folHlink"/>
                </a:solidFill>
                <a:latin typeface="黑体" panose="02010609060101010101" pitchFamily="49" charset="-122"/>
                <a:ea typeface="黑体" panose="02010609060101010101" pitchFamily="49" charset="-122"/>
                <a:hlinkClick r:id="rId7" action="ppaction://hlinksldjump"/>
              </a:rPr>
              <a:t>曲线齿</a:t>
            </a:r>
            <a:endParaRPr kumimoji="1" lang="zh-CN" altLang="en-US" sz="2200" dirty="0">
              <a:solidFill>
                <a:schemeClr val="folHlink"/>
              </a:solidFill>
              <a:latin typeface="黑体" panose="02010609060101010101" pitchFamily="49" charset="-122"/>
              <a:ea typeface="黑体" panose="02010609060101010101" pitchFamily="49" charset="-122"/>
            </a:endParaRPr>
          </a:p>
        </p:txBody>
      </p:sp>
      <p:sp>
        <p:nvSpPr>
          <p:cNvPr id="178388" name="Text Box 212"/>
          <p:cNvSpPr txBox="1">
            <a:spLocks noChangeArrowheads="1"/>
          </p:cNvSpPr>
          <p:nvPr/>
        </p:nvSpPr>
        <p:spPr bwMode="auto">
          <a:xfrm>
            <a:off x="5776614" y="2042020"/>
            <a:ext cx="15525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200" dirty="0">
                <a:solidFill>
                  <a:srgbClr val="0000FF"/>
                </a:solidFill>
                <a:latin typeface="黑体" panose="02010609060101010101" pitchFamily="49" charset="-122"/>
                <a:ea typeface="黑体" panose="02010609060101010101" pitchFamily="49" charset="-122"/>
              </a:rPr>
              <a:t>圆锥齿轮</a:t>
            </a:r>
            <a:endParaRPr kumimoji="1" lang="zh-CN" altLang="en-US" sz="2200" dirty="0">
              <a:solidFill>
                <a:srgbClr val="0000FF"/>
              </a:solidFill>
              <a:latin typeface="黑体" panose="02010609060101010101" pitchFamily="49" charset="-122"/>
              <a:ea typeface="黑体" panose="02010609060101010101" pitchFamily="49" charset="-122"/>
            </a:endParaRPr>
          </a:p>
        </p:txBody>
      </p:sp>
      <p:sp>
        <p:nvSpPr>
          <p:cNvPr id="178389" name="Text Box 213"/>
          <p:cNvSpPr txBox="1">
            <a:spLocks noChangeArrowheads="1"/>
          </p:cNvSpPr>
          <p:nvPr/>
        </p:nvSpPr>
        <p:spPr bwMode="auto">
          <a:xfrm>
            <a:off x="4264025" y="2074863"/>
            <a:ext cx="15525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200" dirty="0">
                <a:solidFill>
                  <a:srgbClr val="002060"/>
                </a:solidFill>
                <a:latin typeface="黑体" panose="02010609060101010101" pitchFamily="49" charset="-122"/>
                <a:ea typeface="黑体" panose="02010609060101010101" pitchFamily="49" charset="-122"/>
              </a:rPr>
              <a:t>两</a:t>
            </a:r>
            <a:r>
              <a:rPr lang="zh-CN" altLang="en-US" sz="2200" dirty="0">
                <a:solidFill>
                  <a:srgbClr val="002060"/>
                </a:solidFill>
                <a:latin typeface="黑体" panose="02010609060101010101" pitchFamily="49" charset="-122"/>
                <a:ea typeface="黑体" panose="02010609060101010101" pitchFamily="49" charset="-122"/>
              </a:rPr>
              <a:t>轴相交</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390" name="Text Box 214"/>
          <p:cNvSpPr txBox="1">
            <a:spLocks noChangeArrowheads="1"/>
          </p:cNvSpPr>
          <p:nvPr/>
        </p:nvSpPr>
        <p:spPr bwMode="auto">
          <a:xfrm>
            <a:off x="4287367" y="3019205"/>
            <a:ext cx="15525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两轴交错</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391" name="Text Box 215"/>
          <p:cNvSpPr txBox="1">
            <a:spLocks noChangeArrowheads="1"/>
          </p:cNvSpPr>
          <p:nvPr/>
        </p:nvSpPr>
        <p:spPr bwMode="auto">
          <a:xfrm>
            <a:off x="5697855" y="3048318"/>
            <a:ext cx="22733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200" dirty="0">
                <a:solidFill>
                  <a:schemeClr val="bg1"/>
                </a:solidFill>
                <a:latin typeface="黑体" panose="02010609060101010101" pitchFamily="49" charset="-122"/>
                <a:ea typeface="黑体" panose="02010609060101010101" pitchFamily="49" charset="-122"/>
                <a:hlinkClick r:id="rId8" action="ppaction://program"/>
              </a:rPr>
              <a:t>蜗轮</a:t>
            </a:r>
            <a:r>
              <a:rPr kumimoji="1" lang="zh-CN" altLang="en-US" sz="2200" dirty="0">
                <a:latin typeface="黑体" panose="02010609060101010101" pitchFamily="49" charset="-122"/>
                <a:ea typeface="黑体" panose="02010609060101010101" pitchFamily="49" charset="-122"/>
                <a:hlinkClick r:id="rId8" action="ppaction://program"/>
              </a:rPr>
              <a:t>蜗杆</a:t>
            </a:r>
            <a:r>
              <a:rPr kumimoji="1" lang="zh-CN" altLang="en-US" sz="2200" dirty="0">
                <a:latin typeface="黑体" panose="02010609060101010101" pitchFamily="49" charset="-122"/>
                <a:ea typeface="黑体" panose="02010609060101010101" pitchFamily="49" charset="-122"/>
              </a:rPr>
              <a:t>传动</a:t>
            </a:r>
            <a:endParaRPr kumimoji="1" lang="zh-CN" altLang="en-US" sz="2200" dirty="0">
              <a:latin typeface="黑体" panose="02010609060101010101" pitchFamily="49" charset="-122"/>
              <a:ea typeface="黑体" panose="02010609060101010101" pitchFamily="49" charset="-122"/>
            </a:endParaRPr>
          </a:p>
        </p:txBody>
      </p:sp>
      <p:sp>
        <p:nvSpPr>
          <p:cNvPr id="178394" name="Text Box 218"/>
          <p:cNvSpPr txBox="1">
            <a:spLocks noChangeArrowheads="1"/>
          </p:cNvSpPr>
          <p:nvPr/>
        </p:nvSpPr>
        <p:spPr bwMode="auto">
          <a:xfrm>
            <a:off x="2760868" y="3390759"/>
            <a:ext cx="15938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200" dirty="0">
                <a:solidFill>
                  <a:srgbClr val="002060"/>
                </a:solidFill>
                <a:latin typeface="黑体" panose="02010609060101010101" pitchFamily="49" charset="-122"/>
                <a:ea typeface="黑体" panose="02010609060101010101" pitchFamily="49" charset="-122"/>
              </a:rPr>
              <a:t>渐开线齿轮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395" name="Text Box 219"/>
          <p:cNvSpPr txBox="1">
            <a:spLocks noChangeArrowheads="1"/>
          </p:cNvSpPr>
          <p:nvPr/>
        </p:nvSpPr>
        <p:spPr bwMode="auto">
          <a:xfrm>
            <a:off x="2798198" y="3762360"/>
            <a:ext cx="29479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摆线齿轮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396" name="Text Box 220"/>
          <p:cNvSpPr txBox="1">
            <a:spLocks noChangeArrowheads="1"/>
          </p:cNvSpPr>
          <p:nvPr/>
        </p:nvSpPr>
        <p:spPr bwMode="auto">
          <a:xfrm>
            <a:off x="2797726" y="4097275"/>
            <a:ext cx="28098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圆弧齿轮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397" name="Text Box 221"/>
          <p:cNvSpPr txBox="1">
            <a:spLocks noChangeArrowheads="1"/>
          </p:cNvSpPr>
          <p:nvPr/>
        </p:nvSpPr>
        <p:spPr bwMode="auto">
          <a:xfrm>
            <a:off x="837084" y="5206481"/>
            <a:ext cx="235743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按速度高低分</a:t>
            </a:r>
            <a:r>
              <a:rPr lang="en-US" altLang="zh-CN" sz="2200" dirty="0">
                <a:solidFill>
                  <a:srgbClr val="002060"/>
                </a:solidFill>
                <a:latin typeface="黑体" panose="02010609060101010101" pitchFamily="49" charset="-122"/>
                <a:ea typeface="黑体" panose="02010609060101010101" pitchFamily="49" charset="-122"/>
              </a:rPr>
              <a:t>:</a:t>
            </a:r>
            <a:endParaRPr lang="en-US" altLang="zh-CN" sz="2200" dirty="0">
              <a:solidFill>
                <a:srgbClr val="002060"/>
              </a:solidFill>
              <a:latin typeface="黑体" panose="02010609060101010101" pitchFamily="49" charset="-122"/>
              <a:ea typeface="黑体" panose="02010609060101010101" pitchFamily="49" charset="-122"/>
            </a:endParaRPr>
          </a:p>
        </p:txBody>
      </p:sp>
      <p:sp>
        <p:nvSpPr>
          <p:cNvPr id="178398" name="Text Box 222"/>
          <p:cNvSpPr txBox="1">
            <a:spLocks noChangeArrowheads="1"/>
          </p:cNvSpPr>
          <p:nvPr/>
        </p:nvSpPr>
        <p:spPr bwMode="auto">
          <a:xfrm>
            <a:off x="833438" y="5642526"/>
            <a:ext cx="20383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smtClean="0">
                <a:solidFill>
                  <a:srgbClr val="002060"/>
                </a:solidFill>
                <a:latin typeface="黑体" panose="02010609060101010101" pitchFamily="49" charset="-122"/>
                <a:ea typeface="黑体" panose="02010609060101010101" pitchFamily="49" charset="-122"/>
              </a:rPr>
              <a:t>按齿面硬度分</a:t>
            </a:r>
            <a:r>
              <a:rPr lang="en-US" altLang="zh-CN" sz="2200" dirty="0" smtClean="0">
                <a:solidFill>
                  <a:srgbClr val="002060"/>
                </a:solidFill>
                <a:latin typeface="黑体" panose="02010609060101010101" pitchFamily="49" charset="-122"/>
                <a:ea typeface="黑体" panose="02010609060101010101" pitchFamily="49" charset="-122"/>
              </a:rPr>
              <a:t>:</a:t>
            </a:r>
            <a:endParaRPr lang="en-US" altLang="zh-CN" sz="2200" dirty="0" smtClean="0">
              <a:solidFill>
                <a:srgbClr val="002060"/>
              </a:solidFill>
              <a:latin typeface="黑体" panose="02010609060101010101" pitchFamily="49" charset="-122"/>
              <a:ea typeface="黑体" panose="02010609060101010101" pitchFamily="49" charset="-122"/>
            </a:endParaRPr>
          </a:p>
        </p:txBody>
      </p:sp>
      <p:sp>
        <p:nvSpPr>
          <p:cNvPr id="178399" name="Text Box 223"/>
          <p:cNvSpPr txBox="1">
            <a:spLocks noChangeArrowheads="1"/>
          </p:cNvSpPr>
          <p:nvPr/>
        </p:nvSpPr>
        <p:spPr bwMode="auto">
          <a:xfrm>
            <a:off x="795165" y="6155633"/>
            <a:ext cx="23876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200" dirty="0">
                <a:solidFill>
                  <a:srgbClr val="002060"/>
                </a:solidFill>
                <a:latin typeface="黑体" panose="02010609060101010101" pitchFamily="49" charset="-122"/>
                <a:ea typeface="黑体" panose="02010609060101010101" pitchFamily="49" charset="-122"/>
              </a:rPr>
              <a:t>按封闭形式分</a:t>
            </a:r>
            <a:r>
              <a:rPr kumimoji="1" lang="zh-CN" altLang="en-US" sz="2200" dirty="0">
                <a:solidFill>
                  <a:srgbClr val="002060"/>
                </a:solidFill>
                <a:latin typeface="黑体" panose="02010609060101010101" pitchFamily="49" charset="-122"/>
                <a:ea typeface="黑体" panose="02010609060101010101" pitchFamily="49" charset="-122"/>
              </a:rPr>
              <a:t>：</a:t>
            </a:r>
            <a:endParaRPr kumimoji="1" lang="zh-CN" altLang="en-US" sz="2200" b="0" dirty="0">
              <a:solidFill>
                <a:srgbClr val="002060"/>
              </a:solidFill>
              <a:latin typeface="黑体" panose="02010609060101010101" pitchFamily="49" charset="-122"/>
              <a:ea typeface="黑体" panose="02010609060101010101" pitchFamily="49" charset="-122"/>
            </a:endParaRPr>
          </a:p>
        </p:txBody>
      </p:sp>
      <p:sp>
        <p:nvSpPr>
          <p:cNvPr id="178400" name="AutoShape 224"/>
          <p:cNvSpPr/>
          <p:nvPr/>
        </p:nvSpPr>
        <p:spPr bwMode="auto">
          <a:xfrm>
            <a:off x="7119938" y="244444"/>
            <a:ext cx="195262" cy="869131"/>
          </a:xfrm>
          <a:prstGeom prst="leftBrace">
            <a:avLst>
              <a:gd name="adj1" fmla="val 45977"/>
              <a:gd name="adj2" fmla="val 50000"/>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1" name="AutoShape 225"/>
          <p:cNvSpPr/>
          <p:nvPr/>
        </p:nvSpPr>
        <p:spPr bwMode="auto">
          <a:xfrm>
            <a:off x="6848475" y="477699"/>
            <a:ext cx="215900" cy="455890"/>
          </a:xfrm>
          <a:prstGeom prst="rightBrace">
            <a:avLst>
              <a:gd name="adj1" fmla="val 21385"/>
              <a:gd name="adj2" fmla="val 50000"/>
            </a:avLst>
          </a:prstGeom>
          <a:noFill/>
          <a:ln w="9525">
            <a:solidFill>
              <a:srgbClr val="008000"/>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2" name="AutoShape 226"/>
          <p:cNvSpPr/>
          <p:nvPr/>
        </p:nvSpPr>
        <p:spPr bwMode="auto">
          <a:xfrm>
            <a:off x="5734128" y="434567"/>
            <a:ext cx="331694" cy="896291"/>
          </a:xfrm>
          <a:prstGeom prst="leftBrace">
            <a:avLst>
              <a:gd name="adj1" fmla="val 22917"/>
              <a:gd name="adj2" fmla="val 50000"/>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3" name="AutoShape 227"/>
          <p:cNvSpPr/>
          <p:nvPr/>
        </p:nvSpPr>
        <p:spPr bwMode="auto">
          <a:xfrm>
            <a:off x="4060856" y="878186"/>
            <a:ext cx="248593" cy="679010"/>
          </a:xfrm>
          <a:prstGeom prst="leftBrace">
            <a:avLst>
              <a:gd name="adj1" fmla="val 35142"/>
              <a:gd name="adj2" fmla="val 50000"/>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4" name="AutoShape 228"/>
          <p:cNvSpPr/>
          <p:nvPr/>
        </p:nvSpPr>
        <p:spPr bwMode="auto">
          <a:xfrm>
            <a:off x="7076209" y="1729212"/>
            <a:ext cx="320471" cy="914399"/>
          </a:xfrm>
          <a:prstGeom prst="leftBrace">
            <a:avLst>
              <a:gd name="adj1" fmla="val 28249"/>
              <a:gd name="adj2" fmla="val 50000"/>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6" name="AutoShape 230"/>
          <p:cNvSpPr/>
          <p:nvPr/>
        </p:nvSpPr>
        <p:spPr bwMode="auto">
          <a:xfrm>
            <a:off x="4105275" y="2317688"/>
            <a:ext cx="158907" cy="941560"/>
          </a:xfrm>
          <a:prstGeom prst="leftBrace">
            <a:avLst>
              <a:gd name="adj1" fmla="val 36437"/>
              <a:gd name="adj2" fmla="val 50000"/>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7" name="AutoShape 231"/>
          <p:cNvSpPr/>
          <p:nvPr/>
        </p:nvSpPr>
        <p:spPr bwMode="auto">
          <a:xfrm>
            <a:off x="1779715" y="1258432"/>
            <a:ext cx="347849" cy="1376125"/>
          </a:xfrm>
          <a:prstGeom prst="leftBrace">
            <a:avLst>
              <a:gd name="adj1" fmla="val 36019"/>
              <a:gd name="adj2" fmla="val 50000"/>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8" name="AutoShape 232"/>
          <p:cNvSpPr/>
          <p:nvPr/>
        </p:nvSpPr>
        <p:spPr bwMode="auto">
          <a:xfrm>
            <a:off x="2434218" y="3639493"/>
            <a:ext cx="236553" cy="1303699"/>
          </a:xfrm>
          <a:prstGeom prst="leftBrace">
            <a:avLst>
              <a:gd name="adj1" fmla="val 62264"/>
              <a:gd name="adj2" fmla="val 50000"/>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09" name="AutoShape 233"/>
          <p:cNvSpPr/>
          <p:nvPr/>
        </p:nvSpPr>
        <p:spPr bwMode="auto">
          <a:xfrm>
            <a:off x="453383" y="1946497"/>
            <a:ext cx="270893" cy="4454304"/>
          </a:xfrm>
          <a:prstGeom prst="leftBrace">
            <a:avLst>
              <a:gd name="adj1" fmla="val 90111"/>
              <a:gd name="adj2" fmla="val 49796"/>
            </a:avLst>
          </a:prstGeom>
          <a:noFill/>
          <a:ln w="9525">
            <a:solidFill>
              <a:schemeClr val="tx1"/>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200">
              <a:latin typeface="黑体" panose="02010609060101010101" pitchFamily="49" charset="-122"/>
              <a:ea typeface="黑体" panose="02010609060101010101" pitchFamily="49" charset="-122"/>
            </a:endParaRPr>
          </a:p>
        </p:txBody>
      </p:sp>
      <p:sp>
        <p:nvSpPr>
          <p:cNvPr id="178410" name="Text Box 234"/>
          <p:cNvSpPr txBox="1">
            <a:spLocks noChangeArrowheads="1"/>
          </p:cNvSpPr>
          <p:nvPr/>
        </p:nvSpPr>
        <p:spPr bwMode="auto">
          <a:xfrm>
            <a:off x="0" y="2130771"/>
            <a:ext cx="569913" cy="246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kumimoji="1" lang="zh-CN" altLang="en-US" sz="2200" dirty="0">
                <a:solidFill>
                  <a:srgbClr val="002060"/>
                </a:solidFill>
                <a:latin typeface="黑体" panose="02010609060101010101" pitchFamily="49" charset="-122"/>
                <a:ea typeface="黑体" panose="02010609060101010101" pitchFamily="49" charset="-122"/>
              </a:rPr>
              <a:t>齿轮传动的类型</a:t>
            </a:r>
            <a:endParaRPr kumimoji="1" lang="zh-CN" altLang="en-US" sz="2200" dirty="0">
              <a:solidFill>
                <a:srgbClr val="002060"/>
              </a:solidFill>
              <a:latin typeface="黑体" panose="02010609060101010101" pitchFamily="49" charset="-122"/>
              <a:ea typeface="黑体" panose="02010609060101010101" pitchFamily="49" charset="-122"/>
            </a:endParaRPr>
          </a:p>
        </p:txBody>
      </p:sp>
      <p:sp>
        <p:nvSpPr>
          <p:cNvPr id="178412" name="Text Box 236"/>
          <p:cNvSpPr txBox="1">
            <a:spLocks noChangeArrowheads="1"/>
          </p:cNvSpPr>
          <p:nvPr/>
        </p:nvSpPr>
        <p:spPr bwMode="auto">
          <a:xfrm>
            <a:off x="2844579" y="5136285"/>
            <a:ext cx="43243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200" dirty="0">
                <a:solidFill>
                  <a:schemeClr val="folHlink"/>
                </a:solidFill>
                <a:latin typeface="黑体" panose="02010609060101010101" pitchFamily="49" charset="-122"/>
                <a:ea typeface="黑体" panose="02010609060101010101" pitchFamily="49" charset="-122"/>
              </a:rPr>
              <a:t>高速、中速、低速齿轮传动。</a:t>
            </a:r>
            <a:endParaRPr kumimoji="1" lang="zh-CN" altLang="en-US" sz="2200" dirty="0">
              <a:solidFill>
                <a:schemeClr val="folHlink"/>
              </a:solidFill>
              <a:latin typeface="黑体" panose="02010609060101010101" pitchFamily="49" charset="-122"/>
              <a:ea typeface="黑体" panose="02010609060101010101" pitchFamily="49" charset="-122"/>
            </a:endParaRPr>
          </a:p>
        </p:txBody>
      </p:sp>
      <p:sp>
        <p:nvSpPr>
          <p:cNvPr id="178413" name="Text Box 237"/>
          <p:cNvSpPr txBox="1">
            <a:spLocks noChangeArrowheads="1"/>
          </p:cNvSpPr>
          <p:nvPr/>
        </p:nvSpPr>
        <p:spPr bwMode="auto">
          <a:xfrm>
            <a:off x="2821711" y="5620646"/>
            <a:ext cx="46116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200" dirty="0">
                <a:solidFill>
                  <a:schemeClr val="folHlink"/>
                </a:solidFill>
                <a:latin typeface="黑体" panose="02010609060101010101" pitchFamily="49" charset="-122"/>
                <a:ea typeface="黑体" panose="02010609060101010101" pitchFamily="49" charset="-122"/>
              </a:rPr>
              <a:t>软面齿轮</a:t>
            </a:r>
            <a:r>
              <a:rPr kumimoji="1" lang="zh-CN" altLang="en-US" sz="2200" dirty="0" smtClean="0">
                <a:solidFill>
                  <a:schemeClr val="folHlink"/>
                </a:solidFill>
                <a:latin typeface="黑体" panose="02010609060101010101" pitchFamily="49" charset="-122"/>
                <a:ea typeface="黑体" panose="02010609060101010101" pitchFamily="49" charset="-122"/>
              </a:rPr>
              <a:t>、硬面齿轮。</a:t>
            </a:r>
            <a:endParaRPr kumimoji="1" lang="zh-CN" altLang="en-US" sz="2200" dirty="0">
              <a:solidFill>
                <a:schemeClr val="folHlink"/>
              </a:solidFill>
              <a:latin typeface="黑体" panose="02010609060101010101" pitchFamily="49" charset="-122"/>
              <a:ea typeface="黑体" panose="02010609060101010101" pitchFamily="49" charset="-122"/>
            </a:endParaRPr>
          </a:p>
        </p:txBody>
      </p:sp>
      <p:sp>
        <p:nvSpPr>
          <p:cNvPr id="178414" name="Text Box 238"/>
          <p:cNvSpPr txBox="1">
            <a:spLocks noChangeArrowheads="1"/>
          </p:cNvSpPr>
          <p:nvPr/>
        </p:nvSpPr>
        <p:spPr bwMode="auto">
          <a:xfrm>
            <a:off x="2851891" y="6155941"/>
            <a:ext cx="45815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200" dirty="0">
                <a:solidFill>
                  <a:schemeClr val="folHlink"/>
                </a:solidFill>
                <a:latin typeface="黑体" panose="02010609060101010101" pitchFamily="49" charset="-122"/>
                <a:ea typeface="黑体" panose="02010609060101010101" pitchFamily="49" charset="-122"/>
              </a:rPr>
              <a:t>开式齿轮传动、闭式齿轮传动</a:t>
            </a:r>
            <a:r>
              <a:rPr kumimoji="1" lang="zh-CN" altLang="en-US" sz="2200" b="0" dirty="0">
                <a:solidFill>
                  <a:schemeClr val="folHlink"/>
                </a:solidFill>
                <a:latin typeface="黑体" panose="02010609060101010101" pitchFamily="49" charset="-122"/>
                <a:ea typeface="黑体" panose="02010609060101010101" pitchFamily="49" charset="-122"/>
              </a:rPr>
              <a:t>。</a:t>
            </a:r>
            <a:endParaRPr kumimoji="1" lang="zh-CN" altLang="en-US" sz="2200" b="0" dirty="0">
              <a:solidFill>
                <a:schemeClr val="folHlink"/>
              </a:solidFill>
              <a:latin typeface="黑体" panose="02010609060101010101" pitchFamily="49" charset="-122"/>
              <a:ea typeface="黑体" panose="02010609060101010101" pitchFamily="49" charset="-122"/>
            </a:endParaRPr>
          </a:p>
        </p:txBody>
      </p:sp>
      <p:sp>
        <p:nvSpPr>
          <p:cNvPr id="178417" name="Text Box 241"/>
          <p:cNvSpPr txBox="1">
            <a:spLocks noChangeArrowheads="1"/>
          </p:cNvSpPr>
          <p:nvPr/>
        </p:nvSpPr>
        <p:spPr bwMode="auto">
          <a:xfrm>
            <a:off x="2773269" y="4598673"/>
            <a:ext cx="32353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latin typeface="黑体" panose="02010609060101010101" pitchFamily="49" charset="-122"/>
                <a:ea typeface="黑体" panose="02010609060101010101" pitchFamily="49" charset="-122"/>
              </a:rPr>
              <a:t>抛物线齿轮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78419" name="Rectangle 243"/>
          <p:cNvSpPr>
            <a:spLocks noChangeArrowheads="1"/>
          </p:cNvSpPr>
          <p:nvPr/>
        </p:nvSpPr>
        <p:spPr bwMode="auto">
          <a:xfrm>
            <a:off x="222250" y="245110"/>
            <a:ext cx="3380105"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solidFill>
                  <a:schemeClr val="folHlink"/>
                </a:solidFill>
                <a:latin typeface="黑体" panose="02010609060101010101" pitchFamily="49" charset="-122"/>
                <a:ea typeface="黑体" panose="02010609060101010101" pitchFamily="49" charset="-122"/>
              </a:rPr>
              <a:t>二、齿轮传动的分类</a:t>
            </a:r>
            <a:r>
              <a:rPr kumimoji="1" lang="zh-CN" altLang="en-US" sz="2200" dirty="0">
                <a:solidFill>
                  <a:schemeClr val="folHlink"/>
                </a:solidFill>
                <a:latin typeface="黑体" panose="02010609060101010101" pitchFamily="49" charset="-122"/>
                <a:ea typeface="黑体" panose="02010609060101010101" pitchFamily="49" charset="-122"/>
              </a:rPr>
              <a:t>：</a:t>
            </a:r>
            <a:endParaRPr kumimoji="1" lang="zh-CN" altLang="en-US" sz="2200" dirty="0">
              <a:solidFill>
                <a:schemeClr val="folHlink"/>
              </a:solidFill>
              <a:latin typeface="黑体" panose="02010609060101010101" pitchFamily="49" charset="-122"/>
              <a:ea typeface="黑体" panose="02010609060101010101" pitchFamily="49" charset="-122"/>
            </a:endParaRPr>
          </a:p>
        </p:txBody>
      </p:sp>
      <p:sp>
        <p:nvSpPr>
          <p:cNvPr id="178420" name="Text Box 244"/>
          <p:cNvSpPr txBox="1">
            <a:spLocks noChangeArrowheads="1"/>
          </p:cNvSpPr>
          <p:nvPr/>
        </p:nvSpPr>
        <p:spPr bwMode="auto">
          <a:xfrm>
            <a:off x="7326313" y="322263"/>
            <a:ext cx="1817687" cy="579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4000"/>
              </a:lnSpc>
            </a:pPr>
            <a:r>
              <a:rPr kumimoji="1" lang="zh-CN" altLang="en-US" sz="2200" dirty="0">
                <a:solidFill>
                  <a:schemeClr val="bg1"/>
                </a:solidFill>
                <a:latin typeface="黑体" panose="02010609060101010101" pitchFamily="49" charset="-122"/>
                <a:ea typeface="黑体" panose="02010609060101010101" pitchFamily="49" charset="-122"/>
                <a:hlinkClick r:id="rId9" action="ppaction://program"/>
              </a:rPr>
              <a:t>内齿轮</a:t>
            </a:r>
            <a:r>
              <a:rPr kumimoji="1" lang="zh-CN" altLang="en-US" sz="2200" dirty="0">
                <a:latin typeface="黑体" panose="02010609060101010101" pitchFamily="49" charset="-122"/>
                <a:ea typeface="黑体" panose="02010609060101010101" pitchFamily="49" charset="-122"/>
              </a:rPr>
              <a:t>传动</a:t>
            </a:r>
            <a:endParaRPr kumimoji="1" lang="zh-CN" altLang="en-US" sz="2200" b="0" dirty="0">
              <a:latin typeface="黑体" panose="02010609060101010101" pitchFamily="49" charset="-122"/>
              <a:ea typeface="黑体" panose="02010609060101010101" pitchFamily="49" charset="-122"/>
            </a:endParaRPr>
          </a:p>
        </p:txBody>
      </p:sp>
      <p:sp>
        <p:nvSpPr>
          <p:cNvPr id="178421" name="Text Box 245"/>
          <p:cNvSpPr txBox="1">
            <a:spLocks noChangeArrowheads="1"/>
          </p:cNvSpPr>
          <p:nvPr/>
        </p:nvSpPr>
        <p:spPr bwMode="auto">
          <a:xfrm>
            <a:off x="7326313" y="788988"/>
            <a:ext cx="1817687" cy="579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4000"/>
              </a:lnSpc>
            </a:pPr>
            <a:r>
              <a:rPr kumimoji="1" lang="zh-CN" altLang="en-US" sz="2200">
                <a:latin typeface="黑体" panose="02010609060101010101" pitchFamily="49" charset="-122"/>
                <a:ea typeface="黑体" panose="02010609060101010101" pitchFamily="49" charset="-122"/>
                <a:hlinkClick r:id="rId10" action="ppaction://program"/>
              </a:rPr>
              <a:t>齿轮齿条</a:t>
            </a:r>
            <a:endParaRPr kumimoji="1" lang="zh-CN" altLang="en-US" sz="220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178410"/>
                                        </p:tgtEl>
                                        <p:attrNameLst>
                                          <p:attrName>style.visibility</p:attrName>
                                        </p:attrNameLst>
                                      </p:cBhvr>
                                      <p:to>
                                        <p:strVal val="visible"/>
                                      </p:to>
                                    </p:set>
                                    <p:anim calcmode="lin" valueType="num">
                                      <p:cBhvr>
                                        <p:cTn id="7" dur="500" fill="hold"/>
                                        <p:tgtEl>
                                          <p:spTgt spid="178410"/>
                                        </p:tgtEl>
                                        <p:attrNameLst>
                                          <p:attrName>ppt_x</p:attrName>
                                        </p:attrNameLst>
                                      </p:cBhvr>
                                      <p:tavLst>
                                        <p:tav tm="0">
                                          <p:val>
                                            <p:strVal val="#ppt_x"/>
                                          </p:val>
                                        </p:tav>
                                        <p:tav tm="100000">
                                          <p:val>
                                            <p:strVal val="#ppt_x"/>
                                          </p:val>
                                        </p:tav>
                                      </p:tavLst>
                                    </p:anim>
                                    <p:anim calcmode="lin" valueType="num">
                                      <p:cBhvr>
                                        <p:cTn id="8" dur="500" fill="hold"/>
                                        <p:tgtEl>
                                          <p:spTgt spid="178410"/>
                                        </p:tgtEl>
                                        <p:attrNameLst>
                                          <p:attrName>ppt_y</p:attrName>
                                        </p:attrNameLst>
                                      </p:cBhvr>
                                      <p:tavLst>
                                        <p:tav tm="0">
                                          <p:val>
                                            <p:strVal val="#ppt_y-#ppt_h/2"/>
                                          </p:val>
                                        </p:tav>
                                        <p:tav tm="100000">
                                          <p:val>
                                            <p:strVal val="#ppt_y"/>
                                          </p:val>
                                        </p:tav>
                                      </p:tavLst>
                                    </p:anim>
                                    <p:anim calcmode="lin" valueType="num">
                                      <p:cBhvr>
                                        <p:cTn id="9" dur="500" fill="hold"/>
                                        <p:tgtEl>
                                          <p:spTgt spid="178410"/>
                                        </p:tgtEl>
                                        <p:attrNameLst>
                                          <p:attrName>ppt_w</p:attrName>
                                        </p:attrNameLst>
                                      </p:cBhvr>
                                      <p:tavLst>
                                        <p:tav tm="0">
                                          <p:val>
                                            <p:strVal val="#ppt_w"/>
                                          </p:val>
                                        </p:tav>
                                        <p:tav tm="100000">
                                          <p:val>
                                            <p:strVal val="#ppt_w"/>
                                          </p:val>
                                        </p:tav>
                                      </p:tavLst>
                                    </p:anim>
                                    <p:anim calcmode="lin" valueType="num">
                                      <p:cBhvr>
                                        <p:cTn id="10" dur="500" fill="hold"/>
                                        <p:tgtEl>
                                          <p:spTgt spid="178410"/>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grpId="0" nodeType="clickEffect">
                                  <p:stCondLst>
                                    <p:cond delay="0"/>
                                  </p:stCondLst>
                                  <p:childTnLst>
                                    <p:set>
                                      <p:cBhvr>
                                        <p:cTn id="14" dur="1" fill="hold">
                                          <p:stCondLst>
                                            <p:cond delay="0"/>
                                          </p:stCondLst>
                                        </p:cTn>
                                        <p:tgtEl>
                                          <p:spTgt spid="178383"/>
                                        </p:tgtEl>
                                        <p:attrNameLst>
                                          <p:attrName>style.visibility</p:attrName>
                                        </p:attrNameLst>
                                      </p:cBhvr>
                                      <p:to>
                                        <p:strVal val="visible"/>
                                      </p:to>
                                    </p:set>
                                    <p:animEffect transition="in" filter="blinds(vertical)">
                                      <p:cBhvr>
                                        <p:cTn id="15" dur="500"/>
                                        <p:tgtEl>
                                          <p:spTgt spid="178383"/>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1784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78384"/>
                                        </p:tgtEl>
                                        <p:attrNameLst>
                                          <p:attrName>style.visibility</p:attrName>
                                        </p:attrNameLst>
                                      </p:cBhvr>
                                      <p:to>
                                        <p:strVal val="visible"/>
                                      </p:to>
                                    </p:set>
                                    <p:animEffect transition="in" filter="checkerboard(across)">
                                      <p:cBhvr>
                                        <p:cTn id="23" dur="500"/>
                                        <p:tgtEl>
                                          <p:spTgt spid="17838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178397"/>
                                        </p:tgtEl>
                                        <p:attrNameLst>
                                          <p:attrName>style.visibility</p:attrName>
                                        </p:attrNameLst>
                                      </p:cBhvr>
                                      <p:to>
                                        <p:strVal val="visible"/>
                                      </p:to>
                                    </p:set>
                                    <p:animEffect transition="in" filter="blinds(vertical)">
                                      <p:cBhvr>
                                        <p:cTn id="28" dur="500"/>
                                        <p:tgtEl>
                                          <p:spTgt spid="178397"/>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5" fill="hold" grpId="0" nodeType="clickEffect">
                                  <p:stCondLst>
                                    <p:cond delay="0"/>
                                  </p:stCondLst>
                                  <p:childTnLst>
                                    <p:set>
                                      <p:cBhvr>
                                        <p:cTn id="32" dur="1" fill="hold">
                                          <p:stCondLst>
                                            <p:cond delay="0"/>
                                          </p:stCondLst>
                                        </p:cTn>
                                        <p:tgtEl>
                                          <p:spTgt spid="178398"/>
                                        </p:tgtEl>
                                        <p:attrNameLst>
                                          <p:attrName>style.visibility</p:attrName>
                                        </p:attrNameLst>
                                      </p:cBhvr>
                                      <p:to>
                                        <p:strVal val="visible"/>
                                      </p:to>
                                    </p:set>
                                    <p:animEffect transition="in" filter="checkerboard(down)">
                                      <p:cBhvr>
                                        <p:cTn id="33" dur="500"/>
                                        <p:tgtEl>
                                          <p:spTgt spid="178398"/>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78399"/>
                                        </p:tgtEl>
                                        <p:attrNameLst>
                                          <p:attrName>style.visibility</p:attrName>
                                        </p:attrNameLst>
                                      </p:cBhvr>
                                      <p:to>
                                        <p:strVal val="visible"/>
                                      </p:to>
                                    </p:set>
                                    <p:anim calcmode="lin" valueType="num">
                                      <p:cBhvr additive="base">
                                        <p:cTn id="38" dur="500" fill="hold"/>
                                        <p:tgtEl>
                                          <p:spTgt spid="178399"/>
                                        </p:tgtEl>
                                        <p:attrNameLst>
                                          <p:attrName>ppt_x</p:attrName>
                                        </p:attrNameLst>
                                      </p:cBhvr>
                                      <p:tavLst>
                                        <p:tav tm="0">
                                          <p:val>
                                            <p:strVal val="#ppt_x"/>
                                          </p:val>
                                        </p:tav>
                                        <p:tav tm="100000">
                                          <p:val>
                                            <p:strVal val="#ppt_x"/>
                                          </p:val>
                                        </p:tav>
                                      </p:tavLst>
                                    </p:anim>
                                    <p:anim calcmode="lin" valueType="num">
                                      <p:cBhvr additive="base">
                                        <p:cTn id="39" dur="500" fill="hold"/>
                                        <p:tgtEl>
                                          <p:spTgt spid="178399"/>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5" fill="hold" grpId="0" nodeType="clickEffect">
                                  <p:stCondLst>
                                    <p:cond delay="0"/>
                                  </p:stCondLst>
                                  <p:childTnLst>
                                    <p:set>
                                      <p:cBhvr>
                                        <p:cTn id="43" dur="1" fill="hold">
                                          <p:stCondLst>
                                            <p:cond delay="0"/>
                                          </p:stCondLst>
                                        </p:cTn>
                                        <p:tgtEl>
                                          <p:spTgt spid="178375"/>
                                        </p:tgtEl>
                                        <p:attrNameLst>
                                          <p:attrName>style.visibility</p:attrName>
                                        </p:attrNameLst>
                                      </p:cBhvr>
                                      <p:to>
                                        <p:strVal val="visible"/>
                                      </p:to>
                                    </p:set>
                                    <p:animEffect transition="in" filter="blinds(vertical)">
                                      <p:cBhvr>
                                        <p:cTn id="44" dur="500"/>
                                        <p:tgtEl>
                                          <p:spTgt spid="178375"/>
                                        </p:tgtEl>
                                      </p:cBhvr>
                                    </p:animEffect>
                                  </p:childTnLst>
                                </p:cTn>
                              </p:par>
                            </p:childTnLst>
                          </p:cTn>
                        </p:par>
                        <p:par>
                          <p:cTn id="45" fill="hold">
                            <p:stCondLst>
                              <p:cond delay="500"/>
                            </p:stCondLst>
                            <p:childTnLst>
                              <p:par>
                                <p:cTn id="46" presetID="1" presetClass="entr" presetSubtype="0" fill="hold" grpId="0" nodeType="afterEffect">
                                  <p:stCondLst>
                                    <p:cond delay="0"/>
                                  </p:stCondLst>
                                  <p:childTnLst>
                                    <p:set>
                                      <p:cBhvr>
                                        <p:cTn id="47" dur="1" fill="hold">
                                          <p:stCondLst>
                                            <p:cond delay="499"/>
                                          </p:stCondLst>
                                        </p:cTn>
                                        <p:tgtEl>
                                          <p:spTgt spid="17840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5" presetClass="entr" presetSubtype="5" fill="hold" grpId="0" nodeType="clickEffect">
                                  <p:stCondLst>
                                    <p:cond delay="0"/>
                                  </p:stCondLst>
                                  <p:childTnLst>
                                    <p:set>
                                      <p:cBhvr>
                                        <p:cTn id="51" dur="1" fill="hold">
                                          <p:stCondLst>
                                            <p:cond delay="0"/>
                                          </p:stCondLst>
                                        </p:cTn>
                                        <p:tgtEl>
                                          <p:spTgt spid="178382"/>
                                        </p:tgtEl>
                                        <p:attrNameLst>
                                          <p:attrName>style.visibility</p:attrName>
                                        </p:attrNameLst>
                                      </p:cBhvr>
                                      <p:to>
                                        <p:strVal val="visible"/>
                                      </p:to>
                                    </p:set>
                                    <p:animEffect transition="in" filter="checkerboard(down)">
                                      <p:cBhvr>
                                        <p:cTn id="52" dur="500"/>
                                        <p:tgtEl>
                                          <p:spTgt spid="178382"/>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78380"/>
                                        </p:tgtEl>
                                        <p:attrNameLst>
                                          <p:attrName>style.visibility</p:attrName>
                                        </p:attrNameLst>
                                      </p:cBhvr>
                                      <p:to>
                                        <p:strVal val="visible"/>
                                      </p:to>
                                    </p:set>
                                  </p:childTnLst>
                                </p:cTn>
                              </p:par>
                            </p:childTnLst>
                          </p:cTn>
                        </p:par>
                        <p:par>
                          <p:cTn id="57" fill="hold">
                            <p:stCondLst>
                              <p:cond delay="500"/>
                            </p:stCondLst>
                            <p:childTnLst>
                              <p:par>
                                <p:cTn id="58" presetID="1" presetClass="entr" presetSubtype="0" fill="hold" grpId="0" nodeType="afterEffect">
                                  <p:stCondLst>
                                    <p:cond delay="0"/>
                                  </p:stCondLst>
                                  <p:childTnLst>
                                    <p:set>
                                      <p:cBhvr>
                                        <p:cTn id="59" dur="1" fill="hold">
                                          <p:stCondLst>
                                            <p:cond delay="499"/>
                                          </p:stCondLst>
                                        </p:cTn>
                                        <p:tgtEl>
                                          <p:spTgt spid="17840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 fill="hold">
                                          <p:stCondLst>
                                            <p:cond delay="0"/>
                                          </p:stCondLst>
                                        </p:cTn>
                                        <p:tgtEl>
                                          <p:spTgt spid="178381"/>
                                        </p:tgtEl>
                                        <p:attrNameLst>
                                          <p:attrName>style.visibility</p:attrName>
                                        </p:attrNameLst>
                                      </p:cBhvr>
                                      <p:to>
                                        <p:strVal val="visible"/>
                                      </p:to>
                                    </p:set>
                                    <p:animEffect transition="in" filter="box(out)">
                                      <p:cBhvr>
                                        <p:cTn id="64" dur="500"/>
                                        <p:tgtEl>
                                          <p:spTgt spid="178381"/>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178377"/>
                                        </p:tgtEl>
                                        <p:attrNameLst>
                                          <p:attrName>style.visibility</p:attrName>
                                        </p:attrNameLst>
                                      </p:cBhvr>
                                      <p:to>
                                        <p:strVal val="visible"/>
                                      </p:to>
                                    </p:set>
                                  </p:childTnLst>
                                </p:cTn>
                              </p:par>
                            </p:childTnLst>
                          </p:cTn>
                        </p:par>
                        <p:par>
                          <p:cTn id="69" fill="hold">
                            <p:stCondLst>
                              <p:cond delay="500"/>
                            </p:stCondLst>
                            <p:childTnLst>
                              <p:par>
                                <p:cTn id="70" presetID="1" presetClass="entr" presetSubtype="0" fill="hold" grpId="0" nodeType="afterEffect">
                                  <p:stCondLst>
                                    <p:cond delay="0"/>
                                  </p:stCondLst>
                                  <p:childTnLst>
                                    <p:set>
                                      <p:cBhvr>
                                        <p:cTn id="71" dur="1" fill="hold">
                                          <p:stCondLst>
                                            <p:cond delay="499"/>
                                          </p:stCondLst>
                                        </p:cTn>
                                        <p:tgtEl>
                                          <p:spTgt spid="17840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499"/>
                                          </p:stCondLst>
                                        </p:cTn>
                                        <p:tgtEl>
                                          <p:spTgt spid="17837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17837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499"/>
                                          </p:stCondLst>
                                        </p:cTn>
                                        <p:tgtEl>
                                          <p:spTgt spid="178401"/>
                                        </p:tgtEl>
                                        <p:attrNameLst>
                                          <p:attrName>style.visibility</p:attrName>
                                        </p:attrNameLst>
                                      </p:cBhvr>
                                      <p:to>
                                        <p:strVal val="visible"/>
                                      </p:to>
                                    </p:set>
                                  </p:childTnLst>
                                </p:cTn>
                              </p:par>
                            </p:childTnLst>
                          </p:cTn>
                        </p:par>
                        <p:par>
                          <p:cTn id="84" fill="hold">
                            <p:stCondLst>
                              <p:cond delay="500"/>
                            </p:stCondLst>
                            <p:childTnLst>
                              <p:par>
                                <p:cTn id="85" presetID="2" presetClass="entr" presetSubtype="1" fill="hold" grpId="0" nodeType="afterEffect">
                                  <p:stCondLst>
                                    <p:cond delay="0"/>
                                  </p:stCondLst>
                                  <p:childTnLst>
                                    <p:set>
                                      <p:cBhvr>
                                        <p:cTn id="86" dur="1" fill="hold">
                                          <p:stCondLst>
                                            <p:cond delay="0"/>
                                          </p:stCondLst>
                                        </p:cTn>
                                        <p:tgtEl>
                                          <p:spTgt spid="178376"/>
                                        </p:tgtEl>
                                        <p:attrNameLst>
                                          <p:attrName>style.visibility</p:attrName>
                                        </p:attrNameLst>
                                      </p:cBhvr>
                                      <p:to>
                                        <p:strVal val="visible"/>
                                      </p:to>
                                    </p:set>
                                    <p:anim calcmode="lin" valueType="num">
                                      <p:cBhvr additive="base">
                                        <p:cTn id="87" dur="500" fill="hold"/>
                                        <p:tgtEl>
                                          <p:spTgt spid="178376"/>
                                        </p:tgtEl>
                                        <p:attrNameLst>
                                          <p:attrName>ppt_x</p:attrName>
                                        </p:attrNameLst>
                                      </p:cBhvr>
                                      <p:tavLst>
                                        <p:tav tm="0">
                                          <p:val>
                                            <p:strVal val="#ppt_x"/>
                                          </p:val>
                                        </p:tav>
                                        <p:tav tm="100000">
                                          <p:val>
                                            <p:strVal val="#ppt_x"/>
                                          </p:val>
                                        </p:tav>
                                      </p:tavLst>
                                    </p:anim>
                                    <p:anim calcmode="lin" valueType="num">
                                      <p:cBhvr additive="base">
                                        <p:cTn id="88" dur="500" fill="hold"/>
                                        <p:tgtEl>
                                          <p:spTgt spid="178376"/>
                                        </p:tgtEl>
                                        <p:attrNameLst>
                                          <p:attrName>ppt_y</p:attrName>
                                        </p:attrNameLst>
                                      </p:cBhvr>
                                      <p:tavLst>
                                        <p:tav tm="0">
                                          <p:val>
                                            <p:strVal val="0-#ppt_h/2"/>
                                          </p:val>
                                        </p:tav>
                                        <p:tav tm="100000">
                                          <p:val>
                                            <p:strVal val="#ppt_y"/>
                                          </p:val>
                                        </p:tav>
                                      </p:tavLst>
                                    </p:anim>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499"/>
                                          </p:stCondLst>
                                        </p:cTn>
                                        <p:tgtEl>
                                          <p:spTgt spid="17840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 presetClass="entr" presetSubtype="2" fill="hold" grpId="0" nodeType="clickEffect">
                                  <p:stCondLst>
                                    <p:cond delay="0"/>
                                  </p:stCondLst>
                                  <p:childTnLst>
                                    <p:set>
                                      <p:cBhvr>
                                        <p:cTn id="95" dur="1" fill="hold">
                                          <p:stCondLst>
                                            <p:cond delay="0"/>
                                          </p:stCondLst>
                                        </p:cTn>
                                        <p:tgtEl>
                                          <p:spTgt spid="178420"/>
                                        </p:tgtEl>
                                        <p:attrNameLst>
                                          <p:attrName>style.visibility</p:attrName>
                                        </p:attrNameLst>
                                      </p:cBhvr>
                                      <p:to>
                                        <p:strVal val="visible"/>
                                      </p:to>
                                    </p:set>
                                    <p:anim calcmode="lin" valueType="num">
                                      <p:cBhvr additive="base">
                                        <p:cTn id="96" dur="500" fill="hold"/>
                                        <p:tgtEl>
                                          <p:spTgt spid="178420"/>
                                        </p:tgtEl>
                                        <p:attrNameLst>
                                          <p:attrName>ppt_x</p:attrName>
                                        </p:attrNameLst>
                                      </p:cBhvr>
                                      <p:tavLst>
                                        <p:tav tm="0">
                                          <p:val>
                                            <p:strVal val="1+#ppt_w/2"/>
                                          </p:val>
                                        </p:tav>
                                        <p:tav tm="100000">
                                          <p:val>
                                            <p:strVal val="#ppt_x"/>
                                          </p:val>
                                        </p:tav>
                                      </p:tavLst>
                                    </p:anim>
                                    <p:anim calcmode="lin" valueType="num">
                                      <p:cBhvr additive="base">
                                        <p:cTn id="97" dur="500" fill="hold"/>
                                        <p:tgtEl>
                                          <p:spTgt spid="178420"/>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2" fill="hold" grpId="0" nodeType="clickEffect">
                                  <p:stCondLst>
                                    <p:cond delay="0"/>
                                  </p:stCondLst>
                                  <p:childTnLst>
                                    <p:set>
                                      <p:cBhvr>
                                        <p:cTn id="101" dur="1" fill="hold">
                                          <p:stCondLst>
                                            <p:cond delay="0"/>
                                          </p:stCondLst>
                                        </p:cTn>
                                        <p:tgtEl>
                                          <p:spTgt spid="178421"/>
                                        </p:tgtEl>
                                        <p:attrNameLst>
                                          <p:attrName>style.visibility</p:attrName>
                                        </p:attrNameLst>
                                      </p:cBhvr>
                                      <p:to>
                                        <p:strVal val="visible"/>
                                      </p:to>
                                    </p:set>
                                    <p:anim calcmode="lin" valueType="num">
                                      <p:cBhvr additive="base">
                                        <p:cTn id="102" dur="500" fill="hold"/>
                                        <p:tgtEl>
                                          <p:spTgt spid="178421"/>
                                        </p:tgtEl>
                                        <p:attrNameLst>
                                          <p:attrName>ppt_x</p:attrName>
                                        </p:attrNameLst>
                                      </p:cBhvr>
                                      <p:tavLst>
                                        <p:tav tm="0">
                                          <p:val>
                                            <p:strVal val="1+#ppt_w/2"/>
                                          </p:val>
                                        </p:tav>
                                        <p:tav tm="100000">
                                          <p:val>
                                            <p:strVal val="#ppt_x"/>
                                          </p:val>
                                        </p:tav>
                                      </p:tavLst>
                                    </p:anim>
                                    <p:anim calcmode="lin" valueType="num">
                                      <p:cBhvr additive="base">
                                        <p:cTn id="103" dur="500" fill="hold"/>
                                        <p:tgtEl>
                                          <p:spTgt spid="178421"/>
                                        </p:tgtEl>
                                        <p:attrNameLst>
                                          <p:attrName>ppt_y</p:attrName>
                                        </p:attrNameLst>
                                      </p:cBhvr>
                                      <p:tavLst>
                                        <p:tav tm="0">
                                          <p:val>
                                            <p:strVal val="#ppt_y"/>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3" presetClass="entr" presetSubtype="5" fill="hold" grpId="0" nodeType="clickEffect">
                                  <p:stCondLst>
                                    <p:cond delay="0"/>
                                  </p:stCondLst>
                                  <p:childTnLst>
                                    <p:set>
                                      <p:cBhvr>
                                        <p:cTn id="107" dur="1" fill="hold">
                                          <p:stCondLst>
                                            <p:cond delay="0"/>
                                          </p:stCondLst>
                                        </p:cTn>
                                        <p:tgtEl>
                                          <p:spTgt spid="178389"/>
                                        </p:tgtEl>
                                        <p:attrNameLst>
                                          <p:attrName>style.visibility</p:attrName>
                                        </p:attrNameLst>
                                      </p:cBhvr>
                                      <p:to>
                                        <p:strVal val="visible"/>
                                      </p:to>
                                    </p:set>
                                    <p:animEffect transition="in" filter="blinds(vertical)">
                                      <p:cBhvr>
                                        <p:cTn id="108" dur="500"/>
                                        <p:tgtEl>
                                          <p:spTgt spid="178389"/>
                                        </p:tgtEl>
                                      </p:cBhvr>
                                    </p:animEffect>
                                  </p:childTnLst>
                                </p:cTn>
                              </p:par>
                            </p:childTnLst>
                          </p:cTn>
                        </p:par>
                        <p:par>
                          <p:cTn id="109" fill="hold">
                            <p:stCondLst>
                              <p:cond delay="500"/>
                            </p:stCondLst>
                            <p:childTnLst>
                              <p:par>
                                <p:cTn id="110" presetID="1" presetClass="entr" presetSubtype="0" fill="hold" grpId="0" nodeType="afterEffect">
                                  <p:stCondLst>
                                    <p:cond delay="0"/>
                                  </p:stCondLst>
                                  <p:childTnLst>
                                    <p:set>
                                      <p:cBhvr>
                                        <p:cTn id="111" dur="1" fill="hold">
                                          <p:stCondLst>
                                            <p:cond delay="499"/>
                                          </p:stCondLst>
                                        </p:cTn>
                                        <p:tgtEl>
                                          <p:spTgt spid="17840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3" presetClass="entr" presetSubtype="5" fill="hold" grpId="0" nodeType="clickEffect">
                                  <p:stCondLst>
                                    <p:cond delay="0"/>
                                  </p:stCondLst>
                                  <p:childTnLst>
                                    <p:set>
                                      <p:cBhvr>
                                        <p:cTn id="115" dur="1" fill="hold">
                                          <p:stCondLst>
                                            <p:cond delay="0"/>
                                          </p:stCondLst>
                                        </p:cTn>
                                        <p:tgtEl>
                                          <p:spTgt spid="178390"/>
                                        </p:tgtEl>
                                        <p:attrNameLst>
                                          <p:attrName>style.visibility</p:attrName>
                                        </p:attrNameLst>
                                      </p:cBhvr>
                                      <p:to>
                                        <p:strVal val="visible"/>
                                      </p:to>
                                    </p:set>
                                    <p:animEffect transition="in" filter="blinds(vertical)">
                                      <p:cBhvr>
                                        <p:cTn id="116" dur="500"/>
                                        <p:tgtEl>
                                          <p:spTgt spid="178390"/>
                                        </p:tgtEl>
                                      </p:cBhvr>
                                    </p:animEffect>
                                  </p:childTnLst>
                                </p:cTn>
                              </p:par>
                            </p:childTnLst>
                          </p:cTn>
                        </p:par>
                      </p:childTnLst>
                    </p:cTn>
                  </p:par>
                  <p:par>
                    <p:cTn id="117" fill="hold">
                      <p:stCondLst>
                        <p:cond delay="indefinite"/>
                      </p:stCondLst>
                      <p:childTnLst>
                        <p:par>
                          <p:cTn id="118" fill="hold">
                            <p:stCondLst>
                              <p:cond delay="0"/>
                            </p:stCondLst>
                            <p:childTnLst>
                              <p:par>
                                <p:cTn id="119" presetID="5" presetClass="entr" presetSubtype="5" fill="hold" grpId="0" nodeType="clickEffect">
                                  <p:stCondLst>
                                    <p:cond delay="0"/>
                                  </p:stCondLst>
                                  <p:childTnLst>
                                    <p:set>
                                      <p:cBhvr>
                                        <p:cTn id="120" dur="1" fill="hold">
                                          <p:stCondLst>
                                            <p:cond delay="0"/>
                                          </p:stCondLst>
                                        </p:cTn>
                                        <p:tgtEl>
                                          <p:spTgt spid="178388"/>
                                        </p:tgtEl>
                                        <p:attrNameLst>
                                          <p:attrName>style.visibility</p:attrName>
                                        </p:attrNameLst>
                                      </p:cBhvr>
                                      <p:to>
                                        <p:strVal val="visible"/>
                                      </p:to>
                                    </p:set>
                                    <p:animEffect transition="in" filter="checkerboard(down)">
                                      <p:cBhvr>
                                        <p:cTn id="121" dur="500"/>
                                        <p:tgtEl>
                                          <p:spTgt spid="178388"/>
                                        </p:tgtEl>
                                      </p:cBhvr>
                                    </p:animEffect>
                                  </p:childTnLst>
                                </p:cTn>
                              </p:par>
                            </p:childTnLst>
                          </p:cTn>
                        </p:par>
                      </p:childTnLst>
                    </p:cTn>
                  </p:par>
                  <p:par>
                    <p:cTn id="122" fill="hold">
                      <p:stCondLst>
                        <p:cond delay="indefinite"/>
                      </p:stCondLst>
                      <p:childTnLst>
                        <p:par>
                          <p:cTn id="123" fill="hold">
                            <p:stCondLst>
                              <p:cond delay="0"/>
                            </p:stCondLst>
                            <p:childTnLst>
                              <p:par>
                                <p:cTn id="124" presetID="2" presetClass="entr" presetSubtype="2" fill="hold" grpId="0" nodeType="clickEffect">
                                  <p:stCondLst>
                                    <p:cond delay="0"/>
                                  </p:stCondLst>
                                  <p:childTnLst>
                                    <p:set>
                                      <p:cBhvr>
                                        <p:cTn id="125" dur="1" fill="hold">
                                          <p:stCondLst>
                                            <p:cond delay="0"/>
                                          </p:stCondLst>
                                        </p:cTn>
                                        <p:tgtEl>
                                          <p:spTgt spid="178385"/>
                                        </p:tgtEl>
                                        <p:attrNameLst>
                                          <p:attrName>style.visibility</p:attrName>
                                        </p:attrNameLst>
                                      </p:cBhvr>
                                      <p:to>
                                        <p:strVal val="visible"/>
                                      </p:to>
                                    </p:set>
                                    <p:anim calcmode="lin" valueType="num">
                                      <p:cBhvr additive="base">
                                        <p:cTn id="126" dur="500" fill="hold"/>
                                        <p:tgtEl>
                                          <p:spTgt spid="178385"/>
                                        </p:tgtEl>
                                        <p:attrNameLst>
                                          <p:attrName>ppt_x</p:attrName>
                                        </p:attrNameLst>
                                      </p:cBhvr>
                                      <p:tavLst>
                                        <p:tav tm="0">
                                          <p:val>
                                            <p:strVal val="1+#ppt_w/2"/>
                                          </p:val>
                                        </p:tav>
                                        <p:tav tm="100000">
                                          <p:val>
                                            <p:strVal val="#ppt_x"/>
                                          </p:val>
                                        </p:tav>
                                      </p:tavLst>
                                    </p:anim>
                                    <p:anim calcmode="lin" valueType="num">
                                      <p:cBhvr additive="base">
                                        <p:cTn id="127" dur="500" fill="hold"/>
                                        <p:tgtEl>
                                          <p:spTgt spid="178385"/>
                                        </p:tgtEl>
                                        <p:attrNameLst>
                                          <p:attrName>ppt_y</p:attrName>
                                        </p:attrNameLst>
                                      </p:cBhvr>
                                      <p:tavLst>
                                        <p:tav tm="0">
                                          <p:val>
                                            <p:strVal val="#ppt_y"/>
                                          </p:val>
                                        </p:tav>
                                        <p:tav tm="100000">
                                          <p:val>
                                            <p:strVal val="#ppt_y"/>
                                          </p:val>
                                        </p:tav>
                                      </p:tavLst>
                                    </p:anim>
                                  </p:childTnLst>
                                </p:cTn>
                              </p:par>
                            </p:childTnLst>
                          </p:cTn>
                        </p:par>
                        <p:par>
                          <p:cTn id="128" fill="hold">
                            <p:stCondLst>
                              <p:cond delay="500"/>
                            </p:stCondLst>
                            <p:childTnLst>
                              <p:par>
                                <p:cTn id="129" presetID="1" presetClass="entr" presetSubtype="0" fill="hold" grpId="0" nodeType="afterEffect">
                                  <p:stCondLst>
                                    <p:cond delay="0"/>
                                  </p:stCondLst>
                                  <p:childTnLst>
                                    <p:set>
                                      <p:cBhvr>
                                        <p:cTn id="130" dur="1" fill="hold">
                                          <p:stCondLst>
                                            <p:cond delay="499"/>
                                          </p:stCondLst>
                                        </p:cTn>
                                        <p:tgtEl>
                                          <p:spTgt spid="17840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 presetClass="entr" presetSubtype="2" fill="hold" grpId="0" nodeType="clickEffect">
                                  <p:stCondLst>
                                    <p:cond delay="0"/>
                                  </p:stCondLst>
                                  <p:childTnLst>
                                    <p:set>
                                      <p:cBhvr>
                                        <p:cTn id="134" dur="1" fill="hold">
                                          <p:stCondLst>
                                            <p:cond delay="0"/>
                                          </p:stCondLst>
                                        </p:cTn>
                                        <p:tgtEl>
                                          <p:spTgt spid="178386"/>
                                        </p:tgtEl>
                                        <p:attrNameLst>
                                          <p:attrName>style.visibility</p:attrName>
                                        </p:attrNameLst>
                                      </p:cBhvr>
                                      <p:to>
                                        <p:strVal val="visible"/>
                                      </p:to>
                                    </p:set>
                                    <p:anim calcmode="lin" valueType="num">
                                      <p:cBhvr additive="base">
                                        <p:cTn id="135" dur="500" fill="hold"/>
                                        <p:tgtEl>
                                          <p:spTgt spid="178386"/>
                                        </p:tgtEl>
                                        <p:attrNameLst>
                                          <p:attrName>ppt_x</p:attrName>
                                        </p:attrNameLst>
                                      </p:cBhvr>
                                      <p:tavLst>
                                        <p:tav tm="0">
                                          <p:val>
                                            <p:strVal val="1+#ppt_w/2"/>
                                          </p:val>
                                        </p:tav>
                                        <p:tav tm="100000">
                                          <p:val>
                                            <p:strVal val="#ppt_x"/>
                                          </p:val>
                                        </p:tav>
                                      </p:tavLst>
                                    </p:anim>
                                    <p:anim calcmode="lin" valueType="num">
                                      <p:cBhvr additive="base">
                                        <p:cTn id="136" dur="500" fill="hold"/>
                                        <p:tgtEl>
                                          <p:spTgt spid="178386"/>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2" fill="hold" grpId="0" nodeType="clickEffect">
                                  <p:stCondLst>
                                    <p:cond delay="0"/>
                                  </p:stCondLst>
                                  <p:childTnLst>
                                    <p:set>
                                      <p:cBhvr>
                                        <p:cTn id="140" dur="1" fill="hold">
                                          <p:stCondLst>
                                            <p:cond delay="0"/>
                                          </p:stCondLst>
                                        </p:cTn>
                                        <p:tgtEl>
                                          <p:spTgt spid="178387"/>
                                        </p:tgtEl>
                                        <p:attrNameLst>
                                          <p:attrName>style.visibility</p:attrName>
                                        </p:attrNameLst>
                                      </p:cBhvr>
                                      <p:to>
                                        <p:strVal val="visible"/>
                                      </p:to>
                                    </p:set>
                                    <p:anim calcmode="lin" valueType="num">
                                      <p:cBhvr additive="base">
                                        <p:cTn id="141" dur="500" fill="hold"/>
                                        <p:tgtEl>
                                          <p:spTgt spid="178387"/>
                                        </p:tgtEl>
                                        <p:attrNameLst>
                                          <p:attrName>ppt_x</p:attrName>
                                        </p:attrNameLst>
                                      </p:cBhvr>
                                      <p:tavLst>
                                        <p:tav tm="0">
                                          <p:val>
                                            <p:strVal val="1+#ppt_w/2"/>
                                          </p:val>
                                        </p:tav>
                                        <p:tav tm="100000">
                                          <p:val>
                                            <p:strVal val="#ppt_x"/>
                                          </p:val>
                                        </p:tav>
                                      </p:tavLst>
                                    </p:anim>
                                    <p:anim calcmode="lin" valueType="num">
                                      <p:cBhvr additive="base">
                                        <p:cTn id="142" dur="500" fill="hold"/>
                                        <p:tgtEl>
                                          <p:spTgt spid="178387"/>
                                        </p:tgtEl>
                                        <p:attrNameLst>
                                          <p:attrName>ppt_y</p:attrName>
                                        </p:attrNameLst>
                                      </p:cBhvr>
                                      <p:tavLst>
                                        <p:tav tm="0">
                                          <p:val>
                                            <p:strVal val="#ppt_y"/>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2" fill="hold" grpId="0" nodeType="clickEffect">
                                  <p:stCondLst>
                                    <p:cond delay="0"/>
                                  </p:stCondLst>
                                  <p:childTnLst>
                                    <p:set>
                                      <p:cBhvr>
                                        <p:cTn id="146" dur="1" fill="hold">
                                          <p:stCondLst>
                                            <p:cond delay="0"/>
                                          </p:stCondLst>
                                        </p:cTn>
                                        <p:tgtEl>
                                          <p:spTgt spid="178391"/>
                                        </p:tgtEl>
                                        <p:attrNameLst>
                                          <p:attrName>style.visibility</p:attrName>
                                        </p:attrNameLst>
                                      </p:cBhvr>
                                      <p:to>
                                        <p:strVal val="visible"/>
                                      </p:to>
                                    </p:set>
                                    <p:anim calcmode="lin" valueType="num">
                                      <p:cBhvr additive="base">
                                        <p:cTn id="147" dur="500" fill="hold"/>
                                        <p:tgtEl>
                                          <p:spTgt spid="178391"/>
                                        </p:tgtEl>
                                        <p:attrNameLst>
                                          <p:attrName>ppt_x</p:attrName>
                                        </p:attrNameLst>
                                      </p:cBhvr>
                                      <p:tavLst>
                                        <p:tav tm="0">
                                          <p:val>
                                            <p:strVal val="1+#ppt_w/2"/>
                                          </p:val>
                                        </p:tav>
                                        <p:tav tm="100000">
                                          <p:val>
                                            <p:strVal val="#ppt_x"/>
                                          </p:val>
                                        </p:tav>
                                      </p:tavLst>
                                    </p:anim>
                                    <p:anim calcmode="lin" valueType="num">
                                      <p:cBhvr additive="base">
                                        <p:cTn id="148" dur="500" fill="hold"/>
                                        <p:tgtEl>
                                          <p:spTgt spid="178391"/>
                                        </p:tgtEl>
                                        <p:attrNameLst>
                                          <p:attrName>ppt_y</p:attrName>
                                        </p:attrNameLst>
                                      </p:cBhvr>
                                      <p:tavLst>
                                        <p:tav tm="0">
                                          <p:val>
                                            <p:strVal val="#ppt_y"/>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3" presetClass="entr" presetSubtype="5" fill="hold" grpId="0" nodeType="clickEffect">
                                  <p:stCondLst>
                                    <p:cond delay="0"/>
                                  </p:stCondLst>
                                  <p:childTnLst>
                                    <p:set>
                                      <p:cBhvr>
                                        <p:cTn id="152" dur="1" fill="hold">
                                          <p:stCondLst>
                                            <p:cond delay="0"/>
                                          </p:stCondLst>
                                        </p:cTn>
                                        <p:tgtEl>
                                          <p:spTgt spid="178394"/>
                                        </p:tgtEl>
                                        <p:attrNameLst>
                                          <p:attrName>style.visibility</p:attrName>
                                        </p:attrNameLst>
                                      </p:cBhvr>
                                      <p:to>
                                        <p:strVal val="visible"/>
                                      </p:to>
                                    </p:set>
                                    <p:animEffect transition="in" filter="blinds(vertical)">
                                      <p:cBhvr>
                                        <p:cTn id="153" dur="500"/>
                                        <p:tgtEl>
                                          <p:spTgt spid="178394"/>
                                        </p:tgtEl>
                                      </p:cBhvr>
                                    </p:animEffect>
                                  </p:childTnLst>
                                </p:cTn>
                              </p:par>
                            </p:childTnLst>
                          </p:cTn>
                        </p:par>
                        <p:par>
                          <p:cTn id="154" fill="hold">
                            <p:stCondLst>
                              <p:cond delay="500"/>
                            </p:stCondLst>
                            <p:childTnLst>
                              <p:par>
                                <p:cTn id="155" presetID="1" presetClass="entr" presetSubtype="0" fill="hold" grpId="0" nodeType="afterEffect">
                                  <p:stCondLst>
                                    <p:cond delay="0"/>
                                  </p:stCondLst>
                                  <p:childTnLst>
                                    <p:set>
                                      <p:cBhvr>
                                        <p:cTn id="156" dur="1" fill="hold">
                                          <p:stCondLst>
                                            <p:cond delay="499"/>
                                          </p:stCondLst>
                                        </p:cTn>
                                        <p:tgtEl>
                                          <p:spTgt spid="178408"/>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5" presetClass="entr" presetSubtype="10" fill="hold" grpId="0" nodeType="clickEffect">
                                  <p:stCondLst>
                                    <p:cond delay="0"/>
                                  </p:stCondLst>
                                  <p:childTnLst>
                                    <p:set>
                                      <p:cBhvr>
                                        <p:cTn id="160" dur="1" fill="hold">
                                          <p:stCondLst>
                                            <p:cond delay="0"/>
                                          </p:stCondLst>
                                        </p:cTn>
                                        <p:tgtEl>
                                          <p:spTgt spid="178395"/>
                                        </p:tgtEl>
                                        <p:attrNameLst>
                                          <p:attrName>style.visibility</p:attrName>
                                        </p:attrNameLst>
                                      </p:cBhvr>
                                      <p:to>
                                        <p:strVal val="visible"/>
                                      </p:to>
                                    </p:set>
                                    <p:animEffect transition="in" filter="checkerboard(across)">
                                      <p:cBhvr>
                                        <p:cTn id="161" dur="500"/>
                                        <p:tgtEl>
                                          <p:spTgt spid="178395"/>
                                        </p:tgtEl>
                                      </p:cBhvr>
                                    </p:animEffect>
                                  </p:childTnLst>
                                </p:cTn>
                              </p:par>
                            </p:childTnLst>
                          </p:cTn>
                        </p:par>
                      </p:childTnLst>
                    </p:cTn>
                  </p:par>
                  <p:par>
                    <p:cTn id="162" fill="hold">
                      <p:stCondLst>
                        <p:cond delay="indefinite"/>
                      </p:stCondLst>
                      <p:childTnLst>
                        <p:par>
                          <p:cTn id="163" fill="hold">
                            <p:stCondLst>
                              <p:cond delay="0"/>
                            </p:stCondLst>
                            <p:childTnLst>
                              <p:par>
                                <p:cTn id="164" presetID="3" presetClass="entr" presetSubtype="10" fill="hold" grpId="0" nodeType="clickEffect">
                                  <p:stCondLst>
                                    <p:cond delay="0"/>
                                  </p:stCondLst>
                                  <p:childTnLst>
                                    <p:set>
                                      <p:cBhvr>
                                        <p:cTn id="165" dur="1" fill="hold">
                                          <p:stCondLst>
                                            <p:cond delay="0"/>
                                          </p:stCondLst>
                                        </p:cTn>
                                        <p:tgtEl>
                                          <p:spTgt spid="178396"/>
                                        </p:tgtEl>
                                        <p:attrNameLst>
                                          <p:attrName>style.visibility</p:attrName>
                                        </p:attrNameLst>
                                      </p:cBhvr>
                                      <p:to>
                                        <p:strVal val="visible"/>
                                      </p:to>
                                    </p:set>
                                    <p:animEffect transition="in" filter="blinds(horizontal)">
                                      <p:cBhvr>
                                        <p:cTn id="166" dur="500"/>
                                        <p:tgtEl>
                                          <p:spTgt spid="178396"/>
                                        </p:tgtEl>
                                      </p:cBhvr>
                                    </p:animEffect>
                                  </p:childTnLst>
                                </p:cTn>
                              </p:par>
                            </p:childTnLst>
                          </p:cTn>
                        </p:par>
                      </p:childTnLst>
                    </p:cTn>
                  </p:par>
                  <p:par>
                    <p:cTn id="167" fill="hold">
                      <p:stCondLst>
                        <p:cond delay="indefinite"/>
                      </p:stCondLst>
                      <p:childTnLst>
                        <p:par>
                          <p:cTn id="168" fill="hold">
                            <p:stCondLst>
                              <p:cond delay="0"/>
                            </p:stCondLst>
                            <p:childTnLst>
                              <p:par>
                                <p:cTn id="169" presetID="3" presetClass="entr" presetSubtype="5" fill="hold" grpId="0" nodeType="clickEffect">
                                  <p:stCondLst>
                                    <p:cond delay="0"/>
                                  </p:stCondLst>
                                  <p:childTnLst>
                                    <p:set>
                                      <p:cBhvr>
                                        <p:cTn id="170" dur="1" fill="hold">
                                          <p:stCondLst>
                                            <p:cond delay="0"/>
                                          </p:stCondLst>
                                        </p:cTn>
                                        <p:tgtEl>
                                          <p:spTgt spid="178417"/>
                                        </p:tgtEl>
                                        <p:attrNameLst>
                                          <p:attrName>style.visibility</p:attrName>
                                        </p:attrNameLst>
                                      </p:cBhvr>
                                      <p:to>
                                        <p:strVal val="visible"/>
                                      </p:to>
                                    </p:set>
                                    <p:animEffect transition="in" filter="blinds(vertical)">
                                      <p:cBhvr>
                                        <p:cTn id="171" dur="500"/>
                                        <p:tgtEl>
                                          <p:spTgt spid="178417"/>
                                        </p:tgtEl>
                                      </p:cBhvr>
                                    </p:animEffect>
                                  </p:childTnLst>
                                </p:cTn>
                              </p:par>
                            </p:childTnLst>
                          </p:cTn>
                        </p:par>
                      </p:childTnLst>
                    </p:cTn>
                  </p:par>
                  <p:par>
                    <p:cTn id="172" fill="hold">
                      <p:stCondLst>
                        <p:cond delay="indefinite"/>
                      </p:stCondLst>
                      <p:childTnLst>
                        <p:par>
                          <p:cTn id="173" fill="hold">
                            <p:stCondLst>
                              <p:cond delay="0"/>
                            </p:stCondLst>
                            <p:childTnLst>
                              <p:par>
                                <p:cTn id="174" presetID="12" presetClass="entr" presetSubtype="8" fill="hold" grpId="0" nodeType="clickEffect">
                                  <p:stCondLst>
                                    <p:cond delay="0"/>
                                  </p:stCondLst>
                                  <p:childTnLst>
                                    <p:set>
                                      <p:cBhvr>
                                        <p:cTn id="175" dur="1" fill="hold">
                                          <p:stCondLst>
                                            <p:cond delay="0"/>
                                          </p:stCondLst>
                                        </p:cTn>
                                        <p:tgtEl>
                                          <p:spTgt spid="178412"/>
                                        </p:tgtEl>
                                        <p:attrNameLst>
                                          <p:attrName>style.visibility</p:attrName>
                                        </p:attrNameLst>
                                      </p:cBhvr>
                                      <p:to>
                                        <p:strVal val="visible"/>
                                      </p:to>
                                    </p:set>
                                    <p:animEffect transition="in" filter="slide(fromLeft)">
                                      <p:cBhvr>
                                        <p:cTn id="176" dur="500"/>
                                        <p:tgtEl>
                                          <p:spTgt spid="178412"/>
                                        </p:tgtEl>
                                      </p:cBhvr>
                                    </p:animEffect>
                                  </p:childTnLst>
                                </p:cTn>
                              </p:par>
                            </p:childTnLst>
                          </p:cTn>
                        </p:par>
                      </p:childTnLst>
                    </p:cTn>
                  </p:par>
                  <p:par>
                    <p:cTn id="177" fill="hold">
                      <p:stCondLst>
                        <p:cond delay="indefinite"/>
                      </p:stCondLst>
                      <p:childTnLst>
                        <p:par>
                          <p:cTn id="178" fill="hold">
                            <p:stCondLst>
                              <p:cond delay="0"/>
                            </p:stCondLst>
                            <p:childTnLst>
                              <p:par>
                                <p:cTn id="179" presetID="12" presetClass="entr" presetSubtype="8" fill="hold" grpId="0" nodeType="clickEffect">
                                  <p:stCondLst>
                                    <p:cond delay="0"/>
                                  </p:stCondLst>
                                  <p:childTnLst>
                                    <p:set>
                                      <p:cBhvr>
                                        <p:cTn id="180" dur="1" fill="hold">
                                          <p:stCondLst>
                                            <p:cond delay="0"/>
                                          </p:stCondLst>
                                        </p:cTn>
                                        <p:tgtEl>
                                          <p:spTgt spid="178413"/>
                                        </p:tgtEl>
                                        <p:attrNameLst>
                                          <p:attrName>style.visibility</p:attrName>
                                        </p:attrNameLst>
                                      </p:cBhvr>
                                      <p:to>
                                        <p:strVal val="visible"/>
                                      </p:to>
                                    </p:set>
                                    <p:animEffect transition="in" filter="slide(fromLeft)">
                                      <p:cBhvr>
                                        <p:cTn id="181" dur="500"/>
                                        <p:tgtEl>
                                          <p:spTgt spid="178413"/>
                                        </p:tgtEl>
                                      </p:cBhvr>
                                    </p:animEffect>
                                  </p:childTnLst>
                                </p:cTn>
                              </p:par>
                            </p:childTnLst>
                          </p:cTn>
                        </p:par>
                      </p:childTnLst>
                    </p:cTn>
                  </p:par>
                  <p:par>
                    <p:cTn id="182" fill="hold">
                      <p:stCondLst>
                        <p:cond delay="indefinite"/>
                      </p:stCondLst>
                      <p:childTnLst>
                        <p:par>
                          <p:cTn id="183" fill="hold">
                            <p:stCondLst>
                              <p:cond delay="0"/>
                            </p:stCondLst>
                            <p:childTnLst>
                              <p:par>
                                <p:cTn id="184" presetID="17" presetClass="entr" presetSubtype="8" fill="hold" grpId="0" nodeType="clickEffect">
                                  <p:stCondLst>
                                    <p:cond delay="0"/>
                                  </p:stCondLst>
                                  <p:childTnLst>
                                    <p:set>
                                      <p:cBhvr>
                                        <p:cTn id="185" dur="1" fill="hold">
                                          <p:stCondLst>
                                            <p:cond delay="0"/>
                                          </p:stCondLst>
                                        </p:cTn>
                                        <p:tgtEl>
                                          <p:spTgt spid="178414"/>
                                        </p:tgtEl>
                                        <p:attrNameLst>
                                          <p:attrName>style.visibility</p:attrName>
                                        </p:attrNameLst>
                                      </p:cBhvr>
                                      <p:to>
                                        <p:strVal val="visible"/>
                                      </p:to>
                                    </p:set>
                                    <p:anim calcmode="lin" valueType="num">
                                      <p:cBhvr>
                                        <p:cTn id="186" dur="500" fill="hold"/>
                                        <p:tgtEl>
                                          <p:spTgt spid="178414"/>
                                        </p:tgtEl>
                                        <p:attrNameLst>
                                          <p:attrName>ppt_x</p:attrName>
                                        </p:attrNameLst>
                                      </p:cBhvr>
                                      <p:tavLst>
                                        <p:tav tm="0">
                                          <p:val>
                                            <p:strVal val="#ppt_x-#ppt_w/2"/>
                                          </p:val>
                                        </p:tav>
                                        <p:tav tm="100000">
                                          <p:val>
                                            <p:strVal val="#ppt_x"/>
                                          </p:val>
                                        </p:tav>
                                      </p:tavLst>
                                    </p:anim>
                                    <p:anim calcmode="lin" valueType="num">
                                      <p:cBhvr>
                                        <p:cTn id="187" dur="500" fill="hold"/>
                                        <p:tgtEl>
                                          <p:spTgt spid="178414"/>
                                        </p:tgtEl>
                                        <p:attrNameLst>
                                          <p:attrName>ppt_y</p:attrName>
                                        </p:attrNameLst>
                                      </p:cBhvr>
                                      <p:tavLst>
                                        <p:tav tm="0">
                                          <p:val>
                                            <p:strVal val="#ppt_y"/>
                                          </p:val>
                                        </p:tav>
                                        <p:tav tm="100000">
                                          <p:val>
                                            <p:strVal val="#ppt_y"/>
                                          </p:val>
                                        </p:tav>
                                      </p:tavLst>
                                    </p:anim>
                                    <p:anim calcmode="lin" valueType="num">
                                      <p:cBhvr>
                                        <p:cTn id="188" dur="500" fill="hold"/>
                                        <p:tgtEl>
                                          <p:spTgt spid="178414"/>
                                        </p:tgtEl>
                                        <p:attrNameLst>
                                          <p:attrName>ppt_w</p:attrName>
                                        </p:attrNameLst>
                                      </p:cBhvr>
                                      <p:tavLst>
                                        <p:tav tm="0">
                                          <p:val>
                                            <p:fltVal val="0"/>
                                          </p:val>
                                        </p:tav>
                                        <p:tav tm="100000">
                                          <p:val>
                                            <p:strVal val="#ppt_w"/>
                                          </p:val>
                                        </p:tav>
                                      </p:tavLst>
                                    </p:anim>
                                    <p:anim calcmode="lin" valueType="num">
                                      <p:cBhvr>
                                        <p:cTn id="189" dur="500" fill="hold"/>
                                        <p:tgtEl>
                                          <p:spTgt spid="1784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375" grpId="0" bldLvl="0" animBg="1" autoUpdateAnimBg="0"/>
      <p:bldP spid="178376" grpId="0" autoUpdateAnimBg="0"/>
      <p:bldP spid="178377" grpId="0" autoUpdateAnimBg="0"/>
      <p:bldP spid="178378" grpId="0" autoUpdateAnimBg="0"/>
      <p:bldP spid="178379" grpId="0" autoUpdateAnimBg="0"/>
      <p:bldP spid="178380" grpId="0" bldLvl="0" animBg="1" autoUpdateAnimBg="0"/>
      <p:bldP spid="178381" grpId="0" autoUpdateAnimBg="0"/>
      <p:bldP spid="178382" grpId="0" bldLvl="0" animBg="1" autoUpdateAnimBg="0"/>
      <p:bldP spid="178383" grpId="0" bldLvl="0" animBg="1" autoUpdateAnimBg="0"/>
      <p:bldP spid="178384" grpId="0" bldLvl="0" animBg="1" autoUpdateAnimBg="0"/>
      <p:bldP spid="178385" grpId="0" autoUpdateAnimBg="0"/>
      <p:bldP spid="178386" grpId="0" autoUpdateAnimBg="0"/>
      <p:bldP spid="178387" grpId="0" autoUpdateAnimBg="0"/>
      <p:bldP spid="178388" grpId="0" autoUpdateAnimBg="0"/>
      <p:bldP spid="178389" grpId="0" bldLvl="0" animBg="1" autoUpdateAnimBg="0"/>
      <p:bldP spid="178390" grpId="0" bldLvl="0" animBg="1" autoUpdateAnimBg="0"/>
      <p:bldP spid="178391" grpId="0" bldLvl="0" animBg="1" autoUpdateAnimBg="0"/>
      <p:bldP spid="178394" grpId="0" bldLvl="0" animBg="1" autoUpdateAnimBg="0"/>
      <p:bldP spid="178395" grpId="0" bldLvl="0" animBg="1" autoUpdateAnimBg="0"/>
      <p:bldP spid="178396" grpId="0" bldLvl="0" animBg="1" autoUpdateAnimBg="0"/>
      <p:bldP spid="178397" grpId="0" bldLvl="0" animBg="1" autoUpdateAnimBg="0"/>
      <p:bldP spid="178398" grpId="0" bldLvl="0" animBg="1" autoUpdateAnimBg="0"/>
      <p:bldP spid="178399" grpId="0" bldLvl="0" animBg="1" autoUpdateAnimBg="0"/>
      <p:bldP spid="178400" grpId="0" animBg="1"/>
      <p:bldP spid="178401" grpId="0" animBg="1"/>
      <p:bldP spid="178402" grpId="0" animBg="1"/>
      <p:bldP spid="178403" grpId="0" animBg="1"/>
      <p:bldP spid="178404" grpId="0" animBg="1"/>
      <p:bldP spid="178406" grpId="0" animBg="1"/>
      <p:bldP spid="178407" grpId="0" animBg="1"/>
      <p:bldP spid="178408" grpId="0" animBg="1"/>
      <p:bldP spid="178409" grpId="0" animBg="1"/>
      <p:bldP spid="178410" grpId="0" bldLvl="0" animBg="1" autoUpdateAnimBg="0"/>
      <p:bldP spid="178412" grpId="0" autoUpdateAnimBg="0"/>
      <p:bldP spid="178413" grpId="0" autoUpdateAnimBg="0"/>
      <p:bldP spid="178414" grpId="0" bldLvl="0" animBg="1" autoUpdateAnimBg="0"/>
      <p:bldP spid="178417" grpId="0" bldLvl="0" animBg="1" autoUpdateAnimBg="0"/>
      <p:bldP spid="178420" grpId="0" autoUpdateAnimBg="0"/>
      <p:bldP spid="17842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rot="13015195">
            <a:off x="3208417" y="4207962"/>
            <a:ext cx="3384884" cy="2538663"/>
          </a:xfrm>
          <a:prstGeom prst="rect">
            <a:avLst/>
          </a:prstGeom>
        </p:spPr>
      </p:pic>
      <p:pic>
        <p:nvPicPr>
          <p:cNvPr id="4" name="图片 3"/>
          <p:cNvPicPr>
            <a:picLocks noChangeAspect="1"/>
          </p:cNvPicPr>
          <p:nvPr/>
        </p:nvPicPr>
        <p:blipFill>
          <a:blip r:embed="rId2"/>
          <a:stretch>
            <a:fillRect/>
          </a:stretch>
        </p:blipFill>
        <p:spPr>
          <a:xfrm>
            <a:off x="241031" y="4028573"/>
            <a:ext cx="2829428" cy="2829428"/>
          </a:xfrm>
          <a:prstGeom prst="rect">
            <a:avLst/>
          </a:prstGeom>
        </p:spPr>
      </p:pic>
      <p:pic>
        <p:nvPicPr>
          <p:cNvPr id="7" name="图片 6"/>
          <p:cNvPicPr>
            <a:picLocks noChangeAspect="1"/>
          </p:cNvPicPr>
          <p:nvPr/>
        </p:nvPicPr>
        <p:blipFill>
          <a:blip r:embed="rId3"/>
          <a:stretch>
            <a:fillRect/>
          </a:stretch>
        </p:blipFill>
        <p:spPr>
          <a:xfrm>
            <a:off x="6000750" y="105878"/>
            <a:ext cx="3143250" cy="2447925"/>
          </a:xfrm>
          <a:prstGeom prst="rect">
            <a:avLst/>
          </a:prstGeom>
        </p:spPr>
      </p:pic>
      <p:pic>
        <p:nvPicPr>
          <p:cNvPr id="3" name="Picture 8"/>
          <p:cNvPicPr>
            <a:picLocks noChangeAspect="1" noChangeArrowheads="1"/>
          </p:cNvPicPr>
          <p:nvPr/>
        </p:nvPicPr>
        <p:blipFill>
          <a:blip r:embed="rId4">
            <a:clrChange>
              <a:clrFrom>
                <a:srgbClr val="016BE3"/>
              </a:clrFrom>
              <a:clrTo>
                <a:srgbClr val="016BE3">
                  <a:alpha val="0"/>
                </a:srgbClr>
              </a:clrTo>
            </a:clrChange>
            <a:extLst>
              <a:ext uri="{28A0092B-C50C-407E-A947-70E740481C1C}">
                <a14:useLocalDpi xmlns:a14="http://schemas.microsoft.com/office/drawing/2010/main" val="0"/>
              </a:ext>
            </a:extLst>
          </a:blip>
          <a:srcRect b="11632"/>
          <a:stretch>
            <a:fillRect/>
          </a:stretch>
        </p:blipFill>
        <p:spPr bwMode="auto">
          <a:xfrm>
            <a:off x="2098305" y="1320158"/>
            <a:ext cx="3878981" cy="2570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pic>
      <p:pic>
        <p:nvPicPr>
          <p:cNvPr id="2" name="Picture 6"/>
          <p:cNvPicPr>
            <a:picLocks noChangeAspect="1" noChangeArrowheads="1"/>
          </p:cNvPicPr>
          <p:nvPr/>
        </p:nvPicPr>
        <p:blipFill>
          <a:blip r:embed="rId5">
            <a:clrChange>
              <a:clrFrom>
                <a:srgbClr val="C6C3C6"/>
              </a:clrFrom>
              <a:clrTo>
                <a:srgbClr val="C6C3C6">
                  <a:alpha val="0"/>
                </a:srgbClr>
              </a:clrTo>
            </a:clrChange>
            <a:extLst>
              <a:ext uri="{28A0092B-C50C-407E-A947-70E740481C1C}">
                <a14:useLocalDpi xmlns:a14="http://schemas.microsoft.com/office/drawing/2010/main" val="0"/>
              </a:ext>
            </a:extLst>
          </a:blip>
          <a:srcRect l="34424" t="17014" r="32129" b="47331"/>
          <a:stretch>
            <a:fillRect/>
          </a:stretch>
        </p:blipFill>
        <p:spPr bwMode="auto">
          <a:xfrm>
            <a:off x="250256" y="86628"/>
            <a:ext cx="3082925"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alpha val="50000"/>
                    </a:srgbClr>
                  </a:outerShdw>
                </a:effectLst>
              </a14:hiddenEffects>
            </a:ext>
          </a:extLst>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63101" y="3669633"/>
            <a:ext cx="2453640" cy="2453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out)">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02979" y="193627"/>
            <a:ext cx="3121152" cy="3121152"/>
          </a:xfrm>
          <a:prstGeom prst="rect">
            <a:avLst/>
          </a:prstGeom>
        </p:spPr>
      </p:pic>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l="31250" t="8073" r="28125" b="35590"/>
          <a:stretch>
            <a:fillRect/>
          </a:stretch>
        </p:blipFill>
        <p:spPr bwMode="auto">
          <a:xfrm>
            <a:off x="5358866" y="3592078"/>
            <a:ext cx="2966988" cy="2891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l="27995" t="17882" r="28125" b="38368"/>
          <a:stretch>
            <a:fillRect/>
          </a:stretch>
        </p:blipFill>
        <p:spPr bwMode="auto">
          <a:xfrm>
            <a:off x="4469465" y="0"/>
            <a:ext cx="42799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图片 8"/>
          <p:cNvPicPr>
            <a:picLocks noChangeAspect="1"/>
          </p:cNvPicPr>
          <p:nvPr/>
        </p:nvPicPr>
        <p:blipFill>
          <a:blip r:embed="rId4"/>
          <a:stretch>
            <a:fillRect/>
          </a:stretch>
        </p:blipFill>
        <p:spPr>
          <a:xfrm>
            <a:off x="646898" y="3686175"/>
            <a:ext cx="4038600" cy="31718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5448300" y="762000"/>
            <a:ext cx="2057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18000" rIns="91440" bIns="45720" numCol="1" anchor="ctr" anchorCtr="1" compatLnSpc="1"/>
          <a:lstStyle/>
          <a:p>
            <a:pPr eaLnBrk="1" hangingPunct="1"/>
            <a:r>
              <a:rPr lang="zh-CN" altLang="en-US" sz="800" smtClean="0">
                <a:solidFill>
                  <a:schemeClr val="bg1"/>
                </a:solidFill>
                <a:ea typeface="黑体" panose="02010609060101010101" pitchFamily="49" charset="-122"/>
              </a:rPr>
              <a:t>齿轮传动的失效形式及设计准则</a:t>
            </a:r>
            <a:endParaRPr lang="zh-CN" altLang="en-US" sz="800" smtClean="0">
              <a:solidFill>
                <a:schemeClr val="bg1"/>
              </a:solidFill>
              <a:latin typeface="黑体" panose="02010609060101010101" pitchFamily="49" charset="-122"/>
            </a:endParaRPr>
          </a:p>
        </p:txBody>
      </p:sp>
      <p:sp>
        <p:nvSpPr>
          <p:cNvPr id="21507" name="Rectangle 10"/>
          <p:cNvSpPr>
            <a:spLocks noChangeArrowheads="1"/>
          </p:cNvSpPr>
          <p:nvPr/>
        </p:nvSpPr>
        <p:spPr bwMode="auto">
          <a:xfrm>
            <a:off x="1298893" y="12319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1508" name="Text Box 31"/>
          <p:cNvSpPr txBox="1">
            <a:spLocks noChangeArrowheads="1"/>
          </p:cNvSpPr>
          <p:nvPr/>
        </p:nvSpPr>
        <p:spPr bwMode="auto">
          <a:xfrm>
            <a:off x="0" y="905269"/>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一、齿轮的主要失效形式</a:t>
            </a:r>
            <a:endParaRPr lang="zh-CN" altLang="en-US" sz="2400" dirty="0">
              <a:solidFill>
                <a:srgbClr val="0000FF"/>
              </a:solidFill>
              <a:latin typeface="黑体" panose="02010609060101010101" pitchFamily="49" charset="-122"/>
              <a:ea typeface="黑体" panose="02010609060101010101" pitchFamily="49" charset="-122"/>
            </a:endParaRPr>
          </a:p>
        </p:txBody>
      </p:sp>
      <p:pic>
        <p:nvPicPr>
          <p:cNvPr id="9262" name="Picture 46"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4391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52"/>
          <p:cNvSpPr txBox="1">
            <a:spLocks noChangeArrowheads="1"/>
          </p:cNvSpPr>
          <p:nvPr/>
        </p:nvSpPr>
        <p:spPr bwMode="auto">
          <a:xfrm>
            <a:off x="147858" y="1334585"/>
            <a:ext cx="8843962"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solidFill>
                  <a:srgbClr val="000099"/>
                </a:solidFill>
                <a:latin typeface="Tahoma" panose="020B0604030504040204" pitchFamily="34" charset="0"/>
              </a:rPr>
              <a:t>　　</a:t>
            </a:r>
            <a:r>
              <a:rPr lang="zh-CN" altLang="en-US" sz="2400" dirty="0">
                <a:solidFill>
                  <a:srgbClr val="000099"/>
                </a:solidFill>
                <a:latin typeface="黑体" panose="02010609060101010101" pitchFamily="49" charset="-122"/>
                <a:ea typeface="黑体" panose="02010609060101010101" pitchFamily="49" charset="-122"/>
              </a:rPr>
              <a:t>齿轮传动的失效主要是指轮齿的失效。常见的失效形式有</a:t>
            </a:r>
            <a:r>
              <a:rPr lang="zh-CN" altLang="en-US" sz="2400" dirty="0" smtClean="0">
                <a:solidFill>
                  <a:srgbClr val="000099"/>
                </a:solidFill>
                <a:latin typeface="黑体" panose="02010609060101010101" pitchFamily="49" charset="-122"/>
                <a:ea typeface="黑体" panose="02010609060101010101" pitchFamily="49" charset="-122"/>
              </a:rPr>
              <a:t>：    </a:t>
            </a:r>
            <a:r>
              <a:rPr lang="en-US" altLang="zh-CN" sz="2400" dirty="0" smtClean="0">
                <a:solidFill>
                  <a:srgbClr val="000099"/>
                </a:solidFill>
                <a:latin typeface="黑体" panose="02010609060101010101" pitchFamily="49" charset="-122"/>
                <a:ea typeface="黑体" panose="02010609060101010101" pitchFamily="49" charset="-122"/>
              </a:rPr>
              <a:t>	</a:t>
            </a:r>
            <a:r>
              <a:rPr lang="zh-CN" altLang="en-US" sz="2400" dirty="0" smtClean="0">
                <a:solidFill>
                  <a:srgbClr val="C00000"/>
                </a:solidFill>
                <a:latin typeface="黑体" panose="02010609060101010101" pitchFamily="49" charset="-122"/>
                <a:ea typeface="黑体" panose="02010609060101010101" pitchFamily="49" charset="-122"/>
              </a:rPr>
              <a:t>轮齿</a:t>
            </a:r>
            <a:r>
              <a:rPr lang="zh-CN" altLang="en-US" sz="2400" dirty="0">
                <a:solidFill>
                  <a:srgbClr val="C00000"/>
                </a:solidFill>
                <a:latin typeface="黑体" panose="02010609060101010101" pitchFamily="49" charset="-122"/>
                <a:ea typeface="黑体" panose="02010609060101010101" pitchFamily="49" charset="-122"/>
              </a:rPr>
              <a:t>折断、齿面磨损、齿面点蚀、齿面胶合</a:t>
            </a:r>
            <a:r>
              <a:rPr lang="zh-CN" altLang="en-US" sz="2400" dirty="0">
                <a:solidFill>
                  <a:srgbClr val="002060"/>
                </a:solidFill>
                <a:latin typeface="黑体" panose="02010609060101010101" pitchFamily="49" charset="-122"/>
                <a:ea typeface="黑体" panose="02010609060101010101" pitchFamily="49" charset="-122"/>
              </a:rPr>
              <a:t>和</a:t>
            </a:r>
            <a:r>
              <a:rPr lang="zh-CN" altLang="en-US" sz="2400" dirty="0">
                <a:solidFill>
                  <a:srgbClr val="C00000"/>
                </a:solidFill>
                <a:latin typeface="黑体" panose="02010609060101010101" pitchFamily="49" charset="-122"/>
                <a:ea typeface="黑体" panose="02010609060101010101" pitchFamily="49" charset="-122"/>
              </a:rPr>
              <a:t>塑性变形。</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9269" name="Text Box 53"/>
          <p:cNvSpPr txBox="1">
            <a:spLocks noChangeArrowheads="1"/>
          </p:cNvSpPr>
          <p:nvPr/>
        </p:nvSpPr>
        <p:spPr bwMode="auto">
          <a:xfrm>
            <a:off x="135801" y="2239932"/>
            <a:ext cx="8854289" cy="426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solidFill>
                  <a:srgbClr val="000099"/>
                </a:solidFill>
                <a:latin typeface="Tahoma" panose="020B0604030504040204" pitchFamily="34" charset="0"/>
              </a:rPr>
              <a:t>　</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21512"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2537" name="矩形 19"/>
          <p:cNvSpPr>
            <a:spLocks noChangeArrowheads="1"/>
          </p:cNvSpPr>
          <p:nvPr/>
        </p:nvSpPr>
        <p:spPr bwMode="auto">
          <a:xfrm>
            <a:off x="208113" y="2495589"/>
            <a:ext cx="18918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a:solidFill>
                  <a:srgbClr val="C00000"/>
                </a:solidFill>
                <a:latin typeface="黑体" panose="02010609060101010101" pitchFamily="49" charset="-122"/>
                <a:ea typeface="黑体" panose="02010609060101010101" pitchFamily="49" charset="-122"/>
              </a:rPr>
              <a:t>1</a:t>
            </a:r>
            <a:r>
              <a:rPr lang="zh-CN" altLang="en-US" sz="2400" dirty="0">
                <a:solidFill>
                  <a:srgbClr val="C00000"/>
                </a:solidFill>
                <a:latin typeface="黑体" panose="02010609060101010101" pitchFamily="49" charset="-122"/>
                <a:ea typeface="黑体" panose="02010609060101010101" pitchFamily="49" charset="-122"/>
              </a:rPr>
              <a:t>、轮齿折断</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2538" name="Rectangle 1"/>
          <p:cNvSpPr>
            <a:spLocks noChangeArrowheads="1"/>
          </p:cNvSpPr>
          <p:nvPr/>
        </p:nvSpPr>
        <p:spPr bwMode="auto">
          <a:xfrm>
            <a:off x="154052" y="3236948"/>
            <a:ext cx="898994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0099"/>
                </a:solidFill>
                <a:latin typeface="黑体" panose="02010609060101010101" pitchFamily="49" charset="-122"/>
                <a:ea typeface="黑体" panose="02010609060101010101" pitchFamily="49" charset="-122"/>
              </a:rPr>
              <a:t>根据齿轮所受载荷性质的不同，轮齿折断可分为疲劳折断和过载折断。</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2539" name="矩形 21"/>
          <p:cNvSpPr>
            <a:spLocks noChangeArrowheads="1"/>
          </p:cNvSpPr>
          <p:nvPr/>
        </p:nvSpPr>
        <p:spPr bwMode="auto">
          <a:xfrm>
            <a:off x="425450" y="3741891"/>
            <a:ext cx="87185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latin typeface="Tahoma" panose="020B0604030504040204" pitchFamily="34" charset="0"/>
              </a:rPr>
              <a:t> </a:t>
            </a:r>
            <a:r>
              <a:rPr lang="zh-CN" altLang="en-US" sz="2200" dirty="0">
                <a:solidFill>
                  <a:srgbClr val="000099"/>
                </a:solidFill>
                <a:latin typeface="黑体" panose="02010609060101010101" pitchFamily="49" charset="-122"/>
                <a:ea typeface="黑体" panose="02010609060101010101" pitchFamily="49" charset="-122"/>
              </a:rPr>
              <a:t>在正常工况下出现的轮齿折断主要是</a:t>
            </a:r>
            <a:r>
              <a:rPr lang="zh-CN" altLang="en-US" sz="2200" dirty="0">
                <a:solidFill>
                  <a:srgbClr val="FF0000"/>
                </a:solidFill>
                <a:latin typeface="黑体" panose="02010609060101010101" pitchFamily="49" charset="-122"/>
                <a:ea typeface="黑体" panose="02010609060101010101" pitchFamily="49" charset="-122"/>
              </a:rPr>
              <a:t>齿根弯曲疲劳折断</a:t>
            </a:r>
            <a:r>
              <a:rPr lang="zh-CN" altLang="en-US" sz="2200" dirty="0">
                <a:solidFill>
                  <a:srgbClr val="000099"/>
                </a:solidFill>
                <a:latin typeface="黑体" panose="02010609060101010101" pitchFamily="49" charset="-122"/>
                <a:ea typeface="黑体" panose="02010609060101010101" pitchFamily="49" charset="-122"/>
              </a:rPr>
              <a:t>。</a:t>
            </a:r>
            <a:endParaRPr lang="zh-CN" altLang="en-US" sz="2200" dirty="0">
              <a:solidFill>
                <a:srgbClr val="000099"/>
              </a:solidFill>
              <a:latin typeface="黑体" panose="02010609060101010101" pitchFamily="49" charset="-122"/>
              <a:ea typeface="黑体" panose="02010609060101010101" pitchFamily="49" charset="-122"/>
            </a:endParaRPr>
          </a:p>
        </p:txBody>
      </p:sp>
      <p:pic>
        <p:nvPicPr>
          <p:cNvPr id="38924" name="Picture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6222" y="4381078"/>
            <a:ext cx="3178175" cy="221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3" descr="NEXT">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 name="Object 4"/>
          <p:cNvGraphicFramePr>
            <a:graphicFrameLocks noGrp="1" noChangeAspect="1"/>
          </p:cNvGraphicFramePr>
          <p:nvPr>
            <p:ph idx="1"/>
          </p:nvPr>
        </p:nvGraphicFramePr>
        <p:xfrm>
          <a:off x="4232069" y="4414329"/>
          <a:ext cx="2536401" cy="2009149"/>
        </p:xfrm>
        <a:graphic>
          <a:graphicData uri="http://schemas.openxmlformats.org/presentationml/2006/ole">
            <mc:AlternateContent xmlns:mc="http://schemas.openxmlformats.org/markup-compatibility/2006">
              <mc:Choice xmlns:v="urn:schemas-microsoft-com:vml" Requires="v">
                <p:oleObj spid="_x0000_s21611" name="" r:id="rId4" imgW="2933700" imgH="2324100" progId="Paint.Picture">
                  <p:embed/>
                </p:oleObj>
              </mc:Choice>
              <mc:Fallback>
                <p:oleObj name="" r:id="rId4" imgW="2933700" imgH="2324100" progId="Paint.Picture">
                  <p:embed/>
                  <p:pic>
                    <p:nvPicPr>
                      <p:cNvPr id="0" name="图片 2158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2069" y="4414329"/>
                        <a:ext cx="2536401" cy="2009149"/>
                      </a:xfrm>
                      <a:prstGeom prst="rect">
                        <a:avLst/>
                      </a:prstGeom>
                      <a:noFill/>
                      <a:ln>
                        <a:noFill/>
                      </a:ln>
                      <a:effectLst/>
                    </p:spPr>
                  </p:pic>
                </p:oleObj>
              </mc:Fallback>
            </mc:AlternateContent>
          </a:graphicData>
        </a:graphic>
      </p:graphicFrame>
      <p:sp>
        <p:nvSpPr>
          <p:cNvPr id="2" name="矩形 1"/>
          <p:cNvSpPr/>
          <p:nvPr/>
        </p:nvSpPr>
        <p:spPr>
          <a:xfrm>
            <a:off x="2126974" y="2503725"/>
            <a:ext cx="6122504" cy="70788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a:spAutoFit/>
          </a:bodyPr>
          <a:lstStyle/>
          <a:p>
            <a:r>
              <a:rPr lang="zh-CN" altLang="en-US" dirty="0">
                <a:solidFill>
                  <a:schemeClr val="accent4">
                    <a:lumMod val="50000"/>
                  </a:schemeClr>
                </a:solidFill>
              </a:rPr>
              <a:t>是闭式传动中的硬齿面齿轮的主要失效形式，也是短期过载或受严重冲击齿轮的主要失效形式。</a:t>
            </a:r>
            <a:endParaRPr lang="zh-CN" altLang="en-US" dirty="0">
              <a:solidFill>
                <a:schemeClr val="accent4">
                  <a:lumMod val="50000"/>
                </a:schemeClr>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9269"/>
                                        </p:tgtEl>
                                        <p:attrNameLst>
                                          <p:attrName>style.visibility</p:attrName>
                                        </p:attrNameLst>
                                      </p:cBhvr>
                                      <p:to>
                                        <p:strVal val="visible"/>
                                      </p:to>
                                    </p:set>
                                    <p:animEffect transition="in" filter="wipe(left)">
                                      <p:cBhvr>
                                        <p:cTn id="11" dur="500"/>
                                        <p:tgtEl>
                                          <p:spTgt spid="926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253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253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253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8924"/>
                                        </p:tgtEl>
                                        <p:attrNameLst>
                                          <p:attrName>style.visibility</p:attrName>
                                        </p:attrNameLst>
                                      </p:cBhvr>
                                      <p:to>
                                        <p:strVal val="visible"/>
                                      </p:to>
                                    </p:set>
                                  </p:childTnLst>
                                </p:cTn>
                              </p:par>
                            </p:childTnLst>
                          </p:cTn>
                        </p:par>
                        <p:par>
                          <p:cTn id="28" fill="hold">
                            <p:stCondLst>
                              <p:cond delay="0"/>
                            </p:stCondLst>
                            <p:childTnLst>
                              <p:par>
                                <p:cTn id="29" presetID="2" presetClass="entr" presetSubtype="8" fill="hold" nodeType="afterEffect">
                                  <p:stCondLst>
                                    <p:cond delay="0"/>
                                  </p:stCondLst>
                                  <p:childTnLst>
                                    <p:set>
                                      <p:cBhvr>
                                        <p:cTn id="30" dur="1" fill="hold">
                                          <p:stCondLst>
                                            <p:cond delay="0"/>
                                          </p:stCondLst>
                                        </p:cTn>
                                        <p:tgtEl>
                                          <p:spTgt spid="9262"/>
                                        </p:tgtEl>
                                        <p:attrNameLst>
                                          <p:attrName>style.visibility</p:attrName>
                                        </p:attrNameLst>
                                      </p:cBhvr>
                                      <p:to>
                                        <p:strVal val="visible"/>
                                      </p:to>
                                    </p:set>
                                    <p:anim calcmode="lin" valueType="num">
                                      <p:cBhvr additive="base">
                                        <p:cTn id="31" dur="500" fill="hold"/>
                                        <p:tgtEl>
                                          <p:spTgt spid="9262"/>
                                        </p:tgtEl>
                                        <p:attrNameLst>
                                          <p:attrName>ppt_x</p:attrName>
                                        </p:attrNameLst>
                                      </p:cBhvr>
                                      <p:tavLst>
                                        <p:tav tm="0">
                                          <p:val>
                                            <p:strVal val="0-#ppt_w/2"/>
                                          </p:val>
                                        </p:tav>
                                        <p:tav tm="100000">
                                          <p:val>
                                            <p:strVal val="#ppt_x"/>
                                          </p:val>
                                        </p:tav>
                                      </p:tavLst>
                                    </p:anim>
                                    <p:anim calcmode="lin" valueType="num">
                                      <p:cBhvr additive="base">
                                        <p:cTn id="32" dur="500" fill="hold"/>
                                        <p:tgtEl>
                                          <p:spTgt spid="9262"/>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499"/>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left)">
                                      <p:cBhvr>
                                        <p:cTn id="4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4" grpId="0"/>
      <p:bldP spid="9269" grpId="0" autoUpdateAnimBg="0"/>
      <p:bldP spid="22537" grpId="0"/>
      <p:bldP spid="22538" grpId="0"/>
      <p:bldP spid="22539" grpId="0"/>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5375872" y="653359"/>
            <a:ext cx="2057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18000" rIns="91440" bIns="45720" numCol="1" anchor="ctr" anchorCtr="1" compatLnSpc="1"/>
          <a:lstStyle/>
          <a:p>
            <a:pPr eaLnBrk="1" hangingPunct="1"/>
            <a:r>
              <a:rPr lang="zh-CN" altLang="en-US" sz="800" smtClean="0">
                <a:solidFill>
                  <a:schemeClr val="bg1"/>
                </a:solidFill>
                <a:ea typeface="黑体" panose="02010609060101010101" pitchFamily="49" charset="-122"/>
              </a:rPr>
              <a:t>齿轮传动的失效形式及设计准则</a:t>
            </a:r>
            <a:endParaRPr lang="zh-CN" altLang="en-US" sz="800" smtClean="0">
              <a:solidFill>
                <a:schemeClr val="bg1"/>
              </a:solidFill>
              <a:latin typeface="黑体" panose="02010609060101010101" pitchFamily="49" charset="-122"/>
            </a:endParaRPr>
          </a:p>
        </p:txBody>
      </p:sp>
      <p:pic>
        <p:nvPicPr>
          <p:cNvPr id="9262" name="Picture 46"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58200"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2533" name="矩形 12"/>
          <p:cNvSpPr>
            <a:spLocks noChangeArrowheads="1"/>
          </p:cNvSpPr>
          <p:nvPr/>
        </p:nvSpPr>
        <p:spPr bwMode="auto">
          <a:xfrm>
            <a:off x="77052" y="2769672"/>
            <a:ext cx="5545108" cy="430887"/>
          </a:xfrm>
          <a:prstGeom prst="rect">
            <a:avLst/>
          </a:prstGeom>
          <a:solidFill>
            <a:schemeClr val="tx2">
              <a:lumMod val="20000"/>
              <a:lumOff val="80000"/>
            </a:schemeClr>
          </a:solidFill>
          <a:ln>
            <a:noFill/>
          </a:ln>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00FF"/>
                </a:solidFill>
                <a:latin typeface="黑体" panose="02010609060101010101" pitchFamily="49" charset="-122"/>
                <a:ea typeface="黑体" panose="02010609060101010101" pitchFamily="49" charset="-122"/>
              </a:rPr>
              <a:t>  </a:t>
            </a:r>
            <a:r>
              <a:rPr lang="zh-CN" altLang="en-US" sz="2200" dirty="0" smtClean="0">
                <a:solidFill>
                  <a:srgbClr val="002060"/>
                </a:solidFill>
                <a:latin typeface="黑体" panose="02010609060101010101" pitchFamily="49" charset="-122"/>
                <a:ea typeface="黑体" panose="02010609060101010101" pitchFamily="49" charset="-122"/>
              </a:rPr>
              <a:t>提高</a:t>
            </a:r>
            <a:r>
              <a:rPr lang="zh-CN" altLang="en-US" sz="2200" dirty="0">
                <a:solidFill>
                  <a:srgbClr val="002060"/>
                </a:solidFill>
                <a:latin typeface="黑体" panose="02010609060101010101" pitchFamily="49" charset="-122"/>
                <a:ea typeface="黑体" panose="02010609060101010101" pitchFamily="49" charset="-122"/>
              </a:rPr>
              <a:t>轮齿抗疲劳折断能力的措施主要有：</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3558" name="矩形 13"/>
          <p:cNvSpPr>
            <a:spLocks noChangeArrowheads="1"/>
          </p:cNvSpPr>
          <p:nvPr/>
        </p:nvSpPr>
        <p:spPr bwMode="auto">
          <a:xfrm>
            <a:off x="573685" y="3230956"/>
            <a:ext cx="7264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en-US" sz="2200" dirty="0">
                <a:solidFill>
                  <a:srgbClr val="002060"/>
                </a:solidFill>
                <a:latin typeface="黑体" panose="02010609060101010101" pitchFamily="49" charset="-122"/>
                <a:ea typeface="黑体" panose="02010609060101010101" pitchFamily="49" charset="-122"/>
              </a:rPr>
              <a:t>1</a:t>
            </a:r>
            <a:r>
              <a:rPr lang="zh-CN" altLang="en-US" sz="2200" dirty="0">
                <a:solidFill>
                  <a:srgbClr val="002060"/>
                </a:solidFill>
                <a:latin typeface="黑体" panose="02010609060101010101" pitchFamily="49" charset="-122"/>
                <a:ea typeface="黑体" panose="02010609060101010101" pitchFamily="49" charset="-122"/>
              </a:rPr>
              <a:t>）适当增大齿根过度圆角半径，消除齿轮切削刀痕 ；</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3559" name="Rectangle 1"/>
          <p:cNvSpPr>
            <a:spLocks noChangeArrowheads="1"/>
          </p:cNvSpPr>
          <p:nvPr/>
        </p:nvSpPr>
        <p:spPr bwMode="auto">
          <a:xfrm>
            <a:off x="291110" y="3761638"/>
            <a:ext cx="70675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黑体" panose="02010609060101010101" pitchFamily="49" charset="-122"/>
                <a:ea typeface="黑体" panose="02010609060101010101" pitchFamily="49" charset="-122"/>
              </a:rPr>
              <a:t>2</a:t>
            </a:r>
            <a:r>
              <a:rPr lang="zh-CN" altLang="en-US" sz="2200" dirty="0">
                <a:solidFill>
                  <a:srgbClr val="002060"/>
                </a:solidFill>
                <a:latin typeface="黑体" panose="02010609060101010101" pitchFamily="49" charset="-122"/>
                <a:ea typeface="黑体" panose="02010609060101010101" pitchFamily="49" charset="-122"/>
              </a:rPr>
              <a:t>）适当加大齿轮的模数；</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3560" name="Rectangle 2"/>
          <p:cNvSpPr>
            <a:spLocks noChangeArrowheads="1"/>
          </p:cNvSpPr>
          <p:nvPr/>
        </p:nvSpPr>
        <p:spPr bwMode="auto">
          <a:xfrm>
            <a:off x="291110" y="4279163"/>
            <a:ext cx="67198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a:solidFill>
                  <a:srgbClr val="002060"/>
                </a:solidFill>
                <a:latin typeface="黑体" panose="02010609060101010101" pitchFamily="49" charset="-122"/>
                <a:ea typeface="黑体" panose="02010609060101010101" pitchFamily="49" charset="-122"/>
              </a:rPr>
              <a:t>3</a:t>
            </a:r>
            <a:r>
              <a:rPr lang="zh-CN" altLang="en-US" sz="2200">
                <a:solidFill>
                  <a:srgbClr val="002060"/>
                </a:solidFill>
                <a:latin typeface="黑体" panose="02010609060101010101" pitchFamily="49" charset="-122"/>
                <a:ea typeface="黑体" panose="02010609060101010101" pitchFamily="49" charset="-122"/>
              </a:rPr>
              <a:t>）增大轴及轴支承的刚度；</a:t>
            </a:r>
            <a:endParaRPr lang="zh-CN" altLang="en-US" sz="2200">
              <a:solidFill>
                <a:srgbClr val="002060"/>
              </a:solidFill>
              <a:latin typeface="黑体" panose="02010609060101010101" pitchFamily="49" charset="-122"/>
              <a:ea typeface="黑体" panose="02010609060101010101" pitchFamily="49" charset="-122"/>
            </a:endParaRPr>
          </a:p>
        </p:txBody>
      </p:sp>
      <p:sp>
        <p:nvSpPr>
          <p:cNvPr id="23561" name="Rectangle 3"/>
          <p:cNvSpPr>
            <a:spLocks noChangeArrowheads="1"/>
          </p:cNvSpPr>
          <p:nvPr/>
        </p:nvSpPr>
        <p:spPr bwMode="auto">
          <a:xfrm>
            <a:off x="291110" y="4803038"/>
            <a:ext cx="911018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a:solidFill>
                  <a:srgbClr val="002060"/>
                </a:solidFill>
                <a:latin typeface="黑体" panose="02010609060101010101" pitchFamily="49" charset="-122"/>
                <a:ea typeface="黑体" panose="02010609060101010101" pitchFamily="49" charset="-122"/>
              </a:rPr>
              <a:t>4</a:t>
            </a:r>
            <a:r>
              <a:rPr lang="zh-CN" altLang="en-US" sz="2200">
                <a:solidFill>
                  <a:srgbClr val="002060"/>
                </a:solidFill>
                <a:latin typeface="黑体" panose="02010609060101010101" pitchFamily="49" charset="-122"/>
                <a:ea typeface="黑体" panose="02010609060101010101" pitchFamily="49" charset="-122"/>
              </a:rPr>
              <a:t>）小齿轮采用正变位，增大小齿轮齿根厚度，提高轮齿的抗弯能力；</a:t>
            </a:r>
            <a:endParaRPr lang="zh-CN" altLang="en-US" sz="2200">
              <a:solidFill>
                <a:srgbClr val="002060"/>
              </a:solidFill>
              <a:latin typeface="黑体" panose="02010609060101010101" pitchFamily="49" charset="-122"/>
              <a:ea typeface="黑体" panose="02010609060101010101" pitchFamily="49" charset="-122"/>
            </a:endParaRPr>
          </a:p>
        </p:txBody>
      </p:sp>
      <p:sp>
        <p:nvSpPr>
          <p:cNvPr id="23562" name="Rectangle 4"/>
          <p:cNvSpPr>
            <a:spLocks noChangeArrowheads="1"/>
          </p:cNvSpPr>
          <p:nvPr/>
        </p:nvSpPr>
        <p:spPr bwMode="auto">
          <a:xfrm>
            <a:off x="275235" y="5387238"/>
            <a:ext cx="826380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黑体" panose="02010609060101010101" pitchFamily="49" charset="-122"/>
                <a:ea typeface="黑体" panose="02010609060101010101" pitchFamily="49" charset="-122"/>
              </a:rPr>
              <a:t>5</a:t>
            </a:r>
            <a:r>
              <a:rPr lang="zh-CN" altLang="en-US" sz="2200" dirty="0">
                <a:solidFill>
                  <a:srgbClr val="002060"/>
                </a:solidFill>
                <a:latin typeface="黑体" panose="02010609060101010101" pitchFamily="49" charset="-122"/>
                <a:ea typeface="黑体" panose="02010609060101010101" pitchFamily="49" charset="-122"/>
              </a:rPr>
              <a:t>）采用适当的热处理方法，使轮齿芯部材料具有足够的韧性；</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3563" name="Rectangle 5"/>
          <p:cNvSpPr>
            <a:spLocks noChangeArrowheads="1"/>
          </p:cNvSpPr>
          <p:nvPr/>
        </p:nvSpPr>
        <p:spPr bwMode="auto">
          <a:xfrm>
            <a:off x="250307" y="5929174"/>
            <a:ext cx="88122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黑体" panose="02010609060101010101" pitchFamily="49" charset="-122"/>
                <a:ea typeface="黑体" panose="02010609060101010101" pitchFamily="49" charset="-122"/>
              </a:rPr>
              <a:t>6</a:t>
            </a:r>
            <a:r>
              <a:rPr lang="zh-CN" altLang="en-US" sz="2200" dirty="0">
                <a:solidFill>
                  <a:srgbClr val="002060"/>
                </a:solidFill>
                <a:latin typeface="黑体" panose="02010609060101010101" pitchFamily="49" charset="-122"/>
                <a:ea typeface="黑体" panose="02010609060101010101" pitchFamily="49" charset="-122"/>
              </a:rPr>
              <a:t>）采用喷丸、滚压等工艺措施对齿根表层进行强化处理。</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2542" name="Rectangle 10"/>
          <p:cNvSpPr>
            <a:spLocks noChangeArrowheads="1"/>
          </p:cNvSpPr>
          <p:nvPr/>
        </p:nvSpPr>
        <p:spPr bwMode="auto">
          <a:xfrm>
            <a:off x="1973263" y="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5" name="Picture 23"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4" name="直接连接符 6"/>
          <p:cNvSpPr>
            <a:spLocks noChangeShapeType="1"/>
          </p:cNvSpPr>
          <p:nvPr/>
        </p:nvSpPr>
        <p:spPr bwMode="auto">
          <a:xfrm>
            <a:off x="-72428" y="65653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 name="矩形 20"/>
          <p:cNvSpPr>
            <a:spLocks noChangeArrowheads="1"/>
          </p:cNvSpPr>
          <p:nvPr/>
        </p:nvSpPr>
        <p:spPr bwMode="auto">
          <a:xfrm>
            <a:off x="235390" y="807205"/>
            <a:ext cx="8529638"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solidFill>
                  <a:srgbClr val="000099"/>
                </a:solidFill>
                <a:latin typeface="Tahoma" panose="020B0604030504040204" pitchFamily="34" charset="0"/>
              </a:rPr>
              <a:t>       </a:t>
            </a:r>
            <a:r>
              <a:rPr lang="zh-CN" altLang="en-US" sz="2200" dirty="0">
                <a:solidFill>
                  <a:srgbClr val="002060"/>
                </a:solidFill>
                <a:latin typeface="黑体" panose="02010609060101010101" pitchFamily="49" charset="-122"/>
                <a:ea typeface="黑体" panose="02010609060101010101" pitchFamily="49" charset="-122"/>
              </a:rPr>
              <a:t>在轮齿受到短期过载或冲击过载时，也可能出现轮齿的突然折断，这种轮齿折断称为</a:t>
            </a:r>
            <a:r>
              <a:rPr lang="zh-CN" altLang="en-US" sz="2200" dirty="0">
                <a:solidFill>
                  <a:srgbClr val="FF0000"/>
                </a:solidFill>
                <a:latin typeface="黑体" panose="02010609060101010101" pitchFamily="49" charset="-122"/>
                <a:ea typeface="黑体" panose="02010609060101010101" pitchFamily="49" charset="-122"/>
              </a:rPr>
              <a:t>过载折断</a:t>
            </a:r>
            <a:r>
              <a:rPr lang="zh-CN" altLang="en-US" sz="2200" dirty="0">
                <a:solidFill>
                  <a:srgbClr val="000099"/>
                </a:solidFill>
                <a:latin typeface="黑体" panose="02010609060101010101" pitchFamily="49" charset="-122"/>
                <a:ea typeface="黑体" panose="02010609060101010101" pitchFamily="49" charset="-122"/>
              </a:rPr>
              <a:t>。  </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18" name="矩形 14"/>
          <p:cNvSpPr>
            <a:spLocks noChangeArrowheads="1"/>
          </p:cNvSpPr>
          <p:nvPr/>
        </p:nvSpPr>
        <p:spPr bwMode="auto">
          <a:xfrm>
            <a:off x="225765" y="1679122"/>
            <a:ext cx="8561388"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sz="2200" dirty="0">
                <a:solidFill>
                  <a:srgbClr val="000099"/>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在开式齿轮传动中，轮齿由于磨损严重，齿厚过分减薄时，也会在正常载荷作用下发生轮齿折断。</a:t>
            </a:r>
            <a:endParaRPr lang="zh-CN" altLang="en-US" sz="2200" dirty="0">
              <a:solidFill>
                <a:srgbClr val="00206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533"/>
                                        </p:tgtEl>
                                        <p:attrNameLst>
                                          <p:attrName>style.visibility</p:attrName>
                                        </p:attrNameLst>
                                      </p:cBhvr>
                                      <p:to>
                                        <p:strVal val="visible"/>
                                      </p:to>
                                    </p:set>
                                    <p:animEffect transition="in" filter="wipe(left)">
                                      <p:cBhvr>
                                        <p:cTn id="15" dur="500"/>
                                        <p:tgtEl>
                                          <p:spTgt spid="2253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355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355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356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356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35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3563"/>
                                        </p:tgtEl>
                                        <p:attrNameLst>
                                          <p:attrName>style.visibility</p:attrName>
                                        </p:attrNameLst>
                                      </p:cBhvr>
                                      <p:to>
                                        <p:strVal val="visible"/>
                                      </p:to>
                                    </p:set>
                                  </p:childTnLst>
                                </p:cTn>
                              </p:par>
                            </p:childTnLst>
                          </p:cTn>
                        </p:par>
                        <p:par>
                          <p:cTn id="40" fill="hold">
                            <p:stCondLst>
                              <p:cond delay="0"/>
                            </p:stCondLst>
                            <p:childTnLst>
                              <p:par>
                                <p:cTn id="41" presetID="2" presetClass="entr" presetSubtype="8" fill="hold" nodeType="afterEffect">
                                  <p:stCondLst>
                                    <p:cond delay="0"/>
                                  </p:stCondLst>
                                  <p:childTnLst>
                                    <p:set>
                                      <p:cBhvr>
                                        <p:cTn id="42" dur="1" fill="hold">
                                          <p:stCondLst>
                                            <p:cond delay="0"/>
                                          </p:stCondLst>
                                        </p:cTn>
                                        <p:tgtEl>
                                          <p:spTgt spid="9262"/>
                                        </p:tgtEl>
                                        <p:attrNameLst>
                                          <p:attrName>style.visibility</p:attrName>
                                        </p:attrNameLst>
                                      </p:cBhvr>
                                      <p:to>
                                        <p:strVal val="visible"/>
                                      </p:to>
                                    </p:set>
                                    <p:anim calcmode="lin" valueType="num">
                                      <p:cBhvr additive="base">
                                        <p:cTn id="43" dur="500" fill="hold"/>
                                        <p:tgtEl>
                                          <p:spTgt spid="9262"/>
                                        </p:tgtEl>
                                        <p:attrNameLst>
                                          <p:attrName>ppt_x</p:attrName>
                                        </p:attrNameLst>
                                      </p:cBhvr>
                                      <p:tavLst>
                                        <p:tav tm="0">
                                          <p:val>
                                            <p:strVal val="0-#ppt_w/2"/>
                                          </p:val>
                                        </p:tav>
                                        <p:tav tm="100000">
                                          <p:val>
                                            <p:strVal val="#ppt_x"/>
                                          </p:val>
                                        </p:tav>
                                      </p:tavLst>
                                    </p:anim>
                                    <p:anim calcmode="lin" valueType="num">
                                      <p:cBhvr additive="base">
                                        <p:cTn id="44" dur="500" fill="hold"/>
                                        <p:tgtEl>
                                          <p:spTgt spid="9262"/>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1" presetClass="entr" presetSubtype="0" fill="hold" nodeType="afterEffect">
                                  <p:stCondLst>
                                    <p:cond delay="0"/>
                                  </p:stCondLst>
                                  <p:childTnLst>
                                    <p:set>
                                      <p:cBhvr>
                                        <p:cTn id="47"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p:bldP spid="23559" grpId="0"/>
      <p:bldP spid="23560" grpId="0"/>
      <p:bldP spid="23561" grpId="0"/>
      <p:bldP spid="23562" grpId="0"/>
      <p:bldP spid="23563" grpId="0"/>
      <p:bldP spid="17" grpId="0"/>
      <p:bldP spid="18" grpId="0"/>
      <p:bldP spid="225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5448300" y="762000"/>
            <a:ext cx="2057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18000" rIns="91440" bIns="45720" numCol="1" anchor="ctr" anchorCtr="1" compatLnSpc="1"/>
          <a:lstStyle/>
          <a:p>
            <a:pPr eaLnBrk="1" hangingPunct="1"/>
            <a:r>
              <a:rPr lang="zh-CN" altLang="en-US" sz="800" smtClean="0">
                <a:solidFill>
                  <a:schemeClr val="bg1"/>
                </a:solidFill>
                <a:ea typeface="黑体" panose="02010609060101010101" pitchFamily="49" charset="-122"/>
              </a:rPr>
              <a:t>齿轮传动的失效形式及设计准则</a:t>
            </a:r>
            <a:endParaRPr lang="zh-CN" altLang="en-US" sz="800" smtClean="0">
              <a:solidFill>
                <a:schemeClr val="bg1"/>
              </a:solidFill>
              <a:latin typeface="黑体" panose="02010609060101010101" pitchFamily="49" charset="-122"/>
            </a:endParaRPr>
          </a:p>
        </p:txBody>
      </p:sp>
      <p:sp>
        <p:nvSpPr>
          <p:cNvPr id="23556"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4581" name="矩形 13"/>
          <p:cNvSpPr>
            <a:spLocks noChangeArrowheads="1"/>
          </p:cNvSpPr>
          <p:nvPr/>
        </p:nvSpPr>
        <p:spPr bwMode="auto">
          <a:xfrm>
            <a:off x="464983" y="1318384"/>
            <a:ext cx="8586128" cy="1360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sz="2200" dirty="0">
                <a:solidFill>
                  <a:srgbClr val="000099"/>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  齿轮在工作过程中，轮齿齿面受到变化的接触应力的反复作用，导致齿面金属呈片状剥落，齿面出现众多麻点状凹坑，这种现象称为齿面点蚀。</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3558" name="矩形 19"/>
          <p:cNvSpPr>
            <a:spLocks noChangeArrowheads="1"/>
          </p:cNvSpPr>
          <p:nvPr/>
        </p:nvSpPr>
        <p:spPr bwMode="auto">
          <a:xfrm>
            <a:off x="246063" y="831850"/>
            <a:ext cx="18918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a:solidFill>
                  <a:srgbClr val="C00000"/>
                </a:solidFill>
                <a:latin typeface="黑体" panose="02010609060101010101" pitchFamily="49" charset="-122"/>
                <a:ea typeface="黑体" panose="02010609060101010101" pitchFamily="49" charset="-122"/>
              </a:rPr>
              <a:t>2</a:t>
            </a:r>
            <a:r>
              <a:rPr lang="zh-CN" altLang="en-US" sz="2400" dirty="0">
                <a:solidFill>
                  <a:srgbClr val="C00000"/>
                </a:solidFill>
                <a:latin typeface="黑体" panose="02010609060101010101" pitchFamily="49" charset="-122"/>
                <a:ea typeface="黑体" panose="02010609060101010101" pitchFamily="49" charset="-122"/>
              </a:rPr>
              <a:t>、齿面点蚀</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24583" name="图片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49644" y="2291952"/>
            <a:ext cx="454025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矩形 15"/>
          <p:cNvSpPr>
            <a:spLocks noChangeArrowheads="1"/>
          </p:cNvSpPr>
          <p:nvPr/>
        </p:nvSpPr>
        <p:spPr bwMode="auto">
          <a:xfrm>
            <a:off x="480170" y="4720745"/>
            <a:ext cx="8184333"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sz="2200" dirty="0">
                <a:solidFill>
                  <a:srgbClr val="000099"/>
                </a:solidFill>
                <a:latin typeface="黑体" panose="02010609060101010101" pitchFamily="49" charset="-122"/>
                <a:ea typeface="黑体" panose="02010609060101010101" pitchFamily="49" charset="-122"/>
              </a:rPr>
              <a:t>    </a:t>
            </a:r>
            <a:r>
              <a:rPr lang="zh-CN" altLang="en-US" sz="2200" dirty="0" smtClean="0">
                <a:solidFill>
                  <a:srgbClr val="002060"/>
                </a:solidFill>
                <a:latin typeface="黑体" panose="02010609060101010101" pitchFamily="49" charset="-122"/>
                <a:ea typeface="黑体" panose="02010609060101010101" pitchFamily="49" charset="-122"/>
              </a:rPr>
              <a:t>齿面</a:t>
            </a:r>
            <a:r>
              <a:rPr lang="zh-CN" altLang="en-US" sz="2200" dirty="0">
                <a:solidFill>
                  <a:srgbClr val="002060"/>
                </a:solidFill>
                <a:latin typeface="黑体" panose="02010609060101010101" pitchFamily="49" charset="-122"/>
                <a:ea typeface="黑体" panose="02010609060101010101" pitchFamily="49" charset="-122"/>
              </a:rPr>
              <a:t>点蚀通常首先出现在靠近节点附近的齿根面上，然后逐渐向齿根和齿顶方向扩展。</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4585" name="Rectangle 1"/>
          <p:cNvSpPr>
            <a:spLocks noChangeArrowheads="1"/>
          </p:cNvSpPr>
          <p:nvPr/>
        </p:nvSpPr>
        <p:spPr bwMode="auto">
          <a:xfrm>
            <a:off x="81481" y="5715407"/>
            <a:ext cx="896937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ct val="125000"/>
              </a:lnSpc>
            </a:pPr>
            <a:r>
              <a:rPr lang="zh-CN" altLang="en-US" dirty="0">
                <a:solidFill>
                  <a:srgbClr val="000099"/>
                </a:solidFill>
                <a:latin typeface="Tahoma" panose="020B0604030504040204" pitchFamily="34" charset="0"/>
              </a:rPr>
              <a:t>   </a:t>
            </a:r>
            <a:r>
              <a:rPr lang="zh-CN" altLang="en-US" sz="2200" dirty="0">
                <a:solidFill>
                  <a:srgbClr val="002060"/>
                </a:solidFill>
                <a:latin typeface="黑体" panose="02010609060101010101" pitchFamily="49" charset="-122"/>
                <a:ea typeface="黑体" panose="02010609060101010101" pitchFamily="49" charset="-122"/>
              </a:rPr>
              <a:t>点蚀是润滑良好的闭式齿轮传动常见的失效形式，齿面出现较严重的点蚀后，将影响齿轮传动的平稳性并产生振动和噪音。</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3562" name="Rectangle 10"/>
          <p:cNvSpPr>
            <a:spLocks noChangeArrowheads="1"/>
          </p:cNvSpPr>
          <p:nvPr/>
        </p:nvSpPr>
        <p:spPr bwMode="auto">
          <a:xfrm>
            <a:off x="1973263" y="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356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2329815" y="832159"/>
            <a:ext cx="4288353" cy="46166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none">
            <a:spAutoFit/>
          </a:bodyPr>
          <a:lstStyle/>
          <a:p>
            <a:pPr>
              <a:lnSpc>
                <a:spcPct val="120000"/>
              </a:lnSpc>
            </a:pPr>
            <a:r>
              <a:rPr lang="zh-CN" altLang="en-US" dirty="0">
                <a:solidFill>
                  <a:srgbClr val="003399"/>
                </a:solidFill>
              </a:rPr>
              <a:t>软齿面闭式</a:t>
            </a:r>
            <a:r>
              <a:rPr lang="zh-CN" altLang="en-US" dirty="0" smtClean="0">
                <a:solidFill>
                  <a:srgbClr val="003399"/>
                </a:solidFill>
              </a:rPr>
              <a:t>齿轮传动主要失效形式。</a:t>
            </a:r>
            <a:endParaRPr lang="zh-CN" altLang="en-US" dirty="0">
              <a:solidFill>
                <a:srgbClr val="003399"/>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5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4" grpId="0"/>
      <p:bldP spid="24585" grpId="0"/>
      <p:bldP spid="2"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5448300" y="762000"/>
            <a:ext cx="2057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18000" rIns="91440" bIns="45720" numCol="1" anchor="ctr" anchorCtr="1" compatLnSpc="1"/>
          <a:lstStyle/>
          <a:p>
            <a:pPr eaLnBrk="1" hangingPunct="1"/>
            <a:r>
              <a:rPr lang="zh-CN" altLang="en-US" sz="800" smtClean="0">
                <a:solidFill>
                  <a:schemeClr val="bg1"/>
                </a:solidFill>
                <a:ea typeface="黑体" panose="02010609060101010101" pitchFamily="49" charset="-122"/>
              </a:rPr>
              <a:t>齿轮传动的失效形式及设计准则</a:t>
            </a:r>
            <a:endParaRPr lang="zh-CN" altLang="en-US" sz="800" smtClean="0">
              <a:solidFill>
                <a:schemeClr val="bg1"/>
              </a:solidFill>
              <a:latin typeface="黑体" panose="02010609060101010101" pitchFamily="49" charset="-122"/>
            </a:endParaRPr>
          </a:p>
        </p:txBody>
      </p:sp>
      <p:pic>
        <p:nvPicPr>
          <p:cNvPr id="9262" name="Picture 46"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724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70"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4581" name="矩形 12"/>
          <p:cNvSpPr>
            <a:spLocks noChangeArrowheads="1"/>
          </p:cNvSpPr>
          <p:nvPr/>
        </p:nvSpPr>
        <p:spPr bwMode="auto">
          <a:xfrm>
            <a:off x="260947" y="1177941"/>
            <a:ext cx="5313363" cy="430887"/>
          </a:xfrm>
          <a:prstGeom prst="rect">
            <a:avLst/>
          </a:prstGeom>
          <a:solidFill>
            <a:schemeClr val="tx2">
              <a:lumMod val="20000"/>
              <a:lumOff val="80000"/>
            </a:schemeClr>
          </a:solidFill>
          <a:ln>
            <a:noFill/>
          </a:ln>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2060"/>
                </a:solidFill>
                <a:latin typeface="黑体" panose="02010609060101010101" pitchFamily="49" charset="-122"/>
                <a:ea typeface="黑体" panose="02010609060101010101" pitchFamily="49" charset="-122"/>
              </a:rPr>
              <a:t>提高齿面抗疲劳点蚀能力的主要措施有：</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5606" name="矩形 13"/>
          <p:cNvSpPr>
            <a:spLocks noChangeArrowheads="1"/>
          </p:cNvSpPr>
          <p:nvPr/>
        </p:nvSpPr>
        <p:spPr bwMode="auto">
          <a:xfrm>
            <a:off x="302270" y="1724261"/>
            <a:ext cx="86709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en-US" sz="2200" dirty="0">
                <a:solidFill>
                  <a:srgbClr val="000099"/>
                </a:solidFill>
                <a:latin typeface="黑体" panose="02010609060101010101" pitchFamily="49" charset="-122"/>
                <a:ea typeface="黑体" panose="02010609060101010101" pitchFamily="49" charset="-122"/>
              </a:rPr>
              <a:t>1</a:t>
            </a:r>
            <a:r>
              <a:rPr lang="zh-CN" altLang="en-US" sz="2200" dirty="0">
                <a:solidFill>
                  <a:srgbClr val="000099"/>
                </a:solidFill>
                <a:latin typeface="黑体" panose="02010609060101010101" pitchFamily="49" charset="-122"/>
                <a:ea typeface="黑体" panose="02010609060101010101" pitchFamily="49" charset="-122"/>
              </a:rPr>
              <a:t>）提高齿面材料的硬度，以便提高齿面材料的接触疲劳极限；</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5607" name="Rectangle 1"/>
          <p:cNvSpPr>
            <a:spLocks noChangeArrowheads="1"/>
          </p:cNvSpPr>
          <p:nvPr/>
        </p:nvSpPr>
        <p:spPr bwMode="auto">
          <a:xfrm>
            <a:off x="0" y="2276916"/>
            <a:ext cx="86709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0099"/>
                </a:solidFill>
                <a:latin typeface="黑体" panose="02010609060101010101" pitchFamily="49" charset="-122"/>
                <a:ea typeface="黑体" panose="02010609060101010101" pitchFamily="49" charset="-122"/>
              </a:rPr>
              <a:t>2</a:t>
            </a:r>
            <a:r>
              <a:rPr lang="zh-CN" altLang="en-US" sz="2200" dirty="0">
                <a:solidFill>
                  <a:srgbClr val="000099"/>
                </a:solidFill>
                <a:latin typeface="黑体" panose="02010609060101010101" pitchFamily="49" charset="-122"/>
                <a:ea typeface="黑体" panose="02010609060101010101" pitchFamily="49" charset="-122"/>
              </a:rPr>
              <a:t>）改善齿轮润滑条件可以减小摩擦，延缓点蚀的出现；</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5608" name="Rectangle 2"/>
          <p:cNvSpPr>
            <a:spLocks noChangeArrowheads="1"/>
          </p:cNvSpPr>
          <p:nvPr/>
        </p:nvSpPr>
        <p:spPr bwMode="auto">
          <a:xfrm>
            <a:off x="0" y="2881330"/>
            <a:ext cx="88757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0099"/>
                </a:solidFill>
                <a:latin typeface="黑体" panose="02010609060101010101" pitchFamily="49" charset="-122"/>
                <a:ea typeface="黑体" panose="02010609060101010101" pitchFamily="49" charset="-122"/>
              </a:rPr>
              <a:t>3</a:t>
            </a:r>
            <a:r>
              <a:rPr lang="zh-CN" altLang="en-US" sz="2200" dirty="0">
                <a:solidFill>
                  <a:srgbClr val="000099"/>
                </a:solidFill>
                <a:latin typeface="黑体" panose="02010609060101010101" pitchFamily="49" charset="-122"/>
                <a:ea typeface="黑体" panose="02010609060101010101" pitchFamily="49" charset="-122"/>
              </a:rPr>
              <a:t>）适当增大齿轮的分度圆直径，以减少齿面接触应力；</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5609" name="Rectangle 3"/>
          <p:cNvSpPr>
            <a:spLocks noChangeArrowheads="1"/>
          </p:cNvSpPr>
          <p:nvPr/>
        </p:nvSpPr>
        <p:spPr bwMode="auto">
          <a:xfrm>
            <a:off x="300038" y="3504875"/>
            <a:ext cx="884396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0099"/>
                </a:solidFill>
                <a:latin typeface="黑体" panose="02010609060101010101" pitchFamily="49" charset="-122"/>
                <a:ea typeface="黑体" panose="02010609060101010101" pitchFamily="49" charset="-122"/>
              </a:rPr>
              <a:t>4</a:t>
            </a:r>
            <a:r>
              <a:rPr lang="zh-CN" altLang="en-US" sz="2200" dirty="0">
                <a:solidFill>
                  <a:srgbClr val="000099"/>
                </a:solidFill>
                <a:latin typeface="黑体" panose="02010609060101010101" pitchFamily="49" charset="-122"/>
                <a:ea typeface="黑体" panose="02010609060101010101" pitchFamily="49" charset="-122"/>
              </a:rPr>
              <a:t>）适当选用粘度较高的润滑油，以避免润滑油挤入疲劳裂纹，加速裂纹扩展。</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5610" name="矩形 20"/>
          <p:cNvSpPr>
            <a:spLocks noChangeArrowheads="1"/>
          </p:cNvSpPr>
          <p:nvPr/>
        </p:nvSpPr>
        <p:spPr bwMode="auto">
          <a:xfrm>
            <a:off x="192505" y="4555203"/>
            <a:ext cx="852963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latin typeface="Tahoma" panose="020B0604030504040204" pitchFamily="34" charset="0"/>
              </a:rPr>
              <a:t>    </a:t>
            </a:r>
            <a:r>
              <a:rPr lang="zh-CN" altLang="en-US" sz="2200" dirty="0">
                <a:solidFill>
                  <a:srgbClr val="000099"/>
                </a:solidFill>
                <a:latin typeface="黑体" panose="02010609060101010101" pitchFamily="49" charset="-122"/>
                <a:ea typeface="黑体" panose="02010609060101010101" pitchFamily="49" charset="-122"/>
              </a:rPr>
              <a:t>在开式齿轮传动中，由于齿面磨损较快，很少出现点蚀现象。</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4592" name="Rectangle 10"/>
          <p:cNvSpPr>
            <a:spLocks noChangeArrowheads="1"/>
          </p:cNvSpPr>
          <p:nvPr/>
        </p:nvSpPr>
        <p:spPr bwMode="auto">
          <a:xfrm>
            <a:off x="1925638" y="12319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7" name="Picture 23"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70"/>
                                        </p:tgtEl>
                                        <p:attrNameLst>
                                          <p:attrName>style.visibility</p:attrName>
                                        </p:attrNameLst>
                                      </p:cBhvr>
                                      <p:to>
                                        <p:strVal val="visible"/>
                                      </p:to>
                                    </p:set>
                                    <p:anim calcmode="lin" valueType="num">
                                      <p:cBhvr additive="base">
                                        <p:cTn id="7" dur="500" fill="hold"/>
                                        <p:tgtEl>
                                          <p:spTgt spid="9270"/>
                                        </p:tgtEl>
                                        <p:attrNameLst>
                                          <p:attrName>ppt_x</p:attrName>
                                        </p:attrNameLst>
                                      </p:cBhvr>
                                      <p:tavLst>
                                        <p:tav tm="0">
                                          <p:val>
                                            <p:strVal val="0-#ppt_w/2"/>
                                          </p:val>
                                        </p:tav>
                                        <p:tav tm="100000">
                                          <p:val>
                                            <p:strVal val="#ppt_x"/>
                                          </p:val>
                                        </p:tav>
                                      </p:tavLst>
                                    </p:anim>
                                    <p:anim calcmode="lin" valueType="num">
                                      <p:cBhvr additive="base">
                                        <p:cTn id="8" dur="500" fill="hold"/>
                                        <p:tgtEl>
                                          <p:spTgt spid="92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60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60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60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60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610"/>
                                        </p:tgtEl>
                                        <p:attrNameLst>
                                          <p:attrName>style.visibility</p:attrName>
                                        </p:attrNameLst>
                                      </p:cBhvr>
                                      <p:to>
                                        <p:strVal val="visible"/>
                                      </p:to>
                                    </p:set>
                                  </p:childTnLst>
                                </p:cTn>
                              </p:par>
                            </p:childTnLst>
                          </p:cTn>
                        </p:par>
                        <p:par>
                          <p:cTn id="29" fill="hold">
                            <p:stCondLst>
                              <p:cond delay="0"/>
                            </p:stCondLst>
                            <p:childTnLst>
                              <p:par>
                                <p:cTn id="30" presetID="2" presetClass="entr" presetSubtype="8" fill="hold" nodeType="afterEffect">
                                  <p:stCondLst>
                                    <p:cond delay="0"/>
                                  </p:stCondLst>
                                  <p:childTnLst>
                                    <p:set>
                                      <p:cBhvr>
                                        <p:cTn id="31" dur="1" fill="hold">
                                          <p:stCondLst>
                                            <p:cond delay="0"/>
                                          </p:stCondLst>
                                        </p:cTn>
                                        <p:tgtEl>
                                          <p:spTgt spid="9262"/>
                                        </p:tgtEl>
                                        <p:attrNameLst>
                                          <p:attrName>style.visibility</p:attrName>
                                        </p:attrNameLst>
                                      </p:cBhvr>
                                      <p:to>
                                        <p:strVal val="visible"/>
                                      </p:to>
                                    </p:set>
                                    <p:anim calcmode="lin" valueType="num">
                                      <p:cBhvr additive="base">
                                        <p:cTn id="32" dur="500" fill="hold"/>
                                        <p:tgtEl>
                                          <p:spTgt spid="9262"/>
                                        </p:tgtEl>
                                        <p:attrNameLst>
                                          <p:attrName>ppt_x</p:attrName>
                                        </p:attrNameLst>
                                      </p:cBhvr>
                                      <p:tavLst>
                                        <p:tav tm="0">
                                          <p:val>
                                            <p:strVal val="0-#ppt_w/2"/>
                                          </p:val>
                                        </p:tav>
                                        <p:tav tm="100000">
                                          <p:val>
                                            <p:strVal val="#ppt_x"/>
                                          </p:val>
                                        </p:tav>
                                      </p:tavLst>
                                    </p:anim>
                                    <p:anim calcmode="lin" valueType="num">
                                      <p:cBhvr additive="base">
                                        <p:cTn id="33" dur="500" fill="hold"/>
                                        <p:tgtEl>
                                          <p:spTgt spid="9262"/>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0" grpId="0" autoUpdateAnimBg="0"/>
      <p:bldP spid="25606" grpId="0"/>
      <p:bldP spid="25607" grpId="0"/>
      <p:bldP spid="25608" grpId="0"/>
      <p:bldP spid="25609" grpId="0"/>
      <p:bldP spid="256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62" name="Picture 46"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724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70"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5611" name="矩形 14"/>
          <p:cNvSpPr>
            <a:spLocks noChangeArrowheads="1"/>
          </p:cNvSpPr>
          <p:nvPr/>
        </p:nvSpPr>
        <p:spPr bwMode="auto">
          <a:xfrm>
            <a:off x="263694" y="1474813"/>
            <a:ext cx="9144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latin typeface="Tahoma" panose="020B0604030504040204" pitchFamily="34" charset="0"/>
              </a:rPr>
              <a:t>    </a:t>
            </a:r>
            <a:r>
              <a:rPr lang="zh-CN" altLang="en-US" sz="2200" dirty="0">
                <a:solidFill>
                  <a:srgbClr val="000099"/>
                </a:solidFill>
                <a:latin typeface="黑体" panose="02010609060101010101" pitchFamily="49" charset="-122"/>
                <a:ea typeface="黑体" panose="02010609060101010101" pitchFamily="49" charset="-122"/>
              </a:rPr>
              <a:t>当啮合齿面间落入磨料性物质时，齿面即被逐渐磨损而致报废。</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5612" name="Rectangle 1"/>
          <p:cNvSpPr>
            <a:spLocks noChangeArrowheads="1"/>
          </p:cNvSpPr>
          <p:nvPr/>
        </p:nvSpPr>
        <p:spPr bwMode="auto">
          <a:xfrm>
            <a:off x="0" y="983126"/>
            <a:ext cx="2453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30670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en-US" altLang="zh-CN" sz="2400" dirty="0">
                <a:solidFill>
                  <a:srgbClr val="C00000"/>
                </a:solidFill>
                <a:latin typeface="黑体" panose="02010609060101010101" pitchFamily="49" charset="-122"/>
                <a:ea typeface="黑体" panose="02010609060101010101" pitchFamily="49" charset="-122"/>
              </a:rPr>
              <a:t>3</a:t>
            </a:r>
            <a:r>
              <a:rPr lang="zh-CN" altLang="en-US" sz="2400" dirty="0">
                <a:solidFill>
                  <a:srgbClr val="C00000"/>
                </a:solidFill>
                <a:latin typeface="黑体" panose="02010609060101010101" pitchFamily="49" charset="-122"/>
                <a:ea typeface="黑体" panose="02010609060101010101" pitchFamily="49" charset="-122"/>
              </a:rPr>
              <a:t>、齿面磨损</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5613" name="Rectangle 2"/>
          <p:cNvSpPr>
            <a:spLocks noChangeArrowheads="1"/>
          </p:cNvSpPr>
          <p:nvPr/>
        </p:nvSpPr>
        <p:spPr bwMode="auto">
          <a:xfrm>
            <a:off x="2423129" y="948950"/>
            <a:ext cx="6417141" cy="43088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p:spPr>
        <p:txBody>
          <a:bodyPr wrap="none"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0099"/>
                </a:solidFill>
                <a:latin typeface="黑体" panose="02010609060101010101" pitchFamily="49" charset="-122"/>
                <a:ea typeface="黑体" panose="02010609060101010101" pitchFamily="49" charset="-122"/>
              </a:rPr>
              <a:t>齿面磨损是开式齿轮传动的主要失效形式之一。</a:t>
            </a:r>
            <a:endParaRPr lang="zh-CN" altLang="en-US" sz="2200" dirty="0">
              <a:solidFill>
                <a:srgbClr val="000099"/>
              </a:solidFill>
              <a:latin typeface="黑体" panose="02010609060101010101" pitchFamily="49" charset="-122"/>
              <a:ea typeface="黑体" panose="02010609060101010101" pitchFamily="49" charset="-122"/>
            </a:endParaRPr>
          </a:p>
        </p:txBody>
      </p:sp>
      <p:pic>
        <p:nvPicPr>
          <p:cNvPr id="2561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662" y="2160969"/>
            <a:ext cx="3164691" cy="216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5" name="Rectangle 4"/>
          <p:cNvSpPr>
            <a:spLocks noChangeArrowheads="1"/>
          </p:cNvSpPr>
          <p:nvPr/>
        </p:nvSpPr>
        <p:spPr bwMode="auto">
          <a:xfrm>
            <a:off x="2799099" y="4645473"/>
            <a:ext cx="5534025" cy="1361911"/>
          </a:xfrm>
          <a:prstGeom prst="rect">
            <a:avLst/>
          </a:prstGeom>
          <a:noFill/>
          <a:ln>
            <a:solidFill>
              <a:schemeClr val="tx2">
                <a:lumMod val="60000"/>
                <a:lumOff val="40000"/>
              </a:schemeClr>
            </a:solidFill>
          </a:ln>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en-US" altLang="zh-CN" sz="2200" dirty="0" smtClean="0">
                <a:solidFill>
                  <a:srgbClr val="000099"/>
                </a:solidFill>
                <a:latin typeface="黑体" panose="02010609060101010101" pitchFamily="49" charset="-122"/>
                <a:ea typeface="黑体" panose="02010609060101010101" pitchFamily="49" charset="-122"/>
              </a:rPr>
              <a:t>1</a:t>
            </a:r>
            <a:r>
              <a:rPr lang="zh-CN" altLang="en-US" sz="2200" dirty="0">
                <a:solidFill>
                  <a:srgbClr val="000099"/>
                </a:solidFill>
                <a:latin typeface="黑体" panose="02010609060101010101" pitchFamily="49" charset="-122"/>
                <a:ea typeface="黑体" panose="02010609060101010101" pitchFamily="49" charset="-122"/>
              </a:rPr>
              <a:t>）提高齿面材料的硬度；</a:t>
            </a:r>
            <a:endParaRPr lang="zh-CN" altLang="en-US" sz="2200" dirty="0">
              <a:solidFill>
                <a:srgbClr val="000099"/>
              </a:solidFill>
              <a:latin typeface="黑体" panose="02010609060101010101" pitchFamily="49" charset="-122"/>
              <a:ea typeface="黑体" panose="02010609060101010101" pitchFamily="49" charset="-122"/>
            </a:endParaRPr>
          </a:p>
          <a:p>
            <a:pPr eaLnBrk="1" hangingPunct="1">
              <a:lnSpc>
                <a:spcPct val="125000"/>
              </a:lnSpc>
            </a:pPr>
            <a:r>
              <a:rPr lang="en-US" altLang="zh-CN" sz="2200" dirty="0">
                <a:solidFill>
                  <a:srgbClr val="000099"/>
                </a:solidFill>
                <a:latin typeface="黑体" panose="02010609060101010101" pitchFamily="49" charset="-122"/>
                <a:ea typeface="黑体" panose="02010609060101010101" pitchFamily="49" charset="-122"/>
              </a:rPr>
              <a:t>2</a:t>
            </a:r>
            <a:r>
              <a:rPr lang="zh-CN" altLang="en-US" sz="2200" dirty="0">
                <a:solidFill>
                  <a:srgbClr val="000099"/>
                </a:solidFill>
                <a:latin typeface="黑体" panose="02010609060101010101" pitchFamily="49" charset="-122"/>
                <a:ea typeface="黑体" panose="02010609060101010101" pitchFamily="49" charset="-122"/>
              </a:rPr>
              <a:t>）采用闭式齿轮传动，改善润滑条件；</a:t>
            </a:r>
            <a:endParaRPr lang="zh-CN" altLang="en-US" sz="2200" dirty="0">
              <a:solidFill>
                <a:srgbClr val="000099"/>
              </a:solidFill>
              <a:latin typeface="黑体" panose="02010609060101010101" pitchFamily="49" charset="-122"/>
              <a:ea typeface="黑体" panose="02010609060101010101" pitchFamily="49" charset="-122"/>
            </a:endParaRPr>
          </a:p>
          <a:p>
            <a:pPr eaLnBrk="1" hangingPunct="1">
              <a:lnSpc>
                <a:spcPct val="125000"/>
              </a:lnSpc>
            </a:pPr>
            <a:r>
              <a:rPr lang="en-US" altLang="zh-CN" sz="2200" dirty="0">
                <a:solidFill>
                  <a:srgbClr val="000099"/>
                </a:solidFill>
                <a:latin typeface="黑体" panose="02010609060101010101" pitchFamily="49" charset="-122"/>
                <a:ea typeface="黑体" panose="02010609060101010101" pitchFamily="49" charset="-122"/>
              </a:rPr>
              <a:t>3</a:t>
            </a:r>
            <a:r>
              <a:rPr lang="zh-CN" altLang="en-US" sz="2200" dirty="0">
                <a:solidFill>
                  <a:srgbClr val="000099"/>
                </a:solidFill>
                <a:latin typeface="黑体" panose="02010609060101010101" pitchFamily="49" charset="-122"/>
                <a:ea typeface="黑体" panose="02010609060101010101" pitchFamily="49" charset="-122"/>
              </a:rPr>
              <a:t>）尽量为齿轮传动保持清洁的工作环境。</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4592" name="Rectangle 10"/>
          <p:cNvSpPr>
            <a:spLocks noChangeArrowheads="1"/>
          </p:cNvSpPr>
          <p:nvPr/>
        </p:nvSpPr>
        <p:spPr bwMode="auto">
          <a:xfrm>
            <a:off x="1973263" y="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7" name="Picture 23" descr="NEXT">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4" name="直接连接符 6"/>
          <p:cNvSpPr>
            <a:spLocks noChangeShapeType="1"/>
          </p:cNvSpPr>
          <p:nvPr/>
        </p:nvSpPr>
        <p:spPr bwMode="auto">
          <a:xfrm>
            <a:off x="0" y="64967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20" name="Picture 6" descr="磨损 复制"/>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6226" y="2152435"/>
            <a:ext cx="2773362"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74647" y="4859684"/>
            <a:ext cx="2453488" cy="904863"/>
          </a:xfrm>
          <a:prstGeom prst="rect">
            <a:avLst/>
          </a:prstGeom>
          <a:solidFill>
            <a:schemeClr val="tx2">
              <a:lumMod val="20000"/>
              <a:lumOff val="80000"/>
            </a:schemeClr>
          </a:solidFill>
        </p:spPr>
        <p:txBody>
          <a:bodyPr wrap="square">
            <a:spAutoFit/>
          </a:bodyPr>
          <a:lstStyle/>
          <a:p>
            <a:pPr>
              <a:lnSpc>
                <a:spcPct val="120000"/>
              </a:lnSpc>
            </a:pPr>
            <a:r>
              <a:rPr lang="zh-CN" altLang="en-US" sz="2200" dirty="0">
                <a:solidFill>
                  <a:srgbClr val="000099"/>
                </a:solidFill>
                <a:latin typeface="黑体" panose="02010609060101010101" pitchFamily="49" charset="-122"/>
                <a:ea typeface="黑体" panose="02010609060101010101" pitchFamily="49" charset="-122"/>
              </a:rPr>
              <a:t>提高齿面抗磨损能力的主要措施有：</a:t>
            </a:r>
            <a:endParaRPr lang="zh-CN" altLang="en-US" sz="2200"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70"/>
                                        </p:tgtEl>
                                        <p:attrNameLst>
                                          <p:attrName>style.visibility</p:attrName>
                                        </p:attrNameLst>
                                      </p:cBhvr>
                                      <p:to>
                                        <p:strVal val="visible"/>
                                      </p:to>
                                    </p:set>
                                    <p:anim calcmode="lin" valueType="num">
                                      <p:cBhvr additive="base">
                                        <p:cTn id="7" dur="500" fill="hold"/>
                                        <p:tgtEl>
                                          <p:spTgt spid="9270"/>
                                        </p:tgtEl>
                                        <p:attrNameLst>
                                          <p:attrName>ppt_x</p:attrName>
                                        </p:attrNameLst>
                                      </p:cBhvr>
                                      <p:tavLst>
                                        <p:tav tm="0">
                                          <p:val>
                                            <p:strVal val="0-#ppt_w/2"/>
                                          </p:val>
                                        </p:tav>
                                        <p:tav tm="100000">
                                          <p:val>
                                            <p:strVal val="#ppt_x"/>
                                          </p:val>
                                        </p:tav>
                                      </p:tavLst>
                                    </p:anim>
                                    <p:anim calcmode="lin" valueType="num">
                                      <p:cBhvr additive="base">
                                        <p:cTn id="8" dur="500" fill="hold"/>
                                        <p:tgtEl>
                                          <p:spTgt spid="92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6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6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614"/>
                                        </p:tgtEl>
                                        <p:attrNameLst>
                                          <p:attrName>style.visibility</p:attrName>
                                        </p:attrNameLst>
                                      </p:cBhvr>
                                      <p:to>
                                        <p:strVal val="visible"/>
                                      </p:to>
                                    </p:set>
                                  </p:childTnLst>
                                </p:cTn>
                              </p:par>
                            </p:childTnLst>
                          </p:cTn>
                        </p:par>
                        <p:par>
                          <p:cTn id="21" fill="hold">
                            <p:stCondLst>
                              <p:cond delay="0"/>
                            </p:stCondLst>
                            <p:childTnLst>
                              <p:par>
                                <p:cTn id="22" presetID="22" presetClass="entr" presetSubtype="8" fill="hold"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6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5615"/>
                                        </p:tgtEl>
                                        <p:attrNameLst>
                                          <p:attrName>style.visibility</p:attrName>
                                        </p:attrNameLst>
                                      </p:cBhvr>
                                      <p:to>
                                        <p:strVal val="visible"/>
                                      </p:to>
                                    </p:set>
                                  </p:childTnLst>
                                </p:cTn>
                              </p:par>
                            </p:childTnLst>
                          </p:cTn>
                        </p:par>
                        <p:par>
                          <p:cTn id="38" fill="hold">
                            <p:stCondLst>
                              <p:cond delay="0"/>
                            </p:stCondLst>
                            <p:childTnLst>
                              <p:par>
                                <p:cTn id="39" presetID="2" presetClass="entr" presetSubtype="8" fill="hold" nodeType="afterEffect">
                                  <p:stCondLst>
                                    <p:cond delay="0"/>
                                  </p:stCondLst>
                                  <p:childTnLst>
                                    <p:set>
                                      <p:cBhvr>
                                        <p:cTn id="40" dur="1" fill="hold">
                                          <p:stCondLst>
                                            <p:cond delay="0"/>
                                          </p:stCondLst>
                                        </p:cTn>
                                        <p:tgtEl>
                                          <p:spTgt spid="9262"/>
                                        </p:tgtEl>
                                        <p:attrNameLst>
                                          <p:attrName>style.visibility</p:attrName>
                                        </p:attrNameLst>
                                      </p:cBhvr>
                                      <p:to>
                                        <p:strVal val="visible"/>
                                      </p:to>
                                    </p:set>
                                    <p:anim calcmode="lin" valueType="num">
                                      <p:cBhvr additive="base">
                                        <p:cTn id="41" dur="500" fill="hold"/>
                                        <p:tgtEl>
                                          <p:spTgt spid="9262"/>
                                        </p:tgtEl>
                                        <p:attrNameLst>
                                          <p:attrName>ppt_x</p:attrName>
                                        </p:attrNameLst>
                                      </p:cBhvr>
                                      <p:tavLst>
                                        <p:tav tm="0">
                                          <p:val>
                                            <p:strVal val="0-#ppt_w/2"/>
                                          </p:val>
                                        </p:tav>
                                        <p:tav tm="100000">
                                          <p:val>
                                            <p:strVal val="#ppt_x"/>
                                          </p:val>
                                        </p:tav>
                                      </p:tavLst>
                                    </p:anim>
                                    <p:anim calcmode="lin" valueType="num">
                                      <p:cBhvr additive="base">
                                        <p:cTn id="42" dur="500" fill="hold"/>
                                        <p:tgtEl>
                                          <p:spTgt spid="9262"/>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0" grpId="0" autoUpdateAnimBg="0"/>
      <p:bldP spid="25611" grpId="0"/>
      <p:bldP spid="25612" grpId="0"/>
      <p:bldP spid="25613" grpId="0" bldLvl="0" animBg="1"/>
      <p:bldP spid="25615" grpId="0" bldLvl="0" animBg="1"/>
      <p:bldP spid="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62" name="Picture 46"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4391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6628" name="Rectangle 2"/>
          <p:cNvSpPr>
            <a:spLocks noChangeArrowheads="1"/>
          </p:cNvSpPr>
          <p:nvPr/>
        </p:nvSpPr>
        <p:spPr bwMode="auto">
          <a:xfrm>
            <a:off x="119411" y="1272648"/>
            <a:ext cx="8875713"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sz="2200" dirty="0">
                <a:solidFill>
                  <a:srgbClr val="000099"/>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由于相互啮合的轮齿齿面间未能形成润滑油膜，导致金属表面直接接触，而后又因相对滑动，粘连的金属被撕开，在金属表面沿相对滑动方向形成一条条沟痕，这种现象称为</a:t>
            </a:r>
            <a:r>
              <a:rPr lang="zh-CN" altLang="en-US" sz="2200" dirty="0">
                <a:solidFill>
                  <a:srgbClr val="FF0000"/>
                </a:solidFill>
                <a:latin typeface="黑体" panose="02010609060101010101" pitchFamily="49" charset="-122"/>
                <a:ea typeface="黑体" panose="02010609060101010101" pitchFamily="49" charset="-122"/>
              </a:rPr>
              <a:t>齿面胶合</a:t>
            </a:r>
            <a:r>
              <a:rPr lang="zh-CN" altLang="en-US" sz="2200" dirty="0">
                <a:solidFill>
                  <a:srgbClr val="000099"/>
                </a:solidFill>
                <a:latin typeface="黑体" panose="02010609060101010101" pitchFamily="49" charset="-122"/>
                <a:ea typeface="黑体" panose="02010609060101010101" pitchFamily="49" charset="-122"/>
              </a:rPr>
              <a:t>。</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6629" name="矩形 20"/>
          <p:cNvSpPr>
            <a:spLocks noChangeArrowheads="1"/>
          </p:cNvSpPr>
          <p:nvPr/>
        </p:nvSpPr>
        <p:spPr bwMode="auto">
          <a:xfrm>
            <a:off x="99589" y="2835018"/>
            <a:ext cx="842877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solidFill>
                  <a:srgbClr val="C00000"/>
                </a:solidFill>
                <a:latin typeface="Tahoma" panose="020B0604030504040204" pitchFamily="34" charset="0"/>
              </a:rPr>
              <a:t>        </a:t>
            </a:r>
            <a:r>
              <a:rPr lang="zh-CN" altLang="en-US" sz="2200" dirty="0">
                <a:solidFill>
                  <a:srgbClr val="C00000"/>
                </a:solidFill>
                <a:latin typeface="黑体" panose="02010609060101010101" pitchFamily="49" charset="-122"/>
                <a:ea typeface="黑体" panose="02010609060101010101" pitchFamily="49" charset="-122"/>
              </a:rPr>
              <a:t>高速重载条件下</a:t>
            </a:r>
            <a:r>
              <a:rPr lang="zh-CN" altLang="en-US" sz="2200" dirty="0">
                <a:solidFill>
                  <a:srgbClr val="002060"/>
                </a:solidFill>
                <a:latin typeface="黑体" panose="02010609060101010101" pitchFamily="49" charset="-122"/>
                <a:ea typeface="黑体" panose="02010609060101010101" pitchFamily="49" charset="-122"/>
              </a:rPr>
              <a:t>工作的齿轮，由于其相对滑动速度大，因摩擦导致局部温度上升，润滑油膜破裂而产生的胶合，称为</a:t>
            </a:r>
            <a:r>
              <a:rPr lang="zh-CN" altLang="en-US" sz="2200" dirty="0">
                <a:solidFill>
                  <a:srgbClr val="FF0000"/>
                </a:solidFill>
                <a:latin typeface="黑体" panose="02010609060101010101" pitchFamily="49" charset="-122"/>
                <a:ea typeface="黑体" panose="02010609060101010101" pitchFamily="49" charset="-122"/>
              </a:rPr>
              <a:t>热胶合</a:t>
            </a:r>
            <a:r>
              <a:rPr lang="zh-CN" altLang="en-US" dirty="0">
                <a:solidFill>
                  <a:srgbClr val="000099"/>
                </a:solidFill>
                <a:latin typeface="Tahoma" panose="020B0604030504040204" pitchFamily="34" charset="0"/>
              </a:rPr>
              <a:t>。</a:t>
            </a:r>
            <a:endParaRPr lang="zh-CN" altLang="en-US" dirty="0">
              <a:solidFill>
                <a:srgbClr val="000099"/>
              </a:solidFill>
              <a:latin typeface="Tahoma" panose="020B0604030504040204" pitchFamily="34" charset="0"/>
            </a:endParaRPr>
          </a:p>
        </p:txBody>
      </p:sp>
      <p:sp>
        <p:nvSpPr>
          <p:cNvPr id="25607" name="Rectangle 1"/>
          <p:cNvSpPr>
            <a:spLocks noChangeArrowheads="1"/>
          </p:cNvSpPr>
          <p:nvPr/>
        </p:nvSpPr>
        <p:spPr bwMode="auto">
          <a:xfrm>
            <a:off x="0" y="728018"/>
            <a:ext cx="26255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30670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en-US" altLang="zh-CN" sz="2400" dirty="0">
                <a:solidFill>
                  <a:srgbClr val="C00000"/>
                </a:solidFill>
                <a:latin typeface="黑体" panose="02010609060101010101" pitchFamily="49" charset="-122"/>
                <a:ea typeface="黑体" panose="02010609060101010101" pitchFamily="49" charset="-122"/>
              </a:rPr>
              <a:t>4</a:t>
            </a:r>
            <a:r>
              <a:rPr lang="zh-CN" altLang="en-US" sz="2400" dirty="0">
                <a:solidFill>
                  <a:srgbClr val="C00000"/>
                </a:solidFill>
                <a:latin typeface="黑体" panose="02010609060101010101" pitchFamily="49" charset="-122"/>
                <a:ea typeface="黑体" panose="02010609060101010101" pitchFamily="49" charset="-122"/>
              </a:rPr>
              <a:t>、齿面胶合</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266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6788" y="3845303"/>
            <a:ext cx="43672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4" name="Rectangle 3"/>
          <p:cNvSpPr>
            <a:spLocks noChangeArrowheads="1"/>
          </p:cNvSpPr>
          <p:nvPr/>
        </p:nvSpPr>
        <p:spPr bwMode="auto">
          <a:xfrm>
            <a:off x="89963" y="4072674"/>
            <a:ext cx="4619625"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solidFill>
                  <a:srgbClr val="000099"/>
                </a:solidFill>
                <a:latin typeface="Tahoma" panose="020B0604030504040204" pitchFamily="34" charset="0"/>
              </a:rPr>
              <a:t> </a:t>
            </a:r>
            <a:r>
              <a:rPr lang="zh-CN" altLang="en-US" dirty="0">
                <a:solidFill>
                  <a:srgbClr val="002060"/>
                </a:solidFill>
                <a:latin typeface="Tahoma" panose="020B0604030504040204" pitchFamily="34" charset="0"/>
              </a:rPr>
              <a:t>  </a:t>
            </a:r>
            <a:r>
              <a:rPr lang="zh-CN" altLang="en-US" sz="2200" dirty="0">
                <a:solidFill>
                  <a:srgbClr val="002060"/>
                </a:solidFill>
                <a:latin typeface="黑体" panose="02010609060101010101" pitchFamily="49" charset="-122"/>
                <a:ea typeface="黑体" panose="02010609060101010101" pitchFamily="49" charset="-122"/>
              </a:rPr>
              <a:t>低速重载的齿轮传动，由于齿面间压力很高，导致油膜遭到破坏，也会使金属发生粘着产生胶合，称为</a:t>
            </a:r>
            <a:r>
              <a:rPr lang="zh-CN" altLang="en-US" sz="2200" dirty="0">
                <a:solidFill>
                  <a:srgbClr val="FF0000"/>
                </a:solidFill>
                <a:latin typeface="黑体" panose="02010609060101010101" pitchFamily="49" charset="-122"/>
                <a:ea typeface="黑体" panose="02010609060101010101" pitchFamily="49" charset="-122"/>
              </a:rPr>
              <a:t>冷胶合</a:t>
            </a:r>
            <a:r>
              <a:rPr lang="zh-CN" altLang="en-US" sz="2200" dirty="0">
                <a:solidFill>
                  <a:srgbClr val="000099"/>
                </a:solidFill>
                <a:latin typeface="黑体" panose="02010609060101010101" pitchFamily="49" charset="-122"/>
                <a:ea typeface="黑体" panose="02010609060101010101" pitchFamily="49" charset="-122"/>
              </a:rPr>
              <a:t>。</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5610" name="Rectangle 10"/>
          <p:cNvSpPr>
            <a:spLocks noChangeArrowheads="1"/>
          </p:cNvSpPr>
          <p:nvPr/>
        </p:nvSpPr>
        <p:spPr bwMode="auto">
          <a:xfrm>
            <a:off x="1973263" y="6731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1" name="Picture 23" descr="NEXT">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34"/>
                                        </p:tgtEl>
                                        <p:attrNameLst>
                                          <p:attrName>style.visibility</p:attrName>
                                        </p:attrNameLst>
                                      </p:cBhvr>
                                      <p:to>
                                        <p:strVal val="visible"/>
                                      </p:to>
                                    </p:set>
                                  </p:childTnLst>
                                </p:cTn>
                              </p:par>
                            </p:childTnLst>
                          </p:cTn>
                        </p:par>
                        <p:par>
                          <p:cTn id="19" fill="hold">
                            <p:stCondLst>
                              <p:cond delay="0"/>
                            </p:stCondLst>
                            <p:childTnLst>
                              <p:par>
                                <p:cTn id="20" presetID="2" presetClass="entr" presetSubtype="8" fill="hold" nodeType="afterEffect">
                                  <p:stCondLst>
                                    <p:cond delay="0"/>
                                  </p:stCondLst>
                                  <p:childTnLst>
                                    <p:set>
                                      <p:cBhvr>
                                        <p:cTn id="21" dur="1" fill="hold">
                                          <p:stCondLst>
                                            <p:cond delay="0"/>
                                          </p:stCondLst>
                                        </p:cTn>
                                        <p:tgtEl>
                                          <p:spTgt spid="9262"/>
                                        </p:tgtEl>
                                        <p:attrNameLst>
                                          <p:attrName>style.visibility</p:attrName>
                                        </p:attrNameLst>
                                      </p:cBhvr>
                                      <p:to>
                                        <p:strVal val="visible"/>
                                      </p:to>
                                    </p:set>
                                    <p:anim calcmode="lin" valueType="num">
                                      <p:cBhvr additive="base">
                                        <p:cTn id="22" dur="500" fill="hold"/>
                                        <p:tgtEl>
                                          <p:spTgt spid="9262"/>
                                        </p:tgtEl>
                                        <p:attrNameLst>
                                          <p:attrName>ppt_x</p:attrName>
                                        </p:attrNameLst>
                                      </p:cBhvr>
                                      <p:tavLst>
                                        <p:tav tm="0">
                                          <p:val>
                                            <p:strVal val="0-#ppt_w/2"/>
                                          </p:val>
                                        </p:tav>
                                        <p:tav tm="100000">
                                          <p:val>
                                            <p:strVal val="#ppt_x"/>
                                          </p:val>
                                        </p:tav>
                                      </p:tavLst>
                                    </p:anim>
                                    <p:anim calcmode="lin" valueType="num">
                                      <p:cBhvr additive="base">
                                        <p:cTn id="23" dur="500" fill="hold"/>
                                        <p:tgtEl>
                                          <p:spTgt spid="9262"/>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9" grpId="0"/>
      <p:bldP spid="266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62" name="Picture 46"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4391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6630" name="Rectangle 4"/>
          <p:cNvSpPr>
            <a:spLocks noChangeArrowheads="1"/>
          </p:cNvSpPr>
          <p:nvPr/>
        </p:nvSpPr>
        <p:spPr bwMode="auto">
          <a:xfrm>
            <a:off x="886631" y="1930958"/>
            <a:ext cx="7366015" cy="212365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en-US" sz="2200" dirty="0" smtClean="0">
                <a:solidFill>
                  <a:srgbClr val="000099"/>
                </a:solidFill>
                <a:latin typeface="黑体" panose="02010609060101010101" pitchFamily="49" charset="-122"/>
                <a:ea typeface="黑体" panose="02010609060101010101" pitchFamily="49" charset="-122"/>
              </a:rPr>
              <a:t>1</a:t>
            </a:r>
            <a:r>
              <a:rPr lang="zh-CN" altLang="en-US" sz="2200" dirty="0">
                <a:solidFill>
                  <a:srgbClr val="000099"/>
                </a:solidFill>
                <a:latin typeface="黑体" panose="02010609060101010101" pitchFamily="49" charset="-122"/>
                <a:ea typeface="黑体" panose="02010609060101010101" pitchFamily="49" charset="-122"/>
              </a:rPr>
              <a:t>）提高齿面材料的硬度；</a:t>
            </a:r>
            <a:endParaRPr lang="zh-CN" altLang="en-US" sz="2200" dirty="0">
              <a:solidFill>
                <a:srgbClr val="000099"/>
              </a:solidFill>
              <a:latin typeface="黑体" panose="02010609060101010101" pitchFamily="49" charset="-122"/>
              <a:ea typeface="黑体" panose="02010609060101010101" pitchFamily="49" charset="-122"/>
            </a:endParaRPr>
          </a:p>
          <a:p>
            <a:pPr eaLnBrk="1" hangingPunct="1">
              <a:lnSpc>
                <a:spcPct val="150000"/>
              </a:lnSpc>
            </a:pPr>
            <a:r>
              <a:rPr lang="en-US" altLang="en-US" sz="2200" dirty="0">
                <a:solidFill>
                  <a:srgbClr val="000099"/>
                </a:solidFill>
                <a:latin typeface="黑体" panose="02010609060101010101" pitchFamily="49" charset="-122"/>
                <a:ea typeface="黑体" panose="02010609060101010101" pitchFamily="49" charset="-122"/>
              </a:rPr>
              <a:t>2</a:t>
            </a:r>
            <a:r>
              <a:rPr lang="zh-CN" altLang="en-US" sz="2200" dirty="0">
                <a:solidFill>
                  <a:srgbClr val="000099"/>
                </a:solidFill>
                <a:latin typeface="黑体" panose="02010609060101010101" pitchFamily="49" charset="-122"/>
                <a:ea typeface="黑体" panose="02010609060101010101" pitchFamily="49" charset="-122"/>
              </a:rPr>
              <a:t>）适当减小模数，降低齿高以减小滑动速度；</a:t>
            </a:r>
            <a:endParaRPr lang="zh-CN" altLang="en-US" sz="2200" dirty="0">
              <a:solidFill>
                <a:srgbClr val="000099"/>
              </a:solidFill>
              <a:latin typeface="黑体" panose="02010609060101010101" pitchFamily="49" charset="-122"/>
              <a:ea typeface="黑体" panose="02010609060101010101" pitchFamily="49" charset="-122"/>
            </a:endParaRPr>
          </a:p>
          <a:p>
            <a:pPr eaLnBrk="1" hangingPunct="1">
              <a:lnSpc>
                <a:spcPct val="150000"/>
              </a:lnSpc>
            </a:pPr>
            <a:r>
              <a:rPr lang="en-US" altLang="en-US" sz="2200" dirty="0">
                <a:solidFill>
                  <a:srgbClr val="000099"/>
                </a:solidFill>
                <a:latin typeface="黑体" panose="02010609060101010101" pitchFamily="49" charset="-122"/>
                <a:ea typeface="黑体" panose="02010609060101010101" pitchFamily="49" charset="-122"/>
              </a:rPr>
              <a:t>3</a:t>
            </a:r>
            <a:r>
              <a:rPr lang="zh-CN" altLang="en-US" sz="2200" dirty="0">
                <a:solidFill>
                  <a:srgbClr val="000099"/>
                </a:solidFill>
                <a:latin typeface="黑体" panose="02010609060101010101" pitchFamily="49" charset="-122"/>
                <a:ea typeface="黑体" panose="02010609060101010101" pitchFamily="49" charset="-122"/>
              </a:rPr>
              <a:t>）降低齿面粗糙度值，采用抗胶合能力强的齿轮材料；</a:t>
            </a:r>
            <a:endParaRPr lang="zh-CN" altLang="en-US" sz="2200" dirty="0">
              <a:solidFill>
                <a:srgbClr val="000099"/>
              </a:solidFill>
              <a:latin typeface="黑体" panose="02010609060101010101" pitchFamily="49" charset="-122"/>
              <a:ea typeface="黑体" panose="02010609060101010101" pitchFamily="49" charset="-122"/>
            </a:endParaRPr>
          </a:p>
          <a:p>
            <a:pPr eaLnBrk="1" hangingPunct="1">
              <a:lnSpc>
                <a:spcPct val="150000"/>
              </a:lnSpc>
            </a:pPr>
            <a:r>
              <a:rPr lang="en-US" altLang="en-US" sz="2200" dirty="0">
                <a:solidFill>
                  <a:srgbClr val="000099"/>
                </a:solidFill>
                <a:latin typeface="黑体" panose="02010609060101010101" pitchFamily="49" charset="-122"/>
                <a:ea typeface="黑体" panose="02010609060101010101" pitchFamily="49" charset="-122"/>
              </a:rPr>
              <a:t>4</a:t>
            </a:r>
            <a:r>
              <a:rPr lang="zh-CN" altLang="en-US" sz="2200" dirty="0">
                <a:solidFill>
                  <a:srgbClr val="000099"/>
                </a:solidFill>
                <a:latin typeface="黑体" panose="02010609060101010101" pitchFamily="49" charset="-122"/>
                <a:ea typeface="黑体" panose="02010609060101010101" pitchFamily="49" charset="-122"/>
              </a:rPr>
              <a:t>）在润滑油中加入极压添加剂。</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5610" name="Rectangle 10"/>
          <p:cNvSpPr>
            <a:spLocks noChangeArrowheads="1"/>
          </p:cNvSpPr>
          <p:nvPr/>
        </p:nvSpPr>
        <p:spPr bwMode="auto">
          <a:xfrm>
            <a:off x="1906588" y="11303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1" name="Picture 23"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544702" y="1144390"/>
            <a:ext cx="4698722" cy="457369"/>
          </a:xfrm>
          <a:prstGeom prst="rect">
            <a:avLst/>
          </a:prstGeom>
          <a:solidFill>
            <a:schemeClr val="tx2">
              <a:lumMod val="20000"/>
              <a:lumOff val="80000"/>
            </a:schemeClr>
          </a:solidFill>
        </p:spPr>
        <p:txBody>
          <a:bodyPr wrap="none">
            <a:spAutoFit/>
          </a:bodyPr>
          <a:lstStyle/>
          <a:p>
            <a:pPr eaLnBrk="1" hangingPunct="1">
              <a:lnSpc>
                <a:spcPct val="125000"/>
              </a:lnSpc>
            </a:pPr>
            <a:r>
              <a:rPr lang="zh-CN" altLang="en-US" sz="2200" dirty="0">
                <a:solidFill>
                  <a:srgbClr val="000099"/>
                </a:solidFill>
                <a:latin typeface="黑体" panose="02010609060101010101" pitchFamily="49" charset="-122"/>
                <a:ea typeface="黑体" panose="02010609060101010101" pitchFamily="49" charset="-122"/>
              </a:rPr>
              <a:t>提高齿面抗胶合能力的主要措施有：</a:t>
            </a:r>
            <a:endParaRPr lang="zh-CN" altLang="en-US" sz="2200" dirty="0">
              <a:solidFill>
                <a:srgbClr val="000099"/>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childTnLst>
                                </p:cTn>
                              </p:par>
                            </p:childTnLst>
                          </p:cTn>
                        </p:par>
                        <p:par>
                          <p:cTn id="7" fill="hold">
                            <p:stCondLst>
                              <p:cond delay="0"/>
                            </p:stCondLst>
                            <p:childTnLst>
                              <p:par>
                                <p:cTn id="8" presetID="2" presetClass="entr" presetSubtype="8" fill="hold" nodeType="afterEffect">
                                  <p:stCondLst>
                                    <p:cond delay="0"/>
                                  </p:stCondLst>
                                  <p:childTnLst>
                                    <p:set>
                                      <p:cBhvr>
                                        <p:cTn id="9" dur="1" fill="hold">
                                          <p:stCondLst>
                                            <p:cond delay="0"/>
                                          </p:stCondLst>
                                        </p:cTn>
                                        <p:tgtEl>
                                          <p:spTgt spid="9262"/>
                                        </p:tgtEl>
                                        <p:attrNameLst>
                                          <p:attrName>style.visibility</p:attrName>
                                        </p:attrNameLst>
                                      </p:cBhvr>
                                      <p:to>
                                        <p:strVal val="visible"/>
                                      </p:to>
                                    </p:set>
                                    <p:anim calcmode="lin" valueType="num">
                                      <p:cBhvr additive="base">
                                        <p:cTn id="10" dur="500" fill="hold"/>
                                        <p:tgtEl>
                                          <p:spTgt spid="9262"/>
                                        </p:tgtEl>
                                        <p:attrNameLst>
                                          <p:attrName>ppt_x</p:attrName>
                                        </p:attrNameLst>
                                      </p:cBhvr>
                                      <p:tavLst>
                                        <p:tav tm="0">
                                          <p:val>
                                            <p:strVal val="0-#ppt_w/2"/>
                                          </p:val>
                                        </p:tav>
                                        <p:tav tm="100000">
                                          <p:val>
                                            <p:strVal val="#ppt_x"/>
                                          </p:val>
                                        </p:tav>
                                      </p:tavLst>
                                    </p:anim>
                                    <p:anim calcmode="lin" valueType="num">
                                      <p:cBhvr additive="base">
                                        <p:cTn id="11" dur="500" fill="hold"/>
                                        <p:tgtEl>
                                          <p:spTgt spid="9262"/>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62" name="Picture 46"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8517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 Box 54"/>
          <p:cNvSpPr txBox="1">
            <a:spLocks noChangeArrowheads="1"/>
          </p:cNvSpPr>
          <p:nvPr/>
        </p:nvSpPr>
        <p:spPr bwMode="auto">
          <a:xfrm>
            <a:off x="6496050" y="6573838"/>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7652" name="Rectangle 2"/>
          <p:cNvSpPr>
            <a:spLocks noChangeArrowheads="1"/>
          </p:cNvSpPr>
          <p:nvPr/>
        </p:nvSpPr>
        <p:spPr bwMode="auto">
          <a:xfrm>
            <a:off x="244649" y="1351528"/>
            <a:ext cx="86868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solidFill>
                  <a:srgbClr val="000099"/>
                </a:solidFill>
                <a:latin typeface="Tahoma" panose="020B0604030504040204" pitchFamily="34" charset="0"/>
              </a:rPr>
              <a:t>       </a:t>
            </a:r>
            <a:r>
              <a:rPr lang="zh-CN" altLang="en-US" sz="2200" dirty="0">
                <a:solidFill>
                  <a:srgbClr val="000099"/>
                </a:solidFill>
                <a:latin typeface="黑体" panose="02010609060101010101" pitchFamily="49" charset="-122"/>
                <a:ea typeface="黑体" panose="02010609060101010101" pitchFamily="49" charset="-122"/>
              </a:rPr>
              <a:t>由于接触应力过大，</a:t>
            </a:r>
            <a:r>
              <a:rPr lang="zh-CN" altLang="en-US" sz="2200" dirty="0">
                <a:solidFill>
                  <a:srgbClr val="C00000"/>
                </a:solidFill>
                <a:latin typeface="黑体" panose="02010609060101010101" pitchFamily="49" charset="-122"/>
                <a:ea typeface="黑体" panose="02010609060101010101" pitchFamily="49" charset="-122"/>
              </a:rPr>
              <a:t>较软的齿面</a:t>
            </a:r>
            <a:r>
              <a:rPr lang="zh-CN" altLang="en-US" sz="2200" dirty="0">
                <a:solidFill>
                  <a:srgbClr val="000099"/>
                </a:solidFill>
                <a:latin typeface="黑体" panose="02010609060101010101" pitchFamily="49" charset="-122"/>
                <a:ea typeface="黑体" panose="02010609060101010101" pitchFamily="49" charset="-122"/>
              </a:rPr>
              <a:t>材料在摩擦力作用下，发生塑性变形，导致齿面形状破坏而失效，这种现象称为齿面塑性变形。</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7653" name="Rectangle 4"/>
          <p:cNvSpPr>
            <a:spLocks noChangeArrowheads="1"/>
          </p:cNvSpPr>
          <p:nvPr/>
        </p:nvSpPr>
        <p:spPr bwMode="auto">
          <a:xfrm>
            <a:off x="246101" y="5083420"/>
            <a:ext cx="5146675" cy="1303755"/>
          </a:xfrm>
          <a:prstGeom prst="rect">
            <a:avLst/>
          </a:prstGeom>
          <a:solidFill>
            <a:schemeClr val="tx2">
              <a:lumMod val="20000"/>
              <a:lumOff val="80000"/>
            </a:schemeClr>
          </a:solidFill>
          <a:ln w="9525">
            <a:solidFill>
              <a:schemeClr val="tx2">
                <a:lumMod val="60000"/>
                <a:lumOff val="40000"/>
              </a:schemeClr>
            </a:solidFill>
            <a:miter lim="800000"/>
          </a:ln>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solidFill>
                  <a:srgbClr val="000099"/>
                </a:solidFill>
                <a:latin typeface="Tahoma" panose="020B0604030504040204" pitchFamily="34" charset="0"/>
              </a:rPr>
              <a:t>       </a:t>
            </a:r>
            <a:r>
              <a:rPr lang="zh-CN" altLang="en-US" sz="2200" dirty="0">
                <a:solidFill>
                  <a:srgbClr val="000099"/>
                </a:solidFill>
                <a:latin typeface="黑体" panose="02010609060101010101" pitchFamily="49" charset="-122"/>
                <a:ea typeface="黑体" panose="02010609060101010101" pitchFamily="49" charset="-122"/>
              </a:rPr>
              <a:t>提高轮齿齿面硬度，采用高黏度的或加有极压添加剂的润滑油，均有助于减缓或防止轮齿产生塑性变形。</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6630" name="Rectangle 1"/>
          <p:cNvSpPr>
            <a:spLocks noChangeArrowheads="1"/>
          </p:cNvSpPr>
          <p:nvPr/>
        </p:nvSpPr>
        <p:spPr bwMode="auto">
          <a:xfrm>
            <a:off x="0" y="829618"/>
            <a:ext cx="3558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30670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en-US" altLang="zh-CN" sz="2400" dirty="0">
                <a:solidFill>
                  <a:srgbClr val="C00000"/>
                </a:solidFill>
                <a:latin typeface="黑体" panose="02010609060101010101" pitchFamily="49" charset="-122"/>
                <a:ea typeface="黑体" panose="02010609060101010101" pitchFamily="49" charset="-122"/>
              </a:rPr>
              <a:t>5</a:t>
            </a:r>
            <a:r>
              <a:rPr lang="zh-CN" altLang="en-US" sz="2400" dirty="0">
                <a:solidFill>
                  <a:srgbClr val="C00000"/>
                </a:solidFill>
                <a:latin typeface="黑体" panose="02010609060101010101" pitchFamily="49" charset="-122"/>
                <a:ea typeface="黑体" panose="02010609060101010101" pitchFamily="49" charset="-122"/>
              </a:rPr>
              <a:t>、齿面塑性变形</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7656" name="Rectangle 3"/>
          <p:cNvSpPr>
            <a:spLocks noChangeArrowheads="1"/>
          </p:cNvSpPr>
          <p:nvPr/>
        </p:nvSpPr>
        <p:spPr bwMode="auto">
          <a:xfrm>
            <a:off x="231775" y="2255840"/>
            <a:ext cx="5110163" cy="2573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sz="2200" dirty="0">
                <a:solidFill>
                  <a:srgbClr val="000099"/>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在主动齿轮齿面上，摩擦力的方向是背离节线，齿面金属的塑性流动导致节线处下凹而形成凹沟；在从动齿轮齿面上，摩擦力的方向是指向节线，齿面金属的塑性流动导致节线处凸起而形成凸脊。</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6632" name="Rectangle 10"/>
          <p:cNvSpPr>
            <a:spLocks noChangeArrowheads="1"/>
          </p:cNvSpPr>
          <p:nvPr/>
        </p:nvSpPr>
        <p:spPr bwMode="auto">
          <a:xfrm>
            <a:off x="1980883" y="12319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44041"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4825" y="2452688"/>
            <a:ext cx="3559175" cy="333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3" descr="NEXT">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3"/>
                                        </p:tgtEl>
                                        <p:attrNameLst>
                                          <p:attrName>style.visibility</p:attrName>
                                        </p:attrNameLst>
                                      </p:cBhvr>
                                      <p:to>
                                        <p:strVal val="visible"/>
                                      </p:to>
                                    </p:set>
                                  </p:childTnLst>
                                </p:cTn>
                              </p:par>
                            </p:childTnLst>
                          </p:cTn>
                        </p:par>
                        <p:par>
                          <p:cTn id="19" fill="hold">
                            <p:stCondLst>
                              <p:cond delay="0"/>
                            </p:stCondLst>
                            <p:childTnLst>
                              <p:par>
                                <p:cTn id="20" presetID="2" presetClass="entr" presetSubtype="8" fill="hold" nodeType="afterEffect">
                                  <p:stCondLst>
                                    <p:cond delay="0"/>
                                  </p:stCondLst>
                                  <p:childTnLst>
                                    <p:set>
                                      <p:cBhvr>
                                        <p:cTn id="21" dur="1" fill="hold">
                                          <p:stCondLst>
                                            <p:cond delay="0"/>
                                          </p:stCondLst>
                                        </p:cTn>
                                        <p:tgtEl>
                                          <p:spTgt spid="9262"/>
                                        </p:tgtEl>
                                        <p:attrNameLst>
                                          <p:attrName>style.visibility</p:attrName>
                                        </p:attrNameLst>
                                      </p:cBhvr>
                                      <p:to>
                                        <p:strVal val="visible"/>
                                      </p:to>
                                    </p:set>
                                    <p:anim calcmode="lin" valueType="num">
                                      <p:cBhvr additive="base">
                                        <p:cTn id="22" dur="500" fill="hold"/>
                                        <p:tgtEl>
                                          <p:spTgt spid="9262"/>
                                        </p:tgtEl>
                                        <p:attrNameLst>
                                          <p:attrName>ppt_x</p:attrName>
                                        </p:attrNameLst>
                                      </p:cBhvr>
                                      <p:tavLst>
                                        <p:tav tm="0">
                                          <p:val>
                                            <p:strVal val="0-#ppt_w/2"/>
                                          </p:val>
                                        </p:tav>
                                        <p:tav tm="100000">
                                          <p:val>
                                            <p:strVal val="#ppt_x"/>
                                          </p:val>
                                        </p:tav>
                                      </p:tavLst>
                                    </p:anim>
                                    <p:anim calcmode="lin" valueType="num">
                                      <p:cBhvr additive="base">
                                        <p:cTn id="23" dur="500" fill="hold"/>
                                        <p:tgtEl>
                                          <p:spTgt spid="9262"/>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7653" grpId="0" bldLvl="0" animBg="1"/>
      <p:bldP spid="2765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9" name="Text Box 7"/>
          <p:cNvSpPr txBox="1">
            <a:spLocks noChangeArrowheads="1"/>
          </p:cNvSpPr>
          <p:nvPr/>
        </p:nvSpPr>
        <p:spPr bwMode="auto">
          <a:xfrm>
            <a:off x="742749" y="1367659"/>
            <a:ext cx="7620000" cy="43088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latin typeface="黑体" panose="02010609060101010101" pitchFamily="49" charset="-122"/>
                <a:ea typeface="黑体" panose="02010609060101010101" pitchFamily="49" charset="-122"/>
              </a:rPr>
              <a:t>主要针对</a:t>
            </a:r>
            <a:r>
              <a:rPr lang="zh-CN" altLang="en-US" sz="2200" u="sng"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轮齿疲劳折断</a:t>
            </a:r>
            <a:r>
              <a:rPr lang="zh-CN" altLang="en-US" sz="2200" dirty="0">
                <a:latin typeface="黑体" panose="02010609060101010101" pitchFamily="49" charset="-122"/>
                <a:ea typeface="黑体" panose="02010609060101010101" pitchFamily="49" charset="-122"/>
              </a:rPr>
              <a:t>和</a:t>
            </a:r>
            <a:r>
              <a:rPr lang="zh-CN" altLang="en-US" sz="2200" u="sng"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齿面疲劳点蚀</a:t>
            </a:r>
            <a:r>
              <a:rPr lang="zh-CN" altLang="en-US" sz="2200" dirty="0">
                <a:latin typeface="黑体" panose="02010609060101010101" pitchFamily="49" charset="-122"/>
                <a:ea typeface="黑体" panose="02010609060101010101" pitchFamily="49" charset="-122"/>
              </a:rPr>
              <a:t>这两种失效形式</a:t>
            </a:r>
            <a:endParaRPr lang="zh-CN" altLang="en-US" sz="2200" dirty="0">
              <a:latin typeface="黑体" panose="02010609060101010101" pitchFamily="49" charset="-122"/>
              <a:ea typeface="黑体" panose="02010609060101010101" pitchFamily="49" charset="-122"/>
            </a:endParaRPr>
          </a:p>
        </p:txBody>
      </p:sp>
      <p:sp>
        <p:nvSpPr>
          <p:cNvPr id="248840" name="Text Box 8"/>
          <p:cNvSpPr txBox="1">
            <a:spLocks noChangeArrowheads="1"/>
          </p:cNvSpPr>
          <p:nvPr/>
        </p:nvSpPr>
        <p:spPr bwMode="auto">
          <a:xfrm>
            <a:off x="790876" y="1833056"/>
            <a:ext cx="7010400" cy="43088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rPr>
              <a:t>齿根弯曲疲劳强度</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齿轮抵抗轮齿疲劳折断的能力</a:t>
            </a:r>
            <a:endParaRPr lang="zh-CN" altLang="en-US" sz="2200" dirty="0">
              <a:latin typeface="黑体" panose="02010609060101010101" pitchFamily="49" charset="-122"/>
              <a:ea typeface="黑体" panose="02010609060101010101" pitchFamily="49" charset="-122"/>
            </a:endParaRPr>
          </a:p>
        </p:txBody>
      </p:sp>
      <p:sp>
        <p:nvSpPr>
          <p:cNvPr id="248841" name="Text Box 9"/>
          <p:cNvSpPr txBox="1">
            <a:spLocks noChangeArrowheads="1"/>
          </p:cNvSpPr>
          <p:nvPr>
            <p:custDataLst>
              <p:tags r:id="rId1"/>
            </p:custDataLst>
          </p:nvPr>
        </p:nvSpPr>
        <p:spPr bwMode="auto">
          <a:xfrm>
            <a:off x="752688" y="2179808"/>
            <a:ext cx="7010400" cy="43088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rPr>
              <a:t>齿面接触疲劳强度</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齿轮抵抗齿面疲劳点蚀的能力</a:t>
            </a:r>
            <a:endParaRPr lang="zh-CN" altLang="en-US" sz="2200" dirty="0">
              <a:latin typeface="黑体" panose="02010609060101010101" pitchFamily="49" charset="-122"/>
              <a:ea typeface="黑体" panose="02010609060101010101" pitchFamily="49" charset="-122"/>
            </a:endParaRPr>
          </a:p>
        </p:txBody>
      </p:sp>
      <p:sp>
        <p:nvSpPr>
          <p:cNvPr id="248842" name="Text Box 10"/>
          <p:cNvSpPr txBox="1">
            <a:spLocks noChangeArrowheads="1"/>
          </p:cNvSpPr>
          <p:nvPr>
            <p:custDataLst>
              <p:tags r:id="rId2"/>
            </p:custDataLst>
          </p:nvPr>
        </p:nvSpPr>
        <p:spPr bwMode="auto">
          <a:xfrm>
            <a:off x="722243" y="6145696"/>
            <a:ext cx="7696200" cy="400110"/>
          </a:xfrm>
          <a:prstGeom prst="rect">
            <a:avLst/>
          </a:prstGeom>
          <a:solidFill>
            <a:schemeClr val="tx2">
              <a:lumMod val="20000"/>
              <a:lumOff val="80000"/>
            </a:schemeClr>
          </a:solidFill>
          <a:ln>
            <a:noFill/>
          </a:ln>
          <a:effectLst/>
        </p:spPr>
        <p:txBody>
          <a:bodyPr>
            <a:spAutoFit/>
          </a:bodyPr>
          <a:lstStyle/>
          <a:p>
            <a:r>
              <a:rPr lang="zh-CN" altLang="en-US" dirty="0">
                <a:solidFill>
                  <a:srgbClr val="002060"/>
                </a:solidFill>
              </a:rPr>
              <a:t>开式齿轮传动采用准则二，但不校核齿面接触疲劳强度</a:t>
            </a:r>
            <a:endParaRPr lang="zh-CN" altLang="en-US" dirty="0">
              <a:solidFill>
                <a:srgbClr val="002060"/>
              </a:solidFill>
            </a:endParaRPr>
          </a:p>
        </p:txBody>
      </p:sp>
      <p:sp>
        <p:nvSpPr>
          <p:cNvPr id="248843" name="Text Box 11"/>
          <p:cNvSpPr txBox="1">
            <a:spLocks noChangeArrowheads="1"/>
          </p:cNvSpPr>
          <p:nvPr>
            <p:custDataLst>
              <p:tags r:id="rId3"/>
            </p:custDataLst>
          </p:nvPr>
        </p:nvSpPr>
        <p:spPr bwMode="auto">
          <a:xfrm>
            <a:off x="911087" y="3024809"/>
            <a:ext cx="1905000" cy="430887"/>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latin typeface="黑体" panose="02010609060101010101" pitchFamily="49" charset="-122"/>
                <a:ea typeface="黑体" panose="02010609060101010101" pitchFamily="49" charset="-122"/>
              </a:rPr>
              <a:t>设计准则一：</a:t>
            </a:r>
            <a:endParaRPr lang="zh-CN" altLang="en-US" sz="2200" dirty="0">
              <a:latin typeface="黑体" panose="02010609060101010101" pitchFamily="49" charset="-122"/>
              <a:ea typeface="黑体" panose="02010609060101010101" pitchFamily="49" charset="-122"/>
            </a:endParaRPr>
          </a:p>
        </p:txBody>
      </p:sp>
      <p:sp>
        <p:nvSpPr>
          <p:cNvPr id="248844" name="Text Box 12"/>
          <p:cNvSpPr txBox="1">
            <a:spLocks noChangeArrowheads="1"/>
          </p:cNvSpPr>
          <p:nvPr>
            <p:custDataLst>
              <p:tags r:id="rId4"/>
            </p:custDataLst>
          </p:nvPr>
        </p:nvSpPr>
        <p:spPr bwMode="auto">
          <a:xfrm>
            <a:off x="2869096" y="3034748"/>
            <a:ext cx="4843669" cy="430887"/>
          </a:xfrm>
          <a:prstGeom prst="rect">
            <a:avLst/>
          </a:prstGeom>
          <a:solidFill>
            <a:schemeClr val="tx2">
              <a:lumMod val="20000"/>
              <a:lumOff val="80000"/>
            </a:schemeClr>
          </a:solidFill>
          <a:ln w="19050">
            <a:solidFill>
              <a:schemeClr val="tx2">
                <a:lumMod val="60000"/>
                <a:lumOff val="40000"/>
              </a:schemeClr>
            </a:solidFill>
            <a:miter lim="800000"/>
          </a:ln>
          <a:effectLst>
            <a:outerShdw blurRad="50800" dist="38100" algn="l" rotWithShape="0">
              <a:prstClr val="black">
                <a:alpha val="40000"/>
              </a:prstClr>
            </a:outerShdw>
          </a:effectLst>
        </p:spPr>
        <p:txBody>
          <a:bodyPr wrap="square">
            <a:spAutoFit/>
          </a:bodyPr>
          <a:lstStyle/>
          <a:p>
            <a:r>
              <a:rPr lang="zh-CN" altLang="en-US" sz="2200" dirty="0">
                <a:latin typeface="黑体" panose="02010609060101010101" pitchFamily="49" charset="-122"/>
                <a:ea typeface="黑体" panose="02010609060101010101" pitchFamily="49" charset="-122"/>
              </a:rPr>
              <a:t>对于闭式软齿面（ </a:t>
            </a:r>
            <a:r>
              <a:rPr lang="en-US" altLang="zh-CN" sz="2200" dirty="0">
                <a:latin typeface="黑体" panose="02010609060101010101" pitchFamily="49" charset="-122"/>
                <a:ea typeface="黑体" panose="02010609060101010101" pitchFamily="49" charset="-122"/>
              </a:rPr>
              <a:t>HBS≤350</a:t>
            </a:r>
            <a:r>
              <a:rPr lang="zh-CN" altLang="en-US" sz="2200" dirty="0">
                <a:latin typeface="黑体" panose="02010609060101010101" pitchFamily="49" charset="-122"/>
                <a:ea typeface="黑体" panose="02010609060101010101" pitchFamily="49" charset="-122"/>
              </a:rPr>
              <a:t>）</a:t>
            </a:r>
            <a:r>
              <a:rPr lang="zh-CN" altLang="en-US" sz="2200" dirty="0" smtClean="0">
                <a:latin typeface="黑体" panose="02010609060101010101" pitchFamily="49" charset="-122"/>
                <a:ea typeface="黑体" panose="02010609060101010101" pitchFamily="49" charset="-122"/>
              </a:rPr>
              <a:t>传动</a:t>
            </a:r>
            <a:endParaRPr lang="zh-CN" altLang="en-US" sz="2200" dirty="0">
              <a:latin typeface="黑体" panose="02010609060101010101" pitchFamily="49" charset="-122"/>
              <a:ea typeface="黑体" panose="02010609060101010101" pitchFamily="49" charset="-122"/>
            </a:endParaRPr>
          </a:p>
        </p:txBody>
      </p:sp>
      <p:sp>
        <p:nvSpPr>
          <p:cNvPr id="248846" name="Text Box 14"/>
          <p:cNvSpPr txBox="1">
            <a:spLocks noChangeArrowheads="1"/>
          </p:cNvSpPr>
          <p:nvPr>
            <p:custDataLst>
              <p:tags r:id="rId5"/>
            </p:custDataLst>
          </p:nvPr>
        </p:nvSpPr>
        <p:spPr bwMode="auto">
          <a:xfrm>
            <a:off x="709296" y="3590953"/>
            <a:ext cx="7474227" cy="850939"/>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solidFill>
              <a:schemeClr val="tx1"/>
            </a:solidFill>
          </a:ln>
          <a:effectLst>
            <a:outerShdw blurRad="63500" sx="102000" sy="102000" algn="ctr" rotWithShape="0">
              <a:prstClr val="black">
                <a:alpha val="40000"/>
              </a:prstClr>
            </a:outerShdw>
          </a:effectLst>
        </p:spPr>
        <p:txBody>
          <a:bodyPr wrap="square">
            <a:spAutoFit/>
          </a:bodyPr>
          <a:lstStyle/>
          <a:p>
            <a:pPr>
              <a:lnSpc>
                <a:spcPct val="120000"/>
              </a:lnSpc>
            </a:pPr>
            <a:r>
              <a:rPr lang="zh-CN" altLang="en-US" sz="2200" dirty="0">
                <a:latin typeface="黑体" panose="02010609060101010101" pitchFamily="49" charset="-122"/>
                <a:ea typeface="黑体" panose="02010609060101010101" pitchFamily="49" charset="-122"/>
              </a:rPr>
              <a:t>主要失效形式是齿面点蚀</a:t>
            </a:r>
            <a:r>
              <a:rPr lang="zh-CN" altLang="en-US" sz="2200" dirty="0" smtClean="0">
                <a:latin typeface="黑体" panose="02010609060101010101" pitchFamily="49" charset="-122"/>
                <a:ea typeface="黑体" panose="02010609060101010101" pitchFamily="49" charset="-122"/>
              </a:rPr>
              <a:t>，所以按齿面接触疲劳强</a:t>
            </a:r>
            <a:r>
              <a:rPr lang="zh-CN" altLang="en-US" sz="2200" dirty="0">
                <a:latin typeface="黑体" panose="02010609060101010101" pitchFamily="49" charset="-122"/>
                <a:ea typeface="黑体" panose="02010609060101010101" pitchFamily="49" charset="-122"/>
              </a:rPr>
              <a:t>度设计</a:t>
            </a:r>
            <a:r>
              <a:rPr lang="zh-CN" altLang="en-US" sz="2200" dirty="0" smtClean="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然后校核齿根弯曲疲劳强度</a:t>
            </a:r>
            <a:r>
              <a:rPr lang="zh-CN" altLang="en-US" sz="2200" dirty="0" smtClean="0">
                <a:latin typeface="黑体" panose="02010609060101010101" pitchFamily="49" charset="-122"/>
                <a:ea typeface="黑体" panose="02010609060101010101" pitchFamily="49" charset="-122"/>
              </a:rPr>
              <a:t>。</a:t>
            </a:r>
            <a:endParaRPr lang="zh-CN" altLang="en-US" sz="2200" dirty="0">
              <a:latin typeface="黑体" panose="02010609060101010101" pitchFamily="49" charset="-122"/>
              <a:ea typeface="黑体" panose="02010609060101010101" pitchFamily="49" charset="-122"/>
            </a:endParaRPr>
          </a:p>
        </p:txBody>
      </p:sp>
      <p:sp>
        <p:nvSpPr>
          <p:cNvPr id="248849" name="Text Box 17"/>
          <p:cNvSpPr txBox="1">
            <a:spLocks noChangeArrowheads="1"/>
          </p:cNvSpPr>
          <p:nvPr>
            <p:custDataLst>
              <p:tags r:id="rId6"/>
            </p:custDataLst>
          </p:nvPr>
        </p:nvSpPr>
        <p:spPr bwMode="auto">
          <a:xfrm>
            <a:off x="821634" y="4648201"/>
            <a:ext cx="1905000" cy="430887"/>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latin typeface="黑体" panose="02010609060101010101" pitchFamily="49" charset="-122"/>
                <a:ea typeface="黑体" panose="02010609060101010101" pitchFamily="49" charset="-122"/>
              </a:rPr>
              <a:t>设计准则二：</a:t>
            </a:r>
            <a:endParaRPr lang="zh-CN" altLang="en-US" sz="2200" dirty="0">
              <a:latin typeface="黑体" panose="02010609060101010101" pitchFamily="49" charset="-122"/>
              <a:ea typeface="黑体" panose="02010609060101010101" pitchFamily="49" charset="-122"/>
            </a:endParaRPr>
          </a:p>
        </p:txBody>
      </p:sp>
      <p:sp>
        <p:nvSpPr>
          <p:cNvPr id="248850" name="Text Box 18"/>
          <p:cNvSpPr txBox="1">
            <a:spLocks noChangeArrowheads="1"/>
          </p:cNvSpPr>
          <p:nvPr>
            <p:custDataLst>
              <p:tags r:id="rId7"/>
            </p:custDataLst>
          </p:nvPr>
        </p:nvSpPr>
        <p:spPr bwMode="auto">
          <a:xfrm>
            <a:off x="2706757" y="4648200"/>
            <a:ext cx="5105400" cy="457200"/>
          </a:xfrm>
          <a:prstGeom prst="rect">
            <a:avLst/>
          </a:prstGeom>
          <a:solidFill>
            <a:schemeClr val="tx2">
              <a:lumMod val="20000"/>
              <a:lumOff val="80000"/>
            </a:schemeClr>
          </a:solidFill>
          <a:ln>
            <a:noFill/>
          </a:ln>
          <a:effectLst>
            <a:outerShdw blurRad="50800" dist="38100" algn="l" rotWithShape="0">
              <a:prstClr val="black">
                <a:alpha val="40000"/>
              </a:prstClr>
            </a:outerShdw>
          </a:effectLst>
        </p:spPr>
        <p:txBody>
          <a:bodyPr>
            <a:spAutoFit/>
          </a:bodyPr>
          <a:lstStyle/>
          <a:p>
            <a:r>
              <a:rPr lang="zh-CN" altLang="en-US" dirty="0" smtClean="0"/>
              <a:t>对于闭式硬齿面（ </a:t>
            </a:r>
            <a:r>
              <a:rPr lang="en-US" altLang="zh-CN" dirty="0" smtClean="0"/>
              <a:t>HBS&gt;350</a:t>
            </a:r>
            <a:r>
              <a:rPr lang="zh-CN" altLang="en-US" dirty="0" smtClean="0"/>
              <a:t>）传动，</a:t>
            </a:r>
            <a:endParaRPr lang="zh-CN" altLang="en-US" dirty="0"/>
          </a:p>
        </p:txBody>
      </p:sp>
      <p:sp>
        <p:nvSpPr>
          <p:cNvPr id="248851" name="Text Box 19"/>
          <p:cNvSpPr txBox="1">
            <a:spLocks noChangeArrowheads="1"/>
          </p:cNvSpPr>
          <p:nvPr>
            <p:custDataLst>
              <p:tags r:id="rId8"/>
            </p:custDataLst>
          </p:nvPr>
        </p:nvSpPr>
        <p:spPr bwMode="auto">
          <a:xfrm>
            <a:off x="742123" y="5155095"/>
            <a:ext cx="7815470" cy="850939"/>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solidFill>
              <a:schemeClr val="tx1"/>
            </a:solidFill>
          </a:ln>
          <a:effectLst>
            <a:outerShdw blurRad="63500" sx="102000" sy="102000" algn="ctr" rotWithShape="0">
              <a:prstClr val="black">
                <a:alpha val="40000"/>
              </a:prstClr>
            </a:outerShdw>
          </a:effectLst>
        </p:spPr>
        <p:txBody>
          <a:bodyPr wrap="square">
            <a:spAutoFit/>
          </a:bodyPr>
          <a:lstStyle/>
          <a:p>
            <a:pPr>
              <a:lnSpc>
                <a:spcPct val="120000"/>
              </a:lnSpc>
            </a:pPr>
            <a:r>
              <a:rPr lang="zh-CN" altLang="en-US" sz="2200" dirty="0" smtClean="0">
                <a:latin typeface="黑体" panose="02010609060101010101" pitchFamily="49" charset="-122"/>
                <a:ea typeface="黑体" panose="02010609060101010101" pitchFamily="49" charset="-122"/>
              </a:rPr>
              <a:t>主要失效形式是齿根弯曲疲劳折断，所以按齿根弯曲疲劳强度设计，然后校核齿面接触疲劳强度。</a:t>
            </a:r>
            <a:endParaRPr lang="zh-CN" altLang="en-US" sz="2200" dirty="0">
              <a:latin typeface="黑体" panose="02010609060101010101" pitchFamily="49" charset="-122"/>
              <a:ea typeface="黑体" panose="02010609060101010101" pitchFamily="49" charset="-122"/>
            </a:endParaRPr>
          </a:p>
        </p:txBody>
      </p:sp>
      <p:sp>
        <p:nvSpPr>
          <p:cNvPr id="22" name="Rectangle 10"/>
          <p:cNvSpPr>
            <a:spLocks noChangeArrowheads="1"/>
          </p:cNvSpPr>
          <p:nvPr/>
        </p:nvSpPr>
        <p:spPr bwMode="auto">
          <a:xfrm>
            <a:off x="1973263" y="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3.4-2 </a:t>
            </a:r>
            <a:r>
              <a:rPr lang="zh-CN" altLang="en-US" sz="3000" dirty="0">
                <a:solidFill>
                  <a:srgbClr val="CC3300"/>
                </a:solidFill>
                <a:latin typeface="黑体" panose="02010609060101010101" pitchFamily="49" charset="-122"/>
                <a:ea typeface="黑体" panose="02010609060101010101" pitchFamily="49" charset="-122"/>
              </a:rPr>
              <a:t>齿轮传动的失效形式</a:t>
            </a:r>
            <a:r>
              <a:rPr lang="zh-CN" altLang="en-US" sz="3000" dirty="0" smtClean="0">
                <a:solidFill>
                  <a:srgbClr val="CC3300"/>
                </a:solidFill>
                <a:latin typeface="黑体" panose="02010609060101010101" pitchFamily="49" charset="-122"/>
                <a:ea typeface="黑体" panose="02010609060101010101" pitchFamily="49" charset="-122"/>
              </a:rPr>
              <a:t>及设计准则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4" name="Rectangle 1"/>
          <p:cNvSpPr>
            <a:spLocks noChangeArrowheads="1"/>
          </p:cNvSpPr>
          <p:nvPr/>
        </p:nvSpPr>
        <p:spPr bwMode="auto">
          <a:xfrm>
            <a:off x="0" y="817549"/>
            <a:ext cx="3200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670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800" dirty="0">
                <a:solidFill>
                  <a:srgbClr val="0000FF"/>
                </a:solidFill>
                <a:latin typeface="黑体" panose="02010609060101010101" pitchFamily="49" charset="-122"/>
                <a:ea typeface="黑体" panose="02010609060101010101" pitchFamily="49" charset="-122"/>
              </a:rPr>
              <a:t>二、设计准则</a:t>
            </a:r>
            <a:endParaRPr lang="zh-CN" altLang="en-US" sz="2800" dirty="0">
              <a:solidFill>
                <a:srgbClr val="0000FF"/>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48839"/>
                                        </p:tgtEl>
                                        <p:attrNameLst>
                                          <p:attrName>style.visibility</p:attrName>
                                        </p:attrNameLst>
                                      </p:cBhvr>
                                      <p:to>
                                        <p:strVal val="visible"/>
                                      </p:to>
                                    </p:set>
                                    <p:animEffect transition="in" filter="slide(fromLeft)">
                                      <p:cBhvr>
                                        <p:cTn id="7" dur="500"/>
                                        <p:tgtEl>
                                          <p:spTgt spid="24883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248840"/>
                                        </p:tgtEl>
                                        <p:attrNameLst>
                                          <p:attrName>style.visibility</p:attrName>
                                        </p:attrNameLst>
                                      </p:cBhvr>
                                      <p:to>
                                        <p:strVal val="visible"/>
                                      </p:to>
                                    </p:set>
                                    <p:animEffect transition="in" filter="slide(fromRight)">
                                      <p:cBhvr>
                                        <p:cTn id="12" dur="500"/>
                                        <p:tgtEl>
                                          <p:spTgt spid="24884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248841"/>
                                        </p:tgtEl>
                                        <p:attrNameLst>
                                          <p:attrName>style.visibility</p:attrName>
                                        </p:attrNameLst>
                                      </p:cBhvr>
                                      <p:to>
                                        <p:strVal val="visible"/>
                                      </p:to>
                                    </p:set>
                                    <p:animEffect transition="in" filter="slide(fromRight)">
                                      <p:cBhvr>
                                        <p:cTn id="17" dur="500"/>
                                        <p:tgtEl>
                                          <p:spTgt spid="24884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iterate type="lt">
                                    <p:tmPct val="100000"/>
                                  </p:iterate>
                                  <p:childTnLst>
                                    <p:set>
                                      <p:cBhvr>
                                        <p:cTn id="21" dur="1" fill="hold">
                                          <p:stCondLst>
                                            <p:cond delay="0"/>
                                          </p:stCondLst>
                                        </p:cTn>
                                        <p:tgtEl>
                                          <p:spTgt spid="248843"/>
                                        </p:tgtEl>
                                        <p:attrNameLst>
                                          <p:attrName>style.visibility</p:attrName>
                                        </p:attrNameLst>
                                      </p:cBhvr>
                                      <p:to>
                                        <p:strVal val="visible"/>
                                      </p:to>
                                    </p:set>
                                    <p:animEffect transition="in" filter="slide(fromTop)">
                                      <p:cBhvr>
                                        <p:cTn id="22" dur="75"/>
                                        <p:tgtEl>
                                          <p:spTgt spid="2488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8844"/>
                                        </p:tgtEl>
                                        <p:attrNameLst>
                                          <p:attrName>style.visibility</p:attrName>
                                        </p:attrNameLst>
                                      </p:cBhvr>
                                      <p:to>
                                        <p:strVal val="visible"/>
                                      </p:to>
                                    </p:set>
                                    <p:animEffect transition="in" filter="wipe(left)">
                                      <p:cBhvr>
                                        <p:cTn id="27" dur="500"/>
                                        <p:tgtEl>
                                          <p:spTgt spid="24884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8846"/>
                                        </p:tgtEl>
                                        <p:attrNameLst>
                                          <p:attrName>style.visibility</p:attrName>
                                        </p:attrNameLst>
                                      </p:cBhvr>
                                      <p:to>
                                        <p:strVal val="visible"/>
                                      </p:to>
                                    </p:set>
                                    <p:animEffect transition="in" filter="wipe(left)">
                                      <p:cBhvr>
                                        <p:cTn id="32" dur="500"/>
                                        <p:tgtEl>
                                          <p:spTgt spid="248846"/>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iterate type="lt">
                                    <p:tmPct val="100000"/>
                                  </p:iterate>
                                  <p:childTnLst>
                                    <p:set>
                                      <p:cBhvr>
                                        <p:cTn id="36" dur="1" fill="hold">
                                          <p:stCondLst>
                                            <p:cond delay="0"/>
                                          </p:stCondLst>
                                        </p:cTn>
                                        <p:tgtEl>
                                          <p:spTgt spid="248849"/>
                                        </p:tgtEl>
                                        <p:attrNameLst>
                                          <p:attrName>style.visibility</p:attrName>
                                        </p:attrNameLst>
                                      </p:cBhvr>
                                      <p:to>
                                        <p:strVal val="visible"/>
                                      </p:to>
                                    </p:set>
                                    <p:animEffect transition="in" filter="slide(fromTop)">
                                      <p:cBhvr>
                                        <p:cTn id="37" dur="75"/>
                                        <p:tgtEl>
                                          <p:spTgt spid="24884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8850"/>
                                        </p:tgtEl>
                                        <p:attrNameLst>
                                          <p:attrName>style.visibility</p:attrName>
                                        </p:attrNameLst>
                                      </p:cBhvr>
                                      <p:to>
                                        <p:strVal val="visible"/>
                                      </p:to>
                                    </p:set>
                                    <p:animEffect transition="in" filter="wipe(left)">
                                      <p:cBhvr>
                                        <p:cTn id="42" dur="500"/>
                                        <p:tgtEl>
                                          <p:spTgt spid="24885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8851"/>
                                        </p:tgtEl>
                                        <p:attrNameLst>
                                          <p:attrName>style.visibility</p:attrName>
                                        </p:attrNameLst>
                                      </p:cBhvr>
                                      <p:to>
                                        <p:strVal val="visible"/>
                                      </p:to>
                                    </p:set>
                                    <p:animEffect transition="in" filter="wipe(left)">
                                      <p:cBhvr>
                                        <p:cTn id="47" dur="500"/>
                                        <p:tgtEl>
                                          <p:spTgt spid="24885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8842"/>
                                        </p:tgtEl>
                                        <p:attrNameLst>
                                          <p:attrName>style.visibility</p:attrName>
                                        </p:attrNameLst>
                                      </p:cBhvr>
                                      <p:to>
                                        <p:strVal val="visible"/>
                                      </p:to>
                                    </p:set>
                                    <p:animEffect transition="in" filter="wipe(left)">
                                      <p:cBhvr>
                                        <p:cTn id="52" dur="500"/>
                                        <p:tgtEl>
                                          <p:spTgt spid="248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9" grpId="0" autoUpdateAnimBg="0"/>
      <p:bldP spid="248840" grpId="0" autoUpdateAnimBg="0"/>
      <p:bldP spid="248841" grpId="0" autoUpdateAnimBg="0"/>
      <p:bldP spid="248842" grpId="0" animBg="1" autoUpdateAnimBg="0"/>
      <p:bldP spid="248843" grpId="0" animBg="1" autoUpdateAnimBg="0"/>
      <p:bldP spid="248844" grpId="0" animBg="1" autoUpdateAnimBg="0"/>
      <p:bldP spid="248846" grpId="0" bldLvl="0" animBg="1" autoUpdateAnimBg="0"/>
      <p:bldP spid="248849" grpId="0" animBg="1" autoUpdateAnimBg="0"/>
      <p:bldP spid="248850" grpId="0" animBg="1" autoUpdateAnimBg="0"/>
      <p:bldP spid="248851"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5867400" y="762000"/>
            <a:ext cx="133350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齿轮的材料及其选择原则</a:t>
            </a:r>
            <a:endParaRPr lang="zh-CN" altLang="en-US" sz="800" smtClean="0">
              <a:solidFill>
                <a:schemeClr val="bg1"/>
              </a:solidFill>
              <a:ea typeface="黑体" panose="02010609060101010101" pitchFamily="49" charset="-122"/>
            </a:endParaRPr>
          </a:p>
        </p:txBody>
      </p:sp>
      <p:sp>
        <p:nvSpPr>
          <p:cNvPr id="20520" name="Text Box 40"/>
          <p:cNvSpPr txBox="1">
            <a:spLocks noChangeArrowheads="1"/>
          </p:cNvSpPr>
          <p:nvPr/>
        </p:nvSpPr>
        <p:spPr bwMode="auto">
          <a:xfrm>
            <a:off x="314979" y="1344619"/>
            <a:ext cx="38587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a:solidFill>
                  <a:srgbClr val="C00000"/>
                </a:solidFill>
                <a:latin typeface="黑体" panose="02010609060101010101" pitchFamily="49" charset="-122"/>
                <a:ea typeface="黑体" panose="02010609060101010101" pitchFamily="49" charset="-122"/>
              </a:rPr>
              <a:t>1</a:t>
            </a:r>
            <a:r>
              <a:rPr lang="zh-CN" altLang="en-US" sz="2400" dirty="0">
                <a:solidFill>
                  <a:srgbClr val="C00000"/>
                </a:solidFill>
                <a:latin typeface="黑体" panose="02010609060101010101" pitchFamily="49" charset="-122"/>
                <a:ea typeface="黑体" panose="02010609060101010101" pitchFamily="49" charset="-122"/>
              </a:rPr>
              <a:t>、对齿轮材料性能的要求 </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0521" name="Text Box 41"/>
          <p:cNvSpPr txBox="1">
            <a:spLocks noChangeArrowheads="1"/>
          </p:cNvSpPr>
          <p:nvPr/>
        </p:nvSpPr>
        <p:spPr bwMode="auto">
          <a:xfrm>
            <a:off x="478155" y="1806575"/>
            <a:ext cx="8448040" cy="152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dirty="0">
                <a:solidFill>
                  <a:srgbClr val="000099"/>
                </a:solidFill>
                <a:latin typeface="华文中宋" panose="02010600040101010101" pitchFamily="2" charset="-122"/>
              </a:rPr>
              <a:t>　　</a:t>
            </a:r>
            <a:r>
              <a:rPr lang="zh-CN" altLang="en-US" sz="2200" dirty="0">
                <a:solidFill>
                  <a:srgbClr val="000099"/>
                </a:solidFill>
                <a:latin typeface="黑体" panose="02010609060101010101" pitchFamily="49" charset="-122"/>
                <a:ea typeface="黑体" panose="02010609060101010101" pitchFamily="49" charset="-122"/>
              </a:rPr>
              <a:t>齿面应有足够的硬度以保证齿面抗点蚀、抗磨损和较高的抗胶合能力，轮齿心部应有足够的强度和韧性，以保证齿根抗弯曲折断的能力，即要求：</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0522" name="Text Box 42"/>
          <p:cNvSpPr txBox="1">
            <a:spLocks noChangeArrowheads="1"/>
          </p:cNvSpPr>
          <p:nvPr/>
        </p:nvSpPr>
        <p:spPr bwMode="auto">
          <a:xfrm>
            <a:off x="458681" y="4085436"/>
            <a:ext cx="29354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dirty="0">
                <a:solidFill>
                  <a:srgbClr val="C00000"/>
                </a:solidFill>
                <a:latin typeface="黑体" panose="02010609060101010101" pitchFamily="49" charset="-122"/>
                <a:ea typeface="黑体" panose="02010609060101010101" pitchFamily="49" charset="-122"/>
              </a:rPr>
              <a:t>2</a:t>
            </a:r>
            <a:r>
              <a:rPr lang="zh-CN" altLang="en-US" sz="2400" dirty="0">
                <a:solidFill>
                  <a:srgbClr val="C00000"/>
                </a:solidFill>
                <a:latin typeface="黑体" panose="02010609060101010101" pitchFamily="49" charset="-122"/>
                <a:ea typeface="黑体" panose="02010609060101010101" pitchFamily="49" charset="-122"/>
              </a:rPr>
              <a:t>、常用的齿轮材料 </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0523" name="Text Box 43"/>
          <p:cNvSpPr txBox="1">
            <a:spLocks noChangeArrowheads="1"/>
          </p:cNvSpPr>
          <p:nvPr/>
        </p:nvSpPr>
        <p:spPr bwMode="auto">
          <a:xfrm>
            <a:off x="458442" y="4958482"/>
            <a:ext cx="8137525" cy="10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sz="2400" dirty="0">
                <a:solidFill>
                  <a:srgbClr val="C00000"/>
                </a:solidFill>
                <a:latin typeface="黑体" panose="02010609060101010101" pitchFamily="49" charset="-122"/>
                <a:ea typeface="黑体" panose="02010609060101010101" pitchFamily="49" charset="-122"/>
              </a:rPr>
              <a:t>（</a:t>
            </a:r>
            <a:r>
              <a:rPr lang="en-US" altLang="zh-CN" sz="2400" dirty="0">
                <a:solidFill>
                  <a:srgbClr val="C00000"/>
                </a:solidFill>
                <a:latin typeface="黑体" panose="02010609060101010101" pitchFamily="49" charset="-122"/>
                <a:ea typeface="黑体" panose="02010609060101010101" pitchFamily="49" charset="-122"/>
              </a:rPr>
              <a:t>1</a:t>
            </a:r>
            <a:r>
              <a:rPr lang="zh-CN" altLang="en-US" sz="2400" dirty="0">
                <a:solidFill>
                  <a:srgbClr val="C00000"/>
                </a:solidFill>
                <a:latin typeface="黑体" panose="02010609060101010101" pitchFamily="49" charset="-122"/>
                <a:ea typeface="黑体" panose="02010609060101010101" pitchFamily="49" charset="-122"/>
              </a:rPr>
              <a:t>）</a:t>
            </a:r>
            <a:r>
              <a:rPr lang="zh-CN" altLang="en-US" sz="2400" dirty="0">
                <a:solidFill>
                  <a:srgbClr val="C00000"/>
                </a:solidFill>
                <a:latin typeface="黑体" panose="02010609060101010101" pitchFamily="49" charset="-122"/>
                <a:ea typeface="黑体" panose="02010609060101010101" pitchFamily="49" charset="-122"/>
              </a:rPr>
              <a:t>钢：</a:t>
            </a:r>
            <a:r>
              <a:rPr lang="zh-CN" altLang="en-US" sz="2400" dirty="0">
                <a:solidFill>
                  <a:srgbClr val="002060"/>
                </a:solidFill>
                <a:latin typeface="黑体" panose="02010609060101010101" pitchFamily="49" charset="-122"/>
                <a:ea typeface="黑体" panose="02010609060101010101" pitchFamily="49" charset="-122"/>
              </a:rPr>
              <a:t>韧性好，耐冲击，</a:t>
            </a:r>
            <a:r>
              <a:rPr lang="zh-CN" altLang="en-US" sz="2200" dirty="0">
                <a:solidFill>
                  <a:srgbClr val="000099"/>
                </a:solidFill>
                <a:latin typeface="黑体" panose="02010609060101010101" pitchFamily="49" charset="-122"/>
                <a:ea typeface="黑体" panose="02010609060101010101" pitchFamily="49" charset="-122"/>
              </a:rPr>
              <a:t>许多钢材通过适当的热处理或表面处理改善其力学性能及提高齿面硬度，为常用的齿轮材料</a:t>
            </a:r>
            <a:r>
              <a:rPr lang="zh-CN" altLang="en-US" sz="2200" dirty="0" smtClean="0">
                <a:solidFill>
                  <a:srgbClr val="000099"/>
                </a:solidFill>
                <a:latin typeface="黑体" panose="02010609060101010101" pitchFamily="49" charset="-122"/>
                <a:ea typeface="黑体" panose="02010609060101010101" pitchFamily="49" charset="-122"/>
              </a:rPr>
              <a:t>；</a:t>
            </a:r>
            <a:endParaRPr lang="zh-CN" altLang="en-US" sz="2200" dirty="0">
              <a:solidFill>
                <a:srgbClr val="000099"/>
              </a:solidFill>
              <a:latin typeface="黑体" panose="02010609060101010101" pitchFamily="49" charset="-122"/>
              <a:ea typeface="黑体" panose="02010609060101010101" pitchFamily="49" charset="-122"/>
            </a:endParaRPr>
          </a:p>
        </p:txBody>
      </p:sp>
      <p:pic>
        <p:nvPicPr>
          <p:cNvPr id="20534" name="Picture 54"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677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8" name="Rectangle 1"/>
          <p:cNvSpPr>
            <a:spLocks noChangeArrowheads="1"/>
          </p:cNvSpPr>
          <p:nvPr/>
        </p:nvSpPr>
        <p:spPr bwMode="auto">
          <a:xfrm>
            <a:off x="0" y="821584"/>
            <a:ext cx="41736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30670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800" dirty="0" smtClean="0">
                <a:solidFill>
                  <a:srgbClr val="0000FF"/>
                </a:solidFill>
                <a:latin typeface="黑体" panose="02010609060101010101" pitchFamily="49" charset="-122"/>
                <a:ea typeface="黑体" panose="02010609060101010101" pitchFamily="49" charset="-122"/>
              </a:rPr>
              <a:t>一、</a:t>
            </a:r>
            <a:r>
              <a:rPr lang="zh-CN" altLang="en-US" sz="2800" dirty="0">
                <a:solidFill>
                  <a:srgbClr val="0000FF"/>
                </a:solidFill>
                <a:latin typeface="黑体" panose="02010609060101010101" pitchFamily="49" charset="-122"/>
                <a:ea typeface="黑体" panose="02010609060101010101" pitchFamily="49" charset="-122"/>
              </a:rPr>
              <a:t>常用齿轮材料</a:t>
            </a:r>
            <a:endParaRPr lang="zh-CN" altLang="en-US" sz="2800" dirty="0">
              <a:solidFill>
                <a:srgbClr val="0000FF"/>
              </a:solidFill>
              <a:latin typeface="黑体" panose="02010609060101010101" pitchFamily="49" charset="-122"/>
              <a:ea typeface="黑体" panose="02010609060101010101" pitchFamily="49" charset="-122"/>
            </a:endParaRPr>
          </a:p>
        </p:txBody>
      </p:sp>
      <p:sp>
        <p:nvSpPr>
          <p:cNvPr id="28689" name="Rectangle 10"/>
          <p:cNvSpPr>
            <a:spLocks noChangeArrowheads="1"/>
          </p:cNvSpPr>
          <p:nvPr/>
        </p:nvSpPr>
        <p:spPr bwMode="auto">
          <a:xfrm>
            <a:off x="1906588" y="10033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200" dirty="0" smtClean="0">
                <a:solidFill>
                  <a:srgbClr val="CC3300"/>
                </a:solidFill>
                <a:latin typeface="黑体" panose="02010609060101010101" pitchFamily="49" charset="-122"/>
                <a:ea typeface="黑体" panose="02010609060101010101" pitchFamily="49" charset="-122"/>
              </a:rPr>
              <a:t>3.4-3 </a:t>
            </a:r>
            <a:r>
              <a:rPr lang="zh-CN" altLang="en-US" sz="3200" dirty="0" smtClean="0">
                <a:solidFill>
                  <a:srgbClr val="CC3300"/>
                </a:solidFill>
                <a:latin typeface="黑体" panose="02010609060101010101" pitchFamily="49" charset="-122"/>
                <a:ea typeface="黑体" panose="02010609060101010101" pitchFamily="49" charset="-122"/>
              </a:rPr>
              <a:t>齿轮的材料及其选择原则</a:t>
            </a:r>
            <a:endParaRPr lang="zh-CN" altLang="en-US" sz="3200" dirty="0">
              <a:solidFill>
                <a:srgbClr val="CC3300"/>
              </a:solidFill>
              <a:latin typeface="黑体" panose="02010609060101010101" pitchFamily="49" charset="-122"/>
              <a:ea typeface="黑体" panose="02010609060101010101" pitchFamily="49" charset="-122"/>
            </a:endParaRPr>
          </a:p>
        </p:txBody>
      </p:sp>
      <p:pic>
        <p:nvPicPr>
          <p:cNvPr id="20" name="Picture 23"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1" name="直接连接符 6"/>
          <p:cNvSpPr>
            <a:spLocks noChangeShapeType="1"/>
          </p:cNvSpPr>
          <p:nvPr/>
        </p:nvSpPr>
        <p:spPr bwMode="auto">
          <a:xfrm>
            <a:off x="0" y="719907"/>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矩形 2"/>
          <p:cNvSpPr/>
          <p:nvPr/>
        </p:nvSpPr>
        <p:spPr>
          <a:xfrm>
            <a:off x="2930792" y="2809206"/>
            <a:ext cx="2159566" cy="520848"/>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none">
            <a:spAutoFit/>
          </a:bodyPr>
          <a:lstStyle/>
          <a:p>
            <a:pPr>
              <a:lnSpc>
                <a:spcPct val="150000"/>
              </a:lnSpc>
            </a:pPr>
            <a:r>
              <a:rPr lang="zh-CN" altLang="en-US" sz="2200" dirty="0">
                <a:solidFill>
                  <a:srgbClr val="000099"/>
                </a:solidFill>
                <a:latin typeface="黑体" panose="02010609060101010101" pitchFamily="49" charset="-122"/>
                <a:ea typeface="黑体" panose="02010609060101010101" pitchFamily="49" charset="-122"/>
              </a:rPr>
              <a:t>齿面硬、芯部韧</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 name="文本框 1"/>
          <p:cNvSpPr txBox="1"/>
          <p:nvPr/>
        </p:nvSpPr>
        <p:spPr>
          <a:xfrm>
            <a:off x="2615565" y="6172200"/>
            <a:ext cx="2789555" cy="398780"/>
          </a:xfrm>
          <a:prstGeom prst="rect">
            <a:avLst/>
          </a:prstGeom>
          <a:solidFill>
            <a:schemeClr val="accent4">
              <a:lumMod val="20000"/>
              <a:lumOff val="80000"/>
            </a:schemeClr>
          </a:solidFill>
          <a:ln>
            <a:solidFill>
              <a:srgbClr val="00B0F0"/>
            </a:solidFill>
          </a:ln>
        </p:spPr>
        <p:txBody>
          <a:bodyPr wrap="square" rtlCol="0" anchor="t">
            <a:spAutoFit/>
          </a:bodyPr>
          <a:p>
            <a:pPr algn="ctr" eaLnBrk="1" hangingPunct="1"/>
            <a:r>
              <a:rPr lang="zh-CN" altLang="en-US" dirty="0">
                <a:solidFill>
                  <a:srgbClr val="CC3300"/>
                </a:solidFill>
                <a:latin typeface="Tahoma" panose="020B0604030504040204" pitchFamily="34" charset="0"/>
                <a:sym typeface="+mn-ea"/>
              </a:rPr>
              <a:t>常用材料见表</a:t>
            </a:r>
            <a:r>
              <a:rPr lang="en-US" altLang="zh-CN" dirty="0">
                <a:solidFill>
                  <a:srgbClr val="CC3300"/>
                </a:solidFill>
                <a:latin typeface="Tahoma" panose="020B0604030504040204" pitchFamily="34" charset="0"/>
                <a:sym typeface="+mn-ea"/>
              </a:rPr>
              <a:t>3.4-1</a:t>
            </a:r>
            <a:endParaRPr lang="zh-CN" altLang="en-US"/>
          </a:p>
        </p:txBody>
      </p:sp>
      <p:sp>
        <p:nvSpPr>
          <p:cNvPr id="28692" name="Text Box 56"/>
          <p:cNvSpPr txBox="1">
            <a:spLocks noChangeArrowheads="1"/>
          </p:cNvSpPr>
          <p:nvPr/>
        </p:nvSpPr>
        <p:spPr bwMode="auto">
          <a:xfrm>
            <a:off x="7122160" y="6108065"/>
            <a:ext cx="124460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3" action="ppaction://hlinksldjump"/>
              </a:rPr>
              <a:t>常用材料</a:t>
            </a:r>
            <a:endParaRPr lang="zh-CN" altLang="en-US" sz="1600">
              <a:solidFill>
                <a:srgbClr val="CC3300"/>
              </a:solidFill>
              <a:latin typeface="Tahoma" panose="020B0604030504040204" pitchFamily="34" charset="0"/>
            </a:endParaRPr>
          </a:p>
        </p:txBody>
      </p:sp>
      <p:sp>
        <p:nvSpPr>
          <p:cNvPr id="4" name="文本框 3"/>
          <p:cNvSpPr txBox="1"/>
          <p:nvPr/>
        </p:nvSpPr>
        <p:spPr>
          <a:xfrm>
            <a:off x="3870325" y="3686810"/>
            <a:ext cx="1313815" cy="398780"/>
          </a:xfrm>
          <a:prstGeom prst="rect">
            <a:avLst/>
          </a:prstGeom>
          <a:noFill/>
        </p:spPr>
        <p:txBody>
          <a:bodyPr wrap="square" rtlCol="0">
            <a:spAutoFit/>
          </a:bodyPr>
          <a:p>
            <a:r>
              <a:rPr lang="zh-CN" altLang="en-US"/>
              <a:t>钢</a:t>
            </a:r>
            <a:endParaRPr lang="zh-CN" altLang="en-US"/>
          </a:p>
        </p:txBody>
      </p:sp>
      <p:sp>
        <p:nvSpPr>
          <p:cNvPr id="5" name="文本框 4"/>
          <p:cNvSpPr txBox="1"/>
          <p:nvPr/>
        </p:nvSpPr>
        <p:spPr>
          <a:xfrm>
            <a:off x="3820795" y="4123690"/>
            <a:ext cx="1313815" cy="398780"/>
          </a:xfrm>
          <a:prstGeom prst="rect">
            <a:avLst/>
          </a:prstGeom>
          <a:noFill/>
        </p:spPr>
        <p:txBody>
          <a:bodyPr wrap="square" rtlCol="0">
            <a:spAutoFit/>
          </a:bodyPr>
          <a:p>
            <a:r>
              <a:rPr lang="zh-CN" altLang="en-US"/>
              <a:t>铸铁</a:t>
            </a:r>
            <a:endParaRPr lang="zh-CN" altLang="en-US"/>
          </a:p>
        </p:txBody>
      </p:sp>
      <p:sp>
        <p:nvSpPr>
          <p:cNvPr id="7" name="文本框 6"/>
          <p:cNvSpPr txBox="1"/>
          <p:nvPr/>
        </p:nvSpPr>
        <p:spPr>
          <a:xfrm>
            <a:off x="3870325" y="4559935"/>
            <a:ext cx="1876425" cy="398780"/>
          </a:xfrm>
          <a:prstGeom prst="rect">
            <a:avLst/>
          </a:prstGeom>
          <a:noFill/>
        </p:spPr>
        <p:txBody>
          <a:bodyPr wrap="square" rtlCol="0">
            <a:spAutoFit/>
          </a:bodyPr>
          <a:p>
            <a:r>
              <a:rPr lang="zh-CN" altLang="en-US"/>
              <a:t>非金属材料</a:t>
            </a:r>
            <a:endParaRPr lang="zh-CN" altLang="en-US"/>
          </a:p>
        </p:txBody>
      </p:sp>
      <p:sp>
        <p:nvSpPr>
          <p:cNvPr id="8" name="左大括号 7"/>
          <p:cNvSpPr/>
          <p:nvPr/>
        </p:nvSpPr>
        <p:spPr>
          <a:xfrm>
            <a:off x="3295650" y="3895090"/>
            <a:ext cx="443230" cy="905510"/>
          </a:xfrm>
          <a:prstGeom prst="leftBrace">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9" name="文本框 8"/>
          <p:cNvSpPr txBox="1"/>
          <p:nvPr/>
        </p:nvSpPr>
        <p:spPr>
          <a:xfrm>
            <a:off x="4725035" y="3427730"/>
            <a:ext cx="1313815" cy="398780"/>
          </a:xfrm>
          <a:prstGeom prst="rect">
            <a:avLst/>
          </a:prstGeom>
          <a:noFill/>
        </p:spPr>
        <p:txBody>
          <a:bodyPr wrap="square" rtlCol="0">
            <a:spAutoFit/>
          </a:bodyPr>
          <a:p>
            <a:r>
              <a:rPr lang="zh-CN" altLang="en-US"/>
              <a:t>锻钢</a:t>
            </a:r>
            <a:endParaRPr lang="zh-CN" altLang="en-US"/>
          </a:p>
        </p:txBody>
      </p:sp>
      <p:sp>
        <p:nvSpPr>
          <p:cNvPr id="10" name="文本框 9"/>
          <p:cNvSpPr txBox="1"/>
          <p:nvPr/>
        </p:nvSpPr>
        <p:spPr>
          <a:xfrm>
            <a:off x="4665345" y="3826510"/>
            <a:ext cx="1313815" cy="398780"/>
          </a:xfrm>
          <a:prstGeom prst="rect">
            <a:avLst/>
          </a:prstGeom>
          <a:noFill/>
        </p:spPr>
        <p:txBody>
          <a:bodyPr wrap="square" rtlCol="0">
            <a:spAutoFit/>
          </a:bodyPr>
          <a:p>
            <a:r>
              <a:rPr lang="zh-CN" altLang="en-US"/>
              <a:t>铸钢</a:t>
            </a:r>
            <a:endParaRPr lang="zh-CN" altLang="en-US"/>
          </a:p>
        </p:txBody>
      </p:sp>
      <p:sp>
        <p:nvSpPr>
          <p:cNvPr id="11" name="左大括号 10"/>
          <p:cNvSpPr/>
          <p:nvPr/>
        </p:nvSpPr>
        <p:spPr>
          <a:xfrm>
            <a:off x="4350385" y="3572510"/>
            <a:ext cx="254635" cy="544195"/>
          </a:xfrm>
          <a:prstGeom prst="leftBrace">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20"/>
                                        </p:tgtEl>
                                        <p:attrNameLst>
                                          <p:attrName>style.visibility</p:attrName>
                                        </p:attrNameLst>
                                      </p:cBhvr>
                                      <p:to>
                                        <p:strVal val="visible"/>
                                      </p:to>
                                    </p:set>
                                    <p:animEffect transition="in" filter="wipe(left)">
                                      <p:cBhvr>
                                        <p:cTn id="7" dur="500"/>
                                        <p:tgtEl>
                                          <p:spTgt spid="2052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20521"/>
                                        </p:tgtEl>
                                        <p:attrNameLst>
                                          <p:attrName>style.visibility</p:attrName>
                                        </p:attrNameLst>
                                      </p:cBhvr>
                                      <p:to>
                                        <p:strVal val="visible"/>
                                      </p:to>
                                    </p:set>
                                    <p:animEffect transition="in" filter="slide(fromTop)">
                                      <p:cBhvr>
                                        <p:cTn id="12" dur="500"/>
                                        <p:tgtEl>
                                          <p:spTgt spid="205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20522"/>
                                        </p:tgtEl>
                                        <p:attrNameLst>
                                          <p:attrName>style.visibility</p:attrName>
                                        </p:attrNameLst>
                                      </p:cBhvr>
                                      <p:to>
                                        <p:strVal val="visible"/>
                                      </p:to>
                                    </p:set>
                                    <p:animEffect transition="in" filter="wipe(left)">
                                      <p:cBhvr>
                                        <p:cTn id="22" dur="300"/>
                                        <p:tgtEl>
                                          <p:spTgt spid="205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left)">
                                      <p:cBhvr>
                                        <p:cTn id="55" dur="500"/>
                                        <p:tgtEl>
                                          <p:spTgt spid="2"/>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8692"/>
                                        </p:tgtEl>
                                        <p:attrNameLst>
                                          <p:attrName>style.visibility</p:attrName>
                                        </p:attrNameLst>
                                      </p:cBhvr>
                                      <p:to>
                                        <p:strVal val="visible"/>
                                      </p:to>
                                    </p:set>
                                    <p:animEffect transition="in" filter="wipe(left)">
                                      <p:cBhvr>
                                        <p:cTn id="59" dur="500"/>
                                        <p:tgtEl>
                                          <p:spTgt spid="28692"/>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1" fill="hold" grpId="0" nodeType="clickEffect">
                                  <p:stCondLst>
                                    <p:cond delay="0"/>
                                  </p:stCondLst>
                                  <p:childTnLst>
                                    <p:set>
                                      <p:cBhvr>
                                        <p:cTn id="63" dur="1" fill="hold">
                                          <p:stCondLst>
                                            <p:cond delay="0"/>
                                          </p:stCondLst>
                                        </p:cTn>
                                        <p:tgtEl>
                                          <p:spTgt spid="20523"/>
                                        </p:tgtEl>
                                        <p:attrNameLst>
                                          <p:attrName>style.visibility</p:attrName>
                                        </p:attrNameLst>
                                      </p:cBhvr>
                                      <p:to>
                                        <p:strVal val="visible"/>
                                      </p:to>
                                    </p:set>
                                    <p:animEffect transition="in" filter="slide(fromTop)">
                                      <p:cBhvr>
                                        <p:cTn id="64" dur="500"/>
                                        <p:tgtEl>
                                          <p:spTgt spid="20523"/>
                                        </p:tgtEl>
                                      </p:cBhvr>
                                    </p:animEffect>
                                  </p:childTnLst>
                                </p:cTn>
                              </p:par>
                            </p:childTnLst>
                          </p:cTn>
                        </p:par>
                        <p:par>
                          <p:cTn id="65" fill="hold">
                            <p:stCondLst>
                              <p:cond delay="500"/>
                            </p:stCondLst>
                            <p:childTnLst>
                              <p:par>
                                <p:cTn id="66" presetID="2" presetClass="entr" presetSubtype="8" fill="hold" nodeType="afterEffect">
                                  <p:stCondLst>
                                    <p:cond delay="0"/>
                                  </p:stCondLst>
                                  <p:childTnLst>
                                    <p:set>
                                      <p:cBhvr>
                                        <p:cTn id="67" dur="1" fill="hold">
                                          <p:stCondLst>
                                            <p:cond delay="0"/>
                                          </p:stCondLst>
                                        </p:cTn>
                                        <p:tgtEl>
                                          <p:spTgt spid="20534"/>
                                        </p:tgtEl>
                                        <p:attrNameLst>
                                          <p:attrName>style.visibility</p:attrName>
                                        </p:attrNameLst>
                                      </p:cBhvr>
                                      <p:to>
                                        <p:strVal val="visible"/>
                                      </p:to>
                                    </p:set>
                                    <p:anim calcmode="lin" valueType="num">
                                      <p:cBhvr additive="base">
                                        <p:cTn id="68" dur="500" fill="hold"/>
                                        <p:tgtEl>
                                          <p:spTgt spid="20534"/>
                                        </p:tgtEl>
                                        <p:attrNameLst>
                                          <p:attrName>ppt_x</p:attrName>
                                        </p:attrNameLst>
                                      </p:cBhvr>
                                      <p:tavLst>
                                        <p:tav tm="0">
                                          <p:val>
                                            <p:strVal val="0-#ppt_w/2"/>
                                          </p:val>
                                        </p:tav>
                                        <p:tav tm="100000">
                                          <p:val>
                                            <p:strVal val="#ppt_x"/>
                                          </p:val>
                                        </p:tav>
                                      </p:tavLst>
                                    </p:anim>
                                    <p:anim calcmode="lin" valueType="num">
                                      <p:cBhvr additive="base">
                                        <p:cTn id="69" dur="500" fill="hold"/>
                                        <p:tgtEl>
                                          <p:spTgt spid="20534"/>
                                        </p:tgtEl>
                                        <p:attrNameLst>
                                          <p:attrName>ppt_y</p:attrName>
                                        </p:attrNameLst>
                                      </p:cBhvr>
                                      <p:tavLst>
                                        <p:tav tm="0">
                                          <p:val>
                                            <p:strVal val="#ppt_y"/>
                                          </p:val>
                                        </p:tav>
                                        <p:tav tm="100000">
                                          <p:val>
                                            <p:strVal val="#ppt_y"/>
                                          </p:val>
                                        </p:tav>
                                      </p:tavLst>
                                    </p:anim>
                                  </p:childTnLst>
                                </p:cTn>
                              </p:par>
                            </p:childTnLst>
                          </p:cTn>
                        </p:par>
                        <p:par>
                          <p:cTn id="70" fill="hold">
                            <p:stCondLst>
                              <p:cond delay="1000"/>
                            </p:stCondLst>
                            <p:childTnLst>
                              <p:par>
                                <p:cTn id="71" presetID="1" presetClass="entr" presetSubtype="0" fill="hold" nodeType="afterEffect">
                                  <p:stCondLst>
                                    <p:cond delay="0"/>
                                  </p:stCondLst>
                                  <p:childTnLst>
                                    <p:set>
                                      <p:cBhvr>
                                        <p:cTn id="72"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0" grpId="0" autoUpdateAnimBg="0"/>
      <p:bldP spid="20521" grpId="0" autoUpdateAnimBg="0"/>
      <p:bldP spid="20522" grpId="0" autoUpdateAnimBg="0"/>
      <p:bldP spid="20523" grpId="0" autoUpdateAnimBg="0"/>
      <p:bldP spid="3" grpId="0" bldLvl="0" animBg="1"/>
      <p:bldP spid="2" grpId="0" bldLvl="0" animBg="1"/>
      <p:bldP spid="8" grpId="0" animBg="1"/>
      <p:bldP spid="4" grpId="0"/>
      <p:bldP spid="5" grpId="0"/>
      <p:bldP spid="7" grpId="0"/>
      <p:bldP spid="11" grpId="0" animBg="1"/>
      <p:bldP spid="9" grpId="0"/>
      <p:bldP spid="10" grpId="0"/>
      <p:bldP spid="2869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3" name="Text Box 5"/>
          <p:cNvSpPr txBox="1">
            <a:spLocks noChangeArrowheads="1"/>
          </p:cNvSpPr>
          <p:nvPr/>
        </p:nvSpPr>
        <p:spPr bwMode="auto">
          <a:xfrm>
            <a:off x="298450" y="360680"/>
            <a:ext cx="210121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514350" indent="-514350" algn="l">
              <a:spcBef>
                <a:spcPct val="50000"/>
              </a:spcBef>
              <a:buFont typeface="+mj-ea"/>
              <a:buAutoNum type="circleNumDbPlain"/>
            </a:pPr>
            <a:r>
              <a:rPr kumimoji="1" lang="zh-CN" altLang="en-US" sz="2400" dirty="0" smtClean="0">
                <a:solidFill>
                  <a:srgbClr val="FF0000"/>
                </a:solidFill>
                <a:latin typeface="Times New Roman" panose="02020603050405020304" pitchFamily="18" charset="0"/>
              </a:rPr>
              <a:t>锻</a:t>
            </a:r>
            <a:r>
              <a:rPr kumimoji="1" lang="zh-CN" altLang="en-US" sz="2400" dirty="0">
                <a:solidFill>
                  <a:srgbClr val="FF0000"/>
                </a:solidFill>
                <a:latin typeface="Times New Roman" panose="02020603050405020304" pitchFamily="18" charset="0"/>
              </a:rPr>
              <a:t>钢</a:t>
            </a:r>
            <a:endParaRPr kumimoji="1" lang="zh-CN" altLang="en-US" sz="2400" dirty="0">
              <a:solidFill>
                <a:srgbClr val="FF0000"/>
              </a:solidFill>
              <a:latin typeface="Times New Roman" panose="02020603050405020304" pitchFamily="18" charset="0"/>
            </a:endParaRPr>
          </a:p>
        </p:txBody>
      </p:sp>
      <p:sp>
        <p:nvSpPr>
          <p:cNvPr id="462854" name="Text Box 6"/>
          <p:cNvSpPr txBox="1">
            <a:spLocks noChangeArrowheads="1"/>
          </p:cNvSpPr>
          <p:nvPr/>
        </p:nvSpPr>
        <p:spPr bwMode="auto">
          <a:xfrm>
            <a:off x="2031365" y="289560"/>
            <a:ext cx="6309995"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锻钢是各种牌号的优质碳素钢和合金结构钢，一般含碳量为</a:t>
            </a:r>
            <a:r>
              <a:rPr kumimoji="1" lang="en-US" altLang="zh-CN" dirty="0" smtClean="0">
                <a:solidFill>
                  <a:srgbClr val="002060"/>
                </a:solidFill>
                <a:latin typeface="黑体" panose="02010609060101010101" pitchFamily="49" charset="-122"/>
                <a:ea typeface="黑体" panose="02010609060101010101" pitchFamily="49" charset="-122"/>
                <a:cs typeface="黑体" panose="02010609060101010101" pitchFamily="49" charset="-122"/>
              </a:rPr>
              <a:t>0.15~0.6</a:t>
            </a:r>
            <a:r>
              <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a:t>
            </a:r>
            <a:endPar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462855" name="Text Box 7"/>
          <p:cNvSpPr txBox="1">
            <a:spLocks noChangeArrowheads="1"/>
          </p:cNvSpPr>
          <p:nvPr/>
        </p:nvSpPr>
        <p:spPr bwMode="auto">
          <a:xfrm>
            <a:off x="734060" y="1119505"/>
            <a:ext cx="7607300" cy="1642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buClr>
                <a:srgbClr val="FF0000"/>
              </a:buClr>
              <a:buSzPct val="80000"/>
              <a:buFont typeface="Wingdings" panose="05000000000000000000" pitchFamily="2" charset="2"/>
              <a:buChar char="l"/>
            </a:pPr>
            <a:r>
              <a:rPr kumimoji="1" lang="en-US" altLang="zh-CN" sz="2400" dirty="0">
                <a:solidFill>
                  <a:srgbClr val="FFFF00"/>
                </a:solidFill>
                <a:latin typeface="Times New Roman" panose="02020603050405020304" pitchFamily="18" charset="0"/>
              </a:rPr>
              <a:t> </a:t>
            </a:r>
            <a:r>
              <a:rPr kumimoji="1" lang="zh-CN" altLang="en-US" sz="2400" dirty="0">
                <a:solidFill>
                  <a:srgbClr val="0000FF"/>
                </a:solidFill>
                <a:latin typeface="Times New Roman" panose="02020603050405020304" pitchFamily="18" charset="0"/>
              </a:rPr>
              <a:t>经热处理后切齿的齿轮所用的锻钢</a:t>
            </a:r>
            <a:endParaRPr kumimoji="1" lang="zh-CN" altLang="en-US" sz="2400" dirty="0">
              <a:solidFill>
                <a:srgbClr val="0000FF"/>
              </a:solidFill>
              <a:latin typeface="Times New Roman" panose="02020603050405020304" pitchFamily="18" charset="0"/>
            </a:endParaRPr>
          </a:p>
          <a:p>
            <a:pPr indent="0" algn="l" eaLnBrk="1" latinLnBrk="0" hangingPunct="1">
              <a:lnSpc>
                <a:spcPct val="120000"/>
              </a:lnSpc>
              <a:spcBef>
                <a:spcPts val="0"/>
              </a:spcBef>
              <a:buClr>
                <a:srgbClr val="FF0000"/>
              </a:buClr>
              <a:buSzPct val="80000"/>
              <a:buFont typeface="Wingdings" panose="05000000000000000000" pitchFamily="2" charset="2"/>
              <a:buNone/>
            </a:pPr>
            <a:r>
              <a:rPr lang="zh-CN" altLang="en-US" sz="2400" dirty="0">
                <a:solidFill>
                  <a:srgbClr val="002060"/>
                </a:solidFill>
                <a:sym typeface="+mn-ea"/>
              </a:rPr>
              <a:t>   </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这类齿轮是在热处理（调质或正火）后进行精加工，工作表面硬度在</a:t>
            </a:r>
            <a:r>
              <a:rPr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180~280HBW</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folHlink"/>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dirty="0">
                <a:solidFill>
                  <a:schemeClr val="folHlink"/>
                </a:solidFill>
                <a:latin typeface="黑体" panose="02010609060101010101" pitchFamily="49" charset="-122"/>
                <a:ea typeface="黑体" panose="02010609060101010101" pitchFamily="49" charset="-122"/>
                <a:cs typeface="黑体" panose="02010609060101010101" pitchFamily="49" charset="-122"/>
                <a:sym typeface="+mn-ea"/>
              </a:rPr>
              <a:t>350HBW</a:t>
            </a:r>
            <a:r>
              <a:rPr lang="zh-CN" altLang="en-US" dirty="0">
                <a:solidFill>
                  <a:schemeClr val="folHlink"/>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之间，</a:t>
            </a:r>
            <a:r>
              <a:rPr lang="zh-CN" altLang="en-US" dirty="0">
                <a:solidFill>
                  <a:schemeClr val="folHlink"/>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常用的材料为</a:t>
            </a:r>
            <a:r>
              <a:rPr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45</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35SiMn</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42SiMn</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40Cr</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35CrMo</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40MnB</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，有时也用</a:t>
            </a:r>
            <a:r>
              <a:rPr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Q275</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a:t>
            </a:r>
            <a:endPar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462858" name="Text Box 10"/>
          <p:cNvSpPr txBox="1">
            <a:spLocks noChangeArrowheads="1"/>
          </p:cNvSpPr>
          <p:nvPr/>
        </p:nvSpPr>
        <p:spPr bwMode="auto">
          <a:xfrm>
            <a:off x="1041400" y="4622800"/>
            <a:ext cx="7658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kumimoji="1" lang="zh-CN" altLang="zh-CN" sz="2400" b="0" i="1">
              <a:effectLst>
                <a:outerShdw blurRad="38100" dist="38100" dir="2700000" algn="tl">
                  <a:srgbClr val="C0C0C0"/>
                </a:outerShdw>
              </a:effectLst>
              <a:latin typeface="Times New Roman" panose="02020603050405020304" pitchFamily="18" charset="0"/>
            </a:endParaRPr>
          </a:p>
        </p:txBody>
      </p:sp>
      <p:sp>
        <p:nvSpPr>
          <p:cNvPr id="462860" name="Rectangle 12"/>
          <p:cNvSpPr>
            <a:spLocks noChangeArrowheads="1"/>
          </p:cNvSpPr>
          <p:nvPr/>
        </p:nvSpPr>
        <p:spPr bwMode="auto">
          <a:xfrm>
            <a:off x="625144" y="2998111"/>
            <a:ext cx="7824788" cy="2011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rgbClr val="FF0000"/>
              </a:buClr>
              <a:buSzPct val="80000"/>
              <a:buFont typeface="Wingdings" panose="05000000000000000000" pitchFamily="2" charset="2"/>
              <a:buChar char="l"/>
            </a:pPr>
            <a:r>
              <a:rPr kumimoji="1" lang="en-US" altLang="zh-CN" sz="2400" dirty="0">
                <a:solidFill>
                  <a:srgbClr val="FFFF00"/>
                </a:solidFill>
                <a:latin typeface="Times New Roman" panose="02020603050405020304" pitchFamily="18" charset="0"/>
              </a:rPr>
              <a:t> </a:t>
            </a:r>
            <a:r>
              <a:rPr kumimoji="1" lang="zh-CN" sz="2400" dirty="0">
                <a:solidFill>
                  <a:srgbClr val="0000FF"/>
                </a:solidFill>
                <a:latin typeface="Times New Roman" panose="02020603050405020304" pitchFamily="18" charset="0"/>
              </a:rPr>
              <a:t>需进行精加工后热处理的齿轮所用的锻钢</a:t>
            </a:r>
            <a:endParaRPr kumimoji="1" lang="zh-CN" altLang="en-US" sz="2400" dirty="0">
              <a:solidFill>
                <a:srgbClr val="0000FF"/>
              </a:solidFill>
              <a:latin typeface="Times New Roman" panose="02020603050405020304" pitchFamily="18" charset="0"/>
            </a:endParaRPr>
          </a:p>
          <a:p>
            <a:pPr algn="l" eaLnBrk="1" latinLnBrk="0" hangingPunct="1">
              <a:lnSpc>
                <a:spcPct val="120000"/>
              </a:lnSpc>
              <a:spcBef>
                <a:spcPts val="0"/>
              </a:spcBef>
            </a:pPr>
            <a:r>
              <a:rPr kumimoji="1" lang="zh-CN" altLang="en-US" sz="2400" dirty="0">
                <a:solidFill>
                  <a:srgbClr val="002060"/>
                </a:solidFill>
                <a:latin typeface="Times New Roman" panose="02020603050405020304" pitchFamily="18" charset="0"/>
              </a:rPr>
              <a:t>         </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 这类齿轮是在精加工后进行热处理（淬火、表面淬火），其轮齿工作表面硬度为</a:t>
            </a:r>
            <a:r>
              <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40~60HRC</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。用于高速、重载及精密机器（精密机床、航空发动机）。常用的材料为</a:t>
            </a:r>
            <a:r>
              <a:rPr kumimoji="1"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20Cr</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20CrMnTi</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20Mn2B</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（表面渗碳淬火）；</a:t>
            </a:r>
            <a:r>
              <a:rPr kumimoji="1"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45</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35SiMn</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40Cr</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（表面淬火或整体淬火）。</a:t>
            </a:r>
            <a:endPar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360680" y="5118100"/>
            <a:ext cx="8354695" cy="1198880"/>
          </a:xfrm>
          <a:prstGeom prst="rect">
            <a:avLst/>
          </a:prstGeom>
          <a:noFill/>
        </p:spPr>
        <p:txBody>
          <a:bodyPr wrap="square" rtlCol="0">
            <a:spAutoFit/>
          </a:bodyPr>
          <a:p>
            <a:r>
              <a:rPr lang="en-US" altLang="zh-CN"/>
              <a:t>      </a:t>
            </a:r>
            <a:r>
              <a:rPr lang="zh-CN" altLang="en-US" sz="2400">
                <a:solidFill>
                  <a:srgbClr val="002060"/>
                </a:solidFill>
                <a:latin typeface="黑体" panose="02010609060101010101" pitchFamily="49" charset="-122"/>
                <a:ea typeface="黑体" panose="02010609060101010101" pitchFamily="49" charset="-122"/>
              </a:rPr>
              <a:t>由于硬面齿轮具有力学性能高、结构尺寸小等优点，因而一些工业发达的国家在一般机械中也普遍采用中、硬齿面的齿轮传动。</a:t>
            </a:r>
            <a:endParaRPr lang="zh-CN" altLang="en-US" sz="2400">
              <a:solidFill>
                <a:srgbClr val="00206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2853"/>
                                        </p:tgtEl>
                                        <p:attrNameLst>
                                          <p:attrName>style.visibility</p:attrName>
                                        </p:attrNameLst>
                                      </p:cBhvr>
                                      <p:to>
                                        <p:strVal val="visible"/>
                                      </p:to>
                                    </p:set>
                                    <p:animEffect transition="in" filter="wipe(left)">
                                      <p:cBhvr>
                                        <p:cTn id="7" dur="500"/>
                                        <p:tgtEl>
                                          <p:spTgt spid="4628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2854"/>
                                        </p:tgtEl>
                                        <p:attrNameLst>
                                          <p:attrName>style.visibility</p:attrName>
                                        </p:attrNameLst>
                                      </p:cBhvr>
                                      <p:to>
                                        <p:strVal val="visible"/>
                                      </p:to>
                                    </p:set>
                                    <p:animEffect transition="in" filter="wipe(left)">
                                      <p:cBhvr>
                                        <p:cTn id="12" dur="500"/>
                                        <p:tgtEl>
                                          <p:spTgt spid="4628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62855"/>
                                        </p:tgtEl>
                                        <p:attrNameLst>
                                          <p:attrName>style.visibility</p:attrName>
                                        </p:attrNameLst>
                                      </p:cBhvr>
                                      <p:to>
                                        <p:strVal val="visible"/>
                                      </p:to>
                                    </p:set>
                                    <p:animEffect transition="in" filter="wipe(up)">
                                      <p:cBhvr>
                                        <p:cTn id="17" dur="500"/>
                                        <p:tgtEl>
                                          <p:spTgt spid="4628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62860"/>
                                        </p:tgtEl>
                                        <p:attrNameLst>
                                          <p:attrName>style.visibility</p:attrName>
                                        </p:attrNameLst>
                                      </p:cBhvr>
                                      <p:to>
                                        <p:strVal val="visible"/>
                                      </p:to>
                                    </p:set>
                                    <p:animEffect transition="in" filter="wipe(up)">
                                      <p:cBhvr>
                                        <p:cTn id="22" dur="500"/>
                                        <p:tgtEl>
                                          <p:spTgt spid="4628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3" grpId="0" bldLvl="0" animBg="1"/>
      <p:bldP spid="462854" grpId="0" bldLvl="0" animBg="1"/>
      <p:bldP spid="462855" grpId="0" bldLvl="0" animBg="1"/>
      <p:bldP spid="462860" grpId="0" bldLvl="0" animBg="1"/>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6" name="Text Box 4"/>
          <p:cNvSpPr txBox="1">
            <a:spLocks noChangeArrowheads="1"/>
          </p:cNvSpPr>
          <p:nvPr/>
        </p:nvSpPr>
        <p:spPr bwMode="auto">
          <a:xfrm>
            <a:off x="683260" y="317500"/>
            <a:ext cx="4838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14350" indent="-514350" algn="l">
              <a:spcBef>
                <a:spcPct val="50000"/>
              </a:spcBef>
              <a:buFont typeface="+mj-ea"/>
              <a:buAutoNum type="circleNumDbPlain" startAt="2"/>
            </a:pPr>
            <a:r>
              <a:rPr kumimoji="1" lang="zh-CN" altLang="en-US" sz="2400" dirty="0">
                <a:solidFill>
                  <a:srgbClr val="FF0000"/>
                </a:solidFill>
                <a:latin typeface="Times New Roman" panose="02020603050405020304" pitchFamily="18" charset="0"/>
              </a:rPr>
              <a:t>铸钢</a:t>
            </a:r>
            <a:endParaRPr kumimoji="1" lang="zh-CN" altLang="en-US" sz="2400" dirty="0">
              <a:solidFill>
                <a:srgbClr val="FF0000"/>
              </a:solidFill>
              <a:latin typeface="Times New Roman" panose="02020603050405020304" pitchFamily="18" charset="0"/>
            </a:endParaRPr>
          </a:p>
        </p:txBody>
      </p:sp>
      <p:sp>
        <p:nvSpPr>
          <p:cNvPr id="463877" name="Text Box 5"/>
          <p:cNvSpPr txBox="1">
            <a:spLocks noChangeArrowheads="1"/>
          </p:cNvSpPr>
          <p:nvPr/>
        </p:nvSpPr>
        <p:spPr bwMode="auto">
          <a:xfrm>
            <a:off x="395605" y="777875"/>
            <a:ext cx="854329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latinLnBrk="0" hangingPunct="1">
              <a:lnSpc>
                <a:spcPct val="150000"/>
              </a:lnSpc>
              <a:spcBef>
                <a:spcPts val="0"/>
              </a:spcBef>
            </a:pPr>
            <a:r>
              <a:rPr kumimoji="1" lang="zh-CN" altLang="en-US" sz="2400" dirty="0">
                <a:solidFill>
                  <a:schemeClr val="bg1"/>
                </a:solidFill>
                <a:latin typeface="Times New Roman" panose="02020603050405020304" pitchFamily="18" charset="0"/>
              </a:rPr>
              <a:t>当</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齿轮较大（</a:t>
            </a:r>
            <a:r>
              <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d&gt;400~600mm</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）而轮坯不宜锻出时，可采用铸钢。常用的铸钢有</a:t>
            </a:r>
            <a:r>
              <a:rPr kumimoji="1"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ZG310-570</a:t>
            </a:r>
            <a:r>
              <a:rPr kumimoji="1" lang="zh-CN" altLang="en-US" dirty="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ZG340-640</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等。铸钢的耐磨性及强度都较好，但采用正火或回火以消除铸钢件的内应力。</a:t>
            </a:r>
            <a:endPar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463878" name="Text Box 6"/>
          <p:cNvSpPr txBox="1">
            <a:spLocks noChangeArrowheads="1"/>
          </p:cNvSpPr>
          <p:nvPr/>
        </p:nvSpPr>
        <p:spPr bwMode="auto">
          <a:xfrm>
            <a:off x="74295" y="2346325"/>
            <a:ext cx="4965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1"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rPr>
              <a:t>2</a:t>
            </a:r>
            <a:r>
              <a:rPr kumimoji="1"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）铸铁</a:t>
            </a:r>
            <a:endParaRPr kumimoji="1"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463879" name="Text Box 7"/>
          <p:cNvSpPr txBox="1">
            <a:spLocks noChangeArrowheads="1"/>
          </p:cNvSpPr>
          <p:nvPr/>
        </p:nvSpPr>
        <p:spPr bwMode="auto">
          <a:xfrm>
            <a:off x="603250" y="2644775"/>
            <a:ext cx="825627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latinLnBrk="0" hangingPunct="1">
              <a:lnSpc>
                <a:spcPct val="150000"/>
              </a:lnSpc>
              <a:spcBef>
                <a:spcPts val="0"/>
              </a:spcBef>
            </a:pPr>
            <a:r>
              <a:rPr kumimoji="1" lang="en-US" altLang="zh-CN" sz="2400" dirty="0">
                <a:solidFill>
                  <a:srgbClr val="002060"/>
                </a:solidFill>
                <a:latin typeface="Times New Roman" panose="02020603050405020304" pitchFamily="18" charset="0"/>
              </a:rPr>
              <a:t>     </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灰铸铁性质较脆，抗冲击及耐磨性都较差，但抗胶合及抗点蚀的能力较好。铸铁齿轮主要用于开式的低速齿轮传动中，工作平稳、速度低、功率不大的场合。常用的铸铁有</a:t>
            </a:r>
            <a:r>
              <a:rPr kumimoji="1"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HT200</a:t>
            </a:r>
            <a:r>
              <a:rPr kumimoji="1" lang="zh-CN" altLang="en-US" dirty="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HT300</a:t>
            </a:r>
            <a:r>
              <a:rPr kumimoji="1"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以及球墨铸铁</a:t>
            </a:r>
            <a:r>
              <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QT500-7</a:t>
            </a:r>
            <a:endParaRPr kumimoji="1"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463880" name="Text Box 8"/>
          <p:cNvSpPr txBox="1">
            <a:spLocks noChangeArrowheads="1"/>
          </p:cNvSpPr>
          <p:nvPr/>
        </p:nvSpPr>
        <p:spPr bwMode="auto">
          <a:xfrm>
            <a:off x="0" y="4364990"/>
            <a:ext cx="32385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kumimoji="1"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rPr>
              <a:t>3</a:t>
            </a:r>
            <a:r>
              <a:rPr kumimoji="1"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）非金属材料</a:t>
            </a:r>
            <a:endParaRPr kumimoji="1"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463881" name="Text Box 9"/>
          <p:cNvSpPr txBox="1">
            <a:spLocks noChangeArrowheads="1"/>
          </p:cNvSpPr>
          <p:nvPr/>
        </p:nvSpPr>
        <p:spPr bwMode="auto">
          <a:xfrm>
            <a:off x="603250" y="4886960"/>
            <a:ext cx="7855585"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latinLnBrk="0" hangingPunct="1">
              <a:lnSpc>
                <a:spcPct val="150000"/>
              </a:lnSpc>
              <a:spcBef>
                <a:spcPts val="0"/>
              </a:spcBef>
            </a:pPr>
            <a:r>
              <a:rPr kumimoji="1" lang="en-US" altLang="zh-CN" sz="2400" dirty="0">
                <a:solidFill>
                  <a:schemeClr val="tx2"/>
                </a:solidFill>
                <a:latin typeface="Times New Roman" panose="02020603050405020304" pitchFamily="18" charset="0"/>
              </a:rPr>
              <a:t>      </a:t>
            </a:r>
            <a:r>
              <a:rPr kumimoji="1" lang="zh-CN" altLang="en-US" dirty="0">
                <a:solidFill>
                  <a:srgbClr val="002060"/>
                </a:solidFill>
                <a:latin typeface="黑体" panose="02010609060101010101" pitchFamily="49" charset="-122"/>
                <a:ea typeface="黑体" panose="02010609060101010101" pitchFamily="49" charset="-122"/>
              </a:rPr>
              <a:t>为了消除高速运转时齿轮传动的噪声，可采用非金属材料，常用的非金属材料有塑料（布质塑料、木质塑料、尼龙）、皮革等。与其配合使用的另一个齿轮多由铸钢或铸铁制成，它们的承载能力较低。</a:t>
            </a:r>
            <a:endParaRPr kumimoji="1" lang="zh-CN" altLang="en-US" dirty="0">
              <a:solidFill>
                <a:srgbClr val="00206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3876"/>
                                        </p:tgtEl>
                                        <p:attrNameLst>
                                          <p:attrName>style.visibility</p:attrName>
                                        </p:attrNameLst>
                                      </p:cBhvr>
                                      <p:to>
                                        <p:strVal val="visible"/>
                                      </p:to>
                                    </p:set>
                                    <p:animEffect transition="in" filter="wipe(left)">
                                      <p:cBhvr>
                                        <p:cTn id="7" dur="500"/>
                                        <p:tgtEl>
                                          <p:spTgt spid="4638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63877"/>
                                        </p:tgtEl>
                                        <p:attrNameLst>
                                          <p:attrName>style.visibility</p:attrName>
                                        </p:attrNameLst>
                                      </p:cBhvr>
                                      <p:to>
                                        <p:strVal val="visible"/>
                                      </p:to>
                                    </p:set>
                                    <p:anim calcmode="lin" valueType="num">
                                      <p:cBhvr additive="base">
                                        <p:cTn id="12" dur="500" fill="hold"/>
                                        <p:tgtEl>
                                          <p:spTgt spid="463877"/>
                                        </p:tgtEl>
                                        <p:attrNameLst>
                                          <p:attrName>ppt_x</p:attrName>
                                        </p:attrNameLst>
                                      </p:cBhvr>
                                      <p:tavLst>
                                        <p:tav tm="0">
                                          <p:val>
                                            <p:strVal val="0-#ppt_w/2"/>
                                          </p:val>
                                        </p:tav>
                                        <p:tav tm="100000">
                                          <p:val>
                                            <p:strVal val="#ppt_x"/>
                                          </p:val>
                                        </p:tav>
                                      </p:tavLst>
                                    </p:anim>
                                    <p:anim calcmode="lin" valueType="num">
                                      <p:cBhvr additive="base">
                                        <p:cTn id="13" dur="500" fill="hold"/>
                                        <p:tgtEl>
                                          <p:spTgt spid="46387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63878"/>
                                        </p:tgtEl>
                                        <p:attrNameLst>
                                          <p:attrName>style.visibility</p:attrName>
                                        </p:attrNameLst>
                                      </p:cBhvr>
                                      <p:to>
                                        <p:strVal val="visible"/>
                                      </p:to>
                                    </p:set>
                                    <p:animEffect transition="in" filter="wipe(left)">
                                      <p:cBhvr>
                                        <p:cTn id="18" dur="500"/>
                                        <p:tgtEl>
                                          <p:spTgt spid="46387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463879"/>
                                        </p:tgtEl>
                                        <p:attrNameLst>
                                          <p:attrName>style.visibility</p:attrName>
                                        </p:attrNameLst>
                                      </p:cBhvr>
                                      <p:to>
                                        <p:strVal val="visible"/>
                                      </p:to>
                                    </p:set>
                                    <p:animEffect transition="in" filter="wipe(up)">
                                      <p:cBhvr>
                                        <p:cTn id="23" dur="500"/>
                                        <p:tgtEl>
                                          <p:spTgt spid="46387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63880"/>
                                        </p:tgtEl>
                                        <p:attrNameLst>
                                          <p:attrName>style.visibility</p:attrName>
                                        </p:attrNameLst>
                                      </p:cBhvr>
                                      <p:to>
                                        <p:strVal val="visible"/>
                                      </p:to>
                                    </p:set>
                                    <p:anim calcmode="lin" valueType="num">
                                      <p:cBhvr additive="base">
                                        <p:cTn id="28" dur="500" fill="hold"/>
                                        <p:tgtEl>
                                          <p:spTgt spid="463880"/>
                                        </p:tgtEl>
                                        <p:attrNameLst>
                                          <p:attrName>ppt_x</p:attrName>
                                        </p:attrNameLst>
                                      </p:cBhvr>
                                      <p:tavLst>
                                        <p:tav tm="0">
                                          <p:val>
                                            <p:strVal val="#ppt_x"/>
                                          </p:val>
                                        </p:tav>
                                        <p:tav tm="100000">
                                          <p:val>
                                            <p:strVal val="#ppt_x"/>
                                          </p:val>
                                        </p:tav>
                                      </p:tavLst>
                                    </p:anim>
                                    <p:anim calcmode="lin" valueType="num">
                                      <p:cBhvr additive="base">
                                        <p:cTn id="29" dur="500" fill="hold"/>
                                        <p:tgtEl>
                                          <p:spTgt spid="46388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463881"/>
                                        </p:tgtEl>
                                        <p:attrNameLst>
                                          <p:attrName>style.visibility</p:attrName>
                                        </p:attrNameLst>
                                      </p:cBhvr>
                                      <p:to>
                                        <p:strVal val="visible"/>
                                      </p:to>
                                    </p:set>
                                    <p:animEffect transition="in" filter="diamond(in)">
                                      <p:cBhvr>
                                        <p:cTn id="34" dur="1000"/>
                                        <p:tgtEl>
                                          <p:spTgt spid="463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6" grpId="0" bldLvl="0" animBg="1"/>
      <p:bldP spid="463877" grpId="0" bldLvl="0" animBg="1"/>
      <p:bldP spid="463878" grpId="0" bldLvl="0" animBg="1"/>
      <p:bldP spid="463879" grpId="0" bldLvl="0" animBg="1"/>
      <p:bldP spid="463880" grpId="0" bldLvl="0" animBg="1"/>
      <p:bldP spid="46388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5867400" y="762000"/>
            <a:ext cx="133350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齿轮的材料及其选择原则</a:t>
            </a:r>
            <a:endParaRPr lang="zh-CN" altLang="en-US" sz="800" smtClean="0">
              <a:solidFill>
                <a:schemeClr val="bg1"/>
              </a:solidFill>
              <a:ea typeface="黑体" panose="02010609060101010101" pitchFamily="49" charset="-122"/>
            </a:endParaRPr>
          </a:p>
        </p:txBody>
      </p:sp>
      <p:sp>
        <p:nvSpPr>
          <p:cNvPr id="20528" name="Text Box 48"/>
          <p:cNvSpPr txBox="1">
            <a:spLocks noChangeArrowheads="1"/>
          </p:cNvSpPr>
          <p:nvPr/>
        </p:nvSpPr>
        <p:spPr bwMode="auto">
          <a:xfrm>
            <a:off x="488950" y="1745229"/>
            <a:ext cx="823760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Clr>
                <a:srgbClr val="CC33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sz="2200" dirty="0">
                <a:solidFill>
                  <a:srgbClr val="002060"/>
                </a:solidFill>
                <a:latin typeface="黑体" panose="02010609060101010101" pitchFamily="49" charset="-122"/>
                <a:ea typeface="黑体" panose="02010609060101010101" pitchFamily="49" charset="-122"/>
              </a:rPr>
              <a:t>齿轮材料必须满足工作条件的要求，如强度、寿命、可靠性、经济性等；</a:t>
            </a:r>
            <a:r>
              <a:rPr lang="zh-CN" altLang="en-US" sz="2200" dirty="0">
                <a:solidFill>
                  <a:srgbClr val="000099"/>
                </a:solidFill>
                <a:latin typeface="黑体" panose="02010609060101010101" pitchFamily="49" charset="-122"/>
                <a:ea typeface="黑体" panose="02010609060101010101" pitchFamily="49" charset="-122"/>
              </a:rPr>
              <a:t> </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0529" name="Text Box 49"/>
          <p:cNvSpPr txBox="1">
            <a:spLocks noChangeArrowheads="1"/>
          </p:cNvSpPr>
          <p:nvPr/>
        </p:nvSpPr>
        <p:spPr bwMode="auto">
          <a:xfrm>
            <a:off x="450486" y="2647123"/>
            <a:ext cx="792556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Clr>
                <a:srgbClr val="CC00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sz="2200" dirty="0">
                <a:solidFill>
                  <a:srgbClr val="002060"/>
                </a:solidFill>
                <a:latin typeface="黑体" panose="02010609060101010101" pitchFamily="49" charset="-122"/>
                <a:ea typeface="黑体" panose="02010609060101010101" pitchFamily="49" charset="-122"/>
              </a:rPr>
              <a:t>应考虑齿轮尺寸大小，毛坯成型方法及热处理和制造工艺；</a:t>
            </a:r>
            <a:r>
              <a:rPr lang="zh-CN" altLang="en-US" sz="2200" dirty="0">
                <a:solidFill>
                  <a:srgbClr val="000099"/>
                </a:solidFill>
                <a:latin typeface="黑体" panose="02010609060101010101" pitchFamily="49" charset="-122"/>
                <a:ea typeface="黑体" panose="02010609060101010101" pitchFamily="49" charset="-122"/>
              </a:rPr>
              <a:t> </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20530" name="Text Box 50"/>
          <p:cNvSpPr txBox="1">
            <a:spLocks noChangeArrowheads="1"/>
          </p:cNvSpPr>
          <p:nvPr/>
        </p:nvSpPr>
        <p:spPr bwMode="auto">
          <a:xfrm>
            <a:off x="463533" y="5557686"/>
            <a:ext cx="814887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Clr>
                <a:srgbClr val="CC33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sz="2200" dirty="0">
                <a:solidFill>
                  <a:srgbClr val="002060"/>
                </a:solidFill>
                <a:latin typeface="黑体" panose="02010609060101010101" pitchFamily="49" charset="-122"/>
                <a:ea typeface="黑体" panose="02010609060101010101" pitchFamily="49" charset="-122"/>
              </a:rPr>
              <a:t>钢制软齿面齿轮，其配对两轮齿面的硬度差应保持在</a:t>
            </a:r>
            <a:r>
              <a:rPr lang="en-US" altLang="zh-CN" sz="2200" dirty="0">
                <a:solidFill>
                  <a:srgbClr val="FF0000"/>
                </a:solidFill>
                <a:latin typeface="黑体" panose="02010609060101010101" pitchFamily="49" charset="-122"/>
                <a:ea typeface="黑体" panose="02010609060101010101" pitchFamily="49" charset="-122"/>
              </a:rPr>
              <a:t>30~50</a:t>
            </a:r>
            <a:r>
              <a:rPr lang="en-US" altLang="zh-CN" sz="2200" dirty="0">
                <a:solidFill>
                  <a:srgbClr val="002060"/>
                </a:solidFill>
                <a:latin typeface="黑体" panose="02010609060101010101" pitchFamily="49" charset="-122"/>
                <a:ea typeface="黑体" panose="02010609060101010101" pitchFamily="49" charset="-122"/>
              </a:rPr>
              <a:t>HBW</a:t>
            </a:r>
            <a:r>
              <a:rPr lang="zh-CN" altLang="en-US" sz="2200" dirty="0">
                <a:solidFill>
                  <a:srgbClr val="002060"/>
                </a:solidFill>
                <a:latin typeface="黑体" panose="02010609060101010101" pitchFamily="49" charset="-122"/>
                <a:ea typeface="黑体" panose="02010609060101010101" pitchFamily="49" charset="-122"/>
              </a:rPr>
              <a:t>或更多。 </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8688" name="Rectangle 1"/>
          <p:cNvSpPr>
            <a:spLocks noChangeArrowheads="1"/>
          </p:cNvSpPr>
          <p:nvPr/>
        </p:nvSpPr>
        <p:spPr bwMode="auto">
          <a:xfrm>
            <a:off x="-108642" y="1015323"/>
            <a:ext cx="56312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30670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400" dirty="0" smtClean="0">
                <a:solidFill>
                  <a:srgbClr val="0000FF"/>
                </a:solidFill>
                <a:latin typeface="黑体" panose="02010609060101010101" pitchFamily="49" charset="-122"/>
                <a:ea typeface="黑体" panose="02010609060101010101" pitchFamily="49" charset="-122"/>
              </a:rPr>
              <a:t>二、齿轮材料的选择原则</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28689" name="Rectangle 10"/>
          <p:cNvSpPr>
            <a:spLocks noChangeArrowheads="1"/>
          </p:cNvSpPr>
          <p:nvPr/>
        </p:nvSpPr>
        <p:spPr bwMode="auto">
          <a:xfrm>
            <a:off x="1907223" y="100330"/>
            <a:ext cx="69500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200" dirty="0" smtClean="0">
                <a:solidFill>
                  <a:srgbClr val="CC3300"/>
                </a:solidFill>
                <a:latin typeface="黑体" panose="02010609060101010101" pitchFamily="49" charset="-122"/>
                <a:ea typeface="黑体" panose="02010609060101010101" pitchFamily="49" charset="-122"/>
              </a:rPr>
              <a:t>3.4-3 </a:t>
            </a:r>
            <a:r>
              <a:rPr lang="zh-CN" altLang="en-US" sz="3200" dirty="0" smtClean="0">
                <a:solidFill>
                  <a:srgbClr val="CC3300"/>
                </a:solidFill>
                <a:latin typeface="黑体" panose="02010609060101010101" pitchFamily="49" charset="-122"/>
                <a:ea typeface="黑体" panose="02010609060101010101" pitchFamily="49" charset="-122"/>
              </a:rPr>
              <a:t>齿轮的材料及其选择原则</a:t>
            </a:r>
            <a:endParaRPr lang="zh-CN" altLang="en-US" sz="3200" dirty="0">
              <a:solidFill>
                <a:srgbClr val="CC3300"/>
              </a:solidFill>
              <a:latin typeface="黑体" panose="02010609060101010101" pitchFamily="49" charset="-122"/>
              <a:ea typeface="黑体" panose="02010609060101010101" pitchFamily="49" charset="-122"/>
            </a:endParaRPr>
          </a:p>
        </p:txBody>
      </p:sp>
      <p:sp>
        <p:nvSpPr>
          <p:cNvPr id="28691" name="直接连接符 6"/>
          <p:cNvSpPr>
            <a:spLocks noChangeShapeType="1"/>
          </p:cNvSpPr>
          <p:nvPr/>
        </p:nvSpPr>
        <p:spPr bwMode="auto">
          <a:xfrm>
            <a:off x="0" y="719907"/>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49"/>
          <p:cNvSpPr txBox="1">
            <a:spLocks noChangeArrowheads="1"/>
          </p:cNvSpPr>
          <p:nvPr/>
        </p:nvSpPr>
        <p:spPr bwMode="auto">
          <a:xfrm>
            <a:off x="470310" y="3221875"/>
            <a:ext cx="830869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Clr>
                <a:srgbClr val="CC00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sz="2200" dirty="0">
                <a:solidFill>
                  <a:srgbClr val="002060"/>
                </a:solidFill>
                <a:latin typeface="黑体" panose="02010609060101010101" pitchFamily="49" charset="-122"/>
                <a:ea typeface="黑体" panose="02010609060101010101" pitchFamily="49" charset="-122"/>
              </a:rPr>
              <a:t>正火碳钢，用于载荷平稳或轻度冲击下工作的齿轮</a:t>
            </a:r>
            <a:r>
              <a:rPr lang="zh-CN" altLang="en-US" sz="2200" dirty="0" smtClean="0">
                <a:solidFill>
                  <a:srgbClr val="002060"/>
                </a:solidFill>
                <a:latin typeface="黑体" panose="02010609060101010101" pitchFamily="49" charset="-122"/>
                <a:ea typeface="黑体" panose="02010609060101010101" pitchFamily="49" charset="-122"/>
              </a:rPr>
              <a:t>；</a:t>
            </a:r>
            <a:endParaRPr lang="en-US" altLang="zh-CN" sz="2200" dirty="0" smtClean="0">
              <a:solidFill>
                <a:srgbClr val="002060"/>
              </a:solidFill>
              <a:latin typeface="黑体" panose="02010609060101010101" pitchFamily="49" charset="-122"/>
              <a:ea typeface="黑体" panose="02010609060101010101" pitchFamily="49" charset="-122"/>
            </a:endParaRPr>
          </a:p>
          <a:p>
            <a:pPr eaLnBrk="1" hangingPunct="1">
              <a:buClr>
                <a:srgbClr val="CC0000"/>
              </a:buClr>
              <a:buSzPct val="80000"/>
            </a:pPr>
            <a:r>
              <a:rPr lang="en-US" altLang="zh-CN" sz="2200" dirty="0">
                <a:solidFill>
                  <a:srgbClr val="002060"/>
                </a:solidFill>
                <a:latin typeface="黑体" panose="02010609060101010101" pitchFamily="49" charset="-122"/>
                <a:ea typeface="黑体" panose="02010609060101010101" pitchFamily="49" charset="-122"/>
              </a:rPr>
              <a:t> </a:t>
            </a:r>
            <a:r>
              <a:rPr lang="en-US" altLang="zh-CN" sz="2200" dirty="0" smtClean="0">
                <a:solidFill>
                  <a:srgbClr val="002060"/>
                </a:solidFill>
                <a:latin typeface="黑体" panose="02010609060101010101" pitchFamily="49" charset="-122"/>
                <a:ea typeface="黑体" panose="02010609060101010101" pitchFamily="49" charset="-122"/>
              </a:rPr>
              <a:t> </a:t>
            </a:r>
            <a:r>
              <a:rPr lang="zh-CN" altLang="en-US" sz="2200" dirty="0" smtClean="0">
                <a:solidFill>
                  <a:srgbClr val="002060"/>
                </a:solidFill>
                <a:latin typeface="黑体" panose="02010609060101010101" pitchFamily="49" charset="-122"/>
                <a:ea typeface="黑体" panose="02010609060101010101" pitchFamily="49" charset="-122"/>
              </a:rPr>
              <a:t>调质碳钢，可用</a:t>
            </a:r>
            <a:r>
              <a:rPr lang="zh-CN" altLang="en-US" sz="2200" dirty="0">
                <a:solidFill>
                  <a:srgbClr val="002060"/>
                </a:solidFill>
                <a:latin typeface="黑体" panose="02010609060101010101" pitchFamily="49" charset="-122"/>
                <a:ea typeface="黑体" panose="02010609060101010101" pitchFamily="49" charset="-122"/>
              </a:rPr>
              <a:t>于制作在中等冲击载荷下工作的齿轮。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23" name="Text Box 49"/>
          <p:cNvSpPr txBox="1">
            <a:spLocks noChangeArrowheads="1"/>
          </p:cNvSpPr>
          <p:nvPr/>
        </p:nvSpPr>
        <p:spPr bwMode="auto">
          <a:xfrm>
            <a:off x="471930" y="4122076"/>
            <a:ext cx="830869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Clr>
                <a:srgbClr val="CC00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sz="2200" dirty="0">
                <a:solidFill>
                  <a:srgbClr val="002060"/>
                </a:solidFill>
                <a:latin typeface="黑体" panose="02010609060101010101" pitchFamily="49" charset="-122"/>
                <a:ea typeface="黑体" panose="02010609060101010101" pitchFamily="49" charset="-122"/>
              </a:rPr>
              <a:t>合金钢常用于制作高速、重载并在冲击载荷下工作的齿轮。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14" name="Text Box 49"/>
          <p:cNvSpPr txBox="1">
            <a:spLocks noChangeArrowheads="1"/>
          </p:cNvSpPr>
          <p:nvPr/>
        </p:nvSpPr>
        <p:spPr bwMode="auto">
          <a:xfrm>
            <a:off x="441616" y="4709987"/>
            <a:ext cx="830869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Clr>
                <a:srgbClr val="CC00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sz="2200" dirty="0" smtClean="0">
                <a:solidFill>
                  <a:srgbClr val="002060"/>
                </a:solidFill>
                <a:latin typeface="黑体" panose="02010609060101010101" pitchFamily="49" charset="-122"/>
                <a:ea typeface="黑体" panose="02010609060101010101" pitchFamily="49" charset="-122"/>
              </a:rPr>
              <a:t>飞行器中的齿轮，要求齿轮尺寸尽可能小，应采用表面硬化处理的高强度合金钢。</a:t>
            </a:r>
            <a:endParaRPr lang="zh-CN" altLang="en-US" sz="2200" dirty="0" smtClean="0">
              <a:solidFill>
                <a:srgbClr val="00206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0528"/>
                                        </p:tgtEl>
                                        <p:attrNameLst>
                                          <p:attrName>style.visibility</p:attrName>
                                        </p:attrNameLst>
                                      </p:cBhvr>
                                      <p:to>
                                        <p:strVal val="visible"/>
                                      </p:to>
                                    </p:set>
                                    <p:animEffect transition="in" filter="slide(fromTop)">
                                      <p:cBhvr>
                                        <p:cTn id="7" dur="500"/>
                                        <p:tgtEl>
                                          <p:spTgt spid="2052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20529"/>
                                        </p:tgtEl>
                                        <p:attrNameLst>
                                          <p:attrName>style.visibility</p:attrName>
                                        </p:attrNameLst>
                                      </p:cBhvr>
                                      <p:to>
                                        <p:strVal val="visible"/>
                                      </p:to>
                                    </p:set>
                                    <p:animEffect transition="in" filter="slide(fromTop)">
                                      <p:cBhvr>
                                        <p:cTn id="12" dur="500"/>
                                        <p:tgtEl>
                                          <p:spTgt spid="2052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slide(fromTop)">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lide(fromTo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slide(fromTo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0530"/>
                                        </p:tgtEl>
                                        <p:attrNameLst>
                                          <p:attrName>style.visibility</p:attrName>
                                        </p:attrNameLst>
                                      </p:cBhvr>
                                      <p:to>
                                        <p:strVal val="visible"/>
                                      </p:to>
                                    </p:set>
                                    <p:animEffect transition="in" filter="slide(fromBottom)">
                                      <p:cBhvr>
                                        <p:cTn id="32" dur="500"/>
                                        <p:tgtEl>
                                          <p:spTgt spid="20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8" grpId="0" autoUpdateAnimBg="0"/>
      <p:bldP spid="20529" grpId="0" autoUpdateAnimBg="0"/>
      <p:bldP spid="20530" grpId="0" autoUpdateAnimBg="0"/>
      <p:bldP spid="22" grpId="0" autoUpdateAnimBg="0"/>
      <p:bldP spid="23" grpId="0" autoUpdateAnimBg="0"/>
      <p:bldP spid="1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Text Box 2"/>
          <p:cNvSpPr txBox="1">
            <a:spLocks noChangeArrowheads="1"/>
          </p:cNvSpPr>
          <p:nvPr/>
        </p:nvSpPr>
        <p:spPr bwMode="auto">
          <a:xfrm>
            <a:off x="328889" y="562390"/>
            <a:ext cx="8458200" cy="273240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lnSpc>
                <a:spcPct val="120000"/>
              </a:lnSpc>
            </a:pPr>
            <a:r>
              <a:rPr kumimoji="1" lang="zh-CN" altLang="en-US" sz="2800" dirty="0">
                <a:solidFill>
                  <a:schemeClr val="hlink"/>
                </a:solidFill>
                <a:latin typeface="华文中宋" panose="02010600040101010101" pitchFamily="2" charset="-122"/>
                <a:ea typeface="华文中宋" panose="02010600040101010101" pitchFamily="2" charset="-122"/>
              </a:rPr>
              <a:t>小结：</a:t>
            </a:r>
            <a:endParaRPr kumimoji="1" lang="zh-CN" altLang="en-US" sz="2800" dirty="0">
              <a:solidFill>
                <a:srgbClr val="002060"/>
              </a:solidFill>
              <a:latin typeface="华文中宋" panose="02010600040101010101" pitchFamily="2" charset="-122"/>
              <a:ea typeface="华文中宋" panose="02010600040101010101" pitchFamily="2" charset="-122"/>
            </a:endParaRPr>
          </a:p>
          <a:p>
            <a:pPr algn="l">
              <a:lnSpc>
                <a:spcPct val="150000"/>
              </a:lnSpc>
            </a:pPr>
            <a:r>
              <a:rPr kumimoji="1" lang="zh-CN" altLang="en-US" sz="2400" dirty="0" smtClean="0">
                <a:solidFill>
                  <a:srgbClr val="002060"/>
                </a:solidFill>
                <a:latin typeface="黑体" panose="02010609060101010101" pitchFamily="49" charset="-122"/>
                <a:ea typeface="黑体" panose="02010609060101010101" pitchFamily="49" charset="-122"/>
              </a:rPr>
              <a:t>    调质</a:t>
            </a:r>
            <a:r>
              <a:rPr kumimoji="1" lang="zh-CN" altLang="en-US" sz="2400" dirty="0">
                <a:solidFill>
                  <a:srgbClr val="002060"/>
                </a:solidFill>
                <a:latin typeface="黑体" panose="02010609060101010101" pitchFamily="49" charset="-122"/>
                <a:ea typeface="黑体" panose="02010609060101010101" pitchFamily="49" charset="-122"/>
              </a:rPr>
              <a:t>、正火处理后的硬度低，</a:t>
            </a:r>
            <a:r>
              <a:rPr kumimoji="1" lang="en-US" altLang="zh-CN" sz="2400" dirty="0">
                <a:solidFill>
                  <a:srgbClr val="002060"/>
                </a:solidFill>
                <a:latin typeface="黑体" panose="02010609060101010101" pitchFamily="49" charset="-122"/>
                <a:ea typeface="黑体" panose="02010609060101010101" pitchFamily="49" charset="-122"/>
              </a:rPr>
              <a:t>HBW ≤ 350</a:t>
            </a:r>
            <a:r>
              <a:rPr kumimoji="1" lang="zh-CN" altLang="en-US" sz="2400" dirty="0">
                <a:solidFill>
                  <a:srgbClr val="002060"/>
                </a:solidFill>
                <a:latin typeface="黑体" panose="02010609060101010101" pitchFamily="49" charset="-122"/>
                <a:ea typeface="黑体" panose="02010609060101010101" pitchFamily="49" charset="-122"/>
              </a:rPr>
              <a:t>，属软齿面，工艺简单、用于一般传动。当大小齿轮都是软齿面时，因小轮齿根薄，弯曲强度低，故在选材和热处理时，小轮比大轮硬度高</a:t>
            </a:r>
            <a:r>
              <a:rPr kumimoji="1" lang="en-US" altLang="zh-CN" sz="2400" dirty="0">
                <a:solidFill>
                  <a:srgbClr val="002060"/>
                </a:solidFill>
                <a:latin typeface="黑体" panose="02010609060101010101" pitchFamily="49" charset="-122"/>
                <a:ea typeface="黑体" panose="02010609060101010101" pitchFamily="49" charset="-122"/>
              </a:rPr>
              <a:t>:   </a:t>
            </a:r>
            <a:r>
              <a:rPr kumimoji="1" lang="en-US" altLang="zh-CN" sz="2400" dirty="0" smtClean="0">
                <a:solidFill>
                  <a:srgbClr val="002060"/>
                </a:solidFill>
                <a:latin typeface="黑体" panose="02010609060101010101" pitchFamily="49" charset="-122"/>
                <a:ea typeface="黑体" panose="02010609060101010101" pitchFamily="49" charset="-122"/>
              </a:rPr>
              <a:t>30</a:t>
            </a:r>
            <a:r>
              <a:rPr kumimoji="1" lang="zh-CN" altLang="en-US" dirty="0">
                <a:solidFill>
                  <a:srgbClr val="002060"/>
                </a:solidFill>
                <a:latin typeface="黑体" panose="02010609060101010101" pitchFamily="49" charset="-122"/>
                <a:ea typeface="黑体" panose="02010609060101010101" pitchFamily="49" charset="-122"/>
              </a:rPr>
              <a:t>～</a:t>
            </a:r>
            <a:r>
              <a:rPr kumimoji="1" lang="en-US" altLang="zh-CN" sz="2400" dirty="0">
                <a:solidFill>
                  <a:srgbClr val="002060"/>
                </a:solidFill>
                <a:latin typeface="黑体" panose="02010609060101010101" pitchFamily="49" charset="-122"/>
                <a:ea typeface="黑体" panose="02010609060101010101" pitchFamily="49" charset="-122"/>
              </a:rPr>
              <a:t>50HBW</a:t>
            </a:r>
            <a:endParaRPr kumimoji="1" lang="en-US" altLang="zh-CN" sz="2400" dirty="0">
              <a:solidFill>
                <a:srgbClr val="002060"/>
              </a:solidFill>
              <a:latin typeface="黑体" panose="02010609060101010101" pitchFamily="49" charset="-122"/>
              <a:ea typeface="黑体" panose="02010609060101010101" pitchFamily="49" charset="-122"/>
            </a:endParaRPr>
          </a:p>
        </p:txBody>
      </p:sp>
      <p:sp>
        <p:nvSpPr>
          <p:cNvPr id="423939" name="Text Box 3"/>
          <p:cNvSpPr txBox="1">
            <a:spLocks noChangeArrowheads="1"/>
          </p:cNvSpPr>
          <p:nvPr/>
        </p:nvSpPr>
        <p:spPr bwMode="auto">
          <a:xfrm>
            <a:off x="324472" y="3670853"/>
            <a:ext cx="8458200" cy="876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lnSpc>
                <a:spcPct val="120000"/>
              </a:lnSpc>
            </a:pPr>
            <a:r>
              <a:rPr kumimoji="1" lang="zh-CN" altLang="en-US" sz="2400" dirty="0">
                <a:solidFill>
                  <a:schemeClr val="bg1"/>
                </a:solidFill>
                <a:latin typeface="宋体" panose="02010600030101010101" pitchFamily="2" charset="-122"/>
                <a:ea typeface="华文中宋" panose="02010600040101010101" pitchFamily="2" charset="-122"/>
              </a:rPr>
              <a:t>表面</a:t>
            </a:r>
            <a:r>
              <a:rPr kumimoji="1" lang="zh-CN" altLang="en-US" sz="2400" dirty="0">
                <a:solidFill>
                  <a:srgbClr val="000000"/>
                </a:solidFill>
                <a:latin typeface="宋体" panose="02010600030101010101" pitchFamily="2" charset="-122"/>
                <a:ea typeface="华文中宋" panose="02010600040101010101" pitchFamily="2" charset="-122"/>
              </a:rPr>
              <a:t>淬火、渗碳淬火、渗氮处理后齿面</a:t>
            </a:r>
            <a:r>
              <a:rPr kumimoji="1" lang="zh-CN" altLang="en-US" sz="2400" dirty="0">
                <a:solidFill>
                  <a:srgbClr val="000000"/>
                </a:solidFill>
                <a:latin typeface="Times New Roman" panose="02020603050405020304" pitchFamily="18" charset="0"/>
                <a:ea typeface="华文中宋" panose="02010600040101010101" pitchFamily="2" charset="-122"/>
              </a:rPr>
              <a:t>硬度高，属硬齿面。其承载能力高，但一般需要磨齿。常用于结构紧凑的场合。</a:t>
            </a:r>
            <a:endParaRPr kumimoji="1" lang="zh-CN" altLang="en-US" sz="2400" dirty="0">
              <a:solidFill>
                <a:srgbClr val="000000"/>
              </a:solidFill>
              <a:latin typeface="Times New Roman" panose="02020603050405020304" pitchFamily="18"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23938"/>
                                        </p:tgtEl>
                                        <p:attrNameLst>
                                          <p:attrName>style.visibility</p:attrName>
                                        </p:attrNameLst>
                                      </p:cBhvr>
                                      <p:to>
                                        <p:strVal val="visible"/>
                                      </p:to>
                                    </p:set>
                                    <p:animEffect transition="in" filter="blinds(vertical)">
                                      <p:cBhvr>
                                        <p:cTn id="7" dur="500"/>
                                        <p:tgtEl>
                                          <p:spTgt spid="4239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23939"/>
                                        </p:tgtEl>
                                        <p:attrNameLst>
                                          <p:attrName>style.visibility</p:attrName>
                                        </p:attrNameLst>
                                      </p:cBhvr>
                                      <p:to>
                                        <p:strVal val="visible"/>
                                      </p:to>
                                    </p:set>
                                    <p:animEffect transition="in" filter="slide(fromBottom)">
                                      <p:cBhvr>
                                        <p:cTn id="12" dur="500"/>
                                        <p:tgtEl>
                                          <p:spTgt spid="423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8" grpId="0" bldLvl="0" animBg="1" autoUpdateAnimBg="0"/>
      <p:bldP spid="42393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5734050" y="895350"/>
            <a:ext cx="177165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直齿圆柱齿轮强度计算</a:t>
            </a:r>
            <a:r>
              <a:rPr lang="en-US" altLang="zh-CN" sz="800" smtClean="0">
                <a:solidFill>
                  <a:schemeClr val="bg1"/>
                </a:solidFill>
                <a:ea typeface="黑体" panose="02010609060101010101" pitchFamily="49" charset="-122"/>
              </a:rPr>
              <a:t>1</a:t>
            </a:r>
            <a:endParaRPr lang="en-US" altLang="zh-CN" sz="800" smtClean="0">
              <a:solidFill>
                <a:schemeClr val="bg1"/>
              </a:solidFill>
              <a:ea typeface="黑体" panose="02010609060101010101" pitchFamily="49" charset="-122"/>
            </a:endParaRPr>
          </a:p>
        </p:txBody>
      </p:sp>
      <p:sp>
        <p:nvSpPr>
          <p:cNvPr id="2055" name="Text Box 6"/>
          <p:cNvSpPr txBox="1">
            <a:spLocks noChangeArrowheads="1"/>
          </p:cNvSpPr>
          <p:nvPr/>
        </p:nvSpPr>
        <p:spPr bwMode="auto">
          <a:xfrm>
            <a:off x="0" y="779780"/>
            <a:ext cx="4754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一、直齿圆柱齿轮传动的受力分析</a:t>
            </a:r>
            <a:endParaRPr lang="zh-CN" altLang="en-US" sz="2400" dirty="0">
              <a:solidFill>
                <a:srgbClr val="C00000"/>
              </a:solidFill>
              <a:latin typeface="黑体" panose="02010609060101010101" pitchFamily="49" charset="-122"/>
              <a:ea typeface="黑体" panose="02010609060101010101" pitchFamily="49" charset="-122"/>
            </a:endParaRPr>
          </a:p>
        </p:txBody>
      </p:sp>
      <p:grpSp>
        <p:nvGrpSpPr>
          <p:cNvPr id="2" name="Group 36"/>
          <p:cNvGrpSpPr/>
          <p:nvPr/>
        </p:nvGrpSpPr>
        <p:grpSpPr bwMode="auto">
          <a:xfrm>
            <a:off x="1018874" y="2464702"/>
            <a:ext cx="7242175" cy="815975"/>
            <a:chOff x="660" y="1011"/>
            <a:chExt cx="4562" cy="514"/>
          </a:xfrm>
        </p:grpSpPr>
        <p:graphicFrame>
          <p:nvGraphicFramePr>
            <p:cNvPr id="1026" name="Object 16"/>
            <p:cNvGraphicFramePr>
              <a:graphicFrameLocks noChangeAspect="1"/>
            </p:cNvGraphicFramePr>
            <p:nvPr/>
          </p:nvGraphicFramePr>
          <p:xfrm>
            <a:off x="660" y="1040"/>
            <a:ext cx="587" cy="454"/>
          </p:xfrm>
          <a:graphic>
            <a:graphicData uri="http://schemas.openxmlformats.org/presentationml/2006/ole">
              <mc:AlternateContent xmlns:mc="http://schemas.openxmlformats.org/markup-compatibility/2006">
                <mc:Choice xmlns:v="urn:schemas-microsoft-com:vml" Requires="v">
                  <p:oleObj spid="_x0000_s1333" name="Equation" r:id="rId1" imgW="509270" imgH="393700" progId="Equation.3">
                    <p:embed/>
                  </p:oleObj>
                </mc:Choice>
                <mc:Fallback>
                  <p:oleObj name="Equation" r:id="rId1" imgW="509270" imgH="393700" progId="Equation.3">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 y="1040"/>
                          <a:ext cx="587" cy="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 name="Object 17"/>
            <p:cNvGraphicFramePr>
              <a:graphicFrameLocks noChangeAspect="1"/>
            </p:cNvGraphicFramePr>
            <p:nvPr/>
          </p:nvGraphicFramePr>
          <p:xfrm>
            <a:off x="1555" y="1011"/>
            <a:ext cx="1796" cy="514"/>
          </p:xfrm>
          <a:graphic>
            <a:graphicData uri="http://schemas.openxmlformats.org/presentationml/2006/ole">
              <mc:AlternateContent xmlns:mc="http://schemas.openxmlformats.org/markup-compatibility/2006">
                <mc:Choice xmlns:v="urn:schemas-microsoft-com:vml" Requires="v">
                  <p:oleObj spid="_x0000_s1334" name="Equation" r:id="rId3" imgW="1377315" imgH="393700" progId="Equation.3">
                    <p:embed/>
                  </p:oleObj>
                </mc:Choice>
                <mc:Fallback>
                  <p:oleObj name="Equation" r:id="rId3" imgW="1377315" imgH="3937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 y="1011"/>
                          <a:ext cx="1796" cy="5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 name="Object 18"/>
            <p:cNvGraphicFramePr>
              <a:graphicFrameLocks noChangeAspect="1"/>
            </p:cNvGraphicFramePr>
            <p:nvPr/>
          </p:nvGraphicFramePr>
          <p:xfrm>
            <a:off x="3659" y="1019"/>
            <a:ext cx="1563" cy="496"/>
          </p:xfrm>
          <a:graphic>
            <a:graphicData uri="http://schemas.openxmlformats.org/presentationml/2006/ole">
              <mc:AlternateContent xmlns:mc="http://schemas.openxmlformats.org/markup-compatibility/2006">
                <mc:Choice xmlns:v="urn:schemas-microsoft-com:vml" Requires="v">
                  <p:oleObj spid="_x0000_s1335" name="Equation" r:id="rId5" imgW="1238250" imgH="393700" progId="Equation.3">
                    <p:embed/>
                  </p:oleObj>
                </mc:Choice>
                <mc:Fallback>
                  <p:oleObj name="Equation" r:id="rId5" imgW="1238250" imgH="393700"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9" y="1019"/>
                          <a:ext cx="1563"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57" name="Text Box 19"/>
          <p:cNvSpPr txBox="1">
            <a:spLocks noChangeArrowheads="1"/>
          </p:cNvSpPr>
          <p:nvPr/>
        </p:nvSpPr>
        <p:spPr bwMode="auto">
          <a:xfrm>
            <a:off x="91439" y="1358805"/>
            <a:ext cx="876861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rPr>
              <a:t>　　</a:t>
            </a:r>
            <a:r>
              <a:rPr lang="zh-CN" altLang="en-US" sz="2200" dirty="0">
                <a:solidFill>
                  <a:srgbClr val="002060"/>
                </a:solidFill>
                <a:latin typeface="黑体" panose="02010609060101010101" pitchFamily="49" charset="-122"/>
                <a:ea typeface="黑体" panose="02010609060101010101" pitchFamily="49" charset="-122"/>
              </a:rPr>
              <a:t>以节点 </a:t>
            </a:r>
            <a:r>
              <a:rPr lang="en-US" altLang="zh-CN" sz="2200" i="1" dirty="0">
                <a:solidFill>
                  <a:srgbClr val="002060"/>
                </a:solidFill>
                <a:latin typeface="黑体" panose="02010609060101010101" pitchFamily="49" charset="-122"/>
                <a:ea typeface="黑体" panose="02010609060101010101" pitchFamily="49" charset="-122"/>
              </a:rPr>
              <a:t>P </a:t>
            </a:r>
            <a:r>
              <a:rPr lang="zh-CN" altLang="en-US" sz="2200" dirty="0">
                <a:solidFill>
                  <a:srgbClr val="002060"/>
                </a:solidFill>
                <a:latin typeface="黑体" panose="02010609060101010101" pitchFamily="49" charset="-122"/>
                <a:ea typeface="黑体" panose="02010609060101010101" pitchFamily="49" charset="-122"/>
              </a:rPr>
              <a:t>处的啮合力为分析对象，并不计啮合轮齿间的摩擦力，可得：</a:t>
            </a:r>
            <a:endParaRPr lang="zh-CN" altLang="en-US" sz="2200" dirty="0">
              <a:solidFill>
                <a:srgbClr val="002060"/>
              </a:solidFill>
              <a:latin typeface="黑体" panose="02010609060101010101" pitchFamily="49" charset="-122"/>
              <a:ea typeface="黑体" panose="02010609060101010101" pitchFamily="49" charset="-122"/>
            </a:endParaRPr>
          </a:p>
        </p:txBody>
      </p:sp>
      <p:pic>
        <p:nvPicPr>
          <p:cNvPr id="59415" name="Picture 23" descr="NEXT">
            <a:hlinkClick r:id="" action="ppaction://hlinkshowjump?jump=next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24913" y="653891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16" name="Picture 24" descr="rewind">
            <a:hlinkClick r:id="" action="ppaction://hlinkshowjump?jump=first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45500"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6" name="Text Box 37"/>
          <p:cNvSpPr txBox="1">
            <a:spLocks noChangeArrowheads="1"/>
          </p:cNvSpPr>
          <p:nvPr/>
        </p:nvSpPr>
        <p:spPr bwMode="auto">
          <a:xfrm>
            <a:off x="6813550" y="6102350"/>
            <a:ext cx="342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2061" name="Rectangle 19"/>
          <p:cNvSpPr>
            <a:spLocks noChangeArrowheads="1"/>
          </p:cNvSpPr>
          <p:nvPr/>
        </p:nvSpPr>
        <p:spPr bwMode="auto">
          <a:xfrm>
            <a:off x="0" y="5990633"/>
            <a:ext cx="8859838"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ct val="125000"/>
              </a:lnSpc>
            </a:pPr>
            <a:r>
              <a:rPr lang="zh-CN" altLang="en-US" dirty="0">
                <a:solidFill>
                  <a:srgbClr val="000099"/>
                </a:solidFill>
              </a:rPr>
              <a:t>    </a:t>
            </a:r>
            <a:endParaRPr lang="zh-CN" altLang="en-US" dirty="0">
              <a:solidFill>
                <a:srgbClr val="000099"/>
              </a:solidFill>
            </a:endParaRPr>
          </a:p>
        </p:txBody>
      </p:sp>
      <p:pic>
        <p:nvPicPr>
          <p:cNvPr id="2062"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37755" y="3422688"/>
            <a:ext cx="585470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1630680" y="215900"/>
            <a:ext cx="72294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61"/>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499"/>
                                          </p:stCondLst>
                                        </p:cTn>
                                        <p:tgtEl>
                                          <p:spTgt spid="59415"/>
                                        </p:tgtEl>
                                        <p:attrNameLst>
                                          <p:attrName>style.visibility</p:attrName>
                                        </p:attrNameLst>
                                      </p:cBhvr>
                                      <p:to>
                                        <p:strVal val="visible"/>
                                      </p:to>
                                    </p:set>
                                  </p:childTnLst>
                                </p:cTn>
                              </p:par>
                            </p:childTnLst>
                          </p:cTn>
                        </p:par>
                        <p:par>
                          <p:cTn id="26" fill="hold">
                            <p:stCondLst>
                              <p:cond delay="500"/>
                            </p:stCondLst>
                            <p:childTnLst>
                              <p:par>
                                <p:cTn id="27" presetID="2" presetClass="entr" presetSubtype="8" fill="hold" nodeType="afterEffect">
                                  <p:stCondLst>
                                    <p:cond delay="0"/>
                                  </p:stCondLst>
                                  <p:childTnLst>
                                    <p:set>
                                      <p:cBhvr>
                                        <p:cTn id="28" dur="1" fill="hold">
                                          <p:stCondLst>
                                            <p:cond delay="0"/>
                                          </p:stCondLst>
                                        </p:cTn>
                                        <p:tgtEl>
                                          <p:spTgt spid="59416"/>
                                        </p:tgtEl>
                                        <p:attrNameLst>
                                          <p:attrName>style.visibility</p:attrName>
                                        </p:attrNameLst>
                                      </p:cBhvr>
                                      <p:to>
                                        <p:strVal val="visible"/>
                                      </p:to>
                                    </p:set>
                                    <p:anim calcmode="lin" valueType="num">
                                      <p:cBhvr additive="base">
                                        <p:cTn id="29" dur="500" fill="hold"/>
                                        <p:tgtEl>
                                          <p:spTgt spid="59416"/>
                                        </p:tgtEl>
                                        <p:attrNameLst>
                                          <p:attrName>ppt_x</p:attrName>
                                        </p:attrNameLst>
                                      </p:cBhvr>
                                      <p:tavLst>
                                        <p:tav tm="0">
                                          <p:val>
                                            <p:strVal val="0-#ppt_w/2"/>
                                          </p:val>
                                        </p:tav>
                                        <p:tav tm="100000">
                                          <p:val>
                                            <p:strVal val="#ppt_x"/>
                                          </p:val>
                                        </p:tav>
                                      </p:tavLst>
                                    </p:anim>
                                    <p:anim calcmode="lin" valueType="num">
                                      <p:cBhvr additive="base">
                                        <p:cTn id="30" dur="500" fill="hold"/>
                                        <p:tgtEl>
                                          <p:spTgt spid="594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p:bldP spid="2057" grpId="0"/>
      <p:bldP spid="2061"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6547" name="Rectangle 3"/>
          <p:cNvSpPr>
            <a:spLocks noGrp="1" noChangeArrowheads="1"/>
          </p:cNvSpPr>
          <p:nvPr>
            <p:ph type="body" idx="4294967295"/>
          </p:nvPr>
        </p:nvSpPr>
        <p:spPr>
          <a:xfrm>
            <a:off x="243706" y="197819"/>
            <a:ext cx="7772400" cy="6019800"/>
          </a:xfrm>
          <a:prstGeom prst="rect">
            <a:avLst/>
          </a:prstGeom>
        </p:spPr>
        <p:txBody>
          <a:bodyPr/>
          <a:lstStyle/>
          <a:p>
            <a:pPr algn="just" eaLnBrk="1" hangingPunct="1">
              <a:lnSpc>
                <a:spcPct val="210000"/>
              </a:lnSpc>
              <a:buFontTx/>
              <a:buNone/>
            </a:pPr>
            <a:r>
              <a:rPr lang="en-US" altLang="zh-CN" sz="2400" dirty="0" smtClean="0">
                <a:solidFill>
                  <a:srgbClr val="FF0000"/>
                </a:solidFill>
                <a:latin typeface="黑体" panose="02010609060101010101" pitchFamily="49" charset="-122"/>
                <a:ea typeface="黑体" panose="02010609060101010101" pitchFamily="49" charset="-122"/>
              </a:rPr>
              <a:t>  </a:t>
            </a:r>
            <a:r>
              <a:rPr lang="zh-CN" altLang="en-US" sz="2400" dirty="0" smtClean="0">
                <a:solidFill>
                  <a:srgbClr val="FF0000"/>
                </a:solidFill>
                <a:latin typeface="黑体" panose="02010609060101010101" pitchFamily="49" charset="-122"/>
                <a:ea typeface="黑体" panose="02010609060101010101" pitchFamily="49" charset="-122"/>
              </a:rPr>
              <a:t>名义</a:t>
            </a:r>
            <a:r>
              <a:rPr lang="zh-CN" altLang="en-US" sz="2400" dirty="0">
                <a:solidFill>
                  <a:srgbClr val="FF0000"/>
                </a:solidFill>
                <a:latin typeface="黑体" panose="02010609060101010101" pitchFamily="49" charset="-122"/>
                <a:ea typeface="黑体" panose="02010609060101010101" pitchFamily="49" charset="-122"/>
              </a:rPr>
              <a:t>载荷</a:t>
            </a:r>
            <a:endParaRPr lang="zh-CN" altLang="en-US" sz="2400" dirty="0">
              <a:latin typeface="黑体" panose="02010609060101010101" pitchFamily="49" charset="-122"/>
              <a:ea typeface="黑体" panose="02010609060101010101" pitchFamily="49" charset="-122"/>
            </a:endParaRPr>
          </a:p>
        </p:txBody>
      </p:sp>
      <p:graphicFrame>
        <p:nvGraphicFramePr>
          <p:cNvPr id="236548" name="Object 4"/>
          <p:cNvGraphicFramePr>
            <a:graphicFrameLocks noChangeAspect="1"/>
          </p:cNvGraphicFramePr>
          <p:nvPr/>
        </p:nvGraphicFramePr>
        <p:xfrm>
          <a:off x="1755775" y="1377950"/>
          <a:ext cx="1670050" cy="527050"/>
        </p:xfrm>
        <a:graphic>
          <a:graphicData uri="http://schemas.openxmlformats.org/presentationml/2006/ole">
            <mc:AlternateContent xmlns:mc="http://schemas.openxmlformats.org/markup-compatibility/2006">
              <mc:Choice xmlns:v="urn:schemas-microsoft-com:vml" Requires="v">
                <p:oleObj spid="_x0000_s22836" name="公式" r:id="rId1" imgW="17373600" imgH="5486400" progId="Equation.3">
                  <p:embed/>
                </p:oleObj>
              </mc:Choice>
              <mc:Fallback>
                <p:oleObj name="公式" r:id="rId1" imgW="17373600" imgH="5486400" progId="Equation.3">
                  <p:embed/>
                  <p:pic>
                    <p:nvPicPr>
                      <p:cNvPr id="0" name="图片 22733"/>
                      <p:cNvPicPr>
                        <a:picLocks noChangeAspect="1" noChangeArrowheads="1"/>
                      </p:cNvPicPr>
                      <p:nvPr/>
                    </p:nvPicPr>
                    <p:blipFill>
                      <a:blip r:embed="rId2"/>
                      <a:srcRect/>
                      <a:stretch>
                        <a:fillRect/>
                      </a:stretch>
                    </p:blipFill>
                    <p:spPr bwMode="auto">
                      <a:xfrm>
                        <a:off x="1755775" y="1377950"/>
                        <a:ext cx="1670050" cy="527050"/>
                      </a:xfrm>
                      <a:prstGeom prst="rect">
                        <a:avLst/>
                      </a:prstGeom>
                      <a:solidFill>
                        <a:schemeClr val="accent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6549" name="Object 5"/>
          <p:cNvGraphicFramePr>
            <a:graphicFrameLocks noChangeAspect="1"/>
          </p:cNvGraphicFramePr>
          <p:nvPr/>
        </p:nvGraphicFramePr>
        <p:xfrm>
          <a:off x="1905000" y="2084388"/>
          <a:ext cx="1447800" cy="534987"/>
        </p:xfrm>
        <a:graphic>
          <a:graphicData uri="http://schemas.openxmlformats.org/presentationml/2006/ole">
            <mc:AlternateContent xmlns:mc="http://schemas.openxmlformats.org/markup-compatibility/2006">
              <mc:Choice xmlns:v="urn:schemas-microsoft-com:vml" Requires="v">
                <p:oleObj spid="_x0000_s22837" name="" r:id="rId3" imgW="622300" imgH="228600" progId="Equation.3">
                  <p:embed/>
                </p:oleObj>
              </mc:Choice>
              <mc:Fallback>
                <p:oleObj name="" r:id="rId3" imgW="622300" imgH="228600" progId="Equation.3">
                  <p:embed/>
                  <p:pic>
                    <p:nvPicPr>
                      <p:cNvPr id="0" name="图片 227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084388"/>
                        <a:ext cx="1447800" cy="534987"/>
                      </a:xfrm>
                      <a:prstGeom prst="rect">
                        <a:avLst/>
                      </a:prstGeom>
                      <a:solidFill>
                        <a:schemeClr val="accent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6550" name="Object 6"/>
          <p:cNvGraphicFramePr>
            <a:graphicFrameLocks noChangeAspect="1"/>
          </p:cNvGraphicFramePr>
          <p:nvPr/>
        </p:nvGraphicFramePr>
        <p:xfrm>
          <a:off x="1828800" y="2805113"/>
          <a:ext cx="3124200" cy="547687"/>
        </p:xfrm>
        <a:graphic>
          <a:graphicData uri="http://schemas.openxmlformats.org/presentationml/2006/ole">
            <mc:AlternateContent xmlns:mc="http://schemas.openxmlformats.org/markup-compatibility/2006">
              <mc:Choice xmlns:v="urn:schemas-microsoft-com:vml" Requires="v">
                <p:oleObj spid="_x0000_s22838" name="" r:id="rId5" imgW="1308735" imgH="228600" progId="Equation.3">
                  <p:embed/>
                </p:oleObj>
              </mc:Choice>
              <mc:Fallback>
                <p:oleObj name="" r:id="rId5" imgW="1308735" imgH="228600" progId="Equation.3">
                  <p:embed/>
                  <p:pic>
                    <p:nvPicPr>
                      <p:cNvPr id="0" name="图片 227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2805113"/>
                        <a:ext cx="3124200" cy="547687"/>
                      </a:xfrm>
                      <a:prstGeom prst="rect">
                        <a:avLst/>
                      </a:prstGeom>
                      <a:solidFill>
                        <a:schemeClr val="accent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6551" name="Object 7"/>
          <p:cNvGraphicFramePr>
            <a:graphicFrameLocks noChangeAspect="1"/>
          </p:cNvGraphicFramePr>
          <p:nvPr/>
        </p:nvGraphicFramePr>
        <p:xfrm>
          <a:off x="1828800" y="3505200"/>
          <a:ext cx="2209800" cy="538163"/>
        </p:xfrm>
        <a:graphic>
          <a:graphicData uri="http://schemas.openxmlformats.org/presentationml/2006/ole">
            <mc:AlternateContent xmlns:mc="http://schemas.openxmlformats.org/markup-compatibility/2006">
              <mc:Choice xmlns:v="urn:schemas-microsoft-com:vml" Requires="v">
                <p:oleObj spid="_x0000_s22839" name="" r:id="rId7" imgW="940435" imgH="228600" progId="Equation.3">
                  <p:embed/>
                </p:oleObj>
              </mc:Choice>
              <mc:Fallback>
                <p:oleObj name="" r:id="rId7" imgW="940435" imgH="228600" progId="Equation.3">
                  <p:embed/>
                  <p:pic>
                    <p:nvPicPr>
                      <p:cNvPr id="0" name="图片 227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3505200"/>
                        <a:ext cx="2209800" cy="538163"/>
                      </a:xfrm>
                      <a:prstGeom prst="rect">
                        <a:avLst/>
                      </a:prstGeom>
                      <a:solidFill>
                        <a:schemeClr val="accent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组合 2"/>
          <p:cNvGrpSpPr/>
          <p:nvPr/>
        </p:nvGrpSpPr>
        <p:grpSpPr>
          <a:xfrm>
            <a:off x="5334000" y="762000"/>
            <a:ext cx="2667000" cy="3810000"/>
            <a:chOff x="8400" y="1200"/>
            <a:chExt cx="4200" cy="6000"/>
          </a:xfrm>
        </p:grpSpPr>
        <p:grpSp>
          <p:nvGrpSpPr>
            <p:cNvPr id="2" name="组合 1"/>
            <p:cNvGrpSpPr/>
            <p:nvPr/>
          </p:nvGrpSpPr>
          <p:grpSpPr>
            <a:xfrm>
              <a:off x="8400" y="1812"/>
              <a:ext cx="4200" cy="4742"/>
              <a:chOff x="8400" y="1812"/>
              <a:chExt cx="4200" cy="4742"/>
            </a:xfrm>
          </p:grpSpPr>
          <p:sp>
            <p:nvSpPr>
              <p:cNvPr id="236553" name="Oval 9"/>
              <p:cNvSpPr>
                <a:spLocks noChangeArrowheads="1"/>
              </p:cNvSpPr>
              <p:nvPr/>
            </p:nvSpPr>
            <p:spPr bwMode="auto">
              <a:xfrm>
                <a:off x="9232" y="1812"/>
                <a:ext cx="2716" cy="2588"/>
              </a:xfrm>
              <a:prstGeom prst="ellipse">
                <a:avLst/>
              </a:prstGeom>
              <a:noFill/>
              <a:ln w="12700" cmpd="sng">
                <a:solidFill>
                  <a:srgbClr val="FF0000"/>
                </a:solidFill>
                <a:prstDash val="lgDash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236554" name="Oval 10"/>
              <p:cNvSpPr>
                <a:spLocks noChangeArrowheads="1"/>
              </p:cNvSpPr>
              <p:nvPr/>
            </p:nvSpPr>
            <p:spPr bwMode="auto">
              <a:xfrm>
                <a:off x="9558" y="4398"/>
                <a:ext cx="2137" cy="2157"/>
              </a:xfrm>
              <a:prstGeom prst="ellipse">
                <a:avLst/>
              </a:prstGeom>
              <a:noFill/>
              <a:ln w="12700" cmpd="sng">
                <a:solidFill>
                  <a:srgbClr val="FF0000"/>
                </a:solidFill>
                <a:prstDash val="lgDash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236555" name="Line 11"/>
              <p:cNvSpPr>
                <a:spLocks noChangeShapeType="1"/>
              </p:cNvSpPr>
              <p:nvPr/>
            </p:nvSpPr>
            <p:spPr bwMode="auto">
              <a:xfrm>
                <a:off x="8436" y="3104"/>
                <a:ext cx="4164" cy="2"/>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56" name="Line 12"/>
              <p:cNvSpPr>
                <a:spLocks noChangeShapeType="1"/>
              </p:cNvSpPr>
              <p:nvPr/>
            </p:nvSpPr>
            <p:spPr bwMode="auto">
              <a:xfrm>
                <a:off x="8400" y="5474"/>
                <a:ext cx="4164" cy="2"/>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6557" name="Line 13"/>
            <p:cNvSpPr>
              <a:spLocks noChangeShapeType="1"/>
            </p:cNvSpPr>
            <p:nvPr/>
          </p:nvSpPr>
          <p:spPr bwMode="auto">
            <a:xfrm>
              <a:off x="10608" y="1200"/>
              <a:ext cx="2" cy="6000"/>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6558" name="Group 14"/>
          <p:cNvGrpSpPr/>
          <p:nvPr/>
        </p:nvGrpSpPr>
        <p:grpSpPr bwMode="auto">
          <a:xfrm rot="0">
            <a:off x="6644005" y="2679065"/>
            <a:ext cx="346075" cy="277495"/>
            <a:chOff x="0" y="0"/>
            <a:chExt cx="19998" cy="20000"/>
          </a:xfrm>
        </p:grpSpPr>
        <p:grpSp>
          <p:nvGrpSpPr>
            <p:cNvPr id="236559" name="Group 15"/>
            <p:cNvGrpSpPr/>
            <p:nvPr/>
          </p:nvGrpSpPr>
          <p:grpSpPr bwMode="auto">
            <a:xfrm>
              <a:off x="0" y="82"/>
              <a:ext cx="9432" cy="19918"/>
              <a:chOff x="0" y="0"/>
              <a:chExt cx="19997" cy="19999"/>
            </a:xfrm>
          </p:grpSpPr>
          <p:sp>
            <p:nvSpPr>
              <p:cNvPr id="236560" name="Arc 16"/>
              <p:cNvSpPr/>
              <p:nvPr/>
            </p:nvSpPr>
            <p:spPr bwMode="auto">
              <a:xfrm flipV="1">
                <a:off x="0" y="9178"/>
                <a:ext cx="10007"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206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61" name="Arc 17"/>
              <p:cNvSpPr/>
              <p:nvPr/>
            </p:nvSpPr>
            <p:spPr bwMode="auto">
              <a:xfrm flipH="1">
                <a:off x="10007" y="0"/>
                <a:ext cx="9990"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206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6562" name="Group 18"/>
            <p:cNvGrpSpPr/>
            <p:nvPr/>
          </p:nvGrpSpPr>
          <p:grpSpPr bwMode="auto">
            <a:xfrm>
              <a:off x="10635" y="82"/>
              <a:ext cx="9363" cy="19918"/>
              <a:chOff x="0" y="0"/>
              <a:chExt cx="20000" cy="19999"/>
            </a:xfrm>
          </p:grpSpPr>
          <p:sp>
            <p:nvSpPr>
              <p:cNvPr id="236563" name="Arc 19"/>
              <p:cNvSpPr/>
              <p:nvPr/>
            </p:nvSpPr>
            <p:spPr bwMode="auto">
              <a:xfrm flipH="1" flipV="1">
                <a:off x="9935" y="9178"/>
                <a:ext cx="10065"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206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64" name="Arc 20"/>
              <p:cNvSpPr/>
              <p:nvPr/>
            </p:nvSpPr>
            <p:spPr bwMode="auto">
              <a:xfrm>
                <a:off x="0" y="0"/>
                <a:ext cx="10065"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206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6565" name="Line 21"/>
            <p:cNvSpPr>
              <a:spLocks noChangeShapeType="1"/>
            </p:cNvSpPr>
            <p:nvPr/>
          </p:nvSpPr>
          <p:spPr bwMode="auto">
            <a:xfrm>
              <a:off x="9301" y="0"/>
              <a:ext cx="1666" cy="82"/>
            </a:xfrm>
            <a:prstGeom prst="line">
              <a:avLst/>
            </a:prstGeom>
            <a:noFill/>
            <a:ln w="19050" cmpd="sng">
              <a:solidFill>
                <a:srgbClr val="00206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n w="28575">
                  <a:solidFill>
                    <a:sysClr val="windowText" lastClr="000000"/>
                  </a:solidFill>
                </a:ln>
              </a:endParaRPr>
            </a:p>
          </p:txBody>
        </p:sp>
      </p:grpSp>
      <p:grpSp>
        <p:nvGrpSpPr>
          <p:cNvPr id="236566" name="Group 22"/>
          <p:cNvGrpSpPr/>
          <p:nvPr/>
        </p:nvGrpSpPr>
        <p:grpSpPr bwMode="auto">
          <a:xfrm rot="0">
            <a:off x="6483350" y="2610485"/>
            <a:ext cx="322580" cy="277495"/>
            <a:chOff x="0" y="0"/>
            <a:chExt cx="20002" cy="20000"/>
          </a:xfrm>
        </p:grpSpPr>
        <p:grpSp>
          <p:nvGrpSpPr>
            <p:cNvPr id="236567" name="Group 23"/>
            <p:cNvGrpSpPr/>
            <p:nvPr/>
          </p:nvGrpSpPr>
          <p:grpSpPr bwMode="auto">
            <a:xfrm>
              <a:off x="0" y="0"/>
              <a:ext cx="9468" cy="19918"/>
              <a:chOff x="0" y="0"/>
              <a:chExt cx="20003" cy="19999"/>
            </a:xfrm>
          </p:grpSpPr>
          <p:sp>
            <p:nvSpPr>
              <p:cNvPr id="236568" name="Arc 24"/>
              <p:cNvSpPr/>
              <p:nvPr/>
            </p:nvSpPr>
            <p:spPr bwMode="auto">
              <a:xfrm>
                <a:off x="0" y="0"/>
                <a:ext cx="10071"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69" name="Arc 25"/>
              <p:cNvSpPr/>
              <p:nvPr/>
            </p:nvSpPr>
            <p:spPr bwMode="auto">
              <a:xfrm flipH="1" flipV="1">
                <a:off x="9915" y="9178"/>
                <a:ext cx="10088"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6570" name="Group 26"/>
            <p:cNvGrpSpPr/>
            <p:nvPr/>
          </p:nvGrpSpPr>
          <p:grpSpPr bwMode="auto">
            <a:xfrm>
              <a:off x="10674" y="0"/>
              <a:ext cx="9328" cy="19918"/>
              <a:chOff x="0" y="0"/>
              <a:chExt cx="20000" cy="19999"/>
            </a:xfrm>
          </p:grpSpPr>
          <p:sp>
            <p:nvSpPr>
              <p:cNvPr id="236571" name="Arc 27"/>
              <p:cNvSpPr/>
              <p:nvPr/>
            </p:nvSpPr>
            <p:spPr bwMode="auto">
              <a:xfrm flipH="1">
                <a:off x="9762" y="0"/>
                <a:ext cx="10238"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72" name="Arc 28"/>
              <p:cNvSpPr/>
              <p:nvPr/>
            </p:nvSpPr>
            <p:spPr bwMode="auto">
              <a:xfrm flipV="1">
                <a:off x="0" y="9178"/>
                <a:ext cx="10221" cy="1082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6573" name="Line 29"/>
            <p:cNvSpPr>
              <a:spLocks noChangeShapeType="1"/>
            </p:cNvSpPr>
            <p:nvPr/>
          </p:nvSpPr>
          <p:spPr bwMode="auto">
            <a:xfrm>
              <a:off x="9319" y="19918"/>
              <a:ext cx="1785" cy="82"/>
            </a:xfrm>
            <a:prstGeom prst="line">
              <a:avLst/>
            </a:prstGeom>
            <a:noFill/>
            <a:ln w="19050" cmpd="sng">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6574" name="Line 30"/>
          <p:cNvSpPr>
            <a:spLocks noChangeShapeType="1"/>
          </p:cNvSpPr>
          <p:nvPr/>
        </p:nvSpPr>
        <p:spPr bwMode="auto">
          <a:xfrm flipH="1" flipV="1">
            <a:off x="6184265" y="2564765"/>
            <a:ext cx="552450" cy="229235"/>
          </a:xfrm>
          <a:prstGeom prst="line">
            <a:avLst/>
          </a:prstGeom>
          <a:noFill/>
          <a:ln w="28575" cmpd="sng">
            <a:solidFill>
              <a:schemeClr val="tx2">
                <a:lumMod val="60000"/>
                <a:lumOff val="40000"/>
              </a:schemeClr>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75" name="Line 31"/>
          <p:cNvSpPr>
            <a:spLocks noChangeShapeType="1"/>
          </p:cNvSpPr>
          <p:nvPr/>
        </p:nvSpPr>
        <p:spPr bwMode="auto">
          <a:xfrm flipH="1">
            <a:off x="6161405" y="2792730"/>
            <a:ext cx="552450" cy="1270"/>
          </a:xfrm>
          <a:prstGeom prst="line">
            <a:avLst/>
          </a:prstGeom>
          <a:noFill/>
          <a:ln w="28575" cmpd="sng">
            <a:solidFill>
              <a:schemeClr val="tx2">
                <a:lumMod val="60000"/>
                <a:lumOff val="40000"/>
              </a:schemeClr>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76" name="Line 32"/>
          <p:cNvSpPr>
            <a:spLocks noChangeShapeType="1"/>
          </p:cNvSpPr>
          <p:nvPr/>
        </p:nvSpPr>
        <p:spPr bwMode="auto">
          <a:xfrm flipV="1">
            <a:off x="6736080" y="2496820"/>
            <a:ext cx="1270" cy="297815"/>
          </a:xfrm>
          <a:prstGeom prst="line">
            <a:avLst/>
          </a:prstGeom>
          <a:noFill/>
          <a:ln w="28575" cmpd="sng">
            <a:solidFill>
              <a:srgbClr val="FF0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77" name="Line 33"/>
          <p:cNvSpPr>
            <a:spLocks noChangeShapeType="1"/>
          </p:cNvSpPr>
          <p:nvPr/>
        </p:nvSpPr>
        <p:spPr bwMode="auto">
          <a:xfrm>
            <a:off x="6736080" y="2792730"/>
            <a:ext cx="552450" cy="1270"/>
          </a:xfrm>
          <a:prstGeom prst="line">
            <a:avLst/>
          </a:prstGeom>
          <a:noFill/>
          <a:ln w="28575" cmpd="sng">
            <a:solidFill>
              <a:srgbClr val="A50021"/>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78" name="Line 34"/>
          <p:cNvSpPr>
            <a:spLocks noChangeShapeType="1"/>
          </p:cNvSpPr>
          <p:nvPr/>
        </p:nvSpPr>
        <p:spPr bwMode="auto">
          <a:xfrm>
            <a:off x="6736080" y="2792730"/>
            <a:ext cx="1270" cy="297815"/>
          </a:xfrm>
          <a:prstGeom prst="line">
            <a:avLst/>
          </a:prstGeom>
          <a:noFill/>
          <a:ln w="28575" cmpd="sng">
            <a:solidFill>
              <a:srgbClr val="0000FF"/>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79" name="Line 35"/>
          <p:cNvSpPr>
            <a:spLocks noChangeShapeType="1"/>
          </p:cNvSpPr>
          <p:nvPr/>
        </p:nvSpPr>
        <p:spPr bwMode="auto">
          <a:xfrm>
            <a:off x="6736080" y="2792730"/>
            <a:ext cx="552450" cy="229235"/>
          </a:xfrm>
          <a:prstGeom prst="line">
            <a:avLst/>
          </a:prstGeom>
          <a:noFill/>
          <a:ln w="28575" cmpd="sng">
            <a:solidFill>
              <a:srgbClr val="A50021"/>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80" name="Rectangle 36"/>
          <p:cNvSpPr>
            <a:spLocks noChangeArrowheads="1"/>
          </p:cNvSpPr>
          <p:nvPr/>
        </p:nvSpPr>
        <p:spPr bwMode="auto">
          <a:xfrm>
            <a:off x="6736080" y="2154555"/>
            <a:ext cx="391795" cy="480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dirty="0"/>
              <a:t>F</a:t>
            </a:r>
            <a:r>
              <a:rPr lang="en-US" sz="2000" baseline="-25000" dirty="0"/>
              <a:t>r2</a:t>
            </a:r>
            <a:endParaRPr lang="en-US" sz="2000" dirty="0"/>
          </a:p>
        </p:txBody>
      </p:sp>
      <p:sp>
        <p:nvSpPr>
          <p:cNvPr id="236581" name="Rectangle 37"/>
          <p:cNvSpPr>
            <a:spLocks noChangeArrowheads="1"/>
          </p:cNvSpPr>
          <p:nvPr/>
        </p:nvSpPr>
        <p:spPr bwMode="auto">
          <a:xfrm>
            <a:off x="6069330" y="2177415"/>
            <a:ext cx="414655"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n2</a:t>
            </a:r>
            <a:endParaRPr lang="en-US" sz="2000"/>
          </a:p>
        </p:txBody>
      </p:sp>
      <p:sp>
        <p:nvSpPr>
          <p:cNvPr id="236582" name="Rectangle 38"/>
          <p:cNvSpPr>
            <a:spLocks noChangeArrowheads="1"/>
          </p:cNvSpPr>
          <p:nvPr/>
        </p:nvSpPr>
        <p:spPr bwMode="auto">
          <a:xfrm>
            <a:off x="5839460" y="2496820"/>
            <a:ext cx="414655"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solidFill>
                  <a:srgbClr val="002060"/>
                </a:solidFill>
              </a:rPr>
              <a:t>F</a:t>
            </a:r>
            <a:r>
              <a:rPr lang="en-US" sz="2000" baseline="-25000">
                <a:solidFill>
                  <a:srgbClr val="002060"/>
                </a:solidFill>
              </a:rPr>
              <a:t>t2</a:t>
            </a:r>
            <a:endParaRPr lang="en-US" sz="2000" baseline="-25000">
              <a:solidFill>
                <a:srgbClr val="002060"/>
              </a:solidFill>
            </a:endParaRPr>
          </a:p>
        </p:txBody>
      </p:sp>
      <p:sp>
        <p:nvSpPr>
          <p:cNvPr id="236583" name="Rectangle 39"/>
          <p:cNvSpPr>
            <a:spLocks noChangeArrowheads="1"/>
          </p:cNvSpPr>
          <p:nvPr/>
        </p:nvSpPr>
        <p:spPr bwMode="auto">
          <a:xfrm>
            <a:off x="7287260" y="2541905"/>
            <a:ext cx="414655"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t1</a:t>
            </a:r>
            <a:endParaRPr lang="en-US" sz="2000"/>
          </a:p>
        </p:txBody>
      </p:sp>
      <p:sp>
        <p:nvSpPr>
          <p:cNvPr id="236584" name="Rectangle 40"/>
          <p:cNvSpPr>
            <a:spLocks noChangeArrowheads="1"/>
          </p:cNvSpPr>
          <p:nvPr/>
        </p:nvSpPr>
        <p:spPr bwMode="auto">
          <a:xfrm>
            <a:off x="7310120" y="2792730"/>
            <a:ext cx="414655"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n1</a:t>
            </a:r>
            <a:endParaRPr lang="en-US" sz="2000"/>
          </a:p>
        </p:txBody>
      </p:sp>
      <p:sp>
        <p:nvSpPr>
          <p:cNvPr id="236585" name="Rectangle 41"/>
          <p:cNvSpPr>
            <a:spLocks noChangeArrowheads="1"/>
          </p:cNvSpPr>
          <p:nvPr/>
        </p:nvSpPr>
        <p:spPr bwMode="auto">
          <a:xfrm>
            <a:off x="6414135" y="2929890"/>
            <a:ext cx="391795" cy="480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r1</a:t>
            </a:r>
            <a:endParaRPr lang="en-US" sz="2000"/>
          </a:p>
        </p:txBody>
      </p:sp>
      <p:grpSp>
        <p:nvGrpSpPr>
          <p:cNvPr id="236590" name="Group 46"/>
          <p:cNvGrpSpPr/>
          <p:nvPr/>
        </p:nvGrpSpPr>
        <p:grpSpPr bwMode="auto">
          <a:xfrm rot="0">
            <a:off x="7149465" y="1743710"/>
            <a:ext cx="139065" cy="455930"/>
            <a:chOff x="0" y="0"/>
            <a:chExt cx="20000" cy="20001"/>
          </a:xfrm>
        </p:grpSpPr>
        <p:sp>
          <p:nvSpPr>
            <p:cNvPr id="236591" name="Arc 47"/>
            <p:cNvSpPr/>
            <p:nvPr/>
          </p:nvSpPr>
          <p:spPr bwMode="auto">
            <a:xfrm flipV="1">
              <a:off x="1649" y="9700"/>
              <a:ext cx="18351" cy="975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92" name="Arc 48"/>
            <p:cNvSpPr/>
            <p:nvPr/>
          </p:nvSpPr>
          <p:spPr bwMode="auto">
            <a:xfrm>
              <a:off x="1649" y="0"/>
              <a:ext cx="18351" cy="975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93" name="Freeform 49"/>
            <p:cNvSpPr/>
            <p:nvPr/>
          </p:nvSpPr>
          <p:spPr bwMode="auto">
            <a:xfrm>
              <a:off x="0" y="15749"/>
              <a:ext cx="13384" cy="4252"/>
            </a:xfrm>
            <a:custGeom>
              <a:avLst/>
              <a:gdLst>
                <a:gd name="T0" fmla="*/ 12346 w 20000"/>
                <a:gd name="T1" fmla="*/ 0 h 20000"/>
                <a:gd name="T2" fmla="*/ 0 w 20000"/>
                <a:gd name="T3" fmla="*/ 19765 h 20000"/>
                <a:gd name="T4" fmla="*/ 19753 w 20000"/>
                <a:gd name="T5" fmla="*/ 19765 h 20000"/>
              </a:gdLst>
              <a:ahLst/>
              <a:cxnLst>
                <a:cxn ang="0">
                  <a:pos x="T0" y="T1"/>
                </a:cxn>
                <a:cxn ang="0">
                  <a:pos x="T2" y="T3"/>
                </a:cxn>
                <a:cxn ang="0">
                  <a:pos x="T4" y="T5"/>
                </a:cxn>
              </a:cxnLst>
              <a:rect l="0" t="0" r="r" b="b"/>
              <a:pathLst>
                <a:path w="20000" h="20000">
                  <a:moveTo>
                    <a:pt x="12346" y="0"/>
                  </a:moveTo>
                  <a:lnTo>
                    <a:pt x="0" y="19765"/>
                  </a:lnTo>
                  <a:lnTo>
                    <a:pt x="19753" y="19765"/>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6594" name="Group 50"/>
          <p:cNvGrpSpPr/>
          <p:nvPr/>
        </p:nvGrpSpPr>
        <p:grpSpPr bwMode="auto">
          <a:xfrm rot="0">
            <a:off x="6851015" y="3226435"/>
            <a:ext cx="161925" cy="480060"/>
            <a:chOff x="0" y="0"/>
            <a:chExt cx="20001" cy="20002"/>
          </a:xfrm>
        </p:grpSpPr>
        <p:sp>
          <p:nvSpPr>
            <p:cNvPr id="236595" name="Arc 51"/>
            <p:cNvSpPr/>
            <p:nvPr/>
          </p:nvSpPr>
          <p:spPr bwMode="auto">
            <a:xfrm>
              <a:off x="1696" y="564"/>
              <a:ext cx="18305" cy="974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96" name="Arc 52"/>
            <p:cNvSpPr/>
            <p:nvPr/>
          </p:nvSpPr>
          <p:spPr bwMode="auto">
            <a:xfrm flipV="1">
              <a:off x="1696" y="10263"/>
              <a:ext cx="18305" cy="9739"/>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597" name="Freeform 53"/>
            <p:cNvSpPr/>
            <p:nvPr/>
          </p:nvSpPr>
          <p:spPr bwMode="auto">
            <a:xfrm>
              <a:off x="0" y="0"/>
              <a:ext cx="13334" cy="4271"/>
            </a:xfrm>
            <a:custGeom>
              <a:avLst/>
              <a:gdLst>
                <a:gd name="T0" fmla="*/ 12340 w 20000"/>
                <a:gd name="T1" fmla="*/ 19778 h 20000"/>
                <a:gd name="T2" fmla="*/ 0 w 20000"/>
                <a:gd name="T3" fmla="*/ 0 h 20000"/>
                <a:gd name="T4" fmla="*/ 19787 w 20000"/>
                <a:gd name="T5" fmla="*/ 0 h 20000"/>
              </a:gdLst>
              <a:ahLst/>
              <a:cxnLst>
                <a:cxn ang="0">
                  <a:pos x="T0" y="T1"/>
                </a:cxn>
                <a:cxn ang="0">
                  <a:pos x="T2" y="T3"/>
                </a:cxn>
                <a:cxn ang="0">
                  <a:pos x="T4" y="T5"/>
                </a:cxn>
              </a:cxnLst>
              <a:rect l="0" t="0" r="r" b="b"/>
              <a:pathLst>
                <a:path w="20000" h="20000">
                  <a:moveTo>
                    <a:pt x="12340" y="19778"/>
                  </a:moveTo>
                  <a:lnTo>
                    <a:pt x="0" y="0"/>
                  </a:lnTo>
                  <a:lnTo>
                    <a:pt x="19787" y="0"/>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6598" name="Group 54"/>
          <p:cNvGrpSpPr/>
          <p:nvPr/>
        </p:nvGrpSpPr>
        <p:grpSpPr bwMode="auto">
          <a:xfrm rot="0">
            <a:off x="7103745" y="3272155"/>
            <a:ext cx="161925" cy="411480"/>
            <a:chOff x="0" y="0"/>
            <a:chExt cx="20000" cy="20001"/>
          </a:xfrm>
        </p:grpSpPr>
        <p:sp>
          <p:nvSpPr>
            <p:cNvPr id="236599" name="Arc 55"/>
            <p:cNvSpPr/>
            <p:nvPr/>
          </p:nvSpPr>
          <p:spPr bwMode="auto">
            <a:xfrm>
              <a:off x="1712" y="555"/>
              <a:ext cx="18288" cy="974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600" name="Arc 56"/>
            <p:cNvSpPr/>
            <p:nvPr/>
          </p:nvSpPr>
          <p:spPr bwMode="auto">
            <a:xfrm flipV="1">
              <a:off x="1712" y="10245"/>
              <a:ext cx="18288" cy="975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6601" name="Freeform 57"/>
            <p:cNvSpPr/>
            <p:nvPr/>
          </p:nvSpPr>
          <p:spPr bwMode="auto">
            <a:xfrm>
              <a:off x="0" y="0"/>
              <a:ext cx="13482" cy="4266"/>
            </a:xfrm>
            <a:custGeom>
              <a:avLst/>
              <a:gdLst>
                <a:gd name="T0" fmla="*/ 12421 w 20000"/>
                <a:gd name="T1" fmla="*/ 19740 h 20000"/>
                <a:gd name="T2" fmla="*/ 0 w 20000"/>
                <a:gd name="T3" fmla="*/ 0 h 20000"/>
                <a:gd name="T4" fmla="*/ 19789 w 20000"/>
                <a:gd name="T5" fmla="*/ 0 h 20000"/>
              </a:gdLst>
              <a:ahLst/>
              <a:cxnLst>
                <a:cxn ang="0">
                  <a:pos x="T0" y="T1"/>
                </a:cxn>
                <a:cxn ang="0">
                  <a:pos x="T2" y="T3"/>
                </a:cxn>
                <a:cxn ang="0">
                  <a:pos x="T4" y="T5"/>
                </a:cxn>
              </a:cxnLst>
              <a:rect l="0" t="0" r="r" b="b"/>
              <a:pathLst>
                <a:path w="20000" h="20000">
                  <a:moveTo>
                    <a:pt x="12421" y="19740"/>
                  </a:moveTo>
                  <a:lnTo>
                    <a:pt x="0" y="0"/>
                  </a:lnTo>
                  <a:lnTo>
                    <a:pt x="19789" y="0"/>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6602" name="Rectangle 58"/>
          <p:cNvSpPr>
            <a:spLocks noChangeArrowheads="1"/>
          </p:cNvSpPr>
          <p:nvPr/>
        </p:nvSpPr>
        <p:spPr bwMode="auto">
          <a:xfrm>
            <a:off x="6988810" y="3567430"/>
            <a:ext cx="368935" cy="410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T</a:t>
            </a:r>
            <a:r>
              <a:rPr lang="en-US" sz="2000" baseline="-25000"/>
              <a:t>1</a:t>
            </a:r>
            <a:endParaRPr lang="en-US" sz="2000"/>
          </a:p>
        </p:txBody>
      </p:sp>
      <p:sp>
        <p:nvSpPr>
          <p:cNvPr id="236603" name="Rectangle 59"/>
          <p:cNvSpPr>
            <a:spLocks noChangeArrowheads="1"/>
          </p:cNvSpPr>
          <p:nvPr/>
        </p:nvSpPr>
        <p:spPr bwMode="auto">
          <a:xfrm>
            <a:off x="7264400" y="1926590"/>
            <a:ext cx="276860" cy="480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n</a:t>
            </a:r>
            <a:r>
              <a:rPr lang="en-US" sz="2000" baseline="-25000"/>
              <a:t>2</a:t>
            </a:r>
            <a:endParaRPr lang="en-US" sz="2000"/>
          </a:p>
        </p:txBody>
      </p:sp>
      <p:sp>
        <p:nvSpPr>
          <p:cNvPr id="236604" name="Rectangle 60"/>
          <p:cNvSpPr>
            <a:spLocks noChangeArrowheads="1"/>
          </p:cNvSpPr>
          <p:nvPr/>
        </p:nvSpPr>
        <p:spPr bwMode="auto">
          <a:xfrm>
            <a:off x="6758940" y="3522980"/>
            <a:ext cx="276860" cy="480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n</a:t>
            </a:r>
            <a:r>
              <a:rPr lang="en-US" sz="2000" baseline="-25000"/>
              <a:t>1</a:t>
            </a:r>
            <a:endParaRPr lang="en-US" sz="2000"/>
          </a:p>
        </p:txBody>
      </p:sp>
      <p:sp>
        <p:nvSpPr>
          <p:cNvPr id="236606" name="Text Box 62"/>
          <p:cNvSpPr txBox="1">
            <a:spLocks noChangeArrowheads="1"/>
          </p:cNvSpPr>
          <p:nvPr/>
        </p:nvSpPr>
        <p:spPr bwMode="auto">
          <a:xfrm>
            <a:off x="395037" y="2231057"/>
            <a:ext cx="1426143"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defRPr sz="2400">
                <a:latin typeface="黑体" panose="02010609060101010101" pitchFamily="49" charset="-122"/>
                <a:ea typeface="黑体" panose="02010609060101010101" pitchFamily="49" charset="-122"/>
              </a:defRPr>
            </a:lvl1pPr>
            <a:lvl2pPr marL="742950" indent="-285750">
              <a:defRPr sz="2400">
                <a:ea typeface="宋体" panose="02010600030101010101" pitchFamily="2" charset="-122"/>
              </a:defRPr>
            </a:lvl2pPr>
            <a:lvl3pPr marL="1143000" indent="-228600">
              <a:defRPr sz="2400">
                <a:ea typeface="宋体" panose="02010600030101010101" pitchFamily="2" charset="-122"/>
              </a:defRPr>
            </a:lvl3pPr>
            <a:lvl4pPr marL="1600200" indent="-228600">
              <a:defRPr sz="2400">
                <a:ea typeface="宋体" panose="02010600030101010101" pitchFamily="2" charset="-122"/>
              </a:defRPr>
            </a:lvl4pPr>
            <a:lvl5pPr marL="2057400" indent="-228600">
              <a:defRPr sz="2400">
                <a:ea typeface="宋体" panose="02010600030101010101" pitchFamily="2" charset="-122"/>
              </a:defRPr>
            </a:lvl5pPr>
            <a:lvl6pPr marL="2514600" indent="-228600" eaLnBrk="0" fontAlgn="base" hangingPunct="0">
              <a:spcBef>
                <a:spcPct val="0"/>
              </a:spcBef>
              <a:spcAft>
                <a:spcPct val="0"/>
              </a:spcAft>
              <a:defRPr sz="2400">
                <a:ea typeface="宋体" panose="02010600030101010101" pitchFamily="2" charset="-122"/>
              </a:defRPr>
            </a:lvl6pPr>
            <a:lvl7pPr marL="2971800" indent="-228600" eaLnBrk="0" fontAlgn="base" hangingPunct="0">
              <a:spcBef>
                <a:spcPct val="0"/>
              </a:spcBef>
              <a:spcAft>
                <a:spcPct val="0"/>
              </a:spcAft>
              <a:defRPr sz="2400">
                <a:ea typeface="宋体" panose="02010600030101010101" pitchFamily="2" charset="-122"/>
              </a:defRPr>
            </a:lvl7pPr>
            <a:lvl8pPr marL="3429000" indent="-228600" eaLnBrk="0" fontAlgn="base" hangingPunct="0">
              <a:spcBef>
                <a:spcPct val="0"/>
              </a:spcBef>
              <a:spcAft>
                <a:spcPct val="0"/>
              </a:spcAft>
              <a:defRPr sz="2400">
                <a:ea typeface="宋体" panose="02010600030101010101" pitchFamily="2" charset="-122"/>
              </a:defRPr>
            </a:lvl8pPr>
            <a:lvl9pPr marL="3886200" indent="-228600" eaLnBrk="0" fontAlgn="base" hangingPunct="0">
              <a:spcBef>
                <a:spcPct val="0"/>
              </a:spcBef>
              <a:spcAft>
                <a:spcPct val="0"/>
              </a:spcAft>
              <a:defRPr sz="2400">
                <a:ea typeface="宋体" panose="02010600030101010101" pitchFamily="2" charset="-122"/>
              </a:defRPr>
            </a:lvl9pPr>
          </a:lstStyle>
          <a:p>
            <a:r>
              <a:rPr lang="zh-CN" altLang="en-US" sz="2200" dirty="0"/>
              <a:t>圆周力</a:t>
            </a:r>
            <a:endParaRPr lang="zh-CN" altLang="en-US" sz="2200" dirty="0"/>
          </a:p>
        </p:txBody>
      </p:sp>
      <p:sp>
        <p:nvSpPr>
          <p:cNvPr id="236607" name="Text Box 63"/>
          <p:cNvSpPr txBox="1">
            <a:spLocks noChangeArrowheads="1"/>
          </p:cNvSpPr>
          <p:nvPr/>
        </p:nvSpPr>
        <p:spPr bwMode="auto">
          <a:xfrm>
            <a:off x="375787" y="2905225"/>
            <a:ext cx="12192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defRPr sz="2400">
                <a:latin typeface="黑体" panose="02010609060101010101" pitchFamily="49" charset="-122"/>
                <a:ea typeface="黑体" panose="02010609060101010101" pitchFamily="49" charset="-122"/>
              </a:defRPr>
            </a:lvl1pPr>
            <a:lvl2pPr marL="742950" indent="-285750">
              <a:defRPr sz="2400">
                <a:ea typeface="宋体" panose="02010600030101010101" pitchFamily="2" charset="-122"/>
              </a:defRPr>
            </a:lvl2pPr>
            <a:lvl3pPr marL="1143000" indent="-228600">
              <a:defRPr sz="2400">
                <a:ea typeface="宋体" panose="02010600030101010101" pitchFamily="2" charset="-122"/>
              </a:defRPr>
            </a:lvl3pPr>
            <a:lvl4pPr marL="1600200" indent="-228600">
              <a:defRPr sz="2400">
                <a:ea typeface="宋体" panose="02010600030101010101" pitchFamily="2" charset="-122"/>
              </a:defRPr>
            </a:lvl4pPr>
            <a:lvl5pPr marL="2057400" indent="-228600">
              <a:defRPr sz="2400">
                <a:ea typeface="宋体" panose="02010600030101010101" pitchFamily="2" charset="-122"/>
              </a:defRPr>
            </a:lvl5pPr>
            <a:lvl6pPr marL="2514600" indent="-228600" eaLnBrk="0" fontAlgn="base" hangingPunct="0">
              <a:spcBef>
                <a:spcPct val="0"/>
              </a:spcBef>
              <a:spcAft>
                <a:spcPct val="0"/>
              </a:spcAft>
              <a:defRPr sz="2400">
                <a:ea typeface="宋体" panose="02010600030101010101" pitchFamily="2" charset="-122"/>
              </a:defRPr>
            </a:lvl6pPr>
            <a:lvl7pPr marL="2971800" indent="-228600" eaLnBrk="0" fontAlgn="base" hangingPunct="0">
              <a:spcBef>
                <a:spcPct val="0"/>
              </a:spcBef>
              <a:spcAft>
                <a:spcPct val="0"/>
              </a:spcAft>
              <a:defRPr sz="2400">
                <a:ea typeface="宋体" panose="02010600030101010101" pitchFamily="2" charset="-122"/>
              </a:defRPr>
            </a:lvl7pPr>
            <a:lvl8pPr marL="3429000" indent="-228600" eaLnBrk="0" fontAlgn="base" hangingPunct="0">
              <a:spcBef>
                <a:spcPct val="0"/>
              </a:spcBef>
              <a:spcAft>
                <a:spcPct val="0"/>
              </a:spcAft>
              <a:defRPr sz="2400">
                <a:ea typeface="宋体" panose="02010600030101010101" pitchFamily="2" charset="-122"/>
              </a:defRPr>
            </a:lvl8pPr>
            <a:lvl9pPr marL="3886200" indent="-228600" eaLnBrk="0" fontAlgn="base" hangingPunct="0">
              <a:spcBef>
                <a:spcPct val="0"/>
              </a:spcBef>
              <a:spcAft>
                <a:spcPct val="0"/>
              </a:spcAft>
              <a:defRPr sz="2400">
                <a:ea typeface="宋体" panose="02010600030101010101" pitchFamily="2" charset="-122"/>
              </a:defRPr>
            </a:lvl9pPr>
          </a:lstStyle>
          <a:p>
            <a:r>
              <a:rPr lang="zh-CN" altLang="en-US" sz="2200" dirty="0"/>
              <a:t>径向力</a:t>
            </a:r>
            <a:endParaRPr lang="zh-CN" altLang="en-US" sz="2200" dirty="0"/>
          </a:p>
        </p:txBody>
      </p:sp>
      <p:sp>
        <p:nvSpPr>
          <p:cNvPr id="236608" name="Text Box 64"/>
          <p:cNvSpPr txBox="1">
            <a:spLocks noChangeArrowheads="1"/>
          </p:cNvSpPr>
          <p:nvPr/>
        </p:nvSpPr>
        <p:spPr bwMode="auto">
          <a:xfrm>
            <a:off x="433137" y="4074814"/>
            <a:ext cx="8142973"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240000"/>
              </a:lnSpc>
              <a:spcBef>
                <a:spcPts val="0"/>
              </a:spcBef>
            </a:pPr>
            <a:r>
              <a:rPr lang="zh-CN" altLang="en-US" sz="2000" dirty="0"/>
              <a:t>式中，</a:t>
            </a:r>
            <a:r>
              <a:rPr lang="en-US" sz="2000" dirty="0">
                <a:solidFill>
                  <a:srgbClr val="FF0000"/>
                </a:solidFill>
              </a:rPr>
              <a:t>F</a:t>
            </a:r>
            <a:r>
              <a:rPr lang="en-US" sz="2000" baseline="-25000" dirty="0">
                <a:solidFill>
                  <a:srgbClr val="FF0000"/>
                </a:solidFill>
              </a:rPr>
              <a:t>n1,2</a:t>
            </a:r>
            <a:r>
              <a:rPr lang="en-US" sz="2000" dirty="0"/>
              <a:t>——</a:t>
            </a:r>
            <a:r>
              <a:rPr lang="zh-CN" altLang="en-US" sz="2200" dirty="0">
                <a:latin typeface="黑体" panose="02010609060101010101" pitchFamily="49" charset="-122"/>
                <a:ea typeface="黑体" panose="02010609060101010101" pitchFamily="49" charset="-122"/>
              </a:rPr>
              <a:t>沿啮合线方向</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垂直于齿面）；</a:t>
            </a:r>
            <a:endParaRPr lang="zh-CN" altLang="en-US" sz="2200" dirty="0">
              <a:latin typeface="黑体" panose="02010609060101010101" pitchFamily="49" charset="-122"/>
              <a:ea typeface="黑体" panose="02010609060101010101" pitchFamily="49" charset="-122"/>
            </a:endParaRPr>
          </a:p>
          <a:p>
            <a:pPr>
              <a:lnSpc>
                <a:spcPct val="170000"/>
              </a:lnSpc>
              <a:spcBef>
                <a:spcPts val="0"/>
              </a:spcBef>
            </a:pPr>
            <a:r>
              <a:rPr lang="zh-CN" altLang="en-US" sz="2000" dirty="0"/>
              <a:t>             </a:t>
            </a:r>
            <a:r>
              <a:rPr lang="en-US" sz="2000" dirty="0">
                <a:solidFill>
                  <a:srgbClr val="FF0000"/>
                </a:solidFill>
              </a:rPr>
              <a:t>F</a:t>
            </a:r>
            <a:r>
              <a:rPr lang="en-US" sz="2000" baseline="-25000" dirty="0">
                <a:solidFill>
                  <a:srgbClr val="FF0000"/>
                </a:solidFill>
              </a:rPr>
              <a:t>t1</a:t>
            </a:r>
            <a:r>
              <a:rPr lang="en-US" sz="2000" dirty="0"/>
              <a:t>——</a:t>
            </a:r>
            <a:r>
              <a:rPr lang="zh-CN" altLang="en-US" sz="2200" dirty="0">
                <a:latin typeface="黑体" panose="02010609060101010101" pitchFamily="49" charset="-122"/>
                <a:ea typeface="黑体" panose="02010609060101010101" pitchFamily="49" charset="-122"/>
              </a:rPr>
              <a:t>阻力，与主动轮啮合点</a:t>
            </a:r>
            <a:r>
              <a:rPr lang="en-US" sz="2200" i="1" dirty="0">
                <a:latin typeface="黑体" panose="02010609060101010101" pitchFamily="49" charset="-122"/>
                <a:ea typeface="黑体" panose="02010609060101010101" pitchFamily="49" charset="-122"/>
              </a:rPr>
              <a:t>V</a:t>
            </a:r>
            <a:r>
              <a:rPr lang="en-US" sz="2200" baseline="-250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点的运动方向相反；</a:t>
            </a:r>
            <a:endParaRPr lang="zh-CN" altLang="en-US" sz="2200" dirty="0">
              <a:latin typeface="黑体" panose="02010609060101010101" pitchFamily="49" charset="-122"/>
              <a:ea typeface="黑体" panose="02010609060101010101" pitchFamily="49" charset="-122"/>
            </a:endParaRPr>
          </a:p>
          <a:p>
            <a:pPr>
              <a:lnSpc>
                <a:spcPct val="170000"/>
              </a:lnSpc>
              <a:spcBef>
                <a:spcPts val="0"/>
              </a:spcBef>
            </a:pPr>
            <a:r>
              <a:rPr lang="zh-CN" altLang="en-US" sz="2000" dirty="0"/>
              <a:t>             </a:t>
            </a:r>
            <a:r>
              <a:rPr lang="en-US" sz="2000" dirty="0">
                <a:solidFill>
                  <a:srgbClr val="FF0000"/>
                </a:solidFill>
              </a:rPr>
              <a:t>F</a:t>
            </a:r>
            <a:r>
              <a:rPr lang="en-US" sz="2000" baseline="-25000" dirty="0">
                <a:solidFill>
                  <a:srgbClr val="FF0000"/>
                </a:solidFill>
              </a:rPr>
              <a:t>t2</a:t>
            </a:r>
            <a:r>
              <a:rPr lang="en-US" sz="2000" dirty="0"/>
              <a:t>——</a:t>
            </a:r>
            <a:r>
              <a:rPr lang="zh-CN" altLang="en-US" sz="2200" dirty="0">
                <a:latin typeface="黑体" panose="02010609060101010101" pitchFamily="49" charset="-122"/>
                <a:ea typeface="黑体" panose="02010609060101010101" pitchFamily="49" charset="-122"/>
              </a:rPr>
              <a:t>驱动力，与从动轮这一点的运动方向相同；</a:t>
            </a:r>
            <a:endParaRPr lang="zh-CN" altLang="en-US" sz="2200" dirty="0">
              <a:latin typeface="黑体" panose="02010609060101010101" pitchFamily="49" charset="-122"/>
              <a:ea typeface="黑体" panose="02010609060101010101" pitchFamily="49" charset="-122"/>
            </a:endParaRPr>
          </a:p>
          <a:p>
            <a:pPr>
              <a:lnSpc>
                <a:spcPct val="170000"/>
              </a:lnSpc>
              <a:spcBef>
                <a:spcPts val="0"/>
              </a:spcBef>
            </a:pPr>
            <a:r>
              <a:rPr lang="zh-CN" altLang="en-US" sz="2000" dirty="0"/>
              <a:t>             </a:t>
            </a:r>
            <a:r>
              <a:rPr lang="en-US" sz="2000" dirty="0">
                <a:solidFill>
                  <a:srgbClr val="FF0000"/>
                </a:solidFill>
              </a:rPr>
              <a:t>F</a:t>
            </a:r>
            <a:r>
              <a:rPr lang="en-US" sz="2000" baseline="-25000" dirty="0">
                <a:solidFill>
                  <a:srgbClr val="FF0000"/>
                </a:solidFill>
              </a:rPr>
              <a:t>r1,2</a:t>
            </a:r>
            <a:r>
              <a:rPr lang="en-US" sz="2000" dirty="0"/>
              <a:t>——</a:t>
            </a:r>
            <a:r>
              <a:rPr lang="zh-CN" altLang="en-US" sz="2200" dirty="0">
                <a:latin typeface="黑体" panose="02010609060101010101" pitchFamily="49" charset="-122"/>
                <a:ea typeface="黑体" panose="02010609060101010101" pitchFamily="49" charset="-122"/>
              </a:rPr>
              <a:t>指向自己的轮心；</a:t>
            </a:r>
            <a:endParaRPr lang="zh-CN" altLang="en-US" sz="2200" dirty="0">
              <a:latin typeface="黑体" panose="02010609060101010101" pitchFamily="49" charset="-122"/>
              <a:ea typeface="黑体" panose="02010609060101010101" pitchFamily="49" charset="-122"/>
            </a:endParaRPr>
          </a:p>
        </p:txBody>
      </p:sp>
      <p:sp>
        <p:nvSpPr>
          <p:cNvPr id="236609" name="Text Box 65"/>
          <p:cNvSpPr txBox="1">
            <a:spLocks noChangeArrowheads="1"/>
          </p:cNvSpPr>
          <p:nvPr/>
        </p:nvSpPr>
        <p:spPr bwMode="auto">
          <a:xfrm>
            <a:off x="429260" y="1409700"/>
            <a:ext cx="1558925" cy="429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defRPr sz="2400">
                <a:latin typeface="黑体" panose="02010609060101010101" pitchFamily="49" charset="-122"/>
                <a:ea typeface="黑体" panose="02010609060101010101" pitchFamily="49" charset="-122"/>
              </a:defRPr>
            </a:lvl1pPr>
            <a:lvl2pPr marL="742950" indent="-285750">
              <a:defRPr sz="2400">
                <a:ea typeface="宋体" panose="02010600030101010101" pitchFamily="2" charset="-122"/>
              </a:defRPr>
            </a:lvl2pPr>
            <a:lvl3pPr marL="1143000" indent="-228600">
              <a:defRPr sz="2400">
                <a:ea typeface="宋体" panose="02010600030101010101" pitchFamily="2" charset="-122"/>
              </a:defRPr>
            </a:lvl3pPr>
            <a:lvl4pPr marL="1600200" indent="-228600">
              <a:defRPr sz="2400">
                <a:ea typeface="宋体" panose="02010600030101010101" pitchFamily="2" charset="-122"/>
              </a:defRPr>
            </a:lvl4pPr>
            <a:lvl5pPr marL="2057400" indent="-228600">
              <a:defRPr sz="2400">
                <a:ea typeface="宋体" panose="02010600030101010101" pitchFamily="2" charset="-122"/>
              </a:defRPr>
            </a:lvl5pPr>
            <a:lvl6pPr marL="2514600" indent="-228600" eaLnBrk="0" fontAlgn="base" hangingPunct="0">
              <a:spcBef>
                <a:spcPct val="0"/>
              </a:spcBef>
              <a:spcAft>
                <a:spcPct val="0"/>
              </a:spcAft>
              <a:defRPr sz="2400">
                <a:ea typeface="宋体" panose="02010600030101010101" pitchFamily="2" charset="-122"/>
              </a:defRPr>
            </a:lvl6pPr>
            <a:lvl7pPr marL="2971800" indent="-228600" eaLnBrk="0" fontAlgn="base" hangingPunct="0">
              <a:spcBef>
                <a:spcPct val="0"/>
              </a:spcBef>
              <a:spcAft>
                <a:spcPct val="0"/>
              </a:spcAft>
              <a:defRPr sz="2400">
                <a:ea typeface="宋体" panose="02010600030101010101" pitchFamily="2" charset="-122"/>
              </a:defRPr>
            </a:lvl7pPr>
            <a:lvl8pPr marL="3429000" indent="-228600" eaLnBrk="0" fontAlgn="base" hangingPunct="0">
              <a:spcBef>
                <a:spcPct val="0"/>
              </a:spcBef>
              <a:spcAft>
                <a:spcPct val="0"/>
              </a:spcAft>
              <a:defRPr sz="2400">
                <a:ea typeface="宋体" panose="02010600030101010101" pitchFamily="2" charset="-122"/>
              </a:defRPr>
            </a:lvl8pPr>
            <a:lvl9pPr marL="3886200" indent="-228600" eaLnBrk="0" fontAlgn="base" hangingPunct="0">
              <a:spcBef>
                <a:spcPct val="0"/>
              </a:spcBef>
              <a:spcAft>
                <a:spcPct val="0"/>
              </a:spcAft>
              <a:defRPr sz="2400">
                <a:ea typeface="宋体" panose="02010600030101010101" pitchFamily="2" charset="-122"/>
              </a:defRPr>
            </a:lvl9pPr>
          </a:lstStyle>
          <a:p>
            <a:r>
              <a:rPr lang="zh-CN" altLang="en-US" sz="2200" dirty="0"/>
              <a:t>法向力</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36558"/>
                                        </p:tgtEl>
                                        <p:attrNameLst>
                                          <p:attrName>style.visibility</p:attrName>
                                        </p:attrNameLst>
                                      </p:cBhvr>
                                      <p:to>
                                        <p:strVal val="visible"/>
                                      </p:to>
                                    </p:set>
                                    <p:animEffect transition="in" filter="wipe(down)">
                                      <p:cBhvr>
                                        <p:cTn id="12" dur="500"/>
                                        <p:tgtEl>
                                          <p:spTgt spid="2365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36566"/>
                                        </p:tgtEl>
                                        <p:attrNameLst>
                                          <p:attrName>style.visibility</p:attrName>
                                        </p:attrNameLst>
                                      </p:cBhvr>
                                      <p:to>
                                        <p:strVal val="visible"/>
                                      </p:to>
                                    </p:set>
                                    <p:animEffect transition="in" filter="wipe(down)">
                                      <p:cBhvr>
                                        <p:cTn id="17" dur="500"/>
                                        <p:tgtEl>
                                          <p:spTgt spid="2365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36604"/>
                                        </p:tgtEl>
                                        <p:attrNameLst>
                                          <p:attrName>style.visibility</p:attrName>
                                        </p:attrNameLst>
                                      </p:cBhvr>
                                      <p:to>
                                        <p:strVal val="visible"/>
                                      </p:to>
                                    </p:set>
                                    <p:animEffect transition="in" filter="wipe(down)">
                                      <p:cBhvr>
                                        <p:cTn id="22" dur="500"/>
                                        <p:tgtEl>
                                          <p:spTgt spid="236604"/>
                                        </p:tgtEl>
                                      </p:cBhvr>
                                    </p:animEffect>
                                  </p:childTnLst>
                                </p:cTn>
                              </p:par>
                              <p:par>
                                <p:cTn id="23" presetID="22" presetClass="entr" presetSubtype="4" fill="hold" nodeType="withEffect">
                                  <p:stCondLst>
                                    <p:cond delay="0"/>
                                  </p:stCondLst>
                                  <p:childTnLst>
                                    <p:set>
                                      <p:cBhvr>
                                        <p:cTn id="24" dur="1" fill="hold">
                                          <p:stCondLst>
                                            <p:cond delay="0"/>
                                          </p:stCondLst>
                                        </p:cTn>
                                        <p:tgtEl>
                                          <p:spTgt spid="236594"/>
                                        </p:tgtEl>
                                        <p:attrNameLst>
                                          <p:attrName>style.visibility</p:attrName>
                                        </p:attrNameLst>
                                      </p:cBhvr>
                                      <p:to>
                                        <p:strVal val="visible"/>
                                      </p:to>
                                    </p:set>
                                    <p:animEffect transition="in" filter="wipe(down)">
                                      <p:cBhvr>
                                        <p:cTn id="25" dur="500"/>
                                        <p:tgtEl>
                                          <p:spTgt spid="23659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36603"/>
                                        </p:tgtEl>
                                        <p:attrNameLst>
                                          <p:attrName>style.visibility</p:attrName>
                                        </p:attrNameLst>
                                      </p:cBhvr>
                                      <p:to>
                                        <p:strVal val="visible"/>
                                      </p:to>
                                    </p:set>
                                    <p:animEffect transition="in" filter="wipe(down)">
                                      <p:cBhvr>
                                        <p:cTn id="30" dur="500"/>
                                        <p:tgtEl>
                                          <p:spTgt spid="236603"/>
                                        </p:tgtEl>
                                      </p:cBhvr>
                                    </p:animEffect>
                                  </p:childTnLst>
                                </p:cTn>
                              </p:par>
                              <p:par>
                                <p:cTn id="31" presetID="22" presetClass="entr" presetSubtype="4" fill="hold" nodeType="withEffect">
                                  <p:stCondLst>
                                    <p:cond delay="0"/>
                                  </p:stCondLst>
                                  <p:childTnLst>
                                    <p:set>
                                      <p:cBhvr>
                                        <p:cTn id="32" dur="1" fill="hold">
                                          <p:stCondLst>
                                            <p:cond delay="0"/>
                                          </p:stCondLst>
                                        </p:cTn>
                                        <p:tgtEl>
                                          <p:spTgt spid="236590"/>
                                        </p:tgtEl>
                                        <p:attrNameLst>
                                          <p:attrName>style.visibility</p:attrName>
                                        </p:attrNameLst>
                                      </p:cBhvr>
                                      <p:to>
                                        <p:strVal val="visible"/>
                                      </p:to>
                                    </p:set>
                                    <p:animEffect transition="in" filter="wipe(down)">
                                      <p:cBhvr>
                                        <p:cTn id="33" dur="500"/>
                                        <p:tgtEl>
                                          <p:spTgt spid="23659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36602"/>
                                        </p:tgtEl>
                                        <p:attrNameLst>
                                          <p:attrName>style.visibility</p:attrName>
                                        </p:attrNameLst>
                                      </p:cBhvr>
                                      <p:to>
                                        <p:strVal val="visible"/>
                                      </p:to>
                                    </p:set>
                                    <p:animEffect transition="in" filter="wipe(down)">
                                      <p:cBhvr>
                                        <p:cTn id="38" dur="500"/>
                                        <p:tgtEl>
                                          <p:spTgt spid="236602"/>
                                        </p:tgtEl>
                                      </p:cBhvr>
                                    </p:animEffect>
                                  </p:childTnLst>
                                </p:cTn>
                              </p:par>
                              <p:par>
                                <p:cTn id="39" presetID="22" presetClass="entr" presetSubtype="4" fill="hold" nodeType="withEffect">
                                  <p:stCondLst>
                                    <p:cond delay="0"/>
                                  </p:stCondLst>
                                  <p:childTnLst>
                                    <p:set>
                                      <p:cBhvr>
                                        <p:cTn id="40" dur="1" fill="hold">
                                          <p:stCondLst>
                                            <p:cond delay="0"/>
                                          </p:stCondLst>
                                        </p:cTn>
                                        <p:tgtEl>
                                          <p:spTgt spid="236598"/>
                                        </p:tgtEl>
                                        <p:attrNameLst>
                                          <p:attrName>style.visibility</p:attrName>
                                        </p:attrNameLst>
                                      </p:cBhvr>
                                      <p:to>
                                        <p:strVal val="visible"/>
                                      </p:to>
                                    </p:set>
                                    <p:animEffect transition="in" filter="wipe(down)">
                                      <p:cBhvr>
                                        <p:cTn id="41" dur="500"/>
                                        <p:tgtEl>
                                          <p:spTgt spid="236598"/>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236547">
                                            <p:txEl>
                                              <p:pRg st="0" end="0"/>
                                            </p:txEl>
                                          </p:spTgt>
                                        </p:tgtEl>
                                        <p:attrNameLst>
                                          <p:attrName>style.visibility</p:attrName>
                                        </p:attrNameLst>
                                      </p:cBhvr>
                                      <p:to>
                                        <p:strVal val="visible"/>
                                      </p:to>
                                    </p:set>
                                    <p:anim calcmode="lin" valueType="num">
                                      <p:cBhvr additive="base">
                                        <p:cTn id="46" dur="500" fill="hold"/>
                                        <p:tgtEl>
                                          <p:spTgt spid="236547">
                                            <p:txEl>
                                              <p:pRg st="0" end="0"/>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2365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236609">
                                            <p:txEl>
                                              <p:pRg st="0" end="0"/>
                                            </p:txEl>
                                          </p:spTgt>
                                        </p:tgtEl>
                                        <p:attrNameLst>
                                          <p:attrName>style.visibility</p:attrName>
                                        </p:attrNameLst>
                                      </p:cBhvr>
                                      <p:to>
                                        <p:strVal val="visible"/>
                                      </p:to>
                                    </p:set>
                                    <p:anim calcmode="lin" valueType="num">
                                      <p:cBhvr additive="base">
                                        <p:cTn id="52" dur="500" fill="hold"/>
                                        <p:tgtEl>
                                          <p:spTgt spid="236609">
                                            <p:txEl>
                                              <p:pRg st="0" end="0"/>
                                            </p:txEl>
                                          </p:spTgt>
                                        </p:tgtEl>
                                        <p:attrNameLst>
                                          <p:attrName>ppt_x</p:attrName>
                                        </p:attrNameLst>
                                      </p:cBhvr>
                                      <p:tavLst>
                                        <p:tav tm="0">
                                          <p:val>
                                            <p:strVal val="1+#ppt_w/2"/>
                                          </p:val>
                                        </p:tav>
                                        <p:tav tm="100000">
                                          <p:val>
                                            <p:strVal val="#ppt_x"/>
                                          </p:val>
                                        </p:tav>
                                      </p:tavLst>
                                    </p:anim>
                                    <p:anim calcmode="lin" valueType="num">
                                      <p:cBhvr additive="base">
                                        <p:cTn id="53" dur="500" fill="hold"/>
                                        <p:tgtEl>
                                          <p:spTgt spid="2366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236608">
                                            <p:txEl>
                                              <p:pRg st="0" end="0"/>
                                            </p:txEl>
                                          </p:spTgt>
                                        </p:tgtEl>
                                        <p:attrNameLst>
                                          <p:attrName>style.visibility</p:attrName>
                                        </p:attrNameLst>
                                      </p:cBhvr>
                                      <p:to>
                                        <p:strVal val="visible"/>
                                      </p:to>
                                    </p:set>
                                    <p:anim calcmode="lin" valueType="num">
                                      <p:cBhvr additive="base">
                                        <p:cTn id="58" dur="500" fill="hold"/>
                                        <p:tgtEl>
                                          <p:spTgt spid="236608">
                                            <p:txEl>
                                              <p:pRg st="0" end="0"/>
                                            </p:txEl>
                                          </p:spTgt>
                                        </p:tgtEl>
                                        <p:attrNameLst>
                                          <p:attrName>ppt_x</p:attrName>
                                        </p:attrNameLst>
                                      </p:cBhvr>
                                      <p:tavLst>
                                        <p:tav tm="0">
                                          <p:val>
                                            <p:strVal val="1+#ppt_w/2"/>
                                          </p:val>
                                        </p:tav>
                                        <p:tav tm="100000">
                                          <p:val>
                                            <p:strVal val="#ppt_x"/>
                                          </p:val>
                                        </p:tav>
                                      </p:tavLst>
                                    </p:anim>
                                    <p:anim calcmode="lin" valueType="num">
                                      <p:cBhvr additive="base">
                                        <p:cTn id="59" dur="500" fill="hold"/>
                                        <p:tgtEl>
                                          <p:spTgt spid="2366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36584"/>
                                        </p:tgtEl>
                                        <p:attrNameLst>
                                          <p:attrName>style.visibility</p:attrName>
                                        </p:attrNameLst>
                                      </p:cBhvr>
                                      <p:to>
                                        <p:strVal val="visible"/>
                                      </p:to>
                                    </p:set>
                                    <p:animEffect transition="in" filter="wipe(left)">
                                      <p:cBhvr>
                                        <p:cTn id="64" dur="500"/>
                                        <p:tgtEl>
                                          <p:spTgt spid="236584"/>
                                        </p:tgtEl>
                                      </p:cBhvr>
                                    </p:animEffect>
                                  </p:childTnLst>
                                </p:cTn>
                              </p:par>
                              <p:par>
                                <p:cTn id="65" presetID="22" presetClass="entr" presetSubtype="8" fill="hold" nodeType="withEffect">
                                  <p:stCondLst>
                                    <p:cond delay="0"/>
                                  </p:stCondLst>
                                  <p:childTnLst>
                                    <p:set>
                                      <p:cBhvr>
                                        <p:cTn id="66" dur="1" fill="hold">
                                          <p:stCondLst>
                                            <p:cond delay="0"/>
                                          </p:stCondLst>
                                        </p:cTn>
                                        <p:tgtEl>
                                          <p:spTgt spid="236579"/>
                                        </p:tgtEl>
                                        <p:attrNameLst>
                                          <p:attrName>style.visibility</p:attrName>
                                        </p:attrNameLst>
                                      </p:cBhvr>
                                      <p:to>
                                        <p:strVal val="visible"/>
                                      </p:to>
                                    </p:set>
                                    <p:animEffect transition="in" filter="wipe(left)">
                                      <p:cBhvr>
                                        <p:cTn id="67" dur="500"/>
                                        <p:tgtEl>
                                          <p:spTgt spid="23657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236574"/>
                                        </p:tgtEl>
                                        <p:attrNameLst>
                                          <p:attrName>style.visibility</p:attrName>
                                        </p:attrNameLst>
                                      </p:cBhvr>
                                      <p:to>
                                        <p:strVal val="visible"/>
                                      </p:to>
                                    </p:set>
                                    <p:animEffect transition="in" filter="wipe(right)">
                                      <p:cBhvr>
                                        <p:cTn id="72" dur="500"/>
                                        <p:tgtEl>
                                          <p:spTgt spid="236574"/>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236581"/>
                                        </p:tgtEl>
                                        <p:attrNameLst>
                                          <p:attrName>style.visibility</p:attrName>
                                        </p:attrNameLst>
                                      </p:cBhvr>
                                      <p:to>
                                        <p:strVal val="visible"/>
                                      </p:to>
                                    </p:set>
                                    <p:animEffect transition="in" filter="wipe(right)">
                                      <p:cBhvr>
                                        <p:cTn id="75" dur="500"/>
                                        <p:tgtEl>
                                          <p:spTgt spid="236581"/>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236548"/>
                                        </p:tgtEl>
                                        <p:attrNameLst>
                                          <p:attrName>style.visibility</p:attrName>
                                        </p:attrNameLst>
                                      </p:cBhvr>
                                      <p:to>
                                        <p:strVal val="visible"/>
                                      </p:to>
                                    </p:set>
                                    <p:animEffect transition="in" filter="dissolve">
                                      <p:cBhvr>
                                        <p:cTn id="80" dur="500"/>
                                        <p:tgtEl>
                                          <p:spTgt spid="236548"/>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236606">
                                            <p:txEl>
                                              <p:pRg st="0" end="0"/>
                                            </p:txEl>
                                          </p:spTgt>
                                        </p:tgtEl>
                                        <p:attrNameLst>
                                          <p:attrName>style.visibility</p:attrName>
                                        </p:attrNameLst>
                                      </p:cBhvr>
                                      <p:to>
                                        <p:strVal val="visible"/>
                                      </p:to>
                                    </p:set>
                                    <p:anim calcmode="lin" valueType="num">
                                      <p:cBhvr additive="base">
                                        <p:cTn id="85" dur="500" fill="hold"/>
                                        <p:tgtEl>
                                          <p:spTgt spid="236606">
                                            <p:txEl>
                                              <p:pRg st="0" end="0"/>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2366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236608">
                                            <p:txEl>
                                              <p:pRg st="1" end="1"/>
                                            </p:txEl>
                                          </p:spTgt>
                                        </p:tgtEl>
                                        <p:attrNameLst>
                                          <p:attrName>style.visibility</p:attrName>
                                        </p:attrNameLst>
                                      </p:cBhvr>
                                      <p:to>
                                        <p:strVal val="visible"/>
                                      </p:to>
                                    </p:set>
                                    <p:anim calcmode="lin" valueType="num">
                                      <p:cBhvr additive="base">
                                        <p:cTn id="91" dur="500" fill="hold"/>
                                        <p:tgtEl>
                                          <p:spTgt spid="236608">
                                            <p:txEl>
                                              <p:pRg st="1" end="1"/>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23660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36577"/>
                                        </p:tgtEl>
                                        <p:attrNameLst>
                                          <p:attrName>style.visibility</p:attrName>
                                        </p:attrNameLst>
                                      </p:cBhvr>
                                      <p:to>
                                        <p:strVal val="visible"/>
                                      </p:to>
                                    </p:set>
                                    <p:animEffect transition="in" filter="wipe(left)">
                                      <p:cBhvr>
                                        <p:cTn id="97" dur="500"/>
                                        <p:tgtEl>
                                          <p:spTgt spid="236577"/>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236583"/>
                                        </p:tgtEl>
                                        <p:attrNameLst>
                                          <p:attrName>style.visibility</p:attrName>
                                        </p:attrNameLst>
                                      </p:cBhvr>
                                      <p:to>
                                        <p:strVal val="visible"/>
                                      </p:to>
                                    </p:set>
                                    <p:animEffect transition="in" filter="wipe(left)">
                                      <p:cBhvr>
                                        <p:cTn id="100" dur="500"/>
                                        <p:tgtEl>
                                          <p:spTgt spid="236583"/>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36608">
                                            <p:txEl>
                                              <p:pRg st="2" end="2"/>
                                            </p:txEl>
                                          </p:spTgt>
                                        </p:tgtEl>
                                        <p:attrNameLst>
                                          <p:attrName>style.visibility</p:attrName>
                                        </p:attrNameLst>
                                      </p:cBhvr>
                                      <p:to>
                                        <p:strVal val="visible"/>
                                      </p:to>
                                    </p:set>
                                    <p:animEffect transition="in" filter="wipe(left)">
                                      <p:cBhvr>
                                        <p:cTn id="105" dur="500"/>
                                        <p:tgtEl>
                                          <p:spTgt spid="236608">
                                            <p:txEl>
                                              <p:pRg st="2" end="2"/>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2" fill="hold" nodeType="clickEffect">
                                  <p:stCondLst>
                                    <p:cond delay="0"/>
                                  </p:stCondLst>
                                  <p:childTnLst>
                                    <p:set>
                                      <p:cBhvr>
                                        <p:cTn id="109" dur="1" fill="hold">
                                          <p:stCondLst>
                                            <p:cond delay="0"/>
                                          </p:stCondLst>
                                        </p:cTn>
                                        <p:tgtEl>
                                          <p:spTgt spid="236575"/>
                                        </p:tgtEl>
                                        <p:attrNameLst>
                                          <p:attrName>style.visibility</p:attrName>
                                        </p:attrNameLst>
                                      </p:cBhvr>
                                      <p:to>
                                        <p:strVal val="visible"/>
                                      </p:to>
                                    </p:set>
                                    <p:animEffect transition="in" filter="wipe(right)">
                                      <p:cBhvr>
                                        <p:cTn id="110" dur="500"/>
                                        <p:tgtEl>
                                          <p:spTgt spid="236575"/>
                                        </p:tgtEl>
                                      </p:cBhvr>
                                    </p:animEffect>
                                  </p:childTnLst>
                                </p:cTn>
                              </p:par>
                              <p:par>
                                <p:cTn id="111" presetID="22" presetClass="entr" presetSubtype="2" fill="hold" grpId="0" nodeType="withEffect">
                                  <p:stCondLst>
                                    <p:cond delay="0"/>
                                  </p:stCondLst>
                                  <p:childTnLst>
                                    <p:set>
                                      <p:cBhvr>
                                        <p:cTn id="112" dur="1" fill="hold">
                                          <p:stCondLst>
                                            <p:cond delay="0"/>
                                          </p:stCondLst>
                                        </p:cTn>
                                        <p:tgtEl>
                                          <p:spTgt spid="236582"/>
                                        </p:tgtEl>
                                        <p:attrNameLst>
                                          <p:attrName>style.visibility</p:attrName>
                                        </p:attrNameLst>
                                      </p:cBhvr>
                                      <p:to>
                                        <p:strVal val="visible"/>
                                      </p:to>
                                    </p:set>
                                    <p:animEffect transition="in" filter="wipe(right)">
                                      <p:cBhvr>
                                        <p:cTn id="113" dur="500"/>
                                        <p:tgtEl>
                                          <p:spTgt spid="236582"/>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nodeType="clickEffect">
                                  <p:stCondLst>
                                    <p:cond delay="0"/>
                                  </p:stCondLst>
                                  <p:childTnLst>
                                    <p:set>
                                      <p:cBhvr>
                                        <p:cTn id="117" dur="1" fill="hold">
                                          <p:stCondLst>
                                            <p:cond delay="0"/>
                                          </p:stCondLst>
                                        </p:cTn>
                                        <p:tgtEl>
                                          <p:spTgt spid="236549"/>
                                        </p:tgtEl>
                                        <p:attrNameLst>
                                          <p:attrName>style.visibility</p:attrName>
                                        </p:attrNameLst>
                                      </p:cBhvr>
                                      <p:to>
                                        <p:strVal val="visible"/>
                                      </p:to>
                                    </p:set>
                                    <p:animEffect transition="in" filter="dissolve">
                                      <p:cBhvr>
                                        <p:cTn id="118" dur="500"/>
                                        <p:tgtEl>
                                          <p:spTgt spid="236549"/>
                                        </p:tgtEl>
                                      </p:cBhvr>
                                    </p:animEffect>
                                  </p:childTnLst>
                                </p:cTn>
                              </p:par>
                            </p:childTnLst>
                          </p:cTn>
                        </p:par>
                      </p:childTnLst>
                    </p:cTn>
                  </p:par>
                  <p:par>
                    <p:cTn id="119" fill="hold">
                      <p:stCondLst>
                        <p:cond delay="indefinite"/>
                      </p:stCondLst>
                      <p:childTnLst>
                        <p:par>
                          <p:cTn id="120" fill="hold">
                            <p:stCondLst>
                              <p:cond delay="0"/>
                            </p:stCondLst>
                            <p:childTnLst>
                              <p:par>
                                <p:cTn id="121" presetID="2" presetClass="entr" presetSubtype="2" fill="hold" grpId="0" nodeType="clickEffect">
                                  <p:stCondLst>
                                    <p:cond delay="0"/>
                                  </p:stCondLst>
                                  <p:childTnLst>
                                    <p:set>
                                      <p:cBhvr>
                                        <p:cTn id="122" dur="1" fill="hold">
                                          <p:stCondLst>
                                            <p:cond delay="0"/>
                                          </p:stCondLst>
                                        </p:cTn>
                                        <p:tgtEl>
                                          <p:spTgt spid="236607">
                                            <p:txEl>
                                              <p:pRg st="0" end="0"/>
                                            </p:txEl>
                                          </p:spTgt>
                                        </p:tgtEl>
                                        <p:attrNameLst>
                                          <p:attrName>style.visibility</p:attrName>
                                        </p:attrNameLst>
                                      </p:cBhvr>
                                      <p:to>
                                        <p:strVal val="visible"/>
                                      </p:to>
                                    </p:set>
                                    <p:anim calcmode="lin" valueType="num">
                                      <p:cBhvr additive="base">
                                        <p:cTn id="123" dur="500" fill="hold"/>
                                        <p:tgtEl>
                                          <p:spTgt spid="236607">
                                            <p:txEl>
                                              <p:pRg st="0" end="0"/>
                                            </p:txEl>
                                          </p:spTgt>
                                        </p:tgtEl>
                                        <p:attrNameLst>
                                          <p:attrName>ppt_x</p:attrName>
                                        </p:attrNameLst>
                                      </p:cBhvr>
                                      <p:tavLst>
                                        <p:tav tm="0">
                                          <p:val>
                                            <p:strVal val="1+#ppt_w/2"/>
                                          </p:val>
                                        </p:tav>
                                        <p:tav tm="100000">
                                          <p:val>
                                            <p:strVal val="#ppt_x"/>
                                          </p:val>
                                        </p:tav>
                                      </p:tavLst>
                                    </p:anim>
                                    <p:anim calcmode="lin" valueType="num">
                                      <p:cBhvr additive="base">
                                        <p:cTn id="124" dur="500" fill="hold"/>
                                        <p:tgtEl>
                                          <p:spTgt spid="2366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2" fill="hold" grpId="0" nodeType="clickEffect">
                                  <p:stCondLst>
                                    <p:cond delay="0"/>
                                  </p:stCondLst>
                                  <p:childTnLst>
                                    <p:set>
                                      <p:cBhvr>
                                        <p:cTn id="128" dur="1" fill="hold">
                                          <p:stCondLst>
                                            <p:cond delay="0"/>
                                          </p:stCondLst>
                                        </p:cTn>
                                        <p:tgtEl>
                                          <p:spTgt spid="236608">
                                            <p:txEl>
                                              <p:pRg st="3" end="3"/>
                                            </p:txEl>
                                          </p:spTgt>
                                        </p:tgtEl>
                                        <p:attrNameLst>
                                          <p:attrName>style.visibility</p:attrName>
                                        </p:attrNameLst>
                                      </p:cBhvr>
                                      <p:to>
                                        <p:strVal val="visible"/>
                                      </p:to>
                                    </p:set>
                                    <p:anim calcmode="lin" valueType="num">
                                      <p:cBhvr additive="base">
                                        <p:cTn id="129" dur="500" fill="hold"/>
                                        <p:tgtEl>
                                          <p:spTgt spid="236608">
                                            <p:txEl>
                                              <p:pRg st="3" end="3"/>
                                            </p:txEl>
                                          </p:spTgt>
                                        </p:tgtEl>
                                        <p:attrNameLst>
                                          <p:attrName>ppt_x</p:attrName>
                                        </p:attrNameLst>
                                      </p:cBhvr>
                                      <p:tavLst>
                                        <p:tav tm="0">
                                          <p:val>
                                            <p:strVal val="1+#ppt_w/2"/>
                                          </p:val>
                                        </p:tav>
                                        <p:tav tm="100000">
                                          <p:val>
                                            <p:strVal val="#ppt_x"/>
                                          </p:val>
                                        </p:tav>
                                      </p:tavLst>
                                    </p:anim>
                                    <p:anim calcmode="lin" valueType="num">
                                      <p:cBhvr additive="base">
                                        <p:cTn id="130" dur="500" fill="hold"/>
                                        <p:tgtEl>
                                          <p:spTgt spid="23660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236578"/>
                                        </p:tgtEl>
                                        <p:attrNameLst>
                                          <p:attrName>style.visibility</p:attrName>
                                        </p:attrNameLst>
                                      </p:cBhvr>
                                      <p:to>
                                        <p:strVal val="visible"/>
                                      </p:to>
                                    </p:set>
                                    <p:animEffect transition="in" filter="wipe(up)">
                                      <p:cBhvr>
                                        <p:cTn id="135" dur="500"/>
                                        <p:tgtEl>
                                          <p:spTgt spid="236578"/>
                                        </p:tgtEl>
                                      </p:cBhvr>
                                    </p:animEffect>
                                  </p:childTnLst>
                                </p:cTn>
                              </p:par>
                              <p:par>
                                <p:cTn id="136" presetID="22" presetClass="entr" presetSubtype="1" fill="hold" grpId="0" nodeType="withEffect">
                                  <p:stCondLst>
                                    <p:cond delay="0"/>
                                  </p:stCondLst>
                                  <p:childTnLst>
                                    <p:set>
                                      <p:cBhvr>
                                        <p:cTn id="137" dur="1" fill="hold">
                                          <p:stCondLst>
                                            <p:cond delay="0"/>
                                          </p:stCondLst>
                                        </p:cTn>
                                        <p:tgtEl>
                                          <p:spTgt spid="236585"/>
                                        </p:tgtEl>
                                        <p:attrNameLst>
                                          <p:attrName>style.visibility</p:attrName>
                                        </p:attrNameLst>
                                      </p:cBhvr>
                                      <p:to>
                                        <p:strVal val="visible"/>
                                      </p:to>
                                    </p:set>
                                    <p:animEffect transition="in" filter="wipe(up)">
                                      <p:cBhvr>
                                        <p:cTn id="138" dur="500"/>
                                        <p:tgtEl>
                                          <p:spTgt spid="236585"/>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4" fill="hold" nodeType="clickEffect">
                                  <p:stCondLst>
                                    <p:cond delay="0"/>
                                  </p:stCondLst>
                                  <p:childTnLst>
                                    <p:set>
                                      <p:cBhvr>
                                        <p:cTn id="142" dur="1" fill="hold">
                                          <p:stCondLst>
                                            <p:cond delay="0"/>
                                          </p:stCondLst>
                                        </p:cTn>
                                        <p:tgtEl>
                                          <p:spTgt spid="236576"/>
                                        </p:tgtEl>
                                        <p:attrNameLst>
                                          <p:attrName>style.visibility</p:attrName>
                                        </p:attrNameLst>
                                      </p:cBhvr>
                                      <p:to>
                                        <p:strVal val="visible"/>
                                      </p:to>
                                    </p:set>
                                    <p:animEffect transition="in" filter="wipe(down)">
                                      <p:cBhvr>
                                        <p:cTn id="143" dur="500"/>
                                        <p:tgtEl>
                                          <p:spTgt spid="236576"/>
                                        </p:tgtEl>
                                      </p:cBhvr>
                                    </p:animEffect>
                                  </p:childTnLst>
                                </p:cTn>
                              </p:par>
                              <p:par>
                                <p:cTn id="144" presetID="22" presetClass="entr" presetSubtype="4" fill="hold" grpId="0" nodeType="withEffect">
                                  <p:stCondLst>
                                    <p:cond delay="0"/>
                                  </p:stCondLst>
                                  <p:childTnLst>
                                    <p:set>
                                      <p:cBhvr>
                                        <p:cTn id="145" dur="1" fill="hold">
                                          <p:stCondLst>
                                            <p:cond delay="0"/>
                                          </p:stCondLst>
                                        </p:cTn>
                                        <p:tgtEl>
                                          <p:spTgt spid="236580"/>
                                        </p:tgtEl>
                                        <p:attrNameLst>
                                          <p:attrName>style.visibility</p:attrName>
                                        </p:attrNameLst>
                                      </p:cBhvr>
                                      <p:to>
                                        <p:strVal val="visible"/>
                                      </p:to>
                                    </p:set>
                                    <p:animEffect transition="in" filter="wipe(down)">
                                      <p:cBhvr>
                                        <p:cTn id="146" dur="500"/>
                                        <p:tgtEl>
                                          <p:spTgt spid="236580"/>
                                        </p:tgtEl>
                                      </p:cBhvr>
                                    </p:animEffect>
                                  </p:childTnLst>
                                </p:cTn>
                              </p:par>
                            </p:childTnLst>
                          </p:cTn>
                        </p:par>
                      </p:childTnLst>
                    </p:cTn>
                  </p:par>
                  <p:par>
                    <p:cTn id="147" fill="hold">
                      <p:stCondLst>
                        <p:cond delay="indefinite"/>
                      </p:stCondLst>
                      <p:childTnLst>
                        <p:par>
                          <p:cTn id="148" fill="hold">
                            <p:stCondLst>
                              <p:cond delay="0"/>
                            </p:stCondLst>
                            <p:childTnLst>
                              <p:par>
                                <p:cTn id="149" presetID="9" presetClass="entr" presetSubtype="0" fill="hold" nodeType="clickEffect">
                                  <p:stCondLst>
                                    <p:cond delay="0"/>
                                  </p:stCondLst>
                                  <p:childTnLst>
                                    <p:set>
                                      <p:cBhvr>
                                        <p:cTn id="150" dur="1" fill="hold">
                                          <p:stCondLst>
                                            <p:cond delay="0"/>
                                          </p:stCondLst>
                                        </p:cTn>
                                        <p:tgtEl>
                                          <p:spTgt spid="236550"/>
                                        </p:tgtEl>
                                        <p:attrNameLst>
                                          <p:attrName>style.visibility</p:attrName>
                                        </p:attrNameLst>
                                      </p:cBhvr>
                                      <p:to>
                                        <p:strVal val="visible"/>
                                      </p:to>
                                    </p:set>
                                    <p:animEffect transition="in" filter="dissolve">
                                      <p:cBhvr>
                                        <p:cTn id="151" dur="500"/>
                                        <p:tgtEl>
                                          <p:spTgt spid="236550"/>
                                        </p:tgtEl>
                                      </p:cBhvr>
                                    </p:animEffect>
                                  </p:childTnLst>
                                </p:cTn>
                              </p:par>
                            </p:childTnLst>
                          </p:cTn>
                        </p:par>
                      </p:childTnLst>
                    </p:cTn>
                  </p:par>
                  <p:par>
                    <p:cTn id="152" fill="hold">
                      <p:stCondLst>
                        <p:cond delay="indefinite"/>
                      </p:stCondLst>
                      <p:childTnLst>
                        <p:par>
                          <p:cTn id="153" fill="hold">
                            <p:stCondLst>
                              <p:cond delay="0"/>
                            </p:stCondLst>
                            <p:childTnLst>
                              <p:par>
                                <p:cTn id="154" presetID="9" presetClass="entr" presetSubtype="0" fill="hold" nodeType="clickEffect">
                                  <p:stCondLst>
                                    <p:cond delay="0"/>
                                  </p:stCondLst>
                                  <p:childTnLst>
                                    <p:set>
                                      <p:cBhvr>
                                        <p:cTn id="155" dur="1" fill="hold">
                                          <p:stCondLst>
                                            <p:cond delay="0"/>
                                          </p:stCondLst>
                                        </p:cTn>
                                        <p:tgtEl>
                                          <p:spTgt spid="236551"/>
                                        </p:tgtEl>
                                        <p:attrNameLst>
                                          <p:attrName>style.visibility</p:attrName>
                                        </p:attrNameLst>
                                      </p:cBhvr>
                                      <p:to>
                                        <p:strVal val="visible"/>
                                      </p:to>
                                    </p:set>
                                    <p:animEffect transition="in" filter="dissolve">
                                      <p:cBhvr>
                                        <p:cTn id="156" dur="500"/>
                                        <p:tgtEl>
                                          <p:spTgt spid="236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autoUpdateAnimBg="0" build="p"/>
      <p:bldP spid="236606" grpId="0" autoUpdateAnimBg="0" build="p"/>
      <p:bldP spid="236607" grpId="0" autoUpdateAnimBg="0" build="p"/>
      <p:bldP spid="236608" grpId="0" autoUpdateAnimBg="0" uiExpand="1" build="p"/>
      <p:bldP spid="236609" grpId="0" autoUpdateAnimBg="0" build="p"/>
      <p:bldP spid="236604" grpId="0" animBg="1"/>
      <p:bldP spid="236603" grpId="0" animBg="1"/>
      <p:bldP spid="236602" grpId="0" animBg="1"/>
      <p:bldP spid="236584" grpId="0" animBg="1"/>
      <p:bldP spid="236581" grpId="0" animBg="1"/>
      <p:bldP spid="236583" grpId="0" animBg="1"/>
      <p:bldP spid="236582" grpId="0" animBg="1"/>
      <p:bldP spid="236585" grpId="0" animBg="1"/>
      <p:bldP spid="23658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8"/>
          <p:cNvPicPr>
            <a:picLocks noChangeAspect="1" noChangeArrowheads="1"/>
          </p:cNvPicPr>
          <p:nvPr/>
        </p:nvPicPr>
        <p:blipFill>
          <a:blip r:embed="rId1">
            <a:clrChange>
              <a:clrFrom>
                <a:srgbClr val="016BE3"/>
              </a:clrFrom>
              <a:clrTo>
                <a:srgbClr val="016BE3">
                  <a:alpha val="0"/>
                </a:srgbClr>
              </a:clrTo>
            </a:clrChange>
            <a:extLst>
              <a:ext uri="{28A0092B-C50C-407E-A947-70E740481C1C}">
                <a14:useLocalDpi xmlns:a14="http://schemas.microsoft.com/office/drawing/2010/main" val="0"/>
              </a:ext>
            </a:extLst>
          </a:blip>
          <a:srcRect b="11632"/>
          <a:stretch>
            <a:fillRect/>
          </a:stretch>
        </p:blipFill>
        <p:spPr bwMode="auto">
          <a:xfrm>
            <a:off x="4884685" y="993133"/>
            <a:ext cx="3878981" cy="2570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pic>
      <p:sp>
        <p:nvSpPr>
          <p:cNvPr id="303268" name="文本框 303267"/>
          <p:cNvSpPr txBox="1"/>
          <p:nvPr/>
        </p:nvSpPr>
        <p:spPr>
          <a:xfrm>
            <a:off x="463550" y="1336675"/>
            <a:ext cx="4034790" cy="460375"/>
          </a:xfrm>
          <a:prstGeom prst="rect">
            <a:avLst/>
          </a:prstGeom>
          <a:noFill/>
          <a:ln w="28575">
            <a:noFill/>
          </a:ln>
        </p:spPr>
        <p:txBody>
          <a:bodyPr wrap="square">
            <a:spAutoFit/>
          </a:bodyPr>
          <a:p>
            <a:pPr>
              <a:spcBef>
                <a:spcPct val="50000"/>
              </a:spcBef>
            </a:pPr>
            <a:r>
              <a:rPr lang="en-US" altLang="zh-CN" sz="2400" dirty="0">
                <a:solidFill>
                  <a:schemeClr val="hlink"/>
                </a:solidFill>
                <a:latin typeface="Times New Roman" panose="02020603050405020304" pitchFamily="18" charset="0"/>
              </a:rPr>
              <a:t>1</a:t>
            </a:r>
            <a:r>
              <a:rPr lang="zh-CN" altLang="en-US" sz="2400" dirty="0">
                <a:solidFill>
                  <a:schemeClr val="hlink"/>
                </a:solidFill>
                <a:latin typeface="Times New Roman" panose="02020603050405020304" pitchFamily="18" charset="0"/>
              </a:rPr>
              <a:t>、</a:t>
            </a:r>
            <a:r>
              <a:rPr lang="zh-CN" altLang="en-US" sz="2400" dirty="0">
                <a:solidFill>
                  <a:schemeClr val="hlink"/>
                </a:solidFill>
                <a:latin typeface="Times New Roman" panose="02020603050405020304" pitchFamily="18" charset="0"/>
              </a:rPr>
              <a:t>正确啮合条件：</a:t>
            </a:r>
            <a:endParaRPr lang="zh-CN" altLang="en-US" sz="2400" dirty="0">
              <a:solidFill>
                <a:srgbClr val="002060"/>
              </a:solidFill>
              <a:latin typeface="Times New Roman" panose="02020603050405020304" pitchFamily="18" charset="0"/>
            </a:endParaRPr>
          </a:p>
        </p:txBody>
      </p:sp>
      <p:sp>
        <p:nvSpPr>
          <p:cNvPr id="103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930275" y="215900"/>
            <a:ext cx="7553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7594" name="Text Box 10"/>
          <p:cNvSpPr txBox="1">
            <a:spLocks noChangeArrowheads="1"/>
          </p:cNvSpPr>
          <p:nvPr/>
        </p:nvSpPr>
        <p:spPr bwMode="auto">
          <a:xfrm>
            <a:off x="224790" y="836295"/>
            <a:ext cx="43738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二、斜齿圆柱齿轮传动的受力分析</a:t>
            </a:r>
            <a:endParaRPr lang="zh-CN" altLang="en-US" sz="2200" dirty="0">
              <a:solidFill>
                <a:srgbClr val="C00000"/>
              </a:solidFill>
              <a:latin typeface="黑体" panose="02010609060101010101" pitchFamily="49" charset="-122"/>
              <a:ea typeface="黑体" panose="02010609060101010101" pitchFamily="49" charset="-122"/>
            </a:endParaRPr>
          </a:p>
        </p:txBody>
      </p:sp>
      <p:grpSp>
        <p:nvGrpSpPr>
          <p:cNvPr id="2" name="组合 1"/>
          <p:cNvGrpSpPr/>
          <p:nvPr/>
        </p:nvGrpSpPr>
        <p:grpSpPr>
          <a:xfrm>
            <a:off x="6822758" y="3547110"/>
            <a:ext cx="1858962" cy="2271713"/>
            <a:chOff x="301" y="239"/>
            <a:chExt cx="1171" cy="1431"/>
          </a:xfrm>
        </p:grpSpPr>
        <p:sp>
          <p:nvSpPr>
            <p:cNvPr id="4" name="矩形 3"/>
            <p:cNvSpPr/>
            <p:nvPr/>
          </p:nvSpPr>
          <p:spPr>
            <a:xfrm>
              <a:off x="301" y="580"/>
              <a:ext cx="1171" cy="826"/>
            </a:xfrm>
            <a:prstGeom prst="rect">
              <a:avLst/>
            </a:prstGeom>
            <a:noFill/>
            <a:ln w="38100" cap="flat" cmpd="sng">
              <a:solidFill>
                <a:srgbClr val="002060"/>
              </a:solidFill>
              <a:prstDash val="solid"/>
              <a:miter/>
              <a:headEnd type="none" w="sm" len="lg"/>
              <a:tailEnd type="none" w="sm" len="lg"/>
            </a:ln>
          </p:spPr>
          <p:txBody>
            <a:bodyPr/>
            <a:p>
              <a:endParaRPr lang="zh-CN" altLang="en-US"/>
            </a:p>
          </p:txBody>
        </p:sp>
        <p:sp>
          <p:nvSpPr>
            <p:cNvPr id="5" name="直接连接符 4"/>
            <p:cNvSpPr/>
            <p:nvPr/>
          </p:nvSpPr>
          <p:spPr>
            <a:xfrm flipV="1">
              <a:off x="883" y="239"/>
              <a:ext cx="4" cy="1431"/>
            </a:xfrm>
            <a:prstGeom prst="line">
              <a:avLst/>
            </a:prstGeom>
            <a:ln w="19050" cap="flat" cmpd="sng">
              <a:solidFill>
                <a:srgbClr val="FF0000"/>
              </a:solidFill>
              <a:prstDash val="lgDashDot"/>
              <a:headEnd type="none" w="sm" len="lg"/>
              <a:tailEnd type="none" w="sm" len="lg"/>
            </a:ln>
          </p:spPr>
        </p:sp>
      </p:grpSp>
      <p:sp>
        <p:nvSpPr>
          <p:cNvPr id="276645" name="文本框 276644"/>
          <p:cNvSpPr txBox="1"/>
          <p:nvPr/>
        </p:nvSpPr>
        <p:spPr>
          <a:xfrm>
            <a:off x="7218045" y="5817235"/>
            <a:ext cx="1265238" cy="398780"/>
          </a:xfrm>
          <a:prstGeom prst="rect">
            <a:avLst/>
          </a:prstGeom>
          <a:noFill/>
          <a:ln w="19050">
            <a:noFill/>
          </a:ln>
        </p:spPr>
        <p:txBody>
          <a:bodyPr>
            <a:spAutoFit/>
          </a:bodyPr>
          <a:p>
            <a:pPr>
              <a:spcBef>
                <a:spcPct val="50000"/>
              </a:spcBef>
            </a:pPr>
            <a:r>
              <a:rPr lang="zh-CN" altLang="en-US" b="0" dirty="0">
                <a:solidFill>
                  <a:srgbClr val="002060"/>
                </a:solidFill>
                <a:latin typeface="宋体" panose="02010600030101010101" pitchFamily="2" charset="-122"/>
              </a:rPr>
              <a:t>判别方法</a:t>
            </a:r>
            <a:endParaRPr lang="zh-CN" altLang="en-US" b="0" dirty="0">
              <a:solidFill>
                <a:srgbClr val="002060"/>
              </a:solidFill>
              <a:latin typeface="宋体" panose="02010600030101010101" pitchFamily="2" charset="-122"/>
            </a:endParaRPr>
          </a:p>
        </p:txBody>
      </p:sp>
      <p:grpSp>
        <p:nvGrpSpPr>
          <p:cNvPr id="276770" name="组合 276769"/>
          <p:cNvGrpSpPr/>
          <p:nvPr/>
        </p:nvGrpSpPr>
        <p:grpSpPr>
          <a:xfrm>
            <a:off x="7400608" y="3570923"/>
            <a:ext cx="1290637" cy="1820862"/>
            <a:chOff x="4773" y="193"/>
            <a:chExt cx="813" cy="1147"/>
          </a:xfrm>
        </p:grpSpPr>
        <p:sp>
          <p:nvSpPr>
            <p:cNvPr id="276771" name="文本框 276770"/>
            <p:cNvSpPr txBox="1"/>
            <p:nvPr/>
          </p:nvSpPr>
          <p:spPr>
            <a:xfrm>
              <a:off x="5086" y="193"/>
              <a:ext cx="500" cy="288"/>
            </a:xfrm>
            <a:prstGeom prst="rect">
              <a:avLst/>
            </a:prstGeom>
            <a:noFill/>
            <a:ln w="19050">
              <a:noFill/>
            </a:ln>
          </p:spPr>
          <p:txBody>
            <a:bodyPr wrap="none" anchor="ctr">
              <a:spAutoFit/>
            </a:bodyPr>
            <a:p>
              <a:pPr>
                <a:spcBef>
                  <a:spcPct val="50000"/>
                </a:spcBef>
              </a:pPr>
              <a:r>
                <a:rPr lang="zh-CN" altLang="en-US" sz="2400" dirty="0">
                  <a:solidFill>
                    <a:schemeClr val="hlink"/>
                  </a:solidFill>
                  <a:latin typeface="宋体" panose="02010600030101010101" pitchFamily="2" charset="-122"/>
                </a:rPr>
                <a:t>右旋</a:t>
              </a:r>
              <a:endParaRPr lang="zh-CN" altLang="en-US" sz="2400" i="1">
                <a:solidFill>
                  <a:schemeClr val="hlink"/>
                </a:solidFill>
                <a:latin typeface="宋体" panose="02010600030101010101" pitchFamily="2" charset="-122"/>
              </a:endParaRPr>
            </a:p>
          </p:txBody>
        </p:sp>
        <p:sp>
          <p:nvSpPr>
            <p:cNvPr id="276772" name="直接连接符 276771"/>
            <p:cNvSpPr/>
            <p:nvPr/>
          </p:nvSpPr>
          <p:spPr>
            <a:xfrm flipV="1">
              <a:off x="4773" y="510"/>
              <a:ext cx="460" cy="830"/>
            </a:xfrm>
            <a:prstGeom prst="line">
              <a:avLst/>
            </a:prstGeom>
            <a:ln w="28575" cap="flat" cmpd="sng">
              <a:solidFill>
                <a:srgbClr val="002060"/>
              </a:solidFill>
              <a:prstDash val="solid"/>
              <a:headEnd type="none" w="sm" len="lg"/>
              <a:tailEnd type="none" w="sm" len="lg"/>
            </a:ln>
          </p:spPr>
        </p:sp>
        <p:sp>
          <p:nvSpPr>
            <p:cNvPr id="276773" name="文本框 276772"/>
            <p:cNvSpPr txBox="1"/>
            <p:nvPr/>
          </p:nvSpPr>
          <p:spPr>
            <a:xfrm>
              <a:off x="5072" y="528"/>
              <a:ext cx="308" cy="288"/>
            </a:xfrm>
            <a:prstGeom prst="rect">
              <a:avLst/>
            </a:prstGeom>
            <a:noFill/>
            <a:ln w="19050">
              <a:noFill/>
            </a:ln>
          </p:spPr>
          <p:txBody>
            <a:bodyPr wrap="none" anchor="ctr">
              <a:spAutoFit/>
            </a:bodyPr>
            <a:p>
              <a:pPr>
                <a:spcBef>
                  <a:spcPct val="50000"/>
                </a:spcBef>
              </a:pPr>
              <a:r>
                <a:rPr lang="en-US" altLang="zh-CN" sz="2400" b="0">
                  <a:solidFill>
                    <a:schemeClr val="hlink"/>
                  </a:solidFill>
                  <a:latin typeface="隶书" panose="02010509060101010101" pitchFamily="49" charset="-122"/>
                  <a:ea typeface="隶书" panose="02010509060101010101" pitchFamily="49" charset="-122"/>
                </a:rPr>
                <a:t>β</a:t>
              </a:r>
              <a:endParaRPr lang="en-US" altLang="zh-CN" sz="2400" b="0">
                <a:solidFill>
                  <a:schemeClr val="hlink"/>
                </a:solidFill>
                <a:latin typeface="隶书" panose="02010509060101010101" pitchFamily="49" charset="-122"/>
                <a:ea typeface="隶书" panose="02010509060101010101" pitchFamily="49" charset="-122"/>
              </a:endParaRPr>
            </a:p>
          </p:txBody>
        </p:sp>
        <p:sp>
          <p:nvSpPr>
            <p:cNvPr id="276774" name="任意多边形 276773"/>
            <p:cNvSpPr/>
            <p:nvPr/>
          </p:nvSpPr>
          <p:spPr>
            <a:xfrm>
              <a:off x="5004" y="577"/>
              <a:ext cx="177" cy="67"/>
            </a:xfrm>
            <a:custGeom>
              <a:avLst/>
              <a:gdLst/>
              <a:ahLst/>
              <a:cxnLst/>
              <a:pathLst>
                <a:path w="158" h="48">
                  <a:moveTo>
                    <a:pt x="0" y="0"/>
                  </a:moveTo>
                  <a:cubicBezTo>
                    <a:pt x="12" y="1"/>
                    <a:pt x="24" y="3"/>
                    <a:pt x="38" y="5"/>
                  </a:cubicBezTo>
                  <a:cubicBezTo>
                    <a:pt x="52" y="7"/>
                    <a:pt x="66" y="8"/>
                    <a:pt x="86" y="15"/>
                  </a:cubicBezTo>
                  <a:cubicBezTo>
                    <a:pt x="106" y="22"/>
                    <a:pt x="146" y="42"/>
                    <a:pt x="158" y="48"/>
                  </a:cubicBezTo>
                </a:path>
              </a:pathLst>
            </a:custGeom>
            <a:ln>
              <a:headEnd type="none" w="sm" len="lg"/>
              <a:tailEnd type="triangle" w="sm" len="lg"/>
            </a:ln>
          </p:spPr>
          <p:style>
            <a:lnRef idx="1">
              <a:schemeClr val="dk1"/>
            </a:lnRef>
            <a:fillRef idx="0">
              <a:schemeClr val="dk1"/>
            </a:fillRef>
            <a:effectRef idx="0">
              <a:schemeClr val="dk1"/>
            </a:effectRef>
            <a:fontRef idx="minor">
              <a:schemeClr val="tx1"/>
            </a:fontRef>
          </p:style>
          <p:txBody>
            <a:bodyPr/>
            <a:p>
              <a:endParaRPr lang="zh-CN" altLang="en-US"/>
            </a:p>
          </p:txBody>
        </p:sp>
      </p:grpSp>
      <p:grpSp>
        <p:nvGrpSpPr>
          <p:cNvPr id="276775" name="组合 276774"/>
          <p:cNvGrpSpPr/>
          <p:nvPr/>
        </p:nvGrpSpPr>
        <p:grpSpPr>
          <a:xfrm>
            <a:off x="7205345" y="3610610"/>
            <a:ext cx="1309688" cy="2224088"/>
            <a:chOff x="4658" y="218"/>
            <a:chExt cx="825" cy="1401"/>
          </a:xfrm>
        </p:grpSpPr>
        <p:sp>
          <p:nvSpPr>
            <p:cNvPr id="276776" name="直接连接符 276775"/>
            <p:cNvSpPr/>
            <p:nvPr/>
          </p:nvSpPr>
          <p:spPr>
            <a:xfrm flipH="1" flipV="1">
              <a:off x="4796" y="519"/>
              <a:ext cx="394" cy="836"/>
            </a:xfrm>
            <a:prstGeom prst="line">
              <a:avLst/>
            </a:prstGeom>
            <a:ln w="28575" cap="flat" cmpd="sng">
              <a:solidFill>
                <a:schemeClr val="folHlink"/>
              </a:solidFill>
              <a:prstDash val="solid"/>
              <a:headEnd type="none" w="sm" len="lg"/>
              <a:tailEnd type="none" w="sm" len="lg"/>
            </a:ln>
          </p:spPr>
        </p:sp>
        <p:sp>
          <p:nvSpPr>
            <p:cNvPr id="276777" name="文本框 276776"/>
            <p:cNvSpPr txBox="1"/>
            <p:nvPr/>
          </p:nvSpPr>
          <p:spPr>
            <a:xfrm>
              <a:off x="4983" y="1331"/>
              <a:ext cx="500" cy="288"/>
            </a:xfrm>
            <a:prstGeom prst="rect">
              <a:avLst/>
            </a:prstGeom>
            <a:noFill/>
            <a:ln w="19050">
              <a:noFill/>
            </a:ln>
          </p:spPr>
          <p:txBody>
            <a:bodyPr wrap="none" anchor="ctr">
              <a:spAutoFit/>
            </a:bodyPr>
            <a:p>
              <a:pPr>
                <a:spcBef>
                  <a:spcPct val="50000"/>
                </a:spcBef>
              </a:pPr>
              <a:r>
                <a:rPr lang="zh-CN" altLang="en-US" sz="2400" dirty="0">
                  <a:solidFill>
                    <a:schemeClr val="hlink"/>
                  </a:solidFill>
                  <a:latin typeface="宋体" panose="02010600030101010101" pitchFamily="2" charset="-122"/>
                </a:rPr>
                <a:t>左旋</a:t>
              </a:r>
              <a:endParaRPr lang="zh-CN" altLang="en-US" sz="2400" i="1">
                <a:solidFill>
                  <a:schemeClr val="hlink"/>
                </a:solidFill>
                <a:latin typeface="宋体" panose="02010600030101010101" pitchFamily="2" charset="-122"/>
              </a:endParaRPr>
            </a:p>
          </p:txBody>
        </p:sp>
        <p:sp>
          <p:nvSpPr>
            <p:cNvPr id="276778" name="文本框 276777"/>
            <p:cNvSpPr txBox="1"/>
            <p:nvPr/>
          </p:nvSpPr>
          <p:spPr>
            <a:xfrm>
              <a:off x="4707" y="218"/>
              <a:ext cx="308" cy="288"/>
            </a:xfrm>
            <a:prstGeom prst="rect">
              <a:avLst/>
            </a:prstGeom>
            <a:noFill/>
            <a:ln w="19050">
              <a:noFill/>
            </a:ln>
          </p:spPr>
          <p:txBody>
            <a:bodyPr wrap="none" anchor="ctr">
              <a:spAutoFit/>
            </a:bodyPr>
            <a:p>
              <a:pPr>
                <a:spcBef>
                  <a:spcPct val="50000"/>
                </a:spcBef>
              </a:pPr>
              <a:r>
                <a:rPr lang="en-US" altLang="zh-CN" sz="2400" b="0">
                  <a:solidFill>
                    <a:schemeClr val="hlink"/>
                  </a:solidFill>
                  <a:latin typeface="隶书" panose="02010509060101010101" pitchFamily="49" charset="-122"/>
                  <a:ea typeface="隶书" panose="02010509060101010101" pitchFamily="49" charset="-122"/>
                </a:rPr>
                <a:t>β</a:t>
              </a:r>
              <a:endParaRPr lang="en-US" altLang="zh-CN" sz="2400" b="0">
                <a:solidFill>
                  <a:schemeClr val="hlink"/>
                </a:solidFill>
                <a:latin typeface="隶书" panose="02010509060101010101" pitchFamily="49" charset="-122"/>
                <a:ea typeface="隶书" panose="02010509060101010101" pitchFamily="49" charset="-122"/>
              </a:endParaRPr>
            </a:p>
          </p:txBody>
        </p:sp>
        <p:sp>
          <p:nvSpPr>
            <p:cNvPr id="276779" name="直接连接符 276778"/>
            <p:cNvSpPr/>
            <p:nvPr/>
          </p:nvSpPr>
          <p:spPr>
            <a:xfrm flipH="1" flipV="1">
              <a:off x="4658" y="237"/>
              <a:ext cx="144" cy="297"/>
            </a:xfrm>
            <a:prstGeom prst="line">
              <a:avLst/>
            </a:prstGeom>
            <a:ln w="19050" cap="flat" cmpd="sng">
              <a:solidFill>
                <a:schemeClr val="hlink"/>
              </a:solidFill>
              <a:prstDash val="solid"/>
              <a:headEnd type="none" w="sm" len="lg"/>
              <a:tailEnd type="none" w="sm" len="lg"/>
            </a:ln>
          </p:spPr>
        </p:sp>
        <p:sp>
          <p:nvSpPr>
            <p:cNvPr id="276780" name="任意多边形 276779"/>
            <p:cNvSpPr/>
            <p:nvPr/>
          </p:nvSpPr>
          <p:spPr>
            <a:xfrm>
              <a:off x="4711" y="256"/>
              <a:ext cx="293" cy="72"/>
            </a:xfrm>
            <a:custGeom>
              <a:avLst/>
              <a:gdLst/>
              <a:ahLst/>
              <a:cxnLst/>
              <a:pathLst>
                <a:path w="293" h="72">
                  <a:moveTo>
                    <a:pt x="0" y="72"/>
                  </a:moveTo>
                  <a:cubicBezTo>
                    <a:pt x="13" y="62"/>
                    <a:pt x="26" y="53"/>
                    <a:pt x="48" y="43"/>
                  </a:cubicBezTo>
                  <a:cubicBezTo>
                    <a:pt x="70" y="33"/>
                    <a:pt x="100" y="20"/>
                    <a:pt x="130" y="14"/>
                  </a:cubicBezTo>
                  <a:cubicBezTo>
                    <a:pt x="160" y="8"/>
                    <a:pt x="199" y="7"/>
                    <a:pt x="226" y="5"/>
                  </a:cubicBezTo>
                  <a:cubicBezTo>
                    <a:pt x="253" y="3"/>
                    <a:pt x="273" y="1"/>
                    <a:pt x="293" y="0"/>
                  </a:cubicBezTo>
                </a:path>
              </a:pathLst>
            </a:custGeom>
            <a:noFill/>
            <a:ln w="19050" cap="flat" cmpd="sng">
              <a:solidFill>
                <a:schemeClr val="hlink">
                  <a:alpha val="100000"/>
                </a:schemeClr>
              </a:solidFill>
              <a:prstDash val="solid"/>
              <a:headEnd type="triangle" w="sm" len="lg"/>
              <a:tailEnd type="triangle" w="sm" len="lg"/>
            </a:ln>
          </p:spPr>
          <p:txBody>
            <a:bodyPr/>
            <a:p>
              <a:endParaRPr lang="zh-CN" altLang="en-US"/>
            </a:p>
          </p:txBody>
        </p:sp>
      </p:grpSp>
      <p:sp>
        <p:nvSpPr>
          <p:cNvPr id="279563" name="文本框 279562"/>
          <p:cNvSpPr txBox="1"/>
          <p:nvPr/>
        </p:nvSpPr>
        <p:spPr>
          <a:xfrm>
            <a:off x="224790" y="2018665"/>
            <a:ext cx="3683000" cy="460375"/>
          </a:xfrm>
          <a:prstGeom prst="rect">
            <a:avLst/>
          </a:prstGeom>
          <a:noFill/>
          <a:ln w="9525">
            <a:noFill/>
          </a:ln>
        </p:spPr>
        <p:txBody>
          <a:bodyPr>
            <a:spAutoFit/>
          </a:bodyPr>
          <a:p>
            <a:pPr algn="just"/>
            <a:r>
              <a:rPr lang="zh-CN" altLang="en-US" sz="2400" dirty="0">
                <a:solidFill>
                  <a:schemeClr val="bg1"/>
                </a:solidFill>
                <a:latin typeface="Times New Roman" panose="02020603050405020304" pitchFamily="18" charset="0"/>
                <a:hlinkClick r:id="rId2" action="ppaction://program"/>
              </a:rPr>
              <a:t>外啮合</a:t>
            </a:r>
            <a:r>
              <a:rPr lang="zh-CN" altLang="en-US" sz="2400" dirty="0">
                <a:solidFill>
                  <a:srgbClr val="002060"/>
                </a:solidFill>
                <a:latin typeface="Times New Roman" panose="02020603050405020304" pitchFamily="18" charset="0"/>
              </a:rPr>
              <a:t> </a:t>
            </a:r>
            <a:r>
              <a:rPr lang="en-US" altLang="zh-CN" sz="2400">
                <a:solidFill>
                  <a:srgbClr val="002060"/>
                </a:solidFill>
                <a:latin typeface="Times New Roman" panose="02020603050405020304" pitchFamily="18" charset="0"/>
              </a:rPr>
              <a:t>:  </a:t>
            </a:r>
            <a:r>
              <a:rPr lang="en-US" altLang="zh-CN" sz="2400" i="1">
                <a:solidFill>
                  <a:srgbClr val="002060"/>
                </a:solidFill>
                <a:latin typeface="宋体" panose="02010600030101010101" pitchFamily="2" charset="-122"/>
              </a:rPr>
              <a:t>β</a:t>
            </a:r>
            <a:r>
              <a:rPr lang="en-US" altLang="zh-CN" sz="2400" i="1" baseline="-25000">
                <a:solidFill>
                  <a:srgbClr val="002060"/>
                </a:solidFill>
                <a:latin typeface="宋体" panose="02010600030101010101" pitchFamily="2" charset="-122"/>
              </a:rPr>
              <a:t>1</a:t>
            </a:r>
            <a:r>
              <a:rPr lang="zh-CN" altLang="en-US" sz="2400" i="1">
                <a:solidFill>
                  <a:srgbClr val="002060"/>
                </a:solidFill>
                <a:latin typeface="宋体" panose="02010600030101010101" pitchFamily="2" charset="-122"/>
              </a:rPr>
              <a:t>＝</a:t>
            </a:r>
            <a:r>
              <a:rPr lang="en-US" altLang="zh-CN" sz="2400" i="1">
                <a:solidFill>
                  <a:srgbClr val="002060"/>
                </a:solidFill>
                <a:latin typeface="宋体" panose="02010600030101010101" pitchFamily="2" charset="-122"/>
              </a:rPr>
              <a:t>-β</a:t>
            </a:r>
            <a:r>
              <a:rPr lang="en-US" altLang="zh-CN" sz="2400" i="1" baseline="-25000">
                <a:solidFill>
                  <a:srgbClr val="002060"/>
                </a:solidFill>
                <a:latin typeface="宋体" panose="02010600030101010101" pitchFamily="2" charset="-122"/>
              </a:rPr>
              <a:t>2</a:t>
            </a:r>
            <a:endParaRPr lang="en-US" altLang="zh-CN" sz="2400" i="1" baseline="-25000">
              <a:solidFill>
                <a:srgbClr val="002060"/>
              </a:solidFill>
              <a:latin typeface="宋体" panose="02010600030101010101" pitchFamily="2" charset="-122"/>
            </a:endParaRPr>
          </a:p>
        </p:txBody>
      </p:sp>
      <p:sp>
        <p:nvSpPr>
          <p:cNvPr id="279564" name="文本框 279563"/>
          <p:cNvSpPr txBox="1"/>
          <p:nvPr/>
        </p:nvSpPr>
        <p:spPr>
          <a:xfrm>
            <a:off x="372110" y="3505200"/>
            <a:ext cx="5151438" cy="519113"/>
          </a:xfrm>
          <a:prstGeom prst="rect">
            <a:avLst/>
          </a:prstGeom>
          <a:noFill/>
          <a:ln w="19050">
            <a:noFill/>
          </a:ln>
        </p:spPr>
        <p:txBody>
          <a:bodyPr anchor="ctr">
            <a:spAutoFit/>
          </a:bodyPr>
          <a:p>
            <a:pPr>
              <a:spcBef>
                <a:spcPct val="50000"/>
              </a:spcBef>
            </a:pPr>
            <a:r>
              <a:rPr lang="en-US" altLang="zh-CN" sz="2800">
                <a:solidFill>
                  <a:srgbClr val="002060"/>
                </a:solidFill>
                <a:latin typeface="Times New Roman" panose="02020603050405020304" pitchFamily="18" charset="0"/>
              </a:rPr>
              <a:t>m</a:t>
            </a:r>
            <a:r>
              <a:rPr lang="en-US" altLang="zh-CN" sz="2800" baseline="-25000">
                <a:solidFill>
                  <a:srgbClr val="002060"/>
                </a:solidFill>
                <a:latin typeface="宋体" panose="02010600030101010101" pitchFamily="2" charset="-122"/>
              </a:rPr>
              <a:t>n1</a:t>
            </a:r>
            <a:r>
              <a:rPr lang="en-US" altLang="zh-CN" sz="2800">
                <a:solidFill>
                  <a:srgbClr val="002060"/>
                </a:solidFill>
                <a:latin typeface="Times New Roman" panose="02020603050405020304" pitchFamily="18" charset="0"/>
              </a:rPr>
              <a:t>=m</a:t>
            </a:r>
            <a:r>
              <a:rPr lang="en-US" altLang="zh-CN" sz="2800" baseline="-25000">
                <a:solidFill>
                  <a:srgbClr val="002060"/>
                </a:solidFill>
                <a:latin typeface="宋体" panose="02010600030101010101" pitchFamily="2" charset="-122"/>
              </a:rPr>
              <a:t>n2</a:t>
            </a:r>
            <a:r>
              <a:rPr lang="en-US" altLang="zh-CN" sz="2800" dirty="0">
                <a:solidFill>
                  <a:srgbClr val="002060"/>
                </a:solidFill>
                <a:latin typeface="Times New Roman" panose="02020603050405020304" pitchFamily="18" charset="0"/>
              </a:rPr>
              <a:t> =m</a:t>
            </a:r>
            <a:r>
              <a:rPr lang="zh-CN" altLang="en-US" sz="2800" dirty="0">
                <a:solidFill>
                  <a:srgbClr val="002060"/>
                </a:solidFill>
                <a:latin typeface="Times New Roman" panose="02020603050405020304" pitchFamily="18" charset="0"/>
              </a:rPr>
              <a:t>，</a:t>
            </a:r>
            <a:r>
              <a:rPr lang="en-US" altLang="zh-CN" sz="2800">
                <a:solidFill>
                  <a:srgbClr val="002060"/>
                </a:solidFill>
                <a:latin typeface="Times New Roman" panose="02020603050405020304" pitchFamily="18" charset="0"/>
                <a:ea typeface="隶书" panose="02010509060101010101" pitchFamily="49" charset="-122"/>
              </a:rPr>
              <a:t>α</a:t>
            </a:r>
            <a:r>
              <a:rPr lang="en-US" altLang="zh-CN" sz="2800" baseline="-25000">
                <a:solidFill>
                  <a:srgbClr val="002060"/>
                </a:solidFill>
                <a:latin typeface="Times New Roman" panose="02020603050405020304" pitchFamily="18" charset="0"/>
              </a:rPr>
              <a:t>n1</a:t>
            </a:r>
            <a:r>
              <a:rPr lang="en-US" altLang="zh-CN" sz="2800">
                <a:solidFill>
                  <a:srgbClr val="002060"/>
                </a:solidFill>
                <a:latin typeface="Times New Roman" panose="02020603050405020304" pitchFamily="18" charset="0"/>
              </a:rPr>
              <a:t> =</a:t>
            </a:r>
            <a:r>
              <a:rPr lang="en-US" altLang="zh-CN" sz="2800">
                <a:solidFill>
                  <a:srgbClr val="002060"/>
                </a:solidFill>
                <a:latin typeface="Times New Roman" panose="02020603050405020304" pitchFamily="18" charset="0"/>
                <a:ea typeface="隶书" panose="02010509060101010101" pitchFamily="49" charset="-122"/>
              </a:rPr>
              <a:t>α</a:t>
            </a:r>
            <a:r>
              <a:rPr lang="en-US" altLang="zh-CN" sz="2800" baseline="-25000">
                <a:solidFill>
                  <a:srgbClr val="002060"/>
                </a:solidFill>
                <a:latin typeface="Times New Roman" panose="02020603050405020304" pitchFamily="18" charset="0"/>
              </a:rPr>
              <a:t>n1</a:t>
            </a:r>
            <a:r>
              <a:rPr lang="en-US" altLang="zh-CN" sz="2800">
                <a:solidFill>
                  <a:srgbClr val="002060"/>
                </a:solidFill>
                <a:latin typeface="Times New Roman" panose="02020603050405020304" pitchFamily="18" charset="0"/>
              </a:rPr>
              <a:t>  = α</a:t>
            </a:r>
            <a:endParaRPr lang="en-US" altLang="zh-CN" sz="2800">
              <a:solidFill>
                <a:srgbClr val="002060"/>
              </a:solidFill>
              <a:latin typeface="Times New Roman" panose="02020603050405020304" pitchFamily="18" charset="0"/>
            </a:endParaRPr>
          </a:p>
        </p:txBody>
      </p:sp>
      <p:sp>
        <p:nvSpPr>
          <p:cNvPr id="279565" name="文本框 279564"/>
          <p:cNvSpPr txBox="1"/>
          <p:nvPr/>
        </p:nvSpPr>
        <p:spPr>
          <a:xfrm>
            <a:off x="838200" y="4276725"/>
            <a:ext cx="3362325" cy="519113"/>
          </a:xfrm>
          <a:prstGeom prst="rect">
            <a:avLst/>
          </a:prstGeom>
          <a:noFill/>
          <a:ln w="19050">
            <a:noFill/>
          </a:ln>
        </p:spPr>
        <p:txBody>
          <a:bodyPr wrap="none" anchor="ctr">
            <a:spAutoFit/>
          </a:bodyPr>
          <a:p>
            <a:pPr>
              <a:spcBef>
                <a:spcPct val="50000"/>
              </a:spcBef>
            </a:pPr>
            <a:r>
              <a:rPr lang="en-US" altLang="zh-CN" sz="2800">
                <a:solidFill>
                  <a:srgbClr val="002060"/>
                </a:solidFill>
                <a:latin typeface="Times New Roman" panose="02020603050405020304" pitchFamily="18" charset="0"/>
              </a:rPr>
              <a:t>m</a:t>
            </a:r>
            <a:r>
              <a:rPr lang="en-US" altLang="zh-CN" sz="2800" baseline="-25000">
                <a:solidFill>
                  <a:srgbClr val="002060"/>
                </a:solidFill>
                <a:latin typeface="宋体" panose="02010600030101010101" pitchFamily="2" charset="-122"/>
              </a:rPr>
              <a:t>t1</a:t>
            </a:r>
            <a:r>
              <a:rPr lang="en-US" altLang="zh-CN" sz="2800">
                <a:solidFill>
                  <a:srgbClr val="002060"/>
                </a:solidFill>
                <a:latin typeface="Times New Roman" panose="02020603050405020304" pitchFamily="18" charset="0"/>
              </a:rPr>
              <a:t>=m</a:t>
            </a:r>
            <a:r>
              <a:rPr lang="en-US" altLang="zh-CN" sz="2800" baseline="-25000">
                <a:solidFill>
                  <a:srgbClr val="002060"/>
                </a:solidFill>
                <a:latin typeface="宋体" panose="02010600030101010101" pitchFamily="2" charset="-122"/>
              </a:rPr>
              <a:t>t2</a:t>
            </a:r>
            <a:r>
              <a:rPr lang="en-US" altLang="zh-CN" sz="2800">
                <a:solidFill>
                  <a:srgbClr val="002060"/>
                </a:solidFill>
                <a:latin typeface="Times New Roman" panose="02020603050405020304" pitchFamily="18" charset="0"/>
              </a:rPr>
              <a:t> </a:t>
            </a:r>
            <a:r>
              <a:rPr lang="zh-CN" altLang="en-US" sz="2800">
                <a:solidFill>
                  <a:srgbClr val="002060"/>
                </a:solidFill>
                <a:latin typeface="Times New Roman" panose="02020603050405020304" pitchFamily="18" charset="0"/>
              </a:rPr>
              <a:t>，</a:t>
            </a:r>
            <a:r>
              <a:rPr lang="en-US" altLang="zh-CN" sz="2800" i="1">
                <a:solidFill>
                  <a:srgbClr val="002060"/>
                </a:solidFill>
                <a:latin typeface="Times New Roman" panose="02020603050405020304" pitchFamily="18" charset="0"/>
                <a:ea typeface="隶书" panose="02010509060101010101" pitchFamily="49" charset="-122"/>
              </a:rPr>
              <a:t>α</a:t>
            </a:r>
            <a:r>
              <a:rPr lang="en-US" altLang="zh-CN" sz="2800" i="1" baseline="-25000">
                <a:solidFill>
                  <a:srgbClr val="002060"/>
                </a:solidFill>
                <a:latin typeface="Times New Roman" panose="02020603050405020304" pitchFamily="18" charset="0"/>
              </a:rPr>
              <a:t>t1</a:t>
            </a:r>
            <a:r>
              <a:rPr lang="zh-CN" altLang="en-US" sz="2800" i="1">
                <a:solidFill>
                  <a:srgbClr val="002060"/>
                </a:solidFill>
                <a:latin typeface="Times New Roman" panose="02020603050405020304" pitchFamily="18" charset="0"/>
              </a:rPr>
              <a:t>＝</a:t>
            </a:r>
            <a:r>
              <a:rPr lang="en-US" altLang="zh-CN" sz="2800" i="1">
                <a:solidFill>
                  <a:srgbClr val="002060"/>
                </a:solidFill>
                <a:latin typeface="Times New Roman" panose="02020603050405020304" pitchFamily="18" charset="0"/>
                <a:ea typeface="隶书" panose="02010509060101010101" pitchFamily="49" charset="-122"/>
              </a:rPr>
              <a:t>α</a:t>
            </a:r>
            <a:r>
              <a:rPr lang="en-US" altLang="zh-CN" sz="2800" i="1" baseline="-25000">
                <a:solidFill>
                  <a:srgbClr val="002060"/>
                </a:solidFill>
                <a:latin typeface="Times New Roman" panose="02020603050405020304" pitchFamily="18" charset="0"/>
              </a:rPr>
              <a:t>t2</a:t>
            </a:r>
            <a:endParaRPr lang="en-US" altLang="zh-CN" sz="2800" i="1" baseline="-25000">
              <a:solidFill>
                <a:srgbClr val="002060"/>
              </a:solidFill>
              <a:latin typeface="Times New Roman" panose="02020603050405020304" pitchFamily="18" charset="0"/>
            </a:endParaRPr>
          </a:p>
        </p:txBody>
      </p:sp>
      <p:sp>
        <p:nvSpPr>
          <p:cNvPr id="279570" name="文本框 279569"/>
          <p:cNvSpPr txBox="1"/>
          <p:nvPr/>
        </p:nvSpPr>
        <p:spPr>
          <a:xfrm>
            <a:off x="333375" y="2830830"/>
            <a:ext cx="3321050" cy="460375"/>
          </a:xfrm>
          <a:prstGeom prst="rect">
            <a:avLst/>
          </a:prstGeom>
          <a:noFill/>
          <a:ln w="9525">
            <a:noFill/>
          </a:ln>
        </p:spPr>
        <p:txBody>
          <a:bodyPr>
            <a:spAutoFit/>
          </a:bodyPr>
          <a:p>
            <a:pPr algn="just"/>
            <a:r>
              <a:rPr lang="zh-CN" altLang="en-US" sz="2400" dirty="0">
                <a:solidFill>
                  <a:schemeClr val="hlink"/>
                </a:solidFill>
                <a:latin typeface="宋体" panose="02010600030101010101" pitchFamily="2" charset="-122"/>
              </a:rPr>
              <a:t>内啮合</a:t>
            </a:r>
            <a:r>
              <a:rPr lang="zh-CN" altLang="en-US" sz="2400" i="1" dirty="0">
                <a:solidFill>
                  <a:schemeClr val="hlink"/>
                </a:solidFill>
                <a:latin typeface="宋体" panose="02010600030101010101" pitchFamily="2" charset="-122"/>
              </a:rPr>
              <a:t>：</a:t>
            </a:r>
            <a:r>
              <a:rPr lang="en-US" altLang="zh-CN" sz="2400" i="1">
                <a:solidFill>
                  <a:srgbClr val="002060"/>
                </a:solidFill>
                <a:latin typeface="宋体" panose="02010600030101010101" pitchFamily="2" charset="-122"/>
              </a:rPr>
              <a:t>β</a:t>
            </a:r>
            <a:r>
              <a:rPr lang="en-US" altLang="zh-CN" sz="2400" i="1" baseline="-25000">
                <a:solidFill>
                  <a:srgbClr val="002060"/>
                </a:solidFill>
                <a:latin typeface="宋体" panose="02010600030101010101" pitchFamily="2" charset="-122"/>
              </a:rPr>
              <a:t>1</a:t>
            </a:r>
            <a:r>
              <a:rPr lang="zh-CN" altLang="en-US" sz="2400" i="1">
                <a:solidFill>
                  <a:srgbClr val="002060"/>
                </a:solidFill>
                <a:latin typeface="宋体" panose="02010600030101010101" pitchFamily="2" charset="-122"/>
              </a:rPr>
              <a:t>＝</a:t>
            </a:r>
            <a:r>
              <a:rPr lang="en-US" altLang="zh-CN" sz="2400" i="1">
                <a:solidFill>
                  <a:srgbClr val="002060"/>
                </a:solidFill>
                <a:latin typeface="宋体" panose="02010600030101010101" pitchFamily="2" charset="-122"/>
              </a:rPr>
              <a:t>β</a:t>
            </a:r>
            <a:r>
              <a:rPr lang="en-US" altLang="zh-CN" sz="2400" i="1" baseline="-25000">
                <a:solidFill>
                  <a:srgbClr val="002060"/>
                </a:solidFill>
                <a:latin typeface="宋体" panose="02010600030101010101" pitchFamily="2" charset="-122"/>
              </a:rPr>
              <a:t>2</a:t>
            </a:r>
            <a:endParaRPr lang="en-US" altLang="zh-CN" sz="2400" i="1" baseline="-25000">
              <a:solidFill>
                <a:srgbClr val="002060"/>
              </a:solidFill>
              <a:latin typeface="宋体" panose="02010600030101010101" pitchFamily="2" charset="-122"/>
            </a:endParaRPr>
          </a:p>
        </p:txBody>
      </p:sp>
      <p:graphicFrame>
        <p:nvGraphicFramePr>
          <p:cNvPr id="277696" name="对象 277695"/>
          <p:cNvGraphicFramePr/>
          <p:nvPr/>
        </p:nvGraphicFramePr>
        <p:xfrm>
          <a:off x="1336675" y="5115878"/>
          <a:ext cx="1787525" cy="428625"/>
        </p:xfrm>
        <a:graphic>
          <a:graphicData uri="http://schemas.openxmlformats.org/presentationml/2006/ole">
            <mc:AlternateContent xmlns:mc="http://schemas.openxmlformats.org/markup-compatibility/2006">
              <mc:Choice xmlns:v="urn:schemas-microsoft-com:vml" Requires="v">
                <p:oleObj spid="_x0000_s3116" name="" r:id="rId3" imgW="951865" imgH="228600" progId="Equation.3">
                  <p:embed/>
                </p:oleObj>
              </mc:Choice>
              <mc:Fallback>
                <p:oleObj name="" r:id="rId3" imgW="951865" imgH="228600" progId="Equation.3">
                  <p:embed/>
                  <p:pic>
                    <p:nvPicPr>
                      <p:cNvPr id="0" name="图片 3115"/>
                      <p:cNvPicPr/>
                      <p:nvPr/>
                    </p:nvPicPr>
                    <p:blipFill>
                      <a:blip r:embed="rId4"/>
                      <a:stretch>
                        <a:fillRect/>
                      </a:stretch>
                    </p:blipFill>
                    <p:spPr>
                      <a:xfrm>
                        <a:off x="1336675" y="5115878"/>
                        <a:ext cx="1787525" cy="428625"/>
                      </a:xfrm>
                      <a:prstGeom prst="rect">
                        <a:avLst/>
                      </a:prstGeom>
                      <a:solidFill>
                        <a:srgbClr val="FFFF00"/>
                      </a:solidFill>
                      <a:ln w="9525" cap="flat" cmpd="sng">
                        <a:solidFill>
                          <a:schemeClr val="hlink"/>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594"/>
                                        </p:tgtEl>
                                        <p:attrNameLst>
                                          <p:attrName>style.visibility</p:attrName>
                                        </p:attrNameLst>
                                      </p:cBhvr>
                                      <p:to>
                                        <p:strVal val="visible"/>
                                      </p:to>
                                    </p:set>
                                    <p:animEffect transition="in" filter="wipe(left)">
                                      <p:cBhvr>
                                        <p:cTn id="7" dur="500"/>
                                        <p:tgtEl>
                                          <p:spTgt spid="6759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out)">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2766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27677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2767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0" presetClass="entr" presetSubtype="0" fill="hold" grpId="0" nodeType="clickEffect">
                                  <p:stCondLst>
                                    <p:cond delay="0"/>
                                  </p:stCondLst>
                                  <p:childTnLst>
                                    <p:set>
                                      <p:cBhvr>
                                        <p:cTn id="32" dur="1" fill="hold">
                                          <p:stCondLst>
                                            <p:cond delay="0"/>
                                          </p:stCondLst>
                                        </p:cTn>
                                        <p:tgtEl>
                                          <p:spTgt spid="303268"/>
                                        </p:tgtEl>
                                        <p:attrNameLst>
                                          <p:attrName>style.visibility</p:attrName>
                                        </p:attrNameLst>
                                      </p:cBhvr>
                                      <p:to>
                                        <p:strVal val="visible"/>
                                      </p:to>
                                    </p:set>
                                    <p:animEffect transition="in" filter="wedge">
                                      <p:cBhvr>
                                        <p:cTn id="33" dur="1000"/>
                                        <p:tgtEl>
                                          <p:spTgt spid="30326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27956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7957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279564"/>
                                        </p:tgtEl>
                                        <p:attrNameLst>
                                          <p:attrName>style.visibility</p:attrName>
                                        </p:attrNameLst>
                                      </p:cBhvr>
                                      <p:to>
                                        <p:strVal val="visible"/>
                                      </p:to>
                                    </p:set>
                                    <p:animEffect transition="in" filter="slide(fromBottom)">
                                      <p:cBhvr>
                                        <p:cTn id="46" dur="500"/>
                                        <p:tgtEl>
                                          <p:spTgt spid="279564"/>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279565"/>
                                        </p:tgtEl>
                                        <p:attrNameLst>
                                          <p:attrName>style.visibility</p:attrName>
                                        </p:attrNameLst>
                                      </p:cBhvr>
                                      <p:to>
                                        <p:strVal val="visible"/>
                                      </p:to>
                                    </p:set>
                                    <p:animEffect transition="in" filter="slide(fromBottom)">
                                      <p:cBhvr>
                                        <p:cTn id="51" dur="500"/>
                                        <p:tgtEl>
                                          <p:spTgt spid="27956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77696"/>
                                        </p:tgtEl>
                                        <p:attrNameLst>
                                          <p:attrName>style.visibility</p:attrName>
                                        </p:attrNameLst>
                                      </p:cBhvr>
                                      <p:to>
                                        <p:strVal val="visible"/>
                                      </p:to>
                                    </p:set>
                                    <p:animEffect transition="in" filter="wipe(left)">
                                      <p:cBhvr>
                                        <p:cTn id="56" dur="500"/>
                                        <p:tgtEl>
                                          <p:spTgt spid="277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268" grpId="0"/>
      <p:bldP spid="67594" grpId="0" autoUpdateAnimBg="0"/>
      <p:bldP spid="276645" grpId="0"/>
      <p:bldP spid="279563" grpId="0"/>
      <p:bldP spid="279564" grpId="0"/>
      <p:bldP spid="279565" grpId="0"/>
      <p:bldP spid="27957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81800" name="组合 281799"/>
          <p:cNvGrpSpPr/>
          <p:nvPr/>
        </p:nvGrpSpPr>
        <p:grpSpPr>
          <a:xfrm>
            <a:off x="6581775" y="4068763"/>
            <a:ext cx="2149475" cy="2435225"/>
            <a:chOff x="4142" y="2569"/>
            <a:chExt cx="1354" cy="1534"/>
          </a:xfrm>
        </p:grpSpPr>
        <p:sp>
          <p:nvSpPr>
            <p:cNvPr id="281801" name="任意多边形 281800"/>
            <p:cNvSpPr/>
            <p:nvPr/>
          </p:nvSpPr>
          <p:spPr>
            <a:xfrm>
              <a:off x="4495" y="2797"/>
              <a:ext cx="209" cy="66"/>
            </a:xfrm>
            <a:custGeom>
              <a:avLst/>
              <a:gdLst/>
              <a:ahLst/>
              <a:cxnLst/>
              <a:pathLst>
                <a:path w="380" h="122">
                  <a:moveTo>
                    <a:pt x="0" y="122"/>
                  </a:moveTo>
                  <a:cubicBezTo>
                    <a:pt x="15" y="110"/>
                    <a:pt x="58" y="68"/>
                    <a:pt x="88" y="50"/>
                  </a:cubicBezTo>
                  <a:cubicBezTo>
                    <a:pt x="118" y="32"/>
                    <a:pt x="148" y="22"/>
                    <a:pt x="178" y="14"/>
                  </a:cubicBezTo>
                  <a:cubicBezTo>
                    <a:pt x="208" y="6"/>
                    <a:pt x="234" y="4"/>
                    <a:pt x="268" y="2"/>
                  </a:cubicBezTo>
                  <a:cubicBezTo>
                    <a:pt x="302" y="0"/>
                    <a:pt x="357" y="2"/>
                    <a:pt x="380" y="2"/>
                  </a:cubicBezTo>
                </a:path>
              </a:pathLst>
            </a:custGeom>
            <a:noFill/>
            <a:ln w="28575" cap="flat" cmpd="sng">
              <a:solidFill>
                <a:schemeClr val="hlink">
                  <a:alpha val="100000"/>
                </a:schemeClr>
              </a:solidFill>
              <a:prstDash val="solid"/>
              <a:headEnd type="none" w="med" len="med"/>
              <a:tailEnd type="none" w="med" len="med"/>
            </a:ln>
          </p:spPr>
          <p:txBody>
            <a:bodyPr/>
            <a:p>
              <a:endParaRPr lang="zh-CN" altLang="en-US"/>
            </a:p>
          </p:txBody>
        </p:sp>
        <p:sp>
          <p:nvSpPr>
            <p:cNvPr id="281802" name="文本框 281801"/>
            <p:cNvSpPr txBox="1"/>
            <p:nvPr/>
          </p:nvSpPr>
          <p:spPr>
            <a:xfrm>
              <a:off x="4763" y="3125"/>
              <a:ext cx="212" cy="288"/>
            </a:xfrm>
            <a:prstGeom prst="rect">
              <a:avLst/>
            </a:prstGeom>
            <a:noFill/>
            <a:ln w="9525">
              <a:noFill/>
            </a:ln>
          </p:spPr>
          <p:txBody>
            <a:bodyPr>
              <a:spAutoFit/>
            </a:bodyPr>
            <a:p>
              <a:pPr>
                <a:spcBef>
                  <a:spcPct val="50000"/>
                </a:spcBef>
              </a:pPr>
              <a:r>
                <a:rPr lang="en-US" altLang="zh-CN" sz="2400">
                  <a:solidFill>
                    <a:schemeClr val="folHlink"/>
                  </a:solidFill>
                  <a:latin typeface="Times New Roman" panose="02020603050405020304" pitchFamily="18" charset="0"/>
                </a:rPr>
                <a:t>c</a:t>
              </a:r>
              <a:endParaRPr lang="en-US" altLang="zh-CN" sz="2400">
                <a:solidFill>
                  <a:schemeClr val="folHlink"/>
                </a:solidFill>
                <a:latin typeface="Times New Roman" panose="02020603050405020304" pitchFamily="18" charset="0"/>
              </a:endParaRPr>
            </a:p>
          </p:txBody>
        </p:sp>
        <p:grpSp>
          <p:nvGrpSpPr>
            <p:cNvPr id="281803" name="组合 281802"/>
            <p:cNvGrpSpPr/>
            <p:nvPr/>
          </p:nvGrpSpPr>
          <p:grpSpPr>
            <a:xfrm>
              <a:off x="4374" y="3381"/>
              <a:ext cx="1122" cy="722"/>
              <a:chOff x="4374" y="3381"/>
              <a:chExt cx="1122" cy="722"/>
            </a:xfrm>
          </p:grpSpPr>
          <p:grpSp>
            <p:nvGrpSpPr>
              <p:cNvPr id="281804" name="组合 281803"/>
              <p:cNvGrpSpPr/>
              <p:nvPr/>
            </p:nvGrpSpPr>
            <p:grpSpPr>
              <a:xfrm>
                <a:off x="4374" y="3381"/>
                <a:ext cx="1122" cy="722"/>
                <a:chOff x="4374" y="3381"/>
                <a:chExt cx="1122" cy="722"/>
              </a:xfrm>
            </p:grpSpPr>
            <p:sp>
              <p:nvSpPr>
                <p:cNvPr id="281805" name="直接连接符 281804"/>
                <p:cNvSpPr/>
                <p:nvPr/>
              </p:nvSpPr>
              <p:spPr>
                <a:xfrm>
                  <a:off x="4374" y="3866"/>
                  <a:ext cx="110" cy="237"/>
                </a:xfrm>
                <a:prstGeom prst="line">
                  <a:avLst/>
                </a:prstGeom>
                <a:ln w="19050" cap="flat" cmpd="sng">
                  <a:solidFill>
                    <a:schemeClr val="hlink"/>
                  </a:solidFill>
                  <a:prstDash val="solid"/>
                  <a:headEnd type="none" w="med" len="med"/>
                  <a:tailEnd type="none" w="med" len="med"/>
                </a:ln>
              </p:spPr>
            </p:sp>
            <p:sp>
              <p:nvSpPr>
                <p:cNvPr id="281806" name="直接连接符 281805"/>
                <p:cNvSpPr/>
                <p:nvPr/>
              </p:nvSpPr>
              <p:spPr>
                <a:xfrm>
                  <a:off x="5377" y="3381"/>
                  <a:ext cx="119" cy="220"/>
                </a:xfrm>
                <a:prstGeom prst="line">
                  <a:avLst/>
                </a:prstGeom>
                <a:ln w="19050" cap="flat" cmpd="sng">
                  <a:solidFill>
                    <a:schemeClr val="hlink"/>
                  </a:solidFill>
                  <a:prstDash val="solid"/>
                  <a:headEnd type="none" w="med" len="med"/>
                  <a:tailEnd type="none" w="med" len="med"/>
                </a:ln>
              </p:spPr>
            </p:sp>
            <p:sp>
              <p:nvSpPr>
                <p:cNvPr id="281807" name="直接连接符 281806"/>
                <p:cNvSpPr/>
                <p:nvPr/>
              </p:nvSpPr>
              <p:spPr>
                <a:xfrm flipV="1">
                  <a:off x="4462" y="3567"/>
                  <a:ext cx="1015" cy="516"/>
                </a:xfrm>
                <a:prstGeom prst="line">
                  <a:avLst/>
                </a:prstGeom>
                <a:ln w="19050" cap="flat" cmpd="sng">
                  <a:solidFill>
                    <a:schemeClr val="hlink"/>
                  </a:solidFill>
                  <a:prstDash val="solid"/>
                  <a:headEnd type="triangle" w="sm" len="lg"/>
                  <a:tailEnd type="triangle" w="sm" len="lg"/>
                </a:ln>
              </p:spPr>
            </p:sp>
          </p:grpSp>
          <p:sp>
            <p:nvSpPr>
              <p:cNvPr id="281808" name="文本框 281807"/>
              <p:cNvSpPr txBox="1"/>
              <p:nvPr/>
            </p:nvSpPr>
            <p:spPr>
              <a:xfrm>
                <a:off x="4972" y="3721"/>
                <a:ext cx="202" cy="288"/>
              </a:xfrm>
              <a:prstGeom prst="rect">
                <a:avLst/>
              </a:prstGeom>
              <a:noFill/>
              <a:ln w="9525">
                <a:noFill/>
              </a:ln>
            </p:spPr>
            <p:txBody>
              <a:bodyPr>
                <a:spAutoFit/>
              </a:bodyPr>
              <a:p>
                <a:pPr>
                  <a:spcBef>
                    <a:spcPct val="50000"/>
                  </a:spcBef>
                </a:pPr>
                <a:r>
                  <a:rPr lang="en-US" altLang="zh-CN" sz="2400">
                    <a:solidFill>
                      <a:schemeClr val="folHlink"/>
                    </a:solidFill>
                    <a:latin typeface="Times New Roman" panose="02020603050405020304" pitchFamily="18" charset="0"/>
                  </a:rPr>
                  <a:t>d</a:t>
                </a:r>
                <a:endParaRPr lang="en-US" altLang="zh-CN" sz="2400">
                  <a:solidFill>
                    <a:schemeClr val="folHlink"/>
                  </a:solidFill>
                  <a:latin typeface="Times New Roman" panose="02020603050405020304" pitchFamily="18" charset="0"/>
                </a:endParaRPr>
              </a:p>
            </p:txBody>
          </p:sp>
        </p:grpSp>
        <p:sp>
          <p:nvSpPr>
            <p:cNvPr id="281809" name="文本框 281808"/>
            <p:cNvSpPr txBox="1"/>
            <p:nvPr/>
          </p:nvSpPr>
          <p:spPr>
            <a:xfrm>
              <a:off x="4387" y="2569"/>
              <a:ext cx="318" cy="250"/>
            </a:xfrm>
            <a:prstGeom prst="rect">
              <a:avLst/>
            </a:prstGeom>
            <a:noFill/>
            <a:ln w="9525">
              <a:noFill/>
            </a:ln>
          </p:spPr>
          <p:txBody>
            <a:bodyPr>
              <a:spAutoFit/>
            </a:bodyPr>
            <a:p>
              <a:pPr>
                <a:spcBef>
                  <a:spcPct val="50000"/>
                </a:spcBef>
              </a:pPr>
              <a:r>
                <a:rPr lang="en-US" altLang="zh-CN" sz="2000">
                  <a:solidFill>
                    <a:schemeClr val="folHlink"/>
                  </a:solidFill>
                  <a:latin typeface="隶书" panose="02010509060101010101" pitchFamily="49" charset="-122"/>
                  <a:ea typeface="隶书" panose="02010509060101010101" pitchFamily="49" charset="-122"/>
                </a:rPr>
                <a:t>β</a:t>
              </a:r>
              <a:endParaRPr lang="en-US" altLang="zh-CN" sz="2400" b="0">
                <a:solidFill>
                  <a:schemeClr val="folHlink"/>
                </a:solidFill>
                <a:latin typeface="隶书" panose="02010509060101010101" pitchFamily="49" charset="-122"/>
                <a:ea typeface="隶书" panose="02010509060101010101" pitchFamily="49" charset="-122"/>
              </a:endParaRPr>
            </a:p>
          </p:txBody>
        </p:sp>
        <p:grpSp>
          <p:nvGrpSpPr>
            <p:cNvPr id="281810" name="组合 281809"/>
            <p:cNvGrpSpPr/>
            <p:nvPr/>
          </p:nvGrpSpPr>
          <p:grpSpPr>
            <a:xfrm>
              <a:off x="4142" y="2745"/>
              <a:ext cx="1124" cy="1035"/>
              <a:chOff x="4142" y="2745"/>
              <a:chExt cx="1124" cy="1035"/>
            </a:xfrm>
          </p:grpSpPr>
          <p:sp>
            <p:nvSpPr>
              <p:cNvPr id="281811" name="矩形 281810"/>
              <p:cNvSpPr/>
              <p:nvPr/>
            </p:nvSpPr>
            <p:spPr>
              <a:xfrm rot="-1550501">
                <a:off x="4142" y="2896"/>
                <a:ext cx="1124" cy="769"/>
              </a:xfrm>
              <a:prstGeom prst="rect">
                <a:avLst/>
              </a:prstGeom>
              <a:noFill/>
              <a:ln w="28575" cap="flat" cmpd="sng">
                <a:solidFill>
                  <a:srgbClr val="000000"/>
                </a:solidFill>
                <a:prstDash val="solid"/>
                <a:miter/>
                <a:headEnd type="none" w="med" len="med"/>
                <a:tailEnd type="none" w="med" len="med"/>
              </a:ln>
            </p:spPr>
            <p:txBody>
              <a:bodyPr/>
              <a:p>
                <a:endParaRPr lang="zh-CN" altLang="en-US"/>
              </a:p>
            </p:txBody>
          </p:sp>
          <p:sp>
            <p:nvSpPr>
              <p:cNvPr id="281812" name="直接连接符 281811"/>
              <p:cNvSpPr/>
              <p:nvPr/>
            </p:nvSpPr>
            <p:spPr>
              <a:xfrm>
                <a:off x="4429" y="2745"/>
                <a:ext cx="529" cy="1035"/>
              </a:xfrm>
              <a:prstGeom prst="line">
                <a:avLst/>
              </a:prstGeom>
              <a:ln w="19050" cap="flat" cmpd="sng">
                <a:solidFill>
                  <a:srgbClr val="000000"/>
                </a:solidFill>
                <a:prstDash val="lgDashDotDot"/>
                <a:headEnd type="none" w="med" len="med"/>
                <a:tailEnd type="none" w="med" len="med"/>
              </a:ln>
            </p:spPr>
          </p:sp>
          <p:sp>
            <p:nvSpPr>
              <p:cNvPr id="281813" name="任意多边形 281812"/>
              <p:cNvSpPr/>
              <p:nvPr/>
            </p:nvSpPr>
            <p:spPr>
              <a:xfrm>
                <a:off x="4637" y="2866"/>
                <a:ext cx="22" cy="867"/>
              </a:xfrm>
              <a:custGeom>
                <a:avLst/>
                <a:gdLst/>
                <a:ahLst/>
                <a:cxnLst/>
                <a:pathLst>
                  <a:path w="41" h="1608">
                    <a:moveTo>
                      <a:pt x="41" y="0"/>
                    </a:moveTo>
                    <a:cubicBezTo>
                      <a:pt x="37" y="39"/>
                      <a:pt x="26" y="152"/>
                      <a:pt x="23" y="234"/>
                    </a:cubicBezTo>
                    <a:cubicBezTo>
                      <a:pt x="20" y="316"/>
                      <a:pt x="26" y="394"/>
                      <a:pt x="23" y="494"/>
                    </a:cubicBezTo>
                    <a:cubicBezTo>
                      <a:pt x="20" y="594"/>
                      <a:pt x="6" y="709"/>
                      <a:pt x="3" y="834"/>
                    </a:cubicBezTo>
                    <a:cubicBezTo>
                      <a:pt x="0" y="959"/>
                      <a:pt x="4" y="1113"/>
                      <a:pt x="5" y="1242"/>
                    </a:cubicBezTo>
                    <a:cubicBezTo>
                      <a:pt x="6" y="1371"/>
                      <a:pt x="10" y="1532"/>
                      <a:pt x="11" y="1608"/>
                    </a:cubicBezTo>
                  </a:path>
                </a:pathLst>
              </a:custGeom>
              <a:noFill/>
              <a:ln w="38100" cap="flat" cmpd="sng">
                <a:solidFill>
                  <a:srgbClr val="000000">
                    <a:alpha val="100000"/>
                  </a:srgbClr>
                </a:solidFill>
                <a:prstDash val="solid"/>
                <a:headEnd type="none" w="med" len="med"/>
                <a:tailEnd type="none" w="med" len="med"/>
              </a:ln>
            </p:spPr>
            <p:txBody>
              <a:bodyPr/>
              <a:p>
                <a:endParaRPr lang="zh-CN" altLang="en-US"/>
              </a:p>
            </p:txBody>
          </p:sp>
          <p:sp>
            <p:nvSpPr>
              <p:cNvPr id="281814" name="任意多边形 281813"/>
              <p:cNvSpPr/>
              <p:nvPr/>
            </p:nvSpPr>
            <p:spPr>
              <a:xfrm>
                <a:off x="4757" y="2797"/>
                <a:ext cx="18" cy="872"/>
              </a:xfrm>
              <a:custGeom>
                <a:avLst/>
                <a:gdLst/>
                <a:ahLst/>
                <a:cxnLst/>
                <a:pathLst>
                  <a:path w="33" h="1616">
                    <a:moveTo>
                      <a:pt x="33" y="0"/>
                    </a:moveTo>
                    <a:cubicBezTo>
                      <a:pt x="30" y="41"/>
                      <a:pt x="25" y="158"/>
                      <a:pt x="23" y="242"/>
                    </a:cubicBezTo>
                    <a:cubicBezTo>
                      <a:pt x="21" y="326"/>
                      <a:pt x="26" y="402"/>
                      <a:pt x="23" y="502"/>
                    </a:cubicBezTo>
                    <a:cubicBezTo>
                      <a:pt x="20" y="602"/>
                      <a:pt x="6" y="717"/>
                      <a:pt x="3" y="842"/>
                    </a:cubicBezTo>
                    <a:cubicBezTo>
                      <a:pt x="0" y="967"/>
                      <a:pt x="4" y="1121"/>
                      <a:pt x="5" y="1250"/>
                    </a:cubicBezTo>
                    <a:cubicBezTo>
                      <a:pt x="6" y="1379"/>
                      <a:pt x="10" y="1540"/>
                      <a:pt x="11" y="1616"/>
                    </a:cubicBezTo>
                  </a:path>
                </a:pathLst>
              </a:custGeom>
              <a:noFill/>
              <a:ln w="38100" cap="flat" cmpd="sng">
                <a:solidFill>
                  <a:srgbClr val="000000">
                    <a:alpha val="100000"/>
                  </a:srgbClr>
                </a:solidFill>
                <a:prstDash val="solid"/>
                <a:headEnd type="none" w="med" len="med"/>
                <a:tailEnd type="none" w="med" len="med"/>
              </a:ln>
            </p:spPr>
            <p:txBody>
              <a:bodyPr/>
              <a:p>
                <a:endParaRPr lang="zh-CN" altLang="en-US"/>
              </a:p>
            </p:txBody>
          </p:sp>
        </p:grpSp>
        <p:sp>
          <p:nvSpPr>
            <p:cNvPr id="281815" name="直接连接符 281814"/>
            <p:cNvSpPr/>
            <p:nvPr/>
          </p:nvSpPr>
          <p:spPr>
            <a:xfrm flipV="1">
              <a:off x="4689" y="2674"/>
              <a:ext cx="24" cy="1152"/>
            </a:xfrm>
            <a:prstGeom prst="line">
              <a:avLst/>
            </a:prstGeom>
            <a:ln w="19050" cap="flat" cmpd="sng">
              <a:solidFill>
                <a:srgbClr val="FF0000"/>
              </a:solidFill>
              <a:prstDash val="lgDashDot"/>
              <a:headEnd type="none" w="med" len="med"/>
              <a:tailEnd type="none" w="med" len="med"/>
            </a:ln>
          </p:spPr>
        </p:sp>
        <p:sp>
          <p:nvSpPr>
            <p:cNvPr id="281816" name="椭圆 281815"/>
            <p:cNvSpPr/>
            <p:nvPr/>
          </p:nvSpPr>
          <p:spPr>
            <a:xfrm>
              <a:off x="4676" y="3262"/>
              <a:ext cx="43" cy="44"/>
            </a:xfrm>
            <a:prstGeom prst="ellipse">
              <a:avLst/>
            </a:prstGeom>
            <a:solidFill>
              <a:srgbClr val="000099"/>
            </a:solidFill>
            <a:ln w="28575" cap="flat" cmpd="sng">
              <a:solidFill>
                <a:schemeClr val="hlink"/>
              </a:solidFill>
              <a:prstDash val="solid"/>
              <a:headEnd type="none" w="med" len="med"/>
              <a:tailEnd type="none" w="med" len="med"/>
            </a:ln>
          </p:spPr>
          <p:txBody>
            <a:bodyPr/>
            <a:p>
              <a:endParaRPr lang="zh-CN" altLang="en-US"/>
            </a:p>
          </p:txBody>
        </p:sp>
      </p:grpSp>
      <p:grpSp>
        <p:nvGrpSpPr>
          <p:cNvPr id="281779" name="组合 281778"/>
          <p:cNvGrpSpPr/>
          <p:nvPr/>
        </p:nvGrpSpPr>
        <p:grpSpPr>
          <a:xfrm>
            <a:off x="6862763" y="2079625"/>
            <a:ext cx="817562" cy="1047750"/>
            <a:chOff x="4323" y="1310"/>
            <a:chExt cx="515" cy="660"/>
          </a:xfrm>
        </p:grpSpPr>
        <p:grpSp>
          <p:nvGrpSpPr>
            <p:cNvPr id="281778" name="组合 281777"/>
            <p:cNvGrpSpPr/>
            <p:nvPr/>
          </p:nvGrpSpPr>
          <p:grpSpPr>
            <a:xfrm>
              <a:off x="4413" y="1310"/>
              <a:ext cx="425" cy="660"/>
              <a:chOff x="4413" y="1310"/>
              <a:chExt cx="425" cy="660"/>
            </a:xfrm>
          </p:grpSpPr>
          <p:sp>
            <p:nvSpPr>
              <p:cNvPr id="281623" name="直接连接符 281622"/>
              <p:cNvSpPr/>
              <p:nvPr/>
            </p:nvSpPr>
            <p:spPr>
              <a:xfrm flipV="1">
                <a:off x="4584" y="1970"/>
                <a:ext cx="254" cy="0"/>
              </a:xfrm>
              <a:prstGeom prst="line">
                <a:avLst/>
              </a:prstGeom>
              <a:ln w="12700" cap="flat" cmpd="sng">
                <a:solidFill>
                  <a:srgbClr val="FFFF00"/>
                </a:solidFill>
                <a:prstDash val="lgDashDot"/>
                <a:headEnd type="none" w="med" len="med"/>
                <a:tailEnd type="none" w="med" len="med"/>
              </a:ln>
            </p:spPr>
          </p:sp>
          <p:sp>
            <p:nvSpPr>
              <p:cNvPr id="281624" name="直接连接符 281623"/>
              <p:cNvSpPr/>
              <p:nvPr/>
            </p:nvSpPr>
            <p:spPr>
              <a:xfrm flipH="1" flipV="1">
                <a:off x="4413" y="1310"/>
                <a:ext cx="301" cy="660"/>
              </a:xfrm>
              <a:prstGeom prst="line">
                <a:avLst/>
              </a:prstGeom>
              <a:ln w="19050" cap="flat" cmpd="sng">
                <a:solidFill>
                  <a:schemeClr val="hlink"/>
                </a:solidFill>
                <a:prstDash val="solid"/>
                <a:headEnd type="none" w="med" len="med"/>
                <a:tailEnd type="triangle" w="sm" len="lg"/>
              </a:ln>
            </p:spPr>
          </p:sp>
        </p:grpSp>
        <p:sp>
          <p:nvSpPr>
            <p:cNvPr id="281625" name="文本框 281624"/>
            <p:cNvSpPr txBox="1"/>
            <p:nvPr/>
          </p:nvSpPr>
          <p:spPr>
            <a:xfrm>
              <a:off x="4323" y="1427"/>
              <a:ext cx="230" cy="288"/>
            </a:xfrm>
            <a:prstGeom prst="rect">
              <a:avLst/>
            </a:prstGeom>
            <a:noFill/>
            <a:ln w="9525">
              <a:noFill/>
            </a:ln>
          </p:spPr>
          <p:txBody>
            <a:bodyPr>
              <a:spAutoFit/>
            </a:bodyPr>
            <a:p>
              <a:pPr>
                <a:spcBef>
                  <a:spcPct val="50000"/>
                </a:spcBef>
              </a:pPr>
              <a:r>
                <a:rPr lang="en-US" altLang="zh-CN" sz="2400">
                  <a:solidFill>
                    <a:schemeClr val="folHlink"/>
                  </a:solidFill>
                  <a:latin typeface="隶书" panose="02010509060101010101" pitchFamily="49" charset="-122"/>
                  <a:ea typeface="隶书" panose="02010509060101010101" pitchFamily="49" charset="-122"/>
                </a:rPr>
                <a:t>ρ</a:t>
              </a:r>
              <a:endParaRPr lang="en-US" altLang="zh-CN" sz="2400" b="0">
                <a:solidFill>
                  <a:schemeClr val="folHlink"/>
                </a:solidFill>
                <a:latin typeface="隶书" panose="02010509060101010101" pitchFamily="49" charset="-122"/>
                <a:ea typeface="隶书" panose="02010509060101010101" pitchFamily="49" charset="-122"/>
              </a:endParaRPr>
            </a:p>
          </p:txBody>
        </p:sp>
      </p:grpSp>
      <p:sp>
        <p:nvSpPr>
          <p:cNvPr id="281626" name="文本框 281625"/>
          <p:cNvSpPr txBox="1"/>
          <p:nvPr/>
        </p:nvSpPr>
        <p:spPr>
          <a:xfrm>
            <a:off x="177800" y="70486"/>
            <a:ext cx="4246563" cy="460375"/>
          </a:xfrm>
          <a:prstGeom prst="rect">
            <a:avLst/>
          </a:prstGeom>
          <a:noFill/>
          <a:ln w="19050">
            <a:noFill/>
          </a:ln>
        </p:spPr>
        <p:txBody>
          <a:bodyPr anchor="ctr">
            <a:spAutoFit/>
          </a:bodyPr>
          <a:p>
            <a:pPr>
              <a:spcBef>
                <a:spcPct val="50000"/>
              </a:spcBef>
            </a:pPr>
            <a:r>
              <a:rPr lang="en-US" altLang="zh-CN" sz="2400" dirty="0">
                <a:solidFill>
                  <a:schemeClr val="hlink"/>
                </a:solidFill>
                <a:latin typeface="Times New Roman" panose="02020603050405020304" pitchFamily="18" charset="0"/>
              </a:rPr>
              <a:t>2</a:t>
            </a:r>
            <a:r>
              <a:rPr lang="zh-CN" altLang="en-US" sz="2400" dirty="0">
                <a:solidFill>
                  <a:schemeClr val="hlink"/>
                </a:solidFill>
                <a:latin typeface="Times New Roman" panose="02020603050405020304" pitchFamily="18" charset="0"/>
              </a:rPr>
              <a:t>、</a:t>
            </a:r>
            <a:r>
              <a:rPr lang="zh-CN" altLang="en-US" sz="2400" dirty="0">
                <a:solidFill>
                  <a:schemeClr val="hlink"/>
                </a:solidFill>
                <a:latin typeface="Times New Roman" panose="02020603050405020304" pitchFamily="18" charset="0"/>
              </a:rPr>
              <a:t>斜齿圆柱齿轮的当量齿数</a:t>
            </a:r>
            <a:endParaRPr lang="zh-CN" altLang="en-US" sz="2400" b="0">
              <a:solidFill>
                <a:schemeClr val="hlink"/>
              </a:solidFill>
              <a:latin typeface="Times New Roman" panose="02020603050405020304" pitchFamily="18" charset="0"/>
            </a:endParaRPr>
          </a:p>
        </p:txBody>
      </p:sp>
      <p:sp>
        <p:nvSpPr>
          <p:cNvPr id="281627" name="文本框 281626"/>
          <p:cNvSpPr txBox="1"/>
          <p:nvPr/>
        </p:nvSpPr>
        <p:spPr>
          <a:xfrm>
            <a:off x="195580" y="5922328"/>
            <a:ext cx="5457825" cy="822325"/>
          </a:xfrm>
          <a:prstGeom prst="rect">
            <a:avLst/>
          </a:prstGeom>
          <a:noFill/>
          <a:ln w="19050">
            <a:noFill/>
          </a:ln>
        </p:spPr>
        <p:txBody>
          <a:bodyPr anchor="ctr">
            <a:spAutoFit/>
          </a:bodyPr>
          <a:p>
            <a:pPr algn="l"/>
            <a:r>
              <a:rPr lang="zh-CN" altLang="en-US" sz="1200" b="0" dirty="0">
                <a:solidFill>
                  <a:srgbClr val="002060"/>
                </a:solidFill>
                <a:latin typeface="Times New Roman" panose="02020603050405020304" pitchFamily="18" charset="0"/>
              </a:rPr>
              <a:t>用盘铣刀加工斜齿轮时，加工沿法面进行，要求斜齿轮法面内的齿形与所选铣刀的齿形近可能接近。选择铣刀组号的依据是直齿轮的齿数，因此，有必要知道一个齿数为</a:t>
            </a:r>
            <a:r>
              <a:rPr lang="en-US" altLang="zh-CN" sz="1200" b="0" dirty="0">
                <a:solidFill>
                  <a:srgbClr val="002060"/>
                </a:solidFill>
                <a:latin typeface="Times New Roman" panose="02020603050405020304" pitchFamily="18" charset="0"/>
              </a:rPr>
              <a:t>z</a:t>
            </a:r>
            <a:r>
              <a:rPr lang="zh-CN" altLang="en-US" sz="1200" b="0" dirty="0">
                <a:solidFill>
                  <a:srgbClr val="002060"/>
                </a:solidFill>
                <a:latin typeface="Times New Roman" panose="02020603050405020304" pitchFamily="18" charset="0"/>
              </a:rPr>
              <a:t>的斜齿轮法面内的齿形与多少个齿的直齿轮的齿形相当，该直齿轮作为选刀号的依据。</a:t>
            </a:r>
            <a:endParaRPr lang="zh-CN" altLang="en-US" sz="1200" b="0" dirty="0">
              <a:solidFill>
                <a:srgbClr val="002060"/>
              </a:solidFill>
              <a:latin typeface="Times New Roman" panose="02020603050405020304" pitchFamily="18" charset="0"/>
            </a:endParaRPr>
          </a:p>
        </p:txBody>
      </p:sp>
      <p:sp>
        <p:nvSpPr>
          <p:cNvPr id="281628" name="文本框 281627"/>
          <p:cNvSpPr txBox="1"/>
          <p:nvPr/>
        </p:nvSpPr>
        <p:spPr>
          <a:xfrm>
            <a:off x="177800" y="612775"/>
            <a:ext cx="7167563" cy="822325"/>
          </a:xfrm>
          <a:prstGeom prst="rect">
            <a:avLst/>
          </a:prstGeom>
          <a:noFill/>
          <a:ln w="19050">
            <a:noFill/>
          </a:ln>
        </p:spPr>
        <p:txBody>
          <a:bodyPr anchor="ctr">
            <a:spAutoFit/>
          </a:bodyPr>
          <a:p>
            <a:pPr algn="l">
              <a:spcBef>
                <a:spcPct val="50000"/>
              </a:spcBef>
            </a:pPr>
            <a:r>
              <a:rPr lang="zh-CN" altLang="en-US" sz="2400" dirty="0">
                <a:solidFill>
                  <a:srgbClr val="C00000"/>
                </a:solidFill>
                <a:latin typeface="Times New Roman" panose="02020603050405020304" pitchFamily="18" charset="0"/>
              </a:rPr>
              <a:t>定义：</a:t>
            </a:r>
            <a:r>
              <a:rPr lang="zh-CN" altLang="en-US" sz="2400" dirty="0">
                <a:solidFill>
                  <a:srgbClr val="002060"/>
                </a:solidFill>
                <a:latin typeface="Times New Roman" panose="02020603050405020304" pitchFamily="18" charset="0"/>
              </a:rPr>
              <a:t>与斜齿轮法面齿形相当的直齿轮，称为该斜齿轮的</a:t>
            </a:r>
            <a:r>
              <a:rPr lang="zh-CN" altLang="en-US" sz="2400" dirty="0">
                <a:solidFill>
                  <a:srgbClr val="FF0000"/>
                </a:solidFill>
                <a:latin typeface="Times New Roman" panose="02020603050405020304" pitchFamily="18" charset="0"/>
              </a:rPr>
              <a:t>当量齿轮</a:t>
            </a:r>
            <a:r>
              <a:rPr lang="zh-CN" altLang="en-US" sz="2400" dirty="0">
                <a:solidFill>
                  <a:srgbClr val="002060"/>
                </a:solidFill>
                <a:latin typeface="Times New Roman" panose="02020603050405020304" pitchFamily="18" charset="0"/>
              </a:rPr>
              <a:t>，其齿数称</a:t>
            </a:r>
            <a:r>
              <a:rPr lang="zh-CN" altLang="en-US" sz="2400" dirty="0">
                <a:solidFill>
                  <a:srgbClr val="FF0000"/>
                </a:solidFill>
                <a:latin typeface="Times New Roman" panose="02020603050405020304" pitchFamily="18" charset="0"/>
              </a:rPr>
              <a:t>当量齿数</a:t>
            </a:r>
            <a:r>
              <a:rPr lang="zh-CN" altLang="en-US" sz="2400" dirty="0">
                <a:solidFill>
                  <a:srgbClr val="002060"/>
                </a:solidFill>
                <a:latin typeface="Times New Roman" panose="02020603050405020304" pitchFamily="18" charset="0"/>
              </a:rPr>
              <a:t>。</a:t>
            </a:r>
            <a:endParaRPr lang="zh-CN" altLang="en-US" sz="2400" b="0" dirty="0">
              <a:solidFill>
                <a:srgbClr val="002060"/>
              </a:solidFill>
              <a:latin typeface="Times New Roman" panose="02020603050405020304" pitchFamily="18" charset="0"/>
            </a:endParaRPr>
          </a:p>
        </p:txBody>
      </p:sp>
      <p:sp>
        <p:nvSpPr>
          <p:cNvPr id="281629" name="文本框 281628"/>
          <p:cNvSpPr txBox="1"/>
          <p:nvPr/>
        </p:nvSpPr>
        <p:spPr>
          <a:xfrm>
            <a:off x="7658100" y="585788"/>
            <a:ext cx="1493838" cy="1004887"/>
          </a:xfrm>
          <a:prstGeom prst="rect">
            <a:avLst/>
          </a:prstGeom>
          <a:noFill/>
          <a:ln w="19050">
            <a:noFill/>
          </a:ln>
        </p:spPr>
        <p:txBody>
          <a:bodyPr anchor="ctr">
            <a:spAutoFit/>
          </a:bodyPr>
          <a:p>
            <a:pPr algn="l"/>
            <a:r>
              <a:rPr lang="zh-CN" altLang="en-US" sz="1200" b="0" dirty="0">
                <a:solidFill>
                  <a:srgbClr val="333399"/>
                </a:solidFill>
                <a:latin typeface="Times New Roman" panose="02020603050405020304" pitchFamily="18" charset="0"/>
              </a:rPr>
              <a:t>过分度圆</a:t>
            </a:r>
            <a:r>
              <a:rPr lang="en-US" altLang="zh-CN" sz="1200" b="0" dirty="0">
                <a:solidFill>
                  <a:srgbClr val="333399"/>
                </a:solidFill>
                <a:latin typeface="Times New Roman" panose="02020603050405020304" pitchFamily="18" charset="0"/>
              </a:rPr>
              <a:t>C</a:t>
            </a:r>
            <a:r>
              <a:rPr lang="zh-CN" altLang="en-US" sz="1200" b="0" dirty="0">
                <a:solidFill>
                  <a:srgbClr val="333399"/>
                </a:solidFill>
                <a:latin typeface="Times New Roman" panose="02020603050405020304" pitchFamily="18" charset="0"/>
              </a:rPr>
              <a:t>点作轮齿的法剖面得一椭圆，以</a:t>
            </a:r>
            <a:r>
              <a:rPr lang="en-US" altLang="zh-CN" sz="1200" b="0" dirty="0">
                <a:solidFill>
                  <a:srgbClr val="333399"/>
                </a:solidFill>
                <a:latin typeface="Times New Roman" panose="02020603050405020304" pitchFamily="18" charset="0"/>
              </a:rPr>
              <a:t>C</a:t>
            </a:r>
            <a:r>
              <a:rPr lang="zh-CN" altLang="en-US" sz="1200" b="0" dirty="0">
                <a:solidFill>
                  <a:srgbClr val="333399"/>
                </a:solidFill>
                <a:latin typeface="Times New Roman" panose="02020603050405020304" pitchFamily="18" charset="0"/>
              </a:rPr>
              <a:t>点曲率半径</a:t>
            </a:r>
            <a:r>
              <a:rPr lang="en-US" altLang="zh-CN" sz="1200" b="0">
                <a:solidFill>
                  <a:srgbClr val="333399"/>
                </a:solidFill>
                <a:latin typeface="隶书" panose="02010509060101010101" pitchFamily="49" charset="-122"/>
                <a:ea typeface="隶书" panose="02010509060101010101" pitchFamily="49" charset="-122"/>
              </a:rPr>
              <a:t>ρ</a:t>
            </a:r>
            <a:r>
              <a:rPr lang="zh-CN" altLang="en-US" sz="1200" b="0" dirty="0">
                <a:solidFill>
                  <a:srgbClr val="333399"/>
                </a:solidFill>
                <a:latin typeface="Times New Roman" panose="02020603050405020304" pitchFamily="18" charset="0"/>
              </a:rPr>
              <a:t>作为当量齿轮的分度圆半径。</a:t>
            </a:r>
            <a:endParaRPr lang="zh-CN" altLang="en-US" sz="1200" dirty="0">
              <a:solidFill>
                <a:srgbClr val="333399"/>
              </a:solidFill>
              <a:latin typeface="Times New Roman" panose="02020603050405020304" pitchFamily="18" charset="0"/>
            </a:endParaRPr>
          </a:p>
        </p:txBody>
      </p:sp>
      <p:sp>
        <p:nvSpPr>
          <p:cNvPr id="281630" name="文本框 281629"/>
          <p:cNvSpPr txBox="1"/>
          <p:nvPr/>
        </p:nvSpPr>
        <p:spPr>
          <a:xfrm>
            <a:off x="1449388" y="2393950"/>
            <a:ext cx="1239837" cy="519113"/>
          </a:xfrm>
          <a:prstGeom prst="rect">
            <a:avLst/>
          </a:prstGeom>
          <a:noFill/>
          <a:ln w="19050">
            <a:noFill/>
          </a:ln>
        </p:spPr>
        <p:txBody>
          <a:bodyPr wrap="none" anchor="ctr">
            <a:spAutoFit/>
          </a:bodyPr>
          <a:p>
            <a:pPr>
              <a:spcBef>
                <a:spcPct val="50000"/>
              </a:spcBef>
            </a:pPr>
            <a:r>
              <a:rPr lang="en-US" altLang="zh-CN" sz="2800" err="1">
                <a:solidFill>
                  <a:schemeClr val="hlink"/>
                </a:solidFill>
                <a:latin typeface="隶书" panose="02010509060101010101" pitchFamily="49" charset="-122"/>
                <a:ea typeface="隶书" panose="02010509060101010101" pitchFamily="49" charset="-122"/>
              </a:rPr>
              <a:t>r</a:t>
            </a:r>
            <a:r>
              <a:rPr lang="en-US" altLang="zh-CN" sz="2800" i="1" baseline="-25000" err="1">
                <a:solidFill>
                  <a:schemeClr val="hlink"/>
                </a:solidFill>
                <a:latin typeface="Times New Roman" panose="02020603050405020304" pitchFamily="18" charset="0"/>
              </a:rPr>
              <a:t>v</a:t>
            </a:r>
            <a:r>
              <a:rPr lang="en-US" altLang="zh-CN" sz="2800" i="1" baseline="-25000">
                <a:solidFill>
                  <a:schemeClr val="hlink"/>
                </a:solidFill>
                <a:latin typeface="Times New Roman" panose="02020603050405020304" pitchFamily="18" charset="0"/>
              </a:rPr>
              <a:t> </a:t>
            </a:r>
            <a:r>
              <a:rPr lang="zh-CN" altLang="en-US" sz="2800">
                <a:solidFill>
                  <a:schemeClr val="hlink"/>
                </a:solidFill>
                <a:latin typeface="Times New Roman" panose="02020603050405020304" pitchFamily="18" charset="0"/>
              </a:rPr>
              <a:t>＝</a:t>
            </a:r>
            <a:r>
              <a:rPr lang="en-US" altLang="zh-CN" sz="2800">
                <a:solidFill>
                  <a:schemeClr val="hlink"/>
                </a:solidFill>
                <a:latin typeface="隶书" panose="02010509060101010101" pitchFamily="49" charset="-122"/>
                <a:ea typeface="隶书" panose="02010509060101010101" pitchFamily="49" charset="-122"/>
              </a:rPr>
              <a:t>ρ</a:t>
            </a:r>
            <a:endParaRPr lang="en-US" altLang="zh-CN" sz="2800">
              <a:solidFill>
                <a:schemeClr val="hlink"/>
              </a:solidFill>
              <a:latin typeface="隶书" panose="02010509060101010101" pitchFamily="49" charset="-122"/>
              <a:ea typeface="隶书" panose="02010509060101010101" pitchFamily="49" charset="-122"/>
            </a:endParaRPr>
          </a:p>
        </p:txBody>
      </p:sp>
      <p:sp>
        <p:nvSpPr>
          <p:cNvPr id="281631" name="文本框 281630"/>
          <p:cNvSpPr txBox="1"/>
          <p:nvPr/>
        </p:nvSpPr>
        <p:spPr>
          <a:xfrm>
            <a:off x="393700" y="2787650"/>
            <a:ext cx="2771775" cy="519113"/>
          </a:xfrm>
          <a:prstGeom prst="rect">
            <a:avLst/>
          </a:prstGeom>
          <a:noFill/>
          <a:ln w="19050">
            <a:noFill/>
          </a:ln>
        </p:spPr>
        <p:txBody>
          <a:bodyPr wrap="none" anchor="ctr">
            <a:spAutoFit/>
          </a:bodyPr>
          <a:p>
            <a:pPr algn="l">
              <a:spcBef>
                <a:spcPct val="50000"/>
              </a:spcBef>
            </a:pPr>
            <a:r>
              <a:rPr lang="zh-CN" altLang="en-US" sz="2800" dirty="0">
                <a:solidFill>
                  <a:schemeClr val="bg1"/>
                </a:solidFill>
                <a:latin typeface="Times New Roman" panose="02020603050405020304" pitchFamily="18" charset="0"/>
              </a:rPr>
              <a:t>得： </a:t>
            </a:r>
            <a:r>
              <a:rPr lang="zh-CN" altLang="en-US" sz="2800" dirty="0">
                <a:solidFill>
                  <a:srgbClr val="FF0000"/>
                </a:solidFill>
                <a:latin typeface="Times New Roman" panose="02020603050405020304" pitchFamily="18" charset="0"/>
              </a:rPr>
              <a:t> </a:t>
            </a:r>
            <a:r>
              <a:rPr lang="en-US" altLang="zh-CN" sz="2800" b="0" i="1" err="1">
                <a:solidFill>
                  <a:srgbClr val="FF0000"/>
                </a:solidFill>
                <a:latin typeface="Times New Roman" panose="02020603050405020304" pitchFamily="18" charset="0"/>
              </a:rPr>
              <a:t>z</a:t>
            </a:r>
            <a:r>
              <a:rPr lang="en-US" altLang="zh-CN" sz="2800" i="1" baseline="-25000" err="1">
                <a:solidFill>
                  <a:srgbClr val="FF0000"/>
                </a:solidFill>
                <a:latin typeface="Times New Roman" panose="02020603050405020304" pitchFamily="18" charset="0"/>
              </a:rPr>
              <a:t>v</a:t>
            </a:r>
            <a:r>
              <a:rPr lang="en-US" altLang="zh-CN" sz="2800" i="1" baseline="-25000">
                <a:solidFill>
                  <a:srgbClr val="FF0000"/>
                </a:solidFill>
                <a:latin typeface="Times New Roman" panose="02020603050405020304" pitchFamily="18" charset="0"/>
              </a:rPr>
              <a:t> </a:t>
            </a:r>
            <a:r>
              <a:rPr lang="zh-CN" altLang="en-US" sz="2800">
                <a:solidFill>
                  <a:schemeClr val="folHlink"/>
                </a:solidFill>
                <a:latin typeface="Times New Roman" panose="02020603050405020304" pitchFamily="18" charset="0"/>
              </a:rPr>
              <a:t>＝</a:t>
            </a:r>
            <a:r>
              <a:rPr lang="en-US" altLang="zh-CN" sz="2800" i="1">
                <a:solidFill>
                  <a:schemeClr val="folHlink"/>
                </a:solidFill>
                <a:latin typeface="Times New Roman" panose="02020603050405020304" pitchFamily="18" charset="0"/>
              </a:rPr>
              <a:t>2</a:t>
            </a:r>
            <a:r>
              <a:rPr lang="en-US" altLang="zh-CN" sz="2800">
                <a:solidFill>
                  <a:schemeClr val="folHlink"/>
                </a:solidFill>
                <a:latin typeface="隶书" panose="02010509060101010101" pitchFamily="49" charset="-122"/>
                <a:ea typeface="隶书" panose="02010509060101010101" pitchFamily="49" charset="-122"/>
              </a:rPr>
              <a:t>r</a:t>
            </a:r>
            <a:r>
              <a:rPr lang="en-US" altLang="zh-CN" sz="2800" i="1" baseline="-25000">
                <a:solidFill>
                  <a:schemeClr val="folHlink"/>
                </a:solidFill>
                <a:latin typeface="Times New Roman" panose="02020603050405020304" pitchFamily="18" charset="0"/>
              </a:rPr>
              <a:t>v </a:t>
            </a:r>
            <a:r>
              <a:rPr lang="en-US" altLang="zh-CN" sz="2800" i="1" err="1">
                <a:solidFill>
                  <a:schemeClr val="folHlink"/>
                </a:solidFill>
                <a:latin typeface="Times New Roman" panose="02020603050405020304" pitchFamily="18" charset="0"/>
              </a:rPr>
              <a:t>/m</a:t>
            </a:r>
            <a:r>
              <a:rPr lang="en-US" altLang="zh-CN" sz="2800" i="1" baseline="-25000" err="1">
                <a:solidFill>
                  <a:schemeClr val="folHlink"/>
                </a:solidFill>
                <a:latin typeface="Times New Roman" panose="02020603050405020304" pitchFamily="18" charset="0"/>
              </a:rPr>
              <a:t>n</a:t>
            </a:r>
            <a:endParaRPr lang="en-US" altLang="zh-CN" sz="2800" i="1" baseline="-25000">
              <a:solidFill>
                <a:schemeClr val="folHlink"/>
              </a:solidFill>
              <a:latin typeface="Times New Roman" panose="02020603050405020304" pitchFamily="18" charset="0"/>
            </a:endParaRPr>
          </a:p>
        </p:txBody>
      </p:sp>
      <p:sp>
        <p:nvSpPr>
          <p:cNvPr id="281632" name="文本框 281631"/>
          <p:cNvSpPr txBox="1"/>
          <p:nvPr/>
        </p:nvSpPr>
        <p:spPr>
          <a:xfrm>
            <a:off x="195263" y="4603750"/>
            <a:ext cx="5245100" cy="822325"/>
          </a:xfrm>
          <a:prstGeom prst="rect">
            <a:avLst/>
          </a:prstGeom>
          <a:noFill/>
          <a:ln w="19050">
            <a:noFill/>
          </a:ln>
        </p:spPr>
        <p:txBody>
          <a:bodyPr anchor="ctr">
            <a:spAutoFit/>
          </a:bodyPr>
          <a:p>
            <a:pPr algn="l"/>
            <a:r>
              <a:rPr lang="zh-CN" altLang="en-US" sz="2400" dirty="0">
                <a:solidFill>
                  <a:srgbClr val="002060"/>
                </a:solidFill>
                <a:latin typeface="宋体" panose="02010600030101010101" pitchFamily="2" charset="-122"/>
              </a:rPr>
              <a:t>斜齿轮不发生根切的最少齿数：</a:t>
            </a:r>
            <a:endParaRPr lang="zh-CN" altLang="en-US" sz="2400" dirty="0">
              <a:solidFill>
                <a:srgbClr val="002060"/>
              </a:solidFill>
              <a:latin typeface="宋体" panose="02010600030101010101" pitchFamily="2" charset="-122"/>
            </a:endParaRPr>
          </a:p>
          <a:p>
            <a:pPr algn="l"/>
            <a:r>
              <a:rPr lang="zh-CN" altLang="en-US" sz="2400" dirty="0">
                <a:solidFill>
                  <a:srgbClr val="002060"/>
                </a:solidFill>
                <a:latin typeface="宋体" panose="02010600030101010101" pitchFamily="2" charset="-122"/>
              </a:rPr>
              <a:t>        </a:t>
            </a:r>
            <a:r>
              <a:rPr lang="en-US" altLang="zh-CN" sz="2400" i="1" err="1">
                <a:solidFill>
                  <a:srgbClr val="002060"/>
                </a:solidFill>
                <a:latin typeface="Times New Roman" panose="02020603050405020304" pitchFamily="18" charset="0"/>
              </a:rPr>
              <a:t>z</a:t>
            </a:r>
            <a:r>
              <a:rPr lang="en-US" altLang="zh-CN" sz="2400" i="1" baseline="-25000" err="1">
                <a:solidFill>
                  <a:srgbClr val="002060"/>
                </a:solidFill>
                <a:latin typeface="Times New Roman" panose="02020603050405020304" pitchFamily="18" charset="0"/>
              </a:rPr>
              <a:t>min</a:t>
            </a:r>
            <a:r>
              <a:rPr lang="en-US" altLang="zh-CN" sz="2400" i="1">
                <a:solidFill>
                  <a:srgbClr val="002060"/>
                </a:solidFill>
                <a:latin typeface="Times New Roman" panose="02020603050405020304" pitchFamily="18" charset="0"/>
              </a:rPr>
              <a:t>=</a:t>
            </a:r>
            <a:r>
              <a:rPr lang="en-US" altLang="zh-CN" sz="2400" i="1">
                <a:solidFill>
                  <a:srgbClr val="002060"/>
                </a:solidFill>
                <a:latin typeface="隶书" panose="02010509060101010101" pitchFamily="49" charset="-122"/>
                <a:ea typeface="隶书" panose="02010509060101010101" pitchFamily="49" charset="-122"/>
              </a:rPr>
              <a:t>z</a:t>
            </a:r>
            <a:r>
              <a:rPr lang="en-US" altLang="zh-CN" sz="2400" i="1" baseline="-25000">
                <a:solidFill>
                  <a:srgbClr val="002060"/>
                </a:solidFill>
                <a:latin typeface="Times New Roman" panose="02020603050405020304" pitchFamily="18" charset="0"/>
              </a:rPr>
              <a:t>vmin</a:t>
            </a:r>
            <a:r>
              <a:rPr lang="en-US" altLang="zh-CN" sz="2400" i="1">
                <a:solidFill>
                  <a:srgbClr val="002060"/>
                </a:solidFill>
                <a:latin typeface="Times New Roman" panose="02020603050405020304" pitchFamily="18" charset="0"/>
              </a:rPr>
              <a:t>cos</a:t>
            </a:r>
            <a:r>
              <a:rPr lang="en-US" altLang="zh-CN" sz="2400" i="1" baseline="30000">
                <a:solidFill>
                  <a:srgbClr val="002060"/>
                </a:solidFill>
                <a:latin typeface="Times New Roman" panose="02020603050405020304" pitchFamily="18" charset="0"/>
              </a:rPr>
              <a:t>3</a:t>
            </a:r>
            <a:r>
              <a:rPr lang="en-US" altLang="zh-CN" sz="2400" i="1">
                <a:solidFill>
                  <a:srgbClr val="002060"/>
                </a:solidFill>
                <a:latin typeface="隶书" panose="02010509060101010101" pitchFamily="49" charset="-122"/>
                <a:ea typeface="隶书" panose="02010509060101010101" pitchFamily="49" charset="-122"/>
              </a:rPr>
              <a:t>β</a:t>
            </a:r>
            <a:endParaRPr lang="en-US" altLang="zh-CN" sz="2400" b="0" i="1">
              <a:solidFill>
                <a:srgbClr val="002060"/>
              </a:solidFill>
              <a:latin typeface="隶书" panose="02010509060101010101" pitchFamily="49" charset="-122"/>
              <a:ea typeface="隶书" panose="02010509060101010101" pitchFamily="49" charset="-122"/>
            </a:endParaRPr>
          </a:p>
        </p:txBody>
      </p:sp>
      <p:sp>
        <p:nvSpPr>
          <p:cNvPr id="281633" name="文本框 281632"/>
          <p:cNvSpPr txBox="1"/>
          <p:nvPr/>
        </p:nvSpPr>
        <p:spPr>
          <a:xfrm>
            <a:off x="1595438" y="3200400"/>
            <a:ext cx="2268537" cy="519113"/>
          </a:xfrm>
          <a:prstGeom prst="rect">
            <a:avLst/>
          </a:prstGeom>
          <a:noFill/>
          <a:ln w="19050">
            <a:noFill/>
          </a:ln>
        </p:spPr>
        <p:txBody>
          <a:bodyPr wrap="none" anchor="ctr">
            <a:spAutoFit/>
          </a:bodyPr>
          <a:p>
            <a:pPr>
              <a:spcBef>
                <a:spcPct val="50000"/>
              </a:spcBef>
            </a:pPr>
            <a:r>
              <a:rPr lang="zh-CN" altLang="en-US" sz="2800">
                <a:solidFill>
                  <a:schemeClr val="folHlink"/>
                </a:solidFill>
                <a:latin typeface="Times New Roman" panose="02020603050405020304" pitchFamily="18" charset="0"/>
              </a:rPr>
              <a:t>＝</a:t>
            </a:r>
            <a:r>
              <a:rPr lang="en-US" altLang="zh-CN" sz="2800" i="1" err="1">
                <a:solidFill>
                  <a:schemeClr val="folHlink"/>
                </a:solidFill>
                <a:latin typeface="Times New Roman" panose="02020603050405020304" pitchFamily="18" charset="0"/>
              </a:rPr>
              <a:t>d/m</a:t>
            </a:r>
            <a:r>
              <a:rPr lang="en-US" altLang="zh-CN" sz="2800" i="1" baseline="-25000" err="1">
                <a:solidFill>
                  <a:schemeClr val="folHlink"/>
                </a:solidFill>
                <a:latin typeface="Times New Roman" panose="02020603050405020304" pitchFamily="18" charset="0"/>
              </a:rPr>
              <a:t>n</a:t>
            </a:r>
            <a:r>
              <a:rPr lang="en-US" altLang="zh-CN" sz="2800" i="1">
                <a:solidFill>
                  <a:schemeClr val="folHlink"/>
                </a:solidFill>
                <a:latin typeface="Times New Roman" panose="02020603050405020304" pitchFamily="18" charset="0"/>
              </a:rPr>
              <a:t> cos</a:t>
            </a:r>
            <a:r>
              <a:rPr lang="en-US" altLang="zh-CN" sz="2800" i="1" baseline="30000">
                <a:solidFill>
                  <a:schemeClr val="folHlink"/>
                </a:solidFill>
                <a:latin typeface="Times New Roman" panose="02020603050405020304" pitchFamily="18" charset="0"/>
              </a:rPr>
              <a:t>2</a:t>
            </a:r>
            <a:r>
              <a:rPr lang="en-US" altLang="zh-CN" sz="2800" i="1">
                <a:solidFill>
                  <a:schemeClr val="folHlink"/>
                </a:solidFill>
                <a:latin typeface="隶书" panose="02010509060101010101" pitchFamily="49" charset="-122"/>
                <a:ea typeface="隶书" panose="02010509060101010101" pitchFamily="49" charset="-122"/>
              </a:rPr>
              <a:t>β</a:t>
            </a:r>
            <a:endParaRPr lang="en-US" altLang="zh-CN" sz="2800" b="0" i="1">
              <a:solidFill>
                <a:schemeClr val="folHlink"/>
              </a:solidFill>
              <a:latin typeface="隶书" panose="02010509060101010101" pitchFamily="49" charset="-122"/>
              <a:ea typeface="隶书" panose="02010509060101010101" pitchFamily="49" charset="-122"/>
            </a:endParaRPr>
          </a:p>
        </p:txBody>
      </p:sp>
      <p:sp>
        <p:nvSpPr>
          <p:cNvPr id="281634" name="文本框 281633"/>
          <p:cNvSpPr txBox="1"/>
          <p:nvPr/>
        </p:nvSpPr>
        <p:spPr>
          <a:xfrm>
            <a:off x="1576388" y="3605213"/>
            <a:ext cx="2560637" cy="519112"/>
          </a:xfrm>
          <a:prstGeom prst="rect">
            <a:avLst/>
          </a:prstGeom>
          <a:noFill/>
          <a:ln w="19050">
            <a:noFill/>
          </a:ln>
        </p:spPr>
        <p:txBody>
          <a:bodyPr wrap="none" anchor="ctr">
            <a:spAutoFit/>
          </a:bodyPr>
          <a:p>
            <a:pPr>
              <a:spcBef>
                <a:spcPct val="50000"/>
              </a:spcBef>
            </a:pPr>
            <a:r>
              <a:rPr lang="zh-CN" altLang="en-US" sz="2800">
                <a:solidFill>
                  <a:schemeClr val="folHlink"/>
                </a:solidFill>
                <a:latin typeface="Times New Roman" panose="02020603050405020304" pitchFamily="18" charset="0"/>
              </a:rPr>
              <a:t>＝</a:t>
            </a:r>
            <a:r>
              <a:rPr lang="en-US" altLang="zh-CN" sz="2800" i="1" err="1">
                <a:solidFill>
                  <a:schemeClr val="folHlink"/>
                </a:solidFill>
                <a:latin typeface="隶书" panose="02010509060101010101" pitchFamily="49" charset="-122"/>
                <a:ea typeface="隶书" panose="02010509060101010101" pitchFamily="49" charset="-122"/>
              </a:rPr>
              <a:t>zm</a:t>
            </a:r>
            <a:r>
              <a:rPr lang="en-US" altLang="zh-CN" sz="2800" i="1" baseline="-25000" err="1">
                <a:solidFill>
                  <a:schemeClr val="folHlink"/>
                </a:solidFill>
                <a:latin typeface="Times New Roman" panose="02020603050405020304" pitchFamily="18" charset="0"/>
              </a:rPr>
              <a:t>t</a:t>
            </a:r>
            <a:r>
              <a:rPr lang="en-US" altLang="zh-CN" sz="2800" i="1">
                <a:solidFill>
                  <a:schemeClr val="folHlink"/>
                </a:solidFill>
                <a:latin typeface="隶书" panose="02010509060101010101" pitchFamily="49" charset="-122"/>
                <a:ea typeface="隶书" panose="02010509060101010101" pitchFamily="49" charset="-122"/>
              </a:rPr>
              <a:t>/</a:t>
            </a:r>
            <a:r>
              <a:rPr lang="en-US" altLang="zh-CN" sz="2800" i="1" baseline="-25000">
                <a:solidFill>
                  <a:schemeClr val="folHlink"/>
                </a:solidFill>
                <a:latin typeface="Times New Roman" panose="02020603050405020304" pitchFamily="18" charset="0"/>
              </a:rPr>
              <a:t> </a:t>
            </a:r>
            <a:r>
              <a:rPr lang="en-US" altLang="zh-CN" sz="2800" i="1" err="1">
                <a:solidFill>
                  <a:schemeClr val="folHlink"/>
                </a:solidFill>
                <a:latin typeface="隶书" panose="02010509060101010101" pitchFamily="49" charset="-122"/>
                <a:ea typeface="隶书" panose="02010509060101010101" pitchFamily="49" charset="-122"/>
              </a:rPr>
              <a:t>m</a:t>
            </a:r>
            <a:r>
              <a:rPr lang="en-US" altLang="zh-CN" sz="2800" i="1" baseline="-25000" err="1">
                <a:solidFill>
                  <a:schemeClr val="folHlink"/>
                </a:solidFill>
                <a:latin typeface="Times New Roman" panose="02020603050405020304" pitchFamily="18" charset="0"/>
              </a:rPr>
              <a:t>n</a:t>
            </a:r>
            <a:r>
              <a:rPr lang="en-US" altLang="zh-CN" sz="2800" i="1">
                <a:solidFill>
                  <a:schemeClr val="folHlink"/>
                </a:solidFill>
                <a:latin typeface="Times New Roman" panose="02020603050405020304" pitchFamily="18" charset="0"/>
              </a:rPr>
              <a:t> cos</a:t>
            </a:r>
            <a:r>
              <a:rPr lang="en-US" altLang="zh-CN" sz="2800" i="1" baseline="30000">
                <a:solidFill>
                  <a:schemeClr val="folHlink"/>
                </a:solidFill>
                <a:latin typeface="Times New Roman" panose="02020603050405020304" pitchFamily="18" charset="0"/>
              </a:rPr>
              <a:t>2</a:t>
            </a:r>
            <a:r>
              <a:rPr lang="en-US" altLang="zh-CN" sz="2800" i="1">
                <a:solidFill>
                  <a:schemeClr val="folHlink"/>
                </a:solidFill>
                <a:latin typeface="隶书" panose="02010509060101010101" pitchFamily="49" charset="-122"/>
                <a:ea typeface="隶书" panose="02010509060101010101" pitchFamily="49" charset="-122"/>
              </a:rPr>
              <a:t>β</a:t>
            </a:r>
            <a:endParaRPr lang="en-US" altLang="zh-CN" sz="2800" i="1">
              <a:solidFill>
                <a:schemeClr val="folHlink"/>
              </a:solidFill>
              <a:latin typeface="隶书" panose="02010509060101010101" pitchFamily="49" charset="-122"/>
              <a:ea typeface="隶书" panose="02010509060101010101" pitchFamily="49" charset="-122"/>
            </a:endParaRPr>
          </a:p>
        </p:txBody>
      </p:sp>
      <p:sp>
        <p:nvSpPr>
          <p:cNvPr id="281635" name="文本框 281634"/>
          <p:cNvSpPr txBox="1"/>
          <p:nvPr/>
        </p:nvSpPr>
        <p:spPr>
          <a:xfrm>
            <a:off x="1585913" y="4076700"/>
            <a:ext cx="1939925" cy="519113"/>
          </a:xfrm>
          <a:prstGeom prst="rect">
            <a:avLst/>
          </a:prstGeom>
          <a:noFill/>
          <a:ln w="19050">
            <a:noFill/>
          </a:ln>
        </p:spPr>
        <p:txBody>
          <a:bodyPr wrap="none" anchor="ctr">
            <a:spAutoFit/>
          </a:bodyPr>
          <a:p>
            <a:pPr>
              <a:spcBef>
                <a:spcPct val="50000"/>
              </a:spcBef>
            </a:pPr>
            <a:r>
              <a:rPr lang="zh-CN" altLang="en-US" sz="2800">
                <a:solidFill>
                  <a:srgbClr val="FF0000"/>
                </a:solidFill>
                <a:latin typeface="Times New Roman" panose="02020603050405020304" pitchFamily="18" charset="0"/>
              </a:rPr>
              <a:t>＝</a:t>
            </a:r>
            <a:r>
              <a:rPr lang="en-US" altLang="zh-CN" sz="2800" i="1">
                <a:solidFill>
                  <a:srgbClr val="FF0000"/>
                </a:solidFill>
                <a:latin typeface="隶书" panose="02010509060101010101" pitchFamily="49" charset="-122"/>
                <a:ea typeface="隶书" panose="02010509060101010101" pitchFamily="49" charset="-122"/>
              </a:rPr>
              <a:t>z/</a:t>
            </a:r>
            <a:r>
              <a:rPr lang="en-US" altLang="zh-CN" sz="2800" i="1">
                <a:solidFill>
                  <a:srgbClr val="FF0000"/>
                </a:solidFill>
                <a:latin typeface="Times New Roman" panose="02020603050405020304" pitchFamily="18" charset="0"/>
              </a:rPr>
              <a:t> cos</a:t>
            </a:r>
            <a:r>
              <a:rPr lang="en-US" altLang="zh-CN" sz="2800" i="1" baseline="30000">
                <a:solidFill>
                  <a:srgbClr val="FF0000"/>
                </a:solidFill>
                <a:latin typeface="Times New Roman" panose="02020603050405020304" pitchFamily="18" charset="0"/>
              </a:rPr>
              <a:t>3</a:t>
            </a:r>
            <a:r>
              <a:rPr lang="en-US" altLang="zh-CN" sz="2800" i="1">
                <a:solidFill>
                  <a:srgbClr val="FF0000"/>
                </a:solidFill>
                <a:latin typeface="隶书" panose="02010509060101010101" pitchFamily="49" charset="-122"/>
                <a:ea typeface="隶书" panose="02010509060101010101" pitchFamily="49" charset="-122"/>
              </a:rPr>
              <a:t>β</a:t>
            </a:r>
            <a:endParaRPr lang="en-US" altLang="zh-CN" sz="2800" b="0" i="1">
              <a:solidFill>
                <a:srgbClr val="FF0000"/>
              </a:solidFill>
              <a:latin typeface="隶书" panose="02010509060101010101" pitchFamily="49" charset="-122"/>
              <a:ea typeface="隶书" panose="02010509060101010101" pitchFamily="49" charset="-122"/>
            </a:endParaRPr>
          </a:p>
        </p:txBody>
      </p:sp>
      <p:sp>
        <p:nvSpPr>
          <p:cNvPr id="281657" name="椭圆 281656"/>
          <p:cNvSpPr/>
          <p:nvPr/>
        </p:nvSpPr>
        <p:spPr>
          <a:xfrm>
            <a:off x="6342063" y="1973263"/>
            <a:ext cx="2274887" cy="2262187"/>
          </a:xfrm>
          <a:prstGeom prst="ellipse">
            <a:avLst/>
          </a:prstGeom>
          <a:noFill/>
          <a:ln w="19050" cap="flat" cmpd="sng">
            <a:solidFill>
              <a:schemeClr val="hlink"/>
            </a:solidFill>
            <a:prstDash val="lgDashDot"/>
            <a:headEnd type="none" w="med" len="med"/>
            <a:tailEnd type="none" w="med" len="med"/>
          </a:ln>
        </p:spPr>
        <p:txBody>
          <a:bodyPr/>
          <a:p>
            <a:endParaRPr lang="zh-CN" altLang="en-US"/>
          </a:p>
        </p:txBody>
      </p:sp>
      <p:grpSp>
        <p:nvGrpSpPr>
          <p:cNvPr id="281775" name="组合 281774"/>
          <p:cNvGrpSpPr/>
          <p:nvPr/>
        </p:nvGrpSpPr>
        <p:grpSpPr>
          <a:xfrm>
            <a:off x="6503988" y="3521075"/>
            <a:ext cx="979487" cy="457200"/>
            <a:chOff x="4097" y="2218"/>
            <a:chExt cx="617" cy="288"/>
          </a:xfrm>
        </p:grpSpPr>
        <p:sp>
          <p:nvSpPr>
            <p:cNvPr id="281659" name="直接连接符 281658"/>
            <p:cNvSpPr/>
            <p:nvPr/>
          </p:nvSpPr>
          <p:spPr>
            <a:xfrm>
              <a:off x="4097" y="2490"/>
              <a:ext cx="617" cy="0"/>
            </a:xfrm>
            <a:prstGeom prst="line">
              <a:avLst/>
            </a:prstGeom>
            <a:ln w="19050" cap="flat" cmpd="sng">
              <a:solidFill>
                <a:schemeClr val="tx2"/>
              </a:solidFill>
              <a:prstDash val="solid"/>
              <a:headEnd type="triangle" w="sm" len="lg"/>
              <a:tailEnd type="triangle" w="sm" len="lg"/>
            </a:ln>
          </p:spPr>
        </p:sp>
        <p:sp>
          <p:nvSpPr>
            <p:cNvPr id="281660" name="文本框 281659"/>
            <p:cNvSpPr txBox="1"/>
            <p:nvPr/>
          </p:nvSpPr>
          <p:spPr>
            <a:xfrm>
              <a:off x="4301" y="2218"/>
              <a:ext cx="202" cy="288"/>
            </a:xfrm>
            <a:prstGeom prst="rect">
              <a:avLst/>
            </a:prstGeom>
            <a:noFill/>
            <a:ln w="9525">
              <a:noFill/>
            </a:ln>
          </p:spPr>
          <p:txBody>
            <a:bodyPr>
              <a:spAutoFit/>
            </a:bodyPr>
            <a:p>
              <a:pPr>
                <a:spcBef>
                  <a:spcPct val="50000"/>
                </a:spcBef>
              </a:pPr>
              <a:r>
                <a:rPr lang="en-US" altLang="zh-CN" sz="2400" i="1">
                  <a:solidFill>
                    <a:schemeClr val="folHlink"/>
                  </a:solidFill>
                  <a:latin typeface="Times New Roman" panose="02020603050405020304" pitchFamily="18" charset="0"/>
                </a:rPr>
                <a:t>a</a:t>
              </a:r>
              <a:endParaRPr lang="en-US" altLang="zh-CN" sz="2400">
                <a:solidFill>
                  <a:schemeClr val="folHlink"/>
                </a:solidFill>
                <a:latin typeface="Times New Roman" panose="02020603050405020304" pitchFamily="18" charset="0"/>
              </a:endParaRPr>
            </a:p>
          </p:txBody>
        </p:sp>
      </p:grpSp>
      <p:sp>
        <p:nvSpPr>
          <p:cNvPr id="281661" name="文本框 281660"/>
          <p:cNvSpPr txBox="1"/>
          <p:nvPr/>
        </p:nvSpPr>
        <p:spPr>
          <a:xfrm>
            <a:off x="822325" y="1434783"/>
            <a:ext cx="4069080" cy="460375"/>
          </a:xfrm>
          <a:prstGeom prst="rect">
            <a:avLst/>
          </a:prstGeom>
          <a:noFill/>
          <a:ln w="19050">
            <a:noFill/>
          </a:ln>
        </p:spPr>
        <p:txBody>
          <a:bodyPr wrap="square" anchor="ctr">
            <a:spAutoFit/>
          </a:bodyPr>
          <a:p>
            <a:pPr algn="l"/>
            <a:r>
              <a:rPr lang="zh-CN" altLang="en-US" sz="2400" dirty="0">
                <a:solidFill>
                  <a:schemeClr val="folHlink"/>
                </a:solidFill>
                <a:latin typeface="Times New Roman" panose="02020603050405020304" pitchFamily="18" charset="0"/>
              </a:rPr>
              <a:t>椭圆长半轴</a:t>
            </a:r>
            <a:r>
              <a:rPr lang="en-US" altLang="zh-CN" sz="2400">
                <a:solidFill>
                  <a:schemeClr val="folHlink"/>
                </a:solidFill>
                <a:latin typeface="Times New Roman" panose="02020603050405020304" pitchFamily="18" charset="0"/>
              </a:rPr>
              <a:t>: </a:t>
            </a:r>
            <a:r>
              <a:rPr lang="en-US" altLang="zh-CN" sz="2400" i="1">
                <a:solidFill>
                  <a:schemeClr val="hlink"/>
                </a:solidFill>
                <a:latin typeface="Times New Roman" panose="02020603050405020304" pitchFamily="18" charset="0"/>
              </a:rPr>
              <a:t>a</a:t>
            </a:r>
            <a:r>
              <a:rPr lang="en-US" altLang="zh-CN" sz="2400">
                <a:solidFill>
                  <a:schemeClr val="hlink"/>
                </a:solidFill>
                <a:latin typeface="Times New Roman" panose="02020603050405020304" pitchFamily="18" charset="0"/>
              </a:rPr>
              <a:t>=d/2cos</a:t>
            </a:r>
            <a:r>
              <a:rPr lang="en-US" altLang="zh-CN" sz="2400" i="1">
                <a:solidFill>
                  <a:schemeClr val="hlink"/>
                </a:solidFill>
                <a:latin typeface="隶书" panose="02010509060101010101" pitchFamily="49" charset="-122"/>
                <a:ea typeface="隶书" panose="02010509060101010101" pitchFamily="49" charset="-122"/>
              </a:rPr>
              <a:t>β</a:t>
            </a:r>
            <a:endParaRPr lang="en-US" altLang="zh-CN" sz="2400">
              <a:solidFill>
                <a:schemeClr val="hlink"/>
              </a:solidFill>
              <a:latin typeface="Times New Roman" panose="02020603050405020304" pitchFamily="18" charset="0"/>
            </a:endParaRPr>
          </a:p>
        </p:txBody>
      </p:sp>
      <p:sp>
        <p:nvSpPr>
          <p:cNvPr id="281663" name="文本框 281662"/>
          <p:cNvSpPr txBox="1"/>
          <p:nvPr/>
        </p:nvSpPr>
        <p:spPr>
          <a:xfrm>
            <a:off x="173038" y="1885950"/>
            <a:ext cx="6111875" cy="639763"/>
          </a:xfrm>
          <a:prstGeom prst="rect">
            <a:avLst/>
          </a:prstGeom>
          <a:noFill/>
          <a:ln w="19050">
            <a:noFill/>
          </a:ln>
        </p:spPr>
        <p:txBody>
          <a:bodyPr anchor="ctr">
            <a:spAutoFit/>
          </a:bodyPr>
          <a:p>
            <a:pPr algn="l"/>
            <a:r>
              <a:rPr lang="zh-CN" altLang="en-US" sz="2400" dirty="0">
                <a:solidFill>
                  <a:schemeClr val="folHlink"/>
                </a:solidFill>
                <a:latin typeface="宋体" panose="02010600030101010101" pitchFamily="2" charset="-122"/>
              </a:rPr>
              <a:t>短半轴</a:t>
            </a:r>
            <a:r>
              <a:rPr lang="en-US" altLang="zh-CN" sz="2400">
                <a:solidFill>
                  <a:schemeClr val="folHlink"/>
                </a:solidFill>
                <a:latin typeface="宋体" panose="02010600030101010101" pitchFamily="2" charset="-122"/>
              </a:rPr>
              <a:t>:</a:t>
            </a:r>
            <a:r>
              <a:rPr lang="en-US" altLang="zh-CN" sz="2400">
                <a:solidFill>
                  <a:srgbClr val="C00000"/>
                </a:solidFill>
                <a:latin typeface="宋体" panose="02010600030101010101" pitchFamily="2" charset="-122"/>
              </a:rPr>
              <a:t>    </a:t>
            </a:r>
            <a:r>
              <a:rPr lang="en-US" altLang="zh-CN" sz="2400">
                <a:solidFill>
                  <a:schemeClr val="hlink"/>
                </a:solidFill>
                <a:latin typeface="宋体" panose="02010600030101010101" pitchFamily="2" charset="-122"/>
              </a:rPr>
              <a:t>b=d/2</a:t>
            </a:r>
            <a:r>
              <a:rPr lang="en-US" altLang="zh-CN" sz="2400">
                <a:solidFill>
                  <a:srgbClr val="FF5050"/>
                </a:solidFill>
                <a:latin typeface="宋体" panose="02010600030101010101" pitchFamily="2" charset="-122"/>
              </a:rPr>
              <a:t>  </a:t>
            </a:r>
            <a:r>
              <a:rPr lang="zh-CN" altLang="en-US" sz="2400" b="0" dirty="0">
                <a:solidFill>
                  <a:srgbClr val="333399"/>
                </a:solidFill>
                <a:latin typeface="宋体" panose="02010600030101010101" pitchFamily="2" charset="-122"/>
              </a:rPr>
              <a:t>由高数知，</a:t>
            </a:r>
            <a:r>
              <a:rPr lang="en-US" altLang="zh-CN" sz="2400" b="0" dirty="0">
                <a:solidFill>
                  <a:srgbClr val="333399"/>
                </a:solidFill>
                <a:latin typeface="宋体" panose="02010600030101010101" pitchFamily="2" charset="-122"/>
              </a:rPr>
              <a:t>C</a:t>
            </a:r>
            <a:r>
              <a:rPr lang="zh-CN" altLang="en-US" sz="2400" b="0" dirty="0">
                <a:solidFill>
                  <a:srgbClr val="333399"/>
                </a:solidFill>
                <a:latin typeface="宋体" panose="02010600030101010101" pitchFamily="2" charset="-122"/>
              </a:rPr>
              <a:t>点的</a:t>
            </a:r>
            <a:r>
              <a:rPr lang="zh-CN" altLang="en-US" sz="1200" b="0" dirty="0">
                <a:solidFill>
                  <a:srgbClr val="333399"/>
                </a:solidFill>
                <a:latin typeface="宋体" panose="02010600030101010101" pitchFamily="2" charset="-122"/>
              </a:rPr>
              <a:t>曲率半径为：</a:t>
            </a:r>
            <a:endParaRPr lang="zh-CN" altLang="en-US" sz="1200" b="0">
              <a:solidFill>
                <a:srgbClr val="333399"/>
              </a:solidFill>
              <a:latin typeface="Times New Roman" panose="02020603050405020304" pitchFamily="18" charset="0"/>
            </a:endParaRPr>
          </a:p>
        </p:txBody>
      </p:sp>
      <p:grpSp>
        <p:nvGrpSpPr>
          <p:cNvPr id="281777" name="组合 281776"/>
          <p:cNvGrpSpPr/>
          <p:nvPr/>
        </p:nvGrpSpPr>
        <p:grpSpPr>
          <a:xfrm>
            <a:off x="7483475" y="2733675"/>
            <a:ext cx="1555750" cy="736600"/>
            <a:chOff x="4714" y="1722"/>
            <a:chExt cx="980" cy="464"/>
          </a:xfrm>
        </p:grpSpPr>
        <p:grpSp>
          <p:nvGrpSpPr>
            <p:cNvPr id="281776" name="组合 281775"/>
            <p:cNvGrpSpPr/>
            <p:nvPr/>
          </p:nvGrpSpPr>
          <p:grpSpPr>
            <a:xfrm>
              <a:off x="4714" y="1722"/>
              <a:ext cx="827" cy="464"/>
              <a:chOff x="4714" y="1722"/>
              <a:chExt cx="827" cy="464"/>
            </a:xfrm>
          </p:grpSpPr>
          <p:sp>
            <p:nvSpPr>
              <p:cNvPr id="281665" name="直接连接符 281664"/>
              <p:cNvSpPr/>
              <p:nvPr/>
            </p:nvSpPr>
            <p:spPr>
              <a:xfrm flipV="1">
                <a:off x="4714" y="2186"/>
                <a:ext cx="827" cy="0"/>
              </a:xfrm>
              <a:prstGeom prst="line">
                <a:avLst/>
              </a:prstGeom>
              <a:ln w="12700" cap="flat" cmpd="sng">
                <a:solidFill>
                  <a:srgbClr val="FF3300"/>
                </a:solidFill>
                <a:prstDash val="solid"/>
                <a:headEnd type="none" w="med" len="med"/>
                <a:tailEnd type="none" w="med" len="med"/>
              </a:ln>
            </p:spPr>
          </p:sp>
          <p:sp>
            <p:nvSpPr>
              <p:cNvPr id="281666" name="直接连接符 281665"/>
              <p:cNvSpPr/>
              <p:nvPr/>
            </p:nvSpPr>
            <p:spPr>
              <a:xfrm flipV="1">
                <a:off x="5503" y="1722"/>
                <a:ext cx="0" cy="464"/>
              </a:xfrm>
              <a:prstGeom prst="line">
                <a:avLst/>
              </a:prstGeom>
              <a:ln w="12700" cap="flat" cmpd="sng">
                <a:solidFill>
                  <a:srgbClr val="FF3300"/>
                </a:solidFill>
                <a:prstDash val="solid"/>
                <a:headEnd type="triangle" w="sm" len="lg"/>
                <a:tailEnd type="triangle" w="sm" len="lg"/>
              </a:ln>
            </p:spPr>
          </p:sp>
        </p:grpSp>
        <p:sp>
          <p:nvSpPr>
            <p:cNvPr id="281667" name="文本框 281666"/>
            <p:cNvSpPr txBox="1"/>
            <p:nvPr/>
          </p:nvSpPr>
          <p:spPr>
            <a:xfrm>
              <a:off x="5454" y="1805"/>
              <a:ext cx="240" cy="288"/>
            </a:xfrm>
            <a:prstGeom prst="rect">
              <a:avLst/>
            </a:prstGeom>
            <a:noFill/>
            <a:ln w="12700" cmpd="sng">
              <a:noFill/>
              <a:prstDash val="solid"/>
            </a:ln>
          </p:spPr>
          <p:txBody>
            <a:bodyPr>
              <a:spAutoFit/>
            </a:bodyPr>
            <a:p>
              <a:pPr>
                <a:spcBef>
                  <a:spcPct val="50000"/>
                </a:spcBef>
              </a:pPr>
              <a:r>
                <a:rPr lang="en-US" altLang="zh-CN" sz="2400">
                  <a:solidFill>
                    <a:schemeClr val="folHlink"/>
                  </a:solidFill>
                  <a:latin typeface="Times New Roman" panose="02020603050405020304" pitchFamily="18" charset="0"/>
                </a:rPr>
                <a:t>b</a:t>
              </a:r>
              <a:endParaRPr lang="en-US" altLang="zh-CN" sz="2400">
                <a:solidFill>
                  <a:schemeClr val="folHlink"/>
                </a:solidFill>
                <a:latin typeface="Times New Roman" panose="02020603050405020304" pitchFamily="18" charset="0"/>
              </a:endParaRPr>
            </a:p>
          </p:txBody>
        </p:sp>
      </p:grpSp>
      <p:sp>
        <p:nvSpPr>
          <p:cNvPr id="281682" name="文本框 281681"/>
          <p:cNvSpPr txBox="1"/>
          <p:nvPr/>
        </p:nvSpPr>
        <p:spPr>
          <a:xfrm>
            <a:off x="2506663" y="2420938"/>
            <a:ext cx="1116012" cy="519112"/>
          </a:xfrm>
          <a:prstGeom prst="rect">
            <a:avLst/>
          </a:prstGeom>
          <a:noFill/>
          <a:ln w="19050">
            <a:noFill/>
          </a:ln>
        </p:spPr>
        <p:txBody>
          <a:bodyPr wrap="none" anchor="ctr">
            <a:spAutoFit/>
          </a:bodyPr>
          <a:p>
            <a:pPr>
              <a:spcBef>
                <a:spcPct val="50000"/>
              </a:spcBef>
            </a:pPr>
            <a:r>
              <a:rPr lang="zh-CN" altLang="en-US" sz="2800">
                <a:solidFill>
                  <a:schemeClr val="hlink"/>
                </a:solidFill>
                <a:latin typeface="Times New Roman" panose="02020603050405020304" pitchFamily="18" charset="0"/>
              </a:rPr>
              <a:t>＝</a:t>
            </a:r>
            <a:r>
              <a:rPr lang="en-US" altLang="zh-CN" sz="2800" i="1">
                <a:solidFill>
                  <a:schemeClr val="hlink"/>
                </a:solidFill>
                <a:latin typeface="Times New Roman" panose="02020603050405020304" pitchFamily="18" charset="0"/>
              </a:rPr>
              <a:t>a</a:t>
            </a:r>
            <a:r>
              <a:rPr lang="en-US" altLang="zh-CN" sz="2800" i="1" baseline="30000">
                <a:solidFill>
                  <a:schemeClr val="hlink"/>
                </a:solidFill>
                <a:latin typeface="Times New Roman" panose="02020603050405020304" pitchFamily="18" charset="0"/>
              </a:rPr>
              <a:t>2</a:t>
            </a:r>
            <a:r>
              <a:rPr lang="en-US" altLang="zh-CN" sz="2800" i="1">
                <a:solidFill>
                  <a:schemeClr val="hlink"/>
                </a:solidFill>
                <a:latin typeface="Times New Roman" panose="02020603050405020304" pitchFamily="18" charset="0"/>
              </a:rPr>
              <a:t>/b</a:t>
            </a:r>
            <a:endParaRPr lang="en-US" altLang="zh-CN" sz="2800" i="1">
              <a:solidFill>
                <a:schemeClr val="hlink"/>
              </a:solidFill>
              <a:latin typeface="隶书" panose="02010509060101010101" pitchFamily="49" charset="-122"/>
              <a:ea typeface="隶书" panose="02010509060101010101" pitchFamily="49" charset="-122"/>
            </a:endParaRPr>
          </a:p>
        </p:txBody>
      </p:sp>
      <p:sp>
        <p:nvSpPr>
          <p:cNvPr id="281683" name="文本框 281682"/>
          <p:cNvSpPr txBox="1"/>
          <p:nvPr/>
        </p:nvSpPr>
        <p:spPr>
          <a:xfrm>
            <a:off x="3594100" y="2422525"/>
            <a:ext cx="1792288" cy="519113"/>
          </a:xfrm>
          <a:prstGeom prst="rect">
            <a:avLst/>
          </a:prstGeom>
          <a:noFill/>
          <a:ln w="19050">
            <a:noFill/>
          </a:ln>
        </p:spPr>
        <p:txBody>
          <a:bodyPr wrap="none" anchor="ctr">
            <a:spAutoFit/>
          </a:bodyPr>
          <a:p>
            <a:pPr>
              <a:spcBef>
                <a:spcPct val="50000"/>
              </a:spcBef>
            </a:pPr>
            <a:r>
              <a:rPr lang="en-US" altLang="zh-CN" sz="2800" i="1">
                <a:solidFill>
                  <a:schemeClr val="hlink"/>
                </a:solidFill>
                <a:latin typeface="Times New Roman" panose="02020603050405020304" pitchFamily="18" charset="0"/>
              </a:rPr>
              <a:t>=d/2cos</a:t>
            </a:r>
            <a:r>
              <a:rPr lang="en-US" altLang="zh-CN" sz="2800" i="1" baseline="30000">
                <a:solidFill>
                  <a:schemeClr val="hlink"/>
                </a:solidFill>
                <a:latin typeface="Times New Roman" panose="02020603050405020304" pitchFamily="18" charset="0"/>
              </a:rPr>
              <a:t>2</a:t>
            </a:r>
            <a:r>
              <a:rPr lang="en-US" altLang="zh-CN" sz="2800" i="1">
                <a:solidFill>
                  <a:schemeClr val="hlink"/>
                </a:solidFill>
                <a:latin typeface="隶书" panose="02010509060101010101" pitchFamily="49" charset="-122"/>
                <a:ea typeface="隶书" panose="02010509060101010101" pitchFamily="49" charset="-122"/>
              </a:rPr>
              <a:t>β</a:t>
            </a:r>
            <a:endParaRPr lang="en-US" altLang="zh-CN" sz="2800" i="1">
              <a:solidFill>
                <a:schemeClr val="hlink"/>
              </a:solidFill>
              <a:latin typeface="隶书" panose="02010509060101010101" pitchFamily="49" charset="-122"/>
              <a:ea typeface="隶书" panose="02010509060101010101" pitchFamily="49" charset="-122"/>
            </a:endParaRPr>
          </a:p>
        </p:txBody>
      </p:sp>
      <p:sp>
        <p:nvSpPr>
          <p:cNvPr id="281684" name="文本框 281683"/>
          <p:cNvSpPr txBox="1"/>
          <p:nvPr/>
        </p:nvSpPr>
        <p:spPr>
          <a:xfrm>
            <a:off x="217488" y="5454650"/>
            <a:ext cx="3686175" cy="457200"/>
          </a:xfrm>
          <a:prstGeom prst="rect">
            <a:avLst/>
          </a:prstGeom>
          <a:noFill/>
          <a:ln w="19050">
            <a:noFill/>
          </a:ln>
        </p:spPr>
        <p:txBody>
          <a:bodyPr anchor="ctr">
            <a:spAutoFit/>
          </a:bodyPr>
          <a:p>
            <a:pPr algn="l"/>
            <a:r>
              <a:rPr lang="zh-CN" altLang="en-US" sz="2400">
                <a:solidFill>
                  <a:schemeClr val="folHlink"/>
                </a:solidFill>
                <a:latin typeface="宋体" panose="02010600030101010101" pitchFamily="2" charset="-122"/>
              </a:rPr>
              <a:t>若</a:t>
            </a:r>
            <a:r>
              <a:rPr lang="en-US" altLang="zh-CN" sz="2400" i="1">
                <a:solidFill>
                  <a:schemeClr val="folHlink"/>
                </a:solidFill>
                <a:latin typeface="隶书" panose="02010509060101010101" pitchFamily="49" charset="-122"/>
                <a:ea typeface="隶书" panose="02010509060101010101" pitchFamily="49" charset="-122"/>
              </a:rPr>
              <a:t>β=20 </a:t>
            </a:r>
            <a:r>
              <a:rPr lang="en-US" altLang="zh-CN" sz="2400">
                <a:solidFill>
                  <a:schemeClr val="folHlink"/>
                </a:solidFill>
                <a:latin typeface="宋体" panose="02010600030101010101" pitchFamily="2" charset="-122"/>
              </a:rPr>
              <a:t>∘ </a:t>
            </a:r>
            <a:r>
              <a:rPr lang="en-US" altLang="zh-CN" sz="2400" i="1" err="1">
                <a:solidFill>
                  <a:schemeClr val="folHlink"/>
                </a:solidFill>
                <a:latin typeface="隶书" panose="02010509060101010101" pitchFamily="49" charset="-122"/>
                <a:ea typeface="隶书" panose="02010509060101010101" pitchFamily="49" charset="-122"/>
              </a:rPr>
              <a:t>z</a:t>
            </a:r>
            <a:r>
              <a:rPr lang="en-US" altLang="zh-CN" sz="2400" i="1" baseline="-25000" err="1">
                <a:solidFill>
                  <a:schemeClr val="folHlink"/>
                </a:solidFill>
                <a:latin typeface="Times New Roman" panose="02020603050405020304" pitchFamily="18" charset="0"/>
              </a:rPr>
              <a:t>vmin</a:t>
            </a:r>
            <a:r>
              <a:rPr lang="en-US" altLang="zh-CN" sz="2400" i="1" baseline="-25000">
                <a:solidFill>
                  <a:schemeClr val="folHlink"/>
                </a:solidFill>
                <a:latin typeface="Times New Roman" panose="02020603050405020304" pitchFamily="18" charset="0"/>
              </a:rPr>
              <a:t> </a:t>
            </a:r>
            <a:r>
              <a:rPr lang="en-US" altLang="zh-CN" sz="2400" i="1">
                <a:solidFill>
                  <a:schemeClr val="folHlink"/>
                </a:solidFill>
                <a:latin typeface="Times New Roman" panose="02020603050405020304" pitchFamily="18" charset="0"/>
              </a:rPr>
              <a:t>=17</a:t>
            </a:r>
            <a:endParaRPr lang="en-US" altLang="zh-CN" sz="2400" i="1">
              <a:solidFill>
                <a:schemeClr val="folHlink"/>
              </a:solidFill>
              <a:latin typeface="Times New Roman" panose="02020603050405020304" pitchFamily="18" charset="0"/>
            </a:endParaRPr>
          </a:p>
        </p:txBody>
      </p:sp>
      <p:sp>
        <p:nvSpPr>
          <p:cNvPr id="281685" name="文本框 281684"/>
          <p:cNvSpPr txBox="1"/>
          <p:nvPr/>
        </p:nvSpPr>
        <p:spPr>
          <a:xfrm>
            <a:off x="3817938" y="5414963"/>
            <a:ext cx="1725612" cy="457200"/>
          </a:xfrm>
          <a:prstGeom prst="rect">
            <a:avLst/>
          </a:prstGeom>
          <a:noFill/>
          <a:ln w="19050">
            <a:noFill/>
          </a:ln>
        </p:spPr>
        <p:txBody>
          <a:bodyPr anchor="ctr">
            <a:spAutoFit/>
          </a:bodyPr>
          <a:p>
            <a:pPr algn="l"/>
            <a:r>
              <a:rPr lang="en-US" altLang="zh-CN" sz="2400" i="1" err="1">
                <a:solidFill>
                  <a:schemeClr val="folHlink"/>
                </a:solidFill>
                <a:latin typeface="Times New Roman" panose="02020603050405020304" pitchFamily="18" charset="0"/>
              </a:rPr>
              <a:t>z</a:t>
            </a:r>
            <a:r>
              <a:rPr lang="en-US" altLang="zh-CN" sz="2400" i="1" baseline="-25000" err="1">
                <a:solidFill>
                  <a:schemeClr val="folHlink"/>
                </a:solidFill>
                <a:latin typeface="Times New Roman" panose="02020603050405020304" pitchFamily="18" charset="0"/>
              </a:rPr>
              <a:t>min</a:t>
            </a:r>
            <a:r>
              <a:rPr lang="en-US" altLang="zh-CN" sz="2400" i="1">
                <a:solidFill>
                  <a:schemeClr val="folHlink"/>
                </a:solidFill>
                <a:latin typeface="Times New Roman" panose="02020603050405020304" pitchFamily="18" charset="0"/>
              </a:rPr>
              <a:t>=14 </a:t>
            </a:r>
            <a:endParaRPr lang="en-US" altLang="zh-CN" sz="2400" i="1">
              <a:solidFill>
                <a:schemeClr val="folHlink"/>
              </a:solidFill>
              <a:latin typeface="Times New Roman" panose="02020603050405020304" pitchFamily="18" charset="0"/>
            </a:endParaRPr>
          </a:p>
        </p:txBody>
      </p:sp>
      <p:grpSp>
        <p:nvGrpSpPr>
          <p:cNvPr id="281720" name="组合 281719"/>
          <p:cNvGrpSpPr/>
          <p:nvPr/>
        </p:nvGrpSpPr>
        <p:grpSpPr>
          <a:xfrm>
            <a:off x="7200900" y="158750"/>
            <a:ext cx="587375" cy="1987550"/>
            <a:chOff x="4536" y="4"/>
            <a:chExt cx="370" cy="1252"/>
          </a:xfrm>
        </p:grpSpPr>
        <p:sp>
          <p:nvSpPr>
            <p:cNvPr id="281721" name="矩形 281720"/>
            <p:cNvSpPr/>
            <p:nvPr/>
          </p:nvSpPr>
          <p:spPr>
            <a:xfrm>
              <a:off x="4626" y="731"/>
              <a:ext cx="177" cy="356"/>
            </a:xfrm>
            <a:prstGeom prst="rect">
              <a:avLst/>
            </a:prstGeom>
            <a:noFill/>
            <a:ln w="38100" cap="flat" cmpd="sng">
              <a:solidFill>
                <a:schemeClr val="hlink"/>
              </a:solidFill>
              <a:prstDash val="solid"/>
              <a:miter/>
              <a:headEnd type="none" w="med" len="med"/>
              <a:tailEnd type="none" w="med" len="med"/>
            </a:ln>
          </p:spPr>
          <p:txBody>
            <a:bodyPr/>
            <a:p>
              <a:endParaRPr lang="zh-CN" altLang="en-US"/>
            </a:p>
          </p:txBody>
        </p:sp>
        <p:sp>
          <p:nvSpPr>
            <p:cNvPr id="281722" name="矩形 281721"/>
            <p:cNvSpPr/>
            <p:nvPr/>
          </p:nvSpPr>
          <p:spPr>
            <a:xfrm>
              <a:off x="4626" y="524"/>
              <a:ext cx="177" cy="207"/>
            </a:xfrm>
            <a:prstGeom prst="rect">
              <a:avLst/>
            </a:prstGeom>
            <a:noFill/>
            <a:ln w="38100" cap="flat" cmpd="sng">
              <a:solidFill>
                <a:schemeClr val="hlink"/>
              </a:solidFill>
              <a:prstDash val="solid"/>
              <a:miter/>
              <a:headEnd type="none" w="med" len="med"/>
              <a:tailEnd type="none" w="med" len="med"/>
            </a:ln>
          </p:spPr>
          <p:txBody>
            <a:bodyPr/>
            <a:p>
              <a:endParaRPr lang="zh-CN" altLang="en-US"/>
            </a:p>
          </p:txBody>
        </p:sp>
        <p:sp>
          <p:nvSpPr>
            <p:cNvPr id="281723" name="直接连接符 281722"/>
            <p:cNvSpPr/>
            <p:nvPr/>
          </p:nvSpPr>
          <p:spPr>
            <a:xfrm flipH="1">
              <a:off x="4626" y="730"/>
              <a:ext cx="46" cy="48"/>
            </a:xfrm>
            <a:prstGeom prst="line">
              <a:avLst/>
            </a:prstGeom>
            <a:ln w="12700" cap="flat" cmpd="sng">
              <a:solidFill>
                <a:schemeClr val="hlink"/>
              </a:solidFill>
              <a:prstDash val="solid"/>
              <a:headEnd type="none" w="med" len="med"/>
              <a:tailEnd type="none" w="med" len="med"/>
            </a:ln>
          </p:spPr>
        </p:sp>
        <p:sp>
          <p:nvSpPr>
            <p:cNvPr id="281724" name="直接连接符 281723"/>
            <p:cNvSpPr/>
            <p:nvPr/>
          </p:nvSpPr>
          <p:spPr>
            <a:xfrm flipH="1">
              <a:off x="4626" y="730"/>
              <a:ext cx="136" cy="135"/>
            </a:xfrm>
            <a:prstGeom prst="line">
              <a:avLst/>
            </a:prstGeom>
            <a:ln w="12700" cap="flat" cmpd="sng">
              <a:solidFill>
                <a:schemeClr val="hlink"/>
              </a:solidFill>
              <a:prstDash val="solid"/>
              <a:headEnd type="none" w="med" len="med"/>
              <a:tailEnd type="none" w="med" len="med"/>
            </a:ln>
          </p:spPr>
        </p:sp>
        <p:sp>
          <p:nvSpPr>
            <p:cNvPr id="281725" name="直接连接符 281724"/>
            <p:cNvSpPr/>
            <p:nvPr/>
          </p:nvSpPr>
          <p:spPr>
            <a:xfrm flipH="1">
              <a:off x="4626" y="778"/>
              <a:ext cx="177" cy="174"/>
            </a:xfrm>
            <a:prstGeom prst="line">
              <a:avLst/>
            </a:prstGeom>
            <a:ln w="12700" cap="flat" cmpd="sng">
              <a:solidFill>
                <a:schemeClr val="hlink"/>
              </a:solidFill>
              <a:prstDash val="solid"/>
              <a:headEnd type="none" w="med" len="med"/>
              <a:tailEnd type="none" w="med" len="med"/>
            </a:ln>
          </p:spPr>
        </p:sp>
        <p:sp>
          <p:nvSpPr>
            <p:cNvPr id="281726" name="直接连接符 281725"/>
            <p:cNvSpPr/>
            <p:nvPr/>
          </p:nvSpPr>
          <p:spPr>
            <a:xfrm flipH="1">
              <a:off x="4626" y="865"/>
              <a:ext cx="177" cy="174"/>
            </a:xfrm>
            <a:prstGeom prst="line">
              <a:avLst/>
            </a:prstGeom>
            <a:ln w="12700" cap="flat" cmpd="sng">
              <a:solidFill>
                <a:schemeClr val="hlink"/>
              </a:solidFill>
              <a:prstDash val="solid"/>
              <a:headEnd type="none" w="med" len="med"/>
              <a:tailEnd type="none" w="med" len="med"/>
            </a:ln>
          </p:spPr>
        </p:sp>
        <p:sp>
          <p:nvSpPr>
            <p:cNvPr id="281727" name="直接连接符 281726"/>
            <p:cNvSpPr/>
            <p:nvPr/>
          </p:nvSpPr>
          <p:spPr>
            <a:xfrm flipH="1">
              <a:off x="4659" y="941"/>
              <a:ext cx="144" cy="142"/>
            </a:xfrm>
            <a:prstGeom prst="line">
              <a:avLst/>
            </a:prstGeom>
            <a:ln w="12700" cap="flat" cmpd="sng">
              <a:solidFill>
                <a:schemeClr val="hlink"/>
              </a:solidFill>
              <a:prstDash val="solid"/>
              <a:headEnd type="none" w="med" len="med"/>
              <a:tailEnd type="none" w="med" len="med"/>
            </a:ln>
          </p:spPr>
        </p:sp>
        <p:sp>
          <p:nvSpPr>
            <p:cNvPr id="281728" name="直接连接符 281727"/>
            <p:cNvSpPr/>
            <p:nvPr/>
          </p:nvSpPr>
          <p:spPr>
            <a:xfrm flipH="1">
              <a:off x="4736" y="1018"/>
              <a:ext cx="67" cy="65"/>
            </a:xfrm>
            <a:prstGeom prst="line">
              <a:avLst/>
            </a:prstGeom>
            <a:ln w="12700" cap="flat" cmpd="sng">
              <a:solidFill>
                <a:schemeClr val="hlink"/>
              </a:solidFill>
              <a:prstDash val="solid"/>
              <a:headEnd type="none" w="med" len="med"/>
              <a:tailEnd type="none" w="med" len="med"/>
            </a:ln>
          </p:spPr>
        </p:sp>
        <p:sp>
          <p:nvSpPr>
            <p:cNvPr id="281729" name="任意多边形 281728"/>
            <p:cNvSpPr/>
            <p:nvPr/>
          </p:nvSpPr>
          <p:spPr>
            <a:xfrm>
              <a:off x="4625" y="1083"/>
              <a:ext cx="173" cy="173"/>
            </a:xfrm>
            <a:custGeom>
              <a:avLst/>
              <a:gdLst/>
              <a:ahLst/>
              <a:cxnLst/>
              <a:pathLst>
                <a:path w="173" h="173">
                  <a:moveTo>
                    <a:pt x="0" y="0"/>
                  </a:moveTo>
                  <a:cubicBezTo>
                    <a:pt x="6" y="4"/>
                    <a:pt x="12" y="9"/>
                    <a:pt x="17" y="17"/>
                  </a:cubicBezTo>
                  <a:cubicBezTo>
                    <a:pt x="22" y="25"/>
                    <a:pt x="28" y="34"/>
                    <a:pt x="33" y="46"/>
                  </a:cubicBezTo>
                  <a:cubicBezTo>
                    <a:pt x="38" y="58"/>
                    <a:pt x="44" y="75"/>
                    <a:pt x="48" y="91"/>
                  </a:cubicBezTo>
                  <a:cubicBezTo>
                    <a:pt x="52" y="107"/>
                    <a:pt x="52" y="132"/>
                    <a:pt x="55" y="144"/>
                  </a:cubicBezTo>
                  <a:cubicBezTo>
                    <a:pt x="58" y="156"/>
                    <a:pt x="61" y="161"/>
                    <a:pt x="65" y="166"/>
                  </a:cubicBezTo>
                  <a:cubicBezTo>
                    <a:pt x="69" y="171"/>
                    <a:pt x="76" y="171"/>
                    <a:pt x="81" y="172"/>
                  </a:cubicBezTo>
                  <a:cubicBezTo>
                    <a:pt x="86" y="173"/>
                    <a:pt x="88" y="173"/>
                    <a:pt x="93" y="172"/>
                  </a:cubicBezTo>
                  <a:cubicBezTo>
                    <a:pt x="98" y="171"/>
                    <a:pt x="105" y="169"/>
                    <a:pt x="110" y="163"/>
                  </a:cubicBezTo>
                  <a:cubicBezTo>
                    <a:pt x="115" y="157"/>
                    <a:pt x="119" y="145"/>
                    <a:pt x="122" y="137"/>
                  </a:cubicBezTo>
                  <a:cubicBezTo>
                    <a:pt x="125" y="129"/>
                    <a:pt x="126" y="119"/>
                    <a:pt x="127" y="113"/>
                  </a:cubicBezTo>
                  <a:cubicBezTo>
                    <a:pt x="128" y="107"/>
                    <a:pt x="128" y="103"/>
                    <a:pt x="129" y="98"/>
                  </a:cubicBezTo>
                  <a:cubicBezTo>
                    <a:pt x="130" y="93"/>
                    <a:pt x="128" y="92"/>
                    <a:pt x="132" y="81"/>
                  </a:cubicBezTo>
                  <a:cubicBezTo>
                    <a:pt x="136" y="70"/>
                    <a:pt x="144" y="48"/>
                    <a:pt x="151" y="34"/>
                  </a:cubicBezTo>
                  <a:cubicBezTo>
                    <a:pt x="158" y="20"/>
                    <a:pt x="165" y="11"/>
                    <a:pt x="173" y="0"/>
                  </a:cubicBezTo>
                </a:path>
              </a:pathLst>
            </a:custGeom>
            <a:noFill/>
            <a:ln w="38100" cap="flat" cmpd="sng">
              <a:solidFill>
                <a:schemeClr val="hlink">
                  <a:alpha val="100000"/>
                </a:schemeClr>
              </a:solidFill>
              <a:prstDash val="solid"/>
              <a:headEnd type="none" w="sm" len="lg"/>
              <a:tailEnd type="none" w="sm" len="lg"/>
            </a:ln>
          </p:spPr>
          <p:txBody>
            <a:bodyPr/>
            <a:p>
              <a:endParaRPr lang="zh-CN" altLang="en-US"/>
            </a:p>
          </p:txBody>
        </p:sp>
        <p:sp>
          <p:nvSpPr>
            <p:cNvPr id="281730" name="直接连接符 281729"/>
            <p:cNvSpPr/>
            <p:nvPr/>
          </p:nvSpPr>
          <p:spPr>
            <a:xfrm flipH="1" flipV="1">
              <a:off x="4626" y="478"/>
              <a:ext cx="46" cy="48"/>
            </a:xfrm>
            <a:prstGeom prst="line">
              <a:avLst/>
            </a:prstGeom>
            <a:ln w="12700" cap="flat" cmpd="sng">
              <a:solidFill>
                <a:schemeClr val="hlink"/>
              </a:solidFill>
              <a:prstDash val="solid"/>
              <a:headEnd type="none" w="med" len="med"/>
              <a:tailEnd type="none" w="med" len="med"/>
            </a:ln>
          </p:spPr>
        </p:sp>
        <p:sp>
          <p:nvSpPr>
            <p:cNvPr id="281731" name="直接连接符 281730"/>
            <p:cNvSpPr/>
            <p:nvPr/>
          </p:nvSpPr>
          <p:spPr>
            <a:xfrm flipH="1" flipV="1">
              <a:off x="4626" y="391"/>
              <a:ext cx="136" cy="135"/>
            </a:xfrm>
            <a:prstGeom prst="line">
              <a:avLst/>
            </a:prstGeom>
            <a:ln w="12700" cap="flat" cmpd="sng">
              <a:solidFill>
                <a:schemeClr val="hlink"/>
              </a:solidFill>
              <a:prstDash val="solid"/>
              <a:headEnd type="none" w="med" len="med"/>
              <a:tailEnd type="none" w="med" len="med"/>
            </a:ln>
          </p:spPr>
        </p:sp>
        <p:sp>
          <p:nvSpPr>
            <p:cNvPr id="281732" name="直接连接符 281731"/>
            <p:cNvSpPr/>
            <p:nvPr/>
          </p:nvSpPr>
          <p:spPr>
            <a:xfrm flipH="1" flipV="1">
              <a:off x="4626" y="304"/>
              <a:ext cx="177" cy="174"/>
            </a:xfrm>
            <a:prstGeom prst="line">
              <a:avLst/>
            </a:prstGeom>
            <a:ln w="12700" cap="flat" cmpd="sng">
              <a:solidFill>
                <a:schemeClr val="hlink"/>
              </a:solidFill>
              <a:prstDash val="solid"/>
              <a:headEnd type="none" w="med" len="med"/>
              <a:tailEnd type="none" w="med" len="med"/>
            </a:ln>
          </p:spPr>
        </p:sp>
        <p:sp>
          <p:nvSpPr>
            <p:cNvPr id="281733" name="直接连接符 281732"/>
            <p:cNvSpPr/>
            <p:nvPr/>
          </p:nvSpPr>
          <p:spPr>
            <a:xfrm flipH="1" flipV="1">
              <a:off x="4626" y="217"/>
              <a:ext cx="177" cy="174"/>
            </a:xfrm>
            <a:prstGeom prst="line">
              <a:avLst/>
            </a:prstGeom>
            <a:ln w="12700" cap="flat" cmpd="sng">
              <a:solidFill>
                <a:schemeClr val="hlink"/>
              </a:solidFill>
              <a:prstDash val="solid"/>
              <a:headEnd type="none" w="med" len="med"/>
              <a:tailEnd type="none" w="med" len="med"/>
            </a:ln>
          </p:spPr>
        </p:sp>
        <p:sp>
          <p:nvSpPr>
            <p:cNvPr id="281734" name="直接连接符 281733"/>
            <p:cNvSpPr/>
            <p:nvPr/>
          </p:nvSpPr>
          <p:spPr>
            <a:xfrm flipH="1" flipV="1">
              <a:off x="4659" y="173"/>
              <a:ext cx="144" cy="142"/>
            </a:xfrm>
            <a:prstGeom prst="line">
              <a:avLst/>
            </a:prstGeom>
            <a:ln w="12700" cap="flat" cmpd="sng">
              <a:solidFill>
                <a:schemeClr val="hlink"/>
              </a:solidFill>
              <a:prstDash val="solid"/>
              <a:headEnd type="none" w="med" len="med"/>
              <a:tailEnd type="none" w="med" len="med"/>
            </a:ln>
          </p:spPr>
        </p:sp>
        <p:sp>
          <p:nvSpPr>
            <p:cNvPr id="281735" name="直接连接符 281734"/>
            <p:cNvSpPr/>
            <p:nvPr/>
          </p:nvSpPr>
          <p:spPr>
            <a:xfrm flipH="1" flipV="1">
              <a:off x="4736" y="173"/>
              <a:ext cx="67" cy="65"/>
            </a:xfrm>
            <a:prstGeom prst="line">
              <a:avLst/>
            </a:prstGeom>
            <a:ln w="12700" cap="flat" cmpd="sng">
              <a:solidFill>
                <a:schemeClr val="hlink"/>
              </a:solidFill>
              <a:prstDash val="solid"/>
              <a:headEnd type="none" w="med" len="med"/>
              <a:tailEnd type="none" w="med" len="med"/>
            </a:ln>
          </p:spPr>
        </p:sp>
        <p:sp>
          <p:nvSpPr>
            <p:cNvPr id="281736" name="任意多边形 281735"/>
            <p:cNvSpPr/>
            <p:nvPr/>
          </p:nvSpPr>
          <p:spPr>
            <a:xfrm flipV="1">
              <a:off x="4615" y="4"/>
              <a:ext cx="193" cy="173"/>
            </a:xfrm>
            <a:custGeom>
              <a:avLst/>
              <a:gdLst/>
              <a:ahLst/>
              <a:cxnLst/>
              <a:pathLst>
                <a:path w="173" h="173">
                  <a:moveTo>
                    <a:pt x="0" y="0"/>
                  </a:moveTo>
                  <a:cubicBezTo>
                    <a:pt x="6" y="4"/>
                    <a:pt x="12" y="9"/>
                    <a:pt x="17" y="17"/>
                  </a:cubicBezTo>
                  <a:cubicBezTo>
                    <a:pt x="22" y="25"/>
                    <a:pt x="28" y="34"/>
                    <a:pt x="33" y="46"/>
                  </a:cubicBezTo>
                  <a:cubicBezTo>
                    <a:pt x="38" y="58"/>
                    <a:pt x="44" y="75"/>
                    <a:pt x="48" y="91"/>
                  </a:cubicBezTo>
                  <a:cubicBezTo>
                    <a:pt x="52" y="107"/>
                    <a:pt x="52" y="132"/>
                    <a:pt x="55" y="144"/>
                  </a:cubicBezTo>
                  <a:cubicBezTo>
                    <a:pt x="58" y="156"/>
                    <a:pt x="61" y="161"/>
                    <a:pt x="65" y="166"/>
                  </a:cubicBezTo>
                  <a:cubicBezTo>
                    <a:pt x="69" y="171"/>
                    <a:pt x="76" y="171"/>
                    <a:pt x="81" y="172"/>
                  </a:cubicBezTo>
                  <a:cubicBezTo>
                    <a:pt x="86" y="173"/>
                    <a:pt x="88" y="173"/>
                    <a:pt x="93" y="172"/>
                  </a:cubicBezTo>
                  <a:cubicBezTo>
                    <a:pt x="98" y="171"/>
                    <a:pt x="105" y="169"/>
                    <a:pt x="110" y="163"/>
                  </a:cubicBezTo>
                  <a:cubicBezTo>
                    <a:pt x="115" y="157"/>
                    <a:pt x="119" y="145"/>
                    <a:pt x="122" y="137"/>
                  </a:cubicBezTo>
                  <a:cubicBezTo>
                    <a:pt x="125" y="129"/>
                    <a:pt x="126" y="119"/>
                    <a:pt x="127" y="113"/>
                  </a:cubicBezTo>
                  <a:cubicBezTo>
                    <a:pt x="128" y="107"/>
                    <a:pt x="128" y="103"/>
                    <a:pt x="129" y="98"/>
                  </a:cubicBezTo>
                  <a:cubicBezTo>
                    <a:pt x="130" y="93"/>
                    <a:pt x="128" y="92"/>
                    <a:pt x="132" y="81"/>
                  </a:cubicBezTo>
                  <a:cubicBezTo>
                    <a:pt x="136" y="70"/>
                    <a:pt x="144" y="48"/>
                    <a:pt x="151" y="34"/>
                  </a:cubicBezTo>
                  <a:cubicBezTo>
                    <a:pt x="158" y="20"/>
                    <a:pt x="165" y="11"/>
                    <a:pt x="173" y="0"/>
                  </a:cubicBezTo>
                </a:path>
              </a:pathLst>
            </a:custGeom>
            <a:noFill/>
            <a:ln w="38100" cap="flat" cmpd="sng">
              <a:solidFill>
                <a:schemeClr val="hlink">
                  <a:alpha val="100000"/>
                </a:schemeClr>
              </a:solidFill>
              <a:prstDash val="solid"/>
              <a:headEnd type="none" w="sm" len="lg"/>
              <a:tailEnd type="none" w="sm" len="lg"/>
            </a:ln>
          </p:spPr>
          <p:txBody>
            <a:bodyPr/>
            <a:p>
              <a:endParaRPr lang="zh-CN" altLang="en-US"/>
            </a:p>
          </p:txBody>
        </p:sp>
        <p:sp>
          <p:nvSpPr>
            <p:cNvPr id="281737" name="直接连接符 281736"/>
            <p:cNvSpPr/>
            <p:nvPr/>
          </p:nvSpPr>
          <p:spPr>
            <a:xfrm>
              <a:off x="4536" y="629"/>
              <a:ext cx="370" cy="0"/>
            </a:xfrm>
            <a:prstGeom prst="line">
              <a:avLst/>
            </a:prstGeom>
            <a:ln w="19050" cap="flat" cmpd="sng">
              <a:solidFill>
                <a:schemeClr val="hlink"/>
              </a:solidFill>
              <a:prstDash val="lgDashDot"/>
              <a:headEnd type="none" w="sm" len="lg"/>
              <a:tailEnd type="none" w="sm" len="lg"/>
            </a:ln>
          </p:spPr>
        </p:sp>
        <p:sp>
          <p:nvSpPr>
            <p:cNvPr id="281738" name="矩形 281737"/>
            <p:cNvSpPr/>
            <p:nvPr/>
          </p:nvSpPr>
          <p:spPr>
            <a:xfrm flipV="1">
              <a:off x="4626" y="169"/>
              <a:ext cx="177" cy="356"/>
            </a:xfrm>
            <a:prstGeom prst="rect">
              <a:avLst/>
            </a:prstGeom>
            <a:noFill/>
            <a:ln w="38100" cap="flat" cmpd="sng">
              <a:solidFill>
                <a:schemeClr val="hlink"/>
              </a:solidFill>
              <a:prstDash val="solid"/>
              <a:miter/>
              <a:headEnd type="none" w="med" len="med"/>
              <a:tailEnd type="none" w="med" len="med"/>
            </a:ln>
          </p:spPr>
          <p:txBody>
            <a:bodyPr/>
            <a:p>
              <a:endParaRPr lang="zh-CN" altLang="en-US"/>
            </a:p>
          </p:txBody>
        </p:sp>
      </p:grpSp>
      <p:sp>
        <p:nvSpPr>
          <p:cNvPr id="281662" name="圆角矩形标注 281661"/>
          <p:cNvSpPr/>
          <p:nvPr/>
        </p:nvSpPr>
        <p:spPr>
          <a:xfrm>
            <a:off x="5902325" y="5630863"/>
            <a:ext cx="669925" cy="471487"/>
          </a:xfrm>
          <a:prstGeom prst="wedgeRoundRectCallout">
            <a:avLst>
              <a:gd name="adj1" fmla="val 185310"/>
              <a:gd name="adj2" fmla="val -88384"/>
              <a:gd name="adj3" fmla="val 16667"/>
            </a:avLst>
          </a:prstGeom>
          <a:noFill/>
          <a:ln w="12700" cap="flat" cmpd="sng">
            <a:solidFill>
              <a:srgbClr val="99CCFF"/>
            </a:solidFill>
            <a:prstDash val="solid"/>
            <a:miter/>
            <a:headEnd type="none" w="med" len="med"/>
            <a:tailEnd type="none" w="med" len="med"/>
          </a:ln>
        </p:spPr>
        <p:txBody>
          <a:bodyPr wrap="none" anchor="ctr"/>
          <a:p>
            <a:pPr>
              <a:spcBef>
                <a:spcPct val="50000"/>
              </a:spcBef>
            </a:pPr>
            <a:r>
              <a:rPr lang="zh-CN" altLang="en-US" sz="2400" dirty="0">
                <a:solidFill>
                  <a:schemeClr val="folHlink"/>
                </a:solidFill>
                <a:latin typeface="Times New Roman" panose="02020603050405020304" pitchFamily="18" charset="0"/>
              </a:rPr>
              <a:t>齿槽</a:t>
            </a:r>
            <a:endParaRPr lang="zh-CN" altLang="en-US" sz="2400">
              <a:solidFill>
                <a:schemeClr val="folHlink"/>
              </a:solidFill>
              <a:latin typeface="Times New Roman" panose="02020603050405020304" pitchFamily="18" charset="0"/>
            </a:endParaRPr>
          </a:p>
        </p:txBody>
      </p:sp>
      <p:grpSp>
        <p:nvGrpSpPr>
          <p:cNvPr id="281758" name="组合 281757"/>
          <p:cNvGrpSpPr/>
          <p:nvPr/>
        </p:nvGrpSpPr>
        <p:grpSpPr>
          <a:xfrm>
            <a:off x="6477000" y="5110163"/>
            <a:ext cx="990600" cy="474662"/>
            <a:chOff x="4080" y="3219"/>
            <a:chExt cx="624" cy="299"/>
          </a:xfrm>
        </p:grpSpPr>
        <p:sp>
          <p:nvSpPr>
            <p:cNvPr id="281755" name="任意多边形 281754"/>
            <p:cNvSpPr/>
            <p:nvPr/>
          </p:nvSpPr>
          <p:spPr>
            <a:xfrm>
              <a:off x="4080" y="3268"/>
              <a:ext cx="624" cy="250"/>
            </a:xfrm>
            <a:custGeom>
              <a:avLst/>
              <a:gdLst/>
              <a:ahLst/>
              <a:cxnLst/>
              <a:pathLst>
                <a:path w="624" h="250">
                  <a:moveTo>
                    <a:pt x="0" y="4"/>
                  </a:moveTo>
                  <a:lnTo>
                    <a:pt x="624" y="0"/>
                  </a:lnTo>
                  <a:lnTo>
                    <a:pt x="122" y="250"/>
                  </a:lnTo>
                  <a:lnTo>
                    <a:pt x="0" y="4"/>
                  </a:lnTo>
                  <a:close/>
                </a:path>
              </a:pathLst>
            </a:custGeom>
            <a:solidFill>
              <a:srgbClr val="FF9900"/>
            </a:solidFill>
            <a:ln w="12700" cap="flat" cmpd="sng">
              <a:solidFill>
                <a:schemeClr val="tx2">
                  <a:alpha val="100000"/>
                </a:schemeClr>
              </a:solidFill>
              <a:prstDash val="solid"/>
              <a:headEnd type="none" w="sm" len="lg"/>
              <a:tailEnd type="none" w="sm" len="lg"/>
            </a:ln>
          </p:spPr>
          <p:txBody>
            <a:bodyPr/>
            <a:p>
              <a:endParaRPr lang="zh-CN" altLang="en-US"/>
            </a:p>
          </p:txBody>
        </p:sp>
        <p:sp>
          <p:nvSpPr>
            <p:cNvPr id="281756" name="矩形 281755"/>
            <p:cNvSpPr/>
            <p:nvPr/>
          </p:nvSpPr>
          <p:spPr>
            <a:xfrm>
              <a:off x="4188" y="3219"/>
              <a:ext cx="277" cy="250"/>
            </a:xfrm>
            <a:prstGeom prst="rect">
              <a:avLst/>
            </a:prstGeom>
            <a:noFill/>
            <a:ln w="12700">
              <a:noFill/>
            </a:ln>
          </p:spPr>
          <p:txBody>
            <a:bodyPr wrap="none" anchor="t">
              <a:spAutoFit/>
            </a:bodyPr>
            <a:p>
              <a:pPr>
                <a:spcBef>
                  <a:spcPct val="50000"/>
                </a:spcBef>
              </a:pPr>
              <a:r>
                <a:rPr lang="en-US" altLang="zh-CN" sz="2000">
                  <a:solidFill>
                    <a:schemeClr val="tx2"/>
                  </a:solidFill>
                  <a:latin typeface="隶书" panose="02010509060101010101" pitchFamily="49" charset="-122"/>
                  <a:ea typeface="隶书" panose="02010509060101010101" pitchFamily="49" charset="-122"/>
                </a:rPr>
                <a:t>β</a:t>
              </a:r>
              <a:endParaRPr lang="en-US" altLang="zh-CN" sz="2000">
                <a:solidFill>
                  <a:schemeClr val="tx2"/>
                </a:solidFill>
                <a:latin typeface="隶书" panose="02010509060101010101" pitchFamily="49" charset="-122"/>
                <a:ea typeface="隶书" panose="02010509060101010101" pitchFamily="49" charset="-122"/>
              </a:endParaRPr>
            </a:p>
          </p:txBody>
        </p:sp>
        <p:sp>
          <p:nvSpPr>
            <p:cNvPr id="281757" name="任意多边形 281756"/>
            <p:cNvSpPr/>
            <p:nvPr/>
          </p:nvSpPr>
          <p:spPr>
            <a:xfrm>
              <a:off x="4437" y="3266"/>
              <a:ext cx="25" cy="126"/>
            </a:xfrm>
            <a:custGeom>
              <a:avLst/>
              <a:gdLst/>
              <a:ahLst/>
              <a:cxnLst/>
              <a:pathLst>
                <a:path w="25" h="126">
                  <a:moveTo>
                    <a:pt x="25" y="126"/>
                  </a:moveTo>
                  <a:cubicBezTo>
                    <a:pt x="20" y="118"/>
                    <a:pt x="15" y="110"/>
                    <a:pt x="11" y="94"/>
                  </a:cubicBezTo>
                  <a:cubicBezTo>
                    <a:pt x="7" y="78"/>
                    <a:pt x="2" y="46"/>
                    <a:pt x="1" y="30"/>
                  </a:cubicBezTo>
                  <a:cubicBezTo>
                    <a:pt x="0" y="14"/>
                    <a:pt x="1" y="7"/>
                    <a:pt x="3" y="0"/>
                  </a:cubicBezTo>
                </a:path>
              </a:pathLst>
            </a:custGeom>
            <a:solidFill>
              <a:srgbClr val="FF9900"/>
            </a:solidFill>
            <a:ln w="12700" cap="flat" cmpd="sng">
              <a:solidFill>
                <a:schemeClr val="tx2">
                  <a:alpha val="100000"/>
                </a:schemeClr>
              </a:solidFill>
              <a:prstDash val="solid"/>
              <a:headEnd type="none" w="sm" len="lg"/>
              <a:tailEnd type="none" w="sm" len="lg"/>
            </a:ln>
          </p:spPr>
          <p:txBody>
            <a:bodyPr/>
            <a:p>
              <a:endParaRPr lang="zh-CN" altLang="en-US"/>
            </a:p>
          </p:txBody>
        </p:sp>
      </p:grpSp>
      <p:grpSp>
        <p:nvGrpSpPr>
          <p:cNvPr id="281780" name="组合 281779"/>
          <p:cNvGrpSpPr/>
          <p:nvPr/>
        </p:nvGrpSpPr>
        <p:grpSpPr>
          <a:xfrm>
            <a:off x="5768975" y="1870075"/>
            <a:ext cx="3125788" cy="3351213"/>
            <a:chOff x="3634" y="1178"/>
            <a:chExt cx="1969" cy="2111"/>
          </a:xfrm>
        </p:grpSpPr>
        <p:grpSp>
          <p:nvGrpSpPr>
            <p:cNvPr id="281781" name="组合 281780"/>
            <p:cNvGrpSpPr/>
            <p:nvPr/>
          </p:nvGrpSpPr>
          <p:grpSpPr>
            <a:xfrm>
              <a:off x="4501" y="1178"/>
              <a:ext cx="428" cy="202"/>
              <a:chOff x="3979" y="917"/>
              <a:chExt cx="428" cy="202"/>
            </a:xfrm>
          </p:grpSpPr>
          <p:grpSp>
            <p:nvGrpSpPr>
              <p:cNvPr id="281782" name="组合 281781"/>
              <p:cNvGrpSpPr/>
              <p:nvPr/>
            </p:nvGrpSpPr>
            <p:grpSpPr>
              <a:xfrm>
                <a:off x="3979" y="917"/>
                <a:ext cx="209" cy="193"/>
                <a:chOff x="3814" y="4954"/>
                <a:chExt cx="380" cy="355"/>
              </a:xfrm>
            </p:grpSpPr>
            <p:sp>
              <p:nvSpPr>
                <p:cNvPr id="281783" name="直接连接符 281782"/>
                <p:cNvSpPr/>
                <p:nvPr/>
              </p:nvSpPr>
              <p:spPr>
                <a:xfrm rot="-282513" flipV="1">
                  <a:off x="3958" y="4955"/>
                  <a:ext cx="75" cy="4"/>
                </a:xfrm>
                <a:prstGeom prst="line">
                  <a:avLst/>
                </a:prstGeom>
                <a:ln w="38100" cap="flat" cmpd="sng">
                  <a:solidFill>
                    <a:schemeClr val="bg1"/>
                  </a:solidFill>
                  <a:prstDash val="solid"/>
                  <a:headEnd type="none" w="med" len="med"/>
                  <a:tailEnd type="none" w="med" len="med"/>
                </a:ln>
              </p:spPr>
            </p:sp>
            <p:sp>
              <p:nvSpPr>
                <p:cNvPr id="281784" name="任意多边形 281783"/>
                <p:cNvSpPr/>
                <p:nvPr/>
              </p:nvSpPr>
              <p:spPr>
                <a:xfrm rot="-282513">
                  <a:off x="4034" y="4954"/>
                  <a:ext cx="160" cy="340"/>
                </a:xfrm>
                <a:custGeom>
                  <a:avLst/>
                  <a:gdLst/>
                  <a:ahLst/>
                  <a:cxnLst/>
                  <a:pathLst>
                    <a:path w="160" h="340">
                      <a:moveTo>
                        <a:pt x="0" y="0"/>
                      </a:moveTo>
                      <a:cubicBezTo>
                        <a:pt x="15" y="11"/>
                        <a:pt x="30" y="23"/>
                        <a:pt x="40" y="40"/>
                      </a:cubicBezTo>
                      <a:cubicBezTo>
                        <a:pt x="50" y="57"/>
                        <a:pt x="53" y="77"/>
                        <a:pt x="60" y="100"/>
                      </a:cubicBezTo>
                      <a:cubicBezTo>
                        <a:pt x="67" y="123"/>
                        <a:pt x="77" y="153"/>
                        <a:pt x="80" y="180"/>
                      </a:cubicBezTo>
                      <a:cubicBezTo>
                        <a:pt x="83" y="207"/>
                        <a:pt x="77" y="237"/>
                        <a:pt x="80" y="260"/>
                      </a:cubicBezTo>
                      <a:cubicBezTo>
                        <a:pt x="83" y="283"/>
                        <a:pt x="87" y="307"/>
                        <a:pt x="100" y="320"/>
                      </a:cubicBezTo>
                      <a:cubicBezTo>
                        <a:pt x="113" y="333"/>
                        <a:pt x="136" y="336"/>
                        <a:pt x="160" y="340"/>
                      </a:cubicBezTo>
                    </a:path>
                  </a:pathLst>
                </a:custGeom>
                <a:noFill/>
                <a:ln w="38100" cap="flat" cmpd="sng">
                  <a:solidFill>
                    <a:schemeClr val="bg1">
                      <a:alpha val="100000"/>
                    </a:schemeClr>
                  </a:solidFill>
                  <a:prstDash val="solid"/>
                  <a:headEnd type="none" w="med" len="med"/>
                  <a:tailEnd type="none" w="med" len="med"/>
                </a:ln>
              </p:spPr>
              <p:txBody>
                <a:bodyPr/>
                <a:p>
                  <a:endParaRPr lang="zh-CN" altLang="en-US"/>
                </a:p>
              </p:txBody>
            </p:sp>
            <p:sp>
              <p:nvSpPr>
                <p:cNvPr id="281785" name="任意多边形 281784"/>
                <p:cNvSpPr/>
                <p:nvPr/>
              </p:nvSpPr>
              <p:spPr>
                <a:xfrm rot="-282513" flipH="1">
                  <a:off x="3814" y="4969"/>
                  <a:ext cx="160" cy="340"/>
                </a:xfrm>
                <a:custGeom>
                  <a:avLst/>
                  <a:gdLst/>
                  <a:ahLst/>
                  <a:cxnLst/>
                  <a:pathLst>
                    <a:path w="160" h="340">
                      <a:moveTo>
                        <a:pt x="0" y="0"/>
                      </a:moveTo>
                      <a:cubicBezTo>
                        <a:pt x="15" y="11"/>
                        <a:pt x="30" y="23"/>
                        <a:pt x="40" y="40"/>
                      </a:cubicBezTo>
                      <a:cubicBezTo>
                        <a:pt x="50" y="57"/>
                        <a:pt x="53" y="77"/>
                        <a:pt x="60" y="100"/>
                      </a:cubicBezTo>
                      <a:cubicBezTo>
                        <a:pt x="67" y="123"/>
                        <a:pt x="77" y="153"/>
                        <a:pt x="80" y="180"/>
                      </a:cubicBezTo>
                      <a:cubicBezTo>
                        <a:pt x="83" y="207"/>
                        <a:pt x="77" y="237"/>
                        <a:pt x="80" y="260"/>
                      </a:cubicBezTo>
                      <a:cubicBezTo>
                        <a:pt x="83" y="283"/>
                        <a:pt x="87" y="307"/>
                        <a:pt x="100" y="320"/>
                      </a:cubicBezTo>
                      <a:cubicBezTo>
                        <a:pt x="113" y="333"/>
                        <a:pt x="136" y="336"/>
                        <a:pt x="160" y="340"/>
                      </a:cubicBezTo>
                    </a:path>
                  </a:pathLst>
                </a:custGeom>
                <a:noFill/>
                <a:ln w="38100" cap="flat" cmpd="sng">
                  <a:solidFill>
                    <a:schemeClr val="bg1">
                      <a:alpha val="100000"/>
                    </a:schemeClr>
                  </a:solidFill>
                  <a:prstDash val="solid"/>
                  <a:headEnd type="none" w="med" len="med"/>
                  <a:tailEnd type="none" w="med" len="med"/>
                </a:ln>
              </p:spPr>
              <p:txBody>
                <a:bodyPr/>
                <a:p>
                  <a:endParaRPr lang="zh-CN" altLang="en-US"/>
                </a:p>
              </p:txBody>
            </p:sp>
          </p:grpSp>
          <p:grpSp>
            <p:nvGrpSpPr>
              <p:cNvPr id="281786" name="组合 281785"/>
              <p:cNvGrpSpPr/>
              <p:nvPr/>
            </p:nvGrpSpPr>
            <p:grpSpPr>
              <a:xfrm rot="734145">
                <a:off x="4197" y="925"/>
                <a:ext cx="210" cy="194"/>
                <a:chOff x="3814" y="4954"/>
                <a:chExt cx="380" cy="355"/>
              </a:xfrm>
            </p:grpSpPr>
            <p:sp>
              <p:nvSpPr>
                <p:cNvPr id="281787" name="直接连接符 281786"/>
                <p:cNvSpPr/>
                <p:nvPr/>
              </p:nvSpPr>
              <p:spPr>
                <a:xfrm rot="-282513" flipV="1">
                  <a:off x="3958" y="4955"/>
                  <a:ext cx="75" cy="4"/>
                </a:xfrm>
                <a:prstGeom prst="line">
                  <a:avLst/>
                </a:prstGeom>
                <a:ln w="38100" cap="flat" cmpd="sng">
                  <a:solidFill>
                    <a:schemeClr val="bg1"/>
                  </a:solidFill>
                  <a:prstDash val="solid"/>
                  <a:headEnd type="none" w="med" len="med"/>
                  <a:tailEnd type="none" w="med" len="med"/>
                </a:ln>
              </p:spPr>
            </p:sp>
            <p:sp>
              <p:nvSpPr>
                <p:cNvPr id="281788" name="任意多边形 281787"/>
                <p:cNvSpPr/>
                <p:nvPr/>
              </p:nvSpPr>
              <p:spPr>
                <a:xfrm rot="-282513">
                  <a:off x="4034" y="4954"/>
                  <a:ext cx="160" cy="340"/>
                </a:xfrm>
                <a:custGeom>
                  <a:avLst/>
                  <a:gdLst/>
                  <a:ahLst/>
                  <a:cxnLst/>
                  <a:pathLst>
                    <a:path w="160" h="340">
                      <a:moveTo>
                        <a:pt x="0" y="0"/>
                      </a:moveTo>
                      <a:cubicBezTo>
                        <a:pt x="15" y="11"/>
                        <a:pt x="30" y="23"/>
                        <a:pt x="40" y="40"/>
                      </a:cubicBezTo>
                      <a:cubicBezTo>
                        <a:pt x="50" y="57"/>
                        <a:pt x="53" y="77"/>
                        <a:pt x="60" y="100"/>
                      </a:cubicBezTo>
                      <a:cubicBezTo>
                        <a:pt x="67" y="123"/>
                        <a:pt x="77" y="153"/>
                        <a:pt x="80" y="180"/>
                      </a:cubicBezTo>
                      <a:cubicBezTo>
                        <a:pt x="83" y="207"/>
                        <a:pt x="77" y="237"/>
                        <a:pt x="80" y="260"/>
                      </a:cubicBezTo>
                      <a:cubicBezTo>
                        <a:pt x="83" y="283"/>
                        <a:pt x="87" y="307"/>
                        <a:pt x="100" y="320"/>
                      </a:cubicBezTo>
                      <a:cubicBezTo>
                        <a:pt x="113" y="333"/>
                        <a:pt x="136" y="336"/>
                        <a:pt x="160" y="340"/>
                      </a:cubicBezTo>
                    </a:path>
                  </a:pathLst>
                </a:custGeom>
                <a:noFill/>
                <a:ln w="38100" cap="flat" cmpd="sng">
                  <a:solidFill>
                    <a:schemeClr val="bg1">
                      <a:alpha val="100000"/>
                    </a:schemeClr>
                  </a:solidFill>
                  <a:prstDash val="solid"/>
                  <a:headEnd type="none" w="med" len="med"/>
                  <a:tailEnd type="none" w="med" len="med"/>
                </a:ln>
              </p:spPr>
              <p:txBody>
                <a:bodyPr/>
                <a:p>
                  <a:endParaRPr lang="zh-CN" altLang="en-US"/>
                </a:p>
              </p:txBody>
            </p:sp>
            <p:sp>
              <p:nvSpPr>
                <p:cNvPr id="281789" name="任意多边形 281788"/>
                <p:cNvSpPr/>
                <p:nvPr/>
              </p:nvSpPr>
              <p:spPr>
                <a:xfrm rot="-282513" flipH="1">
                  <a:off x="3814" y="4969"/>
                  <a:ext cx="160" cy="340"/>
                </a:xfrm>
                <a:custGeom>
                  <a:avLst/>
                  <a:gdLst/>
                  <a:ahLst/>
                  <a:cxnLst/>
                  <a:pathLst>
                    <a:path w="160" h="340">
                      <a:moveTo>
                        <a:pt x="0" y="0"/>
                      </a:moveTo>
                      <a:cubicBezTo>
                        <a:pt x="15" y="11"/>
                        <a:pt x="30" y="23"/>
                        <a:pt x="40" y="40"/>
                      </a:cubicBezTo>
                      <a:cubicBezTo>
                        <a:pt x="50" y="57"/>
                        <a:pt x="53" y="77"/>
                        <a:pt x="60" y="100"/>
                      </a:cubicBezTo>
                      <a:cubicBezTo>
                        <a:pt x="67" y="123"/>
                        <a:pt x="77" y="153"/>
                        <a:pt x="80" y="180"/>
                      </a:cubicBezTo>
                      <a:cubicBezTo>
                        <a:pt x="83" y="207"/>
                        <a:pt x="77" y="237"/>
                        <a:pt x="80" y="260"/>
                      </a:cubicBezTo>
                      <a:cubicBezTo>
                        <a:pt x="83" y="283"/>
                        <a:pt x="87" y="307"/>
                        <a:pt x="100" y="320"/>
                      </a:cubicBezTo>
                      <a:cubicBezTo>
                        <a:pt x="113" y="333"/>
                        <a:pt x="136" y="336"/>
                        <a:pt x="160" y="340"/>
                      </a:cubicBezTo>
                    </a:path>
                  </a:pathLst>
                </a:custGeom>
                <a:noFill/>
                <a:ln w="38100" cap="flat" cmpd="sng">
                  <a:solidFill>
                    <a:schemeClr val="bg1">
                      <a:alpha val="100000"/>
                    </a:schemeClr>
                  </a:solidFill>
                  <a:prstDash val="solid"/>
                  <a:headEnd type="none" w="med" len="med"/>
                  <a:tailEnd type="none" w="med" len="med"/>
                </a:ln>
              </p:spPr>
              <p:txBody>
                <a:bodyPr/>
                <a:p>
                  <a:endParaRPr lang="zh-CN" altLang="en-US"/>
                </a:p>
              </p:txBody>
            </p:sp>
          </p:grpSp>
        </p:grpSp>
        <p:grpSp>
          <p:nvGrpSpPr>
            <p:cNvPr id="281790" name="组合 281789"/>
            <p:cNvGrpSpPr/>
            <p:nvPr/>
          </p:nvGrpSpPr>
          <p:grpSpPr>
            <a:xfrm>
              <a:off x="3634" y="2991"/>
              <a:ext cx="1969" cy="298"/>
              <a:chOff x="3634" y="2991"/>
              <a:chExt cx="1969" cy="298"/>
            </a:xfrm>
          </p:grpSpPr>
          <p:sp>
            <p:nvSpPr>
              <p:cNvPr id="281791" name="直接连接符 281790"/>
              <p:cNvSpPr/>
              <p:nvPr/>
            </p:nvSpPr>
            <p:spPr>
              <a:xfrm flipV="1">
                <a:off x="3813" y="3269"/>
                <a:ext cx="1681" cy="0"/>
              </a:xfrm>
              <a:prstGeom prst="line">
                <a:avLst/>
              </a:prstGeom>
              <a:ln w="19050" cap="flat" cmpd="sng">
                <a:solidFill>
                  <a:schemeClr val="tx2"/>
                </a:solidFill>
                <a:prstDash val="lgDashDot"/>
                <a:headEnd type="none" w="med" len="med"/>
                <a:tailEnd type="none" w="med" len="med"/>
              </a:ln>
            </p:spPr>
          </p:sp>
          <p:sp>
            <p:nvSpPr>
              <p:cNvPr id="281792" name="文本框 281791"/>
              <p:cNvSpPr txBox="1"/>
              <p:nvPr/>
            </p:nvSpPr>
            <p:spPr>
              <a:xfrm>
                <a:off x="3634" y="2991"/>
                <a:ext cx="214" cy="288"/>
              </a:xfrm>
              <a:prstGeom prst="rect">
                <a:avLst/>
              </a:prstGeom>
              <a:noFill/>
              <a:ln w="19050">
                <a:noFill/>
              </a:ln>
            </p:spPr>
            <p:txBody>
              <a:bodyPr wrap="none" anchor="ctr">
                <a:spAutoFit/>
              </a:bodyPr>
              <a:p>
                <a:pPr>
                  <a:spcBef>
                    <a:spcPct val="50000"/>
                  </a:spcBef>
                </a:pPr>
                <a:r>
                  <a:rPr lang="en-US" altLang="zh-CN" sz="2400" i="1">
                    <a:solidFill>
                      <a:schemeClr val="folHlink"/>
                    </a:solidFill>
                    <a:latin typeface="宋体" panose="02010600030101010101" pitchFamily="2" charset="-122"/>
                  </a:rPr>
                  <a:t>n</a:t>
                </a:r>
                <a:endParaRPr lang="en-US" altLang="zh-CN" sz="2400" i="1">
                  <a:solidFill>
                    <a:schemeClr val="folHlink"/>
                  </a:solidFill>
                  <a:latin typeface="宋体" panose="02010600030101010101" pitchFamily="2" charset="-122"/>
                </a:endParaRPr>
              </a:p>
            </p:txBody>
          </p:sp>
          <p:sp>
            <p:nvSpPr>
              <p:cNvPr id="281793" name="文本框 281792"/>
              <p:cNvSpPr txBox="1"/>
              <p:nvPr/>
            </p:nvSpPr>
            <p:spPr>
              <a:xfrm>
                <a:off x="5389" y="3001"/>
                <a:ext cx="214" cy="288"/>
              </a:xfrm>
              <a:prstGeom prst="rect">
                <a:avLst/>
              </a:prstGeom>
              <a:noFill/>
              <a:ln w="19050">
                <a:noFill/>
              </a:ln>
            </p:spPr>
            <p:txBody>
              <a:bodyPr wrap="none" anchor="ctr">
                <a:spAutoFit/>
              </a:bodyPr>
              <a:p>
                <a:pPr>
                  <a:spcBef>
                    <a:spcPct val="50000"/>
                  </a:spcBef>
                </a:pPr>
                <a:r>
                  <a:rPr lang="en-US" altLang="zh-CN" sz="2400" i="1">
                    <a:solidFill>
                      <a:schemeClr val="folHlink"/>
                    </a:solidFill>
                    <a:latin typeface="宋体" panose="02010600030101010101" pitchFamily="2" charset="-122"/>
                  </a:rPr>
                  <a:t>n</a:t>
                </a:r>
                <a:endParaRPr lang="en-US" altLang="zh-CN" sz="2400" i="1">
                  <a:solidFill>
                    <a:schemeClr val="folHlink"/>
                  </a:solidFill>
                  <a:latin typeface="宋体" panose="02010600030101010101" pitchFamily="2" charset="-122"/>
                </a:endParaRPr>
              </a:p>
            </p:txBody>
          </p:sp>
        </p:grpSp>
      </p:grpSp>
      <p:grpSp>
        <p:nvGrpSpPr>
          <p:cNvPr id="281794" name="组合 281793"/>
          <p:cNvGrpSpPr/>
          <p:nvPr/>
        </p:nvGrpSpPr>
        <p:grpSpPr>
          <a:xfrm>
            <a:off x="6296025" y="1798638"/>
            <a:ext cx="2676525" cy="3365500"/>
            <a:chOff x="3966" y="1133"/>
            <a:chExt cx="1686" cy="2120"/>
          </a:xfrm>
        </p:grpSpPr>
        <p:sp>
          <p:nvSpPr>
            <p:cNvPr id="281795" name="椭圆 281794"/>
            <p:cNvSpPr/>
            <p:nvPr/>
          </p:nvSpPr>
          <p:spPr>
            <a:xfrm>
              <a:off x="4086" y="1248"/>
              <a:ext cx="1246" cy="938"/>
            </a:xfrm>
            <a:prstGeom prst="ellipse">
              <a:avLst/>
            </a:prstGeom>
            <a:noFill/>
            <a:ln w="28575" cap="flat" cmpd="sng">
              <a:solidFill>
                <a:srgbClr val="006600"/>
              </a:solidFill>
              <a:prstDash val="solid"/>
              <a:headEnd type="none" w="med" len="med"/>
              <a:tailEnd type="none" w="med" len="med"/>
            </a:ln>
          </p:spPr>
          <p:txBody>
            <a:bodyPr/>
            <a:p>
              <a:endParaRPr lang="zh-CN" altLang="en-US"/>
            </a:p>
          </p:txBody>
        </p:sp>
        <p:sp>
          <p:nvSpPr>
            <p:cNvPr id="281796" name="直接连接符 281795"/>
            <p:cNvSpPr/>
            <p:nvPr/>
          </p:nvSpPr>
          <p:spPr>
            <a:xfrm>
              <a:off x="3966" y="1722"/>
              <a:ext cx="1686" cy="0"/>
            </a:xfrm>
            <a:prstGeom prst="line">
              <a:avLst/>
            </a:prstGeom>
            <a:ln w="19050" cap="flat" cmpd="sng">
              <a:solidFill>
                <a:srgbClr val="006600"/>
              </a:solidFill>
              <a:prstDash val="lgDashDot"/>
              <a:headEnd type="none" w="med" len="med"/>
              <a:tailEnd type="none" w="med" len="med"/>
            </a:ln>
          </p:spPr>
        </p:sp>
        <p:sp>
          <p:nvSpPr>
            <p:cNvPr id="281797" name="直接连接符 281796"/>
            <p:cNvSpPr/>
            <p:nvPr/>
          </p:nvSpPr>
          <p:spPr>
            <a:xfrm>
              <a:off x="4086" y="1723"/>
              <a:ext cx="3" cy="1530"/>
            </a:xfrm>
            <a:prstGeom prst="line">
              <a:avLst/>
            </a:prstGeom>
            <a:ln w="19050" cap="flat" cmpd="sng">
              <a:solidFill>
                <a:srgbClr val="006600"/>
              </a:solidFill>
              <a:prstDash val="solid"/>
              <a:headEnd type="none" w="med" len="med"/>
              <a:tailEnd type="none" w="med" len="med"/>
            </a:ln>
          </p:spPr>
        </p:sp>
        <p:sp>
          <p:nvSpPr>
            <p:cNvPr id="281798" name="直接连接符 281797"/>
            <p:cNvSpPr/>
            <p:nvPr/>
          </p:nvSpPr>
          <p:spPr>
            <a:xfrm>
              <a:off x="5332" y="1733"/>
              <a:ext cx="0" cy="1520"/>
            </a:xfrm>
            <a:prstGeom prst="line">
              <a:avLst/>
            </a:prstGeom>
            <a:ln w="19050" cap="flat" cmpd="sng">
              <a:solidFill>
                <a:srgbClr val="006600"/>
              </a:solidFill>
              <a:prstDash val="solid"/>
              <a:headEnd type="none" w="med" len="med"/>
              <a:tailEnd type="none" w="med" len="med"/>
            </a:ln>
          </p:spPr>
        </p:sp>
        <p:sp>
          <p:nvSpPr>
            <p:cNvPr id="281799" name="直接连接符 281798"/>
            <p:cNvSpPr/>
            <p:nvPr/>
          </p:nvSpPr>
          <p:spPr>
            <a:xfrm flipH="1">
              <a:off x="4709" y="1133"/>
              <a:ext cx="5" cy="1540"/>
            </a:xfrm>
            <a:prstGeom prst="line">
              <a:avLst/>
            </a:prstGeom>
            <a:ln w="19050" cap="flat" cmpd="sng">
              <a:solidFill>
                <a:srgbClr val="006600"/>
              </a:solidFill>
              <a:prstDash val="lgDashDot"/>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81626"/>
                                        </p:tgtEl>
                                        <p:attrNameLst>
                                          <p:attrName>style.visibility</p:attrName>
                                        </p:attrNameLst>
                                      </p:cBhvr>
                                      <p:to>
                                        <p:strVal val="visible"/>
                                      </p:to>
                                    </p:set>
                                    <p:animEffect transition="in" filter="dissolve">
                                      <p:cBhvr>
                                        <p:cTn id="7" dur="500"/>
                                        <p:tgtEl>
                                          <p:spTgt spid="2816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1800"/>
                                        </p:tgtEl>
                                        <p:attrNameLst>
                                          <p:attrName>style.visibility</p:attrName>
                                        </p:attrNameLst>
                                      </p:cBhvr>
                                      <p:to>
                                        <p:strVal val="visible"/>
                                      </p:to>
                                    </p:set>
                                    <p:anim calcmode="lin" valueType="num">
                                      <p:cBhvr additive="base">
                                        <p:cTn id="12" dur="500" fill="hold"/>
                                        <p:tgtEl>
                                          <p:spTgt spid="281800"/>
                                        </p:tgtEl>
                                        <p:attrNameLst>
                                          <p:attrName>ppt_x</p:attrName>
                                        </p:attrNameLst>
                                      </p:cBhvr>
                                      <p:tavLst>
                                        <p:tav tm="0">
                                          <p:val>
                                            <p:strVal val="#ppt_x"/>
                                          </p:val>
                                        </p:tav>
                                        <p:tav tm="100000">
                                          <p:val>
                                            <p:strVal val="#ppt_x"/>
                                          </p:val>
                                        </p:tav>
                                      </p:tavLst>
                                    </p:anim>
                                    <p:anim calcmode="lin" valueType="num">
                                      <p:cBhvr additive="base">
                                        <p:cTn id="13" dur="500" fill="hold"/>
                                        <p:tgtEl>
                                          <p:spTgt spid="28180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28166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28178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2817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childTnLst>
                                    <p:set>
                                      <p:cBhvr>
                                        <p:cTn id="29" dur="1" fill="hold">
                                          <p:stCondLst>
                                            <p:cond delay="0"/>
                                          </p:stCondLst>
                                        </p:cTn>
                                        <p:tgtEl>
                                          <p:spTgt spid="281628"/>
                                        </p:tgtEl>
                                        <p:attrNameLst>
                                          <p:attrName>style.visibility</p:attrName>
                                        </p:attrNameLst>
                                      </p:cBhvr>
                                      <p:to>
                                        <p:strVal val="visible"/>
                                      </p:to>
                                    </p:set>
                                    <p:animEffect transition="in" filter="slide(fromTop)">
                                      <p:cBhvr>
                                        <p:cTn id="30" dur="500"/>
                                        <p:tgtEl>
                                          <p:spTgt spid="28162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2816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816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28179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2817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81661"/>
                                        </p:tgtEl>
                                        <p:attrNameLst>
                                          <p:attrName>style.visibility</p:attrName>
                                        </p:attrNameLst>
                                      </p:cBhvr>
                                      <p:to>
                                        <p:strVal val="visible"/>
                                      </p:to>
                                    </p:set>
                                    <p:anim calcmode="lin" valueType="num">
                                      <p:cBhvr additive="base">
                                        <p:cTn id="51" dur="500" fill="hold"/>
                                        <p:tgtEl>
                                          <p:spTgt spid="281661"/>
                                        </p:tgtEl>
                                        <p:attrNameLst>
                                          <p:attrName>ppt_x</p:attrName>
                                        </p:attrNameLst>
                                      </p:cBhvr>
                                      <p:tavLst>
                                        <p:tav tm="0">
                                          <p:val>
                                            <p:strVal val="0-#ppt_w/2"/>
                                          </p:val>
                                        </p:tav>
                                        <p:tav tm="100000">
                                          <p:val>
                                            <p:strVal val="#ppt_x"/>
                                          </p:val>
                                        </p:tav>
                                      </p:tavLst>
                                    </p:anim>
                                    <p:anim calcmode="lin" valueType="num">
                                      <p:cBhvr additive="base">
                                        <p:cTn id="52" dur="500" fill="hold"/>
                                        <p:tgtEl>
                                          <p:spTgt spid="281661"/>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2817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499"/>
                                          </p:stCondLst>
                                        </p:cTn>
                                        <p:tgtEl>
                                          <p:spTgt spid="28177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81663"/>
                                        </p:tgtEl>
                                        <p:attrNameLst>
                                          <p:attrName>style.visibility</p:attrName>
                                        </p:attrNameLst>
                                      </p:cBhvr>
                                      <p:to>
                                        <p:strVal val="visible"/>
                                      </p:to>
                                    </p:set>
                                    <p:anim calcmode="lin" valueType="num">
                                      <p:cBhvr additive="base">
                                        <p:cTn id="65" dur="500" fill="hold"/>
                                        <p:tgtEl>
                                          <p:spTgt spid="281663"/>
                                        </p:tgtEl>
                                        <p:attrNameLst>
                                          <p:attrName>ppt_x</p:attrName>
                                        </p:attrNameLst>
                                      </p:cBhvr>
                                      <p:tavLst>
                                        <p:tav tm="0">
                                          <p:val>
                                            <p:strVal val="0-#ppt_w/2"/>
                                          </p:val>
                                        </p:tav>
                                        <p:tav tm="100000">
                                          <p:val>
                                            <p:strVal val="#ppt_x"/>
                                          </p:val>
                                        </p:tav>
                                      </p:tavLst>
                                    </p:anim>
                                    <p:anim calcmode="lin" valueType="num">
                                      <p:cBhvr additive="base">
                                        <p:cTn id="66" dur="500" fill="hold"/>
                                        <p:tgtEl>
                                          <p:spTgt spid="281663"/>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28177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2816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28168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28168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281631"/>
                                        </p:tgtEl>
                                        <p:attrNameLst>
                                          <p:attrName>style.visibility</p:attrName>
                                        </p:attrNameLst>
                                      </p:cBhvr>
                                      <p:to>
                                        <p:strVal val="visible"/>
                                      </p:to>
                                    </p:set>
                                    <p:anim calcmode="lin" valueType="num">
                                      <p:cBhvr additive="base">
                                        <p:cTn id="87" dur="500" fill="hold"/>
                                        <p:tgtEl>
                                          <p:spTgt spid="281631"/>
                                        </p:tgtEl>
                                        <p:attrNameLst>
                                          <p:attrName>ppt_x</p:attrName>
                                        </p:attrNameLst>
                                      </p:cBhvr>
                                      <p:tavLst>
                                        <p:tav tm="0">
                                          <p:val>
                                            <p:strVal val="0-#ppt_w/2"/>
                                          </p:val>
                                        </p:tav>
                                        <p:tav tm="100000">
                                          <p:val>
                                            <p:strVal val="#ppt_x"/>
                                          </p:val>
                                        </p:tav>
                                      </p:tavLst>
                                    </p:anim>
                                    <p:anim calcmode="lin" valueType="num">
                                      <p:cBhvr additive="base">
                                        <p:cTn id="88" dur="500" fill="hold"/>
                                        <p:tgtEl>
                                          <p:spTgt spid="281631"/>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2816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499"/>
                                          </p:stCondLst>
                                        </p:cTn>
                                        <p:tgtEl>
                                          <p:spTgt spid="28163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499"/>
                                          </p:stCondLst>
                                        </p:cTn>
                                        <p:tgtEl>
                                          <p:spTgt spid="28163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281632"/>
                                        </p:tgtEl>
                                        <p:attrNameLst>
                                          <p:attrName>style.visibility</p:attrName>
                                        </p:attrNameLst>
                                      </p:cBhvr>
                                      <p:to>
                                        <p:strVal val="visible"/>
                                      </p:to>
                                    </p:set>
                                    <p:anim calcmode="lin" valueType="num">
                                      <p:cBhvr additive="base">
                                        <p:cTn id="105" dur="500" fill="hold"/>
                                        <p:tgtEl>
                                          <p:spTgt spid="281632"/>
                                        </p:tgtEl>
                                        <p:attrNameLst>
                                          <p:attrName>ppt_x</p:attrName>
                                        </p:attrNameLst>
                                      </p:cBhvr>
                                      <p:tavLst>
                                        <p:tav tm="0">
                                          <p:val>
                                            <p:strVal val="#ppt_x"/>
                                          </p:val>
                                        </p:tav>
                                        <p:tav tm="100000">
                                          <p:val>
                                            <p:strVal val="#ppt_x"/>
                                          </p:val>
                                        </p:tav>
                                      </p:tavLst>
                                    </p:anim>
                                    <p:anim calcmode="lin" valueType="num">
                                      <p:cBhvr additive="base">
                                        <p:cTn id="106" dur="500" fill="hold"/>
                                        <p:tgtEl>
                                          <p:spTgt spid="281632"/>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grpId="0" nodeType="clickEffect">
                                  <p:stCondLst>
                                    <p:cond delay="0"/>
                                  </p:stCondLst>
                                  <p:childTnLst>
                                    <p:set>
                                      <p:cBhvr>
                                        <p:cTn id="110" dur="1" fill="hold">
                                          <p:stCondLst>
                                            <p:cond delay="0"/>
                                          </p:stCondLst>
                                        </p:cTn>
                                        <p:tgtEl>
                                          <p:spTgt spid="281684"/>
                                        </p:tgtEl>
                                        <p:attrNameLst>
                                          <p:attrName>style.visibility</p:attrName>
                                        </p:attrNameLst>
                                      </p:cBhvr>
                                      <p:to>
                                        <p:strVal val="visible"/>
                                      </p:to>
                                    </p:set>
                                    <p:anim calcmode="lin" valueType="num">
                                      <p:cBhvr additive="base">
                                        <p:cTn id="111" dur="500" fill="hold"/>
                                        <p:tgtEl>
                                          <p:spTgt spid="281684"/>
                                        </p:tgtEl>
                                        <p:attrNameLst>
                                          <p:attrName>ppt_x</p:attrName>
                                        </p:attrNameLst>
                                      </p:cBhvr>
                                      <p:tavLst>
                                        <p:tav tm="0">
                                          <p:val>
                                            <p:strVal val="#ppt_x"/>
                                          </p:val>
                                        </p:tav>
                                        <p:tav tm="100000">
                                          <p:val>
                                            <p:strVal val="#ppt_x"/>
                                          </p:val>
                                        </p:tav>
                                      </p:tavLst>
                                    </p:anim>
                                    <p:anim calcmode="lin" valueType="num">
                                      <p:cBhvr additive="base">
                                        <p:cTn id="112" dur="500" fill="hold"/>
                                        <p:tgtEl>
                                          <p:spTgt spid="281684"/>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499"/>
                                          </p:stCondLst>
                                        </p:cTn>
                                        <p:tgtEl>
                                          <p:spTgt spid="281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26" grpId="0"/>
      <p:bldP spid="281628" grpId="0"/>
      <p:bldP spid="281629" grpId="0"/>
      <p:bldP spid="281630" grpId="0"/>
      <p:bldP spid="281631" grpId="0"/>
      <p:bldP spid="281632" grpId="0"/>
      <p:bldP spid="281633" grpId="0"/>
      <p:bldP spid="281634" grpId="0"/>
      <p:bldP spid="281635" grpId="0"/>
      <p:bldP spid="281661" grpId="0"/>
      <p:bldP spid="281663" grpId="0"/>
      <p:bldP spid="281682" grpId="0"/>
      <p:bldP spid="281683" grpId="0"/>
      <p:bldP spid="281684" grpId="0"/>
      <p:bldP spid="281685" grpId="0"/>
      <p:bldP spid="28166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42370" name="组合 442369"/>
          <p:cNvGrpSpPr/>
          <p:nvPr/>
        </p:nvGrpSpPr>
        <p:grpSpPr>
          <a:xfrm>
            <a:off x="631825" y="2913063"/>
            <a:ext cx="6269038" cy="3743325"/>
            <a:chOff x="710" y="1835"/>
            <a:chExt cx="3949" cy="2358"/>
          </a:xfrm>
        </p:grpSpPr>
        <p:grpSp>
          <p:nvGrpSpPr>
            <p:cNvPr id="442371" name="组合 442370"/>
            <p:cNvGrpSpPr/>
            <p:nvPr/>
          </p:nvGrpSpPr>
          <p:grpSpPr>
            <a:xfrm>
              <a:off x="710" y="1835"/>
              <a:ext cx="2033" cy="2358"/>
              <a:chOff x="710" y="1835"/>
              <a:chExt cx="2033" cy="2358"/>
            </a:xfrm>
          </p:grpSpPr>
          <p:grpSp>
            <p:nvGrpSpPr>
              <p:cNvPr id="442372" name="组合 442371"/>
              <p:cNvGrpSpPr/>
              <p:nvPr/>
            </p:nvGrpSpPr>
            <p:grpSpPr>
              <a:xfrm>
                <a:off x="710" y="1835"/>
                <a:ext cx="2033" cy="2358"/>
                <a:chOff x="26" y="299"/>
                <a:chExt cx="2033" cy="2358"/>
              </a:xfrm>
            </p:grpSpPr>
            <p:sp>
              <p:nvSpPr>
                <p:cNvPr id="442373" name="直接连接符 442372"/>
                <p:cNvSpPr/>
                <p:nvPr/>
              </p:nvSpPr>
              <p:spPr>
                <a:xfrm flipV="1">
                  <a:off x="418" y="1643"/>
                  <a:ext cx="690" cy="756"/>
                </a:xfrm>
                <a:prstGeom prst="line">
                  <a:avLst/>
                </a:prstGeom>
                <a:ln w="19050" cap="flat" cmpd="sng">
                  <a:solidFill>
                    <a:srgbClr val="002060"/>
                  </a:solidFill>
                  <a:prstDash val="lgDashDot"/>
                  <a:headEnd type="none" w="med" len="med"/>
                  <a:tailEnd type="none" w="med" len="med"/>
                </a:ln>
              </p:spPr>
            </p:sp>
            <p:sp>
              <p:nvSpPr>
                <p:cNvPr id="442374" name="直接连接符 442373"/>
                <p:cNvSpPr/>
                <p:nvPr/>
              </p:nvSpPr>
              <p:spPr>
                <a:xfrm>
                  <a:off x="100" y="1625"/>
                  <a:ext cx="1818" cy="450"/>
                </a:xfrm>
                <a:prstGeom prst="line">
                  <a:avLst/>
                </a:prstGeom>
                <a:ln w="9525" cap="flat" cmpd="sng">
                  <a:solidFill>
                    <a:srgbClr val="002060"/>
                  </a:solidFill>
                  <a:prstDash val="lgDashDot"/>
                  <a:headEnd type="none" w="med" len="med"/>
                  <a:tailEnd type="none" w="med" len="med"/>
                </a:ln>
              </p:spPr>
            </p:sp>
            <p:sp>
              <p:nvSpPr>
                <p:cNvPr id="442375" name="直接连接符 442374"/>
                <p:cNvSpPr/>
                <p:nvPr/>
              </p:nvSpPr>
              <p:spPr>
                <a:xfrm flipV="1">
                  <a:off x="916" y="941"/>
                  <a:ext cx="6" cy="1716"/>
                </a:xfrm>
                <a:prstGeom prst="line">
                  <a:avLst/>
                </a:prstGeom>
                <a:ln w="9525" cap="flat" cmpd="sng">
                  <a:solidFill>
                    <a:srgbClr val="002060"/>
                  </a:solidFill>
                  <a:prstDash val="lgDashDot"/>
                  <a:headEnd type="none" w="med" len="med"/>
                  <a:tailEnd type="none" w="med" len="med"/>
                </a:ln>
              </p:spPr>
            </p:sp>
            <p:sp>
              <p:nvSpPr>
                <p:cNvPr id="442376" name="任意多边形 442375"/>
                <p:cNvSpPr/>
                <p:nvPr/>
              </p:nvSpPr>
              <p:spPr>
                <a:xfrm rot="-2592005" flipH="1">
                  <a:off x="658" y="1482"/>
                  <a:ext cx="531" cy="704"/>
                </a:xfrm>
                <a:custGeom>
                  <a:avLst/>
                  <a:gdLst>
                    <a:gd name="txL" fmla="*/ 0 w 43200"/>
                    <a:gd name="txT" fmla="*/ 0 h 43200"/>
                    <a:gd name="txR" fmla="*/ 43200 w 43200"/>
                    <a:gd name="txB" fmla="*/ 43200 h 43200"/>
                  </a:gdLst>
                  <a:ahLst/>
                  <a:cxnLst>
                    <a:cxn ang="270">
                      <a:pos x="8335" y="4552"/>
                    </a:cxn>
                    <a:cxn ang="180">
                      <a:pos x="2661" y="11213"/>
                    </a:cxn>
                    <a:cxn ang="90">
                      <a:pos x="21600" y="21600"/>
                    </a:cxn>
                  </a:cxnLst>
                  <a:rect l="txL" t="txT" r="txR" b="txB"/>
                  <a:pathLst>
                    <a:path w="43200" h="43200" fill="none">
                      <a:moveTo>
                        <a:pt x="8335" y="4552"/>
                      </a:moveTo>
                      <a:arcTo wR="21600" hR="21600" stAng="-7673183" swAng="20197724"/>
                    </a:path>
                    <a:path w="43200" h="43200" stroke="0">
                      <a:moveTo>
                        <a:pt x="8335" y="4552"/>
                      </a:moveTo>
                      <a:arcTo wR="21600" hR="21600" stAng="-7673183" swAng="20197724"/>
                      <a:lnTo>
                        <a:pt x="21600" y="21600"/>
                      </a:lnTo>
                      <a:close/>
                    </a:path>
                  </a:pathLst>
                </a:custGeom>
                <a:noFill/>
                <a:ln w="28575" cap="flat" cmpd="sng">
                  <a:solidFill>
                    <a:srgbClr val="002060"/>
                  </a:solidFill>
                  <a:prstDash val="solid"/>
                  <a:headEnd type="none" w="med" len="med"/>
                  <a:tailEnd type="none" w="med" len="med"/>
                </a:ln>
              </p:spPr>
              <p:txBody>
                <a:bodyPr/>
                <a:p>
                  <a:endParaRPr lang="zh-CN" altLang="en-US"/>
                </a:p>
              </p:txBody>
            </p:sp>
            <p:sp>
              <p:nvSpPr>
                <p:cNvPr id="442377" name="直接连接符 442376"/>
                <p:cNvSpPr/>
                <p:nvPr/>
              </p:nvSpPr>
              <p:spPr>
                <a:xfrm flipV="1">
                  <a:off x="850" y="1436"/>
                  <a:ext cx="0" cy="87"/>
                </a:xfrm>
                <a:prstGeom prst="line">
                  <a:avLst/>
                </a:prstGeom>
                <a:ln w="28575" cap="flat" cmpd="sng">
                  <a:solidFill>
                    <a:srgbClr val="002060"/>
                  </a:solidFill>
                  <a:prstDash val="solid"/>
                  <a:headEnd type="none" w="med" len="med"/>
                  <a:tailEnd type="none" w="med" len="med"/>
                </a:ln>
              </p:spPr>
            </p:sp>
            <p:sp>
              <p:nvSpPr>
                <p:cNvPr id="442378" name="直接连接符 442377"/>
                <p:cNvSpPr/>
                <p:nvPr/>
              </p:nvSpPr>
              <p:spPr>
                <a:xfrm>
                  <a:off x="847" y="1436"/>
                  <a:ext cx="126" cy="27"/>
                </a:xfrm>
                <a:prstGeom prst="line">
                  <a:avLst/>
                </a:prstGeom>
                <a:ln w="28575" cap="flat" cmpd="sng">
                  <a:solidFill>
                    <a:srgbClr val="002060"/>
                  </a:solidFill>
                  <a:prstDash val="solid"/>
                  <a:headEnd type="none" w="med" len="med"/>
                  <a:tailEnd type="none" w="med" len="med"/>
                </a:ln>
              </p:spPr>
            </p:sp>
            <p:sp>
              <p:nvSpPr>
                <p:cNvPr id="442379" name="直接连接符 442378"/>
                <p:cNvSpPr/>
                <p:nvPr/>
              </p:nvSpPr>
              <p:spPr>
                <a:xfrm>
                  <a:off x="976" y="1463"/>
                  <a:ext cx="0" cy="90"/>
                </a:xfrm>
                <a:prstGeom prst="line">
                  <a:avLst/>
                </a:prstGeom>
                <a:ln w="28575" cap="flat" cmpd="sng">
                  <a:solidFill>
                    <a:srgbClr val="002060"/>
                  </a:solidFill>
                  <a:prstDash val="solid"/>
                  <a:headEnd type="none" w="med" len="med"/>
                  <a:tailEnd type="none" w="med" len="med"/>
                </a:ln>
              </p:spPr>
            </p:sp>
            <p:sp>
              <p:nvSpPr>
                <p:cNvPr id="442380" name="椭圆 442379"/>
                <p:cNvSpPr/>
                <p:nvPr/>
              </p:nvSpPr>
              <p:spPr>
                <a:xfrm rot="2618214">
                  <a:off x="26" y="1182"/>
                  <a:ext cx="1797" cy="1309"/>
                </a:xfrm>
                <a:prstGeom prst="ellipse">
                  <a:avLst/>
                </a:prstGeom>
                <a:noFill/>
                <a:ln w="19050" cap="flat" cmpd="sng">
                  <a:solidFill>
                    <a:srgbClr val="002060"/>
                  </a:solidFill>
                  <a:prstDash val="lgDashDot"/>
                  <a:headEnd type="none" w="med" len="med"/>
                  <a:tailEnd type="none" w="med" len="med"/>
                </a:ln>
              </p:spPr>
              <p:txBody>
                <a:bodyPr/>
                <a:p>
                  <a:endParaRPr lang="zh-CN" altLang="en-US"/>
                </a:p>
              </p:txBody>
            </p:sp>
            <p:sp>
              <p:nvSpPr>
                <p:cNvPr id="442381" name="直接连接符 442380"/>
                <p:cNvSpPr/>
                <p:nvPr/>
              </p:nvSpPr>
              <p:spPr>
                <a:xfrm flipH="1">
                  <a:off x="856" y="1451"/>
                  <a:ext cx="63" cy="75"/>
                </a:xfrm>
                <a:prstGeom prst="line">
                  <a:avLst/>
                </a:prstGeom>
                <a:ln w="28575" cap="flat" cmpd="sng">
                  <a:solidFill>
                    <a:srgbClr val="002060"/>
                  </a:solidFill>
                  <a:prstDash val="solid"/>
                  <a:headEnd type="none" w="med" len="med"/>
                  <a:tailEnd type="none" w="med" len="med"/>
                </a:ln>
              </p:spPr>
            </p:sp>
            <p:grpSp>
              <p:nvGrpSpPr>
                <p:cNvPr id="442382" name="组合 442381"/>
                <p:cNvGrpSpPr/>
                <p:nvPr/>
              </p:nvGrpSpPr>
              <p:grpSpPr>
                <a:xfrm>
                  <a:off x="463" y="583"/>
                  <a:ext cx="1096" cy="670"/>
                  <a:chOff x="2331" y="1016"/>
                  <a:chExt cx="1096" cy="670"/>
                </a:xfrm>
              </p:grpSpPr>
              <p:sp>
                <p:nvSpPr>
                  <p:cNvPr id="442383" name="任意多边形 442382"/>
                  <p:cNvSpPr/>
                  <p:nvPr/>
                </p:nvSpPr>
                <p:spPr>
                  <a:xfrm>
                    <a:off x="2331" y="1356"/>
                    <a:ext cx="339" cy="330"/>
                  </a:xfrm>
                  <a:custGeom>
                    <a:avLst/>
                    <a:gdLst/>
                    <a:ahLst/>
                    <a:cxnLst/>
                    <a:pathLst>
                      <a:path w="339" h="330">
                        <a:moveTo>
                          <a:pt x="0" y="330"/>
                        </a:moveTo>
                        <a:cubicBezTo>
                          <a:pt x="9" y="322"/>
                          <a:pt x="18" y="315"/>
                          <a:pt x="24" y="308"/>
                        </a:cubicBezTo>
                        <a:cubicBezTo>
                          <a:pt x="30" y="301"/>
                          <a:pt x="32" y="300"/>
                          <a:pt x="35" y="290"/>
                        </a:cubicBezTo>
                        <a:cubicBezTo>
                          <a:pt x="38" y="280"/>
                          <a:pt x="39" y="260"/>
                          <a:pt x="41" y="245"/>
                        </a:cubicBezTo>
                        <a:cubicBezTo>
                          <a:pt x="43" y="230"/>
                          <a:pt x="44" y="215"/>
                          <a:pt x="47" y="201"/>
                        </a:cubicBezTo>
                        <a:cubicBezTo>
                          <a:pt x="50" y="187"/>
                          <a:pt x="55" y="174"/>
                          <a:pt x="59" y="159"/>
                        </a:cubicBezTo>
                        <a:cubicBezTo>
                          <a:pt x="63" y="144"/>
                          <a:pt x="66" y="125"/>
                          <a:pt x="71" y="108"/>
                        </a:cubicBezTo>
                        <a:cubicBezTo>
                          <a:pt x="76" y="91"/>
                          <a:pt x="86" y="70"/>
                          <a:pt x="92" y="56"/>
                        </a:cubicBezTo>
                        <a:cubicBezTo>
                          <a:pt x="98" y="42"/>
                          <a:pt x="104" y="33"/>
                          <a:pt x="108" y="24"/>
                        </a:cubicBezTo>
                        <a:cubicBezTo>
                          <a:pt x="112" y="15"/>
                          <a:pt x="109" y="6"/>
                          <a:pt x="117" y="3"/>
                        </a:cubicBezTo>
                        <a:cubicBezTo>
                          <a:pt x="125" y="0"/>
                          <a:pt x="146" y="3"/>
                          <a:pt x="159" y="3"/>
                        </a:cubicBezTo>
                        <a:cubicBezTo>
                          <a:pt x="172" y="3"/>
                          <a:pt x="185" y="4"/>
                          <a:pt x="194" y="5"/>
                        </a:cubicBezTo>
                        <a:cubicBezTo>
                          <a:pt x="203" y="6"/>
                          <a:pt x="208" y="3"/>
                          <a:pt x="215" y="8"/>
                        </a:cubicBezTo>
                        <a:cubicBezTo>
                          <a:pt x="222" y="13"/>
                          <a:pt x="227" y="25"/>
                          <a:pt x="234" y="38"/>
                        </a:cubicBezTo>
                        <a:cubicBezTo>
                          <a:pt x="241" y="51"/>
                          <a:pt x="249" y="71"/>
                          <a:pt x="255" y="86"/>
                        </a:cubicBezTo>
                        <a:cubicBezTo>
                          <a:pt x="261" y="101"/>
                          <a:pt x="267" y="113"/>
                          <a:pt x="272" y="129"/>
                        </a:cubicBezTo>
                        <a:cubicBezTo>
                          <a:pt x="277" y="145"/>
                          <a:pt x="283" y="169"/>
                          <a:pt x="287" y="185"/>
                        </a:cubicBezTo>
                        <a:cubicBezTo>
                          <a:pt x="291" y="201"/>
                          <a:pt x="291" y="215"/>
                          <a:pt x="293" y="227"/>
                        </a:cubicBezTo>
                        <a:cubicBezTo>
                          <a:pt x="295" y="239"/>
                          <a:pt x="297" y="253"/>
                          <a:pt x="299" y="260"/>
                        </a:cubicBezTo>
                        <a:cubicBezTo>
                          <a:pt x="301" y="267"/>
                          <a:pt x="303" y="268"/>
                          <a:pt x="306" y="272"/>
                        </a:cubicBezTo>
                        <a:cubicBezTo>
                          <a:pt x="309" y="276"/>
                          <a:pt x="312" y="279"/>
                          <a:pt x="317" y="282"/>
                        </a:cubicBezTo>
                        <a:cubicBezTo>
                          <a:pt x="322" y="285"/>
                          <a:pt x="335" y="292"/>
                          <a:pt x="339" y="293"/>
                        </a:cubicBezTo>
                      </a:path>
                    </a:pathLst>
                  </a:custGeom>
                  <a:noFill/>
                  <a:ln w="28575" cap="flat" cmpd="sng">
                    <a:solidFill>
                      <a:srgbClr val="002060">
                        <a:alpha val="100000"/>
                      </a:srgbClr>
                    </a:solidFill>
                    <a:prstDash val="solid"/>
                    <a:headEnd type="none" w="med" len="med"/>
                    <a:tailEnd type="none" w="med" len="med"/>
                  </a:ln>
                </p:spPr>
                <p:txBody>
                  <a:bodyPr/>
                  <a:p>
                    <a:endParaRPr lang="zh-CN" altLang="en-US"/>
                  </a:p>
                </p:txBody>
              </p:sp>
              <p:sp>
                <p:nvSpPr>
                  <p:cNvPr id="442384" name="任意多边形 442383"/>
                  <p:cNvSpPr/>
                  <p:nvPr/>
                </p:nvSpPr>
                <p:spPr>
                  <a:xfrm>
                    <a:off x="2454" y="1016"/>
                    <a:ext cx="959" cy="343"/>
                  </a:xfrm>
                  <a:custGeom>
                    <a:avLst/>
                    <a:gdLst/>
                    <a:ahLst/>
                    <a:cxnLst/>
                    <a:pathLst>
                      <a:path w="959" h="343">
                        <a:moveTo>
                          <a:pt x="0" y="340"/>
                        </a:moveTo>
                        <a:cubicBezTo>
                          <a:pt x="17" y="331"/>
                          <a:pt x="35" y="324"/>
                          <a:pt x="56" y="313"/>
                        </a:cubicBezTo>
                        <a:cubicBezTo>
                          <a:pt x="77" y="303"/>
                          <a:pt x="98" y="291"/>
                          <a:pt x="128" y="276"/>
                        </a:cubicBezTo>
                        <a:cubicBezTo>
                          <a:pt x="159" y="261"/>
                          <a:pt x="197" y="242"/>
                          <a:pt x="240" y="222"/>
                        </a:cubicBezTo>
                        <a:cubicBezTo>
                          <a:pt x="283" y="202"/>
                          <a:pt x="339" y="176"/>
                          <a:pt x="388" y="157"/>
                        </a:cubicBezTo>
                        <a:cubicBezTo>
                          <a:pt x="437" y="138"/>
                          <a:pt x="488" y="122"/>
                          <a:pt x="533" y="106"/>
                        </a:cubicBezTo>
                        <a:cubicBezTo>
                          <a:pt x="578" y="90"/>
                          <a:pt x="615" y="75"/>
                          <a:pt x="662" y="62"/>
                        </a:cubicBezTo>
                        <a:cubicBezTo>
                          <a:pt x="710" y="48"/>
                          <a:pt x="780" y="30"/>
                          <a:pt x="816" y="20"/>
                        </a:cubicBezTo>
                        <a:cubicBezTo>
                          <a:pt x="852" y="10"/>
                          <a:pt x="866" y="6"/>
                          <a:pt x="879" y="3"/>
                        </a:cubicBezTo>
                        <a:cubicBezTo>
                          <a:pt x="892" y="0"/>
                          <a:pt x="886" y="1"/>
                          <a:pt x="896" y="4"/>
                        </a:cubicBezTo>
                        <a:cubicBezTo>
                          <a:pt x="906" y="7"/>
                          <a:pt x="928" y="17"/>
                          <a:pt x="938" y="22"/>
                        </a:cubicBezTo>
                        <a:cubicBezTo>
                          <a:pt x="948" y="27"/>
                          <a:pt x="959" y="33"/>
                          <a:pt x="957" y="36"/>
                        </a:cubicBezTo>
                        <a:cubicBezTo>
                          <a:pt x="955" y="39"/>
                          <a:pt x="951" y="37"/>
                          <a:pt x="929" y="42"/>
                        </a:cubicBezTo>
                        <a:cubicBezTo>
                          <a:pt x="907" y="47"/>
                          <a:pt x="855" y="62"/>
                          <a:pt x="824" y="69"/>
                        </a:cubicBezTo>
                        <a:cubicBezTo>
                          <a:pt x="793" y="76"/>
                          <a:pt x="776" y="78"/>
                          <a:pt x="743" y="87"/>
                        </a:cubicBezTo>
                        <a:cubicBezTo>
                          <a:pt x="710" y="96"/>
                          <a:pt x="668" y="110"/>
                          <a:pt x="623" y="123"/>
                        </a:cubicBezTo>
                        <a:cubicBezTo>
                          <a:pt x="578" y="136"/>
                          <a:pt x="525" y="147"/>
                          <a:pt x="474" y="166"/>
                        </a:cubicBezTo>
                        <a:cubicBezTo>
                          <a:pt x="423" y="185"/>
                          <a:pt x="362" y="215"/>
                          <a:pt x="317" y="235"/>
                        </a:cubicBezTo>
                        <a:cubicBezTo>
                          <a:pt x="272" y="255"/>
                          <a:pt x="241" y="270"/>
                          <a:pt x="203" y="288"/>
                        </a:cubicBezTo>
                        <a:cubicBezTo>
                          <a:pt x="165" y="306"/>
                          <a:pt x="111" y="332"/>
                          <a:pt x="87" y="343"/>
                        </a:cubicBezTo>
                      </a:path>
                    </a:pathLst>
                  </a:custGeom>
                  <a:noFill/>
                  <a:ln w="28575" cap="flat" cmpd="sng">
                    <a:solidFill>
                      <a:srgbClr val="002060">
                        <a:alpha val="100000"/>
                      </a:srgbClr>
                    </a:solidFill>
                    <a:prstDash val="solid"/>
                    <a:headEnd type="none" w="med" len="med"/>
                    <a:tailEnd type="none" w="med" len="med"/>
                  </a:ln>
                </p:spPr>
                <p:txBody>
                  <a:bodyPr/>
                  <a:p>
                    <a:endParaRPr lang="zh-CN" altLang="en-US"/>
                  </a:p>
                </p:txBody>
              </p:sp>
              <p:sp>
                <p:nvSpPr>
                  <p:cNvPr id="442385" name="任意多边形 442384"/>
                  <p:cNvSpPr/>
                  <p:nvPr/>
                </p:nvSpPr>
                <p:spPr>
                  <a:xfrm>
                    <a:off x="3404" y="1052"/>
                    <a:ext cx="23" cy="307"/>
                  </a:xfrm>
                  <a:custGeom>
                    <a:avLst/>
                    <a:gdLst/>
                    <a:ahLst/>
                    <a:cxnLst/>
                    <a:pathLst>
                      <a:path w="23" h="307">
                        <a:moveTo>
                          <a:pt x="9" y="0"/>
                        </a:moveTo>
                        <a:cubicBezTo>
                          <a:pt x="11" y="12"/>
                          <a:pt x="14" y="25"/>
                          <a:pt x="16" y="39"/>
                        </a:cubicBezTo>
                        <a:cubicBezTo>
                          <a:pt x="18" y="53"/>
                          <a:pt x="21" y="68"/>
                          <a:pt x="22" y="84"/>
                        </a:cubicBezTo>
                        <a:cubicBezTo>
                          <a:pt x="23" y="100"/>
                          <a:pt x="21" y="119"/>
                          <a:pt x="21" y="135"/>
                        </a:cubicBezTo>
                        <a:cubicBezTo>
                          <a:pt x="21" y="151"/>
                          <a:pt x="19" y="169"/>
                          <a:pt x="19" y="183"/>
                        </a:cubicBezTo>
                        <a:cubicBezTo>
                          <a:pt x="19" y="197"/>
                          <a:pt x="21" y="210"/>
                          <a:pt x="18" y="220"/>
                        </a:cubicBezTo>
                        <a:cubicBezTo>
                          <a:pt x="15" y="230"/>
                          <a:pt x="6" y="239"/>
                          <a:pt x="3" y="246"/>
                        </a:cubicBezTo>
                        <a:cubicBezTo>
                          <a:pt x="0" y="253"/>
                          <a:pt x="0" y="254"/>
                          <a:pt x="0" y="261"/>
                        </a:cubicBezTo>
                        <a:cubicBezTo>
                          <a:pt x="0" y="268"/>
                          <a:pt x="0" y="283"/>
                          <a:pt x="1" y="291"/>
                        </a:cubicBezTo>
                        <a:cubicBezTo>
                          <a:pt x="2" y="299"/>
                          <a:pt x="1" y="304"/>
                          <a:pt x="3" y="307"/>
                        </a:cubicBezTo>
                      </a:path>
                    </a:pathLst>
                  </a:custGeom>
                  <a:noFill/>
                  <a:ln w="28575" cap="flat" cmpd="sng">
                    <a:solidFill>
                      <a:srgbClr val="002060">
                        <a:alpha val="100000"/>
                      </a:srgbClr>
                    </a:solidFill>
                    <a:prstDash val="solid"/>
                    <a:headEnd type="none" w="med" len="med"/>
                    <a:tailEnd type="none" w="med" len="med"/>
                  </a:ln>
                </p:spPr>
                <p:txBody>
                  <a:bodyPr/>
                  <a:p>
                    <a:endParaRPr lang="zh-CN" altLang="en-US"/>
                  </a:p>
                </p:txBody>
              </p:sp>
            </p:grpSp>
            <p:sp>
              <p:nvSpPr>
                <p:cNvPr id="442386" name="任意多边形 442385"/>
                <p:cNvSpPr/>
                <p:nvPr/>
              </p:nvSpPr>
              <p:spPr>
                <a:xfrm rot="-2592005" flipH="1">
                  <a:off x="1219" y="299"/>
                  <a:ext cx="657" cy="1749"/>
                </a:xfrm>
                <a:custGeom>
                  <a:avLst/>
                  <a:gdLst>
                    <a:gd name="txL" fmla="*/ 0 w 21600"/>
                    <a:gd name="txT" fmla="*/ 0 h 41819"/>
                    <a:gd name="txR" fmla="*/ 21600 w 21600"/>
                    <a:gd name="txB" fmla="*/ 41819 h 41819"/>
                  </a:gdLst>
                  <a:ahLst/>
                  <a:cxnLst>
                    <a:cxn ang="90">
                      <a:pos x="14474" y="41818"/>
                    </a:cxn>
                    <a:cxn ang="270">
                      <a:pos x="18875" y="0"/>
                    </a:cxn>
                    <a:cxn ang="0">
                      <a:pos x="21600" y="21428"/>
                    </a:cxn>
                  </a:cxnLst>
                  <a:rect l="txL" t="txT" r="txR" b="txB"/>
                  <a:pathLst>
                    <a:path w="21600" h="41819" fill="none">
                      <a:moveTo>
                        <a:pt x="14474" y="41818"/>
                      </a:moveTo>
                      <a:arcTo wR="21600" hR="21600" stAng="-15044175" swAng="9209330"/>
                    </a:path>
                    <a:path w="21600" h="41819" stroke="0">
                      <a:moveTo>
                        <a:pt x="14474" y="41818"/>
                      </a:moveTo>
                      <a:arcTo wR="21600" hR="21600" stAng="-15044175" swAng="9209330"/>
                      <a:lnTo>
                        <a:pt x="21600" y="21428"/>
                      </a:lnTo>
                      <a:close/>
                    </a:path>
                  </a:pathLst>
                </a:custGeom>
                <a:noFill/>
                <a:ln w="19050" cap="flat" cmpd="sng">
                  <a:solidFill>
                    <a:srgbClr val="002060"/>
                  </a:solidFill>
                  <a:prstDash val="lgDashDot"/>
                  <a:headEnd type="none" w="med" len="med"/>
                  <a:tailEnd type="none" w="med" len="med"/>
                </a:ln>
              </p:spPr>
              <p:txBody>
                <a:bodyPr/>
                <a:p>
                  <a:endParaRPr lang="zh-CN" altLang="en-US"/>
                </a:p>
              </p:txBody>
            </p:sp>
            <p:sp>
              <p:nvSpPr>
                <p:cNvPr id="442387" name="直接连接符 442386"/>
                <p:cNvSpPr/>
                <p:nvPr/>
              </p:nvSpPr>
              <p:spPr>
                <a:xfrm flipV="1">
                  <a:off x="259" y="704"/>
                  <a:ext cx="513" cy="528"/>
                </a:xfrm>
                <a:prstGeom prst="line">
                  <a:avLst/>
                </a:prstGeom>
                <a:ln w="19050" cap="flat" cmpd="sng">
                  <a:solidFill>
                    <a:srgbClr val="002060"/>
                  </a:solidFill>
                  <a:prstDash val="lgDashDot"/>
                  <a:headEnd type="none" w="med" len="med"/>
                  <a:tailEnd type="none" w="med" len="med"/>
                </a:ln>
              </p:spPr>
            </p:sp>
            <p:sp>
              <p:nvSpPr>
                <p:cNvPr id="442388" name="直接连接符 442387"/>
                <p:cNvSpPr/>
                <p:nvPr/>
              </p:nvSpPr>
              <p:spPr>
                <a:xfrm flipV="1">
                  <a:off x="1582" y="1886"/>
                  <a:ext cx="477" cy="561"/>
                </a:xfrm>
                <a:prstGeom prst="line">
                  <a:avLst/>
                </a:prstGeom>
                <a:ln w="19050" cap="flat" cmpd="sng">
                  <a:solidFill>
                    <a:srgbClr val="002060"/>
                  </a:solidFill>
                  <a:prstDash val="lgDashDot"/>
                  <a:headEnd type="none" w="med" len="med"/>
                  <a:tailEnd type="none" w="med" len="med"/>
                </a:ln>
              </p:spPr>
            </p:sp>
            <p:sp>
              <p:nvSpPr>
                <p:cNvPr id="442389" name="任意多边形 442388"/>
                <p:cNvSpPr/>
                <p:nvPr/>
              </p:nvSpPr>
              <p:spPr>
                <a:xfrm>
                  <a:off x="700" y="755"/>
                  <a:ext cx="885" cy="318"/>
                </a:xfrm>
                <a:custGeom>
                  <a:avLst/>
                  <a:gdLst/>
                  <a:ahLst/>
                  <a:cxnLst/>
                  <a:pathLst>
                    <a:path w="885" h="318">
                      <a:moveTo>
                        <a:pt x="0" y="318"/>
                      </a:moveTo>
                      <a:cubicBezTo>
                        <a:pt x="10" y="307"/>
                        <a:pt x="21" y="297"/>
                        <a:pt x="57" y="279"/>
                      </a:cubicBezTo>
                      <a:cubicBezTo>
                        <a:pt x="93" y="261"/>
                        <a:pt x="175" y="228"/>
                        <a:pt x="216" y="210"/>
                      </a:cubicBezTo>
                      <a:cubicBezTo>
                        <a:pt x="257" y="192"/>
                        <a:pt x="274" y="182"/>
                        <a:pt x="303" y="171"/>
                      </a:cubicBezTo>
                      <a:cubicBezTo>
                        <a:pt x="332" y="160"/>
                        <a:pt x="350" y="158"/>
                        <a:pt x="390" y="144"/>
                      </a:cubicBezTo>
                      <a:cubicBezTo>
                        <a:pt x="430" y="130"/>
                        <a:pt x="496" y="102"/>
                        <a:pt x="543" y="87"/>
                      </a:cubicBezTo>
                      <a:cubicBezTo>
                        <a:pt x="590" y="72"/>
                        <a:pt x="636" y="64"/>
                        <a:pt x="675" y="54"/>
                      </a:cubicBezTo>
                      <a:cubicBezTo>
                        <a:pt x="714" y="44"/>
                        <a:pt x="739" y="36"/>
                        <a:pt x="774" y="27"/>
                      </a:cubicBezTo>
                      <a:cubicBezTo>
                        <a:pt x="809" y="18"/>
                        <a:pt x="866" y="4"/>
                        <a:pt x="885" y="0"/>
                      </a:cubicBezTo>
                    </a:path>
                  </a:pathLst>
                </a:custGeom>
                <a:noFill/>
                <a:ln w="19050" cap="flat" cmpd="sng">
                  <a:solidFill>
                    <a:srgbClr val="002060">
                      <a:alpha val="100000"/>
                    </a:srgbClr>
                  </a:solidFill>
                  <a:prstDash val="lgDashDot"/>
                  <a:headEnd type="none" w="med" len="med"/>
                  <a:tailEnd type="none" w="med" len="med"/>
                </a:ln>
              </p:spPr>
              <p:txBody>
                <a:bodyPr/>
                <a:p>
                  <a:endParaRPr lang="zh-CN" altLang="en-US"/>
                </a:p>
              </p:txBody>
            </p:sp>
          </p:grpSp>
          <p:grpSp>
            <p:nvGrpSpPr>
              <p:cNvPr id="442390" name="组合 442389"/>
              <p:cNvGrpSpPr/>
              <p:nvPr/>
            </p:nvGrpSpPr>
            <p:grpSpPr>
              <a:xfrm>
                <a:off x="894" y="2828"/>
                <a:ext cx="1394" cy="1076"/>
                <a:chOff x="894" y="2828"/>
                <a:chExt cx="1394" cy="1076"/>
              </a:xfrm>
            </p:grpSpPr>
            <p:sp>
              <p:nvSpPr>
                <p:cNvPr id="442391" name="直接连接符 442390"/>
                <p:cNvSpPr/>
                <p:nvPr/>
              </p:nvSpPr>
              <p:spPr>
                <a:xfrm>
                  <a:off x="894" y="2828"/>
                  <a:ext cx="1394" cy="1076"/>
                </a:xfrm>
                <a:prstGeom prst="line">
                  <a:avLst/>
                </a:prstGeom>
                <a:ln w="9525" cap="flat" cmpd="sng">
                  <a:solidFill>
                    <a:srgbClr val="002060"/>
                  </a:solidFill>
                  <a:prstDash val="solid"/>
                  <a:headEnd type="triangle" w="sm" len="lg"/>
                  <a:tailEnd type="triangle" w="sm" len="lg"/>
                </a:ln>
              </p:spPr>
            </p:sp>
            <p:grpSp>
              <p:nvGrpSpPr>
                <p:cNvPr id="442392" name="组合 442391"/>
                <p:cNvGrpSpPr/>
                <p:nvPr/>
              </p:nvGrpSpPr>
              <p:grpSpPr>
                <a:xfrm>
                  <a:off x="1852" y="3414"/>
                  <a:ext cx="289" cy="413"/>
                  <a:chOff x="4579" y="1853"/>
                  <a:chExt cx="289" cy="413"/>
                </a:xfrm>
              </p:grpSpPr>
              <p:sp>
                <p:nvSpPr>
                  <p:cNvPr id="442393" name="文本框 442392"/>
                  <p:cNvSpPr txBox="1"/>
                  <p:nvPr/>
                </p:nvSpPr>
                <p:spPr>
                  <a:xfrm flipH="1">
                    <a:off x="4694" y="1853"/>
                    <a:ext cx="174" cy="223"/>
                  </a:xfrm>
                  <a:prstGeom prst="rect">
                    <a:avLst/>
                  </a:prstGeom>
                  <a:noFill/>
                  <a:ln w="9525">
                    <a:noFill/>
                  </a:ln>
                </p:spPr>
                <p:txBody>
                  <a:bodyPr wrap="square" lIns="0" tIns="0" rIns="0" bIns="46800" anchor="t">
                    <a:spAutoFit/>
                  </a:bodyPr>
                  <a:p>
                    <a:r>
                      <a:rPr lang="en-US" altLang="zh-CN" sz="2000">
                        <a:solidFill>
                          <a:schemeClr val="tx2"/>
                        </a:solidFill>
                        <a:latin typeface="Times New Roman" panose="02020603050405020304" pitchFamily="18" charset="0"/>
                        <a:ea typeface="华文中宋" panose="02010600040101010101" pitchFamily="2" charset="-122"/>
                      </a:rPr>
                      <a:t>d</a:t>
                    </a:r>
                    <a:r>
                      <a:rPr lang="en-US" altLang="zh-CN" sz="2000" baseline="-25000">
                        <a:solidFill>
                          <a:schemeClr val="tx2"/>
                        </a:solidFill>
                        <a:latin typeface="Times New Roman" panose="02020603050405020304" pitchFamily="18" charset="0"/>
                        <a:ea typeface="华文中宋" panose="02010600040101010101" pitchFamily="2" charset="-122"/>
                      </a:rPr>
                      <a:t>1</a:t>
                    </a:r>
                    <a:endParaRPr lang="en-US" altLang="zh-CN" sz="2000" baseline="-25000">
                      <a:solidFill>
                        <a:schemeClr val="tx2"/>
                      </a:solidFill>
                      <a:latin typeface="Times New Roman" panose="02020603050405020304" pitchFamily="18" charset="0"/>
                      <a:ea typeface="华文中宋" panose="02010600040101010101" pitchFamily="2" charset="-122"/>
                    </a:endParaRPr>
                  </a:p>
                </p:txBody>
              </p:sp>
              <p:sp>
                <p:nvSpPr>
                  <p:cNvPr id="442394" name="文本框 442393"/>
                  <p:cNvSpPr txBox="1"/>
                  <p:nvPr/>
                </p:nvSpPr>
                <p:spPr>
                  <a:xfrm>
                    <a:off x="4769" y="1955"/>
                    <a:ext cx="80" cy="155"/>
                  </a:xfrm>
                  <a:prstGeom prst="rect">
                    <a:avLst/>
                  </a:prstGeom>
                  <a:noFill/>
                  <a:ln w="9525">
                    <a:noFill/>
                  </a:ln>
                </p:spPr>
                <p:txBody>
                  <a:bodyPr wrap="none" lIns="0" tIns="0" rIns="0" bIns="46800" anchor="t">
                    <a:spAutoFit/>
                  </a:bodyPr>
                  <a:p>
                    <a:endParaRPr lang="en-US" altLang="zh-CN" sz="2000" baseline="-25000">
                      <a:solidFill>
                        <a:schemeClr val="tx2"/>
                      </a:solidFill>
                      <a:latin typeface="Times New Roman" panose="02020603050405020304" pitchFamily="18" charset="0"/>
                      <a:ea typeface="华文中宋" panose="02010600040101010101" pitchFamily="2" charset="-122"/>
                    </a:endParaRPr>
                  </a:p>
                </p:txBody>
              </p:sp>
              <p:sp>
                <p:nvSpPr>
                  <p:cNvPr id="442395" name="直接连接符 442394"/>
                  <p:cNvSpPr/>
                  <p:nvPr/>
                </p:nvSpPr>
                <p:spPr>
                  <a:xfrm>
                    <a:off x="4579" y="2266"/>
                    <a:ext cx="160" cy="0"/>
                  </a:xfrm>
                  <a:prstGeom prst="line">
                    <a:avLst/>
                  </a:prstGeom>
                  <a:ln w="12700" cap="flat" cmpd="sng">
                    <a:noFill/>
                    <a:prstDash val="solid"/>
                    <a:headEnd type="none" w="med" len="med"/>
                    <a:tailEnd type="none" w="sm" len="lg"/>
                  </a:ln>
                </p:spPr>
              </p:sp>
            </p:grpSp>
          </p:grpSp>
        </p:grpSp>
        <p:grpSp>
          <p:nvGrpSpPr>
            <p:cNvPr id="442396" name="组合 442395"/>
            <p:cNvGrpSpPr/>
            <p:nvPr/>
          </p:nvGrpSpPr>
          <p:grpSpPr>
            <a:xfrm>
              <a:off x="3056" y="2524"/>
              <a:ext cx="1603" cy="1306"/>
              <a:chOff x="3056" y="2524"/>
              <a:chExt cx="1603" cy="1306"/>
            </a:xfrm>
          </p:grpSpPr>
          <p:sp>
            <p:nvSpPr>
              <p:cNvPr id="442397" name="矩形 442396"/>
              <p:cNvSpPr/>
              <p:nvPr/>
            </p:nvSpPr>
            <p:spPr>
              <a:xfrm>
                <a:off x="3056" y="2823"/>
                <a:ext cx="1603" cy="912"/>
              </a:xfrm>
              <a:prstGeom prst="rect">
                <a:avLst/>
              </a:prstGeom>
              <a:noFill/>
              <a:ln w="19050" cap="flat" cmpd="sng">
                <a:solidFill>
                  <a:srgbClr val="002060"/>
                </a:solidFill>
                <a:prstDash val="solid"/>
                <a:miter/>
                <a:headEnd type="none" w="med" len="med"/>
                <a:tailEnd type="none" w="sm" len="lg"/>
              </a:ln>
            </p:spPr>
            <p:txBody>
              <a:bodyPr/>
              <a:p>
                <a:endParaRPr lang="zh-CN" altLang="en-US"/>
              </a:p>
            </p:txBody>
          </p:sp>
          <p:sp>
            <p:nvSpPr>
              <p:cNvPr id="442398" name="直接连接符 442397"/>
              <p:cNvSpPr/>
              <p:nvPr/>
            </p:nvSpPr>
            <p:spPr>
              <a:xfrm>
                <a:off x="3862" y="2524"/>
                <a:ext cx="0" cy="1306"/>
              </a:xfrm>
              <a:prstGeom prst="line">
                <a:avLst/>
              </a:prstGeom>
              <a:ln w="12700" cap="flat" cmpd="sng">
                <a:solidFill>
                  <a:srgbClr val="002060"/>
                </a:solidFill>
                <a:prstDash val="lgDashDot"/>
                <a:headEnd type="none" w="med" len="med"/>
                <a:tailEnd type="none" w="sm" len="lg"/>
              </a:ln>
            </p:spPr>
          </p:sp>
          <p:grpSp>
            <p:nvGrpSpPr>
              <p:cNvPr id="442399" name="组合 442398"/>
              <p:cNvGrpSpPr/>
              <p:nvPr/>
            </p:nvGrpSpPr>
            <p:grpSpPr>
              <a:xfrm>
                <a:off x="3494" y="2815"/>
                <a:ext cx="579" cy="921"/>
                <a:chOff x="2416" y="3055"/>
                <a:chExt cx="579" cy="921"/>
              </a:xfrm>
            </p:grpSpPr>
            <p:sp>
              <p:nvSpPr>
                <p:cNvPr id="442400" name="直接连接符 442399"/>
                <p:cNvSpPr/>
                <p:nvPr/>
              </p:nvSpPr>
              <p:spPr>
                <a:xfrm flipV="1">
                  <a:off x="2548" y="3062"/>
                  <a:ext cx="447" cy="914"/>
                </a:xfrm>
                <a:prstGeom prst="line">
                  <a:avLst/>
                </a:prstGeom>
                <a:ln w="12700" cap="flat" cmpd="sng">
                  <a:solidFill>
                    <a:srgbClr val="002060"/>
                  </a:solidFill>
                  <a:prstDash val="solid"/>
                  <a:headEnd type="none" w="med" len="med"/>
                  <a:tailEnd type="none" w="sm" len="lg"/>
                </a:ln>
              </p:spPr>
            </p:sp>
            <p:sp>
              <p:nvSpPr>
                <p:cNvPr id="442401" name="直接连接符 442400"/>
                <p:cNvSpPr/>
                <p:nvPr/>
              </p:nvSpPr>
              <p:spPr>
                <a:xfrm flipV="1">
                  <a:off x="2416" y="3055"/>
                  <a:ext cx="447" cy="914"/>
                </a:xfrm>
                <a:prstGeom prst="line">
                  <a:avLst/>
                </a:prstGeom>
                <a:ln w="12700" cap="flat" cmpd="sng">
                  <a:solidFill>
                    <a:srgbClr val="002060"/>
                  </a:solidFill>
                  <a:prstDash val="solid"/>
                  <a:headEnd type="none" w="med" len="med"/>
                  <a:tailEnd type="none" w="sm" len="lg"/>
                </a:ln>
              </p:spPr>
            </p:sp>
            <p:sp>
              <p:nvSpPr>
                <p:cNvPr id="442402" name="直接连接符 442401"/>
                <p:cNvSpPr/>
                <p:nvPr/>
              </p:nvSpPr>
              <p:spPr>
                <a:xfrm>
                  <a:off x="2830" y="3120"/>
                  <a:ext cx="139" cy="0"/>
                </a:xfrm>
                <a:prstGeom prst="line">
                  <a:avLst/>
                </a:prstGeom>
                <a:ln w="12700" cap="flat" cmpd="sng">
                  <a:solidFill>
                    <a:srgbClr val="002060"/>
                  </a:solidFill>
                  <a:prstDash val="solid"/>
                  <a:headEnd type="none" w="med" len="med"/>
                  <a:tailEnd type="none" w="sm" len="lg"/>
                </a:ln>
              </p:spPr>
            </p:sp>
            <p:sp>
              <p:nvSpPr>
                <p:cNvPr id="442403" name="直接连接符 442402"/>
                <p:cNvSpPr/>
                <p:nvPr/>
              </p:nvSpPr>
              <p:spPr>
                <a:xfrm>
                  <a:off x="2796" y="3194"/>
                  <a:ext cx="139" cy="0"/>
                </a:xfrm>
                <a:prstGeom prst="line">
                  <a:avLst/>
                </a:prstGeom>
                <a:ln w="12700" cap="flat" cmpd="sng">
                  <a:solidFill>
                    <a:srgbClr val="002060"/>
                  </a:solidFill>
                  <a:prstDash val="solid"/>
                  <a:headEnd type="none" w="med" len="med"/>
                  <a:tailEnd type="none" w="sm" len="lg"/>
                </a:ln>
              </p:spPr>
            </p:sp>
            <p:sp>
              <p:nvSpPr>
                <p:cNvPr id="442404" name="直接连接符 442403"/>
                <p:cNvSpPr/>
                <p:nvPr/>
              </p:nvSpPr>
              <p:spPr>
                <a:xfrm>
                  <a:off x="2762" y="3268"/>
                  <a:ext cx="139" cy="0"/>
                </a:xfrm>
                <a:prstGeom prst="line">
                  <a:avLst/>
                </a:prstGeom>
                <a:ln w="12700" cap="flat" cmpd="sng">
                  <a:solidFill>
                    <a:srgbClr val="002060"/>
                  </a:solidFill>
                  <a:prstDash val="solid"/>
                  <a:headEnd type="none" w="med" len="med"/>
                  <a:tailEnd type="none" w="sm" len="lg"/>
                </a:ln>
              </p:spPr>
            </p:sp>
            <p:sp>
              <p:nvSpPr>
                <p:cNvPr id="442405" name="直接连接符 442404"/>
                <p:cNvSpPr/>
                <p:nvPr/>
              </p:nvSpPr>
              <p:spPr>
                <a:xfrm>
                  <a:off x="2727" y="3341"/>
                  <a:ext cx="139" cy="0"/>
                </a:xfrm>
                <a:prstGeom prst="line">
                  <a:avLst/>
                </a:prstGeom>
                <a:ln w="12700" cap="flat" cmpd="sng">
                  <a:solidFill>
                    <a:srgbClr val="002060"/>
                  </a:solidFill>
                  <a:prstDash val="solid"/>
                  <a:headEnd type="none" w="med" len="med"/>
                  <a:tailEnd type="none" w="sm" len="lg"/>
                </a:ln>
              </p:spPr>
            </p:sp>
            <p:sp>
              <p:nvSpPr>
                <p:cNvPr id="442406" name="直接连接符 442405"/>
                <p:cNvSpPr/>
                <p:nvPr/>
              </p:nvSpPr>
              <p:spPr>
                <a:xfrm>
                  <a:off x="2691" y="3410"/>
                  <a:ext cx="139" cy="0"/>
                </a:xfrm>
                <a:prstGeom prst="line">
                  <a:avLst/>
                </a:prstGeom>
                <a:ln w="12700" cap="flat" cmpd="sng">
                  <a:solidFill>
                    <a:srgbClr val="002060"/>
                  </a:solidFill>
                  <a:prstDash val="solid"/>
                  <a:headEnd type="none" w="med" len="med"/>
                  <a:tailEnd type="none" w="sm" len="lg"/>
                </a:ln>
              </p:spPr>
            </p:sp>
            <p:sp>
              <p:nvSpPr>
                <p:cNvPr id="442407" name="直接连接符 442406"/>
                <p:cNvSpPr/>
                <p:nvPr/>
              </p:nvSpPr>
              <p:spPr>
                <a:xfrm>
                  <a:off x="2655" y="3477"/>
                  <a:ext cx="139" cy="0"/>
                </a:xfrm>
                <a:prstGeom prst="line">
                  <a:avLst/>
                </a:prstGeom>
                <a:ln w="12700" cap="flat" cmpd="sng">
                  <a:solidFill>
                    <a:srgbClr val="002060"/>
                  </a:solidFill>
                  <a:prstDash val="solid"/>
                  <a:headEnd type="none" w="med" len="med"/>
                  <a:tailEnd type="none" w="sm" len="lg"/>
                </a:ln>
              </p:spPr>
            </p:sp>
            <p:sp>
              <p:nvSpPr>
                <p:cNvPr id="442408" name="直接连接符 442407"/>
                <p:cNvSpPr/>
                <p:nvPr/>
              </p:nvSpPr>
              <p:spPr>
                <a:xfrm>
                  <a:off x="2624" y="3552"/>
                  <a:ext cx="139" cy="0"/>
                </a:xfrm>
                <a:prstGeom prst="line">
                  <a:avLst/>
                </a:prstGeom>
                <a:ln w="12700" cap="flat" cmpd="sng">
                  <a:solidFill>
                    <a:srgbClr val="002060"/>
                  </a:solidFill>
                  <a:prstDash val="solid"/>
                  <a:headEnd type="none" w="med" len="med"/>
                  <a:tailEnd type="none" w="sm" len="lg"/>
                </a:ln>
              </p:spPr>
            </p:sp>
            <p:sp>
              <p:nvSpPr>
                <p:cNvPr id="442409" name="直接连接符 442408"/>
                <p:cNvSpPr/>
                <p:nvPr/>
              </p:nvSpPr>
              <p:spPr>
                <a:xfrm>
                  <a:off x="2583" y="3636"/>
                  <a:ext cx="139" cy="0"/>
                </a:xfrm>
                <a:prstGeom prst="line">
                  <a:avLst/>
                </a:prstGeom>
                <a:ln w="12700" cap="flat" cmpd="sng">
                  <a:solidFill>
                    <a:srgbClr val="002060"/>
                  </a:solidFill>
                  <a:prstDash val="solid"/>
                  <a:headEnd type="none" w="med" len="med"/>
                  <a:tailEnd type="none" w="sm" len="lg"/>
                </a:ln>
              </p:spPr>
            </p:sp>
            <p:sp>
              <p:nvSpPr>
                <p:cNvPr id="442410" name="直接连接符 442409"/>
                <p:cNvSpPr/>
                <p:nvPr/>
              </p:nvSpPr>
              <p:spPr>
                <a:xfrm>
                  <a:off x="2545" y="3713"/>
                  <a:ext cx="139" cy="0"/>
                </a:xfrm>
                <a:prstGeom prst="line">
                  <a:avLst/>
                </a:prstGeom>
                <a:ln w="12700" cap="flat" cmpd="sng">
                  <a:solidFill>
                    <a:srgbClr val="002060"/>
                  </a:solidFill>
                  <a:prstDash val="solid"/>
                  <a:headEnd type="none" w="med" len="med"/>
                  <a:tailEnd type="none" w="sm" len="lg"/>
                </a:ln>
              </p:spPr>
            </p:sp>
            <p:sp>
              <p:nvSpPr>
                <p:cNvPr id="442411" name="直接连接符 442410"/>
                <p:cNvSpPr/>
                <p:nvPr/>
              </p:nvSpPr>
              <p:spPr>
                <a:xfrm>
                  <a:off x="2506" y="3789"/>
                  <a:ext cx="139" cy="0"/>
                </a:xfrm>
                <a:prstGeom prst="line">
                  <a:avLst/>
                </a:prstGeom>
                <a:ln w="12700" cap="flat" cmpd="sng">
                  <a:solidFill>
                    <a:srgbClr val="002060"/>
                  </a:solidFill>
                  <a:prstDash val="solid"/>
                  <a:headEnd type="none" w="med" len="med"/>
                  <a:tailEnd type="none" w="sm" len="lg"/>
                </a:ln>
              </p:spPr>
            </p:sp>
            <p:sp>
              <p:nvSpPr>
                <p:cNvPr id="442412" name="直接连接符 442411"/>
                <p:cNvSpPr/>
                <p:nvPr/>
              </p:nvSpPr>
              <p:spPr>
                <a:xfrm>
                  <a:off x="2462" y="3877"/>
                  <a:ext cx="139" cy="0"/>
                </a:xfrm>
                <a:prstGeom prst="line">
                  <a:avLst/>
                </a:prstGeom>
                <a:ln w="12700" cap="flat" cmpd="sng">
                  <a:solidFill>
                    <a:srgbClr val="002060"/>
                  </a:solidFill>
                  <a:prstDash val="solid"/>
                  <a:headEnd type="none" w="med" len="med"/>
                  <a:tailEnd type="none" w="sm" len="lg"/>
                </a:ln>
              </p:spPr>
            </p:sp>
          </p:grpSp>
        </p:grpSp>
      </p:grpSp>
      <p:grpSp>
        <p:nvGrpSpPr>
          <p:cNvPr id="442413" name="组合 442412"/>
          <p:cNvGrpSpPr/>
          <p:nvPr/>
        </p:nvGrpSpPr>
        <p:grpSpPr>
          <a:xfrm>
            <a:off x="5637213" y="3702050"/>
            <a:ext cx="606425" cy="814388"/>
            <a:chOff x="3863" y="2332"/>
            <a:chExt cx="382" cy="513"/>
          </a:xfrm>
        </p:grpSpPr>
        <p:sp>
          <p:nvSpPr>
            <p:cNvPr id="442414" name="直接连接符 442413"/>
            <p:cNvSpPr/>
            <p:nvPr/>
          </p:nvSpPr>
          <p:spPr>
            <a:xfrm flipV="1">
              <a:off x="4064" y="2476"/>
              <a:ext cx="181" cy="369"/>
            </a:xfrm>
            <a:prstGeom prst="line">
              <a:avLst/>
            </a:prstGeom>
            <a:ln w="12700" cap="flat" cmpd="sng">
              <a:solidFill>
                <a:schemeClr val="tx2"/>
              </a:solidFill>
              <a:prstDash val="solid"/>
              <a:headEnd type="none" w="med" len="med"/>
              <a:tailEnd type="none" w="sm" len="lg"/>
            </a:ln>
          </p:spPr>
        </p:sp>
        <p:grpSp>
          <p:nvGrpSpPr>
            <p:cNvPr id="442415" name="组合 442414"/>
            <p:cNvGrpSpPr/>
            <p:nvPr/>
          </p:nvGrpSpPr>
          <p:grpSpPr>
            <a:xfrm>
              <a:off x="3863" y="2332"/>
              <a:ext cx="301" cy="310"/>
              <a:chOff x="3863" y="2332"/>
              <a:chExt cx="301" cy="310"/>
            </a:xfrm>
          </p:grpSpPr>
          <p:sp>
            <p:nvSpPr>
              <p:cNvPr id="442416" name="任意多边形 442415"/>
              <p:cNvSpPr/>
              <p:nvPr/>
            </p:nvSpPr>
            <p:spPr>
              <a:xfrm>
                <a:off x="3863" y="2560"/>
                <a:ext cx="301" cy="82"/>
              </a:xfrm>
              <a:custGeom>
                <a:avLst/>
                <a:gdLst/>
                <a:ahLst/>
                <a:cxnLst/>
                <a:pathLst>
                  <a:path w="301" h="82">
                    <a:moveTo>
                      <a:pt x="0" y="2"/>
                    </a:moveTo>
                    <a:lnTo>
                      <a:pt x="66" y="0"/>
                    </a:lnTo>
                    <a:lnTo>
                      <a:pt x="117" y="6"/>
                    </a:lnTo>
                    <a:lnTo>
                      <a:pt x="176" y="22"/>
                    </a:lnTo>
                    <a:lnTo>
                      <a:pt x="231" y="45"/>
                    </a:lnTo>
                    <a:lnTo>
                      <a:pt x="272" y="67"/>
                    </a:lnTo>
                    <a:lnTo>
                      <a:pt x="301" y="82"/>
                    </a:lnTo>
                  </a:path>
                </a:pathLst>
              </a:custGeom>
              <a:noFill/>
              <a:ln w="12700" cap="flat" cmpd="sng">
                <a:solidFill>
                  <a:schemeClr val="tx2">
                    <a:alpha val="100000"/>
                  </a:schemeClr>
                </a:solidFill>
                <a:prstDash val="solid"/>
                <a:headEnd type="triangle" w="sm" len="lg"/>
                <a:tailEnd type="triangle" w="sm" len="lg"/>
              </a:ln>
            </p:spPr>
            <p:txBody>
              <a:bodyPr/>
              <a:p>
                <a:endParaRPr lang="zh-CN" altLang="en-US"/>
              </a:p>
            </p:txBody>
          </p:sp>
          <p:sp>
            <p:nvSpPr>
              <p:cNvPr id="442417" name="文本框 442416"/>
              <p:cNvSpPr txBox="1"/>
              <p:nvPr/>
            </p:nvSpPr>
            <p:spPr>
              <a:xfrm>
                <a:off x="3945" y="2332"/>
                <a:ext cx="192" cy="230"/>
              </a:xfrm>
              <a:prstGeom prst="rect">
                <a:avLst/>
              </a:prstGeom>
              <a:noFill/>
              <a:ln w="9525">
                <a:noFill/>
              </a:ln>
            </p:spPr>
            <p:txBody>
              <a:bodyPr wrap="none" lIns="0" tIns="0" rIns="0" bIns="0">
                <a:spAutoFit/>
              </a:bodyPr>
              <a:p>
                <a:r>
                  <a:rPr lang="en-US" altLang="zh-CN" sz="2400" i="1">
                    <a:solidFill>
                      <a:schemeClr val="folHlink"/>
                    </a:solidFill>
                    <a:latin typeface="隶书" panose="02010509060101010101" pitchFamily="49" charset="-122"/>
                  </a:rPr>
                  <a:t>β</a:t>
                </a:r>
                <a:endParaRPr lang="en-US" altLang="zh-CN" sz="2400" i="1" baseline="-25000">
                  <a:solidFill>
                    <a:schemeClr val="folHlink"/>
                  </a:solidFill>
                  <a:latin typeface="Times New Roman" panose="02020603050405020304" pitchFamily="18" charset="0"/>
                </a:endParaRPr>
              </a:p>
            </p:txBody>
          </p:sp>
        </p:grpSp>
      </p:grpSp>
      <p:grpSp>
        <p:nvGrpSpPr>
          <p:cNvPr id="442418" name="组合 442417"/>
          <p:cNvGrpSpPr/>
          <p:nvPr/>
        </p:nvGrpSpPr>
        <p:grpSpPr>
          <a:xfrm>
            <a:off x="2021205" y="3806825"/>
            <a:ext cx="5302250" cy="2209800"/>
            <a:chOff x="1270" y="2406"/>
            <a:chExt cx="3340" cy="1392"/>
          </a:xfrm>
        </p:grpSpPr>
        <p:grpSp>
          <p:nvGrpSpPr>
            <p:cNvPr id="442419" name="组合 442418"/>
            <p:cNvGrpSpPr/>
            <p:nvPr/>
          </p:nvGrpSpPr>
          <p:grpSpPr>
            <a:xfrm>
              <a:off x="3536" y="3254"/>
              <a:ext cx="1074" cy="544"/>
              <a:chOff x="3536" y="3254"/>
              <a:chExt cx="1074" cy="544"/>
            </a:xfrm>
          </p:grpSpPr>
          <p:sp>
            <p:nvSpPr>
              <p:cNvPr id="442420" name="矩形 442419"/>
              <p:cNvSpPr/>
              <p:nvPr/>
            </p:nvSpPr>
            <p:spPr>
              <a:xfrm>
                <a:off x="3558" y="3270"/>
                <a:ext cx="1041" cy="522"/>
              </a:xfrm>
              <a:prstGeom prst="rect">
                <a:avLst/>
              </a:prstGeom>
              <a:solidFill>
                <a:srgbClr val="FFFF00"/>
              </a:solidFill>
              <a:ln w="28575">
                <a:noFill/>
              </a:ln>
            </p:spPr>
            <p:txBody>
              <a:bodyPr/>
              <a:p>
                <a:endParaRPr lang="zh-CN" altLang="en-US"/>
              </a:p>
            </p:txBody>
          </p:sp>
          <p:sp>
            <p:nvSpPr>
              <p:cNvPr id="442421" name="直接连接符 442420"/>
              <p:cNvSpPr/>
              <p:nvPr/>
            </p:nvSpPr>
            <p:spPr>
              <a:xfrm flipH="1" flipV="1">
                <a:off x="3552" y="3269"/>
                <a:ext cx="1047" cy="518"/>
              </a:xfrm>
              <a:prstGeom prst="line">
                <a:avLst/>
              </a:prstGeom>
              <a:ln w="28575" cap="flat" cmpd="sng">
                <a:solidFill>
                  <a:schemeClr val="tx1"/>
                </a:solidFill>
                <a:prstDash val="solid"/>
                <a:headEnd type="none" w="med" len="med"/>
                <a:tailEnd type="triangle" w="sm" len="lg"/>
              </a:ln>
            </p:spPr>
          </p:sp>
          <p:sp>
            <p:nvSpPr>
              <p:cNvPr id="442422" name="直接连接符 442421"/>
              <p:cNvSpPr/>
              <p:nvPr/>
            </p:nvSpPr>
            <p:spPr>
              <a:xfrm flipH="1">
                <a:off x="3536" y="3798"/>
                <a:ext cx="1074" cy="0"/>
              </a:xfrm>
              <a:prstGeom prst="line">
                <a:avLst/>
              </a:prstGeom>
              <a:ln w="12700" cap="flat" cmpd="sng">
                <a:solidFill>
                  <a:srgbClr val="00FF00"/>
                </a:solidFill>
                <a:prstDash val="dash"/>
                <a:headEnd type="none" w="med" len="med"/>
                <a:tailEnd type="none" w="sm" len="lg"/>
              </a:ln>
            </p:spPr>
          </p:sp>
          <p:sp>
            <p:nvSpPr>
              <p:cNvPr id="442423" name="直接连接符 442422"/>
              <p:cNvSpPr/>
              <p:nvPr/>
            </p:nvSpPr>
            <p:spPr>
              <a:xfrm flipV="1">
                <a:off x="4604" y="3254"/>
                <a:ext cx="0" cy="538"/>
              </a:xfrm>
              <a:prstGeom prst="line">
                <a:avLst/>
              </a:prstGeom>
              <a:ln w="12700" cap="flat" cmpd="sng">
                <a:solidFill>
                  <a:srgbClr val="00FF00"/>
                </a:solidFill>
                <a:prstDash val="dash"/>
                <a:headEnd type="none" w="med" len="med"/>
                <a:tailEnd type="none" w="sm" len="lg"/>
              </a:ln>
            </p:spPr>
          </p:sp>
          <p:sp>
            <p:nvSpPr>
              <p:cNvPr id="442424" name="文本框 442423"/>
              <p:cNvSpPr txBox="1"/>
              <p:nvPr/>
            </p:nvSpPr>
            <p:spPr>
              <a:xfrm>
                <a:off x="4402" y="3441"/>
                <a:ext cx="192" cy="230"/>
              </a:xfrm>
              <a:prstGeom prst="rect">
                <a:avLst/>
              </a:prstGeom>
              <a:noFill/>
              <a:ln w="9525">
                <a:noFill/>
              </a:ln>
            </p:spPr>
            <p:txBody>
              <a:bodyPr wrap="none" lIns="0" tIns="0" rIns="0" bIns="0">
                <a:spAutoFit/>
              </a:bodyPr>
              <a:p>
                <a:r>
                  <a:rPr lang="en-US" altLang="zh-CN" sz="2400" i="1">
                    <a:latin typeface="Times New Roman" panose="02020603050405020304" pitchFamily="18" charset="0"/>
                  </a:rPr>
                  <a:t>F’</a:t>
                </a:r>
                <a:endParaRPr lang="en-US" altLang="zh-CN" i="1" baseline="-25000">
                  <a:latin typeface="Times New Roman" panose="02020603050405020304" pitchFamily="18" charset="0"/>
                  <a:ea typeface="华文中宋" panose="02010600040101010101" pitchFamily="2" charset="-122"/>
                </a:endParaRPr>
              </a:p>
            </p:txBody>
          </p:sp>
        </p:grpSp>
        <p:grpSp>
          <p:nvGrpSpPr>
            <p:cNvPr id="442425" name="组合 442424"/>
            <p:cNvGrpSpPr/>
            <p:nvPr/>
          </p:nvGrpSpPr>
          <p:grpSpPr>
            <a:xfrm>
              <a:off x="1270" y="2406"/>
              <a:ext cx="1180" cy="774"/>
              <a:chOff x="1270" y="2406"/>
              <a:chExt cx="1180" cy="774"/>
            </a:xfrm>
          </p:grpSpPr>
          <p:grpSp>
            <p:nvGrpSpPr>
              <p:cNvPr id="442426" name="组合 442425"/>
              <p:cNvGrpSpPr/>
              <p:nvPr/>
            </p:nvGrpSpPr>
            <p:grpSpPr>
              <a:xfrm>
                <a:off x="1270" y="2406"/>
                <a:ext cx="1180" cy="502"/>
                <a:chOff x="1270" y="2406"/>
                <a:chExt cx="1180" cy="502"/>
              </a:xfrm>
            </p:grpSpPr>
            <p:sp>
              <p:nvSpPr>
                <p:cNvPr id="442427" name="任意多边形 442426"/>
                <p:cNvSpPr/>
                <p:nvPr/>
              </p:nvSpPr>
              <p:spPr>
                <a:xfrm>
                  <a:off x="1270" y="2406"/>
                  <a:ext cx="1180" cy="502"/>
                </a:xfrm>
                <a:custGeom>
                  <a:avLst/>
                  <a:gdLst/>
                  <a:ahLst/>
                  <a:cxnLst/>
                  <a:pathLst>
                    <a:path w="1180" h="502">
                      <a:moveTo>
                        <a:pt x="0" y="270"/>
                      </a:moveTo>
                      <a:lnTo>
                        <a:pt x="252" y="0"/>
                      </a:lnTo>
                      <a:lnTo>
                        <a:pt x="1180" y="218"/>
                      </a:lnTo>
                      <a:lnTo>
                        <a:pt x="948" y="502"/>
                      </a:lnTo>
                      <a:lnTo>
                        <a:pt x="0" y="270"/>
                      </a:lnTo>
                      <a:close/>
                    </a:path>
                  </a:pathLst>
                </a:custGeom>
                <a:solidFill>
                  <a:srgbClr val="EECF00"/>
                </a:solidFill>
                <a:ln w="12700">
                  <a:noFill/>
                </a:ln>
              </p:spPr>
              <p:txBody>
                <a:bodyPr/>
                <a:p>
                  <a:endParaRPr lang="zh-CN" altLang="en-US"/>
                </a:p>
              </p:txBody>
            </p:sp>
            <p:sp>
              <p:nvSpPr>
                <p:cNvPr id="442428" name="直接连接符 442427"/>
                <p:cNvSpPr/>
                <p:nvPr/>
              </p:nvSpPr>
              <p:spPr>
                <a:xfrm>
                  <a:off x="1516" y="2410"/>
                  <a:ext cx="700" cy="498"/>
                </a:xfrm>
                <a:prstGeom prst="line">
                  <a:avLst/>
                </a:prstGeom>
                <a:ln w="19050" cap="flat" cmpd="sng">
                  <a:solidFill>
                    <a:schemeClr val="tx1"/>
                  </a:solidFill>
                  <a:prstDash val="solid"/>
                  <a:headEnd type="triangle" w="sm" len="lg"/>
                  <a:tailEnd type="none" w="sm" len="lg"/>
                </a:ln>
              </p:spPr>
            </p:sp>
          </p:grpSp>
          <p:sp>
            <p:nvSpPr>
              <p:cNvPr id="442429" name="矩形 442428"/>
              <p:cNvSpPr/>
              <p:nvPr/>
            </p:nvSpPr>
            <p:spPr>
              <a:xfrm>
                <a:off x="2054" y="2892"/>
                <a:ext cx="308" cy="288"/>
              </a:xfrm>
              <a:prstGeom prst="rect">
                <a:avLst/>
              </a:prstGeom>
              <a:noFill/>
              <a:ln w="28575">
                <a:noFill/>
              </a:ln>
            </p:spPr>
            <p:txBody>
              <a:bodyPr wrap="none" anchor="t">
                <a:spAutoFit/>
              </a:bodyPr>
              <a:p>
                <a:r>
                  <a:rPr lang="en-US" altLang="zh-CN" sz="2400" i="1">
                    <a:solidFill>
                      <a:schemeClr val="bg1"/>
                    </a:solidFill>
                    <a:latin typeface="Times New Roman" panose="02020603050405020304" pitchFamily="18" charset="0"/>
                  </a:rPr>
                  <a:t>F’</a:t>
                </a:r>
                <a:endParaRPr lang="en-US" altLang="zh-CN" sz="2400" i="1">
                  <a:solidFill>
                    <a:schemeClr val="bg1"/>
                  </a:solidFill>
                  <a:latin typeface="Times New Roman" panose="02020603050405020304" pitchFamily="18" charset="0"/>
                </a:endParaRPr>
              </a:p>
            </p:txBody>
          </p:sp>
        </p:grpSp>
      </p:grpSp>
      <p:grpSp>
        <p:nvGrpSpPr>
          <p:cNvPr id="442430" name="组合 442429"/>
          <p:cNvGrpSpPr/>
          <p:nvPr/>
        </p:nvGrpSpPr>
        <p:grpSpPr>
          <a:xfrm>
            <a:off x="3048000" y="4083050"/>
            <a:ext cx="4257675" cy="1927225"/>
            <a:chOff x="1920" y="2572"/>
            <a:chExt cx="2682" cy="1214"/>
          </a:xfrm>
        </p:grpSpPr>
        <p:grpSp>
          <p:nvGrpSpPr>
            <p:cNvPr id="442431" name="组合 442430"/>
            <p:cNvGrpSpPr/>
            <p:nvPr/>
          </p:nvGrpSpPr>
          <p:grpSpPr>
            <a:xfrm>
              <a:off x="1920" y="2572"/>
              <a:ext cx="298" cy="230"/>
              <a:chOff x="2232" y="2572"/>
              <a:chExt cx="298" cy="230"/>
            </a:xfrm>
          </p:grpSpPr>
          <p:sp>
            <p:nvSpPr>
              <p:cNvPr id="442432" name="任意多边形 442431"/>
              <p:cNvSpPr/>
              <p:nvPr/>
            </p:nvSpPr>
            <p:spPr>
              <a:xfrm rot="4328669">
                <a:off x="2310" y="2517"/>
                <a:ext cx="84" cy="240"/>
              </a:xfrm>
              <a:custGeom>
                <a:avLst/>
                <a:gdLst/>
                <a:ahLst/>
                <a:cxnLst/>
                <a:pathLst>
                  <a:path w="65" h="270">
                    <a:moveTo>
                      <a:pt x="0" y="0"/>
                    </a:moveTo>
                    <a:cubicBezTo>
                      <a:pt x="8" y="12"/>
                      <a:pt x="16" y="25"/>
                      <a:pt x="24" y="42"/>
                    </a:cubicBezTo>
                    <a:cubicBezTo>
                      <a:pt x="32" y="59"/>
                      <a:pt x="41" y="80"/>
                      <a:pt x="47" y="100"/>
                    </a:cubicBezTo>
                    <a:cubicBezTo>
                      <a:pt x="53" y="120"/>
                      <a:pt x="57" y="137"/>
                      <a:pt x="60" y="165"/>
                    </a:cubicBezTo>
                    <a:cubicBezTo>
                      <a:pt x="63" y="193"/>
                      <a:pt x="64" y="231"/>
                      <a:pt x="65" y="270"/>
                    </a:cubicBezTo>
                  </a:path>
                </a:pathLst>
              </a:custGeom>
              <a:noFill/>
              <a:ln w="9525" cap="flat" cmpd="sng">
                <a:solidFill>
                  <a:srgbClr val="FF0000">
                    <a:alpha val="100000"/>
                  </a:srgbClr>
                </a:solidFill>
                <a:prstDash val="solid"/>
                <a:headEnd type="triangle" w="sm" len="lg"/>
                <a:tailEnd type="triangle" w="sm" len="lg"/>
              </a:ln>
            </p:spPr>
            <p:txBody>
              <a:bodyPr/>
              <a:p>
                <a:endParaRPr lang="zh-CN" altLang="en-US"/>
              </a:p>
            </p:txBody>
          </p:sp>
          <p:sp>
            <p:nvSpPr>
              <p:cNvPr id="442433" name="文本框 442432"/>
              <p:cNvSpPr txBox="1"/>
              <p:nvPr/>
            </p:nvSpPr>
            <p:spPr>
              <a:xfrm>
                <a:off x="2336" y="2572"/>
                <a:ext cx="194" cy="230"/>
              </a:xfrm>
              <a:prstGeom prst="rect">
                <a:avLst/>
              </a:prstGeom>
              <a:noFill/>
              <a:ln w="9525">
                <a:noFill/>
              </a:ln>
            </p:spPr>
            <p:txBody>
              <a:bodyPr wrap="none" lIns="0" tIns="0" rIns="0" bIns="0">
                <a:spAutoFit/>
              </a:bodyPr>
              <a:p>
                <a:r>
                  <a:rPr lang="en-US" altLang="zh-CN" sz="2400" i="1">
                    <a:latin typeface="隶书" panose="02010509060101010101" pitchFamily="49" charset="-122"/>
                  </a:rPr>
                  <a:t>β</a:t>
                </a:r>
                <a:endParaRPr lang="en-US" altLang="zh-CN" sz="2400" i="1" baseline="-25000">
                  <a:latin typeface="Times New Roman" panose="02020603050405020304" pitchFamily="18" charset="0"/>
                </a:endParaRPr>
              </a:p>
            </p:txBody>
          </p:sp>
        </p:grpSp>
        <p:grpSp>
          <p:nvGrpSpPr>
            <p:cNvPr id="442434" name="组合 442433"/>
            <p:cNvGrpSpPr/>
            <p:nvPr/>
          </p:nvGrpSpPr>
          <p:grpSpPr>
            <a:xfrm>
              <a:off x="3560" y="3265"/>
              <a:ext cx="1042" cy="521"/>
              <a:chOff x="3560" y="3265"/>
              <a:chExt cx="1042" cy="521"/>
            </a:xfrm>
          </p:grpSpPr>
          <p:grpSp>
            <p:nvGrpSpPr>
              <p:cNvPr id="442435" name="组合 442434"/>
              <p:cNvGrpSpPr/>
              <p:nvPr/>
            </p:nvGrpSpPr>
            <p:grpSpPr>
              <a:xfrm>
                <a:off x="3560" y="3265"/>
                <a:ext cx="1042" cy="521"/>
                <a:chOff x="3872" y="3265"/>
                <a:chExt cx="1042" cy="521"/>
              </a:xfrm>
            </p:grpSpPr>
            <p:sp>
              <p:nvSpPr>
                <p:cNvPr id="442436" name="任意多边形 442435"/>
                <p:cNvSpPr/>
                <p:nvPr/>
              </p:nvSpPr>
              <p:spPr>
                <a:xfrm>
                  <a:off x="3872" y="3266"/>
                  <a:ext cx="1042" cy="520"/>
                </a:xfrm>
                <a:custGeom>
                  <a:avLst/>
                  <a:gdLst/>
                  <a:ahLst/>
                  <a:cxnLst/>
                  <a:pathLst>
                    <a:path w="1042" h="520">
                      <a:moveTo>
                        <a:pt x="0" y="0"/>
                      </a:moveTo>
                      <a:lnTo>
                        <a:pt x="1042" y="0"/>
                      </a:lnTo>
                      <a:lnTo>
                        <a:pt x="1042" y="520"/>
                      </a:lnTo>
                      <a:lnTo>
                        <a:pt x="0" y="0"/>
                      </a:lnTo>
                      <a:close/>
                    </a:path>
                  </a:pathLst>
                </a:custGeom>
                <a:solidFill>
                  <a:schemeClr val="accent1"/>
                </a:solidFill>
                <a:ln w="3175">
                  <a:noFill/>
                </a:ln>
              </p:spPr>
              <p:txBody>
                <a:bodyPr/>
                <a:p>
                  <a:endParaRPr lang="zh-CN" altLang="en-US"/>
                </a:p>
              </p:txBody>
            </p:sp>
            <p:grpSp>
              <p:nvGrpSpPr>
                <p:cNvPr id="442437" name="组合 442436"/>
                <p:cNvGrpSpPr/>
                <p:nvPr/>
              </p:nvGrpSpPr>
              <p:grpSpPr>
                <a:xfrm>
                  <a:off x="4330" y="3265"/>
                  <a:ext cx="250" cy="240"/>
                  <a:chOff x="4330" y="3265"/>
                  <a:chExt cx="250" cy="240"/>
                </a:xfrm>
              </p:grpSpPr>
              <p:sp>
                <p:nvSpPr>
                  <p:cNvPr id="442438" name="任意多边形 442437"/>
                  <p:cNvSpPr/>
                  <p:nvPr/>
                </p:nvSpPr>
                <p:spPr>
                  <a:xfrm rot="2114949">
                    <a:off x="4330" y="3265"/>
                    <a:ext cx="84" cy="240"/>
                  </a:xfrm>
                  <a:custGeom>
                    <a:avLst/>
                    <a:gdLst/>
                    <a:ahLst/>
                    <a:cxnLst/>
                    <a:pathLst>
                      <a:path w="65" h="270">
                        <a:moveTo>
                          <a:pt x="0" y="0"/>
                        </a:moveTo>
                        <a:cubicBezTo>
                          <a:pt x="8" y="12"/>
                          <a:pt x="16" y="25"/>
                          <a:pt x="24" y="42"/>
                        </a:cubicBezTo>
                        <a:cubicBezTo>
                          <a:pt x="32" y="59"/>
                          <a:pt x="41" y="80"/>
                          <a:pt x="47" y="100"/>
                        </a:cubicBezTo>
                        <a:cubicBezTo>
                          <a:pt x="53" y="120"/>
                          <a:pt x="57" y="137"/>
                          <a:pt x="60" y="165"/>
                        </a:cubicBezTo>
                        <a:cubicBezTo>
                          <a:pt x="63" y="193"/>
                          <a:pt x="64" y="231"/>
                          <a:pt x="65" y="270"/>
                        </a:cubicBezTo>
                      </a:path>
                    </a:pathLst>
                  </a:custGeom>
                  <a:noFill/>
                  <a:ln w="9525" cap="flat" cmpd="sng">
                    <a:solidFill>
                      <a:srgbClr val="FF0000">
                        <a:alpha val="100000"/>
                      </a:srgbClr>
                    </a:solidFill>
                    <a:prstDash val="solid"/>
                    <a:headEnd type="triangle" w="sm" len="lg"/>
                    <a:tailEnd type="triangle" w="sm" len="lg"/>
                  </a:ln>
                </p:spPr>
                <p:txBody>
                  <a:bodyPr/>
                  <a:p>
                    <a:endParaRPr lang="zh-CN" altLang="en-US"/>
                  </a:p>
                </p:txBody>
              </p:sp>
              <p:sp>
                <p:nvSpPr>
                  <p:cNvPr id="442439" name="文本框 442438"/>
                  <p:cNvSpPr txBox="1"/>
                  <p:nvPr/>
                </p:nvSpPr>
                <p:spPr>
                  <a:xfrm>
                    <a:off x="4386" y="3274"/>
                    <a:ext cx="194" cy="230"/>
                  </a:xfrm>
                  <a:prstGeom prst="rect">
                    <a:avLst/>
                  </a:prstGeom>
                  <a:noFill/>
                  <a:ln w="9525">
                    <a:noFill/>
                  </a:ln>
                </p:spPr>
                <p:txBody>
                  <a:bodyPr wrap="none" lIns="0" tIns="0" rIns="0" bIns="0">
                    <a:spAutoFit/>
                  </a:bodyPr>
                  <a:p>
                    <a:r>
                      <a:rPr lang="en-US" altLang="zh-CN" sz="2400" i="1">
                        <a:solidFill>
                          <a:srgbClr val="002060"/>
                        </a:solidFill>
                        <a:latin typeface="隶书" panose="02010509060101010101" pitchFamily="49" charset="-122"/>
                      </a:rPr>
                      <a:t>β</a:t>
                    </a:r>
                    <a:endParaRPr lang="en-US" altLang="zh-CN" sz="2400" i="1" baseline="-25000">
                      <a:solidFill>
                        <a:srgbClr val="002060"/>
                      </a:solidFill>
                      <a:latin typeface="隶书" panose="02010509060101010101" pitchFamily="49" charset="-122"/>
                    </a:endParaRPr>
                  </a:p>
                </p:txBody>
              </p:sp>
            </p:grpSp>
          </p:grpSp>
          <p:sp>
            <p:nvSpPr>
              <p:cNvPr id="442440" name="文本框 442439"/>
              <p:cNvSpPr txBox="1"/>
              <p:nvPr/>
            </p:nvSpPr>
            <p:spPr>
              <a:xfrm>
                <a:off x="4402" y="3441"/>
                <a:ext cx="192" cy="230"/>
              </a:xfrm>
              <a:prstGeom prst="rect">
                <a:avLst/>
              </a:prstGeom>
              <a:noFill/>
              <a:ln w="9525">
                <a:noFill/>
              </a:ln>
            </p:spPr>
            <p:txBody>
              <a:bodyPr wrap="none" lIns="0" tIns="0" rIns="0" bIns="0">
                <a:spAutoFit/>
              </a:bodyPr>
              <a:p>
                <a:r>
                  <a:rPr lang="en-US" altLang="zh-CN" sz="2400" i="1">
                    <a:solidFill>
                      <a:srgbClr val="FF0000"/>
                    </a:solidFill>
                    <a:latin typeface="Times New Roman" panose="02020603050405020304" pitchFamily="18" charset="0"/>
                  </a:rPr>
                  <a:t>F’</a:t>
                </a:r>
                <a:endParaRPr lang="en-US" altLang="zh-CN" sz="2400" i="1" baseline="-25000">
                  <a:solidFill>
                    <a:srgbClr val="FF0000"/>
                  </a:solidFill>
                  <a:latin typeface="Times New Roman" panose="02020603050405020304" pitchFamily="18" charset="0"/>
                  <a:ea typeface="华文中宋" panose="02010600040101010101" pitchFamily="2" charset="-122"/>
                </a:endParaRPr>
              </a:p>
            </p:txBody>
          </p:sp>
        </p:grpSp>
      </p:grpSp>
      <p:grpSp>
        <p:nvGrpSpPr>
          <p:cNvPr id="442443" name="组合 442442"/>
          <p:cNvGrpSpPr/>
          <p:nvPr/>
        </p:nvGrpSpPr>
        <p:grpSpPr>
          <a:xfrm>
            <a:off x="2455863" y="4525963"/>
            <a:ext cx="696912" cy="914400"/>
            <a:chOff x="4155" y="1732"/>
            <a:chExt cx="439" cy="576"/>
          </a:xfrm>
        </p:grpSpPr>
        <p:grpSp>
          <p:nvGrpSpPr>
            <p:cNvPr id="442444" name="组合 442443"/>
            <p:cNvGrpSpPr/>
            <p:nvPr/>
          </p:nvGrpSpPr>
          <p:grpSpPr>
            <a:xfrm>
              <a:off x="4155" y="1903"/>
              <a:ext cx="372" cy="405"/>
              <a:chOff x="2984" y="2028"/>
              <a:chExt cx="372" cy="405"/>
            </a:xfrm>
          </p:grpSpPr>
          <p:sp>
            <p:nvSpPr>
              <p:cNvPr id="442445" name="任意多边形 442444"/>
              <p:cNvSpPr/>
              <p:nvPr/>
            </p:nvSpPr>
            <p:spPr>
              <a:xfrm>
                <a:off x="2984" y="2028"/>
                <a:ext cx="187" cy="266"/>
              </a:xfrm>
              <a:custGeom>
                <a:avLst/>
                <a:gdLst/>
                <a:ahLst/>
                <a:cxnLst/>
                <a:pathLst>
                  <a:path w="187" h="266">
                    <a:moveTo>
                      <a:pt x="0" y="0"/>
                    </a:moveTo>
                    <a:cubicBezTo>
                      <a:pt x="18" y="19"/>
                      <a:pt x="37" y="39"/>
                      <a:pt x="51" y="54"/>
                    </a:cubicBezTo>
                    <a:cubicBezTo>
                      <a:pt x="65" y="69"/>
                      <a:pt x="71" y="78"/>
                      <a:pt x="82" y="92"/>
                    </a:cubicBezTo>
                    <a:cubicBezTo>
                      <a:pt x="93" y="106"/>
                      <a:pt x="107" y="123"/>
                      <a:pt x="117" y="138"/>
                    </a:cubicBezTo>
                    <a:cubicBezTo>
                      <a:pt x="127" y="153"/>
                      <a:pt x="136" y="168"/>
                      <a:pt x="144" y="182"/>
                    </a:cubicBezTo>
                    <a:cubicBezTo>
                      <a:pt x="152" y="196"/>
                      <a:pt x="161" y="211"/>
                      <a:pt x="168" y="225"/>
                    </a:cubicBezTo>
                    <a:cubicBezTo>
                      <a:pt x="175" y="239"/>
                      <a:pt x="181" y="252"/>
                      <a:pt x="187" y="266"/>
                    </a:cubicBezTo>
                  </a:path>
                </a:pathLst>
              </a:custGeom>
              <a:noFill/>
              <a:ln w="9525" cap="flat" cmpd="sng">
                <a:solidFill>
                  <a:srgbClr val="FFFFFF">
                    <a:alpha val="100000"/>
                  </a:srgbClr>
                </a:solidFill>
                <a:prstDash val="solid"/>
                <a:headEnd type="none" w="med" len="med"/>
                <a:tailEnd type="triangle" w="sm" len="lg"/>
              </a:ln>
            </p:spPr>
            <p:txBody>
              <a:bodyPr/>
              <a:p>
                <a:endParaRPr lang="zh-CN" altLang="en-US"/>
              </a:p>
            </p:txBody>
          </p:sp>
          <p:sp>
            <p:nvSpPr>
              <p:cNvPr id="442446" name="文本框 442445"/>
              <p:cNvSpPr txBox="1"/>
              <p:nvPr/>
            </p:nvSpPr>
            <p:spPr>
              <a:xfrm>
                <a:off x="3100" y="2203"/>
                <a:ext cx="256" cy="230"/>
              </a:xfrm>
              <a:prstGeom prst="rect">
                <a:avLst/>
              </a:prstGeom>
              <a:noFill/>
              <a:ln w="9525">
                <a:noFill/>
              </a:ln>
            </p:spPr>
            <p:txBody>
              <a:bodyPr wrap="none" lIns="0" tIns="0" rIns="0" bIns="0">
                <a:spAutoFit/>
              </a:bodyPr>
              <a:p>
                <a:r>
                  <a:rPr lang="en-US" altLang="zh-CN" sz="2400">
                    <a:solidFill>
                      <a:srgbClr val="FF0000"/>
                    </a:solidFill>
                    <a:latin typeface="隶书" panose="02010509060101010101" pitchFamily="49" charset="-122"/>
                  </a:rPr>
                  <a:t>ω</a:t>
                </a:r>
                <a:r>
                  <a:rPr lang="en-US" altLang="zh-CN" sz="2400" baseline="-25000">
                    <a:solidFill>
                      <a:srgbClr val="FF0000"/>
                    </a:solidFill>
                    <a:latin typeface="隶书" panose="02010509060101010101" pitchFamily="49" charset="-122"/>
                  </a:rPr>
                  <a:t>1</a:t>
                </a:r>
                <a:endParaRPr lang="en-US" altLang="zh-CN" sz="2400" baseline="-25000">
                  <a:solidFill>
                    <a:srgbClr val="FF0000"/>
                  </a:solidFill>
                  <a:latin typeface="隶书" panose="02010509060101010101" pitchFamily="49" charset="-122"/>
                  <a:ea typeface="华文中宋" panose="02010600040101010101" pitchFamily="2" charset="-122"/>
                </a:endParaRPr>
              </a:p>
            </p:txBody>
          </p:sp>
        </p:grpSp>
        <p:grpSp>
          <p:nvGrpSpPr>
            <p:cNvPr id="442447" name="组合 442446"/>
            <p:cNvGrpSpPr/>
            <p:nvPr/>
          </p:nvGrpSpPr>
          <p:grpSpPr>
            <a:xfrm>
              <a:off x="4255" y="1732"/>
              <a:ext cx="339" cy="363"/>
              <a:chOff x="3084" y="1857"/>
              <a:chExt cx="339" cy="363"/>
            </a:xfrm>
          </p:grpSpPr>
          <p:sp>
            <p:nvSpPr>
              <p:cNvPr id="442448" name="任意多边形 442447"/>
              <p:cNvSpPr/>
              <p:nvPr/>
            </p:nvSpPr>
            <p:spPr>
              <a:xfrm>
                <a:off x="3084" y="1942"/>
                <a:ext cx="200" cy="278"/>
              </a:xfrm>
              <a:custGeom>
                <a:avLst/>
                <a:gdLst/>
                <a:ahLst/>
                <a:cxnLst/>
                <a:pathLst>
                  <a:path w="187" h="266">
                    <a:moveTo>
                      <a:pt x="0" y="0"/>
                    </a:moveTo>
                    <a:cubicBezTo>
                      <a:pt x="18" y="19"/>
                      <a:pt x="37" y="39"/>
                      <a:pt x="51" y="54"/>
                    </a:cubicBezTo>
                    <a:cubicBezTo>
                      <a:pt x="65" y="69"/>
                      <a:pt x="71" y="78"/>
                      <a:pt x="82" y="92"/>
                    </a:cubicBezTo>
                    <a:cubicBezTo>
                      <a:pt x="93" y="106"/>
                      <a:pt x="107" y="123"/>
                      <a:pt x="117" y="138"/>
                    </a:cubicBezTo>
                    <a:cubicBezTo>
                      <a:pt x="127" y="153"/>
                      <a:pt x="136" y="168"/>
                      <a:pt x="144" y="182"/>
                    </a:cubicBezTo>
                    <a:cubicBezTo>
                      <a:pt x="152" y="196"/>
                      <a:pt x="161" y="211"/>
                      <a:pt x="168" y="225"/>
                    </a:cubicBezTo>
                    <a:cubicBezTo>
                      <a:pt x="175" y="239"/>
                      <a:pt x="181" y="252"/>
                      <a:pt x="187" y="266"/>
                    </a:cubicBezTo>
                  </a:path>
                </a:pathLst>
              </a:custGeom>
              <a:noFill/>
              <a:ln w="9525" cap="flat" cmpd="sng">
                <a:solidFill>
                  <a:schemeClr val="hlink">
                    <a:alpha val="100000"/>
                  </a:schemeClr>
                </a:solidFill>
                <a:prstDash val="solid"/>
                <a:headEnd type="none" w="med" len="med"/>
                <a:tailEnd type="triangle" w="sm" len="lg"/>
              </a:ln>
            </p:spPr>
            <p:txBody>
              <a:bodyPr/>
              <a:p>
                <a:endParaRPr lang="zh-CN" altLang="en-US"/>
              </a:p>
            </p:txBody>
          </p:sp>
          <p:sp>
            <p:nvSpPr>
              <p:cNvPr id="442449" name="文本框 442448"/>
              <p:cNvSpPr txBox="1"/>
              <p:nvPr/>
            </p:nvSpPr>
            <p:spPr>
              <a:xfrm>
                <a:off x="3263" y="1857"/>
                <a:ext cx="160" cy="230"/>
              </a:xfrm>
              <a:prstGeom prst="rect">
                <a:avLst/>
              </a:prstGeom>
              <a:noFill/>
              <a:ln w="9525">
                <a:noFill/>
              </a:ln>
            </p:spPr>
            <p:txBody>
              <a:bodyPr wrap="none" lIns="0" tIns="0" rIns="0" bIns="0">
                <a:spAutoFit/>
              </a:bodyPr>
              <a:p>
                <a:r>
                  <a:rPr lang="en-US" altLang="zh-CN" sz="2400">
                    <a:solidFill>
                      <a:srgbClr val="002060"/>
                    </a:solidFill>
                    <a:latin typeface="隶书" panose="02010509060101010101" pitchFamily="49" charset="-122"/>
                  </a:rPr>
                  <a:t>T</a:t>
                </a:r>
                <a:r>
                  <a:rPr lang="en-US" altLang="zh-CN" sz="2400" baseline="-25000">
                    <a:solidFill>
                      <a:srgbClr val="002060"/>
                    </a:solidFill>
                    <a:latin typeface="隶书" panose="02010509060101010101" pitchFamily="49" charset="-122"/>
                  </a:rPr>
                  <a:t>1</a:t>
                </a:r>
                <a:endParaRPr lang="en-US" altLang="zh-CN" sz="2400" baseline="-25000">
                  <a:solidFill>
                    <a:srgbClr val="002060"/>
                  </a:solidFill>
                  <a:latin typeface="隶书" panose="02010509060101010101" pitchFamily="49" charset="-122"/>
                  <a:ea typeface="华文中宋" panose="02010600040101010101" pitchFamily="2" charset="-122"/>
                </a:endParaRPr>
              </a:p>
            </p:txBody>
          </p:sp>
        </p:grpSp>
      </p:grpSp>
      <p:graphicFrame>
        <p:nvGraphicFramePr>
          <p:cNvPr id="442450" name="对象 442449"/>
          <p:cNvGraphicFramePr/>
          <p:nvPr/>
        </p:nvGraphicFramePr>
        <p:xfrm>
          <a:off x="1277938" y="1776413"/>
          <a:ext cx="1173162" cy="812800"/>
        </p:xfrm>
        <a:graphic>
          <a:graphicData uri="http://schemas.openxmlformats.org/presentationml/2006/ole">
            <mc:AlternateContent xmlns:mc="http://schemas.openxmlformats.org/markup-compatibility/2006">
              <mc:Choice xmlns:v="urn:schemas-microsoft-com:vml" Requires="v">
                <p:oleObj spid="_x0000_s3121" name="" r:id="rId1" imgW="546100" imgH="431800" progId="Equation.3">
                  <p:embed/>
                </p:oleObj>
              </mc:Choice>
              <mc:Fallback>
                <p:oleObj name="" r:id="rId1" imgW="546100" imgH="431800" progId="Equation.3">
                  <p:embed/>
                  <p:pic>
                    <p:nvPicPr>
                      <p:cNvPr id="0" name="图片 3120"/>
                      <p:cNvPicPr/>
                      <p:nvPr/>
                    </p:nvPicPr>
                    <p:blipFill>
                      <a:blip r:embed="rId2"/>
                      <a:stretch>
                        <a:fillRect/>
                      </a:stretch>
                    </p:blipFill>
                    <p:spPr>
                      <a:xfrm>
                        <a:off x="1277938" y="1776413"/>
                        <a:ext cx="1173162" cy="812800"/>
                      </a:xfrm>
                      <a:prstGeom prst="rect">
                        <a:avLst/>
                      </a:prstGeom>
                      <a:solidFill>
                        <a:srgbClr val="FFFF00"/>
                      </a:solidFill>
                      <a:ln w="38100">
                        <a:noFill/>
                        <a:miter/>
                      </a:ln>
                    </p:spPr>
                  </p:pic>
                </p:oleObj>
              </mc:Fallback>
            </mc:AlternateContent>
          </a:graphicData>
        </a:graphic>
      </p:graphicFrame>
      <p:graphicFrame>
        <p:nvGraphicFramePr>
          <p:cNvPr id="442451" name="对象 442450"/>
          <p:cNvGraphicFramePr/>
          <p:nvPr/>
        </p:nvGraphicFramePr>
        <p:xfrm>
          <a:off x="3938588" y="1882775"/>
          <a:ext cx="1639887" cy="469900"/>
        </p:xfrm>
        <a:graphic>
          <a:graphicData uri="http://schemas.openxmlformats.org/presentationml/2006/ole">
            <mc:AlternateContent xmlns:mc="http://schemas.openxmlformats.org/markup-compatibility/2006">
              <mc:Choice xmlns:v="urn:schemas-microsoft-com:vml" Requires="v">
                <p:oleObj spid="_x0000_s3119" name="" r:id="rId3" imgW="735965" imgH="241300" progId="Equation.3">
                  <p:embed/>
                </p:oleObj>
              </mc:Choice>
              <mc:Fallback>
                <p:oleObj name="" r:id="rId3" imgW="735965" imgH="241300" progId="Equation.3">
                  <p:embed/>
                  <p:pic>
                    <p:nvPicPr>
                      <p:cNvPr id="0" name="图片 3118"/>
                      <p:cNvPicPr/>
                      <p:nvPr/>
                    </p:nvPicPr>
                    <p:blipFill>
                      <a:blip r:embed="rId4"/>
                      <a:stretch>
                        <a:fillRect/>
                      </a:stretch>
                    </p:blipFill>
                    <p:spPr>
                      <a:xfrm>
                        <a:off x="3938588" y="1882775"/>
                        <a:ext cx="1639887" cy="469900"/>
                      </a:xfrm>
                      <a:prstGeom prst="rect">
                        <a:avLst/>
                      </a:prstGeom>
                      <a:solidFill>
                        <a:srgbClr val="FFFF00"/>
                      </a:solidFill>
                      <a:ln w="38100">
                        <a:noFill/>
                        <a:miter/>
                      </a:ln>
                    </p:spPr>
                  </p:pic>
                </p:oleObj>
              </mc:Fallback>
            </mc:AlternateContent>
          </a:graphicData>
        </a:graphic>
      </p:graphicFrame>
      <p:graphicFrame>
        <p:nvGraphicFramePr>
          <p:cNvPr id="442452" name="对象 442451"/>
          <p:cNvGraphicFramePr/>
          <p:nvPr/>
        </p:nvGraphicFramePr>
        <p:xfrm>
          <a:off x="7056438" y="1533525"/>
          <a:ext cx="1662112" cy="1020763"/>
        </p:xfrm>
        <a:graphic>
          <a:graphicData uri="http://schemas.openxmlformats.org/presentationml/2006/ole">
            <mc:AlternateContent xmlns:mc="http://schemas.openxmlformats.org/markup-compatibility/2006">
              <mc:Choice xmlns:v="urn:schemas-microsoft-com:vml" Requires="v">
                <p:oleObj spid="_x0000_s3120" name="" r:id="rId5" imgW="824865" imgH="444500" progId="Equation.3">
                  <p:embed/>
                </p:oleObj>
              </mc:Choice>
              <mc:Fallback>
                <p:oleObj name="" r:id="rId5" imgW="824865" imgH="444500" progId="Equation.3">
                  <p:embed/>
                  <p:pic>
                    <p:nvPicPr>
                      <p:cNvPr id="0" name="图片 3119"/>
                      <p:cNvPicPr/>
                      <p:nvPr/>
                    </p:nvPicPr>
                    <p:blipFill>
                      <a:blip r:embed="rId6"/>
                      <a:stretch>
                        <a:fillRect/>
                      </a:stretch>
                    </p:blipFill>
                    <p:spPr>
                      <a:xfrm>
                        <a:off x="7056438" y="1533525"/>
                        <a:ext cx="1662112" cy="1020763"/>
                      </a:xfrm>
                      <a:prstGeom prst="rect">
                        <a:avLst/>
                      </a:prstGeom>
                      <a:solidFill>
                        <a:srgbClr val="FFFF00"/>
                      </a:solidFill>
                      <a:ln w="38100">
                        <a:noFill/>
                        <a:miter/>
                      </a:ln>
                    </p:spPr>
                  </p:pic>
                </p:oleObj>
              </mc:Fallback>
            </mc:AlternateContent>
          </a:graphicData>
        </a:graphic>
      </p:graphicFrame>
      <p:sp>
        <p:nvSpPr>
          <p:cNvPr id="442453" name="文本框 442452"/>
          <p:cNvSpPr txBox="1"/>
          <p:nvPr/>
        </p:nvSpPr>
        <p:spPr>
          <a:xfrm>
            <a:off x="228600" y="1981200"/>
            <a:ext cx="1225550" cy="365125"/>
          </a:xfrm>
          <a:prstGeom prst="rect">
            <a:avLst/>
          </a:prstGeom>
          <a:noFill/>
          <a:ln w="9525">
            <a:noFill/>
          </a:ln>
        </p:spPr>
        <p:txBody>
          <a:bodyPr wrap="none" lIns="0" tIns="0" rIns="0" bIns="0">
            <a:spAutoFit/>
          </a:bodyPr>
          <a:p>
            <a:pPr algn="l"/>
            <a:r>
              <a:rPr lang="zh-CN" altLang="en-US" sz="2400" dirty="0">
                <a:solidFill>
                  <a:srgbClr val="C00000"/>
                </a:solidFill>
                <a:latin typeface="宋体" panose="02010600030101010101" pitchFamily="2" charset="-122"/>
              </a:rPr>
              <a:t>圆周力：</a:t>
            </a:r>
            <a:endParaRPr lang="zh-CN" altLang="en-US" sz="2400" dirty="0">
              <a:solidFill>
                <a:srgbClr val="C00000"/>
              </a:solidFill>
              <a:latin typeface="宋体" panose="02010600030101010101" pitchFamily="2" charset="-122"/>
              <a:ea typeface="华文中宋" panose="02010600040101010101" pitchFamily="2" charset="-122"/>
            </a:endParaRPr>
          </a:p>
        </p:txBody>
      </p:sp>
      <p:sp>
        <p:nvSpPr>
          <p:cNvPr id="442454" name="文本框 442453"/>
          <p:cNvSpPr txBox="1"/>
          <p:nvPr/>
        </p:nvSpPr>
        <p:spPr>
          <a:xfrm>
            <a:off x="5961063" y="1924050"/>
            <a:ext cx="1225550" cy="365125"/>
          </a:xfrm>
          <a:prstGeom prst="rect">
            <a:avLst/>
          </a:prstGeom>
          <a:noFill/>
          <a:ln w="9525">
            <a:noFill/>
          </a:ln>
        </p:spPr>
        <p:txBody>
          <a:bodyPr wrap="none" lIns="0" tIns="0" rIns="0" bIns="0">
            <a:spAutoFit/>
          </a:bodyPr>
          <a:p>
            <a:pPr algn="l"/>
            <a:r>
              <a:rPr lang="zh-CN" altLang="en-US" sz="2400" dirty="0">
                <a:solidFill>
                  <a:srgbClr val="C00000"/>
                </a:solidFill>
                <a:latin typeface="宋体" panose="02010600030101010101" pitchFamily="2" charset="-122"/>
              </a:rPr>
              <a:t>径向力</a:t>
            </a:r>
            <a:r>
              <a:rPr lang="zh-CN" altLang="en-US" sz="2400" dirty="0">
                <a:solidFill>
                  <a:schemeClr val="bg1"/>
                </a:solidFill>
                <a:latin typeface="宋体" panose="02010600030101010101" pitchFamily="2" charset="-122"/>
              </a:rPr>
              <a:t>：</a:t>
            </a:r>
            <a:endParaRPr lang="zh-CN" altLang="en-US" sz="2400" dirty="0">
              <a:solidFill>
                <a:schemeClr val="bg1"/>
              </a:solidFill>
              <a:latin typeface="Times New Roman" panose="02020603050405020304" pitchFamily="18" charset="0"/>
              <a:ea typeface="华文中宋" panose="02010600040101010101" pitchFamily="2" charset="-122"/>
            </a:endParaRPr>
          </a:p>
        </p:txBody>
      </p:sp>
      <p:sp>
        <p:nvSpPr>
          <p:cNvPr id="442455" name="文本框 442454"/>
          <p:cNvSpPr txBox="1"/>
          <p:nvPr/>
        </p:nvSpPr>
        <p:spPr>
          <a:xfrm>
            <a:off x="2900363" y="1943100"/>
            <a:ext cx="1225550" cy="365125"/>
          </a:xfrm>
          <a:prstGeom prst="rect">
            <a:avLst/>
          </a:prstGeom>
          <a:noFill/>
          <a:ln w="9525">
            <a:noFill/>
          </a:ln>
        </p:spPr>
        <p:txBody>
          <a:bodyPr wrap="none" lIns="0" tIns="0" rIns="0" bIns="0">
            <a:spAutoFit/>
          </a:bodyPr>
          <a:p>
            <a:pPr algn="l"/>
            <a:r>
              <a:rPr lang="zh-CN" altLang="en-US" sz="2400" dirty="0">
                <a:solidFill>
                  <a:srgbClr val="C00000"/>
                </a:solidFill>
                <a:latin typeface="宋体" panose="02010600030101010101" pitchFamily="2" charset="-122"/>
              </a:rPr>
              <a:t>轴</a:t>
            </a:r>
            <a:r>
              <a:rPr lang="zh-CN" altLang="en-US" sz="2400" dirty="0">
                <a:solidFill>
                  <a:srgbClr val="C00000"/>
                </a:solidFill>
                <a:latin typeface="宋体" panose="02010600030101010101" pitchFamily="2" charset="-122"/>
              </a:rPr>
              <a:t>向力：</a:t>
            </a:r>
            <a:endParaRPr lang="zh-CN" altLang="en-US" sz="2400" dirty="0">
              <a:solidFill>
                <a:srgbClr val="C00000"/>
              </a:solidFill>
              <a:latin typeface="宋体" panose="02010600030101010101" pitchFamily="2" charset="-122"/>
              <a:ea typeface="华文中宋" panose="02010600040101010101" pitchFamily="2" charset="-122"/>
            </a:endParaRPr>
          </a:p>
        </p:txBody>
      </p:sp>
      <p:sp>
        <p:nvSpPr>
          <p:cNvPr id="442456" name="文本框 442455"/>
          <p:cNvSpPr txBox="1"/>
          <p:nvPr/>
        </p:nvSpPr>
        <p:spPr>
          <a:xfrm>
            <a:off x="260350" y="1289050"/>
            <a:ext cx="6732588" cy="368935"/>
          </a:xfrm>
          <a:prstGeom prst="rect">
            <a:avLst/>
          </a:prstGeom>
          <a:noFill/>
          <a:ln w="9525">
            <a:noFill/>
          </a:ln>
        </p:spPr>
        <p:txBody>
          <a:bodyPr lIns="0" tIns="0" rIns="0" bIns="0">
            <a:spAutoFit/>
          </a:bodyPr>
          <a:p>
            <a:pPr algn="l"/>
            <a:r>
              <a:rPr lang="zh-CN" altLang="en-US" sz="2400" dirty="0">
                <a:solidFill>
                  <a:srgbClr val="002060"/>
                </a:solidFill>
                <a:latin typeface="华文中宋" panose="02010600040101010101" pitchFamily="2" charset="-122"/>
                <a:ea typeface="华文中宋" panose="02010600040101010101" pitchFamily="2" charset="-122"/>
              </a:rPr>
              <a:t>轮齿所受法向</a:t>
            </a:r>
            <a:r>
              <a:rPr lang="zh-CN" altLang="en-US" sz="2400" dirty="0">
                <a:solidFill>
                  <a:srgbClr val="002060"/>
                </a:solidFill>
                <a:latin typeface="华文中宋" panose="02010600040101010101" pitchFamily="2" charset="-122"/>
                <a:sym typeface="+mn-ea"/>
              </a:rPr>
              <a:t>总作用</a:t>
            </a:r>
            <a:r>
              <a:rPr lang="zh-CN" altLang="en-US" sz="2400" dirty="0">
                <a:solidFill>
                  <a:srgbClr val="002060"/>
                </a:solidFill>
                <a:latin typeface="华文中宋" panose="02010600040101010101" pitchFamily="2" charset="-122"/>
                <a:ea typeface="华文中宋" panose="02010600040101010101" pitchFamily="2" charset="-122"/>
              </a:rPr>
              <a:t>力</a:t>
            </a:r>
            <a:r>
              <a:rPr lang="en-US" altLang="zh-CN" sz="2400" i="1">
                <a:solidFill>
                  <a:srgbClr val="C00000"/>
                </a:solidFill>
                <a:latin typeface="Times New Roman" panose="02020603050405020304" pitchFamily="18" charset="0"/>
              </a:rPr>
              <a:t>F</a:t>
            </a:r>
            <a:r>
              <a:rPr lang="en-US" altLang="zh-CN" sz="2400" i="1" baseline="-25000">
                <a:solidFill>
                  <a:srgbClr val="C00000"/>
                </a:solidFill>
                <a:latin typeface="Times New Roman" panose="02020603050405020304" pitchFamily="18" charset="0"/>
              </a:rPr>
              <a:t>n</a:t>
            </a:r>
            <a:r>
              <a:rPr lang="zh-CN" altLang="en-US" sz="2400" dirty="0">
                <a:solidFill>
                  <a:srgbClr val="002060"/>
                </a:solidFill>
                <a:latin typeface="华文中宋" panose="02010600040101010101" pitchFamily="2" charset="-122"/>
                <a:ea typeface="华文中宋" panose="02010600040101010101" pitchFamily="2" charset="-122"/>
              </a:rPr>
              <a:t>可分解为三个分力 </a:t>
            </a:r>
            <a:r>
              <a:rPr lang="en-US" altLang="zh-CN" sz="2400">
                <a:solidFill>
                  <a:srgbClr val="002060"/>
                </a:solidFill>
                <a:latin typeface="华文中宋" panose="02010600040101010101" pitchFamily="2" charset="-122"/>
                <a:ea typeface="华文中宋" panose="02010600040101010101" pitchFamily="2" charset="-122"/>
              </a:rPr>
              <a:t>:</a:t>
            </a:r>
            <a:endParaRPr lang="en-US" altLang="zh-CN" sz="2400">
              <a:solidFill>
                <a:srgbClr val="002060"/>
              </a:solidFill>
              <a:latin typeface="华文中宋" panose="02010600040101010101" pitchFamily="2" charset="-122"/>
              <a:ea typeface="华文中宋" panose="02010600040101010101" pitchFamily="2" charset="-122"/>
            </a:endParaRPr>
          </a:p>
        </p:txBody>
      </p:sp>
      <p:grpSp>
        <p:nvGrpSpPr>
          <p:cNvPr id="442458" name="组合 442457"/>
          <p:cNvGrpSpPr/>
          <p:nvPr/>
        </p:nvGrpSpPr>
        <p:grpSpPr>
          <a:xfrm>
            <a:off x="2006600" y="2778125"/>
            <a:ext cx="403225" cy="1041400"/>
            <a:chOff x="772" y="1750"/>
            <a:chExt cx="254" cy="656"/>
          </a:xfrm>
        </p:grpSpPr>
        <p:sp>
          <p:nvSpPr>
            <p:cNvPr id="442459" name="直接连接符 442458"/>
            <p:cNvSpPr/>
            <p:nvPr/>
          </p:nvSpPr>
          <p:spPr>
            <a:xfrm>
              <a:off x="1026" y="1808"/>
              <a:ext cx="0" cy="598"/>
            </a:xfrm>
            <a:prstGeom prst="line">
              <a:avLst/>
            </a:prstGeom>
            <a:ln w="28575" cap="flat" cmpd="sng">
              <a:solidFill>
                <a:srgbClr val="FF0000"/>
              </a:solidFill>
              <a:prstDash val="solid"/>
              <a:headEnd type="none" w="sm" len="lg"/>
              <a:tailEnd type="triangle" w="sm" len="lg"/>
            </a:ln>
          </p:spPr>
        </p:sp>
        <p:grpSp>
          <p:nvGrpSpPr>
            <p:cNvPr id="442460" name="组合 442459"/>
            <p:cNvGrpSpPr/>
            <p:nvPr/>
          </p:nvGrpSpPr>
          <p:grpSpPr>
            <a:xfrm>
              <a:off x="772" y="1750"/>
              <a:ext cx="249" cy="271"/>
              <a:chOff x="1838" y="1846"/>
              <a:chExt cx="249" cy="271"/>
            </a:xfrm>
          </p:grpSpPr>
          <p:sp>
            <p:nvSpPr>
              <p:cNvPr id="442461" name="椭圆 442460"/>
              <p:cNvSpPr/>
              <p:nvPr/>
            </p:nvSpPr>
            <p:spPr>
              <a:xfrm>
                <a:off x="1838" y="1863"/>
                <a:ext cx="249" cy="254"/>
              </a:xfrm>
              <a:prstGeom prst="ellipse">
                <a:avLst/>
              </a:prstGeom>
              <a:noFill/>
              <a:ln w="12700">
                <a:noFill/>
              </a:ln>
            </p:spPr>
            <p:txBody>
              <a:bodyPr/>
              <a:p>
                <a:endParaRPr lang="zh-CN" altLang="en-US"/>
              </a:p>
            </p:txBody>
          </p:sp>
          <p:sp>
            <p:nvSpPr>
              <p:cNvPr id="442462" name="文本框 442461"/>
              <p:cNvSpPr txBox="1"/>
              <p:nvPr/>
            </p:nvSpPr>
            <p:spPr>
              <a:xfrm>
                <a:off x="1864" y="1846"/>
                <a:ext cx="178" cy="230"/>
              </a:xfrm>
              <a:prstGeom prst="rect">
                <a:avLst/>
              </a:prstGeom>
              <a:noFill/>
              <a:ln w="9525">
                <a:noFill/>
              </a:ln>
            </p:spPr>
            <p:txBody>
              <a:bodyPr wrap="none" lIns="0" tIns="0" rIns="0" bIns="0">
                <a:spAutoFit/>
              </a:bodyPr>
              <a:p>
                <a:r>
                  <a:rPr lang="en-US" altLang="zh-CN" sz="2400" i="1">
                    <a:solidFill>
                      <a:schemeClr val="folHlink"/>
                    </a:solidFill>
                    <a:latin typeface="Times New Roman" panose="02020603050405020304" pitchFamily="18" charset="0"/>
                  </a:rPr>
                  <a:t>F</a:t>
                </a:r>
                <a:r>
                  <a:rPr lang="en-US" altLang="zh-CN" sz="2400" i="1" baseline="-25000">
                    <a:solidFill>
                      <a:schemeClr val="folHlink"/>
                    </a:solidFill>
                    <a:latin typeface="Times New Roman" panose="02020603050405020304" pitchFamily="18" charset="0"/>
                  </a:rPr>
                  <a:t>r</a:t>
                </a:r>
                <a:endParaRPr lang="en-US" altLang="zh-CN" i="1" baseline="-25000">
                  <a:solidFill>
                    <a:schemeClr val="folHlink"/>
                  </a:solidFill>
                  <a:latin typeface="Times New Roman" panose="02020603050405020304" pitchFamily="18" charset="0"/>
                  <a:ea typeface="华文中宋" panose="02010600040101010101" pitchFamily="2" charset="-122"/>
                </a:endParaRPr>
              </a:p>
            </p:txBody>
          </p:sp>
        </p:grpSp>
      </p:grpSp>
      <p:grpSp>
        <p:nvGrpSpPr>
          <p:cNvPr id="442463" name="组合 442462"/>
          <p:cNvGrpSpPr/>
          <p:nvPr/>
        </p:nvGrpSpPr>
        <p:grpSpPr>
          <a:xfrm>
            <a:off x="2411413" y="3678238"/>
            <a:ext cx="4902200" cy="1511300"/>
            <a:chOff x="1831" y="2317"/>
            <a:chExt cx="3088" cy="952"/>
          </a:xfrm>
        </p:grpSpPr>
        <p:grpSp>
          <p:nvGrpSpPr>
            <p:cNvPr id="442464" name="组合 442463"/>
            <p:cNvGrpSpPr/>
            <p:nvPr/>
          </p:nvGrpSpPr>
          <p:grpSpPr>
            <a:xfrm>
              <a:off x="1831" y="2317"/>
              <a:ext cx="946" cy="310"/>
              <a:chOff x="1831" y="2317"/>
              <a:chExt cx="946" cy="310"/>
            </a:xfrm>
          </p:grpSpPr>
          <p:sp>
            <p:nvSpPr>
              <p:cNvPr id="442465" name="直接连接符 442464"/>
              <p:cNvSpPr/>
              <p:nvPr/>
            </p:nvSpPr>
            <p:spPr>
              <a:xfrm flipH="1" flipV="1">
                <a:off x="1831" y="2411"/>
                <a:ext cx="938" cy="216"/>
              </a:xfrm>
              <a:prstGeom prst="line">
                <a:avLst/>
              </a:prstGeom>
              <a:ln w="28575" cap="flat" cmpd="sng">
                <a:solidFill>
                  <a:srgbClr val="FF0000"/>
                </a:solidFill>
                <a:prstDash val="solid"/>
                <a:headEnd type="none" w="med" len="med"/>
                <a:tailEnd type="triangle" w="sm" len="lg"/>
              </a:ln>
            </p:spPr>
          </p:sp>
          <p:grpSp>
            <p:nvGrpSpPr>
              <p:cNvPr id="442466" name="组合 442465"/>
              <p:cNvGrpSpPr/>
              <p:nvPr/>
            </p:nvGrpSpPr>
            <p:grpSpPr>
              <a:xfrm>
                <a:off x="2528" y="2317"/>
                <a:ext cx="249" cy="271"/>
                <a:chOff x="4786" y="1140"/>
                <a:chExt cx="249" cy="271"/>
              </a:xfrm>
            </p:grpSpPr>
            <p:sp>
              <p:nvSpPr>
                <p:cNvPr id="442467" name="椭圆 442466"/>
                <p:cNvSpPr/>
                <p:nvPr/>
              </p:nvSpPr>
              <p:spPr>
                <a:xfrm>
                  <a:off x="4786" y="1157"/>
                  <a:ext cx="249" cy="254"/>
                </a:xfrm>
                <a:prstGeom prst="ellipse">
                  <a:avLst/>
                </a:prstGeom>
                <a:noFill/>
                <a:ln w="12700">
                  <a:noFill/>
                </a:ln>
              </p:spPr>
              <p:txBody>
                <a:bodyPr/>
                <a:p>
                  <a:endParaRPr lang="zh-CN" altLang="en-US"/>
                </a:p>
              </p:txBody>
            </p:sp>
            <p:sp>
              <p:nvSpPr>
                <p:cNvPr id="442468" name="文本框 442467"/>
                <p:cNvSpPr txBox="1"/>
                <p:nvPr/>
              </p:nvSpPr>
              <p:spPr>
                <a:xfrm>
                  <a:off x="4819" y="1140"/>
                  <a:ext cx="164" cy="230"/>
                </a:xfrm>
                <a:prstGeom prst="rect">
                  <a:avLst/>
                </a:prstGeom>
                <a:noFill/>
                <a:ln w="9525">
                  <a:noFill/>
                </a:ln>
              </p:spPr>
              <p:txBody>
                <a:bodyPr wrap="none" lIns="0" tIns="0" rIns="0" bIns="0">
                  <a:spAutoFit/>
                </a:bodyPr>
                <a:p>
                  <a:r>
                    <a:rPr lang="en-US" altLang="zh-CN" sz="2400" i="1">
                      <a:solidFill>
                        <a:schemeClr val="folHlink"/>
                      </a:solidFill>
                      <a:latin typeface="Times New Roman" panose="02020603050405020304" pitchFamily="18" charset="0"/>
                    </a:rPr>
                    <a:t>F</a:t>
                  </a:r>
                  <a:r>
                    <a:rPr lang="en-US" altLang="zh-CN" sz="2400" i="1" baseline="-25000">
                      <a:solidFill>
                        <a:schemeClr val="folHlink"/>
                      </a:solidFill>
                      <a:latin typeface="Times New Roman" panose="02020603050405020304" pitchFamily="18" charset="0"/>
                    </a:rPr>
                    <a:t>t</a:t>
                  </a:r>
                  <a:endParaRPr lang="en-US" altLang="zh-CN" i="1" baseline="-25000">
                    <a:solidFill>
                      <a:schemeClr val="folHlink"/>
                    </a:solidFill>
                    <a:latin typeface="Times New Roman" panose="02020603050405020304" pitchFamily="18" charset="0"/>
                    <a:ea typeface="华文中宋" panose="02010600040101010101" pitchFamily="2" charset="-122"/>
                  </a:endParaRPr>
                </a:p>
              </p:txBody>
            </p:sp>
          </p:grpSp>
        </p:grpSp>
        <p:grpSp>
          <p:nvGrpSpPr>
            <p:cNvPr id="442469" name="组合 442468"/>
            <p:cNvGrpSpPr/>
            <p:nvPr/>
          </p:nvGrpSpPr>
          <p:grpSpPr>
            <a:xfrm>
              <a:off x="3864" y="2998"/>
              <a:ext cx="1055" cy="271"/>
              <a:chOff x="3864" y="2998"/>
              <a:chExt cx="1055" cy="271"/>
            </a:xfrm>
          </p:grpSpPr>
          <p:grpSp>
            <p:nvGrpSpPr>
              <p:cNvPr id="442470" name="组合 442469"/>
              <p:cNvGrpSpPr/>
              <p:nvPr/>
            </p:nvGrpSpPr>
            <p:grpSpPr>
              <a:xfrm>
                <a:off x="4394" y="2998"/>
                <a:ext cx="249" cy="271"/>
                <a:chOff x="4786" y="1140"/>
                <a:chExt cx="249" cy="271"/>
              </a:xfrm>
            </p:grpSpPr>
            <p:sp>
              <p:nvSpPr>
                <p:cNvPr id="442471" name="椭圆 442470"/>
                <p:cNvSpPr/>
                <p:nvPr/>
              </p:nvSpPr>
              <p:spPr>
                <a:xfrm>
                  <a:off x="4786" y="1157"/>
                  <a:ext cx="249" cy="254"/>
                </a:xfrm>
                <a:prstGeom prst="ellipse">
                  <a:avLst/>
                </a:prstGeom>
                <a:noFill/>
                <a:ln w="12700">
                  <a:noFill/>
                </a:ln>
              </p:spPr>
              <p:txBody>
                <a:bodyPr/>
                <a:p>
                  <a:endParaRPr lang="zh-CN" altLang="en-US"/>
                </a:p>
              </p:txBody>
            </p:sp>
            <p:sp>
              <p:nvSpPr>
                <p:cNvPr id="442472" name="文本框 442471"/>
                <p:cNvSpPr txBox="1"/>
                <p:nvPr/>
              </p:nvSpPr>
              <p:spPr>
                <a:xfrm>
                  <a:off x="4819" y="1140"/>
                  <a:ext cx="164" cy="230"/>
                </a:xfrm>
                <a:prstGeom prst="rect">
                  <a:avLst/>
                </a:prstGeom>
                <a:noFill/>
                <a:ln w="9525">
                  <a:noFill/>
                </a:ln>
              </p:spPr>
              <p:txBody>
                <a:bodyPr wrap="none" lIns="0" tIns="0" rIns="0" bIns="0">
                  <a:spAutoFit/>
                </a:bodyPr>
                <a:p>
                  <a:r>
                    <a:rPr lang="en-US" altLang="zh-CN" sz="2400" i="1">
                      <a:solidFill>
                        <a:schemeClr val="tx2"/>
                      </a:solidFill>
                      <a:latin typeface="Times New Roman" panose="02020603050405020304" pitchFamily="18" charset="0"/>
                    </a:rPr>
                    <a:t>F</a:t>
                  </a:r>
                  <a:r>
                    <a:rPr lang="en-US" altLang="zh-CN" sz="2400" i="1" baseline="-25000">
                      <a:solidFill>
                        <a:schemeClr val="tx2"/>
                      </a:solidFill>
                      <a:latin typeface="Times New Roman" panose="02020603050405020304" pitchFamily="18" charset="0"/>
                    </a:rPr>
                    <a:t>t</a:t>
                  </a:r>
                  <a:endParaRPr lang="en-US" altLang="zh-CN" sz="2400" i="1" baseline="-25000">
                    <a:solidFill>
                      <a:schemeClr val="tx2"/>
                    </a:solidFill>
                    <a:latin typeface="Times New Roman" panose="02020603050405020304" pitchFamily="18" charset="0"/>
                  </a:endParaRPr>
                </a:p>
              </p:txBody>
            </p:sp>
          </p:grpSp>
          <p:sp>
            <p:nvSpPr>
              <p:cNvPr id="442473" name="直接连接符 442472"/>
              <p:cNvSpPr/>
              <p:nvPr/>
            </p:nvSpPr>
            <p:spPr>
              <a:xfrm flipH="1">
                <a:off x="3864" y="3266"/>
                <a:ext cx="1055" cy="0"/>
              </a:xfrm>
              <a:prstGeom prst="line">
                <a:avLst/>
              </a:prstGeom>
              <a:ln w="28575" cap="flat" cmpd="sng">
                <a:solidFill>
                  <a:srgbClr val="FF0000"/>
                </a:solidFill>
                <a:prstDash val="solid"/>
                <a:headEnd type="none" w="med" len="med"/>
                <a:tailEnd type="triangle" w="sm" len="lg"/>
              </a:ln>
            </p:spPr>
          </p:sp>
        </p:grpSp>
      </p:grpSp>
      <p:sp>
        <p:nvSpPr>
          <p:cNvPr id="442474" name="矩形 442473"/>
          <p:cNvSpPr/>
          <p:nvPr/>
        </p:nvSpPr>
        <p:spPr>
          <a:xfrm>
            <a:off x="7408863" y="5521325"/>
            <a:ext cx="1073150" cy="304800"/>
          </a:xfrm>
          <a:prstGeom prst="rect">
            <a:avLst/>
          </a:prstGeom>
          <a:noFill/>
          <a:ln w="12700">
            <a:noFill/>
          </a:ln>
        </p:spPr>
        <p:txBody>
          <a:bodyPr wrap="none" anchor="t">
            <a:spAutoFit/>
          </a:bodyPr>
          <a:p>
            <a:r>
              <a:rPr lang="zh-CN" altLang="en-US" sz="1400" b="0" dirty="0">
                <a:solidFill>
                  <a:srgbClr val="003399"/>
                </a:solidFill>
                <a:latin typeface="Times New Roman" panose="02020603050405020304" pitchFamily="18" charset="0"/>
              </a:rPr>
              <a:t>长方体底面</a:t>
            </a:r>
            <a:endParaRPr lang="zh-CN" altLang="en-US" sz="1400" b="0" dirty="0">
              <a:solidFill>
                <a:srgbClr val="003399"/>
              </a:solidFill>
              <a:latin typeface="Times New Roman" panose="02020603050405020304" pitchFamily="18" charset="0"/>
            </a:endParaRPr>
          </a:p>
        </p:txBody>
      </p:sp>
      <p:sp>
        <p:nvSpPr>
          <p:cNvPr id="442475" name="矩形 442474"/>
          <p:cNvSpPr/>
          <p:nvPr/>
        </p:nvSpPr>
        <p:spPr>
          <a:xfrm>
            <a:off x="3919538" y="2895600"/>
            <a:ext cx="2139950" cy="304800"/>
          </a:xfrm>
          <a:prstGeom prst="rect">
            <a:avLst/>
          </a:prstGeom>
          <a:noFill/>
          <a:ln w="12700">
            <a:noFill/>
          </a:ln>
        </p:spPr>
        <p:txBody>
          <a:bodyPr wrap="none" anchor="t">
            <a:spAutoFit/>
          </a:bodyPr>
          <a:p>
            <a:r>
              <a:rPr lang="zh-CN" altLang="en-US" sz="1400" b="0" dirty="0">
                <a:solidFill>
                  <a:srgbClr val="002060"/>
                </a:solidFill>
                <a:latin typeface="Times New Roman" panose="02020603050405020304" pitchFamily="18" charset="0"/>
              </a:rPr>
              <a:t>长方体对角面即轮齿法面</a:t>
            </a:r>
            <a:endParaRPr lang="zh-CN" altLang="en-US" sz="1400" b="0" dirty="0">
              <a:solidFill>
                <a:srgbClr val="002060"/>
              </a:solidFill>
              <a:latin typeface="Times New Roman" panose="02020603050405020304" pitchFamily="18" charset="0"/>
            </a:endParaRPr>
          </a:p>
        </p:txBody>
      </p:sp>
      <p:sp>
        <p:nvSpPr>
          <p:cNvPr id="442476" name="矩形 442475"/>
          <p:cNvSpPr/>
          <p:nvPr/>
        </p:nvSpPr>
        <p:spPr>
          <a:xfrm>
            <a:off x="5364163" y="6064250"/>
            <a:ext cx="2273300" cy="519113"/>
          </a:xfrm>
          <a:prstGeom prst="rect">
            <a:avLst/>
          </a:prstGeom>
          <a:noFill/>
          <a:ln w="28575">
            <a:noFill/>
          </a:ln>
        </p:spPr>
        <p:txBody>
          <a:bodyPr wrap="none" anchor="t">
            <a:spAutoFit/>
          </a:bodyPr>
          <a:p>
            <a:r>
              <a:rPr lang="en-US" altLang="zh-CN" sz="2800" i="1">
                <a:solidFill>
                  <a:schemeClr val="tx2"/>
                </a:solidFill>
                <a:latin typeface="Times New Roman" panose="02020603050405020304" pitchFamily="18" charset="0"/>
              </a:rPr>
              <a:t>F’=F</a:t>
            </a:r>
            <a:r>
              <a:rPr lang="en-US" altLang="zh-CN" sz="2800" i="1" baseline="-25000">
                <a:solidFill>
                  <a:schemeClr val="tx2"/>
                </a:solidFill>
                <a:latin typeface="Times New Roman" panose="02020603050405020304" pitchFamily="18" charset="0"/>
              </a:rPr>
              <a:t>t  </a:t>
            </a:r>
            <a:r>
              <a:rPr lang="en-US" altLang="zh-CN" sz="2800" i="1" err="1">
                <a:solidFill>
                  <a:schemeClr val="tx2"/>
                </a:solidFill>
                <a:latin typeface="Times New Roman" panose="02020603050405020304" pitchFamily="18" charset="0"/>
              </a:rPr>
              <a:t>/cosβ</a:t>
            </a:r>
            <a:r>
              <a:rPr lang="en-US" altLang="zh-CN" sz="2800" i="1">
                <a:solidFill>
                  <a:schemeClr val="tx2"/>
                </a:solidFill>
                <a:latin typeface="Times New Roman" panose="02020603050405020304" pitchFamily="18" charset="0"/>
              </a:rPr>
              <a:t>  </a:t>
            </a:r>
            <a:endParaRPr lang="en-US" altLang="zh-CN" sz="2800" i="1">
              <a:solidFill>
                <a:schemeClr val="tx2"/>
              </a:solidFill>
              <a:latin typeface="Times New Roman" panose="02020603050405020304" pitchFamily="18" charset="0"/>
            </a:endParaRPr>
          </a:p>
        </p:txBody>
      </p:sp>
      <p:sp>
        <p:nvSpPr>
          <p:cNvPr id="442477" name="矩形 442476"/>
          <p:cNvSpPr/>
          <p:nvPr/>
        </p:nvSpPr>
        <p:spPr>
          <a:xfrm>
            <a:off x="6992938" y="4406900"/>
            <a:ext cx="2139950" cy="519113"/>
          </a:xfrm>
          <a:prstGeom prst="rect">
            <a:avLst/>
          </a:prstGeom>
          <a:noFill/>
          <a:ln w="28575">
            <a:noFill/>
          </a:ln>
        </p:spPr>
        <p:txBody>
          <a:bodyPr wrap="none" anchor="t">
            <a:spAutoFit/>
          </a:bodyPr>
          <a:p>
            <a:r>
              <a:rPr lang="en-US" altLang="zh-CN" sz="2800" i="1">
                <a:solidFill>
                  <a:schemeClr val="bg1"/>
                </a:solidFill>
                <a:latin typeface="Times New Roman" panose="02020603050405020304" pitchFamily="18" charset="0"/>
              </a:rPr>
              <a:t>F</a:t>
            </a:r>
            <a:r>
              <a:rPr lang="en-US" altLang="zh-CN" sz="2800" i="1" baseline="-25000">
                <a:solidFill>
                  <a:schemeClr val="bg1"/>
                </a:solidFill>
                <a:latin typeface="Times New Roman" panose="02020603050405020304" pitchFamily="18" charset="0"/>
              </a:rPr>
              <a:t>r </a:t>
            </a:r>
            <a:r>
              <a:rPr lang="en-US" altLang="zh-CN" sz="2800" i="1">
                <a:solidFill>
                  <a:schemeClr val="bg1"/>
                </a:solidFill>
                <a:latin typeface="Times New Roman" panose="02020603050405020304" pitchFamily="18" charset="0"/>
              </a:rPr>
              <a:t>=</a:t>
            </a:r>
            <a:r>
              <a:rPr lang="en-US" altLang="zh-CN" sz="2800" i="1" baseline="-25000">
                <a:solidFill>
                  <a:schemeClr val="bg1"/>
                </a:solidFill>
                <a:latin typeface="Times New Roman" panose="02020603050405020304" pitchFamily="18" charset="0"/>
              </a:rPr>
              <a:t> </a:t>
            </a:r>
            <a:r>
              <a:rPr lang="en-US" altLang="zh-CN" sz="2800" i="1" err="1">
                <a:solidFill>
                  <a:schemeClr val="bg1"/>
                </a:solidFill>
                <a:latin typeface="Times New Roman" panose="02020603050405020304" pitchFamily="18" charset="0"/>
              </a:rPr>
              <a:t>F’ tg</a:t>
            </a:r>
            <a:r>
              <a:rPr lang="en-US" altLang="zh-CN" sz="2800" err="1">
                <a:solidFill>
                  <a:schemeClr val="bg1"/>
                </a:solidFill>
                <a:latin typeface="Times New Roman" panose="02020603050405020304" pitchFamily="18" charset="0"/>
                <a:ea typeface="隶书" panose="02010509060101010101" pitchFamily="49" charset="-122"/>
              </a:rPr>
              <a:t>α</a:t>
            </a:r>
            <a:r>
              <a:rPr lang="en-US" altLang="zh-CN" sz="2800" baseline="-25000" err="1">
                <a:solidFill>
                  <a:schemeClr val="bg1"/>
                </a:solidFill>
                <a:latin typeface="Times New Roman" panose="02020603050405020304" pitchFamily="18" charset="0"/>
                <a:ea typeface="隶书" panose="02010509060101010101" pitchFamily="49" charset="-122"/>
              </a:rPr>
              <a:t>n</a:t>
            </a:r>
            <a:r>
              <a:rPr lang="en-US" altLang="zh-CN" sz="2800" i="1">
                <a:solidFill>
                  <a:schemeClr val="bg1"/>
                </a:solidFill>
                <a:latin typeface="Times New Roman" panose="02020603050405020304" pitchFamily="18" charset="0"/>
              </a:rPr>
              <a:t> </a:t>
            </a:r>
            <a:endParaRPr lang="en-US" altLang="zh-CN" sz="2800" i="1">
              <a:solidFill>
                <a:schemeClr val="bg1"/>
              </a:solidFill>
              <a:latin typeface="Times New Roman" panose="02020603050405020304" pitchFamily="18" charset="0"/>
            </a:endParaRPr>
          </a:p>
        </p:txBody>
      </p:sp>
      <p:grpSp>
        <p:nvGrpSpPr>
          <p:cNvPr id="442478" name="组合 442477"/>
          <p:cNvGrpSpPr/>
          <p:nvPr/>
        </p:nvGrpSpPr>
        <p:grpSpPr>
          <a:xfrm>
            <a:off x="6500813" y="3443288"/>
            <a:ext cx="2005012" cy="833437"/>
            <a:chOff x="4035" y="2313"/>
            <a:chExt cx="1263" cy="525"/>
          </a:xfrm>
        </p:grpSpPr>
        <p:sp>
          <p:nvSpPr>
            <p:cNvPr id="442479" name="任意多边形 442478"/>
            <p:cNvSpPr/>
            <p:nvPr/>
          </p:nvSpPr>
          <p:spPr>
            <a:xfrm>
              <a:off x="4035" y="2313"/>
              <a:ext cx="1263" cy="525"/>
            </a:xfrm>
            <a:custGeom>
              <a:avLst/>
              <a:gdLst/>
              <a:ahLst/>
              <a:cxnLst/>
              <a:pathLst>
                <a:path w="1263" h="525">
                  <a:moveTo>
                    <a:pt x="0" y="0"/>
                  </a:moveTo>
                  <a:lnTo>
                    <a:pt x="1263" y="60"/>
                  </a:lnTo>
                  <a:lnTo>
                    <a:pt x="1017" y="525"/>
                  </a:lnTo>
                  <a:lnTo>
                    <a:pt x="0" y="0"/>
                  </a:lnTo>
                  <a:close/>
                </a:path>
              </a:pathLst>
            </a:custGeom>
            <a:solidFill>
              <a:schemeClr val="accent1"/>
            </a:solidFill>
            <a:ln w="28575">
              <a:noFill/>
            </a:ln>
          </p:spPr>
          <p:txBody>
            <a:bodyPr/>
            <a:p>
              <a:endParaRPr lang="zh-CN" altLang="en-US"/>
            </a:p>
          </p:txBody>
        </p:sp>
        <p:grpSp>
          <p:nvGrpSpPr>
            <p:cNvPr id="442480" name="组合 442479"/>
            <p:cNvGrpSpPr/>
            <p:nvPr/>
          </p:nvGrpSpPr>
          <p:grpSpPr>
            <a:xfrm>
              <a:off x="4490" y="2333"/>
              <a:ext cx="336" cy="235"/>
              <a:chOff x="4802" y="2333"/>
              <a:chExt cx="336" cy="235"/>
            </a:xfrm>
          </p:grpSpPr>
          <p:sp>
            <p:nvSpPr>
              <p:cNvPr id="442481" name="任意多边形 442480"/>
              <p:cNvSpPr/>
              <p:nvPr/>
            </p:nvSpPr>
            <p:spPr>
              <a:xfrm rot="2350399">
                <a:off x="4802" y="2333"/>
                <a:ext cx="81" cy="226"/>
              </a:xfrm>
              <a:custGeom>
                <a:avLst/>
                <a:gdLst/>
                <a:ahLst/>
                <a:cxnLst/>
                <a:pathLst>
                  <a:path w="65" h="270">
                    <a:moveTo>
                      <a:pt x="0" y="0"/>
                    </a:moveTo>
                    <a:cubicBezTo>
                      <a:pt x="8" y="12"/>
                      <a:pt x="16" y="25"/>
                      <a:pt x="24" y="42"/>
                    </a:cubicBezTo>
                    <a:cubicBezTo>
                      <a:pt x="32" y="59"/>
                      <a:pt x="41" y="80"/>
                      <a:pt x="47" y="100"/>
                    </a:cubicBezTo>
                    <a:cubicBezTo>
                      <a:pt x="53" y="120"/>
                      <a:pt x="57" y="137"/>
                      <a:pt x="60" y="165"/>
                    </a:cubicBezTo>
                    <a:cubicBezTo>
                      <a:pt x="63" y="193"/>
                      <a:pt x="64" y="231"/>
                      <a:pt x="65" y="270"/>
                    </a:cubicBezTo>
                  </a:path>
                </a:pathLst>
              </a:custGeom>
              <a:noFill/>
              <a:ln w="9525" cap="flat" cmpd="sng">
                <a:solidFill>
                  <a:srgbClr val="FF0000">
                    <a:alpha val="100000"/>
                  </a:srgbClr>
                </a:solidFill>
                <a:prstDash val="solid"/>
                <a:headEnd type="triangle" w="sm" len="lg"/>
                <a:tailEnd type="triangle" w="sm" len="lg"/>
              </a:ln>
            </p:spPr>
            <p:txBody>
              <a:bodyPr/>
              <a:p>
                <a:endParaRPr lang="zh-CN" altLang="en-US"/>
              </a:p>
            </p:txBody>
          </p:sp>
          <p:sp>
            <p:nvSpPr>
              <p:cNvPr id="442482" name="矩形 442481"/>
              <p:cNvSpPr/>
              <p:nvPr/>
            </p:nvSpPr>
            <p:spPr>
              <a:xfrm>
                <a:off x="4874" y="2338"/>
                <a:ext cx="264" cy="230"/>
              </a:xfrm>
              <a:prstGeom prst="rect">
                <a:avLst/>
              </a:prstGeom>
              <a:noFill/>
              <a:ln w="12700">
                <a:noFill/>
              </a:ln>
            </p:spPr>
            <p:txBody>
              <a:bodyPr wrap="none" lIns="0" tIns="0" rIns="0" bIns="0" anchor="t">
                <a:spAutoFit/>
              </a:bodyPr>
              <a:p>
                <a:r>
                  <a:rPr lang="en-US" altLang="zh-CN" sz="2400">
                    <a:solidFill>
                      <a:srgbClr val="002060"/>
                    </a:solidFill>
                    <a:latin typeface="Times New Roman" panose="02020603050405020304" pitchFamily="18" charset="0"/>
                    <a:ea typeface="隶书" panose="02010509060101010101" pitchFamily="49" charset="-122"/>
                  </a:rPr>
                  <a:t>α</a:t>
                </a:r>
                <a:r>
                  <a:rPr lang="en-US" altLang="zh-CN" sz="2400" baseline="-25000">
                    <a:solidFill>
                      <a:srgbClr val="002060"/>
                    </a:solidFill>
                    <a:latin typeface="Times New Roman" panose="02020603050405020304" pitchFamily="18" charset="0"/>
                    <a:ea typeface="隶书" panose="02010509060101010101" pitchFamily="49" charset="-122"/>
                  </a:rPr>
                  <a:t>n</a:t>
                </a:r>
                <a:endParaRPr lang="en-US" altLang="zh-CN" sz="2400" baseline="-25000">
                  <a:solidFill>
                    <a:srgbClr val="002060"/>
                  </a:solidFill>
                  <a:latin typeface="Times New Roman" panose="02020603050405020304" pitchFamily="18" charset="0"/>
                  <a:ea typeface="隶书" panose="02010509060101010101" pitchFamily="49" charset="-122"/>
                </a:endParaRPr>
              </a:p>
            </p:txBody>
          </p:sp>
        </p:grpSp>
      </p:grpSp>
      <p:grpSp>
        <p:nvGrpSpPr>
          <p:cNvPr id="442483" name="组合 442482"/>
          <p:cNvGrpSpPr/>
          <p:nvPr/>
        </p:nvGrpSpPr>
        <p:grpSpPr>
          <a:xfrm>
            <a:off x="6459538" y="2697163"/>
            <a:ext cx="2060575" cy="1909762"/>
            <a:chOff x="4009" y="1843"/>
            <a:chExt cx="1298" cy="1203"/>
          </a:xfrm>
        </p:grpSpPr>
        <p:sp>
          <p:nvSpPr>
            <p:cNvPr id="442484" name="直接连接符 442483"/>
            <p:cNvSpPr/>
            <p:nvPr/>
          </p:nvSpPr>
          <p:spPr>
            <a:xfrm flipH="1" flipV="1">
              <a:off x="4021" y="2309"/>
              <a:ext cx="1286" cy="65"/>
            </a:xfrm>
            <a:prstGeom prst="line">
              <a:avLst/>
            </a:prstGeom>
            <a:ln w="28575" cap="flat" cmpd="sng">
              <a:solidFill>
                <a:srgbClr val="006600"/>
              </a:solidFill>
              <a:prstDash val="solid"/>
              <a:headEnd type="none" w="med" len="med"/>
              <a:tailEnd type="triangle" w="sm" len="lg"/>
            </a:ln>
          </p:spPr>
        </p:sp>
        <p:sp>
          <p:nvSpPr>
            <p:cNvPr id="442485" name="直接连接符 442484"/>
            <p:cNvSpPr/>
            <p:nvPr/>
          </p:nvSpPr>
          <p:spPr>
            <a:xfrm>
              <a:off x="4243" y="1843"/>
              <a:ext cx="1057" cy="526"/>
            </a:xfrm>
            <a:prstGeom prst="line">
              <a:avLst/>
            </a:prstGeom>
            <a:ln w="12700" cap="flat" cmpd="sng">
              <a:solidFill>
                <a:srgbClr val="006600"/>
              </a:solidFill>
              <a:prstDash val="dash"/>
              <a:headEnd type="none" w="med" len="med"/>
              <a:tailEnd type="none" w="sm" len="lg"/>
            </a:ln>
          </p:spPr>
        </p:sp>
        <p:sp>
          <p:nvSpPr>
            <p:cNvPr id="442486" name="直接连接符 442485"/>
            <p:cNvSpPr/>
            <p:nvPr/>
          </p:nvSpPr>
          <p:spPr>
            <a:xfrm flipV="1">
              <a:off x="5056" y="2375"/>
              <a:ext cx="248" cy="457"/>
            </a:xfrm>
            <a:prstGeom prst="line">
              <a:avLst/>
            </a:prstGeom>
            <a:ln w="12700" cap="flat" cmpd="sng">
              <a:solidFill>
                <a:srgbClr val="00FF00"/>
              </a:solidFill>
              <a:prstDash val="dash"/>
              <a:headEnd type="none" w="med" len="med"/>
              <a:tailEnd type="none" w="sm" len="lg"/>
            </a:ln>
          </p:spPr>
        </p:sp>
        <p:grpSp>
          <p:nvGrpSpPr>
            <p:cNvPr id="442487" name="组合 442486"/>
            <p:cNvGrpSpPr/>
            <p:nvPr/>
          </p:nvGrpSpPr>
          <p:grpSpPr>
            <a:xfrm>
              <a:off x="4170" y="1913"/>
              <a:ext cx="249" cy="271"/>
              <a:chOff x="4786" y="1140"/>
              <a:chExt cx="249" cy="271"/>
            </a:xfrm>
          </p:grpSpPr>
          <p:sp>
            <p:nvSpPr>
              <p:cNvPr id="442488" name="椭圆 442487"/>
              <p:cNvSpPr/>
              <p:nvPr/>
            </p:nvSpPr>
            <p:spPr>
              <a:xfrm>
                <a:off x="4786" y="1157"/>
                <a:ext cx="249" cy="254"/>
              </a:xfrm>
              <a:prstGeom prst="ellipse">
                <a:avLst/>
              </a:prstGeom>
              <a:noFill/>
              <a:ln w="12700">
                <a:noFill/>
              </a:ln>
            </p:spPr>
            <p:txBody>
              <a:bodyPr/>
              <a:p>
                <a:endParaRPr lang="zh-CN" altLang="en-US"/>
              </a:p>
            </p:txBody>
          </p:sp>
          <p:sp>
            <p:nvSpPr>
              <p:cNvPr id="442489" name="文本框 442488"/>
              <p:cNvSpPr txBox="1"/>
              <p:nvPr/>
            </p:nvSpPr>
            <p:spPr>
              <a:xfrm>
                <a:off x="4812" y="1140"/>
                <a:ext cx="178" cy="230"/>
              </a:xfrm>
              <a:prstGeom prst="rect">
                <a:avLst/>
              </a:prstGeom>
              <a:noFill/>
              <a:ln w="9525">
                <a:noFill/>
              </a:ln>
            </p:spPr>
            <p:txBody>
              <a:bodyPr wrap="none" lIns="0" tIns="0" rIns="0" bIns="0">
                <a:spAutoFit/>
              </a:bodyPr>
              <a:p>
                <a:r>
                  <a:rPr lang="en-US" altLang="zh-CN" sz="2400" i="1">
                    <a:solidFill>
                      <a:schemeClr val="folHlink"/>
                    </a:solidFill>
                    <a:latin typeface="Times New Roman" panose="02020603050405020304" pitchFamily="18" charset="0"/>
                  </a:rPr>
                  <a:t>F</a:t>
                </a:r>
                <a:r>
                  <a:rPr lang="en-US" altLang="zh-CN" sz="2400" i="1" baseline="-25000">
                    <a:solidFill>
                      <a:schemeClr val="folHlink"/>
                    </a:solidFill>
                    <a:latin typeface="Times New Roman" panose="02020603050405020304" pitchFamily="18" charset="0"/>
                  </a:rPr>
                  <a:t>r</a:t>
                </a:r>
                <a:endParaRPr lang="en-US" altLang="zh-CN" i="1" baseline="-25000">
                  <a:solidFill>
                    <a:schemeClr val="folHlink"/>
                  </a:solidFill>
                  <a:latin typeface="Times New Roman" panose="02020603050405020304" pitchFamily="18" charset="0"/>
                  <a:ea typeface="华文中宋" panose="02010600040101010101" pitchFamily="2" charset="-122"/>
                </a:endParaRPr>
              </a:p>
            </p:txBody>
          </p:sp>
        </p:grpSp>
        <p:grpSp>
          <p:nvGrpSpPr>
            <p:cNvPr id="442490" name="组合 442489"/>
            <p:cNvGrpSpPr/>
            <p:nvPr/>
          </p:nvGrpSpPr>
          <p:grpSpPr>
            <a:xfrm>
              <a:off x="4585" y="2067"/>
              <a:ext cx="249" cy="271"/>
              <a:chOff x="4786" y="1140"/>
              <a:chExt cx="249" cy="271"/>
            </a:xfrm>
          </p:grpSpPr>
          <p:sp>
            <p:nvSpPr>
              <p:cNvPr id="442491" name="椭圆 442490"/>
              <p:cNvSpPr/>
              <p:nvPr/>
            </p:nvSpPr>
            <p:spPr>
              <a:xfrm>
                <a:off x="4786" y="1157"/>
                <a:ext cx="249" cy="254"/>
              </a:xfrm>
              <a:prstGeom prst="ellipse">
                <a:avLst/>
              </a:prstGeom>
              <a:noFill/>
              <a:ln w="12700">
                <a:noFill/>
              </a:ln>
            </p:spPr>
            <p:txBody>
              <a:bodyPr/>
              <a:p>
                <a:endParaRPr lang="zh-CN" altLang="en-US"/>
              </a:p>
            </p:txBody>
          </p:sp>
          <p:sp>
            <p:nvSpPr>
              <p:cNvPr id="442492" name="文本框 442491"/>
              <p:cNvSpPr txBox="1"/>
              <p:nvPr/>
            </p:nvSpPr>
            <p:spPr>
              <a:xfrm>
                <a:off x="4802" y="1140"/>
                <a:ext cx="199" cy="230"/>
              </a:xfrm>
              <a:prstGeom prst="rect">
                <a:avLst/>
              </a:prstGeom>
              <a:noFill/>
              <a:ln w="9525">
                <a:noFill/>
              </a:ln>
            </p:spPr>
            <p:txBody>
              <a:bodyPr wrap="none" lIns="0" tIns="0" rIns="0" bIns="0">
                <a:spAutoFit/>
              </a:bodyPr>
              <a:p>
                <a:r>
                  <a:rPr lang="en-US" altLang="zh-CN" sz="2400" i="1">
                    <a:solidFill>
                      <a:schemeClr val="folHlink"/>
                    </a:solidFill>
                    <a:latin typeface="Times New Roman" panose="02020603050405020304" pitchFamily="18" charset="0"/>
                  </a:rPr>
                  <a:t>F</a:t>
                </a:r>
                <a:r>
                  <a:rPr lang="en-US" altLang="zh-CN" sz="2400" i="1" baseline="-25000">
                    <a:solidFill>
                      <a:schemeClr val="folHlink"/>
                    </a:solidFill>
                    <a:latin typeface="Times New Roman" panose="02020603050405020304" pitchFamily="18" charset="0"/>
                  </a:rPr>
                  <a:t>n</a:t>
                </a:r>
                <a:endParaRPr lang="en-US" altLang="zh-CN" i="1" baseline="-25000">
                  <a:solidFill>
                    <a:schemeClr val="folHlink"/>
                  </a:solidFill>
                  <a:latin typeface="Times New Roman" panose="02020603050405020304" pitchFamily="18" charset="0"/>
                  <a:ea typeface="华文中宋" panose="02010600040101010101" pitchFamily="2" charset="-122"/>
                </a:endParaRPr>
              </a:p>
            </p:txBody>
          </p:sp>
        </p:grpSp>
        <p:grpSp>
          <p:nvGrpSpPr>
            <p:cNvPr id="442493" name="组合 442492"/>
            <p:cNvGrpSpPr/>
            <p:nvPr/>
          </p:nvGrpSpPr>
          <p:grpSpPr>
            <a:xfrm>
              <a:off x="4018" y="2311"/>
              <a:ext cx="1039" cy="735"/>
              <a:chOff x="4330" y="2311"/>
              <a:chExt cx="1039" cy="735"/>
            </a:xfrm>
          </p:grpSpPr>
          <p:sp>
            <p:nvSpPr>
              <p:cNvPr id="442494" name="直接连接符 442493"/>
              <p:cNvSpPr/>
              <p:nvPr/>
            </p:nvSpPr>
            <p:spPr>
              <a:xfrm flipH="1" flipV="1">
                <a:off x="4330" y="2311"/>
                <a:ext cx="1039" cy="524"/>
              </a:xfrm>
              <a:prstGeom prst="line">
                <a:avLst/>
              </a:prstGeom>
              <a:ln w="28575" cap="flat" cmpd="sng">
                <a:solidFill>
                  <a:srgbClr val="006600"/>
                </a:solidFill>
                <a:prstDash val="solid"/>
                <a:headEnd type="none" w="med" len="med"/>
                <a:tailEnd type="triangle" w="sm" len="lg"/>
              </a:ln>
            </p:spPr>
          </p:sp>
          <p:grpSp>
            <p:nvGrpSpPr>
              <p:cNvPr id="442495" name="组合 442494"/>
              <p:cNvGrpSpPr/>
              <p:nvPr/>
            </p:nvGrpSpPr>
            <p:grpSpPr>
              <a:xfrm>
                <a:off x="4987" y="2775"/>
                <a:ext cx="249" cy="271"/>
                <a:chOff x="4786" y="1140"/>
                <a:chExt cx="249" cy="271"/>
              </a:xfrm>
            </p:grpSpPr>
            <p:sp>
              <p:nvSpPr>
                <p:cNvPr id="442496" name="椭圆 442495"/>
                <p:cNvSpPr/>
                <p:nvPr/>
              </p:nvSpPr>
              <p:spPr>
                <a:xfrm>
                  <a:off x="4786" y="1157"/>
                  <a:ext cx="249" cy="254"/>
                </a:xfrm>
                <a:prstGeom prst="ellipse">
                  <a:avLst/>
                </a:prstGeom>
                <a:noFill/>
                <a:ln w="12700">
                  <a:noFill/>
                </a:ln>
              </p:spPr>
              <p:txBody>
                <a:bodyPr/>
                <a:p>
                  <a:endParaRPr lang="zh-CN" altLang="en-US"/>
                </a:p>
              </p:txBody>
            </p:sp>
            <p:sp>
              <p:nvSpPr>
                <p:cNvPr id="442497" name="文本框 442496"/>
                <p:cNvSpPr txBox="1"/>
                <p:nvPr/>
              </p:nvSpPr>
              <p:spPr>
                <a:xfrm>
                  <a:off x="4806" y="1140"/>
                  <a:ext cx="192" cy="230"/>
                </a:xfrm>
                <a:prstGeom prst="rect">
                  <a:avLst/>
                </a:prstGeom>
                <a:noFill/>
                <a:ln w="9525">
                  <a:noFill/>
                </a:ln>
              </p:spPr>
              <p:txBody>
                <a:bodyPr wrap="none" lIns="0" tIns="0" rIns="0" bIns="0">
                  <a:spAutoFit/>
                </a:bodyPr>
                <a:p>
                  <a:r>
                    <a:rPr lang="en-US" altLang="zh-CN" sz="2400" i="1">
                      <a:solidFill>
                        <a:schemeClr val="folHlink"/>
                      </a:solidFill>
                      <a:latin typeface="Times New Roman" panose="02020603050405020304" pitchFamily="18" charset="0"/>
                    </a:rPr>
                    <a:t>F’</a:t>
                  </a:r>
                  <a:endParaRPr lang="en-US" altLang="zh-CN" i="1" baseline="-25000">
                    <a:solidFill>
                      <a:schemeClr val="folHlink"/>
                    </a:solidFill>
                    <a:latin typeface="Times New Roman" panose="02020603050405020304" pitchFamily="18" charset="0"/>
                    <a:ea typeface="华文中宋" panose="02010600040101010101" pitchFamily="2" charset="-122"/>
                  </a:endParaRPr>
                </a:p>
              </p:txBody>
            </p:sp>
          </p:grpSp>
        </p:grpSp>
        <p:sp>
          <p:nvSpPr>
            <p:cNvPr id="442498" name="直接连接符 442497"/>
            <p:cNvSpPr/>
            <p:nvPr/>
          </p:nvSpPr>
          <p:spPr>
            <a:xfrm flipH="1">
              <a:off x="4009" y="1856"/>
              <a:ext cx="222" cy="457"/>
            </a:xfrm>
            <a:prstGeom prst="line">
              <a:avLst/>
            </a:prstGeom>
            <a:ln w="28575" cap="flat" cmpd="sng">
              <a:solidFill>
                <a:srgbClr val="FF0000"/>
              </a:solidFill>
              <a:prstDash val="solid"/>
              <a:headEnd type="none" w="med" len="med"/>
              <a:tailEnd type="triangle" w="sm" len="lg"/>
            </a:ln>
          </p:spPr>
        </p:sp>
      </p:grpSp>
      <p:grpSp>
        <p:nvGrpSpPr>
          <p:cNvPr id="442499" name="组合 442498"/>
          <p:cNvGrpSpPr/>
          <p:nvPr/>
        </p:nvGrpSpPr>
        <p:grpSpPr>
          <a:xfrm>
            <a:off x="2417763" y="2887663"/>
            <a:ext cx="3668712" cy="2527300"/>
            <a:chOff x="1523" y="1819"/>
            <a:chExt cx="2311" cy="1592"/>
          </a:xfrm>
        </p:grpSpPr>
        <p:grpSp>
          <p:nvGrpSpPr>
            <p:cNvPr id="442500" name="组合 442499"/>
            <p:cNvGrpSpPr/>
            <p:nvPr/>
          </p:nvGrpSpPr>
          <p:grpSpPr>
            <a:xfrm>
              <a:off x="1523" y="1819"/>
              <a:ext cx="690" cy="1086"/>
              <a:chOff x="1835" y="1819"/>
              <a:chExt cx="690" cy="1086"/>
            </a:xfrm>
          </p:grpSpPr>
          <p:sp>
            <p:nvSpPr>
              <p:cNvPr id="442501" name="任意多边形 442500"/>
              <p:cNvSpPr/>
              <p:nvPr/>
            </p:nvSpPr>
            <p:spPr>
              <a:xfrm>
                <a:off x="1835" y="1819"/>
                <a:ext cx="690" cy="1086"/>
              </a:xfrm>
              <a:custGeom>
                <a:avLst/>
                <a:gdLst/>
                <a:ahLst/>
                <a:cxnLst/>
                <a:pathLst>
                  <a:path w="690" h="1086">
                    <a:moveTo>
                      <a:pt x="0" y="588"/>
                    </a:moveTo>
                    <a:lnTo>
                      <a:pt x="0" y="0"/>
                    </a:lnTo>
                    <a:lnTo>
                      <a:pt x="690" y="492"/>
                    </a:lnTo>
                    <a:lnTo>
                      <a:pt x="690" y="1086"/>
                    </a:lnTo>
                    <a:lnTo>
                      <a:pt x="0" y="588"/>
                    </a:lnTo>
                    <a:close/>
                  </a:path>
                </a:pathLst>
              </a:custGeom>
              <a:solidFill>
                <a:srgbClr val="FF0000"/>
              </a:solidFill>
              <a:ln w="12700">
                <a:noFill/>
              </a:ln>
            </p:spPr>
            <p:txBody>
              <a:bodyPr/>
              <a:p>
                <a:endParaRPr lang="zh-CN" altLang="en-US"/>
              </a:p>
            </p:txBody>
          </p:sp>
          <p:grpSp>
            <p:nvGrpSpPr>
              <p:cNvPr id="442502" name="组合 442501"/>
              <p:cNvGrpSpPr/>
              <p:nvPr/>
            </p:nvGrpSpPr>
            <p:grpSpPr>
              <a:xfrm>
                <a:off x="2078" y="2274"/>
                <a:ext cx="368" cy="327"/>
                <a:chOff x="2078" y="2274"/>
                <a:chExt cx="368" cy="327"/>
              </a:xfrm>
            </p:grpSpPr>
            <p:sp>
              <p:nvSpPr>
                <p:cNvPr id="442503" name="任意多边形 442502"/>
                <p:cNvSpPr/>
                <p:nvPr/>
              </p:nvSpPr>
              <p:spPr>
                <a:xfrm rot="1450946">
                  <a:off x="2078" y="2375"/>
                  <a:ext cx="81" cy="226"/>
                </a:xfrm>
                <a:custGeom>
                  <a:avLst/>
                  <a:gdLst/>
                  <a:ahLst/>
                  <a:cxnLst/>
                  <a:pathLst>
                    <a:path w="65" h="270">
                      <a:moveTo>
                        <a:pt x="0" y="0"/>
                      </a:moveTo>
                      <a:cubicBezTo>
                        <a:pt x="8" y="12"/>
                        <a:pt x="16" y="25"/>
                        <a:pt x="24" y="42"/>
                      </a:cubicBezTo>
                      <a:cubicBezTo>
                        <a:pt x="32" y="59"/>
                        <a:pt x="41" y="80"/>
                        <a:pt x="47" y="100"/>
                      </a:cubicBezTo>
                      <a:cubicBezTo>
                        <a:pt x="53" y="120"/>
                        <a:pt x="57" y="137"/>
                        <a:pt x="60" y="165"/>
                      </a:cubicBezTo>
                      <a:cubicBezTo>
                        <a:pt x="63" y="193"/>
                        <a:pt x="64" y="231"/>
                        <a:pt x="65" y="270"/>
                      </a:cubicBezTo>
                    </a:path>
                  </a:pathLst>
                </a:custGeom>
                <a:solidFill>
                  <a:srgbClr val="FF0000"/>
                </a:solidFill>
                <a:ln w="9525" cap="flat" cmpd="sng">
                  <a:solidFill>
                    <a:srgbClr val="FF0000">
                      <a:alpha val="100000"/>
                    </a:srgbClr>
                  </a:solidFill>
                  <a:prstDash val="solid"/>
                  <a:headEnd type="triangle" w="sm" len="lg"/>
                  <a:tailEnd type="triangle" w="sm" len="lg"/>
                </a:ln>
              </p:spPr>
              <p:txBody>
                <a:bodyPr/>
                <a:p>
                  <a:endParaRPr lang="zh-CN" altLang="en-US"/>
                </a:p>
              </p:txBody>
            </p:sp>
            <p:sp>
              <p:nvSpPr>
                <p:cNvPr id="442504" name="矩形 442503"/>
                <p:cNvSpPr/>
                <p:nvPr/>
              </p:nvSpPr>
              <p:spPr>
                <a:xfrm>
                  <a:off x="2182" y="2274"/>
                  <a:ext cx="264" cy="230"/>
                </a:xfrm>
                <a:prstGeom prst="rect">
                  <a:avLst/>
                </a:prstGeom>
                <a:solidFill>
                  <a:srgbClr val="FF0000"/>
                </a:solidFill>
                <a:ln w="12700">
                  <a:noFill/>
                </a:ln>
              </p:spPr>
              <p:txBody>
                <a:bodyPr wrap="none" lIns="0" tIns="0" rIns="0" bIns="0" anchor="t">
                  <a:spAutoFit/>
                </a:bodyPr>
                <a:p>
                  <a:r>
                    <a:rPr lang="en-US" altLang="zh-CN" sz="2400">
                      <a:latin typeface="Times New Roman" panose="02020603050405020304" pitchFamily="18" charset="0"/>
                      <a:ea typeface="隶书" panose="02010509060101010101" pitchFamily="49" charset="-122"/>
                    </a:rPr>
                    <a:t>α</a:t>
                  </a:r>
                  <a:r>
                    <a:rPr lang="en-US" altLang="zh-CN" sz="2400" baseline="-25000">
                      <a:latin typeface="Times New Roman" panose="02020603050405020304" pitchFamily="18" charset="0"/>
                      <a:ea typeface="隶书" panose="02010509060101010101" pitchFamily="49" charset="-122"/>
                    </a:rPr>
                    <a:t>n</a:t>
                  </a:r>
                  <a:endParaRPr lang="en-US" altLang="zh-CN" sz="2400" baseline="-25000">
                    <a:latin typeface="Times New Roman" panose="02020603050405020304" pitchFamily="18" charset="0"/>
                    <a:ea typeface="隶书" panose="02010509060101010101" pitchFamily="49" charset="-122"/>
                  </a:endParaRPr>
                </a:p>
              </p:txBody>
            </p:sp>
          </p:grpSp>
        </p:grpSp>
        <p:sp>
          <p:nvSpPr>
            <p:cNvPr id="442505" name="直接连接符 442504"/>
            <p:cNvSpPr/>
            <p:nvPr/>
          </p:nvSpPr>
          <p:spPr>
            <a:xfrm flipH="1" flipV="1">
              <a:off x="3160" y="3075"/>
              <a:ext cx="674" cy="336"/>
            </a:xfrm>
            <a:prstGeom prst="line">
              <a:avLst/>
            </a:prstGeom>
            <a:ln w="38100" cap="flat" cmpd="sng">
              <a:solidFill>
                <a:srgbClr val="FF0000"/>
              </a:solidFill>
              <a:prstDash val="solid"/>
              <a:headEnd type="none" w="med" len="med"/>
              <a:tailEnd type="none" w="sm" len="lg"/>
            </a:ln>
          </p:spPr>
        </p:sp>
      </p:grpSp>
      <p:grpSp>
        <p:nvGrpSpPr>
          <p:cNvPr id="442506" name="组合 442505"/>
          <p:cNvGrpSpPr/>
          <p:nvPr/>
        </p:nvGrpSpPr>
        <p:grpSpPr>
          <a:xfrm>
            <a:off x="2006600" y="2870200"/>
            <a:ext cx="1905000" cy="1752600"/>
            <a:chOff x="2738" y="725"/>
            <a:chExt cx="1200" cy="1104"/>
          </a:xfrm>
        </p:grpSpPr>
        <p:sp>
          <p:nvSpPr>
            <p:cNvPr id="442507" name="任意多边形 442506"/>
            <p:cNvSpPr/>
            <p:nvPr/>
          </p:nvSpPr>
          <p:spPr>
            <a:xfrm>
              <a:off x="2743" y="725"/>
              <a:ext cx="1195" cy="501"/>
            </a:xfrm>
            <a:custGeom>
              <a:avLst/>
              <a:gdLst/>
              <a:ahLst/>
              <a:cxnLst/>
              <a:pathLst>
                <a:path w="1195" h="501">
                  <a:moveTo>
                    <a:pt x="0" y="273"/>
                  </a:moveTo>
                  <a:lnTo>
                    <a:pt x="255" y="0"/>
                  </a:lnTo>
                  <a:lnTo>
                    <a:pt x="1195" y="213"/>
                  </a:lnTo>
                  <a:lnTo>
                    <a:pt x="948" y="501"/>
                  </a:lnTo>
                  <a:lnTo>
                    <a:pt x="0" y="273"/>
                  </a:lnTo>
                  <a:close/>
                </a:path>
              </a:pathLst>
            </a:custGeom>
            <a:noFill/>
            <a:ln w="19050" cap="flat" cmpd="sng">
              <a:solidFill>
                <a:srgbClr val="006600">
                  <a:alpha val="100000"/>
                </a:srgbClr>
              </a:solidFill>
              <a:prstDash val="lgDash"/>
              <a:headEnd type="none" w="med" len="med"/>
              <a:tailEnd type="none" w="med" len="med"/>
            </a:ln>
          </p:spPr>
          <p:txBody>
            <a:bodyPr/>
            <a:p>
              <a:endParaRPr lang="zh-CN" altLang="en-US"/>
            </a:p>
          </p:txBody>
        </p:sp>
        <p:sp>
          <p:nvSpPr>
            <p:cNvPr id="442508" name="直接连接符 442507"/>
            <p:cNvSpPr/>
            <p:nvPr/>
          </p:nvSpPr>
          <p:spPr>
            <a:xfrm>
              <a:off x="2998" y="725"/>
              <a:ext cx="691" cy="497"/>
            </a:xfrm>
            <a:prstGeom prst="line">
              <a:avLst/>
            </a:prstGeom>
            <a:ln w="19050" cap="flat" cmpd="sng">
              <a:solidFill>
                <a:srgbClr val="006600"/>
              </a:solidFill>
              <a:prstDash val="lgDash"/>
              <a:headEnd type="none" w="med" len="med"/>
              <a:tailEnd type="none" w="med" len="med"/>
            </a:ln>
          </p:spPr>
        </p:sp>
        <p:sp>
          <p:nvSpPr>
            <p:cNvPr id="442509" name="直接连接符 442508"/>
            <p:cNvSpPr/>
            <p:nvPr/>
          </p:nvSpPr>
          <p:spPr>
            <a:xfrm flipH="1" flipV="1">
              <a:off x="2993" y="1322"/>
              <a:ext cx="691" cy="504"/>
            </a:xfrm>
            <a:prstGeom prst="line">
              <a:avLst/>
            </a:prstGeom>
            <a:ln w="19050" cap="flat" cmpd="sng">
              <a:solidFill>
                <a:srgbClr val="006600"/>
              </a:solidFill>
              <a:prstDash val="lgDash"/>
              <a:headEnd type="none" w="med" len="med"/>
              <a:tailEnd type="none" w="sm" len="lg"/>
            </a:ln>
          </p:spPr>
        </p:sp>
        <p:sp>
          <p:nvSpPr>
            <p:cNvPr id="442510" name="直接连接符 442509"/>
            <p:cNvSpPr/>
            <p:nvPr/>
          </p:nvSpPr>
          <p:spPr>
            <a:xfrm>
              <a:off x="3936" y="934"/>
              <a:ext cx="0" cy="608"/>
            </a:xfrm>
            <a:prstGeom prst="line">
              <a:avLst/>
            </a:prstGeom>
            <a:ln w="19050" cap="flat" cmpd="sng">
              <a:solidFill>
                <a:srgbClr val="006600"/>
              </a:solidFill>
              <a:prstDash val="lgDash"/>
              <a:headEnd type="none" w="med" len="med"/>
              <a:tailEnd type="none" w="med" len="med"/>
            </a:ln>
          </p:spPr>
        </p:sp>
        <p:sp>
          <p:nvSpPr>
            <p:cNvPr id="442511" name="直接连接符 442510"/>
            <p:cNvSpPr/>
            <p:nvPr/>
          </p:nvSpPr>
          <p:spPr>
            <a:xfrm>
              <a:off x="2738" y="1598"/>
              <a:ext cx="956" cy="231"/>
            </a:xfrm>
            <a:prstGeom prst="line">
              <a:avLst/>
            </a:prstGeom>
            <a:ln w="19050" cap="flat" cmpd="sng">
              <a:solidFill>
                <a:srgbClr val="006600"/>
              </a:solidFill>
              <a:prstDash val="lgDash"/>
              <a:headEnd type="none" w="med" len="med"/>
              <a:tailEnd type="none" w="sm" len="lg"/>
            </a:ln>
          </p:spPr>
        </p:sp>
        <p:sp>
          <p:nvSpPr>
            <p:cNvPr id="442512" name="直接连接符 442511"/>
            <p:cNvSpPr/>
            <p:nvPr/>
          </p:nvSpPr>
          <p:spPr>
            <a:xfrm>
              <a:off x="3691" y="1224"/>
              <a:ext cx="0" cy="605"/>
            </a:xfrm>
            <a:prstGeom prst="line">
              <a:avLst/>
            </a:prstGeom>
            <a:ln w="19050" cap="flat" cmpd="sng">
              <a:solidFill>
                <a:srgbClr val="006600"/>
              </a:solidFill>
              <a:prstDash val="lgDash"/>
              <a:headEnd type="none" w="med" len="med"/>
              <a:tailEnd type="none" w="sm" len="lg"/>
            </a:ln>
          </p:spPr>
        </p:sp>
        <p:sp>
          <p:nvSpPr>
            <p:cNvPr id="442513" name="直接连接符 442512"/>
            <p:cNvSpPr/>
            <p:nvPr/>
          </p:nvSpPr>
          <p:spPr>
            <a:xfrm flipV="1">
              <a:off x="3691" y="1534"/>
              <a:ext cx="245" cy="295"/>
            </a:xfrm>
            <a:prstGeom prst="line">
              <a:avLst/>
            </a:prstGeom>
            <a:ln w="19050" cap="flat" cmpd="sng">
              <a:solidFill>
                <a:srgbClr val="006600"/>
              </a:solidFill>
              <a:prstDash val="lgDash"/>
              <a:headEnd type="none" w="med" len="med"/>
              <a:tailEnd type="none" w="sm" len="lg"/>
            </a:ln>
          </p:spPr>
        </p:sp>
        <p:sp>
          <p:nvSpPr>
            <p:cNvPr id="442514" name="直接连接符 442513"/>
            <p:cNvSpPr/>
            <p:nvPr/>
          </p:nvSpPr>
          <p:spPr>
            <a:xfrm>
              <a:off x="2741" y="996"/>
              <a:ext cx="0" cy="605"/>
            </a:xfrm>
            <a:prstGeom prst="line">
              <a:avLst/>
            </a:prstGeom>
            <a:ln w="19050" cap="flat" cmpd="sng">
              <a:solidFill>
                <a:srgbClr val="006600"/>
              </a:solidFill>
              <a:prstDash val="lgDash"/>
              <a:headEnd type="none" w="med" len="med"/>
              <a:tailEnd type="none" w="sm" len="lg"/>
            </a:ln>
          </p:spPr>
        </p:sp>
      </p:grpSp>
      <p:grpSp>
        <p:nvGrpSpPr>
          <p:cNvPr id="442515" name="组合 442514"/>
          <p:cNvGrpSpPr/>
          <p:nvPr/>
        </p:nvGrpSpPr>
        <p:grpSpPr>
          <a:xfrm>
            <a:off x="2212975" y="3189288"/>
            <a:ext cx="1447800" cy="722312"/>
            <a:chOff x="1394" y="2009"/>
            <a:chExt cx="912" cy="455"/>
          </a:xfrm>
        </p:grpSpPr>
        <p:grpSp>
          <p:nvGrpSpPr>
            <p:cNvPr id="442516" name="组合 442515"/>
            <p:cNvGrpSpPr/>
            <p:nvPr/>
          </p:nvGrpSpPr>
          <p:grpSpPr>
            <a:xfrm>
              <a:off x="2057" y="2009"/>
              <a:ext cx="249" cy="271"/>
              <a:chOff x="2355" y="1977"/>
              <a:chExt cx="249" cy="271"/>
            </a:xfrm>
          </p:grpSpPr>
          <p:sp>
            <p:nvSpPr>
              <p:cNvPr id="442517" name="椭圆 442516"/>
              <p:cNvSpPr/>
              <p:nvPr/>
            </p:nvSpPr>
            <p:spPr>
              <a:xfrm>
                <a:off x="2355" y="1994"/>
                <a:ext cx="249" cy="254"/>
              </a:xfrm>
              <a:prstGeom prst="ellipse">
                <a:avLst/>
              </a:prstGeom>
              <a:noFill/>
              <a:ln w="12700">
                <a:noFill/>
              </a:ln>
            </p:spPr>
            <p:txBody>
              <a:bodyPr/>
              <a:p>
                <a:endParaRPr lang="zh-CN" altLang="en-US"/>
              </a:p>
            </p:txBody>
          </p:sp>
          <p:sp>
            <p:nvSpPr>
              <p:cNvPr id="442518" name="文本框 442517"/>
              <p:cNvSpPr txBox="1"/>
              <p:nvPr/>
            </p:nvSpPr>
            <p:spPr>
              <a:xfrm>
                <a:off x="2371" y="1977"/>
                <a:ext cx="199" cy="230"/>
              </a:xfrm>
              <a:prstGeom prst="rect">
                <a:avLst/>
              </a:prstGeom>
              <a:noFill/>
              <a:ln w="9525">
                <a:noFill/>
              </a:ln>
            </p:spPr>
            <p:txBody>
              <a:bodyPr wrap="none" lIns="0" tIns="0" rIns="0" bIns="0">
                <a:spAutoFit/>
              </a:bodyPr>
              <a:p>
                <a:r>
                  <a:rPr lang="en-US" altLang="zh-CN" sz="2400" i="1">
                    <a:solidFill>
                      <a:schemeClr val="folHlink"/>
                    </a:solidFill>
                    <a:latin typeface="Times New Roman" panose="02020603050405020304" pitchFamily="18" charset="0"/>
                  </a:rPr>
                  <a:t>F</a:t>
                </a:r>
                <a:r>
                  <a:rPr lang="en-US" altLang="zh-CN" sz="2400" i="1" baseline="-25000">
                    <a:solidFill>
                      <a:schemeClr val="folHlink"/>
                    </a:solidFill>
                    <a:latin typeface="Times New Roman" panose="02020603050405020304" pitchFamily="18" charset="0"/>
                  </a:rPr>
                  <a:t>n</a:t>
                </a:r>
                <a:endParaRPr lang="en-US" altLang="zh-CN" i="1" baseline="-25000">
                  <a:solidFill>
                    <a:schemeClr val="folHlink"/>
                  </a:solidFill>
                  <a:latin typeface="Times New Roman" panose="02020603050405020304" pitchFamily="18" charset="0"/>
                  <a:ea typeface="华文中宋" panose="02010600040101010101" pitchFamily="2" charset="-122"/>
                </a:endParaRPr>
              </a:p>
            </p:txBody>
          </p:sp>
        </p:grpSp>
        <p:sp>
          <p:nvSpPr>
            <p:cNvPr id="442519" name="直接连接符 442518"/>
            <p:cNvSpPr/>
            <p:nvPr/>
          </p:nvSpPr>
          <p:spPr>
            <a:xfrm flipH="1">
              <a:off x="1510" y="2306"/>
              <a:ext cx="703" cy="98"/>
            </a:xfrm>
            <a:prstGeom prst="line">
              <a:avLst/>
            </a:prstGeom>
            <a:ln w="28575" cap="flat" cmpd="sng">
              <a:solidFill>
                <a:schemeClr val="folHlink"/>
              </a:solidFill>
              <a:prstDash val="solid"/>
              <a:headEnd type="none" w="med" len="med"/>
              <a:tailEnd type="triangle" w="sm" len="lg"/>
            </a:ln>
          </p:spPr>
        </p:sp>
        <p:sp>
          <p:nvSpPr>
            <p:cNvPr id="442520" name="文本框 442519"/>
            <p:cNvSpPr txBox="1"/>
            <p:nvPr/>
          </p:nvSpPr>
          <p:spPr>
            <a:xfrm>
              <a:off x="1394" y="2234"/>
              <a:ext cx="98" cy="230"/>
            </a:xfrm>
            <a:prstGeom prst="rect">
              <a:avLst/>
            </a:prstGeom>
            <a:noFill/>
            <a:ln w="9525">
              <a:noFill/>
            </a:ln>
          </p:spPr>
          <p:txBody>
            <a:bodyPr wrap="none" lIns="0" tIns="0" rIns="0" bIns="0">
              <a:spAutoFit/>
            </a:bodyPr>
            <a:p>
              <a:r>
                <a:rPr lang="en-US" altLang="zh-CN" sz="2400">
                  <a:solidFill>
                    <a:schemeClr val="folHlink"/>
                  </a:solidFill>
                  <a:latin typeface="隶书" panose="02010509060101010101" pitchFamily="49" charset="-122"/>
                </a:rPr>
                <a:t>c</a:t>
              </a:r>
              <a:endParaRPr lang="en-US" altLang="zh-CN" baseline="-25000">
                <a:solidFill>
                  <a:schemeClr val="folHlink"/>
                </a:solidFill>
                <a:latin typeface="Times New Roman" panose="02020603050405020304" pitchFamily="18" charset="0"/>
                <a:ea typeface="华文中宋" panose="02010600040101010101" pitchFamily="2" charset="-122"/>
              </a:endParaRPr>
            </a:p>
          </p:txBody>
        </p:sp>
      </p:grpSp>
      <p:sp>
        <p:nvSpPr>
          <p:cNvPr id="442521" name="矩形 442520"/>
          <p:cNvSpPr/>
          <p:nvPr/>
        </p:nvSpPr>
        <p:spPr>
          <a:xfrm>
            <a:off x="4183380" y="6485255"/>
            <a:ext cx="266700" cy="171450"/>
          </a:xfrm>
          <a:prstGeom prst="rect">
            <a:avLst/>
          </a:prstGeom>
          <a:noFill/>
          <a:ln w="28575">
            <a:noFill/>
          </a:ln>
        </p:spPr>
        <p:txBody>
          <a:bodyPr/>
          <a:p>
            <a:endParaRPr lang="zh-CN" altLang="en-US"/>
          </a:p>
        </p:txBody>
      </p:sp>
      <p:grpSp>
        <p:nvGrpSpPr>
          <p:cNvPr id="442522" name="组合 442521"/>
          <p:cNvGrpSpPr/>
          <p:nvPr/>
        </p:nvGrpSpPr>
        <p:grpSpPr>
          <a:xfrm>
            <a:off x="5472113" y="3052763"/>
            <a:ext cx="1352550" cy="1525587"/>
            <a:chOff x="3447" y="1923"/>
            <a:chExt cx="852" cy="961"/>
          </a:xfrm>
        </p:grpSpPr>
        <p:sp>
          <p:nvSpPr>
            <p:cNvPr id="442523" name="任意多边形 442522"/>
            <p:cNvSpPr/>
            <p:nvPr/>
          </p:nvSpPr>
          <p:spPr>
            <a:xfrm rot="1245740">
              <a:off x="3889" y="1991"/>
              <a:ext cx="248" cy="429"/>
            </a:xfrm>
            <a:custGeom>
              <a:avLst/>
              <a:gdLst/>
              <a:ahLst/>
              <a:cxnLst/>
              <a:pathLst>
                <a:path w="384" h="1121">
                  <a:moveTo>
                    <a:pt x="0" y="0"/>
                  </a:moveTo>
                  <a:lnTo>
                    <a:pt x="108" y="0"/>
                  </a:lnTo>
                  <a:lnTo>
                    <a:pt x="128" y="43"/>
                  </a:lnTo>
                  <a:lnTo>
                    <a:pt x="159" y="118"/>
                  </a:lnTo>
                  <a:lnTo>
                    <a:pt x="190" y="192"/>
                  </a:lnTo>
                  <a:lnTo>
                    <a:pt x="216" y="269"/>
                  </a:lnTo>
                  <a:lnTo>
                    <a:pt x="243" y="365"/>
                  </a:lnTo>
                  <a:lnTo>
                    <a:pt x="255" y="415"/>
                  </a:lnTo>
                  <a:lnTo>
                    <a:pt x="276" y="530"/>
                  </a:lnTo>
                  <a:lnTo>
                    <a:pt x="293" y="650"/>
                  </a:lnTo>
                  <a:lnTo>
                    <a:pt x="303" y="778"/>
                  </a:lnTo>
                  <a:lnTo>
                    <a:pt x="298" y="876"/>
                  </a:lnTo>
                  <a:lnTo>
                    <a:pt x="296" y="943"/>
                  </a:lnTo>
                  <a:lnTo>
                    <a:pt x="293" y="979"/>
                  </a:lnTo>
                  <a:lnTo>
                    <a:pt x="288" y="1006"/>
                  </a:lnTo>
                  <a:lnTo>
                    <a:pt x="291" y="1037"/>
                  </a:lnTo>
                  <a:lnTo>
                    <a:pt x="305" y="1066"/>
                  </a:lnTo>
                  <a:lnTo>
                    <a:pt x="322" y="1090"/>
                  </a:lnTo>
                  <a:lnTo>
                    <a:pt x="384" y="1121"/>
                  </a:lnTo>
                </a:path>
              </a:pathLst>
            </a:custGeom>
            <a:noFill/>
            <a:ln w="28575" cap="flat" cmpd="sng">
              <a:solidFill>
                <a:srgbClr val="002060">
                  <a:alpha val="100000"/>
                </a:srgbClr>
              </a:solidFill>
              <a:prstDash val="solid"/>
              <a:headEnd type="none" w="med" len="med"/>
              <a:tailEnd type="none" w="sm" len="lg"/>
            </a:ln>
          </p:spPr>
          <p:txBody>
            <a:bodyPr/>
            <a:p>
              <a:endParaRPr lang="zh-CN" altLang="en-US">
                <a:solidFill>
                  <a:srgbClr val="002060"/>
                </a:solidFill>
              </a:endParaRPr>
            </a:p>
          </p:txBody>
        </p:sp>
        <p:sp>
          <p:nvSpPr>
            <p:cNvPr id="442524" name="任意多边形 442523"/>
            <p:cNvSpPr/>
            <p:nvPr/>
          </p:nvSpPr>
          <p:spPr>
            <a:xfrm>
              <a:off x="3447" y="2049"/>
              <a:ext cx="852" cy="835"/>
            </a:xfrm>
            <a:custGeom>
              <a:avLst/>
              <a:gdLst>
                <a:gd name="txL" fmla="*/ 0 w 22327"/>
                <a:gd name="txT" fmla="*/ 0 h 21600"/>
                <a:gd name="txR" fmla="*/ 22327 w 22327"/>
                <a:gd name="txB" fmla="*/ 21600 h 21600"/>
              </a:gdLst>
              <a:ahLst/>
              <a:cxnLst>
                <a:cxn ang="180">
                  <a:pos x="0" y="659"/>
                </a:cxn>
                <a:cxn ang="0">
                  <a:pos x="22326" y="8311"/>
                </a:cxn>
                <a:cxn ang="90">
                  <a:pos x="5298" y="21600"/>
                </a:cxn>
              </a:cxnLst>
              <a:rect l="txL" t="txT" r="txR" b="txB"/>
              <a:pathLst>
                <a:path w="22327" h="21600" fill="none">
                  <a:moveTo>
                    <a:pt x="0" y="659"/>
                  </a:moveTo>
                  <a:arcTo wR="21600" hR="21600" stAng="-6251863" swAng="3973711"/>
                </a:path>
                <a:path w="22327" h="21600" stroke="0">
                  <a:moveTo>
                    <a:pt x="0" y="659"/>
                  </a:moveTo>
                  <a:arcTo wR="21600" hR="21600" stAng="-6251863" swAng="3973711"/>
                  <a:lnTo>
                    <a:pt x="5298" y="21600"/>
                  </a:lnTo>
                  <a:close/>
                </a:path>
              </a:pathLst>
            </a:custGeom>
            <a:noFill/>
            <a:ln w="12700" cap="flat" cmpd="sng">
              <a:solidFill>
                <a:srgbClr val="002060"/>
              </a:solidFill>
              <a:prstDash val="lgDashDot"/>
              <a:headEnd type="none" w="med" len="med"/>
              <a:tailEnd type="none" w="sm" len="lg"/>
            </a:ln>
          </p:spPr>
          <p:txBody>
            <a:bodyPr/>
            <a:p>
              <a:endParaRPr lang="zh-CN" altLang="en-US">
                <a:solidFill>
                  <a:srgbClr val="002060"/>
                </a:solidFill>
              </a:endParaRPr>
            </a:p>
          </p:txBody>
        </p:sp>
        <p:sp>
          <p:nvSpPr>
            <p:cNvPr id="442525" name="任意多边形 442524"/>
            <p:cNvSpPr/>
            <p:nvPr/>
          </p:nvSpPr>
          <p:spPr>
            <a:xfrm rot="1385426" flipH="1">
              <a:off x="3721" y="1923"/>
              <a:ext cx="248" cy="429"/>
            </a:xfrm>
            <a:custGeom>
              <a:avLst/>
              <a:gdLst/>
              <a:ahLst/>
              <a:cxnLst/>
              <a:pathLst>
                <a:path w="384" h="1121">
                  <a:moveTo>
                    <a:pt x="0" y="0"/>
                  </a:moveTo>
                  <a:lnTo>
                    <a:pt x="108" y="0"/>
                  </a:lnTo>
                  <a:lnTo>
                    <a:pt x="128" y="43"/>
                  </a:lnTo>
                  <a:lnTo>
                    <a:pt x="159" y="118"/>
                  </a:lnTo>
                  <a:lnTo>
                    <a:pt x="190" y="192"/>
                  </a:lnTo>
                  <a:lnTo>
                    <a:pt x="216" y="269"/>
                  </a:lnTo>
                  <a:lnTo>
                    <a:pt x="243" y="365"/>
                  </a:lnTo>
                  <a:lnTo>
                    <a:pt x="255" y="415"/>
                  </a:lnTo>
                  <a:lnTo>
                    <a:pt x="276" y="530"/>
                  </a:lnTo>
                  <a:lnTo>
                    <a:pt x="293" y="650"/>
                  </a:lnTo>
                  <a:lnTo>
                    <a:pt x="303" y="778"/>
                  </a:lnTo>
                  <a:lnTo>
                    <a:pt x="298" y="876"/>
                  </a:lnTo>
                  <a:lnTo>
                    <a:pt x="296" y="943"/>
                  </a:lnTo>
                  <a:lnTo>
                    <a:pt x="293" y="979"/>
                  </a:lnTo>
                  <a:lnTo>
                    <a:pt x="288" y="1006"/>
                  </a:lnTo>
                  <a:lnTo>
                    <a:pt x="291" y="1037"/>
                  </a:lnTo>
                  <a:lnTo>
                    <a:pt x="305" y="1066"/>
                  </a:lnTo>
                  <a:lnTo>
                    <a:pt x="322" y="1090"/>
                  </a:lnTo>
                  <a:lnTo>
                    <a:pt x="384" y="1121"/>
                  </a:lnTo>
                </a:path>
              </a:pathLst>
            </a:custGeom>
            <a:noFill/>
            <a:ln w="28575" cap="flat" cmpd="sng">
              <a:solidFill>
                <a:srgbClr val="002060">
                  <a:alpha val="100000"/>
                </a:srgbClr>
              </a:solidFill>
              <a:prstDash val="solid"/>
              <a:headEnd type="none" w="med" len="med"/>
              <a:tailEnd type="none" w="sm" len="lg"/>
            </a:ln>
          </p:spPr>
          <p:txBody>
            <a:bodyPr/>
            <a:p>
              <a:endParaRPr lang="zh-CN" altLang="en-US">
                <a:solidFill>
                  <a:srgbClr val="002060"/>
                </a:solidFill>
              </a:endParaRPr>
            </a:p>
          </p:txBody>
        </p:sp>
        <p:grpSp>
          <p:nvGrpSpPr>
            <p:cNvPr id="442526" name="组合 442525"/>
            <p:cNvGrpSpPr/>
            <p:nvPr/>
          </p:nvGrpSpPr>
          <p:grpSpPr>
            <a:xfrm>
              <a:off x="3693" y="1984"/>
              <a:ext cx="375" cy="442"/>
              <a:chOff x="3693" y="1984"/>
              <a:chExt cx="375" cy="442"/>
            </a:xfrm>
          </p:grpSpPr>
          <p:sp>
            <p:nvSpPr>
              <p:cNvPr id="442527" name="直接连接符 442526"/>
              <p:cNvSpPr/>
              <p:nvPr/>
            </p:nvSpPr>
            <p:spPr>
              <a:xfrm flipV="1">
                <a:off x="3781" y="1984"/>
                <a:ext cx="243" cy="158"/>
              </a:xfrm>
              <a:prstGeom prst="line">
                <a:avLst/>
              </a:prstGeom>
              <a:ln w="12700" cap="flat" cmpd="sng">
                <a:solidFill>
                  <a:srgbClr val="002060"/>
                </a:solidFill>
                <a:prstDash val="solid"/>
                <a:headEnd type="none" w="med" len="med"/>
                <a:tailEnd type="none" w="sm" len="lg"/>
              </a:ln>
            </p:spPr>
          </p:sp>
          <p:sp>
            <p:nvSpPr>
              <p:cNvPr id="442528" name="直接连接符 442527"/>
              <p:cNvSpPr/>
              <p:nvPr/>
            </p:nvSpPr>
            <p:spPr>
              <a:xfrm flipV="1">
                <a:off x="3735" y="2031"/>
                <a:ext cx="314" cy="204"/>
              </a:xfrm>
              <a:prstGeom prst="line">
                <a:avLst/>
              </a:prstGeom>
              <a:ln w="12700" cap="flat" cmpd="sng">
                <a:solidFill>
                  <a:srgbClr val="002060"/>
                </a:solidFill>
                <a:prstDash val="solid"/>
                <a:headEnd type="none" w="med" len="med"/>
                <a:tailEnd type="none" w="sm" len="lg"/>
              </a:ln>
            </p:spPr>
          </p:sp>
          <p:sp>
            <p:nvSpPr>
              <p:cNvPr id="442529" name="直接连接符 442528"/>
              <p:cNvSpPr/>
              <p:nvPr/>
            </p:nvSpPr>
            <p:spPr>
              <a:xfrm flipV="1">
                <a:off x="3693" y="2089"/>
                <a:ext cx="366" cy="238"/>
              </a:xfrm>
              <a:prstGeom prst="line">
                <a:avLst/>
              </a:prstGeom>
              <a:ln w="12700" cap="flat" cmpd="sng">
                <a:solidFill>
                  <a:srgbClr val="002060"/>
                </a:solidFill>
                <a:prstDash val="solid"/>
                <a:headEnd type="none" w="med" len="med"/>
                <a:tailEnd type="none" w="sm" len="lg"/>
              </a:ln>
            </p:spPr>
          </p:sp>
          <p:sp>
            <p:nvSpPr>
              <p:cNvPr id="442530" name="直接连接符 442529"/>
              <p:cNvSpPr/>
              <p:nvPr/>
            </p:nvSpPr>
            <p:spPr>
              <a:xfrm flipV="1">
                <a:off x="3743" y="2149"/>
                <a:ext cx="325" cy="211"/>
              </a:xfrm>
              <a:prstGeom prst="line">
                <a:avLst/>
              </a:prstGeom>
              <a:ln w="12700" cap="flat" cmpd="sng">
                <a:solidFill>
                  <a:srgbClr val="002060"/>
                </a:solidFill>
                <a:prstDash val="solid"/>
                <a:headEnd type="none" w="med" len="med"/>
                <a:tailEnd type="none" w="sm" len="lg"/>
              </a:ln>
            </p:spPr>
          </p:sp>
          <p:sp>
            <p:nvSpPr>
              <p:cNvPr id="442531" name="直接连接符 442530"/>
              <p:cNvSpPr/>
              <p:nvPr/>
            </p:nvSpPr>
            <p:spPr>
              <a:xfrm flipV="1">
                <a:off x="3792" y="2215"/>
                <a:ext cx="275" cy="179"/>
              </a:xfrm>
              <a:prstGeom prst="line">
                <a:avLst/>
              </a:prstGeom>
              <a:ln w="12700" cap="flat" cmpd="sng">
                <a:solidFill>
                  <a:srgbClr val="002060"/>
                </a:solidFill>
                <a:prstDash val="solid"/>
                <a:headEnd type="none" w="med" len="med"/>
                <a:tailEnd type="none" w="sm" len="lg"/>
              </a:ln>
            </p:spPr>
          </p:sp>
          <p:sp>
            <p:nvSpPr>
              <p:cNvPr id="442532" name="直接连接符 442531"/>
              <p:cNvSpPr/>
              <p:nvPr/>
            </p:nvSpPr>
            <p:spPr>
              <a:xfrm flipV="1">
                <a:off x="3859" y="2281"/>
                <a:ext cx="197" cy="128"/>
              </a:xfrm>
              <a:prstGeom prst="line">
                <a:avLst/>
              </a:prstGeom>
              <a:ln w="12700" cap="flat" cmpd="sng">
                <a:solidFill>
                  <a:srgbClr val="002060"/>
                </a:solidFill>
                <a:prstDash val="solid"/>
                <a:headEnd type="none" w="med" len="med"/>
                <a:tailEnd type="none" w="sm" len="lg"/>
              </a:ln>
            </p:spPr>
          </p:sp>
          <p:sp>
            <p:nvSpPr>
              <p:cNvPr id="442533" name="直接连接符 442532"/>
              <p:cNvSpPr/>
              <p:nvPr/>
            </p:nvSpPr>
            <p:spPr>
              <a:xfrm flipV="1">
                <a:off x="3928" y="2364"/>
                <a:ext cx="96" cy="62"/>
              </a:xfrm>
              <a:prstGeom prst="line">
                <a:avLst/>
              </a:prstGeom>
              <a:ln w="12700" cap="flat" cmpd="sng">
                <a:solidFill>
                  <a:srgbClr val="002060"/>
                </a:solidFill>
                <a:prstDash val="solid"/>
                <a:headEnd type="none" w="med" len="med"/>
                <a:tailEnd type="none" w="sm" len="lg"/>
              </a:ln>
            </p:spPr>
          </p:sp>
        </p:grpSp>
      </p:grpSp>
      <p:grpSp>
        <p:nvGrpSpPr>
          <p:cNvPr id="442534" name="组合 442533"/>
          <p:cNvGrpSpPr/>
          <p:nvPr/>
        </p:nvGrpSpPr>
        <p:grpSpPr>
          <a:xfrm>
            <a:off x="1749425" y="3771900"/>
            <a:ext cx="4292600" cy="2255838"/>
            <a:chOff x="1102" y="2376"/>
            <a:chExt cx="2704" cy="1421"/>
          </a:xfrm>
        </p:grpSpPr>
        <p:grpSp>
          <p:nvGrpSpPr>
            <p:cNvPr id="442535" name="组合 442534"/>
            <p:cNvGrpSpPr/>
            <p:nvPr/>
          </p:nvGrpSpPr>
          <p:grpSpPr>
            <a:xfrm>
              <a:off x="1102" y="2376"/>
              <a:ext cx="419" cy="302"/>
              <a:chOff x="1102" y="2376"/>
              <a:chExt cx="419" cy="302"/>
            </a:xfrm>
          </p:grpSpPr>
          <p:sp>
            <p:nvSpPr>
              <p:cNvPr id="442536" name="直接连接符 442535"/>
              <p:cNvSpPr/>
              <p:nvPr/>
            </p:nvSpPr>
            <p:spPr>
              <a:xfrm flipV="1">
                <a:off x="1264" y="2403"/>
                <a:ext cx="257" cy="275"/>
              </a:xfrm>
              <a:prstGeom prst="line">
                <a:avLst/>
              </a:prstGeom>
              <a:ln w="28575" cap="flat" cmpd="sng">
                <a:solidFill>
                  <a:srgbClr val="FF0000"/>
                </a:solidFill>
                <a:prstDash val="solid"/>
                <a:headEnd type="none" w="med" len="med"/>
                <a:tailEnd type="triangle" w="sm" len="lg"/>
              </a:ln>
            </p:spPr>
          </p:sp>
          <p:grpSp>
            <p:nvGrpSpPr>
              <p:cNvPr id="442537" name="组合 442536"/>
              <p:cNvGrpSpPr/>
              <p:nvPr/>
            </p:nvGrpSpPr>
            <p:grpSpPr>
              <a:xfrm>
                <a:off x="1102" y="2376"/>
                <a:ext cx="249" cy="271"/>
                <a:chOff x="1700" y="2502"/>
                <a:chExt cx="249" cy="271"/>
              </a:xfrm>
            </p:grpSpPr>
            <p:sp>
              <p:nvSpPr>
                <p:cNvPr id="442538" name="椭圆 442537"/>
                <p:cNvSpPr/>
                <p:nvPr/>
              </p:nvSpPr>
              <p:spPr>
                <a:xfrm>
                  <a:off x="1700" y="2519"/>
                  <a:ext cx="249" cy="254"/>
                </a:xfrm>
                <a:prstGeom prst="ellipse">
                  <a:avLst/>
                </a:prstGeom>
                <a:solidFill>
                  <a:srgbClr val="99CCFF"/>
                </a:solidFill>
                <a:ln w="12700">
                  <a:noFill/>
                </a:ln>
              </p:spPr>
              <p:txBody>
                <a:bodyPr/>
                <a:p>
                  <a:endParaRPr lang="zh-CN" altLang="en-US"/>
                </a:p>
              </p:txBody>
            </p:sp>
            <p:sp>
              <p:nvSpPr>
                <p:cNvPr id="442539" name="文本框 442538"/>
                <p:cNvSpPr txBox="1"/>
                <p:nvPr/>
              </p:nvSpPr>
              <p:spPr>
                <a:xfrm>
                  <a:off x="1719" y="2502"/>
                  <a:ext cx="192" cy="230"/>
                </a:xfrm>
                <a:prstGeom prst="rect">
                  <a:avLst/>
                </a:prstGeom>
                <a:noFill/>
                <a:ln w="9525">
                  <a:noFill/>
                </a:ln>
              </p:spPr>
              <p:txBody>
                <a:bodyPr wrap="none" lIns="0" tIns="0" rIns="0" bIns="0">
                  <a:spAutoFit/>
                </a:bodyPr>
                <a:p>
                  <a:r>
                    <a:rPr lang="en-US" altLang="zh-CN" sz="2400" i="1" err="1">
                      <a:solidFill>
                        <a:schemeClr val="folHlink"/>
                      </a:solidFill>
                      <a:latin typeface="Times New Roman" panose="02020603050405020304" pitchFamily="18" charset="0"/>
                    </a:rPr>
                    <a:t>F</a:t>
                  </a:r>
                  <a:r>
                    <a:rPr lang="en-US" altLang="zh-CN" sz="2400" i="1" baseline="-25000" err="1">
                      <a:solidFill>
                        <a:schemeClr val="folHlink"/>
                      </a:solidFill>
                      <a:latin typeface="Times New Roman" panose="02020603050405020304" pitchFamily="18" charset="0"/>
                    </a:rPr>
                    <a:t>a</a:t>
                  </a:r>
                  <a:endParaRPr lang="en-US" altLang="zh-CN" i="1" baseline="-25000">
                    <a:solidFill>
                      <a:schemeClr val="folHlink"/>
                    </a:solidFill>
                    <a:latin typeface="Times New Roman" panose="02020603050405020304" pitchFamily="18" charset="0"/>
                    <a:ea typeface="华文中宋" panose="02010600040101010101" pitchFamily="2" charset="-122"/>
                  </a:endParaRPr>
                </a:p>
              </p:txBody>
            </p:sp>
          </p:grpSp>
        </p:grpSp>
        <p:grpSp>
          <p:nvGrpSpPr>
            <p:cNvPr id="442540" name="组合 442539"/>
            <p:cNvGrpSpPr/>
            <p:nvPr/>
          </p:nvGrpSpPr>
          <p:grpSpPr>
            <a:xfrm>
              <a:off x="3554" y="3245"/>
              <a:ext cx="252" cy="552"/>
              <a:chOff x="3866" y="3251"/>
              <a:chExt cx="252" cy="552"/>
            </a:xfrm>
          </p:grpSpPr>
          <p:sp>
            <p:nvSpPr>
              <p:cNvPr id="442541" name="直接连接符 442540"/>
              <p:cNvSpPr/>
              <p:nvPr/>
            </p:nvSpPr>
            <p:spPr>
              <a:xfrm flipV="1">
                <a:off x="3866" y="3251"/>
                <a:ext cx="0" cy="552"/>
              </a:xfrm>
              <a:prstGeom prst="line">
                <a:avLst/>
              </a:prstGeom>
              <a:ln w="28575" cap="flat" cmpd="sng">
                <a:solidFill>
                  <a:srgbClr val="FF0000"/>
                </a:solidFill>
                <a:prstDash val="solid"/>
                <a:headEnd type="none" w="med" len="med"/>
                <a:tailEnd type="triangle" w="sm" len="lg"/>
              </a:ln>
            </p:spPr>
          </p:sp>
          <p:grpSp>
            <p:nvGrpSpPr>
              <p:cNvPr id="442542" name="组合 442541"/>
              <p:cNvGrpSpPr/>
              <p:nvPr/>
            </p:nvGrpSpPr>
            <p:grpSpPr>
              <a:xfrm>
                <a:off x="3869" y="3443"/>
                <a:ext cx="249" cy="271"/>
                <a:chOff x="4786" y="1140"/>
                <a:chExt cx="249" cy="271"/>
              </a:xfrm>
            </p:grpSpPr>
            <p:sp>
              <p:nvSpPr>
                <p:cNvPr id="442543" name="椭圆 442542"/>
                <p:cNvSpPr/>
                <p:nvPr/>
              </p:nvSpPr>
              <p:spPr>
                <a:xfrm>
                  <a:off x="4786" y="1157"/>
                  <a:ext cx="249" cy="254"/>
                </a:xfrm>
                <a:prstGeom prst="ellipse">
                  <a:avLst/>
                </a:prstGeom>
                <a:noFill/>
                <a:ln w="12700">
                  <a:noFill/>
                </a:ln>
              </p:spPr>
              <p:txBody>
                <a:bodyPr/>
                <a:p>
                  <a:endParaRPr lang="zh-CN" altLang="en-US"/>
                </a:p>
              </p:txBody>
            </p:sp>
            <p:sp>
              <p:nvSpPr>
                <p:cNvPr id="442544" name="文本框 442543"/>
                <p:cNvSpPr txBox="1"/>
                <p:nvPr/>
              </p:nvSpPr>
              <p:spPr>
                <a:xfrm>
                  <a:off x="4805" y="1140"/>
                  <a:ext cx="192" cy="230"/>
                </a:xfrm>
                <a:prstGeom prst="rect">
                  <a:avLst/>
                </a:prstGeom>
                <a:noFill/>
                <a:ln w="9525">
                  <a:noFill/>
                </a:ln>
              </p:spPr>
              <p:txBody>
                <a:bodyPr wrap="none" lIns="0" tIns="0" rIns="0" bIns="0">
                  <a:spAutoFit/>
                </a:bodyPr>
                <a:p>
                  <a:r>
                    <a:rPr lang="en-US" altLang="zh-CN" sz="2400" i="1" err="1">
                      <a:solidFill>
                        <a:srgbClr val="FF0000"/>
                      </a:solidFill>
                      <a:latin typeface="Times New Roman" panose="02020603050405020304" pitchFamily="18" charset="0"/>
                    </a:rPr>
                    <a:t>F</a:t>
                  </a:r>
                  <a:r>
                    <a:rPr lang="en-US" altLang="zh-CN" sz="2400" i="1" baseline="-25000" err="1">
                      <a:solidFill>
                        <a:srgbClr val="FF0000"/>
                      </a:solidFill>
                      <a:latin typeface="Times New Roman" panose="02020603050405020304" pitchFamily="18" charset="0"/>
                    </a:rPr>
                    <a:t>a</a:t>
                  </a:r>
                  <a:endParaRPr lang="en-US" altLang="zh-CN" i="1" baseline="-25000">
                    <a:solidFill>
                      <a:srgbClr val="FF0000"/>
                    </a:solidFill>
                    <a:latin typeface="Times New Roman" panose="02020603050405020304" pitchFamily="18" charset="0"/>
                    <a:ea typeface="华文中宋" panose="02010600040101010101" pitchFamily="2" charset="-122"/>
                  </a:endParaRPr>
                </a:p>
              </p:txBody>
            </p:sp>
          </p:grpSp>
        </p:grpSp>
      </p:grpSp>
      <p:sp>
        <p:nvSpPr>
          <p:cNvPr id="6159" name="直接连接符 6"/>
          <p:cNvSpPr>
            <a:spLocks noChangeShapeType="1"/>
          </p:cNvSpPr>
          <p:nvPr/>
        </p:nvSpPr>
        <p:spPr bwMode="auto">
          <a:xfrm>
            <a:off x="0" y="77388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711200" y="215900"/>
            <a:ext cx="843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7594" name="Text Box 10"/>
          <p:cNvSpPr txBox="1">
            <a:spLocks noChangeArrowheads="1"/>
          </p:cNvSpPr>
          <p:nvPr/>
        </p:nvSpPr>
        <p:spPr bwMode="auto">
          <a:xfrm>
            <a:off x="175260" y="859155"/>
            <a:ext cx="42341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00FF"/>
                </a:solidFill>
                <a:latin typeface="黑体" panose="02010609060101010101" pitchFamily="49" charset="-122"/>
                <a:ea typeface="黑体" panose="02010609060101010101" pitchFamily="49" charset="-122"/>
              </a:rPr>
              <a:t>3</a:t>
            </a:r>
            <a:r>
              <a:rPr lang="zh-CN" altLang="en-US" sz="2200" dirty="0">
                <a:solidFill>
                  <a:srgbClr val="0000FF"/>
                </a:solidFill>
                <a:latin typeface="黑体" panose="02010609060101010101" pitchFamily="49" charset="-122"/>
                <a:ea typeface="黑体" panose="02010609060101010101" pitchFamily="49" charset="-122"/>
              </a:rPr>
              <a:t>、斜齿圆柱齿轮传动的受力分析</a:t>
            </a:r>
            <a:endParaRPr lang="zh-CN" altLang="en-US" sz="2200" dirty="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594"/>
                                        </p:tgtEl>
                                        <p:attrNameLst>
                                          <p:attrName>style.visibility</p:attrName>
                                        </p:attrNameLst>
                                      </p:cBhvr>
                                      <p:to>
                                        <p:strVal val="visible"/>
                                      </p:to>
                                    </p:set>
                                    <p:animEffect transition="in" filter="wipe(left)">
                                      <p:cBhvr>
                                        <p:cTn id="7" dur="500"/>
                                        <p:tgtEl>
                                          <p:spTgt spid="6759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42370"/>
                                        </p:tgtEl>
                                        <p:attrNameLst>
                                          <p:attrName>style.visibility</p:attrName>
                                        </p:attrNameLst>
                                      </p:cBhvr>
                                      <p:to>
                                        <p:strVal val="visible"/>
                                      </p:to>
                                    </p:set>
                                    <p:animEffect transition="in" filter="dissolve">
                                      <p:cBhvr>
                                        <p:cTn id="12" dur="500"/>
                                        <p:tgtEl>
                                          <p:spTgt spid="44237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4424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4424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4425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grpId="0" nodeType="clickEffect">
                                  <p:stCondLst>
                                    <p:cond delay="0"/>
                                  </p:stCondLst>
                                  <p:childTnLst>
                                    <p:set>
                                      <p:cBhvr>
                                        <p:cTn id="28" dur="1" fill="hold">
                                          <p:stCondLst>
                                            <p:cond delay="0"/>
                                          </p:stCondLst>
                                        </p:cTn>
                                        <p:tgtEl>
                                          <p:spTgt spid="442456"/>
                                        </p:tgtEl>
                                        <p:attrNameLst>
                                          <p:attrName>style.visibility</p:attrName>
                                        </p:attrNameLst>
                                      </p:cBhvr>
                                      <p:to>
                                        <p:strVal val="visible"/>
                                      </p:to>
                                    </p:set>
                                    <p:animEffect transition="in" filter="slide(fromTop)">
                                      <p:cBhvr>
                                        <p:cTn id="29" dur="500"/>
                                        <p:tgtEl>
                                          <p:spTgt spid="44245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44245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44246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44245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44253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44245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44245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499"/>
                                          </p:stCondLst>
                                        </p:cTn>
                                        <p:tgtEl>
                                          <p:spTgt spid="44250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499"/>
                                          </p:stCondLst>
                                        </p:cTn>
                                        <p:tgtEl>
                                          <p:spTgt spid="44245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499"/>
                                          </p:stCondLst>
                                        </p:cTn>
                                        <p:tgtEl>
                                          <p:spTgt spid="44241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499"/>
                                          </p:stCondLst>
                                        </p:cTn>
                                        <p:tgtEl>
                                          <p:spTgt spid="44243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499"/>
                                          </p:stCondLst>
                                        </p:cTn>
                                        <p:tgtEl>
                                          <p:spTgt spid="44245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499"/>
                                          </p:stCondLst>
                                        </p:cTn>
                                        <p:tgtEl>
                                          <p:spTgt spid="442476"/>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499"/>
                                          </p:stCondLst>
                                        </p:cTn>
                                        <p:tgtEl>
                                          <p:spTgt spid="44247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499"/>
                                          </p:stCondLst>
                                        </p:cTn>
                                        <p:tgtEl>
                                          <p:spTgt spid="442499"/>
                                        </p:tgtEl>
                                        <p:attrNameLst>
                                          <p:attrName>style.visibility</p:attrName>
                                        </p:attrNameLst>
                                      </p:cBhvr>
                                      <p:to>
                                        <p:strVal val="visible"/>
                                      </p:to>
                                    </p:set>
                                  </p:childTnLst>
                                  <p:subTnLst>
                                    <p:set>
                                      <p:cBhvr override="childStyle">
                                        <p:cTn dur="1" fill="hold" display="0" masterRel="nextClick" afterEffect="1"/>
                                        <p:tgtEl>
                                          <p:spTgt spid="442499"/>
                                        </p:tgtEl>
                                        <p:attrNameLst>
                                          <p:attrName>style.visibility</p:attrName>
                                        </p:attrNameLst>
                                      </p:cBhvr>
                                      <p:to>
                                        <p:strVal val="hidden"/>
                                      </p:to>
                                    </p:set>
                                  </p:sub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499"/>
                                          </p:stCondLst>
                                        </p:cTn>
                                        <p:tgtEl>
                                          <p:spTgt spid="442521"/>
                                        </p:tgtEl>
                                        <p:attrNameLst>
                                          <p:attrName>style.visibility</p:attrName>
                                        </p:attrNameLst>
                                      </p:cBhvr>
                                      <p:to>
                                        <p:strVal val="visible"/>
                                      </p:to>
                                    </p:set>
                                  </p:childTnLst>
                                </p:cTn>
                              </p:par>
                            </p:childTnLst>
                          </p:cTn>
                        </p:par>
                        <p:par>
                          <p:cTn id="90" fill="hold">
                            <p:stCondLst>
                              <p:cond delay="500"/>
                            </p:stCondLst>
                            <p:childTnLst>
                              <p:par>
                                <p:cTn id="91" presetID="1" presetClass="entr" presetSubtype="0" fill="hold" grpId="0" nodeType="afterEffect">
                                  <p:stCondLst>
                                    <p:cond delay="0"/>
                                  </p:stCondLst>
                                  <p:childTnLst>
                                    <p:set>
                                      <p:cBhvr>
                                        <p:cTn id="92" dur="1" fill="hold">
                                          <p:stCondLst>
                                            <p:cond delay="499"/>
                                          </p:stCondLst>
                                        </p:cTn>
                                        <p:tgtEl>
                                          <p:spTgt spid="44247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499"/>
                                          </p:stCondLst>
                                        </p:cTn>
                                        <p:tgtEl>
                                          <p:spTgt spid="44252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499"/>
                                          </p:stCondLst>
                                        </p:cTn>
                                        <p:tgtEl>
                                          <p:spTgt spid="44248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499"/>
                                          </p:stCondLst>
                                        </p:cTn>
                                        <p:tgtEl>
                                          <p:spTgt spid="44247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499"/>
                                          </p:stCondLst>
                                        </p:cTn>
                                        <p:tgtEl>
                                          <p:spTgt spid="44247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499"/>
                                          </p:stCondLst>
                                        </p:cTn>
                                        <p:tgtEl>
                                          <p:spTgt spid="442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453" grpId="0"/>
      <p:bldP spid="442454" grpId="0"/>
      <p:bldP spid="442455" grpId="0"/>
      <p:bldP spid="442456" grpId="0"/>
      <p:bldP spid="442474" grpId="0"/>
      <p:bldP spid="442475" grpId="0"/>
      <p:bldP spid="442476" grpId="0"/>
      <p:bldP spid="442477" grpId="0"/>
      <p:bldP spid="6759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Text Box 6"/>
          <p:cNvSpPr txBox="1">
            <a:spLocks noGrp="1" noChangeArrowheads="1"/>
          </p:cNvSpPr>
          <p:nvPr>
            <p:ph type="title"/>
          </p:nvPr>
        </p:nvSpPr>
        <p:spPr bwMode="auto">
          <a:xfrm>
            <a:off x="5181600" y="858838"/>
            <a:ext cx="2257425" cy="285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黑体" panose="02010609060101010101" pitchFamily="49" charset="-122"/>
                <a:ea typeface="黑体" panose="02010609060101010101" pitchFamily="49" charset="-122"/>
              </a:rPr>
              <a:t>标准斜齿圆柱齿轮强度计算</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pic>
        <p:nvPicPr>
          <p:cNvPr id="67592" name="Picture 8" descr="NEXT">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3" name="Picture 9" descr="rewind">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3275" y="65579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4" name="Text Box 10"/>
          <p:cNvSpPr txBox="1">
            <a:spLocks noChangeArrowheads="1"/>
          </p:cNvSpPr>
          <p:nvPr/>
        </p:nvSpPr>
        <p:spPr bwMode="auto">
          <a:xfrm>
            <a:off x="443865" y="859155"/>
            <a:ext cx="40944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00FF"/>
                </a:solidFill>
                <a:latin typeface="黑体" panose="02010609060101010101" pitchFamily="49" charset="-122"/>
                <a:ea typeface="黑体" panose="02010609060101010101" pitchFamily="49" charset="-122"/>
              </a:rPr>
              <a:t>斜齿圆柱齿轮传动的轮齿受力：</a:t>
            </a:r>
            <a:endParaRPr lang="zh-CN" altLang="en-US" sz="2200" dirty="0">
              <a:solidFill>
                <a:srgbClr val="0000FF"/>
              </a:solidFill>
              <a:latin typeface="黑体" panose="02010609060101010101" pitchFamily="49" charset="-122"/>
              <a:ea typeface="黑体" panose="02010609060101010101" pitchFamily="49" charset="-122"/>
            </a:endParaRPr>
          </a:p>
        </p:txBody>
      </p:sp>
      <p:graphicFrame>
        <p:nvGraphicFramePr>
          <p:cNvPr id="67598" name="Object 14"/>
          <p:cNvGraphicFramePr>
            <a:graphicFrameLocks noChangeAspect="1"/>
          </p:cNvGraphicFramePr>
          <p:nvPr/>
        </p:nvGraphicFramePr>
        <p:xfrm>
          <a:off x="711359" y="1353027"/>
          <a:ext cx="1941830" cy="817245"/>
        </p:xfrm>
        <a:graphic>
          <a:graphicData uri="http://schemas.openxmlformats.org/presentationml/2006/ole">
            <mc:AlternateContent xmlns:mc="http://schemas.openxmlformats.org/markup-compatibility/2006">
              <mc:Choice xmlns:v="urn:schemas-microsoft-com:vml" Requires="v">
                <p:oleObj spid="_x0000_s25884" name="Equation" r:id="rId3" imgW="965200" imgH="431800" progId="Equation.3">
                  <p:embed/>
                </p:oleObj>
              </mc:Choice>
              <mc:Fallback>
                <p:oleObj name="Equation" r:id="rId3" imgW="965200" imgH="431800" progId="Equation.3">
                  <p:embed/>
                  <p:pic>
                    <p:nvPicPr>
                      <p:cNvPr id="0" name="图片 25756"/>
                      <p:cNvPicPr>
                        <a:picLocks noChangeAspect="1" noChangeArrowheads="1"/>
                      </p:cNvPicPr>
                      <p:nvPr/>
                    </p:nvPicPr>
                    <p:blipFill>
                      <a:blip r:embed="rId4"/>
                      <a:srcRect/>
                      <a:stretch>
                        <a:fillRect/>
                      </a:stretch>
                    </p:blipFill>
                    <p:spPr bwMode="auto">
                      <a:xfrm>
                        <a:off x="711359" y="1353027"/>
                        <a:ext cx="1941830" cy="817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09" name="Object 25"/>
          <p:cNvGraphicFramePr>
            <a:graphicFrameLocks noChangeAspect="1"/>
          </p:cNvGraphicFramePr>
          <p:nvPr/>
        </p:nvGraphicFramePr>
        <p:xfrm>
          <a:off x="574993" y="2115661"/>
          <a:ext cx="4137660" cy="816610"/>
        </p:xfrm>
        <a:graphic>
          <a:graphicData uri="http://schemas.openxmlformats.org/presentationml/2006/ole">
            <mc:AlternateContent xmlns:mc="http://schemas.openxmlformats.org/markup-compatibility/2006">
              <mc:Choice xmlns:v="urn:schemas-microsoft-com:vml" Requires="v">
                <p:oleObj spid="_x0000_s25886" name="Equation" r:id="rId5" imgW="2057400" imgH="431800" progId="Equation.3">
                  <p:embed/>
                </p:oleObj>
              </mc:Choice>
              <mc:Fallback>
                <p:oleObj name="Equation" r:id="rId5" imgW="2057400" imgH="431800" progId="Equation.3">
                  <p:embed/>
                  <p:pic>
                    <p:nvPicPr>
                      <p:cNvPr id="0" name="图片 25758"/>
                      <p:cNvPicPr>
                        <a:picLocks noChangeAspect="1" noChangeArrowheads="1"/>
                      </p:cNvPicPr>
                      <p:nvPr/>
                    </p:nvPicPr>
                    <p:blipFill>
                      <a:blip r:embed="rId6"/>
                      <a:srcRect/>
                      <a:stretch>
                        <a:fillRect/>
                      </a:stretch>
                    </p:blipFill>
                    <p:spPr bwMode="auto">
                      <a:xfrm>
                        <a:off x="574993" y="2115661"/>
                        <a:ext cx="4137660" cy="816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0" name="Object 26"/>
          <p:cNvGraphicFramePr>
            <a:graphicFrameLocks noChangeAspect="1"/>
          </p:cNvGraphicFramePr>
          <p:nvPr/>
        </p:nvGraphicFramePr>
        <p:xfrm>
          <a:off x="607060" y="3020536"/>
          <a:ext cx="3931285" cy="816610"/>
        </p:xfrm>
        <a:graphic>
          <a:graphicData uri="http://schemas.openxmlformats.org/presentationml/2006/ole">
            <mc:AlternateContent xmlns:mc="http://schemas.openxmlformats.org/markup-compatibility/2006">
              <mc:Choice xmlns:v="urn:schemas-microsoft-com:vml" Requires="v">
                <p:oleObj spid="_x0000_s25887" name="Equation" r:id="rId7" imgW="1955800" imgH="431800" progId="Equation.3">
                  <p:embed/>
                </p:oleObj>
              </mc:Choice>
              <mc:Fallback>
                <p:oleObj name="Equation" r:id="rId7" imgW="1955800" imgH="431800" progId="Equation.3">
                  <p:embed/>
                  <p:pic>
                    <p:nvPicPr>
                      <p:cNvPr id="0" name="图片 25759"/>
                      <p:cNvPicPr>
                        <a:picLocks noChangeAspect="1" noChangeArrowheads="1"/>
                      </p:cNvPicPr>
                      <p:nvPr/>
                    </p:nvPicPr>
                    <p:blipFill>
                      <a:blip r:embed="rId8"/>
                      <a:srcRect/>
                      <a:stretch>
                        <a:fillRect/>
                      </a:stretch>
                    </p:blipFill>
                    <p:spPr bwMode="auto">
                      <a:xfrm>
                        <a:off x="607060" y="3020536"/>
                        <a:ext cx="3931285" cy="816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2" name="Text Box 18"/>
          <p:cNvSpPr txBox="1">
            <a:spLocks noChangeArrowheads="1"/>
          </p:cNvSpPr>
          <p:nvPr/>
        </p:nvSpPr>
        <p:spPr bwMode="auto">
          <a:xfrm>
            <a:off x="480695" y="5008880"/>
            <a:ext cx="5449570" cy="1420495"/>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solidFill>
                  <a:srgbClr val="000099"/>
                </a:solidFill>
              </a:rPr>
              <a:t>　　</a:t>
            </a:r>
            <a:r>
              <a:rPr lang="zh-CN" altLang="en-US" sz="2400" dirty="0">
                <a:solidFill>
                  <a:srgbClr val="000099"/>
                </a:solidFill>
              </a:rPr>
              <a:t>由于</a:t>
            </a:r>
            <a:r>
              <a:rPr lang="en-US" altLang="zh-CN" sz="2400" i="1" dirty="0" err="1">
                <a:solidFill>
                  <a:srgbClr val="000099"/>
                </a:solidFill>
              </a:rPr>
              <a:t>F</a:t>
            </a:r>
            <a:r>
              <a:rPr lang="en-US" altLang="zh-CN" sz="2400" dirty="0" err="1">
                <a:solidFill>
                  <a:srgbClr val="000099"/>
                </a:solidFill>
              </a:rPr>
              <a:t>a∝tan</a:t>
            </a:r>
            <a:r>
              <a:rPr lang="en-US" altLang="zh-CN" sz="2400" dirty="0" err="1">
                <a:solidFill>
                  <a:srgbClr val="000099"/>
                </a:solidFill>
                <a:latin typeface="Symbol" panose="05050102010706020507" pitchFamily="18" charset="2"/>
              </a:rPr>
              <a:t>b</a:t>
            </a:r>
            <a:r>
              <a:rPr lang="zh-CN" altLang="en-US" sz="2400" dirty="0">
                <a:solidFill>
                  <a:srgbClr val="000099"/>
                </a:solidFill>
              </a:rPr>
              <a:t>，为了不使轴承承受的轴向力过大，螺旋角</a:t>
            </a:r>
            <a:r>
              <a:rPr lang="en-US" altLang="zh-CN" sz="2400" dirty="0">
                <a:solidFill>
                  <a:srgbClr val="000099"/>
                </a:solidFill>
                <a:latin typeface="Symbol" panose="05050102010706020507" pitchFamily="18" charset="2"/>
              </a:rPr>
              <a:t>b</a:t>
            </a:r>
            <a:r>
              <a:rPr lang="zh-CN" altLang="en-US" sz="2400" dirty="0">
                <a:solidFill>
                  <a:srgbClr val="000099"/>
                </a:solidFill>
              </a:rPr>
              <a:t>不宜选得过大，常在</a:t>
            </a:r>
            <a:r>
              <a:rPr lang="en-US" altLang="zh-CN" sz="2400" dirty="0">
                <a:solidFill>
                  <a:srgbClr val="FF0000"/>
                </a:solidFill>
                <a:latin typeface="Symbol" panose="05050102010706020507" pitchFamily="18" charset="2"/>
              </a:rPr>
              <a:t>b</a:t>
            </a:r>
            <a:r>
              <a:rPr lang="en-US" altLang="zh-CN" sz="2400" dirty="0">
                <a:solidFill>
                  <a:srgbClr val="FF0000"/>
                </a:solidFill>
              </a:rPr>
              <a:t>=8</a:t>
            </a:r>
            <a:r>
              <a:rPr lang="en-US" altLang="zh-CN" sz="2400" dirty="0">
                <a:solidFill>
                  <a:srgbClr val="FF0000"/>
                </a:solidFill>
                <a:ea typeface="宋体" panose="02010600030101010101" pitchFamily="2" charset="-122"/>
                <a:cs typeface="Times New Roman" panose="02020603050405020304" pitchFamily="18" charset="0"/>
              </a:rPr>
              <a:t>º</a:t>
            </a:r>
            <a:r>
              <a:rPr lang="zh-CN" altLang="en-US" sz="2400" dirty="0">
                <a:solidFill>
                  <a:srgbClr val="FF0000"/>
                </a:solidFill>
                <a:ea typeface="宋体" panose="02010600030101010101" pitchFamily="2" charset="-122"/>
              </a:rPr>
              <a:t>～</a:t>
            </a:r>
            <a:r>
              <a:rPr lang="en-US" altLang="zh-CN" sz="2400" dirty="0">
                <a:solidFill>
                  <a:srgbClr val="FF0000"/>
                </a:solidFill>
                <a:ea typeface="宋体" panose="02010600030101010101" pitchFamily="2" charset="-122"/>
              </a:rPr>
              <a:t>20º</a:t>
            </a:r>
            <a:r>
              <a:rPr lang="zh-CN" altLang="en-US" sz="2400" dirty="0">
                <a:solidFill>
                  <a:srgbClr val="000099"/>
                </a:solidFill>
              </a:rPr>
              <a:t>之间选择。</a:t>
            </a:r>
            <a:endParaRPr lang="zh-CN" altLang="en-US" sz="2400" dirty="0">
              <a:solidFill>
                <a:srgbClr val="000099"/>
              </a:solidFill>
            </a:endParaRPr>
          </a:p>
        </p:txBody>
      </p:sp>
      <p:pic>
        <p:nvPicPr>
          <p:cNvPr id="7182" name="Picture 1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19983" y="837372"/>
            <a:ext cx="3241675"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9" name="直接连接符 6"/>
          <p:cNvSpPr>
            <a:spLocks noChangeShapeType="1"/>
          </p:cNvSpPr>
          <p:nvPr/>
        </p:nvSpPr>
        <p:spPr bwMode="auto">
          <a:xfrm>
            <a:off x="0" y="77388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711200" y="215900"/>
            <a:ext cx="843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传动的强度</a:t>
            </a:r>
            <a:r>
              <a:rPr lang="zh-CN" altLang="en-US" sz="3000" dirty="0">
                <a:solidFill>
                  <a:srgbClr val="CC3300"/>
                </a:solidFill>
                <a:latin typeface="黑体" panose="02010609060101010101" pitchFamily="49" charset="-122"/>
                <a:ea typeface="黑体" panose="02010609060101010101" pitchFamily="49" charset="-122"/>
              </a:rPr>
              <a:t>计算</a:t>
            </a:r>
            <a:endParaRPr lang="zh-CN" altLang="en-US" sz="3000" dirty="0">
              <a:solidFill>
                <a:srgbClr val="CC3300"/>
              </a:solidFill>
              <a:latin typeface="黑体" panose="02010609060101010101" pitchFamily="49" charset="-122"/>
              <a:ea typeface="黑体" panose="02010609060101010101" pitchFamily="49" charset="-122"/>
            </a:endParaRPr>
          </a:p>
        </p:txBody>
      </p:sp>
      <p:graphicFrame>
        <p:nvGraphicFramePr>
          <p:cNvPr id="2" name="Object 26"/>
          <p:cNvGraphicFramePr>
            <a:graphicFrameLocks noChangeAspect="1"/>
          </p:cNvGraphicFramePr>
          <p:nvPr/>
        </p:nvGraphicFramePr>
        <p:xfrm>
          <a:off x="480695" y="3837146"/>
          <a:ext cx="4340225" cy="816610"/>
        </p:xfrm>
        <a:graphic>
          <a:graphicData uri="http://schemas.openxmlformats.org/presentationml/2006/ole">
            <mc:AlternateContent xmlns:mc="http://schemas.openxmlformats.org/markup-compatibility/2006">
              <mc:Choice xmlns:v="urn:schemas-microsoft-com:vml" Requires="v">
                <p:oleObj spid="_x0000_s3" name="Equation" r:id="rId10" imgW="2159000" imgH="431800" progId="Equation.3">
                  <p:embed/>
                </p:oleObj>
              </mc:Choice>
              <mc:Fallback>
                <p:oleObj name="Equation" r:id="rId10" imgW="2159000" imgH="431800" progId="Equation.3">
                  <p:embed/>
                  <p:pic>
                    <p:nvPicPr>
                      <p:cNvPr id="0" name="图片 25759"/>
                      <p:cNvPicPr>
                        <a:picLocks noChangeAspect="1" noChangeArrowheads="1"/>
                      </p:cNvPicPr>
                      <p:nvPr/>
                    </p:nvPicPr>
                    <p:blipFill>
                      <a:blip r:embed="rId11"/>
                      <a:srcRect/>
                      <a:stretch>
                        <a:fillRect/>
                      </a:stretch>
                    </p:blipFill>
                    <p:spPr bwMode="auto">
                      <a:xfrm>
                        <a:off x="480695" y="3837146"/>
                        <a:ext cx="4340225" cy="816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文本框 3"/>
          <p:cNvSpPr txBox="1"/>
          <p:nvPr/>
        </p:nvSpPr>
        <p:spPr>
          <a:xfrm>
            <a:off x="5142230" y="3241040"/>
            <a:ext cx="1280795" cy="398780"/>
          </a:xfrm>
          <a:prstGeom prst="rect">
            <a:avLst/>
          </a:prstGeom>
          <a:noFill/>
        </p:spPr>
        <p:txBody>
          <a:bodyPr wrap="square" rtlCol="0">
            <a:spAutoFit/>
          </a:bodyPr>
          <a:p>
            <a:r>
              <a:rPr lang="zh-CN" altLang="en-US">
                <a:solidFill>
                  <a:srgbClr val="C00000"/>
                </a:solidFill>
              </a:rPr>
              <a:t>（</a:t>
            </a:r>
            <a:r>
              <a:rPr lang="en-US" altLang="zh-CN">
                <a:solidFill>
                  <a:srgbClr val="C00000"/>
                </a:solidFill>
              </a:rPr>
              <a:t>3.4-2</a:t>
            </a:r>
            <a:r>
              <a:rPr lang="zh-CN" altLang="en-US">
                <a:solidFill>
                  <a:srgbClr val="C00000"/>
                </a:solidFill>
              </a:rPr>
              <a:t>）</a:t>
            </a:r>
            <a:endParaRPr lang="zh-CN" altLang="en-US">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594"/>
                                        </p:tgtEl>
                                        <p:attrNameLst>
                                          <p:attrName>style.visibility</p:attrName>
                                        </p:attrNameLst>
                                      </p:cBhvr>
                                      <p:to>
                                        <p:strVal val="visible"/>
                                      </p:to>
                                    </p:set>
                                    <p:animEffect transition="in" filter="wipe(left)">
                                      <p:cBhvr>
                                        <p:cTn id="7" dur="500"/>
                                        <p:tgtEl>
                                          <p:spTgt spid="6759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18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67598"/>
                                        </p:tgtEl>
                                        <p:attrNameLst>
                                          <p:attrName>style.visibility</p:attrName>
                                        </p:attrNameLst>
                                      </p:cBhvr>
                                      <p:to>
                                        <p:strVal val="visible"/>
                                      </p:to>
                                    </p:set>
                                    <p:animEffect transition="in" filter="slide(fromBottom)">
                                      <p:cBhvr>
                                        <p:cTn id="16" dur="500"/>
                                        <p:tgtEl>
                                          <p:spTgt spid="6759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67609"/>
                                        </p:tgtEl>
                                        <p:attrNameLst>
                                          <p:attrName>style.visibility</p:attrName>
                                        </p:attrNameLst>
                                      </p:cBhvr>
                                      <p:to>
                                        <p:strVal val="visible"/>
                                      </p:to>
                                    </p:set>
                                    <p:animEffect transition="in" filter="slide(fromBottom)">
                                      <p:cBhvr>
                                        <p:cTn id="21" dur="500"/>
                                        <p:tgtEl>
                                          <p:spTgt spid="67609"/>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67610"/>
                                        </p:tgtEl>
                                        <p:attrNameLst>
                                          <p:attrName>style.visibility</p:attrName>
                                        </p:attrNameLst>
                                      </p:cBhvr>
                                      <p:to>
                                        <p:strVal val="visible"/>
                                      </p:to>
                                    </p:set>
                                    <p:animEffect transition="in" filter="slide(fromBottom)">
                                      <p:cBhvr>
                                        <p:cTn id="26" dur="500"/>
                                        <p:tgtEl>
                                          <p:spTgt spid="67610"/>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499"/>
                                          </p:stCondLst>
                                        </p:cTn>
                                        <p:tgtEl>
                                          <p:spTgt spid="6759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slide(fromBottom)">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7602"/>
                                        </p:tgtEl>
                                        <p:attrNameLst>
                                          <p:attrName>style.visibility</p:attrName>
                                        </p:attrNameLst>
                                      </p:cBhvr>
                                      <p:to>
                                        <p:strVal val="visible"/>
                                      </p:to>
                                    </p:set>
                                    <p:animEffect transition="in" filter="wipe(left)">
                                      <p:cBhvr>
                                        <p:cTn id="39" dur="500"/>
                                        <p:tgtEl>
                                          <p:spTgt spid="67602"/>
                                        </p:tgtEl>
                                      </p:cBhvr>
                                    </p:animEffect>
                                  </p:childTnLst>
                                </p:cTn>
                              </p:par>
                            </p:childTnLst>
                          </p:cTn>
                        </p:par>
                        <p:par>
                          <p:cTn id="40" fill="hold">
                            <p:stCondLst>
                              <p:cond delay="500"/>
                            </p:stCondLst>
                            <p:childTnLst>
                              <p:par>
                                <p:cTn id="41" presetID="2" presetClass="entr" presetSubtype="8" fill="hold" nodeType="afterEffect">
                                  <p:stCondLst>
                                    <p:cond delay="0"/>
                                  </p:stCondLst>
                                  <p:childTnLst>
                                    <p:set>
                                      <p:cBhvr>
                                        <p:cTn id="42" dur="1" fill="hold">
                                          <p:stCondLst>
                                            <p:cond delay="0"/>
                                          </p:stCondLst>
                                        </p:cTn>
                                        <p:tgtEl>
                                          <p:spTgt spid="67593"/>
                                        </p:tgtEl>
                                        <p:attrNameLst>
                                          <p:attrName>style.visibility</p:attrName>
                                        </p:attrNameLst>
                                      </p:cBhvr>
                                      <p:to>
                                        <p:strVal val="visible"/>
                                      </p:to>
                                    </p:set>
                                    <p:anim calcmode="lin" valueType="num">
                                      <p:cBhvr additive="base">
                                        <p:cTn id="43" dur="500" fill="hold"/>
                                        <p:tgtEl>
                                          <p:spTgt spid="67593"/>
                                        </p:tgtEl>
                                        <p:attrNameLst>
                                          <p:attrName>ppt_x</p:attrName>
                                        </p:attrNameLst>
                                      </p:cBhvr>
                                      <p:tavLst>
                                        <p:tav tm="0">
                                          <p:val>
                                            <p:strVal val="0-#ppt_w/2"/>
                                          </p:val>
                                        </p:tav>
                                        <p:tav tm="100000">
                                          <p:val>
                                            <p:strVal val="#ppt_x"/>
                                          </p:val>
                                        </p:tav>
                                      </p:tavLst>
                                    </p:anim>
                                    <p:anim calcmode="lin" valueType="num">
                                      <p:cBhvr additive="base">
                                        <p:cTn id="44" dur="500" fill="hold"/>
                                        <p:tgtEl>
                                          <p:spTgt spid="675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4" grpId="0" autoUpdateAnimBg="0"/>
      <p:bldP spid="67602"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ext Box 5"/>
          <p:cNvSpPr txBox="1">
            <a:spLocks noChangeArrowheads="1"/>
          </p:cNvSpPr>
          <p:nvPr/>
        </p:nvSpPr>
        <p:spPr bwMode="auto">
          <a:xfrm>
            <a:off x="0" y="171450"/>
            <a:ext cx="86217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200" dirty="0" smtClean="0">
                <a:solidFill>
                  <a:srgbClr val="CC3300"/>
                </a:solidFill>
                <a:latin typeface="黑体" panose="02010609060101010101" pitchFamily="49" charset="-122"/>
                <a:ea typeface="黑体" panose="02010609060101010101" pitchFamily="49" charset="-122"/>
              </a:rPr>
              <a:t>       3.4-4 </a:t>
            </a:r>
            <a:r>
              <a:rPr lang="zh-CN" altLang="en-US" sz="3000" dirty="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152" name="Text Box 6"/>
          <p:cNvSpPr txBox="1">
            <a:spLocks noGrp="1" noChangeArrowheads="1"/>
          </p:cNvSpPr>
          <p:nvPr>
            <p:ph type="title"/>
          </p:nvPr>
        </p:nvSpPr>
        <p:spPr bwMode="auto">
          <a:xfrm>
            <a:off x="5181600" y="858838"/>
            <a:ext cx="2257425" cy="285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黑体" panose="02010609060101010101" pitchFamily="49" charset="-122"/>
                <a:ea typeface="黑体" panose="02010609060101010101" pitchFamily="49" charset="-122"/>
              </a:rPr>
              <a:t>标准斜齿圆柱齿轮强度计算</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7181" name="矩形 14"/>
          <p:cNvSpPr>
            <a:spLocks noChangeArrowheads="1"/>
          </p:cNvSpPr>
          <p:nvPr/>
        </p:nvSpPr>
        <p:spPr bwMode="auto">
          <a:xfrm>
            <a:off x="269784" y="1011966"/>
            <a:ext cx="4911635"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sz="2200" dirty="0">
                <a:solidFill>
                  <a:srgbClr val="000099"/>
                </a:solidFill>
              </a:rPr>
              <a:t>        </a:t>
            </a:r>
            <a:r>
              <a:rPr lang="zh-CN" altLang="en-US" sz="2200" dirty="0">
                <a:solidFill>
                  <a:srgbClr val="000099"/>
                </a:solidFill>
                <a:latin typeface="黑体" panose="02010609060101010101" pitchFamily="49" charset="-122"/>
                <a:ea typeface="黑体" panose="02010609060101010101" pitchFamily="49" charset="-122"/>
              </a:rPr>
              <a:t>圆周力和径向力的方向判断方法与直齿轮圆周力和径向力的方向判断方法相同</a:t>
            </a:r>
            <a:r>
              <a:rPr lang="zh-CN" altLang="en-US" sz="2200" dirty="0" smtClean="0">
                <a:solidFill>
                  <a:srgbClr val="000099"/>
                </a:solidFill>
                <a:latin typeface="黑体" panose="02010609060101010101" pitchFamily="49" charset="-122"/>
                <a:ea typeface="黑体" panose="02010609060101010101" pitchFamily="49" charset="-122"/>
              </a:rPr>
              <a:t>；</a:t>
            </a:r>
            <a:endParaRPr lang="en-US" altLang="zh-CN" sz="2200" dirty="0" smtClean="0">
              <a:solidFill>
                <a:srgbClr val="000099"/>
              </a:solidFill>
              <a:latin typeface="黑体" panose="02010609060101010101" pitchFamily="49" charset="-122"/>
              <a:ea typeface="黑体" panose="02010609060101010101" pitchFamily="49" charset="-122"/>
            </a:endParaRPr>
          </a:p>
        </p:txBody>
      </p:sp>
      <p:pic>
        <p:nvPicPr>
          <p:cNvPr id="7182" name="Picture 1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93914" y="752748"/>
            <a:ext cx="2884154" cy="4341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373380" y="2363494"/>
            <a:ext cx="4572000" cy="769441"/>
          </a:xfrm>
          <a:prstGeom prst="rect">
            <a:avLst/>
          </a:prstGeom>
        </p:spPr>
        <p:txBody>
          <a:bodyPr>
            <a:spAutoFit/>
          </a:bodyPr>
          <a:lstStyle/>
          <a:p>
            <a:r>
              <a:rPr lang="en-US" altLang="zh-CN" dirty="0">
                <a:solidFill>
                  <a:srgbClr val="000099"/>
                </a:solidFill>
              </a:rPr>
              <a:t> </a:t>
            </a:r>
            <a:r>
              <a:rPr lang="zh-CN" altLang="en-US" sz="2200" dirty="0">
                <a:solidFill>
                  <a:srgbClr val="FF0000"/>
                </a:solidFill>
                <a:latin typeface="黑体" panose="02010609060101010101" pitchFamily="49" charset="-122"/>
                <a:ea typeface="黑体" panose="02010609060101010101" pitchFamily="49" charset="-122"/>
              </a:rPr>
              <a:t>主动轮</a:t>
            </a:r>
            <a:r>
              <a:rPr lang="zh-CN" altLang="en-US" sz="2200" dirty="0">
                <a:solidFill>
                  <a:srgbClr val="000099"/>
                </a:solidFill>
                <a:latin typeface="黑体" panose="02010609060101010101" pitchFamily="49" charset="-122"/>
                <a:ea typeface="黑体" panose="02010609060101010101" pitchFamily="49" charset="-122"/>
              </a:rPr>
              <a:t>轴向力</a:t>
            </a:r>
            <a:r>
              <a:rPr lang="en-US" altLang="zh-CN" sz="2200" i="1" dirty="0" err="1">
                <a:solidFill>
                  <a:srgbClr val="000099"/>
                </a:solidFill>
                <a:latin typeface="黑体" panose="02010609060101010101" pitchFamily="49" charset="-122"/>
                <a:ea typeface="黑体" panose="02010609060101010101" pitchFamily="49" charset="-122"/>
              </a:rPr>
              <a:t>F</a:t>
            </a:r>
            <a:r>
              <a:rPr lang="en-US" altLang="zh-CN" sz="2200" baseline="-25000" dirty="0" err="1">
                <a:solidFill>
                  <a:srgbClr val="000099"/>
                </a:solidFill>
                <a:latin typeface="黑体" panose="02010609060101010101" pitchFamily="49" charset="-122"/>
                <a:ea typeface="黑体" panose="02010609060101010101" pitchFamily="49" charset="-122"/>
              </a:rPr>
              <a:t>a</a:t>
            </a:r>
            <a:r>
              <a:rPr lang="zh-CN" altLang="en-US" sz="2200" dirty="0">
                <a:solidFill>
                  <a:srgbClr val="000099"/>
                </a:solidFill>
                <a:latin typeface="黑体" panose="02010609060101010101" pitchFamily="49" charset="-122"/>
                <a:ea typeface="黑体" panose="02010609060101010101" pitchFamily="49" charset="-122"/>
              </a:rPr>
              <a:t>的方向可按照左、右手定则判断。</a:t>
            </a:r>
            <a:endParaRPr lang="zh-CN" altLang="en-US" sz="2200" dirty="0">
              <a:latin typeface="黑体" panose="02010609060101010101" pitchFamily="49" charset="-122"/>
              <a:ea typeface="黑体" panose="02010609060101010101" pitchFamily="49" charset="-122"/>
            </a:endParaRPr>
          </a:p>
        </p:txBody>
      </p:sp>
      <p:grpSp>
        <p:nvGrpSpPr>
          <p:cNvPr id="6" name="组合 5"/>
          <p:cNvGrpSpPr/>
          <p:nvPr/>
        </p:nvGrpSpPr>
        <p:grpSpPr>
          <a:xfrm>
            <a:off x="525145" y="3684270"/>
            <a:ext cx="3750310" cy="1250950"/>
            <a:chOff x="827" y="5812"/>
            <a:chExt cx="5906" cy="1970"/>
          </a:xfrm>
        </p:grpSpPr>
        <p:sp>
          <p:nvSpPr>
            <p:cNvPr id="24" name="Line 6"/>
            <p:cNvSpPr>
              <a:spLocks noChangeShapeType="1"/>
            </p:cNvSpPr>
            <p:nvPr/>
          </p:nvSpPr>
          <p:spPr bwMode="auto">
            <a:xfrm>
              <a:off x="827" y="6797"/>
              <a:ext cx="5907" cy="2"/>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Rectangle 8"/>
            <p:cNvSpPr>
              <a:spLocks noChangeArrowheads="1"/>
            </p:cNvSpPr>
            <p:nvPr/>
          </p:nvSpPr>
          <p:spPr bwMode="auto">
            <a:xfrm>
              <a:off x="3148" y="5812"/>
              <a:ext cx="855" cy="1971"/>
            </a:xfrm>
            <a:prstGeom prst="rect">
              <a:avLst/>
            </a:prstGeom>
            <a:noFill/>
            <a:ln w="28575" cmpd="sng">
              <a:solidFill>
                <a:srgbClr val="00B05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grpSp>
      <p:grpSp>
        <p:nvGrpSpPr>
          <p:cNvPr id="3" name="组合 2"/>
          <p:cNvGrpSpPr/>
          <p:nvPr/>
        </p:nvGrpSpPr>
        <p:grpSpPr>
          <a:xfrm>
            <a:off x="525145" y="4923155"/>
            <a:ext cx="3750310" cy="887730"/>
            <a:chOff x="793" y="7783"/>
            <a:chExt cx="5906" cy="1398"/>
          </a:xfrm>
        </p:grpSpPr>
        <p:sp>
          <p:nvSpPr>
            <p:cNvPr id="25" name="Line 7"/>
            <p:cNvSpPr>
              <a:spLocks noChangeShapeType="1"/>
            </p:cNvSpPr>
            <p:nvPr/>
          </p:nvSpPr>
          <p:spPr bwMode="auto">
            <a:xfrm>
              <a:off x="793" y="8450"/>
              <a:ext cx="5907" cy="2"/>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Rectangle 9"/>
            <p:cNvSpPr>
              <a:spLocks noChangeArrowheads="1"/>
            </p:cNvSpPr>
            <p:nvPr/>
          </p:nvSpPr>
          <p:spPr bwMode="auto">
            <a:xfrm>
              <a:off x="2795" y="7783"/>
              <a:ext cx="1545" cy="1399"/>
            </a:xfrm>
            <a:prstGeom prst="rect">
              <a:avLst/>
            </a:prstGeom>
            <a:noFill/>
            <a:ln w="28575" cmpd="sng">
              <a:solidFill>
                <a:srgbClr val="0000FF"/>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grpSp>
      <p:sp>
        <p:nvSpPr>
          <p:cNvPr id="28" name="Line 10"/>
          <p:cNvSpPr>
            <a:spLocks noChangeShapeType="1"/>
          </p:cNvSpPr>
          <p:nvPr/>
        </p:nvSpPr>
        <p:spPr bwMode="auto">
          <a:xfrm>
            <a:off x="3820160" y="3974465"/>
            <a:ext cx="1270" cy="727075"/>
          </a:xfrm>
          <a:prstGeom prst="line">
            <a:avLst/>
          </a:prstGeom>
          <a:noFill/>
          <a:ln w="28575" cmpd="sng">
            <a:solidFill>
              <a:srgbClr val="FF0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Line 11"/>
          <p:cNvSpPr>
            <a:spLocks noChangeShapeType="1"/>
          </p:cNvSpPr>
          <p:nvPr/>
        </p:nvSpPr>
        <p:spPr bwMode="auto">
          <a:xfrm flipV="1">
            <a:off x="3841115" y="4982845"/>
            <a:ext cx="1270" cy="727075"/>
          </a:xfrm>
          <a:prstGeom prst="line">
            <a:avLst/>
          </a:prstGeom>
          <a:noFill/>
          <a:ln w="28575" cmpd="sng">
            <a:solidFill>
              <a:srgbClr val="FF33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 name="Line 12"/>
          <p:cNvSpPr>
            <a:spLocks noChangeShapeType="1"/>
          </p:cNvSpPr>
          <p:nvPr/>
        </p:nvSpPr>
        <p:spPr bwMode="auto">
          <a:xfrm>
            <a:off x="1998980" y="4014470"/>
            <a:ext cx="542925" cy="646430"/>
          </a:xfrm>
          <a:prstGeom prst="line">
            <a:avLst/>
          </a:prstGeom>
          <a:noFill/>
          <a:ln w="3175" cmpd="sng">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Line 13"/>
          <p:cNvSpPr>
            <a:spLocks noChangeShapeType="1"/>
          </p:cNvSpPr>
          <p:nvPr/>
        </p:nvSpPr>
        <p:spPr bwMode="auto">
          <a:xfrm flipV="1">
            <a:off x="1772285" y="5168900"/>
            <a:ext cx="992505" cy="444500"/>
          </a:xfrm>
          <a:prstGeom prst="line">
            <a:avLst/>
          </a:prstGeom>
          <a:noFill/>
          <a:ln w="3175" cmpd="sng">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Line 14"/>
          <p:cNvSpPr>
            <a:spLocks noChangeShapeType="1"/>
          </p:cNvSpPr>
          <p:nvPr/>
        </p:nvSpPr>
        <p:spPr bwMode="auto">
          <a:xfrm>
            <a:off x="2259965" y="4942205"/>
            <a:ext cx="1270" cy="363855"/>
          </a:xfrm>
          <a:prstGeom prst="line">
            <a:avLst/>
          </a:prstGeom>
          <a:noFill/>
          <a:ln w="19050" cmpd="sng">
            <a:solidFill>
              <a:srgbClr val="FF0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 name="Line 15"/>
          <p:cNvSpPr>
            <a:spLocks noChangeShapeType="1"/>
          </p:cNvSpPr>
          <p:nvPr/>
        </p:nvSpPr>
        <p:spPr bwMode="auto">
          <a:xfrm>
            <a:off x="2259330" y="4942205"/>
            <a:ext cx="647700" cy="1270"/>
          </a:xfrm>
          <a:prstGeom prst="line">
            <a:avLst/>
          </a:prstGeom>
          <a:noFill/>
          <a:ln w="19050" cmpd="sng">
            <a:solidFill>
              <a:srgbClr val="FF0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4" name="Group 17"/>
          <p:cNvGrpSpPr/>
          <p:nvPr/>
        </p:nvGrpSpPr>
        <p:grpSpPr bwMode="auto">
          <a:xfrm rot="0">
            <a:off x="2107565" y="4962525"/>
            <a:ext cx="130810" cy="142240"/>
            <a:chOff x="0" y="0"/>
            <a:chExt cx="20000" cy="20000"/>
          </a:xfrm>
        </p:grpSpPr>
        <p:sp>
          <p:nvSpPr>
            <p:cNvPr id="50" name="Oval 17"/>
            <p:cNvSpPr>
              <a:spLocks noChangeArrowheads="1"/>
            </p:cNvSpPr>
            <p:nvPr/>
          </p:nvSpPr>
          <p:spPr bwMode="auto">
            <a:xfrm>
              <a:off x="0" y="0"/>
              <a:ext cx="20000" cy="20000"/>
            </a:xfrm>
            <a:prstGeom prst="ellipse">
              <a:avLst/>
            </a:prstGeom>
            <a:noFill/>
            <a:ln w="1905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51" name="Oval 18"/>
            <p:cNvSpPr>
              <a:spLocks noChangeArrowheads="1"/>
            </p:cNvSpPr>
            <p:nvPr/>
          </p:nvSpPr>
          <p:spPr bwMode="auto">
            <a:xfrm>
              <a:off x="4643" y="5248"/>
              <a:ext cx="10922" cy="9362"/>
            </a:xfrm>
            <a:prstGeom prst="ellipse">
              <a:avLst/>
            </a:prstGeom>
            <a:solidFill>
              <a:srgbClr val="000000"/>
            </a:solidFill>
            <a:ln w="19050" cmpd="sng">
              <a:solidFill>
                <a:srgbClr val="FF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grpSp>
      <p:sp>
        <p:nvSpPr>
          <p:cNvPr id="35" name="Line 19"/>
          <p:cNvSpPr>
            <a:spLocks noChangeShapeType="1"/>
          </p:cNvSpPr>
          <p:nvPr/>
        </p:nvSpPr>
        <p:spPr bwMode="auto">
          <a:xfrm flipV="1">
            <a:off x="2259330" y="4578985"/>
            <a:ext cx="1270" cy="363855"/>
          </a:xfrm>
          <a:prstGeom prst="line">
            <a:avLst/>
          </a:prstGeom>
          <a:noFill/>
          <a:ln w="19050" cmpd="sng">
            <a:solidFill>
              <a:srgbClr val="FFC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20"/>
          <p:cNvSpPr>
            <a:spLocks noChangeShapeType="1"/>
          </p:cNvSpPr>
          <p:nvPr/>
        </p:nvSpPr>
        <p:spPr bwMode="auto">
          <a:xfrm flipH="1">
            <a:off x="1647190" y="4942205"/>
            <a:ext cx="601345" cy="1270"/>
          </a:xfrm>
          <a:prstGeom prst="line">
            <a:avLst/>
          </a:prstGeom>
          <a:noFill/>
          <a:ln w="19050" cmpd="sng">
            <a:solidFill>
              <a:srgbClr val="FFC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7" name="Group 22"/>
          <p:cNvGrpSpPr/>
          <p:nvPr/>
        </p:nvGrpSpPr>
        <p:grpSpPr bwMode="auto">
          <a:xfrm rot="0">
            <a:off x="2107565" y="4760595"/>
            <a:ext cx="130810" cy="140970"/>
            <a:chOff x="0" y="0"/>
            <a:chExt cx="20000" cy="20000"/>
          </a:xfrm>
        </p:grpSpPr>
        <p:sp>
          <p:nvSpPr>
            <p:cNvPr id="47" name="Oval 22"/>
            <p:cNvSpPr>
              <a:spLocks noChangeArrowheads="1"/>
            </p:cNvSpPr>
            <p:nvPr/>
          </p:nvSpPr>
          <p:spPr bwMode="auto">
            <a:xfrm>
              <a:off x="0" y="0"/>
              <a:ext cx="20000" cy="20000"/>
            </a:xfrm>
            <a:prstGeom prst="ellipse">
              <a:avLst/>
            </a:prstGeom>
            <a:noFill/>
            <a:ln w="19050" cmpd="sng">
              <a:solidFill>
                <a:srgbClr val="FFC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48" name="Line 23"/>
            <p:cNvSpPr>
              <a:spLocks noChangeShapeType="1"/>
            </p:cNvSpPr>
            <p:nvPr/>
          </p:nvSpPr>
          <p:spPr bwMode="auto">
            <a:xfrm>
              <a:off x="4970" y="2143"/>
              <a:ext cx="10090" cy="15571"/>
            </a:xfrm>
            <a:prstGeom prst="line">
              <a:avLst/>
            </a:prstGeom>
            <a:noFill/>
            <a:ln w="19050" cmpd="sng">
              <a:solidFill>
                <a:srgbClr val="FFC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Line 24"/>
            <p:cNvSpPr>
              <a:spLocks noChangeShapeType="1"/>
            </p:cNvSpPr>
            <p:nvPr/>
          </p:nvSpPr>
          <p:spPr bwMode="auto">
            <a:xfrm flipH="1">
              <a:off x="4970" y="2143"/>
              <a:ext cx="10090" cy="15571"/>
            </a:xfrm>
            <a:prstGeom prst="line">
              <a:avLst/>
            </a:prstGeom>
            <a:noFill/>
            <a:ln w="19050" cmpd="sng">
              <a:solidFill>
                <a:srgbClr val="FFC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8" name="Rectangle 25"/>
          <p:cNvSpPr>
            <a:spLocks noChangeArrowheads="1"/>
          </p:cNvSpPr>
          <p:nvPr/>
        </p:nvSpPr>
        <p:spPr bwMode="auto">
          <a:xfrm>
            <a:off x="3906520" y="5285105"/>
            <a:ext cx="282575" cy="423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dirty="0"/>
              <a:t>n</a:t>
            </a:r>
            <a:r>
              <a:rPr lang="en-US" sz="2000" baseline="-25000" dirty="0"/>
              <a:t>1</a:t>
            </a:r>
            <a:endParaRPr lang="en-US" sz="2000" dirty="0"/>
          </a:p>
        </p:txBody>
      </p:sp>
      <p:sp>
        <p:nvSpPr>
          <p:cNvPr id="39" name="Rectangle 26"/>
          <p:cNvSpPr>
            <a:spLocks noChangeArrowheads="1"/>
          </p:cNvSpPr>
          <p:nvPr/>
        </p:nvSpPr>
        <p:spPr bwMode="auto">
          <a:xfrm>
            <a:off x="3906520" y="4215130"/>
            <a:ext cx="282575" cy="423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n</a:t>
            </a:r>
            <a:r>
              <a:rPr lang="en-US" sz="2000" baseline="-25000"/>
              <a:t>2</a:t>
            </a:r>
            <a:endParaRPr lang="en-US" sz="2000"/>
          </a:p>
        </p:txBody>
      </p:sp>
      <p:sp>
        <p:nvSpPr>
          <p:cNvPr id="40" name="Rectangle 27"/>
          <p:cNvSpPr>
            <a:spLocks noChangeArrowheads="1"/>
          </p:cNvSpPr>
          <p:nvPr/>
        </p:nvSpPr>
        <p:spPr bwMode="auto">
          <a:xfrm>
            <a:off x="2309495" y="4923155"/>
            <a:ext cx="326390"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r1</a:t>
            </a:r>
            <a:endParaRPr lang="en-US" sz="2000"/>
          </a:p>
        </p:txBody>
      </p:sp>
      <p:sp>
        <p:nvSpPr>
          <p:cNvPr id="41" name="Rectangle 28"/>
          <p:cNvSpPr>
            <a:spLocks noChangeArrowheads="1"/>
          </p:cNvSpPr>
          <p:nvPr/>
        </p:nvSpPr>
        <p:spPr bwMode="auto">
          <a:xfrm>
            <a:off x="2849880" y="4538345"/>
            <a:ext cx="326390" cy="36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dirty="0"/>
              <a:t>F</a:t>
            </a:r>
            <a:r>
              <a:rPr lang="en-US" sz="2000" baseline="-25000" dirty="0"/>
              <a:t>a1</a:t>
            </a:r>
            <a:endParaRPr lang="en-US" sz="2000" dirty="0"/>
          </a:p>
        </p:txBody>
      </p:sp>
      <p:sp>
        <p:nvSpPr>
          <p:cNvPr id="42" name="Rectangle 29"/>
          <p:cNvSpPr>
            <a:spLocks noChangeArrowheads="1"/>
          </p:cNvSpPr>
          <p:nvPr/>
        </p:nvSpPr>
        <p:spPr bwMode="auto">
          <a:xfrm>
            <a:off x="1826895" y="4982845"/>
            <a:ext cx="43434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t1</a:t>
            </a:r>
            <a:endParaRPr lang="en-US" sz="2000"/>
          </a:p>
        </p:txBody>
      </p:sp>
      <p:sp>
        <p:nvSpPr>
          <p:cNvPr id="43" name="Rectangle 30"/>
          <p:cNvSpPr>
            <a:spLocks noChangeArrowheads="1"/>
          </p:cNvSpPr>
          <p:nvPr/>
        </p:nvSpPr>
        <p:spPr bwMode="auto">
          <a:xfrm>
            <a:off x="1738630" y="4457065"/>
            <a:ext cx="43434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t2</a:t>
            </a:r>
            <a:endParaRPr lang="en-US" sz="2000"/>
          </a:p>
        </p:txBody>
      </p:sp>
      <p:sp>
        <p:nvSpPr>
          <p:cNvPr id="44" name="Rectangle 31"/>
          <p:cNvSpPr>
            <a:spLocks noChangeArrowheads="1"/>
          </p:cNvSpPr>
          <p:nvPr/>
        </p:nvSpPr>
        <p:spPr bwMode="auto">
          <a:xfrm>
            <a:off x="1369695" y="4559935"/>
            <a:ext cx="325755" cy="36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a2</a:t>
            </a:r>
            <a:endParaRPr lang="en-US" sz="2000"/>
          </a:p>
        </p:txBody>
      </p:sp>
      <p:sp>
        <p:nvSpPr>
          <p:cNvPr id="45" name="Rectangle 32"/>
          <p:cNvSpPr>
            <a:spLocks noChangeArrowheads="1"/>
          </p:cNvSpPr>
          <p:nvPr/>
        </p:nvSpPr>
        <p:spPr bwMode="auto">
          <a:xfrm>
            <a:off x="2095500" y="4225290"/>
            <a:ext cx="326390"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a:t>F</a:t>
            </a:r>
            <a:r>
              <a:rPr lang="en-US" sz="2000" baseline="-25000"/>
              <a:t>r2</a:t>
            </a:r>
            <a:endParaRPr lang="en-US" sz="2000"/>
          </a:p>
        </p:txBody>
      </p:sp>
      <p:sp>
        <p:nvSpPr>
          <p:cNvPr id="46" name="AutoShape 33"/>
          <p:cNvSpPr/>
          <p:nvPr/>
        </p:nvSpPr>
        <p:spPr bwMode="auto">
          <a:xfrm>
            <a:off x="373380" y="5789295"/>
            <a:ext cx="563245" cy="403225"/>
          </a:xfrm>
          <a:prstGeom prst="callout2">
            <a:avLst>
              <a:gd name="adj1" fmla="val 50000"/>
              <a:gd name="adj2" fmla="val 123079"/>
              <a:gd name="adj3" fmla="val 50000"/>
              <a:gd name="adj4" fmla="val 213463"/>
              <a:gd name="adj5" fmla="val -30000"/>
              <a:gd name="adj6" fmla="val 303847"/>
            </a:avLst>
          </a:prstGeom>
          <a:noFill/>
          <a:ln w="9525" cmpd="sng">
            <a:solidFill>
              <a:srgbClr val="00FF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zh-CN" altLang="en-US" sz="2000"/>
              <a:t>左旋</a:t>
            </a:r>
            <a:endParaRPr lang="zh-CN" altLang="en-US" sz="2000"/>
          </a:p>
        </p:txBody>
      </p:sp>
      <p:sp>
        <p:nvSpPr>
          <p:cNvPr id="54" name="Rectangle 25"/>
          <p:cNvSpPr>
            <a:spLocks noChangeArrowheads="1"/>
          </p:cNvSpPr>
          <p:nvPr/>
        </p:nvSpPr>
        <p:spPr bwMode="auto">
          <a:xfrm>
            <a:off x="5378257" y="5398316"/>
            <a:ext cx="282727" cy="42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dirty="0"/>
              <a:t>n</a:t>
            </a:r>
            <a:r>
              <a:rPr lang="en-US" sz="2000" baseline="-25000" dirty="0"/>
              <a:t>1</a:t>
            </a:r>
            <a:endParaRPr lang="en-US" sz="2000" dirty="0"/>
          </a:p>
        </p:txBody>
      </p:sp>
      <p:grpSp>
        <p:nvGrpSpPr>
          <p:cNvPr id="19" name="Group 35"/>
          <p:cNvGrpSpPr/>
          <p:nvPr/>
        </p:nvGrpSpPr>
        <p:grpSpPr bwMode="auto">
          <a:xfrm>
            <a:off x="5531697" y="3948498"/>
            <a:ext cx="2080955" cy="2097522"/>
            <a:chOff x="0" y="0"/>
            <a:chExt cx="19163" cy="20000"/>
          </a:xfrm>
        </p:grpSpPr>
        <p:sp>
          <p:nvSpPr>
            <p:cNvPr id="20" name="Line 35"/>
            <p:cNvSpPr>
              <a:spLocks noChangeShapeType="1"/>
            </p:cNvSpPr>
            <p:nvPr/>
          </p:nvSpPr>
          <p:spPr bwMode="auto">
            <a:xfrm>
              <a:off x="5590" y="0"/>
              <a:ext cx="10" cy="17894"/>
            </a:xfrm>
            <a:prstGeom prst="line">
              <a:avLst/>
            </a:prstGeom>
            <a:noFill/>
            <a:ln w="19050" cmpd="sng">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Rectangle 36"/>
            <p:cNvSpPr>
              <a:spLocks noChangeArrowheads="1"/>
            </p:cNvSpPr>
            <p:nvPr/>
          </p:nvSpPr>
          <p:spPr bwMode="auto">
            <a:xfrm>
              <a:off x="0" y="5769"/>
              <a:ext cx="11190" cy="6356"/>
            </a:xfrm>
            <a:prstGeom prst="rect">
              <a:avLst/>
            </a:prstGeom>
            <a:noFill/>
            <a:ln w="28575" cmpd="sng">
              <a:solidFill>
                <a:srgbClr val="0000FF"/>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22" name="Line 37"/>
            <p:cNvSpPr>
              <a:spLocks noChangeShapeType="1"/>
            </p:cNvSpPr>
            <p:nvPr/>
          </p:nvSpPr>
          <p:spPr bwMode="auto">
            <a:xfrm flipV="1">
              <a:off x="2200" y="5769"/>
              <a:ext cx="6397" cy="6356"/>
            </a:xfrm>
            <a:prstGeom prst="line">
              <a:avLst/>
            </a:prstGeom>
            <a:noFill/>
            <a:ln w="3175" cmpd="sng">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AutoShape 38"/>
            <p:cNvSpPr/>
            <p:nvPr/>
          </p:nvSpPr>
          <p:spPr bwMode="auto">
            <a:xfrm>
              <a:off x="13973" y="16538"/>
              <a:ext cx="5190" cy="3462"/>
            </a:xfrm>
            <a:prstGeom prst="callout2">
              <a:avLst>
                <a:gd name="adj1" fmla="val 55556"/>
                <a:gd name="adj2" fmla="val -23079"/>
                <a:gd name="adj3" fmla="val 55556"/>
                <a:gd name="adj4" fmla="val -67306"/>
                <a:gd name="adj5" fmla="val -172222"/>
                <a:gd name="adj6" fmla="val -111537"/>
              </a:avLst>
            </a:prstGeom>
            <a:noFill/>
            <a:ln w="9525" cmpd="sng">
              <a:solidFill>
                <a:srgbClr val="00FF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zh-CN" altLang="en-US" sz="2000"/>
                <a:t>右旋</a:t>
              </a:r>
              <a:endParaRPr lang="zh-CN" altLang="en-US" sz="2000"/>
            </a:p>
          </p:txBody>
        </p:sp>
      </p:grpSp>
      <p:cxnSp>
        <p:nvCxnSpPr>
          <p:cNvPr id="4" name="直接箭头连接符 3"/>
          <p:cNvCxnSpPr/>
          <p:nvPr/>
        </p:nvCxnSpPr>
        <p:spPr bwMode="auto">
          <a:xfrm flipH="1">
            <a:off x="5725068" y="5492932"/>
            <a:ext cx="827315" cy="8708"/>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5" name="直接箭头连接符 4"/>
          <p:cNvCxnSpPr/>
          <p:nvPr/>
        </p:nvCxnSpPr>
        <p:spPr>
          <a:xfrm>
            <a:off x="6139815" y="4881245"/>
            <a:ext cx="0" cy="473710"/>
          </a:xfrm>
          <a:prstGeom prst="straightConnector1">
            <a:avLst/>
          </a:prstGeom>
          <a:solidFill>
            <a:schemeClr val="accent1"/>
          </a:solidFill>
          <a:ln w="28575" cap="flat" cmpd="sng" algn="ctr">
            <a:solidFill>
              <a:srgbClr val="FF0000"/>
            </a:solidFill>
            <a:prstDash val="solid"/>
            <a:round/>
            <a:headEnd type="none" w="med" len="med"/>
            <a:tailEnd type="triangle" w="med" len="med"/>
          </a:ln>
        </p:spPr>
      </p:cxnSp>
      <p:sp>
        <p:nvSpPr>
          <p:cNvPr id="7" name="Rectangle 28"/>
          <p:cNvSpPr>
            <a:spLocks noChangeArrowheads="1"/>
          </p:cNvSpPr>
          <p:nvPr/>
        </p:nvSpPr>
        <p:spPr bwMode="auto">
          <a:xfrm>
            <a:off x="6226175" y="4805680"/>
            <a:ext cx="326390" cy="36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000" dirty="0"/>
              <a:t>F</a:t>
            </a:r>
            <a:r>
              <a:rPr lang="en-US" sz="2000" baseline="-25000" dirty="0"/>
              <a:t>a1</a:t>
            </a:r>
            <a:endParaRPr 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right)">
                                      <p:cBhvr>
                                        <p:cTn id="25" dur="500"/>
                                        <p:tgtEl>
                                          <p:spTgt spid="54"/>
                                        </p:tgtEl>
                                      </p:cBhvr>
                                    </p:animEffect>
                                  </p:childTnLst>
                                </p:cTn>
                              </p:par>
                              <p:par>
                                <p:cTn id="26" presetID="22" presetClass="entr" presetSubtype="2"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right)">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down)">
                                      <p:cBhvr>
                                        <p:cTn id="52" dur="500"/>
                                        <p:tgtEl>
                                          <p:spTgt spid="29"/>
                                        </p:tgtEl>
                                      </p:cBhvr>
                                    </p:animEffect>
                                  </p:childTnLst>
                                </p:cTn>
                              </p:par>
                            </p:childTnLst>
                          </p:cTn>
                        </p:par>
                        <p:par>
                          <p:cTn id="53" fill="hold">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down)">
                                      <p:cBhvr>
                                        <p:cTn id="56" dur="5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wipe(up)">
                                      <p:cBhvr>
                                        <p:cTn id="61" dur="500"/>
                                        <p:tgtEl>
                                          <p:spTgt spid="28"/>
                                        </p:tgtEl>
                                      </p:cBhvr>
                                    </p:animEffect>
                                  </p:childTnLst>
                                </p:cTn>
                              </p:par>
                            </p:childTnLst>
                          </p:cTn>
                        </p:par>
                        <p:par>
                          <p:cTn id="62" fill="hold">
                            <p:stCondLst>
                              <p:cond delay="500"/>
                            </p:stCondLst>
                            <p:childTnLst>
                              <p:par>
                                <p:cTn id="63" presetID="22" presetClass="entr" presetSubtype="4"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wipe(down)">
                                      <p:cBhvr>
                                        <p:cTn id="65" dur="500"/>
                                        <p:tgtEl>
                                          <p:spTgt spid="3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wipe(down)">
                                      <p:cBhvr>
                                        <p:cTn id="70" dur="5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grpId="0" nodeType="click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wipe(right)">
                                      <p:cBhvr>
                                        <p:cTn id="75" dur="500"/>
                                        <p:tgtEl>
                                          <p:spTgt spid="4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left)">
                                      <p:cBhvr>
                                        <p:cTn id="80" dur="500"/>
                                        <p:tgtEl>
                                          <p:spTgt spid="3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wipe(left)">
                                      <p:cBhvr>
                                        <p:cTn id="85" dur="500"/>
                                        <p:tgtEl>
                                          <p:spTgt spid="3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wipe(left)">
                                      <p:cBhvr>
                                        <p:cTn id="90" dur="500"/>
                                        <p:tgtEl>
                                          <p:spTgt spid="4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nodeType="click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wipe(down)">
                                      <p:cBhvr>
                                        <p:cTn id="95" dur="500"/>
                                        <p:tgtEl>
                                          <p:spTgt spid="34"/>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wipe(down)">
                                      <p:cBhvr>
                                        <p:cTn id="100" dur="500"/>
                                        <p:tgtEl>
                                          <p:spTgt spid="42"/>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wipe(up)">
                                      <p:cBhvr>
                                        <p:cTn id="105" dur="500"/>
                                        <p:tgtEl>
                                          <p:spTgt spid="3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wipe(down)">
                                      <p:cBhvr>
                                        <p:cTn id="110" dur="500"/>
                                        <p:tgtEl>
                                          <p:spTgt spid="40"/>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2" fill="hold" nodeType="click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wipe(right)">
                                      <p:cBhvr>
                                        <p:cTn id="115" dur="500"/>
                                        <p:tgtEl>
                                          <p:spTgt spid="36"/>
                                        </p:tgtEl>
                                      </p:cBhvr>
                                    </p:animEffect>
                                  </p:childTnLst>
                                </p:cTn>
                              </p:par>
                            </p:childTnLst>
                          </p:cTn>
                        </p:par>
                        <p:par>
                          <p:cTn id="116" fill="hold">
                            <p:stCondLst>
                              <p:cond delay="500"/>
                            </p:stCondLst>
                            <p:childTnLst>
                              <p:par>
                                <p:cTn id="117" presetID="22" presetClass="entr" presetSubtype="4" fill="hold" grpId="0" nodeType="after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wipe(down)">
                                      <p:cBhvr>
                                        <p:cTn id="119" dur="500"/>
                                        <p:tgtEl>
                                          <p:spTgt spid="4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37"/>
                                        </p:tgtEl>
                                        <p:attrNameLst>
                                          <p:attrName>style.visibility</p:attrName>
                                        </p:attrNameLst>
                                      </p:cBhvr>
                                      <p:to>
                                        <p:strVal val="visible"/>
                                      </p:to>
                                    </p:set>
                                    <p:animEffect transition="in" filter="wipe(down)">
                                      <p:cBhvr>
                                        <p:cTn id="124" dur="500"/>
                                        <p:tgtEl>
                                          <p:spTgt spid="37"/>
                                        </p:tgtEl>
                                      </p:cBhvr>
                                    </p:animEffect>
                                  </p:childTnLst>
                                </p:cTn>
                              </p:par>
                            </p:childTnLst>
                          </p:cTn>
                        </p:par>
                        <p:par>
                          <p:cTn id="125" fill="hold">
                            <p:stCondLst>
                              <p:cond delay="500"/>
                            </p:stCondLst>
                            <p:childTnLst>
                              <p:par>
                                <p:cTn id="126" presetID="22" presetClass="entr" presetSubtype="4" fill="hold" grpId="0" nodeType="after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wipe(down)">
                                      <p:cBhvr>
                                        <p:cTn id="128" dur="500"/>
                                        <p:tgtEl>
                                          <p:spTgt spid="43"/>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nodeType="clickEffect">
                                  <p:stCondLst>
                                    <p:cond delay="0"/>
                                  </p:stCondLst>
                                  <p:childTnLst>
                                    <p:set>
                                      <p:cBhvr>
                                        <p:cTn id="132" dur="1" fill="hold">
                                          <p:stCondLst>
                                            <p:cond delay="0"/>
                                          </p:stCondLst>
                                        </p:cTn>
                                        <p:tgtEl>
                                          <p:spTgt spid="35"/>
                                        </p:tgtEl>
                                        <p:attrNameLst>
                                          <p:attrName>style.visibility</p:attrName>
                                        </p:attrNameLst>
                                      </p:cBhvr>
                                      <p:to>
                                        <p:strVal val="visible"/>
                                      </p:to>
                                    </p:set>
                                    <p:animEffect transition="in" filter="wipe(down)">
                                      <p:cBhvr>
                                        <p:cTn id="133" dur="500"/>
                                        <p:tgtEl>
                                          <p:spTgt spid="35"/>
                                        </p:tgtEl>
                                      </p:cBhvr>
                                    </p:animEffect>
                                  </p:childTnLst>
                                </p:cTn>
                              </p:par>
                            </p:childTnLst>
                          </p:cTn>
                        </p:par>
                        <p:par>
                          <p:cTn id="134" fill="hold">
                            <p:stCondLst>
                              <p:cond delay="500"/>
                            </p:stCondLst>
                            <p:childTnLst>
                              <p:par>
                                <p:cTn id="135" presetID="22" presetClass="entr" presetSubtype="4" fill="hold" grpId="0" nodeType="afterEffect">
                                  <p:stCondLst>
                                    <p:cond delay="0"/>
                                  </p:stCondLst>
                                  <p:childTnLst>
                                    <p:set>
                                      <p:cBhvr>
                                        <p:cTn id="136" dur="1" fill="hold">
                                          <p:stCondLst>
                                            <p:cond delay="0"/>
                                          </p:stCondLst>
                                        </p:cTn>
                                        <p:tgtEl>
                                          <p:spTgt spid="45"/>
                                        </p:tgtEl>
                                        <p:attrNameLst>
                                          <p:attrName>style.visibility</p:attrName>
                                        </p:attrNameLst>
                                      </p:cBhvr>
                                      <p:to>
                                        <p:strVal val="visible"/>
                                      </p:to>
                                    </p:set>
                                    <p:animEffect transition="in" filter="wipe(down)">
                                      <p:cBhvr>
                                        <p:cTn id="13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1" grpId="0"/>
      <p:bldP spid="2" grpId="0"/>
      <p:bldP spid="54" grpId="0" bldLvl="0" animBg="1"/>
      <p:bldP spid="46" grpId="0" animBg="1"/>
      <p:bldP spid="41" grpId="0" bldLvl="0" animBg="1"/>
      <p:bldP spid="42" grpId="0" bldLvl="0" animBg="1"/>
      <p:bldP spid="40" grpId="0" bldLvl="0" animBg="1"/>
      <p:bldP spid="44" grpId="0" bldLvl="0" animBg="1"/>
      <p:bldP spid="43" grpId="0" bldLvl="0" animBg="1"/>
      <p:bldP spid="45" grpId="0" animBg="1"/>
      <p:bldP spid="38" grpId="0" animBg="1"/>
      <p:bldP spid="39" grpId="0" animBg="1"/>
      <p:bldP spid="7"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4"/>
          <p:cNvGraphicFramePr>
            <a:graphicFrameLocks noGrp="1" noChangeAspect="1"/>
          </p:cNvGraphicFramePr>
          <p:nvPr>
            <p:ph idx="4294967295"/>
          </p:nvPr>
        </p:nvGraphicFramePr>
        <p:xfrm>
          <a:off x="4926330" y="1631950"/>
          <a:ext cx="3640455" cy="2927350"/>
        </p:xfrm>
        <a:graphic>
          <a:graphicData uri="http://schemas.openxmlformats.org/presentationml/2006/ole">
            <mc:AlternateContent xmlns:mc="http://schemas.openxmlformats.org/markup-compatibility/2006">
              <mc:Choice xmlns:v="urn:schemas-microsoft-com:vml" Requires="v">
                <p:oleObj spid="_x0000_s28727" name="Document" r:id="rId1" imgW="2419350" imgH="2590800" progId="Word.Document.8">
                  <p:embed/>
                </p:oleObj>
              </mc:Choice>
              <mc:Fallback>
                <p:oleObj name="Document" r:id="rId1" imgW="2419350" imgH="2590800" progId="Word.Document.8">
                  <p:embed/>
                  <p:pic>
                    <p:nvPicPr>
                      <p:cNvPr id="0" name="图片 28699"/>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6330" y="1631950"/>
                        <a:ext cx="3640455" cy="292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9" name="Rectangle 3"/>
          <p:cNvSpPr>
            <a:spLocks noChangeArrowheads="1"/>
          </p:cNvSpPr>
          <p:nvPr/>
        </p:nvSpPr>
        <p:spPr bwMode="auto">
          <a:xfrm>
            <a:off x="344869" y="687578"/>
            <a:ext cx="4176712" cy="477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200" b="1" dirty="0">
                <a:solidFill>
                  <a:schemeClr val="tx2"/>
                </a:solidFill>
                <a:latin typeface="黑体" panose="02010609060101010101" pitchFamily="49" charset="-122"/>
                <a:ea typeface="黑体" panose="02010609060101010101" pitchFamily="49" charset="-122"/>
              </a:rPr>
              <a:t>例题</a:t>
            </a:r>
            <a:r>
              <a:rPr lang="en-US" altLang="zh-CN" sz="2200" b="1" dirty="0" smtClean="0">
                <a:solidFill>
                  <a:schemeClr val="tx2"/>
                </a:solidFill>
                <a:latin typeface="黑体" panose="02010609060101010101" pitchFamily="49" charset="-122"/>
                <a:ea typeface="黑体" panose="02010609060101010101" pitchFamily="49" charset="-122"/>
              </a:rPr>
              <a:t>1</a:t>
            </a:r>
            <a:r>
              <a:rPr lang="en-US" altLang="zh-CN" sz="2200" b="1" dirty="0" smtClean="0">
                <a:solidFill>
                  <a:schemeClr val="tx2"/>
                </a:solidFill>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已知齿轮</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的螺旋线方向和</a:t>
            </a:r>
            <a:r>
              <a:rPr lang="en-US" altLang="zh-CN" sz="2200" dirty="0">
                <a:latin typeface="黑体" panose="02010609060101010101" pitchFamily="49" charset="-122"/>
                <a:ea typeface="黑体" panose="02010609060101010101" pitchFamily="49" charset="-122"/>
              </a:rPr>
              <a:t>Ⅲ</a:t>
            </a:r>
            <a:r>
              <a:rPr lang="zh-CN" altLang="en-US" sz="2200" dirty="0">
                <a:latin typeface="黑体" panose="02010609060101010101" pitchFamily="49" charset="-122"/>
                <a:ea typeface="黑体" panose="02010609060101010101" pitchFamily="49" charset="-122"/>
              </a:rPr>
              <a:t>轴的转向。</a:t>
            </a:r>
            <a:endParaRPr lang="zh-CN" altLang="en-US" sz="2200" dirty="0">
              <a:latin typeface="黑体" panose="02010609060101010101" pitchFamily="49" charset="-122"/>
              <a:ea typeface="黑体" panose="02010609060101010101" pitchFamily="49" charset="-122"/>
            </a:endParaRPr>
          </a:p>
          <a:p>
            <a:pPr eaLnBrk="1" hangingPunct="1">
              <a:lnSpc>
                <a:spcPct val="150000"/>
              </a:lnSpc>
              <a:spcBef>
                <a:spcPct val="0"/>
              </a:spcBef>
              <a:buFontTx/>
              <a:buNone/>
            </a:pPr>
            <a:r>
              <a:rPr lang="zh-CN" altLang="en-US" sz="2200" dirty="0">
                <a:latin typeface="黑体" panose="02010609060101010101" pitchFamily="49" charset="-122"/>
                <a:ea typeface="黑体" panose="02010609060101010101" pitchFamily="49" charset="-122"/>
              </a:rPr>
              <a:t>试求</a:t>
            </a:r>
            <a:r>
              <a:rPr lang="zh-CN" altLang="en-US" sz="2200" dirty="0" smtClean="0">
                <a:latin typeface="黑体" panose="02010609060101010101" pitchFamily="49" charset="-122"/>
                <a:ea typeface="黑体" panose="02010609060101010101" pitchFamily="49" charset="-122"/>
              </a:rPr>
              <a:t>：</a:t>
            </a:r>
            <a:endParaRPr lang="en-US" altLang="zh-CN" sz="2200" dirty="0" smtClean="0">
              <a:latin typeface="黑体" panose="02010609060101010101" pitchFamily="49" charset="-122"/>
              <a:ea typeface="黑体" panose="02010609060101010101" pitchFamily="49" charset="-122"/>
            </a:endParaRPr>
          </a:p>
          <a:p>
            <a:pPr eaLnBrk="1" hangingPunct="1">
              <a:lnSpc>
                <a:spcPct val="150000"/>
              </a:lnSpc>
              <a:spcBef>
                <a:spcPct val="0"/>
              </a:spcBef>
              <a:buFontTx/>
              <a:buNone/>
            </a:pPr>
            <a:r>
              <a:rPr lang="zh-CN" altLang="en-US" sz="2200" dirty="0" smtClean="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sym typeface="Wingdings" panose="05000000000000000000" pitchFamily="2" charset="2"/>
              </a:rPr>
              <a:t>1</a:t>
            </a:r>
            <a:r>
              <a:rPr lang="zh-CN" altLang="en-US" sz="2200" dirty="0">
                <a:latin typeface="黑体" panose="02010609060101010101" pitchFamily="49" charset="-122"/>
                <a:ea typeface="黑体" panose="02010609060101010101" pitchFamily="49" charset="-122"/>
                <a:sym typeface="Wingdings" panose="05000000000000000000" pitchFamily="2" charset="2"/>
              </a:rPr>
              <a:t>）</a:t>
            </a:r>
            <a:r>
              <a:rPr lang="zh-CN" altLang="en-US" sz="2200" dirty="0">
                <a:latin typeface="黑体" panose="02010609060101010101" pitchFamily="49" charset="-122"/>
                <a:ea typeface="黑体" panose="02010609060101010101" pitchFamily="49" charset="-122"/>
              </a:rPr>
              <a:t>画出</a:t>
            </a:r>
            <a:r>
              <a:rPr lang="en-US" altLang="zh-CN" sz="2200" dirty="0">
                <a:latin typeface="黑体" panose="02010609060101010101" pitchFamily="49" charset="-122"/>
                <a:ea typeface="黑体" panose="02010609060101010101" pitchFamily="49" charset="-122"/>
              </a:rPr>
              <a:t>Ⅰ</a:t>
            </a:r>
            <a:r>
              <a:rPr lang="zh-CN" altLang="en-US" sz="2200" dirty="0">
                <a:latin typeface="黑体" panose="02010609060101010101" pitchFamily="49" charset="-122"/>
                <a:ea typeface="黑体" panose="02010609060101010101" pitchFamily="49" charset="-122"/>
              </a:rPr>
              <a:t>轴、</a:t>
            </a:r>
            <a:r>
              <a:rPr lang="en-US" altLang="zh-CN" sz="2200" dirty="0">
                <a:latin typeface="黑体" panose="02010609060101010101" pitchFamily="49" charset="-122"/>
                <a:ea typeface="黑体" panose="02010609060101010101" pitchFamily="49" charset="-122"/>
              </a:rPr>
              <a:t>Ⅱ</a:t>
            </a:r>
            <a:r>
              <a:rPr lang="zh-CN" altLang="en-US" sz="2200" dirty="0">
                <a:latin typeface="黑体" panose="02010609060101010101" pitchFamily="49" charset="-122"/>
                <a:ea typeface="黑体" panose="02010609060101010101" pitchFamily="49" charset="-122"/>
              </a:rPr>
              <a:t>轴的转向；</a:t>
            </a:r>
            <a:endParaRPr lang="zh-CN" altLang="en-US" sz="2200" dirty="0">
              <a:latin typeface="黑体" panose="02010609060101010101" pitchFamily="49" charset="-122"/>
              <a:ea typeface="黑体" panose="02010609060101010101" pitchFamily="49" charset="-122"/>
            </a:endParaRPr>
          </a:p>
          <a:p>
            <a:pPr eaLnBrk="1" hangingPunct="1">
              <a:lnSpc>
                <a:spcPct val="150000"/>
              </a:lnSpc>
              <a:spcBef>
                <a:spcPct val="0"/>
              </a:spcBef>
              <a:buFontTx/>
              <a:buNone/>
            </a:pPr>
            <a:r>
              <a:rPr lang="zh-CN" altLang="en-US" sz="2200" dirty="0" smtClean="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）为使</a:t>
            </a:r>
            <a:r>
              <a:rPr lang="en-US" altLang="zh-CN" sz="2200" dirty="0">
                <a:latin typeface="黑体" panose="02010609060101010101" pitchFamily="49" charset="-122"/>
                <a:ea typeface="黑体" panose="02010609060101010101" pitchFamily="49" charset="-122"/>
              </a:rPr>
              <a:t>Ⅱ</a:t>
            </a:r>
            <a:r>
              <a:rPr lang="zh-CN" altLang="en-US" sz="2200" dirty="0">
                <a:latin typeface="黑体" panose="02010609060101010101" pitchFamily="49" charset="-122"/>
                <a:ea typeface="黑体" panose="02010609060101010101" pitchFamily="49" charset="-122"/>
              </a:rPr>
              <a:t>轴受力最小，齿轮</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应为何旋向，画出齿轮</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的旋向；</a:t>
            </a:r>
            <a:endParaRPr lang="zh-CN" altLang="en-US" sz="2200" dirty="0">
              <a:latin typeface="黑体" panose="02010609060101010101" pitchFamily="49" charset="-122"/>
              <a:ea typeface="黑体" panose="02010609060101010101" pitchFamily="49" charset="-122"/>
            </a:endParaRPr>
          </a:p>
          <a:p>
            <a:pPr eaLnBrk="1" hangingPunct="1">
              <a:lnSpc>
                <a:spcPct val="150000"/>
              </a:lnSpc>
              <a:spcBef>
                <a:spcPct val="0"/>
              </a:spcBef>
              <a:buFontTx/>
              <a:buNone/>
            </a:pPr>
            <a:r>
              <a:rPr lang="zh-CN" altLang="en-US" sz="2200" dirty="0" smtClean="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）画出齿轮</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的所受各分力方向。</a:t>
            </a:r>
            <a:endParaRPr lang="zh-CN" altLang="en-US" sz="22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nvGraphicFramePr>
        <p:xfrm>
          <a:off x="1430339" y="1978820"/>
          <a:ext cx="3629025" cy="2917825"/>
        </p:xfrm>
        <a:graphic>
          <a:graphicData uri="http://schemas.openxmlformats.org/presentationml/2006/ole">
            <mc:AlternateContent xmlns:mc="http://schemas.openxmlformats.org/markup-compatibility/2006">
              <mc:Choice xmlns:v="urn:schemas-microsoft-com:vml" Requires="v">
                <p:oleObj spid="_x0000_s31798" name="Document" r:id="rId1" imgW="2419350" imgH="2590800" progId="Word.Document.8">
                  <p:embed/>
                </p:oleObj>
              </mc:Choice>
              <mc:Fallback>
                <p:oleObj name="Document" r:id="rId1" imgW="2419350" imgH="2590800" progId="Word.Document.8">
                  <p:embed/>
                  <p:pic>
                    <p:nvPicPr>
                      <p:cNvPr id="0" name="图片 31769"/>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0339" y="1978820"/>
                        <a:ext cx="3629025" cy="291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 name="直接箭头连接符 3"/>
          <p:cNvCxnSpPr/>
          <p:nvPr/>
        </p:nvCxnSpPr>
        <p:spPr bwMode="auto">
          <a:xfrm flipV="1">
            <a:off x="4559300" y="3079750"/>
            <a:ext cx="0" cy="47625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6" name="直接箭头连接符 5"/>
          <p:cNvCxnSpPr/>
          <p:nvPr/>
        </p:nvCxnSpPr>
        <p:spPr bwMode="auto">
          <a:xfrm>
            <a:off x="4527550" y="2508250"/>
            <a:ext cx="0" cy="45085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8" name="直接连接符 7"/>
          <p:cNvCxnSpPr/>
          <p:nvPr/>
        </p:nvCxnSpPr>
        <p:spPr bwMode="auto">
          <a:xfrm>
            <a:off x="3502660" y="3431540"/>
            <a:ext cx="304800" cy="15875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a:off x="3493770" y="3368040"/>
            <a:ext cx="304800" cy="15875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1" name="直接连接符 10"/>
          <p:cNvCxnSpPr/>
          <p:nvPr/>
        </p:nvCxnSpPr>
        <p:spPr bwMode="auto">
          <a:xfrm>
            <a:off x="2816860" y="3263900"/>
            <a:ext cx="304800" cy="15875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2" name="直接连接符 11"/>
          <p:cNvCxnSpPr/>
          <p:nvPr/>
        </p:nvCxnSpPr>
        <p:spPr bwMode="auto">
          <a:xfrm>
            <a:off x="2810510" y="3206750"/>
            <a:ext cx="304800" cy="15875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4" name="直接连接符 13"/>
          <p:cNvCxnSpPr/>
          <p:nvPr/>
        </p:nvCxnSpPr>
        <p:spPr bwMode="auto">
          <a:xfrm flipV="1">
            <a:off x="2806700" y="4147820"/>
            <a:ext cx="311150" cy="20320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5" name="直接连接符 14"/>
          <p:cNvCxnSpPr/>
          <p:nvPr/>
        </p:nvCxnSpPr>
        <p:spPr bwMode="auto">
          <a:xfrm flipV="1">
            <a:off x="2809240" y="4240530"/>
            <a:ext cx="311150" cy="20320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16" name="矩形 15"/>
          <p:cNvSpPr/>
          <p:nvPr/>
        </p:nvSpPr>
        <p:spPr bwMode="auto">
          <a:xfrm>
            <a:off x="7226300" y="2362200"/>
            <a:ext cx="317500" cy="508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18" name="直接连接符 17"/>
          <p:cNvCxnSpPr/>
          <p:nvPr/>
        </p:nvCxnSpPr>
        <p:spPr bwMode="auto">
          <a:xfrm>
            <a:off x="6692900" y="2628900"/>
            <a:ext cx="126365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椭圆 18"/>
          <p:cNvSpPr/>
          <p:nvPr/>
        </p:nvSpPr>
        <p:spPr bwMode="auto">
          <a:xfrm>
            <a:off x="7334250" y="2806700"/>
            <a:ext cx="133350" cy="1333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21" name="直接箭头连接符 20"/>
          <p:cNvCxnSpPr>
            <a:stCxn id="19" idx="0"/>
          </p:cNvCxnSpPr>
          <p:nvPr/>
        </p:nvCxnSpPr>
        <p:spPr bwMode="auto">
          <a:xfrm flipV="1">
            <a:off x="7400925" y="2489200"/>
            <a:ext cx="0" cy="31750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23" name="椭圆 22"/>
          <p:cNvSpPr/>
          <p:nvPr/>
        </p:nvSpPr>
        <p:spPr bwMode="auto">
          <a:xfrm>
            <a:off x="7385050" y="2851150"/>
            <a:ext cx="45719" cy="57150"/>
          </a:xfrm>
          <a:prstGeom prst="ellipse">
            <a:avLst/>
          </a:prstGeom>
          <a:solidFill>
            <a:srgbClr val="0000FF"/>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24" name="直接箭头连接符 23"/>
          <p:cNvCxnSpPr/>
          <p:nvPr/>
        </p:nvCxnSpPr>
        <p:spPr bwMode="auto">
          <a:xfrm>
            <a:off x="7842250" y="2393950"/>
            <a:ext cx="0" cy="45085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26" name="直接箭头连接符 25"/>
          <p:cNvCxnSpPr/>
          <p:nvPr/>
        </p:nvCxnSpPr>
        <p:spPr bwMode="auto">
          <a:xfrm flipH="1">
            <a:off x="6856730" y="2864599"/>
            <a:ext cx="489295" cy="1068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27" name="文本框 26"/>
              <p:cNvSpPr txBox="1"/>
              <p:nvPr/>
            </p:nvSpPr>
            <p:spPr>
              <a:xfrm>
                <a:off x="6559550" y="2749550"/>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𝑎</m:t>
                          </m:r>
                          <m:r>
                            <a:rPr lang="en-US" altLang="zh-CN" sz="1800" b="0" i="1" smtClean="0">
                              <a:latin typeface="Cambria Math" panose="02040503050406030204" pitchFamily="18" charset="0"/>
                            </a:rPr>
                            <m:t>1</m:t>
                          </m:r>
                        </m:sub>
                      </m:sSub>
                    </m:oMath>
                  </m:oMathPara>
                </a14:m>
                <a:endParaRPr lang="zh-CN" altLang="en-US" sz="1800" dirty="0"/>
              </a:p>
            </p:txBody>
          </p:sp>
        </mc:Choice>
        <mc:Fallback>
          <p:sp>
            <p:nvSpPr>
              <p:cNvPr id="27" name="文本框 26"/>
              <p:cNvSpPr txBox="1">
                <a:spLocks noRot="1" noChangeAspect="1" noMove="1" noResize="1" noEditPoints="1" noAdjustHandles="1" noChangeArrowheads="1" noChangeShapeType="1" noTextEdit="1"/>
              </p:cNvSpPr>
              <p:nvPr/>
            </p:nvSpPr>
            <p:spPr>
              <a:xfrm>
                <a:off x="6559550" y="2749550"/>
                <a:ext cx="330200" cy="369332"/>
              </a:xfrm>
              <a:prstGeom prst="rect">
                <a:avLst/>
              </a:prstGeom>
              <a:blipFill rotWithShape="1">
                <a:blip r:embed="rId3"/>
                <a:stretch>
                  <a:fillRect r="-32692"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7251700" y="1949450"/>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𝑟</m:t>
                          </m:r>
                          <m:r>
                            <a:rPr lang="en-US" altLang="zh-CN" sz="1800" b="0" i="1" smtClean="0">
                              <a:latin typeface="Cambria Math" panose="02040503050406030204" pitchFamily="18" charset="0"/>
                            </a:rPr>
                            <m:t>1</m:t>
                          </m:r>
                        </m:sub>
                      </m:sSub>
                    </m:oMath>
                  </m:oMathPara>
                </a14:m>
                <a:endParaRPr lang="zh-CN" altLang="en-US" sz="1800" dirty="0"/>
              </a:p>
            </p:txBody>
          </p:sp>
        </mc:Choice>
        <mc:Fallback>
          <p:sp>
            <p:nvSpPr>
              <p:cNvPr id="28" name="文本框 27"/>
              <p:cNvSpPr txBox="1">
                <a:spLocks noRot="1" noChangeAspect="1" noMove="1" noResize="1" noEditPoints="1" noAdjustHandles="1" noChangeArrowheads="1" noChangeShapeType="1" noTextEdit="1"/>
              </p:cNvSpPr>
              <p:nvPr/>
            </p:nvSpPr>
            <p:spPr>
              <a:xfrm>
                <a:off x="7251700" y="1949450"/>
                <a:ext cx="330200" cy="369332"/>
              </a:xfrm>
              <a:prstGeom prst="rect">
                <a:avLst/>
              </a:prstGeom>
              <a:blipFill rotWithShape="1">
                <a:blip r:embed="rId4"/>
                <a:stretch>
                  <a:fillRect r="-28077"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446010" y="2827020"/>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1</m:t>
                          </m:r>
                        </m:sub>
                      </m:sSub>
                    </m:oMath>
                  </m:oMathPara>
                </a14:m>
                <a:endParaRPr lang="zh-CN" altLang="en-US" sz="1800" dirty="0"/>
              </a:p>
            </p:txBody>
          </p:sp>
        </mc:Choice>
        <mc:Fallback>
          <p:sp>
            <p:nvSpPr>
              <p:cNvPr id="29" name="文本框 28"/>
              <p:cNvSpPr txBox="1">
                <a:spLocks noRot="1" noChangeAspect="1" noMove="1" noResize="1" noEditPoints="1" noAdjustHandles="1" noChangeArrowheads="1" noChangeShapeType="1" noTextEdit="1"/>
              </p:cNvSpPr>
              <p:nvPr/>
            </p:nvSpPr>
            <p:spPr>
              <a:xfrm>
                <a:off x="7446010" y="2827020"/>
                <a:ext cx="330200" cy="369332"/>
              </a:xfrm>
              <a:prstGeom prst="rect">
                <a:avLst/>
              </a:prstGeom>
              <a:blipFill rotWithShape="1">
                <a:blip r:embed="rId5"/>
                <a:stretch>
                  <a:fillRect r="-23654" b="107"/>
                </a:stretch>
              </a:blipFill>
            </p:spPr>
            <p:txBody>
              <a:bodyPr/>
              <a:lstStyle/>
              <a:p>
                <a:r>
                  <a:rPr lang="zh-CN" altLang="en-US">
                    <a:noFill/>
                  </a:rPr>
                  <a:t> </a:t>
                </a:r>
              </a:p>
            </p:txBody>
          </p:sp>
        </mc:Fallback>
      </mc:AlternateContent>
      <p:sp>
        <p:nvSpPr>
          <p:cNvPr id="30" name="矩形 29"/>
          <p:cNvSpPr/>
          <p:nvPr/>
        </p:nvSpPr>
        <p:spPr bwMode="auto">
          <a:xfrm>
            <a:off x="7251700" y="3657600"/>
            <a:ext cx="387350" cy="8001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32" name="直接连接符 31"/>
          <p:cNvCxnSpPr/>
          <p:nvPr/>
        </p:nvCxnSpPr>
        <p:spPr bwMode="auto">
          <a:xfrm>
            <a:off x="5499100" y="4044950"/>
            <a:ext cx="29083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3" name="组合 2"/>
          <p:cNvGrpSpPr/>
          <p:nvPr/>
        </p:nvGrpSpPr>
        <p:grpSpPr>
          <a:xfrm>
            <a:off x="7397750" y="3581400"/>
            <a:ext cx="133350" cy="133350"/>
            <a:chOff x="11650" y="5640"/>
            <a:chExt cx="210" cy="210"/>
          </a:xfrm>
        </p:grpSpPr>
        <p:sp>
          <p:nvSpPr>
            <p:cNvPr id="34" name="椭圆 33"/>
            <p:cNvSpPr/>
            <p:nvPr/>
          </p:nvSpPr>
          <p:spPr bwMode="auto">
            <a:xfrm>
              <a:off x="11650" y="5640"/>
              <a:ext cx="210" cy="21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36" name="直接连接符 35"/>
            <p:cNvCxnSpPr>
              <a:stCxn id="34" idx="1"/>
              <a:endCxn id="34" idx="5"/>
            </p:cNvCxnSpPr>
            <p:nvPr/>
          </p:nvCxnSpPr>
          <p:spPr bwMode="auto">
            <a:xfrm>
              <a:off x="11681" y="5671"/>
              <a:ext cx="148" cy="148"/>
            </a:xfrm>
            <a:prstGeom prst="line">
              <a:avLst/>
            </a:prstGeom>
            <a:solidFill>
              <a:schemeClr val="accent1"/>
            </a:solidFill>
            <a:ln w="9525" cap="flat" cmpd="sng" algn="ctr">
              <a:solidFill>
                <a:srgbClr val="0000FF"/>
              </a:solidFill>
              <a:prstDash val="solid"/>
              <a:round/>
              <a:headEnd type="none" w="med" len="med"/>
              <a:tailEnd type="none" w="med" len="med"/>
            </a:ln>
            <a:effectLst/>
          </p:spPr>
        </p:cxnSp>
        <p:cxnSp>
          <p:nvCxnSpPr>
            <p:cNvPr id="40" name="直接连接符 39"/>
            <p:cNvCxnSpPr>
              <a:stCxn id="34" idx="7"/>
              <a:endCxn id="34" idx="3"/>
            </p:cNvCxnSpPr>
            <p:nvPr/>
          </p:nvCxnSpPr>
          <p:spPr bwMode="auto">
            <a:xfrm flipH="1">
              <a:off x="11681" y="5671"/>
              <a:ext cx="148" cy="148"/>
            </a:xfrm>
            <a:prstGeom prst="line">
              <a:avLst/>
            </a:prstGeom>
            <a:solidFill>
              <a:schemeClr val="accent1"/>
            </a:solidFill>
            <a:ln w="9525" cap="flat" cmpd="sng" algn="ctr">
              <a:solidFill>
                <a:srgbClr val="0000FF"/>
              </a:solidFill>
              <a:prstDash val="solid"/>
              <a:round/>
              <a:headEnd type="none" w="med" len="med"/>
              <a:tailEnd type="none" w="med" len="med"/>
            </a:ln>
            <a:effectLst/>
          </p:spPr>
        </p:cxnSp>
      </p:grpSp>
      <p:cxnSp>
        <p:nvCxnSpPr>
          <p:cNvPr id="41" name="直接箭头连接符 40"/>
          <p:cNvCxnSpPr/>
          <p:nvPr/>
        </p:nvCxnSpPr>
        <p:spPr bwMode="auto">
          <a:xfrm>
            <a:off x="7470858" y="3648810"/>
            <a:ext cx="11767" cy="38411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42" name="直接箭头连接符 41"/>
          <p:cNvCxnSpPr/>
          <p:nvPr/>
        </p:nvCxnSpPr>
        <p:spPr bwMode="auto">
          <a:xfrm flipH="1">
            <a:off x="7463600" y="3643290"/>
            <a:ext cx="489295" cy="10681"/>
          </a:xfrm>
          <a:prstGeom prst="straightConnector1">
            <a:avLst/>
          </a:prstGeom>
          <a:solidFill>
            <a:schemeClr val="accent1"/>
          </a:solidFill>
          <a:ln w="9525" cap="flat" cmpd="sng" algn="ctr">
            <a:solidFill>
              <a:srgbClr val="FF0000"/>
            </a:solidFill>
            <a:prstDash val="solid"/>
            <a:round/>
            <a:headEnd type="triangle" w="med" len="med"/>
            <a:tailEnd type="none" w="med" len="med"/>
          </a:ln>
          <a:effectLst/>
        </p:spPr>
      </p:cxnSp>
      <mc:AlternateContent xmlns:mc="http://schemas.openxmlformats.org/markup-compatibility/2006">
        <mc:Choice xmlns:a14="http://schemas.microsoft.com/office/drawing/2010/main" Requires="a14">
          <p:sp>
            <p:nvSpPr>
              <p:cNvPr id="44" name="文本框 43"/>
              <p:cNvSpPr txBox="1"/>
              <p:nvPr/>
            </p:nvSpPr>
            <p:spPr>
              <a:xfrm>
                <a:off x="7246347" y="3200835"/>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2</m:t>
                          </m:r>
                        </m:sub>
                      </m:sSub>
                    </m:oMath>
                  </m:oMathPara>
                </a14:m>
                <a:endParaRPr lang="zh-CN" altLang="en-US" sz="1800" dirty="0"/>
              </a:p>
            </p:txBody>
          </p:sp>
        </mc:Choice>
        <mc:Fallback>
          <p:sp>
            <p:nvSpPr>
              <p:cNvPr id="44" name="文本框 43"/>
              <p:cNvSpPr txBox="1">
                <a:spLocks noRot="1" noChangeAspect="1" noMove="1" noResize="1" noEditPoints="1" noAdjustHandles="1" noChangeArrowheads="1" noChangeShapeType="1" noTextEdit="1"/>
              </p:cNvSpPr>
              <p:nvPr/>
            </p:nvSpPr>
            <p:spPr>
              <a:xfrm>
                <a:off x="7246347" y="3200835"/>
                <a:ext cx="330200" cy="369332"/>
              </a:xfrm>
              <a:prstGeom prst="rect">
                <a:avLst/>
              </a:prstGeom>
              <a:blipFill rotWithShape="1">
                <a:blip r:embed="rId6"/>
                <a:stretch>
                  <a:fillRect l="-110" t="-118" r="-23544" b="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文本框 44"/>
              <p:cNvSpPr txBox="1"/>
              <p:nvPr/>
            </p:nvSpPr>
            <p:spPr>
              <a:xfrm>
                <a:off x="7941269" y="3395334"/>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𝑎</m:t>
                          </m:r>
                          <m:r>
                            <a:rPr lang="en-US" altLang="zh-CN" sz="1800" b="0" i="1" smtClean="0">
                              <a:latin typeface="Cambria Math" panose="02040503050406030204" pitchFamily="18" charset="0"/>
                            </a:rPr>
                            <m:t>2</m:t>
                          </m:r>
                        </m:sub>
                      </m:sSub>
                    </m:oMath>
                  </m:oMathPara>
                </a14:m>
                <a:endParaRPr lang="zh-CN" altLang="en-US" sz="1800" dirty="0"/>
              </a:p>
            </p:txBody>
          </p:sp>
        </mc:Choice>
        <mc:Fallback>
          <p:sp>
            <p:nvSpPr>
              <p:cNvPr id="45" name="文本框 44"/>
              <p:cNvSpPr txBox="1">
                <a:spLocks noRot="1" noChangeAspect="1" noMove="1" noResize="1" noEditPoints="1" noAdjustHandles="1" noChangeArrowheads="1" noChangeShapeType="1" noTextEdit="1"/>
              </p:cNvSpPr>
              <p:nvPr/>
            </p:nvSpPr>
            <p:spPr>
              <a:xfrm>
                <a:off x="7941269" y="3395334"/>
                <a:ext cx="330200" cy="369332"/>
              </a:xfrm>
              <a:prstGeom prst="rect">
                <a:avLst/>
              </a:prstGeom>
              <a:blipFill rotWithShape="1">
                <a:blip r:embed="rId7"/>
                <a:stretch>
                  <a:fillRect l="-180" t="-169" r="-32512" b="1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文本框 45"/>
              <p:cNvSpPr txBox="1"/>
              <p:nvPr/>
            </p:nvSpPr>
            <p:spPr>
              <a:xfrm>
                <a:off x="7645400" y="4070350"/>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𝑟</m:t>
                          </m:r>
                          <m:r>
                            <a:rPr lang="en-US" altLang="zh-CN" sz="1800" b="0" i="1" smtClean="0">
                              <a:latin typeface="Cambria Math" panose="02040503050406030204" pitchFamily="18" charset="0"/>
                            </a:rPr>
                            <m:t>2</m:t>
                          </m:r>
                        </m:sub>
                      </m:sSub>
                    </m:oMath>
                  </m:oMathPara>
                </a14:m>
                <a:endParaRPr lang="zh-CN" altLang="en-US" sz="1800" dirty="0"/>
              </a:p>
            </p:txBody>
          </p:sp>
        </mc:Choice>
        <mc:Fallback>
          <p:sp>
            <p:nvSpPr>
              <p:cNvPr id="46" name="文本框 45"/>
              <p:cNvSpPr txBox="1">
                <a:spLocks noRot="1" noChangeAspect="1" noMove="1" noResize="1" noEditPoints="1" noAdjustHandles="1" noChangeArrowheads="1" noChangeShapeType="1" noTextEdit="1"/>
              </p:cNvSpPr>
              <p:nvPr/>
            </p:nvSpPr>
            <p:spPr>
              <a:xfrm>
                <a:off x="7645400" y="4070350"/>
                <a:ext cx="330200" cy="369332"/>
              </a:xfrm>
              <a:prstGeom prst="rect">
                <a:avLst/>
              </a:prstGeom>
              <a:blipFill rotWithShape="1">
                <a:blip r:embed="rId8"/>
                <a:stretch>
                  <a:fillRect r="-28077" b="107"/>
                </a:stretch>
              </a:blipFill>
            </p:spPr>
            <p:txBody>
              <a:bodyPr/>
              <a:lstStyle/>
              <a:p>
                <a:r>
                  <a:rPr lang="zh-CN" altLang="en-US">
                    <a:noFill/>
                  </a:rPr>
                  <a:t> </a:t>
                </a:r>
              </a:p>
            </p:txBody>
          </p:sp>
        </mc:Fallback>
      </mc:AlternateContent>
      <p:sp>
        <p:nvSpPr>
          <p:cNvPr id="47" name="矩形 46"/>
          <p:cNvSpPr/>
          <p:nvPr/>
        </p:nvSpPr>
        <p:spPr bwMode="auto">
          <a:xfrm>
            <a:off x="5917999" y="3738613"/>
            <a:ext cx="361950" cy="5905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49" name="直接箭头连接符 48"/>
          <p:cNvCxnSpPr/>
          <p:nvPr/>
        </p:nvCxnSpPr>
        <p:spPr bwMode="auto">
          <a:xfrm flipH="1">
            <a:off x="5628450" y="4316390"/>
            <a:ext cx="489295" cy="10681"/>
          </a:xfrm>
          <a:prstGeom prst="straightConnector1">
            <a:avLst/>
          </a:prstGeom>
          <a:solidFill>
            <a:schemeClr val="accent1"/>
          </a:solidFill>
          <a:ln w="9525" cap="flat" cmpd="sng" algn="ctr">
            <a:solidFill>
              <a:srgbClr val="FF0000"/>
            </a:solidFill>
            <a:prstDash val="solid"/>
            <a:round/>
            <a:headEnd type="none" w="med" len="med"/>
            <a:tailEnd type="triangle" w="med" len="med"/>
          </a:ln>
          <a:effectLst/>
        </p:spPr>
      </p:cxnSp>
      <p:cxnSp>
        <p:nvCxnSpPr>
          <p:cNvPr id="55" name="直接箭头连接符 54"/>
          <p:cNvCxnSpPr>
            <a:stCxn id="48" idx="0"/>
          </p:cNvCxnSpPr>
          <p:nvPr/>
        </p:nvCxnSpPr>
        <p:spPr bwMode="auto">
          <a:xfrm flipV="1">
            <a:off x="6105525" y="3994484"/>
            <a:ext cx="1704" cy="228266"/>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57" name="文本框 56"/>
              <p:cNvSpPr txBox="1"/>
              <p:nvPr/>
            </p:nvSpPr>
            <p:spPr>
              <a:xfrm>
                <a:off x="5250514" y="4130776"/>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𝑎</m:t>
                          </m:r>
                          <m:r>
                            <a:rPr lang="en-US" altLang="zh-CN" sz="1800" b="0" i="1" smtClean="0">
                              <a:latin typeface="Cambria Math" panose="02040503050406030204" pitchFamily="18" charset="0"/>
                            </a:rPr>
                            <m:t>3</m:t>
                          </m:r>
                        </m:sub>
                      </m:sSub>
                    </m:oMath>
                  </m:oMathPara>
                </a14:m>
                <a:endParaRPr lang="zh-CN" altLang="en-US" sz="1800" dirty="0"/>
              </a:p>
            </p:txBody>
          </p:sp>
        </mc:Choice>
        <mc:Fallback>
          <p:sp>
            <p:nvSpPr>
              <p:cNvPr id="57" name="文本框 56"/>
              <p:cNvSpPr txBox="1">
                <a:spLocks noRot="1" noChangeAspect="1" noMove="1" noResize="1" noEditPoints="1" noAdjustHandles="1" noChangeArrowheads="1" noChangeShapeType="1" noTextEdit="1"/>
              </p:cNvSpPr>
              <p:nvPr/>
            </p:nvSpPr>
            <p:spPr>
              <a:xfrm>
                <a:off x="5250514" y="4130776"/>
                <a:ext cx="330200" cy="369332"/>
              </a:xfrm>
              <a:prstGeom prst="rect">
                <a:avLst/>
              </a:prstGeom>
              <a:blipFill rotWithShape="1">
                <a:blip r:embed="rId9"/>
                <a:stretch>
                  <a:fillRect l="-101" t="-27" r="-32591" b="1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 name="文本框 57"/>
              <p:cNvSpPr txBox="1"/>
              <p:nvPr/>
            </p:nvSpPr>
            <p:spPr>
              <a:xfrm>
                <a:off x="5919470" y="3245251"/>
                <a:ext cx="33020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𝑟</m:t>
                          </m:r>
                          <m:r>
                            <a:rPr lang="en-US" altLang="zh-CN" sz="1800" b="0" i="1" smtClean="0">
                              <a:latin typeface="Cambria Math" panose="02040503050406030204" pitchFamily="18" charset="0"/>
                            </a:rPr>
                            <m:t>3</m:t>
                          </m:r>
                        </m:sub>
                      </m:sSub>
                    </m:oMath>
                  </m:oMathPara>
                </a14:m>
                <a:endParaRPr lang="zh-CN" altLang="en-US" sz="1800" dirty="0"/>
              </a:p>
            </p:txBody>
          </p:sp>
        </mc:Choice>
        <mc:Fallback>
          <p:sp>
            <p:nvSpPr>
              <p:cNvPr id="58" name="文本框 57"/>
              <p:cNvSpPr txBox="1">
                <a:spLocks noRot="1" noChangeAspect="1" noMove="1" noResize="1" noEditPoints="1" noAdjustHandles="1" noChangeArrowheads="1" noChangeShapeType="1" noTextEdit="1"/>
              </p:cNvSpPr>
              <p:nvPr/>
            </p:nvSpPr>
            <p:spPr>
              <a:xfrm>
                <a:off x="5919470" y="3245251"/>
                <a:ext cx="330200" cy="369332"/>
              </a:xfrm>
              <a:prstGeom prst="rect">
                <a:avLst/>
              </a:prstGeom>
              <a:blipFill rotWithShape="1">
                <a:blip r:embed="rId10"/>
                <a:stretch>
                  <a:fillRect t="-109" r="-28077" b="44"/>
                </a:stretch>
              </a:blipFill>
            </p:spPr>
            <p:txBody>
              <a:bodyPr/>
              <a:lstStyle/>
              <a:p>
                <a:r>
                  <a:rPr lang="zh-CN" altLang="en-US">
                    <a:noFill/>
                  </a:rPr>
                  <a:t> </a:t>
                </a:r>
              </a:p>
            </p:txBody>
          </p:sp>
        </mc:Fallback>
      </mc:AlternateContent>
      <p:grpSp>
        <p:nvGrpSpPr>
          <p:cNvPr id="5" name="组合 4"/>
          <p:cNvGrpSpPr/>
          <p:nvPr/>
        </p:nvGrpSpPr>
        <p:grpSpPr>
          <a:xfrm>
            <a:off x="6038850" y="4222750"/>
            <a:ext cx="457835" cy="478155"/>
            <a:chOff x="9510" y="6650"/>
            <a:chExt cx="721" cy="753"/>
          </a:xfrm>
        </p:grpSpPr>
        <p:sp>
          <p:nvSpPr>
            <p:cNvPr id="48" name="椭圆 47"/>
            <p:cNvSpPr/>
            <p:nvPr/>
          </p:nvSpPr>
          <p:spPr bwMode="auto">
            <a:xfrm>
              <a:off x="9510" y="6650"/>
              <a:ext cx="210" cy="21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51" name="直接连接符 50"/>
            <p:cNvCxnSpPr>
              <a:stCxn id="48" idx="7"/>
              <a:endCxn id="48" idx="3"/>
            </p:cNvCxnSpPr>
            <p:nvPr/>
          </p:nvCxnSpPr>
          <p:spPr bwMode="auto">
            <a:xfrm flipH="1">
              <a:off x="9541" y="6681"/>
              <a:ext cx="148" cy="148"/>
            </a:xfrm>
            <a:prstGeom prst="line">
              <a:avLst/>
            </a:prstGeom>
            <a:solidFill>
              <a:schemeClr val="accent1"/>
            </a:solidFill>
            <a:ln w="9525" cap="flat" cmpd="sng" algn="ctr">
              <a:solidFill>
                <a:srgbClr val="0000FF"/>
              </a:solidFill>
              <a:prstDash val="solid"/>
              <a:round/>
              <a:headEnd type="none" w="med" len="med"/>
              <a:tailEnd type="none" w="med" len="med"/>
            </a:ln>
            <a:effectLst/>
          </p:spPr>
        </p:cxnSp>
        <p:cxnSp>
          <p:nvCxnSpPr>
            <p:cNvPr id="53" name="直接连接符 52"/>
            <p:cNvCxnSpPr>
              <a:stCxn id="48" idx="1"/>
              <a:endCxn id="48" idx="5"/>
            </p:cNvCxnSpPr>
            <p:nvPr/>
          </p:nvCxnSpPr>
          <p:spPr bwMode="auto">
            <a:xfrm>
              <a:off x="9541" y="6681"/>
              <a:ext cx="148" cy="148"/>
            </a:xfrm>
            <a:prstGeom prst="line">
              <a:avLst/>
            </a:prstGeom>
            <a:solidFill>
              <a:schemeClr val="accent1"/>
            </a:solidFill>
            <a:ln w="9525" cap="flat" cmpd="sng" algn="ctr">
              <a:solidFill>
                <a:srgbClr val="0000FF"/>
              </a:solidFill>
              <a:prstDash val="solid"/>
              <a:round/>
              <a:headEnd type="none" w="med" len="med"/>
              <a:tailEnd type="none" w="med" len="med"/>
            </a:ln>
            <a:effectLst/>
          </p:spPr>
        </p:cxnSp>
        <mc:AlternateContent xmlns:mc="http://schemas.openxmlformats.org/markup-compatibility/2006">
          <mc:Choice xmlns:a14="http://schemas.microsoft.com/office/drawing/2010/main" Requires="a14">
            <p:sp>
              <p:nvSpPr>
                <p:cNvPr id="59" name="文本框 58"/>
                <p:cNvSpPr txBox="1"/>
                <p:nvPr/>
              </p:nvSpPr>
              <p:spPr>
                <a:xfrm>
                  <a:off x="9519" y="6823"/>
                  <a:ext cx="712" cy="58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3</m:t>
                            </m:r>
                          </m:sub>
                        </m:sSub>
                      </m:oMath>
                    </m:oMathPara>
                  </a14:m>
                  <a:endParaRPr lang="zh-CN" altLang="en-US" sz="1800" dirty="0"/>
                </a:p>
              </p:txBody>
            </p:sp>
          </mc:Choice>
          <mc:Fallback>
            <p:sp>
              <p:nvSpPr>
                <p:cNvPr id="59" name="文本框 58"/>
                <p:cNvSpPr txBox="1">
                  <a:spLocks noRot="1" noChangeAspect="1" noMove="1" noResize="1" noEditPoints="1" noAdjustHandles="1" noChangeArrowheads="1" noChangeShapeType="1" noTextEdit="1"/>
                </p:cNvSpPr>
                <p:nvPr/>
              </p:nvSpPr>
              <p:spPr>
                <a:xfrm>
                  <a:off x="9519" y="6823"/>
                  <a:ext cx="712" cy="580"/>
                </a:xfrm>
                <a:prstGeom prst="rect">
                  <a:avLst/>
                </a:prstGeom>
                <a:blipFill rotWithShape="1">
                  <a:blip r:embed="rId11"/>
                </a:blipFill>
              </p:spPr>
              <p:txBody>
                <a:bodyPr/>
                <a:lstStyle/>
                <a:p>
                  <a:r>
                    <a:rPr lang="zh-CN" altLang="en-US">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par>
                                <p:cTn id="18" presetID="22" presetClass="entr" presetSubtype="8"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down)">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down)">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down)">
                                      <p:cBhvr>
                                        <p:cTn id="50" dur="5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wipe(right)">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down)">
                                      <p:cBhvr>
                                        <p:cTn id="60" dur="500"/>
                                        <p:tgtEl>
                                          <p:spTgt spid="2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down)">
                                      <p:cBhvr>
                                        <p:cTn id="65" dur="500"/>
                                        <p:tgtEl>
                                          <p:spTgt spid="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wipe(down)">
                                      <p:cBhvr>
                                        <p:cTn id="70" dur="500"/>
                                        <p:tgtEl>
                                          <p:spTgt spid="4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up)">
                                      <p:cBhvr>
                                        <p:cTn id="75" dur="500"/>
                                        <p:tgtEl>
                                          <p:spTgt spid="4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wipe(down)">
                                      <p:cBhvr>
                                        <p:cTn id="80" dur="500"/>
                                        <p:tgtEl>
                                          <p:spTgt spid="4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wipe(left)">
                                      <p:cBhvr>
                                        <p:cTn id="85" dur="500"/>
                                        <p:tgtEl>
                                          <p:spTgt spid="4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wipe(down)">
                                      <p:cBhvr>
                                        <p:cTn id="90" dur="500"/>
                                        <p:tgtEl>
                                          <p:spTgt spid="45"/>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2" fill="hold" nodeType="click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wipe(right)">
                                      <p:cBhvr>
                                        <p:cTn id="95" dur="500"/>
                                        <p:tgtEl>
                                          <p:spTgt spid="4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57"/>
                                        </p:tgtEl>
                                        <p:attrNameLst>
                                          <p:attrName>style.visibility</p:attrName>
                                        </p:attrNameLst>
                                      </p:cBhvr>
                                      <p:to>
                                        <p:strVal val="visible"/>
                                      </p:to>
                                    </p:set>
                                    <p:animEffect transition="in" filter="wipe(down)">
                                      <p:cBhvr>
                                        <p:cTn id="100" dur="500"/>
                                        <p:tgtEl>
                                          <p:spTgt spid="5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nodeType="clickEffect">
                                  <p:stCondLst>
                                    <p:cond delay="0"/>
                                  </p:stCondLst>
                                  <p:childTnLst>
                                    <p:set>
                                      <p:cBhvr>
                                        <p:cTn id="104" dur="1" fill="hold">
                                          <p:stCondLst>
                                            <p:cond delay="0"/>
                                          </p:stCondLst>
                                        </p:cTn>
                                        <p:tgtEl>
                                          <p:spTgt spid="5"/>
                                        </p:tgtEl>
                                        <p:attrNameLst>
                                          <p:attrName>style.visibility</p:attrName>
                                        </p:attrNameLst>
                                      </p:cBhvr>
                                      <p:to>
                                        <p:strVal val="visible"/>
                                      </p:to>
                                    </p:set>
                                    <p:animEffect transition="in" filter="wipe(down)">
                                      <p:cBhvr>
                                        <p:cTn id="105" dur="500"/>
                                        <p:tgtEl>
                                          <p:spTgt spid="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wipe(down)">
                                      <p:cBhvr>
                                        <p:cTn id="110" dur="500"/>
                                        <p:tgtEl>
                                          <p:spTgt spid="5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58"/>
                                        </p:tgtEl>
                                        <p:attrNameLst>
                                          <p:attrName>style.visibility</p:attrName>
                                        </p:attrNameLst>
                                      </p:cBhvr>
                                      <p:to>
                                        <p:strVal val="visible"/>
                                      </p:to>
                                    </p:set>
                                    <p:animEffect transition="in" filter="wipe(down)">
                                      <p:cBhvr>
                                        <p:cTn id="115" dur="500"/>
                                        <p:tgtEl>
                                          <p:spTgt spid="58"/>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12"/>
                                        </p:tgtEl>
                                        <p:attrNameLst>
                                          <p:attrName>style.visibility</p:attrName>
                                        </p:attrNameLst>
                                      </p:cBhvr>
                                      <p:to>
                                        <p:strVal val="visible"/>
                                      </p:to>
                                    </p:set>
                                    <p:animEffect transition="in" filter="wipe(left)">
                                      <p:cBhvr>
                                        <p:cTn id="120" dur="500"/>
                                        <p:tgtEl>
                                          <p:spTgt spid="12"/>
                                        </p:tgtEl>
                                      </p:cBhvr>
                                    </p:animEffect>
                                  </p:childTnLst>
                                </p:cTn>
                              </p:par>
                              <p:par>
                                <p:cTn id="121" presetID="22" presetClass="entr" presetSubtype="8" fill="hold" nodeType="withEffect">
                                  <p:stCondLst>
                                    <p:cond delay="0"/>
                                  </p:stCondLst>
                                  <p:childTnLst>
                                    <p:set>
                                      <p:cBhvr>
                                        <p:cTn id="122" dur="1" fill="hold">
                                          <p:stCondLst>
                                            <p:cond delay="0"/>
                                          </p:stCondLst>
                                        </p:cTn>
                                        <p:tgtEl>
                                          <p:spTgt spid="11"/>
                                        </p:tgtEl>
                                        <p:attrNameLst>
                                          <p:attrName>style.visibility</p:attrName>
                                        </p:attrNameLst>
                                      </p:cBhvr>
                                      <p:to>
                                        <p:strVal val="visible"/>
                                      </p:to>
                                    </p:set>
                                    <p:animEffect transition="in" filter="wipe(left)">
                                      <p:cBhvr>
                                        <p:cTn id="123" dur="500"/>
                                        <p:tgtEl>
                                          <p:spTgt spid="11"/>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14"/>
                                        </p:tgtEl>
                                        <p:attrNameLst>
                                          <p:attrName>style.visibility</p:attrName>
                                        </p:attrNameLst>
                                      </p:cBhvr>
                                      <p:to>
                                        <p:strVal val="visible"/>
                                      </p:to>
                                    </p:set>
                                    <p:animEffect transition="in" filter="wipe(down)">
                                      <p:cBhvr>
                                        <p:cTn id="128" dur="500"/>
                                        <p:tgtEl>
                                          <p:spTgt spid="14"/>
                                        </p:tgtEl>
                                      </p:cBhvr>
                                    </p:animEffect>
                                  </p:childTnLst>
                                </p:cTn>
                              </p:par>
                              <p:par>
                                <p:cTn id="129" presetID="22" presetClass="entr" presetSubtype="4" fill="hold" nodeType="withEffect">
                                  <p:stCondLst>
                                    <p:cond delay="0"/>
                                  </p:stCondLst>
                                  <p:childTnLst>
                                    <p:set>
                                      <p:cBhvr>
                                        <p:cTn id="130" dur="1" fill="hold">
                                          <p:stCondLst>
                                            <p:cond delay="0"/>
                                          </p:stCondLst>
                                        </p:cTn>
                                        <p:tgtEl>
                                          <p:spTgt spid="15"/>
                                        </p:tgtEl>
                                        <p:attrNameLst>
                                          <p:attrName>style.visibility</p:attrName>
                                        </p:attrNameLst>
                                      </p:cBhvr>
                                      <p:to>
                                        <p:strVal val="visible"/>
                                      </p:to>
                                    </p:set>
                                    <p:animEffect transition="in" filter="wipe(down)">
                                      <p:cBhvr>
                                        <p:cTn id="1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9" grpId="0" animBg="1"/>
      <p:bldP spid="23" grpId="0" animBg="1"/>
      <p:bldP spid="29" grpId="0"/>
      <p:bldP spid="27" grpId="0"/>
      <p:bldP spid="44" grpId="0"/>
      <p:bldP spid="46" grpId="0"/>
      <p:bldP spid="45" grpId="0"/>
      <p:bldP spid="57" grpId="0"/>
      <p:bldP spid="5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Grp="1" noChangeAspect="1"/>
          </p:cNvGraphicFramePr>
          <p:nvPr>
            <p:ph idx="4294967295"/>
          </p:nvPr>
        </p:nvGraphicFramePr>
        <p:xfrm>
          <a:off x="4930776" y="1669257"/>
          <a:ext cx="3413125" cy="3306762"/>
        </p:xfrm>
        <a:graphic>
          <a:graphicData uri="http://schemas.openxmlformats.org/presentationml/2006/ole">
            <mc:AlternateContent xmlns:mc="http://schemas.openxmlformats.org/markup-compatibility/2006">
              <mc:Choice xmlns:v="urn:schemas-microsoft-com:vml" Requires="v">
                <p:oleObj spid="_x0000_s29751" name="文档" r:id="rId1" imgW="2640965" imgH="2559050" progId="Word.Document.8">
                  <p:embed/>
                </p:oleObj>
              </mc:Choice>
              <mc:Fallback>
                <p:oleObj name="文档" r:id="rId1" imgW="2640965" imgH="2559050" progId="Word.Document.8">
                  <p:embed/>
                  <p:pic>
                    <p:nvPicPr>
                      <p:cNvPr id="0" name="图片 2972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0776" y="1669257"/>
                        <a:ext cx="3413125" cy="330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Text Box 5"/>
          <p:cNvSpPr txBox="1">
            <a:spLocks noChangeArrowheads="1"/>
          </p:cNvSpPr>
          <p:nvPr/>
        </p:nvSpPr>
        <p:spPr bwMode="auto">
          <a:xfrm>
            <a:off x="358984" y="1763196"/>
            <a:ext cx="3010381" cy="77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609600" indent="-60960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200" dirty="0">
                <a:latin typeface="黑体" panose="02010609060101010101" pitchFamily="49" charset="-122"/>
                <a:ea typeface="黑体" panose="02010609060101010101" pitchFamily="49" charset="-122"/>
              </a:rPr>
              <a:t>1.Ⅰ</a:t>
            </a:r>
            <a:r>
              <a:rPr lang="zh-CN" altLang="en-US" sz="2200" dirty="0">
                <a:latin typeface="黑体" panose="02010609060101010101" pitchFamily="49" charset="-122"/>
                <a:ea typeface="黑体" panose="02010609060101010101" pitchFamily="49" charset="-122"/>
              </a:rPr>
              <a:t>轴、</a:t>
            </a:r>
            <a:r>
              <a:rPr lang="en-US" altLang="zh-CN" sz="2200" dirty="0">
                <a:latin typeface="黑体" panose="02010609060101010101" pitchFamily="49" charset="-122"/>
                <a:ea typeface="黑体" panose="02010609060101010101" pitchFamily="49" charset="-122"/>
              </a:rPr>
              <a:t>Ⅱ</a:t>
            </a:r>
            <a:r>
              <a:rPr lang="zh-CN" altLang="en-US" sz="2200" dirty="0">
                <a:latin typeface="黑体" panose="02010609060101010101" pitchFamily="49" charset="-122"/>
                <a:ea typeface="黑体" panose="02010609060101010101" pitchFamily="49" charset="-122"/>
              </a:rPr>
              <a:t>轴的</a:t>
            </a:r>
            <a:r>
              <a:rPr lang="zh-CN" altLang="en-US" sz="2200" dirty="0" smtClean="0">
                <a:latin typeface="黑体" panose="02010609060101010101" pitchFamily="49" charset="-122"/>
                <a:ea typeface="黑体" panose="02010609060101010101" pitchFamily="49" charset="-122"/>
              </a:rPr>
              <a:t>转向如图</a:t>
            </a:r>
            <a:r>
              <a:rPr lang="zh-CN" altLang="en-US" sz="2200" dirty="0">
                <a:latin typeface="黑体" panose="02010609060101010101" pitchFamily="49" charset="-122"/>
                <a:ea typeface="黑体" panose="02010609060101010101" pitchFamily="49" charset="-122"/>
              </a:rPr>
              <a:t>所示</a:t>
            </a:r>
            <a:endParaRPr lang="en-US" altLang="zh-CN" sz="2200" dirty="0">
              <a:latin typeface="黑体" panose="02010609060101010101" pitchFamily="49" charset="-122"/>
              <a:ea typeface="黑体" panose="02010609060101010101" pitchFamily="49" charset="-122"/>
            </a:endParaRPr>
          </a:p>
        </p:txBody>
      </p:sp>
      <p:sp>
        <p:nvSpPr>
          <p:cNvPr id="5124" name="Rectangle 6"/>
          <p:cNvSpPr>
            <a:spLocks noChangeArrowheads="1"/>
          </p:cNvSpPr>
          <p:nvPr/>
        </p:nvSpPr>
        <p:spPr bwMode="auto">
          <a:xfrm>
            <a:off x="468313" y="2586072"/>
            <a:ext cx="3598862" cy="1367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使</a:t>
            </a:r>
            <a:r>
              <a:rPr lang="en-US" altLang="zh-CN" sz="2200" dirty="0">
                <a:latin typeface="黑体" panose="02010609060101010101" pitchFamily="49" charset="-122"/>
                <a:ea typeface="黑体" panose="02010609060101010101" pitchFamily="49" charset="-122"/>
              </a:rPr>
              <a:t>Ⅱ</a:t>
            </a:r>
            <a:r>
              <a:rPr lang="zh-CN" altLang="en-US" sz="2200" dirty="0">
                <a:latin typeface="黑体" panose="02010609060101010101" pitchFamily="49" charset="-122"/>
                <a:ea typeface="黑体" panose="02010609060101010101" pitchFamily="49" charset="-122"/>
              </a:rPr>
              <a:t>轴受力最小，齿轮</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的旋向如图所示，齿轮</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的旋向如图所示</a:t>
            </a:r>
            <a:endParaRPr lang="zh-CN" altLang="en-US" sz="2200" dirty="0">
              <a:latin typeface="黑体" panose="02010609060101010101" pitchFamily="49" charset="-122"/>
              <a:ea typeface="黑体" panose="02010609060101010101" pitchFamily="49" charset="-122"/>
            </a:endParaRPr>
          </a:p>
        </p:txBody>
      </p:sp>
      <p:sp>
        <p:nvSpPr>
          <p:cNvPr id="5125" name="Rectangle 7"/>
          <p:cNvSpPr>
            <a:spLocks noChangeArrowheads="1"/>
          </p:cNvSpPr>
          <p:nvPr/>
        </p:nvSpPr>
        <p:spPr bwMode="auto">
          <a:xfrm>
            <a:off x="468314" y="4220370"/>
            <a:ext cx="3432175" cy="974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齿轮</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所受各分力方向如图所示</a:t>
            </a:r>
            <a:endParaRPr lang="zh-CN" altLang="en-US" sz="2200" dirty="0">
              <a:latin typeface="黑体" panose="02010609060101010101" pitchFamily="49" charset="-122"/>
              <a:ea typeface="黑体" panose="02010609060101010101" pitchFamily="49" charset="-122"/>
            </a:endParaRPr>
          </a:p>
        </p:txBody>
      </p:sp>
      <p:sp>
        <p:nvSpPr>
          <p:cNvPr id="5126" name="TextBox 2"/>
          <p:cNvSpPr txBox="1">
            <a:spLocks noChangeArrowheads="1"/>
          </p:cNvSpPr>
          <p:nvPr/>
        </p:nvSpPr>
        <p:spPr bwMode="auto">
          <a:xfrm>
            <a:off x="444846" y="918645"/>
            <a:ext cx="46679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200" dirty="0">
                <a:solidFill>
                  <a:srgbClr val="FF0000"/>
                </a:solidFill>
                <a:latin typeface="黑体" panose="02010609060101010101" pitchFamily="49" charset="-122"/>
                <a:ea typeface="黑体" panose="02010609060101010101" pitchFamily="49" charset="-122"/>
              </a:rPr>
              <a:t>解</a:t>
            </a:r>
            <a:endParaRPr lang="zh-CN" altLang="en-US" sz="2200"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wipe(left)">
                                      <p:cBhvr>
                                        <p:cTn id="7" dur="500"/>
                                        <p:tgtEl>
                                          <p:spTgt spid="5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24"/>
                                        </p:tgtEl>
                                        <p:attrNameLst>
                                          <p:attrName>style.visibility</p:attrName>
                                        </p:attrNameLst>
                                      </p:cBhvr>
                                      <p:to>
                                        <p:strVal val="visible"/>
                                      </p:to>
                                    </p:set>
                                    <p:animEffect transition="in" filter="wipe(up)">
                                      <p:cBhvr>
                                        <p:cTn id="12" dur="500"/>
                                        <p:tgtEl>
                                          <p:spTgt spid="51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5"/>
                                        </p:tgtEl>
                                        <p:attrNameLst>
                                          <p:attrName>style.visibility</p:attrName>
                                        </p:attrNameLst>
                                      </p:cBhvr>
                                      <p:to>
                                        <p:strVal val="visible"/>
                                      </p:to>
                                    </p:set>
                                    <p:animEffect transition="in" filter="wipe(left)">
                                      <p:cBhvr>
                                        <p:cTn id="17"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ldLvl="0" animBg="1"/>
      <p:bldP spid="5124" grpId="0" bldLvl="0" animBg="1"/>
      <p:bldP spid="512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ChangeArrowheads="1"/>
          </p:cNvSpPr>
          <p:nvPr/>
        </p:nvSpPr>
        <p:spPr bwMode="auto">
          <a:xfrm>
            <a:off x="329565" y="1640840"/>
            <a:ext cx="47307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3200">
                <a:solidFill>
                  <a:schemeClr val="tx2"/>
                </a:solidFill>
                <a:latin typeface="Times New Roman" panose="02020603050405020304" pitchFamily="18" charset="0"/>
                <a:ea typeface="宋体" panose="02010600030101010101" pitchFamily="2" charset="-122"/>
              </a:defRPr>
            </a:lvl1pPr>
            <a:lvl2pPr marL="742950" indent="-285750" eaLnBrk="0" hangingPunct="0">
              <a:defRPr sz="3200">
                <a:solidFill>
                  <a:schemeClr val="tx2"/>
                </a:solidFill>
                <a:latin typeface="Times New Roman" panose="02020603050405020304" pitchFamily="18" charset="0"/>
                <a:ea typeface="宋体" panose="02010600030101010101" pitchFamily="2" charset="-122"/>
              </a:defRPr>
            </a:lvl2pPr>
            <a:lvl3pPr marL="1143000" indent="-228600" eaLnBrk="0" hangingPunct="0">
              <a:defRPr sz="3200">
                <a:solidFill>
                  <a:schemeClr val="tx2"/>
                </a:solidFill>
                <a:latin typeface="Times New Roman" panose="02020603050405020304" pitchFamily="18" charset="0"/>
                <a:ea typeface="宋体" panose="02010600030101010101" pitchFamily="2" charset="-122"/>
              </a:defRPr>
            </a:lvl3pPr>
            <a:lvl4pPr marL="1600200" indent="-228600" eaLnBrk="0" hangingPunct="0">
              <a:defRPr sz="3200">
                <a:solidFill>
                  <a:schemeClr val="tx2"/>
                </a:solidFill>
                <a:latin typeface="Times New Roman" panose="02020603050405020304" pitchFamily="18" charset="0"/>
                <a:ea typeface="宋体" panose="02010600030101010101" pitchFamily="2" charset="-122"/>
              </a:defRPr>
            </a:lvl4pPr>
            <a:lvl5pPr marL="2057400" indent="-228600" eaLnBrk="0" hangingPunct="0">
              <a:defRPr sz="3200">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9pPr>
          </a:lstStyle>
          <a:p>
            <a:pPr algn="l" eaLnBrk="1" hangingPunct="1">
              <a:lnSpc>
                <a:spcPct val="150000"/>
              </a:lnSpc>
            </a:pPr>
            <a:r>
              <a:rPr lang="zh-CN" altLang="en-US" sz="2400" b="1" dirty="0">
                <a:solidFill>
                  <a:srgbClr val="FF0000"/>
                </a:solidFill>
              </a:rPr>
              <a:t>例</a:t>
            </a:r>
            <a:r>
              <a:rPr lang="en-US" altLang="zh-CN" sz="2400" b="1" dirty="0">
                <a:solidFill>
                  <a:srgbClr val="FF0000"/>
                </a:solidFill>
              </a:rPr>
              <a:t>2</a:t>
            </a:r>
            <a:r>
              <a:rPr lang="en-US" altLang="zh-CN" sz="2000" b="1" dirty="0">
                <a:solidFill>
                  <a:srgbClr val="FF0000"/>
                </a:solidFill>
              </a:rPr>
              <a:t>   </a:t>
            </a:r>
            <a:r>
              <a:rPr lang="zh-CN" sz="2200" b="1" dirty="0">
                <a:solidFill>
                  <a:srgbClr val="002060"/>
                </a:solidFill>
              </a:rPr>
              <a:t>例1中的二级齿轮减速器，已知</a:t>
            </a:r>
            <a:r>
              <a:rPr lang="zh-CN" altLang="en-US" sz="2200" b="1" dirty="0">
                <a:solidFill>
                  <a:srgbClr val="002060"/>
                </a:solidFill>
              </a:rPr>
              <a:t>齿轮</a:t>
            </a:r>
            <a:r>
              <a:rPr lang="en-US" altLang="zh-CN" sz="2200" b="1" dirty="0">
                <a:solidFill>
                  <a:srgbClr val="002060"/>
                </a:solidFill>
              </a:rPr>
              <a:t>2</a:t>
            </a:r>
            <a:r>
              <a:rPr lang="zh-CN" altLang="en-US" sz="2200" b="1" dirty="0">
                <a:solidFill>
                  <a:srgbClr val="002060"/>
                </a:solidFill>
              </a:rPr>
              <a:t>的参数为法面模数</a:t>
            </a:r>
            <a:r>
              <a:rPr lang="en-US" altLang="zh-CN" sz="2200" b="1" i="1" dirty="0" err="1">
                <a:solidFill>
                  <a:srgbClr val="002060"/>
                </a:solidFill>
              </a:rPr>
              <a:t>m</a:t>
            </a:r>
            <a:r>
              <a:rPr lang="en-US" altLang="zh-CN" sz="2200" b="1" i="1" baseline="-25000" dirty="0" err="1">
                <a:solidFill>
                  <a:srgbClr val="002060"/>
                </a:solidFill>
              </a:rPr>
              <a:t>n</a:t>
            </a:r>
            <a:r>
              <a:rPr lang="en-US" altLang="zh-CN" sz="2200" b="1" dirty="0">
                <a:solidFill>
                  <a:srgbClr val="002060"/>
                </a:solidFill>
              </a:rPr>
              <a:t>=3 mm</a:t>
            </a:r>
            <a:r>
              <a:rPr lang="zh-CN" altLang="en-US" sz="2200" b="1" dirty="0">
                <a:solidFill>
                  <a:srgbClr val="002060"/>
                </a:solidFill>
              </a:rPr>
              <a:t>，</a:t>
            </a:r>
            <a:r>
              <a:rPr lang="zh-CN" altLang="en-US" sz="2200" b="1" dirty="0">
                <a:solidFill>
                  <a:srgbClr val="002060"/>
                </a:solidFill>
              </a:rPr>
              <a:t>齿数</a:t>
            </a:r>
            <a:r>
              <a:rPr lang="en-US" altLang="zh-CN" sz="2200" b="1" dirty="0">
                <a:solidFill>
                  <a:srgbClr val="002060"/>
                </a:solidFill>
              </a:rPr>
              <a:t>z</a:t>
            </a:r>
            <a:r>
              <a:rPr lang="en-US" altLang="zh-CN" sz="2200" b="1" baseline="-25000" dirty="0">
                <a:solidFill>
                  <a:srgbClr val="002060"/>
                </a:solidFill>
              </a:rPr>
              <a:t>2</a:t>
            </a:r>
            <a:r>
              <a:rPr lang="en-US" altLang="zh-CN" sz="2200" b="1" dirty="0">
                <a:solidFill>
                  <a:srgbClr val="002060"/>
                </a:solidFill>
              </a:rPr>
              <a:t>=57</a:t>
            </a:r>
            <a:r>
              <a:rPr lang="zh-CN" altLang="en-US" sz="2200" b="1" dirty="0">
                <a:solidFill>
                  <a:srgbClr val="002060"/>
                </a:solidFill>
              </a:rPr>
              <a:t>，螺旋角</a:t>
            </a:r>
            <a:r>
              <a:rPr lang="en-US" altLang="zh-CN" sz="2200" b="1" i="1" dirty="0">
                <a:solidFill>
                  <a:srgbClr val="002060"/>
                </a:solidFill>
              </a:rPr>
              <a:t>β</a:t>
            </a:r>
            <a:r>
              <a:rPr lang="en-US" altLang="zh-CN" sz="2200" b="1" i="1" baseline="-25000" dirty="0">
                <a:solidFill>
                  <a:srgbClr val="002060"/>
                </a:solidFill>
              </a:rPr>
              <a:t>2</a:t>
            </a:r>
            <a:r>
              <a:rPr lang="en-US" altLang="zh-CN" sz="2200" b="1" dirty="0">
                <a:solidFill>
                  <a:srgbClr val="002060"/>
                </a:solidFill>
              </a:rPr>
              <a:t>=14º</a:t>
            </a:r>
            <a:r>
              <a:rPr lang="zh-CN" altLang="en-US" sz="2200" b="1" dirty="0">
                <a:solidFill>
                  <a:srgbClr val="002060"/>
                </a:solidFill>
              </a:rPr>
              <a:t>，齿轮</a:t>
            </a:r>
            <a:r>
              <a:rPr lang="en-US" altLang="zh-CN" sz="2200" b="1" dirty="0">
                <a:solidFill>
                  <a:srgbClr val="002060"/>
                </a:solidFill>
              </a:rPr>
              <a:t>3</a:t>
            </a:r>
            <a:r>
              <a:rPr lang="zh-CN" altLang="en-US" sz="2200" b="1" dirty="0">
                <a:solidFill>
                  <a:srgbClr val="002060"/>
                </a:solidFill>
              </a:rPr>
              <a:t>的法面模数</a:t>
            </a:r>
            <a:r>
              <a:rPr lang="en-US" altLang="zh-CN" sz="2200" b="1" i="1" dirty="0" err="1">
                <a:solidFill>
                  <a:srgbClr val="002060"/>
                </a:solidFill>
              </a:rPr>
              <a:t>m</a:t>
            </a:r>
            <a:r>
              <a:rPr lang="en-US" altLang="zh-CN" sz="2200" b="1" i="1" baseline="-25000" dirty="0" err="1">
                <a:solidFill>
                  <a:srgbClr val="002060"/>
                </a:solidFill>
              </a:rPr>
              <a:t>n</a:t>
            </a:r>
            <a:r>
              <a:rPr lang="en-US" altLang="zh-CN" sz="2200" b="1" dirty="0">
                <a:solidFill>
                  <a:srgbClr val="002060"/>
                </a:solidFill>
              </a:rPr>
              <a:t>=5 mm</a:t>
            </a:r>
            <a:r>
              <a:rPr lang="zh-CN" altLang="en-US" sz="2200" b="1" dirty="0">
                <a:solidFill>
                  <a:srgbClr val="002060"/>
                </a:solidFill>
              </a:rPr>
              <a:t>，齿数</a:t>
            </a:r>
            <a:r>
              <a:rPr lang="en-US" altLang="zh-CN" sz="2200" b="1" i="1" dirty="0">
                <a:solidFill>
                  <a:srgbClr val="002060"/>
                </a:solidFill>
              </a:rPr>
              <a:t>z</a:t>
            </a:r>
            <a:r>
              <a:rPr lang="en-US" altLang="zh-CN" sz="2200" b="1" baseline="-25000" dirty="0">
                <a:solidFill>
                  <a:srgbClr val="002060"/>
                </a:solidFill>
              </a:rPr>
              <a:t>3</a:t>
            </a:r>
            <a:r>
              <a:rPr lang="en-US" altLang="zh-CN" sz="2200" b="1" dirty="0">
                <a:solidFill>
                  <a:srgbClr val="002060"/>
                </a:solidFill>
              </a:rPr>
              <a:t>=21</a:t>
            </a:r>
            <a:r>
              <a:rPr lang="zh-CN" altLang="en-US" sz="2200" b="1" dirty="0">
                <a:solidFill>
                  <a:srgbClr val="002060"/>
                </a:solidFill>
              </a:rPr>
              <a:t>。</a:t>
            </a:r>
            <a:endParaRPr lang="en-US" altLang="zh-CN" sz="2200" b="1" dirty="0">
              <a:solidFill>
                <a:srgbClr val="002060"/>
              </a:solidFill>
            </a:endParaRPr>
          </a:p>
          <a:p>
            <a:pPr algn="l" eaLnBrk="1" hangingPunct="1">
              <a:lnSpc>
                <a:spcPct val="150000"/>
              </a:lnSpc>
            </a:pPr>
            <a:r>
              <a:rPr lang="zh-CN" altLang="en-US" sz="2200" b="1" dirty="0">
                <a:solidFill>
                  <a:srgbClr val="002060"/>
                </a:solidFill>
              </a:rPr>
              <a:t>求齿轮</a:t>
            </a:r>
            <a:r>
              <a:rPr lang="en-US" altLang="zh-CN" sz="2200" b="1" dirty="0">
                <a:solidFill>
                  <a:srgbClr val="002060"/>
                </a:solidFill>
              </a:rPr>
              <a:t>3</a:t>
            </a:r>
            <a:r>
              <a:rPr lang="zh-CN" altLang="en-US" sz="2200" b="1" dirty="0">
                <a:solidFill>
                  <a:srgbClr val="002060"/>
                </a:solidFill>
              </a:rPr>
              <a:t>轮齿螺旋角的大小。</a:t>
            </a:r>
            <a:r>
              <a:rPr lang="zh-CN" altLang="en-US" sz="2000" b="1" dirty="0">
                <a:solidFill>
                  <a:schemeClr val="tx1"/>
                </a:solidFill>
              </a:rPr>
              <a:t> </a:t>
            </a:r>
            <a:endParaRPr lang="zh-CN" altLang="en-US" sz="2000" b="1" dirty="0">
              <a:solidFill>
                <a:schemeClr val="tx1"/>
              </a:solidFill>
            </a:endParaRPr>
          </a:p>
        </p:txBody>
      </p:sp>
      <p:sp>
        <p:nvSpPr>
          <p:cNvPr id="8196" name="Rectangle 4"/>
          <p:cNvSpPr>
            <a:spLocks noChangeArrowheads="1"/>
          </p:cNvSpPr>
          <p:nvPr/>
        </p:nvSpPr>
        <p:spPr bwMode="auto">
          <a:xfrm>
            <a:off x="0" y="2076133"/>
            <a:ext cx="3098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a:solidFill>
                  <a:schemeClr val="tx2"/>
                </a:solidFill>
                <a:latin typeface="Times New Roman" panose="02020603050405020304" pitchFamily="18" charset="0"/>
                <a:ea typeface="宋体" panose="02010600030101010101" pitchFamily="2" charset="-122"/>
              </a:defRPr>
            </a:lvl1pPr>
            <a:lvl2pPr marL="742950" indent="-285750" eaLnBrk="0" hangingPunct="0">
              <a:defRPr sz="3200">
                <a:solidFill>
                  <a:schemeClr val="tx2"/>
                </a:solidFill>
                <a:latin typeface="Times New Roman" panose="02020603050405020304" pitchFamily="18" charset="0"/>
                <a:ea typeface="宋体" panose="02010600030101010101" pitchFamily="2" charset="-122"/>
              </a:defRPr>
            </a:lvl2pPr>
            <a:lvl3pPr marL="1143000" indent="-228600" eaLnBrk="0" hangingPunct="0">
              <a:defRPr sz="3200">
                <a:solidFill>
                  <a:schemeClr val="tx2"/>
                </a:solidFill>
                <a:latin typeface="Times New Roman" panose="02020603050405020304" pitchFamily="18" charset="0"/>
                <a:ea typeface="宋体" panose="02010600030101010101" pitchFamily="2" charset="-122"/>
              </a:defRPr>
            </a:lvl3pPr>
            <a:lvl4pPr marL="1600200" indent="-228600" eaLnBrk="0" hangingPunct="0">
              <a:defRPr sz="3200">
                <a:solidFill>
                  <a:schemeClr val="tx2"/>
                </a:solidFill>
                <a:latin typeface="Times New Roman" panose="02020603050405020304" pitchFamily="18" charset="0"/>
                <a:ea typeface="宋体" panose="02010600030101010101" pitchFamily="2" charset="-122"/>
              </a:defRPr>
            </a:lvl4pPr>
            <a:lvl5pPr marL="2057400" indent="-228600" eaLnBrk="0" hangingPunct="0">
              <a:defRPr sz="3200">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098" name="Object 4"/>
          <p:cNvGraphicFramePr>
            <a:graphicFrameLocks noGrp="1" noChangeAspect="1"/>
          </p:cNvGraphicFramePr>
          <p:nvPr>
            <p:custDataLst>
              <p:tags r:id="rId1"/>
            </p:custDataLst>
          </p:nvPr>
        </p:nvGraphicFramePr>
        <p:xfrm>
          <a:off x="5248910" y="1514475"/>
          <a:ext cx="3640455" cy="2927350"/>
        </p:xfrm>
        <a:graphic>
          <a:graphicData uri="http://schemas.openxmlformats.org/presentationml/2006/ole">
            <mc:AlternateContent xmlns:mc="http://schemas.openxmlformats.org/markup-compatibility/2006">
              <mc:Choice xmlns:v="urn:schemas-microsoft-com:vml" Requires="v">
                <p:oleObj spid="_x0000_s28727" name="Document" r:id="rId2" imgW="2419350" imgH="2590800" progId="Word.Document.8">
                  <p:embed/>
                </p:oleObj>
              </mc:Choice>
              <mc:Fallback>
                <p:oleObj name="Document" r:id="rId2" imgW="2419350" imgH="2590800" progId="Word.Document.8">
                  <p:embed/>
                  <p:pic>
                    <p:nvPicPr>
                      <p:cNvPr id="0" name="图片 28699"/>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8910" y="1514475"/>
                        <a:ext cx="3640455" cy="292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Box 3"/>
          <p:cNvSpPr txBox="1">
            <a:spLocks noChangeArrowheads="1"/>
          </p:cNvSpPr>
          <p:nvPr/>
        </p:nvSpPr>
        <p:spPr bwMode="auto">
          <a:xfrm>
            <a:off x="774080" y="902495"/>
            <a:ext cx="42855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Times New Roman" panose="02020603050405020304" pitchFamily="18" charset="0"/>
                <a:ea typeface="宋体" panose="02010600030101010101" pitchFamily="2" charset="-122"/>
              </a:defRPr>
            </a:lvl1pPr>
            <a:lvl2pPr marL="742950" indent="-285750" eaLnBrk="0" hangingPunct="0">
              <a:defRPr sz="3200">
                <a:solidFill>
                  <a:schemeClr val="tx2"/>
                </a:solidFill>
                <a:latin typeface="Times New Roman" panose="02020603050405020304" pitchFamily="18" charset="0"/>
                <a:ea typeface="宋体" panose="02010600030101010101" pitchFamily="2" charset="-122"/>
              </a:defRPr>
            </a:lvl2pPr>
            <a:lvl3pPr marL="1143000" indent="-228600" eaLnBrk="0" hangingPunct="0">
              <a:defRPr sz="3200">
                <a:solidFill>
                  <a:schemeClr val="tx2"/>
                </a:solidFill>
                <a:latin typeface="Times New Roman" panose="02020603050405020304" pitchFamily="18" charset="0"/>
                <a:ea typeface="宋体" panose="02010600030101010101" pitchFamily="2" charset="-122"/>
              </a:defRPr>
            </a:lvl3pPr>
            <a:lvl4pPr marL="1600200" indent="-228600" eaLnBrk="0" hangingPunct="0">
              <a:defRPr sz="3200">
                <a:solidFill>
                  <a:schemeClr val="tx2"/>
                </a:solidFill>
                <a:latin typeface="Times New Roman" panose="02020603050405020304" pitchFamily="18" charset="0"/>
                <a:ea typeface="宋体" panose="02010600030101010101" pitchFamily="2" charset="-122"/>
              </a:defRPr>
            </a:lvl4pPr>
            <a:lvl5pPr marL="2057400" indent="-228600" eaLnBrk="0" hangingPunct="0">
              <a:defRPr sz="3200">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3200">
                <a:solidFill>
                  <a:schemeClr val="tx2"/>
                </a:solidFill>
                <a:latin typeface="Times New Roman" panose="02020603050405020304" pitchFamily="18" charset="0"/>
                <a:ea typeface="宋体" panose="02010600030101010101" pitchFamily="2" charset="-122"/>
              </a:defRPr>
            </a:lvl9pPr>
          </a:lstStyle>
          <a:p>
            <a:pPr eaLnBrk="1" hangingPunct="1"/>
            <a:r>
              <a:rPr lang="zh-CN" altLang="en-US" sz="2200" b="1" dirty="0">
                <a:solidFill>
                  <a:srgbClr val="FF0000"/>
                </a:solidFill>
              </a:rPr>
              <a:t>解</a:t>
            </a:r>
            <a:endParaRPr lang="zh-CN" altLang="en-US" sz="2200" b="1" dirty="0">
              <a:solidFill>
                <a:srgbClr val="FF0000"/>
              </a:solidFill>
            </a:endParaRPr>
          </a:p>
        </p:txBody>
      </p:sp>
      <p:pic>
        <p:nvPicPr>
          <p:cNvPr id="2" name="图片 1"/>
          <p:cNvPicPr>
            <a:picLocks noChangeAspect="1"/>
          </p:cNvPicPr>
          <p:nvPr/>
        </p:nvPicPr>
        <p:blipFill>
          <a:blip r:embed="rId1"/>
          <a:stretch>
            <a:fillRect/>
          </a:stretch>
        </p:blipFill>
        <p:spPr>
          <a:xfrm>
            <a:off x="1515952" y="1333555"/>
            <a:ext cx="5457825" cy="990600"/>
          </a:xfrm>
          <a:prstGeom prst="rect">
            <a:avLst/>
          </a:prstGeom>
        </p:spPr>
      </p:pic>
      <p:sp>
        <p:nvSpPr>
          <p:cNvPr id="4" name="文本框 3"/>
          <p:cNvSpPr txBox="1"/>
          <p:nvPr/>
        </p:nvSpPr>
        <p:spPr>
          <a:xfrm>
            <a:off x="1391478" y="2464904"/>
            <a:ext cx="6679096" cy="398780"/>
          </a:xfrm>
          <a:prstGeom prst="rect">
            <a:avLst/>
          </a:prstGeom>
          <a:noFill/>
        </p:spPr>
        <p:txBody>
          <a:bodyPr wrap="square" rtlCol="0">
            <a:spAutoFit/>
          </a:bodyPr>
          <a:lstStyle/>
          <a:p>
            <a:r>
              <a:rPr lang="zh-CN" altLang="en-US" dirty="0" smtClean="0"/>
              <a:t>合理的旋向和螺旋角应使齿轮</a:t>
            </a:r>
            <a:r>
              <a:rPr lang="en-US" altLang="zh-CN" dirty="0" smtClean="0"/>
              <a:t>2</a:t>
            </a:r>
            <a:r>
              <a:rPr lang="zh-CN" altLang="en-US" dirty="0" smtClean="0"/>
              <a:t>和齿轮</a:t>
            </a:r>
            <a:r>
              <a:rPr lang="en-US" altLang="zh-CN" dirty="0" smtClean="0"/>
              <a:t>3</a:t>
            </a:r>
            <a:r>
              <a:rPr lang="zh-CN" altLang="en-US" dirty="0" smtClean="0"/>
              <a:t>的轴向合力为</a:t>
            </a:r>
            <a:r>
              <a:rPr lang="en-US" altLang="zh-CN" dirty="0" smtClean="0"/>
              <a:t>0,</a:t>
            </a:r>
            <a:endParaRPr lang="zh-CN" altLang="en-US" dirty="0"/>
          </a:p>
        </p:txBody>
      </p:sp>
      <p:pic>
        <p:nvPicPr>
          <p:cNvPr id="5" name="图片 4"/>
          <p:cNvPicPr>
            <a:picLocks noChangeAspect="1"/>
          </p:cNvPicPr>
          <p:nvPr/>
        </p:nvPicPr>
        <p:blipFill>
          <a:blip r:embed="rId2"/>
          <a:stretch>
            <a:fillRect/>
          </a:stretch>
        </p:blipFill>
        <p:spPr>
          <a:xfrm>
            <a:off x="1439517" y="3095417"/>
            <a:ext cx="4800600" cy="428625"/>
          </a:xfrm>
          <a:prstGeom prst="rect">
            <a:avLst/>
          </a:prstGeom>
        </p:spPr>
      </p:pic>
      <p:pic>
        <p:nvPicPr>
          <p:cNvPr id="6" name="图片 5"/>
          <p:cNvPicPr>
            <a:picLocks noChangeAspect="1"/>
          </p:cNvPicPr>
          <p:nvPr/>
        </p:nvPicPr>
        <p:blipFill>
          <a:blip r:embed="rId3"/>
          <a:stretch>
            <a:fillRect/>
          </a:stretch>
        </p:blipFill>
        <p:spPr>
          <a:xfrm>
            <a:off x="1805401" y="3705639"/>
            <a:ext cx="1657142" cy="438978"/>
          </a:xfrm>
          <a:prstGeom prst="rect">
            <a:avLst/>
          </a:prstGeom>
        </p:spPr>
      </p:pic>
      <p:pic>
        <p:nvPicPr>
          <p:cNvPr id="7" name="图片 6"/>
          <p:cNvPicPr>
            <a:picLocks noChangeAspect="1"/>
          </p:cNvPicPr>
          <p:nvPr/>
        </p:nvPicPr>
        <p:blipFill>
          <a:blip r:embed="rId4"/>
          <a:stretch>
            <a:fillRect/>
          </a:stretch>
        </p:blipFill>
        <p:spPr>
          <a:xfrm>
            <a:off x="1489420" y="4358723"/>
            <a:ext cx="2447925" cy="704850"/>
          </a:xfrm>
          <a:prstGeom prst="rect">
            <a:avLst/>
          </a:prstGeom>
        </p:spPr>
      </p:pic>
      <p:pic>
        <p:nvPicPr>
          <p:cNvPr id="8" name="图片 7"/>
          <p:cNvPicPr>
            <a:picLocks noChangeAspect="1"/>
          </p:cNvPicPr>
          <p:nvPr/>
        </p:nvPicPr>
        <p:blipFill rotWithShape="1">
          <a:blip r:embed="rId5"/>
          <a:srcRect t="5732"/>
          <a:stretch>
            <a:fillRect/>
          </a:stretch>
        </p:blipFill>
        <p:spPr>
          <a:xfrm>
            <a:off x="1236594" y="5178287"/>
            <a:ext cx="7048500" cy="88893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98692" name="文本框 498691"/>
          <p:cNvSpPr txBox="1"/>
          <p:nvPr/>
        </p:nvSpPr>
        <p:spPr>
          <a:xfrm>
            <a:off x="225425" y="404813"/>
            <a:ext cx="8709025" cy="1420495"/>
          </a:xfrm>
          <a:prstGeom prst="rect">
            <a:avLst/>
          </a:prstGeom>
          <a:noFill/>
          <a:ln w="9525">
            <a:noFill/>
          </a:ln>
        </p:spPr>
        <p:txBody>
          <a:bodyPr>
            <a:spAutoFit/>
          </a:bodyPr>
          <a:p>
            <a:pPr algn="l">
              <a:lnSpc>
                <a:spcPct val="120000"/>
              </a:lnSpc>
              <a:spcBef>
                <a:spcPct val="30000"/>
              </a:spcBef>
            </a:pPr>
            <a:r>
              <a:rPr lang="en-US" altLang="zh-CN" sz="2400" b="1" dirty="0">
                <a:solidFill>
                  <a:srgbClr val="FF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例</a:t>
            </a:r>
            <a:r>
              <a:rPr lang="en-US" altLang="zh-CN" sz="2400" b="1">
                <a:solidFill>
                  <a:srgbClr val="FF0000"/>
                </a:solidFill>
                <a:latin typeface="楷体_GB2312" pitchFamily="49" charset="-122"/>
                <a:ea typeface="楷体_GB2312" pitchFamily="49" charset="-122"/>
              </a:rPr>
              <a:t>3]</a:t>
            </a:r>
            <a:r>
              <a:rPr lang="en-US" altLang="zh-CN" sz="2400" dirty="0">
                <a:solidFill>
                  <a:schemeClr val="tx2"/>
                </a:solidFill>
                <a:latin typeface="楷体_GB2312" pitchFamily="49" charset="-122"/>
                <a:ea typeface="楷体_GB2312" pitchFamily="49" charset="-122"/>
              </a:rPr>
              <a:t> </a:t>
            </a:r>
            <a:r>
              <a:rPr lang="zh-CN" altLang="en-US" sz="2400" b="1" dirty="0">
                <a:solidFill>
                  <a:schemeClr val="tx2"/>
                </a:solidFill>
                <a:latin typeface="楷体_GB2312" pitchFamily="49" charset="-122"/>
                <a:ea typeface="楷体_GB2312" pitchFamily="49" charset="-122"/>
              </a:rPr>
              <a:t>有两级斜齿圆柱齿轮传动，其布置方式如图所示，今欲使轴</a:t>
            </a:r>
            <a:r>
              <a:rPr lang="en-US" altLang="zh-CN" sz="2400" b="1" dirty="0">
                <a:solidFill>
                  <a:schemeClr val="tx2"/>
                </a:solidFill>
                <a:latin typeface="楷体_GB2312" pitchFamily="49" charset="-122"/>
                <a:ea typeface="楷体_GB2312" pitchFamily="49" charset="-122"/>
              </a:rPr>
              <a:t>Ⅱ</a:t>
            </a:r>
            <a:r>
              <a:rPr lang="zh-CN" altLang="en-US" sz="2400" b="1" dirty="0">
                <a:solidFill>
                  <a:schemeClr val="tx2"/>
                </a:solidFill>
                <a:latin typeface="楷体_GB2312" pitchFamily="49" charset="-122"/>
                <a:ea typeface="楷体_GB2312" pitchFamily="49" charset="-122"/>
              </a:rPr>
              <a:t>所收的轴向力的大小相等、方向相反，设</a:t>
            </a:r>
            <a:r>
              <a:rPr lang="en-US" altLang="zh-CN" sz="2400" b="1">
                <a:solidFill>
                  <a:schemeClr val="tx2"/>
                </a:solidFill>
                <a:latin typeface="楷体_GB2312" pitchFamily="49" charset="-122"/>
                <a:ea typeface="楷体_GB2312" pitchFamily="49" charset="-122"/>
              </a:rPr>
              <a:t>β</a:t>
            </a:r>
            <a:r>
              <a:rPr lang="en-US" altLang="zh-CN" sz="2400" b="1" baseline="-25000">
                <a:solidFill>
                  <a:schemeClr val="tx2"/>
                </a:solidFill>
                <a:latin typeface="楷体_GB2312" pitchFamily="49" charset="-122"/>
                <a:ea typeface="楷体_GB2312" pitchFamily="49" charset="-122"/>
              </a:rPr>
              <a:t>1</a:t>
            </a:r>
            <a:r>
              <a:rPr lang="en-US" altLang="zh-CN" sz="2400" b="1" dirty="0">
                <a:solidFill>
                  <a:schemeClr val="tx2"/>
                </a:solidFill>
                <a:latin typeface="楷体_GB2312" pitchFamily="49" charset="-122"/>
                <a:ea typeface="楷体_GB2312" pitchFamily="49" charset="-122"/>
              </a:rPr>
              <a:t>=19°</a:t>
            </a:r>
            <a:r>
              <a:rPr lang="zh-CN" altLang="en-US" sz="2400" b="1" dirty="0">
                <a:solidFill>
                  <a:schemeClr val="tx2"/>
                </a:solidFill>
                <a:latin typeface="楷体_GB2312" pitchFamily="49" charset="-122"/>
                <a:ea typeface="楷体_GB2312" pitchFamily="49" charset="-122"/>
              </a:rPr>
              <a:t>，试确定第二对齿轮的螺旋角</a:t>
            </a:r>
            <a:r>
              <a:rPr lang="en-US" altLang="zh-CN" sz="2400" b="1">
                <a:solidFill>
                  <a:schemeClr val="tx2"/>
                </a:solidFill>
                <a:latin typeface="楷体_GB2312" pitchFamily="49" charset="-122"/>
                <a:ea typeface="楷体_GB2312" pitchFamily="49" charset="-122"/>
              </a:rPr>
              <a:t>β</a:t>
            </a:r>
            <a:r>
              <a:rPr lang="en-US" altLang="zh-CN" sz="2400" b="1" baseline="-25000">
                <a:solidFill>
                  <a:schemeClr val="tx2"/>
                </a:solidFill>
                <a:latin typeface="楷体_GB2312" pitchFamily="49" charset="-122"/>
                <a:ea typeface="楷体_GB2312" pitchFamily="49" charset="-122"/>
              </a:rPr>
              <a:t>2</a:t>
            </a:r>
            <a:r>
              <a:rPr lang="zh-CN" altLang="en-US" sz="2400" b="1" dirty="0">
                <a:solidFill>
                  <a:schemeClr val="tx2"/>
                </a:solidFill>
                <a:latin typeface="楷体_GB2312" pitchFamily="49" charset="-122"/>
                <a:ea typeface="楷体_GB2312" pitchFamily="49" charset="-122"/>
              </a:rPr>
              <a:t>和轮齿的旋向。</a:t>
            </a:r>
            <a:endParaRPr lang="zh-CN" altLang="en-US" sz="2400" b="1" dirty="0">
              <a:solidFill>
                <a:schemeClr val="tx2"/>
              </a:solidFill>
              <a:latin typeface="楷体_GB2312" pitchFamily="49" charset="-122"/>
              <a:ea typeface="楷体_GB2312" pitchFamily="49" charset="-122"/>
            </a:endParaRPr>
          </a:p>
        </p:txBody>
      </p:sp>
      <p:sp>
        <p:nvSpPr>
          <p:cNvPr id="498751" name="文本框 498750"/>
          <p:cNvSpPr txBox="1"/>
          <p:nvPr/>
        </p:nvSpPr>
        <p:spPr>
          <a:xfrm>
            <a:off x="1912938" y="4105275"/>
            <a:ext cx="1057275" cy="366713"/>
          </a:xfrm>
          <a:prstGeom prst="rect">
            <a:avLst/>
          </a:prstGeom>
          <a:noFill/>
          <a:ln w="9525">
            <a:noFill/>
          </a:ln>
        </p:spPr>
        <p:txBody>
          <a:bodyPr>
            <a:spAutoFit/>
          </a:bodyPr>
          <a:p>
            <a:pPr>
              <a:spcBef>
                <a:spcPct val="50000"/>
              </a:spcBef>
            </a:pPr>
            <a:r>
              <a:rPr lang="en-US" altLang="zh-CN">
                <a:solidFill>
                  <a:schemeClr val="hlink"/>
                </a:solidFill>
                <a:latin typeface="Tahoma" panose="020B0604030504040204" pitchFamily="34" charset="0"/>
              </a:rPr>
              <a:t>Z’</a:t>
            </a:r>
            <a:r>
              <a:rPr lang="en-US" altLang="zh-CN" baseline="-25000">
                <a:solidFill>
                  <a:schemeClr val="hlink"/>
                </a:solidFill>
                <a:latin typeface="Tahoma" panose="020B0604030504040204" pitchFamily="34" charset="0"/>
              </a:rPr>
              <a:t>2</a:t>
            </a:r>
            <a:r>
              <a:rPr lang="en-US" altLang="zh-CN">
                <a:solidFill>
                  <a:schemeClr val="hlink"/>
                </a:solidFill>
                <a:latin typeface="Tahoma" panose="020B0604030504040204" pitchFamily="34" charset="0"/>
              </a:rPr>
              <a:t>=45</a:t>
            </a:r>
            <a:endParaRPr lang="en-US" altLang="zh-CN">
              <a:solidFill>
                <a:schemeClr val="hlink"/>
              </a:solidFill>
              <a:latin typeface="Tahoma" panose="020B0604030504040204" pitchFamily="34" charset="0"/>
            </a:endParaRPr>
          </a:p>
        </p:txBody>
      </p:sp>
      <p:graphicFrame>
        <p:nvGraphicFramePr>
          <p:cNvPr id="498754" name="对象 498753"/>
          <p:cNvGraphicFramePr/>
          <p:nvPr/>
        </p:nvGraphicFramePr>
        <p:xfrm>
          <a:off x="4878388" y="2732088"/>
          <a:ext cx="708025" cy="592137"/>
        </p:xfrm>
        <a:graphic>
          <a:graphicData uri="http://schemas.openxmlformats.org/presentationml/2006/ole">
            <mc:AlternateContent xmlns:mc="http://schemas.openxmlformats.org/markup-compatibility/2006">
              <mc:Choice xmlns:v="urn:schemas-microsoft-com:vml" Requires="v">
                <p:oleObj spid="_x0000_s3147" name="" r:id="rId1" imgW="546100" imgH="457200" progId="Equation.3">
                  <p:embed/>
                </p:oleObj>
              </mc:Choice>
              <mc:Fallback>
                <p:oleObj name="" r:id="rId1" imgW="546100" imgH="457200" progId="Equation.3">
                  <p:embed/>
                  <p:pic>
                    <p:nvPicPr>
                      <p:cNvPr id="0" name="图片 3146"/>
                      <p:cNvPicPr/>
                      <p:nvPr/>
                    </p:nvPicPr>
                    <p:blipFill>
                      <a:blip r:embed="rId2"/>
                      <a:stretch>
                        <a:fillRect/>
                      </a:stretch>
                    </p:blipFill>
                    <p:spPr>
                      <a:xfrm>
                        <a:off x="4878388" y="2732088"/>
                        <a:ext cx="708025" cy="592137"/>
                      </a:xfrm>
                      <a:prstGeom prst="rect">
                        <a:avLst/>
                      </a:prstGeom>
                      <a:noFill/>
                      <a:ln w="9525" cap="flat" cmpd="sng">
                        <a:solidFill>
                          <a:schemeClr val="folHlink"/>
                        </a:solidFill>
                        <a:prstDash val="solid"/>
                        <a:miter/>
                        <a:headEnd type="none" w="med" len="med"/>
                        <a:tailEnd type="none" w="med" len="med"/>
                      </a:ln>
                    </p:spPr>
                  </p:pic>
                </p:oleObj>
              </mc:Fallback>
            </mc:AlternateContent>
          </a:graphicData>
        </a:graphic>
      </p:graphicFrame>
      <p:graphicFrame>
        <p:nvGraphicFramePr>
          <p:cNvPr id="498756" name="对象 498755"/>
          <p:cNvGraphicFramePr/>
          <p:nvPr/>
        </p:nvGraphicFramePr>
        <p:xfrm>
          <a:off x="2933700" y="5435600"/>
          <a:ext cx="779463" cy="339725"/>
        </p:xfrm>
        <a:graphic>
          <a:graphicData uri="http://schemas.openxmlformats.org/presentationml/2006/ole">
            <mc:AlternateContent xmlns:mc="http://schemas.openxmlformats.org/markup-compatibility/2006">
              <mc:Choice xmlns:v="urn:schemas-microsoft-com:vml" Requires="v">
                <p:oleObj spid="_x0000_s3148" name="" r:id="rId3" imgW="494665" imgH="215900" progId="Equation.3">
                  <p:embed/>
                </p:oleObj>
              </mc:Choice>
              <mc:Fallback>
                <p:oleObj name="" r:id="rId3" imgW="494665" imgH="215900" progId="Equation.3">
                  <p:embed/>
                  <p:pic>
                    <p:nvPicPr>
                      <p:cNvPr id="0" name="图片 3147"/>
                      <p:cNvPicPr/>
                      <p:nvPr/>
                    </p:nvPicPr>
                    <p:blipFill>
                      <a:blip r:embed="rId4"/>
                      <a:stretch>
                        <a:fillRect/>
                      </a:stretch>
                    </p:blipFill>
                    <p:spPr>
                      <a:xfrm>
                        <a:off x="2933700" y="5435600"/>
                        <a:ext cx="779463" cy="339725"/>
                      </a:xfrm>
                      <a:prstGeom prst="rect">
                        <a:avLst/>
                      </a:prstGeom>
                      <a:noFill/>
                      <a:ln w="38100">
                        <a:noFill/>
                        <a:miter/>
                      </a:ln>
                    </p:spPr>
                  </p:pic>
                </p:oleObj>
              </mc:Fallback>
            </mc:AlternateContent>
          </a:graphicData>
        </a:graphic>
      </p:graphicFrame>
      <p:graphicFrame>
        <p:nvGraphicFramePr>
          <p:cNvPr id="498757" name="对象 498756"/>
          <p:cNvGraphicFramePr/>
          <p:nvPr/>
        </p:nvGraphicFramePr>
        <p:xfrm>
          <a:off x="7002463" y="4837113"/>
          <a:ext cx="708025" cy="592137"/>
        </p:xfrm>
        <a:graphic>
          <a:graphicData uri="http://schemas.openxmlformats.org/presentationml/2006/ole">
            <mc:AlternateContent xmlns:mc="http://schemas.openxmlformats.org/markup-compatibility/2006">
              <mc:Choice xmlns:v="urn:schemas-microsoft-com:vml" Requires="v">
                <p:oleObj spid="_x0000_s3146" name="" r:id="rId5" imgW="546100" imgH="457200" progId="Equation.3">
                  <p:embed/>
                </p:oleObj>
              </mc:Choice>
              <mc:Fallback>
                <p:oleObj name="" r:id="rId5" imgW="546100" imgH="457200" progId="Equation.3">
                  <p:embed/>
                  <p:pic>
                    <p:nvPicPr>
                      <p:cNvPr id="0" name="图片 3145"/>
                      <p:cNvPicPr/>
                      <p:nvPr/>
                    </p:nvPicPr>
                    <p:blipFill>
                      <a:blip r:embed="rId6"/>
                      <a:stretch>
                        <a:fillRect/>
                      </a:stretch>
                    </p:blipFill>
                    <p:spPr>
                      <a:xfrm>
                        <a:off x="7002463" y="4837113"/>
                        <a:ext cx="708025" cy="592137"/>
                      </a:xfrm>
                      <a:prstGeom prst="rect">
                        <a:avLst/>
                      </a:prstGeom>
                      <a:noFill/>
                      <a:ln w="38100" cap="flat" cmpd="dbl">
                        <a:solidFill>
                          <a:schemeClr val="folHlink"/>
                        </a:solidFill>
                        <a:prstDash val="solid"/>
                        <a:miter/>
                        <a:headEnd type="none" w="med" len="med"/>
                        <a:tailEnd type="none" w="med" len="med"/>
                      </a:ln>
                    </p:spPr>
                  </p:pic>
                </p:oleObj>
              </mc:Fallback>
            </mc:AlternateContent>
          </a:graphicData>
        </a:graphic>
      </p:graphicFrame>
      <p:grpSp>
        <p:nvGrpSpPr>
          <p:cNvPr id="498760" name="组合 498759"/>
          <p:cNvGrpSpPr/>
          <p:nvPr/>
        </p:nvGrpSpPr>
        <p:grpSpPr>
          <a:xfrm>
            <a:off x="2635885" y="3035300"/>
            <a:ext cx="4167188" cy="2673350"/>
            <a:chOff x="1644" y="1896"/>
            <a:chExt cx="2625" cy="1684"/>
          </a:xfrm>
        </p:grpSpPr>
        <p:sp>
          <p:nvSpPr>
            <p:cNvPr id="498702" name="直接连接符 498701"/>
            <p:cNvSpPr/>
            <p:nvPr/>
          </p:nvSpPr>
          <p:spPr>
            <a:xfrm>
              <a:off x="3845" y="2759"/>
              <a:ext cx="0" cy="749"/>
            </a:xfrm>
            <a:prstGeom prst="line">
              <a:avLst/>
            </a:prstGeom>
            <a:ln w="19050" cap="flat" cmpd="sng">
              <a:solidFill>
                <a:srgbClr val="002060"/>
              </a:solidFill>
              <a:prstDash val="solid"/>
              <a:headEnd type="none" w="med" len="med"/>
              <a:tailEnd type="none" w="med" len="med"/>
            </a:ln>
          </p:spPr>
        </p:sp>
        <p:sp>
          <p:nvSpPr>
            <p:cNvPr id="498693" name="矩形 498692"/>
            <p:cNvSpPr/>
            <p:nvPr/>
          </p:nvSpPr>
          <p:spPr>
            <a:xfrm>
              <a:off x="1644" y="2189"/>
              <a:ext cx="840" cy="283"/>
            </a:xfrm>
            <a:prstGeom prst="rect">
              <a:avLst/>
            </a:prstGeom>
            <a:solidFill>
              <a:srgbClr val="FFFF00"/>
            </a:solidFill>
            <a:ln w="19050" cap="flat" cmpd="sng">
              <a:solidFill>
                <a:srgbClr val="002060"/>
              </a:solidFill>
              <a:prstDash val="solid"/>
              <a:miter/>
              <a:headEnd type="none" w="med" len="med"/>
              <a:tailEnd type="none" w="med" len="med"/>
            </a:ln>
          </p:spPr>
          <p:txBody>
            <a:bodyPr/>
            <a:p>
              <a:endParaRPr lang="zh-CN" altLang="en-US"/>
            </a:p>
          </p:txBody>
        </p:sp>
        <p:sp>
          <p:nvSpPr>
            <p:cNvPr id="498694" name="矩形 498693"/>
            <p:cNvSpPr/>
            <p:nvPr/>
          </p:nvSpPr>
          <p:spPr>
            <a:xfrm>
              <a:off x="2484" y="2189"/>
              <a:ext cx="605" cy="283"/>
            </a:xfrm>
            <a:prstGeom prst="rect">
              <a:avLst/>
            </a:prstGeom>
            <a:solidFill>
              <a:srgbClr val="FFFF00"/>
            </a:solidFill>
            <a:ln w="19050" cap="flat" cmpd="sng">
              <a:solidFill>
                <a:srgbClr val="002060"/>
              </a:solidFill>
              <a:prstDash val="solid"/>
              <a:miter/>
              <a:headEnd type="none" w="med" len="med"/>
              <a:tailEnd type="none" w="med" len="med"/>
            </a:ln>
          </p:spPr>
          <p:txBody>
            <a:bodyPr/>
            <a:p>
              <a:endParaRPr lang="zh-CN" altLang="en-US"/>
            </a:p>
          </p:txBody>
        </p:sp>
        <p:sp>
          <p:nvSpPr>
            <p:cNvPr id="498695" name="直接连接符 498694"/>
            <p:cNvSpPr/>
            <p:nvPr/>
          </p:nvSpPr>
          <p:spPr>
            <a:xfrm flipV="1">
              <a:off x="2088" y="1896"/>
              <a:ext cx="0" cy="293"/>
            </a:xfrm>
            <a:prstGeom prst="line">
              <a:avLst/>
            </a:prstGeom>
            <a:ln w="19050" cap="flat" cmpd="sng">
              <a:solidFill>
                <a:schemeClr val="bg1"/>
              </a:solidFill>
              <a:prstDash val="solid"/>
              <a:headEnd type="none" w="med" len="med"/>
              <a:tailEnd type="none" w="med" len="med"/>
            </a:ln>
          </p:spPr>
        </p:sp>
        <p:sp>
          <p:nvSpPr>
            <p:cNvPr id="498696" name="直接连接符 498695"/>
            <p:cNvSpPr/>
            <p:nvPr/>
          </p:nvSpPr>
          <p:spPr>
            <a:xfrm>
              <a:off x="2088" y="2472"/>
              <a:ext cx="0" cy="293"/>
            </a:xfrm>
            <a:prstGeom prst="line">
              <a:avLst/>
            </a:prstGeom>
            <a:ln w="19050" cap="flat" cmpd="sng">
              <a:solidFill>
                <a:srgbClr val="002060"/>
              </a:solidFill>
              <a:prstDash val="solid"/>
              <a:headEnd type="none" w="med" len="med"/>
              <a:tailEnd type="none" w="med" len="med"/>
            </a:ln>
          </p:spPr>
        </p:sp>
        <p:sp>
          <p:nvSpPr>
            <p:cNvPr id="498698" name="直接连接符 498697"/>
            <p:cNvSpPr/>
            <p:nvPr/>
          </p:nvSpPr>
          <p:spPr>
            <a:xfrm>
              <a:off x="2796" y="2472"/>
              <a:ext cx="0" cy="1108"/>
            </a:xfrm>
            <a:prstGeom prst="line">
              <a:avLst/>
            </a:prstGeom>
            <a:ln w="19050" cap="flat" cmpd="sng">
              <a:solidFill>
                <a:srgbClr val="002060"/>
              </a:solidFill>
              <a:prstDash val="solid"/>
              <a:headEnd type="none" w="med" len="med"/>
              <a:tailEnd type="none" w="med" len="med"/>
            </a:ln>
          </p:spPr>
        </p:sp>
        <p:sp>
          <p:nvSpPr>
            <p:cNvPr id="498699" name="直接连接符 498698"/>
            <p:cNvSpPr/>
            <p:nvPr/>
          </p:nvSpPr>
          <p:spPr>
            <a:xfrm flipV="1">
              <a:off x="2796" y="1896"/>
              <a:ext cx="0" cy="293"/>
            </a:xfrm>
            <a:prstGeom prst="line">
              <a:avLst/>
            </a:prstGeom>
            <a:ln w="19050" cap="flat" cmpd="sng">
              <a:solidFill>
                <a:srgbClr val="002060"/>
              </a:solidFill>
              <a:prstDash val="solid"/>
              <a:headEnd type="none" w="med" len="med"/>
              <a:tailEnd type="none" w="med" len="med"/>
            </a:ln>
          </p:spPr>
        </p:sp>
        <p:sp>
          <p:nvSpPr>
            <p:cNvPr id="498700" name="矩形 498699"/>
            <p:cNvSpPr/>
            <p:nvPr/>
          </p:nvSpPr>
          <p:spPr>
            <a:xfrm>
              <a:off x="2171" y="2972"/>
              <a:ext cx="1250" cy="236"/>
            </a:xfrm>
            <a:prstGeom prst="rect">
              <a:avLst/>
            </a:prstGeom>
            <a:solidFill>
              <a:srgbClr val="FF9900"/>
            </a:solidFill>
            <a:ln w="19050" cap="flat" cmpd="sng">
              <a:solidFill>
                <a:srgbClr val="002060"/>
              </a:solidFill>
              <a:prstDash val="solid"/>
              <a:miter/>
              <a:headEnd type="none" w="med" len="med"/>
              <a:tailEnd type="none" w="med" len="med"/>
            </a:ln>
          </p:spPr>
          <p:txBody>
            <a:bodyPr/>
            <a:p>
              <a:endParaRPr lang="zh-CN" altLang="en-US"/>
            </a:p>
          </p:txBody>
        </p:sp>
        <p:sp>
          <p:nvSpPr>
            <p:cNvPr id="498701" name="矩形 498700"/>
            <p:cNvSpPr/>
            <p:nvPr/>
          </p:nvSpPr>
          <p:spPr>
            <a:xfrm>
              <a:off x="3421" y="2972"/>
              <a:ext cx="848" cy="236"/>
            </a:xfrm>
            <a:prstGeom prst="rect">
              <a:avLst/>
            </a:prstGeom>
            <a:solidFill>
              <a:srgbClr val="FF9900"/>
            </a:solidFill>
            <a:ln w="19050" cap="flat" cmpd="sng">
              <a:solidFill>
                <a:srgbClr val="002060"/>
              </a:solidFill>
              <a:prstDash val="solid"/>
              <a:miter/>
              <a:headEnd type="none" w="med" len="med"/>
              <a:tailEnd type="none" w="med" len="med"/>
            </a:ln>
          </p:spPr>
          <p:txBody>
            <a:bodyPr/>
            <a:p>
              <a:endParaRPr lang="zh-CN" altLang="en-US"/>
            </a:p>
          </p:txBody>
        </p:sp>
        <p:sp>
          <p:nvSpPr>
            <p:cNvPr id="498703" name="直接连接符 498702"/>
            <p:cNvSpPr/>
            <p:nvPr/>
          </p:nvSpPr>
          <p:spPr>
            <a:xfrm>
              <a:off x="2088" y="1896"/>
              <a:ext cx="0" cy="293"/>
            </a:xfrm>
            <a:prstGeom prst="line">
              <a:avLst/>
            </a:prstGeom>
            <a:ln w="9525" cap="flat" cmpd="sng">
              <a:solidFill>
                <a:srgbClr val="002060"/>
              </a:solidFill>
              <a:prstDash val="solid"/>
              <a:headEnd type="none" w="med" len="med"/>
              <a:tailEnd type="none" w="med" len="med"/>
            </a:ln>
          </p:spPr>
        </p:sp>
        <p:grpSp>
          <p:nvGrpSpPr>
            <p:cNvPr id="498708" name="组合 498707"/>
            <p:cNvGrpSpPr/>
            <p:nvPr/>
          </p:nvGrpSpPr>
          <p:grpSpPr>
            <a:xfrm>
              <a:off x="2027" y="1974"/>
              <a:ext cx="117" cy="111"/>
              <a:chOff x="2064" y="2136"/>
              <a:chExt cx="117" cy="111"/>
            </a:xfrm>
          </p:grpSpPr>
          <p:sp>
            <p:nvSpPr>
              <p:cNvPr id="498706" name="直接连接符 498705"/>
              <p:cNvSpPr/>
              <p:nvPr/>
            </p:nvSpPr>
            <p:spPr>
              <a:xfrm>
                <a:off x="2181" y="2136"/>
                <a:ext cx="0" cy="111"/>
              </a:xfrm>
              <a:prstGeom prst="line">
                <a:avLst/>
              </a:prstGeom>
              <a:ln w="19050" cap="flat" cmpd="sng">
                <a:solidFill>
                  <a:srgbClr val="002060"/>
                </a:solidFill>
                <a:prstDash val="solid"/>
                <a:headEnd type="none" w="med" len="med"/>
                <a:tailEnd type="none" w="med" len="med"/>
              </a:ln>
            </p:spPr>
          </p:sp>
          <p:sp>
            <p:nvSpPr>
              <p:cNvPr id="498707" name="直接连接符 498706"/>
              <p:cNvSpPr/>
              <p:nvPr/>
            </p:nvSpPr>
            <p:spPr>
              <a:xfrm>
                <a:off x="2064" y="2142"/>
                <a:ext cx="0" cy="102"/>
              </a:xfrm>
              <a:prstGeom prst="line">
                <a:avLst/>
              </a:prstGeom>
              <a:ln w="19050" cap="flat" cmpd="sng">
                <a:solidFill>
                  <a:srgbClr val="002060"/>
                </a:solidFill>
                <a:prstDash val="solid"/>
                <a:headEnd type="none" w="med" len="med"/>
                <a:tailEnd type="none" w="med" len="med"/>
              </a:ln>
            </p:spPr>
          </p:sp>
        </p:grpSp>
        <p:grpSp>
          <p:nvGrpSpPr>
            <p:cNvPr id="498709" name="组合 498708"/>
            <p:cNvGrpSpPr/>
            <p:nvPr/>
          </p:nvGrpSpPr>
          <p:grpSpPr>
            <a:xfrm>
              <a:off x="2027" y="2573"/>
              <a:ext cx="122" cy="111"/>
              <a:chOff x="2059" y="2136"/>
              <a:chExt cx="122" cy="111"/>
            </a:xfrm>
          </p:grpSpPr>
          <p:sp>
            <p:nvSpPr>
              <p:cNvPr id="498710" name="直接连接符 498709"/>
              <p:cNvSpPr/>
              <p:nvPr/>
            </p:nvSpPr>
            <p:spPr>
              <a:xfrm>
                <a:off x="2181" y="2136"/>
                <a:ext cx="0" cy="111"/>
              </a:xfrm>
              <a:prstGeom prst="line">
                <a:avLst/>
              </a:prstGeom>
              <a:ln w="19050" cap="flat" cmpd="sng">
                <a:solidFill>
                  <a:srgbClr val="002060"/>
                </a:solidFill>
                <a:prstDash val="solid"/>
                <a:headEnd type="none" w="med" len="med"/>
                <a:tailEnd type="none" w="med" len="med"/>
              </a:ln>
            </p:spPr>
          </p:sp>
          <p:sp>
            <p:nvSpPr>
              <p:cNvPr id="498711" name="直接连接符 498710"/>
              <p:cNvSpPr/>
              <p:nvPr/>
            </p:nvSpPr>
            <p:spPr>
              <a:xfrm>
                <a:off x="2059" y="2136"/>
                <a:ext cx="0" cy="102"/>
              </a:xfrm>
              <a:prstGeom prst="line">
                <a:avLst/>
              </a:prstGeom>
              <a:ln w="19050" cap="flat" cmpd="sng">
                <a:solidFill>
                  <a:srgbClr val="002060"/>
                </a:solidFill>
                <a:prstDash val="solid"/>
                <a:headEnd type="none" w="med" len="med"/>
                <a:tailEnd type="none" w="med" len="med"/>
              </a:ln>
            </p:spPr>
          </p:sp>
        </p:grpSp>
        <p:grpSp>
          <p:nvGrpSpPr>
            <p:cNvPr id="498712" name="组合 498711"/>
            <p:cNvGrpSpPr/>
            <p:nvPr/>
          </p:nvGrpSpPr>
          <p:grpSpPr>
            <a:xfrm>
              <a:off x="2734" y="2021"/>
              <a:ext cx="117" cy="111"/>
              <a:chOff x="2064" y="2136"/>
              <a:chExt cx="117" cy="111"/>
            </a:xfrm>
          </p:grpSpPr>
          <p:sp>
            <p:nvSpPr>
              <p:cNvPr id="498713" name="直接连接符 498712"/>
              <p:cNvSpPr/>
              <p:nvPr/>
            </p:nvSpPr>
            <p:spPr>
              <a:xfrm>
                <a:off x="2181" y="2136"/>
                <a:ext cx="0" cy="111"/>
              </a:xfrm>
              <a:prstGeom prst="line">
                <a:avLst/>
              </a:prstGeom>
              <a:ln w="19050" cap="flat" cmpd="sng">
                <a:solidFill>
                  <a:srgbClr val="002060"/>
                </a:solidFill>
                <a:prstDash val="solid"/>
                <a:headEnd type="none" w="med" len="med"/>
                <a:tailEnd type="none" w="med" len="med"/>
              </a:ln>
            </p:spPr>
          </p:sp>
          <p:sp>
            <p:nvSpPr>
              <p:cNvPr id="498714" name="直接连接符 498713"/>
              <p:cNvSpPr/>
              <p:nvPr/>
            </p:nvSpPr>
            <p:spPr>
              <a:xfrm>
                <a:off x="2064" y="2142"/>
                <a:ext cx="0" cy="102"/>
              </a:xfrm>
              <a:prstGeom prst="line">
                <a:avLst/>
              </a:prstGeom>
              <a:ln w="19050" cap="flat" cmpd="sng">
                <a:solidFill>
                  <a:srgbClr val="002060"/>
                </a:solidFill>
                <a:prstDash val="solid"/>
                <a:headEnd type="none" w="med" len="med"/>
                <a:tailEnd type="none" w="med" len="med"/>
              </a:ln>
            </p:spPr>
          </p:sp>
        </p:grpSp>
        <p:grpSp>
          <p:nvGrpSpPr>
            <p:cNvPr id="498715" name="组合 498714"/>
            <p:cNvGrpSpPr/>
            <p:nvPr/>
          </p:nvGrpSpPr>
          <p:grpSpPr>
            <a:xfrm>
              <a:off x="2740" y="2669"/>
              <a:ext cx="117" cy="111"/>
              <a:chOff x="2064" y="2136"/>
              <a:chExt cx="117" cy="111"/>
            </a:xfrm>
          </p:grpSpPr>
          <p:sp>
            <p:nvSpPr>
              <p:cNvPr id="498716" name="直接连接符 498715"/>
              <p:cNvSpPr/>
              <p:nvPr/>
            </p:nvSpPr>
            <p:spPr>
              <a:xfrm>
                <a:off x="2181" y="2136"/>
                <a:ext cx="0" cy="111"/>
              </a:xfrm>
              <a:prstGeom prst="line">
                <a:avLst/>
              </a:prstGeom>
              <a:ln w="19050" cap="flat" cmpd="sng">
                <a:solidFill>
                  <a:schemeClr val="bg1"/>
                </a:solidFill>
                <a:prstDash val="solid"/>
                <a:headEnd type="none" w="med" len="med"/>
                <a:tailEnd type="none" w="med" len="med"/>
              </a:ln>
            </p:spPr>
          </p:sp>
          <p:sp>
            <p:nvSpPr>
              <p:cNvPr id="498717" name="直接连接符 498716"/>
              <p:cNvSpPr/>
              <p:nvPr/>
            </p:nvSpPr>
            <p:spPr>
              <a:xfrm>
                <a:off x="2064" y="2142"/>
                <a:ext cx="0" cy="102"/>
              </a:xfrm>
              <a:prstGeom prst="line">
                <a:avLst/>
              </a:prstGeom>
              <a:ln w="19050" cap="flat" cmpd="sng">
                <a:solidFill>
                  <a:schemeClr val="bg1"/>
                </a:solidFill>
                <a:prstDash val="solid"/>
                <a:headEnd type="none" w="med" len="med"/>
                <a:tailEnd type="none" w="med" len="med"/>
              </a:ln>
            </p:spPr>
          </p:sp>
        </p:grpSp>
        <p:grpSp>
          <p:nvGrpSpPr>
            <p:cNvPr id="498718" name="组合 498717"/>
            <p:cNvGrpSpPr/>
            <p:nvPr/>
          </p:nvGrpSpPr>
          <p:grpSpPr>
            <a:xfrm>
              <a:off x="2734" y="3341"/>
              <a:ext cx="117" cy="111"/>
              <a:chOff x="2064" y="2136"/>
              <a:chExt cx="117" cy="111"/>
            </a:xfrm>
          </p:grpSpPr>
          <p:sp>
            <p:nvSpPr>
              <p:cNvPr id="498719" name="直接连接符 498718"/>
              <p:cNvSpPr/>
              <p:nvPr/>
            </p:nvSpPr>
            <p:spPr>
              <a:xfrm>
                <a:off x="2181" y="2136"/>
                <a:ext cx="0" cy="111"/>
              </a:xfrm>
              <a:prstGeom prst="line">
                <a:avLst/>
              </a:prstGeom>
              <a:ln w="19050" cap="flat" cmpd="sng">
                <a:solidFill>
                  <a:srgbClr val="002060"/>
                </a:solidFill>
                <a:prstDash val="solid"/>
                <a:headEnd type="none" w="med" len="med"/>
                <a:tailEnd type="none" w="med" len="med"/>
              </a:ln>
            </p:spPr>
          </p:sp>
          <p:sp>
            <p:nvSpPr>
              <p:cNvPr id="498720" name="直接连接符 498719"/>
              <p:cNvSpPr/>
              <p:nvPr/>
            </p:nvSpPr>
            <p:spPr>
              <a:xfrm>
                <a:off x="2064" y="2142"/>
                <a:ext cx="0" cy="102"/>
              </a:xfrm>
              <a:prstGeom prst="line">
                <a:avLst/>
              </a:prstGeom>
              <a:ln w="19050" cap="flat" cmpd="sng">
                <a:solidFill>
                  <a:srgbClr val="002060"/>
                </a:solidFill>
                <a:prstDash val="solid"/>
                <a:headEnd type="none" w="med" len="med"/>
                <a:tailEnd type="none" w="med" len="med"/>
              </a:ln>
            </p:spPr>
          </p:sp>
        </p:grpSp>
        <p:grpSp>
          <p:nvGrpSpPr>
            <p:cNvPr id="498721" name="组合 498720"/>
            <p:cNvGrpSpPr/>
            <p:nvPr/>
          </p:nvGrpSpPr>
          <p:grpSpPr>
            <a:xfrm>
              <a:off x="3784" y="2801"/>
              <a:ext cx="117" cy="112"/>
              <a:chOff x="2064" y="2136"/>
              <a:chExt cx="117" cy="112"/>
            </a:xfrm>
          </p:grpSpPr>
          <p:sp>
            <p:nvSpPr>
              <p:cNvPr id="498722" name="直接连接符 498721"/>
              <p:cNvSpPr/>
              <p:nvPr/>
            </p:nvSpPr>
            <p:spPr>
              <a:xfrm>
                <a:off x="2181" y="2136"/>
                <a:ext cx="0" cy="111"/>
              </a:xfrm>
              <a:prstGeom prst="line">
                <a:avLst/>
              </a:prstGeom>
              <a:ln w="19050" cap="flat" cmpd="sng">
                <a:solidFill>
                  <a:srgbClr val="002060"/>
                </a:solidFill>
                <a:prstDash val="solid"/>
                <a:headEnd type="none" w="med" len="med"/>
                <a:tailEnd type="none" w="med" len="med"/>
              </a:ln>
            </p:spPr>
          </p:sp>
          <p:sp>
            <p:nvSpPr>
              <p:cNvPr id="498723" name="直接连接符 498722"/>
              <p:cNvSpPr/>
              <p:nvPr/>
            </p:nvSpPr>
            <p:spPr>
              <a:xfrm>
                <a:off x="2064" y="2142"/>
                <a:ext cx="0" cy="106"/>
              </a:xfrm>
              <a:prstGeom prst="line">
                <a:avLst/>
              </a:prstGeom>
              <a:ln w="19050" cap="flat" cmpd="sng">
                <a:solidFill>
                  <a:srgbClr val="002060"/>
                </a:solidFill>
                <a:prstDash val="solid"/>
                <a:headEnd type="none" w="med" len="med"/>
                <a:tailEnd type="none" w="med" len="med"/>
              </a:ln>
            </p:spPr>
          </p:sp>
        </p:grpSp>
        <p:grpSp>
          <p:nvGrpSpPr>
            <p:cNvPr id="498724" name="组合 498723"/>
            <p:cNvGrpSpPr/>
            <p:nvPr/>
          </p:nvGrpSpPr>
          <p:grpSpPr>
            <a:xfrm>
              <a:off x="3784" y="3323"/>
              <a:ext cx="117" cy="111"/>
              <a:chOff x="2064" y="2136"/>
              <a:chExt cx="117" cy="111"/>
            </a:xfrm>
          </p:grpSpPr>
          <p:sp>
            <p:nvSpPr>
              <p:cNvPr id="498725" name="直接连接符 498724"/>
              <p:cNvSpPr/>
              <p:nvPr/>
            </p:nvSpPr>
            <p:spPr>
              <a:xfrm>
                <a:off x="2181" y="2136"/>
                <a:ext cx="0" cy="111"/>
              </a:xfrm>
              <a:prstGeom prst="line">
                <a:avLst/>
              </a:prstGeom>
              <a:ln w="19050" cap="flat" cmpd="sng">
                <a:solidFill>
                  <a:srgbClr val="002060"/>
                </a:solidFill>
                <a:prstDash val="solid"/>
                <a:headEnd type="none" w="med" len="med"/>
                <a:tailEnd type="none" w="med" len="med"/>
              </a:ln>
            </p:spPr>
          </p:sp>
          <p:sp>
            <p:nvSpPr>
              <p:cNvPr id="498726" name="直接连接符 498725"/>
              <p:cNvSpPr/>
              <p:nvPr/>
            </p:nvSpPr>
            <p:spPr>
              <a:xfrm>
                <a:off x="2064" y="2142"/>
                <a:ext cx="0" cy="102"/>
              </a:xfrm>
              <a:prstGeom prst="line">
                <a:avLst/>
              </a:prstGeom>
              <a:ln w="19050" cap="flat" cmpd="sng">
                <a:solidFill>
                  <a:srgbClr val="002060"/>
                </a:solidFill>
                <a:prstDash val="solid"/>
                <a:headEnd type="none" w="med" len="med"/>
                <a:tailEnd type="none" w="med" len="med"/>
              </a:ln>
            </p:spPr>
          </p:sp>
        </p:grpSp>
        <p:grpSp>
          <p:nvGrpSpPr>
            <p:cNvPr id="498729" name="组合 498728"/>
            <p:cNvGrpSpPr/>
            <p:nvPr/>
          </p:nvGrpSpPr>
          <p:grpSpPr>
            <a:xfrm>
              <a:off x="2027" y="2286"/>
              <a:ext cx="108" cy="78"/>
              <a:chOff x="2064" y="2448"/>
              <a:chExt cx="108" cy="78"/>
            </a:xfrm>
          </p:grpSpPr>
          <p:sp>
            <p:nvSpPr>
              <p:cNvPr id="498727" name="直接连接符 498726"/>
              <p:cNvSpPr/>
              <p:nvPr/>
            </p:nvSpPr>
            <p:spPr>
              <a:xfrm>
                <a:off x="2064" y="2448"/>
                <a:ext cx="108" cy="78"/>
              </a:xfrm>
              <a:prstGeom prst="line">
                <a:avLst/>
              </a:prstGeom>
              <a:ln w="19050" cap="flat" cmpd="sng">
                <a:solidFill>
                  <a:srgbClr val="002060"/>
                </a:solidFill>
                <a:prstDash val="solid"/>
                <a:headEnd type="none" w="med" len="med"/>
                <a:tailEnd type="none" w="med" len="med"/>
              </a:ln>
            </p:spPr>
          </p:sp>
          <p:sp>
            <p:nvSpPr>
              <p:cNvPr id="498728" name="直接连接符 498727"/>
              <p:cNvSpPr/>
              <p:nvPr/>
            </p:nvSpPr>
            <p:spPr>
              <a:xfrm flipH="1">
                <a:off x="2076" y="2448"/>
                <a:ext cx="96" cy="72"/>
              </a:xfrm>
              <a:prstGeom prst="line">
                <a:avLst/>
              </a:prstGeom>
              <a:ln w="19050" cap="flat" cmpd="sng">
                <a:solidFill>
                  <a:srgbClr val="002060"/>
                </a:solidFill>
                <a:prstDash val="solid"/>
                <a:headEnd type="none" w="med" len="med"/>
                <a:tailEnd type="none" w="med" len="med"/>
              </a:ln>
            </p:spPr>
          </p:sp>
        </p:grpSp>
        <p:grpSp>
          <p:nvGrpSpPr>
            <p:cNvPr id="498730" name="组合 498729"/>
            <p:cNvGrpSpPr/>
            <p:nvPr/>
          </p:nvGrpSpPr>
          <p:grpSpPr>
            <a:xfrm>
              <a:off x="2741" y="2292"/>
              <a:ext cx="108" cy="84"/>
              <a:chOff x="2064" y="2442"/>
              <a:chExt cx="108" cy="84"/>
            </a:xfrm>
          </p:grpSpPr>
          <p:sp>
            <p:nvSpPr>
              <p:cNvPr id="498731" name="直接连接符 498730"/>
              <p:cNvSpPr/>
              <p:nvPr/>
            </p:nvSpPr>
            <p:spPr>
              <a:xfrm>
                <a:off x="2064" y="2448"/>
                <a:ext cx="108" cy="78"/>
              </a:xfrm>
              <a:prstGeom prst="line">
                <a:avLst/>
              </a:prstGeom>
              <a:ln w="19050" cap="flat" cmpd="sng">
                <a:solidFill>
                  <a:srgbClr val="002060"/>
                </a:solidFill>
                <a:prstDash val="solid"/>
                <a:headEnd type="none" w="med" len="med"/>
                <a:tailEnd type="none" w="med" len="med"/>
              </a:ln>
            </p:spPr>
          </p:sp>
          <p:sp>
            <p:nvSpPr>
              <p:cNvPr id="498732" name="直接连接符 498731"/>
              <p:cNvSpPr/>
              <p:nvPr/>
            </p:nvSpPr>
            <p:spPr>
              <a:xfrm flipH="1">
                <a:off x="2076" y="2442"/>
                <a:ext cx="78" cy="72"/>
              </a:xfrm>
              <a:prstGeom prst="line">
                <a:avLst/>
              </a:prstGeom>
              <a:ln w="19050" cap="flat" cmpd="sng">
                <a:solidFill>
                  <a:srgbClr val="002060"/>
                </a:solidFill>
                <a:prstDash val="solid"/>
                <a:headEnd type="none" w="med" len="med"/>
                <a:tailEnd type="none" w="med" len="med"/>
              </a:ln>
            </p:spPr>
          </p:sp>
        </p:grpSp>
        <p:grpSp>
          <p:nvGrpSpPr>
            <p:cNvPr id="498733" name="组合 498732"/>
            <p:cNvGrpSpPr/>
            <p:nvPr/>
          </p:nvGrpSpPr>
          <p:grpSpPr>
            <a:xfrm>
              <a:off x="2753" y="3063"/>
              <a:ext cx="108" cy="78"/>
              <a:chOff x="2064" y="2445"/>
              <a:chExt cx="108" cy="78"/>
            </a:xfrm>
          </p:grpSpPr>
          <p:sp>
            <p:nvSpPr>
              <p:cNvPr id="498734" name="直接连接符 498733"/>
              <p:cNvSpPr/>
              <p:nvPr/>
            </p:nvSpPr>
            <p:spPr>
              <a:xfrm>
                <a:off x="2064" y="2445"/>
                <a:ext cx="108" cy="78"/>
              </a:xfrm>
              <a:prstGeom prst="line">
                <a:avLst/>
              </a:prstGeom>
              <a:ln w="19050" cap="flat" cmpd="sng">
                <a:solidFill>
                  <a:srgbClr val="002060"/>
                </a:solidFill>
                <a:prstDash val="solid"/>
                <a:headEnd type="none" w="med" len="med"/>
                <a:tailEnd type="none" w="med" len="med"/>
              </a:ln>
            </p:spPr>
          </p:sp>
          <p:sp>
            <p:nvSpPr>
              <p:cNvPr id="498735" name="直接连接符 498734"/>
              <p:cNvSpPr/>
              <p:nvPr/>
            </p:nvSpPr>
            <p:spPr>
              <a:xfrm flipH="1">
                <a:off x="2076" y="2448"/>
                <a:ext cx="78" cy="72"/>
              </a:xfrm>
              <a:prstGeom prst="line">
                <a:avLst/>
              </a:prstGeom>
              <a:ln w="19050" cap="flat" cmpd="sng">
                <a:solidFill>
                  <a:srgbClr val="002060"/>
                </a:solidFill>
                <a:prstDash val="solid"/>
                <a:headEnd type="none" w="med" len="med"/>
                <a:tailEnd type="none" w="med" len="med"/>
              </a:ln>
            </p:spPr>
          </p:sp>
        </p:grpSp>
        <p:grpSp>
          <p:nvGrpSpPr>
            <p:cNvPr id="498740" name="组合 498739"/>
            <p:cNvGrpSpPr/>
            <p:nvPr/>
          </p:nvGrpSpPr>
          <p:grpSpPr>
            <a:xfrm>
              <a:off x="3791" y="3048"/>
              <a:ext cx="108" cy="78"/>
              <a:chOff x="2064" y="2448"/>
              <a:chExt cx="108" cy="78"/>
            </a:xfrm>
          </p:grpSpPr>
          <p:sp>
            <p:nvSpPr>
              <p:cNvPr id="498741" name="直接连接符 498740"/>
              <p:cNvSpPr/>
              <p:nvPr/>
            </p:nvSpPr>
            <p:spPr>
              <a:xfrm>
                <a:off x="2064" y="2448"/>
                <a:ext cx="108" cy="78"/>
              </a:xfrm>
              <a:prstGeom prst="line">
                <a:avLst/>
              </a:prstGeom>
              <a:ln w="19050" cap="flat" cmpd="sng">
                <a:solidFill>
                  <a:srgbClr val="002060"/>
                </a:solidFill>
                <a:prstDash val="solid"/>
                <a:headEnd type="none" w="med" len="med"/>
                <a:tailEnd type="none" w="med" len="med"/>
              </a:ln>
            </p:spPr>
          </p:sp>
          <p:sp>
            <p:nvSpPr>
              <p:cNvPr id="498742" name="直接连接符 498741"/>
              <p:cNvSpPr/>
              <p:nvPr/>
            </p:nvSpPr>
            <p:spPr>
              <a:xfrm flipH="1">
                <a:off x="2076" y="2448"/>
                <a:ext cx="78" cy="72"/>
              </a:xfrm>
              <a:prstGeom prst="line">
                <a:avLst/>
              </a:prstGeom>
              <a:ln w="19050" cap="flat" cmpd="sng">
                <a:solidFill>
                  <a:srgbClr val="002060"/>
                </a:solidFill>
                <a:prstDash val="solid"/>
                <a:headEnd type="none" w="med" len="med"/>
                <a:tailEnd type="none" w="med" len="med"/>
              </a:ln>
            </p:spPr>
          </p:sp>
        </p:grpSp>
        <p:grpSp>
          <p:nvGrpSpPr>
            <p:cNvPr id="498746" name="组合 498745"/>
            <p:cNvGrpSpPr/>
            <p:nvPr/>
          </p:nvGrpSpPr>
          <p:grpSpPr>
            <a:xfrm>
              <a:off x="2261" y="2970"/>
              <a:ext cx="240" cy="252"/>
              <a:chOff x="2298" y="3132"/>
              <a:chExt cx="240" cy="252"/>
            </a:xfrm>
          </p:grpSpPr>
          <p:sp>
            <p:nvSpPr>
              <p:cNvPr id="498743" name="直接连接符 498742"/>
              <p:cNvSpPr/>
              <p:nvPr/>
            </p:nvSpPr>
            <p:spPr>
              <a:xfrm>
                <a:off x="2298" y="3132"/>
                <a:ext cx="132" cy="246"/>
              </a:xfrm>
              <a:prstGeom prst="line">
                <a:avLst/>
              </a:prstGeom>
              <a:ln w="9525" cap="flat" cmpd="sng">
                <a:solidFill>
                  <a:srgbClr val="002060"/>
                </a:solidFill>
                <a:prstDash val="solid"/>
                <a:headEnd type="none" w="med" len="med"/>
                <a:tailEnd type="none" w="med" len="med"/>
              </a:ln>
            </p:spPr>
          </p:sp>
          <p:sp>
            <p:nvSpPr>
              <p:cNvPr id="498744" name="直接连接符 498743"/>
              <p:cNvSpPr/>
              <p:nvPr/>
            </p:nvSpPr>
            <p:spPr>
              <a:xfrm>
                <a:off x="2352" y="3138"/>
                <a:ext cx="132" cy="246"/>
              </a:xfrm>
              <a:prstGeom prst="line">
                <a:avLst/>
              </a:prstGeom>
              <a:ln w="9525" cap="flat" cmpd="sng">
                <a:solidFill>
                  <a:srgbClr val="002060"/>
                </a:solidFill>
                <a:prstDash val="solid"/>
                <a:headEnd type="none" w="med" len="med"/>
                <a:tailEnd type="none" w="med" len="med"/>
              </a:ln>
            </p:spPr>
          </p:sp>
          <p:sp>
            <p:nvSpPr>
              <p:cNvPr id="498745" name="直接连接符 498744"/>
              <p:cNvSpPr/>
              <p:nvPr/>
            </p:nvSpPr>
            <p:spPr>
              <a:xfrm>
                <a:off x="2406" y="3138"/>
                <a:ext cx="132" cy="246"/>
              </a:xfrm>
              <a:prstGeom prst="line">
                <a:avLst/>
              </a:prstGeom>
              <a:ln w="9525" cap="flat" cmpd="sng">
                <a:solidFill>
                  <a:srgbClr val="002060"/>
                </a:solidFill>
                <a:prstDash val="solid"/>
                <a:headEnd type="none" w="med" len="med"/>
                <a:tailEnd type="none" w="med" len="med"/>
              </a:ln>
            </p:spPr>
          </p:sp>
        </p:grpSp>
        <p:grpSp>
          <p:nvGrpSpPr>
            <p:cNvPr id="498747" name="组合 498746"/>
            <p:cNvGrpSpPr/>
            <p:nvPr/>
          </p:nvGrpSpPr>
          <p:grpSpPr>
            <a:xfrm flipV="1">
              <a:off x="3491" y="2958"/>
              <a:ext cx="240" cy="252"/>
              <a:chOff x="2298" y="3132"/>
              <a:chExt cx="240" cy="252"/>
            </a:xfrm>
          </p:grpSpPr>
          <p:sp>
            <p:nvSpPr>
              <p:cNvPr id="498748" name="直接连接符 498747"/>
              <p:cNvSpPr/>
              <p:nvPr/>
            </p:nvSpPr>
            <p:spPr>
              <a:xfrm>
                <a:off x="2298" y="3132"/>
                <a:ext cx="132" cy="246"/>
              </a:xfrm>
              <a:prstGeom prst="line">
                <a:avLst/>
              </a:prstGeom>
              <a:ln w="9525" cap="flat" cmpd="sng">
                <a:solidFill>
                  <a:srgbClr val="002060"/>
                </a:solidFill>
                <a:prstDash val="solid"/>
                <a:headEnd type="none" w="med" len="med"/>
                <a:tailEnd type="none" w="med" len="med"/>
              </a:ln>
            </p:spPr>
          </p:sp>
          <p:sp>
            <p:nvSpPr>
              <p:cNvPr id="498749" name="直接连接符 498748"/>
              <p:cNvSpPr/>
              <p:nvPr/>
            </p:nvSpPr>
            <p:spPr>
              <a:xfrm>
                <a:off x="2352" y="3138"/>
                <a:ext cx="132" cy="246"/>
              </a:xfrm>
              <a:prstGeom prst="line">
                <a:avLst/>
              </a:prstGeom>
              <a:ln w="9525" cap="flat" cmpd="sng">
                <a:solidFill>
                  <a:srgbClr val="002060"/>
                </a:solidFill>
                <a:prstDash val="solid"/>
                <a:headEnd type="none" w="med" len="med"/>
                <a:tailEnd type="none" w="med" len="med"/>
              </a:ln>
            </p:spPr>
          </p:sp>
          <p:sp>
            <p:nvSpPr>
              <p:cNvPr id="498750" name="直接连接符 498749"/>
              <p:cNvSpPr/>
              <p:nvPr/>
            </p:nvSpPr>
            <p:spPr>
              <a:xfrm>
                <a:off x="2406" y="3138"/>
                <a:ext cx="132" cy="246"/>
              </a:xfrm>
              <a:prstGeom prst="line">
                <a:avLst/>
              </a:prstGeom>
              <a:ln w="9525" cap="flat" cmpd="sng">
                <a:solidFill>
                  <a:srgbClr val="002060"/>
                </a:solidFill>
                <a:prstDash val="solid"/>
                <a:headEnd type="none" w="med" len="med"/>
                <a:tailEnd type="none" w="med" len="med"/>
              </a:ln>
            </p:spPr>
          </p:sp>
        </p:grpSp>
        <p:sp>
          <p:nvSpPr>
            <p:cNvPr id="498755" name="直接连接符 498754"/>
            <p:cNvSpPr/>
            <p:nvPr/>
          </p:nvSpPr>
          <p:spPr>
            <a:xfrm flipH="1">
              <a:off x="2963" y="2088"/>
              <a:ext cx="90" cy="186"/>
            </a:xfrm>
            <a:prstGeom prst="line">
              <a:avLst/>
            </a:prstGeom>
            <a:ln w="9525" cap="flat" cmpd="sng">
              <a:solidFill>
                <a:schemeClr val="folHlink"/>
              </a:solidFill>
              <a:prstDash val="solid"/>
              <a:headEnd type="none" w="med" len="med"/>
              <a:tailEnd type="none" w="med" len="med"/>
            </a:ln>
          </p:spPr>
        </p:sp>
        <p:sp>
          <p:nvSpPr>
            <p:cNvPr id="498758" name="直接连接符 498757"/>
            <p:cNvSpPr/>
            <p:nvPr/>
          </p:nvSpPr>
          <p:spPr>
            <a:xfrm flipV="1">
              <a:off x="2213" y="3138"/>
              <a:ext cx="90" cy="216"/>
            </a:xfrm>
            <a:prstGeom prst="line">
              <a:avLst/>
            </a:prstGeom>
            <a:ln w="9525" cap="flat" cmpd="sng">
              <a:solidFill>
                <a:schemeClr val="folHlink"/>
              </a:solidFill>
              <a:prstDash val="solid"/>
              <a:headEnd type="none" w="med" len="med"/>
              <a:tailEnd type="none" w="med" len="med"/>
            </a:ln>
          </p:spPr>
        </p:sp>
      </p:grpSp>
      <p:sp>
        <p:nvSpPr>
          <p:cNvPr id="498759" name="直接连接符 498758"/>
          <p:cNvSpPr/>
          <p:nvPr/>
        </p:nvSpPr>
        <p:spPr>
          <a:xfrm flipH="1" flipV="1">
            <a:off x="6551613" y="4914900"/>
            <a:ext cx="381000" cy="285750"/>
          </a:xfrm>
          <a:prstGeom prst="line">
            <a:avLst/>
          </a:prstGeom>
          <a:ln w="9525" cap="flat" cmpd="sng">
            <a:solidFill>
              <a:schemeClr val="folHlink"/>
            </a:solidFill>
            <a:prstDash val="solid"/>
            <a:headEnd type="none" w="med" len="med"/>
            <a:tailEnd type="none" w="med" len="med"/>
          </a:ln>
        </p:spPr>
      </p:sp>
      <p:sp>
        <p:nvSpPr>
          <p:cNvPr id="498762" name="文本框 498761"/>
          <p:cNvSpPr txBox="1"/>
          <p:nvPr/>
        </p:nvSpPr>
        <p:spPr>
          <a:xfrm>
            <a:off x="5884863" y="3768408"/>
            <a:ext cx="668337" cy="366712"/>
          </a:xfrm>
          <a:prstGeom prst="rect">
            <a:avLst/>
          </a:prstGeom>
          <a:noFill/>
          <a:ln w="9525">
            <a:noFill/>
          </a:ln>
        </p:spPr>
        <p:txBody>
          <a:bodyPr>
            <a:spAutoFit/>
          </a:bodyPr>
          <a:p>
            <a:pPr>
              <a:spcBef>
                <a:spcPct val="50000"/>
              </a:spcBef>
            </a:pPr>
            <a:r>
              <a:rPr lang="en-US" altLang="zh-CN">
                <a:solidFill>
                  <a:schemeClr val="hlink"/>
                </a:solidFill>
                <a:latin typeface="Tahoma" panose="020B0604030504040204" pitchFamily="34" charset="0"/>
              </a:rPr>
              <a:t>Ⅰ</a:t>
            </a:r>
            <a:endParaRPr lang="en-US" altLang="zh-CN">
              <a:solidFill>
                <a:schemeClr val="hlink"/>
              </a:solidFill>
              <a:latin typeface="Tahoma" panose="020B0604030504040204" pitchFamily="34" charset="0"/>
            </a:endParaRPr>
          </a:p>
        </p:txBody>
      </p:sp>
      <p:sp>
        <p:nvSpPr>
          <p:cNvPr id="498763" name="矩形 498762"/>
          <p:cNvSpPr/>
          <p:nvPr/>
        </p:nvSpPr>
        <p:spPr>
          <a:xfrm>
            <a:off x="4257675" y="2425700"/>
            <a:ext cx="414338" cy="366713"/>
          </a:xfrm>
          <a:prstGeom prst="rect">
            <a:avLst/>
          </a:prstGeom>
          <a:noFill/>
          <a:ln w="9525">
            <a:noFill/>
          </a:ln>
        </p:spPr>
        <p:txBody>
          <a:bodyPr wrap="none" anchor="t">
            <a:spAutoFit/>
          </a:bodyPr>
          <a:p>
            <a:r>
              <a:rPr lang="en-US" altLang="zh-CN">
                <a:solidFill>
                  <a:schemeClr val="hlink"/>
                </a:solidFill>
                <a:latin typeface="Tahoma" panose="020B0604030504040204" pitchFamily="34" charset="0"/>
              </a:rPr>
              <a:t>Ⅱ</a:t>
            </a:r>
            <a:endParaRPr lang="en-US" altLang="zh-CN">
              <a:solidFill>
                <a:schemeClr val="hlink"/>
              </a:solidFill>
              <a:latin typeface="Tahoma" panose="020B0604030504040204" pitchFamily="34" charset="0"/>
            </a:endParaRPr>
          </a:p>
        </p:txBody>
      </p:sp>
      <p:sp>
        <p:nvSpPr>
          <p:cNvPr id="498764" name="矩形 498763"/>
          <p:cNvSpPr/>
          <p:nvPr/>
        </p:nvSpPr>
        <p:spPr>
          <a:xfrm>
            <a:off x="3100388" y="2449513"/>
            <a:ext cx="414337" cy="366712"/>
          </a:xfrm>
          <a:prstGeom prst="rect">
            <a:avLst/>
          </a:prstGeom>
          <a:noFill/>
          <a:ln w="9525">
            <a:noFill/>
          </a:ln>
        </p:spPr>
        <p:txBody>
          <a:bodyPr wrap="none" anchor="t">
            <a:spAutoFit/>
          </a:bodyPr>
          <a:p>
            <a:r>
              <a:rPr lang="en-US" altLang="zh-CN">
                <a:solidFill>
                  <a:schemeClr val="hlink"/>
                </a:solidFill>
                <a:latin typeface="Tahoma" panose="020B0604030504040204" pitchFamily="34" charset="0"/>
              </a:rPr>
              <a:t>Ⅲ</a:t>
            </a:r>
            <a:endParaRPr lang="en-US" altLang="zh-CN">
              <a:solidFill>
                <a:schemeClr val="hlink"/>
              </a:solidFill>
              <a:latin typeface="Tahoma" panose="020B0604030504040204" pitchFamily="34" charset="0"/>
            </a:endParaRPr>
          </a:p>
        </p:txBody>
      </p:sp>
      <p:sp>
        <p:nvSpPr>
          <p:cNvPr id="498752" name="直接连接符 498751"/>
          <p:cNvSpPr/>
          <p:nvPr/>
        </p:nvSpPr>
        <p:spPr>
          <a:xfrm flipV="1">
            <a:off x="2436813" y="3781425"/>
            <a:ext cx="400050" cy="390525"/>
          </a:xfrm>
          <a:prstGeom prst="line">
            <a:avLst/>
          </a:prstGeom>
          <a:ln w="9525" cap="flat" cmpd="sng">
            <a:solidFill>
              <a:schemeClr val="folHlink"/>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98760"/>
                                        </p:tgtEl>
                                        <p:attrNameLst>
                                          <p:attrName>style.visibility</p:attrName>
                                        </p:attrNameLst>
                                      </p:cBhvr>
                                      <p:to>
                                        <p:strVal val="visible"/>
                                      </p:to>
                                    </p:set>
                                    <p:anim calcmode="lin" valueType="num">
                                      <p:cBhvr>
                                        <p:cTn id="7" dur="500" fill="hold"/>
                                        <p:tgtEl>
                                          <p:spTgt spid="498760"/>
                                        </p:tgtEl>
                                        <p:attrNameLst>
                                          <p:attrName>ppt_w</p:attrName>
                                        </p:attrNameLst>
                                      </p:cBhvr>
                                      <p:tavLst>
                                        <p:tav tm="0">
                                          <p:val>
                                            <p:fltVal val="0.000000"/>
                                          </p:val>
                                        </p:tav>
                                        <p:tav tm="100000">
                                          <p:val>
                                            <p:strVal val="#ppt_w"/>
                                          </p:val>
                                        </p:tav>
                                      </p:tavLst>
                                    </p:anim>
                                    <p:anim calcmode="lin" valueType="num">
                                      <p:cBhvr>
                                        <p:cTn id="8" dur="500" fill="hold"/>
                                        <p:tgtEl>
                                          <p:spTgt spid="498760"/>
                                        </p:tgtEl>
                                        <p:attrNameLst>
                                          <p:attrName>ppt_h</p:attrName>
                                        </p:attrNameLst>
                                      </p:cBhvr>
                                      <p:tavLst>
                                        <p:tav tm="0">
                                          <p:val>
                                            <p:fltVal val="0.000000"/>
                                          </p:val>
                                        </p:tav>
                                        <p:tav tm="100000">
                                          <p:val>
                                            <p:strVal val="#ppt_h"/>
                                          </p:val>
                                        </p:tav>
                                      </p:tavLst>
                                    </p:anim>
                                    <p:animEffect transition="in" filter="fade">
                                      <p:cBhvr>
                                        <p:cTn id="9" dur="500"/>
                                        <p:tgtEl>
                                          <p:spTgt spid="49876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98762"/>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49876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9876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98759"/>
                                        </p:tgtEl>
                                        <p:attrNameLst>
                                          <p:attrName>style.visibility</p:attrName>
                                        </p:attrNameLst>
                                      </p:cBhvr>
                                      <p:to>
                                        <p:strVal val="visible"/>
                                      </p:to>
                                    </p:set>
                                    <p:animEffect transition="in" filter="wipe(left)">
                                      <p:cBhvr>
                                        <p:cTn id="24" dur="500"/>
                                        <p:tgtEl>
                                          <p:spTgt spid="498759"/>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498757"/>
                                        </p:tgtEl>
                                        <p:attrNameLst>
                                          <p:attrName>style.visibility</p:attrName>
                                        </p:attrNameLst>
                                      </p:cBhvr>
                                      <p:to>
                                        <p:strVal val="visible"/>
                                      </p:to>
                                    </p:set>
                                    <p:animEffect transition="in" filter="wipe(left)">
                                      <p:cBhvr>
                                        <p:cTn id="28" dur="500"/>
                                        <p:tgtEl>
                                          <p:spTgt spid="49875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98756"/>
                                        </p:tgtEl>
                                        <p:attrNameLst>
                                          <p:attrName>style.visibility</p:attrName>
                                        </p:attrNameLst>
                                      </p:cBhvr>
                                      <p:to>
                                        <p:strVal val="visible"/>
                                      </p:to>
                                    </p:set>
                                    <p:animEffect transition="in" filter="wipe(down)">
                                      <p:cBhvr>
                                        <p:cTn id="33" dur="500"/>
                                        <p:tgtEl>
                                          <p:spTgt spid="49875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98754"/>
                                        </p:tgtEl>
                                        <p:attrNameLst>
                                          <p:attrName>style.visibility</p:attrName>
                                        </p:attrNameLst>
                                      </p:cBhvr>
                                      <p:to>
                                        <p:strVal val="visible"/>
                                      </p:to>
                                    </p:set>
                                    <p:animEffect transition="in" filter="wipe(up)">
                                      <p:cBhvr>
                                        <p:cTn id="38" dur="500"/>
                                        <p:tgtEl>
                                          <p:spTgt spid="49875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98752"/>
                                        </p:tgtEl>
                                        <p:attrNameLst>
                                          <p:attrName>style.visibility</p:attrName>
                                        </p:attrNameLst>
                                      </p:cBhvr>
                                      <p:to>
                                        <p:strVal val="visible"/>
                                      </p:to>
                                    </p:set>
                                    <p:animEffect transition="in" filter="wipe(up)">
                                      <p:cBhvr>
                                        <p:cTn id="43" dur="500"/>
                                        <p:tgtEl>
                                          <p:spTgt spid="498752"/>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498751"/>
                                        </p:tgtEl>
                                        <p:attrNameLst>
                                          <p:attrName>style.visibility</p:attrName>
                                        </p:attrNameLst>
                                      </p:cBhvr>
                                      <p:to>
                                        <p:strVal val="visible"/>
                                      </p:to>
                                    </p:set>
                                    <p:animEffect transition="in" filter="wipe(up)">
                                      <p:cBhvr>
                                        <p:cTn id="47" dur="500"/>
                                        <p:tgtEl>
                                          <p:spTgt spid="498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751" grpId="0"/>
      <p:bldP spid="498762" grpId="0"/>
      <p:bldP spid="498763" grpId="0"/>
      <p:bldP spid="498764"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grpSp>
        <p:nvGrpSpPr>
          <p:cNvPr id="553986" name="组合 553985"/>
          <p:cNvGrpSpPr/>
          <p:nvPr/>
        </p:nvGrpSpPr>
        <p:grpSpPr>
          <a:xfrm>
            <a:off x="6326188" y="5511800"/>
            <a:ext cx="2519362" cy="631825"/>
            <a:chOff x="4182" y="3930"/>
            <a:chExt cx="1587" cy="398"/>
          </a:xfrm>
        </p:grpSpPr>
        <p:sp>
          <p:nvSpPr>
            <p:cNvPr id="553987" name="文本框 553986"/>
            <p:cNvSpPr txBox="1"/>
            <p:nvPr/>
          </p:nvSpPr>
          <p:spPr>
            <a:xfrm>
              <a:off x="4448" y="3943"/>
              <a:ext cx="1321" cy="385"/>
            </a:xfrm>
            <a:prstGeom prst="rect">
              <a:avLst/>
            </a:prstGeom>
            <a:noFill/>
            <a:ln w="9525">
              <a:noFill/>
            </a:ln>
          </p:spPr>
          <p:txBody>
            <a:bodyPr>
              <a:spAutoFit/>
            </a:bodyPr>
            <a:p>
              <a:pPr eaLnBrk="0" hangingPunct="0"/>
              <a:r>
                <a:rPr lang="zh-CN" altLang="en-US" sz="1600" dirty="0">
                  <a:solidFill>
                    <a:srgbClr val="990033"/>
                  </a:solidFill>
                  <a:latin typeface="华文行楷" panose="02010800040101010101" pitchFamily="2" charset="-122"/>
                  <a:ea typeface="华文行楷" panose="02010800040101010101" pitchFamily="2" charset="-122"/>
                </a:rPr>
                <a:t>中国矿业大学</a:t>
              </a:r>
              <a:r>
                <a:rPr lang="en-US" altLang="zh-CN" sz="1600" dirty="0">
                  <a:solidFill>
                    <a:srgbClr val="990033"/>
                  </a:solidFill>
                  <a:latin typeface="华文行楷" panose="02010800040101010101" pitchFamily="2" charset="-122"/>
                  <a:ea typeface="华文行楷" panose="02010800040101010101" pitchFamily="2" charset="-122"/>
                </a:rPr>
                <a:t>(</a:t>
              </a:r>
              <a:r>
                <a:rPr lang="zh-CN" altLang="en-US" sz="1600" dirty="0">
                  <a:solidFill>
                    <a:srgbClr val="990033"/>
                  </a:solidFill>
                  <a:latin typeface="华文行楷" panose="02010800040101010101" pitchFamily="2" charset="-122"/>
                  <a:ea typeface="华文行楷" panose="02010800040101010101" pitchFamily="2" charset="-122"/>
                </a:rPr>
                <a:t>北京</a:t>
              </a:r>
              <a:r>
                <a:rPr lang="en-US" altLang="zh-CN" sz="1600">
                  <a:solidFill>
                    <a:srgbClr val="990033"/>
                  </a:solidFill>
                  <a:latin typeface="华文行楷" panose="02010800040101010101" pitchFamily="2" charset="-122"/>
                  <a:ea typeface="华文行楷" panose="02010800040101010101" pitchFamily="2" charset="-122"/>
                </a:rPr>
                <a:t>)</a:t>
              </a:r>
              <a:endParaRPr lang="en-US" altLang="zh-CN" sz="1600">
                <a:solidFill>
                  <a:srgbClr val="990033"/>
                </a:solidFill>
                <a:latin typeface="华文行楷" panose="02010800040101010101" pitchFamily="2" charset="-122"/>
                <a:ea typeface="华文行楷" panose="02010800040101010101" pitchFamily="2" charset="-122"/>
              </a:endParaRPr>
            </a:p>
            <a:p>
              <a:r>
                <a:rPr lang="zh-CN" altLang="en-US" dirty="0">
                  <a:solidFill>
                    <a:srgbClr val="3333CC"/>
                  </a:solidFill>
                  <a:latin typeface="Times New Roman" panose="02020603050405020304" pitchFamily="18" charset="0"/>
                  <a:ea typeface="华文隶书" panose="02010800040101010101" pitchFamily="2" charset="-122"/>
                </a:rPr>
                <a:t>机械设计基础</a:t>
              </a:r>
              <a:endParaRPr lang="zh-CN" altLang="en-US">
                <a:solidFill>
                  <a:srgbClr val="3333CC"/>
                </a:solidFill>
                <a:latin typeface="Times New Roman" panose="02020603050405020304" pitchFamily="18" charset="0"/>
                <a:ea typeface="华文隶书" panose="02010800040101010101" pitchFamily="2" charset="-122"/>
              </a:endParaRPr>
            </a:p>
          </p:txBody>
        </p:sp>
        <p:graphicFrame>
          <p:nvGraphicFramePr>
            <p:cNvPr id="553988" name="对象 553987"/>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3149" name="" r:id="rId1" imgW="781050" imgH="781050" progId="MSPhotoEd.3">
                    <p:embed/>
                  </p:oleObj>
                </mc:Choice>
                <mc:Fallback>
                  <p:oleObj name="" r:id="rId1" imgW="781050" imgH="781050" progId="MSPhotoEd.3">
                    <p:embed/>
                    <p:pic>
                      <p:nvPicPr>
                        <p:cNvPr id="0" name="图片 3148"/>
                        <p:cNvPicPr/>
                        <p:nvPr/>
                      </p:nvPicPr>
                      <p:blipFill>
                        <a:blip r:embed="rId2"/>
                        <a:stretch>
                          <a:fillRect/>
                        </a:stretch>
                      </p:blipFill>
                      <p:spPr>
                        <a:xfrm>
                          <a:off x="4182" y="3930"/>
                          <a:ext cx="385" cy="385"/>
                        </a:xfrm>
                        <a:prstGeom prst="rect">
                          <a:avLst/>
                        </a:prstGeom>
                        <a:noFill/>
                        <a:ln w="38100">
                          <a:noFill/>
                          <a:miter/>
                        </a:ln>
                      </p:spPr>
                    </p:pic>
                  </p:oleObj>
                </mc:Fallback>
              </mc:AlternateContent>
            </a:graphicData>
          </a:graphic>
        </p:graphicFrame>
      </p:grpSp>
      <p:grpSp>
        <p:nvGrpSpPr>
          <p:cNvPr id="553989" name="组合 553988"/>
          <p:cNvGrpSpPr/>
          <p:nvPr/>
        </p:nvGrpSpPr>
        <p:grpSpPr>
          <a:xfrm>
            <a:off x="4478338" y="3856038"/>
            <a:ext cx="4337050" cy="2309812"/>
            <a:chOff x="3018" y="2886"/>
            <a:chExt cx="2732" cy="1455"/>
          </a:xfrm>
        </p:grpSpPr>
        <p:grpSp>
          <p:nvGrpSpPr>
            <p:cNvPr id="553990" name="组合 553989"/>
            <p:cNvGrpSpPr/>
            <p:nvPr/>
          </p:nvGrpSpPr>
          <p:grpSpPr>
            <a:xfrm>
              <a:off x="3018" y="2886"/>
              <a:ext cx="2732" cy="1455"/>
              <a:chOff x="3018" y="2886"/>
              <a:chExt cx="2732" cy="1455"/>
            </a:xfrm>
          </p:grpSpPr>
          <p:pic>
            <p:nvPicPr>
              <p:cNvPr id="553991" name="图片 553990"/>
              <p:cNvPicPr>
                <a:picLocks noChangeAspect="1"/>
              </p:cNvPicPr>
              <p:nvPr/>
            </p:nvPicPr>
            <p:blipFill>
              <a:blip r:embed="rId3"/>
              <a:stretch>
                <a:fillRect/>
              </a:stretch>
            </p:blipFill>
            <p:spPr>
              <a:xfrm>
                <a:off x="3018" y="2886"/>
                <a:ext cx="2732" cy="1434"/>
              </a:xfrm>
              <a:prstGeom prst="rect">
                <a:avLst/>
              </a:prstGeom>
              <a:noFill/>
              <a:ln w="9525">
                <a:noFill/>
              </a:ln>
            </p:spPr>
          </p:pic>
          <p:sp>
            <p:nvSpPr>
              <p:cNvPr id="553992" name="文本框 553991"/>
              <p:cNvSpPr txBox="1"/>
              <p:nvPr/>
            </p:nvSpPr>
            <p:spPr>
              <a:xfrm>
                <a:off x="3061" y="4110"/>
                <a:ext cx="726" cy="231"/>
              </a:xfrm>
              <a:prstGeom prst="rect">
                <a:avLst/>
              </a:prstGeom>
              <a:noFill/>
              <a:ln w="9525">
                <a:noFill/>
              </a:ln>
            </p:spPr>
            <p:txBody>
              <a:bodyPr>
                <a:spAutoFit/>
              </a:bodyPr>
              <a:p>
                <a:pPr algn="l" eaLnBrk="0" hangingPunct="0">
                  <a:spcBef>
                    <a:spcPct val="50000"/>
                  </a:spcBef>
                </a:pPr>
                <a:r>
                  <a:rPr lang="zh-CN" altLang="en-US" dirty="0">
                    <a:solidFill>
                      <a:srgbClr val="800080"/>
                    </a:solidFill>
                    <a:latin typeface="Times New Roman" panose="02020603050405020304" pitchFamily="18" charset="0"/>
                  </a:rPr>
                  <a:t>图</a:t>
                </a:r>
                <a:r>
                  <a:rPr lang="en-US" altLang="zh-CN" dirty="0">
                    <a:solidFill>
                      <a:srgbClr val="800080"/>
                    </a:solidFill>
                    <a:latin typeface="Times New Roman" panose="02020603050405020304" pitchFamily="18" charset="0"/>
                  </a:rPr>
                  <a:t>9</a:t>
                </a:r>
                <a:r>
                  <a:rPr lang="zh-CN" altLang="en-US" dirty="0">
                    <a:solidFill>
                      <a:srgbClr val="800080"/>
                    </a:solidFill>
                    <a:latin typeface="Times New Roman" panose="02020603050405020304" pitchFamily="18" charset="0"/>
                  </a:rPr>
                  <a:t>－</a:t>
                </a:r>
                <a:r>
                  <a:rPr lang="en-US" altLang="zh-CN">
                    <a:solidFill>
                      <a:srgbClr val="800080"/>
                    </a:solidFill>
                    <a:latin typeface="Times New Roman" panose="02020603050405020304" pitchFamily="18" charset="0"/>
                  </a:rPr>
                  <a:t>32</a:t>
                </a:r>
                <a:endParaRPr lang="en-US" altLang="zh-CN">
                  <a:solidFill>
                    <a:srgbClr val="800080"/>
                  </a:solidFill>
                  <a:latin typeface="Times New Roman" panose="02020603050405020304" pitchFamily="18" charset="0"/>
                </a:endParaRPr>
              </a:p>
            </p:txBody>
          </p:sp>
        </p:grpSp>
        <p:sp>
          <p:nvSpPr>
            <p:cNvPr id="553993" name="上弧形箭头 553992"/>
            <p:cNvSpPr/>
            <p:nvPr/>
          </p:nvSpPr>
          <p:spPr>
            <a:xfrm rot="10800000">
              <a:off x="4150" y="3203"/>
              <a:ext cx="272" cy="91"/>
            </a:xfrm>
            <a:prstGeom prst="curvedDownArrow">
              <a:avLst>
                <a:gd name="adj1" fmla="val 59780"/>
                <a:gd name="adj2" fmla="val 119560"/>
                <a:gd name="adj3" fmla="val 33333"/>
              </a:avLst>
            </a:prstGeom>
            <a:solidFill>
              <a:srgbClr val="FFCC00"/>
            </a:solidFill>
            <a:ln w="9525" cap="flat" cmpd="sng">
              <a:solidFill>
                <a:schemeClr val="tx1"/>
              </a:solidFill>
              <a:prstDash val="solid"/>
              <a:miter/>
              <a:headEnd type="none" w="med" len="med"/>
              <a:tailEnd type="none" w="med" len="med"/>
            </a:ln>
          </p:spPr>
          <p:txBody>
            <a:bodyPr/>
            <a:p>
              <a:endParaRPr lang="zh-CN" altLang="en-US"/>
            </a:p>
          </p:txBody>
        </p:sp>
        <p:sp>
          <p:nvSpPr>
            <p:cNvPr id="553994" name="下弧形箭头 553993"/>
            <p:cNvSpPr/>
            <p:nvPr/>
          </p:nvSpPr>
          <p:spPr>
            <a:xfrm>
              <a:off x="3531" y="3130"/>
              <a:ext cx="227" cy="91"/>
            </a:xfrm>
            <a:prstGeom prst="curvedUpArrow">
              <a:avLst>
                <a:gd name="adj1" fmla="val 49890"/>
                <a:gd name="adj2" fmla="val 99780"/>
                <a:gd name="adj3" fmla="val 33333"/>
              </a:avLst>
            </a:prstGeom>
            <a:solidFill>
              <a:srgbClr val="FFCC00"/>
            </a:solidFill>
            <a:ln w="9525" cap="flat" cmpd="sng">
              <a:solidFill>
                <a:schemeClr val="tx1"/>
              </a:solidFill>
              <a:prstDash val="solid"/>
              <a:miter/>
              <a:headEnd type="none" w="med" len="med"/>
              <a:tailEnd type="none" w="med" len="med"/>
            </a:ln>
          </p:spPr>
          <p:txBody>
            <a:bodyPr/>
            <a:p>
              <a:endParaRPr lang="zh-CN" altLang="en-US"/>
            </a:p>
          </p:txBody>
        </p:sp>
      </p:grpSp>
      <p:sp>
        <p:nvSpPr>
          <p:cNvPr id="553997" name="文本框 553996"/>
          <p:cNvSpPr txBox="1"/>
          <p:nvPr/>
        </p:nvSpPr>
        <p:spPr>
          <a:xfrm>
            <a:off x="165100" y="966788"/>
            <a:ext cx="8863013" cy="2720975"/>
          </a:xfrm>
          <a:prstGeom prst="rect">
            <a:avLst/>
          </a:prstGeom>
          <a:noFill/>
          <a:ln w="9525">
            <a:noFill/>
          </a:ln>
        </p:spPr>
        <p:txBody>
          <a:bodyPr>
            <a:spAutoFit/>
          </a:bodyPr>
          <a:p>
            <a:pPr algn="just">
              <a:lnSpc>
                <a:spcPct val="110000"/>
              </a:lnSpc>
              <a:spcAft>
                <a:spcPct val="30000"/>
              </a:spcAft>
            </a:pPr>
            <a:r>
              <a:rPr lang="zh-CN" altLang="en-US" sz="2400" dirty="0">
                <a:solidFill>
                  <a:srgbClr val="FF0066"/>
                </a:solidFill>
                <a:latin typeface="Times New Roman" panose="02020603050405020304" pitchFamily="18" charset="0"/>
                <a:cs typeface="Times New Roman" panose="02020603050405020304" pitchFamily="18" charset="0"/>
              </a:rPr>
              <a:t>解</a:t>
            </a:r>
            <a:r>
              <a:rPr lang="zh-CN" altLang="en-US" sz="2400" dirty="0">
                <a:solidFill>
                  <a:srgbClr val="000000"/>
                </a:solidFill>
                <a:latin typeface="Times New Roman" panose="02020603050405020304" pitchFamily="18" charset="0"/>
                <a:cs typeface="Times New Roman" panose="02020603050405020304" pitchFamily="18" charset="0"/>
              </a:rPr>
              <a:t>：要使轴</a:t>
            </a:r>
            <a:r>
              <a:rPr lang="en-US" altLang="zh-CN" sz="2400" dirty="0">
                <a:solidFill>
                  <a:srgbClr val="000000"/>
                </a:solidFill>
                <a:latin typeface="Times New Roman" panose="02020603050405020304" pitchFamily="18" charset="0"/>
                <a:cs typeface="Times New Roman" panose="02020603050405020304" pitchFamily="18" charset="0"/>
              </a:rPr>
              <a:t>Ⅱ</a:t>
            </a:r>
            <a:r>
              <a:rPr lang="zh-CN" altLang="en-US" sz="2400" dirty="0">
                <a:solidFill>
                  <a:srgbClr val="000000"/>
                </a:solidFill>
                <a:latin typeface="Times New Roman" panose="02020603050405020304" pitchFamily="18" charset="0"/>
                <a:cs typeface="Times New Roman" panose="02020603050405020304" pitchFamily="18" charset="0"/>
              </a:rPr>
              <a:t>上两斜齿圆柱齿轮的轴向力相反，则其旋向必须相同（图中齿轮</a:t>
            </a:r>
            <a:r>
              <a:rPr lang="en-US" altLang="zh-CN" sz="2400" i="1">
                <a:solidFill>
                  <a:srgbClr val="000000"/>
                </a:solidFill>
                <a:latin typeface="Times New Roman" panose="02020603050405020304" pitchFamily="18" charset="0"/>
                <a:cs typeface="Times New Roman" panose="02020603050405020304" pitchFamily="18" charset="0"/>
              </a:rPr>
              <a:t>z</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zh-CN" altLang="en-US" sz="2400" dirty="0">
                <a:solidFill>
                  <a:srgbClr val="000000"/>
                </a:solidFill>
                <a:latin typeface="Times New Roman" panose="02020603050405020304" pitchFamily="18" charset="0"/>
                <a:cs typeface="Times New Roman" panose="02020603050405020304" pitchFamily="18" charset="0"/>
              </a:rPr>
              <a:t>为左旋，则齿轮</a:t>
            </a:r>
            <a:r>
              <a:rPr lang="en-US" altLang="zh-CN" sz="2400" i="1">
                <a:solidFill>
                  <a:srgbClr val="000000"/>
                </a:solidFill>
                <a:latin typeface="Times New Roman" panose="02020603050405020304" pitchFamily="18" charset="0"/>
                <a:cs typeface="Times New Roman" panose="02020603050405020304" pitchFamily="18" charset="0"/>
              </a:rPr>
              <a:t>z</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en-US" altLang="zh-CN" sz="2400" dirty="0">
                <a:solidFill>
                  <a:srgbClr val="000000"/>
                </a:solidFill>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rPr>
              <a:t>亦应为左旋），因为齿轮</a:t>
            </a:r>
            <a:r>
              <a:rPr lang="en-US" altLang="zh-CN" sz="2400" i="1">
                <a:solidFill>
                  <a:srgbClr val="000000"/>
                </a:solidFill>
                <a:latin typeface="Times New Roman" panose="02020603050405020304" pitchFamily="18" charset="0"/>
                <a:cs typeface="Times New Roman" panose="02020603050405020304" pitchFamily="18" charset="0"/>
              </a:rPr>
              <a:t>z</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zh-CN" altLang="en-US" sz="2400" dirty="0">
                <a:solidFill>
                  <a:srgbClr val="000000"/>
                </a:solidFill>
                <a:latin typeface="Times New Roman" panose="02020603050405020304" pitchFamily="18" charset="0"/>
                <a:cs typeface="Times New Roman" panose="02020603050405020304" pitchFamily="18" charset="0"/>
              </a:rPr>
              <a:t>为从动轮，而齿轮</a:t>
            </a:r>
            <a:r>
              <a:rPr lang="en-US" altLang="zh-CN" sz="2400" i="1">
                <a:solidFill>
                  <a:srgbClr val="000000"/>
                </a:solidFill>
                <a:latin typeface="Times New Roman" panose="02020603050405020304" pitchFamily="18" charset="0"/>
                <a:cs typeface="Times New Roman" panose="02020603050405020304" pitchFamily="18" charset="0"/>
              </a:rPr>
              <a:t>z</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en-US" altLang="zh-CN" sz="2400" dirty="0">
                <a:solidFill>
                  <a:srgbClr val="000000"/>
                </a:solidFill>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rPr>
              <a:t>为主动轮。</a:t>
            </a:r>
            <a:endParaRPr lang="zh-CN" altLang="en-US" sz="2400" dirty="0">
              <a:solidFill>
                <a:srgbClr val="000000"/>
              </a:solidFill>
              <a:latin typeface="Times New Roman" panose="02020603050405020304" pitchFamily="18" charset="0"/>
              <a:cs typeface="Times New Roman" panose="02020603050405020304" pitchFamily="18" charset="0"/>
            </a:endParaRPr>
          </a:p>
          <a:p>
            <a:pPr algn="just">
              <a:lnSpc>
                <a:spcPct val="110000"/>
              </a:lnSpc>
              <a:spcAft>
                <a:spcPct val="30000"/>
              </a:spcAft>
            </a:pPr>
            <a:r>
              <a:rPr lang="zh-CN" altLang="en-US" sz="2400" dirty="0">
                <a:solidFill>
                  <a:srgbClr val="000000"/>
                </a:solidFill>
                <a:latin typeface="Times New Roman" panose="02020603050405020304" pitchFamily="18" charset="0"/>
                <a:cs typeface="Times New Roman" panose="02020603050405020304" pitchFamily="18" charset="0"/>
              </a:rPr>
              <a:t>        根据题意得</a:t>
            </a:r>
            <a:r>
              <a:rPr lang="en-US" altLang="zh-CN" sz="2400">
                <a:solidFill>
                  <a:srgbClr val="000000"/>
                </a:solidFill>
                <a:latin typeface="Times New Roman" panose="02020603050405020304" pitchFamily="18" charset="0"/>
                <a:cs typeface="Times New Roman" panose="02020603050405020304" pitchFamily="18" charset="0"/>
              </a:rPr>
              <a:t>F</a:t>
            </a:r>
            <a:r>
              <a:rPr lang="en-US" altLang="zh-CN" sz="2400" baseline="-30000">
                <a:solidFill>
                  <a:srgbClr val="000000"/>
                </a:solidFill>
                <a:latin typeface="Times New Roman" panose="02020603050405020304" pitchFamily="18" charset="0"/>
                <a:cs typeface="Times New Roman" panose="02020603050405020304" pitchFamily="18" charset="0"/>
              </a:rPr>
              <a:t>a2</a:t>
            </a:r>
            <a:r>
              <a:rPr lang="en-US" altLang="zh-CN" sz="2400" dirty="0">
                <a:solidFill>
                  <a:srgbClr val="000000"/>
                </a:solidFill>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rPr>
              <a:t>－</a:t>
            </a:r>
            <a:r>
              <a:rPr lang="en-US" altLang="zh-CN" sz="2400">
                <a:solidFill>
                  <a:srgbClr val="000000"/>
                </a:solidFill>
                <a:latin typeface="Times New Roman" panose="02020603050405020304" pitchFamily="18" charset="0"/>
                <a:cs typeface="Times New Roman" panose="02020603050405020304" pitchFamily="18" charset="0"/>
              </a:rPr>
              <a:t>F</a:t>
            </a:r>
            <a:r>
              <a:rPr lang="en-US" altLang="zh-CN" sz="2400" baseline="-30000">
                <a:solidFill>
                  <a:srgbClr val="000000"/>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aseline="-30000">
                <a:solidFill>
                  <a:srgbClr val="000000"/>
                </a:solidFill>
                <a:latin typeface="Times New Roman" panose="02020603050405020304" pitchFamily="18" charset="0"/>
                <a:cs typeface="Times New Roman" panose="02020603050405020304" pitchFamily="18" charset="0"/>
              </a:rPr>
              <a:t>1 </a:t>
            </a:r>
            <a:r>
              <a:rPr lang="en-US" altLang="zh-CN" sz="2400">
                <a:solidFill>
                  <a:srgbClr val="000000"/>
                </a:solidFill>
                <a:latin typeface="Times New Roman" panose="02020603050405020304" pitchFamily="18" charset="0"/>
                <a:cs typeface="Times New Roman" panose="02020603050405020304" pitchFamily="18" charset="0"/>
              </a:rPr>
              <a:t>(F</a:t>
            </a:r>
            <a:r>
              <a:rPr lang="en-US" altLang="zh-CN" sz="2400" baseline="-30000">
                <a:solidFill>
                  <a:srgbClr val="000000"/>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zh-CN" altLang="en-US" sz="2400" dirty="0">
                <a:solidFill>
                  <a:srgbClr val="000000"/>
                </a:solidFill>
                <a:latin typeface="Times New Roman" panose="02020603050405020304" pitchFamily="18" charset="0"/>
                <a:cs typeface="Times New Roman" panose="02020603050405020304" pitchFamily="18" charset="0"/>
              </a:rPr>
              <a:t>表示作用在</a:t>
            </a:r>
            <a:r>
              <a:rPr lang="en-US" altLang="zh-CN" sz="2400">
                <a:solidFill>
                  <a:srgbClr val="000000"/>
                </a:solidFill>
                <a:latin typeface="Times New Roman" panose="02020603050405020304" pitchFamily="18" charset="0"/>
                <a:cs typeface="Times New Roman" panose="02020603050405020304" pitchFamily="18" charset="0"/>
              </a:rPr>
              <a:t>z</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en-US" altLang="zh-CN" sz="2400" dirty="0">
                <a:solidFill>
                  <a:srgbClr val="000000"/>
                </a:solidFill>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rPr>
              <a:t>齿轮上的轴向力</a:t>
            </a:r>
            <a:r>
              <a:rPr lang="en-US" altLang="zh-CN" sz="2400" dirty="0">
                <a:solidFill>
                  <a:srgbClr val="000000"/>
                </a:solidFill>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rPr>
              <a:t>，若不考虑方向，则有：</a:t>
            </a:r>
            <a:r>
              <a:rPr lang="en-US" altLang="zh-CN" sz="2400">
                <a:solidFill>
                  <a:srgbClr val="000000"/>
                </a:solidFill>
                <a:latin typeface="Times New Roman" panose="02020603050405020304" pitchFamily="18" charset="0"/>
                <a:cs typeface="Times New Roman" panose="02020603050405020304" pitchFamily="18" charset="0"/>
              </a:rPr>
              <a:t>F</a:t>
            </a:r>
            <a:r>
              <a:rPr lang="en-US" altLang="zh-CN" sz="2400" baseline="-30000">
                <a:solidFill>
                  <a:srgbClr val="000000"/>
                </a:solidFill>
                <a:latin typeface="Times New Roman" panose="02020603050405020304" pitchFamily="18" charset="0"/>
                <a:cs typeface="Times New Roman" panose="02020603050405020304" pitchFamily="18" charset="0"/>
              </a:rPr>
              <a:t>t 2</a:t>
            </a:r>
            <a:r>
              <a:rPr lang="en-US" altLang="zh-CN" sz="2400">
                <a:solidFill>
                  <a:srgbClr val="000000"/>
                </a:solidFill>
                <a:latin typeface="Times New Roman" panose="02020603050405020304" pitchFamily="18" charset="0"/>
                <a:cs typeface="Times New Roman" panose="02020603050405020304" pitchFamily="18" charset="0"/>
              </a:rPr>
              <a:t> tanβ</a:t>
            </a:r>
            <a:r>
              <a:rPr lang="en-US" altLang="zh-CN" sz="2400" baseline="-30000">
                <a:solidFill>
                  <a:srgbClr val="000000"/>
                </a:solidFill>
                <a:latin typeface="Times New Roman" panose="02020603050405020304" pitchFamily="18" charset="0"/>
                <a:cs typeface="Times New Roman" panose="02020603050405020304" pitchFamily="18" charset="0"/>
              </a:rPr>
              <a:t>1 </a:t>
            </a:r>
            <a:r>
              <a:rPr lang="en-US" altLang="zh-CN" sz="2400">
                <a:solidFill>
                  <a:srgbClr val="000000"/>
                </a:solidFill>
                <a:latin typeface="Times New Roman" panose="02020603050405020304" pitchFamily="18" charset="0"/>
                <a:cs typeface="Times New Roman" panose="02020603050405020304" pitchFamily="18" charset="0"/>
              </a:rPr>
              <a:t>= F</a:t>
            </a:r>
            <a:r>
              <a:rPr lang="en-US" altLang="zh-CN" sz="2400" baseline="-30000">
                <a:solidFill>
                  <a:srgbClr val="000000"/>
                </a:solidFill>
                <a:latin typeface="Times New Roman" panose="02020603050405020304" pitchFamily="18" charset="0"/>
                <a:cs typeface="Times New Roman" panose="02020603050405020304" pitchFamily="18" charset="0"/>
              </a:rPr>
              <a:t>t</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en-US" altLang="zh-CN" sz="2400">
                <a:solidFill>
                  <a:srgbClr val="000000"/>
                </a:solidFill>
                <a:latin typeface="Times New Roman" panose="02020603050405020304" pitchFamily="18" charset="0"/>
                <a:cs typeface="Times New Roman" panose="02020603050405020304" pitchFamily="18" charset="0"/>
              </a:rPr>
              <a:t>tanβ</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a:t>
            </a:r>
            <a:r>
              <a:rPr lang="en-US" altLang="zh-CN" sz="2400" err="1">
                <a:solidFill>
                  <a:srgbClr val="000000"/>
                </a:solidFill>
                <a:latin typeface="Times New Roman" panose="02020603050405020304" pitchFamily="18" charset="0"/>
                <a:cs typeface="Times New Roman" panose="02020603050405020304" pitchFamily="18" charset="0"/>
              </a:rPr>
              <a:t>F</a:t>
            </a:r>
            <a:r>
              <a:rPr lang="en-US" altLang="zh-CN" sz="2400" baseline="-30000" err="1">
                <a:solidFill>
                  <a:srgbClr val="000000"/>
                </a:solidFill>
                <a:latin typeface="Times New Roman" panose="02020603050405020304" pitchFamily="18" charset="0"/>
                <a:cs typeface="Times New Roman" panose="02020603050405020304" pitchFamily="18" charset="0"/>
              </a:rPr>
              <a:t>a</a:t>
            </a:r>
            <a:r>
              <a:rPr lang="en-US" altLang="zh-CN" sz="2400" err="1">
                <a:solidFill>
                  <a:srgbClr val="000000"/>
                </a:solidFill>
                <a:latin typeface="Times New Roman" panose="02020603050405020304" pitchFamily="18" charset="0"/>
                <a:cs typeface="Times New Roman" panose="02020603050405020304" pitchFamily="18" charset="0"/>
              </a:rPr>
              <a:t>=F</a:t>
            </a:r>
            <a:r>
              <a:rPr lang="en-US" altLang="zh-CN" sz="2400" baseline="-30000" err="1">
                <a:solidFill>
                  <a:srgbClr val="000000"/>
                </a:solidFill>
                <a:latin typeface="Times New Roman" panose="02020603050405020304" pitchFamily="18" charset="0"/>
                <a:cs typeface="Times New Roman" panose="02020603050405020304" pitchFamily="18" charset="0"/>
              </a:rPr>
              <a:t>t</a:t>
            </a:r>
            <a:r>
              <a:rPr lang="en-US" altLang="zh-CN" sz="2400" err="1">
                <a:solidFill>
                  <a:srgbClr val="000000"/>
                </a:solidFill>
                <a:latin typeface="Times New Roman" panose="02020603050405020304" pitchFamily="18" charset="0"/>
                <a:cs typeface="Times New Roman" panose="02020603050405020304" pitchFamily="18" charset="0"/>
              </a:rPr>
              <a:t>tanβ</a:t>
            </a:r>
            <a:r>
              <a:rPr lang="zh-CN" altLang="en-US" sz="2400" dirty="0">
                <a:solidFill>
                  <a:srgbClr val="000000"/>
                </a:solidFill>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algn="just">
              <a:lnSpc>
                <a:spcPct val="110000"/>
              </a:lnSpc>
              <a:spcAft>
                <a:spcPct val="30000"/>
              </a:spcAft>
            </a:pPr>
            <a:r>
              <a:rPr lang="zh-CN" altLang="en-US" sz="2400" dirty="0">
                <a:solidFill>
                  <a:srgbClr val="000000"/>
                </a:solidFill>
                <a:latin typeface="Times New Roman" panose="02020603050405020304" pitchFamily="18" charset="0"/>
                <a:cs typeface="Times New Roman" panose="02020603050405020304" pitchFamily="18" charset="0"/>
              </a:rPr>
              <a:t>        因</a:t>
            </a:r>
            <a:r>
              <a:rPr lang="en-US" altLang="zh-CN" sz="2400">
                <a:solidFill>
                  <a:srgbClr val="000000"/>
                </a:solidFill>
                <a:latin typeface="Times New Roman" panose="02020603050405020304" pitchFamily="18" charset="0"/>
                <a:cs typeface="Times New Roman" panose="02020603050405020304" pitchFamily="18" charset="0"/>
              </a:rPr>
              <a:t>F</a:t>
            </a:r>
            <a:r>
              <a:rPr lang="en-US" altLang="zh-CN" sz="2400" baseline="-30000">
                <a:solidFill>
                  <a:srgbClr val="000000"/>
                </a:solidFill>
                <a:latin typeface="Times New Roman" panose="02020603050405020304" pitchFamily="18" charset="0"/>
                <a:cs typeface="Times New Roman" panose="02020603050405020304" pitchFamily="18" charset="0"/>
              </a:rPr>
              <a:t>t</a:t>
            </a:r>
            <a:r>
              <a:rPr lang="en-US" altLang="zh-CN" sz="2400" dirty="0">
                <a:solidFill>
                  <a:srgbClr val="000000"/>
                </a:solidFill>
                <a:latin typeface="Times New Roman" panose="02020603050405020304" pitchFamily="18" charset="0"/>
                <a:cs typeface="Times New Roman" panose="02020603050405020304" pitchFamily="18" charset="0"/>
              </a:rPr>
              <a:t> = 2T / d</a:t>
            </a:r>
            <a:r>
              <a:rPr lang="zh-CN" altLang="en-US" sz="2400" dirty="0">
                <a:solidFill>
                  <a:srgbClr val="000000"/>
                </a:solidFill>
                <a:latin typeface="Times New Roman" panose="02020603050405020304" pitchFamily="18" charset="0"/>
                <a:cs typeface="Times New Roman" panose="02020603050405020304" pitchFamily="18" charset="0"/>
              </a:rPr>
              <a:t>，故：</a:t>
            </a:r>
            <a:r>
              <a:rPr lang="zh-CN" altLang="en-US" sz="2400" dirty="0">
                <a:latin typeface="Times New Roman" panose="02020603050405020304" pitchFamily="18" charset="0"/>
                <a:cs typeface="Times New Roman" panose="02020603050405020304" pitchFamily="18" charset="0"/>
              </a:rPr>
              <a:t>  </a:t>
            </a:r>
            <a:endParaRPr lang="zh-CN" altLang="en-US" sz="2400">
              <a:latin typeface="Times New Roman" panose="02020603050405020304" pitchFamily="18" charset="0"/>
              <a:ea typeface="Times New Roman" panose="02020603050405020304" pitchFamily="18" charset="0"/>
            </a:endParaRPr>
          </a:p>
        </p:txBody>
      </p:sp>
      <p:sp>
        <p:nvSpPr>
          <p:cNvPr id="553998" name="直接连接符 553997"/>
          <p:cNvSpPr/>
          <p:nvPr/>
        </p:nvSpPr>
        <p:spPr>
          <a:xfrm>
            <a:off x="6130925" y="4648200"/>
            <a:ext cx="233363" cy="374650"/>
          </a:xfrm>
          <a:prstGeom prst="line">
            <a:avLst/>
          </a:prstGeom>
          <a:ln w="28575" cap="flat" cmpd="sng">
            <a:solidFill>
              <a:srgbClr val="FF0066"/>
            </a:solidFill>
            <a:prstDash val="solid"/>
            <a:headEnd type="none" w="med" len="med"/>
            <a:tailEnd type="none" w="med" len="med"/>
          </a:ln>
        </p:spPr>
      </p:sp>
      <p:sp>
        <p:nvSpPr>
          <p:cNvPr id="553999" name="直接连接符 553998"/>
          <p:cNvSpPr/>
          <p:nvPr/>
        </p:nvSpPr>
        <p:spPr>
          <a:xfrm>
            <a:off x="6188075" y="4659313"/>
            <a:ext cx="233363" cy="374650"/>
          </a:xfrm>
          <a:prstGeom prst="line">
            <a:avLst/>
          </a:prstGeom>
          <a:ln w="28575" cap="flat" cmpd="sng">
            <a:solidFill>
              <a:srgbClr val="FF0066"/>
            </a:solidFill>
            <a:prstDash val="solid"/>
            <a:headEnd type="none" w="med" len="med"/>
            <a:tailEnd type="none" w="med" len="med"/>
          </a:ln>
        </p:spPr>
      </p:sp>
      <p:sp>
        <p:nvSpPr>
          <p:cNvPr id="554000" name="直接连接符 553999"/>
          <p:cNvSpPr/>
          <p:nvPr/>
        </p:nvSpPr>
        <p:spPr>
          <a:xfrm>
            <a:off x="6259513" y="4672013"/>
            <a:ext cx="233362" cy="374650"/>
          </a:xfrm>
          <a:prstGeom prst="line">
            <a:avLst/>
          </a:prstGeom>
          <a:ln w="28575" cap="flat" cmpd="sng">
            <a:solidFill>
              <a:srgbClr val="FF0066"/>
            </a:solidFill>
            <a:prstDash val="solid"/>
            <a:headEnd type="none" w="med" len="med"/>
            <a:tailEnd type="none" w="med" len="med"/>
          </a:ln>
        </p:spPr>
      </p:sp>
      <p:sp>
        <p:nvSpPr>
          <p:cNvPr id="554001" name="直接连接符 554000"/>
          <p:cNvSpPr/>
          <p:nvPr/>
        </p:nvSpPr>
        <p:spPr>
          <a:xfrm flipH="1">
            <a:off x="5667375" y="4689475"/>
            <a:ext cx="231775" cy="333375"/>
          </a:xfrm>
          <a:prstGeom prst="line">
            <a:avLst/>
          </a:prstGeom>
          <a:ln w="28575" cap="flat" cmpd="sng">
            <a:solidFill>
              <a:srgbClr val="FF0066"/>
            </a:solidFill>
            <a:prstDash val="solid"/>
            <a:headEnd type="none" w="med" len="med"/>
            <a:tailEnd type="none" w="med" len="med"/>
          </a:ln>
        </p:spPr>
      </p:sp>
      <p:sp>
        <p:nvSpPr>
          <p:cNvPr id="554002" name="直接连接符 554001"/>
          <p:cNvSpPr/>
          <p:nvPr/>
        </p:nvSpPr>
        <p:spPr>
          <a:xfrm flipH="1">
            <a:off x="5549900" y="4686300"/>
            <a:ext cx="231775" cy="333375"/>
          </a:xfrm>
          <a:prstGeom prst="line">
            <a:avLst/>
          </a:prstGeom>
          <a:ln w="28575" cap="flat" cmpd="sng">
            <a:solidFill>
              <a:srgbClr val="FF0066"/>
            </a:solidFill>
            <a:prstDash val="solid"/>
            <a:headEnd type="none" w="med" len="med"/>
            <a:tailEnd type="none" w="med" len="med"/>
          </a:ln>
        </p:spPr>
      </p:sp>
      <p:sp>
        <p:nvSpPr>
          <p:cNvPr id="554003" name="直接连接符 554002"/>
          <p:cNvSpPr/>
          <p:nvPr/>
        </p:nvSpPr>
        <p:spPr>
          <a:xfrm flipH="1">
            <a:off x="5611813" y="4679950"/>
            <a:ext cx="231775" cy="333375"/>
          </a:xfrm>
          <a:prstGeom prst="line">
            <a:avLst/>
          </a:prstGeom>
          <a:ln w="28575" cap="flat" cmpd="sng">
            <a:solidFill>
              <a:srgbClr val="FF0066"/>
            </a:solidFill>
            <a:prstDash val="solid"/>
            <a:headEnd type="none" w="med" len="med"/>
            <a:tailEnd type="none" w="med" len="med"/>
          </a:ln>
        </p:spPr>
      </p:sp>
      <p:sp>
        <p:nvSpPr>
          <p:cNvPr id="554004" name="直接连接符 554003"/>
          <p:cNvSpPr/>
          <p:nvPr/>
        </p:nvSpPr>
        <p:spPr>
          <a:xfrm flipV="1">
            <a:off x="6624638" y="4122738"/>
            <a:ext cx="0" cy="450850"/>
          </a:xfrm>
          <a:prstGeom prst="line">
            <a:avLst/>
          </a:prstGeom>
          <a:ln w="28575" cap="flat" cmpd="sng">
            <a:solidFill>
              <a:srgbClr val="0066FF"/>
            </a:solidFill>
            <a:prstDash val="solid"/>
            <a:headEnd type="none" w="med" len="med"/>
            <a:tailEnd type="triangle" w="med" len="med"/>
          </a:ln>
        </p:spPr>
      </p:sp>
      <p:sp>
        <p:nvSpPr>
          <p:cNvPr id="554005" name="直接连接符 554004"/>
          <p:cNvSpPr/>
          <p:nvPr/>
        </p:nvSpPr>
        <p:spPr>
          <a:xfrm>
            <a:off x="6635750" y="5727700"/>
            <a:ext cx="3175" cy="368300"/>
          </a:xfrm>
          <a:prstGeom prst="line">
            <a:avLst/>
          </a:prstGeom>
          <a:ln w="28575" cap="flat" cmpd="sng">
            <a:solidFill>
              <a:srgbClr val="0066FF"/>
            </a:solidFill>
            <a:prstDash val="solid"/>
            <a:headEnd type="none" w="med" len="med"/>
            <a:tailEnd type="triangle" w="med" len="med"/>
          </a:ln>
        </p:spPr>
      </p:sp>
      <p:sp>
        <p:nvSpPr>
          <p:cNvPr id="554006" name="直接连接符 554005"/>
          <p:cNvSpPr/>
          <p:nvPr/>
        </p:nvSpPr>
        <p:spPr>
          <a:xfrm flipV="1">
            <a:off x="7639050" y="4818063"/>
            <a:ext cx="0" cy="450850"/>
          </a:xfrm>
          <a:prstGeom prst="line">
            <a:avLst/>
          </a:prstGeom>
          <a:ln w="28575" cap="flat" cmpd="sng">
            <a:solidFill>
              <a:srgbClr val="0066FF"/>
            </a:solidFill>
            <a:prstDash val="solid"/>
            <a:headEnd type="none" w="med" len="med"/>
            <a:tailEnd type="triangle" w="med" len="med"/>
          </a:ln>
        </p:spPr>
      </p:sp>
      <p:sp>
        <p:nvSpPr>
          <p:cNvPr id="554007" name="直接连接符 554006"/>
          <p:cNvSpPr/>
          <p:nvPr/>
        </p:nvSpPr>
        <p:spPr>
          <a:xfrm>
            <a:off x="5588000" y="4187825"/>
            <a:ext cx="3175" cy="368300"/>
          </a:xfrm>
          <a:prstGeom prst="line">
            <a:avLst/>
          </a:prstGeom>
          <a:ln w="28575" cap="flat" cmpd="sng">
            <a:solidFill>
              <a:srgbClr val="0066FF"/>
            </a:solidFill>
            <a:prstDash val="solid"/>
            <a:headEnd type="none" w="med" len="med"/>
            <a:tailEnd type="triangle" w="med" len="med"/>
          </a:ln>
        </p:spPr>
      </p:sp>
      <p:sp>
        <p:nvSpPr>
          <p:cNvPr id="554008" name="下弧形箭头 554007"/>
          <p:cNvSpPr/>
          <p:nvPr/>
        </p:nvSpPr>
        <p:spPr>
          <a:xfrm>
            <a:off x="7283450" y="5799138"/>
            <a:ext cx="360363" cy="144462"/>
          </a:xfrm>
          <a:prstGeom prst="curvedUpArrow">
            <a:avLst>
              <a:gd name="adj1" fmla="val 49890"/>
              <a:gd name="adj2" fmla="val 99780"/>
              <a:gd name="adj3" fmla="val 33333"/>
            </a:avLst>
          </a:prstGeom>
          <a:solidFill>
            <a:srgbClr val="FFCC00"/>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554009" name="对象 554008"/>
          <p:cNvGraphicFramePr/>
          <p:nvPr/>
        </p:nvGraphicFramePr>
        <p:xfrm>
          <a:off x="1006475" y="4286250"/>
          <a:ext cx="3382963" cy="1031875"/>
        </p:xfrm>
        <a:graphic>
          <a:graphicData uri="http://schemas.openxmlformats.org/presentationml/2006/ole">
            <mc:AlternateContent xmlns:mc="http://schemas.openxmlformats.org/markup-compatibility/2006">
              <mc:Choice xmlns:v="urn:schemas-microsoft-com:vml" Requires="v">
                <p:oleObj spid="_x0000_s3150" name="" r:id="rId4" imgW="1498600" imgH="457200" progId="Equation.3">
                  <p:embed/>
                </p:oleObj>
              </mc:Choice>
              <mc:Fallback>
                <p:oleObj name="" r:id="rId4" imgW="1498600" imgH="457200" progId="Equation.3">
                  <p:embed/>
                  <p:pic>
                    <p:nvPicPr>
                      <p:cNvPr id="0" name="图片 3149"/>
                      <p:cNvPicPr/>
                      <p:nvPr/>
                    </p:nvPicPr>
                    <p:blipFill>
                      <a:blip r:embed="rId5"/>
                      <a:stretch>
                        <a:fillRect/>
                      </a:stretch>
                    </p:blipFill>
                    <p:spPr>
                      <a:xfrm>
                        <a:off x="1006475" y="4286250"/>
                        <a:ext cx="3382963" cy="10318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53997">
                                            <p:txEl>
                                              <p:charRg st="0" end="76"/>
                                            </p:txEl>
                                          </p:spTgt>
                                        </p:tgtEl>
                                        <p:attrNameLst>
                                          <p:attrName>style.visibility</p:attrName>
                                        </p:attrNameLst>
                                      </p:cBhvr>
                                      <p:to>
                                        <p:strVal val="visible"/>
                                      </p:to>
                                    </p:set>
                                    <p:animEffect transition="in" filter="strips(downRight)">
                                      <p:cBhvr>
                                        <p:cTn id="7" dur="500"/>
                                        <p:tgtEl>
                                          <p:spTgt spid="553997">
                                            <p:txEl>
                                              <p:charRg st="0" end="7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5399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5399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5400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5400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4003"/>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5400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nodeType="clickEffect">
                                  <p:stCondLst>
                                    <p:cond delay="0"/>
                                  </p:stCondLst>
                                  <p:childTnLst>
                                    <p:set>
                                      <p:cBhvr>
                                        <p:cTn id="27" dur="1" fill="hold">
                                          <p:stCondLst>
                                            <p:cond delay="0"/>
                                          </p:stCondLst>
                                        </p:cTn>
                                        <p:tgtEl>
                                          <p:spTgt spid="554006"/>
                                        </p:tgtEl>
                                        <p:attrNameLst>
                                          <p:attrName>style.visibility</p:attrName>
                                        </p:attrNameLst>
                                      </p:cBhvr>
                                      <p:to>
                                        <p:strVal val="visible"/>
                                      </p:to>
                                    </p:set>
                                    <p:animEffect transition="in" filter="wipe(down)">
                                      <p:cBhvr>
                                        <p:cTn id="28" dur="580">
                                          <p:stCondLst>
                                            <p:cond delay="0"/>
                                          </p:stCondLst>
                                        </p:cTn>
                                        <p:tgtEl>
                                          <p:spTgt spid="554006"/>
                                        </p:tgtEl>
                                      </p:cBhvr>
                                    </p:animEffect>
                                    <p:anim calcmode="lin" valueType="num">
                                      <p:cBhvr>
                                        <p:cTn id="29" dur="1822" tmFilter="0,0; 0.14,0.36; 0.43,0.73; 0.71,0.91; 1.0,1.0">
                                          <p:stCondLst>
                                            <p:cond delay="0"/>
                                          </p:stCondLst>
                                        </p:cTn>
                                        <p:tgtEl>
                                          <p:spTgt spid="554006"/>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554006"/>
                                        </p:tgtEl>
                                        <p:attrNameLst>
                                          <p:attrName>ppt_y</p:attrName>
                                        </p:attrNameLst>
                                      </p:cBhvr>
                                      <p:tavLst>
                                        <p:tav tm="0" fmla="#ppt_y-sin(pi*$)/3">
                                          <p:val>
                                            <p:fltVal val="0.500000"/>
                                          </p:val>
                                        </p:tav>
                                        <p:tav tm="100000">
                                          <p:val>
                                            <p:fltVal val="1.000000"/>
                                          </p:val>
                                        </p:tav>
                                      </p:tavLst>
                                    </p:anim>
                                    <p:anim calcmode="lin" valueType="num">
                                      <p:cBhvr>
                                        <p:cTn id="31" dur="664" tmFilter="0, 0; 0.125,0.2665; 0.25,0.4; 0.375,0.465; 0.5,0.5;  0.625,0.535; 0.75,0.6; 0.875,0.7335; 1,1">
                                          <p:stCondLst>
                                            <p:cond delay="664"/>
                                          </p:stCondLst>
                                        </p:cTn>
                                        <p:tgtEl>
                                          <p:spTgt spid="554006"/>
                                        </p:tgtEl>
                                        <p:attrNameLst>
                                          <p:attrName>ppt_y</p:attrName>
                                        </p:attrNameLst>
                                      </p:cBhvr>
                                      <p:tavLst>
                                        <p:tav tm="0" fmla="#ppt_y-sin(pi*$)/9">
                                          <p:val>
                                            <p:fltVal val="0.000000"/>
                                          </p:val>
                                        </p:tav>
                                        <p:tav tm="100000">
                                          <p:val>
                                            <p:fltVal val="1.000000"/>
                                          </p:val>
                                        </p:tav>
                                      </p:tavLst>
                                    </p:anim>
                                    <p:anim calcmode="lin" valueType="num">
                                      <p:cBhvr>
                                        <p:cTn id="32" dur="332" tmFilter="0, 0; 0.125,0.2665; 0.25,0.4; 0.375,0.465; 0.5,0.5;  0.625,0.535; 0.75,0.6; 0.875,0.7335; 1,1">
                                          <p:stCondLst>
                                            <p:cond delay="1324"/>
                                          </p:stCondLst>
                                        </p:cTn>
                                        <p:tgtEl>
                                          <p:spTgt spid="554006"/>
                                        </p:tgtEl>
                                        <p:attrNameLst>
                                          <p:attrName>ppt_y</p:attrName>
                                        </p:attrNameLst>
                                      </p:cBhvr>
                                      <p:tavLst>
                                        <p:tav tm="0" fmla="#ppt_y-sin(pi*$)/27">
                                          <p:val>
                                            <p:fltVal val="0.000000"/>
                                          </p:val>
                                        </p:tav>
                                        <p:tav tm="100000">
                                          <p:val>
                                            <p:fltVal val="1.000000"/>
                                          </p:val>
                                        </p:tav>
                                      </p:tavLst>
                                    </p:anim>
                                    <p:anim calcmode="lin" valueType="num">
                                      <p:cBhvr>
                                        <p:cTn id="33" dur="164" tmFilter="0, 0; 0.125,0.2665; 0.25,0.4; 0.375,0.465; 0.5,0.5;  0.625,0.535; 0.75,0.6; 0.875,0.7335; 1,1">
                                          <p:stCondLst>
                                            <p:cond delay="1656"/>
                                          </p:stCondLst>
                                        </p:cTn>
                                        <p:tgtEl>
                                          <p:spTgt spid="554006"/>
                                        </p:tgtEl>
                                        <p:attrNameLst>
                                          <p:attrName>ppt_y</p:attrName>
                                        </p:attrNameLst>
                                      </p:cBhvr>
                                      <p:tavLst>
                                        <p:tav tm="0" fmla="#ppt_y-sin(pi*$)/81">
                                          <p:val>
                                            <p:fltVal val="0.000000"/>
                                          </p:val>
                                        </p:tav>
                                        <p:tav tm="100000">
                                          <p:val>
                                            <p:fltVal val="1.000000"/>
                                          </p:val>
                                        </p:tav>
                                      </p:tavLst>
                                    </p:anim>
                                    <p:animScale>
                                      <p:cBhvr>
                                        <p:cTn id="34" dur="26">
                                          <p:stCondLst>
                                            <p:cond delay="650"/>
                                          </p:stCondLst>
                                        </p:cTn>
                                        <p:tgtEl>
                                          <p:spTgt spid="554006"/>
                                        </p:tgtEl>
                                      </p:cBhvr>
                                      <p:to x="100000" y="60000"/>
                                    </p:animScale>
                                    <p:animScale>
                                      <p:cBhvr>
                                        <p:cTn id="35" dur="166" decel="50000">
                                          <p:stCondLst>
                                            <p:cond delay="676"/>
                                          </p:stCondLst>
                                        </p:cTn>
                                        <p:tgtEl>
                                          <p:spTgt spid="554006"/>
                                        </p:tgtEl>
                                      </p:cBhvr>
                                      <p:to x="100000" y="100000"/>
                                    </p:animScale>
                                    <p:animScale>
                                      <p:cBhvr>
                                        <p:cTn id="36" dur="26">
                                          <p:stCondLst>
                                            <p:cond delay="1312"/>
                                          </p:stCondLst>
                                        </p:cTn>
                                        <p:tgtEl>
                                          <p:spTgt spid="554006"/>
                                        </p:tgtEl>
                                      </p:cBhvr>
                                      <p:to x="100000" y="80000"/>
                                    </p:animScale>
                                    <p:animScale>
                                      <p:cBhvr>
                                        <p:cTn id="37" dur="166" decel="50000">
                                          <p:stCondLst>
                                            <p:cond delay="1338"/>
                                          </p:stCondLst>
                                        </p:cTn>
                                        <p:tgtEl>
                                          <p:spTgt spid="554006"/>
                                        </p:tgtEl>
                                      </p:cBhvr>
                                      <p:to x="100000" y="100000"/>
                                    </p:animScale>
                                    <p:animScale>
                                      <p:cBhvr>
                                        <p:cTn id="38" dur="26">
                                          <p:stCondLst>
                                            <p:cond delay="1642"/>
                                          </p:stCondLst>
                                        </p:cTn>
                                        <p:tgtEl>
                                          <p:spTgt spid="554006"/>
                                        </p:tgtEl>
                                      </p:cBhvr>
                                      <p:to x="100000" y="90000"/>
                                    </p:animScale>
                                    <p:animScale>
                                      <p:cBhvr>
                                        <p:cTn id="39" dur="166" decel="50000">
                                          <p:stCondLst>
                                            <p:cond delay="1668"/>
                                          </p:stCondLst>
                                        </p:cTn>
                                        <p:tgtEl>
                                          <p:spTgt spid="554006"/>
                                        </p:tgtEl>
                                      </p:cBhvr>
                                      <p:to x="100000" y="100000"/>
                                    </p:animScale>
                                    <p:animScale>
                                      <p:cBhvr>
                                        <p:cTn id="40" dur="26">
                                          <p:stCondLst>
                                            <p:cond delay="1808"/>
                                          </p:stCondLst>
                                        </p:cTn>
                                        <p:tgtEl>
                                          <p:spTgt spid="554006"/>
                                        </p:tgtEl>
                                      </p:cBhvr>
                                      <p:to x="100000" y="95000"/>
                                    </p:animScale>
                                    <p:animScale>
                                      <p:cBhvr>
                                        <p:cTn id="41" dur="166" decel="50000">
                                          <p:stCondLst>
                                            <p:cond delay="1834"/>
                                          </p:stCondLst>
                                        </p:cTn>
                                        <p:tgtEl>
                                          <p:spTgt spid="554006"/>
                                        </p:tgtEl>
                                      </p:cBhvr>
                                      <p:to x="100000" y="100000"/>
                                    </p:animScale>
                                  </p:childTnLst>
                                </p:cTn>
                              </p:par>
                            </p:childTnLst>
                          </p:cTn>
                        </p:par>
                      </p:childTnLst>
                    </p:cTn>
                  </p:par>
                  <p:par>
                    <p:cTn id="42" fill="hold">
                      <p:stCondLst>
                        <p:cond delay="indefinite"/>
                      </p:stCondLst>
                      <p:childTnLst>
                        <p:par>
                          <p:cTn id="43" fill="hold">
                            <p:stCondLst>
                              <p:cond delay="0"/>
                            </p:stCondLst>
                            <p:childTnLst>
                              <p:par>
                                <p:cTn id="44" presetID="26" presetClass="entr" presetSubtype="0" fill="hold" nodeType="clickEffect">
                                  <p:stCondLst>
                                    <p:cond delay="0"/>
                                  </p:stCondLst>
                                  <p:childTnLst>
                                    <p:set>
                                      <p:cBhvr>
                                        <p:cTn id="45" dur="1" fill="hold">
                                          <p:stCondLst>
                                            <p:cond delay="0"/>
                                          </p:stCondLst>
                                        </p:cTn>
                                        <p:tgtEl>
                                          <p:spTgt spid="554005"/>
                                        </p:tgtEl>
                                        <p:attrNameLst>
                                          <p:attrName>style.visibility</p:attrName>
                                        </p:attrNameLst>
                                      </p:cBhvr>
                                      <p:to>
                                        <p:strVal val="visible"/>
                                      </p:to>
                                    </p:set>
                                    <p:animEffect transition="in" filter="wipe(down)">
                                      <p:cBhvr>
                                        <p:cTn id="46" dur="580">
                                          <p:stCondLst>
                                            <p:cond delay="0"/>
                                          </p:stCondLst>
                                        </p:cTn>
                                        <p:tgtEl>
                                          <p:spTgt spid="554005"/>
                                        </p:tgtEl>
                                      </p:cBhvr>
                                    </p:animEffect>
                                    <p:anim calcmode="lin" valueType="num">
                                      <p:cBhvr>
                                        <p:cTn id="47" dur="1822" tmFilter="0,0; 0.14,0.36; 0.43,0.73; 0.71,0.91; 1.0,1.0">
                                          <p:stCondLst>
                                            <p:cond delay="0"/>
                                          </p:stCondLst>
                                        </p:cTn>
                                        <p:tgtEl>
                                          <p:spTgt spid="554005"/>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554005"/>
                                        </p:tgtEl>
                                        <p:attrNameLst>
                                          <p:attrName>ppt_y</p:attrName>
                                        </p:attrNameLst>
                                      </p:cBhvr>
                                      <p:tavLst>
                                        <p:tav tm="0" fmla="#ppt_y-sin(pi*$)/3">
                                          <p:val>
                                            <p:fltVal val="0.500000"/>
                                          </p:val>
                                        </p:tav>
                                        <p:tav tm="100000">
                                          <p:val>
                                            <p:fltVal val="1.000000"/>
                                          </p:val>
                                        </p:tav>
                                      </p:tavLst>
                                    </p:anim>
                                    <p:anim calcmode="lin" valueType="num">
                                      <p:cBhvr>
                                        <p:cTn id="49" dur="664" tmFilter="0, 0; 0.125,0.2665; 0.25,0.4; 0.375,0.465; 0.5,0.5;  0.625,0.535; 0.75,0.6; 0.875,0.7335; 1,1">
                                          <p:stCondLst>
                                            <p:cond delay="664"/>
                                          </p:stCondLst>
                                        </p:cTn>
                                        <p:tgtEl>
                                          <p:spTgt spid="554005"/>
                                        </p:tgtEl>
                                        <p:attrNameLst>
                                          <p:attrName>ppt_y</p:attrName>
                                        </p:attrNameLst>
                                      </p:cBhvr>
                                      <p:tavLst>
                                        <p:tav tm="0" fmla="#ppt_y-sin(pi*$)/9">
                                          <p:val>
                                            <p:fltVal val="0.000000"/>
                                          </p:val>
                                        </p:tav>
                                        <p:tav tm="100000">
                                          <p:val>
                                            <p:fltVal val="1.000000"/>
                                          </p:val>
                                        </p:tav>
                                      </p:tavLst>
                                    </p:anim>
                                    <p:anim calcmode="lin" valueType="num">
                                      <p:cBhvr>
                                        <p:cTn id="50" dur="332" tmFilter="0, 0; 0.125,0.2665; 0.25,0.4; 0.375,0.465; 0.5,0.5;  0.625,0.535; 0.75,0.6; 0.875,0.7335; 1,1">
                                          <p:stCondLst>
                                            <p:cond delay="1324"/>
                                          </p:stCondLst>
                                        </p:cTn>
                                        <p:tgtEl>
                                          <p:spTgt spid="554005"/>
                                        </p:tgtEl>
                                        <p:attrNameLst>
                                          <p:attrName>ppt_y</p:attrName>
                                        </p:attrNameLst>
                                      </p:cBhvr>
                                      <p:tavLst>
                                        <p:tav tm="0" fmla="#ppt_y-sin(pi*$)/27">
                                          <p:val>
                                            <p:fltVal val="0.000000"/>
                                          </p:val>
                                        </p:tav>
                                        <p:tav tm="100000">
                                          <p:val>
                                            <p:fltVal val="1.000000"/>
                                          </p:val>
                                        </p:tav>
                                      </p:tavLst>
                                    </p:anim>
                                    <p:anim calcmode="lin" valueType="num">
                                      <p:cBhvr>
                                        <p:cTn id="51" dur="164" tmFilter="0, 0; 0.125,0.2665; 0.25,0.4; 0.375,0.465; 0.5,0.5;  0.625,0.535; 0.75,0.6; 0.875,0.7335; 1,1">
                                          <p:stCondLst>
                                            <p:cond delay="1656"/>
                                          </p:stCondLst>
                                        </p:cTn>
                                        <p:tgtEl>
                                          <p:spTgt spid="554005"/>
                                        </p:tgtEl>
                                        <p:attrNameLst>
                                          <p:attrName>ppt_y</p:attrName>
                                        </p:attrNameLst>
                                      </p:cBhvr>
                                      <p:tavLst>
                                        <p:tav tm="0" fmla="#ppt_y-sin(pi*$)/81">
                                          <p:val>
                                            <p:fltVal val="0.000000"/>
                                          </p:val>
                                        </p:tav>
                                        <p:tav tm="100000">
                                          <p:val>
                                            <p:fltVal val="1.000000"/>
                                          </p:val>
                                        </p:tav>
                                      </p:tavLst>
                                    </p:anim>
                                    <p:animScale>
                                      <p:cBhvr>
                                        <p:cTn id="52" dur="26">
                                          <p:stCondLst>
                                            <p:cond delay="650"/>
                                          </p:stCondLst>
                                        </p:cTn>
                                        <p:tgtEl>
                                          <p:spTgt spid="554005"/>
                                        </p:tgtEl>
                                      </p:cBhvr>
                                      <p:to x="100000" y="60000"/>
                                    </p:animScale>
                                    <p:animScale>
                                      <p:cBhvr>
                                        <p:cTn id="53" dur="166" decel="50000">
                                          <p:stCondLst>
                                            <p:cond delay="676"/>
                                          </p:stCondLst>
                                        </p:cTn>
                                        <p:tgtEl>
                                          <p:spTgt spid="554005"/>
                                        </p:tgtEl>
                                      </p:cBhvr>
                                      <p:to x="100000" y="100000"/>
                                    </p:animScale>
                                    <p:animScale>
                                      <p:cBhvr>
                                        <p:cTn id="54" dur="26">
                                          <p:stCondLst>
                                            <p:cond delay="1312"/>
                                          </p:stCondLst>
                                        </p:cTn>
                                        <p:tgtEl>
                                          <p:spTgt spid="554005"/>
                                        </p:tgtEl>
                                      </p:cBhvr>
                                      <p:to x="100000" y="80000"/>
                                    </p:animScale>
                                    <p:animScale>
                                      <p:cBhvr>
                                        <p:cTn id="55" dur="166" decel="50000">
                                          <p:stCondLst>
                                            <p:cond delay="1338"/>
                                          </p:stCondLst>
                                        </p:cTn>
                                        <p:tgtEl>
                                          <p:spTgt spid="554005"/>
                                        </p:tgtEl>
                                      </p:cBhvr>
                                      <p:to x="100000" y="100000"/>
                                    </p:animScale>
                                    <p:animScale>
                                      <p:cBhvr>
                                        <p:cTn id="56" dur="26">
                                          <p:stCondLst>
                                            <p:cond delay="1642"/>
                                          </p:stCondLst>
                                        </p:cTn>
                                        <p:tgtEl>
                                          <p:spTgt spid="554005"/>
                                        </p:tgtEl>
                                      </p:cBhvr>
                                      <p:to x="100000" y="90000"/>
                                    </p:animScale>
                                    <p:animScale>
                                      <p:cBhvr>
                                        <p:cTn id="57" dur="166" decel="50000">
                                          <p:stCondLst>
                                            <p:cond delay="1668"/>
                                          </p:stCondLst>
                                        </p:cTn>
                                        <p:tgtEl>
                                          <p:spTgt spid="554005"/>
                                        </p:tgtEl>
                                      </p:cBhvr>
                                      <p:to x="100000" y="100000"/>
                                    </p:animScale>
                                    <p:animScale>
                                      <p:cBhvr>
                                        <p:cTn id="58" dur="26">
                                          <p:stCondLst>
                                            <p:cond delay="1808"/>
                                          </p:stCondLst>
                                        </p:cTn>
                                        <p:tgtEl>
                                          <p:spTgt spid="554005"/>
                                        </p:tgtEl>
                                      </p:cBhvr>
                                      <p:to x="100000" y="95000"/>
                                    </p:animScale>
                                    <p:animScale>
                                      <p:cBhvr>
                                        <p:cTn id="59" dur="166" decel="50000">
                                          <p:stCondLst>
                                            <p:cond delay="1834"/>
                                          </p:stCondLst>
                                        </p:cTn>
                                        <p:tgtEl>
                                          <p:spTgt spid="554005"/>
                                        </p:tgtEl>
                                      </p:cBhvr>
                                      <p:to x="100000" y="100000"/>
                                    </p:animScale>
                                  </p:childTnLst>
                                </p:cTn>
                              </p:par>
                            </p:childTnLst>
                          </p:cTn>
                        </p:par>
                      </p:childTnLst>
                    </p:cTn>
                  </p:par>
                  <p:par>
                    <p:cTn id="60" fill="hold">
                      <p:stCondLst>
                        <p:cond delay="indefinite"/>
                      </p:stCondLst>
                      <p:childTnLst>
                        <p:par>
                          <p:cTn id="61" fill="hold">
                            <p:stCondLst>
                              <p:cond delay="0"/>
                            </p:stCondLst>
                            <p:childTnLst>
                              <p:par>
                                <p:cTn id="62" presetID="26" presetClass="entr" presetSubtype="0" fill="hold" nodeType="clickEffect">
                                  <p:stCondLst>
                                    <p:cond delay="0"/>
                                  </p:stCondLst>
                                  <p:childTnLst>
                                    <p:set>
                                      <p:cBhvr>
                                        <p:cTn id="63" dur="1" fill="hold">
                                          <p:stCondLst>
                                            <p:cond delay="0"/>
                                          </p:stCondLst>
                                        </p:cTn>
                                        <p:tgtEl>
                                          <p:spTgt spid="554004"/>
                                        </p:tgtEl>
                                        <p:attrNameLst>
                                          <p:attrName>style.visibility</p:attrName>
                                        </p:attrNameLst>
                                      </p:cBhvr>
                                      <p:to>
                                        <p:strVal val="visible"/>
                                      </p:to>
                                    </p:set>
                                    <p:animEffect transition="in" filter="wipe(down)">
                                      <p:cBhvr>
                                        <p:cTn id="64" dur="580">
                                          <p:stCondLst>
                                            <p:cond delay="0"/>
                                          </p:stCondLst>
                                        </p:cTn>
                                        <p:tgtEl>
                                          <p:spTgt spid="554004"/>
                                        </p:tgtEl>
                                      </p:cBhvr>
                                    </p:animEffect>
                                    <p:anim calcmode="lin" valueType="num">
                                      <p:cBhvr>
                                        <p:cTn id="65" dur="1822" tmFilter="0,0; 0.14,0.36; 0.43,0.73; 0.71,0.91; 1.0,1.0">
                                          <p:stCondLst>
                                            <p:cond delay="0"/>
                                          </p:stCondLst>
                                        </p:cTn>
                                        <p:tgtEl>
                                          <p:spTgt spid="554004"/>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554004"/>
                                        </p:tgtEl>
                                        <p:attrNameLst>
                                          <p:attrName>ppt_y</p:attrName>
                                        </p:attrNameLst>
                                      </p:cBhvr>
                                      <p:tavLst>
                                        <p:tav tm="0" fmla="#ppt_y-sin(pi*$)/3">
                                          <p:val>
                                            <p:fltVal val="0.500000"/>
                                          </p:val>
                                        </p:tav>
                                        <p:tav tm="100000">
                                          <p:val>
                                            <p:fltVal val="1.000000"/>
                                          </p:val>
                                        </p:tav>
                                      </p:tavLst>
                                    </p:anim>
                                    <p:anim calcmode="lin" valueType="num">
                                      <p:cBhvr>
                                        <p:cTn id="67" dur="664" tmFilter="0, 0; 0.125,0.2665; 0.25,0.4; 0.375,0.465; 0.5,0.5;  0.625,0.535; 0.75,0.6; 0.875,0.7335; 1,1">
                                          <p:stCondLst>
                                            <p:cond delay="664"/>
                                          </p:stCondLst>
                                        </p:cTn>
                                        <p:tgtEl>
                                          <p:spTgt spid="554004"/>
                                        </p:tgtEl>
                                        <p:attrNameLst>
                                          <p:attrName>ppt_y</p:attrName>
                                        </p:attrNameLst>
                                      </p:cBhvr>
                                      <p:tavLst>
                                        <p:tav tm="0" fmla="#ppt_y-sin(pi*$)/9">
                                          <p:val>
                                            <p:fltVal val="0.000000"/>
                                          </p:val>
                                        </p:tav>
                                        <p:tav tm="100000">
                                          <p:val>
                                            <p:fltVal val="1.000000"/>
                                          </p:val>
                                        </p:tav>
                                      </p:tavLst>
                                    </p:anim>
                                    <p:anim calcmode="lin" valueType="num">
                                      <p:cBhvr>
                                        <p:cTn id="68" dur="332" tmFilter="0, 0; 0.125,0.2665; 0.25,0.4; 0.375,0.465; 0.5,0.5;  0.625,0.535; 0.75,0.6; 0.875,0.7335; 1,1">
                                          <p:stCondLst>
                                            <p:cond delay="1324"/>
                                          </p:stCondLst>
                                        </p:cTn>
                                        <p:tgtEl>
                                          <p:spTgt spid="554004"/>
                                        </p:tgtEl>
                                        <p:attrNameLst>
                                          <p:attrName>ppt_y</p:attrName>
                                        </p:attrNameLst>
                                      </p:cBhvr>
                                      <p:tavLst>
                                        <p:tav tm="0" fmla="#ppt_y-sin(pi*$)/27">
                                          <p:val>
                                            <p:fltVal val="0.000000"/>
                                          </p:val>
                                        </p:tav>
                                        <p:tav tm="100000">
                                          <p:val>
                                            <p:fltVal val="1.000000"/>
                                          </p:val>
                                        </p:tav>
                                      </p:tavLst>
                                    </p:anim>
                                    <p:anim calcmode="lin" valueType="num">
                                      <p:cBhvr>
                                        <p:cTn id="69" dur="164" tmFilter="0, 0; 0.125,0.2665; 0.25,0.4; 0.375,0.465; 0.5,0.5;  0.625,0.535; 0.75,0.6; 0.875,0.7335; 1,1">
                                          <p:stCondLst>
                                            <p:cond delay="1656"/>
                                          </p:stCondLst>
                                        </p:cTn>
                                        <p:tgtEl>
                                          <p:spTgt spid="554004"/>
                                        </p:tgtEl>
                                        <p:attrNameLst>
                                          <p:attrName>ppt_y</p:attrName>
                                        </p:attrNameLst>
                                      </p:cBhvr>
                                      <p:tavLst>
                                        <p:tav tm="0" fmla="#ppt_y-sin(pi*$)/81">
                                          <p:val>
                                            <p:fltVal val="0.000000"/>
                                          </p:val>
                                        </p:tav>
                                        <p:tav tm="100000">
                                          <p:val>
                                            <p:fltVal val="1.000000"/>
                                          </p:val>
                                        </p:tav>
                                      </p:tavLst>
                                    </p:anim>
                                    <p:animScale>
                                      <p:cBhvr>
                                        <p:cTn id="70" dur="26">
                                          <p:stCondLst>
                                            <p:cond delay="650"/>
                                          </p:stCondLst>
                                        </p:cTn>
                                        <p:tgtEl>
                                          <p:spTgt spid="554004"/>
                                        </p:tgtEl>
                                      </p:cBhvr>
                                      <p:to x="100000" y="60000"/>
                                    </p:animScale>
                                    <p:animScale>
                                      <p:cBhvr>
                                        <p:cTn id="71" dur="166" decel="50000">
                                          <p:stCondLst>
                                            <p:cond delay="676"/>
                                          </p:stCondLst>
                                        </p:cTn>
                                        <p:tgtEl>
                                          <p:spTgt spid="554004"/>
                                        </p:tgtEl>
                                      </p:cBhvr>
                                      <p:to x="100000" y="100000"/>
                                    </p:animScale>
                                    <p:animScale>
                                      <p:cBhvr>
                                        <p:cTn id="72" dur="26">
                                          <p:stCondLst>
                                            <p:cond delay="1312"/>
                                          </p:stCondLst>
                                        </p:cTn>
                                        <p:tgtEl>
                                          <p:spTgt spid="554004"/>
                                        </p:tgtEl>
                                      </p:cBhvr>
                                      <p:to x="100000" y="80000"/>
                                    </p:animScale>
                                    <p:animScale>
                                      <p:cBhvr>
                                        <p:cTn id="73" dur="166" decel="50000">
                                          <p:stCondLst>
                                            <p:cond delay="1338"/>
                                          </p:stCondLst>
                                        </p:cTn>
                                        <p:tgtEl>
                                          <p:spTgt spid="554004"/>
                                        </p:tgtEl>
                                      </p:cBhvr>
                                      <p:to x="100000" y="100000"/>
                                    </p:animScale>
                                    <p:animScale>
                                      <p:cBhvr>
                                        <p:cTn id="74" dur="26">
                                          <p:stCondLst>
                                            <p:cond delay="1642"/>
                                          </p:stCondLst>
                                        </p:cTn>
                                        <p:tgtEl>
                                          <p:spTgt spid="554004"/>
                                        </p:tgtEl>
                                      </p:cBhvr>
                                      <p:to x="100000" y="90000"/>
                                    </p:animScale>
                                    <p:animScale>
                                      <p:cBhvr>
                                        <p:cTn id="75" dur="166" decel="50000">
                                          <p:stCondLst>
                                            <p:cond delay="1668"/>
                                          </p:stCondLst>
                                        </p:cTn>
                                        <p:tgtEl>
                                          <p:spTgt spid="554004"/>
                                        </p:tgtEl>
                                      </p:cBhvr>
                                      <p:to x="100000" y="100000"/>
                                    </p:animScale>
                                    <p:animScale>
                                      <p:cBhvr>
                                        <p:cTn id="76" dur="26">
                                          <p:stCondLst>
                                            <p:cond delay="1808"/>
                                          </p:stCondLst>
                                        </p:cTn>
                                        <p:tgtEl>
                                          <p:spTgt spid="554004"/>
                                        </p:tgtEl>
                                      </p:cBhvr>
                                      <p:to x="100000" y="95000"/>
                                    </p:animScale>
                                    <p:animScale>
                                      <p:cBhvr>
                                        <p:cTn id="77" dur="166" decel="50000">
                                          <p:stCondLst>
                                            <p:cond delay="1834"/>
                                          </p:stCondLst>
                                        </p:cTn>
                                        <p:tgtEl>
                                          <p:spTgt spid="554004"/>
                                        </p:tgtEl>
                                      </p:cBhvr>
                                      <p:to x="100000" y="100000"/>
                                    </p:animScale>
                                  </p:childTnLst>
                                </p:cTn>
                              </p:par>
                            </p:childTnLst>
                          </p:cTn>
                        </p:par>
                      </p:childTnLst>
                    </p:cTn>
                  </p:par>
                  <p:par>
                    <p:cTn id="78" fill="hold">
                      <p:stCondLst>
                        <p:cond delay="indefinite"/>
                      </p:stCondLst>
                      <p:childTnLst>
                        <p:par>
                          <p:cTn id="79" fill="hold">
                            <p:stCondLst>
                              <p:cond delay="0"/>
                            </p:stCondLst>
                            <p:childTnLst>
                              <p:par>
                                <p:cTn id="80" presetID="26" presetClass="entr" presetSubtype="0" fill="hold" nodeType="clickEffect">
                                  <p:stCondLst>
                                    <p:cond delay="0"/>
                                  </p:stCondLst>
                                  <p:childTnLst>
                                    <p:set>
                                      <p:cBhvr>
                                        <p:cTn id="81" dur="1" fill="hold">
                                          <p:stCondLst>
                                            <p:cond delay="0"/>
                                          </p:stCondLst>
                                        </p:cTn>
                                        <p:tgtEl>
                                          <p:spTgt spid="554007"/>
                                        </p:tgtEl>
                                        <p:attrNameLst>
                                          <p:attrName>style.visibility</p:attrName>
                                        </p:attrNameLst>
                                      </p:cBhvr>
                                      <p:to>
                                        <p:strVal val="visible"/>
                                      </p:to>
                                    </p:set>
                                    <p:animEffect transition="in" filter="wipe(down)">
                                      <p:cBhvr>
                                        <p:cTn id="82" dur="580">
                                          <p:stCondLst>
                                            <p:cond delay="0"/>
                                          </p:stCondLst>
                                        </p:cTn>
                                        <p:tgtEl>
                                          <p:spTgt spid="554007"/>
                                        </p:tgtEl>
                                      </p:cBhvr>
                                    </p:animEffect>
                                    <p:anim calcmode="lin" valueType="num">
                                      <p:cBhvr>
                                        <p:cTn id="83" dur="1822" tmFilter="0,0; 0.14,0.36; 0.43,0.73; 0.71,0.91; 1.0,1.0">
                                          <p:stCondLst>
                                            <p:cond delay="0"/>
                                          </p:stCondLst>
                                        </p:cTn>
                                        <p:tgtEl>
                                          <p:spTgt spid="554007"/>
                                        </p:tgtEl>
                                        <p:attrNameLst>
                                          <p:attrName>ppt_x</p:attrName>
                                        </p:attrNameLst>
                                      </p:cBhvr>
                                      <p:tavLst>
                                        <p:tav tm="0">
                                          <p:val>
                                            <p:strVal val="#ppt_x-0.25"/>
                                          </p:val>
                                        </p:tav>
                                        <p:tav tm="100000">
                                          <p:val>
                                            <p:strVal val="#ppt_x"/>
                                          </p:val>
                                        </p:tav>
                                      </p:tavLst>
                                    </p:anim>
                                    <p:anim calcmode="lin" valueType="num">
                                      <p:cBhvr>
                                        <p:cTn id="84" dur="664" tmFilter="0.0,0.0; 0.25,0.07; 0.50,0.2; 0.75,0.467; 1.0,1.0">
                                          <p:stCondLst>
                                            <p:cond delay="0"/>
                                          </p:stCondLst>
                                        </p:cTn>
                                        <p:tgtEl>
                                          <p:spTgt spid="554007"/>
                                        </p:tgtEl>
                                        <p:attrNameLst>
                                          <p:attrName>ppt_y</p:attrName>
                                        </p:attrNameLst>
                                      </p:cBhvr>
                                      <p:tavLst>
                                        <p:tav tm="0" fmla="#ppt_y-sin(pi*$)/3">
                                          <p:val>
                                            <p:fltVal val="0.500000"/>
                                          </p:val>
                                        </p:tav>
                                        <p:tav tm="100000">
                                          <p:val>
                                            <p:fltVal val="1.000000"/>
                                          </p:val>
                                        </p:tav>
                                      </p:tavLst>
                                    </p:anim>
                                    <p:anim calcmode="lin" valueType="num">
                                      <p:cBhvr>
                                        <p:cTn id="85" dur="664" tmFilter="0, 0; 0.125,0.2665; 0.25,0.4; 0.375,0.465; 0.5,0.5;  0.625,0.535; 0.75,0.6; 0.875,0.7335; 1,1">
                                          <p:stCondLst>
                                            <p:cond delay="664"/>
                                          </p:stCondLst>
                                        </p:cTn>
                                        <p:tgtEl>
                                          <p:spTgt spid="554007"/>
                                        </p:tgtEl>
                                        <p:attrNameLst>
                                          <p:attrName>ppt_y</p:attrName>
                                        </p:attrNameLst>
                                      </p:cBhvr>
                                      <p:tavLst>
                                        <p:tav tm="0" fmla="#ppt_y-sin(pi*$)/9">
                                          <p:val>
                                            <p:fltVal val="0.000000"/>
                                          </p:val>
                                        </p:tav>
                                        <p:tav tm="100000">
                                          <p:val>
                                            <p:fltVal val="1.000000"/>
                                          </p:val>
                                        </p:tav>
                                      </p:tavLst>
                                    </p:anim>
                                    <p:anim calcmode="lin" valueType="num">
                                      <p:cBhvr>
                                        <p:cTn id="86" dur="332" tmFilter="0, 0; 0.125,0.2665; 0.25,0.4; 0.375,0.465; 0.5,0.5;  0.625,0.535; 0.75,0.6; 0.875,0.7335; 1,1">
                                          <p:stCondLst>
                                            <p:cond delay="1324"/>
                                          </p:stCondLst>
                                        </p:cTn>
                                        <p:tgtEl>
                                          <p:spTgt spid="554007"/>
                                        </p:tgtEl>
                                        <p:attrNameLst>
                                          <p:attrName>ppt_y</p:attrName>
                                        </p:attrNameLst>
                                      </p:cBhvr>
                                      <p:tavLst>
                                        <p:tav tm="0" fmla="#ppt_y-sin(pi*$)/27">
                                          <p:val>
                                            <p:fltVal val="0.000000"/>
                                          </p:val>
                                        </p:tav>
                                        <p:tav tm="100000">
                                          <p:val>
                                            <p:fltVal val="1.000000"/>
                                          </p:val>
                                        </p:tav>
                                      </p:tavLst>
                                    </p:anim>
                                    <p:anim calcmode="lin" valueType="num">
                                      <p:cBhvr>
                                        <p:cTn id="87" dur="164" tmFilter="0, 0; 0.125,0.2665; 0.25,0.4; 0.375,0.465; 0.5,0.5;  0.625,0.535; 0.75,0.6; 0.875,0.7335; 1,1">
                                          <p:stCondLst>
                                            <p:cond delay="1656"/>
                                          </p:stCondLst>
                                        </p:cTn>
                                        <p:tgtEl>
                                          <p:spTgt spid="554007"/>
                                        </p:tgtEl>
                                        <p:attrNameLst>
                                          <p:attrName>ppt_y</p:attrName>
                                        </p:attrNameLst>
                                      </p:cBhvr>
                                      <p:tavLst>
                                        <p:tav tm="0" fmla="#ppt_y-sin(pi*$)/81">
                                          <p:val>
                                            <p:fltVal val="0.000000"/>
                                          </p:val>
                                        </p:tav>
                                        <p:tav tm="100000">
                                          <p:val>
                                            <p:fltVal val="1.000000"/>
                                          </p:val>
                                        </p:tav>
                                      </p:tavLst>
                                    </p:anim>
                                    <p:animScale>
                                      <p:cBhvr>
                                        <p:cTn id="88" dur="26">
                                          <p:stCondLst>
                                            <p:cond delay="650"/>
                                          </p:stCondLst>
                                        </p:cTn>
                                        <p:tgtEl>
                                          <p:spTgt spid="554007"/>
                                        </p:tgtEl>
                                      </p:cBhvr>
                                      <p:to x="100000" y="60000"/>
                                    </p:animScale>
                                    <p:animScale>
                                      <p:cBhvr>
                                        <p:cTn id="89" dur="166" decel="50000">
                                          <p:stCondLst>
                                            <p:cond delay="676"/>
                                          </p:stCondLst>
                                        </p:cTn>
                                        <p:tgtEl>
                                          <p:spTgt spid="554007"/>
                                        </p:tgtEl>
                                      </p:cBhvr>
                                      <p:to x="100000" y="100000"/>
                                    </p:animScale>
                                    <p:animScale>
                                      <p:cBhvr>
                                        <p:cTn id="90" dur="26">
                                          <p:stCondLst>
                                            <p:cond delay="1312"/>
                                          </p:stCondLst>
                                        </p:cTn>
                                        <p:tgtEl>
                                          <p:spTgt spid="554007"/>
                                        </p:tgtEl>
                                      </p:cBhvr>
                                      <p:to x="100000" y="80000"/>
                                    </p:animScale>
                                    <p:animScale>
                                      <p:cBhvr>
                                        <p:cTn id="91" dur="166" decel="50000">
                                          <p:stCondLst>
                                            <p:cond delay="1338"/>
                                          </p:stCondLst>
                                        </p:cTn>
                                        <p:tgtEl>
                                          <p:spTgt spid="554007"/>
                                        </p:tgtEl>
                                      </p:cBhvr>
                                      <p:to x="100000" y="100000"/>
                                    </p:animScale>
                                    <p:animScale>
                                      <p:cBhvr>
                                        <p:cTn id="92" dur="26">
                                          <p:stCondLst>
                                            <p:cond delay="1642"/>
                                          </p:stCondLst>
                                        </p:cTn>
                                        <p:tgtEl>
                                          <p:spTgt spid="554007"/>
                                        </p:tgtEl>
                                      </p:cBhvr>
                                      <p:to x="100000" y="90000"/>
                                    </p:animScale>
                                    <p:animScale>
                                      <p:cBhvr>
                                        <p:cTn id="93" dur="166" decel="50000">
                                          <p:stCondLst>
                                            <p:cond delay="1668"/>
                                          </p:stCondLst>
                                        </p:cTn>
                                        <p:tgtEl>
                                          <p:spTgt spid="554007"/>
                                        </p:tgtEl>
                                      </p:cBhvr>
                                      <p:to x="100000" y="100000"/>
                                    </p:animScale>
                                    <p:animScale>
                                      <p:cBhvr>
                                        <p:cTn id="94" dur="26">
                                          <p:stCondLst>
                                            <p:cond delay="1808"/>
                                          </p:stCondLst>
                                        </p:cTn>
                                        <p:tgtEl>
                                          <p:spTgt spid="554007"/>
                                        </p:tgtEl>
                                      </p:cBhvr>
                                      <p:to x="100000" y="95000"/>
                                    </p:animScale>
                                    <p:animScale>
                                      <p:cBhvr>
                                        <p:cTn id="95" dur="166" decel="50000">
                                          <p:stCondLst>
                                            <p:cond delay="1834"/>
                                          </p:stCondLst>
                                        </p:cTn>
                                        <p:tgtEl>
                                          <p:spTgt spid="554007"/>
                                        </p:tgtEl>
                                      </p:cBhvr>
                                      <p:to x="100000" y="100000"/>
                                    </p:animScale>
                                  </p:childTnLst>
                                </p:cTn>
                              </p:par>
                            </p:childTnLst>
                          </p:cTn>
                        </p:par>
                      </p:childTnLst>
                    </p:cTn>
                  </p:par>
                  <p:par>
                    <p:cTn id="96" fill="hold">
                      <p:stCondLst>
                        <p:cond delay="indefinite"/>
                      </p:stCondLst>
                      <p:childTnLst>
                        <p:par>
                          <p:cTn id="97" fill="hold">
                            <p:stCondLst>
                              <p:cond delay="0"/>
                            </p:stCondLst>
                            <p:childTnLst>
                              <p:par>
                                <p:cTn id="98" presetID="18" presetClass="entr" presetSubtype="6" fill="hold" grpId="0" nodeType="clickEffect">
                                  <p:stCondLst>
                                    <p:cond delay="0"/>
                                  </p:stCondLst>
                                  <p:childTnLst>
                                    <p:set>
                                      <p:cBhvr>
                                        <p:cTn id="99" dur="1" fill="hold">
                                          <p:stCondLst>
                                            <p:cond delay="0"/>
                                          </p:stCondLst>
                                        </p:cTn>
                                        <p:tgtEl>
                                          <p:spTgt spid="553997">
                                            <p:txEl>
                                              <p:charRg st="76" end="167"/>
                                            </p:txEl>
                                          </p:spTgt>
                                        </p:tgtEl>
                                        <p:attrNameLst>
                                          <p:attrName>style.visibility</p:attrName>
                                        </p:attrNameLst>
                                      </p:cBhvr>
                                      <p:to>
                                        <p:strVal val="visible"/>
                                      </p:to>
                                    </p:set>
                                    <p:animEffect transition="in" filter="strips(downRight)">
                                      <p:cBhvr>
                                        <p:cTn id="100" dur="500"/>
                                        <p:tgtEl>
                                          <p:spTgt spid="553997">
                                            <p:txEl>
                                              <p:charRg st="76" end="167"/>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8" presetClass="entr" presetSubtype="6" fill="hold" grpId="0" nodeType="clickEffect">
                                  <p:stCondLst>
                                    <p:cond delay="0"/>
                                  </p:stCondLst>
                                  <p:childTnLst>
                                    <p:set>
                                      <p:cBhvr>
                                        <p:cTn id="104" dur="1" fill="hold">
                                          <p:stCondLst>
                                            <p:cond delay="0"/>
                                          </p:stCondLst>
                                        </p:cTn>
                                        <p:tgtEl>
                                          <p:spTgt spid="553997">
                                            <p:txEl>
                                              <p:charRg st="167" end="193"/>
                                            </p:txEl>
                                          </p:spTgt>
                                        </p:tgtEl>
                                        <p:attrNameLst>
                                          <p:attrName>style.visibility</p:attrName>
                                        </p:attrNameLst>
                                      </p:cBhvr>
                                      <p:to>
                                        <p:strVal val="visible"/>
                                      </p:to>
                                    </p:set>
                                    <p:animEffect transition="in" filter="strips(downRight)">
                                      <p:cBhvr>
                                        <p:cTn id="105" dur="500"/>
                                        <p:tgtEl>
                                          <p:spTgt spid="553997">
                                            <p:txEl>
                                              <p:charRg st="167" end="193"/>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5540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97"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grpSp>
        <p:nvGrpSpPr>
          <p:cNvPr id="555012" name="组合 555011"/>
          <p:cNvGrpSpPr/>
          <p:nvPr/>
        </p:nvGrpSpPr>
        <p:grpSpPr>
          <a:xfrm>
            <a:off x="6638925" y="6237288"/>
            <a:ext cx="2519363" cy="631825"/>
            <a:chOff x="4182" y="3930"/>
            <a:chExt cx="1587" cy="398"/>
          </a:xfrm>
        </p:grpSpPr>
        <p:sp>
          <p:nvSpPr>
            <p:cNvPr id="555013" name="文本框 555012"/>
            <p:cNvSpPr txBox="1"/>
            <p:nvPr/>
          </p:nvSpPr>
          <p:spPr>
            <a:xfrm>
              <a:off x="4448" y="3943"/>
              <a:ext cx="1321" cy="385"/>
            </a:xfrm>
            <a:prstGeom prst="rect">
              <a:avLst/>
            </a:prstGeom>
            <a:noFill/>
            <a:ln w="9525">
              <a:noFill/>
            </a:ln>
          </p:spPr>
          <p:txBody>
            <a:bodyPr>
              <a:spAutoFit/>
            </a:bodyPr>
            <a:p>
              <a:pPr eaLnBrk="0" hangingPunct="0"/>
              <a:r>
                <a:rPr lang="zh-CN" altLang="en-US" sz="1600" dirty="0">
                  <a:solidFill>
                    <a:srgbClr val="990033"/>
                  </a:solidFill>
                  <a:latin typeface="华文行楷" panose="02010800040101010101" pitchFamily="2" charset="-122"/>
                  <a:ea typeface="华文行楷" panose="02010800040101010101" pitchFamily="2" charset="-122"/>
                </a:rPr>
                <a:t>中国矿业大学</a:t>
              </a:r>
              <a:r>
                <a:rPr lang="en-US" altLang="zh-CN" sz="1600" dirty="0">
                  <a:solidFill>
                    <a:srgbClr val="990033"/>
                  </a:solidFill>
                  <a:latin typeface="华文行楷" panose="02010800040101010101" pitchFamily="2" charset="-122"/>
                  <a:ea typeface="华文行楷" panose="02010800040101010101" pitchFamily="2" charset="-122"/>
                </a:rPr>
                <a:t>(</a:t>
              </a:r>
              <a:r>
                <a:rPr lang="zh-CN" altLang="en-US" sz="1600" dirty="0">
                  <a:solidFill>
                    <a:srgbClr val="990033"/>
                  </a:solidFill>
                  <a:latin typeface="华文行楷" panose="02010800040101010101" pitchFamily="2" charset="-122"/>
                  <a:ea typeface="华文行楷" panose="02010800040101010101" pitchFamily="2" charset="-122"/>
                </a:rPr>
                <a:t>北京</a:t>
              </a:r>
              <a:r>
                <a:rPr lang="en-US" altLang="zh-CN" sz="1600">
                  <a:solidFill>
                    <a:srgbClr val="990033"/>
                  </a:solidFill>
                  <a:latin typeface="华文行楷" panose="02010800040101010101" pitchFamily="2" charset="-122"/>
                  <a:ea typeface="华文行楷" panose="02010800040101010101" pitchFamily="2" charset="-122"/>
                </a:rPr>
                <a:t>)</a:t>
              </a:r>
              <a:endParaRPr lang="en-US" altLang="zh-CN" sz="1600">
                <a:solidFill>
                  <a:srgbClr val="990033"/>
                </a:solidFill>
                <a:latin typeface="华文行楷" panose="02010800040101010101" pitchFamily="2" charset="-122"/>
                <a:ea typeface="华文行楷" panose="02010800040101010101" pitchFamily="2" charset="-122"/>
              </a:endParaRPr>
            </a:p>
            <a:p>
              <a:r>
                <a:rPr lang="zh-CN" altLang="en-US" dirty="0">
                  <a:solidFill>
                    <a:srgbClr val="3333CC"/>
                  </a:solidFill>
                  <a:latin typeface="Times New Roman" panose="02020603050405020304" pitchFamily="18" charset="0"/>
                  <a:ea typeface="华文隶书" panose="02010800040101010101" pitchFamily="2" charset="-122"/>
                </a:rPr>
                <a:t>机械设计基础</a:t>
              </a:r>
              <a:endParaRPr lang="zh-CN" altLang="en-US">
                <a:solidFill>
                  <a:srgbClr val="3333CC"/>
                </a:solidFill>
                <a:latin typeface="Times New Roman" panose="02020603050405020304" pitchFamily="18" charset="0"/>
                <a:ea typeface="华文隶书" panose="02010800040101010101" pitchFamily="2" charset="-122"/>
              </a:endParaRPr>
            </a:p>
          </p:txBody>
        </p:sp>
        <p:graphicFrame>
          <p:nvGraphicFramePr>
            <p:cNvPr id="555014" name="对象 555013"/>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3151" name="" r:id="rId1" imgW="781050" imgH="781050" progId="MSPhotoEd.3">
                    <p:embed/>
                  </p:oleObj>
                </mc:Choice>
                <mc:Fallback>
                  <p:oleObj name="" r:id="rId1" imgW="781050" imgH="781050" progId="MSPhotoEd.3">
                    <p:embed/>
                    <p:pic>
                      <p:nvPicPr>
                        <p:cNvPr id="0" name="图片 3150"/>
                        <p:cNvPicPr/>
                        <p:nvPr/>
                      </p:nvPicPr>
                      <p:blipFill>
                        <a:blip r:embed="rId2"/>
                        <a:stretch>
                          <a:fillRect/>
                        </a:stretch>
                      </p:blipFill>
                      <p:spPr>
                        <a:xfrm>
                          <a:off x="4182" y="3930"/>
                          <a:ext cx="385" cy="385"/>
                        </a:xfrm>
                        <a:prstGeom prst="rect">
                          <a:avLst/>
                        </a:prstGeom>
                        <a:noFill/>
                        <a:ln w="38100">
                          <a:noFill/>
                          <a:miter/>
                        </a:ln>
                      </p:spPr>
                    </p:pic>
                  </p:oleObj>
                </mc:Fallback>
              </mc:AlternateContent>
            </a:graphicData>
          </a:graphic>
        </p:graphicFrame>
      </p:grpSp>
      <p:sp>
        <p:nvSpPr>
          <p:cNvPr id="555015" name="文本框 555014"/>
          <p:cNvSpPr txBox="1"/>
          <p:nvPr/>
        </p:nvSpPr>
        <p:spPr>
          <a:xfrm>
            <a:off x="0" y="465138"/>
            <a:ext cx="8863013" cy="5568950"/>
          </a:xfrm>
          <a:prstGeom prst="rect">
            <a:avLst/>
          </a:prstGeom>
          <a:noFill/>
          <a:ln w="9525">
            <a:noFill/>
          </a:ln>
        </p:spPr>
        <p:txBody>
          <a:bodyPr>
            <a:spAutoFit/>
          </a:bodyPr>
          <a:p>
            <a:pPr algn="just"/>
            <a:r>
              <a:rPr lang="en-US" altLang="zh-CN" sz="2400">
                <a:solidFill>
                  <a:srgbClr val="000000"/>
                </a:solidFill>
                <a:latin typeface="Times New Roman" panose="02020603050405020304" pitchFamily="18" charset="0"/>
              </a:rPr>
              <a:t>   T</a:t>
            </a:r>
            <a:r>
              <a:rPr lang="en-US" altLang="zh-CN" sz="2400" baseline="-30000">
                <a:solidFill>
                  <a:srgbClr val="000000"/>
                </a:solidFill>
                <a:latin typeface="Times New Roman" panose="02020603050405020304" pitchFamily="18" charset="0"/>
              </a:rPr>
              <a:t>2</a:t>
            </a:r>
            <a:r>
              <a:rPr lang="en-US" altLang="zh-CN" sz="2400">
                <a:solidFill>
                  <a:srgbClr val="000000"/>
                </a:solidFill>
                <a:latin typeface="Times New Roman" panose="02020603050405020304" pitchFamily="18" charset="0"/>
              </a:rPr>
              <a:t> </a:t>
            </a:r>
            <a:r>
              <a:rPr lang="zh-CN" altLang="en-US" sz="2400" dirty="0">
                <a:solidFill>
                  <a:srgbClr val="000000"/>
                </a:solidFill>
                <a:latin typeface="Times New Roman" panose="02020603050405020304" pitchFamily="18" charset="0"/>
                <a:cs typeface="Times New Roman" panose="02020603050405020304" pitchFamily="18" charset="0"/>
              </a:rPr>
              <a:t>、</a:t>
            </a:r>
            <a:r>
              <a:rPr lang="en-US" altLang="zh-CN" sz="2400">
                <a:solidFill>
                  <a:srgbClr val="000000"/>
                </a:solidFill>
                <a:latin typeface="Times New Roman" panose="02020603050405020304" pitchFamily="18" charset="0"/>
              </a:rPr>
              <a:t>T</a:t>
            </a:r>
            <a:r>
              <a:rPr lang="en-US" altLang="zh-CN" sz="2400" baseline="-30000">
                <a:solidFill>
                  <a:srgbClr val="000000"/>
                </a:solidFill>
                <a:latin typeface="Times New Roman" panose="02020603050405020304" pitchFamily="18" charset="0"/>
              </a:rPr>
              <a:t>1</a:t>
            </a:r>
            <a:r>
              <a:rPr lang="en-US" altLang="zh-CN" sz="2400" dirty="0">
                <a:solidFill>
                  <a:srgbClr val="000000"/>
                </a:solidFill>
                <a:latin typeface="Times New Roman" panose="02020603050405020304" pitchFamily="18" charset="0"/>
              </a:rPr>
              <a:t>' </a:t>
            </a:r>
            <a:r>
              <a:rPr lang="zh-CN" altLang="en-US" sz="2400" dirty="0">
                <a:solidFill>
                  <a:srgbClr val="000000"/>
                </a:solidFill>
                <a:latin typeface="Times New Roman" panose="02020603050405020304" pitchFamily="18" charset="0"/>
              </a:rPr>
              <a:t>均为轴</a:t>
            </a:r>
            <a:r>
              <a:rPr lang="en-US" altLang="zh-CN" sz="2400" dirty="0">
                <a:solidFill>
                  <a:srgbClr val="000000"/>
                </a:solidFill>
                <a:latin typeface="Times New Roman" panose="02020603050405020304" pitchFamily="18" charset="0"/>
              </a:rPr>
              <a:t>Ⅱ</a:t>
            </a:r>
            <a:r>
              <a:rPr lang="zh-CN" altLang="en-US" sz="2400" dirty="0">
                <a:solidFill>
                  <a:srgbClr val="000000"/>
                </a:solidFill>
                <a:latin typeface="Times New Roman" panose="02020603050405020304" pitchFamily="18" charset="0"/>
              </a:rPr>
              <a:t>上的转矩，故</a:t>
            </a:r>
            <a:r>
              <a:rPr lang="en-US" altLang="zh-CN" sz="2400">
                <a:solidFill>
                  <a:srgbClr val="000000"/>
                </a:solidFill>
                <a:latin typeface="Times New Roman" panose="02020603050405020304" pitchFamily="18" charset="0"/>
              </a:rPr>
              <a:t>T</a:t>
            </a:r>
            <a:r>
              <a:rPr lang="en-US" altLang="zh-CN" sz="2400" baseline="-30000">
                <a:solidFill>
                  <a:srgbClr val="000000"/>
                </a:solidFill>
                <a:latin typeface="Times New Roman" panose="02020603050405020304" pitchFamily="18" charset="0"/>
              </a:rPr>
              <a:t>2</a:t>
            </a:r>
            <a:r>
              <a:rPr lang="en-US" altLang="zh-CN" sz="2400">
                <a:solidFill>
                  <a:srgbClr val="000000"/>
                </a:solidFill>
                <a:latin typeface="Times New Roman" panose="02020603050405020304" pitchFamily="18" charset="0"/>
              </a:rPr>
              <a:t> = T</a:t>
            </a:r>
            <a:r>
              <a:rPr lang="en-US" altLang="zh-CN" sz="2400" baseline="-30000">
                <a:solidFill>
                  <a:srgbClr val="000000"/>
                </a:solidFill>
                <a:latin typeface="Times New Roman" panose="02020603050405020304" pitchFamily="18" charset="0"/>
              </a:rPr>
              <a:t>1</a:t>
            </a:r>
            <a:r>
              <a:rPr lang="en-US" altLang="zh-CN" sz="2400" dirty="0">
                <a:solidFill>
                  <a:srgbClr val="000000"/>
                </a:solidFill>
                <a:latin typeface="Times New Roman" panose="02020603050405020304" pitchFamily="18" charset="0"/>
              </a:rPr>
              <a:t>' </a:t>
            </a:r>
            <a:r>
              <a:rPr lang="zh-CN" altLang="en-US" sz="2400" dirty="0">
                <a:solidFill>
                  <a:srgbClr val="000000"/>
                </a:solidFill>
                <a:latin typeface="Times New Roman" panose="02020603050405020304" pitchFamily="18" charset="0"/>
              </a:rPr>
              <a:t>，则：</a:t>
            </a:r>
            <a:endParaRPr lang="zh-CN" altLang="en-US" sz="2400" dirty="0">
              <a:solidFill>
                <a:srgbClr val="000000"/>
              </a:solidFill>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r>
              <a:rPr lang="zh-CN" altLang="en-US" sz="2400" dirty="0">
                <a:latin typeface="Times New Roman" panose="02020603050405020304" pitchFamily="18" charset="0"/>
              </a:rPr>
              <a:t>由此可得：</a:t>
            </a:r>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ndParaRPr>
          </a:p>
          <a:p>
            <a:pPr algn="just"/>
            <a:r>
              <a:rPr lang="zh-CN" altLang="en-US" sz="2400" dirty="0">
                <a:latin typeface="Times New Roman" panose="02020603050405020304" pitchFamily="18" charset="0"/>
              </a:rPr>
              <a:t>所以</a:t>
            </a:r>
            <a:r>
              <a:rPr lang="zh-CN" altLang="en-US" sz="2400" dirty="0">
                <a:solidFill>
                  <a:srgbClr val="000000"/>
                </a:solidFill>
                <a:latin typeface="Times New Roman" panose="02020603050405020304" pitchFamily="18" charset="0"/>
              </a:rPr>
              <a:t>第二对齿轮的螺旋角</a:t>
            </a:r>
            <a:endParaRPr lang="zh-CN" altLang="en-US" sz="2400" dirty="0">
              <a:solidFill>
                <a:srgbClr val="000000"/>
              </a:solidFill>
              <a:latin typeface="Times New Roman" panose="02020603050405020304" pitchFamily="18" charset="0"/>
            </a:endParaRPr>
          </a:p>
          <a:p>
            <a:pPr algn="just"/>
            <a:r>
              <a:rPr lang="zh-CN" altLang="en-US" sz="2400" i="1">
                <a:solidFill>
                  <a:srgbClr val="000000"/>
                </a:solidFill>
                <a:latin typeface="Times New Roman" panose="02020603050405020304" pitchFamily="18" charset="0"/>
              </a:rPr>
              <a:t>                </a:t>
            </a:r>
            <a:r>
              <a:rPr lang="en-US" altLang="zh-CN" sz="2400" i="1">
                <a:solidFill>
                  <a:srgbClr val="000000"/>
                </a:solidFill>
                <a:latin typeface="Times New Roman" panose="02020603050405020304" pitchFamily="18" charset="0"/>
              </a:rPr>
              <a:t>β</a:t>
            </a:r>
            <a:r>
              <a:rPr lang="en-US" altLang="zh-CN" sz="2400" baseline="-30000">
                <a:solidFill>
                  <a:srgbClr val="000000"/>
                </a:solidFill>
                <a:latin typeface="Times New Roman" panose="02020603050405020304" pitchFamily="18" charset="0"/>
              </a:rPr>
              <a:t>2</a:t>
            </a:r>
            <a:r>
              <a:rPr lang="zh-CN" altLang="en-US" sz="2400" dirty="0">
                <a:solidFill>
                  <a:srgbClr val="000000"/>
                </a:solidFill>
                <a:latin typeface="Times New Roman" panose="02020603050405020304" pitchFamily="18" charset="0"/>
              </a:rPr>
              <a:t>＝ </a:t>
            </a:r>
            <a:r>
              <a:rPr lang="en-US" altLang="zh-CN" sz="2400">
                <a:solidFill>
                  <a:srgbClr val="000000"/>
                </a:solidFill>
                <a:latin typeface="Times New Roman" panose="02020603050405020304" pitchFamily="18" charset="0"/>
              </a:rPr>
              <a:t>10</a:t>
            </a:r>
            <a:r>
              <a:rPr lang="en-US" altLang="zh-CN" sz="2400" baseline="30000">
                <a:solidFill>
                  <a:srgbClr val="000000"/>
                </a:solidFill>
                <a:latin typeface="Times New Roman" panose="02020603050405020304" pitchFamily="18" charset="0"/>
              </a:rPr>
              <a:t> o</a:t>
            </a:r>
            <a:r>
              <a:rPr lang="en-US" altLang="zh-CN" sz="2400">
                <a:solidFill>
                  <a:srgbClr val="000000"/>
                </a:solidFill>
                <a:latin typeface="Times New Roman" panose="02020603050405020304" pitchFamily="18" charset="0"/>
              </a:rPr>
              <a:t>30'17''</a:t>
            </a:r>
            <a:endParaRPr lang="en-US" altLang="zh-CN" sz="2400">
              <a:solidFill>
                <a:srgbClr val="000000"/>
              </a:solidFill>
              <a:latin typeface="Times New Roman" panose="02020603050405020304" pitchFamily="18" charset="0"/>
            </a:endParaRPr>
          </a:p>
        </p:txBody>
      </p:sp>
      <p:sp>
        <p:nvSpPr>
          <p:cNvPr id="555016" name="矩形 555015"/>
          <p:cNvSpPr/>
          <p:nvPr/>
        </p:nvSpPr>
        <p:spPr>
          <a:xfrm>
            <a:off x="0" y="3314700"/>
            <a:ext cx="9144000" cy="0"/>
          </a:xfrm>
          <a:prstGeom prst="rect">
            <a:avLst/>
          </a:prstGeom>
          <a:noFill/>
          <a:ln w="9525">
            <a:noFill/>
          </a:ln>
        </p:spPr>
        <p:txBody>
          <a:bodyPr/>
          <a:p>
            <a:endParaRPr lang="zh-CN" altLang="en-US"/>
          </a:p>
        </p:txBody>
      </p:sp>
      <p:graphicFrame>
        <p:nvGraphicFramePr>
          <p:cNvPr id="555017" name="对象 555016"/>
          <p:cNvGraphicFramePr/>
          <p:nvPr/>
        </p:nvGraphicFramePr>
        <p:xfrm>
          <a:off x="1739900" y="4090988"/>
          <a:ext cx="2447925" cy="995362"/>
        </p:xfrm>
        <a:graphic>
          <a:graphicData uri="http://schemas.openxmlformats.org/presentationml/2006/ole">
            <mc:AlternateContent xmlns:mc="http://schemas.openxmlformats.org/markup-compatibility/2006">
              <mc:Choice xmlns:v="urn:schemas-microsoft-com:vml" Requires="v">
                <p:oleObj spid="_x0000_s3152" name="" r:id="rId3" imgW="1155700" imgH="469900" progId="Equation.3">
                  <p:embed/>
                </p:oleObj>
              </mc:Choice>
              <mc:Fallback>
                <p:oleObj name="" r:id="rId3" imgW="1155700" imgH="469900" progId="Equation.3">
                  <p:embed/>
                  <p:pic>
                    <p:nvPicPr>
                      <p:cNvPr id="0" name="图片 3151"/>
                      <p:cNvPicPr/>
                      <p:nvPr/>
                    </p:nvPicPr>
                    <p:blipFill>
                      <a:blip r:embed="rId4"/>
                      <a:stretch>
                        <a:fillRect/>
                      </a:stretch>
                    </p:blipFill>
                    <p:spPr>
                      <a:xfrm>
                        <a:off x="1739900" y="4090988"/>
                        <a:ext cx="2447925" cy="995362"/>
                      </a:xfrm>
                      <a:prstGeom prst="rect">
                        <a:avLst/>
                      </a:prstGeom>
                      <a:noFill/>
                      <a:ln w="38100">
                        <a:noFill/>
                        <a:miter/>
                      </a:ln>
                    </p:spPr>
                  </p:pic>
                </p:oleObj>
              </mc:Fallback>
            </mc:AlternateContent>
          </a:graphicData>
        </a:graphic>
      </p:graphicFrame>
      <p:grpSp>
        <p:nvGrpSpPr>
          <p:cNvPr id="555018" name="组合 555017"/>
          <p:cNvGrpSpPr/>
          <p:nvPr/>
        </p:nvGrpSpPr>
        <p:grpSpPr>
          <a:xfrm>
            <a:off x="4791075" y="4581525"/>
            <a:ext cx="4337050" cy="2309813"/>
            <a:chOff x="3018" y="2886"/>
            <a:chExt cx="2732" cy="1455"/>
          </a:xfrm>
        </p:grpSpPr>
        <p:grpSp>
          <p:nvGrpSpPr>
            <p:cNvPr id="555019" name="组合 555018"/>
            <p:cNvGrpSpPr/>
            <p:nvPr/>
          </p:nvGrpSpPr>
          <p:grpSpPr>
            <a:xfrm>
              <a:off x="3018" y="2886"/>
              <a:ext cx="2732" cy="1455"/>
              <a:chOff x="3018" y="2886"/>
              <a:chExt cx="2732" cy="1455"/>
            </a:xfrm>
          </p:grpSpPr>
          <p:pic>
            <p:nvPicPr>
              <p:cNvPr id="555020" name="图片 555019"/>
              <p:cNvPicPr>
                <a:picLocks noChangeAspect="1"/>
              </p:cNvPicPr>
              <p:nvPr/>
            </p:nvPicPr>
            <p:blipFill>
              <a:blip r:embed="rId5"/>
              <a:stretch>
                <a:fillRect/>
              </a:stretch>
            </p:blipFill>
            <p:spPr>
              <a:xfrm>
                <a:off x="3018" y="2886"/>
                <a:ext cx="2732" cy="1434"/>
              </a:xfrm>
              <a:prstGeom prst="rect">
                <a:avLst/>
              </a:prstGeom>
              <a:noFill/>
              <a:ln w="9525">
                <a:noFill/>
              </a:ln>
            </p:spPr>
          </p:pic>
          <p:sp>
            <p:nvSpPr>
              <p:cNvPr id="555021" name="文本框 555020"/>
              <p:cNvSpPr txBox="1"/>
              <p:nvPr/>
            </p:nvSpPr>
            <p:spPr>
              <a:xfrm>
                <a:off x="3061" y="4110"/>
                <a:ext cx="726" cy="231"/>
              </a:xfrm>
              <a:prstGeom prst="rect">
                <a:avLst/>
              </a:prstGeom>
              <a:noFill/>
              <a:ln w="9525">
                <a:noFill/>
              </a:ln>
            </p:spPr>
            <p:txBody>
              <a:bodyPr>
                <a:spAutoFit/>
              </a:bodyPr>
              <a:p>
                <a:pPr algn="l" eaLnBrk="0" hangingPunct="0">
                  <a:spcBef>
                    <a:spcPct val="50000"/>
                  </a:spcBef>
                </a:pPr>
                <a:r>
                  <a:rPr lang="zh-CN" altLang="en-US" dirty="0">
                    <a:solidFill>
                      <a:srgbClr val="800080"/>
                    </a:solidFill>
                    <a:latin typeface="Times New Roman" panose="02020603050405020304" pitchFamily="18" charset="0"/>
                  </a:rPr>
                  <a:t>图</a:t>
                </a:r>
                <a:r>
                  <a:rPr lang="en-US" altLang="zh-CN" dirty="0">
                    <a:solidFill>
                      <a:srgbClr val="800080"/>
                    </a:solidFill>
                    <a:latin typeface="Times New Roman" panose="02020603050405020304" pitchFamily="18" charset="0"/>
                  </a:rPr>
                  <a:t>9</a:t>
                </a:r>
                <a:r>
                  <a:rPr lang="zh-CN" altLang="en-US" dirty="0">
                    <a:solidFill>
                      <a:srgbClr val="800080"/>
                    </a:solidFill>
                    <a:latin typeface="Times New Roman" panose="02020603050405020304" pitchFamily="18" charset="0"/>
                  </a:rPr>
                  <a:t>－</a:t>
                </a:r>
                <a:r>
                  <a:rPr lang="en-US" altLang="zh-CN">
                    <a:solidFill>
                      <a:srgbClr val="800080"/>
                    </a:solidFill>
                    <a:latin typeface="Times New Roman" panose="02020603050405020304" pitchFamily="18" charset="0"/>
                  </a:rPr>
                  <a:t>32</a:t>
                </a:r>
                <a:endParaRPr lang="en-US" altLang="zh-CN">
                  <a:solidFill>
                    <a:srgbClr val="800080"/>
                  </a:solidFill>
                  <a:latin typeface="Times New Roman" panose="02020603050405020304" pitchFamily="18" charset="0"/>
                </a:endParaRPr>
              </a:p>
            </p:txBody>
          </p:sp>
        </p:grpSp>
        <p:sp>
          <p:nvSpPr>
            <p:cNvPr id="555022" name="直接连接符 555021"/>
            <p:cNvSpPr/>
            <p:nvPr/>
          </p:nvSpPr>
          <p:spPr>
            <a:xfrm>
              <a:off x="4059" y="3385"/>
              <a:ext cx="147" cy="236"/>
            </a:xfrm>
            <a:prstGeom prst="line">
              <a:avLst/>
            </a:prstGeom>
            <a:ln w="28575" cap="flat" cmpd="sng">
              <a:solidFill>
                <a:srgbClr val="FF0066"/>
              </a:solidFill>
              <a:prstDash val="solid"/>
              <a:headEnd type="none" w="med" len="med"/>
              <a:tailEnd type="none" w="med" len="med"/>
            </a:ln>
          </p:spPr>
        </p:sp>
        <p:sp>
          <p:nvSpPr>
            <p:cNvPr id="555023" name="直接连接符 555022"/>
            <p:cNvSpPr/>
            <p:nvPr/>
          </p:nvSpPr>
          <p:spPr>
            <a:xfrm>
              <a:off x="4095" y="3392"/>
              <a:ext cx="147" cy="236"/>
            </a:xfrm>
            <a:prstGeom prst="line">
              <a:avLst/>
            </a:prstGeom>
            <a:ln w="28575" cap="flat" cmpd="sng">
              <a:solidFill>
                <a:srgbClr val="FF0066"/>
              </a:solidFill>
              <a:prstDash val="solid"/>
              <a:headEnd type="none" w="med" len="med"/>
              <a:tailEnd type="none" w="med" len="med"/>
            </a:ln>
          </p:spPr>
        </p:sp>
        <p:sp>
          <p:nvSpPr>
            <p:cNvPr id="555024" name="直接连接符 555023"/>
            <p:cNvSpPr/>
            <p:nvPr/>
          </p:nvSpPr>
          <p:spPr>
            <a:xfrm>
              <a:off x="4140" y="3400"/>
              <a:ext cx="147" cy="236"/>
            </a:xfrm>
            <a:prstGeom prst="line">
              <a:avLst/>
            </a:prstGeom>
            <a:ln w="28575" cap="flat" cmpd="sng">
              <a:solidFill>
                <a:srgbClr val="FF0066"/>
              </a:solidFill>
              <a:prstDash val="solid"/>
              <a:headEnd type="none" w="med" len="med"/>
              <a:tailEnd type="none" w="med" len="med"/>
            </a:ln>
          </p:spPr>
        </p:sp>
        <p:sp>
          <p:nvSpPr>
            <p:cNvPr id="555025" name="直接连接符 555024"/>
            <p:cNvSpPr/>
            <p:nvPr/>
          </p:nvSpPr>
          <p:spPr>
            <a:xfrm flipH="1">
              <a:off x="3767" y="3411"/>
              <a:ext cx="146" cy="210"/>
            </a:xfrm>
            <a:prstGeom prst="line">
              <a:avLst/>
            </a:prstGeom>
            <a:ln w="28575" cap="flat" cmpd="sng">
              <a:solidFill>
                <a:srgbClr val="FF0066"/>
              </a:solidFill>
              <a:prstDash val="solid"/>
              <a:headEnd type="none" w="med" len="med"/>
              <a:tailEnd type="none" w="med" len="med"/>
            </a:ln>
          </p:spPr>
        </p:sp>
        <p:sp>
          <p:nvSpPr>
            <p:cNvPr id="555026" name="直接连接符 555025"/>
            <p:cNvSpPr/>
            <p:nvPr/>
          </p:nvSpPr>
          <p:spPr>
            <a:xfrm flipH="1">
              <a:off x="3693" y="3409"/>
              <a:ext cx="146" cy="210"/>
            </a:xfrm>
            <a:prstGeom prst="line">
              <a:avLst/>
            </a:prstGeom>
            <a:ln w="28575" cap="flat" cmpd="sng">
              <a:solidFill>
                <a:srgbClr val="FF0066"/>
              </a:solidFill>
              <a:prstDash val="solid"/>
              <a:headEnd type="none" w="med" len="med"/>
              <a:tailEnd type="none" w="med" len="med"/>
            </a:ln>
          </p:spPr>
        </p:sp>
        <p:sp>
          <p:nvSpPr>
            <p:cNvPr id="555027" name="直接连接符 555026"/>
            <p:cNvSpPr/>
            <p:nvPr/>
          </p:nvSpPr>
          <p:spPr>
            <a:xfrm flipH="1">
              <a:off x="3732" y="3405"/>
              <a:ext cx="146" cy="210"/>
            </a:xfrm>
            <a:prstGeom prst="line">
              <a:avLst/>
            </a:prstGeom>
            <a:ln w="28575" cap="flat" cmpd="sng">
              <a:solidFill>
                <a:srgbClr val="FF0066"/>
              </a:solidFill>
              <a:prstDash val="solid"/>
              <a:headEnd type="none" w="med" len="med"/>
              <a:tailEnd type="none" w="med" len="med"/>
            </a:ln>
          </p:spPr>
        </p:sp>
        <p:sp>
          <p:nvSpPr>
            <p:cNvPr id="555028" name="直接连接符 555027"/>
            <p:cNvSpPr/>
            <p:nvPr/>
          </p:nvSpPr>
          <p:spPr>
            <a:xfrm flipV="1">
              <a:off x="4370" y="3054"/>
              <a:ext cx="0" cy="284"/>
            </a:xfrm>
            <a:prstGeom prst="line">
              <a:avLst/>
            </a:prstGeom>
            <a:ln w="28575" cap="flat" cmpd="sng">
              <a:solidFill>
                <a:srgbClr val="0066FF"/>
              </a:solidFill>
              <a:prstDash val="solid"/>
              <a:headEnd type="none" w="med" len="med"/>
              <a:tailEnd type="triangle" w="med" len="med"/>
            </a:ln>
          </p:spPr>
        </p:sp>
        <p:sp>
          <p:nvSpPr>
            <p:cNvPr id="555029" name="直接连接符 555028"/>
            <p:cNvSpPr/>
            <p:nvPr/>
          </p:nvSpPr>
          <p:spPr>
            <a:xfrm>
              <a:off x="4377" y="4065"/>
              <a:ext cx="2" cy="232"/>
            </a:xfrm>
            <a:prstGeom prst="line">
              <a:avLst/>
            </a:prstGeom>
            <a:ln w="28575" cap="flat" cmpd="sng">
              <a:solidFill>
                <a:srgbClr val="0066FF"/>
              </a:solidFill>
              <a:prstDash val="solid"/>
              <a:headEnd type="none" w="med" len="med"/>
              <a:tailEnd type="triangle" w="med" len="med"/>
            </a:ln>
          </p:spPr>
        </p:sp>
        <p:sp>
          <p:nvSpPr>
            <p:cNvPr id="555030" name="直接连接符 555029"/>
            <p:cNvSpPr/>
            <p:nvPr/>
          </p:nvSpPr>
          <p:spPr>
            <a:xfrm flipV="1">
              <a:off x="5009" y="3492"/>
              <a:ext cx="0" cy="284"/>
            </a:xfrm>
            <a:prstGeom prst="line">
              <a:avLst/>
            </a:prstGeom>
            <a:ln w="28575" cap="flat" cmpd="sng">
              <a:solidFill>
                <a:srgbClr val="0066FF"/>
              </a:solidFill>
              <a:prstDash val="solid"/>
              <a:headEnd type="none" w="med" len="med"/>
              <a:tailEnd type="triangle" w="med" len="med"/>
            </a:ln>
          </p:spPr>
        </p:sp>
        <p:sp>
          <p:nvSpPr>
            <p:cNvPr id="555031" name="直接连接符 555030"/>
            <p:cNvSpPr/>
            <p:nvPr/>
          </p:nvSpPr>
          <p:spPr>
            <a:xfrm>
              <a:off x="3717" y="3095"/>
              <a:ext cx="2" cy="232"/>
            </a:xfrm>
            <a:prstGeom prst="line">
              <a:avLst/>
            </a:prstGeom>
            <a:ln w="28575" cap="flat" cmpd="sng">
              <a:solidFill>
                <a:srgbClr val="0066FF"/>
              </a:solidFill>
              <a:prstDash val="solid"/>
              <a:headEnd type="none" w="med" len="med"/>
              <a:tailEnd type="triangle" w="med" len="med"/>
            </a:ln>
          </p:spPr>
        </p:sp>
        <p:sp>
          <p:nvSpPr>
            <p:cNvPr id="555032" name="下弧形箭头 555031"/>
            <p:cNvSpPr/>
            <p:nvPr/>
          </p:nvSpPr>
          <p:spPr>
            <a:xfrm>
              <a:off x="4785" y="4110"/>
              <a:ext cx="227" cy="91"/>
            </a:xfrm>
            <a:prstGeom prst="curvedUpArrow">
              <a:avLst>
                <a:gd name="adj1" fmla="val 49890"/>
                <a:gd name="adj2" fmla="val 99780"/>
                <a:gd name="adj3" fmla="val 33333"/>
              </a:avLst>
            </a:prstGeom>
            <a:solidFill>
              <a:srgbClr val="FFCC00"/>
            </a:solidFill>
            <a:ln w="9525" cap="flat" cmpd="sng">
              <a:solidFill>
                <a:schemeClr val="tx1"/>
              </a:solidFill>
              <a:prstDash val="solid"/>
              <a:miter/>
              <a:headEnd type="none" w="med" len="med"/>
              <a:tailEnd type="none" w="med" len="med"/>
            </a:ln>
          </p:spPr>
          <p:txBody>
            <a:bodyPr/>
            <a:p>
              <a:endParaRPr lang="zh-CN" altLang="en-US"/>
            </a:p>
          </p:txBody>
        </p:sp>
        <p:sp>
          <p:nvSpPr>
            <p:cNvPr id="555033" name="上弧形箭头 555032"/>
            <p:cNvSpPr/>
            <p:nvPr/>
          </p:nvSpPr>
          <p:spPr>
            <a:xfrm rot="10800000">
              <a:off x="4150" y="3203"/>
              <a:ext cx="272" cy="91"/>
            </a:xfrm>
            <a:prstGeom prst="curvedDownArrow">
              <a:avLst>
                <a:gd name="adj1" fmla="val 59780"/>
                <a:gd name="adj2" fmla="val 119560"/>
                <a:gd name="adj3" fmla="val 33333"/>
              </a:avLst>
            </a:prstGeom>
            <a:solidFill>
              <a:srgbClr val="FFCC00"/>
            </a:solidFill>
            <a:ln w="9525" cap="flat" cmpd="sng">
              <a:solidFill>
                <a:schemeClr val="tx1"/>
              </a:solidFill>
              <a:prstDash val="solid"/>
              <a:miter/>
              <a:headEnd type="none" w="med" len="med"/>
              <a:tailEnd type="none" w="med" len="med"/>
            </a:ln>
          </p:spPr>
          <p:txBody>
            <a:bodyPr/>
            <a:p>
              <a:endParaRPr lang="zh-CN" altLang="en-US"/>
            </a:p>
          </p:txBody>
        </p:sp>
        <p:sp>
          <p:nvSpPr>
            <p:cNvPr id="555034" name="下弧形箭头 555033"/>
            <p:cNvSpPr/>
            <p:nvPr/>
          </p:nvSpPr>
          <p:spPr>
            <a:xfrm>
              <a:off x="3531" y="3130"/>
              <a:ext cx="227" cy="91"/>
            </a:xfrm>
            <a:prstGeom prst="curvedUpArrow">
              <a:avLst>
                <a:gd name="adj1" fmla="val 49890"/>
                <a:gd name="adj2" fmla="val 99780"/>
                <a:gd name="adj3" fmla="val 33333"/>
              </a:avLst>
            </a:prstGeom>
            <a:solidFill>
              <a:srgbClr val="FFCC00"/>
            </a:solidFill>
            <a:ln w="9525" cap="flat" cmpd="sng">
              <a:solidFill>
                <a:schemeClr val="tx1"/>
              </a:solidFill>
              <a:prstDash val="solid"/>
              <a:miter/>
              <a:headEnd type="none" w="med" len="med"/>
              <a:tailEnd type="none" w="med" len="med"/>
            </a:ln>
          </p:spPr>
          <p:txBody>
            <a:bodyPr/>
            <a:p>
              <a:endParaRPr lang="zh-CN" altLang="en-US"/>
            </a:p>
          </p:txBody>
        </p:sp>
      </p:grpSp>
      <p:graphicFrame>
        <p:nvGraphicFramePr>
          <p:cNvPr id="555036" name="对象 555035"/>
          <p:cNvGraphicFramePr/>
          <p:nvPr/>
        </p:nvGraphicFramePr>
        <p:xfrm>
          <a:off x="833438" y="1133475"/>
          <a:ext cx="5670550" cy="2878138"/>
        </p:xfrm>
        <a:graphic>
          <a:graphicData uri="http://schemas.openxmlformats.org/presentationml/2006/ole">
            <mc:AlternateContent xmlns:mc="http://schemas.openxmlformats.org/markup-compatibility/2006">
              <mc:Choice xmlns:v="urn:schemas-microsoft-com:vml" Requires="v">
                <p:oleObj spid="_x0000_s3154" name="" r:id="rId6" imgW="3302000" imgH="1676400" progId="Equation.3">
                  <p:embed/>
                </p:oleObj>
              </mc:Choice>
              <mc:Fallback>
                <p:oleObj name="" r:id="rId6" imgW="3302000" imgH="1676400" progId="Equation.3">
                  <p:embed/>
                  <p:pic>
                    <p:nvPicPr>
                      <p:cNvPr id="0" name="图片 3153"/>
                      <p:cNvPicPr/>
                      <p:nvPr/>
                    </p:nvPicPr>
                    <p:blipFill>
                      <a:blip r:embed="rId7"/>
                      <a:stretch>
                        <a:fillRect/>
                      </a:stretch>
                    </p:blipFill>
                    <p:spPr>
                      <a:xfrm>
                        <a:off x="833438" y="1133475"/>
                        <a:ext cx="5670550" cy="28781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55015">
                                            <p:txEl>
                                              <p:charRg st="0" end="34"/>
                                            </p:txEl>
                                          </p:spTgt>
                                        </p:tgtEl>
                                        <p:attrNameLst>
                                          <p:attrName>style.visibility</p:attrName>
                                        </p:attrNameLst>
                                      </p:cBhvr>
                                      <p:to>
                                        <p:strVal val="visible"/>
                                      </p:to>
                                    </p:set>
                                    <p:animEffect transition="in" filter="strips(downRight)">
                                      <p:cBhvr>
                                        <p:cTn id="7" dur="500"/>
                                        <p:tgtEl>
                                          <p:spTgt spid="555015">
                                            <p:txEl>
                                              <p:char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5503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555015">
                                            <p:txEl>
                                              <p:charRg st="42" end="48"/>
                                            </p:txEl>
                                          </p:spTgt>
                                        </p:tgtEl>
                                        <p:attrNameLst>
                                          <p:attrName>style.visibility</p:attrName>
                                        </p:attrNameLst>
                                      </p:cBhvr>
                                      <p:to>
                                        <p:strVal val="visible"/>
                                      </p:to>
                                    </p:set>
                                    <p:animEffect transition="in" filter="strips(downRight)">
                                      <p:cBhvr>
                                        <p:cTn id="16" dur="500"/>
                                        <p:tgtEl>
                                          <p:spTgt spid="555015">
                                            <p:txEl>
                                              <p:charRg st="42" end="4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550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555015">
                                            <p:txEl>
                                              <p:charRg st="51" end="63"/>
                                            </p:txEl>
                                          </p:spTgt>
                                        </p:tgtEl>
                                        <p:attrNameLst>
                                          <p:attrName>style.visibility</p:attrName>
                                        </p:attrNameLst>
                                      </p:cBhvr>
                                      <p:to>
                                        <p:strVal val="visible"/>
                                      </p:to>
                                    </p:set>
                                    <p:animEffect transition="in" filter="strips(downRight)">
                                      <p:cBhvr>
                                        <p:cTn id="25" dur="500"/>
                                        <p:tgtEl>
                                          <p:spTgt spid="555015">
                                            <p:txEl>
                                              <p:charRg st="51" end="6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555015">
                                            <p:txEl>
                                              <p:charRg st="63" end="95"/>
                                            </p:txEl>
                                          </p:spTgt>
                                        </p:tgtEl>
                                        <p:attrNameLst>
                                          <p:attrName>style.visibility</p:attrName>
                                        </p:attrNameLst>
                                      </p:cBhvr>
                                      <p:to>
                                        <p:strVal val="visible"/>
                                      </p:to>
                                    </p:set>
                                    <p:animEffect transition="in" filter="strips(downRight)">
                                      <p:cBhvr>
                                        <p:cTn id="30" dur="500"/>
                                        <p:tgtEl>
                                          <p:spTgt spid="555015">
                                            <p:txEl>
                                              <p:charRg st="63"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rcRect l="3400" r="5769" b="2939"/>
          <a:stretch>
            <a:fillRect/>
          </a:stretch>
        </p:blipFill>
        <p:spPr>
          <a:xfrm>
            <a:off x="4831080" y="532765"/>
            <a:ext cx="3749040" cy="5327015"/>
          </a:xfrm>
          <a:prstGeom prst="rect">
            <a:avLst/>
          </a:prstGeom>
        </p:spPr>
      </p:pic>
      <p:sp>
        <p:nvSpPr>
          <p:cNvPr id="4" name="文本框 3"/>
          <p:cNvSpPr txBox="1"/>
          <p:nvPr/>
        </p:nvSpPr>
        <p:spPr>
          <a:xfrm>
            <a:off x="381000" y="480060"/>
            <a:ext cx="4137660" cy="706755"/>
          </a:xfrm>
          <a:prstGeom prst="rect">
            <a:avLst/>
          </a:prstGeom>
          <a:noFill/>
        </p:spPr>
        <p:txBody>
          <a:bodyPr wrap="square" rtlCol="0">
            <a:spAutoFit/>
          </a:bodyPr>
          <a:p>
            <a:r>
              <a:rPr lang="zh-CN" altLang="en-US">
                <a:solidFill>
                  <a:schemeClr val="accent4">
                    <a:lumMod val="75000"/>
                  </a:schemeClr>
                </a:solidFill>
                <a:latin typeface="黑体" panose="02010609060101010101" pitchFamily="49" charset="-122"/>
                <a:ea typeface="黑体" panose="02010609060101010101" pitchFamily="49" charset="-122"/>
                <a:cs typeface="黑体" panose="02010609060101010101" pitchFamily="49" charset="-122"/>
              </a:rPr>
              <a:t>二级平行轴斜齿轮传动，主动轮</a:t>
            </a:r>
            <a:r>
              <a:rPr lang="en-US" altLang="zh-CN">
                <a:solidFill>
                  <a:schemeClr val="accent4">
                    <a:lumMod val="75000"/>
                  </a:schemeClr>
                </a:solidFill>
                <a:latin typeface="黑体" panose="02010609060101010101" pitchFamily="49" charset="-122"/>
                <a:ea typeface="黑体" panose="02010609060101010101" pitchFamily="49" charset="-122"/>
                <a:cs typeface="黑体" panose="02010609060101010101" pitchFamily="49" charset="-122"/>
              </a:rPr>
              <a:t>1</a:t>
            </a:r>
            <a:r>
              <a:rPr lang="zh-CN" altLang="en-US">
                <a:solidFill>
                  <a:schemeClr val="accent4">
                    <a:lumMod val="75000"/>
                  </a:schemeClr>
                </a:solidFill>
                <a:latin typeface="黑体" panose="02010609060101010101" pitchFamily="49" charset="-122"/>
                <a:ea typeface="黑体" panose="02010609060101010101" pitchFamily="49" charset="-122"/>
                <a:cs typeface="黑体" panose="02010609060101010101" pitchFamily="49" charset="-122"/>
              </a:rPr>
              <a:t>的转向及螺旋方向如图</a:t>
            </a:r>
            <a:r>
              <a:rPr lang="en-US" altLang="zh-CN">
                <a:solidFill>
                  <a:schemeClr val="accent4">
                    <a:lumMod val="75000"/>
                  </a:schemeClr>
                </a:solidFill>
                <a:latin typeface="黑体" panose="02010609060101010101" pitchFamily="49" charset="-122"/>
                <a:ea typeface="黑体" panose="02010609060101010101" pitchFamily="49" charset="-122"/>
                <a:cs typeface="黑体" panose="02010609060101010101" pitchFamily="49" charset="-122"/>
              </a:rPr>
              <a:t>3.4-7</a:t>
            </a:r>
            <a:r>
              <a:rPr lang="zh-CN" altLang="en-US">
                <a:solidFill>
                  <a:schemeClr val="accent4">
                    <a:lumMod val="75000"/>
                  </a:schemeClr>
                </a:solidFill>
                <a:latin typeface="黑体" panose="02010609060101010101" pitchFamily="49" charset="-122"/>
                <a:ea typeface="黑体" panose="02010609060101010101" pitchFamily="49" charset="-122"/>
                <a:cs typeface="黑体" panose="02010609060101010101" pitchFamily="49" charset="-122"/>
              </a:rPr>
              <a:t>所示。</a:t>
            </a:r>
            <a:endParaRPr lang="zh-CN" altLang="en-US">
              <a:solidFill>
                <a:schemeClr val="accent4">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304800" y="1222375"/>
            <a:ext cx="4572000" cy="3784600"/>
          </a:xfrm>
          <a:prstGeom prst="rect">
            <a:avLst/>
          </a:prstGeom>
          <a:noFill/>
        </p:spPr>
        <p:txBody>
          <a:bodyPr wrap="square" rtlCol="0" anchor="t">
            <a:spAutoFit/>
          </a:bodyPr>
          <a:p>
            <a:pPr eaLnBrk="1" hangingPunct="1">
              <a:lnSpc>
                <a:spcPct val="150000"/>
              </a:lnSpc>
              <a:spcBef>
                <a:spcPct val="0"/>
              </a:spcBef>
              <a:buFontTx/>
              <a:buNone/>
            </a:pP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Wingdings" panose="05000000000000000000" pitchFamily="2" charset="2"/>
              </a:rPr>
              <a:t>1</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Wingdings" panose="05000000000000000000" pitchFamily="2" charset="2"/>
              </a:rPr>
              <a:t>）低速级的齿轮</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Wingdings" panose="05000000000000000000" pitchFamily="2" charset="2"/>
              </a:rPr>
              <a:t>3</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Wingdings" panose="05000000000000000000" pitchFamily="2" charset="2"/>
              </a:rPr>
              <a:t>、</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Wingdings" panose="05000000000000000000" pitchFamily="2" charset="2"/>
              </a:rPr>
              <a:t>4</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Wingdings" panose="05000000000000000000" pitchFamily="2" charset="2"/>
              </a:rPr>
              <a:t>的螺旋方向应如何选择才能使中间轴</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Ⅱ</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上两个齿轮的轴向力方向相反？</a:t>
            </a:r>
            <a:endParaRPr lang="zh-CN" altLang="en-US" b="1" dirty="0">
              <a:latin typeface="华文仿宋" panose="02010600040101010101" charset="-122"/>
              <a:ea typeface="华文仿宋" panose="02010600040101010101" charset="-122"/>
              <a:cs typeface="华文仿宋" panose="02010600040101010101" charset="-122"/>
            </a:endParaRPr>
          </a:p>
          <a:p>
            <a:pPr algn="l" eaLnBrk="1" hangingPunct="1">
              <a:lnSpc>
                <a:spcPct val="150000"/>
              </a:lnSpc>
            </a:pPr>
            <a:r>
              <a:rPr lang="zh-CN" altLang="en-US" b="1" dirty="0" smtClean="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2</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）若轮</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1</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的螺旋角</a:t>
            </a:r>
            <a:r>
              <a:rPr lang="en-US" altLang="zh-CN" b="1" i="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β</a:t>
            </a:r>
            <a:r>
              <a:rPr lang="en-US" altLang="zh-CN" b="1" i="1" baseline="-25000"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1</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=18º</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a:t>
            </a:r>
            <a:r>
              <a:rPr lang="en-US" altLang="zh-CN" b="1" i="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d</a:t>
            </a:r>
            <a:r>
              <a:rPr lang="en-US" altLang="zh-CN" b="1" i="1" baseline="-25000"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2</a:t>
            </a:r>
            <a:r>
              <a:rPr lang="en-US" altLang="zh-CN" b="1" i="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/d</a:t>
            </a:r>
            <a:r>
              <a:rPr lang="en-US" altLang="zh-CN" b="1" i="1" baseline="-25000"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1</a:t>
            </a:r>
            <a:r>
              <a:rPr lang="en-US" altLang="zh-CN" b="1" i="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=5/3,</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欲使中间轴</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Ⅱ</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轴上两个齿轮的轴向力完全抵消，齿轮</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3</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的螺旋角</a:t>
            </a:r>
            <a:r>
              <a:rPr lang="en-US" altLang="zh-CN" b="1" i="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β</a:t>
            </a:r>
            <a:r>
              <a:rPr lang="en-US" altLang="zh-CN" b="1" i="1" baseline="-25000"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2</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应为多大？</a:t>
            </a:r>
            <a:endPar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endParaRPr>
          </a:p>
          <a:p>
            <a:pPr eaLnBrk="1" hangingPunct="1">
              <a:lnSpc>
                <a:spcPct val="150000"/>
              </a:lnSpc>
              <a:spcBef>
                <a:spcPct val="0"/>
              </a:spcBef>
              <a:buFontTx/>
              <a:buNone/>
            </a:pP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rPr>
              <a:t>（</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rPr>
              <a:t>3</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rPr>
              <a:t>）画出中间轴</a:t>
            </a:r>
            <a:r>
              <a:rPr lang="en-US" altLang="zh-CN"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Ⅱ</a:t>
            </a:r>
            <a:r>
              <a:rPr lang="zh-CN" altLang="en-US" b="1" dirty="0">
                <a:solidFill>
                  <a:schemeClr val="accent4">
                    <a:lumMod val="75000"/>
                  </a:schemeClr>
                </a:solidFill>
                <a:latin typeface="华文仿宋" panose="02010600040101010101" charset="-122"/>
                <a:ea typeface="华文仿宋" panose="02010600040101010101" charset="-122"/>
                <a:cs typeface="华文仿宋" panose="02010600040101010101" charset="-122"/>
                <a:sym typeface="+mn-ea"/>
              </a:rPr>
              <a:t>上齿轮的空间受力简图。</a:t>
            </a:r>
            <a:endParaRPr lang="zh-CN" altLang="en-US" dirty="0">
              <a:latin typeface="华文仿宋" panose="02010600040101010101" charset="-122"/>
              <a:ea typeface="华文仿宋" panose="02010600040101010101" charset="-122"/>
              <a:cs typeface="华文仿宋" panose="02010600040101010101" charset="-122"/>
              <a:sym typeface="+mn-ea"/>
            </a:endParaRPr>
          </a:p>
        </p:txBody>
      </p:sp>
      <p:sp>
        <p:nvSpPr>
          <p:cNvPr id="6" name="文本框 5"/>
          <p:cNvSpPr txBox="1"/>
          <p:nvPr/>
        </p:nvSpPr>
        <p:spPr>
          <a:xfrm>
            <a:off x="5128260" y="146050"/>
            <a:ext cx="2338705" cy="398780"/>
          </a:xfrm>
          <a:prstGeom prst="rect">
            <a:avLst/>
          </a:prstGeom>
          <a:noFill/>
        </p:spPr>
        <p:txBody>
          <a:bodyPr wrap="square" rtlCol="0">
            <a:spAutoFit/>
          </a:bodyPr>
          <a:p>
            <a:r>
              <a:rPr lang="zh-CN" altLang="en-US">
                <a:solidFill>
                  <a:srgbClr val="FF0000"/>
                </a:solidFill>
              </a:rPr>
              <a:t>教材</a:t>
            </a:r>
            <a:r>
              <a:rPr lang="en-US" altLang="zh-CN">
                <a:solidFill>
                  <a:srgbClr val="FF0000"/>
                </a:solidFill>
              </a:rPr>
              <a:t>P237</a:t>
            </a:r>
            <a:endParaRPr lang="en-US" altLang="zh-CN">
              <a:solidFill>
                <a:srgbClr val="FF0000"/>
              </a:solidFill>
            </a:endParaRPr>
          </a:p>
        </p:txBody>
      </p:sp>
      <p:pic>
        <p:nvPicPr>
          <p:cNvPr id="7" name="图片 6"/>
          <p:cNvPicPr>
            <a:picLocks noChangeAspect="1"/>
          </p:cNvPicPr>
          <p:nvPr/>
        </p:nvPicPr>
        <p:blipFill>
          <a:blip r:embed="rId2"/>
          <a:stretch>
            <a:fillRect/>
          </a:stretch>
        </p:blipFill>
        <p:spPr>
          <a:xfrm>
            <a:off x="220552" y="5318815"/>
            <a:ext cx="5457825" cy="990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74165" y="544195"/>
            <a:ext cx="5474335" cy="5231130"/>
          </a:xfrm>
          <a:prstGeom prst="rect">
            <a:avLst/>
          </a:prstGeom>
        </p:spPr>
      </p:pic>
      <p:sp>
        <p:nvSpPr>
          <p:cNvPr id="3" name="文本框 2"/>
          <p:cNvSpPr txBox="1"/>
          <p:nvPr/>
        </p:nvSpPr>
        <p:spPr>
          <a:xfrm>
            <a:off x="3759835" y="5882005"/>
            <a:ext cx="1786255" cy="398780"/>
          </a:xfrm>
          <a:prstGeom prst="rect">
            <a:avLst/>
          </a:prstGeom>
          <a:noFill/>
        </p:spPr>
        <p:txBody>
          <a:bodyPr wrap="square" rtlCol="0">
            <a:spAutoFit/>
          </a:bodyPr>
          <a:p>
            <a:r>
              <a:rPr lang="zh-CN" altLang="en-US"/>
              <a:t>题</a:t>
            </a:r>
            <a:r>
              <a:rPr lang="en-US" altLang="zh-CN"/>
              <a:t>3.4-7</a:t>
            </a:r>
            <a:r>
              <a:rPr lang="zh-CN" altLang="en-US"/>
              <a:t>图</a:t>
            </a:r>
            <a:endParaRPr lang="zh-CN" altLang="en-US"/>
          </a:p>
        </p:txBody>
      </p:sp>
      <p:cxnSp>
        <p:nvCxnSpPr>
          <p:cNvPr id="4" name="直接箭头连接符 3"/>
          <p:cNvCxnSpPr/>
          <p:nvPr/>
        </p:nvCxnSpPr>
        <p:spPr>
          <a:xfrm>
            <a:off x="3528060" y="4665980"/>
            <a:ext cx="0" cy="589280"/>
          </a:xfrm>
          <a:prstGeom prst="straightConnector1">
            <a:avLst/>
          </a:prstGeom>
          <a:solidFill>
            <a:schemeClr val="accent1"/>
          </a:solidFill>
          <a:ln w="28575" cap="flat" cmpd="sng" algn="ctr">
            <a:solidFill>
              <a:srgbClr val="FF0000"/>
            </a:solidFill>
            <a:prstDash val="solid"/>
            <a:round/>
            <a:headEnd type="none" w="med" len="med"/>
            <a:tailEnd type="triangle" w="med" len="med"/>
          </a:ln>
        </p:spPr>
      </p:cxnSp>
      <p:sp>
        <p:nvSpPr>
          <p:cNvPr id="5" name="文本框 4"/>
          <p:cNvSpPr txBox="1"/>
          <p:nvPr/>
        </p:nvSpPr>
        <p:spPr>
          <a:xfrm>
            <a:off x="3528060" y="5151755"/>
            <a:ext cx="720090" cy="460375"/>
          </a:xfrm>
          <a:prstGeom prst="rect">
            <a:avLst/>
          </a:prstGeom>
          <a:noFill/>
        </p:spPr>
        <p:txBody>
          <a:bodyPr wrap="square" rtlCol="0">
            <a:spAutoFit/>
          </a:bodyPr>
          <a:p>
            <a:r>
              <a:rPr lang="en-US" altLang="zh-CN" sz="2400">
                <a:solidFill>
                  <a:srgbClr val="FF0000"/>
                </a:solidFill>
              </a:rPr>
              <a:t>n</a:t>
            </a:r>
            <a:r>
              <a:rPr lang="en-US" altLang="zh-CN" sz="2400" baseline="-25000">
                <a:solidFill>
                  <a:srgbClr val="FF0000"/>
                </a:solidFill>
              </a:rPr>
              <a:t>1</a:t>
            </a:r>
            <a:endParaRPr lang="en-US" altLang="zh-CN" sz="2400" baseline="-25000">
              <a:solidFill>
                <a:srgbClr val="FF0000"/>
              </a:solidFill>
            </a:endParaRPr>
          </a:p>
        </p:txBody>
      </p:sp>
      <p:cxnSp>
        <p:nvCxnSpPr>
          <p:cNvPr id="6" name="直接连接符 5"/>
          <p:cNvCxnSpPr/>
          <p:nvPr/>
        </p:nvCxnSpPr>
        <p:spPr>
          <a:xfrm flipV="1">
            <a:off x="3014345" y="3845560"/>
            <a:ext cx="294640" cy="17526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7" name="直接连接符 6"/>
          <p:cNvCxnSpPr/>
          <p:nvPr/>
        </p:nvCxnSpPr>
        <p:spPr>
          <a:xfrm flipV="1">
            <a:off x="3014345" y="3927475"/>
            <a:ext cx="294640" cy="17526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8" name="直接连接符 7"/>
          <p:cNvCxnSpPr/>
          <p:nvPr/>
        </p:nvCxnSpPr>
        <p:spPr>
          <a:xfrm flipV="1">
            <a:off x="3014345" y="4020820"/>
            <a:ext cx="294640" cy="17526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9" name="直接连接符 8"/>
          <p:cNvCxnSpPr/>
          <p:nvPr/>
        </p:nvCxnSpPr>
        <p:spPr>
          <a:xfrm flipV="1">
            <a:off x="5180965" y="3797300"/>
            <a:ext cx="294640" cy="17526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10" name="直接连接符 9"/>
          <p:cNvCxnSpPr/>
          <p:nvPr/>
        </p:nvCxnSpPr>
        <p:spPr>
          <a:xfrm flipV="1">
            <a:off x="5180965" y="3879215"/>
            <a:ext cx="294640" cy="17526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11" name="直接连接符 10"/>
          <p:cNvCxnSpPr/>
          <p:nvPr/>
        </p:nvCxnSpPr>
        <p:spPr>
          <a:xfrm flipV="1">
            <a:off x="5180965" y="3972560"/>
            <a:ext cx="294640" cy="17526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12" name="直接连接符 11"/>
          <p:cNvCxnSpPr/>
          <p:nvPr/>
        </p:nvCxnSpPr>
        <p:spPr>
          <a:xfrm>
            <a:off x="5165090" y="2351405"/>
            <a:ext cx="328930" cy="135255"/>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13" name="直接连接符 12"/>
          <p:cNvCxnSpPr/>
          <p:nvPr/>
        </p:nvCxnSpPr>
        <p:spPr>
          <a:xfrm>
            <a:off x="5165090" y="2434590"/>
            <a:ext cx="328930" cy="135255"/>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14" name="直接连接符 13"/>
          <p:cNvCxnSpPr/>
          <p:nvPr/>
        </p:nvCxnSpPr>
        <p:spPr>
          <a:xfrm>
            <a:off x="5180965" y="2529840"/>
            <a:ext cx="328930" cy="135255"/>
          </a:xfrm>
          <a:prstGeom prst="line">
            <a:avLst/>
          </a:prstGeom>
          <a:solidFill>
            <a:schemeClr val="accent1"/>
          </a:solidFill>
          <a:ln w="9525" cap="flat" cmpd="sng" algn="ctr">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22" presetClass="entr" presetSubtype="8"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22" presetClass="entr" presetSubtype="8"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par>
                                <p:cTn id="32" presetID="22" presetClass="entr" presetSubtype="8"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par>
                                <p:cTn id="43" presetID="22" presetClass="entr" presetSubtype="8"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5362575" y="906463"/>
            <a:ext cx="1628775" cy="2016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齿轮传动的计算载荷</a:t>
            </a:r>
            <a:endParaRPr lang="zh-CN" altLang="en-US" sz="800" smtClean="0">
              <a:solidFill>
                <a:schemeClr val="bg1"/>
              </a:solidFill>
              <a:latin typeface="华文中宋" panose="02010600040101010101" pitchFamily="2" charset="-122"/>
              <a:ea typeface="华文中宋" panose="02010600040101010101" pitchFamily="2" charset="-122"/>
            </a:endParaRPr>
          </a:p>
        </p:txBody>
      </p:sp>
      <p:sp>
        <p:nvSpPr>
          <p:cNvPr id="29699" name="Rectangle 4"/>
          <p:cNvSpPr>
            <a:spLocks noChangeArrowheads="1"/>
          </p:cNvSpPr>
          <p:nvPr/>
        </p:nvSpPr>
        <p:spPr bwMode="auto">
          <a:xfrm>
            <a:off x="2673033" y="235903"/>
            <a:ext cx="58515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5301" name="Text Box 5"/>
          <p:cNvSpPr txBox="1">
            <a:spLocks noChangeArrowheads="1"/>
          </p:cNvSpPr>
          <p:nvPr/>
        </p:nvSpPr>
        <p:spPr bwMode="auto">
          <a:xfrm>
            <a:off x="417565" y="1547392"/>
            <a:ext cx="8470141" cy="203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dirty="0">
                <a:solidFill>
                  <a:srgbClr val="000099"/>
                </a:solidFill>
                <a:latin typeface="华文中宋" panose="02010600040101010101" pitchFamily="2" charset="-122"/>
              </a:rPr>
              <a:t>　</a:t>
            </a:r>
            <a:r>
              <a:rPr lang="zh-CN" altLang="en-US" sz="2200" dirty="0">
                <a:solidFill>
                  <a:srgbClr val="C00000"/>
                </a:solidFill>
                <a:latin typeface="黑体" panose="02010609060101010101" pitchFamily="49" charset="-122"/>
                <a:ea typeface="黑体" panose="02010609060101010101" pitchFamily="49" charset="-122"/>
              </a:rPr>
              <a:t>名义</a:t>
            </a:r>
            <a:r>
              <a:rPr lang="zh-CN" altLang="en-US" sz="2200" dirty="0" smtClean="0">
                <a:solidFill>
                  <a:srgbClr val="C00000"/>
                </a:solidFill>
                <a:latin typeface="黑体" panose="02010609060101010101" pitchFamily="49" charset="-122"/>
                <a:ea typeface="黑体" panose="02010609060101010101" pitchFamily="49" charset="-122"/>
              </a:rPr>
              <a:t>载荷</a:t>
            </a:r>
            <a:r>
              <a:rPr lang="zh-CN" altLang="en-US" sz="2200" dirty="0" smtClean="0">
                <a:solidFill>
                  <a:srgbClr val="C00000"/>
                </a:solidFill>
                <a:latin typeface="华文中宋" panose="02010600040101010101" pitchFamily="2" charset="-122"/>
              </a:rPr>
              <a:t>：</a:t>
            </a:r>
            <a:r>
              <a:rPr lang="zh-CN" altLang="en-US" sz="2200" dirty="0" smtClean="0">
                <a:solidFill>
                  <a:srgbClr val="000099"/>
                </a:solidFill>
                <a:latin typeface="黑体" panose="02010609060101010101" pitchFamily="49" charset="-122"/>
                <a:ea typeface="黑体" panose="02010609060101010101" pitchFamily="49" charset="-122"/>
              </a:rPr>
              <a:t>根据</a:t>
            </a:r>
            <a:r>
              <a:rPr lang="zh-CN" altLang="en-US" sz="2200" dirty="0">
                <a:solidFill>
                  <a:srgbClr val="000099"/>
                </a:solidFill>
                <a:latin typeface="黑体" panose="02010609060101010101" pitchFamily="49" charset="-122"/>
                <a:ea typeface="黑体" panose="02010609060101010101" pitchFamily="49" charset="-122"/>
              </a:rPr>
              <a:t>齿轮所传递的功率和扭矩确定的作用在轮齿上的法向载荷</a:t>
            </a:r>
            <a:r>
              <a:rPr lang="en-US" altLang="en-US" sz="2200" dirty="0" err="1" smtClean="0">
                <a:solidFill>
                  <a:srgbClr val="000099"/>
                </a:solidFill>
                <a:latin typeface="黑体" panose="02010609060101010101" pitchFamily="49" charset="-122"/>
                <a:ea typeface="黑体" panose="02010609060101010101" pitchFamily="49" charset="-122"/>
              </a:rPr>
              <a:t>Fn</a:t>
            </a:r>
            <a:r>
              <a:rPr lang="zh-CN" altLang="en-US" sz="2200" dirty="0" smtClean="0">
                <a:solidFill>
                  <a:srgbClr val="000099"/>
                </a:solidFill>
                <a:latin typeface="黑体" panose="02010609060101010101" pitchFamily="49" charset="-122"/>
                <a:ea typeface="黑体" panose="02010609060101010101" pitchFamily="49" charset="-122"/>
              </a:rPr>
              <a:t>。</a:t>
            </a:r>
            <a:endParaRPr lang="en-US" altLang="zh-CN" sz="2200" dirty="0" smtClean="0">
              <a:solidFill>
                <a:srgbClr val="000099"/>
              </a:solidFill>
              <a:latin typeface="黑体" panose="02010609060101010101" pitchFamily="49" charset="-122"/>
              <a:ea typeface="黑体" panose="02010609060101010101" pitchFamily="49" charset="-122"/>
            </a:endParaRPr>
          </a:p>
          <a:p>
            <a:pPr eaLnBrk="1" hangingPunct="1">
              <a:lnSpc>
                <a:spcPct val="150000"/>
              </a:lnSpc>
            </a:pPr>
            <a:r>
              <a:rPr lang="zh-CN" altLang="en-US" sz="2200" dirty="0">
                <a:solidFill>
                  <a:srgbClr val="C00000"/>
                </a:solidFill>
                <a:latin typeface="黑体" panose="02010609060101010101" pitchFamily="49" charset="-122"/>
                <a:ea typeface="黑体" panose="02010609060101010101" pitchFamily="49" charset="-122"/>
              </a:rPr>
              <a:t>计算载荷</a:t>
            </a:r>
            <a:r>
              <a:rPr lang="en-US" altLang="en-US" sz="2200" dirty="0" err="1" smtClean="0">
                <a:solidFill>
                  <a:srgbClr val="C00000"/>
                </a:solidFill>
                <a:latin typeface="黑体" panose="02010609060101010101" pitchFamily="49" charset="-122"/>
                <a:ea typeface="黑体" panose="02010609060101010101" pitchFamily="49" charset="-122"/>
              </a:rPr>
              <a:t>Fu</a:t>
            </a:r>
            <a:r>
              <a:rPr lang="zh-CN" altLang="en-US" sz="2200" dirty="0" smtClean="0">
                <a:solidFill>
                  <a:srgbClr val="C00000"/>
                </a:solidFill>
                <a:latin typeface="黑体" panose="02010609060101010101" pitchFamily="49" charset="-122"/>
                <a:ea typeface="黑体" panose="02010609060101010101" pitchFamily="49" charset="-122"/>
              </a:rPr>
              <a:t>：</a:t>
            </a:r>
            <a:r>
              <a:rPr lang="zh-CN" altLang="en-US" sz="2200" dirty="0" smtClean="0">
                <a:solidFill>
                  <a:srgbClr val="000099"/>
                </a:solidFill>
                <a:latin typeface="黑体" panose="02010609060101010101" pitchFamily="49" charset="-122"/>
                <a:ea typeface="黑体" panose="02010609060101010101" pitchFamily="49" charset="-122"/>
              </a:rPr>
              <a:t>在</a:t>
            </a:r>
            <a:r>
              <a:rPr lang="zh-CN" altLang="en-US" sz="2200" dirty="0">
                <a:solidFill>
                  <a:srgbClr val="000099"/>
                </a:solidFill>
                <a:latin typeface="黑体" panose="02010609060101010101" pitchFamily="49" charset="-122"/>
                <a:ea typeface="黑体" panose="02010609060101010101" pitchFamily="49" charset="-122"/>
              </a:rPr>
              <a:t>进行齿轮强度计算时</a:t>
            </a:r>
            <a:r>
              <a:rPr lang="zh-CN" altLang="en-US" sz="2200" dirty="0" smtClean="0">
                <a:solidFill>
                  <a:srgbClr val="000099"/>
                </a:solidFill>
                <a:latin typeface="黑体" panose="02010609060101010101" pitchFamily="49" charset="-122"/>
                <a:ea typeface="黑体" panose="02010609060101010101" pitchFamily="49" charset="-122"/>
              </a:rPr>
              <a:t>，考虑各种因素的影响。应</a:t>
            </a:r>
            <a:r>
              <a:rPr lang="zh-CN" altLang="en-US" sz="2200" dirty="0">
                <a:solidFill>
                  <a:srgbClr val="000099"/>
                </a:solidFill>
                <a:latin typeface="黑体" panose="02010609060101010101" pitchFamily="49" charset="-122"/>
                <a:ea typeface="黑体" panose="02010609060101010101" pitchFamily="49" charset="-122"/>
              </a:rPr>
              <a:t>将名义载荷适当加大</a:t>
            </a:r>
            <a:r>
              <a:rPr lang="zh-CN" altLang="en-US" sz="2200" dirty="0" smtClean="0">
                <a:solidFill>
                  <a:srgbClr val="000099"/>
                </a:solidFill>
                <a:latin typeface="黑体" panose="02010609060101010101" pitchFamily="49" charset="-122"/>
                <a:ea typeface="黑体" panose="02010609060101010101" pitchFamily="49" charset="-122"/>
              </a:rPr>
              <a:t>，</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55306" name="Text Box 10"/>
          <p:cNvSpPr txBox="1">
            <a:spLocks noChangeArrowheads="1"/>
          </p:cNvSpPr>
          <p:nvPr/>
        </p:nvSpPr>
        <p:spPr bwMode="auto">
          <a:xfrm>
            <a:off x="1320165" y="4498975"/>
            <a:ext cx="6485255" cy="55372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ln>
            <a:noFill/>
          </a:ln>
        </p:spPr>
        <p:txBody>
          <a:bodyPr wrap="square" lIns="0" tIns="0" rIns="0" bIns="0">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sz="2400" i="1" dirty="0">
                <a:solidFill>
                  <a:srgbClr val="FF0000"/>
                </a:solidFill>
              </a:rPr>
              <a:t>K</a:t>
            </a:r>
            <a:r>
              <a:rPr lang="zh-CN" altLang="en-US" sz="2400" dirty="0">
                <a:solidFill>
                  <a:srgbClr val="FF0000"/>
                </a:solidFill>
              </a:rPr>
              <a:t>为载荷系数，</a:t>
            </a:r>
            <a:r>
              <a:rPr lang="zh-CN" altLang="en-US" sz="2400" dirty="0">
                <a:solidFill>
                  <a:srgbClr val="000099"/>
                </a:solidFill>
              </a:rPr>
              <a:t>其值为：</a:t>
            </a:r>
            <a:r>
              <a:rPr lang="en-US" altLang="zh-CN" sz="2400" i="1" dirty="0">
                <a:solidFill>
                  <a:srgbClr val="000099"/>
                </a:solidFill>
              </a:rPr>
              <a:t>K</a:t>
            </a:r>
            <a:r>
              <a:rPr lang="zh-CN" altLang="en-US" sz="2400" dirty="0">
                <a:solidFill>
                  <a:srgbClr val="000099"/>
                </a:solidFill>
              </a:rPr>
              <a:t>＝</a:t>
            </a:r>
            <a:r>
              <a:rPr lang="en-US" altLang="zh-CN" sz="2400" i="1" dirty="0">
                <a:solidFill>
                  <a:srgbClr val="000099"/>
                </a:solidFill>
              </a:rPr>
              <a:t>K</a:t>
            </a:r>
            <a:r>
              <a:rPr lang="en-US" altLang="zh-CN" sz="2400" baseline="-25000" dirty="0">
                <a:solidFill>
                  <a:srgbClr val="000099"/>
                </a:solidFill>
              </a:rPr>
              <a:t>A</a:t>
            </a:r>
            <a:r>
              <a:rPr lang="en-US" altLang="zh-CN" sz="2400" dirty="0">
                <a:solidFill>
                  <a:srgbClr val="000099"/>
                </a:solidFill>
              </a:rPr>
              <a:t> </a:t>
            </a:r>
            <a:r>
              <a:rPr lang="en-US" altLang="zh-CN" sz="2400" i="1" dirty="0" err="1">
                <a:solidFill>
                  <a:srgbClr val="000099"/>
                </a:solidFill>
              </a:rPr>
              <a:t>K</a:t>
            </a:r>
            <a:r>
              <a:rPr lang="en-US" altLang="zh-CN" sz="2400" baseline="-25000" dirty="0" err="1">
                <a:solidFill>
                  <a:srgbClr val="000099"/>
                </a:solidFill>
              </a:rPr>
              <a:t>v</a:t>
            </a:r>
            <a:r>
              <a:rPr lang="en-US" altLang="zh-CN" sz="2400" dirty="0">
                <a:solidFill>
                  <a:srgbClr val="000099"/>
                </a:solidFill>
              </a:rPr>
              <a:t> </a:t>
            </a:r>
            <a:r>
              <a:rPr lang="en-US" altLang="zh-CN" sz="2400" i="1" dirty="0">
                <a:solidFill>
                  <a:srgbClr val="000099"/>
                </a:solidFill>
              </a:rPr>
              <a:t>K</a:t>
            </a:r>
            <a:r>
              <a:rPr lang="en-US" altLang="zh-CN" sz="2400" baseline="-25000" dirty="0">
                <a:solidFill>
                  <a:srgbClr val="000099"/>
                </a:solidFill>
              </a:rPr>
              <a:t>α</a:t>
            </a:r>
            <a:r>
              <a:rPr lang="en-US" altLang="zh-CN" sz="2400" dirty="0">
                <a:solidFill>
                  <a:srgbClr val="000099"/>
                </a:solidFill>
              </a:rPr>
              <a:t> </a:t>
            </a:r>
            <a:r>
              <a:rPr lang="en-US" altLang="zh-CN" sz="2400" i="1" dirty="0">
                <a:solidFill>
                  <a:srgbClr val="000099"/>
                </a:solidFill>
              </a:rPr>
              <a:t>K</a:t>
            </a:r>
            <a:r>
              <a:rPr lang="en-US" altLang="zh-CN" sz="2400" baseline="-25000" dirty="0">
                <a:solidFill>
                  <a:srgbClr val="000099"/>
                </a:solidFill>
              </a:rPr>
              <a:t>β</a:t>
            </a:r>
            <a:endParaRPr lang="en-US" altLang="zh-CN" sz="2400" dirty="0">
              <a:solidFill>
                <a:srgbClr val="000099"/>
              </a:solidFill>
            </a:endParaRPr>
          </a:p>
        </p:txBody>
      </p:sp>
      <p:sp>
        <p:nvSpPr>
          <p:cNvPr id="47116" name="矩形 15"/>
          <p:cNvSpPr>
            <a:spLocks noChangeArrowheads="1"/>
          </p:cNvSpPr>
          <p:nvPr/>
        </p:nvSpPr>
        <p:spPr bwMode="auto">
          <a:xfrm>
            <a:off x="2414462" y="3738493"/>
            <a:ext cx="1330601" cy="460375"/>
          </a:xfrm>
          <a:prstGeom prst="rect">
            <a:avLst/>
          </a:prstGeom>
          <a:solidFill>
            <a:srgbClr val="FFFF00"/>
          </a:solidFill>
          <a:ln>
            <a:noFill/>
          </a:ln>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i="1" dirty="0" err="1">
                <a:solidFill>
                  <a:srgbClr val="000099"/>
                </a:solidFill>
              </a:rPr>
              <a:t>F</a:t>
            </a:r>
            <a:r>
              <a:rPr lang="en-US" altLang="zh-CN" sz="2400" baseline="-25000" dirty="0" err="1">
                <a:solidFill>
                  <a:srgbClr val="000099"/>
                </a:solidFill>
              </a:rPr>
              <a:t>u</a:t>
            </a:r>
            <a:r>
              <a:rPr lang="en-US" altLang="zh-CN" sz="2400" dirty="0">
                <a:solidFill>
                  <a:srgbClr val="000099"/>
                </a:solidFill>
              </a:rPr>
              <a:t>=</a:t>
            </a:r>
            <a:r>
              <a:rPr lang="en-US" altLang="zh-CN" sz="2400" i="1" dirty="0" err="1">
                <a:solidFill>
                  <a:srgbClr val="000099"/>
                </a:solidFill>
              </a:rPr>
              <a:t>KF</a:t>
            </a:r>
            <a:r>
              <a:rPr lang="en-US" altLang="zh-CN" sz="2400" baseline="-25000" dirty="0" err="1">
                <a:solidFill>
                  <a:srgbClr val="000099"/>
                </a:solidFill>
              </a:rPr>
              <a:t>n</a:t>
            </a:r>
            <a:r>
              <a:rPr lang="en-US" altLang="zh-CN" sz="2400" dirty="0"/>
              <a:t> </a:t>
            </a:r>
            <a:endParaRPr lang="zh-CN" altLang="en-US" sz="2400" dirty="0"/>
          </a:p>
        </p:txBody>
      </p:sp>
      <p:sp>
        <p:nvSpPr>
          <p:cNvPr id="2971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5730240" y="3768725"/>
            <a:ext cx="1261110" cy="398780"/>
          </a:xfrm>
          <a:prstGeom prst="rect">
            <a:avLst/>
          </a:prstGeom>
          <a:noFill/>
        </p:spPr>
        <p:txBody>
          <a:bodyPr wrap="square" rtlCol="0">
            <a:spAutoFit/>
          </a:bodyPr>
          <a:p>
            <a:r>
              <a:rPr lang="zh-CN" altLang="en-US"/>
              <a:t>（</a:t>
            </a:r>
            <a:r>
              <a:rPr lang="en-US" altLang="zh-CN"/>
              <a:t>3.4-7</a:t>
            </a:r>
            <a:r>
              <a:rPr lang="zh-CN" altLang="en-US"/>
              <a:t>）</a:t>
            </a:r>
            <a:endParaRPr lang="zh-CN" altLang="en-US"/>
          </a:p>
        </p:txBody>
      </p:sp>
      <p:sp>
        <p:nvSpPr>
          <p:cNvPr id="15364" name="Text Box 6"/>
          <p:cNvSpPr txBox="1"/>
          <p:nvPr/>
        </p:nvSpPr>
        <p:spPr>
          <a:xfrm>
            <a:off x="279083" y="906463"/>
            <a:ext cx="2075180" cy="460375"/>
          </a:xfrm>
          <a:prstGeom prst="rect">
            <a:avLst/>
          </a:prstGeom>
          <a:noFill/>
          <a:ln w="9525">
            <a:noFill/>
          </a:ln>
        </p:spPr>
        <p:txBody>
          <a:bodyPr wrap="none">
            <a:spAutoFit/>
          </a:bodyPr>
          <a:p>
            <a:r>
              <a:rPr lang="en-US" altLang="zh-CN" b="1" dirty="0">
                <a:latin typeface="Times New Roman" panose="02020603050405020304" pitchFamily="18" charset="0"/>
              </a:rPr>
              <a:t> </a:t>
            </a:r>
            <a:r>
              <a:rPr lang="zh-CN" altLang="en-US" sz="2400" dirty="0">
                <a:solidFill>
                  <a:srgbClr val="C00000"/>
                </a:solidFill>
                <a:latin typeface="黑体" panose="02010609060101010101" pitchFamily="49" charset="-122"/>
                <a:ea typeface="黑体" panose="02010609060101010101" pitchFamily="49" charset="-122"/>
              </a:rPr>
              <a:t>三、</a:t>
            </a:r>
            <a:r>
              <a:rPr lang="zh-CN" altLang="zh-CN" sz="2400" dirty="0">
                <a:solidFill>
                  <a:srgbClr val="C00000"/>
                </a:solidFill>
                <a:latin typeface="黑体" panose="02010609060101010101" pitchFamily="49" charset="-122"/>
                <a:ea typeface="黑体" panose="02010609060101010101" pitchFamily="49" charset="-122"/>
              </a:rPr>
              <a:t>计算载荷</a:t>
            </a:r>
            <a:endParaRPr lang="zh-CN" altLang="zh-CN" sz="2400" dirty="0">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301"/>
                                        </p:tgtEl>
                                        <p:attrNameLst>
                                          <p:attrName>style.visibility</p:attrName>
                                        </p:attrNameLst>
                                      </p:cBhvr>
                                      <p:to>
                                        <p:strVal val="visible"/>
                                      </p:to>
                                    </p:set>
                                    <p:animEffect transition="in" filter="wipe(left)">
                                      <p:cBhvr>
                                        <p:cTn id="7" dur="500"/>
                                        <p:tgtEl>
                                          <p:spTgt spid="5530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7116"/>
                                        </p:tgtEl>
                                        <p:attrNameLst>
                                          <p:attrName>style.visibility</p:attrName>
                                        </p:attrNameLst>
                                      </p:cBhvr>
                                      <p:to>
                                        <p:strVal val="visible"/>
                                      </p:to>
                                    </p:set>
                                  </p:childTnLst>
                                </p:cTn>
                              </p:par>
                            </p:childTnLst>
                          </p:cTn>
                        </p:par>
                        <p:par>
                          <p:cTn id="12" fill="hold">
                            <p:stCondLst>
                              <p:cond delay="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5306"/>
                                        </p:tgtEl>
                                        <p:attrNameLst>
                                          <p:attrName>style.visibility</p:attrName>
                                        </p:attrNameLst>
                                      </p:cBhvr>
                                      <p:to>
                                        <p:strVal val="visible"/>
                                      </p:to>
                                    </p:set>
                                    <p:animEffect transition="in" filter="wipe(left)">
                                      <p:cBhvr>
                                        <p:cTn id="20" dur="500"/>
                                        <p:tgtEl>
                                          <p:spTgt spid="55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autoUpdateAnimBg="0"/>
      <p:bldP spid="55306" grpId="0" bldLvl="0" animBg="1" autoUpdateAnimBg="0"/>
      <p:bldP spid="47116" grpId="0" bldLvl="0" animBg="1"/>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5362575" y="906463"/>
            <a:ext cx="1628775" cy="2016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齿轮传动的计算载荷</a:t>
            </a:r>
            <a:endParaRPr lang="zh-CN" altLang="en-US" sz="800" smtClean="0">
              <a:solidFill>
                <a:schemeClr val="bg1"/>
              </a:solidFill>
              <a:latin typeface="华文中宋" panose="02010600040101010101" pitchFamily="2" charset="-122"/>
              <a:ea typeface="华文中宋" panose="02010600040101010101" pitchFamily="2" charset="-122"/>
            </a:endParaRPr>
          </a:p>
        </p:txBody>
      </p:sp>
      <p:sp>
        <p:nvSpPr>
          <p:cNvPr id="29699" name="Rectangle 4"/>
          <p:cNvSpPr>
            <a:spLocks noChangeArrowheads="1"/>
          </p:cNvSpPr>
          <p:nvPr/>
        </p:nvSpPr>
        <p:spPr bwMode="auto">
          <a:xfrm>
            <a:off x="2673033" y="235903"/>
            <a:ext cx="58515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5306" name="Text Box 10"/>
          <p:cNvSpPr txBox="1">
            <a:spLocks noChangeArrowheads="1"/>
          </p:cNvSpPr>
          <p:nvPr/>
        </p:nvSpPr>
        <p:spPr bwMode="auto">
          <a:xfrm>
            <a:off x="1385570" y="1662430"/>
            <a:ext cx="5210810" cy="507365"/>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ln>
            <a:noFill/>
          </a:ln>
        </p:spPr>
        <p:txBody>
          <a:bodyPr wrap="square" lIns="0" tIns="0" rIns="0" bIns="0">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i="1" dirty="0">
                <a:solidFill>
                  <a:srgbClr val="FF0000"/>
                </a:solidFill>
              </a:rPr>
              <a:t>K</a:t>
            </a:r>
            <a:r>
              <a:rPr lang="zh-CN" altLang="en-US" sz="2200" dirty="0">
                <a:solidFill>
                  <a:srgbClr val="FF0000"/>
                </a:solidFill>
              </a:rPr>
              <a:t>为载荷系数，</a:t>
            </a:r>
            <a:r>
              <a:rPr lang="zh-CN" altLang="en-US" sz="2200" dirty="0">
                <a:solidFill>
                  <a:srgbClr val="000099"/>
                </a:solidFill>
              </a:rPr>
              <a:t>其值为</a:t>
            </a:r>
            <a:r>
              <a:rPr lang="zh-CN" altLang="en-US" dirty="0">
                <a:solidFill>
                  <a:srgbClr val="000099"/>
                </a:solidFill>
              </a:rPr>
              <a:t>：</a:t>
            </a:r>
            <a:r>
              <a:rPr lang="en-US" altLang="zh-CN" i="1" dirty="0">
                <a:solidFill>
                  <a:srgbClr val="000099"/>
                </a:solidFill>
              </a:rPr>
              <a:t>K</a:t>
            </a:r>
            <a:r>
              <a:rPr lang="zh-CN" altLang="en-US" dirty="0">
                <a:solidFill>
                  <a:srgbClr val="000099"/>
                </a:solidFill>
              </a:rPr>
              <a:t>＝</a:t>
            </a:r>
            <a:r>
              <a:rPr lang="en-US" altLang="zh-CN" i="1" dirty="0">
                <a:solidFill>
                  <a:srgbClr val="000099"/>
                </a:solidFill>
              </a:rPr>
              <a:t>K</a:t>
            </a:r>
            <a:r>
              <a:rPr lang="en-US" altLang="zh-CN" baseline="-25000" dirty="0">
                <a:solidFill>
                  <a:srgbClr val="000099"/>
                </a:solidFill>
              </a:rPr>
              <a:t>A</a:t>
            </a:r>
            <a:r>
              <a:rPr lang="en-US" altLang="zh-CN" dirty="0">
                <a:solidFill>
                  <a:srgbClr val="000099"/>
                </a:solidFill>
              </a:rPr>
              <a:t> </a:t>
            </a:r>
            <a:r>
              <a:rPr lang="en-US" altLang="zh-CN" i="1" dirty="0" err="1">
                <a:solidFill>
                  <a:srgbClr val="000099"/>
                </a:solidFill>
              </a:rPr>
              <a:t>K</a:t>
            </a:r>
            <a:r>
              <a:rPr lang="en-US" altLang="zh-CN" baseline="-25000" dirty="0" err="1">
                <a:solidFill>
                  <a:srgbClr val="000099"/>
                </a:solidFill>
              </a:rPr>
              <a:t>v</a:t>
            </a:r>
            <a:r>
              <a:rPr lang="en-US" altLang="zh-CN" dirty="0">
                <a:solidFill>
                  <a:srgbClr val="000099"/>
                </a:solidFill>
              </a:rPr>
              <a:t> </a:t>
            </a:r>
            <a:r>
              <a:rPr lang="en-US" altLang="zh-CN" i="1" dirty="0">
                <a:solidFill>
                  <a:srgbClr val="000099"/>
                </a:solidFill>
              </a:rPr>
              <a:t>K</a:t>
            </a:r>
            <a:r>
              <a:rPr lang="en-US" altLang="zh-CN" baseline="-25000" dirty="0">
                <a:solidFill>
                  <a:srgbClr val="000099"/>
                </a:solidFill>
              </a:rPr>
              <a:t>α</a:t>
            </a:r>
            <a:r>
              <a:rPr lang="en-US" altLang="zh-CN" dirty="0">
                <a:solidFill>
                  <a:srgbClr val="000099"/>
                </a:solidFill>
              </a:rPr>
              <a:t> </a:t>
            </a:r>
            <a:r>
              <a:rPr lang="en-US" altLang="zh-CN" i="1" dirty="0">
                <a:solidFill>
                  <a:srgbClr val="000099"/>
                </a:solidFill>
              </a:rPr>
              <a:t>K</a:t>
            </a:r>
            <a:r>
              <a:rPr lang="en-US" altLang="zh-CN" baseline="-25000" dirty="0">
                <a:solidFill>
                  <a:srgbClr val="000099"/>
                </a:solidFill>
              </a:rPr>
              <a:t>β</a:t>
            </a:r>
            <a:endParaRPr lang="en-US" altLang="zh-CN" dirty="0">
              <a:solidFill>
                <a:srgbClr val="000099"/>
              </a:solidFill>
            </a:endParaRPr>
          </a:p>
        </p:txBody>
      </p:sp>
      <p:sp>
        <p:nvSpPr>
          <p:cNvPr id="55321" name="Text Box 25"/>
          <p:cNvSpPr txBox="1">
            <a:spLocks noChangeArrowheads="1"/>
          </p:cNvSpPr>
          <p:nvPr/>
        </p:nvSpPr>
        <p:spPr bwMode="auto">
          <a:xfrm>
            <a:off x="80894" y="2486521"/>
            <a:ext cx="259256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rPr>
              <a:t>式中：</a:t>
            </a:r>
            <a:r>
              <a:rPr lang="en-US" altLang="zh-CN" i="1" dirty="0">
                <a:solidFill>
                  <a:srgbClr val="000099"/>
                </a:solidFill>
              </a:rPr>
              <a:t>K</a:t>
            </a:r>
            <a:r>
              <a:rPr lang="en-US" altLang="zh-CN" baseline="-25000" dirty="0">
                <a:solidFill>
                  <a:srgbClr val="000099"/>
                </a:solidFill>
              </a:rPr>
              <a:t>A </a:t>
            </a:r>
            <a:r>
              <a:rPr lang="en-US" altLang="zh-CN" dirty="0">
                <a:solidFill>
                  <a:srgbClr val="000099"/>
                </a:solidFill>
              </a:rPr>
              <a:t>─</a:t>
            </a:r>
            <a:r>
              <a:rPr lang="zh-CN" altLang="en-US" sz="2200" dirty="0">
                <a:solidFill>
                  <a:schemeClr val="folHlink"/>
                </a:solidFill>
                <a:hlinkClick r:id="rId1" action="ppaction://hlinksldjump"/>
              </a:rPr>
              <a:t>使用系数</a:t>
            </a:r>
            <a:endParaRPr lang="zh-CN" altLang="en-US" sz="2200" dirty="0">
              <a:solidFill>
                <a:schemeClr val="folHlink"/>
              </a:solidFill>
            </a:endParaRPr>
          </a:p>
        </p:txBody>
      </p:sp>
      <p:sp>
        <p:nvSpPr>
          <p:cNvPr id="55322" name="Text Box 26"/>
          <p:cNvSpPr txBox="1">
            <a:spLocks noChangeArrowheads="1"/>
          </p:cNvSpPr>
          <p:nvPr/>
        </p:nvSpPr>
        <p:spPr bwMode="auto">
          <a:xfrm>
            <a:off x="739831" y="3348341"/>
            <a:ext cx="205295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i="1" dirty="0" err="1">
                <a:solidFill>
                  <a:srgbClr val="000099"/>
                </a:solidFill>
              </a:rPr>
              <a:t>K</a:t>
            </a:r>
            <a:r>
              <a:rPr lang="en-US" altLang="zh-CN" baseline="-25000" dirty="0" err="1">
                <a:solidFill>
                  <a:srgbClr val="000099"/>
                </a:solidFill>
              </a:rPr>
              <a:t>v</a:t>
            </a:r>
            <a:r>
              <a:rPr lang="en-US" altLang="zh-CN" baseline="-25000" dirty="0">
                <a:solidFill>
                  <a:srgbClr val="000099"/>
                </a:solidFill>
              </a:rPr>
              <a:t> </a:t>
            </a:r>
            <a:r>
              <a:rPr lang="en-US" altLang="zh-CN" dirty="0">
                <a:solidFill>
                  <a:srgbClr val="000099"/>
                </a:solidFill>
              </a:rPr>
              <a:t>─</a:t>
            </a:r>
            <a:r>
              <a:rPr lang="zh-CN" altLang="en-US" sz="2200" dirty="0">
                <a:solidFill>
                  <a:schemeClr val="folHlink"/>
                </a:solidFill>
                <a:hlinkClick r:id="rId2" action="ppaction://hlinksldjump"/>
              </a:rPr>
              <a:t>动载荷系数</a:t>
            </a:r>
            <a:endParaRPr lang="zh-CN" altLang="en-US" sz="2200" dirty="0">
              <a:solidFill>
                <a:schemeClr val="folHlink"/>
              </a:solidFill>
            </a:endParaRPr>
          </a:p>
        </p:txBody>
      </p:sp>
      <p:sp>
        <p:nvSpPr>
          <p:cNvPr id="55323" name="Text Box 27"/>
          <p:cNvSpPr txBox="1">
            <a:spLocks noChangeArrowheads="1"/>
          </p:cNvSpPr>
          <p:nvPr/>
        </p:nvSpPr>
        <p:spPr bwMode="auto">
          <a:xfrm>
            <a:off x="634352" y="4527246"/>
            <a:ext cx="28841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i="1" dirty="0">
                <a:solidFill>
                  <a:srgbClr val="000099"/>
                </a:solidFill>
              </a:rPr>
              <a:t>K</a:t>
            </a:r>
            <a:r>
              <a:rPr lang="en-US" altLang="zh-CN" baseline="-25000" dirty="0">
                <a:solidFill>
                  <a:srgbClr val="000099"/>
                </a:solidFill>
              </a:rPr>
              <a:t>α</a:t>
            </a:r>
            <a:r>
              <a:rPr lang="en-US" altLang="zh-CN" dirty="0">
                <a:solidFill>
                  <a:srgbClr val="000099"/>
                </a:solidFill>
              </a:rPr>
              <a:t>─</a:t>
            </a:r>
            <a:r>
              <a:rPr lang="zh-CN" altLang="en-US" sz="2200" dirty="0">
                <a:solidFill>
                  <a:schemeClr val="folHlink"/>
                </a:solidFill>
                <a:hlinkClick r:id="rId3" action="ppaction://hlinksldjump"/>
              </a:rPr>
              <a:t>齿间载荷分配系数</a:t>
            </a:r>
            <a:endParaRPr lang="zh-CN" altLang="en-US" sz="2200" dirty="0">
              <a:solidFill>
                <a:schemeClr val="folHlink"/>
              </a:solidFill>
            </a:endParaRPr>
          </a:p>
        </p:txBody>
      </p:sp>
      <p:sp>
        <p:nvSpPr>
          <p:cNvPr id="55324" name="Text Box 28"/>
          <p:cNvSpPr txBox="1">
            <a:spLocks noChangeArrowheads="1"/>
          </p:cNvSpPr>
          <p:nvPr/>
        </p:nvSpPr>
        <p:spPr bwMode="auto">
          <a:xfrm>
            <a:off x="634173" y="5627936"/>
            <a:ext cx="288091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i="1" dirty="0">
                <a:solidFill>
                  <a:srgbClr val="000099"/>
                </a:solidFill>
              </a:rPr>
              <a:t>K</a:t>
            </a:r>
            <a:r>
              <a:rPr lang="en-US" altLang="zh-CN" baseline="-25000" dirty="0">
                <a:solidFill>
                  <a:srgbClr val="000099"/>
                </a:solidFill>
              </a:rPr>
              <a:t>β</a:t>
            </a:r>
            <a:r>
              <a:rPr lang="en-US" altLang="zh-CN" dirty="0">
                <a:solidFill>
                  <a:srgbClr val="000099"/>
                </a:solidFill>
              </a:rPr>
              <a:t>─</a:t>
            </a:r>
            <a:r>
              <a:rPr lang="zh-CN" altLang="en-US" sz="2200" dirty="0">
                <a:solidFill>
                  <a:schemeClr val="folHlink"/>
                </a:solidFill>
                <a:hlinkClick r:id="rId4" action="ppaction://hlinksldjump"/>
              </a:rPr>
              <a:t>齿向载荷分布系数</a:t>
            </a:r>
            <a:endParaRPr lang="zh-CN" altLang="en-US" sz="2200" dirty="0">
              <a:solidFill>
                <a:schemeClr val="folHlink"/>
              </a:solidFill>
            </a:endParaRPr>
          </a:p>
        </p:txBody>
      </p:sp>
      <p:sp>
        <p:nvSpPr>
          <p:cNvPr id="29707" name="Text Box 33"/>
          <p:cNvSpPr txBox="1">
            <a:spLocks noChangeArrowheads="1"/>
          </p:cNvSpPr>
          <p:nvPr/>
        </p:nvSpPr>
        <p:spPr bwMode="auto">
          <a:xfrm>
            <a:off x="6670675" y="6323013"/>
            <a:ext cx="263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latin typeface="Tahoma" panose="020B0604030504040204" pitchFamily="34" charset="0"/>
                <a:ea typeface="宋体" panose="02010600030101010101" pitchFamily="2" charset="-122"/>
              </a:rPr>
              <a:t> </a:t>
            </a:r>
            <a:endParaRPr lang="en-US" altLang="zh-CN">
              <a:latin typeface="Tahoma" panose="020B0604030504040204" pitchFamily="34" charset="0"/>
              <a:ea typeface="宋体" panose="02010600030101010101" pitchFamily="2" charset="-122"/>
            </a:endParaRPr>
          </a:p>
        </p:txBody>
      </p:sp>
      <p:sp>
        <p:nvSpPr>
          <p:cNvPr id="47116" name="矩形 15"/>
          <p:cNvSpPr>
            <a:spLocks noChangeArrowheads="1"/>
          </p:cNvSpPr>
          <p:nvPr/>
        </p:nvSpPr>
        <p:spPr bwMode="auto">
          <a:xfrm>
            <a:off x="3211387" y="1021328"/>
            <a:ext cx="1330601" cy="460375"/>
          </a:xfrm>
          <a:prstGeom prst="rect">
            <a:avLst/>
          </a:prstGeom>
          <a:solidFill>
            <a:srgbClr val="FFFF00"/>
          </a:solidFill>
          <a:ln>
            <a:noFill/>
          </a:ln>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i="1" dirty="0" err="1">
                <a:solidFill>
                  <a:srgbClr val="000099"/>
                </a:solidFill>
              </a:rPr>
              <a:t>F</a:t>
            </a:r>
            <a:r>
              <a:rPr lang="en-US" altLang="zh-CN" sz="2400" baseline="-25000" dirty="0" err="1">
                <a:solidFill>
                  <a:srgbClr val="000099"/>
                </a:solidFill>
              </a:rPr>
              <a:t>u</a:t>
            </a:r>
            <a:r>
              <a:rPr lang="en-US" altLang="zh-CN" sz="2400" dirty="0">
                <a:solidFill>
                  <a:srgbClr val="000099"/>
                </a:solidFill>
              </a:rPr>
              <a:t>=</a:t>
            </a:r>
            <a:r>
              <a:rPr lang="en-US" altLang="zh-CN" sz="2400" i="1" dirty="0" err="1">
                <a:solidFill>
                  <a:srgbClr val="FF0000"/>
                </a:solidFill>
              </a:rPr>
              <a:t>K</a:t>
            </a:r>
            <a:r>
              <a:rPr lang="en-US" altLang="zh-CN" sz="2400" i="1" dirty="0" err="1">
                <a:solidFill>
                  <a:srgbClr val="000099"/>
                </a:solidFill>
              </a:rPr>
              <a:t>F</a:t>
            </a:r>
            <a:r>
              <a:rPr lang="en-US" altLang="zh-CN" sz="2400" baseline="-25000" dirty="0" err="1">
                <a:solidFill>
                  <a:srgbClr val="000099"/>
                </a:solidFill>
              </a:rPr>
              <a:t>n</a:t>
            </a:r>
            <a:r>
              <a:rPr lang="en-US" altLang="zh-CN" sz="2400" dirty="0"/>
              <a:t> </a:t>
            </a:r>
            <a:endParaRPr lang="zh-CN" altLang="en-US" sz="2400" dirty="0"/>
          </a:p>
        </p:txBody>
      </p:sp>
      <p:sp>
        <p:nvSpPr>
          <p:cNvPr id="29710" name="直接连接符 6"/>
          <p:cNvSpPr>
            <a:spLocks noChangeShapeType="1"/>
          </p:cNvSpPr>
          <p:nvPr/>
        </p:nvSpPr>
        <p:spPr bwMode="auto">
          <a:xfrm>
            <a:off x="0" y="74104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2991484" y="3351061"/>
            <a:ext cx="5854149" cy="675640"/>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p:spPr>
        <p:txBody>
          <a:bodyPr wrap="square" rtlCol="0">
            <a:spAutoFit/>
          </a:bodyPr>
          <a:lstStyle/>
          <a:p>
            <a:r>
              <a:rPr lang="zh-CN" altLang="en-US" dirty="0" smtClean="0"/>
              <a:t>是</a:t>
            </a:r>
            <a:r>
              <a:rPr lang="zh-CN" altLang="en-US" sz="1800" dirty="0" smtClean="0"/>
              <a:t>考虑齿轮啮合的振动产生的内部附加动载荷影响的系数，它取决于</a:t>
            </a:r>
            <a:r>
              <a:rPr lang="zh-CN" altLang="en-US" sz="1800" dirty="0"/>
              <a:t>齿轮</a:t>
            </a:r>
            <a:r>
              <a:rPr lang="zh-CN" altLang="en-US" sz="1800" dirty="0" smtClean="0"/>
              <a:t>制造</a:t>
            </a:r>
            <a:r>
              <a:rPr lang="zh-CN" altLang="en-US" sz="1800" dirty="0"/>
              <a:t>的</a:t>
            </a:r>
            <a:r>
              <a:rPr lang="zh-CN" altLang="en-US" sz="1800" dirty="0" smtClean="0"/>
              <a:t>精度和圆周速度</a:t>
            </a:r>
            <a:endParaRPr lang="zh-CN" altLang="en-US" sz="1800" dirty="0"/>
          </a:p>
        </p:txBody>
      </p:sp>
      <p:sp>
        <p:nvSpPr>
          <p:cNvPr id="3" name="文本框 2"/>
          <p:cNvSpPr txBox="1"/>
          <p:nvPr/>
        </p:nvSpPr>
        <p:spPr>
          <a:xfrm>
            <a:off x="3518288" y="4281749"/>
            <a:ext cx="5446642" cy="92333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rtlCol="0">
            <a:spAutoFit/>
          </a:bodyPr>
          <a:lstStyle/>
          <a:p>
            <a:r>
              <a:rPr lang="zh-CN" altLang="en-US" sz="1800" dirty="0" smtClean="0"/>
              <a:t>是考虑啮合的齿对之间载荷分配不均匀的影响系数，与齿轮的啮合重合度、制造精度以及啮合刚度、载荷大小等多种因素有关</a:t>
            </a:r>
            <a:endParaRPr lang="zh-CN" altLang="en-US" sz="1800" dirty="0"/>
          </a:p>
        </p:txBody>
      </p:sp>
      <p:sp>
        <p:nvSpPr>
          <p:cNvPr id="17" name="文本框 16"/>
          <p:cNvSpPr txBox="1"/>
          <p:nvPr/>
        </p:nvSpPr>
        <p:spPr>
          <a:xfrm>
            <a:off x="3588635" y="5460475"/>
            <a:ext cx="5446642" cy="92333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8100000" scaled="1"/>
            <a:tileRect/>
          </a:gradFill>
        </p:spPr>
        <p:txBody>
          <a:bodyPr wrap="square" rtlCol="0">
            <a:spAutoFit/>
          </a:bodyPr>
          <a:lstStyle/>
          <a:p>
            <a:r>
              <a:rPr lang="zh-CN" altLang="en-US" sz="1800" dirty="0" smtClean="0"/>
              <a:t>是考虑载荷沿齿宽方向分布不均匀的影响系数，与齿轮所在轴系的刚度、齿轮在轴上的位置、齿轮的宽度以及齿轮制造精度和安装误差有关</a:t>
            </a:r>
            <a:endParaRPr lang="zh-CN" altLang="en-US" sz="1800" dirty="0"/>
          </a:p>
        </p:txBody>
      </p:sp>
      <p:sp>
        <p:nvSpPr>
          <p:cNvPr id="18" name="文本框 17"/>
          <p:cNvSpPr txBox="1"/>
          <p:nvPr/>
        </p:nvSpPr>
        <p:spPr>
          <a:xfrm>
            <a:off x="2574374" y="2390692"/>
            <a:ext cx="6490251" cy="675640"/>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p:spPr>
        <p:txBody>
          <a:bodyPr wrap="square" rtlCol="0">
            <a:spAutoFit/>
          </a:bodyPr>
          <a:lstStyle/>
          <a:p>
            <a:r>
              <a:rPr lang="zh-CN" altLang="en-US" dirty="0" smtClean="0"/>
              <a:t>是</a:t>
            </a:r>
            <a:r>
              <a:rPr lang="zh-CN" altLang="en-US" sz="1800" dirty="0" smtClean="0"/>
              <a:t>考虑齿轮啮合的外部因素引起的附加动载荷影响的系数，它与原动机和工作机的特性及联轴器的缓冲性能有关</a:t>
            </a:r>
            <a:endParaRPr lang="zh-CN" altLang="en-US" sz="1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5306"/>
                                        </p:tgtEl>
                                        <p:attrNameLst>
                                          <p:attrName>style.visibility</p:attrName>
                                        </p:attrNameLst>
                                      </p:cBhvr>
                                      <p:to>
                                        <p:strVal val="visible"/>
                                      </p:to>
                                    </p:set>
                                    <p:animEffect transition="in" filter="wipe(left)">
                                      <p:cBhvr>
                                        <p:cTn id="11" dur="500"/>
                                        <p:tgtEl>
                                          <p:spTgt spid="55306"/>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55321"/>
                                        </p:tgtEl>
                                        <p:attrNameLst>
                                          <p:attrName>style.visibility</p:attrName>
                                        </p:attrNameLst>
                                      </p:cBhvr>
                                      <p:to>
                                        <p:strVal val="visible"/>
                                      </p:to>
                                    </p:set>
                                    <p:animEffect transition="in" filter="wipe(left)">
                                      <p:cBhvr>
                                        <p:cTn id="15" dur="500"/>
                                        <p:tgtEl>
                                          <p:spTgt spid="55321"/>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55322"/>
                                        </p:tgtEl>
                                        <p:attrNameLst>
                                          <p:attrName>style.visibility</p:attrName>
                                        </p:attrNameLst>
                                      </p:cBhvr>
                                      <p:to>
                                        <p:strVal val="visible"/>
                                      </p:to>
                                    </p:set>
                                    <p:animEffect transition="in" filter="wipe(left)">
                                      <p:cBhvr>
                                        <p:cTn id="19" dur="500"/>
                                        <p:tgtEl>
                                          <p:spTgt spid="55322"/>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55323"/>
                                        </p:tgtEl>
                                        <p:attrNameLst>
                                          <p:attrName>style.visibility</p:attrName>
                                        </p:attrNameLst>
                                      </p:cBhvr>
                                      <p:to>
                                        <p:strVal val="visible"/>
                                      </p:to>
                                    </p:set>
                                    <p:animEffect transition="in" filter="wipe(left)">
                                      <p:cBhvr>
                                        <p:cTn id="23" dur="500"/>
                                        <p:tgtEl>
                                          <p:spTgt spid="55323"/>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55324"/>
                                        </p:tgtEl>
                                        <p:attrNameLst>
                                          <p:attrName>style.visibility</p:attrName>
                                        </p:attrNameLst>
                                      </p:cBhvr>
                                      <p:to>
                                        <p:strVal val="visible"/>
                                      </p:to>
                                    </p:set>
                                    <p:animEffect transition="in" filter="wipe(left)">
                                      <p:cBhvr>
                                        <p:cTn id="27" dur="500"/>
                                        <p:tgtEl>
                                          <p:spTgt spid="553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6" grpId="0" bldLvl="0" animBg="1" autoUpdateAnimBg="0"/>
      <p:bldP spid="55321" grpId="0" autoUpdateAnimBg="0"/>
      <p:bldP spid="55322" grpId="0" autoUpdateAnimBg="0"/>
      <p:bldP spid="55323" grpId="0" autoUpdateAnimBg="0"/>
      <p:bldP spid="55324" grpId="0" autoUpdateAnimBg="0"/>
      <p:bldP spid="47116" grpId="0" bldLvl="0" animBg="1"/>
      <p:bldP spid="2" grpId="0" bldLvl="0" animBg="1"/>
      <p:bldP spid="3" grpId="0" bldLvl="0" animBg="1"/>
      <p:bldP spid="17" grpId="0" bldLvl="0" animBg="1"/>
      <p:bldP spid="18"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15365"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15366"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15370"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7" name="Rectangle 20"/>
          <p:cNvSpPr>
            <a:spLocks noRot="1" noChangeAspect="1" noMove="1" noResize="1" noEditPoints="1" noAdjustHandles="1" noChangeArrowheads="1" noChangeShapeType="1" noTextEdit="1"/>
          </p:cNvSpPr>
          <p:nvPr/>
        </p:nvSpPr>
        <p:spPr bwMode="auto">
          <a:xfrm>
            <a:off x="-33655" y="1270000"/>
            <a:ext cx="8558530" cy="431800"/>
          </a:xfrm>
          <a:prstGeom prst="rect">
            <a:avLst/>
          </a:prstGeom>
          <a:blipFill>
            <a:blip r:embed="rId4"/>
            <a:stretch>
              <a:fillRect t="-6061" b="-27273"/>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15372"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15374" name="文本框 10"/>
          <p:cNvSpPr txBox="1"/>
          <p:nvPr/>
        </p:nvSpPr>
        <p:spPr>
          <a:xfrm>
            <a:off x="6003608" y="1914525"/>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3.4-3</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5375" name="Rectangle 26"/>
          <p:cNvSpPr/>
          <p:nvPr/>
        </p:nvSpPr>
        <p:spPr>
          <a:xfrm>
            <a:off x="779780" y="2599056"/>
            <a:ext cx="3954780" cy="460375"/>
          </a:xfrm>
          <a:prstGeom prst="rect">
            <a:avLst/>
          </a:prstGeom>
          <a:noFill/>
          <a:ln w="9525">
            <a:noFill/>
          </a:ln>
        </p:spPr>
        <p:txBody>
          <a:bodyPr wrap="none" anchor="ctr">
            <a:spAutoFit/>
          </a:bodyPr>
          <a:p>
            <a:pPr indent="304800"/>
            <a:r>
              <a:rPr lang="en-US" altLang="zh-CN" dirty="0">
                <a:solidFill>
                  <a:srgbClr val="FF0000"/>
                </a:solidFill>
                <a:latin typeface="Calibri" panose="020F0502020204030204" pitchFamily="34" charset="0"/>
                <a:cs typeface="Times New Roman" panose="02020603050405020304" pitchFamily="18" charset="0"/>
              </a:rPr>
              <a:t>  </a:t>
            </a:r>
            <a:r>
              <a:rPr lang="zh-CN" altLang="zh-CN" sz="2400" dirty="0">
                <a:latin typeface="Calibri" panose="020F0502020204030204" pitchFamily="34" charset="0"/>
                <a:cs typeface="Times New Roman" panose="02020603050405020304" pitchFamily="18" charset="0"/>
              </a:rPr>
              <a:t>对于</a:t>
            </a:r>
            <a:r>
              <a:rPr lang="zh-CN" altLang="zh-CN" sz="2400" dirty="0">
                <a:solidFill>
                  <a:srgbClr val="FF0000"/>
                </a:solidFill>
                <a:latin typeface="Calibri" panose="020F0502020204030204" pitchFamily="34" charset="0"/>
                <a:cs typeface="Times New Roman" panose="02020603050405020304" pitchFamily="18" charset="0"/>
              </a:rPr>
              <a:t>直齿圆柱齿轮</a:t>
            </a:r>
            <a:r>
              <a:rPr lang="zh-CN" altLang="zh-CN" sz="2400" dirty="0">
                <a:latin typeface="Calibri" panose="020F0502020204030204" pitchFamily="34" charset="0"/>
                <a:cs typeface="Times New Roman" panose="02020603050405020304" pitchFamily="18" charset="0"/>
              </a:rPr>
              <a:t>，可取</a:t>
            </a:r>
            <a:endParaRPr lang="zh-CN" altLang="zh-CN" sz="2400" dirty="0">
              <a:latin typeface="Times New Roman" panose="02020603050405020304" pitchFamily="18" charset="0"/>
            </a:endParaRPr>
          </a:p>
        </p:txBody>
      </p:sp>
      <p:grpSp>
        <p:nvGrpSpPr>
          <p:cNvPr id="2" name="组合 1"/>
          <p:cNvGrpSpPr/>
          <p:nvPr/>
        </p:nvGrpSpPr>
        <p:grpSpPr>
          <a:xfrm>
            <a:off x="4734560" y="2599055"/>
            <a:ext cx="2692400" cy="437515"/>
            <a:chOff x="7441" y="4093"/>
            <a:chExt cx="4240" cy="689"/>
          </a:xfrm>
        </p:grpSpPr>
        <p:graphicFrame>
          <p:nvGraphicFramePr>
            <p:cNvPr id="15376" name="对象 12"/>
            <p:cNvGraphicFramePr>
              <a:graphicFrameLocks noChangeAspect="1"/>
            </p:cNvGraphicFramePr>
            <p:nvPr/>
          </p:nvGraphicFramePr>
          <p:xfrm>
            <a:off x="7441" y="4130"/>
            <a:ext cx="1262" cy="652"/>
          </p:xfrm>
          <a:graphic>
            <a:graphicData uri="http://schemas.openxmlformats.org/presentationml/2006/ole">
              <mc:AlternateContent xmlns:mc="http://schemas.openxmlformats.org/markup-compatibility/2006">
                <mc:Choice xmlns:v="urn:schemas-microsoft-com:vml" Requires="v">
                  <p:oleObj spid="_x0000_s3077" name="" r:id="rId5" imgW="444500" imgH="228600" progId="Equation.3">
                    <p:embed/>
                  </p:oleObj>
                </mc:Choice>
                <mc:Fallback>
                  <p:oleObj name="" r:id="rId5" imgW="444500" imgH="228600" progId="Equation.3">
                    <p:embed/>
                    <p:pic>
                      <p:nvPicPr>
                        <p:cNvPr id="0" name="图片 3076"/>
                        <p:cNvPicPr/>
                        <p:nvPr/>
                      </p:nvPicPr>
                      <p:blipFill>
                        <a:blip r:embed="rId6"/>
                        <a:stretch>
                          <a:fillRect/>
                        </a:stretch>
                      </p:blipFill>
                      <p:spPr>
                        <a:xfrm>
                          <a:off x="7441" y="4130"/>
                          <a:ext cx="1262" cy="652"/>
                        </a:xfrm>
                        <a:prstGeom prst="rect">
                          <a:avLst/>
                        </a:prstGeom>
                        <a:noFill/>
                        <a:ln w="38100">
                          <a:noFill/>
                          <a:miter/>
                        </a:ln>
                      </p:spPr>
                    </p:pic>
                  </p:oleObj>
                </mc:Fallback>
              </mc:AlternateContent>
            </a:graphicData>
          </a:graphic>
        </p:graphicFrame>
        <p:sp>
          <p:nvSpPr>
            <p:cNvPr id="15377" name="Rectangle 27"/>
            <p:cNvSpPr/>
            <p:nvPr/>
          </p:nvSpPr>
          <p:spPr>
            <a:xfrm>
              <a:off x="8091" y="4093"/>
              <a:ext cx="3590" cy="628"/>
            </a:xfrm>
            <a:prstGeom prst="rect">
              <a:avLst/>
            </a:prstGeom>
            <a:noFill/>
            <a:ln w="9525">
              <a:noFill/>
            </a:ln>
          </p:spPr>
          <p:txBody>
            <a:bodyPr wrap="square" anchor="ctr">
              <a:spAutoFit/>
            </a:bodyPr>
            <a:p>
              <a:pPr indent="304800" algn="l"/>
              <a:r>
                <a:rPr lang="zh-CN" altLang="zh-CN" dirty="0">
                  <a:latin typeface="Calibri" panose="020F0502020204030204" pitchFamily="34" charset="0"/>
                  <a:cs typeface="Times New Roman" panose="02020603050405020304" pitchFamily="18" charset="0"/>
                </a:rPr>
                <a:t>（齿轮宽度）；</a:t>
              </a:r>
              <a:endParaRPr lang="zh-CN" altLang="zh-CN" dirty="0">
                <a:latin typeface="Times New Roman" panose="02020603050405020304" pitchFamily="18" charset="0"/>
              </a:endParaRPr>
            </a:p>
          </p:txBody>
        </p:sp>
      </p:grpSp>
      <p:sp>
        <p:nvSpPr>
          <p:cNvPr id="15378" name="文本框 15"/>
          <p:cNvSpPr txBox="1"/>
          <p:nvPr/>
        </p:nvSpPr>
        <p:spPr>
          <a:xfrm>
            <a:off x="770255" y="3167380"/>
            <a:ext cx="8108950" cy="1050290"/>
          </a:xfrm>
          <a:prstGeom prst="rect">
            <a:avLst/>
          </a:prstGeom>
          <a:noFill/>
          <a:ln w="9525">
            <a:noFill/>
          </a:ln>
        </p:spPr>
        <p:txBody>
          <a:bodyPr>
            <a:spAutoFit/>
          </a:bodyPr>
          <a:p>
            <a:pPr>
              <a:lnSpc>
                <a:spcPct val="130000"/>
              </a:lnSpc>
            </a:pPr>
            <a:r>
              <a:rPr lang="zh-CN" altLang="zh-CN" sz="2400" dirty="0">
                <a:latin typeface="Calibri" panose="020F0502020204030204" pitchFamily="34" charset="0"/>
                <a:cs typeface="Times New Roman" panose="02020603050405020304" pitchFamily="18" charset="0"/>
                <a:sym typeface="+mn-ea"/>
              </a:rPr>
              <a:t>对于</a:t>
            </a:r>
            <a:r>
              <a:rPr lang="zh-CN" altLang="zh-CN" sz="2400" dirty="0">
                <a:solidFill>
                  <a:srgbClr val="FF0000"/>
                </a:solidFill>
                <a:latin typeface="Calibri" panose="020F0502020204030204" pitchFamily="34" charset="0"/>
                <a:cs typeface="Times New Roman" panose="02020603050405020304" pitchFamily="18" charset="0"/>
                <a:sym typeface="+mn-ea"/>
              </a:rPr>
              <a:t>斜齿圆柱</a:t>
            </a:r>
            <a:r>
              <a:rPr lang="zh-CN" altLang="zh-CN" sz="2400" dirty="0">
                <a:solidFill>
                  <a:srgbClr val="FF0000"/>
                </a:solidFill>
                <a:latin typeface="Calibri" panose="020F0502020204030204" pitchFamily="34" charset="0"/>
                <a:cs typeface="Times New Roman" panose="02020603050405020304" pitchFamily="18" charset="0"/>
              </a:rPr>
              <a:t>齿轮</a:t>
            </a:r>
            <a:r>
              <a:rPr lang="zh-CN" altLang="zh-CN" sz="2400" dirty="0">
                <a:latin typeface="Calibri" panose="020F0502020204030204" pitchFamily="34" charset="0"/>
                <a:cs typeface="Times New Roman" panose="02020603050405020304" pitchFamily="18" charset="0"/>
              </a:rPr>
              <a:t>，在轮齿表面上，接触线是倾斜的，</a:t>
            </a:r>
            <a:r>
              <a:rPr lang="zh-CN" altLang="en-US" sz="2400" dirty="0">
                <a:solidFill>
                  <a:srgbClr val="000099"/>
                </a:solidFill>
                <a:latin typeface="华文中宋" panose="02010600040101010101" pitchFamily="2" charset="-122"/>
                <a:sym typeface="+mn-ea"/>
              </a:rPr>
              <a:t>由于啮合线总长一般是变动的值，</a:t>
            </a:r>
            <a:r>
              <a:rPr lang="zh-CN" altLang="zh-CN" sz="2400" dirty="0">
                <a:latin typeface="Calibri" panose="020F0502020204030204" pitchFamily="34" charset="0"/>
                <a:cs typeface="Times New Roman" panose="02020603050405020304" pitchFamily="18" charset="0"/>
              </a:rPr>
              <a:t>接触线总长度的名义值为：</a:t>
            </a:r>
            <a:endParaRPr lang="zh-CN" altLang="zh-CN" sz="2400" dirty="0">
              <a:latin typeface="Times New Roman" panose="02020603050405020304" pitchFamily="18" charset="0"/>
            </a:endParaRPr>
          </a:p>
        </p:txBody>
      </p:sp>
      <p:sp>
        <p:nvSpPr>
          <p:cNvPr id="15380" name="文本框 30"/>
          <p:cNvSpPr txBox="1"/>
          <p:nvPr/>
        </p:nvSpPr>
        <p:spPr>
          <a:xfrm>
            <a:off x="6187123" y="4579620"/>
            <a:ext cx="1230312"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3.4-4</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3" name="Rectangle 38"/>
          <p:cNvSpPr>
            <a:spLocks noRot="1" noChangeAspect="1" noMove="1" noResize="1" noEditPoints="1" noAdjustHandles="1" noChangeArrowheads="1" noChangeShapeType="1" noTextEdit="1"/>
          </p:cNvSpPr>
          <p:nvPr/>
        </p:nvSpPr>
        <p:spPr bwMode="auto">
          <a:xfrm>
            <a:off x="1177637" y="5486360"/>
            <a:ext cx="7133173" cy="400110"/>
          </a:xfrm>
          <a:prstGeom prst="rect">
            <a:avLst/>
          </a:prstGeom>
          <a:blipFill>
            <a:blip r:embed="rId7"/>
            <a:stretch>
              <a:fillRect l="-940" t="-10769" b="-27692"/>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pic>
        <p:nvPicPr>
          <p:cNvPr id="15383" name="图片 1"/>
          <p:cNvPicPr>
            <a:picLocks noChangeAspect="1"/>
          </p:cNvPicPr>
          <p:nvPr/>
        </p:nvPicPr>
        <p:blipFill>
          <a:blip r:embed="rId8"/>
          <a:stretch>
            <a:fillRect/>
          </a:stretch>
        </p:blipFill>
        <p:spPr>
          <a:xfrm>
            <a:off x="3580765" y="1701800"/>
            <a:ext cx="1103313" cy="825500"/>
          </a:xfrm>
          <a:prstGeom prst="rect">
            <a:avLst/>
          </a:prstGeom>
          <a:noFill/>
          <a:ln w="9525">
            <a:noFill/>
          </a:ln>
        </p:spPr>
      </p:pic>
      <p:pic>
        <p:nvPicPr>
          <p:cNvPr id="15384" name="图片 2"/>
          <p:cNvPicPr>
            <a:picLocks noChangeAspect="1"/>
          </p:cNvPicPr>
          <p:nvPr/>
        </p:nvPicPr>
        <p:blipFill>
          <a:blip r:embed="rId9"/>
          <a:stretch>
            <a:fillRect/>
          </a:stretch>
        </p:blipFill>
        <p:spPr>
          <a:xfrm>
            <a:off x="2466340" y="4288790"/>
            <a:ext cx="3331845" cy="981075"/>
          </a:xfrm>
          <a:prstGeom prst="rect">
            <a:avLst/>
          </a:prstGeom>
          <a:noFill/>
          <a:ln w="9525">
            <a:noFill/>
          </a:ln>
        </p:spPr>
      </p:pic>
      <p:sp>
        <p:nvSpPr>
          <p:cNvPr id="29699" name="Rectangle 4"/>
          <p:cNvSpPr>
            <a:spLocks noChangeArrowheads="1"/>
          </p:cNvSpPr>
          <p:nvPr/>
        </p:nvSpPr>
        <p:spPr bwMode="auto">
          <a:xfrm>
            <a:off x="1949450" y="236220"/>
            <a:ext cx="65754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971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5383"/>
                                        </p:tgtEl>
                                        <p:attrNameLst>
                                          <p:attrName>style.visibility</p:attrName>
                                        </p:attrNameLst>
                                      </p:cBhvr>
                                      <p:to>
                                        <p:strVal val="visible"/>
                                      </p:to>
                                    </p:set>
                                    <p:animEffect transition="in" filter="wipe(left)">
                                      <p:cBhvr>
                                        <p:cTn id="17" dur="500"/>
                                        <p:tgtEl>
                                          <p:spTgt spid="15383"/>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5374"/>
                                        </p:tgtEl>
                                        <p:attrNameLst>
                                          <p:attrName>style.visibility</p:attrName>
                                        </p:attrNameLst>
                                      </p:cBhvr>
                                      <p:to>
                                        <p:strVal val="visible"/>
                                      </p:to>
                                    </p:set>
                                    <p:animEffect transition="in" filter="wipe(left)">
                                      <p:cBhvr>
                                        <p:cTn id="21" dur="500"/>
                                        <p:tgtEl>
                                          <p:spTgt spid="15374"/>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15375"/>
                                        </p:tgtEl>
                                        <p:attrNameLst>
                                          <p:attrName>style.visibility</p:attrName>
                                        </p:attrNameLst>
                                      </p:cBhvr>
                                      <p:to>
                                        <p:strVal val="visible"/>
                                      </p:to>
                                    </p:set>
                                    <p:animEffect transition="in" filter="wipe(left)">
                                      <p:cBhvr>
                                        <p:cTn id="25" dur="500"/>
                                        <p:tgtEl>
                                          <p:spTgt spid="15375"/>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5378"/>
                                        </p:tgtEl>
                                        <p:attrNameLst>
                                          <p:attrName>style.visibility</p:attrName>
                                        </p:attrNameLst>
                                      </p:cBhvr>
                                      <p:to>
                                        <p:strVal val="visible"/>
                                      </p:to>
                                    </p:set>
                                    <p:animEffect transition="in" filter="wipe(up)">
                                      <p:cBhvr>
                                        <p:cTn id="34" dur="500"/>
                                        <p:tgtEl>
                                          <p:spTgt spid="15378"/>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5384"/>
                                        </p:tgtEl>
                                        <p:attrNameLst>
                                          <p:attrName>style.visibility</p:attrName>
                                        </p:attrNameLst>
                                      </p:cBhvr>
                                      <p:to>
                                        <p:strVal val="visible"/>
                                      </p:to>
                                    </p:set>
                                    <p:animEffect transition="in" filter="wipe(left)">
                                      <p:cBhvr>
                                        <p:cTn id="38" dur="500"/>
                                        <p:tgtEl>
                                          <p:spTgt spid="15384"/>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5380"/>
                                        </p:tgtEl>
                                        <p:attrNameLst>
                                          <p:attrName>style.visibility</p:attrName>
                                        </p:attrNameLst>
                                      </p:cBhvr>
                                      <p:to>
                                        <p:strVal val="visible"/>
                                      </p:to>
                                    </p:set>
                                    <p:animEffect transition="in" filter="wipe(left)">
                                      <p:cBhvr>
                                        <p:cTn id="42" dur="500"/>
                                        <p:tgtEl>
                                          <p:spTgt spid="1538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7" grpId="0" animBg="1"/>
      <p:bldP spid="15374" grpId="0"/>
      <p:bldP spid="15375" grpId="0"/>
      <p:bldP spid="15378" grpId="0"/>
      <p:bldP spid="15380" grpId="0"/>
      <p:bldP spid="23"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16388"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16389"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16391" name="Rectangle 27"/>
          <p:cNvSpPr/>
          <p:nvPr/>
        </p:nvSpPr>
        <p:spPr>
          <a:xfrm>
            <a:off x="1214438" y="2032000"/>
            <a:ext cx="13506450"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16392" name="Rectangle 2"/>
          <p:cNvSpPr/>
          <p:nvPr/>
        </p:nvSpPr>
        <p:spPr>
          <a:xfrm>
            <a:off x="192088" y="1743075"/>
            <a:ext cx="10088562"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pic>
        <p:nvPicPr>
          <p:cNvPr id="16393"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16394"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16396"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8" name="Rectangle 46"/>
          <p:cNvSpPr>
            <a:spLocks noRot="1" noChangeAspect="1" noMove="1" noResize="1" noEditPoints="1" noAdjustHandles="1" noChangeArrowheads="1" noChangeShapeType="1" noTextEdit="1"/>
          </p:cNvSpPr>
          <p:nvPr/>
        </p:nvSpPr>
        <p:spPr bwMode="auto">
          <a:xfrm>
            <a:off x="192088" y="913497"/>
            <a:ext cx="8449749" cy="1055417"/>
          </a:xfrm>
          <a:prstGeom prst="rect">
            <a:avLst/>
          </a:prstGeom>
          <a:blipFill>
            <a:blip r:embed="rId4"/>
            <a:stretch>
              <a:fillRect b="-50867"/>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graphicFrame>
        <p:nvGraphicFramePr>
          <p:cNvPr id="16399" name="对象 59392"/>
          <p:cNvGraphicFramePr>
            <a:graphicFrameLocks noChangeAspect="1"/>
          </p:cNvGraphicFramePr>
          <p:nvPr/>
        </p:nvGraphicFramePr>
        <p:xfrm>
          <a:off x="2320608" y="2078355"/>
          <a:ext cx="2557462" cy="685800"/>
        </p:xfrm>
        <a:graphic>
          <a:graphicData uri="http://schemas.openxmlformats.org/presentationml/2006/ole">
            <mc:AlternateContent xmlns:mc="http://schemas.openxmlformats.org/markup-compatibility/2006">
              <mc:Choice xmlns:v="urn:schemas-microsoft-com:vml" Requires="v">
                <p:oleObj spid="_x0000_s3078" name="" r:id="rId5" imgW="1562100" imgH="419100" progId="Equation.3">
                  <p:embed/>
                </p:oleObj>
              </mc:Choice>
              <mc:Fallback>
                <p:oleObj name="" r:id="rId5" imgW="1562100" imgH="419100" progId="Equation.3">
                  <p:embed/>
                  <p:pic>
                    <p:nvPicPr>
                      <p:cNvPr id="0" name="图片 3077"/>
                      <p:cNvPicPr/>
                      <p:nvPr/>
                    </p:nvPicPr>
                    <p:blipFill>
                      <a:blip r:embed="rId6"/>
                      <a:stretch>
                        <a:fillRect/>
                      </a:stretch>
                    </p:blipFill>
                    <p:spPr>
                      <a:xfrm>
                        <a:off x="2320608" y="2078355"/>
                        <a:ext cx="2557462" cy="685800"/>
                      </a:xfrm>
                      <a:prstGeom prst="rect">
                        <a:avLst/>
                      </a:prstGeom>
                      <a:noFill/>
                      <a:ln w="38100">
                        <a:noFill/>
                        <a:miter/>
                      </a:ln>
                    </p:spPr>
                  </p:pic>
                </p:oleObj>
              </mc:Fallback>
            </mc:AlternateContent>
          </a:graphicData>
        </a:graphic>
      </p:graphicFrame>
      <p:sp>
        <p:nvSpPr>
          <p:cNvPr id="16400" name="矩形 59393"/>
          <p:cNvSpPr/>
          <p:nvPr/>
        </p:nvSpPr>
        <p:spPr>
          <a:xfrm>
            <a:off x="6267450" y="2143125"/>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3.4-5</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6401" name="Rectangle 7"/>
          <p:cNvSpPr/>
          <p:nvPr/>
        </p:nvSpPr>
        <p:spPr>
          <a:xfrm>
            <a:off x="2562225" y="4732338"/>
            <a:ext cx="9144000" cy="0"/>
          </a:xfrm>
          <a:prstGeom prst="rect">
            <a:avLst/>
          </a:prstGeom>
          <a:noFill/>
          <a:ln w="9525">
            <a:noFill/>
          </a:ln>
        </p:spPr>
        <p:txBody>
          <a:bodyPr wrap="none" anchor="ctr">
            <a:spAutoFit/>
          </a:bodyPr>
          <a:p>
            <a:r>
              <a:rPr lang="zh-CN" altLang="zh-CN" sz="1200" dirty="0">
                <a:latin typeface="Calibri" panose="020F0502020204030204" pitchFamily="34" charset="0"/>
                <a:cs typeface="Times New Roman" panose="02020603050405020304" pitchFamily="18" charset="0"/>
              </a:rPr>
              <a:t>。</a:t>
            </a:r>
            <a:endParaRPr lang="zh-CN" altLang="zh-CN" dirty="0">
              <a:latin typeface="Times New Roman" panose="02020603050405020304" pitchFamily="18" charset="0"/>
            </a:endParaRPr>
          </a:p>
        </p:txBody>
      </p:sp>
      <p:sp>
        <p:nvSpPr>
          <p:cNvPr id="21" name="文本框 20"/>
          <p:cNvSpPr txBox="1">
            <a:spLocks noRot="1" noChangeAspect="1" noMove="1" noResize="1" noEditPoints="1" noAdjustHandles="1" noChangeArrowheads="1" noChangeShapeType="1" noTextEdit="1"/>
          </p:cNvSpPr>
          <p:nvPr/>
        </p:nvSpPr>
        <p:spPr>
          <a:xfrm>
            <a:off x="576402" y="2802266"/>
            <a:ext cx="7980454" cy="1015663"/>
          </a:xfrm>
          <a:prstGeom prst="rect">
            <a:avLst/>
          </a:prstGeom>
          <a:blipFill>
            <a:blip r:embed="rId7"/>
            <a:stretch>
              <a:fillRect l="-840" b="-4819"/>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2" name="文本框 21"/>
          <p:cNvSpPr txBox="1">
            <a:spLocks noRot="1" noChangeAspect="1" noMove="1" noResize="1" noEditPoints="1" noAdjustHandles="1" noChangeArrowheads="1" noChangeShapeType="1" noTextEdit="1"/>
          </p:cNvSpPr>
          <p:nvPr/>
        </p:nvSpPr>
        <p:spPr>
          <a:xfrm>
            <a:off x="980666" y="3906062"/>
            <a:ext cx="3516284" cy="400110"/>
          </a:xfrm>
          <a:prstGeom prst="rect">
            <a:avLst/>
          </a:prstGeom>
          <a:blipFill>
            <a:blip r:embed="rId8"/>
            <a:stretch>
              <a:fillRect l="-1906" t="-9231" r="-1213" b="-27692"/>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4" name="矩形 23"/>
          <p:cNvSpPr>
            <a:spLocks noRot="1" noChangeAspect="1" noMove="1" noResize="1" noEditPoints="1" noAdjustHandles="1" noChangeArrowheads="1" noChangeShapeType="1" noTextEdit="1"/>
          </p:cNvSpPr>
          <p:nvPr/>
        </p:nvSpPr>
        <p:spPr>
          <a:xfrm>
            <a:off x="2111521" y="4421757"/>
            <a:ext cx="3966194" cy="783869"/>
          </a:xfrm>
          <a:prstGeom prst="rect">
            <a:avLst/>
          </a:prstGeom>
          <a:blipFill>
            <a:blip r:embed="rId9"/>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16405" name="矩形 40"/>
          <p:cNvSpPr/>
          <p:nvPr/>
        </p:nvSpPr>
        <p:spPr>
          <a:xfrm>
            <a:off x="6369050" y="4683125"/>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3.4-6</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5" name="矩形 24"/>
          <p:cNvSpPr/>
          <p:nvPr/>
        </p:nvSpPr>
        <p:spPr>
          <a:xfrm>
            <a:off x="808673" y="5301615"/>
            <a:ext cx="5067300" cy="500063"/>
          </a:xfrm>
          <a:prstGeom prst="rect">
            <a:avLst/>
          </a:prstGeom>
        </p:spPr>
        <p:txBody>
          <a:bodyPr>
            <a:spAutoFit/>
          </a:bodyPr>
          <a:lstStyle/>
          <a:p>
            <a:pPr marL="0" marR="0" lvl="0" indent="0" algn="just" defTabSz="914400" rtl="0" eaLnBrk="0" fontAlgn="base" latinLnBrk="0" hangingPunct="0">
              <a:lnSpc>
                <a:spcPct val="150000"/>
              </a:lnSpc>
              <a:spcBef>
                <a:spcPct val="0"/>
              </a:spcBef>
              <a:spcAft>
                <a:spcPts val="0"/>
              </a:spcAft>
              <a:buClrTx/>
              <a:buSzTx/>
              <a:buFontTx/>
              <a:buNone/>
              <a:defRPr/>
            </a:pPr>
            <a:r>
              <a:rPr kumimoji="1" lang="zh-CN"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其中“</a:t>
            </a:r>
            <a:r>
              <a:rPr kumimoji="1" lang="en-US"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a:t>
            </a:r>
            <a:r>
              <a:rPr kumimoji="1" lang="zh-CN"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”用于外啮合，“</a:t>
            </a:r>
            <a:r>
              <a:rPr kumimoji="1" lang="en-US"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a:t>
            </a:r>
            <a:r>
              <a:rPr kumimoji="1" lang="zh-CN"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”用于内啮合。</a:t>
            </a:r>
            <a:endParaRPr kumimoji="1" lang="zh-CN" altLang="zh-CN" sz="16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9699" name="Rectangle 4"/>
          <p:cNvSpPr>
            <a:spLocks noChangeArrowheads="1"/>
          </p:cNvSpPr>
          <p:nvPr/>
        </p:nvSpPr>
        <p:spPr bwMode="auto">
          <a:xfrm>
            <a:off x="1949450" y="236220"/>
            <a:ext cx="65754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971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6399"/>
                                        </p:tgtEl>
                                        <p:attrNameLst>
                                          <p:attrName>style.visibility</p:attrName>
                                        </p:attrNameLst>
                                      </p:cBhvr>
                                      <p:to>
                                        <p:strVal val="visible"/>
                                      </p:to>
                                    </p:set>
                                    <p:animEffect transition="in" filter="wipe(left)">
                                      <p:cBhvr>
                                        <p:cTn id="13" dur="500"/>
                                        <p:tgtEl>
                                          <p:spTgt spid="16399"/>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6400"/>
                                        </p:tgtEl>
                                        <p:attrNameLst>
                                          <p:attrName>style.visibility</p:attrName>
                                        </p:attrNameLst>
                                      </p:cBhvr>
                                      <p:to>
                                        <p:strVal val="visible"/>
                                      </p:to>
                                    </p:set>
                                    <p:animEffect transition="in" filter="wipe(left)">
                                      <p:cBhvr>
                                        <p:cTn id="17" dur="500"/>
                                        <p:tgtEl>
                                          <p:spTgt spid="16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6405"/>
                                        </p:tgtEl>
                                        <p:attrNameLst>
                                          <p:attrName>style.visibility</p:attrName>
                                        </p:attrNameLst>
                                      </p:cBhvr>
                                      <p:to>
                                        <p:strVal val="visible"/>
                                      </p:to>
                                    </p:set>
                                    <p:animEffect transition="in" filter="wipe(left)">
                                      <p:cBhvr>
                                        <p:cTn id="36" dur="500"/>
                                        <p:tgtEl>
                                          <p:spTgt spid="16405"/>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16400" grpId="0"/>
      <p:bldP spid="21" grpId="0" animBg="1"/>
      <p:bldP spid="22" grpId="0" animBg="1"/>
      <p:bldP spid="24" grpId="0" animBg="1"/>
      <p:bldP spid="16405" grpId="0"/>
      <p:bldP spid="2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5362575" y="906463"/>
            <a:ext cx="1628775" cy="2016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齿轮传动的计算载荷</a:t>
            </a:r>
            <a:endParaRPr lang="zh-CN" altLang="en-US" sz="800" smtClean="0">
              <a:solidFill>
                <a:schemeClr val="bg1"/>
              </a:solidFill>
              <a:latin typeface="华文中宋" panose="02010600040101010101" pitchFamily="2" charset="-122"/>
              <a:ea typeface="华文中宋" panose="02010600040101010101" pitchFamily="2" charset="-122"/>
            </a:endParaRPr>
          </a:p>
        </p:txBody>
      </p:sp>
      <p:sp>
        <p:nvSpPr>
          <p:cNvPr id="2971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25" name="文本框 2"/>
          <p:cNvSpPr txBox="1"/>
          <p:nvPr/>
        </p:nvSpPr>
        <p:spPr>
          <a:xfrm>
            <a:off x="363855" y="965518"/>
            <a:ext cx="8415338" cy="1014730"/>
          </a:xfrm>
          <a:prstGeom prst="rect">
            <a:avLst/>
          </a:prstGeom>
          <a:noFill/>
          <a:ln w="9525">
            <a:noFill/>
          </a:ln>
        </p:spPr>
        <p:txBody>
          <a:bodyPr>
            <a:spAutoFit/>
          </a:bodyPr>
          <a:p>
            <a:pPr>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将式（</a:t>
            </a:r>
            <a:r>
              <a:rPr lang="en-US" altLang="zh-CN" dirty="0">
                <a:latin typeface="Times New Roman" panose="02020603050405020304" pitchFamily="18" charset="0"/>
              </a:rPr>
              <a:t>3.4-2</a:t>
            </a:r>
            <a:r>
              <a:rPr lang="zh-CN" altLang="zh-CN" dirty="0">
                <a:latin typeface="Times New Roman" panose="02020603050405020304" pitchFamily="18" charset="0"/>
              </a:rPr>
              <a:t>）和式（</a:t>
            </a:r>
            <a:r>
              <a:rPr lang="en-US" altLang="zh-CN" dirty="0">
                <a:latin typeface="Times New Roman" panose="02020603050405020304" pitchFamily="18" charset="0"/>
              </a:rPr>
              <a:t>3.4-5</a:t>
            </a:r>
            <a:r>
              <a:rPr lang="zh-CN" altLang="zh-CN" dirty="0">
                <a:latin typeface="Times New Roman" panose="02020603050405020304" pitchFamily="18" charset="0"/>
              </a:rPr>
              <a:t>）代</a:t>
            </a:r>
            <a:r>
              <a:rPr lang="zh-CN" altLang="zh-CN" dirty="0">
                <a:latin typeface="Times New Roman" panose="02020603050405020304" pitchFamily="18" charset="0"/>
              </a:rPr>
              <a:t>入（</a:t>
            </a:r>
            <a:r>
              <a:rPr lang="en-US" altLang="zh-CN" dirty="0">
                <a:latin typeface="Times New Roman" panose="02020603050405020304" pitchFamily="18" charset="0"/>
              </a:rPr>
              <a:t>3.4-3</a:t>
            </a:r>
            <a:r>
              <a:rPr lang="zh-CN" altLang="zh-CN" dirty="0">
                <a:latin typeface="Times New Roman" panose="02020603050405020304" pitchFamily="18" charset="0"/>
              </a:rPr>
              <a:t>）中，并计入上述载荷系数的影响，</a:t>
            </a:r>
            <a:r>
              <a:rPr lang="zh-CN" altLang="zh-CN" b="1" dirty="0">
                <a:solidFill>
                  <a:srgbClr val="C00000"/>
                </a:solidFill>
                <a:latin typeface="Times New Roman" panose="02020603050405020304" pitchFamily="18" charset="0"/>
              </a:rPr>
              <a:t>可得斜齿轮（直齿轮实为斜齿轮一特例）单位计算载荷</a:t>
            </a:r>
            <a:r>
              <a:rPr lang="en-US" altLang="zh-CN" b="1" dirty="0">
                <a:solidFill>
                  <a:srgbClr val="C00000"/>
                </a:solidFill>
                <a:latin typeface="Times New Roman" panose="02020603050405020304" pitchFamily="18" charset="0"/>
              </a:rPr>
              <a:t>:</a:t>
            </a:r>
            <a:endParaRPr lang="en-US" altLang="zh-CN" b="1" dirty="0">
              <a:solidFill>
                <a:srgbClr val="C00000"/>
              </a:solidFill>
              <a:latin typeface="Times New Roman" panose="02020603050405020304" pitchFamily="18" charset="0"/>
            </a:endParaRPr>
          </a:p>
        </p:txBody>
      </p:sp>
      <p:sp>
        <p:nvSpPr>
          <p:cNvPr id="17427" name="矩形 26"/>
          <p:cNvSpPr/>
          <p:nvPr/>
        </p:nvSpPr>
        <p:spPr>
          <a:xfrm>
            <a:off x="7547610" y="4176713"/>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3.4-8</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4" name="Rectangle 4"/>
          <p:cNvSpPr>
            <a:spLocks noChangeArrowheads="1"/>
          </p:cNvSpPr>
          <p:nvPr/>
        </p:nvSpPr>
        <p:spPr bwMode="auto">
          <a:xfrm>
            <a:off x="2673033" y="235903"/>
            <a:ext cx="58515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圆柱齿轮的设计</a:t>
            </a:r>
            <a:endParaRPr lang="zh-CN" altLang="en-US" sz="3000" dirty="0">
              <a:solidFill>
                <a:srgbClr val="CC3300"/>
              </a:solidFill>
              <a:latin typeface="黑体" panose="02010609060101010101" pitchFamily="49" charset="-122"/>
              <a:ea typeface="黑体" panose="02010609060101010101" pitchFamily="49" charset="-122"/>
            </a:endParaRPr>
          </a:p>
        </p:txBody>
      </p:sp>
      <p:graphicFrame>
        <p:nvGraphicFramePr>
          <p:cNvPr id="6" name="对象 5">
            <a:hlinkClick r:id="" action="ppaction://ole?verb="/>
          </p:cNvPr>
          <p:cNvGraphicFramePr>
            <a:graphicFrameLocks noChangeAspect="1"/>
          </p:cNvGraphicFramePr>
          <p:nvPr/>
        </p:nvGraphicFramePr>
        <p:xfrm>
          <a:off x="5003165" y="5264150"/>
          <a:ext cx="1988185" cy="901065"/>
        </p:xfrm>
        <a:graphic>
          <a:graphicData uri="http://schemas.openxmlformats.org/presentationml/2006/ole">
            <mc:AlternateContent xmlns:mc="http://schemas.openxmlformats.org/markup-compatibility/2006">
              <mc:Choice xmlns:v="urn:schemas-microsoft-com:vml" Requires="v">
                <p:oleObj spid="_x0000_s3073" name="" r:id="rId1" imgW="952500" imgH="431800" progId="Equation.KSEE3">
                  <p:embed/>
                </p:oleObj>
              </mc:Choice>
              <mc:Fallback>
                <p:oleObj name="" r:id="rId1" imgW="952500" imgH="431800" progId="Equation.KSEE3">
                  <p:embed/>
                  <p:pic>
                    <p:nvPicPr>
                      <p:cNvPr id="0" name="图片 3072"/>
                      <p:cNvPicPr/>
                      <p:nvPr/>
                    </p:nvPicPr>
                    <p:blipFill>
                      <a:blip r:embed="rId2"/>
                      <a:stretch>
                        <a:fillRect/>
                      </a:stretch>
                    </p:blipFill>
                    <p:spPr>
                      <a:xfrm>
                        <a:off x="5003165" y="5264150"/>
                        <a:ext cx="1988185" cy="901065"/>
                      </a:xfrm>
                      <a:prstGeom prst="rect">
                        <a:avLst/>
                      </a:prstGeom>
                      <a:ln>
                        <a:solidFill>
                          <a:srgbClr val="00B050"/>
                        </a:solidFill>
                      </a:ln>
                    </p:spPr>
                  </p:pic>
                </p:oleObj>
              </mc:Fallback>
            </mc:AlternateContent>
          </a:graphicData>
        </a:graphic>
      </p:graphicFrame>
      <p:grpSp>
        <p:nvGrpSpPr>
          <p:cNvPr id="10" name="组合 9"/>
          <p:cNvGrpSpPr/>
          <p:nvPr/>
        </p:nvGrpSpPr>
        <p:grpSpPr>
          <a:xfrm>
            <a:off x="851535" y="4848860"/>
            <a:ext cx="6631940" cy="398780"/>
            <a:chOff x="1538" y="5644"/>
            <a:chExt cx="10444" cy="628"/>
          </a:xfrm>
        </p:grpSpPr>
        <p:sp>
          <p:nvSpPr>
            <p:cNvPr id="7" name="文本框 6"/>
            <p:cNvSpPr txBox="1"/>
            <p:nvPr/>
          </p:nvSpPr>
          <p:spPr>
            <a:xfrm>
              <a:off x="1538" y="5644"/>
              <a:ext cx="8042" cy="628"/>
            </a:xfrm>
            <a:prstGeom prst="rect">
              <a:avLst/>
            </a:prstGeom>
            <a:noFill/>
          </p:spPr>
          <p:txBody>
            <a:bodyPr wrap="square" rtlCol="0">
              <a:spAutoFit/>
            </a:bodyPr>
            <a:p>
              <a:r>
                <a:rPr lang="zh-CN" altLang="en-US"/>
                <a:t>对于直齿轮的单位计算载荷时，</a:t>
              </a:r>
              <a:endParaRPr lang="zh-CN" altLang="en-US"/>
            </a:p>
          </p:txBody>
        </p:sp>
        <p:graphicFrame>
          <p:nvGraphicFramePr>
            <p:cNvPr id="8" name="对象 7">
              <a:hlinkClick r:id="" action="ppaction://ole?verb="/>
            </p:cNvPr>
            <p:cNvGraphicFramePr>
              <a:graphicFrameLocks noChangeAspect="1"/>
            </p:cNvGraphicFramePr>
            <p:nvPr/>
          </p:nvGraphicFramePr>
          <p:xfrm>
            <a:off x="7267" y="5648"/>
            <a:ext cx="4715" cy="624"/>
          </p:xfrm>
          <a:graphic>
            <a:graphicData uri="http://schemas.openxmlformats.org/presentationml/2006/ole">
              <mc:AlternateContent xmlns:mc="http://schemas.openxmlformats.org/markup-compatibility/2006">
                <mc:Choice xmlns:v="urn:schemas-microsoft-com:vml" Requires="v">
                  <p:oleObj spid="_x0000_s3074" name="" r:id="rId3" imgW="1727200" imgH="228600" progId="Equation.KSEE3">
                    <p:embed/>
                  </p:oleObj>
                </mc:Choice>
                <mc:Fallback>
                  <p:oleObj name="" r:id="rId3" imgW="1727200" imgH="228600" progId="Equation.KSEE3">
                    <p:embed/>
                    <p:pic>
                      <p:nvPicPr>
                        <p:cNvPr id="0" name="图片 3073"/>
                        <p:cNvPicPr/>
                        <p:nvPr/>
                      </p:nvPicPr>
                      <p:blipFill>
                        <a:blip r:embed="rId4"/>
                        <a:stretch>
                          <a:fillRect/>
                        </a:stretch>
                      </p:blipFill>
                      <p:spPr>
                        <a:xfrm>
                          <a:off x="7267" y="5648"/>
                          <a:ext cx="4715" cy="624"/>
                        </a:xfrm>
                        <a:prstGeom prst="rect">
                          <a:avLst/>
                        </a:prstGeom>
                      </p:spPr>
                    </p:pic>
                  </p:oleObj>
                </mc:Fallback>
              </mc:AlternateContent>
            </a:graphicData>
          </a:graphic>
        </p:graphicFrame>
      </p:grpSp>
      <p:sp>
        <p:nvSpPr>
          <p:cNvPr id="9" name="文本框 8"/>
          <p:cNvSpPr txBox="1"/>
          <p:nvPr/>
        </p:nvSpPr>
        <p:spPr>
          <a:xfrm>
            <a:off x="753745" y="5469890"/>
            <a:ext cx="3992880" cy="398780"/>
          </a:xfrm>
          <a:prstGeom prst="rect">
            <a:avLst/>
          </a:prstGeom>
          <a:noFill/>
        </p:spPr>
        <p:txBody>
          <a:bodyPr wrap="none" rtlCol="0" anchor="t">
            <a:spAutoFit/>
          </a:bodyPr>
          <a:p>
            <a:r>
              <a:rPr lang="zh-CN" altLang="en-US">
                <a:sym typeface="+mn-ea"/>
              </a:rPr>
              <a:t>因此，</a:t>
            </a:r>
            <a:r>
              <a:rPr lang="zh-CN" altLang="en-US">
                <a:solidFill>
                  <a:srgbClr val="C00000"/>
                </a:solidFill>
                <a:latin typeface="黑体" panose="02010609060101010101" pitchFamily="49" charset="-122"/>
                <a:ea typeface="黑体" panose="02010609060101010101" pitchFamily="49" charset="-122"/>
                <a:sym typeface="+mn-ea"/>
              </a:rPr>
              <a:t>直齿轮的单位计算载荷为：</a:t>
            </a:r>
            <a:endParaRPr lang="zh-CN" altLang="en-US">
              <a:solidFill>
                <a:srgbClr val="C00000"/>
              </a:solidFill>
              <a:latin typeface="黑体" panose="02010609060101010101" pitchFamily="49" charset="-122"/>
              <a:ea typeface="黑体" panose="02010609060101010101" pitchFamily="49" charset="-122"/>
              <a:sym typeface="+mn-ea"/>
            </a:endParaRPr>
          </a:p>
        </p:txBody>
      </p:sp>
      <p:graphicFrame>
        <p:nvGraphicFramePr>
          <p:cNvPr id="2" name="对象 1">
            <a:hlinkClick r:id="" action="ppaction://ole?verb="/>
          </p:cNvPr>
          <p:cNvGraphicFramePr>
            <a:graphicFrameLocks noChangeAspect="1"/>
          </p:cNvGraphicFramePr>
          <p:nvPr/>
        </p:nvGraphicFramePr>
        <p:xfrm>
          <a:off x="4369118" y="3858260"/>
          <a:ext cx="2755900" cy="901065"/>
        </p:xfrm>
        <a:graphic>
          <a:graphicData uri="http://schemas.openxmlformats.org/presentationml/2006/ole">
            <mc:AlternateContent xmlns:mc="http://schemas.openxmlformats.org/markup-compatibility/2006">
              <mc:Choice xmlns:v="urn:schemas-microsoft-com:vml" Requires="v">
                <p:oleObj spid="_x0000_s3" name="" r:id="rId5" imgW="1320165" imgH="431800" progId="Equation.KSEE3">
                  <p:embed/>
                </p:oleObj>
              </mc:Choice>
              <mc:Fallback>
                <p:oleObj name="" r:id="rId5" imgW="1320165" imgH="431800" progId="Equation.KSEE3">
                  <p:embed/>
                  <p:pic>
                    <p:nvPicPr>
                      <p:cNvPr id="0" name="图片 3072"/>
                      <p:cNvPicPr/>
                      <p:nvPr/>
                    </p:nvPicPr>
                    <p:blipFill>
                      <a:blip r:embed="rId6"/>
                      <a:stretch>
                        <a:fillRect/>
                      </a:stretch>
                    </p:blipFill>
                    <p:spPr>
                      <a:xfrm>
                        <a:off x="4369118" y="3858260"/>
                        <a:ext cx="2755900" cy="901065"/>
                      </a:xfrm>
                      <a:prstGeom prst="rect">
                        <a:avLst/>
                      </a:prstGeom>
                      <a:ln>
                        <a:solidFill>
                          <a:srgbClr val="00B0F0"/>
                        </a:solidFill>
                      </a:ln>
                    </p:spPr>
                  </p:pic>
                </p:oleObj>
              </mc:Fallback>
            </mc:AlternateContent>
          </a:graphicData>
        </a:graphic>
      </p:graphicFrame>
      <p:graphicFrame>
        <p:nvGraphicFramePr>
          <p:cNvPr id="5" name="Object 26"/>
          <p:cNvGraphicFramePr>
            <a:graphicFrameLocks noChangeAspect="1"/>
          </p:cNvGraphicFramePr>
          <p:nvPr/>
        </p:nvGraphicFramePr>
        <p:xfrm>
          <a:off x="579755" y="2181066"/>
          <a:ext cx="4340225" cy="816610"/>
        </p:xfrm>
        <a:graphic>
          <a:graphicData uri="http://schemas.openxmlformats.org/presentationml/2006/ole">
            <mc:AlternateContent xmlns:mc="http://schemas.openxmlformats.org/markup-compatibility/2006">
              <mc:Choice xmlns:v="urn:schemas-microsoft-com:vml" Requires="v">
                <p:oleObj spid="_x0000_s11" name="Equation" r:id="rId7" imgW="2159000" imgH="431800" progId="Equation.3">
                  <p:embed/>
                </p:oleObj>
              </mc:Choice>
              <mc:Fallback>
                <p:oleObj name="Equation" r:id="rId7" imgW="2159000" imgH="431800" progId="Equation.3">
                  <p:embed/>
                  <p:pic>
                    <p:nvPicPr>
                      <p:cNvPr id="0" name="图片 25759"/>
                      <p:cNvPicPr>
                        <a:picLocks noChangeAspect="1" noChangeArrowheads="1"/>
                      </p:cNvPicPr>
                      <p:nvPr/>
                    </p:nvPicPr>
                    <p:blipFill>
                      <a:blip r:embed="rId8"/>
                      <a:srcRect/>
                      <a:stretch>
                        <a:fillRect/>
                      </a:stretch>
                    </p:blipFill>
                    <p:spPr bwMode="auto">
                      <a:xfrm>
                        <a:off x="579755" y="2181066"/>
                        <a:ext cx="4340225" cy="816610"/>
                      </a:xfrm>
                      <a:prstGeom prst="rect">
                        <a:avLst/>
                      </a:prstGeom>
                      <a:noFill/>
                      <a:ln w="19050">
                        <a:solidFill>
                          <a:schemeClr val="tx2">
                            <a:lumMod val="20000"/>
                            <a:lumOff val="80000"/>
                          </a:schemeClr>
                        </a:solid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9" name="对象 59392"/>
          <p:cNvGraphicFramePr>
            <a:graphicFrameLocks noChangeAspect="1"/>
          </p:cNvGraphicFramePr>
          <p:nvPr/>
        </p:nvGraphicFramePr>
        <p:xfrm>
          <a:off x="753428" y="3198495"/>
          <a:ext cx="2557462" cy="685800"/>
        </p:xfrm>
        <a:graphic>
          <a:graphicData uri="http://schemas.openxmlformats.org/presentationml/2006/ole">
            <mc:AlternateContent xmlns:mc="http://schemas.openxmlformats.org/markup-compatibility/2006">
              <mc:Choice xmlns:v="urn:schemas-microsoft-com:vml" Requires="v">
                <p:oleObj spid="_x0000_s3078" name="" r:id="rId9" imgW="1562100" imgH="419100" progId="Equation.3">
                  <p:embed/>
                </p:oleObj>
              </mc:Choice>
              <mc:Fallback>
                <p:oleObj name="" r:id="rId9" imgW="1562100" imgH="419100" progId="Equation.3">
                  <p:embed/>
                  <p:pic>
                    <p:nvPicPr>
                      <p:cNvPr id="0" name="图片 3077"/>
                      <p:cNvPicPr/>
                      <p:nvPr/>
                    </p:nvPicPr>
                    <p:blipFill>
                      <a:blip r:embed="rId10"/>
                      <a:stretch>
                        <a:fillRect/>
                      </a:stretch>
                    </p:blipFill>
                    <p:spPr>
                      <a:xfrm>
                        <a:off x="753428" y="3198495"/>
                        <a:ext cx="2557462" cy="685800"/>
                      </a:xfrm>
                      <a:prstGeom prst="rect">
                        <a:avLst/>
                      </a:prstGeom>
                      <a:noFill/>
                      <a:ln w="19050">
                        <a:solidFill>
                          <a:schemeClr val="tx2">
                            <a:lumMod val="20000"/>
                            <a:lumOff val="80000"/>
                          </a:schemeClr>
                        </a:solidFill>
                        <a:miter/>
                      </a:ln>
                    </p:spPr>
                  </p:pic>
                </p:oleObj>
              </mc:Fallback>
            </mc:AlternateContent>
          </a:graphicData>
        </a:graphic>
      </p:graphicFrame>
      <p:sp>
        <p:nvSpPr>
          <p:cNvPr id="12" name="右箭头 11"/>
          <p:cNvSpPr/>
          <p:nvPr/>
        </p:nvSpPr>
        <p:spPr>
          <a:xfrm>
            <a:off x="5239385" y="2969260"/>
            <a:ext cx="586105" cy="276860"/>
          </a:xfrm>
          <a:prstGeom prst="rightArrow">
            <a:avLst/>
          </a:prstGeom>
          <a:solidFill>
            <a:schemeClr val="bg2">
              <a:lumMod val="9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graphicFrame>
        <p:nvGraphicFramePr>
          <p:cNvPr id="13" name="对象 12">
            <a:hlinkClick r:id="" action="ppaction://ole?verb="/>
          </p:cNvPr>
          <p:cNvGraphicFramePr>
            <a:graphicFrameLocks noChangeAspect="1"/>
          </p:cNvGraphicFramePr>
          <p:nvPr/>
        </p:nvGraphicFramePr>
        <p:xfrm>
          <a:off x="5999480" y="2741295"/>
          <a:ext cx="1228725" cy="818515"/>
        </p:xfrm>
        <a:graphic>
          <a:graphicData uri="http://schemas.openxmlformats.org/presentationml/2006/ole">
            <mc:AlternateContent xmlns:mc="http://schemas.openxmlformats.org/markup-compatibility/2006">
              <mc:Choice xmlns:v="urn:schemas-microsoft-com:vml" Requires="v">
                <p:oleObj spid="_x0000_s1025" name="" r:id="rId11" imgW="533400" imgH="431800" progId="Equation.KSEE3">
                  <p:embed/>
                </p:oleObj>
              </mc:Choice>
              <mc:Fallback>
                <p:oleObj name="" r:id="rId11" imgW="533400" imgH="431800" progId="Equation.KSEE3">
                  <p:embed/>
                  <p:pic>
                    <p:nvPicPr>
                      <p:cNvPr id="0" name="图片 1024"/>
                      <p:cNvPicPr/>
                      <p:nvPr/>
                    </p:nvPicPr>
                    <p:blipFill>
                      <a:blip r:embed="rId12"/>
                      <a:stretch>
                        <a:fillRect/>
                      </a:stretch>
                    </p:blipFill>
                    <p:spPr>
                      <a:xfrm>
                        <a:off x="5999480" y="2741295"/>
                        <a:ext cx="1228725" cy="818515"/>
                      </a:xfrm>
                      <a:prstGeom prst="rect">
                        <a:avLst/>
                      </a:prstGeom>
                      <a:ln>
                        <a:solidFill>
                          <a:srgbClr val="00B0F0"/>
                        </a:solidFill>
                      </a:ln>
                    </p:spPr>
                  </p:pic>
                </p:oleObj>
              </mc:Fallback>
            </mc:AlternateContent>
          </a:graphicData>
        </a:graphic>
      </p:graphicFrame>
      <p:sp>
        <p:nvSpPr>
          <p:cNvPr id="14" name="右箭头 13"/>
          <p:cNvSpPr/>
          <p:nvPr/>
        </p:nvSpPr>
        <p:spPr>
          <a:xfrm>
            <a:off x="3333115" y="4196715"/>
            <a:ext cx="836295" cy="309245"/>
          </a:xfrm>
          <a:prstGeom prst="rightArrow">
            <a:avLst/>
          </a:prstGeom>
          <a:solidFill>
            <a:schemeClr val="accent1"/>
          </a:solidFill>
          <a:ln w="9525" cap="flat" cmpd="sng" algn="ctr">
            <a:solidFill>
              <a:schemeClr val="tx1"/>
            </a:solidFill>
            <a:prstDash val="solid"/>
            <a:round/>
            <a:headEnd type="none" w="med" len="med"/>
            <a:tailEnd type="none" w="med" len="med"/>
          </a:ln>
          <a:effectLst>
            <a:outerShdw blurRad="50800" dist="38100" algn="l" rotWithShape="0">
              <a:prstClr val="black">
                <a:alpha val="40000"/>
              </a:prstClr>
            </a:outerShdw>
          </a:effec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outerShdw blurRad="50800" dist="38100" dir="5400000" algn="t" rotWithShape="0">
                  <a:prstClr val="black">
                    <a:alpha val="40000"/>
                  </a:prstClr>
                </a:outerShdw>
              </a:effectLst>
              <a:latin typeface="Times New Roman" panose="02020603050405020304" pitchFamily="18"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399"/>
                                        </p:tgtEl>
                                        <p:attrNameLst>
                                          <p:attrName>style.visibility</p:attrName>
                                        </p:attrNameLst>
                                      </p:cBhvr>
                                      <p:to>
                                        <p:strVal val="visible"/>
                                      </p:to>
                                    </p:set>
                                    <p:animEffect transition="in" filter="wipe(left)">
                                      <p:cBhvr>
                                        <p:cTn id="12" dur="500"/>
                                        <p:tgtEl>
                                          <p:spTgt spid="163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7427"/>
                                        </p:tgtEl>
                                        <p:attrNameLst>
                                          <p:attrName>style.visibility</p:attrName>
                                        </p:attrNameLst>
                                      </p:cBhvr>
                                      <p:to>
                                        <p:strVal val="visible"/>
                                      </p:to>
                                    </p:set>
                                    <p:animEffect transition="in" filter="wipe(left)">
                                      <p:cBhvr>
                                        <p:cTn id="34" dur="500"/>
                                        <p:tgtEl>
                                          <p:spTgt spid="174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7" grpId="0"/>
      <p:bldP spid="9" grpId="0"/>
      <p:bldP spid="12" grpId="0" animBg="1"/>
      <p:bldP spid="1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5737225" y="922655"/>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22536"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2537" name="Rectangle 23"/>
          <p:cNvSpPr/>
          <p:nvPr/>
        </p:nvSpPr>
        <p:spPr>
          <a:xfrm>
            <a:off x="0" y="44132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2538"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2539" name="文本框 1"/>
          <p:cNvSpPr txBox="1"/>
          <p:nvPr/>
        </p:nvSpPr>
        <p:spPr>
          <a:xfrm>
            <a:off x="353378" y="6161088"/>
            <a:ext cx="3024187" cy="338137"/>
          </a:xfrm>
          <a:prstGeom prst="rect">
            <a:avLst/>
          </a:prstGeom>
          <a:noFill/>
          <a:ln w="9525">
            <a:noFill/>
          </a:ln>
        </p:spPr>
        <p:txBody>
          <a:bodyPr wrap="none">
            <a:spAutoFit/>
          </a:bodyPr>
          <a:p>
            <a:r>
              <a:rPr lang="zh-CN" altLang="en-US" sz="1600" dirty="0">
                <a:latin typeface="Times New Roman" panose="02020603050405020304" pitchFamily="18" charset="0"/>
              </a:rPr>
              <a:t>图</a:t>
            </a:r>
            <a:r>
              <a:rPr lang="en-US" altLang="zh-CN" sz="1600" dirty="0">
                <a:latin typeface="Times New Roman" panose="02020603050405020304" pitchFamily="18" charset="0"/>
              </a:rPr>
              <a:t>3.4-12 </a:t>
            </a:r>
            <a:r>
              <a:rPr lang="zh-CN" altLang="zh-CN" sz="1600" dirty="0">
                <a:latin typeface="Times New Roman" panose="02020603050405020304" pitchFamily="18" charset="0"/>
              </a:rPr>
              <a:t>齿面接触疲劳强度简图</a:t>
            </a:r>
            <a:endParaRPr lang="zh-CN" altLang="zh-CN" sz="1600" dirty="0">
              <a:latin typeface="Times New Roman" panose="02020603050405020304" pitchFamily="18" charset="0"/>
            </a:endParaRPr>
          </a:p>
        </p:txBody>
      </p:sp>
      <p:sp>
        <p:nvSpPr>
          <p:cNvPr id="22540" name="文本框 2"/>
          <p:cNvSpPr txBox="1"/>
          <p:nvPr/>
        </p:nvSpPr>
        <p:spPr>
          <a:xfrm>
            <a:off x="130175" y="807085"/>
            <a:ext cx="4693285" cy="460375"/>
          </a:xfrm>
          <a:prstGeom prst="rect">
            <a:avLst/>
          </a:prstGeom>
          <a:noFill/>
          <a:ln w="9525">
            <a:noFill/>
          </a:ln>
        </p:spPr>
        <p:txBody>
          <a:bodyPr wrap="square">
            <a:spAutoFit/>
          </a:bodyPr>
          <a:p>
            <a:r>
              <a:rPr lang="zh-CN" altLang="zh-CN" sz="2400" dirty="0">
                <a:solidFill>
                  <a:srgbClr val="C00000"/>
                </a:solidFill>
                <a:latin typeface="黑体" panose="02010609060101010101" pitchFamily="49" charset="-122"/>
                <a:ea typeface="黑体" panose="02010609060101010101" pitchFamily="49" charset="-122"/>
              </a:rPr>
              <a:t>四、齿面接触疲劳强度计算</a:t>
            </a:r>
            <a:endParaRPr lang="zh-CN" altLang="zh-CN" sz="2400" dirty="0">
              <a:solidFill>
                <a:srgbClr val="C00000"/>
              </a:solidFill>
              <a:latin typeface="黑体" panose="02010609060101010101" pitchFamily="49" charset="-122"/>
              <a:ea typeface="黑体" panose="02010609060101010101" pitchFamily="49" charset="-122"/>
            </a:endParaRPr>
          </a:p>
        </p:txBody>
      </p:sp>
      <p:sp>
        <p:nvSpPr>
          <p:cNvPr id="22541" name="文本框 3"/>
          <p:cNvSpPr txBox="1"/>
          <p:nvPr/>
        </p:nvSpPr>
        <p:spPr>
          <a:xfrm>
            <a:off x="274955" y="1691640"/>
            <a:ext cx="8593138" cy="1014730"/>
          </a:xfrm>
          <a:prstGeom prst="rect">
            <a:avLst/>
          </a:prstGeom>
          <a:noFill/>
          <a:ln w="9525">
            <a:noFill/>
          </a:ln>
        </p:spPr>
        <p:txBody>
          <a:bodyPr wrap="square">
            <a:spAutoFit/>
          </a:bodyPr>
          <a:p>
            <a:pPr>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对于闭式软面齿轮传动，其主要失效形式是齿面点蚀，因此闭式齿轮传动通常要进行接触疲劳强度计算。</a:t>
            </a:r>
            <a:endParaRPr lang="zh-CN" altLang="zh-CN" dirty="0">
              <a:latin typeface="Times New Roman" panose="02020603050405020304" pitchFamily="18" charset="0"/>
            </a:endParaRPr>
          </a:p>
        </p:txBody>
      </p:sp>
      <p:sp>
        <p:nvSpPr>
          <p:cNvPr id="22542" name="Rectangle 2"/>
          <p:cNvSpPr/>
          <p:nvPr/>
        </p:nvSpPr>
        <p:spPr>
          <a:xfrm>
            <a:off x="2971800" y="2633663"/>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2543" name="文本框 8"/>
          <p:cNvSpPr txBox="1"/>
          <p:nvPr/>
        </p:nvSpPr>
        <p:spPr>
          <a:xfrm>
            <a:off x="7063740" y="3376295"/>
            <a:ext cx="1358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3.4-10</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pic>
        <p:nvPicPr>
          <p:cNvPr id="22544" name="图片 19"/>
          <p:cNvPicPr>
            <a:picLocks noChangeAspect="1"/>
          </p:cNvPicPr>
          <p:nvPr/>
        </p:nvPicPr>
        <p:blipFill>
          <a:blip r:embed="rId1"/>
          <a:stretch>
            <a:fillRect/>
          </a:stretch>
        </p:blipFill>
        <p:spPr>
          <a:xfrm>
            <a:off x="0" y="2624138"/>
            <a:ext cx="3044825" cy="3536950"/>
          </a:xfrm>
          <a:prstGeom prst="rect">
            <a:avLst/>
          </a:prstGeom>
          <a:noFill/>
          <a:ln w="9525">
            <a:noFill/>
          </a:ln>
        </p:spPr>
      </p:pic>
      <p:sp>
        <p:nvSpPr>
          <p:cNvPr id="23" name="文本框 22"/>
          <p:cNvSpPr txBox="1">
            <a:spLocks noRot="1" noChangeAspect="1" noMove="1" noResize="1" noEditPoints="1" noAdjustHandles="1" noChangeArrowheads="1" noChangeShapeType="1" noTextEdit="1"/>
          </p:cNvSpPr>
          <p:nvPr/>
        </p:nvSpPr>
        <p:spPr>
          <a:xfrm>
            <a:off x="3529488" y="4014969"/>
            <a:ext cx="5072064" cy="1477328"/>
          </a:xfrm>
          <a:prstGeom prst="rect">
            <a:avLst/>
          </a:prstGeom>
          <a:blipFill>
            <a:blip r:embed="rId2"/>
            <a:stretch>
              <a:fillRect l="-1202" r="-481" b="-2469"/>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22547" name="图片 1"/>
          <p:cNvPicPr>
            <a:picLocks noChangeAspect="1"/>
          </p:cNvPicPr>
          <p:nvPr/>
        </p:nvPicPr>
        <p:blipFill>
          <a:blip r:embed="rId3"/>
          <a:stretch>
            <a:fillRect/>
          </a:stretch>
        </p:blipFill>
        <p:spPr>
          <a:xfrm>
            <a:off x="3844925" y="3136265"/>
            <a:ext cx="2785110" cy="878840"/>
          </a:xfrm>
          <a:prstGeom prst="rect">
            <a:avLst/>
          </a:prstGeom>
          <a:noFill/>
          <a:ln w="9525">
            <a:noFill/>
          </a:ln>
        </p:spPr>
      </p:pic>
      <p:sp>
        <p:nvSpPr>
          <p:cNvPr id="20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7" name="Text Box 5"/>
          <p:cNvSpPr txBox="1">
            <a:spLocks noChangeArrowheads="1"/>
          </p:cNvSpPr>
          <p:nvPr/>
        </p:nvSpPr>
        <p:spPr bwMode="auto">
          <a:xfrm>
            <a:off x="1432560" y="215900"/>
            <a:ext cx="77114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grpSp>
        <p:nvGrpSpPr>
          <p:cNvPr id="4" name="Group 34"/>
          <p:cNvGrpSpPr/>
          <p:nvPr/>
        </p:nvGrpSpPr>
        <p:grpSpPr bwMode="auto">
          <a:xfrm>
            <a:off x="2540919" y="5492449"/>
            <a:ext cx="6327776" cy="685800"/>
            <a:chOff x="261" y="1710"/>
            <a:chExt cx="3986" cy="432"/>
          </a:xfrm>
        </p:grpSpPr>
        <p:graphicFrame>
          <p:nvGraphicFramePr>
            <p:cNvPr id="3075" name="Object 10"/>
            <p:cNvGraphicFramePr>
              <a:graphicFrameLocks noChangeAspect="1"/>
            </p:cNvGraphicFramePr>
            <p:nvPr/>
          </p:nvGraphicFramePr>
          <p:xfrm>
            <a:off x="2457" y="1710"/>
            <a:ext cx="1790" cy="432"/>
          </p:xfrm>
          <a:graphic>
            <a:graphicData uri="http://schemas.openxmlformats.org/presentationml/2006/ole">
              <mc:AlternateContent xmlns:mc="http://schemas.openxmlformats.org/markup-compatibility/2006">
                <mc:Choice xmlns:v="urn:schemas-microsoft-com:vml" Requires="v">
                  <p:oleObj spid="_x0000_s3421" name="公式" r:id="rId4" imgW="1803400" imgH="431800" progId="Equation.3">
                    <p:embed/>
                  </p:oleObj>
                </mc:Choice>
                <mc:Fallback>
                  <p:oleObj name="公式" r:id="rId4" imgW="1803400" imgH="431800" progId="Equation.3">
                    <p:embed/>
                    <p:pic>
                      <p:nvPicPr>
                        <p:cNvPr id="0" name="Object 10"/>
                        <p:cNvPicPr>
                          <a:picLocks noChangeAspect="1" noChangeArrowheads="1"/>
                        </p:cNvPicPr>
                        <p:nvPr/>
                      </p:nvPicPr>
                      <p:blipFill>
                        <a:blip r:embed="rId5"/>
                        <a:srcRect/>
                        <a:stretch>
                          <a:fillRect/>
                        </a:stretch>
                      </p:blipFill>
                      <p:spPr bwMode="auto">
                        <a:xfrm>
                          <a:off x="2457" y="1710"/>
                          <a:ext cx="1790" cy="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91" name="Text Box 18"/>
            <p:cNvSpPr txBox="1">
              <a:spLocks noChangeArrowheads="1"/>
            </p:cNvSpPr>
            <p:nvPr/>
          </p:nvSpPr>
          <p:spPr bwMode="auto">
            <a:xfrm>
              <a:off x="261" y="1801"/>
              <a:ext cx="2092" cy="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3">
              <a:schemeClr val="lt1"/>
            </a:lnRef>
            <a:fillRef idx="1">
              <a:schemeClr val="accent1"/>
            </a:fillRef>
            <a:effectRef idx="1">
              <a:schemeClr val="accent1"/>
            </a:effectRef>
            <a:fontRef idx="minor">
              <a:schemeClr val="lt1"/>
            </a:fontRef>
          </p:style>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节点处的综合曲率半径为： </a:t>
              </a:r>
              <a:endParaRPr lang="zh-CN" altLang="en-US">
                <a:solidFill>
                  <a:srgbClr val="000099"/>
                </a:solidFill>
              </a:endParaRPr>
            </a:p>
          </p:txBody>
        </p:sp>
      </p:grpSp>
      <p:sp>
        <p:nvSpPr>
          <p:cNvPr id="2" name="文本框 1"/>
          <p:cNvSpPr txBox="1"/>
          <p:nvPr/>
        </p:nvSpPr>
        <p:spPr>
          <a:xfrm>
            <a:off x="3458210" y="2583180"/>
            <a:ext cx="4140835" cy="553085"/>
          </a:xfrm>
          <a:prstGeom prst="rect">
            <a:avLst/>
          </a:prstGeom>
          <a:noFill/>
        </p:spPr>
        <p:txBody>
          <a:bodyPr wrap="none" rtlCol="0" anchor="t">
            <a:spAutoFit/>
          </a:bodyPr>
          <a:p>
            <a:pPr>
              <a:lnSpc>
                <a:spcPct val="150000"/>
              </a:lnSpc>
            </a:pPr>
            <a:r>
              <a:rPr lang="zh-CN" altLang="en-US" dirty="0">
                <a:sym typeface="+mn-ea"/>
              </a:rPr>
              <a:t>计算公式为（</a:t>
            </a:r>
            <a:r>
              <a:rPr lang="en-US" altLang="zh-CN" dirty="0">
                <a:sym typeface="+mn-ea"/>
              </a:rPr>
              <a:t>1.3-41</a:t>
            </a:r>
            <a:r>
              <a:rPr lang="zh-CN" altLang="en-US" dirty="0">
                <a:sym typeface="+mn-ea"/>
              </a:rPr>
              <a:t>）的赫兹公式：</a:t>
            </a:r>
            <a:endParaRPr lang="zh-CN" altLang="en-US"/>
          </a:p>
        </p:txBody>
      </p:sp>
      <p:sp>
        <p:nvSpPr>
          <p:cNvPr id="3" name="文本框 2"/>
          <p:cNvSpPr txBox="1"/>
          <p:nvPr/>
        </p:nvSpPr>
        <p:spPr>
          <a:xfrm>
            <a:off x="353695" y="1267460"/>
            <a:ext cx="6170295" cy="460375"/>
          </a:xfrm>
          <a:prstGeom prst="rect">
            <a:avLst/>
          </a:prstGeom>
          <a:noFill/>
        </p:spPr>
        <p:txBody>
          <a:bodyPr wrap="square" rtlCol="0">
            <a:spAutoFit/>
          </a:bodyPr>
          <a:p>
            <a:r>
              <a:rPr lang="en-US" altLang="zh-CN" sz="2400">
                <a:solidFill>
                  <a:srgbClr val="0000FF"/>
                </a:solidFill>
                <a:latin typeface="黑体" panose="02010609060101010101" pitchFamily="49" charset="-122"/>
                <a:ea typeface="黑体" panose="02010609060101010101" pitchFamily="49" charset="-122"/>
                <a:cs typeface="黑体" panose="02010609060101010101" pitchFamily="49" charset="-122"/>
              </a:rPr>
              <a:t>1</a:t>
            </a:r>
            <a:r>
              <a:rPr lang="zh-CN" altLang="en-US" sz="2400">
                <a:solidFill>
                  <a:srgbClr val="0000FF"/>
                </a:solidFill>
                <a:latin typeface="黑体" panose="02010609060101010101" pitchFamily="49" charset="-122"/>
                <a:ea typeface="黑体" panose="02010609060101010101" pitchFamily="49" charset="-122"/>
                <a:cs typeface="黑体" panose="02010609060101010101" pitchFamily="49" charset="-122"/>
              </a:rPr>
              <a:t>、直齿圆柱齿轮齿面接触疲劳强度计算</a:t>
            </a:r>
            <a:endParaRPr lang="zh-CN" altLang="en-US" sz="2400">
              <a:solidFill>
                <a:srgbClr val="0000FF"/>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2541"/>
                                        </p:tgtEl>
                                        <p:attrNameLst>
                                          <p:attrName>style.visibility</p:attrName>
                                        </p:attrNameLst>
                                      </p:cBhvr>
                                      <p:to>
                                        <p:strVal val="visible"/>
                                      </p:to>
                                    </p:set>
                                    <p:animEffect transition="in" filter="wipe(up)">
                                      <p:cBhvr>
                                        <p:cTn id="18" dur="500"/>
                                        <p:tgtEl>
                                          <p:spTgt spid="2254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2544"/>
                                        </p:tgtEl>
                                        <p:attrNameLst>
                                          <p:attrName>style.visibility</p:attrName>
                                        </p:attrNameLst>
                                      </p:cBhvr>
                                      <p:to>
                                        <p:strVal val="visible"/>
                                      </p:to>
                                    </p:set>
                                    <p:animEffect transition="in" filter="wipe(left)">
                                      <p:cBhvr>
                                        <p:cTn id="23" dur="500"/>
                                        <p:tgtEl>
                                          <p:spTgt spid="22544"/>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2539"/>
                                        </p:tgtEl>
                                        <p:attrNameLst>
                                          <p:attrName>style.visibility</p:attrName>
                                        </p:attrNameLst>
                                      </p:cBhvr>
                                      <p:to>
                                        <p:strVal val="visible"/>
                                      </p:to>
                                    </p:set>
                                    <p:animEffect transition="in" filter="wipe(left)">
                                      <p:cBhvr>
                                        <p:cTn id="27" dur="500"/>
                                        <p:tgtEl>
                                          <p:spTgt spid="225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22547"/>
                                        </p:tgtEl>
                                        <p:attrNameLst>
                                          <p:attrName>style.visibility</p:attrName>
                                        </p:attrNameLst>
                                      </p:cBhvr>
                                      <p:to>
                                        <p:strVal val="visible"/>
                                      </p:to>
                                    </p:set>
                                    <p:animEffect transition="in" filter="wipe(left)">
                                      <p:cBhvr>
                                        <p:cTn id="36" dur="500"/>
                                        <p:tgtEl>
                                          <p:spTgt spid="22547"/>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22543"/>
                                        </p:tgtEl>
                                        <p:attrNameLst>
                                          <p:attrName>style.visibility</p:attrName>
                                        </p:attrNameLst>
                                      </p:cBhvr>
                                      <p:to>
                                        <p:strVal val="visible"/>
                                      </p:to>
                                    </p:set>
                                    <p:animEffect transition="in" filter="wipe(left)">
                                      <p:cBhvr>
                                        <p:cTn id="40" dur="500"/>
                                        <p:tgtEl>
                                          <p:spTgt spid="2254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3" grpId="0"/>
      <p:bldP spid="22541" grpId="0"/>
      <p:bldP spid="2" grpId="0"/>
      <p:bldP spid="22543" grpId="0"/>
      <p:bldP spid="23" grpId="0" animBg="1"/>
      <p:bldP spid="2253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Grp="1" noChangeArrowheads="1"/>
          </p:cNvSpPr>
          <p:nvPr>
            <p:ph type="title"/>
          </p:nvPr>
        </p:nvSpPr>
        <p:spPr bwMode="auto">
          <a:xfrm>
            <a:off x="6084888" y="755650"/>
            <a:ext cx="1385887"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直齿圆柱齿轮强度计算</a:t>
            </a:r>
            <a:r>
              <a:rPr lang="en-US" altLang="zh-CN" sz="800" smtClean="0">
                <a:solidFill>
                  <a:schemeClr val="bg1"/>
                </a:solidFill>
                <a:ea typeface="黑体" panose="02010609060101010101" pitchFamily="49" charset="-122"/>
              </a:rPr>
              <a:t>3</a:t>
            </a:r>
            <a:endParaRPr lang="en-US" altLang="zh-CN" sz="800" smtClean="0">
              <a:solidFill>
                <a:schemeClr val="bg1"/>
              </a:solidFill>
              <a:ea typeface="黑体" panose="02010609060101010101" pitchFamily="49" charset="-122"/>
            </a:endParaRPr>
          </a:p>
        </p:txBody>
      </p:sp>
      <p:grpSp>
        <p:nvGrpSpPr>
          <p:cNvPr id="2" name="Group 35"/>
          <p:cNvGrpSpPr/>
          <p:nvPr/>
        </p:nvGrpSpPr>
        <p:grpSpPr bwMode="auto">
          <a:xfrm>
            <a:off x="867545" y="921052"/>
            <a:ext cx="7769226" cy="987424"/>
            <a:chOff x="48" y="2254"/>
            <a:chExt cx="4894" cy="622"/>
          </a:xfrm>
        </p:grpSpPr>
        <p:sp>
          <p:nvSpPr>
            <p:cNvPr id="3093" name="Text Box 12"/>
            <p:cNvSpPr txBox="1">
              <a:spLocks noChangeArrowheads="1"/>
            </p:cNvSpPr>
            <p:nvPr/>
          </p:nvSpPr>
          <p:spPr bwMode="auto">
            <a:xfrm>
              <a:off x="48" y="2393"/>
              <a:ext cx="2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rPr>
                <a:t>齿面接触疲劳强度</a:t>
              </a:r>
              <a:r>
                <a:rPr lang="zh-CN" altLang="en-US" dirty="0" smtClean="0">
                  <a:solidFill>
                    <a:srgbClr val="000099"/>
                  </a:solidFill>
                </a:rPr>
                <a:t>的条件为： </a:t>
              </a:r>
              <a:endParaRPr lang="zh-CN" altLang="en-US" dirty="0">
                <a:solidFill>
                  <a:srgbClr val="000099"/>
                </a:solidFill>
              </a:endParaRPr>
            </a:p>
          </p:txBody>
        </p:sp>
        <p:graphicFrame>
          <p:nvGraphicFramePr>
            <p:cNvPr id="3077" name="Object 13"/>
            <p:cNvGraphicFramePr>
              <a:graphicFrameLocks noChangeAspect="1"/>
            </p:cNvGraphicFramePr>
            <p:nvPr/>
          </p:nvGraphicFramePr>
          <p:xfrm>
            <a:off x="2323" y="2254"/>
            <a:ext cx="2619" cy="622"/>
          </p:xfrm>
          <a:graphic>
            <a:graphicData uri="http://schemas.openxmlformats.org/presentationml/2006/ole">
              <mc:AlternateContent xmlns:mc="http://schemas.openxmlformats.org/markup-compatibility/2006">
                <mc:Choice xmlns:v="urn:schemas-microsoft-com:vml" Requires="v">
                  <p:oleObj spid="_x0000_s3420" name="公式" r:id="rId1" imgW="2095500" imgH="495300" progId="Equation.3">
                    <p:embed/>
                  </p:oleObj>
                </mc:Choice>
                <mc:Fallback>
                  <p:oleObj name="公式" r:id="rId1" imgW="2095500" imgH="495300" progId="Equation.3">
                    <p:embed/>
                    <p:pic>
                      <p:nvPicPr>
                        <p:cNvPr id="0" name="Object 13"/>
                        <p:cNvPicPr>
                          <a:picLocks noChangeAspect="1" noChangeArrowheads="1"/>
                        </p:cNvPicPr>
                        <p:nvPr/>
                      </p:nvPicPr>
                      <p:blipFill>
                        <a:blip r:embed="rId2"/>
                        <a:srcRect/>
                        <a:stretch>
                          <a:fillRect/>
                        </a:stretch>
                      </p:blipFill>
                      <p:spPr bwMode="auto">
                        <a:xfrm>
                          <a:off x="2323" y="2254"/>
                          <a:ext cx="2619" cy="622"/>
                        </a:xfrm>
                        <a:prstGeom prst="rect">
                          <a:avLst/>
                        </a:prstGeom>
                        <a:solidFill>
                          <a:srgbClr val="FFFF00"/>
                        </a:solidFill>
                      </p:spPr>
                    </p:pic>
                  </p:oleObj>
                </mc:Fallback>
              </mc:AlternateContent>
            </a:graphicData>
          </a:graphic>
        </p:graphicFrame>
      </p:grpSp>
      <p:sp>
        <p:nvSpPr>
          <p:cNvPr id="309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711200" y="212725"/>
            <a:ext cx="843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传动的强度</a:t>
            </a:r>
            <a:r>
              <a:rPr lang="zh-CN" altLang="en-US" sz="3000" dirty="0">
                <a:solidFill>
                  <a:srgbClr val="CC3300"/>
                </a:solidFill>
                <a:latin typeface="黑体" panose="02010609060101010101" pitchFamily="49" charset="-122"/>
                <a:ea typeface="黑体" panose="02010609060101010101" pitchFamily="49" charset="-122"/>
              </a:rPr>
              <a:t>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动作按钮: 前进或下一项 2">
            <a:hlinkClick r:id="rId3" action="ppaction://hlinksldjump" highlightClick="1"/>
          </p:cNvPr>
          <p:cNvSpPr/>
          <p:nvPr/>
        </p:nvSpPr>
        <p:spPr bwMode="auto">
          <a:xfrm>
            <a:off x="8637104" y="6559826"/>
            <a:ext cx="278296" cy="208722"/>
          </a:xfrm>
          <a:prstGeom prst="actionButtonForwardNex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grpSp>
        <p:nvGrpSpPr>
          <p:cNvPr id="5" name="Group 35"/>
          <p:cNvGrpSpPr/>
          <p:nvPr/>
        </p:nvGrpSpPr>
        <p:grpSpPr bwMode="auto">
          <a:xfrm>
            <a:off x="548775" y="5279375"/>
            <a:ext cx="7499351" cy="987424"/>
            <a:chOff x="308" y="2219"/>
            <a:chExt cx="4724" cy="622"/>
          </a:xfrm>
        </p:grpSpPr>
        <p:sp>
          <p:nvSpPr>
            <p:cNvPr id="6" name="Text Box 12"/>
            <p:cNvSpPr txBox="1">
              <a:spLocks noChangeArrowheads="1"/>
            </p:cNvSpPr>
            <p:nvPr/>
          </p:nvSpPr>
          <p:spPr bwMode="auto">
            <a:xfrm>
              <a:off x="308" y="2405"/>
              <a:ext cx="2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rPr>
                <a:t>齿面接触疲劳强度</a:t>
              </a:r>
              <a:r>
                <a:rPr lang="zh-CN" altLang="en-US" dirty="0" smtClean="0">
                  <a:solidFill>
                    <a:srgbClr val="000099"/>
                  </a:solidFill>
                </a:rPr>
                <a:t>的条件为： </a:t>
              </a:r>
              <a:endParaRPr lang="zh-CN" altLang="en-US" dirty="0">
                <a:solidFill>
                  <a:srgbClr val="000099"/>
                </a:solidFill>
              </a:endParaRPr>
            </a:p>
          </p:txBody>
        </p:sp>
        <p:graphicFrame>
          <p:nvGraphicFramePr>
            <p:cNvPr id="7" name="Object 13"/>
            <p:cNvGraphicFramePr>
              <a:graphicFrameLocks noChangeAspect="1"/>
            </p:cNvGraphicFramePr>
            <p:nvPr/>
          </p:nvGraphicFramePr>
          <p:xfrm>
            <a:off x="2413" y="2219"/>
            <a:ext cx="2619" cy="622"/>
          </p:xfrm>
          <a:graphic>
            <a:graphicData uri="http://schemas.openxmlformats.org/presentationml/2006/ole">
              <mc:AlternateContent xmlns:mc="http://schemas.openxmlformats.org/markup-compatibility/2006">
                <mc:Choice xmlns:v="urn:schemas-microsoft-com:vml" Requires="v">
                  <p:oleObj spid="_x0000_s8" name="公式" r:id="rId4" imgW="2095500" imgH="495300" progId="Equation.3">
                    <p:embed/>
                  </p:oleObj>
                </mc:Choice>
                <mc:Fallback>
                  <p:oleObj name="公式" r:id="rId4" imgW="2095500" imgH="495300" progId="Equation.3">
                    <p:embed/>
                    <p:pic>
                      <p:nvPicPr>
                        <p:cNvPr id="0" name="Object 13"/>
                        <p:cNvPicPr>
                          <a:picLocks noChangeAspect="1" noChangeArrowheads="1"/>
                        </p:cNvPicPr>
                        <p:nvPr/>
                      </p:nvPicPr>
                      <p:blipFill>
                        <a:blip r:embed="rId5"/>
                        <a:srcRect/>
                        <a:stretch>
                          <a:fillRect/>
                        </a:stretch>
                      </p:blipFill>
                      <p:spPr bwMode="auto">
                        <a:xfrm>
                          <a:off x="2413" y="2219"/>
                          <a:ext cx="2619" cy="622"/>
                        </a:xfrm>
                        <a:prstGeom prst="rect">
                          <a:avLst/>
                        </a:prstGeom>
                        <a:solidFill>
                          <a:srgbClr val="FFFF00"/>
                        </a:solidFill>
                      </p:spPr>
                    </p:pic>
                  </p:oleObj>
                </mc:Fallback>
              </mc:AlternateContent>
            </a:graphicData>
          </a:graphic>
        </p:graphicFrame>
      </p:grpSp>
      <p:sp>
        <p:nvSpPr>
          <p:cNvPr id="61473" name="Text Box 33"/>
          <p:cNvSpPr txBox="1">
            <a:spLocks noChangeArrowheads="1"/>
          </p:cNvSpPr>
          <p:nvPr/>
        </p:nvSpPr>
        <p:spPr bwMode="auto">
          <a:xfrm>
            <a:off x="826770" y="1918335"/>
            <a:ext cx="7501890" cy="263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sz="2200" dirty="0">
                <a:solidFill>
                  <a:srgbClr val="000099"/>
                </a:solidFill>
              </a:rPr>
              <a:t>上述式中：</a:t>
            </a:r>
            <a:r>
              <a:rPr lang="en-US" altLang="zh-CN" sz="2200" i="1" dirty="0">
                <a:solidFill>
                  <a:srgbClr val="000099"/>
                </a:solidFill>
              </a:rPr>
              <a:t>u</a:t>
            </a:r>
            <a:r>
              <a:rPr lang="en-US" altLang="zh-CN" sz="2200" dirty="0">
                <a:solidFill>
                  <a:srgbClr val="000099"/>
                </a:solidFill>
              </a:rPr>
              <a:t>─</a:t>
            </a:r>
            <a:r>
              <a:rPr lang="zh-CN" altLang="en-US" sz="2200" dirty="0">
                <a:solidFill>
                  <a:srgbClr val="000099"/>
                </a:solidFill>
              </a:rPr>
              <a:t>齿数比，</a:t>
            </a:r>
            <a:r>
              <a:rPr lang="en-US" altLang="zh-CN" sz="2200" i="1" dirty="0">
                <a:solidFill>
                  <a:srgbClr val="000099"/>
                </a:solidFill>
              </a:rPr>
              <a:t>u</a:t>
            </a:r>
            <a:r>
              <a:rPr lang="en-US" altLang="zh-CN" sz="2200" dirty="0">
                <a:solidFill>
                  <a:srgbClr val="000099"/>
                </a:solidFill>
              </a:rPr>
              <a:t>=</a:t>
            </a:r>
            <a:r>
              <a:rPr lang="en-US" altLang="zh-CN" sz="2200" i="1" dirty="0">
                <a:solidFill>
                  <a:srgbClr val="000099"/>
                </a:solidFill>
              </a:rPr>
              <a:t>z</a:t>
            </a:r>
            <a:r>
              <a:rPr lang="en-US" altLang="zh-CN" sz="2200" baseline="-25000" dirty="0">
                <a:solidFill>
                  <a:srgbClr val="000099"/>
                </a:solidFill>
              </a:rPr>
              <a:t>2</a:t>
            </a:r>
            <a:r>
              <a:rPr lang="en-US" altLang="zh-CN" sz="2200" dirty="0">
                <a:solidFill>
                  <a:srgbClr val="000099"/>
                </a:solidFill>
              </a:rPr>
              <a:t>/</a:t>
            </a:r>
            <a:r>
              <a:rPr lang="en-US" altLang="zh-CN" sz="2200" i="1" dirty="0">
                <a:solidFill>
                  <a:srgbClr val="000099"/>
                </a:solidFill>
              </a:rPr>
              <a:t>z</a:t>
            </a:r>
            <a:r>
              <a:rPr lang="en-US" altLang="zh-CN" sz="2200" baseline="-25000" dirty="0">
                <a:solidFill>
                  <a:srgbClr val="000099"/>
                </a:solidFill>
              </a:rPr>
              <a:t>1</a:t>
            </a:r>
            <a:r>
              <a:rPr lang="zh-CN" altLang="en-US" sz="2200" dirty="0" smtClean="0">
                <a:solidFill>
                  <a:srgbClr val="000099"/>
                </a:solidFill>
              </a:rPr>
              <a:t>；</a:t>
            </a:r>
            <a:endParaRPr lang="en-US" altLang="zh-CN" sz="2200" dirty="0" smtClean="0">
              <a:solidFill>
                <a:srgbClr val="000099"/>
              </a:solidFill>
            </a:endParaRPr>
          </a:p>
          <a:p>
            <a:pPr eaLnBrk="1" hangingPunct="1">
              <a:lnSpc>
                <a:spcPct val="150000"/>
              </a:lnSpc>
            </a:pPr>
            <a:r>
              <a:rPr lang="en-US" altLang="zh-CN" sz="2200" dirty="0" smtClean="0">
                <a:solidFill>
                  <a:srgbClr val="000099"/>
                </a:solidFill>
              </a:rPr>
              <a:t>Z</a:t>
            </a:r>
            <a:r>
              <a:rPr lang="en-US" altLang="zh-CN" sz="2200" baseline="-25000" dirty="0" smtClean="0">
                <a:solidFill>
                  <a:srgbClr val="000099"/>
                </a:solidFill>
              </a:rPr>
              <a:t>E </a:t>
            </a:r>
            <a:r>
              <a:rPr lang="en-US" altLang="zh-CN" sz="2200" dirty="0">
                <a:solidFill>
                  <a:srgbClr val="000099"/>
                </a:solidFill>
              </a:rPr>
              <a:t>─</a:t>
            </a:r>
            <a:r>
              <a:rPr lang="zh-CN" altLang="en-US" sz="2200" dirty="0">
                <a:solidFill>
                  <a:schemeClr val="hlink"/>
                </a:solidFill>
                <a:hlinkClick r:id="rId6" action="ppaction://hlinksldjump"/>
              </a:rPr>
              <a:t>弹性系数</a:t>
            </a:r>
            <a:r>
              <a:rPr lang="zh-CN" altLang="en-US" sz="2200" dirty="0" smtClean="0"/>
              <a:t>；</a:t>
            </a:r>
            <a:endParaRPr lang="en-US" altLang="zh-CN" sz="2200" dirty="0" smtClean="0"/>
          </a:p>
          <a:p>
            <a:pPr eaLnBrk="1" hangingPunct="1">
              <a:lnSpc>
                <a:spcPct val="150000"/>
              </a:lnSpc>
            </a:pPr>
            <a:r>
              <a:rPr lang="en-US" altLang="zh-CN" sz="2200" dirty="0" smtClean="0">
                <a:solidFill>
                  <a:srgbClr val="000099"/>
                </a:solidFill>
              </a:rPr>
              <a:t>Z</a:t>
            </a:r>
            <a:r>
              <a:rPr lang="en-US" altLang="zh-CN" sz="2200" baseline="-25000" dirty="0" smtClean="0">
                <a:solidFill>
                  <a:srgbClr val="000099"/>
                </a:solidFill>
              </a:rPr>
              <a:t>H </a:t>
            </a:r>
            <a:r>
              <a:rPr lang="en-US" altLang="zh-CN" sz="2200" dirty="0">
                <a:solidFill>
                  <a:srgbClr val="000099"/>
                </a:solidFill>
              </a:rPr>
              <a:t>─</a:t>
            </a:r>
            <a:r>
              <a:rPr lang="zh-CN" altLang="en-US" sz="2200" dirty="0">
                <a:solidFill>
                  <a:schemeClr val="hlink"/>
                </a:solidFill>
                <a:hlinkClick r:id="rId6" action="ppaction://hlinksldjump"/>
              </a:rPr>
              <a:t>节点啮合系数</a:t>
            </a:r>
            <a:r>
              <a:rPr lang="zh-CN" altLang="en-US" sz="2200" dirty="0">
                <a:solidFill>
                  <a:schemeClr val="hlink"/>
                </a:solidFill>
              </a:rPr>
              <a:t>，                           ，标准直齿齿轮</a:t>
            </a:r>
            <a:r>
              <a:rPr lang="en-US" altLang="zh-CN" sz="2200" dirty="0">
                <a:solidFill>
                  <a:schemeClr val="hlink"/>
                </a:solidFill>
              </a:rPr>
              <a:t>Z</a:t>
            </a:r>
            <a:r>
              <a:rPr lang="en-US" altLang="zh-CN" sz="2200" baseline="-25000" dirty="0">
                <a:solidFill>
                  <a:schemeClr val="hlink"/>
                </a:solidFill>
              </a:rPr>
              <a:t>H</a:t>
            </a:r>
            <a:r>
              <a:rPr lang="en-US" altLang="zh-CN" sz="2200" dirty="0">
                <a:solidFill>
                  <a:schemeClr val="hlink"/>
                </a:solidFill>
              </a:rPr>
              <a:t>=2.5</a:t>
            </a:r>
            <a:r>
              <a:rPr lang="zh-CN" altLang="en-US" sz="2200" dirty="0"/>
              <a:t>；</a:t>
            </a:r>
            <a:endParaRPr lang="en-US" altLang="zh-CN" sz="2200" dirty="0"/>
          </a:p>
          <a:p>
            <a:pPr eaLnBrk="1" hangingPunct="1">
              <a:lnSpc>
                <a:spcPct val="150000"/>
              </a:lnSpc>
            </a:pPr>
            <a:r>
              <a:rPr lang="en-US" altLang="zh-CN" sz="2200" dirty="0" err="1">
                <a:solidFill>
                  <a:srgbClr val="000099"/>
                </a:solidFill>
              </a:rPr>
              <a:t>Z</a:t>
            </a:r>
            <a:r>
              <a:rPr lang="en-US" altLang="zh-CN" sz="2200" baseline="-25000" dirty="0" err="1">
                <a:solidFill>
                  <a:srgbClr val="000099"/>
                </a:solidFill>
              </a:rPr>
              <a:t>ε</a:t>
            </a:r>
            <a:r>
              <a:rPr lang="en-US" altLang="zh-CN" sz="2200" baseline="-25000" dirty="0">
                <a:solidFill>
                  <a:srgbClr val="000099"/>
                </a:solidFill>
              </a:rPr>
              <a:t>  </a:t>
            </a:r>
            <a:r>
              <a:rPr lang="en-US" altLang="zh-CN" sz="2200" dirty="0">
                <a:solidFill>
                  <a:srgbClr val="000099"/>
                </a:solidFill>
              </a:rPr>
              <a:t>─</a:t>
            </a:r>
            <a:r>
              <a:rPr lang="zh-CN" altLang="en-US" sz="2200" dirty="0">
                <a:solidFill>
                  <a:srgbClr val="000099"/>
                </a:solidFill>
                <a:hlinkClick r:id="rId6" action="ppaction://hlinksldjump"/>
              </a:rPr>
              <a:t>重合度系数</a:t>
            </a:r>
            <a:r>
              <a:rPr lang="en-US" altLang="zh-CN" sz="2200" dirty="0">
                <a:solidFill>
                  <a:srgbClr val="000099"/>
                </a:solidFill>
                <a:hlinkClick r:id="rId6" action="ppaction://hlinksldjump"/>
              </a:rPr>
              <a:t>,</a:t>
            </a:r>
            <a:r>
              <a:rPr lang="en-US" altLang="zh-CN" sz="2200" dirty="0">
                <a:solidFill>
                  <a:srgbClr val="000099"/>
                </a:solidFill>
              </a:rPr>
              <a:t> </a:t>
            </a:r>
            <a:r>
              <a:rPr lang="zh-CN" altLang="en-US" sz="2200" dirty="0">
                <a:solidFill>
                  <a:srgbClr val="000099"/>
                </a:solidFill>
              </a:rPr>
              <a:t>对于直齿</a:t>
            </a:r>
            <a:r>
              <a:rPr lang="zh-CN" altLang="en-US" sz="2200" dirty="0">
                <a:solidFill>
                  <a:srgbClr val="000099"/>
                </a:solidFill>
              </a:rPr>
              <a:t>齿轮，</a:t>
            </a:r>
            <a:r>
              <a:rPr lang="en-US" altLang="zh-CN" sz="2200" dirty="0" err="1">
                <a:solidFill>
                  <a:srgbClr val="000099"/>
                </a:solidFill>
                <a:sym typeface="+mn-ea"/>
              </a:rPr>
              <a:t>Z</a:t>
            </a:r>
            <a:r>
              <a:rPr lang="en-US" altLang="zh-CN" sz="2200" baseline="-25000" dirty="0" err="1">
                <a:solidFill>
                  <a:srgbClr val="000099"/>
                </a:solidFill>
                <a:sym typeface="+mn-ea"/>
              </a:rPr>
              <a:t>ε</a:t>
            </a:r>
            <a:r>
              <a:rPr lang="en-US" altLang="zh-CN" sz="2200" dirty="0" err="1">
                <a:solidFill>
                  <a:srgbClr val="000099"/>
                </a:solidFill>
                <a:sym typeface="+mn-ea"/>
              </a:rPr>
              <a:t>=</a:t>
            </a:r>
            <a:r>
              <a:rPr lang="en-US" altLang="zh-CN" sz="2200" dirty="0" err="1">
                <a:solidFill>
                  <a:srgbClr val="000099"/>
                </a:solidFill>
                <a:sym typeface="+mn-ea"/>
              </a:rPr>
              <a:t>1</a:t>
            </a:r>
            <a:r>
              <a:rPr lang="zh-CN" altLang="en-US" sz="2200" dirty="0" smtClean="0">
                <a:solidFill>
                  <a:srgbClr val="000099"/>
                </a:solidFill>
              </a:rPr>
              <a:t>；</a:t>
            </a:r>
            <a:endParaRPr lang="en-US" altLang="zh-CN" sz="2200" dirty="0" smtClean="0">
              <a:solidFill>
                <a:srgbClr val="000099"/>
              </a:solidFill>
            </a:endParaRPr>
          </a:p>
          <a:p>
            <a:pPr eaLnBrk="1" hangingPunct="1">
              <a:lnSpc>
                <a:spcPct val="150000"/>
              </a:lnSpc>
            </a:pPr>
            <a:r>
              <a:rPr lang="en-US" altLang="zh-CN" sz="2200" i="1" dirty="0" smtClean="0">
                <a:solidFill>
                  <a:srgbClr val="0000CC"/>
                </a:solidFill>
              </a:rPr>
              <a:t>K</a:t>
            </a:r>
            <a:r>
              <a:rPr lang="en-US" altLang="zh-CN" sz="2200" dirty="0">
                <a:solidFill>
                  <a:srgbClr val="0000CC"/>
                </a:solidFill>
              </a:rPr>
              <a:t>—</a:t>
            </a:r>
            <a:r>
              <a:rPr lang="zh-CN" altLang="en-US" sz="2200" dirty="0">
                <a:solidFill>
                  <a:srgbClr val="0000CC"/>
                </a:solidFill>
              </a:rPr>
              <a:t>载荷系数，</a:t>
            </a:r>
            <a:r>
              <a:rPr lang="en-US" altLang="zh-CN" sz="2200" i="1" dirty="0">
                <a:solidFill>
                  <a:srgbClr val="0000CC"/>
                </a:solidFill>
              </a:rPr>
              <a:t>K</a:t>
            </a:r>
            <a:r>
              <a:rPr lang="zh-CN" altLang="en-US" sz="2200" dirty="0">
                <a:solidFill>
                  <a:srgbClr val="0000CC"/>
                </a:solidFill>
              </a:rPr>
              <a:t>＝</a:t>
            </a:r>
            <a:r>
              <a:rPr lang="en-US" altLang="zh-CN" sz="2200" i="1" dirty="0">
                <a:solidFill>
                  <a:srgbClr val="0000CC"/>
                </a:solidFill>
              </a:rPr>
              <a:t>K</a:t>
            </a:r>
            <a:r>
              <a:rPr lang="en-US" altLang="zh-CN" sz="2200" baseline="-25000" dirty="0">
                <a:solidFill>
                  <a:srgbClr val="0000CC"/>
                </a:solidFill>
              </a:rPr>
              <a:t>A</a:t>
            </a:r>
            <a:r>
              <a:rPr lang="en-US" altLang="zh-CN" sz="2200" dirty="0">
                <a:solidFill>
                  <a:srgbClr val="0000CC"/>
                </a:solidFill>
              </a:rPr>
              <a:t> </a:t>
            </a:r>
            <a:r>
              <a:rPr lang="en-US" altLang="zh-CN" sz="2200" i="1" dirty="0" err="1">
                <a:solidFill>
                  <a:srgbClr val="0000CC"/>
                </a:solidFill>
              </a:rPr>
              <a:t>K</a:t>
            </a:r>
            <a:r>
              <a:rPr lang="en-US" altLang="zh-CN" sz="2200" baseline="-25000" dirty="0" err="1">
                <a:solidFill>
                  <a:srgbClr val="0000CC"/>
                </a:solidFill>
              </a:rPr>
              <a:t>v</a:t>
            </a:r>
            <a:r>
              <a:rPr lang="en-US" altLang="zh-CN" sz="2200" dirty="0">
                <a:solidFill>
                  <a:srgbClr val="0000CC"/>
                </a:solidFill>
              </a:rPr>
              <a:t> </a:t>
            </a:r>
            <a:r>
              <a:rPr lang="en-US" altLang="zh-CN" sz="2200" i="1" dirty="0">
                <a:solidFill>
                  <a:srgbClr val="0000CC"/>
                </a:solidFill>
              </a:rPr>
              <a:t>K</a:t>
            </a:r>
            <a:r>
              <a:rPr lang="en-US" altLang="zh-CN" sz="2200" baseline="-25000" dirty="0">
                <a:solidFill>
                  <a:srgbClr val="0000CC"/>
                </a:solidFill>
              </a:rPr>
              <a:t>α</a:t>
            </a:r>
            <a:r>
              <a:rPr lang="en-US" altLang="zh-CN" sz="2200" dirty="0">
                <a:solidFill>
                  <a:srgbClr val="0000CC"/>
                </a:solidFill>
              </a:rPr>
              <a:t> </a:t>
            </a:r>
            <a:r>
              <a:rPr lang="en-US" altLang="zh-CN" sz="2200" i="1" dirty="0">
                <a:solidFill>
                  <a:srgbClr val="0000CC"/>
                </a:solidFill>
              </a:rPr>
              <a:t>K</a:t>
            </a:r>
            <a:r>
              <a:rPr lang="en-US" altLang="zh-CN" sz="2200" baseline="-25000" dirty="0">
                <a:solidFill>
                  <a:srgbClr val="0000CC"/>
                </a:solidFill>
              </a:rPr>
              <a:t>β</a:t>
            </a:r>
            <a:endParaRPr lang="zh-CN" altLang="en-US" sz="2200" dirty="0">
              <a:solidFill>
                <a:srgbClr val="0000CC"/>
              </a:solidFill>
            </a:endParaRPr>
          </a:p>
        </p:txBody>
      </p:sp>
      <p:graphicFrame>
        <p:nvGraphicFramePr>
          <p:cNvPr id="15362" name="Object 1"/>
          <p:cNvGraphicFramePr>
            <a:graphicFrameLocks noChangeAspect="1"/>
          </p:cNvGraphicFramePr>
          <p:nvPr/>
        </p:nvGraphicFramePr>
        <p:xfrm>
          <a:off x="3359944" y="2861310"/>
          <a:ext cx="1718310" cy="676275"/>
        </p:xfrm>
        <a:graphic>
          <a:graphicData uri="http://schemas.openxmlformats.org/presentationml/2006/ole">
            <mc:AlternateContent xmlns:mc="http://schemas.openxmlformats.org/markup-compatibility/2006">
              <mc:Choice xmlns:v="urn:schemas-microsoft-com:vml" Requires="v">
                <p:oleObj spid="_x0000_s15598" name="公式" r:id="rId7" imgW="1168400" imgH="457200" progId="Equation.3">
                  <p:embed/>
                </p:oleObj>
              </mc:Choice>
              <mc:Fallback>
                <p:oleObj name="公式" r:id="rId7" imgW="1168400" imgH="457200" progId="Equation.3">
                  <p:embed/>
                  <p:pic>
                    <p:nvPicPr>
                      <p:cNvPr id="0" name="Object 1"/>
                      <p:cNvPicPr>
                        <a:picLocks noChangeAspect="1" noChangeArrowheads="1"/>
                      </p:cNvPicPr>
                      <p:nvPr/>
                    </p:nvPicPr>
                    <p:blipFill>
                      <a:blip r:embed="rId8"/>
                      <a:srcRect/>
                      <a:stretch>
                        <a:fillRect/>
                      </a:stretch>
                    </p:blipFill>
                    <p:spPr bwMode="auto">
                      <a:xfrm>
                        <a:off x="3359944" y="2861310"/>
                        <a:ext cx="171831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组合 10"/>
          <p:cNvGrpSpPr/>
          <p:nvPr/>
        </p:nvGrpSpPr>
        <p:grpSpPr>
          <a:xfrm>
            <a:off x="859790" y="4611370"/>
            <a:ext cx="3129280" cy="619760"/>
            <a:chOff x="1333" y="7736"/>
            <a:chExt cx="4928" cy="976"/>
          </a:xfrm>
        </p:grpSpPr>
        <p:sp>
          <p:nvSpPr>
            <p:cNvPr id="9" name="文本框 8"/>
            <p:cNvSpPr txBox="1"/>
            <p:nvPr/>
          </p:nvSpPr>
          <p:spPr>
            <a:xfrm>
              <a:off x="1333" y="7932"/>
              <a:ext cx="4929" cy="628"/>
            </a:xfrm>
            <a:prstGeom prst="rect">
              <a:avLst/>
            </a:prstGeom>
            <a:noFill/>
          </p:spPr>
          <p:txBody>
            <a:bodyPr wrap="square" rtlCol="0">
              <a:spAutoFit/>
            </a:bodyPr>
            <a:p>
              <a:r>
                <a:rPr lang="zh-CN" altLang="en-US"/>
                <a:t>令齿宽系数</a:t>
              </a:r>
              <a:endParaRPr lang="zh-CN" altLang="en-US"/>
            </a:p>
          </p:txBody>
        </p:sp>
        <p:graphicFrame>
          <p:nvGraphicFramePr>
            <p:cNvPr id="10" name="对象 9">
              <a:hlinkClick r:id="" action="ppaction://ole?verb="/>
            </p:cNvPr>
            <p:cNvGraphicFramePr>
              <a:graphicFrameLocks noChangeAspect="1"/>
            </p:cNvGraphicFramePr>
            <p:nvPr/>
          </p:nvGraphicFramePr>
          <p:xfrm>
            <a:off x="3534" y="7736"/>
            <a:ext cx="1697" cy="976"/>
          </p:xfrm>
          <a:graphic>
            <a:graphicData uri="http://schemas.openxmlformats.org/presentationml/2006/ole">
              <mc:AlternateContent xmlns:mc="http://schemas.openxmlformats.org/markup-compatibility/2006">
                <mc:Choice xmlns:v="urn:schemas-microsoft-com:vml" Requires="v">
                  <p:oleObj spid="_x0000_s1025" name="" r:id="rId9" imgW="596900" imgH="342900" progId="Equation.KSEE3">
                    <p:embed/>
                  </p:oleObj>
                </mc:Choice>
                <mc:Fallback>
                  <p:oleObj name="" r:id="rId9" imgW="596900" imgH="342900" progId="Equation.KSEE3">
                    <p:embed/>
                    <p:pic>
                      <p:nvPicPr>
                        <p:cNvPr id="0" name="图片 1024"/>
                        <p:cNvPicPr/>
                        <p:nvPr/>
                      </p:nvPicPr>
                      <p:blipFill>
                        <a:blip r:embed="rId10"/>
                        <a:stretch>
                          <a:fillRect/>
                        </a:stretch>
                      </p:blipFill>
                      <p:spPr>
                        <a:xfrm>
                          <a:off x="3534" y="7736"/>
                          <a:ext cx="1697" cy="976"/>
                        </a:xfrm>
                        <a:prstGeom prst="rect">
                          <a:avLst/>
                        </a:prstGeom>
                      </p:spPr>
                    </p:pic>
                  </p:oleObj>
                </mc:Fallback>
              </mc:AlternateContent>
            </a:graphicData>
          </a:graphic>
        </p:graphicFrame>
      </p:grpSp>
      <p:sp>
        <p:nvSpPr>
          <p:cNvPr id="4" name="文本框 3"/>
          <p:cNvSpPr txBox="1"/>
          <p:nvPr/>
        </p:nvSpPr>
        <p:spPr>
          <a:xfrm>
            <a:off x="4030980" y="4711700"/>
            <a:ext cx="3484245" cy="398780"/>
          </a:xfrm>
          <a:prstGeom prst="rect">
            <a:avLst/>
          </a:prstGeom>
          <a:noFill/>
        </p:spPr>
        <p:txBody>
          <a:bodyPr wrap="square" rtlCol="0">
            <a:spAutoFit/>
          </a:bodyPr>
          <a:p>
            <a:r>
              <a:rPr lang="zh-CN" altLang="en-US"/>
              <a:t>可由表</a:t>
            </a:r>
            <a:r>
              <a:rPr lang="en-US" altLang="zh-CN"/>
              <a:t>3.4-6</a:t>
            </a:r>
            <a:r>
              <a:rPr lang="zh-CN" altLang="en-US"/>
              <a:t>中选取</a:t>
            </a:r>
            <a:r>
              <a:rPr lang="zh-CN" altLang="en-US">
                <a:solidFill>
                  <a:srgbClr val="FF0000"/>
                </a:solidFill>
              </a:rPr>
              <a:t>（</a:t>
            </a:r>
            <a:r>
              <a:rPr lang="en-US" altLang="zh-CN">
                <a:solidFill>
                  <a:srgbClr val="FF0000"/>
                </a:solidFill>
              </a:rPr>
              <a:t>P221</a:t>
            </a:r>
            <a:r>
              <a:rPr lang="zh-CN" altLang="en-US">
                <a:solidFill>
                  <a:srgbClr val="FF0000"/>
                </a:solidFill>
              </a:rPr>
              <a:t>）</a:t>
            </a:r>
            <a:endParaRPr lang="zh-CN" alt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73"/>
                                        </p:tgtEl>
                                        <p:attrNameLst>
                                          <p:attrName>style.visibility</p:attrName>
                                        </p:attrNameLst>
                                      </p:cBhvr>
                                      <p:to>
                                        <p:strVal val="visible"/>
                                      </p:to>
                                    </p:set>
                                    <p:animEffect transition="in" filter="wipe(left)">
                                      <p:cBhvr>
                                        <p:cTn id="12" dur="500"/>
                                        <p:tgtEl>
                                          <p:spTgt spid="61473"/>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5362"/>
                                        </p:tgtEl>
                                        <p:attrNameLst>
                                          <p:attrName>style.visibility</p:attrName>
                                        </p:attrNameLst>
                                      </p:cBhvr>
                                      <p:to>
                                        <p:strVal val="visible"/>
                                      </p:to>
                                    </p:set>
                                    <p:animEffect transition="in" filter="wipe(down)">
                                      <p:cBhvr>
                                        <p:cTn id="16" dur="500"/>
                                        <p:tgtEl>
                                          <p:spTgt spid="1536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3" grpId="0" autoUpdateAnimBg="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动作按钮: 后退或前一项 4">
            <a:hlinkClick r:id="" action="ppaction://hlinkshowjump?jump=previousslide" highlightClick="1"/>
          </p:cNvPr>
          <p:cNvSpPr/>
          <p:nvPr/>
        </p:nvSpPr>
        <p:spPr bwMode="auto">
          <a:xfrm>
            <a:off x="8617226" y="6530009"/>
            <a:ext cx="318052" cy="238539"/>
          </a:xfrm>
          <a:prstGeom prst="actionButtonBackPrevious">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pic>
        <p:nvPicPr>
          <p:cNvPr id="8" name="图片 7"/>
          <p:cNvPicPr>
            <a:picLocks noChangeAspect="1"/>
          </p:cNvPicPr>
          <p:nvPr/>
        </p:nvPicPr>
        <p:blipFill>
          <a:blip r:embed="rId1"/>
          <a:stretch>
            <a:fillRect/>
          </a:stretch>
        </p:blipFill>
        <p:spPr>
          <a:xfrm>
            <a:off x="5194659" y="364435"/>
            <a:ext cx="3276600" cy="5810250"/>
          </a:xfrm>
          <a:prstGeom prst="rect">
            <a:avLst/>
          </a:prstGeom>
        </p:spPr>
      </p:pic>
      <p:sp>
        <p:nvSpPr>
          <p:cNvPr id="2" name="文本框 1"/>
          <p:cNvSpPr txBox="1"/>
          <p:nvPr/>
        </p:nvSpPr>
        <p:spPr>
          <a:xfrm>
            <a:off x="615950" y="935990"/>
            <a:ext cx="4423410" cy="1938020"/>
          </a:xfrm>
          <a:prstGeom prst="rect">
            <a:avLst/>
          </a:prstGeom>
          <a:noFill/>
        </p:spPr>
        <p:txBody>
          <a:bodyPr wrap="square" rtlCol="0">
            <a:spAutoFit/>
          </a:bodyPr>
          <a:p>
            <a:pPr eaLnBrk="1" latinLnBrk="0" hangingPunct="1">
              <a:lnSpc>
                <a:spcPct val="150000"/>
              </a:lnSpc>
            </a:pPr>
            <a:r>
              <a:rPr lang="zh-CN" altLang="en-US">
                <a:solidFill>
                  <a:srgbClr val="002060"/>
                </a:solidFill>
                <a:latin typeface="黑体" panose="02010609060101010101" pitchFamily="49" charset="-122"/>
                <a:ea typeface="黑体" panose="02010609060101010101" pitchFamily="49" charset="-122"/>
              </a:rPr>
              <a:t>齿轮在啮合过程中，不同点啮合时载荷大小及齿廓曲率半径都不同，因而各啮合点处的接触应力大小也不同，如右图所示。</a:t>
            </a:r>
            <a:endParaRPr lang="zh-CN" altLang="en-US">
              <a:solidFill>
                <a:srgbClr val="002060"/>
              </a:solidFill>
              <a:latin typeface="黑体" panose="02010609060101010101" pitchFamily="49" charset="-122"/>
              <a:ea typeface="黑体" panose="02010609060101010101" pitchFamily="49" charset="-122"/>
            </a:endParaRPr>
          </a:p>
        </p:txBody>
      </p:sp>
      <p:sp>
        <p:nvSpPr>
          <p:cNvPr id="3" name="文本框 2"/>
          <p:cNvSpPr txBox="1"/>
          <p:nvPr/>
        </p:nvSpPr>
        <p:spPr>
          <a:xfrm>
            <a:off x="664845" y="3053715"/>
            <a:ext cx="4530090" cy="2861310"/>
          </a:xfrm>
          <a:prstGeom prst="rect">
            <a:avLst/>
          </a:prstGeom>
          <a:noFill/>
        </p:spPr>
        <p:txBody>
          <a:bodyPr wrap="square" rtlCol="0">
            <a:spAutoFit/>
          </a:bodyPr>
          <a:p>
            <a:pPr eaLnBrk="1" latinLnBrk="0" hangingPunct="1">
              <a:lnSpc>
                <a:spcPct val="150000"/>
              </a:lnSpc>
            </a:pP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由图可知，单对齿啮合时的最低点（</a:t>
            </a:r>
            <a:r>
              <a:rPr lang="en-US" altLang="zh-CN">
                <a:solidFill>
                  <a:srgbClr val="002060"/>
                </a:solidFill>
                <a:latin typeface="黑体" panose="02010609060101010101" pitchFamily="49" charset="-122"/>
                <a:ea typeface="黑体" panose="02010609060101010101" pitchFamily="49" charset="-122"/>
                <a:cs typeface="黑体" panose="02010609060101010101" pitchFamily="49" charset="-122"/>
              </a:rPr>
              <a:t>C</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a:t>
            </a:r>
            <a:r>
              <a:rPr lang="en-US" altLang="zh-CN">
                <a:solidFill>
                  <a:srgbClr val="002060"/>
                </a:solidFill>
                <a:latin typeface="黑体" panose="02010609060101010101" pitchFamily="49" charset="-122"/>
                <a:ea typeface="黑体" panose="02010609060101010101" pitchFamily="49" charset="-122"/>
                <a:cs typeface="黑体" panose="02010609060101010101" pitchFamily="49" charset="-122"/>
              </a:rPr>
              <a:t>D</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点）和节点（</a:t>
            </a:r>
            <a:r>
              <a:rPr lang="en-US" altLang="zh-CN">
                <a:solidFill>
                  <a:srgbClr val="002060"/>
                </a:solidFill>
                <a:latin typeface="黑体" panose="02010609060101010101" pitchFamily="49" charset="-122"/>
                <a:ea typeface="黑体" panose="02010609060101010101" pitchFamily="49" charset="-122"/>
                <a:cs typeface="黑体" panose="02010609060101010101" pitchFamily="49" charset="-122"/>
              </a:rPr>
              <a:t>P</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点）处的接触应力较大，但由于按单对齿啮合的最低点计算较复杂，且当</a:t>
            </a:r>
            <a:r>
              <a:rPr lang="en-US" altLang="zh-CN">
                <a:solidFill>
                  <a:srgbClr val="002060"/>
                </a:solidFill>
                <a:latin typeface="黑体" panose="02010609060101010101" pitchFamily="49" charset="-122"/>
                <a:ea typeface="黑体" panose="02010609060101010101" pitchFamily="49" charset="-122"/>
                <a:cs typeface="黑体" panose="02010609060101010101" pitchFamily="49" charset="-122"/>
              </a:rPr>
              <a:t>Z</a:t>
            </a:r>
            <a:r>
              <a:rPr lang="en-US" altLang="zh-CN" baseline="-25000">
                <a:solidFill>
                  <a:srgbClr val="002060"/>
                </a:solidFill>
                <a:latin typeface="黑体" panose="02010609060101010101" pitchFamily="49" charset="-122"/>
                <a:ea typeface="黑体" panose="02010609060101010101" pitchFamily="49" charset="-122"/>
                <a:cs typeface="黑体" panose="02010609060101010101" pitchFamily="49" charset="-122"/>
              </a:rPr>
              <a:t>1</a:t>
            </a:r>
            <a:r>
              <a:rPr lang="en-US" altLang="zh-CN">
                <a:solidFill>
                  <a:srgbClr val="002060"/>
                </a:solidFill>
                <a:latin typeface="黑体" panose="02010609060101010101" pitchFamily="49" charset="-122"/>
                <a:ea typeface="黑体" panose="02010609060101010101" pitchFamily="49" charset="-122"/>
                <a:cs typeface="黑体" panose="02010609060101010101" pitchFamily="49" charset="-122"/>
              </a:rPr>
              <a:t>&gt;21</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时，两处计算出的接触应力非常接近，故可按节点啮合计算齿面接触应力。</a:t>
            </a:r>
            <a:endPar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Grp="1" noChangeArrowheads="1"/>
          </p:cNvSpPr>
          <p:nvPr>
            <p:ph type="title"/>
          </p:nvPr>
        </p:nvSpPr>
        <p:spPr bwMode="auto">
          <a:xfrm>
            <a:off x="6084888" y="755650"/>
            <a:ext cx="1385887"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直齿圆柱齿轮强度计算</a:t>
            </a:r>
            <a:r>
              <a:rPr lang="en-US" altLang="zh-CN" sz="800" smtClean="0">
                <a:solidFill>
                  <a:schemeClr val="bg1"/>
                </a:solidFill>
                <a:ea typeface="黑体" panose="02010609060101010101" pitchFamily="49" charset="-122"/>
              </a:rPr>
              <a:t>3</a:t>
            </a:r>
            <a:endParaRPr lang="en-US" altLang="zh-CN" sz="800" smtClean="0">
              <a:solidFill>
                <a:schemeClr val="bg1"/>
              </a:solidFill>
              <a:ea typeface="黑体" panose="02010609060101010101" pitchFamily="49" charset="-122"/>
            </a:endParaRPr>
          </a:p>
        </p:txBody>
      </p:sp>
      <p:grpSp>
        <p:nvGrpSpPr>
          <p:cNvPr id="3" name="Group 36"/>
          <p:cNvGrpSpPr/>
          <p:nvPr/>
        </p:nvGrpSpPr>
        <p:grpSpPr bwMode="auto">
          <a:xfrm>
            <a:off x="734992" y="973640"/>
            <a:ext cx="4984751" cy="1479549"/>
            <a:chOff x="308" y="3000"/>
            <a:chExt cx="3140" cy="932"/>
          </a:xfrm>
        </p:grpSpPr>
        <p:sp>
          <p:nvSpPr>
            <p:cNvPr id="3092" name="Text Box 15"/>
            <p:cNvSpPr txBox="1">
              <a:spLocks noChangeArrowheads="1"/>
            </p:cNvSpPr>
            <p:nvPr/>
          </p:nvSpPr>
          <p:spPr bwMode="auto">
            <a:xfrm>
              <a:off x="308" y="3000"/>
              <a:ext cx="271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0099"/>
                  </a:solidFill>
                  <a:latin typeface="黑体" panose="02010609060101010101" pitchFamily="49" charset="-122"/>
                  <a:ea typeface="黑体" panose="02010609060101010101" pitchFamily="49" charset="-122"/>
                </a:rPr>
                <a:t>齿面接触疲劳强度的设计</a:t>
              </a:r>
              <a:r>
                <a:rPr lang="zh-CN" altLang="en-US" sz="2200" dirty="0">
                  <a:solidFill>
                    <a:srgbClr val="000099"/>
                  </a:solidFill>
                  <a:latin typeface="黑体" panose="02010609060101010101" pitchFamily="49" charset="-122"/>
                  <a:ea typeface="黑体" panose="02010609060101010101" pitchFamily="49" charset="-122"/>
                </a:rPr>
                <a:t>公式：</a:t>
              </a:r>
              <a:endParaRPr lang="zh-CN" altLang="en-US" sz="2200" dirty="0">
                <a:solidFill>
                  <a:srgbClr val="000099"/>
                </a:solidFill>
                <a:latin typeface="黑体" panose="02010609060101010101" pitchFamily="49" charset="-122"/>
                <a:ea typeface="黑体" panose="02010609060101010101" pitchFamily="49" charset="-122"/>
              </a:endParaRPr>
            </a:p>
          </p:txBody>
        </p:sp>
        <p:graphicFrame>
          <p:nvGraphicFramePr>
            <p:cNvPr id="3076" name="Object 16"/>
            <p:cNvGraphicFramePr>
              <a:graphicFrameLocks noChangeAspect="1"/>
            </p:cNvGraphicFramePr>
            <p:nvPr/>
          </p:nvGraphicFramePr>
          <p:xfrm>
            <a:off x="1113" y="3316"/>
            <a:ext cx="2335" cy="616"/>
          </p:xfrm>
          <a:graphic>
            <a:graphicData uri="http://schemas.openxmlformats.org/presentationml/2006/ole">
              <mc:AlternateContent xmlns:mc="http://schemas.openxmlformats.org/markup-compatibility/2006">
                <mc:Choice xmlns:v="urn:schemas-microsoft-com:vml" Requires="v">
                  <p:oleObj spid="_x0000_s23635" name="公式" r:id="rId1" imgW="1841500" imgH="482600" progId="Equation.3">
                    <p:embed/>
                  </p:oleObj>
                </mc:Choice>
                <mc:Fallback>
                  <p:oleObj name="公式" r:id="rId1" imgW="1841500" imgH="482600" progId="Equation.3">
                    <p:embed/>
                    <p:pic>
                      <p:nvPicPr>
                        <p:cNvPr id="0" name="图片 23607"/>
                        <p:cNvPicPr>
                          <a:picLocks noChangeAspect="1" noChangeArrowheads="1"/>
                        </p:cNvPicPr>
                        <p:nvPr/>
                      </p:nvPicPr>
                      <p:blipFill>
                        <a:blip r:embed="rId2"/>
                        <a:srcRect/>
                        <a:stretch>
                          <a:fillRect/>
                        </a:stretch>
                      </p:blipFill>
                      <p:spPr bwMode="auto">
                        <a:xfrm>
                          <a:off x="1113" y="3316"/>
                          <a:ext cx="2335" cy="61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pic>
                  </p:oleObj>
                </mc:Fallback>
              </mc:AlternateContent>
            </a:graphicData>
          </a:graphic>
        </p:graphicFrame>
      </p:grpSp>
      <p:sp>
        <p:nvSpPr>
          <p:cNvPr id="61479" name="Text Box 39"/>
          <p:cNvSpPr txBox="1">
            <a:spLocks noChangeArrowheads="1"/>
          </p:cNvSpPr>
          <p:nvPr/>
        </p:nvSpPr>
        <p:spPr bwMode="auto">
          <a:xfrm>
            <a:off x="6797675" y="6315075"/>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sp>
        <p:nvSpPr>
          <p:cNvPr id="309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711200" y="206375"/>
            <a:ext cx="843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3.4-5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578485" y="2660015"/>
            <a:ext cx="7771765" cy="398780"/>
          </a:xfrm>
          <a:prstGeom prst="rect">
            <a:avLst/>
          </a:prstGeom>
          <a:noFill/>
        </p:spPr>
        <p:txBody>
          <a:bodyPr wrap="square" rtlCol="0">
            <a:spAutoFit/>
          </a:bodyPr>
          <a:p>
            <a:r>
              <a:rPr lang="zh-CN" altLang="en-US">
                <a:solidFill>
                  <a:srgbClr val="002060"/>
                </a:solidFill>
              </a:rPr>
              <a:t>在齿面接触强度计算中，许用接触应力为：</a:t>
            </a:r>
            <a:endParaRPr lang="zh-CN" altLang="en-US">
              <a:solidFill>
                <a:srgbClr val="002060"/>
              </a:solidFill>
            </a:endParaRPr>
          </a:p>
        </p:txBody>
      </p:sp>
      <p:graphicFrame>
        <p:nvGraphicFramePr>
          <p:cNvPr id="4" name="对象 3">
            <a:hlinkClick r:id="" action="ppaction://ole?verb="/>
          </p:cNvPr>
          <p:cNvGraphicFramePr>
            <a:graphicFrameLocks noChangeAspect="1"/>
          </p:cNvGraphicFramePr>
          <p:nvPr/>
        </p:nvGraphicFramePr>
        <p:xfrm>
          <a:off x="2833370" y="3162935"/>
          <a:ext cx="2447290" cy="914400"/>
        </p:xfrm>
        <a:graphic>
          <a:graphicData uri="http://schemas.openxmlformats.org/presentationml/2006/ole">
            <mc:AlternateContent xmlns:mc="http://schemas.openxmlformats.org/markup-compatibility/2006">
              <mc:Choice xmlns:v="urn:schemas-microsoft-com:vml" Requires="v">
                <p:oleObj spid="_x0000_s2049" name="" r:id="rId3" imgW="1155700" imgH="431800" progId="Equation.KSEE3">
                  <p:embed/>
                </p:oleObj>
              </mc:Choice>
              <mc:Fallback>
                <p:oleObj name="" r:id="rId3" imgW="1155700" imgH="431800" progId="Equation.KSEE3">
                  <p:embed/>
                  <p:pic>
                    <p:nvPicPr>
                      <p:cNvPr id="0" name="图片 2048"/>
                      <p:cNvPicPr/>
                      <p:nvPr/>
                    </p:nvPicPr>
                    <p:blipFill>
                      <a:blip r:embed="rId4"/>
                      <a:stretch>
                        <a:fillRect/>
                      </a:stretch>
                    </p:blipFill>
                    <p:spPr>
                      <a:xfrm>
                        <a:off x="2833370" y="3162935"/>
                        <a:ext cx="2447290" cy="914400"/>
                      </a:xfrm>
                      <a:prstGeom prst="rect">
                        <a:avLst/>
                      </a:prstGeom>
                      <a:solidFill>
                        <a:schemeClr val="accent1">
                          <a:lumMod val="20000"/>
                          <a:lumOff val="80000"/>
                        </a:schemeClr>
                      </a:solidFill>
                    </p:spPr>
                  </p:pic>
                </p:oleObj>
              </mc:Fallback>
            </mc:AlternateContent>
          </a:graphicData>
        </a:graphic>
      </p:graphicFrame>
      <p:grpSp>
        <p:nvGrpSpPr>
          <p:cNvPr id="9" name="组合 8"/>
          <p:cNvGrpSpPr/>
          <p:nvPr/>
        </p:nvGrpSpPr>
        <p:grpSpPr>
          <a:xfrm>
            <a:off x="934720" y="4180840"/>
            <a:ext cx="7594600" cy="706755"/>
            <a:chOff x="1472" y="6584"/>
            <a:chExt cx="11960" cy="1113"/>
          </a:xfrm>
        </p:grpSpPr>
        <p:graphicFrame>
          <p:nvGraphicFramePr>
            <p:cNvPr id="5" name="对象 4">
              <a:hlinkClick r:id="" action="ppaction://ole?verb="/>
            </p:cNvPr>
            <p:cNvGraphicFramePr>
              <a:graphicFrameLocks noChangeAspect="1"/>
            </p:cNvGraphicFramePr>
            <p:nvPr/>
          </p:nvGraphicFramePr>
          <p:xfrm>
            <a:off x="1472" y="6584"/>
            <a:ext cx="1238" cy="698"/>
          </p:xfrm>
          <a:graphic>
            <a:graphicData uri="http://schemas.openxmlformats.org/presentationml/2006/ole">
              <mc:AlternateContent xmlns:mc="http://schemas.openxmlformats.org/markup-compatibility/2006">
                <mc:Choice xmlns:v="urn:schemas-microsoft-com:vml" Requires="v">
                  <p:oleObj spid="_x0000_s2050" name="" r:id="rId5" imgW="405765" imgH="228600" progId="Equation.KSEE3">
                    <p:embed/>
                  </p:oleObj>
                </mc:Choice>
                <mc:Fallback>
                  <p:oleObj name="" r:id="rId5" imgW="405765" imgH="228600" progId="Equation.KSEE3">
                    <p:embed/>
                    <p:pic>
                      <p:nvPicPr>
                        <p:cNvPr id="0" name="图片 2049"/>
                        <p:cNvPicPr/>
                        <p:nvPr/>
                      </p:nvPicPr>
                      <p:blipFill>
                        <a:blip r:embed="rId6"/>
                        <a:stretch>
                          <a:fillRect/>
                        </a:stretch>
                      </p:blipFill>
                      <p:spPr>
                        <a:xfrm>
                          <a:off x="1472" y="6584"/>
                          <a:ext cx="1238" cy="698"/>
                        </a:xfrm>
                        <a:prstGeom prst="rect">
                          <a:avLst/>
                        </a:prstGeom>
                      </p:spPr>
                    </p:pic>
                  </p:oleObj>
                </mc:Fallback>
              </mc:AlternateContent>
            </a:graphicData>
          </a:graphic>
        </p:graphicFrame>
        <p:sp>
          <p:nvSpPr>
            <p:cNvPr id="6" name="文本框 5"/>
            <p:cNvSpPr txBox="1"/>
            <p:nvPr/>
          </p:nvSpPr>
          <p:spPr>
            <a:xfrm>
              <a:off x="2925" y="6584"/>
              <a:ext cx="10507" cy="1113"/>
            </a:xfrm>
            <a:prstGeom prst="rect">
              <a:avLst/>
            </a:prstGeom>
            <a:noFill/>
          </p:spPr>
          <p:txBody>
            <a:bodyPr wrap="square" rtlCol="0">
              <a:spAutoFit/>
            </a:bodyPr>
            <a:p>
              <a:r>
                <a:rPr lang="en-US" altLang="zh-CN"/>
                <a:t>——</a:t>
              </a:r>
              <a:r>
                <a:rPr lang="zh-CN" altLang="en-US"/>
                <a:t>对应与循环基数</a:t>
              </a:r>
              <a:r>
                <a:rPr lang="en-US" altLang="zh-CN"/>
                <a:t>N</a:t>
              </a:r>
              <a:r>
                <a:rPr lang="en-US" altLang="zh-CN" baseline="-25000"/>
                <a:t>H0</a:t>
              </a:r>
              <a:r>
                <a:rPr lang="zh-CN" altLang="en-US"/>
                <a:t>的齿面接触极限应力，其值决定与齿轮材料及热处理条件，见</a:t>
              </a:r>
              <a:r>
                <a:rPr lang="zh-CN" altLang="en-US">
                  <a:hlinkClick r:id="rId7" action="ppaction://hlinksldjump"/>
                </a:rPr>
                <a:t>表</a:t>
              </a:r>
              <a:r>
                <a:rPr lang="en-US" altLang="zh-CN">
                  <a:hlinkClick r:id="rId7" action="ppaction://hlinksldjump"/>
                </a:rPr>
                <a:t>3.4-7</a:t>
              </a:r>
              <a:r>
                <a:rPr lang="zh-CN" altLang="en-US"/>
                <a:t>。</a:t>
              </a:r>
              <a:endParaRPr lang="zh-CN" altLang="en-US"/>
            </a:p>
          </p:txBody>
        </p:sp>
      </p:grpSp>
      <p:sp>
        <p:nvSpPr>
          <p:cNvPr id="7" name="文本框 6"/>
          <p:cNvSpPr txBox="1"/>
          <p:nvPr/>
        </p:nvSpPr>
        <p:spPr>
          <a:xfrm>
            <a:off x="934720" y="5066030"/>
            <a:ext cx="7825105" cy="706755"/>
          </a:xfrm>
          <a:prstGeom prst="rect">
            <a:avLst/>
          </a:prstGeom>
          <a:noFill/>
        </p:spPr>
        <p:txBody>
          <a:bodyPr wrap="square" rtlCol="0">
            <a:spAutoFit/>
          </a:bodyPr>
          <a:p>
            <a:r>
              <a:rPr lang="en-US" altLang="zh-CN" i="1"/>
              <a:t>S</a:t>
            </a:r>
            <a:r>
              <a:rPr lang="en-US" altLang="zh-CN" i="1" baseline="-25000"/>
              <a:t>H       </a:t>
            </a:r>
            <a:r>
              <a:rPr lang="en-US" altLang="zh-CN"/>
              <a:t>——</a:t>
            </a:r>
            <a:r>
              <a:rPr lang="zh-CN" altLang="en-US"/>
              <a:t>接触疲劳安全系数，对于正火、调质、整体淬火的齿轮， </a:t>
            </a:r>
            <a:r>
              <a:rPr lang="en-US" altLang="zh-CN"/>
              <a:t>	</a:t>
            </a:r>
            <a:r>
              <a:rPr lang="zh-CN" altLang="en-US"/>
              <a:t>取</a:t>
            </a:r>
            <a:r>
              <a:rPr lang="en-US" altLang="zh-CN" i="1"/>
              <a:t>S</a:t>
            </a:r>
            <a:r>
              <a:rPr lang="en-US" altLang="zh-CN" i="1" baseline="-25000"/>
              <a:t>H</a:t>
            </a:r>
            <a:r>
              <a:rPr lang="en-US" altLang="zh-CN"/>
              <a:t>=1.1</a:t>
            </a:r>
            <a:r>
              <a:rPr lang="zh-CN" altLang="en-US"/>
              <a:t>；对于表面淬火、渗碳、氮化的齿轮，</a:t>
            </a:r>
            <a:r>
              <a:rPr lang="en-US" altLang="zh-CN" i="1"/>
              <a:t>S</a:t>
            </a:r>
            <a:r>
              <a:rPr lang="en-US" altLang="zh-CN" i="1" baseline="-25000"/>
              <a:t>H</a:t>
            </a:r>
            <a:r>
              <a:rPr lang="en-US" altLang="zh-CN"/>
              <a:t>=1.2</a:t>
            </a:r>
            <a:r>
              <a:rPr lang="zh-CN" altLang="en-US"/>
              <a:t>。</a:t>
            </a:r>
            <a:endParaRPr lang="zh-CN" altLang="en-US"/>
          </a:p>
        </p:txBody>
      </p:sp>
      <p:sp>
        <p:nvSpPr>
          <p:cNvPr id="8" name="文本框 7"/>
          <p:cNvSpPr txBox="1"/>
          <p:nvPr/>
        </p:nvSpPr>
        <p:spPr>
          <a:xfrm>
            <a:off x="962660" y="5844540"/>
            <a:ext cx="7566660" cy="398780"/>
          </a:xfrm>
          <a:prstGeom prst="rect">
            <a:avLst/>
          </a:prstGeom>
          <a:noFill/>
        </p:spPr>
        <p:txBody>
          <a:bodyPr wrap="square" rtlCol="0">
            <a:spAutoFit/>
          </a:bodyPr>
          <a:p>
            <a:r>
              <a:rPr lang="en-US" altLang="zh-CN" i="1"/>
              <a:t>K</a:t>
            </a:r>
            <a:r>
              <a:rPr lang="en-US" altLang="zh-CN" i="1" baseline="-25000"/>
              <a:t>HN   </a:t>
            </a:r>
            <a:r>
              <a:rPr lang="en-US" altLang="zh-CN"/>
              <a:t>—— </a:t>
            </a:r>
            <a:r>
              <a:rPr lang="zh-CN" altLang="en-US"/>
              <a:t>接触疲劳寿命系数。</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1479"/>
                                        </p:tgtEl>
                                        <p:attrNameLst>
                                          <p:attrName>style.visibility</p:attrName>
                                        </p:attrNameLst>
                                      </p:cBhvr>
                                      <p:to>
                                        <p:strVal val="visible"/>
                                      </p:to>
                                    </p:set>
                                    <p:anim calcmode="lin" valueType="num">
                                      <p:cBhvr additive="base">
                                        <p:cTn id="12" dur="500" fill="hold"/>
                                        <p:tgtEl>
                                          <p:spTgt spid="61479"/>
                                        </p:tgtEl>
                                        <p:attrNameLst>
                                          <p:attrName>ppt_x</p:attrName>
                                        </p:attrNameLst>
                                      </p:cBhvr>
                                      <p:tavLst>
                                        <p:tav tm="0">
                                          <p:val>
                                            <p:strVal val="0-#ppt_w/2"/>
                                          </p:val>
                                        </p:tav>
                                        <p:tav tm="100000">
                                          <p:val>
                                            <p:strVal val="#ppt_x"/>
                                          </p:val>
                                        </p:tav>
                                      </p:tavLst>
                                    </p:anim>
                                    <p:anim calcmode="lin" valueType="num">
                                      <p:cBhvr additive="base">
                                        <p:cTn id="13" dur="500" fill="hold"/>
                                        <p:tgtEl>
                                          <p:spTgt spid="6147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9" grpId="0" autoUpdateAnimBg="0"/>
      <p:bldP spid="2" grpId="0"/>
      <p:bldP spid="7"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Grp="1" noChangeArrowheads="1"/>
          </p:cNvSpPr>
          <p:nvPr>
            <p:ph type="title"/>
          </p:nvPr>
        </p:nvSpPr>
        <p:spPr bwMode="auto">
          <a:xfrm>
            <a:off x="6084888" y="755650"/>
            <a:ext cx="1385887"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直齿圆柱齿轮强度计算</a:t>
            </a:r>
            <a:r>
              <a:rPr lang="en-US" altLang="zh-CN" sz="800" smtClean="0">
                <a:solidFill>
                  <a:schemeClr val="bg1"/>
                </a:solidFill>
                <a:ea typeface="黑体" panose="02010609060101010101" pitchFamily="49" charset="-122"/>
              </a:rPr>
              <a:t>3</a:t>
            </a:r>
            <a:endParaRPr lang="en-US" altLang="zh-CN" sz="800" smtClean="0">
              <a:solidFill>
                <a:schemeClr val="bg1"/>
              </a:solidFill>
              <a:ea typeface="黑体" panose="02010609060101010101" pitchFamily="49" charset="-122"/>
            </a:endParaRPr>
          </a:p>
        </p:txBody>
      </p:sp>
      <p:sp>
        <p:nvSpPr>
          <p:cNvPr id="61479" name="Text Box 39"/>
          <p:cNvSpPr txBox="1">
            <a:spLocks noChangeArrowheads="1"/>
          </p:cNvSpPr>
          <p:nvPr/>
        </p:nvSpPr>
        <p:spPr bwMode="auto">
          <a:xfrm>
            <a:off x="6797675" y="6315075"/>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sp>
        <p:nvSpPr>
          <p:cNvPr id="309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711200" y="206375"/>
            <a:ext cx="843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3.4-5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7" name="文本框 6"/>
          <p:cNvSpPr txBox="1"/>
          <p:nvPr/>
        </p:nvSpPr>
        <p:spPr>
          <a:xfrm>
            <a:off x="1738630" y="2847975"/>
            <a:ext cx="5156835" cy="398780"/>
          </a:xfrm>
          <a:prstGeom prst="rect">
            <a:avLst/>
          </a:prstGeom>
          <a:noFill/>
        </p:spPr>
        <p:txBody>
          <a:bodyPr wrap="square" rtlCol="0">
            <a:spAutoFit/>
          </a:bodyPr>
          <a:p>
            <a:r>
              <a:rPr lang="en-US" altLang="zh-CN" i="1"/>
              <a:t>N</a:t>
            </a:r>
            <a:r>
              <a:rPr lang="en-US" altLang="zh-CN" i="1" baseline="-25000"/>
              <a:t>H       </a:t>
            </a:r>
            <a:r>
              <a:rPr lang="en-US" altLang="zh-CN"/>
              <a:t>——</a:t>
            </a:r>
            <a:r>
              <a:rPr lang="zh-CN" altLang="en-US"/>
              <a:t>轮齿的应力循环次数。</a:t>
            </a:r>
            <a:endParaRPr lang="zh-CN" altLang="en-US"/>
          </a:p>
        </p:txBody>
      </p:sp>
      <p:sp>
        <p:nvSpPr>
          <p:cNvPr id="8" name="文本框 7"/>
          <p:cNvSpPr txBox="1"/>
          <p:nvPr/>
        </p:nvSpPr>
        <p:spPr>
          <a:xfrm>
            <a:off x="623570" y="899795"/>
            <a:ext cx="4007485" cy="398780"/>
          </a:xfrm>
          <a:prstGeom prst="rect">
            <a:avLst/>
          </a:prstGeom>
          <a:noFill/>
        </p:spPr>
        <p:txBody>
          <a:bodyPr wrap="square" rtlCol="0">
            <a:spAutoFit/>
          </a:bodyPr>
          <a:p>
            <a:r>
              <a:rPr lang="en-US" altLang="zh-CN" i="1"/>
              <a:t>K</a:t>
            </a:r>
            <a:r>
              <a:rPr lang="en-US" altLang="zh-CN" i="1" baseline="-25000"/>
              <a:t>HN   </a:t>
            </a:r>
            <a:r>
              <a:rPr lang="en-US" altLang="zh-CN"/>
              <a:t>—— </a:t>
            </a:r>
            <a:r>
              <a:rPr lang="zh-CN" altLang="en-US"/>
              <a:t>接触疲劳寿命系数。</a:t>
            </a:r>
            <a:endParaRPr lang="zh-CN" altLang="en-US"/>
          </a:p>
        </p:txBody>
      </p:sp>
      <p:graphicFrame>
        <p:nvGraphicFramePr>
          <p:cNvPr id="10" name="对象 9">
            <a:hlinkClick r:id="" action="ppaction://ole?verb="/>
          </p:cNvPr>
          <p:cNvGraphicFramePr>
            <a:graphicFrameLocks noChangeAspect="1"/>
          </p:cNvGraphicFramePr>
          <p:nvPr/>
        </p:nvGraphicFramePr>
        <p:xfrm>
          <a:off x="2892425" y="1337310"/>
          <a:ext cx="1595755" cy="879475"/>
        </p:xfrm>
        <a:graphic>
          <a:graphicData uri="http://schemas.openxmlformats.org/presentationml/2006/ole">
            <mc:AlternateContent xmlns:mc="http://schemas.openxmlformats.org/markup-compatibility/2006">
              <mc:Choice xmlns:v="urn:schemas-microsoft-com:vml" Requires="v">
                <p:oleObj spid="_x0000_s4097" name="" r:id="rId1" imgW="876300" imgH="482600" progId="Equation.KSEE3">
                  <p:embed/>
                </p:oleObj>
              </mc:Choice>
              <mc:Fallback>
                <p:oleObj name="" r:id="rId1" imgW="876300" imgH="482600" progId="Equation.KSEE3">
                  <p:embed/>
                  <p:pic>
                    <p:nvPicPr>
                      <p:cNvPr id="0" name="图片 4096"/>
                      <p:cNvPicPr/>
                      <p:nvPr/>
                    </p:nvPicPr>
                    <p:blipFill>
                      <a:blip r:embed="rId2"/>
                      <a:stretch>
                        <a:fillRect/>
                      </a:stretch>
                    </p:blipFill>
                    <p:spPr>
                      <a:xfrm>
                        <a:off x="2892425" y="1337310"/>
                        <a:ext cx="1595755" cy="879475"/>
                      </a:xfrm>
                      <a:prstGeom prst="rect">
                        <a:avLst/>
                      </a:prstGeom>
                      <a:solidFill>
                        <a:schemeClr val="accent3">
                          <a:lumMod val="95000"/>
                        </a:schemeClr>
                      </a:solidFill>
                    </p:spPr>
                  </p:pic>
                </p:oleObj>
              </mc:Fallback>
            </mc:AlternateContent>
          </a:graphicData>
        </a:graphic>
      </p:graphicFrame>
      <p:sp>
        <p:nvSpPr>
          <p:cNvPr id="11" name="文本框 10"/>
          <p:cNvSpPr txBox="1"/>
          <p:nvPr/>
        </p:nvSpPr>
        <p:spPr>
          <a:xfrm>
            <a:off x="880745" y="2348230"/>
            <a:ext cx="7825105" cy="398780"/>
          </a:xfrm>
          <a:prstGeom prst="rect">
            <a:avLst/>
          </a:prstGeom>
          <a:noFill/>
        </p:spPr>
        <p:txBody>
          <a:bodyPr wrap="square" rtlCol="0">
            <a:spAutoFit/>
          </a:bodyPr>
          <a:p>
            <a:r>
              <a:rPr lang="zh-CN" altLang="en-US" i="1"/>
              <a:t>式中：</a:t>
            </a:r>
            <a:r>
              <a:rPr lang="en-US" altLang="zh-CN" i="1"/>
              <a:t>N</a:t>
            </a:r>
            <a:r>
              <a:rPr lang="en-US" altLang="zh-CN" i="1" baseline="-25000"/>
              <a:t>H0       </a:t>
            </a:r>
            <a:r>
              <a:rPr lang="en-US" altLang="zh-CN"/>
              <a:t>——</a:t>
            </a:r>
            <a:r>
              <a:rPr lang="zh-CN" altLang="en-US"/>
              <a:t>循环基数；</a:t>
            </a:r>
            <a:endParaRPr lang="zh-CN" altLang="en-US"/>
          </a:p>
        </p:txBody>
      </p:sp>
      <p:sp>
        <p:nvSpPr>
          <p:cNvPr id="12" name="文本框 11"/>
          <p:cNvSpPr txBox="1"/>
          <p:nvPr/>
        </p:nvSpPr>
        <p:spPr>
          <a:xfrm>
            <a:off x="648335" y="3318510"/>
            <a:ext cx="8192135" cy="706755"/>
          </a:xfrm>
          <a:prstGeom prst="rect">
            <a:avLst/>
          </a:prstGeom>
          <a:noFill/>
        </p:spPr>
        <p:txBody>
          <a:bodyPr wrap="square" rtlCol="0">
            <a:spAutoFit/>
          </a:bodyPr>
          <a:p>
            <a:r>
              <a:rPr lang="zh-CN" altLang="en-US"/>
              <a:t>轮齿的表面硬度越高，循环基数</a:t>
            </a:r>
            <a:r>
              <a:rPr lang="en-US" altLang="zh-CN" i="1"/>
              <a:t>N</a:t>
            </a:r>
            <a:r>
              <a:rPr lang="en-US" altLang="zh-CN" i="1" baseline="-25000"/>
              <a:t>H0</a:t>
            </a:r>
            <a:r>
              <a:rPr lang="zh-CN" altLang="en-US"/>
              <a:t>越大，其值可按齿面布氏硬度的大小，有图</a:t>
            </a:r>
            <a:r>
              <a:rPr lang="en-US" altLang="zh-CN"/>
              <a:t>3.4-13</a:t>
            </a:r>
            <a:r>
              <a:rPr lang="zh-CN" altLang="en-US"/>
              <a:t>查得。</a:t>
            </a:r>
            <a:endParaRPr lang="zh-CN" altLang="en-US"/>
          </a:p>
        </p:txBody>
      </p:sp>
      <p:sp>
        <p:nvSpPr>
          <p:cNvPr id="13" name="文本框 12"/>
          <p:cNvSpPr txBox="1"/>
          <p:nvPr/>
        </p:nvSpPr>
        <p:spPr>
          <a:xfrm>
            <a:off x="582295" y="4191635"/>
            <a:ext cx="4167505" cy="398780"/>
          </a:xfrm>
          <a:prstGeom prst="rect">
            <a:avLst/>
          </a:prstGeom>
          <a:noFill/>
        </p:spPr>
        <p:txBody>
          <a:bodyPr wrap="square" rtlCol="0">
            <a:spAutoFit/>
          </a:bodyPr>
          <a:p>
            <a:r>
              <a:rPr lang="zh-CN" altLang="en-US"/>
              <a:t>轮齿的应力循环次数</a:t>
            </a:r>
            <a:r>
              <a:rPr lang="en-US" altLang="zh-CN" i="1"/>
              <a:t>N</a:t>
            </a:r>
            <a:r>
              <a:rPr lang="en-US" altLang="zh-CN" i="1" baseline="-25000"/>
              <a:t>H</a:t>
            </a:r>
            <a:r>
              <a:rPr lang="zh-CN" altLang="en-US"/>
              <a:t>为：</a:t>
            </a:r>
            <a:endParaRPr lang="zh-CN" altLang="en-US"/>
          </a:p>
        </p:txBody>
      </p:sp>
      <p:graphicFrame>
        <p:nvGraphicFramePr>
          <p:cNvPr id="14" name="对象 13">
            <a:hlinkClick r:id="" action="ppaction://ole?verb="/>
          </p:cNvPr>
          <p:cNvGraphicFramePr>
            <a:graphicFrameLocks noChangeAspect="1"/>
          </p:cNvGraphicFramePr>
          <p:nvPr/>
        </p:nvGraphicFramePr>
        <p:xfrm>
          <a:off x="3719195" y="4191635"/>
          <a:ext cx="1466850" cy="415925"/>
        </p:xfrm>
        <a:graphic>
          <a:graphicData uri="http://schemas.openxmlformats.org/presentationml/2006/ole">
            <mc:AlternateContent xmlns:mc="http://schemas.openxmlformats.org/markup-compatibility/2006">
              <mc:Choice xmlns:v="urn:schemas-microsoft-com:vml" Requires="v">
                <p:oleObj spid="_x0000_s4098" name="" r:id="rId3" imgW="762000" imgH="215900" progId="Equation.KSEE3">
                  <p:embed/>
                </p:oleObj>
              </mc:Choice>
              <mc:Fallback>
                <p:oleObj name="" r:id="rId3" imgW="762000" imgH="215900" progId="Equation.KSEE3">
                  <p:embed/>
                  <p:pic>
                    <p:nvPicPr>
                      <p:cNvPr id="0" name="图片 4097"/>
                      <p:cNvPicPr/>
                      <p:nvPr/>
                    </p:nvPicPr>
                    <p:blipFill>
                      <a:blip r:embed="rId4"/>
                      <a:stretch>
                        <a:fillRect/>
                      </a:stretch>
                    </p:blipFill>
                    <p:spPr>
                      <a:xfrm>
                        <a:off x="3719195" y="4191635"/>
                        <a:ext cx="1466850" cy="415925"/>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3096260" y="4728210"/>
          <a:ext cx="1653540" cy="911225"/>
        </p:xfrm>
        <a:graphic>
          <a:graphicData uri="http://schemas.openxmlformats.org/presentationml/2006/ole">
            <mc:AlternateContent xmlns:mc="http://schemas.openxmlformats.org/markup-compatibility/2006">
              <mc:Choice xmlns:v="urn:schemas-microsoft-com:vml" Requires="v">
                <p:oleObj spid="_x0000_s2" name="" r:id="rId5" imgW="876300" imgH="482600" progId="Equation.KSEE3">
                  <p:embed/>
                </p:oleObj>
              </mc:Choice>
              <mc:Fallback>
                <p:oleObj name="" r:id="rId5" imgW="876300" imgH="482600" progId="Equation.KSEE3">
                  <p:embed/>
                  <p:pic>
                    <p:nvPicPr>
                      <p:cNvPr id="0" name="图片 4096"/>
                      <p:cNvPicPr/>
                      <p:nvPr/>
                    </p:nvPicPr>
                    <p:blipFill>
                      <a:blip r:embed="rId6"/>
                      <a:stretch>
                        <a:fillRect/>
                      </a:stretch>
                    </p:blipFill>
                    <p:spPr>
                      <a:xfrm>
                        <a:off x="3096260" y="4728210"/>
                        <a:ext cx="1653540" cy="911225"/>
                      </a:xfrm>
                      <a:prstGeom prst="rect">
                        <a:avLst/>
                      </a:prstGeom>
                      <a:solidFill>
                        <a:schemeClr val="accent1">
                          <a:lumMod val="40000"/>
                          <a:lumOff val="60000"/>
                        </a:schemeClr>
                      </a:solidFill>
                    </p:spPr>
                  </p:pic>
                </p:oleObj>
              </mc:Fallback>
            </mc:AlternateContent>
          </a:graphicData>
        </a:graphic>
      </p:graphicFrame>
      <p:sp>
        <p:nvSpPr>
          <p:cNvPr id="16" name="文本框 15"/>
          <p:cNvSpPr txBox="1"/>
          <p:nvPr/>
        </p:nvSpPr>
        <p:spPr>
          <a:xfrm>
            <a:off x="929640" y="1480185"/>
            <a:ext cx="2003425" cy="398780"/>
          </a:xfrm>
          <a:prstGeom prst="rect">
            <a:avLst/>
          </a:prstGeom>
          <a:noFill/>
        </p:spPr>
        <p:txBody>
          <a:bodyPr wrap="square" rtlCol="0">
            <a:spAutoFit/>
          </a:bodyPr>
          <a:p>
            <a:r>
              <a:rPr lang="zh-CN" altLang="en-US">
                <a:solidFill>
                  <a:srgbClr val="C00000"/>
                </a:solidFill>
              </a:rPr>
              <a:t>当载荷稳定时</a:t>
            </a:r>
            <a:endParaRPr lang="zh-CN" altLang="en-US">
              <a:solidFill>
                <a:srgbClr val="C00000"/>
              </a:solidFill>
            </a:endParaRPr>
          </a:p>
        </p:txBody>
      </p:sp>
      <p:sp>
        <p:nvSpPr>
          <p:cNvPr id="17" name="文本框 16"/>
          <p:cNvSpPr txBox="1"/>
          <p:nvPr/>
        </p:nvSpPr>
        <p:spPr>
          <a:xfrm>
            <a:off x="967740" y="4953635"/>
            <a:ext cx="2003425" cy="398780"/>
          </a:xfrm>
          <a:prstGeom prst="rect">
            <a:avLst/>
          </a:prstGeom>
          <a:noFill/>
        </p:spPr>
        <p:txBody>
          <a:bodyPr wrap="square" rtlCol="0">
            <a:spAutoFit/>
          </a:bodyPr>
          <a:p>
            <a:r>
              <a:rPr lang="zh-CN" altLang="en-US">
                <a:solidFill>
                  <a:srgbClr val="C00000"/>
                </a:solidFill>
              </a:rPr>
              <a:t>当载荷不稳定时</a:t>
            </a:r>
            <a:endParaRPr lang="zh-CN" altLang="en-US">
              <a:solidFill>
                <a:srgbClr val="C00000"/>
              </a:solidFill>
            </a:endParaRPr>
          </a:p>
        </p:txBody>
      </p:sp>
      <p:graphicFrame>
        <p:nvGraphicFramePr>
          <p:cNvPr id="18" name="对象 17">
            <a:hlinkClick r:id="" action="ppaction://ole?verb="/>
          </p:cNvPr>
          <p:cNvGraphicFramePr>
            <a:graphicFrameLocks noChangeAspect="1"/>
          </p:cNvGraphicFramePr>
          <p:nvPr/>
        </p:nvGraphicFramePr>
        <p:xfrm>
          <a:off x="4876800" y="5639435"/>
          <a:ext cx="2593975" cy="810895"/>
        </p:xfrm>
        <a:graphic>
          <a:graphicData uri="http://schemas.openxmlformats.org/presentationml/2006/ole">
            <mc:AlternateContent xmlns:mc="http://schemas.openxmlformats.org/markup-compatibility/2006">
              <mc:Choice xmlns:v="urn:schemas-microsoft-com:vml" Requires="v">
                <p:oleObj spid="_x0000_s4099" name="" r:id="rId7" imgW="1422400" imgH="444500" progId="Equation.KSEE3">
                  <p:embed/>
                </p:oleObj>
              </mc:Choice>
              <mc:Fallback>
                <p:oleObj name="" r:id="rId7" imgW="1422400" imgH="444500" progId="Equation.KSEE3">
                  <p:embed/>
                  <p:pic>
                    <p:nvPicPr>
                      <p:cNvPr id="0" name="图片 4098"/>
                      <p:cNvPicPr/>
                      <p:nvPr/>
                    </p:nvPicPr>
                    <p:blipFill>
                      <a:blip r:embed="rId8"/>
                      <a:stretch>
                        <a:fillRect/>
                      </a:stretch>
                    </p:blipFill>
                    <p:spPr>
                      <a:xfrm>
                        <a:off x="4876800" y="5639435"/>
                        <a:ext cx="2593975" cy="810895"/>
                      </a:xfrm>
                      <a:prstGeom prst="rect">
                        <a:avLst/>
                      </a:prstGeom>
                    </p:spPr>
                  </p:pic>
                </p:oleObj>
              </mc:Fallback>
            </mc:AlternateContent>
          </a:graphicData>
        </a:graphic>
      </p:graphicFrame>
      <p:sp>
        <p:nvSpPr>
          <p:cNvPr id="20" name="文本框 19"/>
          <p:cNvSpPr txBox="1"/>
          <p:nvPr/>
        </p:nvSpPr>
        <p:spPr>
          <a:xfrm>
            <a:off x="2195830" y="5791200"/>
            <a:ext cx="2852420" cy="398780"/>
          </a:xfrm>
          <a:prstGeom prst="rect">
            <a:avLst/>
          </a:prstGeom>
          <a:noFill/>
        </p:spPr>
        <p:txBody>
          <a:bodyPr wrap="square" rtlCol="0">
            <a:spAutoFit/>
          </a:bodyPr>
          <a:p>
            <a:r>
              <a:rPr lang="zh-CN" altLang="en-US"/>
              <a:t>当量应力循环次数：</a:t>
            </a:r>
            <a:endParaRPr lang="zh-CN" altLang="en-US"/>
          </a:p>
        </p:txBody>
      </p:sp>
      <p:sp>
        <p:nvSpPr>
          <p:cNvPr id="68647" name="Text Box 39"/>
          <p:cNvSpPr txBox="1">
            <a:spLocks noChangeArrowheads="1"/>
          </p:cNvSpPr>
          <p:nvPr/>
        </p:nvSpPr>
        <p:spPr bwMode="auto">
          <a:xfrm>
            <a:off x="5198110" y="3783965"/>
            <a:ext cx="3838575" cy="1568450"/>
          </a:xfrm>
          <a:prstGeom prst="rect">
            <a:avLst/>
          </a:prstGeom>
          <a:solidFill>
            <a:srgbClr val="25FC5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i="1" dirty="0">
                <a:solidFill>
                  <a:srgbClr val="000099"/>
                </a:solidFill>
              </a:rPr>
              <a:t>n</a:t>
            </a:r>
            <a:r>
              <a:rPr lang="zh-CN" altLang="en-US" dirty="0">
                <a:solidFill>
                  <a:srgbClr val="000099"/>
                </a:solidFill>
              </a:rPr>
              <a:t>为齿轮的转数，单位为</a:t>
            </a:r>
            <a:r>
              <a:rPr lang="en-US" altLang="zh-CN" dirty="0">
                <a:solidFill>
                  <a:srgbClr val="000099"/>
                </a:solidFill>
              </a:rPr>
              <a:t>r/min</a:t>
            </a:r>
            <a:r>
              <a:rPr lang="zh-CN" altLang="en-US" dirty="0">
                <a:solidFill>
                  <a:srgbClr val="000099"/>
                </a:solidFill>
              </a:rPr>
              <a:t>；</a:t>
            </a:r>
            <a:endParaRPr lang="zh-CN" altLang="en-US" dirty="0">
              <a:solidFill>
                <a:srgbClr val="000099"/>
              </a:solidFill>
            </a:endParaRPr>
          </a:p>
          <a:p>
            <a:pPr eaLnBrk="1" hangingPunct="1">
              <a:lnSpc>
                <a:spcPct val="120000"/>
              </a:lnSpc>
            </a:pPr>
            <a:r>
              <a:rPr lang="en-US" altLang="zh-CN" i="1" dirty="0">
                <a:solidFill>
                  <a:srgbClr val="000099"/>
                </a:solidFill>
              </a:rPr>
              <a:t>j</a:t>
            </a:r>
            <a:r>
              <a:rPr lang="zh-CN" altLang="en-US" dirty="0">
                <a:solidFill>
                  <a:srgbClr val="000099"/>
                </a:solidFill>
              </a:rPr>
              <a:t>为齿轮每转一圈，同一齿面啮合的次数；</a:t>
            </a:r>
            <a:endParaRPr lang="zh-CN" altLang="en-US" dirty="0">
              <a:solidFill>
                <a:srgbClr val="000099"/>
              </a:solidFill>
            </a:endParaRPr>
          </a:p>
          <a:p>
            <a:pPr eaLnBrk="1" hangingPunct="1">
              <a:lnSpc>
                <a:spcPct val="120000"/>
              </a:lnSpc>
            </a:pPr>
            <a:r>
              <a:rPr lang="en-US" altLang="zh-CN" i="1" dirty="0" err="1">
                <a:solidFill>
                  <a:srgbClr val="000099"/>
                </a:solidFill>
              </a:rPr>
              <a:t>t</a:t>
            </a:r>
            <a:r>
              <a:rPr lang="zh-CN" altLang="en-US" dirty="0">
                <a:solidFill>
                  <a:srgbClr val="000099"/>
                </a:solidFill>
              </a:rPr>
              <a:t>为齿轮的工作寿命，单位为小时。</a:t>
            </a:r>
            <a:endParaRPr lang="zh-CN" altLang="en-US" dirty="0">
              <a:solidFill>
                <a:srgbClr val="000099"/>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79"/>
                                        </p:tgtEl>
                                        <p:attrNameLst>
                                          <p:attrName>style.visibility</p:attrName>
                                        </p:attrNameLst>
                                      </p:cBhvr>
                                      <p:to>
                                        <p:strVal val="visible"/>
                                      </p:to>
                                    </p:set>
                                    <p:anim calcmode="lin" valueType="num">
                                      <p:cBhvr additive="base">
                                        <p:cTn id="7" dur="500" fill="hold"/>
                                        <p:tgtEl>
                                          <p:spTgt spid="61479"/>
                                        </p:tgtEl>
                                        <p:attrNameLst>
                                          <p:attrName>ppt_x</p:attrName>
                                        </p:attrNameLst>
                                      </p:cBhvr>
                                      <p:tavLst>
                                        <p:tav tm="0">
                                          <p:val>
                                            <p:strVal val="0-#ppt_w/2"/>
                                          </p:val>
                                        </p:tav>
                                        <p:tav tm="100000">
                                          <p:val>
                                            <p:strVal val="#ppt_x"/>
                                          </p:val>
                                        </p:tav>
                                      </p:tavLst>
                                    </p:anim>
                                    <p:anim calcmode="lin" valueType="num">
                                      <p:cBhvr additive="base">
                                        <p:cTn id="8" dur="500" fill="hold"/>
                                        <p:tgtEl>
                                          <p:spTgt spid="614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childTnLst>
                          </p:cTn>
                        </p:par>
                        <p:par>
                          <p:cTn id="41" fill="hold">
                            <p:stCondLst>
                              <p:cond delay="1000"/>
                            </p:stCondLst>
                            <p:childTnLst>
                              <p:par>
                                <p:cTn id="42" presetID="22" presetClass="entr" presetSubtype="1" fill="hold" grpId="0" nodeType="afterEffect">
                                  <p:stCondLst>
                                    <p:cond delay="0"/>
                                  </p:stCondLst>
                                  <p:childTnLst>
                                    <p:set>
                                      <p:cBhvr>
                                        <p:cTn id="43" dur="1" fill="hold">
                                          <p:stCondLst>
                                            <p:cond delay="0"/>
                                          </p:stCondLst>
                                        </p:cTn>
                                        <p:tgtEl>
                                          <p:spTgt spid="68647"/>
                                        </p:tgtEl>
                                        <p:attrNameLst>
                                          <p:attrName>style.visibility</p:attrName>
                                        </p:attrNameLst>
                                      </p:cBhvr>
                                      <p:to>
                                        <p:strVal val="visible"/>
                                      </p:to>
                                    </p:set>
                                    <p:animEffect transition="in" filter="wipe(up)">
                                      <p:cBhvr>
                                        <p:cTn id="44" dur="500"/>
                                        <p:tgtEl>
                                          <p:spTgt spid="6864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0" presetID="22" presetClass="entr" presetSubtype="8"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9" grpId="0" autoUpdateAnimBg="0"/>
      <p:bldP spid="16" grpId="0"/>
      <p:bldP spid="11" grpId="0"/>
      <p:bldP spid="7" grpId="0"/>
      <p:bldP spid="12" grpId="0"/>
      <p:bldP spid="13" grpId="0"/>
      <p:bldP spid="17" grpId="0"/>
      <p:bldP spid="20" grpId="0"/>
      <p:bldP spid="68647" grpId="0" bldLvl="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28675" name="Text Box 5"/>
          <p:cNvSpPr txBox="1"/>
          <p:nvPr/>
        </p:nvSpPr>
        <p:spPr>
          <a:xfrm>
            <a:off x="628650" y="71438"/>
            <a:ext cx="4927600" cy="549275"/>
          </a:xfrm>
          <a:prstGeom prst="rect">
            <a:avLst/>
          </a:prstGeom>
          <a:noFill/>
          <a:ln w="9525">
            <a:noFill/>
          </a:ln>
        </p:spPr>
        <p:txBody>
          <a:bodyPr tIns="36000" bIns="72000" anchor="ctr" anchorCtr="1"/>
          <a:p>
            <a:pPr eaLnBrk="1" hangingPunct="1"/>
            <a:r>
              <a:rPr lang="zh-CN" altLang="en-US" sz="3000" dirty="0">
                <a:solidFill>
                  <a:schemeClr val="bg1"/>
                </a:solidFill>
                <a:latin typeface="黑体" panose="02010609060101010101" pitchFamily="49" charset="-122"/>
                <a:ea typeface="黑体" panose="02010609060101010101" pitchFamily="49" charset="-122"/>
              </a:rPr>
              <a:t>标准圆柱齿轮传动的设计</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28680" name="Rectangle 22"/>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sp>
        <p:nvSpPr>
          <p:cNvPr id="28681" name="Rectangle 23"/>
          <p:cNvSpPr/>
          <p:nvPr/>
        </p:nvSpPr>
        <p:spPr>
          <a:xfrm>
            <a:off x="0" y="441325"/>
            <a:ext cx="9144000" cy="0"/>
          </a:xfrm>
          <a:prstGeom prst="rect">
            <a:avLst/>
          </a:prstGeom>
          <a:noFill/>
          <a:ln w="9525">
            <a:noFill/>
          </a:ln>
        </p:spPr>
        <p:txBody>
          <a:bodyPr wrap="none" anchor="ctr" anchorCtr="0">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8682" name="Rectangle 29"/>
          <p:cNvSpPr/>
          <p:nvPr/>
        </p:nvSpPr>
        <p:spPr>
          <a:xfrm>
            <a:off x="5737225" y="7286625"/>
            <a:ext cx="10774363" cy="46038"/>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8683" name="Rectangle 9"/>
          <p:cNvSpPr/>
          <p:nvPr/>
        </p:nvSpPr>
        <p:spPr>
          <a:xfrm>
            <a:off x="6326188" y="180975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sp>
        <p:nvSpPr>
          <p:cNvPr id="28684" name="Rectangle 22"/>
          <p:cNvSpPr/>
          <p:nvPr/>
        </p:nvSpPr>
        <p:spPr>
          <a:xfrm>
            <a:off x="4454525" y="3341688"/>
            <a:ext cx="9144000" cy="0"/>
          </a:xfrm>
          <a:prstGeom prst="rect">
            <a:avLst/>
          </a:prstGeom>
          <a:noFill/>
          <a:ln w="9525">
            <a:noFill/>
          </a:ln>
        </p:spPr>
        <p:txBody>
          <a:bodyPr wrap="none" anchor="ctr" anchorCtr="0">
            <a:spAutoFit/>
          </a:bodyPr>
          <a:p>
            <a:r>
              <a:rPr lang="en-US" altLang="zh-CN" sz="1000" dirty="0">
                <a:latin typeface="Calibri" panose="020F0502020204030204" pitchFamily="34" charset="0"/>
                <a:cs typeface="Calibri" panose="020F0502020204030204" pitchFamily="34" charset="0"/>
              </a:rPr>
              <a:t> </a:t>
            </a:r>
            <a:endParaRPr lang="en-US" altLang="zh-CN" dirty="0">
              <a:latin typeface="Times New Roman" panose="02020603050405020304" pitchFamily="18" charset="0"/>
            </a:endParaRPr>
          </a:p>
        </p:txBody>
      </p:sp>
      <p:sp>
        <p:nvSpPr>
          <p:cNvPr id="28685" name="Rectangle 28"/>
          <p:cNvSpPr/>
          <p:nvPr/>
        </p:nvSpPr>
        <p:spPr>
          <a:xfrm>
            <a:off x="4302125" y="3424238"/>
            <a:ext cx="10244138" cy="46037"/>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8686" name="Rectangle 2"/>
          <p:cNvSpPr/>
          <p:nvPr/>
        </p:nvSpPr>
        <p:spPr>
          <a:xfrm>
            <a:off x="2241550" y="2195513"/>
            <a:ext cx="11079163" cy="44450"/>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8687" name="Rectangle 19"/>
          <p:cNvSpPr/>
          <p:nvPr/>
        </p:nvSpPr>
        <p:spPr>
          <a:xfrm>
            <a:off x="3800475" y="4705350"/>
            <a:ext cx="11669713" cy="46038"/>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8688" name="Rectangle 2"/>
          <p:cNvSpPr/>
          <p:nvPr/>
        </p:nvSpPr>
        <p:spPr>
          <a:xfrm>
            <a:off x="2670175" y="1855788"/>
            <a:ext cx="9936163" cy="46037"/>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238125" y="833120"/>
            <a:ext cx="8435340" cy="2618105"/>
          </a:xfrm>
          <a:prstGeom prst="rect">
            <a:avLst/>
          </a:prstGeom>
          <a:noFill/>
          <a:ln w="9525">
            <a:noFill/>
          </a:ln>
        </p:spPr>
      </p:pic>
      <p:pic>
        <p:nvPicPr>
          <p:cNvPr id="6" name="图片 5"/>
          <p:cNvPicPr>
            <a:picLocks noChangeAspect="1"/>
          </p:cNvPicPr>
          <p:nvPr/>
        </p:nvPicPr>
        <p:blipFill>
          <a:blip r:embed="rId2"/>
          <a:stretch>
            <a:fillRect/>
          </a:stretch>
        </p:blipFill>
        <p:spPr>
          <a:xfrm>
            <a:off x="481330" y="3446780"/>
            <a:ext cx="7622540" cy="258953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29699" name="Text Box 5"/>
          <p:cNvSpPr txBox="1"/>
          <p:nvPr/>
        </p:nvSpPr>
        <p:spPr>
          <a:xfrm>
            <a:off x="628650" y="71438"/>
            <a:ext cx="4927600" cy="549275"/>
          </a:xfrm>
          <a:prstGeom prst="rect">
            <a:avLst/>
          </a:prstGeom>
          <a:noFill/>
          <a:ln w="9525">
            <a:noFill/>
          </a:ln>
        </p:spPr>
        <p:txBody>
          <a:bodyPr tIns="36000" bIns="72000" anchor="ctr" anchorCtr="1"/>
          <a:p>
            <a:pPr eaLnBrk="1" hangingPunct="1"/>
            <a:r>
              <a:rPr lang="zh-CN" altLang="en-US" sz="3000" dirty="0">
                <a:solidFill>
                  <a:schemeClr val="bg1"/>
                </a:solidFill>
                <a:latin typeface="黑体" panose="02010609060101010101" pitchFamily="49" charset="-122"/>
                <a:ea typeface="黑体" panose="02010609060101010101" pitchFamily="49" charset="-122"/>
              </a:rPr>
              <a:t>标准圆柱齿轮传动的设计</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29704" name="Rectangle 22"/>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sp>
        <p:nvSpPr>
          <p:cNvPr id="29705" name="Rectangle 23"/>
          <p:cNvSpPr/>
          <p:nvPr/>
        </p:nvSpPr>
        <p:spPr>
          <a:xfrm>
            <a:off x="0" y="441325"/>
            <a:ext cx="9144000" cy="0"/>
          </a:xfrm>
          <a:prstGeom prst="rect">
            <a:avLst/>
          </a:prstGeom>
          <a:noFill/>
          <a:ln w="9525">
            <a:noFill/>
          </a:ln>
        </p:spPr>
        <p:txBody>
          <a:bodyPr wrap="none" anchor="ctr" anchorCtr="0">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9706" name="Rectangle 29"/>
          <p:cNvSpPr/>
          <p:nvPr/>
        </p:nvSpPr>
        <p:spPr>
          <a:xfrm>
            <a:off x="5737225" y="7286625"/>
            <a:ext cx="10774363" cy="46038"/>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9707" name="Rectangle 9"/>
          <p:cNvSpPr/>
          <p:nvPr/>
        </p:nvSpPr>
        <p:spPr>
          <a:xfrm>
            <a:off x="6326188" y="180975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sp>
        <p:nvSpPr>
          <p:cNvPr id="29708" name="Rectangle 22"/>
          <p:cNvSpPr/>
          <p:nvPr/>
        </p:nvSpPr>
        <p:spPr>
          <a:xfrm>
            <a:off x="4454525" y="3341688"/>
            <a:ext cx="9144000" cy="0"/>
          </a:xfrm>
          <a:prstGeom prst="rect">
            <a:avLst/>
          </a:prstGeom>
          <a:noFill/>
          <a:ln w="9525">
            <a:noFill/>
          </a:ln>
        </p:spPr>
        <p:txBody>
          <a:bodyPr wrap="none" anchor="ctr" anchorCtr="0">
            <a:spAutoFit/>
          </a:bodyPr>
          <a:p>
            <a:r>
              <a:rPr lang="en-US" altLang="zh-CN" sz="1000" dirty="0">
                <a:latin typeface="Calibri" panose="020F0502020204030204" pitchFamily="34" charset="0"/>
                <a:cs typeface="Calibri" panose="020F0502020204030204" pitchFamily="34" charset="0"/>
              </a:rPr>
              <a:t> </a:t>
            </a:r>
            <a:endParaRPr lang="en-US" altLang="zh-CN" dirty="0">
              <a:latin typeface="Times New Roman" panose="02020603050405020304" pitchFamily="18" charset="0"/>
            </a:endParaRPr>
          </a:p>
        </p:txBody>
      </p:sp>
      <p:sp>
        <p:nvSpPr>
          <p:cNvPr id="29709" name="Rectangle 28"/>
          <p:cNvSpPr/>
          <p:nvPr/>
        </p:nvSpPr>
        <p:spPr>
          <a:xfrm>
            <a:off x="4302125" y="3424238"/>
            <a:ext cx="10244138" cy="46037"/>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9710" name="Rectangle 2"/>
          <p:cNvSpPr/>
          <p:nvPr/>
        </p:nvSpPr>
        <p:spPr>
          <a:xfrm>
            <a:off x="2241550" y="2195513"/>
            <a:ext cx="11079163" cy="44450"/>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9711" name="Rectangle 19"/>
          <p:cNvSpPr/>
          <p:nvPr/>
        </p:nvSpPr>
        <p:spPr>
          <a:xfrm>
            <a:off x="3800475" y="4705350"/>
            <a:ext cx="11669713" cy="46038"/>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sp>
        <p:nvSpPr>
          <p:cNvPr id="29712" name="Rectangle 2"/>
          <p:cNvSpPr/>
          <p:nvPr/>
        </p:nvSpPr>
        <p:spPr>
          <a:xfrm>
            <a:off x="2670175" y="1855788"/>
            <a:ext cx="9936163" cy="46037"/>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pic>
        <p:nvPicPr>
          <p:cNvPr id="19" name="图片 18"/>
          <p:cNvPicPr>
            <a:picLocks noChangeAspect="1"/>
          </p:cNvPicPr>
          <p:nvPr/>
        </p:nvPicPr>
        <p:blipFill>
          <a:blip r:embed="rId1"/>
          <a:stretch>
            <a:fillRect/>
          </a:stretch>
        </p:blipFill>
        <p:spPr>
          <a:xfrm>
            <a:off x="414020" y="1606233"/>
            <a:ext cx="3743325" cy="3470275"/>
          </a:xfrm>
          <a:prstGeom prst="rect">
            <a:avLst/>
          </a:prstGeom>
          <a:noFill/>
          <a:ln w="9525">
            <a:noFill/>
          </a:ln>
        </p:spPr>
      </p:pic>
      <p:pic>
        <p:nvPicPr>
          <p:cNvPr id="20" name="图片 19"/>
          <p:cNvPicPr>
            <a:picLocks noChangeAspect="1"/>
          </p:cNvPicPr>
          <p:nvPr/>
        </p:nvPicPr>
        <p:blipFill>
          <a:blip r:embed="rId2"/>
          <a:stretch>
            <a:fillRect/>
          </a:stretch>
        </p:blipFill>
        <p:spPr>
          <a:xfrm>
            <a:off x="4563110" y="1297940"/>
            <a:ext cx="4113213" cy="3649663"/>
          </a:xfrm>
          <a:prstGeom prst="rect">
            <a:avLst/>
          </a:prstGeom>
          <a:noFill/>
          <a:ln w="9525">
            <a:noFill/>
          </a:ln>
        </p:spPr>
      </p:pic>
      <p:pic>
        <p:nvPicPr>
          <p:cNvPr id="3" name="图片 2"/>
          <p:cNvPicPr>
            <a:picLocks noChangeAspect="1"/>
          </p:cNvPicPr>
          <p:nvPr/>
        </p:nvPicPr>
        <p:blipFill>
          <a:blip r:embed="rId3"/>
          <a:stretch>
            <a:fillRect/>
          </a:stretch>
        </p:blipFill>
        <p:spPr>
          <a:xfrm>
            <a:off x="1055688" y="5121275"/>
            <a:ext cx="9526587" cy="361950"/>
          </a:xfrm>
          <a:prstGeom prst="rect">
            <a:avLst/>
          </a:prstGeom>
          <a:noFill/>
          <a:ln w="9525">
            <a:noFill/>
          </a:ln>
        </p:spPr>
      </p:pic>
      <p:pic>
        <p:nvPicPr>
          <p:cNvPr id="4" name="图片 3"/>
          <p:cNvPicPr>
            <a:picLocks noChangeAspect="1"/>
          </p:cNvPicPr>
          <p:nvPr/>
        </p:nvPicPr>
        <p:blipFill>
          <a:blip r:embed="rId4"/>
          <a:stretch>
            <a:fillRect/>
          </a:stretch>
        </p:blipFill>
        <p:spPr>
          <a:xfrm>
            <a:off x="4791075" y="5194300"/>
            <a:ext cx="8705850" cy="330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47107" name="Text Box 5"/>
          <p:cNvSpPr txBox="1"/>
          <p:nvPr/>
        </p:nvSpPr>
        <p:spPr>
          <a:xfrm>
            <a:off x="660400" y="57150"/>
            <a:ext cx="4927600" cy="549275"/>
          </a:xfrm>
          <a:prstGeom prst="rect">
            <a:avLst/>
          </a:prstGeom>
          <a:noFill/>
          <a:ln w="9525">
            <a:noFill/>
          </a:ln>
        </p:spPr>
        <p:txBody>
          <a:bodyPr tIns="36000" bIns="72000" anchor="ctr" anchorCtr="1"/>
          <a:p>
            <a:pPr eaLnBrk="1" hangingPunct="1"/>
            <a:r>
              <a:rPr lang="zh-CN" altLang="en-US" sz="3000" dirty="0">
                <a:solidFill>
                  <a:schemeClr val="bg1"/>
                </a:solidFill>
                <a:latin typeface="黑体" panose="02010609060101010101" pitchFamily="49" charset="-122"/>
                <a:ea typeface="黑体" panose="02010609060101010101" pitchFamily="49" charset="-122"/>
              </a:rPr>
              <a:t>标准圆柱齿轮传动的设计</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47109" name="Picture 29" descr="back">
            <a:hlinkClick r:id="rId1" action="ppaction://hlinksldjump"/>
          </p:cNvPr>
          <p:cNvPicPr>
            <a:picLocks noChangeAspect="1"/>
          </p:cNvPicPr>
          <p:nvPr/>
        </p:nvPicPr>
        <p:blipFill>
          <a:blip r:embed="rId2"/>
          <a:stretch>
            <a:fillRect/>
          </a:stretch>
        </p:blipFill>
        <p:spPr>
          <a:xfrm>
            <a:off x="8655050" y="6570663"/>
            <a:ext cx="287338" cy="287337"/>
          </a:xfrm>
          <a:prstGeom prst="rect">
            <a:avLst/>
          </a:prstGeom>
          <a:noFill/>
          <a:ln w="9525">
            <a:noFill/>
          </a:ln>
        </p:spPr>
      </p:pic>
      <p:sp>
        <p:nvSpPr>
          <p:cNvPr id="47110" name="Rectangle 22"/>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sp>
        <p:nvSpPr>
          <p:cNvPr id="47111" name="Rectangle 23"/>
          <p:cNvSpPr/>
          <p:nvPr/>
        </p:nvSpPr>
        <p:spPr>
          <a:xfrm>
            <a:off x="0" y="441325"/>
            <a:ext cx="9144000" cy="0"/>
          </a:xfrm>
          <a:prstGeom prst="rect">
            <a:avLst/>
          </a:prstGeom>
          <a:noFill/>
          <a:ln w="9525">
            <a:noFill/>
          </a:ln>
        </p:spPr>
        <p:txBody>
          <a:bodyPr wrap="none" anchor="ctr" anchorCtr="0">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47112" name="Rectangle 29"/>
          <p:cNvSpPr/>
          <p:nvPr/>
        </p:nvSpPr>
        <p:spPr>
          <a:xfrm>
            <a:off x="5737225" y="7286625"/>
            <a:ext cx="10774363" cy="46038"/>
          </a:xfrm>
          <a:prstGeom prst="rect">
            <a:avLst/>
          </a:prstGeom>
          <a:noFill/>
          <a:ln w="9525">
            <a:noFill/>
          </a:ln>
        </p:spPr>
        <p:txBody>
          <a:bodyPr anchor="ctr" anchorCtr="0">
            <a:spAutoFit/>
          </a:bodyPr>
          <a:p>
            <a:endParaRPr lang="zh-CN" altLang="en-US" dirty="0">
              <a:latin typeface="Times New Roman" panose="02020603050405020304" pitchFamily="18" charset="0"/>
            </a:endParaRPr>
          </a:p>
        </p:txBody>
      </p:sp>
      <p:pic>
        <p:nvPicPr>
          <p:cNvPr id="47113" name="图片 3"/>
          <p:cNvPicPr>
            <a:picLocks noChangeAspect="1"/>
          </p:cNvPicPr>
          <p:nvPr/>
        </p:nvPicPr>
        <p:blipFill>
          <a:blip r:embed="rId3"/>
          <a:srcRect t="28807" b="24023"/>
          <a:stretch>
            <a:fillRect/>
          </a:stretch>
        </p:blipFill>
        <p:spPr>
          <a:xfrm>
            <a:off x="407035" y="1172845"/>
            <a:ext cx="2787650" cy="3082290"/>
          </a:xfrm>
          <a:prstGeom prst="rect">
            <a:avLst/>
          </a:prstGeom>
          <a:noFill/>
          <a:ln w="9525">
            <a:noFill/>
          </a:ln>
        </p:spPr>
      </p:pic>
      <p:sp>
        <p:nvSpPr>
          <p:cNvPr id="47114" name="文本框 4"/>
          <p:cNvSpPr txBox="1"/>
          <p:nvPr/>
        </p:nvSpPr>
        <p:spPr>
          <a:xfrm>
            <a:off x="4305300" y="2851150"/>
            <a:ext cx="3802380" cy="398780"/>
          </a:xfrm>
          <a:prstGeom prst="rect">
            <a:avLst/>
          </a:prstGeom>
          <a:noFill/>
          <a:ln w="9525">
            <a:noFill/>
          </a:ln>
        </p:spPr>
        <p:txBody>
          <a:bodyPr wrap="none">
            <a:spAutoFit/>
          </a:bodyPr>
          <a:p>
            <a:r>
              <a:rPr lang="zh-CN" altLang="en-US" dirty="0">
                <a:latin typeface="Times New Roman" panose="02020603050405020304" pitchFamily="18" charset="0"/>
              </a:rPr>
              <a:t>调质：</a:t>
            </a:r>
            <a:r>
              <a:rPr lang="en-US" altLang="zh-CN" dirty="0">
                <a:latin typeface="Times New Roman" panose="02020603050405020304" pitchFamily="18" charset="0"/>
              </a:rPr>
              <a:t> </a:t>
            </a:r>
            <a:r>
              <a:rPr lang="zh-CN" altLang="en-US" dirty="0">
                <a:latin typeface="Times New Roman" panose="02020603050405020304" pitchFamily="18" charset="0"/>
              </a:rPr>
              <a:t>零件淬火后再高温回火。</a:t>
            </a:r>
            <a:endParaRPr lang="en-US" altLang="zh-CN" dirty="0">
              <a:latin typeface="Times New Roman" panose="02020603050405020304" pitchFamily="18" charset="0"/>
            </a:endParaRPr>
          </a:p>
        </p:txBody>
      </p:sp>
      <p:sp>
        <p:nvSpPr>
          <p:cNvPr id="47115" name="文本框 5"/>
          <p:cNvSpPr txBox="1"/>
          <p:nvPr/>
        </p:nvSpPr>
        <p:spPr>
          <a:xfrm>
            <a:off x="5588000" y="1300163"/>
            <a:ext cx="1466850" cy="400050"/>
          </a:xfrm>
          <a:prstGeom prst="rect">
            <a:avLst/>
          </a:prstGeom>
          <a:noFill/>
          <a:ln w="9525">
            <a:noFill/>
          </a:ln>
        </p:spPr>
        <p:txBody>
          <a:bodyPr wrap="none">
            <a:spAutoFit/>
          </a:bodyPr>
          <a:p>
            <a:r>
              <a:rPr lang="zh-CN" altLang="en-US" dirty="0">
                <a:latin typeface="Times New Roman" panose="02020603050405020304" pitchFamily="18" charset="0"/>
                <a:hlinkClick r:id="rId4" action="ppaction://hlinkfile"/>
              </a:rPr>
              <a:t>齿轮热处理</a:t>
            </a:r>
            <a:endParaRPr lang="zh-CN" altLang="en-US" dirty="0">
              <a:latin typeface="Times New Roman" panose="02020603050405020304" pitchFamily="18" charset="0"/>
            </a:endParaRPr>
          </a:p>
        </p:txBody>
      </p:sp>
      <p:sp>
        <p:nvSpPr>
          <p:cNvPr id="47116" name="文本框 6"/>
          <p:cNvSpPr txBox="1"/>
          <p:nvPr/>
        </p:nvSpPr>
        <p:spPr>
          <a:xfrm>
            <a:off x="4302125" y="3359150"/>
            <a:ext cx="4635500" cy="400050"/>
          </a:xfrm>
          <a:prstGeom prst="rect">
            <a:avLst/>
          </a:prstGeom>
          <a:noFill/>
          <a:ln w="9525">
            <a:noFill/>
          </a:ln>
        </p:spPr>
        <p:txBody>
          <a:bodyPr>
            <a:spAutoFit/>
          </a:bodyPr>
          <a:p>
            <a:r>
              <a:rPr lang="zh-CN" altLang="en-US" dirty="0">
                <a:latin typeface="Times New Roman" panose="02020603050405020304" pitchFamily="18" charset="0"/>
                <a:hlinkClick r:id="rId5" action="ppaction://hlinkfile"/>
              </a:rPr>
              <a:t>表面淬火</a:t>
            </a:r>
            <a:r>
              <a:rPr lang="zh-CN" altLang="en-US" dirty="0">
                <a:latin typeface="Times New Roman" panose="02020603050405020304" pitchFamily="18" charset="0"/>
              </a:rPr>
              <a:t>：零件表面淬火后低温回火。</a:t>
            </a:r>
            <a:endParaRPr lang="zh-CN" altLang="en-US" dirty="0">
              <a:latin typeface="Times New Roman" panose="02020603050405020304" pitchFamily="18" charset="0"/>
            </a:endParaRPr>
          </a:p>
        </p:txBody>
      </p:sp>
      <p:sp>
        <p:nvSpPr>
          <p:cNvPr id="47117" name="文本框 7"/>
          <p:cNvSpPr txBox="1"/>
          <p:nvPr/>
        </p:nvSpPr>
        <p:spPr>
          <a:xfrm>
            <a:off x="4305300" y="1781175"/>
            <a:ext cx="4494213" cy="960438"/>
          </a:xfrm>
          <a:prstGeom prst="rect">
            <a:avLst/>
          </a:prstGeom>
          <a:noFill/>
          <a:ln w="9525">
            <a:noFill/>
          </a:ln>
        </p:spPr>
        <p:txBody>
          <a:bodyPr>
            <a:spAutoFit/>
          </a:bodyPr>
          <a:p>
            <a:pPr>
              <a:lnSpc>
                <a:spcPct val="150000"/>
              </a:lnSpc>
            </a:pPr>
            <a:r>
              <a:rPr lang="zh-CN" altLang="en-US" dirty="0">
                <a:latin typeface="Times New Roman" panose="02020603050405020304" pitchFamily="18" charset="0"/>
              </a:rPr>
              <a:t>淬火：金属加热到一定温度后，放到</a:t>
            </a:r>
            <a:endParaRPr lang="en-US" altLang="zh-CN" dirty="0">
              <a:latin typeface="Times New Roman" panose="02020603050405020304" pitchFamily="18" charset="0"/>
            </a:endParaRPr>
          </a:p>
          <a:p>
            <a:pPr>
              <a:lnSpc>
                <a:spcPct val="150000"/>
              </a:lnSpc>
            </a:pPr>
            <a:r>
              <a:rPr lang="en-US" altLang="zh-CN" dirty="0">
                <a:latin typeface="Times New Roman" panose="02020603050405020304" pitchFamily="18" charset="0"/>
              </a:rPr>
              <a:t>         </a:t>
            </a:r>
            <a:r>
              <a:rPr lang="zh-CN" altLang="en-US" dirty="0">
                <a:latin typeface="Times New Roman" panose="02020603050405020304" pitchFamily="18" charset="0"/>
              </a:rPr>
              <a:t>   水、油或空气中迅速冷却。</a:t>
            </a:r>
            <a:endParaRPr lang="zh-CN" altLang="en-US" dirty="0">
              <a:latin typeface="Times New Roman" panose="02020603050405020304" pitchFamily="18" charset="0"/>
            </a:endParaRPr>
          </a:p>
        </p:txBody>
      </p:sp>
      <p:sp>
        <p:nvSpPr>
          <p:cNvPr id="9" name="文本框 8"/>
          <p:cNvSpPr txBox="1">
            <a:spLocks noRot="1" noChangeAspect="1" noMove="1" noResize="1" noEditPoints="1" noAdjustHandles="1" noChangeArrowheads="1" noChangeShapeType="1" noTextEdit="1"/>
          </p:cNvSpPr>
          <p:nvPr/>
        </p:nvSpPr>
        <p:spPr>
          <a:xfrm>
            <a:off x="2810462" y="3960957"/>
            <a:ext cx="5931432" cy="1938992"/>
          </a:xfrm>
          <a:prstGeom prst="rect">
            <a:avLst/>
          </a:prstGeom>
          <a:blipFill>
            <a:blip r:embed="rId6"/>
            <a:stretch>
              <a:fillRect l="-1028" b="-1887"/>
            </a:stretch>
          </a:blipFill>
        </p:spPr>
        <p:txBody>
          <a:bodyPr/>
          <a:lstStyle/>
          <a:p>
            <a:pPr marR="0" defTabSz="914400">
              <a:buClrTx/>
              <a:buSzTx/>
              <a:buFontTx/>
              <a:buNone/>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 name="文本框 1"/>
          <p:cNvSpPr txBox="1"/>
          <p:nvPr/>
        </p:nvSpPr>
        <p:spPr>
          <a:xfrm>
            <a:off x="341630" y="466090"/>
            <a:ext cx="2296795" cy="706755"/>
          </a:xfrm>
          <a:prstGeom prst="rect">
            <a:avLst/>
          </a:prstGeom>
          <a:noFill/>
        </p:spPr>
        <p:txBody>
          <a:bodyPr wrap="square" rtlCol="0">
            <a:spAutoFit/>
          </a:bodyPr>
          <a:p>
            <a:r>
              <a:rPr lang="en-US" altLang="zh-CN"/>
              <a:t>40Cr</a:t>
            </a:r>
            <a:r>
              <a:rPr lang="zh-CN" altLang="en-US"/>
              <a:t>热处理（</a:t>
            </a:r>
            <a:r>
              <a:rPr lang="zh-CN" altLang="en-US">
                <a:sym typeface="+mn-ea"/>
              </a:rPr>
              <a:t>调质）</a:t>
            </a:r>
            <a:r>
              <a:rPr lang="zh-CN" altLang="en-US"/>
              <a:t>的表面</a:t>
            </a:r>
            <a:r>
              <a:rPr lang="zh-CN" altLang="en-US"/>
              <a:t>硬度</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23556"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23557"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23559"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23560"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3561" name="Rectangle 23"/>
          <p:cNvSpPr/>
          <p:nvPr/>
        </p:nvSpPr>
        <p:spPr>
          <a:xfrm>
            <a:off x="0" y="44132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3562"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3563" name="文本框 1"/>
          <p:cNvSpPr txBox="1"/>
          <p:nvPr/>
        </p:nvSpPr>
        <p:spPr>
          <a:xfrm>
            <a:off x="388938" y="5894388"/>
            <a:ext cx="3024187" cy="338137"/>
          </a:xfrm>
          <a:prstGeom prst="rect">
            <a:avLst/>
          </a:prstGeom>
          <a:noFill/>
          <a:ln w="9525">
            <a:noFill/>
          </a:ln>
        </p:spPr>
        <p:txBody>
          <a:bodyPr wrap="none">
            <a:spAutoFit/>
          </a:bodyPr>
          <a:p>
            <a:r>
              <a:rPr lang="zh-CN" altLang="en-US" sz="1600" dirty="0">
                <a:latin typeface="Times New Roman" panose="02020603050405020304" pitchFamily="18" charset="0"/>
              </a:rPr>
              <a:t>图</a:t>
            </a:r>
            <a:r>
              <a:rPr lang="en-US" altLang="zh-CN" sz="1600" dirty="0">
                <a:latin typeface="Times New Roman" panose="02020603050405020304" pitchFamily="18" charset="0"/>
              </a:rPr>
              <a:t>3.4-12 </a:t>
            </a:r>
            <a:r>
              <a:rPr lang="zh-CN" altLang="zh-CN" sz="1600" dirty="0">
                <a:latin typeface="Times New Roman" panose="02020603050405020304" pitchFamily="18" charset="0"/>
              </a:rPr>
              <a:t>齿面接触疲劳强度简图</a:t>
            </a:r>
            <a:endParaRPr lang="zh-CN" altLang="zh-CN" sz="1600" dirty="0">
              <a:latin typeface="Times New Roman" panose="02020603050405020304" pitchFamily="18" charset="0"/>
            </a:endParaRPr>
          </a:p>
        </p:txBody>
      </p:sp>
      <p:sp>
        <p:nvSpPr>
          <p:cNvPr id="4" name="文本框 3"/>
          <p:cNvSpPr txBox="1">
            <a:spLocks noRot="1" noChangeAspect="1" noMove="1" noResize="1" noEditPoints="1" noAdjustHandles="1" noChangeArrowheads="1" noChangeShapeType="1" noTextEdit="1"/>
          </p:cNvSpPr>
          <p:nvPr/>
        </p:nvSpPr>
        <p:spPr>
          <a:xfrm>
            <a:off x="231775" y="1123882"/>
            <a:ext cx="8593138" cy="960969"/>
          </a:xfrm>
          <a:prstGeom prst="rect">
            <a:avLst/>
          </a:prstGeom>
          <a:blipFill>
            <a:blip r:embed="rId4"/>
            <a:stretch>
              <a:fillRect l="-709" b="-10127"/>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3565" name="文本框 8"/>
          <p:cNvSpPr txBox="1"/>
          <p:nvPr/>
        </p:nvSpPr>
        <p:spPr>
          <a:xfrm>
            <a:off x="7173913" y="3430588"/>
            <a:ext cx="1350962"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3.4-11</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pic>
        <p:nvPicPr>
          <p:cNvPr id="23566" name="图片 19"/>
          <p:cNvPicPr>
            <a:picLocks noChangeAspect="1"/>
          </p:cNvPicPr>
          <p:nvPr/>
        </p:nvPicPr>
        <p:blipFill>
          <a:blip r:embed="rId5"/>
          <a:stretch>
            <a:fillRect/>
          </a:stretch>
        </p:blipFill>
        <p:spPr>
          <a:xfrm>
            <a:off x="231775" y="2393950"/>
            <a:ext cx="3006725" cy="3436938"/>
          </a:xfrm>
          <a:prstGeom prst="rect">
            <a:avLst/>
          </a:prstGeom>
          <a:noFill/>
          <a:ln w="9525">
            <a:noFill/>
          </a:ln>
        </p:spPr>
      </p:pic>
      <p:sp>
        <p:nvSpPr>
          <p:cNvPr id="23567" name="Rectangle 7"/>
          <p:cNvSpPr/>
          <p:nvPr/>
        </p:nvSpPr>
        <p:spPr>
          <a:xfrm>
            <a:off x="2971800" y="1849438"/>
            <a:ext cx="9755188" cy="46037"/>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3568" name="Rectangle 9"/>
          <p:cNvSpPr/>
          <p:nvPr/>
        </p:nvSpPr>
        <p:spPr>
          <a:xfrm>
            <a:off x="6326188" y="180975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2" name="文本框 21"/>
          <p:cNvSpPr txBox="1"/>
          <p:nvPr/>
        </p:nvSpPr>
        <p:spPr>
          <a:xfrm>
            <a:off x="3371850" y="2693988"/>
            <a:ext cx="441325" cy="401638"/>
          </a:xfrm>
          <a:prstGeom prst="rect">
            <a:avLst/>
          </a:prstGeom>
          <a:noFill/>
        </p:spPr>
        <p:txBody>
          <a:bodyPr wrap="none">
            <a:spAutoFit/>
          </a:bodyPr>
          <a:lstStyle/>
          <a:p>
            <a:pPr marR="0" defTabSz="914400">
              <a:buClrTx/>
              <a:buSzTx/>
              <a:buFontTx/>
              <a:defRPr/>
            </a:pPr>
            <a:r>
              <a:rPr kumimoji="1" lang="zh-CN" altLang="en-US" kern="1200" cap="none" spc="0" normalizeH="0" baseline="0" noProof="0" dirty="0">
                <a:solidFill>
                  <a:schemeClr val="accent6">
                    <a:lumMod val="50000"/>
                  </a:schemeClr>
                </a:solidFill>
                <a:latin typeface="Times New Roman" panose="02020603050405020304" pitchFamily="18" charset="0"/>
                <a:ea typeface="华文中宋" panose="02010600040101010101" pitchFamily="2" charset="-122"/>
                <a:cs typeface="+mn-cs"/>
              </a:rPr>
              <a:t>又</a:t>
            </a:r>
            <a:endParaRPr kumimoji="1" lang="zh-CN" altLang="en-US" kern="1200" cap="none" spc="0" normalizeH="0" baseline="0" noProof="0" dirty="0">
              <a:solidFill>
                <a:schemeClr val="accent6">
                  <a:lumMod val="50000"/>
                </a:schemeClr>
              </a:solidFill>
              <a:latin typeface="Times New Roman" panose="02020603050405020304" pitchFamily="18" charset="0"/>
              <a:ea typeface="华文中宋" panose="02010600040101010101" pitchFamily="2" charset="-122"/>
              <a:cs typeface="+mn-cs"/>
            </a:endParaRPr>
          </a:p>
        </p:txBody>
      </p:sp>
      <p:sp>
        <p:nvSpPr>
          <p:cNvPr id="23570" name="Rectangle 22"/>
          <p:cNvSpPr/>
          <p:nvPr/>
        </p:nvSpPr>
        <p:spPr>
          <a:xfrm>
            <a:off x="4454525" y="3341688"/>
            <a:ext cx="9144000" cy="0"/>
          </a:xfrm>
          <a:prstGeom prst="rect">
            <a:avLst/>
          </a:prstGeom>
          <a:noFill/>
          <a:ln w="9525">
            <a:noFill/>
          </a:ln>
        </p:spPr>
        <p:txBody>
          <a:bodyPr wrap="none" anchor="ctr">
            <a:spAutoFit/>
          </a:bodyPr>
          <a:p>
            <a:r>
              <a:rPr lang="en-US" altLang="zh-CN" sz="1000" dirty="0">
                <a:latin typeface="Calibri" panose="020F0502020204030204" pitchFamily="34" charset="0"/>
                <a:cs typeface="Calibri" panose="020F0502020204030204" pitchFamily="34" charset="0"/>
              </a:rPr>
              <a:t> </a:t>
            </a:r>
            <a:endParaRPr lang="en-US" altLang="zh-CN" dirty="0">
              <a:latin typeface="Times New Roman" panose="02020603050405020304" pitchFamily="18" charset="0"/>
            </a:endParaRPr>
          </a:p>
        </p:txBody>
      </p:sp>
      <p:sp>
        <p:nvSpPr>
          <p:cNvPr id="59397" name="文本框 59396"/>
          <p:cNvSpPr txBox="1"/>
          <p:nvPr/>
        </p:nvSpPr>
        <p:spPr>
          <a:xfrm>
            <a:off x="3289300" y="3381375"/>
            <a:ext cx="698500" cy="400050"/>
          </a:xfrm>
          <a:prstGeom prst="rect">
            <a:avLst/>
          </a:prstGeom>
          <a:noFill/>
        </p:spPr>
        <p:txBody>
          <a:bodyPr wrap="none">
            <a:spAutoFit/>
          </a:bodyPr>
          <a:lstStyle/>
          <a:p>
            <a:pPr marR="0" defTabSz="914400">
              <a:buClrTx/>
              <a:buSzTx/>
              <a:buFontTx/>
              <a:defRPr/>
            </a:pPr>
            <a:r>
              <a:rPr kumimoji="1" lang="zh-CN" altLang="en-US" kern="1200" cap="none" spc="0" normalizeH="0" baseline="0" noProof="0" dirty="0">
                <a:solidFill>
                  <a:schemeClr val="accent6">
                    <a:lumMod val="50000"/>
                  </a:schemeClr>
                </a:solidFill>
                <a:latin typeface="Times New Roman" panose="02020603050405020304" pitchFamily="18" charset="0"/>
                <a:ea typeface="华文中宋" panose="02010600040101010101" pitchFamily="2" charset="-122"/>
                <a:cs typeface="+mn-cs"/>
              </a:rPr>
              <a:t>因此</a:t>
            </a:r>
            <a:endParaRPr kumimoji="1" lang="zh-CN" altLang="en-US" kern="1200" cap="none" spc="0" normalizeH="0" baseline="0" noProof="0" dirty="0">
              <a:solidFill>
                <a:schemeClr val="accent6">
                  <a:lumMod val="50000"/>
                </a:schemeClr>
              </a:solidFill>
              <a:latin typeface="Times New Roman" panose="02020603050405020304" pitchFamily="18" charset="0"/>
              <a:ea typeface="华文中宋" panose="02010600040101010101" pitchFamily="2" charset="-122"/>
              <a:cs typeface="+mn-cs"/>
            </a:endParaRPr>
          </a:p>
        </p:txBody>
      </p:sp>
      <p:sp>
        <p:nvSpPr>
          <p:cNvPr id="23572" name="Rectangle 28"/>
          <p:cNvSpPr/>
          <p:nvPr/>
        </p:nvSpPr>
        <p:spPr>
          <a:xfrm>
            <a:off x="4302125" y="3424238"/>
            <a:ext cx="10244138" cy="46037"/>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3573" name="文本框 59399"/>
          <p:cNvSpPr txBox="1"/>
          <p:nvPr/>
        </p:nvSpPr>
        <p:spPr>
          <a:xfrm>
            <a:off x="3238500" y="4072890"/>
            <a:ext cx="5873750" cy="1016000"/>
          </a:xfrm>
          <a:prstGeom prst="rect">
            <a:avLst/>
          </a:prstGeom>
          <a:noFill/>
          <a:ln w="9525">
            <a:noFill/>
          </a:ln>
        </p:spPr>
        <p:txBody>
          <a:bodyPr>
            <a:spAutoFit/>
          </a:bodyPr>
          <a:p>
            <a:pPr>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将式（</a:t>
            </a:r>
            <a:r>
              <a:rPr lang="en-US" altLang="zh-CN" dirty="0">
                <a:latin typeface="Times New Roman" panose="02020603050405020304" pitchFamily="18" charset="0"/>
              </a:rPr>
              <a:t>3.4-8</a:t>
            </a:r>
            <a:r>
              <a:rPr lang="zh-CN" altLang="zh-CN" dirty="0">
                <a:latin typeface="Times New Roman" panose="02020603050405020304" pitchFamily="18" charset="0"/>
              </a:rPr>
              <a:t>）和式（</a:t>
            </a:r>
            <a:r>
              <a:rPr lang="en-US" altLang="zh-CN" dirty="0">
                <a:latin typeface="Times New Roman" panose="02020603050405020304" pitchFamily="18" charset="0"/>
              </a:rPr>
              <a:t>3.4-11</a:t>
            </a:r>
            <a:r>
              <a:rPr lang="zh-CN" altLang="zh-CN" dirty="0">
                <a:latin typeface="Times New Roman" panose="02020603050405020304" pitchFamily="18" charset="0"/>
              </a:rPr>
              <a:t>）代入式（</a:t>
            </a:r>
            <a:r>
              <a:rPr lang="en-US" altLang="zh-CN" dirty="0">
                <a:latin typeface="Times New Roman" panose="02020603050405020304" pitchFamily="18" charset="0"/>
              </a:rPr>
              <a:t>3.4-10</a:t>
            </a:r>
            <a:r>
              <a:rPr lang="zh-CN" altLang="zh-CN" dirty="0">
                <a:latin typeface="Times New Roman" panose="02020603050405020304" pitchFamily="18" charset="0"/>
              </a:rPr>
              <a:t>）中，且</a:t>
            </a:r>
            <a:r>
              <a:rPr lang="en-US" altLang="zh-CN" dirty="0">
                <a:latin typeface="Times New Roman" panose="02020603050405020304" pitchFamily="18" charset="0"/>
              </a:rPr>
              <a:t>                                      </a:t>
            </a:r>
            <a:r>
              <a:rPr lang="zh-CN" altLang="en-US" dirty="0">
                <a:latin typeface="Times New Roman" panose="02020603050405020304" pitchFamily="18" charset="0"/>
              </a:rPr>
              <a:t>得</a:t>
            </a:r>
            <a:endParaRPr lang="zh-CN" altLang="en-US" dirty="0">
              <a:latin typeface="Times New Roman" panose="02020603050405020304" pitchFamily="18" charset="0"/>
            </a:endParaRPr>
          </a:p>
        </p:txBody>
      </p:sp>
      <p:sp>
        <p:nvSpPr>
          <p:cNvPr id="23574" name="Rectangle 30"/>
          <p:cNvSpPr/>
          <p:nvPr/>
        </p:nvSpPr>
        <p:spPr>
          <a:xfrm>
            <a:off x="4454525" y="494030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graphicFrame>
        <p:nvGraphicFramePr>
          <p:cNvPr id="23575" name="对象 59401"/>
          <p:cNvGraphicFramePr>
            <a:graphicFrameLocks noChangeAspect="1"/>
          </p:cNvGraphicFramePr>
          <p:nvPr/>
        </p:nvGraphicFramePr>
        <p:xfrm>
          <a:off x="4091305" y="4485640"/>
          <a:ext cx="2287588" cy="603250"/>
        </p:xfrm>
        <a:graphic>
          <a:graphicData uri="http://schemas.openxmlformats.org/presentationml/2006/ole">
            <mc:AlternateContent xmlns:mc="http://schemas.openxmlformats.org/markup-compatibility/2006">
              <mc:Choice xmlns:v="urn:schemas-microsoft-com:vml" Requires="v">
                <p:oleObj spid="_x0000_s3076" name="" r:id="rId6" imgW="1498600" imgH="393700" progId="Equation.3">
                  <p:embed/>
                </p:oleObj>
              </mc:Choice>
              <mc:Fallback>
                <p:oleObj name="" r:id="rId6" imgW="1498600" imgH="393700" progId="Equation.3">
                  <p:embed/>
                  <p:pic>
                    <p:nvPicPr>
                      <p:cNvPr id="0" name="图片 3075"/>
                      <p:cNvPicPr/>
                      <p:nvPr/>
                    </p:nvPicPr>
                    <p:blipFill>
                      <a:blip r:embed="rId7"/>
                      <a:stretch>
                        <a:fillRect/>
                      </a:stretch>
                    </p:blipFill>
                    <p:spPr>
                      <a:xfrm>
                        <a:off x="4091305" y="4485640"/>
                        <a:ext cx="2287588" cy="603250"/>
                      </a:xfrm>
                      <a:prstGeom prst="rect">
                        <a:avLst/>
                      </a:prstGeom>
                      <a:noFill/>
                      <a:ln w="38100">
                        <a:noFill/>
                        <a:miter/>
                      </a:ln>
                    </p:spPr>
                  </p:pic>
                </p:oleObj>
              </mc:Fallback>
            </mc:AlternateContent>
          </a:graphicData>
        </a:graphic>
      </p:graphicFrame>
      <p:pic>
        <p:nvPicPr>
          <p:cNvPr id="23576" name="图片 1"/>
          <p:cNvPicPr>
            <a:picLocks noChangeAspect="1"/>
          </p:cNvPicPr>
          <p:nvPr/>
        </p:nvPicPr>
        <p:blipFill>
          <a:blip r:embed="rId8"/>
          <a:stretch>
            <a:fillRect/>
          </a:stretch>
        </p:blipFill>
        <p:spPr>
          <a:xfrm>
            <a:off x="3009900" y="1846580"/>
            <a:ext cx="2526665" cy="655955"/>
          </a:xfrm>
          <a:prstGeom prst="rect">
            <a:avLst/>
          </a:prstGeom>
          <a:noFill/>
          <a:ln w="9525">
            <a:noFill/>
          </a:ln>
        </p:spPr>
      </p:pic>
      <p:pic>
        <p:nvPicPr>
          <p:cNvPr id="23577" name="图片 2"/>
          <p:cNvPicPr>
            <a:picLocks noChangeAspect="1"/>
          </p:cNvPicPr>
          <p:nvPr/>
        </p:nvPicPr>
        <p:blipFill>
          <a:blip r:embed="rId9"/>
          <a:stretch>
            <a:fillRect/>
          </a:stretch>
        </p:blipFill>
        <p:spPr>
          <a:xfrm>
            <a:off x="5788660" y="1809750"/>
            <a:ext cx="2696845" cy="676275"/>
          </a:xfrm>
          <a:prstGeom prst="rect">
            <a:avLst/>
          </a:prstGeom>
          <a:noFill/>
          <a:ln w="9525">
            <a:noFill/>
          </a:ln>
        </p:spPr>
      </p:pic>
      <p:pic>
        <p:nvPicPr>
          <p:cNvPr id="23578" name="图片 4"/>
          <p:cNvPicPr>
            <a:picLocks noChangeAspect="1"/>
          </p:cNvPicPr>
          <p:nvPr/>
        </p:nvPicPr>
        <p:blipFill>
          <a:blip r:embed="rId10"/>
          <a:stretch>
            <a:fillRect/>
          </a:stretch>
        </p:blipFill>
        <p:spPr>
          <a:xfrm>
            <a:off x="4091305" y="2616200"/>
            <a:ext cx="2235200" cy="480060"/>
          </a:xfrm>
          <a:prstGeom prst="rect">
            <a:avLst/>
          </a:prstGeom>
          <a:noFill/>
          <a:ln w="9525">
            <a:noFill/>
          </a:ln>
        </p:spPr>
      </p:pic>
      <p:pic>
        <p:nvPicPr>
          <p:cNvPr id="23579" name="图片 5"/>
          <p:cNvPicPr>
            <a:picLocks noChangeAspect="1"/>
          </p:cNvPicPr>
          <p:nvPr/>
        </p:nvPicPr>
        <p:blipFill>
          <a:blip r:embed="rId11"/>
          <a:stretch>
            <a:fillRect/>
          </a:stretch>
        </p:blipFill>
        <p:spPr>
          <a:xfrm>
            <a:off x="4091305" y="3171825"/>
            <a:ext cx="2994660" cy="720725"/>
          </a:xfrm>
          <a:prstGeom prst="rect">
            <a:avLst/>
          </a:prstGeom>
          <a:noFill/>
          <a:ln w="9525">
            <a:noFill/>
          </a:ln>
        </p:spPr>
      </p:pic>
      <p:sp>
        <p:nvSpPr>
          <p:cNvPr id="8206" name="Text Box 5"/>
          <p:cNvSpPr txBox="1">
            <a:spLocks noChangeArrowheads="1"/>
          </p:cNvSpPr>
          <p:nvPr/>
        </p:nvSpPr>
        <p:spPr bwMode="auto">
          <a:xfrm>
            <a:off x="1482725" y="166370"/>
            <a:ext cx="750506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3.4-4 </a:t>
            </a:r>
            <a:r>
              <a:rPr lang="zh-CN" altLang="en-US" sz="2800" dirty="0">
                <a:solidFill>
                  <a:srgbClr val="CC3300"/>
                </a:solidFill>
                <a:latin typeface="黑体" panose="02010609060101010101" pitchFamily="49" charset="-122"/>
                <a:ea typeface="黑体" panose="02010609060101010101" pitchFamily="49" charset="-122"/>
              </a:rPr>
              <a:t>标准圆柱齿轮传动的设计</a:t>
            </a:r>
            <a:endParaRPr lang="zh-CN" altLang="en-US" sz="2800" dirty="0">
              <a:solidFill>
                <a:srgbClr val="CC3300"/>
              </a:solidFill>
              <a:latin typeface="黑体" panose="02010609060101010101" pitchFamily="49" charset="-122"/>
              <a:ea typeface="黑体" panose="02010609060101010101" pitchFamily="49" charset="-122"/>
            </a:endParaRPr>
          </a:p>
        </p:txBody>
      </p:sp>
      <p:sp>
        <p:nvSpPr>
          <p:cNvPr id="8207" name="直接连接符 6"/>
          <p:cNvSpPr>
            <a:spLocks noChangeShapeType="1"/>
          </p:cNvSpPr>
          <p:nvPr/>
        </p:nvSpPr>
        <p:spPr bwMode="auto">
          <a:xfrm>
            <a:off x="0" y="75628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8" name="Text Box 4"/>
          <p:cNvSpPr txBox="1">
            <a:spLocks noChangeArrowheads="1"/>
          </p:cNvSpPr>
          <p:nvPr/>
        </p:nvSpPr>
        <p:spPr bwMode="auto">
          <a:xfrm>
            <a:off x="231775" y="756244"/>
            <a:ext cx="57054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200" dirty="0" smtClean="0">
                <a:solidFill>
                  <a:srgbClr val="0000FF"/>
                </a:solidFill>
                <a:latin typeface="黑体" panose="02010609060101010101" pitchFamily="49" charset="-122"/>
                <a:ea typeface="黑体" panose="02010609060101010101" pitchFamily="49" charset="-122"/>
              </a:rPr>
              <a:t>2</a:t>
            </a:r>
            <a:r>
              <a:rPr lang="zh-CN" altLang="en-US" sz="2200" dirty="0" smtClean="0">
                <a:solidFill>
                  <a:srgbClr val="0000FF"/>
                </a:solidFill>
                <a:latin typeface="黑体" panose="02010609060101010101" pitchFamily="49" charset="-122"/>
                <a:ea typeface="黑体" panose="02010609060101010101" pitchFamily="49" charset="-122"/>
              </a:rPr>
              <a:t>、斜齿圆柱齿齿轮</a:t>
            </a:r>
            <a:r>
              <a:rPr lang="zh-CN" altLang="en-US" sz="2200" dirty="0">
                <a:solidFill>
                  <a:srgbClr val="0000FF"/>
                </a:solidFill>
                <a:latin typeface="黑体" panose="02010609060101010101" pitchFamily="49" charset="-122"/>
                <a:ea typeface="黑体" panose="02010609060101010101" pitchFamily="49" charset="-122"/>
              </a:rPr>
              <a:t>齿面接触疲劳强度计算 </a:t>
            </a:r>
            <a:endParaRPr lang="zh-CN" altLang="en-US" sz="2200" dirty="0">
              <a:solidFill>
                <a:srgbClr val="0000FF"/>
              </a:solidFill>
              <a:latin typeface="黑体" panose="02010609060101010101" pitchFamily="49" charset="-122"/>
              <a:ea typeface="黑体" panose="02010609060101010101" pitchFamily="49" charset="-122"/>
            </a:endParaRPr>
          </a:p>
        </p:txBody>
      </p:sp>
      <p:graphicFrame>
        <p:nvGraphicFramePr>
          <p:cNvPr id="3" name="Object 13"/>
          <p:cNvGraphicFramePr>
            <a:graphicFrameLocks noChangeAspect="1"/>
          </p:cNvGraphicFramePr>
          <p:nvPr/>
        </p:nvGraphicFramePr>
        <p:xfrm>
          <a:off x="3494065" y="5271437"/>
          <a:ext cx="4485640" cy="1038225"/>
        </p:xfrm>
        <a:graphic>
          <a:graphicData uri="http://schemas.openxmlformats.org/presentationml/2006/ole">
            <mc:AlternateContent xmlns:mc="http://schemas.openxmlformats.org/markup-compatibility/2006">
              <mc:Choice xmlns:v="urn:schemas-microsoft-com:vml" Requires="v">
                <p:oleObj spid="_x0000_s3420" name="公式" r:id="rId12" imgW="2260600" imgH="520700" progId="Equation.3">
                  <p:embed/>
                </p:oleObj>
              </mc:Choice>
              <mc:Fallback>
                <p:oleObj name="公式" r:id="rId12" imgW="2260600" imgH="520700" progId="Equation.3">
                  <p:embed/>
                  <p:pic>
                    <p:nvPicPr>
                      <p:cNvPr id="0" name="Object 13"/>
                      <p:cNvPicPr>
                        <a:picLocks noChangeAspect="1" noChangeArrowheads="1"/>
                      </p:cNvPicPr>
                      <p:nvPr/>
                    </p:nvPicPr>
                    <p:blipFill>
                      <a:blip r:embed="rId13"/>
                      <a:srcRect/>
                      <a:stretch>
                        <a:fillRect/>
                      </a:stretch>
                    </p:blipFill>
                    <p:spPr bwMode="auto">
                      <a:xfrm>
                        <a:off x="3494065" y="5271437"/>
                        <a:ext cx="4485640" cy="1038225"/>
                      </a:xfrm>
                      <a:prstGeom prst="rect">
                        <a:avLst/>
                      </a:prstGeom>
                      <a:solidFill>
                        <a:srgbClr val="FFFF00"/>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3576"/>
                                        </p:tgtEl>
                                        <p:attrNameLst>
                                          <p:attrName>style.visibility</p:attrName>
                                        </p:attrNameLst>
                                      </p:cBhvr>
                                      <p:to>
                                        <p:strVal val="visible"/>
                                      </p:to>
                                    </p:set>
                                    <p:animEffect transition="in" filter="wipe(left)">
                                      <p:cBhvr>
                                        <p:cTn id="18" dur="500"/>
                                        <p:tgtEl>
                                          <p:spTgt spid="23576"/>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23577"/>
                                        </p:tgtEl>
                                        <p:attrNameLst>
                                          <p:attrName>style.visibility</p:attrName>
                                        </p:attrNameLst>
                                      </p:cBhvr>
                                      <p:to>
                                        <p:strVal val="visible"/>
                                      </p:to>
                                    </p:set>
                                    <p:animEffect transition="in" filter="wipe(left)">
                                      <p:cBhvr>
                                        <p:cTn id="22" dur="500"/>
                                        <p:tgtEl>
                                          <p:spTgt spid="235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3578"/>
                                        </p:tgtEl>
                                        <p:attrNameLst>
                                          <p:attrName>style.visibility</p:attrName>
                                        </p:attrNameLst>
                                      </p:cBhvr>
                                      <p:to>
                                        <p:strVal val="visible"/>
                                      </p:to>
                                    </p:set>
                                    <p:animEffect transition="in" filter="wipe(left)">
                                      <p:cBhvr>
                                        <p:cTn id="31" dur="500"/>
                                        <p:tgtEl>
                                          <p:spTgt spid="2357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9397"/>
                                        </p:tgtEl>
                                        <p:attrNameLst>
                                          <p:attrName>style.visibility</p:attrName>
                                        </p:attrNameLst>
                                      </p:cBhvr>
                                      <p:to>
                                        <p:strVal val="visible"/>
                                      </p:to>
                                    </p:set>
                                    <p:animEffect transition="in" filter="wipe(left)">
                                      <p:cBhvr>
                                        <p:cTn id="36" dur="500"/>
                                        <p:tgtEl>
                                          <p:spTgt spid="59397"/>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3579"/>
                                        </p:tgtEl>
                                        <p:attrNameLst>
                                          <p:attrName>style.visibility</p:attrName>
                                        </p:attrNameLst>
                                      </p:cBhvr>
                                      <p:to>
                                        <p:strVal val="visible"/>
                                      </p:to>
                                    </p:set>
                                    <p:animEffect transition="in" filter="wipe(left)">
                                      <p:cBhvr>
                                        <p:cTn id="40" dur="500"/>
                                        <p:tgtEl>
                                          <p:spTgt spid="23579"/>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23565"/>
                                        </p:tgtEl>
                                        <p:attrNameLst>
                                          <p:attrName>style.visibility</p:attrName>
                                        </p:attrNameLst>
                                      </p:cBhvr>
                                      <p:to>
                                        <p:strVal val="visible"/>
                                      </p:to>
                                    </p:set>
                                    <p:animEffect transition="in" filter="wipe(left)">
                                      <p:cBhvr>
                                        <p:cTn id="44" dur="500"/>
                                        <p:tgtEl>
                                          <p:spTgt spid="2356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3573"/>
                                        </p:tgtEl>
                                        <p:attrNameLst>
                                          <p:attrName>style.visibility</p:attrName>
                                        </p:attrNameLst>
                                      </p:cBhvr>
                                      <p:to>
                                        <p:strVal val="visible"/>
                                      </p:to>
                                    </p:set>
                                    <p:animEffect transition="in" filter="wipe(left)">
                                      <p:cBhvr>
                                        <p:cTn id="49" dur="500"/>
                                        <p:tgtEl>
                                          <p:spTgt spid="23573"/>
                                        </p:tgtEl>
                                      </p:cBhvr>
                                    </p:animEffect>
                                  </p:childTnLst>
                                </p:cTn>
                              </p:par>
                              <p:par>
                                <p:cTn id="50" presetID="22" presetClass="entr" presetSubtype="8" fill="hold" nodeType="withEffect">
                                  <p:stCondLst>
                                    <p:cond delay="0"/>
                                  </p:stCondLst>
                                  <p:childTnLst>
                                    <p:set>
                                      <p:cBhvr>
                                        <p:cTn id="51" dur="1" fill="hold">
                                          <p:stCondLst>
                                            <p:cond delay="0"/>
                                          </p:stCondLst>
                                        </p:cTn>
                                        <p:tgtEl>
                                          <p:spTgt spid="23575"/>
                                        </p:tgtEl>
                                        <p:attrNameLst>
                                          <p:attrName>style.visibility</p:attrName>
                                        </p:attrNameLst>
                                      </p:cBhvr>
                                      <p:to>
                                        <p:strVal val="visible"/>
                                      </p:to>
                                    </p:set>
                                    <p:animEffect transition="in" filter="wipe(left)">
                                      <p:cBhvr>
                                        <p:cTn id="52" dur="500"/>
                                        <p:tgtEl>
                                          <p:spTgt spid="2357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left)">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4" grpId="0" bldLvl="0" animBg="1"/>
      <p:bldP spid="22" grpId="0"/>
      <p:bldP spid="59397" grpId="0"/>
      <p:bldP spid="23565" grpId="0"/>
      <p:bldP spid="2357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24580"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24581"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24583"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24584"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4585" name="Rectangle 23"/>
          <p:cNvSpPr/>
          <p:nvPr/>
        </p:nvSpPr>
        <p:spPr>
          <a:xfrm>
            <a:off x="0" y="44132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4586"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4587" name="文本框 8"/>
          <p:cNvSpPr txBox="1"/>
          <p:nvPr/>
        </p:nvSpPr>
        <p:spPr>
          <a:xfrm>
            <a:off x="6883400" y="1765300"/>
            <a:ext cx="1360488"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3.4-12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4588" name="Rectangle 7"/>
          <p:cNvSpPr/>
          <p:nvPr/>
        </p:nvSpPr>
        <p:spPr>
          <a:xfrm>
            <a:off x="2971800" y="1849438"/>
            <a:ext cx="9755188" cy="46037"/>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4589" name="Rectangle 9"/>
          <p:cNvSpPr/>
          <p:nvPr/>
        </p:nvSpPr>
        <p:spPr>
          <a:xfrm>
            <a:off x="6326188" y="180975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4590" name="Rectangle 22"/>
          <p:cNvSpPr/>
          <p:nvPr/>
        </p:nvSpPr>
        <p:spPr>
          <a:xfrm>
            <a:off x="4454525" y="3341688"/>
            <a:ext cx="9144000" cy="0"/>
          </a:xfrm>
          <a:prstGeom prst="rect">
            <a:avLst/>
          </a:prstGeom>
          <a:noFill/>
          <a:ln w="9525">
            <a:noFill/>
          </a:ln>
        </p:spPr>
        <p:txBody>
          <a:bodyPr wrap="none" anchor="ctr">
            <a:spAutoFit/>
          </a:bodyPr>
          <a:p>
            <a:r>
              <a:rPr lang="en-US" altLang="zh-CN" sz="1000" dirty="0">
                <a:latin typeface="Calibri" panose="020F0502020204030204" pitchFamily="34" charset="0"/>
                <a:cs typeface="Calibri" panose="020F0502020204030204" pitchFamily="34" charset="0"/>
              </a:rPr>
              <a:t> </a:t>
            </a:r>
            <a:endParaRPr lang="en-US" altLang="zh-CN" dirty="0">
              <a:latin typeface="Times New Roman" panose="02020603050405020304" pitchFamily="18" charset="0"/>
            </a:endParaRPr>
          </a:p>
        </p:txBody>
      </p:sp>
      <p:sp>
        <p:nvSpPr>
          <p:cNvPr id="24591" name="Rectangle 28"/>
          <p:cNvSpPr/>
          <p:nvPr/>
        </p:nvSpPr>
        <p:spPr>
          <a:xfrm>
            <a:off x="4302125" y="3424238"/>
            <a:ext cx="10244138" cy="46037"/>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4592" name="文本框 2"/>
          <p:cNvSpPr txBox="1"/>
          <p:nvPr/>
        </p:nvSpPr>
        <p:spPr>
          <a:xfrm>
            <a:off x="672465" y="993140"/>
            <a:ext cx="954088" cy="400050"/>
          </a:xfrm>
          <a:prstGeom prst="rect">
            <a:avLst/>
          </a:prstGeom>
          <a:noFill/>
          <a:ln w="9525">
            <a:noFill/>
          </a:ln>
        </p:spPr>
        <p:txBody>
          <a:bodyPr wrap="none">
            <a:spAutoFit/>
          </a:bodyPr>
          <a:p>
            <a:r>
              <a:rPr lang="zh-CN" altLang="zh-CN" dirty="0">
                <a:latin typeface="Times New Roman" panose="02020603050405020304" pitchFamily="18" charset="0"/>
              </a:rPr>
              <a:t>或写成</a:t>
            </a:r>
            <a:endParaRPr lang="zh-CN" altLang="zh-CN" dirty="0">
              <a:latin typeface="Times New Roman" panose="02020603050405020304" pitchFamily="18" charset="0"/>
            </a:endParaRPr>
          </a:p>
        </p:txBody>
      </p:sp>
      <p:sp>
        <p:nvSpPr>
          <p:cNvPr id="24593" name="Rectangle 2"/>
          <p:cNvSpPr/>
          <p:nvPr/>
        </p:nvSpPr>
        <p:spPr>
          <a:xfrm>
            <a:off x="2241550" y="2165033"/>
            <a:ext cx="11079163" cy="44450"/>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7" name="文本框 6"/>
          <p:cNvSpPr txBox="1">
            <a:spLocks noRot="1" noChangeAspect="1" noMove="1" noResize="1" noEditPoints="1" noAdjustHandles="1" noChangeArrowheads="1" noChangeShapeType="1" noTextEdit="1"/>
          </p:cNvSpPr>
          <p:nvPr/>
        </p:nvSpPr>
        <p:spPr>
          <a:xfrm>
            <a:off x="839223" y="2594181"/>
            <a:ext cx="3938935" cy="400110"/>
          </a:xfrm>
          <a:prstGeom prst="rect">
            <a:avLst/>
          </a:prstGeom>
          <a:blipFill>
            <a:blip r:embed="rId4"/>
            <a:stretch>
              <a:fillRect l="-1703" t="-7576" b="-25758"/>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4595" name="文本框 24"/>
          <p:cNvSpPr txBox="1"/>
          <p:nvPr/>
        </p:nvSpPr>
        <p:spPr>
          <a:xfrm>
            <a:off x="5749925" y="2593975"/>
            <a:ext cx="2493963" cy="400050"/>
          </a:xfrm>
          <a:prstGeom prst="rect">
            <a:avLst/>
          </a:prstGeom>
          <a:noFill/>
          <a:ln w="9525">
            <a:noFill/>
          </a:ln>
        </p:spPr>
        <p:txBody>
          <a:bodyPr wrap="none">
            <a:spAutoFit/>
          </a:bodyPr>
          <a:p>
            <a:r>
              <a:rPr lang="zh-CN" altLang="en-US" dirty="0">
                <a:latin typeface="Times New Roman" panose="02020603050405020304" pitchFamily="18" charset="0"/>
              </a:rPr>
              <a:t>。</a:t>
            </a:r>
            <a:r>
              <a:rPr lang="zh-CN" altLang="zh-CN" dirty="0">
                <a:latin typeface="Times New Roman" panose="02020603050405020304" pitchFamily="18" charset="0"/>
              </a:rPr>
              <a:t>对于标准斜齿轮，</a:t>
            </a:r>
            <a:endParaRPr lang="zh-CN" altLang="en-US" dirty="0">
              <a:latin typeface="Times New Roman" panose="02020603050405020304" pitchFamily="18" charset="0"/>
            </a:endParaRPr>
          </a:p>
        </p:txBody>
      </p:sp>
      <p:graphicFrame>
        <p:nvGraphicFramePr>
          <p:cNvPr id="24596" name="对象 26"/>
          <p:cNvGraphicFramePr>
            <a:graphicFrameLocks noChangeAspect="1"/>
          </p:cNvGraphicFramePr>
          <p:nvPr/>
        </p:nvGraphicFramePr>
        <p:xfrm>
          <a:off x="1963420" y="3281998"/>
          <a:ext cx="838200" cy="346075"/>
        </p:xfrm>
        <a:graphic>
          <a:graphicData uri="http://schemas.openxmlformats.org/presentationml/2006/ole">
            <mc:AlternateContent xmlns:mc="http://schemas.openxmlformats.org/markup-compatibility/2006">
              <mc:Choice xmlns:v="urn:schemas-microsoft-com:vml" Requires="v">
                <p:oleObj spid="_x0000_s3077" name="" r:id="rId5" imgW="558800" imgH="228600" progId="Equation.3">
                  <p:embed/>
                </p:oleObj>
              </mc:Choice>
              <mc:Fallback>
                <p:oleObj name="" r:id="rId5" imgW="558800" imgH="228600" progId="Equation.3">
                  <p:embed/>
                  <p:pic>
                    <p:nvPicPr>
                      <p:cNvPr id="0" name="图片 3076"/>
                      <p:cNvPicPr/>
                      <p:nvPr/>
                    </p:nvPicPr>
                    <p:blipFill>
                      <a:blip r:embed="rId6"/>
                      <a:stretch>
                        <a:fillRect/>
                      </a:stretch>
                    </p:blipFill>
                    <p:spPr>
                      <a:xfrm>
                        <a:off x="1963420" y="3281998"/>
                        <a:ext cx="838200" cy="346075"/>
                      </a:xfrm>
                      <a:prstGeom prst="rect">
                        <a:avLst/>
                      </a:prstGeom>
                      <a:noFill/>
                      <a:ln w="38100">
                        <a:noFill/>
                        <a:miter/>
                      </a:ln>
                    </p:spPr>
                  </p:pic>
                </p:oleObj>
              </mc:Fallback>
            </mc:AlternateContent>
          </a:graphicData>
        </a:graphic>
      </p:graphicFrame>
      <p:graphicFrame>
        <p:nvGraphicFramePr>
          <p:cNvPr id="24597" name="对象 28"/>
          <p:cNvGraphicFramePr>
            <a:graphicFrameLocks noChangeAspect="1"/>
          </p:cNvGraphicFramePr>
          <p:nvPr/>
        </p:nvGraphicFramePr>
        <p:xfrm>
          <a:off x="3068320" y="3281998"/>
          <a:ext cx="1565275" cy="336550"/>
        </p:xfrm>
        <a:graphic>
          <a:graphicData uri="http://schemas.openxmlformats.org/presentationml/2006/ole">
            <mc:AlternateContent xmlns:mc="http://schemas.openxmlformats.org/markup-compatibility/2006">
              <mc:Choice xmlns:v="urn:schemas-microsoft-com:vml" Requires="v">
                <p:oleObj spid="_x0000_s3078" name="" r:id="rId7" imgW="1104900" imgH="228600" progId="Equation.3">
                  <p:embed/>
                </p:oleObj>
              </mc:Choice>
              <mc:Fallback>
                <p:oleObj name="" r:id="rId7" imgW="1104900" imgH="228600" progId="Equation.3">
                  <p:embed/>
                  <p:pic>
                    <p:nvPicPr>
                      <p:cNvPr id="0" name="图片 3077"/>
                      <p:cNvPicPr/>
                      <p:nvPr/>
                    </p:nvPicPr>
                    <p:blipFill>
                      <a:blip r:embed="rId8"/>
                      <a:stretch>
                        <a:fillRect/>
                      </a:stretch>
                    </p:blipFill>
                    <p:spPr>
                      <a:xfrm>
                        <a:off x="3068320" y="3281998"/>
                        <a:ext cx="1565275" cy="336550"/>
                      </a:xfrm>
                      <a:prstGeom prst="rect">
                        <a:avLst/>
                      </a:prstGeom>
                      <a:noFill/>
                      <a:ln w="38100">
                        <a:noFill/>
                        <a:miter/>
                      </a:ln>
                    </p:spPr>
                  </p:pic>
                </p:oleObj>
              </mc:Fallback>
            </mc:AlternateContent>
          </a:graphicData>
        </a:graphic>
      </p:graphicFrame>
      <p:sp>
        <p:nvSpPr>
          <p:cNvPr id="30" name="文本框 29"/>
          <p:cNvSpPr txBox="1"/>
          <p:nvPr/>
        </p:nvSpPr>
        <p:spPr>
          <a:xfrm>
            <a:off x="2801620" y="3302953"/>
            <a:ext cx="266700" cy="401638"/>
          </a:xfrm>
          <a:prstGeom prst="rect">
            <a:avLst/>
          </a:prstGeom>
          <a:noFill/>
        </p:spPr>
        <p:txBody>
          <a:bodyPr>
            <a:spAutoFit/>
          </a:bodyPr>
          <a:lstStyle/>
          <a:p>
            <a:pPr marR="0" defTabSz="914400">
              <a:buClrTx/>
              <a:buSzTx/>
              <a:buFontTx/>
              <a:defRPr/>
            </a:pPr>
            <a:r>
              <a:rPr kumimoji="1" lang="zh-CN" altLang="en-US" kern="1200" cap="none" spc="0" normalizeH="0" baseline="0" noProof="0" dirty="0">
                <a:solidFill>
                  <a:schemeClr val="accent6">
                    <a:lumMod val="50000"/>
                  </a:schemeClr>
                </a:solidFill>
                <a:latin typeface="Times New Roman" panose="02020603050405020304" pitchFamily="18" charset="0"/>
                <a:ea typeface="华文中宋" panose="02010600040101010101" pitchFamily="2" charset="-122"/>
                <a:cs typeface="+mn-cs"/>
              </a:rPr>
              <a:t>，</a:t>
            </a:r>
            <a:endParaRPr kumimoji="1" lang="zh-CN" altLang="en-US" kern="1200" cap="none" spc="0" normalizeH="0" baseline="0" noProof="0" dirty="0">
              <a:solidFill>
                <a:schemeClr val="accent6">
                  <a:lumMod val="50000"/>
                </a:schemeClr>
              </a:solidFill>
              <a:latin typeface="Times New Roman" panose="02020603050405020304" pitchFamily="18" charset="0"/>
              <a:ea typeface="华文中宋" panose="02010600040101010101" pitchFamily="2" charset="-122"/>
              <a:cs typeface="+mn-cs"/>
            </a:endParaRPr>
          </a:p>
        </p:txBody>
      </p:sp>
      <p:sp>
        <p:nvSpPr>
          <p:cNvPr id="59392" name="文本框 59391"/>
          <p:cNvSpPr txBox="1">
            <a:spLocks noRot="1" noChangeAspect="1" noMove="1" noResize="1" noEditPoints="1" noAdjustHandles="1" noChangeArrowheads="1" noChangeShapeType="1" noTextEdit="1"/>
          </p:cNvSpPr>
          <p:nvPr/>
        </p:nvSpPr>
        <p:spPr>
          <a:xfrm>
            <a:off x="1626573" y="4083559"/>
            <a:ext cx="2364237" cy="400110"/>
          </a:xfrm>
          <a:prstGeom prst="rect">
            <a:avLst/>
          </a:prstGeom>
          <a:blipFill>
            <a:blip r:embed="rId9"/>
            <a:stretch>
              <a:fillRect t="-9091" b="-25758"/>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graphicFrame>
        <p:nvGraphicFramePr>
          <p:cNvPr id="24601" name="对象 59395"/>
          <p:cNvGraphicFramePr>
            <a:graphicFrameLocks noChangeAspect="1"/>
          </p:cNvGraphicFramePr>
          <p:nvPr/>
        </p:nvGraphicFramePr>
        <p:xfrm>
          <a:off x="3872865" y="3953828"/>
          <a:ext cx="1357313" cy="776287"/>
        </p:xfrm>
        <a:graphic>
          <a:graphicData uri="http://schemas.openxmlformats.org/presentationml/2006/ole">
            <mc:AlternateContent xmlns:mc="http://schemas.openxmlformats.org/markup-compatibility/2006">
              <mc:Choice xmlns:v="urn:schemas-microsoft-com:vml" Requires="v">
                <p:oleObj spid="_x0000_s3079" name="" r:id="rId10" imgW="875665" imgH="495300" progId="Equation.3">
                  <p:embed/>
                </p:oleObj>
              </mc:Choice>
              <mc:Fallback>
                <p:oleObj name="" r:id="rId10" imgW="875665" imgH="495300" progId="Equation.3">
                  <p:embed/>
                  <p:pic>
                    <p:nvPicPr>
                      <p:cNvPr id="0" name="图片 3078"/>
                      <p:cNvPicPr/>
                      <p:nvPr/>
                    </p:nvPicPr>
                    <p:blipFill>
                      <a:blip r:embed="rId11"/>
                      <a:stretch>
                        <a:fillRect/>
                      </a:stretch>
                    </p:blipFill>
                    <p:spPr>
                      <a:xfrm>
                        <a:off x="3872865" y="3953828"/>
                        <a:ext cx="1357313" cy="776287"/>
                      </a:xfrm>
                      <a:prstGeom prst="rect">
                        <a:avLst/>
                      </a:prstGeom>
                      <a:noFill/>
                      <a:ln w="38100">
                        <a:noFill/>
                        <a:miter/>
                      </a:ln>
                    </p:spPr>
                  </p:pic>
                </p:oleObj>
              </mc:Fallback>
            </mc:AlternateContent>
          </a:graphicData>
        </a:graphic>
      </p:graphicFrame>
      <p:sp>
        <p:nvSpPr>
          <p:cNvPr id="59403" name="文本框 59402"/>
          <p:cNvSpPr txBox="1">
            <a:spLocks noRot="1" noChangeAspect="1" noMove="1" noResize="1" noEditPoints="1" noAdjustHandles="1" noChangeArrowheads="1" noChangeShapeType="1" noTextEdit="1"/>
          </p:cNvSpPr>
          <p:nvPr/>
        </p:nvSpPr>
        <p:spPr>
          <a:xfrm>
            <a:off x="5544661" y="4152181"/>
            <a:ext cx="2508507" cy="400110"/>
          </a:xfrm>
          <a:prstGeom prst="rect">
            <a:avLst/>
          </a:prstGeom>
          <a:blipFill>
            <a:blip r:embed="rId12"/>
            <a:stretch>
              <a:fillRect l="-2427" t="-7576" r="-2427" b="-25758"/>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59406" name="文本框 59405"/>
          <p:cNvSpPr txBox="1">
            <a:spLocks noRot="1" noChangeAspect="1" noMove="1" noResize="1" noEditPoints="1" noAdjustHandles="1" noChangeArrowheads="1" noChangeShapeType="1" noTextEdit="1"/>
          </p:cNvSpPr>
          <p:nvPr/>
        </p:nvSpPr>
        <p:spPr>
          <a:xfrm>
            <a:off x="1799927" y="5005762"/>
            <a:ext cx="1935479" cy="307777"/>
          </a:xfrm>
          <a:prstGeom prst="rect">
            <a:avLst/>
          </a:prstGeom>
          <a:blipFill>
            <a:blip r:embed="rId13"/>
            <a:stretch>
              <a:fillRect l="-4403" t="-26000" r="-5031" b="-50000"/>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4606" name="文本框 59408"/>
          <p:cNvSpPr txBox="1"/>
          <p:nvPr/>
        </p:nvSpPr>
        <p:spPr>
          <a:xfrm>
            <a:off x="5367973" y="5005705"/>
            <a:ext cx="2257425" cy="708025"/>
          </a:xfrm>
          <a:prstGeom prst="rect">
            <a:avLst/>
          </a:prstGeom>
          <a:noFill/>
          <a:ln w="9525">
            <a:noFill/>
          </a:ln>
        </p:spPr>
        <p:txBody>
          <a:bodyPr wrap="none">
            <a:spAutoFit/>
          </a:bodyPr>
          <a:p>
            <a:r>
              <a:rPr lang="zh-CN" altLang="zh-CN" dirty="0">
                <a:latin typeface="Times New Roman" panose="02020603050405020304" pitchFamily="18" charset="0"/>
              </a:rPr>
              <a:t>；数值见表</a:t>
            </a:r>
            <a:r>
              <a:rPr lang="en-US" altLang="zh-CN" dirty="0">
                <a:latin typeface="Times New Roman" panose="02020603050405020304" pitchFamily="18" charset="0"/>
              </a:rPr>
              <a:t>3.4-5</a:t>
            </a:r>
            <a:r>
              <a:rPr lang="zh-CN" altLang="zh-CN" dirty="0">
                <a:latin typeface="Times New Roman" panose="02020603050405020304" pitchFamily="18" charset="0"/>
              </a:rPr>
              <a:t>。</a:t>
            </a:r>
            <a:endParaRPr lang="zh-CN" altLang="zh-CN" dirty="0">
              <a:latin typeface="Times New Roman" panose="02020603050405020304" pitchFamily="18" charset="0"/>
            </a:endParaRPr>
          </a:p>
          <a:p>
            <a:endParaRPr lang="zh-CN" altLang="en-US" dirty="0">
              <a:latin typeface="Times New Roman" panose="02020603050405020304" pitchFamily="18" charset="0"/>
            </a:endParaRPr>
          </a:p>
        </p:txBody>
      </p:sp>
      <p:pic>
        <p:nvPicPr>
          <p:cNvPr id="24608" name="图片 2"/>
          <p:cNvPicPr>
            <a:picLocks noChangeAspect="1"/>
          </p:cNvPicPr>
          <p:nvPr/>
        </p:nvPicPr>
        <p:blipFill>
          <a:blip r:embed="rId14"/>
          <a:stretch>
            <a:fillRect/>
          </a:stretch>
        </p:blipFill>
        <p:spPr>
          <a:xfrm>
            <a:off x="4163695" y="2360613"/>
            <a:ext cx="1570038" cy="752475"/>
          </a:xfrm>
          <a:prstGeom prst="rect">
            <a:avLst/>
          </a:prstGeom>
          <a:noFill/>
          <a:ln w="9525">
            <a:noFill/>
          </a:ln>
        </p:spPr>
      </p:pic>
      <p:pic>
        <p:nvPicPr>
          <p:cNvPr id="24609" name="图片 3"/>
          <p:cNvPicPr>
            <a:picLocks noChangeAspect="1"/>
          </p:cNvPicPr>
          <p:nvPr/>
        </p:nvPicPr>
        <p:blipFill>
          <a:blip r:embed="rId15"/>
          <a:stretch>
            <a:fillRect/>
          </a:stretch>
        </p:blipFill>
        <p:spPr>
          <a:xfrm>
            <a:off x="3663633" y="4805363"/>
            <a:ext cx="1631950" cy="708025"/>
          </a:xfrm>
          <a:prstGeom prst="rect">
            <a:avLst/>
          </a:prstGeom>
          <a:noFill/>
          <a:ln w="9525">
            <a:noFill/>
          </a:ln>
        </p:spPr>
      </p:pic>
      <p:sp>
        <p:nvSpPr>
          <p:cNvPr id="4" name="Rectangle 4"/>
          <p:cNvSpPr>
            <a:spLocks noChangeArrowheads="1"/>
          </p:cNvSpPr>
          <p:nvPr/>
        </p:nvSpPr>
        <p:spPr bwMode="auto">
          <a:xfrm>
            <a:off x="2673033" y="235903"/>
            <a:ext cx="58515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207" name="直接连接符 6"/>
          <p:cNvSpPr>
            <a:spLocks noChangeShapeType="1"/>
          </p:cNvSpPr>
          <p:nvPr/>
        </p:nvSpPr>
        <p:spPr bwMode="auto">
          <a:xfrm>
            <a:off x="0" y="75628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graphicFrame>
        <p:nvGraphicFramePr>
          <p:cNvPr id="3" name="Object 13"/>
          <p:cNvGraphicFramePr>
            <a:graphicFrameLocks noChangeAspect="1"/>
          </p:cNvGraphicFramePr>
          <p:nvPr/>
        </p:nvGraphicFramePr>
        <p:xfrm>
          <a:off x="1915613" y="1318562"/>
          <a:ext cx="4157663" cy="987424"/>
        </p:xfrm>
        <a:graphic>
          <a:graphicData uri="http://schemas.openxmlformats.org/presentationml/2006/ole">
            <mc:AlternateContent xmlns:mc="http://schemas.openxmlformats.org/markup-compatibility/2006">
              <mc:Choice xmlns:v="urn:schemas-microsoft-com:vml" Requires="v">
                <p:oleObj spid="_x0000_s3420" name="公式" r:id="rId16" imgW="2095500" imgH="495300" progId="Equation.3">
                  <p:embed/>
                </p:oleObj>
              </mc:Choice>
              <mc:Fallback>
                <p:oleObj name="公式" r:id="rId16" imgW="2095500" imgH="495300" progId="Equation.3">
                  <p:embed/>
                  <p:pic>
                    <p:nvPicPr>
                      <p:cNvPr id="0" name="Object 13"/>
                      <p:cNvPicPr>
                        <a:picLocks noChangeAspect="1" noChangeArrowheads="1"/>
                      </p:cNvPicPr>
                      <p:nvPr/>
                    </p:nvPicPr>
                    <p:blipFill>
                      <a:blip r:embed="rId17"/>
                      <a:srcRect/>
                      <a:stretch>
                        <a:fillRect/>
                      </a:stretch>
                    </p:blipFill>
                    <p:spPr bwMode="auto">
                      <a:xfrm>
                        <a:off x="1915613" y="1318562"/>
                        <a:ext cx="4157663" cy="987424"/>
                      </a:xfrm>
                      <a:prstGeom prst="rect">
                        <a:avLst/>
                      </a:prstGeom>
                      <a:solidFill>
                        <a:srgbClr val="FFFF00"/>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nodeType="withEffect">
                                  <p:stCondLst>
                                    <p:cond delay="0"/>
                                  </p:stCondLst>
                                  <p:childTnLst>
                                    <p:set>
                                      <p:cBhvr>
                                        <p:cTn id="15" dur="1" fill="hold">
                                          <p:stCondLst>
                                            <p:cond delay="0"/>
                                          </p:stCondLst>
                                        </p:cTn>
                                        <p:tgtEl>
                                          <p:spTgt spid="24608"/>
                                        </p:tgtEl>
                                        <p:attrNameLst>
                                          <p:attrName>style.visibility</p:attrName>
                                        </p:attrNameLst>
                                      </p:cBhvr>
                                      <p:to>
                                        <p:strVal val="visible"/>
                                      </p:to>
                                    </p:set>
                                    <p:animEffect transition="in" filter="wipe(left)">
                                      <p:cBhvr>
                                        <p:cTn id="16" dur="500"/>
                                        <p:tgtEl>
                                          <p:spTgt spid="2460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4595"/>
                                        </p:tgtEl>
                                        <p:attrNameLst>
                                          <p:attrName>style.visibility</p:attrName>
                                        </p:attrNameLst>
                                      </p:cBhvr>
                                      <p:to>
                                        <p:strVal val="visible"/>
                                      </p:to>
                                    </p:set>
                                    <p:animEffect transition="in" filter="wipe(left)">
                                      <p:cBhvr>
                                        <p:cTn id="21" dur="500"/>
                                        <p:tgtEl>
                                          <p:spTgt spid="24595"/>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4596"/>
                                        </p:tgtEl>
                                        <p:attrNameLst>
                                          <p:attrName>style.visibility</p:attrName>
                                        </p:attrNameLst>
                                      </p:cBhvr>
                                      <p:to>
                                        <p:strVal val="visible"/>
                                      </p:to>
                                    </p:set>
                                    <p:animEffect transition="in" filter="wipe(left)">
                                      <p:cBhvr>
                                        <p:cTn id="25" dur="500"/>
                                        <p:tgtEl>
                                          <p:spTgt spid="24596"/>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left)">
                                      <p:cBhvr>
                                        <p:cTn id="29" dur="500"/>
                                        <p:tgtEl>
                                          <p:spTgt spid="30"/>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24597"/>
                                        </p:tgtEl>
                                        <p:attrNameLst>
                                          <p:attrName>style.visibility</p:attrName>
                                        </p:attrNameLst>
                                      </p:cBhvr>
                                      <p:to>
                                        <p:strVal val="visible"/>
                                      </p:to>
                                    </p:set>
                                    <p:animEffect transition="in" filter="wipe(left)">
                                      <p:cBhvr>
                                        <p:cTn id="33" dur="500"/>
                                        <p:tgtEl>
                                          <p:spTgt spid="2459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9392"/>
                                        </p:tgtEl>
                                        <p:attrNameLst>
                                          <p:attrName>style.visibility</p:attrName>
                                        </p:attrNameLst>
                                      </p:cBhvr>
                                      <p:to>
                                        <p:strVal val="visible"/>
                                      </p:to>
                                    </p:set>
                                    <p:animEffect transition="in" filter="wipe(left)">
                                      <p:cBhvr>
                                        <p:cTn id="38" dur="500"/>
                                        <p:tgtEl>
                                          <p:spTgt spid="59392"/>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24601"/>
                                        </p:tgtEl>
                                        <p:attrNameLst>
                                          <p:attrName>style.visibility</p:attrName>
                                        </p:attrNameLst>
                                      </p:cBhvr>
                                      <p:to>
                                        <p:strVal val="visible"/>
                                      </p:to>
                                    </p:set>
                                    <p:animEffect transition="in" filter="wipe(left)">
                                      <p:cBhvr>
                                        <p:cTn id="42" dur="500"/>
                                        <p:tgtEl>
                                          <p:spTgt spid="24601"/>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59403"/>
                                        </p:tgtEl>
                                        <p:attrNameLst>
                                          <p:attrName>style.visibility</p:attrName>
                                        </p:attrNameLst>
                                      </p:cBhvr>
                                      <p:to>
                                        <p:strVal val="visible"/>
                                      </p:to>
                                    </p:set>
                                    <p:animEffect transition="in" filter="wipe(left)">
                                      <p:cBhvr>
                                        <p:cTn id="46" dur="500"/>
                                        <p:tgtEl>
                                          <p:spTgt spid="5940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9406"/>
                                        </p:tgtEl>
                                        <p:attrNameLst>
                                          <p:attrName>style.visibility</p:attrName>
                                        </p:attrNameLst>
                                      </p:cBhvr>
                                      <p:to>
                                        <p:strVal val="visible"/>
                                      </p:to>
                                    </p:set>
                                    <p:animEffect transition="in" filter="wipe(left)">
                                      <p:cBhvr>
                                        <p:cTn id="51" dur="500"/>
                                        <p:tgtEl>
                                          <p:spTgt spid="59406"/>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24609"/>
                                        </p:tgtEl>
                                        <p:attrNameLst>
                                          <p:attrName>style.visibility</p:attrName>
                                        </p:attrNameLst>
                                      </p:cBhvr>
                                      <p:to>
                                        <p:strVal val="visible"/>
                                      </p:to>
                                    </p:set>
                                    <p:animEffect transition="in" filter="wipe(left)">
                                      <p:cBhvr>
                                        <p:cTn id="55" dur="500"/>
                                        <p:tgtEl>
                                          <p:spTgt spid="24609"/>
                                        </p:tgtEl>
                                      </p:cBhvr>
                                    </p:animEffect>
                                  </p:childTnLst>
                                </p:cTn>
                              </p:par>
                            </p:childTnLst>
                          </p:cTn>
                        </p:par>
                        <p:par>
                          <p:cTn id="56" fill="hold">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24606"/>
                                        </p:tgtEl>
                                        <p:attrNameLst>
                                          <p:attrName>style.visibility</p:attrName>
                                        </p:attrNameLst>
                                      </p:cBhvr>
                                      <p:to>
                                        <p:strVal val="visible"/>
                                      </p:to>
                                    </p:set>
                                    <p:animEffect transition="in" filter="wipe(left)">
                                      <p:cBhvr>
                                        <p:cTn id="59" dur="500"/>
                                        <p:tgtEl>
                                          <p:spTgt spid="24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7" grpId="0" animBg="1"/>
      <p:bldP spid="24595" grpId="0"/>
      <p:bldP spid="30" grpId="0"/>
      <p:bldP spid="59392" grpId="0" animBg="1"/>
      <p:bldP spid="59403" grpId="0" bldLvl="0" animBg="1"/>
      <p:bldP spid="59406" grpId="0" animBg="1"/>
      <p:bldP spid="2460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25604"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25605"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25607"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25608"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5609" name="Rectangle 23"/>
          <p:cNvSpPr/>
          <p:nvPr/>
        </p:nvSpPr>
        <p:spPr>
          <a:xfrm>
            <a:off x="0" y="44132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5610"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5611" name="文本框 8"/>
          <p:cNvSpPr txBox="1"/>
          <p:nvPr/>
        </p:nvSpPr>
        <p:spPr>
          <a:xfrm>
            <a:off x="6931025" y="4189730"/>
            <a:ext cx="1358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3.4-14</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5612" name="Rectangle 9"/>
          <p:cNvSpPr/>
          <p:nvPr/>
        </p:nvSpPr>
        <p:spPr>
          <a:xfrm>
            <a:off x="6326188" y="180975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3" name="文本框 2"/>
          <p:cNvSpPr txBox="1">
            <a:spLocks noRot="1" noChangeAspect="1" noMove="1" noResize="1" noEditPoints="1" noAdjustHandles="1" noChangeArrowheads="1" noChangeShapeType="1" noTextEdit="1"/>
          </p:cNvSpPr>
          <p:nvPr/>
        </p:nvSpPr>
        <p:spPr>
          <a:xfrm>
            <a:off x="747395" y="984928"/>
            <a:ext cx="4564519" cy="400110"/>
          </a:xfrm>
          <a:prstGeom prst="rect">
            <a:avLst/>
          </a:prstGeom>
          <a:blipFill>
            <a:blip r:embed="rId4"/>
            <a:stretch>
              <a:fillRect l="-1469" t="-9231" r="-801" b="-27692"/>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5616" name="Rectangle 2"/>
          <p:cNvSpPr/>
          <p:nvPr/>
        </p:nvSpPr>
        <p:spPr>
          <a:xfrm>
            <a:off x="2241550" y="2195513"/>
            <a:ext cx="11079163" cy="44450"/>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5617" name="Rectangle 19"/>
          <p:cNvSpPr/>
          <p:nvPr/>
        </p:nvSpPr>
        <p:spPr>
          <a:xfrm>
            <a:off x="3790950" y="4694238"/>
            <a:ext cx="11669713" cy="46037"/>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5618" name="Rectangle 2"/>
          <p:cNvSpPr/>
          <p:nvPr/>
        </p:nvSpPr>
        <p:spPr>
          <a:xfrm>
            <a:off x="2670175" y="1855788"/>
            <a:ext cx="9936163" cy="46037"/>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11" name="文本框 10"/>
          <p:cNvSpPr txBox="1">
            <a:spLocks noRot="1" noChangeAspect="1" noMove="1" noResize="1" noEditPoints="1" noAdjustHandles="1" noChangeArrowheads="1" noChangeShapeType="1" noTextEdit="1"/>
          </p:cNvSpPr>
          <p:nvPr/>
        </p:nvSpPr>
        <p:spPr>
          <a:xfrm>
            <a:off x="1145833" y="2573793"/>
            <a:ext cx="2414589" cy="307777"/>
          </a:xfrm>
          <a:prstGeom prst="rect">
            <a:avLst/>
          </a:prstGeom>
          <a:blipFill>
            <a:blip r:embed="rId5"/>
            <a:stretch>
              <a:fillRect l="-5303" t="-25490" r="-3283" b="-49020"/>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12" name="文本框 11"/>
          <p:cNvSpPr txBox="1">
            <a:spLocks noRot="1" noChangeAspect="1" noMove="1" noResize="1" noEditPoints="1" noAdjustHandles="1" noChangeArrowheads="1" noChangeShapeType="1" noTextEdit="1"/>
          </p:cNvSpPr>
          <p:nvPr/>
        </p:nvSpPr>
        <p:spPr>
          <a:xfrm>
            <a:off x="800735" y="3024793"/>
            <a:ext cx="6408999" cy="400110"/>
          </a:xfrm>
          <a:prstGeom prst="rect">
            <a:avLst/>
          </a:prstGeom>
          <a:blipFill>
            <a:blip r:embed="rId6"/>
            <a:stretch>
              <a:fillRect l="-1047" t="-7576" r="-285" b="-25758"/>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5621" name="文本框 38"/>
          <p:cNvSpPr txBox="1"/>
          <p:nvPr/>
        </p:nvSpPr>
        <p:spPr>
          <a:xfrm>
            <a:off x="6958965" y="1901508"/>
            <a:ext cx="1358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3.4-13</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 name="文本框 1"/>
          <p:cNvSpPr txBox="1">
            <a:spLocks noRot="1" noChangeAspect="1" noMove="1" noResize="1" noEditPoints="1" noAdjustHandles="1" noChangeArrowheads="1" noChangeShapeType="1" noTextEdit="1"/>
          </p:cNvSpPr>
          <p:nvPr/>
        </p:nvSpPr>
        <p:spPr>
          <a:xfrm>
            <a:off x="873760" y="5384964"/>
            <a:ext cx="5566588" cy="400110"/>
          </a:xfrm>
          <a:prstGeom prst="rect">
            <a:avLst/>
          </a:prstGeom>
          <a:blipFill>
            <a:blip r:embed="rId7"/>
            <a:stretch>
              <a:fillRect t="-7576" r="-548" b="-25758"/>
            </a:stretch>
          </a:blipFill>
        </p:spPr>
        <p:txBody>
          <a:bodyPr/>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4" name="Rectangle 4"/>
          <p:cNvSpPr>
            <a:spLocks noChangeArrowheads="1"/>
          </p:cNvSpPr>
          <p:nvPr/>
        </p:nvSpPr>
        <p:spPr bwMode="auto">
          <a:xfrm>
            <a:off x="2673033" y="235903"/>
            <a:ext cx="58515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207" name="直接连接符 6"/>
          <p:cNvSpPr>
            <a:spLocks noChangeShapeType="1"/>
          </p:cNvSpPr>
          <p:nvPr/>
        </p:nvSpPr>
        <p:spPr bwMode="auto">
          <a:xfrm>
            <a:off x="0" y="75628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grpSp>
        <p:nvGrpSpPr>
          <p:cNvPr id="5" name="Group 36"/>
          <p:cNvGrpSpPr/>
          <p:nvPr/>
        </p:nvGrpSpPr>
        <p:grpSpPr bwMode="auto">
          <a:xfrm>
            <a:off x="873422" y="3688265"/>
            <a:ext cx="4984751" cy="1479549"/>
            <a:chOff x="308" y="3000"/>
            <a:chExt cx="3140" cy="932"/>
          </a:xfrm>
        </p:grpSpPr>
        <p:sp>
          <p:nvSpPr>
            <p:cNvPr id="3092" name="Text Box 15"/>
            <p:cNvSpPr txBox="1">
              <a:spLocks noChangeArrowheads="1"/>
            </p:cNvSpPr>
            <p:nvPr/>
          </p:nvSpPr>
          <p:spPr bwMode="auto">
            <a:xfrm>
              <a:off x="308" y="3000"/>
              <a:ext cx="271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0099"/>
                  </a:solidFill>
                  <a:latin typeface="黑体" panose="02010609060101010101" pitchFamily="49" charset="-122"/>
                  <a:ea typeface="黑体" panose="02010609060101010101" pitchFamily="49" charset="-122"/>
                </a:rPr>
                <a:t>齿面接触疲劳强度的设计</a:t>
              </a:r>
              <a:r>
                <a:rPr lang="zh-CN" altLang="en-US" sz="2200" dirty="0">
                  <a:solidFill>
                    <a:srgbClr val="000099"/>
                  </a:solidFill>
                  <a:latin typeface="黑体" panose="02010609060101010101" pitchFamily="49" charset="-122"/>
                  <a:ea typeface="黑体" panose="02010609060101010101" pitchFamily="49" charset="-122"/>
                </a:rPr>
                <a:t>公式：</a:t>
              </a:r>
              <a:endParaRPr lang="zh-CN" altLang="en-US" sz="2200" dirty="0">
                <a:solidFill>
                  <a:srgbClr val="000099"/>
                </a:solidFill>
                <a:latin typeface="黑体" panose="02010609060101010101" pitchFamily="49" charset="-122"/>
                <a:ea typeface="黑体" panose="02010609060101010101" pitchFamily="49" charset="-122"/>
              </a:endParaRPr>
            </a:p>
          </p:txBody>
        </p:sp>
        <p:graphicFrame>
          <p:nvGraphicFramePr>
            <p:cNvPr id="3076" name="Object 16"/>
            <p:cNvGraphicFramePr>
              <a:graphicFrameLocks noChangeAspect="1"/>
            </p:cNvGraphicFramePr>
            <p:nvPr/>
          </p:nvGraphicFramePr>
          <p:xfrm>
            <a:off x="1113" y="3316"/>
            <a:ext cx="2335" cy="616"/>
          </p:xfrm>
          <a:graphic>
            <a:graphicData uri="http://schemas.openxmlformats.org/presentationml/2006/ole">
              <mc:AlternateContent xmlns:mc="http://schemas.openxmlformats.org/markup-compatibility/2006">
                <mc:Choice xmlns:v="urn:schemas-microsoft-com:vml" Requires="v">
                  <p:oleObj spid="_x0000_s23635" name="公式" r:id="rId8" imgW="1841500" imgH="482600" progId="Equation.3">
                    <p:embed/>
                  </p:oleObj>
                </mc:Choice>
                <mc:Fallback>
                  <p:oleObj name="公式" r:id="rId8" imgW="1841500" imgH="482600" progId="Equation.3">
                    <p:embed/>
                    <p:pic>
                      <p:nvPicPr>
                        <p:cNvPr id="0" name="图片 23607"/>
                        <p:cNvPicPr>
                          <a:picLocks noChangeAspect="1" noChangeArrowheads="1"/>
                        </p:cNvPicPr>
                        <p:nvPr/>
                      </p:nvPicPr>
                      <p:blipFill>
                        <a:blip r:embed="rId9"/>
                        <a:srcRect/>
                        <a:stretch>
                          <a:fillRect/>
                        </a:stretch>
                      </p:blipFill>
                      <p:spPr bwMode="auto">
                        <a:xfrm>
                          <a:off x="1113" y="3316"/>
                          <a:ext cx="2335" cy="616"/>
                        </a:xfrm>
                        <a:prstGeom prst="rect">
                          <a:avLst/>
                        </a:prstGeom>
                        <a:gradFill flip="none" rotWithShape="1">
                          <a:gsLst>
                            <a:gs pos="100000">
                              <a:srgbClr val="9EE256"/>
                            </a:gs>
                            <a:gs pos="100000">
                              <a:srgbClr val="52762D"/>
                            </a:gs>
                          </a:gsLst>
                          <a:lin ang="2700000" scaled="0"/>
                        </a:gradFill>
                      </p:spPr>
                    </p:pic>
                  </p:oleObj>
                </mc:Fallback>
              </mc:AlternateContent>
            </a:graphicData>
          </a:graphic>
        </p:graphicFrame>
      </p:grpSp>
      <p:graphicFrame>
        <p:nvGraphicFramePr>
          <p:cNvPr id="7" name="Object 13"/>
          <p:cNvGraphicFramePr>
            <a:graphicFrameLocks noChangeAspect="1"/>
          </p:cNvGraphicFramePr>
          <p:nvPr/>
        </p:nvGraphicFramePr>
        <p:xfrm>
          <a:off x="1393008" y="1434450"/>
          <a:ext cx="4157663" cy="987424"/>
        </p:xfrm>
        <a:graphic>
          <a:graphicData uri="http://schemas.openxmlformats.org/presentationml/2006/ole">
            <mc:AlternateContent xmlns:mc="http://schemas.openxmlformats.org/markup-compatibility/2006">
              <mc:Choice xmlns:v="urn:schemas-microsoft-com:vml" Requires="v">
                <p:oleObj spid="_x0000_s8" name="公式" r:id="rId10" imgW="2095500" imgH="495300" progId="Equation.3">
                  <p:embed/>
                </p:oleObj>
              </mc:Choice>
              <mc:Fallback>
                <p:oleObj name="公式" r:id="rId10" imgW="2095500" imgH="495300" progId="Equation.3">
                  <p:embed/>
                  <p:pic>
                    <p:nvPicPr>
                      <p:cNvPr id="0" name="Object 13"/>
                      <p:cNvPicPr>
                        <a:picLocks noChangeAspect="1" noChangeArrowheads="1"/>
                      </p:cNvPicPr>
                      <p:nvPr/>
                    </p:nvPicPr>
                    <p:blipFill>
                      <a:blip r:embed="rId11"/>
                      <a:srcRect/>
                      <a:stretch>
                        <a:fillRect/>
                      </a:stretch>
                    </p:blipFill>
                    <p:spPr bwMode="auto">
                      <a:xfrm>
                        <a:off x="1393008" y="1434450"/>
                        <a:ext cx="4157663" cy="987424"/>
                      </a:xfrm>
                      <a:prstGeom prst="rect">
                        <a:avLst/>
                      </a:prstGeom>
                      <a:solidFill>
                        <a:srgbClr val="FFFF00"/>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5621"/>
                                        </p:tgtEl>
                                        <p:attrNameLst>
                                          <p:attrName>style.visibility</p:attrName>
                                        </p:attrNameLst>
                                      </p:cBhvr>
                                      <p:to>
                                        <p:strVal val="visible"/>
                                      </p:to>
                                    </p:set>
                                    <p:animEffect transition="in" filter="wipe(left)">
                                      <p:cBhvr>
                                        <p:cTn id="22" dur="500"/>
                                        <p:tgtEl>
                                          <p:spTgt spid="256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5611"/>
                                        </p:tgtEl>
                                        <p:attrNameLst>
                                          <p:attrName>style.visibility</p:attrName>
                                        </p:attrNameLst>
                                      </p:cBhvr>
                                      <p:to>
                                        <p:strVal val="visible"/>
                                      </p:to>
                                    </p:set>
                                    <p:animEffect transition="in" filter="wipe(left)">
                                      <p:cBhvr>
                                        <p:cTn id="41" dur="500"/>
                                        <p:tgtEl>
                                          <p:spTgt spid="256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left)">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3" grpId="0" animBg="1"/>
      <p:bldP spid="11" grpId="0" animBg="1"/>
      <p:bldP spid="12" grpId="0" animBg="1"/>
      <p:bldP spid="25611" grpId="0"/>
      <p:bldP spid="2" grpId="0" bldLvl="0" animBg="1"/>
      <p:bldP spid="2562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7" name="文本框 320516"/>
          <p:cNvSpPr txBox="1"/>
          <p:nvPr/>
        </p:nvSpPr>
        <p:spPr>
          <a:xfrm>
            <a:off x="1046480" y="4438650"/>
            <a:ext cx="6172200" cy="457200"/>
          </a:xfrm>
          <a:prstGeom prst="rect">
            <a:avLst/>
          </a:prstGeom>
          <a:noFill/>
          <a:ln w="9525">
            <a:noFill/>
          </a:ln>
        </p:spPr>
        <p:txBody>
          <a:bodyPr>
            <a:spAutoFit/>
          </a:bodyPr>
          <a:p>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精确计算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d</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1</a:t>
            </a:r>
            <a:r>
              <a:rPr lang="zh-CN" altLang="en-US">
                <a:effectLst>
                  <a:outerShdw blurRad="38100" dist="38100" dir="2700000">
                    <a:srgbClr val="C0C0C0"/>
                  </a:outerShdw>
                </a:effectLst>
                <a:latin typeface="Times New Roman" panose="02020603050405020304" pitchFamily="18" charset="0"/>
                <a:ea typeface="黑体" panose="02010609060101010101" pitchFamily="49" charset="-122"/>
              </a:rPr>
              <a:t>、</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d</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2</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 </a:t>
            </a:r>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，至少精确到小数点后两位</a:t>
            </a:r>
            <a:endParaRPr lang="zh-CN" altLang="en-US">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18" name="文本框 320517"/>
          <p:cNvSpPr txBox="1"/>
          <p:nvPr/>
        </p:nvSpPr>
        <p:spPr>
          <a:xfrm>
            <a:off x="471805" y="969645"/>
            <a:ext cx="4800600" cy="460375"/>
          </a:xfrm>
          <a:prstGeom prst="rect">
            <a:avLst/>
          </a:prstGeom>
          <a:noFill/>
          <a:ln w="19050">
            <a:noFill/>
          </a:ln>
        </p:spPr>
        <p:txBody>
          <a:bodyPr>
            <a:spAutoFit/>
          </a:bodyPr>
          <a:p>
            <a:r>
              <a:rPr lang="zh-CN" altLang="en-US" sz="2400" dirty="0">
                <a:solidFill>
                  <a:schemeClr val="hlink"/>
                </a:solidFill>
                <a:latin typeface="黑体" panose="02010609060101010101" pitchFamily="49" charset="-122"/>
                <a:ea typeface="黑体" panose="02010609060101010101" pitchFamily="49" charset="-122"/>
                <a:cs typeface="黑体" panose="02010609060101010101" pitchFamily="49" charset="-122"/>
              </a:rPr>
              <a:t>设计出 </a:t>
            </a:r>
            <a:r>
              <a:rPr lang="en-US" altLang="zh-CN" sz="2400" i="1">
                <a:solidFill>
                  <a:schemeClr val="hlink"/>
                </a:solidFill>
                <a:latin typeface="黑体" panose="02010609060101010101" pitchFamily="49" charset="-122"/>
                <a:ea typeface="黑体" panose="02010609060101010101" pitchFamily="49" charset="-122"/>
                <a:cs typeface="黑体" panose="02010609060101010101" pitchFamily="49" charset="-122"/>
              </a:rPr>
              <a:t>d</a:t>
            </a:r>
            <a:r>
              <a:rPr lang="en-US" altLang="zh-CN" sz="2400" baseline="-25000">
                <a:solidFill>
                  <a:schemeClr val="hlink"/>
                </a:solidFill>
                <a:latin typeface="黑体" panose="02010609060101010101" pitchFamily="49" charset="-122"/>
                <a:ea typeface="黑体" panose="02010609060101010101" pitchFamily="49" charset="-122"/>
                <a:cs typeface="黑体" panose="02010609060101010101" pitchFamily="49" charset="-122"/>
              </a:rPr>
              <a:t>1 </a:t>
            </a:r>
            <a:r>
              <a:rPr lang="zh-CN" altLang="en-US" sz="2400" dirty="0">
                <a:solidFill>
                  <a:schemeClr val="hlink"/>
                </a:solidFill>
                <a:latin typeface="黑体" panose="02010609060101010101" pitchFamily="49" charset="-122"/>
                <a:ea typeface="黑体" panose="02010609060101010101" pitchFamily="49" charset="-122"/>
                <a:cs typeface="黑体" panose="02010609060101010101" pitchFamily="49" charset="-122"/>
              </a:rPr>
              <a:t>后，其他几何参数计算：</a:t>
            </a:r>
            <a:endParaRPr lang="zh-CN" altLang="en-US" sz="2400">
              <a:solidFill>
                <a:schemeClr val="hlink"/>
              </a:solidFill>
              <a:latin typeface="黑体" panose="02010609060101010101" pitchFamily="49" charset="-122"/>
              <a:ea typeface="黑体" panose="02010609060101010101" pitchFamily="49" charset="-122"/>
              <a:cs typeface="黑体" panose="02010609060101010101" pitchFamily="49" charset="-122"/>
            </a:endParaRPr>
          </a:p>
        </p:txBody>
      </p:sp>
      <p:sp>
        <p:nvSpPr>
          <p:cNvPr id="320519" name="燕尾形 320518"/>
          <p:cNvSpPr/>
          <p:nvPr/>
        </p:nvSpPr>
        <p:spPr>
          <a:xfrm>
            <a:off x="629285" y="1619250"/>
            <a:ext cx="381000" cy="228600"/>
          </a:xfrm>
          <a:prstGeom prst="chevron">
            <a:avLst>
              <a:gd name="adj" fmla="val 41666"/>
            </a:avLst>
          </a:prstGeom>
          <a:solidFill>
            <a:srgbClr val="33CCCC"/>
          </a:solidFill>
          <a:ln w="31750" cap="flat" cmpd="sng">
            <a:solidFill>
              <a:schemeClr val="bg2"/>
            </a:solidFill>
            <a:prstDash val="solid"/>
            <a:miter/>
            <a:headEnd type="none" w="med" len="med"/>
            <a:tailEnd type="none" w="med" len="med"/>
          </a:ln>
          <a:effectLst>
            <a:outerShdw dist="35921" dir="2699999" algn="ctr" rotWithShape="0">
              <a:srgbClr val="808080"/>
            </a:outerShdw>
          </a:effectLst>
        </p:spPr>
        <p:txBody>
          <a:bodyPr/>
          <a:p>
            <a:endParaRPr lang="zh-CN" altLang="en-US"/>
          </a:p>
        </p:txBody>
      </p:sp>
      <p:sp>
        <p:nvSpPr>
          <p:cNvPr id="320520" name="文本框 320519"/>
          <p:cNvSpPr txBox="1"/>
          <p:nvPr/>
        </p:nvSpPr>
        <p:spPr>
          <a:xfrm>
            <a:off x="1086485" y="1543050"/>
            <a:ext cx="6781800" cy="457200"/>
          </a:xfrm>
          <a:prstGeom prst="rect">
            <a:avLst/>
          </a:prstGeom>
          <a:noFill/>
          <a:ln w="9525">
            <a:noFill/>
          </a:ln>
        </p:spPr>
        <p:txBody>
          <a:bodyPr>
            <a:spAutoFit/>
          </a:bodyPr>
          <a:p>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初步选定齿数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z</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1</a:t>
            </a:r>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（闭式：</a:t>
            </a:r>
            <a:r>
              <a:rPr lang="en-US" altLang="zh-CN" dirty="0">
                <a:effectLst>
                  <a:outerShdw blurRad="38100" dist="38100" dir="2700000">
                    <a:srgbClr val="C0C0C0"/>
                  </a:outerShdw>
                </a:effectLst>
                <a:latin typeface="Times New Roman" panose="02020603050405020304" pitchFamily="18" charset="0"/>
                <a:ea typeface="黑体" panose="02010609060101010101" pitchFamily="49" charset="-122"/>
              </a:rPr>
              <a:t>20~40</a:t>
            </a:r>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；开式：</a:t>
            </a:r>
            <a:r>
              <a:rPr lang="en-US" altLang="zh-CN" dirty="0">
                <a:effectLst>
                  <a:outerShdw blurRad="38100" dist="38100" dir="2700000">
                    <a:srgbClr val="C0C0C0"/>
                  </a:outerShdw>
                </a:effectLst>
                <a:latin typeface="Times New Roman" panose="02020603050405020304" pitchFamily="18" charset="0"/>
                <a:ea typeface="黑体" panose="02010609060101010101" pitchFamily="49" charset="-122"/>
              </a:rPr>
              <a:t>17</a:t>
            </a:r>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a:t>
            </a:r>
            <a:r>
              <a:rPr lang="en-US" altLang="zh-CN" dirty="0">
                <a:effectLst>
                  <a:outerShdw blurRad="38100" dist="38100" dir="2700000">
                    <a:srgbClr val="C0C0C0"/>
                  </a:outerShdw>
                </a:effectLst>
                <a:latin typeface="Times New Roman" panose="02020603050405020304" pitchFamily="18" charset="0"/>
                <a:ea typeface="黑体" panose="02010609060101010101" pitchFamily="49" charset="-122"/>
              </a:rPr>
              <a:t>25</a:t>
            </a:r>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a:t>
            </a:r>
            <a:endPar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21" name="燕尾形 320520"/>
          <p:cNvSpPr/>
          <p:nvPr/>
        </p:nvSpPr>
        <p:spPr>
          <a:xfrm>
            <a:off x="629285" y="2152650"/>
            <a:ext cx="381000" cy="228600"/>
          </a:xfrm>
          <a:prstGeom prst="chevron">
            <a:avLst>
              <a:gd name="adj" fmla="val 41666"/>
            </a:avLst>
          </a:prstGeom>
          <a:solidFill>
            <a:srgbClr val="33CCCC"/>
          </a:solidFill>
          <a:ln w="31750" cap="flat" cmpd="sng">
            <a:solidFill>
              <a:schemeClr val="bg2"/>
            </a:solidFill>
            <a:prstDash val="solid"/>
            <a:miter/>
            <a:headEnd type="none" w="med" len="med"/>
            <a:tailEnd type="none" w="med" len="med"/>
          </a:ln>
          <a:effectLst>
            <a:outerShdw dist="35921" dir="2699999" algn="ctr" rotWithShape="0">
              <a:srgbClr val="808080"/>
            </a:outerShdw>
          </a:effectLst>
        </p:spPr>
        <p:txBody>
          <a:bodyPr/>
          <a:p>
            <a:endParaRPr lang="zh-CN" altLang="en-US"/>
          </a:p>
        </p:txBody>
      </p:sp>
      <p:sp>
        <p:nvSpPr>
          <p:cNvPr id="320522" name="文本框 320521"/>
          <p:cNvSpPr txBox="1"/>
          <p:nvPr/>
        </p:nvSpPr>
        <p:spPr>
          <a:xfrm>
            <a:off x="1086485" y="2076450"/>
            <a:ext cx="5181600" cy="457200"/>
          </a:xfrm>
          <a:prstGeom prst="rect">
            <a:avLst/>
          </a:prstGeom>
          <a:noFill/>
          <a:ln w="9525">
            <a:noFill/>
          </a:ln>
        </p:spPr>
        <p:txBody>
          <a:bodyPr>
            <a:spAutoFit/>
          </a:bodyPr>
          <a:p>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初步选定螺旋角 </a:t>
            </a:r>
            <a:r>
              <a:rPr lang="en-US" altLang="zh-CN" i="1">
                <a:effectLst>
                  <a:outerShdw blurRad="38100" dist="38100" dir="2700000">
                    <a:srgbClr val="C0C0C0"/>
                  </a:outerShdw>
                </a:effectLst>
                <a:latin typeface="Times New Roman" panose="02020603050405020304" pitchFamily="18" charset="0"/>
                <a:ea typeface="楷体_GB2312" pitchFamily="49" charset="-122"/>
              </a:rPr>
              <a:t>β</a:t>
            </a:r>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，常用</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10°~ 15°</a:t>
            </a:r>
            <a:endParaRPr lang="en-US" altLang="zh-CN">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23" name="燕尾形 320522"/>
          <p:cNvSpPr/>
          <p:nvPr/>
        </p:nvSpPr>
        <p:spPr>
          <a:xfrm>
            <a:off x="629285" y="2720975"/>
            <a:ext cx="381000" cy="228600"/>
          </a:xfrm>
          <a:prstGeom prst="chevron">
            <a:avLst>
              <a:gd name="adj" fmla="val 41666"/>
            </a:avLst>
          </a:prstGeom>
          <a:solidFill>
            <a:srgbClr val="33CCCC"/>
          </a:solidFill>
          <a:ln w="31750" cap="flat" cmpd="sng">
            <a:solidFill>
              <a:schemeClr val="bg2"/>
            </a:solidFill>
            <a:prstDash val="solid"/>
            <a:miter/>
            <a:headEnd type="none" w="med" len="med"/>
            <a:tailEnd type="none" w="med" len="med"/>
          </a:ln>
          <a:effectLst>
            <a:outerShdw dist="35921" dir="2699999" algn="ctr" rotWithShape="0">
              <a:srgbClr val="808080"/>
            </a:outerShdw>
          </a:effectLst>
        </p:spPr>
        <p:txBody>
          <a:bodyPr/>
          <a:p>
            <a:endParaRPr lang="zh-CN" altLang="en-US"/>
          </a:p>
        </p:txBody>
      </p:sp>
      <p:sp>
        <p:nvSpPr>
          <p:cNvPr id="320524" name="文本框 320523"/>
          <p:cNvSpPr txBox="1"/>
          <p:nvPr/>
        </p:nvSpPr>
        <p:spPr>
          <a:xfrm>
            <a:off x="1086485" y="2644775"/>
            <a:ext cx="3048000" cy="457200"/>
          </a:xfrm>
          <a:prstGeom prst="rect">
            <a:avLst/>
          </a:prstGeom>
          <a:noFill/>
          <a:ln w="9525">
            <a:noFill/>
          </a:ln>
        </p:spPr>
        <p:txBody>
          <a:bodyPr>
            <a:spAutoFit/>
          </a:bodyPr>
          <a:p>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计算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m</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n</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d</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1</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cos</a:t>
            </a:r>
            <a:r>
              <a:rPr lang="en-US" altLang="zh-CN" i="1">
                <a:effectLst>
                  <a:outerShdw blurRad="38100" dist="38100" dir="2700000">
                    <a:srgbClr val="C0C0C0"/>
                  </a:outerShdw>
                </a:effectLst>
                <a:latin typeface="Times New Roman" panose="02020603050405020304" pitchFamily="18" charset="0"/>
                <a:ea typeface="楷体_GB2312" pitchFamily="49" charset="-122"/>
              </a:rPr>
              <a:t>β</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/z</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1</a:t>
            </a:r>
            <a:r>
              <a:rPr lang="zh-CN" altLang="en-US">
                <a:effectLst>
                  <a:outerShdw blurRad="38100" dist="38100" dir="2700000">
                    <a:srgbClr val="C0C0C0"/>
                  </a:outerShdw>
                </a:effectLst>
                <a:latin typeface="Times New Roman" panose="02020603050405020304" pitchFamily="18" charset="0"/>
                <a:ea typeface="黑体" panose="02010609060101010101" pitchFamily="49" charset="-122"/>
              </a:rPr>
              <a:t>，</a:t>
            </a:r>
            <a:endParaRPr lang="zh-CN" altLang="en-US">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25" name="文本框 320524"/>
          <p:cNvSpPr txBox="1"/>
          <p:nvPr/>
        </p:nvSpPr>
        <p:spPr>
          <a:xfrm>
            <a:off x="3503295" y="2644775"/>
            <a:ext cx="4191000" cy="457200"/>
          </a:xfrm>
          <a:prstGeom prst="rect">
            <a:avLst/>
          </a:prstGeom>
          <a:noFill/>
          <a:ln w="9525">
            <a:noFill/>
          </a:ln>
        </p:spPr>
        <p:txBody>
          <a:bodyPr>
            <a:spAutoFit/>
          </a:bodyPr>
          <a:p>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向上圆整成标准值且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m</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n</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≥1.5</a:t>
            </a:r>
            <a:endParaRPr lang="en-US" altLang="zh-CN">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26" name="文本框 320525"/>
          <p:cNvSpPr txBox="1"/>
          <p:nvPr/>
        </p:nvSpPr>
        <p:spPr>
          <a:xfrm>
            <a:off x="1064895" y="3251200"/>
            <a:ext cx="6629400" cy="457200"/>
          </a:xfrm>
          <a:prstGeom prst="rect">
            <a:avLst/>
          </a:prstGeom>
          <a:noFill/>
          <a:ln w="9525">
            <a:noFill/>
          </a:ln>
        </p:spPr>
        <p:txBody>
          <a:bodyPr>
            <a:spAutoFit/>
          </a:bodyPr>
          <a:p>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计算中心距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a</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d</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1</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d</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2</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)/2=</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m</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n</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z</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1</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z</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2</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 (2cos</a:t>
            </a:r>
            <a:r>
              <a:rPr lang="en-US" altLang="zh-CN" i="1">
                <a:effectLst>
                  <a:outerShdw blurRad="38100" dist="38100" dir="2700000">
                    <a:srgbClr val="C0C0C0"/>
                  </a:outerShdw>
                </a:effectLst>
                <a:latin typeface="Times New Roman" panose="02020603050405020304" pitchFamily="18" charset="0"/>
                <a:ea typeface="楷体_GB2312" pitchFamily="49" charset="-122"/>
              </a:rPr>
              <a:t>β</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a:t>
            </a:r>
            <a:r>
              <a:rPr lang="zh-CN" altLang="en-US">
                <a:effectLst>
                  <a:outerShdw blurRad="38100" dist="38100" dir="2700000">
                    <a:srgbClr val="C0C0C0"/>
                  </a:outerShdw>
                </a:effectLst>
                <a:latin typeface="Times New Roman" panose="02020603050405020304" pitchFamily="18" charset="0"/>
                <a:ea typeface="黑体" panose="02010609060101010101" pitchFamily="49" charset="-122"/>
              </a:rPr>
              <a:t>，</a:t>
            </a:r>
            <a:endParaRPr lang="zh-CN" altLang="en-US">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27" name="文本框 320526"/>
          <p:cNvSpPr txBox="1"/>
          <p:nvPr/>
        </p:nvSpPr>
        <p:spPr>
          <a:xfrm>
            <a:off x="7050405" y="3213100"/>
            <a:ext cx="1219200" cy="457200"/>
          </a:xfrm>
          <a:prstGeom prst="rect">
            <a:avLst/>
          </a:prstGeom>
          <a:noFill/>
          <a:ln w="9525">
            <a:noFill/>
          </a:ln>
        </p:spPr>
        <p:txBody>
          <a:bodyPr>
            <a:spAutoFit/>
          </a:bodyPr>
          <a:p>
            <a:r>
              <a:rPr lang="zh-CN" altLang="en-US" dirty="0">
                <a:solidFill>
                  <a:srgbClr val="FF0000"/>
                </a:solidFill>
                <a:effectLst>
                  <a:outerShdw blurRad="38100" dist="38100" dir="2700000">
                    <a:srgbClr val="C0C0C0"/>
                  </a:outerShdw>
                </a:effectLst>
                <a:latin typeface="Times New Roman" panose="02020603050405020304" pitchFamily="18" charset="0"/>
                <a:ea typeface="黑体" panose="02010609060101010101" pitchFamily="49" charset="-122"/>
              </a:rPr>
              <a:t>并圆整</a:t>
            </a:r>
            <a:endParaRPr lang="zh-CN" altLang="en-US" dirty="0">
              <a:solidFill>
                <a:srgbClr val="FF0000"/>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28" name="燕尾形 320527"/>
          <p:cNvSpPr/>
          <p:nvPr/>
        </p:nvSpPr>
        <p:spPr>
          <a:xfrm>
            <a:off x="607695" y="3327400"/>
            <a:ext cx="381000" cy="228600"/>
          </a:xfrm>
          <a:prstGeom prst="chevron">
            <a:avLst>
              <a:gd name="adj" fmla="val 41666"/>
            </a:avLst>
          </a:prstGeom>
          <a:solidFill>
            <a:srgbClr val="33CCCC"/>
          </a:solidFill>
          <a:ln w="31750" cap="flat" cmpd="sng">
            <a:solidFill>
              <a:schemeClr val="bg2"/>
            </a:solidFill>
            <a:prstDash val="solid"/>
            <a:miter/>
            <a:headEnd type="none" w="med" len="med"/>
            <a:tailEnd type="none" w="med" len="med"/>
          </a:ln>
          <a:effectLst>
            <a:outerShdw dist="35921" dir="2699999" algn="ctr" rotWithShape="0">
              <a:srgbClr val="808080"/>
            </a:outerShdw>
          </a:effectLst>
        </p:spPr>
        <p:txBody>
          <a:bodyPr/>
          <a:p>
            <a:endParaRPr lang="zh-CN" altLang="en-US"/>
          </a:p>
        </p:txBody>
      </p:sp>
      <p:sp>
        <p:nvSpPr>
          <p:cNvPr id="320529" name="文本框 320528"/>
          <p:cNvSpPr txBox="1"/>
          <p:nvPr/>
        </p:nvSpPr>
        <p:spPr>
          <a:xfrm>
            <a:off x="1086485" y="3891915"/>
            <a:ext cx="4559300" cy="457200"/>
          </a:xfrm>
          <a:prstGeom prst="rect">
            <a:avLst/>
          </a:prstGeom>
          <a:noFill/>
          <a:ln w="9525">
            <a:noFill/>
          </a:ln>
        </p:spPr>
        <p:txBody>
          <a:bodyPr>
            <a:spAutoFit/>
          </a:bodyPr>
          <a:p>
            <a:r>
              <a:rPr lang="zh-CN" altLang="en-US" dirty="0">
                <a:effectLst>
                  <a:outerShdw blurRad="38100" dist="38100" dir="2700000">
                    <a:srgbClr val="C0C0C0"/>
                  </a:outerShdw>
                </a:effectLst>
                <a:latin typeface="Times New Roman" panose="02020603050405020304" pitchFamily="18" charset="0"/>
                <a:ea typeface="黑体" panose="02010609060101010101" pitchFamily="49" charset="-122"/>
              </a:rPr>
              <a:t>反算 </a:t>
            </a:r>
            <a:r>
              <a:rPr lang="en-US" altLang="zh-CN" i="1">
                <a:effectLst>
                  <a:outerShdw blurRad="38100" dist="38100" dir="2700000">
                    <a:srgbClr val="C0C0C0"/>
                  </a:outerShdw>
                </a:effectLst>
                <a:latin typeface="Times New Roman" panose="02020603050405020304" pitchFamily="18" charset="0"/>
                <a:ea typeface="楷体_GB2312" pitchFamily="49" charset="-122"/>
              </a:rPr>
              <a:t>β</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 = </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cos</a:t>
            </a:r>
            <a:r>
              <a:rPr lang="en-US" altLang="zh-CN" baseline="30000">
                <a:effectLst>
                  <a:outerShdw blurRad="38100" dist="38100" dir="2700000">
                    <a:srgbClr val="C0C0C0"/>
                  </a:outerShdw>
                </a:effectLst>
                <a:latin typeface="宋体" panose="02010600030101010101" pitchFamily="2" charset="-122"/>
                <a:ea typeface="宋体" panose="02010600030101010101" pitchFamily="2" charset="-122"/>
              </a:rPr>
              <a:t>-</a:t>
            </a:r>
            <a:r>
              <a:rPr lang="en-US" altLang="zh-CN" baseline="30000">
                <a:effectLst>
                  <a:outerShdw blurRad="38100" dist="38100" dir="2700000">
                    <a:srgbClr val="C0C0C0"/>
                  </a:outerShdw>
                </a:effectLst>
                <a:latin typeface="Times New Roman" panose="02020603050405020304" pitchFamily="18" charset="0"/>
                <a:ea typeface="黑体" panose="02010609060101010101" pitchFamily="49" charset="-122"/>
              </a:rPr>
              <a:t>1 </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m</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n</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z</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1</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 </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z</a:t>
            </a:r>
            <a:r>
              <a:rPr lang="en-US" altLang="zh-CN" baseline="-25000">
                <a:effectLst>
                  <a:outerShdw blurRad="38100" dist="38100" dir="2700000">
                    <a:srgbClr val="C0C0C0"/>
                  </a:outerShdw>
                </a:effectLst>
                <a:latin typeface="Times New Roman" panose="02020603050405020304" pitchFamily="18" charset="0"/>
                <a:ea typeface="黑体" panose="02010609060101010101" pitchFamily="49" charset="-122"/>
              </a:rPr>
              <a:t>2</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 / 2</a:t>
            </a:r>
            <a:r>
              <a:rPr lang="en-US" altLang="zh-CN" i="1">
                <a:effectLst>
                  <a:outerShdw blurRad="38100" dist="38100" dir="2700000">
                    <a:srgbClr val="C0C0C0"/>
                  </a:outerShdw>
                </a:effectLst>
                <a:latin typeface="Times New Roman" panose="02020603050405020304" pitchFamily="18" charset="0"/>
                <a:ea typeface="黑体" panose="02010609060101010101" pitchFamily="49" charset="-122"/>
              </a:rPr>
              <a:t>a </a:t>
            </a:r>
            <a:r>
              <a:rPr lang="en-US" altLang="zh-CN">
                <a:effectLst>
                  <a:outerShdw blurRad="38100" dist="38100" dir="2700000">
                    <a:srgbClr val="C0C0C0"/>
                  </a:outerShdw>
                </a:effectLst>
                <a:latin typeface="Times New Roman" panose="02020603050405020304" pitchFamily="18" charset="0"/>
                <a:ea typeface="黑体" panose="02010609060101010101" pitchFamily="49" charset="-122"/>
              </a:rPr>
              <a:t>]</a:t>
            </a:r>
            <a:r>
              <a:rPr lang="zh-CN" altLang="en-US">
                <a:effectLst>
                  <a:outerShdw blurRad="38100" dist="38100" dir="2700000">
                    <a:srgbClr val="C0C0C0"/>
                  </a:outerShdw>
                </a:effectLst>
                <a:latin typeface="Times New Roman" panose="02020603050405020304" pitchFamily="18" charset="0"/>
                <a:ea typeface="黑体" panose="02010609060101010101" pitchFamily="49" charset="-122"/>
              </a:rPr>
              <a:t>，</a:t>
            </a:r>
            <a:endParaRPr lang="zh-CN" altLang="en-US">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30" name="燕尾形 320529"/>
          <p:cNvSpPr/>
          <p:nvPr/>
        </p:nvSpPr>
        <p:spPr>
          <a:xfrm>
            <a:off x="629285" y="3968115"/>
            <a:ext cx="381000" cy="228600"/>
          </a:xfrm>
          <a:prstGeom prst="chevron">
            <a:avLst>
              <a:gd name="adj" fmla="val 41666"/>
            </a:avLst>
          </a:prstGeom>
          <a:solidFill>
            <a:srgbClr val="33CCCC"/>
          </a:solidFill>
          <a:ln w="31750" cap="flat" cmpd="sng">
            <a:solidFill>
              <a:schemeClr val="bg2"/>
            </a:solidFill>
            <a:prstDash val="solid"/>
            <a:miter/>
            <a:headEnd type="none" w="med" len="med"/>
            <a:tailEnd type="none" w="med" len="med"/>
          </a:ln>
          <a:effectLst>
            <a:outerShdw dist="35921" dir="2699999" algn="ctr" rotWithShape="0">
              <a:srgbClr val="808080"/>
            </a:outerShdw>
          </a:effectLst>
        </p:spPr>
        <p:txBody>
          <a:bodyPr/>
          <a:p>
            <a:endParaRPr lang="zh-CN" altLang="en-US"/>
          </a:p>
        </p:txBody>
      </p:sp>
      <p:sp>
        <p:nvSpPr>
          <p:cNvPr id="320531" name="文本框 320530"/>
          <p:cNvSpPr txBox="1"/>
          <p:nvPr/>
        </p:nvSpPr>
        <p:spPr>
          <a:xfrm>
            <a:off x="5445125" y="3891915"/>
            <a:ext cx="1524000" cy="457200"/>
          </a:xfrm>
          <a:prstGeom prst="rect">
            <a:avLst/>
          </a:prstGeom>
          <a:noFill/>
          <a:ln w="9525">
            <a:noFill/>
          </a:ln>
        </p:spPr>
        <p:txBody>
          <a:bodyPr>
            <a:spAutoFit/>
          </a:bodyPr>
          <a:p>
            <a:r>
              <a:rPr lang="zh-CN" altLang="en-US" dirty="0">
                <a:solidFill>
                  <a:srgbClr val="FF0000"/>
                </a:solidFill>
                <a:effectLst>
                  <a:outerShdw blurRad="38100" dist="38100" dir="2700000">
                    <a:srgbClr val="C0C0C0"/>
                  </a:outerShdw>
                </a:effectLst>
                <a:latin typeface="Times New Roman" panose="02020603050405020304" pitchFamily="18" charset="0"/>
                <a:ea typeface="黑体" panose="02010609060101010101" pitchFamily="49" charset="-122"/>
              </a:rPr>
              <a:t>精确到秒</a:t>
            </a:r>
            <a:endParaRPr lang="zh-CN" altLang="en-US" dirty="0">
              <a:solidFill>
                <a:srgbClr val="FF0000"/>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32" name="燕尾形 320531"/>
          <p:cNvSpPr/>
          <p:nvPr/>
        </p:nvSpPr>
        <p:spPr>
          <a:xfrm>
            <a:off x="638810" y="4525010"/>
            <a:ext cx="381000" cy="228600"/>
          </a:xfrm>
          <a:prstGeom prst="chevron">
            <a:avLst>
              <a:gd name="adj" fmla="val 41666"/>
            </a:avLst>
          </a:prstGeom>
          <a:solidFill>
            <a:srgbClr val="33CCCC"/>
          </a:solidFill>
          <a:ln w="31750" cap="flat" cmpd="sng">
            <a:solidFill>
              <a:schemeClr val="bg2"/>
            </a:solidFill>
            <a:prstDash val="solid"/>
            <a:miter/>
            <a:headEnd type="none" w="med" len="med"/>
            <a:tailEnd type="none" w="med" len="med"/>
          </a:ln>
          <a:effectLst>
            <a:outerShdw dist="35921" dir="2699999" algn="ctr" rotWithShape="0">
              <a:srgbClr val="808080"/>
            </a:outerShdw>
          </a:effectLst>
        </p:spPr>
        <p:txBody>
          <a:bodyPr/>
          <a:p>
            <a:endParaRPr lang="zh-CN" altLang="en-US"/>
          </a:p>
        </p:txBody>
      </p:sp>
      <p:graphicFrame>
        <p:nvGraphicFramePr>
          <p:cNvPr id="320533" name="对象 320532"/>
          <p:cNvGraphicFramePr/>
          <p:nvPr/>
        </p:nvGraphicFramePr>
        <p:xfrm>
          <a:off x="5182553" y="5131435"/>
          <a:ext cx="1662112" cy="711200"/>
        </p:xfrm>
        <a:graphic>
          <a:graphicData uri="http://schemas.openxmlformats.org/presentationml/2006/ole">
            <mc:AlternateContent xmlns:mc="http://schemas.openxmlformats.org/markup-compatibility/2006">
              <mc:Choice xmlns:v="urn:schemas-microsoft-com:vml" Requires="v">
                <p:oleObj spid="_x0000_s3085" name="" r:id="rId1" imgW="735965" imgH="393700" progId="Equation.3">
                  <p:embed/>
                </p:oleObj>
              </mc:Choice>
              <mc:Fallback>
                <p:oleObj name="" r:id="rId1" imgW="735965" imgH="393700" progId="Equation.3">
                  <p:embed/>
                  <p:pic>
                    <p:nvPicPr>
                      <p:cNvPr id="0" name="图片 3084"/>
                      <p:cNvPicPr/>
                      <p:nvPr/>
                    </p:nvPicPr>
                    <p:blipFill>
                      <a:blip r:embed="rId2"/>
                      <a:stretch>
                        <a:fillRect/>
                      </a:stretch>
                    </p:blipFill>
                    <p:spPr>
                      <a:xfrm>
                        <a:off x="5182553" y="5131435"/>
                        <a:ext cx="1662112" cy="711200"/>
                      </a:xfrm>
                      <a:prstGeom prst="rect">
                        <a:avLst/>
                      </a:prstGeom>
                      <a:noFill/>
                      <a:ln w="19050" cap="flat" cmpd="sng">
                        <a:solidFill>
                          <a:schemeClr val="hlink"/>
                        </a:solidFill>
                        <a:prstDash val="solid"/>
                        <a:miter/>
                        <a:headEnd type="none" w="med" len="med"/>
                        <a:tailEnd type="none" w="med" len="med"/>
                      </a:ln>
                    </p:spPr>
                  </p:pic>
                </p:oleObj>
              </mc:Fallback>
            </mc:AlternateContent>
          </a:graphicData>
        </a:graphic>
      </p:graphicFrame>
      <p:graphicFrame>
        <p:nvGraphicFramePr>
          <p:cNvPr id="320536" name="对象 320535"/>
          <p:cNvGraphicFramePr/>
          <p:nvPr/>
        </p:nvGraphicFramePr>
        <p:xfrm>
          <a:off x="2297748" y="5131435"/>
          <a:ext cx="1462087" cy="757238"/>
        </p:xfrm>
        <a:graphic>
          <a:graphicData uri="http://schemas.openxmlformats.org/presentationml/2006/ole">
            <mc:AlternateContent xmlns:mc="http://schemas.openxmlformats.org/markup-compatibility/2006">
              <mc:Choice xmlns:v="urn:schemas-microsoft-com:vml" Requires="v">
                <p:oleObj spid="_x0000_s3086" name="" r:id="rId3" imgW="647700" imgH="419100" progId="Equation.3">
                  <p:embed/>
                </p:oleObj>
              </mc:Choice>
              <mc:Fallback>
                <p:oleObj name="" r:id="rId3" imgW="647700" imgH="419100" progId="Equation.3">
                  <p:embed/>
                  <p:pic>
                    <p:nvPicPr>
                      <p:cNvPr id="0" name="图片 3085"/>
                      <p:cNvPicPr/>
                      <p:nvPr/>
                    </p:nvPicPr>
                    <p:blipFill>
                      <a:blip r:embed="rId4"/>
                      <a:stretch>
                        <a:fillRect/>
                      </a:stretch>
                    </p:blipFill>
                    <p:spPr>
                      <a:xfrm>
                        <a:off x="2297748" y="5131435"/>
                        <a:ext cx="1462087" cy="757238"/>
                      </a:xfrm>
                      <a:prstGeom prst="rect">
                        <a:avLst/>
                      </a:prstGeom>
                      <a:solidFill>
                        <a:srgbClr val="FFFFCC"/>
                      </a:solidFill>
                      <a:ln w="19050" cap="flat" cmpd="sng">
                        <a:solidFill>
                          <a:schemeClr val="hlink"/>
                        </a:solidFill>
                        <a:prstDash val="solid"/>
                        <a:miter/>
                        <a:headEnd type="none" w="med" len="med"/>
                        <a:tailEnd type="none" w="med" len="med"/>
                      </a:ln>
                    </p:spPr>
                  </p:pic>
                </p:oleObj>
              </mc:Fallback>
            </mc:AlternateContent>
          </a:graphicData>
        </a:graphic>
      </p:graphicFrame>
      <p:sp>
        <p:nvSpPr>
          <p:cNvPr id="320537" name="文本框 320536"/>
          <p:cNvSpPr txBox="1"/>
          <p:nvPr/>
        </p:nvSpPr>
        <p:spPr>
          <a:xfrm>
            <a:off x="1287463" y="5207635"/>
            <a:ext cx="1143000" cy="457200"/>
          </a:xfrm>
          <a:prstGeom prst="rect">
            <a:avLst/>
          </a:prstGeom>
          <a:noFill/>
          <a:ln w="9525">
            <a:noFill/>
          </a:ln>
        </p:spPr>
        <p:txBody>
          <a:bodyPr>
            <a:spAutoFit/>
          </a:bodyPr>
          <a:p>
            <a:r>
              <a:rPr lang="zh-CN" altLang="en-US" dirty="0">
                <a:solidFill>
                  <a:schemeClr val="hlink"/>
                </a:solidFill>
                <a:effectLst>
                  <a:outerShdw blurRad="38100" dist="38100" dir="2700000">
                    <a:srgbClr val="C0C0C0"/>
                  </a:outerShdw>
                </a:effectLst>
                <a:latin typeface="Times New Roman" panose="02020603050405020304" pitchFamily="18" charset="0"/>
                <a:ea typeface="黑体" panose="02010609060101010101" pitchFamily="49" charset="-122"/>
              </a:rPr>
              <a:t>注意：</a:t>
            </a:r>
            <a:endParaRPr lang="zh-CN" altLang="en-US">
              <a:solidFill>
                <a:schemeClr val="hlink"/>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20538" name="文本框 320537"/>
          <p:cNvSpPr txBox="1"/>
          <p:nvPr/>
        </p:nvSpPr>
        <p:spPr>
          <a:xfrm>
            <a:off x="4149090" y="5207635"/>
            <a:ext cx="1143000" cy="457200"/>
          </a:xfrm>
          <a:prstGeom prst="rect">
            <a:avLst/>
          </a:prstGeom>
          <a:noFill/>
          <a:ln w="9525">
            <a:noFill/>
          </a:ln>
        </p:spPr>
        <p:txBody>
          <a:bodyPr>
            <a:spAutoFit/>
          </a:bodyPr>
          <a:p>
            <a:r>
              <a:rPr lang="zh-CN" altLang="en-US" dirty="0">
                <a:solidFill>
                  <a:schemeClr val="hlink"/>
                </a:solidFill>
                <a:effectLst>
                  <a:outerShdw blurRad="38100" dist="38100" dir="2700000">
                    <a:srgbClr val="C0C0C0"/>
                  </a:outerShdw>
                </a:effectLst>
                <a:latin typeface="Times New Roman" panose="02020603050405020304" pitchFamily="18" charset="0"/>
                <a:ea typeface="黑体" panose="02010609060101010101" pitchFamily="49" charset="-122"/>
              </a:rPr>
              <a:t>应使：</a:t>
            </a:r>
            <a:endParaRPr lang="zh-CN" altLang="en-US" dirty="0">
              <a:solidFill>
                <a:schemeClr val="hlink"/>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4" name="Rectangle 4"/>
          <p:cNvSpPr>
            <a:spLocks noChangeArrowheads="1"/>
          </p:cNvSpPr>
          <p:nvPr/>
        </p:nvSpPr>
        <p:spPr bwMode="auto">
          <a:xfrm>
            <a:off x="2673033" y="235903"/>
            <a:ext cx="58515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207" name="直接连接符 6"/>
          <p:cNvSpPr>
            <a:spLocks noChangeShapeType="1"/>
          </p:cNvSpPr>
          <p:nvPr/>
        </p:nvSpPr>
        <p:spPr bwMode="auto">
          <a:xfrm>
            <a:off x="0" y="75628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iterate type="lt">
                                    <p:tmPct val="100000"/>
                                  </p:iterate>
                                  <p:childTnLst>
                                    <p:set>
                                      <p:cBhvr>
                                        <p:cTn id="6" dur="1" fill="hold">
                                          <p:stCondLst>
                                            <p:cond delay="0"/>
                                          </p:stCondLst>
                                        </p:cTn>
                                        <p:tgtEl>
                                          <p:spTgt spid="320518"/>
                                        </p:tgtEl>
                                        <p:attrNameLst>
                                          <p:attrName>style.visibility</p:attrName>
                                        </p:attrNameLst>
                                      </p:cBhvr>
                                      <p:to>
                                        <p:strVal val="visible"/>
                                      </p:to>
                                    </p:set>
                                    <p:anim calcmode="lin" valueType="num">
                                      <p:cBhvr>
                                        <p:cTn id="7" dur="75" fill="hold"/>
                                        <p:tgtEl>
                                          <p:spTgt spid="320518"/>
                                        </p:tgtEl>
                                        <p:attrNameLst>
                                          <p:attrName>ppt_w</p:attrName>
                                        </p:attrNameLst>
                                      </p:cBhvr>
                                      <p:tavLst>
                                        <p:tav tm="0">
                                          <p:val>
                                            <p:fltVal val="0.000000"/>
                                          </p:val>
                                        </p:tav>
                                        <p:tav tm="100000">
                                          <p:val>
                                            <p:strVal val="#ppt_w"/>
                                          </p:val>
                                        </p:tav>
                                      </p:tavLst>
                                    </p:anim>
                                    <p:anim calcmode="lin" valueType="num">
                                      <p:cBhvr>
                                        <p:cTn id="8" dur="75" fill="hold"/>
                                        <p:tgtEl>
                                          <p:spTgt spid="32051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320519"/>
                                        </p:tgtEl>
                                        <p:attrNameLst>
                                          <p:attrName>style.visibility</p:attrName>
                                        </p:attrNameLst>
                                      </p:cBhvr>
                                      <p:to>
                                        <p:strVal val="visible"/>
                                      </p:to>
                                    </p:set>
                                    <p:animEffect transition="in" filter="slide(fromLeft)">
                                      <p:cBhvr>
                                        <p:cTn id="13" dur="500"/>
                                        <p:tgtEl>
                                          <p:spTgt spid="320519"/>
                                        </p:tgtEl>
                                      </p:cBhvr>
                                    </p:animEffect>
                                  </p:childTnLst>
                                </p:cTn>
                              </p:par>
                            </p:childTnLst>
                          </p:cTn>
                        </p:par>
                        <p:par>
                          <p:cTn id="14" fill="hold">
                            <p:stCondLst>
                              <p:cond delay="500"/>
                            </p:stCondLst>
                            <p:childTnLst>
                              <p:par>
                                <p:cTn id="15" presetID="12" presetClass="entr" presetSubtype="8" fill="hold" grpId="0" nodeType="afterEffect">
                                  <p:stCondLst>
                                    <p:cond delay="0"/>
                                  </p:stCondLst>
                                  <p:iterate type="lt">
                                    <p:tmPct val="100000"/>
                                  </p:iterate>
                                  <p:childTnLst>
                                    <p:set>
                                      <p:cBhvr>
                                        <p:cTn id="16" dur="1" fill="hold">
                                          <p:stCondLst>
                                            <p:cond delay="0"/>
                                          </p:stCondLst>
                                        </p:cTn>
                                        <p:tgtEl>
                                          <p:spTgt spid="320520"/>
                                        </p:tgtEl>
                                        <p:attrNameLst>
                                          <p:attrName>style.visibility</p:attrName>
                                        </p:attrNameLst>
                                      </p:cBhvr>
                                      <p:to>
                                        <p:strVal val="visible"/>
                                      </p:to>
                                    </p:set>
                                    <p:animEffect transition="in" filter="slide(fromLeft)">
                                      <p:cBhvr>
                                        <p:cTn id="17" dur="75"/>
                                        <p:tgtEl>
                                          <p:spTgt spid="32052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320521"/>
                                        </p:tgtEl>
                                        <p:attrNameLst>
                                          <p:attrName>style.visibility</p:attrName>
                                        </p:attrNameLst>
                                      </p:cBhvr>
                                      <p:to>
                                        <p:strVal val="visible"/>
                                      </p:to>
                                    </p:set>
                                    <p:animEffect transition="in" filter="slide(fromLeft)">
                                      <p:cBhvr>
                                        <p:cTn id="22" dur="500"/>
                                        <p:tgtEl>
                                          <p:spTgt spid="320521"/>
                                        </p:tgtEl>
                                      </p:cBhvr>
                                    </p:animEffect>
                                  </p:childTnLst>
                                </p:cTn>
                              </p:par>
                            </p:childTnLst>
                          </p:cTn>
                        </p:par>
                        <p:par>
                          <p:cTn id="23" fill="hold">
                            <p:stCondLst>
                              <p:cond delay="500"/>
                            </p:stCondLst>
                            <p:childTnLst>
                              <p:par>
                                <p:cTn id="24" presetID="12" presetClass="entr" presetSubtype="8" fill="hold" grpId="0" nodeType="afterEffect">
                                  <p:stCondLst>
                                    <p:cond delay="0"/>
                                  </p:stCondLst>
                                  <p:iterate type="lt">
                                    <p:tmPct val="100000"/>
                                  </p:iterate>
                                  <p:childTnLst>
                                    <p:set>
                                      <p:cBhvr>
                                        <p:cTn id="25" dur="1" fill="hold">
                                          <p:stCondLst>
                                            <p:cond delay="0"/>
                                          </p:stCondLst>
                                        </p:cTn>
                                        <p:tgtEl>
                                          <p:spTgt spid="320522"/>
                                        </p:tgtEl>
                                        <p:attrNameLst>
                                          <p:attrName>style.visibility</p:attrName>
                                        </p:attrNameLst>
                                      </p:cBhvr>
                                      <p:to>
                                        <p:strVal val="visible"/>
                                      </p:to>
                                    </p:set>
                                    <p:animEffect transition="in" filter="slide(fromLeft)">
                                      <p:cBhvr>
                                        <p:cTn id="26" dur="75"/>
                                        <p:tgtEl>
                                          <p:spTgt spid="320522"/>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320523"/>
                                        </p:tgtEl>
                                        <p:attrNameLst>
                                          <p:attrName>style.visibility</p:attrName>
                                        </p:attrNameLst>
                                      </p:cBhvr>
                                      <p:to>
                                        <p:strVal val="visible"/>
                                      </p:to>
                                    </p:set>
                                    <p:animEffect transition="in" filter="slide(fromLeft)">
                                      <p:cBhvr>
                                        <p:cTn id="31" dur="500"/>
                                        <p:tgtEl>
                                          <p:spTgt spid="320523"/>
                                        </p:tgtEl>
                                      </p:cBhvr>
                                    </p:animEffect>
                                  </p:childTnLst>
                                </p:cTn>
                              </p:par>
                            </p:childTnLst>
                          </p:cTn>
                        </p:par>
                        <p:par>
                          <p:cTn id="32" fill="hold">
                            <p:stCondLst>
                              <p:cond delay="500"/>
                            </p:stCondLst>
                            <p:childTnLst>
                              <p:par>
                                <p:cTn id="33" presetID="12" presetClass="entr" presetSubtype="8" fill="hold" grpId="0" nodeType="afterEffect">
                                  <p:stCondLst>
                                    <p:cond delay="0"/>
                                  </p:stCondLst>
                                  <p:iterate type="lt">
                                    <p:tmPct val="100000"/>
                                  </p:iterate>
                                  <p:childTnLst>
                                    <p:set>
                                      <p:cBhvr>
                                        <p:cTn id="34" dur="1" fill="hold">
                                          <p:stCondLst>
                                            <p:cond delay="0"/>
                                          </p:stCondLst>
                                        </p:cTn>
                                        <p:tgtEl>
                                          <p:spTgt spid="320524"/>
                                        </p:tgtEl>
                                        <p:attrNameLst>
                                          <p:attrName>style.visibility</p:attrName>
                                        </p:attrNameLst>
                                      </p:cBhvr>
                                      <p:to>
                                        <p:strVal val="visible"/>
                                      </p:to>
                                    </p:set>
                                    <p:animEffect transition="in" filter="slide(fromLeft)">
                                      <p:cBhvr>
                                        <p:cTn id="35" dur="75"/>
                                        <p:tgtEl>
                                          <p:spTgt spid="320524"/>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grpId="0" nodeType="clickEffect">
                                  <p:stCondLst>
                                    <p:cond delay="0"/>
                                  </p:stCondLst>
                                  <p:iterate type="lt">
                                    <p:tmPct val="100000"/>
                                  </p:iterate>
                                  <p:childTnLst>
                                    <p:set>
                                      <p:cBhvr>
                                        <p:cTn id="39" dur="1" fill="hold">
                                          <p:stCondLst>
                                            <p:cond delay="0"/>
                                          </p:stCondLst>
                                        </p:cTn>
                                        <p:tgtEl>
                                          <p:spTgt spid="320525"/>
                                        </p:tgtEl>
                                        <p:attrNameLst>
                                          <p:attrName>style.visibility</p:attrName>
                                        </p:attrNameLst>
                                      </p:cBhvr>
                                      <p:to>
                                        <p:strVal val="visible"/>
                                      </p:to>
                                    </p:set>
                                    <p:animEffect transition="in" filter="slide(fromLeft)">
                                      <p:cBhvr>
                                        <p:cTn id="40" dur="75"/>
                                        <p:tgtEl>
                                          <p:spTgt spid="320525"/>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320528"/>
                                        </p:tgtEl>
                                        <p:attrNameLst>
                                          <p:attrName>style.visibility</p:attrName>
                                        </p:attrNameLst>
                                      </p:cBhvr>
                                      <p:to>
                                        <p:strVal val="visible"/>
                                      </p:to>
                                    </p:set>
                                    <p:animEffect transition="in" filter="slide(fromLeft)">
                                      <p:cBhvr>
                                        <p:cTn id="45" dur="500"/>
                                        <p:tgtEl>
                                          <p:spTgt spid="320528"/>
                                        </p:tgtEl>
                                      </p:cBhvr>
                                    </p:animEffect>
                                  </p:childTnLst>
                                </p:cTn>
                              </p:par>
                            </p:childTnLst>
                          </p:cTn>
                        </p:par>
                        <p:par>
                          <p:cTn id="46" fill="hold">
                            <p:stCondLst>
                              <p:cond delay="500"/>
                            </p:stCondLst>
                            <p:childTnLst>
                              <p:par>
                                <p:cTn id="47" presetID="12" presetClass="entr" presetSubtype="8" fill="hold" grpId="0" nodeType="afterEffect">
                                  <p:stCondLst>
                                    <p:cond delay="0"/>
                                  </p:stCondLst>
                                  <p:iterate type="lt">
                                    <p:tmPct val="100000"/>
                                  </p:iterate>
                                  <p:childTnLst>
                                    <p:set>
                                      <p:cBhvr>
                                        <p:cTn id="48" dur="1" fill="hold">
                                          <p:stCondLst>
                                            <p:cond delay="0"/>
                                          </p:stCondLst>
                                        </p:cTn>
                                        <p:tgtEl>
                                          <p:spTgt spid="320526"/>
                                        </p:tgtEl>
                                        <p:attrNameLst>
                                          <p:attrName>style.visibility</p:attrName>
                                        </p:attrNameLst>
                                      </p:cBhvr>
                                      <p:to>
                                        <p:strVal val="visible"/>
                                      </p:to>
                                    </p:set>
                                    <p:animEffect transition="in" filter="slide(fromLeft)">
                                      <p:cBhvr>
                                        <p:cTn id="49" dur="75"/>
                                        <p:tgtEl>
                                          <p:spTgt spid="320526"/>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8" fill="hold" grpId="0" nodeType="clickEffect">
                                  <p:stCondLst>
                                    <p:cond delay="0"/>
                                  </p:stCondLst>
                                  <p:iterate type="lt">
                                    <p:tmPct val="100000"/>
                                  </p:iterate>
                                  <p:childTnLst>
                                    <p:set>
                                      <p:cBhvr>
                                        <p:cTn id="53" dur="1" fill="hold">
                                          <p:stCondLst>
                                            <p:cond delay="0"/>
                                          </p:stCondLst>
                                        </p:cTn>
                                        <p:tgtEl>
                                          <p:spTgt spid="320527"/>
                                        </p:tgtEl>
                                        <p:attrNameLst>
                                          <p:attrName>style.visibility</p:attrName>
                                        </p:attrNameLst>
                                      </p:cBhvr>
                                      <p:to>
                                        <p:strVal val="visible"/>
                                      </p:to>
                                    </p:set>
                                    <p:animEffect transition="in" filter="slide(fromLeft)">
                                      <p:cBhvr>
                                        <p:cTn id="54" dur="75"/>
                                        <p:tgtEl>
                                          <p:spTgt spid="320527"/>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8" fill="hold" nodeType="clickEffect">
                                  <p:stCondLst>
                                    <p:cond delay="0"/>
                                  </p:stCondLst>
                                  <p:childTnLst>
                                    <p:set>
                                      <p:cBhvr>
                                        <p:cTn id="58" dur="1" fill="hold">
                                          <p:stCondLst>
                                            <p:cond delay="0"/>
                                          </p:stCondLst>
                                        </p:cTn>
                                        <p:tgtEl>
                                          <p:spTgt spid="320530"/>
                                        </p:tgtEl>
                                        <p:attrNameLst>
                                          <p:attrName>style.visibility</p:attrName>
                                        </p:attrNameLst>
                                      </p:cBhvr>
                                      <p:to>
                                        <p:strVal val="visible"/>
                                      </p:to>
                                    </p:set>
                                    <p:animEffect transition="in" filter="slide(fromLeft)">
                                      <p:cBhvr>
                                        <p:cTn id="59" dur="500"/>
                                        <p:tgtEl>
                                          <p:spTgt spid="320530"/>
                                        </p:tgtEl>
                                      </p:cBhvr>
                                    </p:animEffect>
                                  </p:childTnLst>
                                </p:cTn>
                              </p:par>
                            </p:childTnLst>
                          </p:cTn>
                        </p:par>
                        <p:par>
                          <p:cTn id="60" fill="hold">
                            <p:stCondLst>
                              <p:cond delay="500"/>
                            </p:stCondLst>
                            <p:childTnLst>
                              <p:par>
                                <p:cTn id="61" presetID="12" presetClass="entr" presetSubtype="8" fill="hold" grpId="0" nodeType="afterEffect">
                                  <p:stCondLst>
                                    <p:cond delay="0"/>
                                  </p:stCondLst>
                                  <p:iterate type="lt">
                                    <p:tmPct val="100000"/>
                                  </p:iterate>
                                  <p:childTnLst>
                                    <p:set>
                                      <p:cBhvr>
                                        <p:cTn id="62" dur="1" fill="hold">
                                          <p:stCondLst>
                                            <p:cond delay="0"/>
                                          </p:stCondLst>
                                        </p:cTn>
                                        <p:tgtEl>
                                          <p:spTgt spid="320529"/>
                                        </p:tgtEl>
                                        <p:attrNameLst>
                                          <p:attrName>style.visibility</p:attrName>
                                        </p:attrNameLst>
                                      </p:cBhvr>
                                      <p:to>
                                        <p:strVal val="visible"/>
                                      </p:to>
                                    </p:set>
                                    <p:animEffect transition="in" filter="slide(fromLeft)">
                                      <p:cBhvr>
                                        <p:cTn id="63" dur="75"/>
                                        <p:tgtEl>
                                          <p:spTgt spid="320529"/>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grpId="0" nodeType="clickEffect">
                                  <p:stCondLst>
                                    <p:cond delay="0"/>
                                  </p:stCondLst>
                                  <p:iterate type="lt">
                                    <p:tmPct val="100000"/>
                                  </p:iterate>
                                  <p:childTnLst>
                                    <p:set>
                                      <p:cBhvr>
                                        <p:cTn id="67" dur="1" fill="hold">
                                          <p:stCondLst>
                                            <p:cond delay="0"/>
                                          </p:stCondLst>
                                        </p:cTn>
                                        <p:tgtEl>
                                          <p:spTgt spid="320531"/>
                                        </p:tgtEl>
                                        <p:attrNameLst>
                                          <p:attrName>style.visibility</p:attrName>
                                        </p:attrNameLst>
                                      </p:cBhvr>
                                      <p:to>
                                        <p:strVal val="visible"/>
                                      </p:to>
                                    </p:set>
                                    <p:animEffect transition="in" filter="slide(fromLeft)">
                                      <p:cBhvr>
                                        <p:cTn id="68" dur="75"/>
                                        <p:tgtEl>
                                          <p:spTgt spid="320531"/>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8" fill="hold" nodeType="clickEffect">
                                  <p:stCondLst>
                                    <p:cond delay="0"/>
                                  </p:stCondLst>
                                  <p:childTnLst>
                                    <p:set>
                                      <p:cBhvr>
                                        <p:cTn id="72" dur="1" fill="hold">
                                          <p:stCondLst>
                                            <p:cond delay="0"/>
                                          </p:stCondLst>
                                        </p:cTn>
                                        <p:tgtEl>
                                          <p:spTgt spid="320532"/>
                                        </p:tgtEl>
                                        <p:attrNameLst>
                                          <p:attrName>style.visibility</p:attrName>
                                        </p:attrNameLst>
                                      </p:cBhvr>
                                      <p:to>
                                        <p:strVal val="visible"/>
                                      </p:to>
                                    </p:set>
                                    <p:animEffect transition="in" filter="slide(fromLeft)">
                                      <p:cBhvr>
                                        <p:cTn id="73" dur="500"/>
                                        <p:tgtEl>
                                          <p:spTgt spid="320532"/>
                                        </p:tgtEl>
                                      </p:cBhvr>
                                    </p:animEffect>
                                  </p:childTnLst>
                                </p:cTn>
                              </p:par>
                            </p:childTnLst>
                          </p:cTn>
                        </p:par>
                        <p:par>
                          <p:cTn id="74" fill="hold">
                            <p:stCondLst>
                              <p:cond delay="500"/>
                            </p:stCondLst>
                            <p:childTnLst>
                              <p:par>
                                <p:cTn id="75" presetID="12" presetClass="entr" presetSubtype="8" fill="hold" grpId="0" nodeType="afterEffect">
                                  <p:stCondLst>
                                    <p:cond delay="0"/>
                                  </p:stCondLst>
                                  <p:iterate type="lt">
                                    <p:tmPct val="100000"/>
                                  </p:iterate>
                                  <p:childTnLst>
                                    <p:set>
                                      <p:cBhvr>
                                        <p:cTn id="76" dur="1" fill="hold">
                                          <p:stCondLst>
                                            <p:cond delay="0"/>
                                          </p:stCondLst>
                                        </p:cTn>
                                        <p:tgtEl>
                                          <p:spTgt spid="320517"/>
                                        </p:tgtEl>
                                        <p:attrNameLst>
                                          <p:attrName>style.visibility</p:attrName>
                                        </p:attrNameLst>
                                      </p:cBhvr>
                                      <p:to>
                                        <p:strVal val="visible"/>
                                      </p:to>
                                    </p:set>
                                    <p:animEffect transition="in" filter="slide(fromLeft)">
                                      <p:cBhvr>
                                        <p:cTn id="77" dur="75"/>
                                        <p:tgtEl>
                                          <p:spTgt spid="320517"/>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8" fill="hold" grpId="0" nodeType="clickEffect">
                                  <p:stCondLst>
                                    <p:cond delay="0"/>
                                  </p:stCondLst>
                                  <p:iterate type="lt">
                                    <p:tmPct val="100000"/>
                                  </p:iterate>
                                  <p:childTnLst>
                                    <p:set>
                                      <p:cBhvr>
                                        <p:cTn id="81" dur="1" fill="hold">
                                          <p:stCondLst>
                                            <p:cond delay="0"/>
                                          </p:stCondLst>
                                        </p:cTn>
                                        <p:tgtEl>
                                          <p:spTgt spid="320537"/>
                                        </p:tgtEl>
                                        <p:attrNameLst>
                                          <p:attrName>style.visibility</p:attrName>
                                        </p:attrNameLst>
                                      </p:cBhvr>
                                      <p:to>
                                        <p:strVal val="visible"/>
                                      </p:to>
                                    </p:set>
                                    <p:animEffect transition="in" filter="slide(fromLeft)">
                                      <p:cBhvr>
                                        <p:cTn id="82" dur="75"/>
                                        <p:tgtEl>
                                          <p:spTgt spid="320537"/>
                                        </p:tgtEl>
                                      </p:cBhvr>
                                    </p:animEffect>
                                  </p:childTnLst>
                                </p:cTn>
                              </p:par>
                            </p:childTnLst>
                          </p:cTn>
                        </p:par>
                        <p:par>
                          <p:cTn id="83" fill="hold">
                            <p:stCondLst>
                              <p:cond delay="225"/>
                            </p:stCondLst>
                            <p:childTnLst>
                              <p:par>
                                <p:cTn id="84" presetID="22" presetClass="entr" presetSubtype="8" fill="hold" nodeType="afterEffect">
                                  <p:stCondLst>
                                    <p:cond delay="0"/>
                                  </p:stCondLst>
                                  <p:childTnLst>
                                    <p:set>
                                      <p:cBhvr>
                                        <p:cTn id="85" dur="1" fill="hold">
                                          <p:stCondLst>
                                            <p:cond delay="0"/>
                                          </p:stCondLst>
                                        </p:cTn>
                                        <p:tgtEl>
                                          <p:spTgt spid="320536"/>
                                        </p:tgtEl>
                                        <p:attrNameLst>
                                          <p:attrName>style.visibility</p:attrName>
                                        </p:attrNameLst>
                                      </p:cBhvr>
                                      <p:to>
                                        <p:strVal val="visible"/>
                                      </p:to>
                                    </p:set>
                                    <p:animEffect transition="in" filter="wipe(left)">
                                      <p:cBhvr>
                                        <p:cTn id="86" dur="500"/>
                                        <p:tgtEl>
                                          <p:spTgt spid="320536"/>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8" fill="hold" grpId="0" nodeType="clickEffect">
                                  <p:stCondLst>
                                    <p:cond delay="0"/>
                                  </p:stCondLst>
                                  <p:iterate type="lt">
                                    <p:tmPct val="100000"/>
                                  </p:iterate>
                                  <p:childTnLst>
                                    <p:set>
                                      <p:cBhvr>
                                        <p:cTn id="90" dur="1" fill="hold">
                                          <p:stCondLst>
                                            <p:cond delay="0"/>
                                          </p:stCondLst>
                                        </p:cTn>
                                        <p:tgtEl>
                                          <p:spTgt spid="320538"/>
                                        </p:tgtEl>
                                        <p:attrNameLst>
                                          <p:attrName>style.visibility</p:attrName>
                                        </p:attrNameLst>
                                      </p:cBhvr>
                                      <p:to>
                                        <p:strVal val="visible"/>
                                      </p:to>
                                    </p:set>
                                    <p:animEffect transition="in" filter="slide(fromLeft)">
                                      <p:cBhvr>
                                        <p:cTn id="91" dur="75"/>
                                        <p:tgtEl>
                                          <p:spTgt spid="320538"/>
                                        </p:tgtEl>
                                      </p:cBhvr>
                                    </p:animEffect>
                                  </p:childTnLst>
                                </p:cTn>
                              </p:par>
                            </p:childTnLst>
                          </p:cTn>
                        </p:par>
                        <p:par>
                          <p:cTn id="92" fill="hold">
                            <p:stCondLst>
                              <p:cond delay="225"/>
                            </p:stCondLst>
                            <p:childTnLst>
                              <p:par>
                                <p:cTn id="93" presetID="22" presetClass="entr" presetSubtype="8" fill="hold" nodeType="afterEffect">
                                  <p:stCondLst>
                                    <p:cond delay="0"/>
                                  </p:stCondLst>
                                  <p:childTnLst>
                                    <p:set>
                                      <p:cBhvr>
                                        <p:cTn id="94" dur="1" fill="hold">
                                          <p:stCondLst>
                                            <p:cond delay="0"/>
                                          </p:stCondLst>
                                        </p:cTn>
                                        <p:tgtEl>
                                          <p:spTgt spid="320533"/>
                                        </p:tgtEl>
                                        <p:attrNameLst>
                                          <p:attrName>style.visibility</p:attrName>
                                        </p:attrNameLst>
                                      </p:cBhvr>
                                      <p:to>
                                        <p:strVal val="visible"/>
                                      </p:to>
                                    </p:set>
                                    <p:animEffect transition="in" filter="wipe(left)">
                                      <p:cBhvr>
                                        <p:cTn id="95" dur="500"/>
                                        <p:tgtEl>
                                          <p:spTgt spid="320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7" grpId="0"/>
      <p:bldP spid="320518" grpId="0"/>
      <p:bldP spid="320520" grpId="0"/>
      <p:bldP spid="320522" grpId="0"/>
      <p:bldP spid="320524" grpId="0"/>
      <p:bldP spid="320525" grpId="0"/>
      <p:bldP spid="320526" grpId="0"/>
      <p:bldP spid="320527" grpId="0"/>
      <p:bldP spid="320529" grpId="0"/>
      <p:bldP spid="320531" grpId="0"/>
      <p:bldP spid="320537" grpId="0"/>
      <p:bldP spid="32053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27652"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27653"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27655"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27656"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7658"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7659" name="文本框 1"/>
          <p:cNvSpPr txBox="1"/>
          <p:nvPr/>
        </p:nvSpPr>
        <p:spPr>
          <a:xfrm>
            <a:off x="6218873" y="6180773"/>
            <a:ext cx="2817812" cy="338137"/>
          </a:xfrm>
          <a:prstGeom prst="rect">
            <a:avLst/>
          </a:prstGeom>
          <a:noFill/>
          <a:ln w="9525">
            <a:noFill/>
          </a:ln>
        </p:spPr>
        <p:txBody>
          <a:bodyPr wrap="none">
            <a:spAutoFit/>
          </a:bodyPr>
          <a:p>
            <a:r>
              <a:rPr lang="zh-CN" altLang="en-US" sz="1600" dirty="0">
                <a:latin typeface="Times New Roman" panose="02020603050405020304" pitchFamily="18" charset="0"/>
              </a:rPr>
              <a:t>图</a:t>
            </a:r>
            <a:r>
              <a:rPr lang="en-US" altLang="zh-CN" sz="1600" dirty="0">
                <a:latin typeface="Times New Roman" panose="02020603050405020304" pitchFamily="18" charset="0"/>
              </a:rPr>
              <a:t>3.4-15 </a:t>
            </a:r>
            <a:r>
              <a:rPr lang="zh-CN" altLang="zh-CN" sz="1600" dirty="0">
                <a:latin typeface="Times New Roman" panose="02020603050405020304" pitchFamily="18" charset="0"/>
              </a:rPr>
              <a:t>齿</a:t>
            </a:r>
            <a:r>
              <a:rPr lang="zh-CN" altLang="en-US" sz="1600" dirty="0">
                <a:latin typeface="Times New Roman" panose="02020603050405020304" pitchFamily="18" charset="0"/>
              </a:rPr>
              <a:t>根危险截面的应力</a:t>
            </a:r>
            <a:endParaRPr lang="zh-CN" altLang="zh-CN" sz="1600" dirty="0">
              <a:latin typeface="Times New Roman" panose="02020603050405020304" pitchFamily="18" charset="0"/>
            </a:endParaRPr>
          </a:p>
        </p:txBody>
      </p:sp>
      <p:sp>
        <p:nvSpPr>
          <p:cNvPr id="27660" name="文本框 2"/>
          <p:cNvSpPr txBox="1"/>
          <p:nvPr/>
        </p:nvSpPr>
        <p:spPr>
          <a:xfrm>
            <a:off x="396875" y="895350"/>
            <a:ext cx="4696460" cy="460375"/>
          </a:xfrm>
          <a:prstGeom prst="rect">
            <a:avLst/>
          </a:prstGeom>
          <a:noFill/>
          <a:ln w="9525">
            <a:noFill/>
          </a:ln>
        </p:spPr>
        <p:txBody>
          <a:bodyPr wrap="square">
            <a:spAutoFit/>
          </a:bodyPr>
          <a:p>
            <a:r>
              <a:rPr lang="zh-CN" altLang="zh-CN" sz="2400" dirty="0">
                <a:solidFill>
                  <a:srgbClr val="C00000"/>
                </a:solidFill>
                <a:latin typeface="黑体" panose="02010609060101010101" pitchFamily="49" charset="-122"/>
                <a:ea typeface="黑体" panose="02010609060101010101" pitchFamily="49" charset="-122"/>
              </a:rPr>
              <a:t>五、齿</a:t>
            </a:r>
            <a:r>
              <a:rPr lang="zh-CN" altLang="en-US" sz="2400" dirty="0">
                <a:solidFill>
                  <a:srgbClr val="C00000"/>
                </a:solidFill>
                <a:latin typeface="黑体" panose="02010609060101010101" pitchFamily="49" charset="-122"/>
                <a:ea typeface="黑体" panose="02010609060101010101" pitchFamily="49" charset="-122"/>
              </a:rPr>
              <a:t>根弯曲</a:t>
            </a:r>
            <a:r>
              <a:rPr lang="zh-CN" altLang="zh-CN" sz="2400" dirty="0">
                <a:solidFill>
                  <a:srgbClr val="C00000"/>
                </a:solidFill>
                <a:latin typeface="黑体" panose="02010609060101010101" pitchFamily="49" charset="-122"/>
                <a:ea typeface="黑体" panose="02010609060101010101" pitchFamily="49" charset="-122"/>
              </a:rPr>
              <a:t>疲劳强度计算</a:t>
            </a:r>
            <a:endParaRPr lang="zh-CN" altLang="zh-CN" sz="2400" dirty="0">
              <a:solidFill>
                <a:srgbClr val="C00000"/>
              </a:solidFill>
              <a:latin typeface="黑体" panose="02010609060101010101" pitchFamily="49" charset="-122"/>
              <a:ea typeface="黑体" panose="02010609060101010101" pitchFamily="49" charset="-122"/>
            </a:endParaRPr>
          </a:p>
        </p:txBody>
      </p:sp>
      <p:sp>
        <p:nvSpPr>
          <p:cNvPr id="27661" name="文本框 3"/>
          <p:cNvSpPr txBox="1"/>
          <p:nvPr/>
        </p:nvSpPr>
        <p:spPr>
          <a:xfrm>
            <a:off x="407035" y="1802130"/>
            <a:ext cx="6865620" cy="1014730"/>
          </a:xfrm>
          <a:prstGeom prst="rect">
            <a:avLst/>
          </a:prstGeom>
          <a:noFill/>
          <a:ln w="9525">
            <a:noFill/>
          </a:ln>
        </p:spPr>
        <p:txBody>
          <a:bodyPr wrap="square">
            <a:spAutoFit/>
          </a:bodyPr>
          <a:p>
            <a:pPr>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计算轮齿</a:t>
            </a:r>
            <a:r>
              <a:rPr lang="zh-CN" altLang="en-US" dirty="0">
                <a:latin typeface="Times New Roman" panose="02020603050405020304" pitchFamily="18" charset="0"/>
              </a:rPr>
              <a:t>的</a:t>
            </a:r>
            <a:r>
              <a:rPr lang="zh-CN" altLang="zh-CN" dirty="0">
                <a:latin typeface="Times New Roman" panose="02020603050405020304" pitchFamily="18" charset="0"/>
              </a:rPr>
              <a:t>弯曲强度时，把轮</a:t>
            </a:r>
            <a:r>
              <a:rPr lang="zh-CN" altLang="en-US" dirty="0">
                <a:latin typeface="Times New Roman" panose="02020603050405020304" pitchFamily="18" charset="0"/>
              </a:rPr>
              <a:t>齿</a:t>
            </a:r>
            <a:r>
              <a:rPr lang="zh-CN" altLang="zh-CN" dirty="0">
                <a:latin typeface="Times New Roman" panose="02020603050405020304" pitchFamily="18" charset="0"/>
              </a:rPr>
              <a:t>看作是一个宽度为</a:t>
            </a:r>
            <a:r>
              <a:rPr lang="en-US" altLang="zh-CN" dirty="0">
                <a:latin typeface="Times New Roman" panose="02020603050405020304" pitchFamily="18" charset="0"/>
              </a:rPr>
              <a:t>b</a:t>
            </a:r>
            <a:r>
              <a:rPr lang="zh-CN" altLang="zh-CN" dirty="0">
                <a:latin typeface="Times New Roman" panose="02020603050405020304" pitchFamily="18" charset="0"/>
              </a:rPr>
              <a:t>的悬臂梁</a:t>
            </a:r>
            <a:r>
              <a:rPr lang="zh-CN" altLang="en-US" dirty="0">
                <a:latin typeface="Times New Roman" panose="02020603050405020304" pitchFamily="18" charset="0"/>
              </a:rPr>
              <a:t>，如下图</a:t>
            </a:r>
            <a:r>
              <a:rPr lang="zh-CN" altLang="zh-CN" dirty="0">
                <a:latin typeface="Times New Roman" panose="02020603050405020304" pitchFamily="18" charset="0"/>
              </a:rPr>
              <a:t>。</a:t>
            </a:r>
            <a:endParaRPr lang="zh-CN" altLang="zh-CN" dirty="0">
              <a:latin typeface="Times New Roman" panose="02020603050405020304" pitchFamily="18" charset="0"/>
            </a:endParaRPr>
          </a:p>
        </p:txBody>
      </p:sp>
      <p:sp>
        <p:nvSpPr>
          <p:cNvPr id="27662" name="Rectangle 2"/>
          <p:cNvSpPr/>
          <p:nvPr/>
        </p:nvSpPr>
        <p:spPr>
          <a:xfrm>
            <a:off x="2971800" y="2633663"/>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pic>
        <p:nvPicPr>
          <p:cNvPr id="27664" name="图片 19"/>
          <p:cNvPicPr>
            <a:picLocks noChangeAspect="1"/>
          </p:cNvPicPr>
          <p:nvPr/>
        </p:nvPicPr>
        <p:blipFill>
          <a:blip r:embed="rId4"/>
          <a:stretch>
            <a:fillRect/>
          </a:stretch>
        </p:blipFill>
        <p:spPr>
          <a:xfrm>
            <a:off x="5972810" y="2337753"/>
            <a:ext cx="3040063" cy="3884612"/>
          </a:xfrm>
          <a:prstGeom prst="rect">
            <a:avLst/>
          </a:prstGeom>
          <a:noFill/>
          <a:ln w="9525">
            <a:noFill/>
          </a:ln>
        </p:spPr>
      </p:pic>
      <p:sp>
        <p:nvSpPr>
          <p:cNvPr id="2" name="文本框 1"/>
          <p:cNvSpPr txBox="1">
            <a:spLocks noRot="1" noChangeAspect="1" noMove="1" noResize="1" noEditPoints="1" noAdjustHandles="1" noChangeArrowheads="1" noChangeShapeType="1" noTextEdit="1"/>
          </p:cNvSpPr>
          <p:nvPr/>
        </p:nvSpPr>
        <p:spPr>
          <a:xfrm>
            <a:off x="300354" y="4867592"/>
            <a:ext cx="5404320" cy="1477327"/>
          </a:xfrm>
          <a:prstGeom prst="rect">
            <a:avLst/>
          </a:prstGeom>
          <a:blipFill>
            <a:blip r:embed="rId5"/>
            <a:stretch>
              <a:fillRect l="-1127" b="-2893"/>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0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27" name="Text Box 5"/>
          <p:cNvSpPr txBox="1">
            <a:spLocks noChangeArrowheads="1"/>
          </p:cNvSpPr>
          <p:nvPr/>
        </p:nvSpPr>
        <p:spPr bwMode="auto">
          <a:xfrm>
            <a:off x="1659255" y="212725"/>
            <a:ext cx="748474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7" name="文本框 6"/>
          <p:cNvSpPr txBox="1"/>
          <p:nvPr/>
        </p:nvSpPr>
        <p:spPr>
          <a:xfrm>
            <a:off x="441325" y="2835910"/>
            <a:ext cx="5061585" cy="1568450"/>
          </a:xfrm>
          <a:prstGeom prst="rect">
            <a:avLst/>
          </a:prstGeom>
          <a:noFill/>
        </p:spPr>
        <p:txBody>
          <a:bodyPr wrap="square" rtlCol="0">
            <a:spAutoFit/>
          </a:bodyPr>
          <a:p>
            <a:pPr eaLnBrk="1" latinLnBrk="0" hangingPunct="1">
              <a:lnSpc>
                <a:spcPct val="120000"/>
              </a:lnSpc>
            </a:pPr>
            <a:r>
              <a:rPr lang="en-US" altLang="zh-CN">
                <a:latin typeface="黑体" panose="02010609060101010101" pitchFamily="49" charset="-122"/>
                <a:ea typeface="黑体" panose="02010609060101010101" pitchFamily="49" charset="-122"/>
                <a:cs typeface="黑体" panose="02010609060101010101" pitchFamily="49" charset="-122"/>
              </a:rPr>
              <a:t>    </a:t>
            </a:r>
            <a:r>
              <a:rPr lang="zh-CN" altLang="en-US">
                <a:latin typeface="黑体" panose="02010609060101010101" pitchFamily="49" charset="-122"/>
                <a:ea typeface="黑体" panose="02010609060101010101" pitchFamily="49" charset="-122"/>
                <a:cs typeface="黑体" panose="02010609060101010101" pitchFamily="49" charset="-122"/>
              </a:rPr>
              <a:t>齿根处为危险截面，可以用</a:t>
            </a:r>
            <a:r>
              <a:rPr lang="en-US" altLang="zh-CN">
                <a:latin typeface="黑体" panose="02010609060101010101" pitchFamily="49" charset="-122"/>
                <a:ea typeface="黑体" panose="02010609060101010101" pitchFamily="49" charset="-122"/>
                <a:cs typeface="黑体" panose="02010609060101010101" pitchFamily="49" charset="-122"/>
              </a:rPr>
              <a:t>30</a:t>
            </a:r>
            <a:r>
              <a:rPr lang="en-US" altLang="zh-CN">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a:t>
            </a:r>
            <a:r>
              <a:rPr lang="zh-CN" altLang="en-US">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切线法确定：作与轮齿对称线成</a:t>
            </a:r>
            <a:r>
              <a:rPr lang="en-US" altLang="zh-CN">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30</a:t>
            </a:r>
            <a:r>
              <a:rPr lang="en-US" altLang="zh-CN">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a:t>
            </a:r>
            <a:r>
              <a:rPr lang="zh-CN" altLang="en-US">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角并与齿根过渡曲线相切的切线，通过两切点平行于齿轮轴线的截面，即齿根危险截面。</a:t>
            </a:r>
            <a:endParaRPr lang="zh-CN" altLang="en-US">
              <a:latin typeface="黑体" panose="02010609060101010101" pitchFamily="49" charset="-122"/>
              <a:ea typeface="黑体" panose="02010609060101010101" pitchFamily="49" charset="-122"/>
              <a:cs typeface="黑体" panose="02010609060101010101" pitchFamily="49" charset="-122"/>
              <a:sym typeface="Symbol" panose="05050102010706020507" charset="0"/>
            </a:endParaRPr>
          </a:p>
        </p:txBody>
      </p:sp>
      <p:sp>
        <p:nvSpPr>
          <p:cNvPr id="8" name="文本框 7"/>
          <p:cNvSpPr txBox="1"/>
          <p:nvPr/>
        </p:nvSpPr>
        <p:spPr>
          <a:xfrm>
            <a:off x="565150" y="4498975"/>
            <a:ext cx="4947920" cy="398780"/>
          </a:xfrm>
          <a:prstGeom prst="rect">
            <a:avLst/>
          </a:prstGeom>
          <a:noFill/>
        </p:spPr>
        <p:txBody>
          <a:bodyPr wrap="square" rtlCol="0">
            <a:spAutoFit/>
          </a:bodyPr>
          <a:p>
            <a:r>
              <a:rPr lang="zh-CN" altLang="en-US">
                <a:solidFill>
                  <a:srgbClr val="000099"/>
                </a:solidFill>
              </a:rPr>
              <a:t>理论上载荷应由同时啮合的多对齿分担，</a:t>
            </a:r>
            <a:endParaRPr lang="zh-CN" altLang="en-US">
              <a:solidFill>
                <a:srgbClr val="000099"/>
              </a:solidFill>
            </a:endParaRPr>
          </a:p>
        </p:txBody>
      </p:sp>
      <p:sp>
        <p:nvSpPr>
          <p:cNvPr id="9" name="文本框 8"/>
          <p:cNvSpPr txBox="1"/>
          <p:nvPr/>
        </p:nvSpPr>
        <p:spPr>
          <a:xfrm>
            <a:off x="697865" y="1322705"/>
            <a:ext cx="5143500" cy="460375"/>
          </a:xfrm>
          <a:prstGeom prst="rect">
            <a:avLst/>
          </a:prstGeom>
          <a:noFill/>
        </p:spPr>
        <p:txBody>
          <a:bodyPr wrap="square" rtlCol="0">
            <a:spAutoFit/>
          </a:bodyPr>
          <a:p>
            <a:r>
              <a:rPr lang="en-US" altLang="zh-CN" sz="2400">
                <a:solidFill>
                  <a:srgbClr val="0000FF"/>
                </a:solidFill>
              </a:rPr>
              <a:t>1</a:t>
            </a:r>
            <a:r>
              <a:rPr lang="zh-CN" altLang="en-US" sz="2400">
                <a:solidFill>
                  <a:srgbClr val="0000FF"/>
                </a:solidFill>
              </a:rPr>
              <a:t>、直齿圆柱齿轮齿根弯曲强度计算</a:t>
            </a:r>
            <a:endParaRPr lang="zh-CN" altLang="en-US" sz="240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661"/>
                                        </p:tgtEl>
                                        <p:attrNameLst>
                                          <p:attrName>style.visibility</p:attrName>
                                        </p:attrNameLst>
                                      </p:cBhvr>
                                      <p:to>
                                        <p:strVal val="visible"/>
                                      </p:to>
                                    </p:set>
                                    <p:animEffect transition="in" filter="wipe(left)">
                                      <p:cBhvr>
                                        <p:cTn id="13" dur="500"/>
                                        <p:tgtEl>
                                          <p:spTgt spid="27661"/>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27659"/>
                                        </p:tgtEl>
                                        <p:attrNameLst>
                                          <p:attrName>style.visibility</p:attrName>
                                        </p:attrNameLst>
                                      </p:cBhvr>
                                      <p:to>
                                        <p:strVal val="visible"/>
                                      </p:to>
                                    </p:set>
                                    <p:animEffect transition="in" filter="wipe(left)">
                                      <p:cBhvr>
                                        <p:cTn id="17" dur="500"/>
                                        <p:tgtEl>
                                          <p:spTgt spid="276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7664"/>
                                        </p:tgtEl>
                                        <p:attrNameLst>
                                          <p:attrName>style.visibility</p:attrName>
                                        </p:attrNameLst>
                                      </p:cBhvr>
                                      <p:to>
                                        <p:strVal val="visible"/>
                                      </p:to>
                                    </p:set>
                                    <p:animEffect transition="in" filter="wipe(up)">
                                      <p:cBhvr>
                                        <p:cTn id="22" dur="500"/>
                                        <p:tgtEl>
                                          <p:spTgt spid="276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par>
                          <p:cTn id="33" fill="hold">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up)">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27661" grpId="0"/>
      <p:bldP spid="2" grpId="0" bldLvl="0" animBg="1"/>
      <p:bldP spid="7" grpId="0"/>
      <p:bldP spid="27659"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27652"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27653"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27655"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27656"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7658"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7659" name="文本框 1"/>
          <p:cNvSpPr txBox="1"/>
          <p:nvPr/>
        </p:nvSpPr>
        <p:spPr>
          <a:xfrm>
            <a:off x="6147118" y="5657533"/>
            <a:ext cx="2817812" cy="338137"/>
          </a:xfrm>
          <a:prstGeom prst="rect">
            <a:avLst/>
          </a:prstGeom>
          <a:noFill/>
          <a:ln w="9525">
            <a:noFill/>
          </a:ln>
        </p:spPr>
        <p:txBody>
          <a:bodyPr wrap="none">
            <a:spAutoFit/>
          </a:bodyPr>
          <a:p>
            <a:r>
              <a:rPr lang="zh-CN" altLang="en-US" sz="1600" dirty="0">
                <a:latin typeface="Times New Roman" panose="02020603050405020304" pitchFamily="18" charset="0"/>
              </a:rPr>
              <a:t>图</a:t>
            </a:r>
            <a:r>
              <a:rPr lang="en-US" altLang="zh-CN" sz="1600" dirty="0">
                <a:latin typeface="Times New Roman" panose="02020603050405020304" pitchFamily="18" charset="0"/>
              </a:rPr>
              <a:t>3.4-15 </a:t>
            </a:r>
            <a:r>
              <a:rPr lang="zh-CN" altLang="zh-CN" sz="1600" dirty="0">
                <a:latin typeface="Times New Roman" panose="02020603050405020304" pitchFamily="18" charset="0"/>
              </a:rPr>
              <a:t>齿</a:t>
            </a:r>
            <a:r>
              <a:rPr lang="zh-CN" altLang="en-US" sz="1600" dirty="0">
                <a:latin typeface="Times New Roman" panose="02020603050405020304" pitchFamily="18" charset="0"/>
              </a:rPr>
              <a:t>根危险截面的应力</a:t>
            </a:r>
            <a:endParaRPr lang="zh-CN" altLang="zh-CN" sz="1600" dirty="0">
              <a:latin typeface="Times New Roman" panose="02020603050405020304" pitchFamily="18" charset="0"/>
            </a:endParaRPr>
          </a:p>
        </p:txBody>
      </p:sp>
      <p:sp>
        <p:nvSpPr>
          <p:cNvPr id="27662" name="Rectangle 2"/>
          <p:cNvSpPr/>
          <p:nvPr/>
        </p:nvSpPr>
        <p:spPr>
          <a:xfrm>
            <a:off x="2971800" y="2633663"/>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7663" name="文本框 8"/>
          <p:cNvSpPr txBox="1"/>
          <p:nvPr/>
        </p:nvSpPr>
        <p:spPr>
          <a:xfrm>
            <a:off x="5004435" y="5213985"/>
            <a:ext cx="1461770" cy="398780"/>
          </a:xfrm>
          <a:prstGeom prst="rect">
            <a:avLst/>
          </a:prstGeom>
          <a:noFill/>
          <a:ln w="9525">
            <a:noFill/>
          </a:ln>
        </p:spPr>
        <p:txBody>
          <a:bodyPr wrap="squar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3.4-20</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pic>
        <p:nvPicPr>
          <p:cNvPr id="27664" name="图片 19"/>
          <p:cNvPicPr>
            <a:picLocks noChangeAspect="1"/>
          </p:cNvPicPr>
          <p:nvPr/>
        </p:nvPicPr>
        <p:blipFill>
          <a:blip r:embed="rId4"/>
          <a:stretch>
            <a:fillRect/>
          </a:stretch>
        </p:blipFill>
        <p:spPr>
          <a:xfrm>
            <a:off x="6024880" y="1834198"/>
            <a:ext cx="3040063" cy="3884612"/>
          </a:xfrm>
          <a:prstGeom prst="rect">
            <a:avLst/>
          </a:prstGeom>
          <a:noFill/>
          <a:ln w="9525">
            <a:noFill/>
          </a:ln>
        </p:spPr>
      </p:pic>
      <p:sp>
        <p:nvSpPr>
          <p:cNvPr id="27666" name="文本框 2"/>
          <p:cNvSpPr txBox="1"/>
          <p:nvPr/>
        </p:nvSpPr>
        <p:spPr>
          <a:xfrm>
            <a:off x="157480" y="1155700"/>
            <a:ext cx="5192395" cy="398780"/>
          </a:xfrm>
          <a:prstGeom prst="rect">
            <a:avLst/>
          </a:prstGeom>
          <a:noFill/>
          <a:ln w="9525">
            <a:noFill/>
          </a:ln>
        </p:spPr>
        <p:txBody>
          <a:bodyPr wrap="square">
            <a:spAutoFit/>
          </a:bodyPr>
          <a:p>
            <a:r>
              <a:rPr lang="zh-CN" altLang="zh-CN" dirty="0">
                <a:latin typeface="Times New Roman" panose="02020603050405020304" pitchFamily="18" charset="0"/>
              </a:rPr>
              <a:t>由图</a:t>
            </a:r>
            <a:r>
              <a:rPr lang="en-US" altLang="zh-CN" dirty="0">
                <a:latin typeface="Times New Roman" panose="02020603050405020304" pitchFamily="18" charset="0"/>
              </a:rPr>
              <a:t>3.4-15</a:t>
            </a:r>
            <a:r>
              <a:rPr lang="zh-CN" altLang="zh-CN" dirty="0">
                <a:latin typeface="Times New Roman" panose="02020603050405020304" pitchFamily="18" charset="0"/>
              </a:rPr>
              <a:t>可知，齿根的最大弯曲应力为： </a:t>
            </a:r>
            <a:endParaRPr lang="zh-CN" altLang="en-US" dirty="0">
              <a:latin typeface="Times New Roman" panose="02020603050405020304" pitchFamily="18" charset="0"/>
            </a:endParaRPr>
          </a:p>
        </p:txBody>
      </p:sp>
      <p:sp>
        <p:nvSpPr>
          <p:cNvPr id="27669" name="文本框 7"/>
          <p:cNvSpPr txBox="1"/>
          <p:nvPr/>
        </p:nvSpPr>
        <p:spPr>
          <a:xfrm>
            <a:off x="670878" y="3564255"/>
            <a:ext cx="487680" cy="460375"/>
          </a:xfrm>
          <a:prstGeom prst="rect">
            <a:avLst/>
          </a:prstGeom>
          <a:noFill/>
          <a:ln w="9525">
            <a:noFill/>
          </a:ln>
        </p:spPr>
        <p:txBody>
          <a:bodyPr wrap="none">
            <a:spAutoFit/>
          </a:bodyPr>
          <a:p>
            <a:r>
              <a:rPr lang="zh-CN" altLang="en-US" sz="2400" dirty="0">
                <a:latin typeface="Times New Roman" panose="02020603050405020304" pitchFamily="18" charset="0"/>
              </a:rPr>
              <a:t>令</a:t>
            </a:r>
            <a:endParaRPr lang="zh-CN" altLang="en-US" sz="2400" dirty="0">
              <a:latin typeface="Times New Roman" panose="02020603050405020304" pitchFamily="18" charset="0"/>
            </a:endParaRPr>
          </a:p>
        </p:txBody>
      </p:sp>
      <p:sp>
        <p:nvSpPr>
          <p:cNvPr id="27670" name="文本框 8"/>
          <p:cNvSpPr txBox="1"/>
          <p:nvPr/>
        </p:nvSpPr>
        <p:spPr>
          <a:xfrm>
            <a:off x="241618" y="4412298"/>
            <a:ext cx="696912" cy="400050"/>
          </a:xfrm>
          <a:prstGeom prst="rect">
            <a:avLst/>
          </a:prstGeom>
          <a:noFill/>
          <a:ln w="9525">
            <a:noFill/>
          </a:ln>
        </p:spPr>
        <p:txBody>
          <a:bodyPr wrap="none">
            <a:spAutoFit/>
          </a:bodyPr>
          <a:p>
            <a:r>
              <a:rPr lang="zh-CN" altLang="en-US" dirty="0">
                <a:latin typeface="Times New Roman" panose="02020603050405020304" pitchFamily="18" charset="0"/>
              </a:rPr>
              <a:t>则得</a:t>
            </a:r>
            <a:endParaRPr lang="zh-CN" altLang="en-US" dirty="0">
              <a:latin typeface="Times New Roman" panose="02020603050405020304" pitchFamily="18" charset="0"/>
            </a:endParaRPr>
          </a:p>
        </p:txBody>
      </p:sp>
      <p:pic>
        <p:nvPicPr>
          <p:cNvPr id="27672" name="图片 2"/>
          <p:cNvPicPr>
            <a:picLocks noChangeAspect="1"/>
          </p:cNvPicPr>
          <p:nvPr/>
        </p:nvPicPr>
        <p:blipFill>
          <a:blip r:embed="rId5"/>
          <a:stretch>
            <a:fillRect/>
          </a:stretch>
        </p:blipFill>
        <p:spPr>
          <a:xfrm>
            <a:off x="488315" y="2030730"/>
            <a:ext cx="4679315" cy="751205"/>
          </a:xfrm>
          <a:prstGeom prst="rect">
            <a:avLst/>
          </a:prstGeom>
          <a:noFill/>
          <a:ln w="9525">
            <a:noFill/>
          </a:ln>
        </p:spPr>
      </p:pic>
      <p:pic>
        <p:nvPicPr>
          <p:cNvPr id="27673" name="图片 3"/>
          <p:cNvPicPr>
            <a:picLocks noChangeAspect="1"/>
          </p:cNvPicPr>
          <p:nvPr/>
        </p:nvPicPr>
        <p:blipFill>
          <a:blip r:embed="rId6"/>
          <a:stretch>
            <a:fillRect/>
          </a:stretch>
        </p:blipFill>
        <p:spPr>
          <a:xfrm>
            <a:off x="1060450" y="3286125"/>
            <a:ext cx="2639060" cy="914400"/>
          </a:xfrm>
          <a:prstGeom prst="rect">
            <a:avLst/>
          </a:prstGeom>
          <a:noFill/>
          <a:ln w="9525">
            <a:noFill/>
          </a:ln>
        </p:spPr>
      </p:pic>
      <p:sp>
        <p:nvSpPr>
          <p:cNvPr id="20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27" name="Text Box 5"/>
          <p:cNvSpPr txBox="1">
            <a:spLocks noChangeArrowheads="1"/>
          </p:cNvSpPr>
          <p:nvPr/>
        </p:nvSpPr>
        <p:spPr bwMode="auto">
          <a:xfrm>
            <a:off x="1659255" y="212725"/>
            <a:ext cx="748474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矩形 2"/>
          <p:cNvSpPr/>
          <p:nvPr/>
        </p:nvSpPr>
        <p:spPr>
          <a:xfrm>
            <a:off x="3561715" y="2030730"/>
            <a:ext cx="1632585" cy="697865"/>
          </a:xfrm>
          <a:prstGeom prst="rect">
            <a:avLst/>
          </a:prstGeom>
          <a:noFill/>
          <a:ln w="9525" cap="flat" cmpd="sng" algn="ctr">
            <a:solidFill>
              <a:srgbClr val="C0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graphicFrame>
        <p:nvGraphicFramePr>
          <p:cNvPr id="4" name="对象 3">
            <a:hlinkClick r:id="" action="ppaction://ole?verb="/>
          </p:cNvPr>
          <p:cNvGraphicFramePr>
            <a:graphicFrameLocks noChangeAspect="1"/>
          </p:cNvGraphicFramePr>
          <p:nvPr/>
        </p:nvGraphicFramePr>
        <p:xfrm>
          <a:off x="1296988" y="4952683"/>
          <a:ext cx="2511425" cy="837565"/>
        </p:xfrm>
        <a:graphic>
          <a:graphicData uri="http://schemas.openxmlformats.org/presentationml/2006/ole">
            <mc:AlternateContent xmlns:mc="http://schemas.openxmlformats.org/markup-compatibility/2006">
              <mc:Choice xmlns:v="urn:schemas-microsoft-com:vml" Requires="v">
                <p:oleObj spid="_x0000_s4097" name="" r:id="rId7" imgW="1181100" imgH="393700" progId="Equation.KSEE3">
                  <p:embed/>
                </p:oleObj>
              </mc:Choice>
              <mc:Fallback>
                <p:oleObj name="" r:id="rId7" imgW="1181100" imgH="393700" progId="Equation.KSEE3">
                  <p:embed/>
                  <p:pic>
                    <p:nvPicPr>
                      <p:cNvPr id="0" name="图片 4096"/>
                      <p:cNvPicPr/>
                      <p:nvPr/>
                    </p:nvPicPr>
                    <p:blipFill>
                      <a:blip r:embed="rId8"/>
                      <a:stretch>
                        <a:fillRect/>
                      </a:stretch>
                    </p:blipFill>
                    <p:spPr>
                      <a:xfrm>
                        <a:off x="1296988" y="4952683"/>
                        <a:ext cx="2511425" cy="837565"/>
                      </a:xfrm>
                      <a:prstGeom prst="rect">
                        <a:avLst/>
                      </a:prstGeom>
                      <a:solidFill>
                        <a:schemeClr val="accent1">
                          <a:lumMod val="60000"/>
                          <a:lumOff val="40000"/>
                        </a:schemeClr>
                      </a:solidFill>
                    </p:spPr>
                  </p:pic>
                </p:oleObj>
              </mc:Fallback>
            </mc:AlternateContent>
          </a:graphicData>
        </a:graphic>
      </p:graphicFrame>
      <p:sp>
        <p:nvSpPr>
          <p:cNvPr id="6" name="文本框 5"/>
          <p:cNvSpPr txBox="1"/>
          <p:nvPr/>
        </p:nvSpPr>
        <p:spPr>
          <a:xfrm>
            <a:off x="3903345" y="3549015"/>
            <a:ext cx="1776095" cy="39878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rPr>
              <a:t>为齿形系数</a:t>
            </a:r>
            <a:endParaRPr lang="zh-CN" altLang="en-US">
              <a:solidFill>
                <a:srgbClr val="FF0000"/>
              </a:solidFill>
              <a:latin typeface="黑体" panose="02010609060101010101" pitchFamily="49" charset="-122"/>
              <a:ea typeface="黑体" panose="02010609060101010101" pitchFamily="49" charset="-122"/>
            </a:endParaRPr>
          </a:p>
        </p:txBody>
      </p:sp>
      <p:sp>
        <p:nvSpPr>
          <p:cNvPr id="2" name="文本框 1"/>
          <p:cNvSpPr txBox="1"/>
          <p:nvPr/>
        </p:nvSpPr>
        <p:spPr>
          <a:xfrm>
            <a:off x="531495" y="2800985"/>
            <a:ext cx="1280795" cy="368300"/>
          </a:xfrm>
          <a:prstGeom prst="rect">
            <a:avLst/>
          </a:prstGeom>
          <a:noFill/>
        </p:spPr>
        <p:txBody>
          <a:bodyPr wrap="square" rtlCol="0">
            <a:spAutoFit/>
          </a:bodyPr>
          <a:p>
            <a:r>
              <a:rPr lang="zh-CN" altLang="en-US" sz="1800">
                <a:solidFill>
                  <a:srgbClr val="C00000"/>
                </a:solidFill>
                <a:latin typeface="黑体" panose="02010609060101010101" pitchFamily="49" charset="-122"/>
                <a:ea typeface="黑体" panose="02010609060101010101" pitchFamily="49" charset="-122"/>
              </a:rPr>
              <a:t>截面模量</a:t>
            </a:r>
            <a:endParaRPr lang="zh-CN" altLang="en-US" sz="1800">
              <a:solidFill>
                <a:srgbClr val="C00000"/>
              </a:solidFill>
              <a:latin typeface="黑体" panose="02010609060101010101" pitchFamily="49" charset="-122"/>
              <a:ea typeface="黑体" panose="02010609060101010101" pitchFamily="49" charset="-122"/>
            </a:endParaRPr>
          </a:p>
        </p:txBody>
      </p:sp>
      <p:sp>
        <p:nvSpPr>
          <p:cNvPr id="5" name="文本框 4"/>
          <p:cNvSpPr txBox="1"/>
          <p:nvPr/>
        </p:nvSpPr>
        <p:spPr>
          <a:xfrm>
            <a:off x="980440" y="1554480"/>
            <a:ext cx="1280795" cy="368300"/>
          </a:xfrm>
          <a:prstGeom prst="rect">
            <a:avLst/>
          </a:prstGeom>
          <a:noFill/>
        </p:spPr>
        <p:txBody>
          <a:bodyPr wrap="square" rtlCol="0">
            <a:spAutoFit/>
          </a:bodyPr>
          <a:p>
            <a:r>
              <a:rPr lang="zh-CN" altLang="en-US" sz="1800">
                <a:solidFill>
                  <a:srgbClr val="C00000"/>
                </a:solidFill>
                <a:latin typeface="黑体" panose="02010609060101010101" pitchFamily="49" charset="-122"/>
                <a:ea typeface="黑体" panose="02010609060101010101" pitchFamily="49" charset="-122"/>
              </a:rPr>
              <a:t>弯矩</a:t>
            </a:r>
            <a:endParaRPr lang="zh-CN" altLang="en-US" sz="1800">
              <a:solidFill>
                <a:srgbClr val="C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7664"/>
                                        </p:tgtEl>
                                        <p:attrNameLst>
                                          <p:attrName>style.visibility</p:attrName>
                                        </p:attrNameLst>
                                      </p:cBhvr>
                                      <p:to>
                                        <p:strVal val="visible"/>
                                      </p:to>
                                    </p:set>
                                    <p:animEffect transition="in" filter="wipe(up)">
                                      <p:cBhvr>
                                        <p:cTn id="13" dur="500"/>
                                        <p:tgtEl>
                                          <p:spTgt spid="2766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666"/>
                                        </p:tgtEl>
                                        <p:attrNameLst>
                                          <p:attrName>style.visibility</p:attrName>
                                        </p:attrNameLst>
                                      </p:cBhvr>
                                      <p:to>
                                        <p:strVal val="visible"/>
                                      </p:to>
                                    </p:set>
                                    <p:animEffect transition="in" filter="wipe(left)">
                                      <p:cBhvr>
                                        <p:cTn id="18" dur="500"/>
                                        <p:tgtEl>
                                          <p:spTgt spid="2766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7672"/>
                                        </p:tgtEl>
                                        <p:attrNameLst>
                                          <p:attrName>style.visibility</p:attrName>
                                        </p:attrNameLst>
                                      </p:cBhvr>
                                      <p:to>
                                        <p:strVal val="visible"/>
                                      </p:to>
                                    </p:set>
                                    <p:animEffect transition="in" filter="wipe(left)">
                                      <p:cBhvr>
                                        <p:cTn id="23" dur="500"/>
                                        <p:tgtEl>
                                          <p:spTgt spid="2767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heel(1)">
                                      <p:cBhvr>
                                        <p:cTn id="36" dur="20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27669"/>
                                        </p:tgtEl>
                                        <p:attrNameLst>
                                          <p:attrName>style.visibility</p:attrName>
                                        </p:attrNameLst>
                                      </p:cBhvr>
                                      <p:to>
                                        <p:strVal val="visible"/>
                                      </p:to>
                                    </p:set>
                                    <p:animEffect transition="in" filter="wheel(1)">
                                      <p:cBhvr>
                                        <p:cTn id="41" dur="2000"/>
                                        <p:tgtEl>
                                          <p:spTgt spid="27669"/>
                                        </p:tgtEl>
                                      </p:cBhvr>
                                    </p:animEffect>
                                  </p:childTnLst>
                                </p:cTn>
                              </p:par>
                            </p:childTnLst>
                          </p:cTn>
                        </p:par>
                        <p:par>
                          <p:cTn id="42" fill="hold">
                            <p:stCondLst>
                              <p:cond delay="2000"/>
                            </p:stCondLst>
                            <p:childTnLst>
                              <p:par>
                                <p:cTn id="43" presetID="22" presetClass="entr" presetSubtype="8" fill="hold" nodeType="afterEffect">
                                  <p:stCondLst>
                                    <p:cond delay="0"/>
                                  </p:stCondLst>
                                  <p:childTnLst>
                                    <p:set>
                                      <p:cBhvr>
                                        <p:cTn id="44" dur="1" fill="hold">
                                          <p:stCondLst>
                                            <p:cond delay="0"/>
                                          </p:stCondLst>
                                        </p:cTn>
                                        <p:tgtEl>
                                          <p:spTgt spid="27673"/>
                                        </p:tgtEl>
                                        <p:attrNameLst>
                                          <p:attrName>style.visibility</p:attrName>
                                        </p:attrNameLst>
                                      </p:cBhvr>
                                      <p:to>
                                        <p:strVal val="visible"/>
                                      </p:to>
                                    </p:set>
                                    <p:animEffect transition="in" filter="wipe(left)">
                                      <p:cBhvr>
                                        <p:cTn id="45" dur="500"/>
                                        <p:tgtEl>
                                          <p:spTgt spid="27673"/>
                                        </p:tgtEl>
                                      </p:cBhvr>
                                    </p:animEffect>
                                  </p:childTnLst>
                                </p:cTn>
                              </p:par>
                            </p:childTnLst>
                          </p:cTn>
                        </p:par>
                        <p:par>
                          <p:cTn id="46" fill="hold">
                            <p:stCondLst>
                              <p:cond delay="2500"/>
                            </p:stCondLst>
                            <p:childTnLst>
                              <p:par>
                                <p:cTn id="47" presetID="22" presetClass="entr" presetSubtype="8"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7670"/>
                                        </p:tgtEl>
                                        <p:attrNameLst>
                                          <p:attrName>style.visibility</p:attrName>
                                        </p:attrNameLst>
                                      </p:cBhvr>
                                      <p:to>
                                        <p:strVal val="visible"/>
                                      </p:to>
                                    </p:set>
                                    <p:animEffect transition="in" filter="wipe(left)">
                                      <p:cBhvr>
                                        <p:cTn id="54" dur="500"/>
                                        <p:tgtEl>
                                          <p:spTgt spid="27670"/>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left)">
                                      <p:cBhvr>
                                        <p:cTn id="58" dur="500"/>
                                        <p:tgtEl>
                                          <p:spTgt spid="4"/>
                                        </p:tgtEl>
                                      </p:cBhvr>
                                    </p:animEffect>
                                  </p:childTnLst>
                                </p:cTn>
                              </p:par>
                            </p:childTnLst>
                          </p:cTn>
                        </p:par>
                        <p:par>
                          <p:cTn id="59" fill="hold">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27663"/>
                                        </p:tgtEl>
                                        <p:attrNameLst>
                                          <p:attrName>style.visibility</p:attrName>
                                        </p:attrNameLst>
                                      </p:cBhvr>
                                      <p:to>
                                        <p:strVal val="visible"/>
                                      </p:to>
                                    </p:set>
                                    <p:animEffect transition="in" filter="wipe(left)">
                                      <p:cBhvr>
                                        <p:cTn id="62" dur="500"/>
                                        <p:tgtEl>
                                          <p:spTgt spid="27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27666" grpId="0"/>
      <p:bldP spid="27663" grpId="0"/>
      <p:bldP spid="3" grpId="0" bldLvl="0" animBg="1"/>
      <p:bldP spid="27669" grpId="0"/>
      <p:bldP spid="27670" grpId="0"/>
      <p:bldP spid="6" grpId="0"/>
      <p:bldP spid="5" grpId="0"/>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pic>
        <p:nvPicPr>
          <p:cNvPr id="28676"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28677"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28679"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28680"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8681" name="Rectangle 23"/>
          <p:cNvSpPr/>
          <p:nvPr/>
        </p:nvSpPr>
        <p:spPr>
          <a:xfrm>
            <a:off x="0" y="44132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8682"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2541" name="文本框 3"/>
          <p:cNvSpPr txBox="1">
            <a:spLocks noRot="1" noChangeAspect="1" noMove="1" noResize="1" noEditPoints="1" noAdjustHandles="1" noChangeArrowheads="1" noChangeShapeType="1" noTextEdit="1"/>
          </p:cNvSpPr>
          <p:nvPr/>
        </p:nvSpPr>
        <p:spPr bwMode="auto">
          <a:xfrm>
            <a:off x="205415" y="925842"/>
            <a:ext cx="8733320" cy="400110"/>
          </a:xfrm>
          <a:prstGeom prst="rect">
            <a:avLst/>
          </a:prstGeom>
          <a:blipFill>
            <a:blip r:embed="rId4"/>
            <a:stretch>
              <a:fillRect t="-9231" b="-27692"/>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8684" name="Rectangle 2"/>
          <p:cNvSpPr/>
          <p:nvPr/>
        </p:nvSpPr>
        <p:spPr>
          <a:xfrm>
            <a:off x="2971800" y="2633663"/>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8685" name="文本框 8"/>
          <p:cNvSpPr txBox="1"/>
          <p:nvPr/>
        </p:nvSpPr>
        <p:spPr>
          <a:xfrm>
            <a:off x="6619875" y="1465263"/>
            <a:ext cx="1358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3.4-20</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8686" name="Rectangle 6"/>
          <p:cNvSpPr/>
          <p:nvPr/>
        </p:nvSpPr>
        <p:spPr>
          <a:xfrm>
            <a:off x="1712913" y="4883150"/>
            <a:ext cx="12747625"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19" name="文本框 18"/>
          <p:cNvSpPr txBox="1">
            <a:spLocks noRot="1" noChangeAspect="1" noMove="1" noResize="1" noEditPoints="1" noAdjustHandles="1" noChangeArrowheads="1" noChangeShapeType="1" noTextEdit="1"/>
          </p:cNvSpPr>
          <p:nvPr/>
        </p:nvSpPr>
        <p:spPr>
          <a:xfrm>
            <a:off x="205415" y="2180917"/>
            <a:ext cx="8997591" cy="1265539"/>
          </a:xfrm>
          <a:prstGeom prst="rect">
            <a:avLst/>
          </a:prstGeom>
          <a:blipFill>
            <a:blip r:embed="rId5"/>
            <a:stretch>
              <a:fillRect l="-745"/>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28688" name="图片 34"/>
          <p:cNvPicPr>
            <a:picLocks noChangeAspect="1"/>
          </p:cNvPicPr>
          <p:nvPr/>
        </p:nvPicPr>
        <p:blipFill>
          <a:blip r:embed="rId6"/>
          <a:stretch>
            <a:fillRect/>
          </a:stretch>
        </p:blipFill>
        <p:spPr>
          <a:xfrm>
            <a:off x="1576070" y="3343910"/>
            <a:ext cx="4912995" cy="3023235"/>
          </a:xfrm>
          <a:prstGeom prst="rect">
            <a:avLst/>
          </a:prstGeom>
          <a:noFill/>
          <a:ln w="9525">
            <a:noFill/>
          </a:ln>
        </p:spPr>
      </p:pic>
      <p:sp>
        <p:nvSpPr>
          <p:cNvPr id="28689" name="文本框 20"/>
          <p:cNvSpPr txBox="1"/>
          <p:nvPr/>
        </p:nvSpPr>
        <p:spPr>
          <a:xfrm>
            <a:off x="3180080" y="6288405"/>
            <a:ext cx="2534285" cy="337185"/>
          </a:xfrm>
          <a:prstGeom prst="rect">
            <a:avLst/>
          </a:prstGeom>
          <a:noFill/>
          <a:ln w="9525">
            <a:noFill/>
          </a:ln>
        </p:spPr>
        <p:txBody>
          <a:bodyPr wrap="square">
            <a:spAutoFit/>
          </a:bodyPr>
          <a:p>
            <a:r>
              <a:rPr lang="zh-CN" altLang="zh-CN" sz="1600" dirty="0">
                <a:latin typeface="Times New Roman" panose="02020603050405020304" pitchFamily="18" charset="0"/>
              </a:rPr>
              <a:t>图</a:t>
            </a:r>
            <a:r>
              <a:rPr lang="en-US" altLang="zh-CN" sz="1600" dirty="0">
                <a:latin typeface="Times New Roman" panose="02020603050405020304" pitchFamily="18" charset="0"/>
              </a:rPr>
              <a:t>3.4-16  </a:t>
            </a:r>
            <a:r>
              <a:rPr lang="zh-CN" altLang="zh-CN" sz="1600" dirty="0">
                <a:latin typeface="Times New Roman" panose="02020603050405020304" pitchFamily="18" charset="0"/>
              </a:rPr>
              <a:t>齿形系数曲线</a:t>
            </a:r>
            <a:endParaRPr lang="zh-CN" altLang="zh-CN" sz="1600" dirty="0">
              <a:latin typeface="Times New Roman" panose="02020603050405020304" pitchFamily="18" charset="0"/>
            </a:endParaRPr>
          </a:p>
        </p:txBody>
      </p:sp>
      <p:sp>
        <p:nvSpPr>
          <p:cNvPr id="20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27" name="Text Box 5"/>
          <p:cNvSpPr txBox="1">
            <a:spLocks noChangeArrowheads="1"/>
          </p:cNvSpPr>
          <p:nvPr/>
        </p:nvSpPr>
        <p:spPr bwMode="auto">
          <a:xfrm>
            <a:off x="1659255" y="212725"/>
            <a:ext cx="748474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6753860" y="3796030"/>
            <a:ext cx="1981200" cy="1938020"/>
          </a:xfrm>
          <a:prstGeom prst="rect">
            <a:avLst/>
          </a:prstGeom>
          <a:noFill/>
          <a:ln>
            <a:solidFill>
              <a:srgbClr val="A50021"/>
            </a:solidFill>
          </a:ln>
        </p:spPr>
        <p:txBody>
          <a:bodyPr wrap="square" rtlCol="0">
            <a:spAutoFit/>
          </a:bodyPr>
          <a:p>
            <a:pPr eaLnBrk="1" latinLnBrk="0" hangingPunct="1">
              <a:lnSpc>
                <a:spcPct val="120000"/>
              </a:lnSpc>
            </a:pPr>
            <a:r>
              <a:rPr lang="zh-CN" altLang="en-US"/>
              <a:t>齿形系数</a:t>
            </a:r>
            <a:r>
              <a:rPr lang="en-US" altLang="zh-CN"/>
              <a:t>Y</a:t>
            </a:r>
            <a:r>
              <a:rPr lang="en-US" altLang="zh-CN" baseline="-25000"/>
              <a:t>F</a:t>
            </a:r>
            <a:r>
              <a:rPr lang="zh-CN" altLang="en-US"/>
              <a:t>只取决于轮齿的形状（随齿数</a:t>
            </a:r>
            <a:r>
              <a:rPr lang="en-US" altLang="zh-CN" i="1">
                <a:solidFill>
                  <a:srgbClr val="FF0000"/>
                </a:solidFill>
              </a:rPr>
              <a:t>z</a:t>
            </a:r>
            <a:r>
              <a:rPr lang="zh-CN" altLang="en-US"/>
              <a:t>和变位系数</a:t>
            </a:r>
            <a:r>
              <a:rPr lang="en-US" altLang="zh-CN" i="1">
                <a:solidFill>
                  <a:srgbClr val="FF0000"/>
                </a:solidFill>
              </a:rPr>
              <a:t>x</a:t>
            </a:r>
            <a:r>
              <a:rPr lang="zh-CN" altLang="en-US"/>
              <a:t>而</a:t>
            </a:r>
            <a:r>
              <a:rPr lang="zh-CN" altLang="en-US"/>
              <a:t>变化）</a:t>
            </a:r>
            <a:endParaRPr lang="zh-CN" altLang="en-US">
              <a:sym typeface="Symbol" panose="05050102010706020507" charset="0"/>
            </a:endParaRPr>
          </a:p>
        </p:txBody>
      </p:sp>
      <p:graphicFrame>
        <p:nvGraphicFramePr>
          <p:cNvPr id="4" name="对象 3">
            <a:hlinkClick r:id="" action="ppaction://ole?verb="/>
          </p:cNvPr>
          <p:cNvGraphicFramePr>
            <a:graphicFrameLocks noChangeAspect="1"/>
          </p:cNvGraphicFramePr>
          <p:nvPr/>
        </p:nvGraphicFramePr>
        <p:xfrm>
          <a:off x="1692910" y="1348105"/>
          <a:ext cx="4604385" cy="911225"/>
        </p:xfrm>
        <a:graphic>
          <a:graphicData uri="http://schemas.openxmlformats.org/presentationml/2006/ole">
            <mc:AlternateContent xmlns:mc="http://schemas.openxmlformats.org/markup-compatibility/2006">
              <mc:Choice xmlns:v="urn:schemas-microsoft-com:vml" Requires="v">
                <p:oleObj spid="_x0000_s3" name="" r:id="rId7" imgW="2247900" imgH="444500" progId="Equation.KSEE3">
                  <p:embed/>
                </p:oleObj>
              </mc:Choice>
              <mc:Fallback>
                <p:oleObj name="" r:id="rId7" imgW="2247900" imgH="444500" progId="Equation.KSEE3">
                  <p:embed/>
                  <p:pic>
                    <p:nvPicPr>
                      <p:cNvPr id="0" name="图片 4096"/>
                      <p:cNvPicPr/>
                      <p:nvPr/>
                    </p:nvPicPr>
                    <p:blipFill>
                      <a:blip r:embed="rId8"/>
                      <a:stretch>
                        <a:fillRect/>
                      </a:stretch>
                    </p:blipFill>
                    <p:spPr>
                      <a:xfrm>
                        <a:off x="1692910" y="1348105"/>
                        <a:ext cx="4604385" cy="911225"/>
                      </a:xfrm>
                      <a:prstGeom prst="rect">
                        <a:avLst/>
                      </a:prstGeom>
                      <a:solidFill>
                        <a:schemeClr val="accent1">
                          <a:lumMod val="60000"/>
                          <a:lumOff val="4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2541"/>
                                        </p:tgtEl>
                                        <p:attrNameLst>
                                          <p:attrName>style.visibility</p:attrName>
                                        </p:attrNameLst>
                                      </p:cBhvr>
                                      <p:to>
                                        <p:strVal val="visible"/>
                                      </p:to>
                                    </p:set>
                                    <p:animEffect transition="in" filter="wipe(left)">
                                      <p:cBhvr>
                                        <p:cTn id="13" dur="500"/>
                                        <p:tgtEl>
                                          <p:spTgt spid="22541"/>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8685"/>
                                        </p:tgtEl>
                                        <p:attrNameLst>
                                          <p:attrName>style.visibility</p:attrName>
                                        </p:attrNameLst>
                                      </p:cBhvr>
                                      <p:to>
                                        <p:strVal val="visible"/>
                                      </p:to>
                                    </p:set>
                                    <p:animEffect transition="in" filter="wipe(left)">
                                      <p:cBhvr>
                                        <p:cTn id="20" dur="500"/>
                                        <p:tgtEl>
                                          <p:spTgt spid="2868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8688"/>
                                        </p:tgtEl>
                                        <p:attrNameLst>
                                          <p:attrName>style.visibility</p:attrName>
                                        </p:attrNameLst>
                                      </p:cBhvr>
                                      <p:to>
                                        <p:strVal val="visible"/>
                                      </p:to>
                                    </p:set>
                                    <p:animEffect transition="in" filter="wipe(left)">
                                      <p:cBhvr>
                                        <p:cTn id="30" dur="500"/>
                                        <p:tgtEl>
                                          <p:spTgt spid="2868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8689"/>
                                        </p:tgtEl>
                                        <p:attrNameLst>
                                          <p:attrName>style.visibility</p:attrName>
                                        </p:attrNameLst>
                                      </p:cBhvr>
                                      <p:to>
                                        <p:strVal val="visible"/>
                                      </p:to>
                                    </p:set>
                                    <p:animEffect transition="in" filter="wipe(left)">
                                      <p:cBhvr>
                                        <p:cTn id="34" dur="500"/>
                                        <p:tgtEl>
                                          <p:spTgt spid="2868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up)">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22541" grpId="0" bldLvl="0" animBg="1"/>
      <p:bldP spid="28685" grpId="0"/>
      <p:bldP spid="19" grpId="0" bldLvl="0" animBg="1"/>
      <p:bldP spid="28689" grpId="0"/>
      <p:bldP spid="2"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29699" name="Text Box 5"/>
          <p:cNvSpPr txBox="1"/>
          <p:nvPr/>
        </p:nvSpPr>
        <p:spPr>
          <a:xfrm>
            <a:off x="2500630" y="212725"/>
            <a:ext cx="5840095" cy="549275"/>
          </a:xfrm>
          <a:prstGeom prst="rect">
            <a:avLst/>
          </a:prstGeom>
          <a:noFill/>
          <a:ln w="9525">
            <a:noFill/>
          </a:ln>
        </p:spPr>
        <p:txBody>
          <a:bodyPr tIns="36000" bIns="72000" anchor="ctr" anchorCtr="1"/>
          <a:p>
            <a:pPr eaLnBrk="1" hangingPunct="1"/>
            <a:r>
              <a:rPr lang="en-US" altLang="zh-CN" sz="3000" dirty="0">
                <a:solidFill>
                  <a:srgbClr val="CC3300"/>
                </a:solidFill>
                <a:latin typeface="黑体" panose="02010609060101010101" pitchFamily="49" charset="-122"/>
                <a:ea typeface="黑体" panose="02010609060101010101" pitchFamily="49" charset="-122"/>
              </a:rPr>
              <a:t>3.4-4  </a:t>
            </a:r>
            <a:r>
              <a:rPr lang="zh-CN" altLang="en-US" sz="3000" dirty="0">
                <a:solidFill>
                  <a:srgbClr val="CC3300"/>
                </a:solidFill>
                <a:latin typeface="黑体" panose="02010609060101010101" pitchFamily="49" charset="-122"/>
                <a:ea typeface="黑体" panose="02010609060101010101" pitchFamily="49" charset="-122"/>
              </a:rPr>
              <a:t>标准圆柱齿轮传动的设计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29704"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9706"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9708" name="Rectangle 2"/>
          <p:cNvSpPr/>
          <p:nvPr/>
        </p:nvSpPr>
        <p:spPr>
          <a:xfrm>
            <a:off x="2971800" y="2633663"/>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9712" name="文本框 8"/>
          <p:cNvSpPr txBox="1"/>
          <p:nvPr/>
        </p:nvSpPr>
        <p:spPr>
          <a:xfrm>
            <a:off x="6304915" y="2633663"/>
            <a:ext cx="1360488"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3.4-22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0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graphicFrame>
        <p:nvGraphicFramePr>
          <p:cNvPr id="45067" name="Object 11"/>
          <p:cNvGraphicFramePr>
            <a:graphicFrameLocks noChangeAspect="1"/>
          </p:cNvGraphicFramePr>
          <p:nvPr/>
        </p:nvGraphicFramePr>
        <p:xfrm>
          <a:off x="1368425" y="1140619"/>
          <a:ext cx="2458720" cy="374015"/>
        </p:xfrm>
        <a:graphic>
          <a:graphicData uri="http://schemas.openxmlformats.org/presentationml/2006/ole">
            <mc:AlternateContent xmlns:mc="http://schemas.openxmlformats.org/markup-compatibility/2006">
              <mc:Choice xmlns:v="urn:schemas-microsoft-com:vml" Requires="v">
                <p:oleObj spid="_x0000_s3095" name="" r:id="rId1" imgW="1346200" imgH="203200" progId="Equation.3">
                  <p:embed/>
                </p:oleObj>
              </mc:Choice>
              <mc:Fallback>
                <p:oleObj name="" r:id="rId1" imgW="1346200" imgH="203200" progId="Equation.3">
                  <p:embed/>
                  <p:pic>
                    <p:nvPicPr>
                      <p:cNvPr id="0" name="图片 3094"/>
                      <p:cNvPicPr/>
                      <p:nvPr/>
                    </p:nvPicPr>
                    <p:blipFill>
                      <a:blip r:embed="rId2"/>
                      <a:stretch>
                        <a:fillRect/>
                      </a:stretch>
                    </p:blipFill>
                    <p:spPr>
                      <a:xfrm>
                        <a:off x="1368425" y="1140619"/>
                        <a:ext cx="2458720" cy="374015"/>
                      </a:xfrm>
                      <a:prstGeom prst="rect">
                        <a:avLst/>
                      </a:prstGeom>
                      <a:noFill/>
                      <a:ln w="38100">
                        <a:noFill/>
                        <a:miter/>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4052253" y="1026160"/>
          <a:ext cx="1476375" cy="501015"/>
        </p:xfrm>
        <a:graphic>
          <a:graphicData uri="http://schemas.openxmlformats.org/presentationml/2006/ole">
            <mc:AlternateContent xmlns:mc="http://schemas.openxmlformats.org/markup-compatibility/2006">
              <mc:Choice xmlns:v="urn:schemas-microsoft-com:vml" Requires="v">
                <p:oleObj spid="_x0000_s2049" name="" r:id="rId3" imgW="711200" imgH="241300" progId="Equation.KSEE3">
                  <p:embed/>
                </p:oleObj>
              </mc:Choice>
              <mc:Fallback>
                <p:oleObj name="" r:id="rId3" imgW="711200" imgH="241300" progId="Equation.KSEE3">
                  <p:embed/>
                  <p:pic>
                    <p:nvPicPr>
                      <p:cNvPr id="0" name="图片 2048"/>
                      <p:cNvPicPr/>
                      <p:nvPr/>
                    </p:nvPicPr>
                    <p:blipFill>
                      <a:blip r:embed="rId4"/>
                      <a:stretch>
                        <a:fillRect/>
                      </a:stretch>
                    </p:blipFill>
                    <p:spPr>
                      <a:xfrm>
                        <a:off x="4052253" y="1026160"/>
                        <a:ext cx="1476375" cy="501015"/>
                      </a:xfrm>
                      <a:prstGeom prst="rect">
                        <a:avLst/>
                      </a:prstGeom>
                    </p:spPr>
                  </p:pic>
                </p:oleObj>
              </mc:Fallback>
            </mc:AlternateContent>
          </a:graphicData>
        </a:graphic>
      </p:graphicFrame>
      <p:sp>
        <p:nvSpPr>
          <p:cNvPr id="5" name="文本框 4"/>
          <p:cNvSpPr txBox="1"/>
          <p:nvPr/>
        </p:nvSpPr>
        <p:spPr>
          <a:xfrm>
            <a:off x="467360" y="1732280"/>
            <a:ext cx="8018145" cy="460375"/>
          </a:xfrm>
          <a:prstGeom prst="rect">
            <a:avLst/>
          </a:prstGeom>
          <a:noFill/>
        </p:spPr>
        <p:txBody>
          <a:bodyPr wrap="square" rtlCol="0">
            <a:spAutoFit/>
          </a:bodyPr>
          <a:p>
            <a:r>
              <a:rPr lang="zh-CN" altLang="en-US" sz="2400"/>
              <a:t>整理后可得直齿圆柱齿轮传动弯曲强度的设计公式：</a:t>
            </a:r>
            <a:endParaRPr lang="zh-CN" altLang="en-US" sz="2400"/>
          </a:p>
        </p:txBody>
      </p:sp>
      <p:graphicFrame>
        <p:nvGraphicFramePr>
          <p:cNvPr id="3" name="对象 2">
            <a:hlinkClick r:id="" action="ppaction://ole?verb="/>
          </p:cNvPr>
          <p:cNvGraphicFramePr>
            <a:graphicFrameLocks noChangeAspect="1"/>
          </p:cNvGraphicFramePr>
          <p:nvPr/>
        </p:nvGraphicFramePr>
        <p:xfrm>
          <a:off x="2239645" y="2543810"/>
          <a:ext cx="2580005" cy="1070610"/>
        </p:xfrm>
        <a:graphic>
          <a:graphicData uri="http://schemas.openxmlformats.org/presentationml/2006/ole">
            <mc:AlternateContent xmlns:mc="http://schemas.openxmlformats.org/markup-compatibility/2006">
              <mc:Choice xmlns:v="urn:schemas-microsoft-com:vml" Requires="v">
                <p:oleObj spid="_x0000_s1025" name="" r:id="rId5" imgW="1193800" imgH="495300" progId="Equation.KSEE3">
                  <p:embed/>
                </p:oleObj>
              </mc:Choice>
              <mc:Fallback>
                <p:oleObj name="" r:id="rId5" imgW="1193800" imgH="495300" progId="Equation.KSEE3">
                  <p:embed/>
                  <p:pic>
                    <p:nvPicPr>
                      <p:cNvPr id="0" name="图片 1024"/>
                      <p:cNvPicPr/>
                      <p:nvPr/>
                    </p:nvPicPr>
                    <p:blipFill>
                      <a:blip r:embed="rId6"/>
                      <a:stretch>
                        <a:fillRect/>
                      </a:stretch>
                    </p:blipFill>
                    <p:spPr>
                      <a:xfrm>
                        <a:off x="2239645" y="2543810"/>
                        <a:ext cx="2580005" cy="1070610"/>
                      </a:xfrm>
                      <a:prstGeom prst="rect">
                        <a:avLst/>
                      </a:prstGeom>
                    </p:spPr>
                  </p:pic>
                </p:oleObj>
              </mc:Fallback>
            </mc:AlternateContent>
          </a:graphicData>
        </a:graphic>
      </p:graphicFrame>
      <p:sp>
        <p:nvSpPr>
          <p:cNvPr id="15" name="文本框 14"/>
          <p:cNvSpPr txBox="1"/>
          <p:nvPr/>
        </p:nvSpPr>
        <p:spPr>
          <a:xfrm>
            <a:off x="1802765" y="4144010"/>
            <a:ext cx="4712335" cy="460375"/>
          </a:xfrm>
          <a:prstGeom prst="rect">
            <a:avLst/>
          </a:prstGeom>
          <a:noFill/>
        </p:spPr>
        <p:txBody>
          <a:bodyPr wrap="square" rtlCol="0">
            <a:spAutoFit/>
          </a:bodyPr>
          <a:p>
            <a:r>
              <a:rPr lang="zh-CN" altLang="en-US" sz="2400"/>
              <a:t>模数</a:t>
            </a:r>
            <a:r>
              <a:rPr lang="en-US" altLang="zh-CN" sz="2400"/>
              <a:t>m </a:t>
            </a:r>
            <a:r>
              <a:rPr lang="zh-CN" altLang="en-US" sz="2400"/>
              <a:t>取标准值</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45067"/>
                                        </p:tgtEl>
                                        <p:attrNameLst>
                                          <p:attrName>style.visibility</p:attrName>
                                        </p:attrNameLst>
                                      </p:cBhvr>
                                      <p:to>
                                        <p:strVal val="visible"/>
                                      </p:to>
                                    </p:set>
                                    <p:animEffect transition="in" filter="dissolve">
                                      <p:cBhvr>
                                        <p:cTn id="13" dur="500"/>
                                        <p:tgtEl>
                                          <p:spTgt spid="45067"/>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9712"/>
                                        </p:tgtEl>
                                        <p:attrNameLst>
                                          <p:attrName>style.visibility</p:attrName>
                                        </p:attrNameLst>
                                      </p:cBhvr>
                                      <p:to>
                                        <p:strVal val="visible"/>
                                      </p:to>
                                    </p:set>
                                    <p:animEffect transition="in" filter="wipe(left)">
                                      <p:cBhvr>
                                        <p:cTn id="31" dur="500"/>
                                        <p:tgtEl>
                                          <p:spTgt spid="29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5" grpId="0"/>
      <p:bldP spid="297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29699" name="Text Box 5"/>
          <p:cNvSpPr txBox="1"/>
          <p:nvPr/>
        </p:nvSpPr>
        <p:spPr>
          <a:xfrm>
            <a:off x="2500630" y="212725"/>
            <a:ext cx="5840095" cy="549275"/>
          </a:xfrm>
          <a:prstGeom prst="rect">
            <a:avLst/>
          </a:prstGeom>
          <a:noFill/>
          <a:ln w="9525">
            <a:noFill/>
          </a:ln>
        </p:spPr>
        <p:txBody>
          <a:bodyPr tIns="36000" bIns="72000" anchor="ctr" anchorCtr="1"/>
          <a:p>
            <a:pPr eaLnBrk="1" hangingPunct="1"/>
            <a:r>
              <a:rPr lang="en-US" altLang="zh-CN" sz="3000" dirty="0">
                <a:solidFill>
                  <a:srgbClr val="CC3300"/>
                </a:solidFill>
                <a:latin typeface="黑体" panose="02010609060101010101" pitchFamily="49" charset="-122"/>
                <a:ea typeface="黑体" panose="02010609060101010101" pitchFamily="49" charset="-122"/>
              </a:rPr>
              <a:t>3.4-4  </a:t>
            </a:r>
            <a:r>
              <a:rPr lang="zh-CN" altLang="en-US" sz="3000" dirty="0">
                <a:solidFill>
                  <a:srgbClr val="CC3300"/>
                </a:solidFill>
                <a:latin typeface="黑体" panose="02010609060101010101" pitchFamily="49" charset="-122"/>
                <a:ea typeface="黑体" panose="02010609060101010101" pitchFamily="49" charset="-122"/>
              </a:rPr>
              <a:t>标准圆柱齿轮传动的设计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29700" name="Picture 23"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29701" name="Picture 24" descr="rewind">
            <a:hlinkClick r:id="" action="ppaction://hlinkshowjump?jump=firstslide"/>
          </p:cNvPr>
          <p:cNvPicPr>
            <a:picLocks noChangeAspect="1"/>
          </p:cNvPicPr>
          <p:nvPr/>
        </p:nvPicPr>
        <p:blipFill>
          <a:blip r:embed="rId2"/>
          <a:stretch>
            <a:fillRect/>
          </a:stretch>
        </p:blipFill>
        <p:spPr>
          <a:xfrm>
            <a:off x="81438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pic>
        <p:nvPicPr>
          <p:cNvPr id="29703" name="Picture 29" descr="back">
            <a:hlinkClick r:id="" action="ppaction://hlinkshowjump?jump=previousslide"/>
          </p:cNvPr>
          <p:cNvPicPr>
            <a:picLocks noChangeAspect="1"/>
          </p:cNvPicPr>
          <p:nvPr/>
        </p:nvPicPr>
        <p:blipFill>
          <a:blip r:embed="rId3"/>
          <a:stretch>
            <a:fillRect/>
          </a:stretch>
        </p:blipFill>
        <p:spPr>
          <a:xfrm>
            <a:off x="8485188" y="6538913"/>
            <a:ext cx="287337" cy="287337"/>
          </a:xfrm>
          <a:prstGeom prst="rect">
            <a:avLst/>
          </a:prstGeom>
          <a:noFill/>
          <a:ln w="9525">
            <a:noFill/>
          </a:ln>
        </p:spPr>
      </p:pic>
      <p:sp>
        <p:nvSpPr>
          <p:cNvPr id="29704"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9706"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9708" name="Rectangle 2"/>
          <p:cNvSpPr/>
          <p:nvPr/>
        </p:nvSpPr>
        <p:spPr>
          <a:xfrm>
            <a:off x="2971800" y="2633663"/>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9709" name="文本框 8"/>
          <p:cNvSpPr txBox="1"/>
          <p:nvPr/>
        </p:nvSpPr>
        <p:spPr>
          <a:xfrm>
            <a:off x="7105015" y="3833813"/>
            <a:ext cx="1360488"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3.4-21</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6" name="文本框 15"/>
          <p:cNvSpPr txBox="1">
            <a:spLocks noRot="1" noChangeAspect="1" noMove="1" noResize="1" noEditPoints="1" noAdjustHandles="1" noChangeArrowheads="1" noChangeShapeType="1" noTextEdit="1"/>
          </p:cNvSpPr>
          <p:nvPr/>
        </p:nvSpPr>
        <p:spPr>
          <a:xfrm>
            <a:off x="1051560" y="4632325"/>
            <a:ext cx="3190875" cy="455295"/>
          </a:xfrm>
          <a:prstGeom prst="rect">
            <a:avLst/>
          </a:prstGeom>
          <a:blipFill>
            <a:blip r:embed="rId4"/>
            <a:stretch>
              <a:fillRect l="-2037" t="-7143" r="-2037" b="-18571"/>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0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2" name="文本框 1"/>
          <p:cNvSpPr txBox="1"/>
          <p:nvPr/>
        </p:nvSpPr>
        <p:spPr>
          <a:xfrm>
            <a:off x="527050" y="1257300"/>
            <a:ext cx="8110220" cy="1420495"/>
          </a:xfrm>
          <a:prstGeom prst="rect">
            <a:avLst/>
          </a:prstGeom>
          <a:noFill/>
        </p:spPr>
        <p:txBody>
          <a:bodyPr wrap="square" rtlCol="0">
            <a:spAutoFit/>
          </a:bodyPr>
          <a:p>
            <a:pPr eaLnBrk="1" latinLnBrk="0" hangingPunct="1">
              <a:lnSpc>
                <a:spcPct val="120000"/>
              </a:lnSpc>
            </a:pPr>
            <a:r>
              <a:rPr lang="en-US" altLang="zh-CN" sz="2400"/>
              <a:t>      </a:t>
            </a:r>
            <a:r>
              <a:rPr lang="zh-CN" altLang="en-US" sz="2400"/>
              <a:t>分析斜齿轮轮齿的弯曲应力时仍可按直齿轮传动中的方法，将式</a:t>
            </a:r>
            <a:r>
              <a:rPr lang="en-US" altLang="zh-CN" sz="2400"/>
              <a:t>(3.4-20)</a:t>
            </a:r>
            <a:r>
              <a:rPr lang="zh-CN" altLang="en-US" sz="2400"/>
              <a:t>中应以法面模数</a:t>
            </a:r>
            <a:r>
              <a:rPr lang="en-US" altLang="zh-CN" sz="2400" i="1">
                <a:solidFill>
                  <a:srgbClr val="C00000"/>
                </a:solidFill>
              </a:rPr>
              <a:t>m</a:t>
            </a:r>
            <a:r>
              <a:rPr lang="en-US" altLang="zh-CN" sz="2400" i="1" baseline="-25000">
                <a:solidFill>
                  <a:srgbClr val="C00000"/>
                </a:solidFill>
              </a:rPr>
              <a:t>n</a:t>
            </a:r>
            <a:r>
              <a:rPr lang="zh-CN" altLang="en-US" sz="2400"/>
              <a:t>代替</a:t>
            </a:r>
            <a:r>
              <a:rPr lang="en-US" altLang="zh-CN" sz="2400" i="1">
                <a:solidFill>
                  <a:srgbClr val="0000FF"/>
                </a:solidFill>
              </a:rPr>
              <a:t>m</a:t>
            </a:r>
            <a:r>
              <a:rPr lang="zh-CN" altLang="en-US" sz="2400"/>
              <a:t>，并且齿形系数</a:t>
            </a:r>
            <a:r>
              <a:rPr lang="en-US" altLang="zh-CN" sz="2400" i="1"/>
              <a:t>Y</a:t>
            </a:r>
            <a:r>
              <a:rPr lang="en-US" altLang="zh-CN" sz="2400" i="1" baseline="-25000"/>
              <a:t>F</a:t>
            </a:r>
            <a:r>
              <a:rPr lang="zh-CN" altLang="en-US" sz="2400"/>
              <a:t>应根据当量齿数</a:t>
            </a:r>
            <a:r>
              <a:rPr lang="en-US" altLang="zh-CN" sz="2400" i="1" baseline="-25000">
                <a:solidFill>
                  <a:srgbClr val="FF0000"/>
                </a:solidFill>
              </a:rPr>
              <a:t>                                       </a:t>
            </a:r>
            <a:r>
              <a:rPr lang="zh-CN" altLang="en-US" sz="2400"/>
              <a:t>由图</a:t>
            </a:r>
            <a:r>
              <a:rPr lang="en-US" altLang="zh-CN" sz="2400"/>
              <a:t>3.4-16</a:t>
            </a:r>
            <a:r>
              <a:rPr lang="zh-CN" altLang="en-US" sz="2400"/>
              <a:t>中查得。</a:t>
            </a:r>
            <a:endParaRPr lang="zh-CN" altLang="en-US" sz="2400"/>
          </a:p>
        </p:txBody>
      </p:sp>
      <p:sp>
        <p:nvSpPr>
          <p:cNvPr id="3" name="文本框 2"/>
          <p:cNvSpPr txBox="1"/>
          <p:nvPr/>
        </p:nvSpPr>
        <p:spPr>
          <a:xfrm>
            <a:off x="465455" y="2912110"/>
            <a:ext cx="8500745" cy="460375"/>
          </a:xfrm>
          <a:prstGeom prst="rect">
            <a:avLst/>
          </a:prstGeom>
          <a:noFill/>
        </p:spPr>
        <p:txBody>
          <a:bodyPr wrap="square" rtlCol="0">
            <a:spAutoFit/>
          </a:bodyPr>
          <a:p>
            <a:r>
              <a:rPr lang="zh-CN" altLang="en-US" sz="2400"/>
              <a:t>考虑斜齿轮受力的不同，斜齿轮齿根弯曲应力的验算公式为：</a:t>
            </a:r>
            <a:endParaRPr lang="zh-CN" altLang="en-US" sz="2400"/>
          </a:p>
        </p:txBody>
      </p:sp>
      <p:grpSp>
        <p:nvGrpSpPr>
          <p:cNvPr id="6" name="组合 5"/>
          <p:cNvGrpSpPr/>
          <p:nvPr/>
        </p:nvGrpSpPr>
        <p:grpSpPr>
          <a:xfrm>
            <a:off x="832485" y="5354955"/>
            <a:ext cx="7213600" cy="699770"/>
            <a:chOff x="1327" y="8351"/>
            <a:chExt cx="11360" cy="1102"/>
          </a:xfrm>
        </p:grpSpPr>
        <p:sp>
          <p:nvSpPr>
            <p:cNvPr id="4" name="文本框 3"/>
            <p:cNvSpPr txBox="1"/>
            <p:nvPr/>
          </p:nvSpPr>
          <p:spPr>
            <a:xfrm>
              <a:off x="1327" y="8572"/>
              <a:ext cx="9943" cy="725"/>
            </a:xfrm>
            <a:prstGeom prst="rect">
              <a:avLst/>
            </a:prstGeom>
            <a:noFill/>
          </p:spPr>
          <p:txBody>
            <a:bodyPr wrap="square" rtlCol="0">
              <a:spAutoFit/>
            </a:bodyPr>
            <a:p>
              <a:r>
                <a:rPr lang="zh-CN" altLang="en-US" sz="2400"/>
                <a:t>根据试验研究，推荐</a:t>
              </a:r>
              <a:endParaRPr lang="zh-CN" altLang="en-US" sz="2400"/>
            </a:p>
          </p:txBody>
        </p:sp>
        <p:graphicFrame>
          <p:nvGraphicFramePr>
            <p:cNvPr id="5" name="对象 4">
              <a:hlinkClick r:id="" action="ppaction://ole?verb="/>
            </p:cNvPr>
            <p:cNvGraphicFramePr>
              <a:graphicFrameLocks noChangeAspect="1"/>
            </p:cNvGraphicFramePr>
            <p:nvPr/>
          </p:nvGraphicFramePr>
          <p:xfrm>
            <a:off x="6045" y="8351"/>
            <a:ext cx="6643" cy="1102"/>
          </p:xfrm>
          <a:graphic>
            <a:graphicData uri="http://schemas.openxmlformats.org/presentationml/2006/ole">
              <mc:AlternateContent xmlns:mc="http://schemas.openxmlformats.org/markup-compatibility/2006">
                <mc:Choice xmlns:v="urn:schemas-microsoft-com:vml" Requires="v">
                  <p:oleObj spid="_x0000_s1025" name="" r:id="rId5" imgW="2374265" imgH="393700" progId="Equation.KSEE3">
                    <p:embed/>
                  </p:oleObj>
                </mc:Choice>
                <mc:Fallback>
                  <p:oleObj name="" r:id="rId5" imgW="2374265" imgH="393700" progId="Equation.KSEE3">
                    <p:embed/>
                    <p:pic>
                      <p:nvPicPr>
                        <p:cNvPr id="0" name="图片 1024"/>
                        <p:cNvPicPr/>
                        <p:nvPr/>
                      </p:nvPicPr>
                      <p:blipFill>
                        <a:blip r:embed="rId6"/>
                        <a:stretch>
                          <a:fillRect/>
                        </a:stretch>
                      </p:blipFill>
                      <p:spPr>
                        <a:xfrm>
                          <a:off x="6045" y="8351"/>
                          <a:ext cx="6643" cy="1102"/>
                        </a:xfrm>
                        <a:prstGeom prst="rect">
                          <a:avLst/>
                        </a:prstGeom>
                      </p:spPr>
                    </p:pic>
                  </p:oleObj>
                </mc:Fallback>
              </mc:AlternateContent>
            </a:graphicData>
          </a:graphic>
        </p:graphicFrame>
      </p:grpSp>
      <p:graphicFrame>
        <p:nvGraphicFramePr>
          <p:cNvPr id="7184" name="Object 14"/>
          <p:cNvGraphicFramePr>
            <a:graphicFrameLocks noChangeAspect="1"/>
          </p:cNvGraphicFramePr>
          <p:nvPr/>
        </p:nvGraphicFramePr>
        <p:xfrm>
          <a:off x="2810193" y="2039303"/>
          <a:ext cx="1658620" cy="842010"/>
        </p:xfrm>
        <a:graphic>
          <a:graphicData uri="http://schemas.openxmlformats.org/presentationml/2006/ole">
            <mc:AlternateContent xmlns:mc="http://schemas.openxmlformats.org/markup-compatibility/2006">
              <mc:Choice xmlns:v="urn:schemas-microsoft-com:vml" Requires="v">
                <p:oleObj spid="_x0000_s3092" name="" r:id="rId7" imgW="825500" imgH="419100" progId="Equation.3">
                  <p:embed/>
                </p:oleObj>
              </mc:Choice>
              <mc:Fallback>
                <p:oleObj name="" r:id="rId7" imgW="825500" imgH="419100" progId="Equation.3">
                  <p:embed/>
                  <p:pic>
                    <p:nvPicPr>
                      <p:cNvPr id="0" name="图片 3091"/>
                      <p:cNvPicPr/>
                      <p:nvPr/>
                    </p:nvPicPr>
                    <p:blipFill>
                      <a:blip r:embed="rId8"/>
                      <a:stretch>
                        <a:fillRect/>
                      </a:stretch>
                    </p:blipFill>
                    <p:spPr>
                      <a:xfrm>
                        <a:off x="2810193" y="2039303"/>
                        <a:ext cx="1658620" cy="842010"/>
                      </a:xfrm>
                      <a:prstGeom prst="rect">
                        <a:avLst/>
                      </a:prstGeom>
                      <a:noFill/>
                      <a:ln w="38100">
                        <a:noFill/>
                        <a:miter/>
                      </a:ln>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1102678" y="3515043"/>
          <a:ext cx="5507355" cy="945515"/>
        </p:xfrm>
        <a:graphic>
          <a:graphicData uri="http://schemas.openxmlformats.org/presentationml/2006/ole">
            <mc:AlternateContent xmlns:mc="http://schemas.openxmlformats.org/markup-compatibility/2006">
              <mc:Choice xmlns:v="urn:schemas-microsoft-com:vml" Requires="v">
                <p:oleObj spid="_x0000_s4097" name="" r:id="rId9" imgW="2590800" imgH="444500" progId="Equation.KSEE3">
                  <p:embed/>
                </p:oleObj>
              </mc:Choice>
              <mc:Fallback>
                <p:oleObj name="" r:id="rId9" imgW="2590800" imgH="444500" progId="Equation.KSEE3">
                  <p:embed/>
                  <p:pic>
                    <p:nvPicPr>
                      <p:cNvPr id="0" name="图片 4096"/>
                      <p:cNvPicPr/>
                      <p:nvPr/>
                    </p:nvPicPr>
                    <p:blipFill>
                      <a:blip r:embed="rId10"/>
                      <a:stretch>
                        <a:fillRect/>
                      </a:stretch>
                    </p:blipFill>
                    <p:spPr>
                      <a:xfrm>
                        <a:off x="1102678" y="3515043"/>
                        <a:ext cx="5507355" cy="945515"/>
                      </a:xfrm>
                      <a:prstGeom prst="rect">
                        <a:avLst/>
                      </a:prstGeom>
                      <a:solidFill>
                        <a:schemeClr val="accent1">
                          <a:lumMod val="60000"/>
                          <a:lumOff val="40000"/>
                        </a:schemeClr>
                      </a:solidFill>
                    </p:spPr>
                  </p:pic>
                </p:oleObj>
              </mc:Fallback>
            </mc:AlternateContent>
          </a:graphicData>
        </a:graphic>
      </p:graphicFrame>
      <p:sp>
        <p:nvSpPr>
          <p:cNvPr id="9" name="文本框 8"/>
          <p:cNvSpPr txBox="1"/>
          <p:nvPr/>
        </p:nvSpPr>
        <p:spPr>
          <a:xfrm>
            <a:off x="502285" y="829945"/>
            <a:ext cx="5143500" cy="460375"/>
          </a:xfrm>
          <a:prstGeom prst="rect">
            <a:avLst/>
          </a:prstGeom>
          <a:noFill/>
        </p:spPr>
        <p:txBody>
          <a:bodyPr wrap="square" rtlCol="0">
            <a:spAutoFit/>
          </a:bodyPr>
          <a:p>
            <a:r>
              <a:rPr lang="en-US" altLang="zh-CN" sz="2400">
                <a:solidFill>
                  <a:srgbClr val="0000FF"/>
                </a:solidFill>
              </a:rPr>
              <a:t>2</a:t>
            </a:r>
            <a:r>
              <a:rPr lang="zh-CN" altLang="en-US" sz="2400">
                <a:solidFill>
                  <a:srgbClr val="0000FF"/>
                </a:solidFill>
              </a:rPr>
              <a:t>、斜齿圆柱齿轮齿根弯曲强度计算</a:t>
            </a:r>
            <a:endParaRPr lang="zh-CN" altLang="en-US" sz="240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184"/>
                                        </p:tgtEl>
                                        <p:attrNameLst>
                                          <p:attrName>style.visibility</p:attrName>
                                        </p:attrNameLst>
                                      </p:cBhvr>
                                      <p:to>
                                        <p:strVal val="visible"/>
                                      </p:to>
                                    </p:set>
                                    <p:animEffect transition="in" filter="wipe(down)">
                                      <p:cBhvr>
                                        <p:cTn id="11" dur="500"/>
                                        <p:tgtEl>
                                          <p:spTgt spid="718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9709"/>
                                        </p:tgtEl>
                                        <p:attrNameLst>
                                          <p:attrName>style.visibility</p:attrName>
                                        </p:attrNameLst>
                                      </p:cBhvr>
                                      <p:to>
                                        <p:strVal val="visible"/>
                                      </p:to>
                                    </p:set>
                                    <p:animEffect transition="in" filter="wipe(left)">
                                      <p:cBhvr>
                                        <p:cTn id="24" dur="500"/>
                                        <p:tgtEl>
                                          <p:spTgt spid="2970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9709" grpId="0"/>
      <p:bldP spid="16" grpId="0" bldLvl="0" animBg="1"/>
      <p:bldP spid="2"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29699" name="Text Box 5"/>
          <p:cNvSpPr txBox="1"/>
          <p:nvPr/>
        </p:nvSpPr>
        <p:spPr>
          <a:xfrm>
            <a:off x="2500630" y="212725"/>
            <a:ext cx="5840095" cy="549275"/>
          </a:xfrm>
          <a:prstGeom prst="rect">
            <a:avLst/>
          </a:prstGeom>
          <a:noFill/>
          <a:ln w="9525">
            <a:noFill/>
          </a:ln>
        </p:spPr>
        <p:txBody>
          <a:bodyPr tIns="36000" bIns="72000" anchor="ctr" anchorCtr="1"/>
          <a:p>
            <a:pPr eaLnBrk="1" hangingPunct="1"/>
            <a:r>
              <a:rPr lang="en-US" altLang="zh-CN" sz="3000" dirty="0">
                <a:solidFill>
                  <a:srgbClr val="CC3300"/>
                </a:solidFill>
                <a:latin typeface="黑体" panose="02010609060101010101" pitchFamily="49" charset="-122"/>
                <a:ea typeface="黑体" panose="02010609060101010101" pitchFamily="49" charset="-122"/>
              </a:rPr>
              <a:t>3.4-4  </a:t>
            </a:r>
            <a:r>
              <a:rPr lang="zh-CN" altLang="en-US" sz="3000" dirty="0">
                <a:solidFill>
                  <a:srgbClr val="CC3300"/>
                </a:solidFill>
                <a:latin typeface="黑体" panose="02010609060101010101" pitchFamily="49" charset="-122"/>
                <a:ea typeface="黑体" panose="02010609060101010101" pitchFamily="49" charset="-122"/>
              </a:rPr>
              <a:t>标准圆柱齿轮传动的设计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29704"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9706"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9708" name="Rectangle 2"/>
          <p:cNvSpPr/>
          <p:nvPr/>
        </p:nvSpPr>
        <p:spPr>
          <a:xfrm>
            <a:off x="2971800" y="2633663"/>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9712" name="文本框 8"/>
          <p:cNvSpPr txBox="1"/>
          <p:nvPr/>
        </p:nvSpPr>
        <p:spPr>
          <a:xfrm>
            <a:off x="6304915" y="2633663"/>
            <a:ext cx="1360488"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3.4-22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pic>
        <p:nvPicPr>
          <p:cNvPr id="29715" name="图片 2"/>
          <p:cNvPicPr>
            <a:picLocks noChangeAspect="1"/>
          </p:cNvPicPr>
          <p:nvPr/>
        </p:nvPicPr>
        <p:blipFill>
          <a:blip r:embed="rId1"/>
          <a:stretch>
            <a:fillRect/>
          </a:stretch>
        </p:blipFill>
        <p:spPr>
          <a:xfrm>
            <a:off x="1879600" y="2181860"/>
            <a:ext cx="3763645" cy="1122680"/>
          </a:xfrm>
          <a:prstGeom prst="rect">
            <a:avLst/>
          </a:prstGeom>
          <a:noFill/>
          <a:ln w="9525">
            <a:noFill/>
          </a:ln>
        </p:spPr>
      </p:pic>
      <p:sp>
        <p:nvSpPr>
          <p:cNvPr id="207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graphicFrame>
        <p:nvGraphicFramePr>
          <p:cNvPr id="45067" name="Object 11"/>
          <p:cNvGraphicFramePr>
            <a:graphicFrameLocks noChangeAspect="1"/>
          </p:cNvGraphicFramePr>
          <p:nvPr/>
        </p:nvGraphicFramePr>
        <p:xfrm>
          <a:off x="1619885" y="1110139"/>
          <a:ext cx="2458720" cy="374015"/>
        </p:xfrm>
        <a:graphic>
          <a:graphicData uri="http://schemas.openxmlformats.org/presentationml/2006/ole">
            <mc:AlternateContent xmlns:mc="http://schemas.openxmlformats.org/markup-compatibility/2006">
              <mc:Choice xmlns:v="urn:schemas-microsoft-com:vml" Requires="v">
                <p:oleObj spid="_x0000_s3095" name="" r:id="rId2" imgW="1346200" imgH="203200" progId="Equation.3">
                  <p:embed/>
                </p:oleObj>
              </mc:Choice>
              <mc:Fallback>
                <p:oleObj name="" r:id="rId2" imgW="1346200" imgH="203200" progId="Equation.3">
                  <p:embed/>
                  <p:pic>
                    <p:nvPicPr>
                      <p:cNvPr id="0" name="图片 3094"/>
                      <p:cNvPicPr/>
                      <p:nvPr/>
                    </p:nvPicPr>
                    <p:blipFill>
                      <a:blip r:embed="rId3"/>
                      <a:stretch>
                        <a:fillRect/>
                      </a:stretch>
                    </p:blipFill>
                    <p:spPr>
                      <a:xfrm>
                        <a:off x="1619885" y="1110139"/>
                        <a:ext cx="2458720" cy="374015"/>
                      </a:xfrm>
                      <a:prstGeom prst="rect">
                        <a:avLst/>
                      </a:prstGeom>
                      <a:noFill/>
                      <a:ln w="38100">
                        <a:noFill/>
                        <a:miter/>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4236720" y="862330"/>
          <a:ext cx="3174365" cy="769620"/>
        </p:xfrm>
        <a:graphic>
          <a:graphicData uri="http://schemas.openxmlformats.org/presentationml/2006/ole">
            <mc:AlternateContent xmlns:mc="http://schemas.openxmlformats.org/markup-compatibility/2006">
              <mc:Choice xmlns:v="urn:schemas-microsoft-com:vml" Requires="v">
                <p:oleObj spid="_x0000_s2049" name="" r:id="rId4" imgW="1727200" imgH="419100" progId="Equation.KSEE3">
                  <p:embed/>
                </p:oleObj>
              </mc:Choice>
              <mc:Fallback>
                <p:oleObj name="" r:id="rId4" imgW="1727200" imgH="419100" progId="Equation.KSEE3">
                  <p:embed/>
                  <p:pic>
                    <p:nvPicPr>
                      <p:cNvPr id="0" name="图片 2048"/>
                      <p:cNvPicPr/>
                      <p:nvPr/>
                    </p:nvPicPr>
                    <p:blipFill>
                      <a:blip r:embed="rId5"/>
                      <a:stretch>
                        <a:fillRect/>
                      </a:stretch>
                    </p:blipFill>
                    <p:spPr>
                      <a:xfrm>
                        <a:off x="4236720" y="862330"/>
                        <a:ext cx="3174365" cy="769620"/>
                      </a:xfrm>
                      <a:prstGeom prst="rect">
                        <a:avLst/>
                      </a:prstGeom>
                    </p:spPr>
                  </p:pic>
                </p:oleObj>
              </mc:Fallback>
            </mc:AlternateContent>
          </a:graphicData>
        </a:graphic>
      </p:graphicFrame>
      <p:sp>
        <p:nvSpPr>
          <p:cNvPr id="5" name="文本框 4"/>
          <p:cNvSpPr txBox="1"/>
          <p:nvPr/>
        </p:nvSpPr>
        <p:spPr>
          <a:xfrm>
            <a:off x="487680" y="1650365"/>
            <a:ext cx="8018145" cy="460375"/>
          </a:xfrm>
          <a:prstGeom prst="rect">
            <a:avLst/>
          </a:prstGeom>
          <a:noFill/>
        </p:spPr>
        <p:txBody>
          <a:bodyPr wrap="square" rtlCol="0">
            <a:spAutoFit/>
          </a:bodyPr>
          <a:p>
            <a:r>
              <a:rPr lang="zh-CN" altLang="en-US" sz="2400"/>
              <a:t>整理后可得圆柱齿轮传动弯曲强度的设计公式：</a:t>
            </a:r>
            <a:endParaRPr lang="zh-CN" altLang="en-US" sz="2400"/>
          </a:p>
        </p:txBody>
      </p:sp>
      <p:sp>
        <p:nvSpPr>
          <p:cNvPr id="6" name="文本框 5"/>
          <p:cNvSpPr txBox="1"/>
          <p:nvPr/>
        </p:nvSpPr>
        <p:spPr>
          <a:xfrm>
            <a:off x="488315" y="3345815"/>
            <a:ext cx="4589780" cy="460375"/>
          </a:xfrm>
          <a:prstGeom prst="rect">
            <a:avLst/>
          </a:prstGeom>
          <a:noFill/>
        </p:spPr>
        <p:txBody>
          <a:bodyPr wrap="square" rtlCol="0">
            <a:spAutoFit/>
          </a:bodyPr>
          <a:p>
            <a:r>
              <a:rPr lang="zh-CN" altLang="en-US" sz="2400"/>
              <a:t>许用弯曲应力</a:t>
            </a:r>
            <a:r>
              <a:rPr lang="en-US" altLang="zh-CN" sz="2400"/>
              <a:t>[</a:t>
            </a:r>
            <a:r>
              <a:rPr lang="en-US" altLang="zh-CN" sz="2400">
                <a:sym typeface="Symbol" panose="05050102010706020507" charset="0"/>
              </a:rPr>
              <a:t></a:t>
            </a:r>
            <a:r>
              <a:rPr lang="en-US" altLang="zh-CN" sz="2400" baseline="-25000">
                <a:sym typeface="Symbol" panose="05050102010706020507" charset="0"/>
              </a:rPr>
              <a:t>F</a:t>
            </a:r>
            <a:r>
              <a:rPr lang="en-US" altLang="zh-CN" sz="2400">
                <a:sym typeface="Symbol" panose="05050102010706020507" charset="0"/>
              </a:rPr>
              <a:t>]</a:t>
            </a:r>
            <a:r>
              <a:rPr lang="zh-CN" altLang="en-US" sz="2400">
                <a:sym typeface="Symbol" panose="05050102010706020507" charset="0"/>
              </a:rPr>
              <a:t>可按下式计算：</a:t>
            </a:r>
            <a:endParaRPr lang="zh-CN" altLang="en-US" sz="2400">
              <a:sym typeface="Symbol" panose="05050102010706020507" charset="0"/>
            </a:endParaRPr>
          </a:p>
        </p:txBody>
      </p:sp>
      <p:graphicFrame>
        <p:nvGraphicFramePr>
          <p:cNvPr id="7" name="对象 6">
            <a:hlinkClick r:id="" action="ppaction://ole?verb="/>
          </p:cNvPr>
          <p:cNvGraphicFramePr>
            <a:graphicFrameLocks noChangeAspect="1"/>
          </p:cNvGraphicFramePr>
          <p:nvPr/>
        </p:nvGraphicFramePr>
        <p:xfrm>
          <a:off x="2408555" y="3888105"/>
          <a:ext cx="2810510" cy="884555"/>
        </p:xfrm>
        <a:graphic>
          <a:graphicData uri="http://schemas.openxmlformats.org/presentationml/2006/ole">
            <mc:AlternateContent xmlns:mc="http://schemas.openxmlformats.org/markup-compatibility/2006">
              <mc:Choice xmlns:v="urn:schemas-microsoft-com:vml" Requires="v">
                <p:oleObj spid="_x0000_s2050" name="" r:id="rId6" imgW="1371600" imgH="431800" progId="Equation.KSEE3">
                  <p:embed/>
                </p:oleObj>
              </mc:Choice>
              <mc:Fallback>
                <p:oleObj name="" r:id="rId6" imgW="1371600" imgH="431800" progId="Equation.KSEE3">
                  <p:embed/>
                  <p:pic>
                    <p:nvPicPr>
                      <p:cNvPr id="0" name="图片 2049"/>
                      <p:cNvPicPr/>
                      <p:nvPr/>
                    </p:nvPicPr>
                    <p:blipFill>
                      <a:blip r:embed="rId7"/>
                      <a:stretch>
                        <a:fillRect/>
                      </a:stretch>
                    </p:blipFill>
                    <p:spPr>
                      <a:xfrm>
                        <a:off x="2408555" y="3888105"/>
                        <a:ext cx="2810510" cy="884555"/>
                      </a:xfrm>
                      <a:prstGeom prst="rect">
                        <a:avLst/>
                      </a:prstGeom>
                    </p:spPr>
                  </p:pic>
                </p:oleObj>
              </mc:Fallback>
            </mc:AlternateContent>
          </a:graphicData>
        </a:graphic>
      </p:graphicFrame>
      <p:sp>
        <p:nvSpPr>
          <p:cNvPr id="8" name="文本框 8"/>
          <p:cNvSpPr txBox="1"/>
          <p:nvPr/>
        </p:nvSpPr>
        <p:spPr>
          <a:xfrm>
            <a:off x="6158865" y="4092258"/>
            <a:ext cx="1346835" cy="39878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3.4-23</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9" name="对象 8">
            <a:hlinkClick r:id="" action="ppaction://ole?verb="/>
          </p:cNvPr>
          <p:cNvGraphicFramePr>
            <a:graphicFrameLocks noChangeAspect="1"/>
          </p:cNvGraphicFramePr>
          <p:nvPr/>
        </p:nvGraphicFramePr>
        <p:xfrm>
          <a:off x="537210" y="4789805"/>
          <a:ext cx="6808470" cy="460375"/>
        </p:xfrm>
        <a:graphic>
          <a:graphicData uri="http://schemas.openxmlformats.org/presentationml/2006/ole">
            <mc:AlternateContent xmlns:mc="http://schemas.openxmlformats.org/markup-compatibility/2006">
              <mc:Choice xmlns:v="urn:schemas-microsoft-com:vml" Requires="v">
                <p:oleObj spid="_x0000_s2051" name="" r:id="rId8" imgW="3263900" imgH="228600" progId="Equation.KSEE3">
                  <p:embed/>
                </p:oleObj>
              </mc:Choice>
              <mc:Fallback>
                <p:oleObj name="" r:id="rId8" imgW="3263900" imgH="228600" progId="Equation.KSEE3">
                  <p:embed/>
                  <p:pic>
                    <p:nvPicPr>
                      <p:cNvPr id="0" name="图片 2050"/>
                      <p:cNvPicPr/>
                      <p:nvPr/>
                    </p:nvPicPr>
                    <p:blipFill>
                      <a:blip r:embed="rId9"/>
                      <a:stretch>
                        <a:fillRect/>
                      </a:stretch>
                    </p:blipFill>
                    <p:spPr>
                      <a:xfrm>
                        <a:off x="537210" y="4789805"/>
                        <a:ext cx="6808470" cy="460375"/>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639445" y="5313680"/>
          <a:ext cx="4836795" cy="426720"/>
        </p:xfrm>
        <a:graphic>
          <a:graphicData uri="http://schemas.openxmlformats.org/presentationml/2006/ole">
            <mc:AlternateContent xmlns:mc="http://schemas.openxmlformats.org/markup-compatibility/2006">
              <mc:Choice xmlns:v="urn:schemas-microsoft-com:vml" Requires="v">
                <p:oleObj spid="_x0000_s2" name="" r:id="rId10" imgW="2451100" imgH="215900" progId="Equation.KSEE3">
                  <p:embed/>
                </p:oleObj>
              </mc:Choice>
              <mc:Fallback>
                <p:oleObj name="" r:id="rId10" imgW="2451100" imgH="215900" progId="Equation.KSEE3">
                  <p:embed/>
                  <p:pic>
                    <p:nvPicPr>
                      <p:cNvPr id="0" name="图片 2050"/>
                      <p:cNvPicPr/>
                      <p:nvPr/>
                    </p:nvPicPr>
                    <p:blipFill>
                      <a:blip r:embed="rId11"/>
                      <a:stretch>
                        <a:fillRect/>
                      </a:stretch>
                    </p:blipFill>
                    <p:spPr>
                      <a:xfrm>
                        <a:off x="639445" y="5313680"/>
                        <a:ext cx="4836795" cy="42672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601345" y="5764530"/>
          <a:ext cx="4302760" cy="424815"/>
        </p:xfrm>
        <a:graphic>
          <a:graphicData uri="http://schemas.openxmlformats.org/presentationml/2006/ole">
            <mc:AlternateContent xmlns:mc="http://schemas.openxmlformats.org/markup-compatibility/2006">
              <mc:Choice xmlns:v="urn:schemas-microsoft-com:vml" Requires="v">
                <p:oleObj spid="_x0000_s12" name="" r:id="rId12" imgW="2324100" imgH="228600" progId="Equation.KSEE3">
                  <p:embed/>
                </p:oleObj>
              </mc:Choice>
              <mc:Fallback>
                <p:oleObj name="" r:id="rId12" imgW="2324100" imgH="228600" progId="Equation.KSEE3">
                  <p:embed/>
                  <p:pic>
                    <p:nvPicPr>
                      <p:cNvPr id="0" name="图片 2050"/>
                      <p:cNvPicPr/>
                      <p:nvPr/>
                    </p:nvPicPr>
                    <p:blipFill>
                      <a:blip r:embed="rId13"/>
                      <a:stretch>
                        <a:fillRect/>
                      </a:stretch>
                    </p:blipFill>
                    <p:spPr>
                      <a:xfrm>
                        <a:off x="601345" y="5764530"/>
                        <a:ext cx="4302760" cy="424815"/>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5590540" y="5795645"/>
          <a:ext cx="3048635" cy="407670"/>
        </p:xfrm>
        <a:graphic>
          <a:graphicData uri="http://schemas.openxmlformats.org/presentationml/2006/ole">
            <mc:AlternateContent xmlns:mc="http://schemas.openxmlformats.org/markup-compatibility/2006">
              <mc:Choice xmlns:v="urn:schemas-microsoft-com:vml" Requires="v">
                <p:oleObj spid="_x0000_s14" name="" r:id="rId14" imgW="1714500" imgH="228600" progId="Equation.KSEE3">
                  <p:embed/>
                </p:oleObj>
              </mc:Choice>
              <mc:Fallback>
                <p:oleObj name="" r:id="rId14" imgW="1714500" imgH="228600" progId="Equation.KSEE3">
                  <p:embed/>
                  <p:pic>
                    <p:nvPicPr>
                      <p:cNvPr id="0" name="图片 2050"/>
                      <p:cNvPicPr/>
                      <p:nvPr/>
                    </p:nvPicPr>
                    <p:blipFill>
                      <a:blip r:embed="rId15"/>
                      <a:stretch>
                        <a:fillRect/>
                      </a:stretch>
                    </p:blipFill>
                    <p:spPr>
                      <a:xfrm>
                        <a:off x="5590540" y="5795645"/>
                        <a:ext cx="3048635" cy="407670"/>
                      </a:xfrm>
                      <a:prstGeom prst="rect">
                        <a:avLst/>
                      </a:prstGeom>
                    </p:spPr>
                  </p:pic>
                </p:oleObj>
              </mc:Fallback>
            </mc:AlternateContent>
          </a:graphicData>
        </a:graphic>
      </p:graphicFrame>
      <p:sp>
        <p:nvSpPr>
          <p:cNvPr id="3" name="文本框 2"/>
          <p:cNvSpPr txBox="1"/>
          <p:nvPr/>
        </p:nvSpPr>
        <p:spPr>
          <a:xfrm>
            <a:off x="543560" y="6198870"/>
            <a:ext cx="4968240" cy="398780"/>
          </a:xfrm>
          <a:prstGeom prst="rect">
            <a:avLst/>
          </a:prstGeom>
          <a:noFill/>
        </p:spPr>
        <p:txBody>
          <a:bodyPr wrap="square" rtlCol="0">
            <a:spAutoFit/>
          </a:bodyPr>
          <a:p>
            <a:r>
              <a:rPr lang="zh-CN" altLang="en-US"/>
              <a:t>单面受载，</a:t>
            </a:r>
            <a:r>
              <a:rPr lang="en-US" altLang="zh-CN" i="1"/>
              <a:t>K</a:t>
            </a:r>
            <a:r>
              <a:rPr lang="en-US" altLang="zh-CN" i="1" baseline="-25000"/>
              <a:t>FC</a:t>
            </a:r>
            <a:r>
              <a:rPr lang="en-US" altLang="zh-CN"/>
              <a:t>=1;</a:t>
            </a:r>
            <a:r>
              <a:rPr lang="zh-CN" altLang="en-US"/>
              <a:t>双面受载，</a:t>
            </a:r>
            <a:r>
              <a:rPr lang="en-US" altLang="zh-CN" i="1"/>
              <a:t>K</a:t>
            </a:r>
            <a:r>
              <a:rPr lang="en-US" altLang="zh-CN" i="1" baseline="-25000"/>
              <a:t>FC</a:t>
            </a:r>
            <a:r>
              <a:rPr lang="en-US" altLang="zh-CN"/>
              <a:t>=0.7~0.8</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45067"/>
                                        </p:tgtEl>
                                        <p:attrNameLst>
                                          <p:attrName>style.visibility</p:attrName>
                                        </p:attrNameLst>
                                      </p:cBhvr>
                                      <p:to>
                                        <p:strVal val="visible"/>
                                      </p:to>
                                    </p:set>
                                    <p:animEffect transition="in" filter="dissolve">
                                      <p:cBhvr>
                                        <p:cTn id="13" dur="500"/>
                                        <p:tgtEl>
                                          <p:spTgt spid="45067"/>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9715"/>
                                        </p:tgtEl>
                                        <p:attrNameLst>
                                          <p:attrName>style.visibility</p:attrName>
                                        </p:attrNameLst>
                                      </p:cBhvr>
                                      <p:to>
                                        <p:strVal val="visible"/>
                                      </p:to>
                                    </p:set>
                                    <p:animEffect transition="in" filter="wipe(left)">
                                      <p:cBhvr>
                                        <p:cTn id="27" dur="500"/>
                                        <p:tgtEl>
                                          <p:spTgt spid="29715"/>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9712"/>
                                        </p:tgtEl>
                                        <p:attrNameLst>
                                          <p:attrName>style.visibility</p:attrName>
                                        </p:attrNameLst>
                                      </p:cBhvr>
                                      <p:to>
                                        <p:strVal val="visible"/>
                                      </p:to>
                                    </p:set>
                                    <p:animEffect transition="in" filter="wipe(left)">
                                      <p:cBhvr>
                                        <p:cTn id="31" dur="500"/>
                                        <p:tgtEl>
                                          <p:spTgt spid="297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wipe(left)">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3">
                                            <p:txEl>
                                              <p:pRg st="0" end="0"/>
                                            </p:txEl>
                                          </p:spTgt>
                                        </p:tgtEl>
                                        <p:attrNameLst>
                                          <p:attrName>style.visibility</p:attrName>
                                        </p:attrNameLst>
                                      </p:cBhvr>
                                      <p:to>
                                        <p:strVal val="visible"/>
                                      </p:to>
                                    </p:set>
                                    <p:animEffect transition="in" filter="wipe(left)">
                                      <p:cBhvr>
                                        <p:cTn id="65" dur="500"/>
                                        <p:tgtEl>
                                          <p:spTgt spid="3">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wipe(left)">
                                      <p:cBhvr>
                                        <p:cTn id="7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5" grpId="0"/>
      <p:bldP spid="29712" grpId="0"/>
      <p:bldP spid="6"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Grp="1" noChangeArrowheads="1"/>
          </p:cNvSpPr>
          <p:nvPr>
            <p:ph type="title"/>
          </p:nvPr>
        </p:nvSpPr>
        <p:spPr bwMode="auto">
          <a:xfrm>
            <a:off x="6084888" y="755650"/>
            <a:ext cx="1385887"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直齿圆柱齿轮强度计算</a:t>
            </a:r>
            <a:r>
              <a:rPr lang="en-US" altLang="zh-CN" sz="800" smtClean="0">
                <a:solidFill>
                  <a:schemeClr val="bg1"/>
                </a:solidFill>
                <a:ea typeface="黑体" panose="02010609060101010101" pitchFamily="49" charset="-122"/>
              </a:rPr>
              <a:t>3</a:t>
            </a:r>
            <a:endParaRPr lang="en-US" altLang="zh-CN" sz="800" smtClean="0">
              <a:solidFill>
                <a:schemeClr val="bg1"/>
              </a:solidFill>
              <a:ea typeface="黑体" panose="02010609060101010101" pitchFamily="49" charset="-122"/>
            </a:endParaRPr>
          </a:p>
        </p:txBody>
      </p:sp>
      <p:sp>
        <p:nvSpPr>
          <p:cNvPr id="61479" name="Text Box 39"/>
          <p:cNvSpPr txBox="1">
            <a:spLocks noChangeArrowheads="1"/>
          </p:cNvSpPr>
          <p:nvPr/>
        </p:nvSpPr>
        <p:spPr bwMode="auto">
          <a:xfrm>
            <a:off x="6797675" y="6315075"/>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sp>
        <p:nvSpPr>
          <p:cNvPr id="309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 Box 5"/>
          <p:cNvSpPr txBox="1">
            <a:spLocks noChangeArrowheads="1"/>
          </p:cNvSpPr>
          <p:nvPr/>
        </p:nvSpPr>
        <p:spPr bwMode="auto">
          <a:xfrm>
            <a:off x="1729105" y="206375"/>
            <a:ext cx="720788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 name="文本框 7"/>
          <p:cNvSpPr txBox="1"/>
          <p:nvPr/>
        </p:nvSpPr>
        <p:spPr>
          <a:xfrm>
            <a:off x="721360" y="968375"/>
            <a:ext cx="4007485" cy="398780"/>
          </a:xfrm>
          <a:prstGeom prst="rect">
            <a:avLst/>
          </a:prstGeom>
          <a:noFill/>
        </p:spPr>
        <p:txBody>
          <a:bodyPr wrap="square" rtlCol="0">
            <a:spAutoFit/>
          </a:bodyPr>
          <a:p>
            <a:r>
              <a:rPr lang="en-US" altLang="zh-CN" i="1"/>
              <a:t>K</a:t>
            </a:r>
            <a:r>
              <a:rPr lang="en-US" altLang="zh-CN" i="1" baseline="-25000"/>
              <a:t>FN   </a:t>
            </a:r>
            <a:r>
              <a:rPr lang="en-US" altLang="zh-CN"/>
              <a:t>—— </a:t>
            </a:r>
            <a:r>
              <a:rPr lang="zh-CN" altLang="en-US"/>
              <a:t>弯曲</a:t>
            </a:r>
            <a:r>
              <a:rPr lang="zh-CN" altLang="en-US"/>
              <a:t>疲劳寿命系数。</a:t>
            </a:r>
            <a:endParaRPr lang="zh-CN" altLang="en-US"/>
          </a:p>
        </p:txBody>
      </p:sp>
      <p:graphicFrame>
        <p:nvGraphicFramePr>
          <p:cNvPr id="10" name="对象 9">
            <a:hlinkClick r:id="" action="ppaction://ole?verb="/>
          </p:cNvPr>
          <p:cNvGraphicFramePr>
            <a:graphicFrameLocks noChangeAspect="1"/>
          </p:cNvGraphicFramePr>
          <p:nvPr/>
        </p:nvGraphicFramePr>
        <p:xfrm>
          <a:off x="4502785" y="1327785"/>
          <a:ext cx="3307715" cy="879475"/>
        </p:xfrm>
        <a:graphic>
          <a:graphicData uri="http://schemas.openxmlformats.org/presentationml/2006/ole">
            <mc:AlternateContent xmlns:mc="http://schemas.openxmlformats.org/markup-compatibility/2006">
              <mc:Choice xmlns:v="urn:schemas-microsoft-com:vml" Requires="v">
                <p:oleObj spid="_x0000_s4097" name="" r:id="rId1" imgW="1816100" imgH="482600" progId="Equation.KSEE3">
                  <p:embed/>
                </p:oleObj>
              </mc:Choice>
              <mc:Fallback>
                <p:oleObj name="" r:id="rId1" imgW="1816100" imgH="482600" progId="Equation.KSEE3">
                  <p:embed/>
                  <p:pic>
                    <p:nvPicPr>
                      <p:cNvPr id="0" name="图片 4096"/>
                      <p:cNvPicPr/>
                      <p:nvPr/>
                    </p:nvPicPr>
                    <p:blipFill>
                      <a:blip r:embed="rId2"/>
                      <a:stretch>
                        <a:fillRect/>
                      </a:stretch>
                    </p:blipFill>
                    <p:spPr>
                      <a:xfrm>
                        <a:off x="4502785" y="1327785"/>
                        <a:ext cx="3307715" cy="879475"/>
                      </a:xfrm>
                      <a:prstGeom prst="rect">
                        <a:avLst/>
                      </a:prstGeom>
                      <a:solidFill>
                        <a:schemeClr val="accent3">
                          <a:lumMod val="95000"/>
                        </a:schemeClr>
                      </a:solidFill>
                    </p:spPr>
                  </p:pic>
                </p:oleObj>
              </mc:Fallback>
            </mc:AlternateContent>
          </a:graphicData>
        </a:graphic>
      </p:graphicFrame>
      <p:sp>
        <p:nvSpPr>
          <p:cNvPr id="11" name="文本框 10"/>
          <p:cNvSpPr txBox="1"/>
          <p:nvPr/>
        </p:nvSpPr>
        <p:spPr>
          <a:xfrm>
            <a:off x="880745" y="3357880"/>
            <a:ext cx="7825105" cy="398780"/>
          </a:xfrm>
          <a:prstGeom prst="rect">
            <a:avLst/>
          </a:prstGeom>
          <a:noFill/>
        </p:spPr>
        <p:txBody>
          <a:bodyPr wrap="square" rtlCol="0">
            <a:spAutoFit/>
          </a:bodyPr>
          <a:p>
            <a:r>
              <a:rPr lang="zh-CN" altLang="en-US"/>
              <a:t>式中</a:t>
            </a:r>
            <a:r>
              <a:rPr lang="zh-CN" altLang="en-US" i="1"/>
              <a:t>：</a:t>
            </a:r>
            <a:r>
              <a:rPr lang="zh-CN" altLang="en-US">
                <a:sym typeface="+mn-ea"/>
              </a:rPr>
              <a:t>循环基数</a:t>
            </a:r>
            <a:r>
              <a:rPr lang="en-US" altLang="zh-CN" i="1"/>
              <a:t>N</a:t>
            </a:r>
            <a:r>
              <a:rPr lang="en-US" altLang="zh-CN" i="1" baseline="-25000"/>
              <a:t>F0  </a:t>
            </a:r>
            <a:r>
              <a:rPr lang="zh-CN" altLang="en-US"/>
              <a:t>可取</a:t>
            </a:r>
            <a:endParaRPr lang="zh-CN" altLang="en-US"/>
          </a:p>
        </p:txBody>
      </p:sp>
      <p:sp>
        <p:nvSpPr>
          <p:cNvPr id="13" name="文本框 12"/>
          <p:cNvSpPr txBox="1"/>
          <p:nvPr/>
        </p:nvSpPr>
        <p:spPr>
          <a:xfrm>
            <a:off x="565785" y="4081780"/>
            <a:ext cx="5102225" cy="398780"/>
          </a:xfrm>
          <a:prstGeom prst="rect">
            <a:avLst/>
          </a:prstGeom>
          <a:noFill/>
        </p:spPr>
        <p:txBody>
          <a:bodyPr wrap="square" rtlCol="0">
            <a:spAutoFit/>
          </a:bodyPr>
          <a:p>
            <a:r>
              <a:rPr lang="zh-CN" altLang="en-US">
                <a:solidFill>
                  <a:srgbClr val="C00000"/>
                </a:solidFill>
              </a:rPr>
              <a:t>当载荷稳定时，</a:t>
            </a:r>
            <a:r>
              <a:rPr lang="zh-CN" altLang="en-US"/>
              <a:t>当量应力循环次数</a:t>
            </a:r>
            <a:r>
              <a:rPr lang="en-US" altLang="zh-CN" i="1"/>
              <a:t>N</a:t>
            </a:r>
            <a:r>
              <a:rPr lang="en-US" altLang="zh-CN" i="1" baseline="-25000"/>
              <a:t>Fv</a:t>
            </a:r>
            <a:r>
              <a:rPr lang="zh-CN" altLang="en-US"/>
              <a:t>为：</a:t>
            </a:r>
            <a:endParaRPr lang="zh-CN" altLang="en-US"/>
          </a:p>
        </p:txBody>
      </p:sp>
      <p:graphicFrame>
        <p:nvGraphicFramePr>
          <p:cNvPr id="14" name="对象 13">
            <a:hlinkClick r:id="" action="ppaction://ole?verb="/>
          </p:cNvPr>
          <p:cNvGraphicFramePr>
            <a:graphicFrameLocks noChangeAspect="1"/>
          </p:cNvGraphicFramePr>
          <p:nvPr/>
        </p:nvGraphicFramePr>
        <p:xfrm>
          <a:off x="5415598" y="3972878"/>
          <a:ext cx="1515745" cy="440690"/>
        </p:xfrm>
        <a:graphic>
          <a:graphicData uri="http://schemas.openxmlformats.org/presentationml/2006/ole">
            <mc:AlternateContent xmlns:mc="http://schemas.openxmlformats.org/markup-compatibility/2006">
              <mc:Choice xmlns:v="urn:schemas-microsoft-com:vml" Requires="v">
                <p:oleObj spid="_x0000_s4098" name="" r:id="rId3" imgW="787400" imgH="228600" progId="Equation.KSEE3">
                  <p:embed/>
                </p:oleObj>
              </mc:Choice>
              <mc:Fallback>
                <p:oleObj name="" r:id="rId3" imgW="787400" imgH="228600" progId="Equation.KSEE3">
                  <p:embed/>
                  <p:pic>
                    <p:nvPicPr>
                      <p:cNvPr id="0" name="图片 4097"/>
                      <p:cNvPicPr/>
                      <p:nvPr/>
                    </p:nvPicPr>
                    <p:blipFill>
                      <a:blip r:embed="rId4"/>
                      <a:stretch>
                        <a:fillRect/>
                      </a:stretch>
                    </p:blipFill>
                    <p:spPr>
                      <a:xfrm>
                        <a:off x="5415598" y="3972878"/>
                        <a:ext cx="1515745" cy="440690"/>
                      </a:xfrm>
                      <a:prstGeom prst="rect">
                        <a:avLst/>
                      </a:prstGeom>
                    </p:spPr>
                  </p:pic>
                </p:oleObj>
              </mc:Fallback>
            </mc:AlternateContent>
          </a:graphicData>
        </a:graphic>
      </p:graphicFrame>
      <p:sp>
        <p:nvSpPr>
          <p:cNvPr id="16" name="文本框 15"/>
          <p:cNvSpPr txBox="1"/>
          <p:nvPr/>
        </p:nvSpPr>
        <p:spPr>
          <a:xfrm>
            <a:off x="880745" y="1607185"/>
            <a:ext cx="4103370" cy="398780"/>
          </a:xfrm>
          <a:prstGeom prst="rect">
            <a:avLst/>
          </a:prstGeom>
          <a:noFill/>
        </p:spPr>
        <p:txBody>
          <a:bodyPr wrap="square" rtlCol="0">
            <a:spAutoFit/>
          </a:bodyPr>
          <a:p>
            <a:r>
              <a:rPr lang="zh-CN" altLang="en-US">
                <a:solidFill>
                  <a:srgbClr val="C00000"/>
                </a:solidFill>
              </a:rPr>
              <a:t>当硬度</a:t>
            </a:r>
            <a:r>
              <a:rPr lang="zh-CN" altLang="en-US">
                <a:solidFill>
                  <a:srgbClr val="C00000"/>
                </a:solidFill>
                <a:sym typeface="Symbol" panose="05050102010706020507" charset="0"/>
              </a:rPr>
              <a:t></a:t>
            </a:r>
            <a:r>
              <a:rPr lang="en-US" altLang="zh-CN">
                <a:solidFill>
                  <a:srgbClr val="C00000"/>
                </a:solidFill>
                <a:sym typeface="Symbol" panose="05050102010706020507" charset="0"/>
              </a:rPr>
              <a:t>350HBW</a:t>
            </a:r>
            <a:r>
              <a:rPr lang="zh-CN" altLang="en-US">
                <a:solidFill>
                  <a:srgbClr val="C00000"/>
                </a:solidFill>
                <a:sym typeface="Symbol" panose="05050102010706020507" charset="0"/>
              </a:rPr>
              <a:t>时（软齿面）</a:t>
            </a:r>
            <a:endParaRPr lang="zh-CN" altLang="en-US">
              <a:solidFill>
                <a:srgbClr val="C00000"/>
              </a:solidFill>
              <a:sym typeface="Symbol" panose="05050102010706020507" charset="0"/>
            </a:endParaRPr>
          </a:p>
        </p:txBody>
      </p:sp>
      <p:sp>
        <p:nvSpPr>
          <p:cNvPr id="17" name="文本框 16"/>
          <p:cNvSpPr txBox="1"/>
          <p:nvPr/>
        </p:nvSpPr>
        <p:spPr>
          <a:xfrm>
            <a:off x="565785" y="4953635"/>
            <a:ext cx="2003425" cy="398780"/>
          </a:xfrm>
          <a:prstGeom prst="rect">
            <a:avLst/>
          </a:prstGeom>
          <a:noFill/>
        </p:spPr>
        <p:txBody>
          <a:bodyPr wrap="square" rtlCol="0">
            <a:spAutoFit/>
          </a:bodyPr>
          <a:p>
            <a:r>
              <a:rPr lang="zh-CN" altLang="en-US">
                <a:solidFill>
                  <a:srgbClr val="C00000"/>
                </a:solidFill>
              </a:rPr>
              <a:t>当载荷不稳定时</a:t>
            </a:r>
            <a:endParaRPr lang="zh-CN" altLang="en-US">
              <a:solidFill>
                <a:srgbClr val="C00000"/>
              </a:solidFill>
            </a:endParaRPr>
          </a:p>
        </p:txBody>
      </p:sp>
      <p:graphicFrame>
        <p:nvGraphicFramePr>
          <p:cNvPr id="18" name="对象 17">
            <a:hlinkClick r:id="" action="ppaction://ole?verb="/>
          </p:cNvPr>
          <p:cNvGraphicFramePr>
            <a:graphicFrameLocks noChangeAspect="1"/>
          </p:cNvGraphicFramePr>
          <p:nvPr/>
        </p:nvGraphicFramePr>
        <p:xfrm>
          <a:off x="5894388" y="4630420"/>
          <a:ext cx="2594610" cy="810895"/>
        </p:xfrm>
        <a:graphic>
          <a:graphicData uri="http://schemas.openxmlformats.org/presentationml/2006/ole">
            <mc:AlternateContent xmlns:mc="http://schemas.openxmlformats.org/markup-compatibility/2006">
              <mc:Choice xmlns:v="urn:schemas-microsoft-com:vml" Requires="v">
                <p:oleObj spid="_x0000_s4099" name="" r:id="rId5" imgW="1422400" imgH="444500" progId="Equation.KSEE3">
                  <p:embed/>
                </p:oleObj>
              </mc:Choice>
              <mc:Fallback>
                <p:oleObj name="" r:id="rId5" imgW="1422400" imgH="444500" progId="Equation.KSEE3">
                  <p:embed/>
                  <p:pic>
                    <p:nvPicPr>
                      <p:cNvPr id="0" name="图片 4098"/>
                      <p:cNvPicPr/>
                      <p:nvPr/>
                    </p:nvPicPr>
                    <p:blipFill>
                      <a:blip r:embed="rId6"/>
                      <a:stretch>
                        <a:fillRect/>
                      </a:stretch>
                    </p:blipFill>
                    <p:spPr>
                      <a:xfrm>
                        <a:off x="5894388" y="4630420"/>
                        <a:ext cx="2594610" cy="810895"/>
                      </a:xfrm>
                      <a:prstGeom prst="rect">
                        <a:avLst/>
                      </a:prstGeom>
                    </p:spPr>
                  </p:pic>
                </p:oleObj>
              </mc:Fallback>
            </mc:AlternateContent>
          </a:graphicData>
        </a:graphic>
      </p:graphicFrame>
      <p:sp>
        <p:nvSpPr>
          <p:cNvPr id="20" name="文本框 19"/>
          <p:cNvSpPr txBox="1"/>
          <p:nvPr/>
        </p:nvSpPr>
        <p:spPr>
          <a:xfrm>
            <a:off x="2912745" y="4884420"/>
            <a:ext cx="2852420" cy="398780"/>
          </a:xfrm>
          <a:prstGeom prst="rect">
            <a:avLst/>
          </a:prstGeom>
          <a:noFill/>
        </p:spPr>
        <p:txBody>
          <a:bodyPr wrap="square" rtlCol="0">
            <a:spAutoFit/>
          </a:bodyPr>
          <a:p>
            <a:r>
              <a:rPr lang="zh-CN" altLang="en-US"/>
              <a:t>当量应力循环次数为：</a:t>
            </a:r>
            <a:endParaRPr lang="zh-CN" altLang="en-US"/>
          </a:p>
        </p:txBody>
      </p:sp>
      <p:sp>
        <p:nvSpPr>
          <p:cNvPr id="3" name="文本框 2"/>
          <p:cNvSpPr txBox="1"/>
          <p:nvPr/>
        </p:nvSpPr>
        <p:spPr>
          <a:xfrm>
            <a:off x="838200" y="2168525"/>
            <a:ext cx="4103370" cy="398780"/>
          </a:xfrm>
          <a:prstGeom prst="rect">
            <a:avLst/>
          </a:prstGeom>
          <a:noFill/>
        </p:spPr>
        <p:txBody>
          <a:bodyPr wrap="square" rtlCol="0">
            <a:spAutoFit/>
          </a:bodyPr>
          <a:p>
            <a:r>
              <a:rPr lang="zh-CN" altLang="en-US">
                <a:solidFill>
                  <a:srgbClr val="C00000"/>
                </a:solidFill>
              </a:rPr>
              <a:t>当硬度</a:t>
            </a:r>
            <a:r>
              <a:rPr lang="en-US" altLang="zh-CN">
                <a:solidFill>
                  <a:srgbClr val="C00000"/>
                </a:solidFill>
              </a:rPr>
              <a:t>&gt;</a:t>
            </a:r>
            <a:r>
              <a:rPr lang="en-US" altLang="zh-CN">
                <a:solidFill>
                  <a:srgbClr val="C00000"/>
                </a:solidFill>
                <a:sym typeface="Symbol" panose="05050102010706020507" charset="0"/>
              </a:rPr>
              <a:t>350HBW</a:t>
            </a:r>
            <a:r>
              <a:rPr lang="zh-CN" altLang="en-US">
                <a:solidFill>
                  <a:srgbClr val="C00000"/>
                </a:solidFill>
                <a:sym typeface="Symbol" panose="05050102010706020507" charset="0"/>
              </a:rPr>
              <a:t>时（硬齿面）</a:t>
            </a:r>
            <a:endParaRPr lang="zh-CN" altLang="en-US">
              <a:solidFill>
                <a:srgbClr val="C00000"/>
              </a:solidFill>
              <a:sym typeface="Symbol" panose="05050102010706020507" charset="0"/>
            </a:endParaRPr>
          </a:p>
        </p:txBody>
      </p:sp>
      <p:graphicFrame>
        <p:nvGraphicFramePr>
          <p:cNvPr id="4" name="对象 3">
            <a:hlinkClick r:id="" action="ppaction://ole?verb="/>
          </p:cNvPr>
          <p:cNvGraphicFramePr>
            <a:graphicFrameLocks noChangeAspect="1"/>
          </p:cNvGraphicFramePr>
          <p:nvPr/>
        </p:nvGraphicFramePr>
        <p:xfrm>
          <a:off x="4338320" y="2237740"/>
          <a:ext cx="3491865" cy="879475"/>
        </p:xfrm>
        <a:graphic>
          <a:graphicData uri="http://schemas.openxmlformats.org/presentationml/2006/ole">
            <mc:AlternateContent xmlns:mc="http://schemas.openxmlformats.org/markup-compatibility/2006">
              <mc:Choice xmlns:v="urn:schemas-microsoft-com:vml" Requires="v">
                <p:oleObj spid="_x0000_s5" name="" r:id="rId7" imgW="1917065" imgH="482600" progId="Equation.KSEE3">
                  <p:embed/>
                </p:oleObj>
              </mc:Choice>
              <mc:Fallback>
                <p:oleObj name="" r:id="rId7" imgW="1917065" imgH="482600" progId="Equation.KSEE3">
                  <p:embed/>
                  <p:pic>
                    <p:nvPicPr>
                      <p:cNvPr id="0" name="图片 4096"/>
                      <p:cNvPicPr/>
                      <p:nvPr/>
                    </p:nvPicPr>
                    <p:blipFill>
                      <a:blip r:embed="rId8"/>
                      <a:stretch>
                        <a:fillRect/>
                      </a:stretch>
                    </p:blipFill>
                    <p:spPr>
                      <a:xfrm>
                        <a:off x="4338320" y="2237740"/>
                        <a:ext cx="3491865" cy="879475"/>
                      </a:xfrm>
                      <a:prstGeom prst="rect">
                        <a:avLst/>
                      </a:prstGeom>
                      <a:solidFill>
                        <a:schemeClr val="accent3">
                          <a:lumMod val="95000"/>
                        </a:schemeClr>
                      </a:solidFill>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3799840" y="3357880"/>
          <a:ext cx="848995" cy="400050"/>
        </p:xfrm>
        <a:graphic>
          <a:graphicData uri="http://schemas.openxmlformats.org/presentationml/2006/ole">
            <mc:AlternateContent xmlns:mc="http://schemas.openxmlformats.org/markup-compatibility/2006">
              <mc:Choice xmlns:v="urn:schemas-microsoft-com:vml" Requires="v">
                <p:oleObj spid="_x0000_s3073" name="" r:id="rId9" imgW="431800" imgH="203200" progId="Equation.KSEE3">
                  <p:embed/>
                </p:oleObj>
              </mc:Choice>
              <mc:Fallback>
                <p:oleObj name="" r:id="rId9" imgW="431800" imgH="203200" progId="Equation.KSEE3">
                  <p:embed/>
                  <p:pic>
                    <p:nvPicPr>
                      <p:cNvPr id="0" name="图片 3072"/>
                      <p:cNvPicPr/>
                      <p:nvPr/>
                    </p:nvPicPr>
                    <p:blipFill>
                      <a:blip r:embed="rId10"/>
                      <a:stretch>
                        <a:fillRect/>
                      </a:stretch>
                    </p:blipFill>
                    <p:spPr>
                      <a:xfrm>
                        <a:off x="3799840" y="3357880"/>
                        <a:ext cx="848995" cy="400050"/>
                      </a:xfrm>
                      <a:prstGeom prst="rect">
                        <a:avLst/>
                      </a:prstGeom>
                    </p:spPr>
                  </p:pic>
                </p:oleObj>
              </mc:Fallback>
            </mc:AlternateContent>
          </a:graphicData>
        </a:graphic>
      </p:graphicFrame>
      <p:sp>
        <p:nvSpPr>
          <p:cNvPr id="9" name="文本框 8"/>
          <p:cNvSpPr txBox="1"/>
          <p:nvPr/>
        </p:nvSpPr>
        <p:spPr>
          <a:xfrm>
            <a:off x="1204595" y="5731510"/>
            <a:ext cx="7176770" cy="398780"/>
          </a:xfrm>
          <a:prstGeom prst="rect">
            <a:avLst/>
          </a:prstGeom>
          <a:noFill/>
        </p:spPr>
        <p:txBody>
          <a:bodyPr wrap="square" rtlCol="0">
            <a:spAutoFit/>
          </a:bodyPr>
          <a:p>
            <a:r>
              <a:rPr lang="zh-CN" altLang="en-US"/>
              <a:t>正火、调质、表面强化（如齿面经过研磨）的钢制齿轮，</a:t>
            </a:r>
            <a:r>
              <a:rPr lang="en-US" altLang="zh-CN" i="1"/>
              <a:t>k</a:t>
            </a:r>
            <a:r>
              <a:rPr lang="en-US" altLang="zh-CN"/>
              <a:t>=6</a:t>
            </a:r>
            <a:endParaRPr lang="en-US" altLang="zh-CN"/>
          </a:p>
        </p:txBody>
      </p:sp>
      <p:sp>
        <p:nvSpPr>
          <p:cNvPr id="19" name="文本框 18"/>
          <p:cNvSpPr txBox="1"/>
          <p:nvPr/>
        </p:nvSpPr>
        <p:spPr>
          <a:xfrm>
            <a:off x="1760220" y="6189980"/>
            <a:ext cx="7176770" cy="398780"/>
          </a:xfrm>
          <a:prstGeom prst="rect">
            <a:avLst/>
          </a:prstGeom>
          <a:noFill/>
        </p:spPr>
        <p:txBody>
          <a:bodyPr wrap="square" rtlCol="0">
            <a:spAutoFit/>
          </a:bodyPr>
          <a:p>
            <a:r>
              <a:rPr lang="zh-CN" altLang="en-US"/>
              <a:t>淬火钢，</a:t>
            </a:r>
            <a:r>
              <a:rPr lang="en-US" altLang="zh-CN" i="1"/>
              <a:t>k</a:t>
            </a:r>
            <a:r>
              <a:rPr lang="en-US" altLang="zh-CN"/>
              <a:t>=9</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79"/>
                                        </p:tgtEl>
                                        <p:attrNameLst>
                                          <p:attrName>style.visibility</p:attrName>
                                        </p:attrNameLst>
                                      </p:cBhvr>
                                      <p:to>
                                        <p:strVal val="visible"/>
                                      </p:to>
                                    </p:set>
                                    <p:anim calcmode="lin" valueType="num">
                                      <p:cBhvr additive="base">
                                        <p:cTn id="7" dur="500" fill="hold"/>
                                        <p:tgtEl>
                                          <p:spTgt spid="61479"/>
                                        </p:tgtEl>
                                        <p:attrNameLst>
                                          <p:attrName>ppt_x</p:attrName>
                                        </p:attrNameLst>
                                      </p:cBhvr>
                                      <p:tavLst>
                                        <p:tav tm="0">
                                          <p:val>
                                            <p:strVal val="0-#ppt_w/2"/>
                                          </p:val>
                                        </p:tav>
                                        <p:tav tm="100000">
                                          <p:val>
                                            <p:strVal val="#ppt_x"/>
                                          </p:val>
                                        </p:tav>
                                      </p:tavLst>
                                    </p:anim>
                                    <p:anim calcmode="lin" valueType="num">
                                      <p:cBhvr additive="base">
                                        <p:cTn id="8" dur="500" fill="hold"/>
                                        <p:tgtEl>
                                          <p:spTgt spid="614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left)">
                                      <p:cBhvr>
                                        <p:cTn id="56" dur="500"/>
                                        <p:tgtEl>
                                          <p:spTgt spid="20"/>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left)">
                                      <p:cBhvr>
                                        <p:cTn id="60" dur="500"/>
                                        <p:tgtEl>
                                          <p:spTgt spid="1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wipe(left)">
                                      <p:cBhvr>
                                        <p:cTn id="65" dur="500"/>
                                        <p:tgtEl>
                                          <p:spTgt spid="9"/>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9" grpId="0" autoUpdateAnimBg="0"/>
      <p:bldP spid="16" grpId="0"/>
      <p:bldP spid="11" grpId="0"/>
      <p:bldP spid="13" grpId="0"/>
      <p:bldP spid="17" grpId="0"/>
      <p:bldP spid="20" grpId="0"/>
      <p:bldP spid="3" grpId="0"/>
      <p:bldP spid="9" grpId="0"/>
      <p:bldP spid="1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6405" y="1014730"/>
            <a:ext cx="8250555" cy="3138170"/>
          </a:xfrm>
          <a:prstGeom prst="rect">
            <a:avLst/>
          </a:prstGeom>
          <a:noFill/>
        </p:spPr>
        <p:txBody>
          <a:bodyPr wrap="square" rtlCol="0">
            <a:spAutoFit/>
          </a:bodyPr>
          <a:lstStyle/>
          <a:p>
            <a:pPr eaLnBrk="1" latinLnBrk="0" hangingPunct="1">
              <a:lnSpc>
                <a:spcPct val="150000"/>
              </a:lnSpc>
            </a:pPr>
            <a:r>
              <a:rPr lang="zh-CN" sz="2200" dirty="0" smtClean="0">
                <a:solidFill>
                  <a:srgbClr val="FF0000"/>
                </a:solidFill>
                <a:latin typeface="黑体" panose="02010609060101010101" pitchFamily="49" charset="-122"/>
                <a:ea typeface="黑体" panose="02010609060101010101" pitchFamily="49" charset="-122"/>
              </a:rPr>
              <a:t>例</a:t>
            </a:r>
            <a:r>
              <a:rPr lang="en-US" altLang="zh-CN" sz="2200" dirty="0" smtClean="0">
                <a:solidFill>
                  <a:srgbClr val="FF0000"/>
                </a:solidFill>
                <a:latin typeface="黑体" panose="02010609060101010101" pitchFamily="49" charset="-122"/>
                <a:ea typeface="黑体" panose="02010609060101010101" pitchFamily="49" charset="-122"/>
              </a:rPr>
              <a:t>1 </a:t>
            </a:r>
            <a:r>
              <a:rPr lang="en-US" altLang="zh-CN" sz="2200" dirty="0" smtClean="0">
                <a:solidFill>
                  <a:srgbClr val="002060"/>
                </a:solidFill>
                <a:latin typeface="黑体" panose="02010609060101010101" pitchFamily="49" charset="-122"/>
                <a:ea typeface="黑体" panose="02010609060101010101" pitchFamily="49" charset="-122"/>
              </a:rPr>
              <a:t> </a:t>
            </a:r>
            <a:r>
              <a:rPr lang="zh-CN" altLang="en-US" sz="2200" dirty="0" smtClean="0">
                <a:solidFill>
                  <a:srgbClr val="002060"/>
                </a:solidFill>
                <a:latin typeface="黑体" panose="02010609060101010101" pitchFamily="49" charset="-122"/>
                <a:ea typeface="黑体" panose="02010609060101010101" pitchFamily="49" charset="-122"/>
              </a:rPr>
              <a:t>已知一闭式标准圆柱齿轮传动，名义功率</a:t>
            </a:r>
            <a:r>
              <a:rPr lang="en-US" altLang="zh-CN" sz="2200" dirty="0" smtClean="0">
                <a:solidFill>
                  <a:srgbClr val="002060"/>
                </a:solidFill>
                <a:latin typeface="黑体" panose="02010609060101010101" pitchFamily="49" charset="-122"/>
                <a:ea typeface="黑体" panose="02010609060101010101" pitchFamily="49" charset="-122"/>
              </a:rPr>
              <a:t>P=20kW</a:t>
            </a:r>
            <a:r>
              <a:rPr lang="zh-CN" altLang="en-US" sz="2200" dirty="0" smtClean="0">
                <a:solidFill>
                  <a:srgbClr val="002060"/>
                </a:solidFill>
                <a:latin typeface="黑体" panose="02010609060101010101" pitchFamily="49" charset="-122"/>
                <a:ea typeface="黑体" panose="02010609060101010101" pitchFamily="49" charset="-122"/>
              </a:rPr>
              <a:t>，小齿轮转速</a:t>
            </a:r>
            <a:r>
              <a:rPr lang="en-US" altLang="zh-CN" sz="2200" dirty="0" smtClean="0">
                <a:solidFill>
                  <a:srgbClr val="002060"/>
                </a:solidFill>
                <a:latin typeface="黑体" panose="02010609060101010101" pitchFamily="49" charset="-122"/>
                <a:ea typeface="黑体" panose="02010609060101010101" pitchFamily="49" charset="-122"/>
              </a:rPr>
              <a:t>n</a:t>
            </a:r>
            <a:r>
              <a:rPr lang="en-US" altLang="zh-CN" sz="2200" baseline="-25000" dirty="0" smtClean="0">
                <a:solidFill>
                  <a:srgbClr val="002060"/>
                </a:solidFill>
                <a:latin typeface="黑体" panose="02010609060101010101" pitchFamily="49" charset="-122"/>
                <a:ea typeface="黑体" panose="02010609060101010101" pitchFamily="49" charset="-122"/>
              </a:rPr>
              <a:t>1</a:t>
            </a:r>
            <a:r>
              <a:rPr lang="en-US" altLang="zh-CN" sz="2200" dirty="0" smtClean="0">
                <a:solidFill>
                  <a:srgbClr val="002060"/>
                </a:solidFill>
                <a:latin typeface="黑体" panose="02010609060101010101" pitchFamily="49" charset="-122"/>
                <a:ea typeface="黑体" panose="02010609060101010101" pitchFamily="49" charset="-122"/>
              </a:rPr>
              <a:t>=500r/min</a:t>
            </a:r>
            <a:r>
              <a:rPr lang="zh-CN" altLang="en-US" sz="2200" dirty="0" smtClean="0">
                <a:solidFill>
                  <a:srgbClr val="002060"/>
                </a:solidFill>
                <a:latin typeface="黑体" panose="02010609060101010101" pitchFamily="49" charset="-122"/>
                <a:ea typeface="黑体" panose="02010609060101010101" pitchFamily="49" charset="-122"/>
              </a:rPr>
              <a:t>，传动比</a:t>
            </a:r>
            <a:r>
              <a:rPr lang="en-US" altLang="zh-CN" sz="2200" dirty="0" smtClean="0">
                <a:solidFill>
                  <a:srgbClr val="002060"/>
                </a:solidFill>
                <a:latin typeface="黑体" panose="02010609060101010101" pitchFamily="49" charset="-122"/>
                <a:ea typeface="黑体" panose="02010609060101010101" pitchFamily="49" charset="-122"/>
              </a:rPr>
              <a:t>i(=u)=3</a:t>
            </a:r>
            <a:r>
              <a:rPr lang="zh-CN" altLang="en-US" sz="2200" dirty="0" smtClean="0">
                <a:solidFill>
                  <a:srgbClr val="002060"/>
                </a:solidFill>
                <a:latin typeface="黑体" panose="02010609060101010101" pitchFamily="49" charset="-122"/>
                <a:ea typeface="黑体" panose="02010609060101010101" pitchFamily="49" charset="-122"/>
              </a:rPr>
              <a:t>；非稳定载荷，变化规律如图</a:t>
            </a:r>
            <a:r>
              <a:rPr lang="en-US" altLang="zh-CN" sz="2200" dirty="0" smtClean="0">
                <a:solidFill>
                  <a:srgbClr val="002060"/>
                </a:solidFill>
                <a:latin typeface="黑体" panose="02010609060101010101" pitchFamily="49" charset="-122"/>
                <a:ea typeface="黑体" panose="02010609060101010101" pitchFamily="49" charset="-122"/>
              </a:rPr>
              <a:t>3.4-18</a:t>
            </a:r>
            <a:r>
              <a:rPr lang="zh-CN" altLang="en-US" sz="2200" dirty="0" smtClean="0">
                <a:solidFill>
                  <a:srgbClr val="002060"/>
                </a:solidFill>
                <a:latin typeface="黑体" panose="02010609060101010101" pitchFamily="49" charset="-122"/>
                <a:ea typeface="黑体" panose="02010609060101010101" pitchFamily="49" charset="-122"/>
              </a:rPr>
              <a:t>所示。单班制，每班</a:t>
            </a:r>
            <a:r>
              <a:rPr lang="en-US" altLang="zh-CN" sz="2200" dirty="0" smtClean="0">
                <a:solidFill>
                  <a:srgbClr val="002060"/>
                </a:solidFill>
                <a:latin typeface="黑体" panose="02010609060101010101" pitchFamily="49" charset="-122"/>
                <a:ea typeface="黑体" panose="02010609060101010101" pitchFamily="49" charset="-122"/>
              </a:rPr>
              <a:t>8h</a:t>
            </a:r>
            <a:r>
              <a:rPr lang="zh-CN" altLang="en-US" sz="2200" dirty="0" smtClean="0">
                <a:solidFill>
                  <a:srgbClr val="002060"/>
                </a:solidFill>
                <a:latin typeface="黑体" panose="02010609060101010101" pitchFamily="49" charset="-122"/>
                <a:ea typeface="黑体" panose="02010609060101010101" pitchFamily="49" charset="-122"/>
              </a:rPr>
              <a:t>，预期使用寿命</a:t>
            </a:r>
            <a:r>
              <a:rPr lang="en-US" altLang="zh-CN" sz="2200" dirty="0" smtClean="0">
                <a:solidFill>
                  <a:srgbClr val="002060"/>
                </a:solidFill>
                <a:latin typeface="黑体" panose="02010609060101010101" pitchFamily="49" charset="-122"/>
                <a:ea typeface="黑体" panose="02010609060101010101" pitchFamily="49" charset="-122"/>
              </a:rPr>
              <a:t>10</a:t>
            </a:r>
            <a:r>
              <a:rPr lang="zh-CN" altLang="en-US" sz="2200" dirty="0" smtClean="0">
                <a:solidFill>
                  <a:srgbClr val="002060"/>
                </a:solidFill>
                <a:latin typeface="黑体" panose="02010609060101010101" pitchFamily="49" charset="-122"/>
                <a:ea typeface="黑体" panose="02010609060101010101" pitchFamily="49" charset="-122"/>
              </a:rPr>
              <a:t>年，每年</a:t>
            </a:r>
            <a:r>
              <a:rPr lang="en-US" altLang="zh-CN" sz="2200" dirty="0" smtClean="0">
                <a:solidFill>
                  <a:srgbClr val="002060"/>
                </a:solidFill>
                <a:latin typeface="黑体" panose="02010609060101010101" pitchFamily="49" charset="-122"/>
                <a:ea typeface="黑体" panose="02010609060101010101" pitchFamily="49" charset="-122"/>
              </a:rPr>
              <a:t>300</a:t>
            </a:r>
            <a:r>
              <a:rPr lang="zh-CN" altLang="en-US" sz="2200" dirty="0" smtClean="0">
                <a:solidFill>
                  <a:srgbClr val="002060"/>
                </a:solidFill>
                <a:latin typeface="黑体" panose="02010609060101010101" pitchFamily="49" charset="-122"/>
                <a:ea typeface="黑体" panose="02010609060101010101" pitchFamily="49" charset="-122"/>
              </a:rPr>
              <a:t>天。在使用期限内工作时间占</a:t>
            </a:r>
            <a:r>
              <a:rPr lang="en-US" altLang="zh-CN" sz="2200" dirty="0" smtClean="0">
                <a:solidFill>
                  <a:srgbClr val="002060"/>
                </a:solidFill>
                <a:latin typeface="黑体" panose="02010609060101010101" pitchFamily="49" charset="-122"/>
                <a:ea typeface="黑体" panose="02010609060101010101" pitchFamily="49" charset="-122"/>
              </a:rPr>
              <a:t>20%</a:t>
            </a:r>
            <a:r>
              <a:rPr lang="zh-CN" altLang="en-US" sz="2200" dirty="0" smtClean="0">
                <a:solidFill>
                  <a:srgbClr val="002060"/>
                </a:solidFill>
                <a:latin typeface="黑体" panose="02010609060101010101" pitchFamily="49" charset="-122"/>
                <a:ea typeface="黑体" panose="02010609060101010101" pitchFamily="49" charset="-122"/>
              </a:rPr>
              <a:t>。大小齿轮材料均为</a:t>
            </a:r>
            <a:r>
              <a:rPr lang="en-US" altLang="zh-CN" sz="2200" dirty="0" smtClean="0">
                <a:solidFill>
                  <a:srgbClr val="002060"/>
                </a:solidFill>
                <a:latin typeface="黑体" panose="02010609060101010101" pitchFamily="49" charset="-122"/>
                <a:ea typeface="黑体" panose="02010609060101010101" pitchFamily="49" charset="-122"/>
              </a:rPr>
              <a:t>40Cr,</a:t>
            </a:r>
            <a:r>
              <a:rPr lang="zh-CN" altLang="en-US" sz="2200" dirty="0" smtClean="0">
                <a:solidFill>
                  <a:srgbClr val="002060"/>
                </a:solidFill>
                <a:latin typeface="黑体" panose="02010609060101010101" pitchFamily="49" charset="-122"/>
                <a:ea typeface="黑体" panose="02010609060101010101" pitchFamily="49" charset="-122"/>
              </a:rPr>
              <a:t>小齿轮表面淬火，齿面硬度</a:t>
            </a:r>
            <a:r>
              <a:rPr lang="en-US" altLang="zh-CN" sz="2200" dirty="0" smtClean="0">
                <a:solidFill>
                  <a:srgbClr val="002060"/>
                </a:solidFill>
                <a:latin typeface="黑体" panose="02010609060101010101" pitchFamily="49" charset="-122"/>
                <a:ea typeface="黑体" panose="02010609060101010101" pitchFamily="49" charset="-122"/>
              </a:rPr>
              <a:t>48HRC</a:t>
            </a:r>
            <a:r>
              <a:rPr lang="zh-CN" altLang="en-US" sz="2200" dirty="0" smtClean="0">
                <a:solidFill>
                  <a:srgbClr val="002060"/>
                </a:solidFill>
                <a:latin typeface="黑体" panose="02010609060101010101" pitchFamily="49" charset="-122"/>
                <a:ea typeface="黑体" panose="02010609060101010101" pitchFamily="49" charset="-122"/>
              </a:rPr>
              <a:t>，大齿轮调质处理。齿面硬度为</a:t>
            </a:r>
            <a:r>
              <a:rPr lang="en-US" altLang="zh-CN" sz="2200" dirty="0" smtClean="0">
                <a:solidFill>
                  <a:srgbClr val="002060"/>
                </a:solidFill>
                <a:latin typeface="黑体" panose="02010609060101010101" pitchFamily="49" charset="-122"/>
                <a:ea typeface="黑体" panose="02010609060101010101" pitchFamily="49" charset="-122"/>
              </a:rPr>
              <a:t>300HBW</a:t>
            </a:r>
            <a:r>
              <a:rPr lang="zh-CN" altLang="en-US" sz="2200" dirty="0" smtClean="0">
                <a:solidFill>
                  <a:srgbClr val="002060"/>
                </a:solidFill>
                <a:latin typeface="黑体" panose="02010609060101010101" pitchFamily="49" charset="-122"/>
                <a:ea typeface="黑体" panose="02010609060101010101" pitchFamily="49" charset="-122"/>
              </a:rPr>
              <a:t>。求两齿轮的接触寿命系数</a:t>
            </a:r>
            <a:r>
              <a:rPr lang="en-US" altLang="zh-CN" sz="2200" dirty="0" smtClean="0">
                <a:solidFill>
                  <a:srgbClr val="002060"/>
                </a:solidFill>
                <a:latin typeface="黑体" panose="02010609060101010101" pitchFamily="49" charset="-122"/>
                <a:ea typeface="黑体" panose="02010609060101010101" pitchFamily="49" charset="-122"/>
              </a:rPr>
              <a:t>K</a:t>
            </a:r>
            <a:r>
              <a:rPr lang="en-US" altLang="zh-CN" sz="2200" baseline="-25000" dirty="0" smtClean="0">
                <a:solidFill>
                  <a:srgbClr val="002060"/>
                </a:solidFill>
                <a:latin typeface="黑体" panose="02010609060101010101" pitchFamily="49" charset="-122"/>
                <a:ea typeface="黑体" panose="02010609060101010101" pitchFamily="49" charset="-122"/>
              </a:rPr>
              <a:t>HN1</a:t>
            </a:r>
            <a:r>
              <a:rPr lang="zh-CN" altLang="en-US" sz="2200" dirty="0" smtClean="0">
                <a:solidFill>
                  <a:srgbClr val="002060"/>
                </a:solidFill>
                <a:latin typeface="黑体" panose="02010609060101010101" pitchFamily="49" charset="-122"/>
                <a:ea typeface="黑体" panose="02010609060101010101" pitchFamily="49" charset="-122"/>
              </a:rPr>
              <a:t>、</a:t>
            </a:r>
            <a:r>
              <a:rPr lang="en-US" altLang="zh-CN" sz="2200" dirty="0" smtClean="0">
                <a:solidFill>
                  <a:srgbClr val="002060"/>
                </a:solidFill>
                <a:latin typeface="黑体" panose="02010609060101010101" pitchFamily="49" charset="-122"/>
                <a:ea typeface="黑体" panose="02010609060101010101" pitchFamily="49" charset="-122"/>
              </a:rPr>
              <a:t>K</a:t>
            </a:r>
            <a:r>
              <a:rPr lang="en-US" altLang="zh-CN" sz="2200" baseline="-25000" dirty="0" smtClean="0">
                <a:solidFill>
                  <a:srgbClr val="002060"/>
                </a:solidFill>
                <a:latin typeface="黑体" panose="02010609060101010101" pitchFamily="49" charset="-122"/>
                <a:ea typeface="黑体" panose="02010609060101010101" pitchFamily="49" charset="-122"/>
              </a:rPr>
              <a:t>HN2</a:t>
            </a:r>
            <a:r>
              <a:rPr lang="zh-CN" altLang="en-US" sz="2200" dirty="0" smtClean="0">
                <a:solidFill>
                  <a:srgbClr val="002060"/>
                </a:solidFill>
                <a:latin typeface="黑体" panose="02010609060101010101" pitchFamily="49" charset="-122"/>
                <a:ea typeface="黑体" panose="02010609060101010101" pitchFamily="49" charset="-122"/>
              </a:rPr>
              <a:t>和弯曲疲劳寿命系数</a:t>
            </a:r>
            <a:r>
              <a:rPr lang="en-US" altLang="zh-CN" sz="2200" dirty="0" smtClean="0">
                <a:solidFill>
                  <a:srgbClr val="002060"/>
                </a:solidFill>
                <a:latin typeface="黑体" panose="02010609060101010101" pitchFamily="49" charset="-122"/>
                <a:ea typeface="黑体" panose="02010609060101010101" pitchFamily="49" charset="-122"/>
              </a:rPr>
              <a:t>K</a:t>
            </a:r>
            <a:r>
              <a:rPr lang="en-US" altLang="zh-CN" sz="2200" baseline="-25000" dirty="0" smtClean="0">
                <a:solidFill>
                  <a:srgbClr val="002060"/>
                </a:solidFill>
                <a:latin typeface="黑体" panose="02010609060101010101" pitchFamily="49" charset="-122"/>
                <a:ea typeface="黑体" panose="02010609060101010101" pitchFamily="49" charset="-122"/>
              </a:rPr>
              <a:t>FN1</a:t>
            </a:r>
            <a:r>
              <a:rPr lang="zh-CN" altLang="en-US" sz="2200" dirty="0" smtClean="0">
                <a:solidFill>
                  <a:srgbClr val="002060"/>
                </a:solidFill>
                <a:latin typeface="黑体" panose="02010609060101010101" pitchFamily="49" charset="-122"/>
                <a:ea typeface="黑体" panose="02010609060101010101" pitchFamily="49" charset="-122"/>
              </a:rPr>
              <a:t>、</a:t>
            </a:r>
            <a:r>
              <a:rPr lang="en-US" altLang="zh-CN" sz="2200" dirty="0" smtClean="0">
                <a:solidFill>
                  <a:srgbClr val="002060"/>
                </a:solidFill>
                <a:latin typeface="黑体" panose="02010609060101010101" pitchFamily="49" charset="-122"/>
                <a:ea typeface="黑体" panose="02010609060101010101" pitchFamily="49" charset="-122"/>
              </a:rPr>
              <a:t>K</a:t>
            </a:r>
            <a:r>
              <a:rPr lang="en-US" altLang="zh-CN" sz="2200" baseline="-25000" dirty="0" smtClean="0">
                <a:solidFill>
                  <a:srgbClr val="002060"/>
                </a:solidFill>
                <a:latin typeface="黑体" panose="02010609060101010101" pitchFamily="49" charset="-122"/>
                <a:ea typeface="黑体" panose="02010609060101010101" pitchFamily="49" charset="-122"/>
              </a:rPr>
              <a:t>FN2</a:t>
            </a:r>
            <a:r>
              <a:rPr lang="zh-CN" altLang="en-US" sz="2200" dirty="0" smtClean="0">
                <a:solidFill>
                  <a:srgbClr val="002060"/>
                </a:solidFill>
                <a:latin typeface="黑体" panose="02010609060101010101" pitchFamily="49" charset="-122"/>
                <a:ea typeface="黑体" panose="02010609060101010101" pitchFamily="49" charset="-122"/>
              </a:rPr>
              <a:t>。</a:t>
            </a:r>
            <a:endParaRPr lang="zh-CN" altLang="en-US" sz="2200" dirty="0" smtClean="0">
              <a:solidFill>
                <a:srgbClr val="002060"/>
              </a:solidFill>
              <a:latin typeface="黑体" panose="02010609060101010101" pitchFamily="49" charset="-122"/>
              <a:ea typeface="黑体" panose="02010609060101010101" pitchFamily="49" charset="-122"/>
            </a:endParaRPr>
          </a:p>
        </p:txBody>
      </p:sp>
      <p:sp>
        <p:nvSpPr>
          <p:cNvPr id="8" name="文本框 7"/>
          <p:cNvSpPr txBox="1"/>
          <p:nvPr/>
        </p:nvSpPr>
        <p:spPr>
          <a:xfrm>
            <a:off x="1053465" y="437515"/>
            <a:ext cx="1582420" cy="460375"/>
          </a:xfrm>
          <a:prstGeom prst="rect">
            <a:avLst/>
          </a:prstGeom>
          <a:noFill/>
        </p:spPr>
        <p:txBody>
          <a:bodyPr wrap="square" rtlCol="0">
            <a:spAutoFit/>
          </a:bodyPr>
          <a:p>
            <a:r>
              <a:rPr lang="zh-CN" altLang="en-US" sz="2400">
                <a:solidFill>
                  <a:srgbClr val="FF0000"/>
                </a:solidFill>
                <a:latin typeface="黑体" panose="02010609060101010101" pitchFamily="49" charset="-122"/>
                <a:ea typeface="黑体" panose="02010609060101010101" pitchFamily="49" charset="-122"/>
                <a:cs typeface="黑体" panose="02010609060101010101" pitchFamily="49" charset="-122"/>
              </a:rPr>
              <a:t>教材</a:t>
            </a:r>
            <a:r>
              <a:rPr lang="en-US" altLang="zh-CN" sz="2400">
                <a:solidFill>
                  <a:srgbClr val="FF0000"/>
                </a:solidFill>
                <a:latin typeface="黑体" panose="02010609060101010101" pitchFamily="49" charset="-122"/>
                <a:ea typeface="黑体" panose="02010609060101010101" pitchFamily="49" charset="-122"/>
                <a:cs typeface="黑体" panose="02010609060101010101" pitchFamily="49" charset="-122"/>
              </a:rPr>
              <a:t>P226</a:t>
            </a:r>
            <a:endParaRPr lang="en-US" altLang="zh-CN" sz="240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7715" y="491490"/>
            <a:ext cx="6205855" cy="398780"/>
          </a:xfrm>
          <a:prstGeom prst="rect">
            <a:avLst/>
          </a:prstGeom>
          <a:noFill/>
        </p:spPr>
        <p:txBody>
          <a:bodyPr wrap="square" rtlCol="0">
            <a:spAutoFit/>
          </a:bodyPr>
          <a:p>
            <a:r>
              <a:rPr lang="zh-CN" altLang="en-US">
                <a:solidFill>
                  <a:srgbClr val="FF0000"/>
                </a:solidFill>
              </a:rPr>
              <a:t>解</a:t>
            </a:r>
            <a:r>
              <a:rPr lang="zh-CN" altLang="en-US"/>
              <a:t>：总工作小时数</a:t>
            </a:r>
            <a:endParaRPr lang="zh-CN" altLang="en-US"/>
          </a:p>
        </p:txBody>
      </p:sp>
      <p:graphicFrame>
        <p:nvGraphicFramePr>
          <p:cNvPr id="3" name="对象 2">
            <a:hlinkClick r:id="" action="ppaction://ole?verb="/>
          </p:cNvPr>
          <p:cNvGraphicFramePr>
            <a:graphicFrameLocks noChangeAspect="1"/>
          </p:cNvGraphicFramePr>
          <p:nvPr/>
        </p:nvGraphicFramePr>
        <p:xfrm>
          <a:off x="3063240" y="527050"/>
          <a:ext cx="2870835" cy="274320"/>
        </p:xfrm>
        <a:graphic>
          <a:graphicData uri="http://schemas.openxmlformats.org/presentationml/2006/ole">
            <mc:AlternateContent xmlns:mc="http://schemas.openxmlformats.org/markup-compatibility/2006">
              <mc:Choice xmlns:v="urn:schemas-microsoft-com:vml" Requires="v">
                <p:oleObj spid="_x0000_s3073" name="" r:id="rId1" imgW="1854200" imgH="177165" progId="Equation.KSEE3">
                  <p:embed/>
                </p:oleObj>
              </mc:Choice>
              <mc:Fallback>
                <p:oleObj name="" r:id="rId1" imgW="1854200" imgH="177165" progId="Equation.KSEE3">
                  <p:embed/>
                  <p:pic>
                    <p:nvPicPr>
                      <p:cNvPr id="0" name="图片 3072"/>
                      <p:cNvPicPr/>
                      <p:nvPr/>
                    </p:nvPicPr>
                    <p:blipFill>
                      <a:blip r:embed="rId2"/>
                      <a:stretch>
                        <a:fillRect/>
                      </a:stretch>
                    </p:blipFill>
                    <p:spPr>
                      <a:xfrm>
                        <a:off x="3063240" y="527050"/>
                        <a:ext cx="2870835" cy="27432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1217295" y="1334770"/>
          <a:ext cx="2433320" cy="741045"/>
        </p:xfrm>
        <a:graphic>
          <a:graphicData uri="http://schemas.openxmlformats.org/presentationml/2006/ole">
            <mc:AlternateContent xmlns:mc="http://schemas.openxmlformats.org/markup-compatibility/2006">
              <mc:Choice xmlns:v="urn:schemas-microsoft-com:vml" Requires="v">
                <p:oleObj spid="_x0000_s4099" name="" r:id="rId3" imgW="1459865" imgH="444500" progId="Equation.KSEE3">
                  <p:embed/>
                </p:oleObj>
              </mc:Choice>
              <mc:Fallback>
                <p:oleObj name="" r:id="rId3" imgW="1459865" imgH="444500" progId="Equation.KSEE3">
                  <p:embed/>
                  <p:pic>
                    <p:nvPicPr>
                      <p:cNvPr id="0" name="图片 4098"/>
                      <p:cNvPicPr/>
                      <p:nvPr/>
                    </p:nvPicPr>
                    <p:blipFill>
                      <a:blip r:embed="rId4"/>
                      <a:stretch>
                        <a:fillRect/>
                      </a:stretch>
                    </p:blipFill>
                    <p:spPr>
                      <a:xfrm>
                        <a:off x="1217295" y="1334770"/>
                        <a:ext cx="2433320" cy="741045"/>
                      </a:xfrm>
                      <a:prstGeom prst="rect">
                        <a:avLst/>
                      </a:prstGeom>
                    </p:spPr>
                  </p:pic>
                </p:oleObj>
              </mc:Fallback>
            </mc:AlternateContent>
          </a:graphicData>
        </a:graphic>
      </p:graphicFrame>
      <p:sp>
        <p:nvSpPr>
          <p:cNvPr id="4" name="文本框 3"/>
          <p:cNvSpPr txBox="1"/>
          <p:nvPr/>
        </p:nvSpPr>
        <p:spPr>
          <a:xfrm>
            <a:off x="1207135" y="1018540"/>
            <a:ext cx="2626360" cy="398780"/>
          </a:xfrm>
          <a:prstGeom prst="rect">
            <a:avLst/>
          </a:prstGeom>
          <a:noFill/>
        </p:spPr>
        <p:txBody>
          <a:bodyPr wrap="square" rtlCol="0">
            <a:spAutoFit/>
          </a:bodyPr>
          <a:p>
            <a:r>
              <a:rPr lang="zh-CN" altLang="en-US"/>
              <a:t>当量应力循环次数：</a:t>
            </a:r>
            <a:endParaRPr lang="zh-CN" altLang="en-US"/>
          </a:p>
        </p:txBody>
      </p:sp>
      <p:graphicFrame>
        <p:nvGraphicFramePr>
          <p:cNvPr id="5" name="对象 4">
            <a:hlinkClick r:id="" action="ppaction://ole?verb="/>
          </p:cNvPr>
          <p:cNvGraphicFramePr>
            <a:graphicFrameLocks noChangeAspect="1"/>
          </p:cNvGraphicFramePr>
          <p:nvPr/>
        </p:nvGraphicFramePr>
        <p:xfrm>
          <a:off x="3729990" y="1308100"/>
          <a:ext cx="2074545" cy="756285"/>
        </p:xfrm>
        <a:graphic>
          <a:graphicData uri="http://schemas.openxmlformats.org/presentationml/2006/ole">
            <mc:AlternateContent xmlns:mc="http://schemas.openxmlformats.org/markup-compatibility/2006">
              <mc:Choice xmlns:v="urn:schemas-microsoft-com:vml" Requires="v">
                <p:oleObj spid="_x0000_s6" name="" r:id="rId5" imgW="1219200" imgH="444500" progId="Equation.KSEE3">
                  <p:embed/>
                </p:oleObj>
              </mc:Choice>
              <mc:Fallback>
                <p:oleObj name="" r:id="rId5" imgW="1219200" imgH="444500" progId="Equation.KSEE3">
                  <p:embed/>
                  <p:pic>
                    <p:nvPicPr>
                      <p:cNvPr id="0" name="图片 4098"/>
                      <p:cNvPicPr/>
                      <p:nvPr/>
                    </p:nvPicPr>
                    <p:blipFill>
                      <a:blip r:embed="rId6"/>
                      <a:stretch>
                        <a:fillRect/>
                      </a:stretch>
                    </p:blipFill>
                    <p:spPr>
                      <a:xfrm>
                        <a:off x="3729990" y="1308100"/>
                        <a:ext cx="2074545" cy="75628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1264920" y="2118995"/>
          <a:ext cx="7162165" cy="356235"/>
        </p:xfrm>
        <a:graphic>
          <a:graphicData uri="http://schemas.openxmlformats.org/presentationml/2006/ole">
            <mc:AlternateContent xmlns:mc="http://schemas.openxmlformats.org/markup-compatibility/2006">
              <mc:Choice xmlns:v="urn:schemas-microsoft-com:vml" Requires="v">
                <p:oleObj spid="_x0000_s8" name="" r:id="rId7" imgW="3822700" imgH="203200" progId="Equation.KSEE3">
                  <p:embed/>
                </p:oleObj>
              </mc:Choice>
              <mc:Fallback>
                <p:oleObj name="" r:id="rId7" imgW="3822700" imgH="203200" progId="Equation.KSEE3">
                  <p:embed/>
                  <p:pic>
                    <p:nvPicPr>
                      <p:cNvPr id="0" name="图片 4098"/>
                      <p:cNvPicPr/>
                      <p:nvPr/>
                    </p:nvPicPr>
                    <p:blipFill>
                      <a:blip r:embed="rId8"/>
                      <a:stretch>
                        <a:fillRect/>
                      </a:stretch>
                    </p:blipFill>
                    <p:spPr>
                      <a:xfrm>
                        <a:off x="1264920" y="2118995"/>
                        <a:ext cx="7162165" cy="356235"/>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1612265" y="2748280"/>
          <a:ext cx="3992880" cy="542290"/>
        </p:xfrm>
        <a:graphic>
          <a:graphicData uri="http://schemas.openxmlformats.org/presentationml/2006/ole">
            <mc:AlternateContent xmlns:mc="http://schemas.openxmlformats.org/markup-compatibility/2006">
              <mc:Choice xmlns:v="urn:schemas-microsoft-com:vml" Requires="v">
                <p:oleObj spid="_x0000_s10" name="" r:id="rId9" imgW="2527300" imgH="342900" progId="Equation.KSEE3">
                  <p:embed/>
                </p:oleObj>
              </mc:Choice>
              <mc:Fallback>
                <p:oleObj name="" r:id="rId9" imgW="2527300" imgH="342900" progId="Equation.KSEE3">
                  <p:embed/>
                  <p:pic>
                    <p:nvPicPr>
                      <p:cNvPr id="0" name="图片 4098"/>
                      <p:cNvPicPr/>
                      <p:nvPr/>
                    </p:nvPicPr>
                    <p:blipFill>
                      <a:blip r:embed="rId10"/>
                      <a:stretch>
                        <a:fillRect/>
                      </a:stretch>
                    </p:blipFill>
                    <p:spPr>
                      <a:xfrm>
                        <a:off x="1612265" y="2748280"/>
                        <a:ext cx="3992880" cy="542290"/>
                      </a:xfrm>
                      <a:prstGeom prst="rect">
                        <a:avLst/>
                      </a:prstGeom>
                    </p:spPr>
                  </p:pic>
                </p:oleObj>
              </mc:Fallback>
            </mc:AlternateContent>
          </a:graphicData>
        </a:graphic>
      </p:graphicFrame>
      <p:sp>
        <p:nvSpPr>
          <p:cNvPr id="11" name="文本框 10"/>
          <p:cNvSpPr txBox="1"/>
          <p:nvPr/>
        </p:nvSpPr>
        <p:spPr>
          <a:xfrm>
            <a:off x="1217295" y="3458845"/>
            <a:ext cx="1737360" cy="398780"/>
          </a:xfrm>
          <a:prstGeom prst="rect">
            <a:avLst/>
          </a:prstGeom>
          <a:noFill/>
        </p:spPr>
        <p:txBody>
          <a:bodyPr wrap="square" rtlCol="0">
            <a:spAutoFit/>
          </a:bodyPr>
          <a:p>
            <a:r>
              <a:rPr lang="zh-CN" altLang="en-US"/>
              <a:t>查图</a:t>
            </a:r>
            <a:r>
              <a:rPr lang="en-US" altLang="zh-CN"/>
              <a:t>3.4-13</a:t>
            </a:r>
            <a:r>
              <a:rPr lang="zh-CN" altLang="en-US"/>
              <a:t>得</a:t>
            </a:r>
            <a:endParaRPr lang="zh-CN" altLang="en-US"/>
          </a:p>
        </p:txBody>
      </p:sp>
      <p:graphicFrame>
        <p:nvGraphicFramePr>
          <p:cNvPr id="12" name="对象 11">
            <a:hlinkClick r:id="" action="ppaction://ole?verb="/>
          </p:cNvPr>
          <p:cNvGraphicFramePr>
            <a:graphicFrameLocks noChangeAspect="1"/>
          </p:cNvGraphicFramePr>
          <p:nvPr/>
        </p:nvGraphicFramePr>
        <p:xfrm>
          <a:off x="3063240" y="3463925"/>
          <a:ext cx="3662045" cy="461010"/>
        </p:xfrm>
        <a:graphic>
          <a:graphicData uri="http://schemas.openxmlformats.org/presentationml/2006/ole">
            <mc:AlternateContent xmlns:mc="http://schemas.openxmlformats.org/markup-compatibility/2006">
              <mc:Choice xmlns:v="urn:schemas-microsoft-com:vml" Requires="v">
                <p:oleObj spid="_x0000_s3074" name="" r:id="rId11" imgW="1917065" imgH="241300" progId="Equation.KSEE3">
                  <p:embed/>
                </p:oleObj>
              </mc:Choice>
              <mc:Fallback>
                <p:oleObj name="" r:id="rId11" imgW="1917065" imgH="241300" progId="Equation.KSEE3">
                  <p:embed/>
                  <p:pic>
                    <p:nvPicPr>
                      <p:cNvPr id="0" name="图片 3073"/>
                      <p:cNvPicPr/>
                      <p:nvPr/>
                    </p:nvPicPr>
                    <p:blipFill>
                      <a:blip r:embed="rId12"/>
                      <a:stretch>
                        <a:fillRect/>
                      </a:stretch>
                    </p:blipFill>
                    <p:spPr>
                      <a:xfrm>
                        <a:off x="3063240" y="3463925"/>
                        <a:ext cx="3662045" cy="46101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1005840" y="4399280"/>
          <a:ext cx="3458210" cy="771525"/>
        </p:xfrm>
        <a:graphic>
          <a:graphicData uri="http://schemas.openxmlformats.org/presentationml/2006/ole">
            <mc:AlternateContent xmlns:mc="http://schemas.openxmlformats.org/markup-compatibility/2006">
              <mc:Choice xmlns:v="urn:schemas-microsoft-com:vml" Requires="v">
                <p:oleObj spid="_x0000_s13" name="" r:id="rId13" imgW="2222500" imgH="495300" progId="Equation.KSEE3">
                  <p:embed/>
                </p:oleObj>
              </mc:Choice>
              <mc:Fallback>
                <p:oleObj name="" r:id="rId13" imgW="2222500" imgH="495300" progId="Equation.KSEE3">
                  <p:embed/>
                  <p:pic>
                    <p:nvPicPr>
                      <p:cNvPr id="0" name="图片 4096"/>
                      <p:cNvPicPr/>
                      <p:nvPr/>
                    </p:nvPicPr>
                    <p:blipFill>
                      <a:blip r:embed="rId14"/>
                      <a:stretch>
                        <a:fillRect/>
                      </a:stretch>
                    </p:blipFill>
                    <p:spPr>
                      <a:xfrm>
                        <a:off x="1005840" y="4399280"/>
                        <a:ext cx="3458210" cy="771525"/>
                      </a:xfrm>
                      <a:prstGeom prst="rect">
                        <a:avLst/>
                      </a:prstGeom>
                      <a:solidFill>
                        <a:schemeClr val="accent1">
                          <a:lumMod val="40000"/>
                          <a:lumOff val="60000"/>
                        </a:schemeClr>
                      </a:solidFill>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4857115" y="4388485"/>
          <a:ext cx="3454400" cy="762000"/>
        </p:xfrm>
        <a:graphic>
          <a:graphicData uri="http://schemas.openxmlformats.org/presentationml/2006/ole">
            <mc:AlternateContent xmlns:mc="http://schemas.openxmlformats.org/markup-compatibility/2006">
              <mc:Choice xmlns:v="urn:schemas-microsoft-com:vml" Requires="v">
                <p:oleObj spid="_x0000_s16" name="" r:id="rId15" imgW="2247900" imgH="495300" progId="Equation.KSEE3">
                  <p:embed/>
                </p:oleObj>
              </mc:Choice>
              <mc:Fallback>
                <p:oleObj name="" r:id="rId15" imgW="2247900" imgH="495300" progId="Equation.KSEE3">
                  <p:embed/>
                  <p:pic>
                    <p:nvPicPr>
                      <p:cNvPr id="0" name="图片 4096"/>
                      <p:cNvPicPr/>
                      <p:nvPr/>
                    </p:nvPicPr>
                    <p:blipFill>
                      <a:blip r:embed="rId16"/>
                      <a:stretch>
                        <a:fillRect/>
                      </a:stretch>
                    </p:blipFill>
                    <p:spPr>
                      <a:xfrm>
                        <a:off x="4857115" y="4388485"/>
                        <a:ext cx="3454400" cy="762000"/>
                      </a:xfrm>
                      <a:prstGeom prst="rect">
                        <a:avLst/>
                      </a:prstGeom>
                      <a:solidFill>
                        <a:schemeClr val="accent1">
                          <a:lumMod val="40000"/>
                          <a:lumOff val="60000"/>
                        </a:schemeClr>
                      </a:solidFill>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1320800" y="5217478"/>
          <a:ext cx="2456180" cy="402590"/>
        </p:xfrm>
        <a:graphic>
          <a:graphicData uri="http://schemas.openxmlformats.org/presentationml/2006/ole">
            <mc:AlternateContent xmlns:mc="http://schemas.openxmlformats.org/markup-compatibility/2006">
              <mc:Choice xmlns:v="urn:schemas-microsoft-com:vml" Requires="v">
                <p:oleObj spid="_x0000_s19" name="" r:id="rId17" imgW="1473200" imgH="241300" progId="Equation.KSEE3">
                  <p:embed/>
                </p:oleObj>
              </mc:Choice>
              <mc:Fallback>
                <p:oleObj name="" r:id="rId17" imgW="1473200" imgH="241300" progId="Equation.KSEE3">
                  <p:embed/>
                  <p:pic>
                    <p:nvPicPr>
                      <p:cNvPr id="0" name="图片 4098"/>
                      <p:cNvPicPr/>
                      <p:nvPr/>
                    </p:nvPicPr>
                    <p:blipFill>
                      <a:blip r:embed="rId18"/>
                      <a:stretch>
                        <a:fillRect/>
                      </a:stretch>
                    </p:blipFill>
                    <p:spPr>
                      <a:xfrm>
                        <a:off x="1320800" y="5217478"/>
                        <a:ext cx="2456180" cy="402590"/>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4819015" y="5270818"/>
          <a:ext cx="2477770" cy="402590"/>
        </p:xfrm>
        <a:graphic>
          <a:graphicData uri="http://schemas.openxmlformats.org/presentationml/2006/ole">
            <mc:AlternateContent xmlns:mc="http://schemas.openxmlformats.org/markup-compatibility/2006">
              <mc:Choice xmlns:v="urn:schemas-microsoft-com:vml" Requires="v">
                <p:oleObj spid="_x0000_s21" name="" r:id="rId19" imgW="1485900" imgH="241300" progId="Equation.KSEE3">
                  <p:embed/>
                </p:oleObj>
              </mc:Choice>
              <mc:Fallback>
                <p:oleObj name="" r:id="rId19" imgW="1485900" imgH="241300" progId="Equation.KSEE3">
                  <p:embed/>
                  <p:pic>
                    <p:nvPicPr>
                      <p:cNvPr id="0" name="图片 4098"/>
                      <p:cNvPicPr/>
                      <p:nvPr/>
                    </p:nvPicPr>
                    <p:blipFill>
                      <a:blip r:embed="rId20"/>
                      <a:stretch>
                        <a:fillRect/>
                      </a:stretch>
                    </p:blipFill>
                    <p:spPr>
                      <a:xfrm>
                        <a:off x="4819015" y="5270818"/>
                        <a:ext cx="2477770" cy="402590"/>
                      </a:xfrm>
                      <a:prstGeom prst="rect">
                        <a:avLst/>
                      </a:prstGeom>
                    </p:spPr>
                  </p:pic>
                </p:oleObj>
              </mc:Fallback>
            </mc:AlternateContent>
          </a:graphicData>
        </a:graphic>
      </p:graphicFrame>
      <p:graphicFrame>
        <p:nvGraphicFramePr>
          <p:cNvPr id="22" name="对象 21">
            <a:hlinkClick r:id="" action="ppaction://ole?verb="/>
          </p:cNvPr>
          <p:cNvGraphicFramePr>
            <a:graphicFrameLocks noChangeAspect="1"/>
          </p:cNvGraphicFramePr>
          <p:nvPr/>
        </p:nvGraphicFramePr>
        <p:xfrm>
          <a:off x="3593465" y="5794375"/>
          <a:ext cx="1809750" cy="412750"/>
        </p:xfrm>
        <a:graphic>
          <a:graphicData uri="http://schemas.openxmlformats.org/presentationml/2006/ole">
            <mc:AlternateContent xmlns:mc="http://schemas.openxmlformats.org/markup-compatibility/2006">
              <mc:Choice xmlns:v="urn:schemas-microsoft-com:vml" Requires="v">
                <p:oleObj spid="_x0000_s3075" name="" r:id="rId21" imgW="1002665" imgH="228600" progId="Equation.KSEE3">
                  <p:embed/>
                </p:oleObj>
              </mc:Choice>
              <mc:Fallback>
                <p:oleObj name="" r:id="rId21" imgW="1002665" imgH="228600" progId="Equation.KSEE3">
                  <p:embed/>
                  <p:pic>
                    <p:nvPicPr>
                      <p:cNvPr id="0" name="图片 3074"/>
                      <p:cNvPicPr/>
                      <p:nvPr/>
                    </p:nvPicPr>
                    <p:blipFill>
                      <a:blip r:embed="rId22"/>
                      <a:stretch>
                        <a:fillRect/>
                      </a:stretch>
                    </p:blipFill>
                    <p:spPr>
                      <a:xfrm>
                        <a:off x="3593465" y="5794375"/>
                        <a:ext cx="1809750" cy="412750"/>
                      </a:xfrm>
                      <a:prstGeom prst="rect">
                        <a:avLst/>
                      </a:prstGeom>
                    </p:spPr>
                  </p:pic>
                </p:oleObj>
              </mc:Fallback>
            </mc:AlternateContent>
          </a:graphicData>
        </a:graphic>
      </p:graphicFrame>
      <p:sp>
        <p:nvSpPr>
          <p:cNvPr id="23" name="文本框 22"/>
          <p:cNvSpPr txBox="1"/>
          <p:nvPr/>
        </p:nvSpPr>
        <p:spPr>
          <a:xfrm>
            <a:off x="836930" y="4025900"/>
            <a:ext cx="2626360" cy="398780"/>
          </a:xfrm>
          <a:prstGeom prst="rect">
            <a:avLst/>
          </a:prstGeom>
          <a:noFill/>
        </p:spPr>
        <p:txBody>
          <a:bodyPr wrap="square" rtlCol="0">
            <a:spAutoFit/>
          </a:bodyPr>
          <a:p>
            <a:r>
              <a:rPr lang="zh-CN" altLang="en-US"/>
              <a:t>接触疲劳寿命系数：</a:t>
            </a:r>
            <a:endParaRPr lang="zh-CN" altLang="en-US"/>
          </a:p>
        </p:txBody>
      </p:sp>
      <p:sp>
        <p:nvSpPr>
          <p:cNvPr id="24" name="文本框 23"/>
          <p:cNvSpPr txBox="1"/>
          <p:nvPr/>
        </p:nvSpPr>
        <p:spPr>
          <a:xfrm>
            <a:off x="1119505" y="5798820"/>
            <a:ext cx="2626360" cy="398780"/>
          </a:xfrm>
          <a:prstGeom prst="rect">
            <a:avLst/>
          </a:prstGeom>
          <a:noFill/>
        </p:spPr>
        <p:txBody>
          <a:bodyPr wrap="square" rtlCol="0">
            <a:spAutoFit/>
          </a:bodyPr>
          <a:p>
            <a:r>
              <a:rPr lang="zh-CN" altLang="en-US"/>
              <a:t>弯曲疲劳寿命系数：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wipe(left)">
                                      <p:cBhvr>
                                        <p:cTn id="39" dur="500"/>
                                        <p:tgtEl>
                                          <p:spTgt spid="11">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left)">
                                      <p:cBhvr>
                                        <p:cTn id="49" dur="500"/>
                                        <p:tgtEl>
                                          <p:spTgt spid="2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500"/>
                                        <p:tgtEl>
                                          <p:spTgt spid="17"/>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wipe(left)">
                                      <p:cBhvr>
                                        <p:cTn id="73" dur="500"/>
                                        <p:tgtEl>
                                          <p:spTgt spid="24"/>
                                        </p:tgtEl>
                                      </p:cBhvr>
                                    </p:animEffec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wipe(left)">
                                      <p:cBhvr>
                                        <p:cTn id="7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3" grpId="0"/>
      <p:bldP spid="2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6134100" y="781050"/>
            <a:ext cx="200025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直齿圆柱齿轮强度计算</a:t>
            </a:r>
            <a:r>
              <a:rPr lang="en-US" altLang="zh-CN" sz="800" smtClean="0">
                <a:solidFill>
                  <a:schemeClr val="bg1"/>
                </a:solidFill>
                <a:ea typeface="黑体" panose="02010609060101010101" pitchFamily="49" charset="-122"/>
              </a:rPr>
              <a:t>2</a:t>
            </a:r>
            <a:endParaRPr lang="en-US" altLang="zh-CN" sz="800" smtClean="0">
              <a:solidFill>
                <a:schemeClr val="bg1"/>
              </a:solidFill>
              <a:ea typeface="黑体" panose="02010609060101010101" pitchFamily="49" charset="-122"/>
            </a:endParaRPr>
          </a:p>
        </p:txBody>
      </p:sp>
      <p:sp>
        <p:nvSpPr>
          <p:cNvPr id="60421" name="Text Box 5"/>
          <p:cNvSpPr txBox="1">
            <a:spLocks noChangeArrowheads="1"/>
          </p:cNvSpPr>
          <p:nvPr/>
        </p:nvSpPr>
        <p:spPr bwMode="auto">
          <a:xfrm>
            <a:off x="-222009" y="894245"/>
            <a:ext cx="55531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latin typeface="华文中宋" panose="02010600040101010101" pitchFamily="2" charset="-122"/>
              </a:rPr>
              <a:t>       </a:t>
            </a:r>
            <a:r>
              <a:rPr lang="zh-CN" altLang="en-US" sz="2200" dirty="0">
                <a:solidFill>
                  <a:srgbClr val="000099"/>
                </a:solidFill>
                <a:latin typeface="黑体" panose="02010609060101010101" pitchFamily="49" charset="-122"/>
                <a:ea typeface="黑体" panose="02010609060101010101" pitchFamily="49" charset="-122"/>
              </a:rPr>
              <a:t>影响齿根弯曲疲劳强度的主要因素有：</a:t>
            </a:r>
            <a:endParaRPr lang="zh-CN" altLang="en-US" sz="2200" dirty="0">
              <a:solidFill>
                <a:srgbClr val="000099"/>
              </a:solidFill>
              <a:latin typeface="黑体" panose="02010609060101010101" pitchFamily="49" charset="-122"/>
              <a:ea typeface="黑体" panose="02010609060101010101" pitchFamily="49" charset="-122"/>
            </a:endParaRPr>
          </a:p>
        </p:txBody>
      </p:sp>
      <p:sp>
        <p:nvSpPr>
          <p:cNvPr id="60422" name="Text Box 6"/>
          <p:cNvSpPr txBox="1">
            <a:spLocks noChangeArrowheads="1"/>
          </p:cNvSpPr>
          <p:nvPr/>
        </p:nvSpPr>
        <p:spPr bwMode="auto">
          <a:xfrm>
            <a:off x="317707" y="1502120"/>
            <a:ext cx="831532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5000"/>
              </a:lnSpc>
            </a:pPr>
            <a:r>
              <a:rPr lang="en-US" altLang="en-US" dirty="0">
                <a:solidFill>
                  <a:srgbClr val="000099"/>
                </a:solidFill>
                <a:latin typeface="华文中宋" panose="02010600040101010101" pitchFamily="2" charset="-122"/>
              </a:rPr>
              <a:t>1</a:t>
            </a:r>
            <a:r>
              <a:rPr lang="zh-CN" altLang="en-US" dirty="0">
                <a:solidFill>
                  <a:srgbClr val="000099"/>
                </a:solidFill>
                <a:latin typeface="华文中宋" panose="02010600040101010101" pitchFamily="2" charset="-122"/>
              </a:rPr>
              <a:t>）</a:t>
            </a:r>
            <a:r>
              <a:rPr lang="zh-CN" altLang="en-US" dirty="0">
                <a:solidFill>
                  <a:srgbClr val="C00000"/>
                </a:solidFill>
                <a:latin typeface="华文中宋" panose="02010600040101010101" pitchFamily="2" charset="-122"/>
              </a:rPr>
              <a:t>模数</a:t>
            </a:r>
            <a:r>
              <a:rPr lang="en-US" altLang="en-US" i="1" dirty="0">
                <a:solidFill>
                  <a:srgbClr val="C00000"/>
                </a:solidFill>
                <a:cs typeface="Times New Roman" panose="02020603050405020304" pitchFamily="18" charset="0"/>
              </a:rPr>
              <a:t>m</a:t>
            </a:r>
            <a:r>
              <a:rPr lang="zh-CN" altLang="en-US" dirty="0">
                <a:solidFill>
                  <a:srgbClr val="000099"/>
                </a:solidFill>
                <a:latin typeface="华文中宋" panose="02010600040101010101" pitchFamily="2" charset="-122"/>
              </a:rPr>
              <a:t>。</a:t>
            </a:r>
            <a:r>
              <a:rPr lang="zh-CN" altLang="en-US" dirty="0">
                <a:solidFill>
                  <a:srgbClr val="002060"/>
                </a:solidFill>
                <a:latin typeface="华文中宋" panose="02010600040101010101" pitchFamily="2" charset="-122"/>
              </a:rPr>
              <a:t>模数</a:t>
            </a:r>
            <a:r>
              <a:rPr lang="en-US" altLang="en-US" dirty="0">
                <a:solidFill>
                  <a:srgbClr val="002060"/>
                </a:solidFill>
                <a:latin typeface="华文中宋" panose="02010600040101010101" pitchFamily="2" charset="-122"/>
              </a:rPr>
              <a:t>m</a:t>
            </a:r>
            <a:r>
              <a:rPr lang="zh-CN" altLang="en-US" dirty="0">
                <a:solidFill>
                  <a:srgbClr val="002060"/>
                </a:solidFill>
                <a:latin typeface="华文中宋" panose="02010600040101010101" pitchFamily="2" charset="-122"/>
              </a:rPr>
              <a:t>越大，齿根危险截面的弯曲应</a:t>
            </a:r>
            <a:r>
              <a:rPr lang="en-US" altLang="en-US" dirty="0">
                <a:solidFill>
                  <a:srgbClr val="002060"/>
                </a:solidFill>
                <a:latin typeface="华文中宋" panose="02010600040101010101" pitchFamily="2" charset="-122"/>
              </a:rPr>
              <a:t> </a:t>
            </a:r>
            <a:r>
              <a:rPr lang="zh-CN" altLang="en-US" dirty="0">
                <a:solidFill>
                  <a:srgbClr val="002060"/>
                </a:solidFill>
                <a:latin typeface="华文中宋" panose="02010600040101010101" pitchFamily="2" charset="-122"/>
              </a:rPr>
              <a:t>越小，齿轮的弯曲疲劳强度越高。</a:t>
            </a:r>
            <a:endParaRPr lang="zh-CN" altLang="en-US" dirty="0">
              <a:solidFill>
                <a:srgbClr val="002060"/>
              </a:solidFill>
              <a:latin typeface="华文中宋" panose="02010600040101010101" pitchFamily="2" charset="-122"/>
            </a:endParaRPr>
          </a:p>
        </p:txBody>
      </p:sp>
      <p:sp>
        <p:nvSpPr>
          <p:cNvPr id="60428" name="Text Box 12"/>
          <p:cNvSpPr txBox="1">
            <a:spLocks noChangeArrowheads="1"/>
          </p:cNvSpPr>
          <p:nvPr/>
        </p:nvSpPr>
        <p:spPr bwMode="auto">
          <a:xfrm>
            <a:off x="185324" y="3788121"/>
            <a:ext cx="86963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dirty="0">
                <a:solidFill>
                  <a:srgbClr val="000099"/>
                </a:solidFill>
              </a:rPr>
              <a:t>3</a:t>
            </a:r>
            <a:r>
              <a:rPr lang="zh-CN" altLang="en-US" dirty="0">
                <a:solidFill>
                  <a:srgbClr val="000099"/>
                </a:solidFill>
              </a:rPr>
              <a:t>）</a:t>
            </a:r>
            <a:r>
              <a:rPr lang="zh-CN" altLang="en-US" dirty="0">
                <a:solidFill>
                  <a:srgbClr val="C00000"/>
                </a:solidFill>
              </a:rPr>
              <a:t>齿数</a:t>
            </a:r>
            <a:r>
              <a:rPr lang="en-US" altLang="zh-CN" i="1" dirty="0">
                <a:solidFill>
                  <a:srgbClr val="C00000"/>
                </a:solidFill>
              </a:rPr>
              <a:t>z</a:t>
            </a:r>
            <a:r>
              <a:rPr lang="zh-CN" altLang="en-US" dirty="0">
                <a:solidFill>
                  <a:srgbClr val="000099"/>
                </a:solidFill>
              </a:rPr>
              <a:t>。</a:t>
            </a:r>
            <a:r>
              <a:rPr lang="zh-CN" altLang="en-US" dirty="0">
                <a:solidFill>
                  <a:srgbClr val="002060"/>
                </a:solidFill>
              </a:rPr>
              <a:t>在其它参数不变的情况下，齿数</a:t>
            </a:r>
            <a:r>
              <a:rPr lang="en-US" altLang="zh-CN" i="1" dirty="0">
                <a:solidFill>
                  <a:srgbClr val="002060"/>
                </a:solidFill>
              </a:rPr>
              <a:t>z</a:t>
            </a:r>
            <a:r>
              <a:rPr lang="zh-CN" altLang="en-US" dirty="0">
                <a:solidFill>
                  <a:srgbClr val="FF0000"/>
                </a:solidFill>
              </a:rPr>
              <a:t>越多</a:t>
            </a:r>
            <a:r>
              <a:rPr lang="zh-CN" altLang="en-US" dirty="0">
                <a:solidFill>
                  <a:srgbClr val="000099"/>
                </a:solidFill>
              </a:rPr>
              <a:t>，</a:t>
            </a:r>
            <a:r>
              <a:rPr lang="en-US" altLang="zh-CN" i="1" dirty="0" err="1">
                <a:solidFill>
                  <a:srgbClr val="002060"/>
                </a:solidFill>
              </a:rPr>
              <a:t>Y</a:t>
            </a:r>
            <a:r>
              <a:rPr lang="en-US" altLang="zh-CN" baseline="-25000" dirty="0" err="1">
                <a:solidFill>
                  <a:srgbClr val="002060"/>
                </a:solidFill>
              </a:rPr>
              <a:t>F</a:t>
            </a:r>
            <a:r>
              <a:rPr lang="en-US" altLang="zh-CN" baseline="-25000" dirty="0">
                <a:solidFill>
                  <a:srgbClr val="002060"/>
                </a:solidFill>
              </a:rPr>
              <a:t> </a:t>
            </a:r>
            <a:r>
              <a:rPr lang="en-US" altLang="zh-CN" dirty="0">
                <a:solidFill>
                  <a:srgbClr val="002060"/>
                </a:solidFill>
              </a:rPr>
              <a:t> </a:t>
            </a:r>
            <a:r>
              <a:rPr lang="zh-CN" altLang="en-US" dirty="0">
                <a:solidFill>
                  <a:srgbClr val="FF0000"/>
                </a:solidFill>
              </a:rPr>
              <a:t>越小</a:t>
            </a:r>
            <a:r>
              <a:rPr lang="zh-CN" altLang="en-US" dirty="0">
                <a:solidFill>
                  <a:srgbClr val="000099"/>
                </a:solidFill>
              </a:rPr>
              <a:t>，</a:t>
            </a:r>
            <a:r>
              <a:rPr lang="zh-CN" altLang="en-US" dirty="0">
                <a:solidFill>
                  <a:srgbClr val="002060"/>
                </a:solidFill>
              </a:rPr>
              <a:t>齿根危险截面的</a:t>
            </a:r>
            <a:r>
              <a:rPr lang="zh-CN" altLang="en-US" dirty="0" smtClean="0">
                <a:solidFill>
                  <a:srgbClr val="002060"/>
                </a:solidFill>
              </a:rPr>
              <a:t>弯曲应力</a:t>
            </a:r>
            <a:r>
              <a:rPr lang="zh-CN" altLang="en-US" dirty="0" smtClean="0">
                <a:solidFill>
                  <a:srgbClr val="FF0000"/>
                </a:solidFill>
              </a:rPr>
              <a:t>越</a:t>
            </a:r>
            <a:r>
              <a:rPr lang="zh-CN" altLang="en-US" dirty="0">
                <a:solidFill>
                  <a:srgbClr val="FF0000"/>
                </a:solidFill>
              </a:rPr>
              <a:t>小</a:t>
            </a:r>
            <a:r>
              <a:rPr lang="zh-CN" altLang="en-US" dirty="0">
                <a:solidFill>
                  <a:srgbClr val="000099"/>
                </a:solidFill>
              </a:rPr>
              <a:t>，</a:t>
            </a:r>
            <a:r>
              <a:rPr lang="zh-CN" altLang="en-US" dirty="0">
                <a:solidFill>
                  <a:srgbClr val="002060"/>
                </a:solidFill>
              </a:rPr>
              <a:t>齿轮的弯曲疲劳强度</a:t>
            </a:r>
            <a:r>
              <a:rPr lang="zh-CN" altLang="en-US" dirty="0">
                <a:solidFill>
                  <a:srgbClr val="FF0000"/>
                </a:solidFill>
              </a:rPr>
              <a:t>越高</a:t>
            </a:r>
            <a:r>
              <a:rPr lang="zh-CN" altLang="en-US" dirty="0">
                <a:solidFill>
                  <a:srgbClr val="000099"/>
                </a:solidFill>
              </a:rPr>
              <a:t>。</a:t>
            </a:r>
            <a:endParaRPr lang="zh-CN" altLang="en-US" dirty="0">
              <a:solidFill>
                <a:srgbClr val="000099"/>
              </a:solidFill>
              <a:latin typeface="华文中宋" panose="02010600040101010101" pitchFamily="2" charset="-122"/>
            </a:endParaRPr>
          </a:p>
        </p:txBody>
      </p:sp>
      <p:pic>
        <p:nvPicPr>
          <p:cNvPr id="60445" name="Picture 29"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0422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46" name="Picture 30"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24913" y="653891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47" name="Picture 31"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512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51" name="Text Box 35"/>
          <p:cNvSpPr txBox="1">
            <a:spLocks noChangeArrowheads="1"/>
          </p:cNvSpPr>
          <p:nvPr/>
        </p:nvSpPr>
        <p:spPr bwMode="auto">
          <a:xfrm>
            <a:off x="69574" y="2483264"/>
            <a:ext cx="8907463" cy="129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30000"/>
              </a:lnSpc>
            </a:pPr>
            <a:r>
              <a:rPr lang="zh-CN" altLang="en-US" i="1" dirty="0">
                <a:solidFill>
                  <a:srgbClr val="000099"/>
                </a:solidFill>
                <a:latin typeface="华文中宋" panose="02010600040101010101" pitchFamily="2" charset="-122"/>
              </a:rPr>
              <a:t>  </a:t>
            </a:r>
            <a:r>
              <a:rPr lang="en-US" altLang="zh-CN" dirty="0">
                <a:solidFill>
                  <a:srgbClr val="000099"/>
                </a:solidFill>
              </a:rPr>
              <a:t> 2</a:t>
            </a:r>
            <a:r>
              <a:rPr lang="zh-CN" altLang="en-US" dirty="0">
                <a:solidFill>
                  <a:srgbClr val="000099"/>
                </a:solidFill>
              </a:rPr>
              <a:t>）</a:t>
            </a:r>
            <a:r>
              <a:rPr lang="zh-CN" altLang="en-US" dirty="0">
                <a:solidFill>
                  <a:srgbClr val="C00000"/>
                </a:solidFill>
              </a:rPr>
              <a:t>齿宽</a:t>
            </a:r>
            <a:r>
              <a:rPr lang="en-US" altLang="zh-CN" i="1" dirty="0">
                <a:solidFill>
                  <a:srgbClr val="C00000"/>
                </a:solidFill>
              </a:rPr>
              <a:t>b</a:t>
            </a:r>
            <a:r>
              <a:rPr lang="zh-CN" altLang="en-US" dirty="0">
                <a:solidFill>
                  <a:srgbClr val="000099"/>
                </a:solidFill>
              </a:rPr>
              <a:t>。</a:t>
            </a:r>
            <a:r>
              <a:rPr lang="zh-CN" altLang="en-US" dirty="0">
                <a:solidFill>
                  <a:srgbClr val="002060"/>
                </a:solidFill>
              </a:rPr>
              <a:t>齿宽</a:t>
            </a:r>
            <a:r>
              <a:rPr lang="en-US" altLang="zh-CN" i="1" dirty="0">
                <a:solidFill>
                  <a:srgbClr val="002060"/>
                </a:solidFill>
              </a:rPr>
              <a:t>b</a:t>
            </a:r>
            <a:r>
              <a:rPr lang="zh-CN" altLang="en-US" dirty="0">
                <a:solidFill>
                  <a:srgbClr val="002060"/>
                </a:solidFill>
              </a:rPr>
              <a:t>越大，齿宽系数</a:t>
            </a:r>
            <a:r>
              <a:rPr lang="en-US" altLang="zh-CN" i="1" dirty="0" err="1">
                <a:solidFill>
                  <a:srgbClr val="002060"/>
                </a:solidFill>
              </a:rPr>
              <a:t>Φ</a:t>
            </a:r>
            <a:r>
              <a:rPr lang="en-US" altLang="zh-CN" baseline="-25000" dirty="0" err="1">
                <a:solidFill>
                  <a:srgbClr val="002060"/>
                </a:solidFill>
              </a:rPr>
              <a:t>d</a:t>
            </a:r>
            <a:r>
              <a:rPr lang="zh-CN" altLang="en-US" dirty="0">
                <a:solidFill>
                  <a:srgbClr val="002060"/>
                </a:solidFill>
              </a:rPr>
              <a:t>也越大，齿根危险截面的弯曲应力</a:t>
            </a:r>
            <a:r>
              <a:rPr lang="en-US" dirty="0">
                <a:solidFill>
                  <a:srgbClr val="002060"/>
                </a:solidFill>
              </a:rPr>
              <a:t> </a:t>
            </a:r>
            <a:r>
              <a:rPr lang="zh-CN" altLang="en-US" dirty="0">
                <a:solidFill>
                  <a:srgbClr val="002060"/>
                </a:solidFill>
              </a:rPr>
              <a:t>越小，齿轮的弯曲疲劳强度越高，但应注意</a:t>
            </a:r>
            <a:r>
              <a:rPr lang="en-US" altLang="zh-CN" i="1" dirty="0">
                <a:solidFill>
                  <a:srgbClr val="002060"/>
                </a:solidFill>
              </a:rPr>
              <a:t>b</a:t>
            </a:r>
            <a:r>
              <a:rPr lang="zh-CN" altLang="en-US" dirty="0">
                <a:solidFill>
                  <a:srgbClr val="002060"/>
                </a:solidFill>
              </a:rPr>
              <a:t>增加时会使</a:t>
            </a:r>
            <a:r>
              <a:rPr lang="en-US" altLang="zh-CN" i="1" dirty="0">
                <a:solidFill>
                  <a:srgbClr val="002060"/>
                </a:solidFill>
              </a:rPr>
              <a:t>K</a:t>
            </a:r>
            <a:r>
              <a:rPr lang="en-US" altLang="zh-CN" baseline="-25000" dirty="0">
                <a:solidFill>
                  <a:srgbClr val="002060"/>
                </a:solidFill>
              </a:rPr>
              <a:t>F</a:t>
            </a:r>
            <a:r>
              <a:rPr lang="zh-CN" altLang="en-US" dirty="0">
                <a:solidFill>
                  <a:srgbClr val="002060"/>
                </a:solidFill>
              </a:rPr>
              <a:t>加大，因此，齿宽不宜过大。</a:t>
            </a:r>
            <a:endParaRPr lang="zh-CN" altLang="en-US" dirty="0">
              <a:solidFill>
                <a:srgbClr val="002060"/>
              </a:solidFill>
              <a:latin typeface="华文中宋" panose="02010600040101010101" pitchFamily="2" charset="-122"/>
            </a:endParaRPr>
          </a:p>
        </p:txBody>
      </p:sp>
      <p:sp>
        <p:nvSpPr>
          <p:cNvPr id="30730" name="Rectangle 2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26" name="Text Box 5"/>
          <p:cNvSpPr txBox="1">
            <a:spLocks noChangeArrowheads="1"/>
          </p:cNvSpPr>
          <p:nvPr/>
        </p:nvSpPr>
        <p:spPr bwMode="auto">
          <a:xfrm>
            <a:off x="244061" y="4906963"/>
            <a:ext cx="86868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dirty="0">
                <a:solidFill>
                  <a:srgbClr val="000099"/>
                </a:solidFill>
              </a:rPr>
              <a:t>4</a:t>
            </a:r>
            <a:r>
              <a:rPr lang="zh-CN" altLang="en-US" dirty="0">
                <a:solidFill>
                  <a:srgbClr val="000099"/>
                </a:solidFill>
              </a:rPr>
              <a:t>）</a:t>
            </a:r>
            <a:r>
              <a:rPr lang="zh-CN" altLang="en-US" dirty="0">
                <a:solidFill>
                  <a:srgbClr val="C00000"/>
                </a:solidFill>
              </a:rPr>
              <a:t>齿轮材料、热处理方法及加工精度</a:t>
            </a:r>
            <a:r>
              <a:rPr lang="zh-CN" altLang="en-US" dirty="0">
                <a:solidFill>
                  <a:srgbClr val="002060"/>
                </a:solidFill>
              </a:rPr>
              <a:t>。改善齿轮材料、选择合适的热处理方法、提高加工精度均有利于提高齿轮的许用应力</a:t>
            </a:r>
            <a:r>
              <a:rPr lang="en-US" dirty="0">
                <a:solidFill>
                  <a:srgbClr val="002060"/>
                </a:solidFill>
              </a:rPr>
              <a:t> </a:t>
            </a:r>
            <a:r>
              <a:rPr lang="zh-CN" altLang="en-US" dirty="0">
                <a:solidFill>
                  <a:srgbClr val="002060"/>
                </a:solidFill>
              </a:rPr>
              <a:t>，从而提高齿轮的弯曲疲劳强度。</a:t>
            </a:r>
            <a:endParaRPr lang="zh-CN" altLang="en-US" dirty="0">
              <a:solidFill>
                <a:srgbClr val="002060"/>
              </a:solidFill>
              <a:latin typeface="华文中宋" panose="02010600040101010101" pitchFamily="2" charset="-122"/>
            </a:endParaRPr>
          </a:p>
        </p:txBody>
      </p:sp>
      <p:sp>
        <p:nvSpPr>
          <p:cNvPr id="30733"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3073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5" name="Text Box 5"/>
          <p:cNvSpPr txBox="1">
            <a:spLocks noChangeArrowheads="1"/>
          </p:cNvSpPr>
          <p:nvPr/>
        </p:nvSpPr>
        <p:spPr bwMode="auto">
          <a:xfrm>
            <a:off x="970280" y="215900"/>
            <a:ext cx="843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3.4-4 </a:t>
            </a:r>
            <a:r>
              <a:rPr lang="zh-CN" altLang="en-US" sz="3000" dirty="0" smtClean="0">
                <a:solidFill>
                  <a:srgbClr val="CC3300"/>
                </a:solidFill>
                <a:latin typeface="黑体" panose="02010609060101010101" pitchFamily="49" charset="-122"/>
                <a:ea typeface="黑体" panose="02010609060101010101" pitchFamily="49" charset="-122"/>
              </a:rPr>
              <a:t>标准</a:t>
            </a:r>
            <a:r>
              <a:rPr lang="zh-CN" altLang="en-US" sz="3000" dirty="0">
                <a:solidFill>
                  <a:srgbClr val="CC3300"/>
                </a:solidFill>
                <a:latin typeface="黑体" panose="02010609060101010101" pitchFamily="49" charset="-122"/>
                <a:ea typeface="黑体" panose="02010609060101010101" pitchFamily="49" charset="-122"/>
              </a:rPr>
              <a:t>圆柱齿轮</a:t>
            </a:r>
            <a:r>
              <a:rPr lang="zh-CN" altLang="en-US" sz="3000" dirty="0" smtClean="0">
                <a:solidFill>
                  <a:srgbClr val="CC3300"/>
                </a:solidFill>
                <a:latin typeface="黑体" panose="02010609060101010101" pitchFamily="49" charset="-122"/>
                <a:ea typeface="黑体" panose="02010609060101010101" pitchFamily="49" charset="-122"/>
              </a:rPr>
              <a:t>传动的设计</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wipe(left)">
                                      <p:cBhvr>
                                        <p:cTn id="7" dur="500"/>
                                        <p:tgtEl>
                                          <p:spTgt spid="604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22"/>
                                        </p:tgtEl>
                                        <p:attrNameLst>
                                          <p:attrName>style.visibility</p:attrName>
                                        </p:attrNameLst>
                                      </p:cBhvr>
                                      <p:to>
                                        <p:strVal val="visible"/>
                                      </p:to>
                                    </p:set>
                                    <p:animEffect transition="in" filter="wipe(left)">
                                      <p:cBhvr>
                                        <p:cTn id="12" dur="500"/>
                                        <p:tgtEl>
                                          <p:spTgt spid="604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51"/>
                                        </p:tgtEl>
                                        <p:attrNameLst>
                                          <p:attrName>style.visibility</p:attrName>
                                        </p:attrNameLst>
                                      </p:cBhvr>
                                      <p:to>
                                        <p:strVal val="visible"/>
                                      </p:to>
                                    </p:set>
                                    <p:animEffect transition="in" filter="wipe(left)">
                                      <p:cBhvr>
                                        <p:cTn id="17" dur="500"/>
                                        <p:tgtEl>
                                          <p:spTgt spid="604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428"/>
                                        </p:tgtEl>
                                        <p:attrNameLst>
                                          <p:attrName>style.visibility</p:attrName>
                                        </p:attrNameLst>
                                      </p:cBhvr>
                                      <p:to>
                                        <p:strVal val="visible"/>
                                      </p:to>
                                    </p:set>
                                    <p:animEffect transition="in" filter="wipe(left)">
                                      <p:cBhvr>
                                        <p:cTn id="22" dur="500"/>
                                        <p:tgtEl>
                                          <p:spTgt spid="60428"/>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499"/>
                                          </p:stCondLst>
                                        </p:cTn>
                                        <p:tgtEl>
                                          <p:spTgt spid="60446"/>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nodeType="afterEffect">
                                  <p:stCondLst>
                                    <p:cond delay="0"/>
                                  </p:stCondLst>
                                  <p:childTnLst>
                                    <p:set>
                                      <p:cBhvr>
                                        <p:cTn id="28" dur="1" fill="hold">
                                          <p:stCondLst>
                                            <p:cond delay="499"/>
                                          </p:stCondLst>
                                        </p:cTn>
                                        <p:tgtEl>
                                          <p:spTgt spid="60445"/>
                                        </p:tgtEl>
                                        <p:attrNameLst>
                                          <p:attrName>style.visibility</p:attrName>
                                        </p:attrNameLst>
                                      </p:cBhvr>
                                      <p:to>
                                        <p:strVal val="visible"/>
                                      </p:to>
                                    </p:set>
                                  </p:childTnLst>
                                </p:cTn>
                              </p:par>
                            </p:childTnLst>
                          </p:cTn>
                        </p:par>
                        <p:par>
                          <p:cTn id="29" fill="hold">
                            <p:stCondLst>
                              <p:cond delay="1500"/>
                            </p:stCondLst>
                            <p:childTnLst>
                              <p:par>
                                <p:cTn id="30" presetID="2" presetClass="entr" presetSubtype="8" fill="hold" nodeType="afterEffect">
                                  <p:stCondLst>
                                    <p:cond delay="0"/>
                                  </p:stCondLst>
                                  <p:childTnLst>
                                    <p:set>
                                      <p:cBhvr>
                                        <p:cTn id="31" dur="1" fill="hold">
                                          <p:stCondLst>
                                            <p:cond delay="0"/>
                                          </p:stCondLst>
                                        </p:cTn>
                                        <p:tgtEl>
                                          <p:spTgt spid="60447"/>
                                        </p:tgtEl>
                                        <p:attrNameLst>
                                          <p:attrName>style.visibility</p:attrName>
                                        </p:attrNameLst>
                                      </p:cBhvr>
                                      <p:to>
                                        <p:strVal val="visible"/>
                                      </p:to>
                                    </p:set>
                                    <p:anim calcmode="lin" valueType="num">
                                      <p:cBhvr additive="base">
                                        <p:cTn id="32" dur="500" fill="hold"/>
                                        <p:tgtEl>
                                          <p:spTgt spid="60447"/>
                                        </p:tgtEl>
                                        <p:attrNameLst>
                                          <p:attrName>ppt_x</p:attrName>
                                        </p:attrNameLst>
                                      </p:cBhvr>
                                      <p:tavLst>
                                        <p:tav tm="0">
                                          <p:val>
                                            <p:strVal val="0-#ppt_w/2"/>
                                          </p:val>
                                        </p:tav>
                                        <p:tav tm="100000">
                                          <p:val>
                                            <p:strVal val="#ppt_x"/>
                                          </p:val>
                                        </p:tav>
                                      </p:tavLst>
                                    </p:anim>
                                    <p:anim calcmode="lin" valueType="num">
                                      <p:cBhvr additive="base">
                                        <p:cTn id="33" dur="500" fill="hold"/>
                                        <p:tgtEl>
                                          <p:spTgt spid="6044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autoUpdateAnimBg="0"/>
      <p:bldP spid="60422" grpId="0" autoUpdateAnimBg="0"/>
      <p:bldP spid="60428" grpId="0" autoUpdateAnimBg="0"/>
      <p:bldP spid="60451" grpId="0" autoUpdateAnimBg="0"/>
      <p:bldP spid="26"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bwMode="auto">
          <a:xfrm>
            <a:off x="6188075" y="814388"/>
            <a:ext cx="1592263" cy="260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齿轮传动的设计参数</a:t>
            </a:r>
            <a:r>
              <a:rPr lang="en-US" altLang="zh-CN" sz="800" smtClean="0">
                <a:solidFill>
                  <a:schemeClr val="bg1"/>
                </a:solidFill>
                <a:latin typeface="Times New Roman" panose="02020603050405020304" pitchFamily="18" charset="0"/>
              </a:rPr>
              <a:t>3</a:t>
            </a:r>
            <a:endParaRPr lang="en-US" altLang="zh-CN" sz="800" smtClean="0">
              <a:solidFill>
                <a:schemeClr val="bg1"/>
              </a:solidFill>
              <a:latin typeface="Times New Roman" panose="02020603050405020304" pitchFamily="18" charset="0"/>
            </a:endParaRPr>
          </a:p>
        </p:txBody>
      </p:sp>
      <p:pic>
        <p:nvPicPr>
          <p:cNvPr id="70661" name="Picture 5"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201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6"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40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3" name="Picture 7"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01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4" name="Text Box 8"/>
          <p:cNvSpPr txBox="1">
            <a:spLocks noChangeArrowheads="1"/>
          </p:cNvSpPr>
          <p:nvPr/>
        </p:nvSpPr>
        <p:spPr bwMode="auto">
          <a:xfrm>
            <a:off x="326040" y="944680"/>
            <a:ext cx="38150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六、齿轮传动的强度计算说明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70666" name="Text Box 10"/>
          <p:cNvSpPr txBox="1">
            <a:spLocks noChangeArrowheads="1"/>
          </p:cNvSpPr>
          <p:nvPr/>
        </p:nvSpPr>
        <p:spPr bwMode="auto">
          <a:xfrm>
            <a:off x="598688" y="2985269"/>
            <a:ext cx="8243887"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buClr>
                <a:srgbClr val="FF3300"/>
              </a:buClr>
              <a:buSzPct val="80000"/>
              <a:buFont typeface="Wingdings" panose="05000000000000000000" pitchFamily="2" charset="2"/>
              <a:buChar char="q"/>
            </a:pPr>
            <a:r>
              <a:rPr lang="en-US" altLang="zh-CN" dirty="0">
                <a:solidFill>
                  <a:srgbClr val="000099"/>
                </a:solidFill>
              </a:rPr>
              <a:t> </a:t>
            </a:r>
            <a:r>
              <a:rPr lang="zh-CN" altLang="en-US" dirty="0">
                <a:solidFill>
                  <a:srgbClr val="002060"/>
                </a:solidFill>
              </a:rPr>
              <a:t>接触强度计算中，因两对齿轮的</a:t>
            </a:r>
            <a:r>
              <a:rPr lang="en-US" altLang="zh-CN" i="1" dirty="0">
                <a:solidFill>
                  <a:srgbClr val="FF0000"/>
                </a:solidFill>
              </a:rPr>
              <a:t>σ</a:t>
            </a:r>
            <a:r>
              <a:rPr lang="en-US" altLang="zh-CN" baseline="-25000" dirty="0">
                <a:solidFill>
                  <a:srgbClr val="FF0000"/>
                </a:solidFill>
              </a:rPr>
              <a:t>H1</a:t>
            </a:r>
            <a:r>
              <a:rPr lang="en-US" altLang="zh-CN" dirty="0">
                <a:solidFill>
                  <a:srgbClr val="FF0000"/>
                </a:solidFill>
              </a:rPr>
              <a:t>= </a:t>
            </a:r>
            <a:r>
              <a:rPr lang="en-US" altLang="zh-CN" i="1" dirty="0">
                <a:solidFill>
                  <a:srgbClr val="FF0000"/>
                </a:solidFill>
              </a:rPr>
              <a:t>σ</a:t>
            </a:r>
            <a:r>
              <a:rPr lang="en-US" altLang="zh-CN" baseline="-25000" dirty="0">
                <a:solidFill>
                  <a:srgbClr val="FF0000"/>
                </a:solidFill>
              </a:rPr>
              <a:t>H2</a:t>
            </a:r>
            <a:r>
              <a:rPr lang="en-US" altLang="zh-CN" dirty="0">
                <a:solidFill>
                  <a:srgbClr val="002060"/>
                </a:solidFill>
              </a:rPr>
              <a:t> </a:t>
            </a:r>
            <a:r>
              <a:rPr lang="zh-CN" altLang="en-US" dirty="0">
                <a:solidFill>
                  <a:srgbClr val="002060"/>
                </a:solidFill>
              </a:rPr>
              <a:t>，但                     </a:t>
            </a:r>
            <a:r>
              <a:rPr lang="en-US" altLang="zh-CN" dirty="0">
                <a:solidFill>
                  <a:srgbClr val="002060"/>
                </a:solidFill>
              </a:rPr>
              <a:t>,</a:t>
            </a:r>
            <a:r>
              <a:rPr lang="zh-CN" altLang="en-US" dirty="0">
                <a:solidFill>
                  <a:srgbClr val="002060"/>
                </a:solidFill>
              </a:rPr>
              <a:t> 故按此强度准则设计齿轮 传动时，公式中应代</a:t>
            </a:r>
            <a:r>
              <a:rPr lang="en-US" altLang="zh-CN" dirty="0">
                <a:solidFill>
                  <a:srgbClr val="002060"/>
                </a:solidFill>
              </a:rPr>
              <a:t>[</a:t>
            </a:r>
            <a:r>
              <a:rPr lang="en-US" altLang="zh-CN" i="1" dirty="0" err="1">
                <a:solidFill>
                  <a:srgbClr val="002060"/>
                </a:solidFill>
              </a:rPr>
              <a:t>σ</a:t>
            </a:r>
            <a:r>
              <a:rPr lang="en-US" altLang="zh-CN" baseline="-25000" dirty="0" err="1">
                <a:solidFill>
                  <a:srgbClr val="002060"/>
                </a:solidFill>
              </a:rPr>
              <a:t>H</a:t>
            </a:r>
            <a:r>
              <a:rPr lang="en-US" altLang="zh-CN" dirty="0">
                <a:solidFill>
                  <a:srgbClr val="002060"/>
                </a:solidFill>
              </a:rPr>
              <a:t>] </a:t>
            </a:r>
            <a:r>
              <a:rPr lang="en-US" altLang="zh-CN" baseline="-25000" dirty="0">
                <a:solidFill>
                  <a:srgbClr val="002060"/>
                </a:solidFill>
              </a:rPr>
              <a:t>1</a:t>
            </a:r>
            <a:r>
              <a:rPr lang="zh-CN" altLang="en-US" dirty="0">
                <a:solidFill>
                  <a:srgbClr val="002060"/>
                </a:solidFill>
              </a:rPr>
              <a:t>和</a:t>
            </a:r>
            <a:r>
              <a:rPr lang="en-US" altLang="zh-CN" dirty="0">
                <a:solidFill>
                  <a:srgbClr val="002060"/>
                </a:solidFill>
              </a:rPr>
              <a:t>[</a:t>
            </a:r>
            <a:r>
              <a:rPr lang="en-US" altLang="zh-CN" i="1" dirty="0" err="1">
                <a:solidFill>
                  <a:srgbClr val="002060"/>
                </a:solidFill>
              </a:rPr>
              <a:t>σ</a:t>
            </a:r>
            <a:r>
              <a:rPr lang="en-US" altLang="zh-CN" baseline="-25000" dirty="0" err="1">
                <a:solidFill>
                  <a:srgbClr val="002060"/>
                </a:solidFill>
              </a:rPr>
              <a:t>H</a:t>
            </a:r>
            <a:r>
              <a:rPr lang="en-US" altLang="zh-CN" dirty="0">
                <a:solidFill>
                  <a:srgbClr val="002060"/>
                </a:solidFill>
              </a:rPr>
              <a:t>] </a:t>
            </a:r>
            <a:r>
              <a:rPr lang="en-US" altLang="zh-CN" baseline="-25000" dirty="0">
                <a:solidFill>
                  <a:srgbClr val="002060"/>
                </a:solidFill>
              </a:rPr>
              <a:t>2</a:t>
            </a:r>
            <a:r>
              <a:rPr lang="zh-CN" altLang="en-US" dirty="0">
                <a:solidFill>
                  <a:srgbClr val="002060"/>
                </a:solidFill>
              </a:rPr>
              <a:t>中较小者。</a:t>
            </a:r>
            <a:r>
              <a:rPr lang="zh-CN" altLang="en-US" dirty="0">
                <a:solidFill>
                  <a:srgbClr val="000099"/>
                </a:solidFill>
              </a:rPr>
              <a:t> </a:t>
            </a:r>
            <a:endParaRPr lang="zh-CN" altLang="en-US" dirty="0">
              <a:solidFill>
                <a:srgbClr val="000099"/>
              </a:solidFill>
            </a:endParaRPr>
          </a:p>
        </p:txBody>
      </p:sp>
      <p:sp>
        <p:nvSpPr>
          <p:cNvPr id="70667" name="Text Box 11"/>
          <p:cNvSpPr txBox="1">
            <a:spLocks noChangeArrowheads="1"/>
          </p:cNvSpPr>
          <p:nvPr/>
        </p:nvSpPr>
        <p:spPr bwMode="auto">
          <a:xfrm>
            <a:off x="490454" y="3907875"/>
            <a:ext cx="8561388"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buClr>
                <a:srgbClr val="FF3300"/>
              </a:buClr>
              <a:buSzPct val="80000"/>
              <a:buFont typeface="Wingdings" panose="05000000000000000000" pitchFamily="2" charset="2"/>
              <a:buChar char="q"/>
            </a:pPr>
            <a:r>
              <a:rPr lang="en-US" altLang="zh-CN" dirty="0">
                <a:solidFill>
                  <a:srgbClr val="000099"/>
                </a:solidFill>
              </a:rPr>
              <a:t> </a:t>
            </a:r>
            <a:r>
              <a:rPr lang="zh-CN" altLang="en-US" dirty="0">
                <a:solidFill>
                  <a:srgbClr val="002060"/>
                </a:solidFill>
              </a:rPr>
              <a:t>用设计公式初步计算齿轮分度圆直径</a:t>
            </a:r>
            <a:r>
              <a:rPr lang="en-US" altLang="zh-CN" i="1" dirty="0">
                <a:solidFill>
                  <a:srgbClr val="002060"/>
                </a:solidFill>
              </a:rPr>
              <a:t>d</a:t>
            </a:r>
            <a:r>
              <a:rPr lang="en-US" altLang="zh-CN" baseline="-25000" dirty="0">
                <a:solidFill>
                  <a:srgbClr val="002060"/>
                </a:solidFill>
              </a:rPr>
              <a:t>1</a:t>
            </a:r>
            <a:r>
              <a:rPr lang="zh-CN" altLang="en-US" dirty="0">
                <a:solidFill>
                  <a:srgbClr val="002060"/>
                </a:solidFill>
              </a:rPr>
              <a:t>时，可先试选一</a:t>
            </a:r>
            <a:r>
              <a:rPr lang="zh-CN" altLang="en-US" dirty="0">
                <a:solidFill>
                  <a:srgbClr val="FF0000"/>
                </a:solidFill>
              </a:rPr>
              <a:t>载荷系数</a:t>
            </a:r>
            <a:r>
              <a:rPr lang="en-US" altLang="zh-CN" i="1" dirty="0" err="1">
                <a:solidFill>
                  <a:srgbClr val="FF0000"/>
                </a:solidFill>
              </a:rPr>
              <a:t>K</a:t>
            </a:r>
            <a:r>
              <a:rPr lang="en-US" altLang="zh-CN" baseline="-25000" dirty="0" err="1">
                <a:solidFill>
                  <a:srgbClr val="FF0000"/>
                </a:solidFill>
              </a:rPr>
              <a:t>t</a:t>
            </a:r>
            <a:r>
              <a:rPr lang="en-US" altLang="zh-CN" dirty="0">
                <a:solidFill>
                  <a:srgbClr val="FF0000"/>
                </a:solidFill>
              </a:rPr>
              <a:t>(</a:t>
            </a:r>
            <a:r>
              <a:rPr lang="zh-CN" altLang="en-US" dirty="0">
                <a:solidFill>
                  <a:srgbClr val="FF0000"/>
                </a:solidFill>
              </a:rPr>
              <a:t>可根据齿轮精度的高低在</a:t>
            </a:r>
            <a:r>
              <a:rPr lang="en-US" altLang="zh-CN" dirty="0">
                <a:solidFill>
                  <a:srgbClr val="FF0000"/>
                </a:solidFill>
              </a:rPr>
              <a:t>1.2</a:t>
            </a:r>
            <a:r>
              <a:rPr lang="zh-CN" altLang="en-US" dirty="0">
                <a:solidFill>
                  <a:srgbClr val="FF0000"/>
                </a:solidFill>
              </a:rPr>
              <a:t>～</a:t>
            </a:r>
            <a:r>
              <a:rPr lang="en-US" altLang="zh-CN" dirty="0">
                <a:solidFill>
                  <a:srgbClr val="FF0000"/>
                </a:solidFill>
              </a:rPr>
              <a:t>1.8</a:t>
            </a:r>
            <a:r>
              <a:rPr lang="zh-CN" altLang="en-US" dirty="0">
                <a:solidFill>
                  <a:srgbClr val="FF0000"/>
                </a:solidFill>
              </a:rPr>
              <a:t>之间试取一值</a:t>
            </a:r>
            <a:r>
              <a:rPr lang="zh-CN" altLang="en-US" dirty="0">
                <a:solidFill>
                  <a:srgbClr val="002060"/>
                </a:solidFill>
              </a:rPr>
              <a:t>，精度高时取较小值</a:t>
            </a:r>
            <a:r>
              <a:rPr lang="en-US" altLang="zh-CN" dirty="0">
                <a:solidFill>
                  <a:srgbClr val="002060"/>
                </a:solidFill>
              </a:rPr>
              <a:t>)</a:t>
            </a:r>
            <a:r>
              <a:rPr lang="zh-CN" altLang="en-US" dirty="0">
                <a:solidFill>
                  <a:srgbClr val="002060"/>
                </a:solidFill>
              </a:rPr>
              <a:t>。算出</a:t>
            </a:r>
            <a:r>
              <a:rPr lang="en-US" altLang="zh-CN" i="1" dirty="0">
                <a:solidFill>
                  <a:srgbClr val="002060"/>
                </a:solidFill>
              </a:rPr>
              <a:t>d</a:t>
            </a:r>
            <a:r>
              <a:rPr lang="en-US" altLang="zh-CN" baseline="-25000" dirty="0">
                <a:solidFill>
                  <a:srgbClr val="002060"/>
                </a:solidFill>
              </a:rPr>
              <a:t>1t</a:t>
            </a:r>
            <a:r>
              <a:rPr lang="zh-CN" altLang="en-US" dirty="0">
                <a:solidFill>
                  <a:srgbClr val="002060"/>
                </a:solidFill>
              </a:rPr>
              <a:t>后，用</a:t>
            </a:r>
            <a:r>
              <a:rPr lang="en-US" altLang="zh-CN" i="1" dirty="0">
                <a:solidFill>
                  <a:srgbClr val="002060"/>
                </a:solidFill>
              </a:rPr>
              <a:t>d</a:t>
            </a:r>
            <a:r>
              <a:rPr lang="en-US" altLang="zh-CN" baseline="-25000" dirty="0">
                <a:solidFill>
                  <a:srgbClr val="002060"/>
                </a:solidFill>
              </a:rPr>
              <a:t>1t</a:t>
            </a:r>
            <a:r>
              <a:rPr lang="zh-CN" altLang="en-US" dirty="0">
                <a:solidFill>
                  <a:srgbClr val="002060"/>
                </a:solidFill>
              </a:rPr>
              <a:t>再查取</a:t>
            </a:r>
            <a:r>
              <a:rPr lang="en-US" altLang="zh-CN" i="1" dirty="0">
                <a:solidFill>
                  <a:srgbClr val="002060"/>
                </a:solidFill>
              </a:rPr>
              <a:t>K</a:t>
            </a:r>
            <a:r>
              <a:rPr lang="en-US" altLang="zh-CN" baseline="-25000" dirty="0">
                <a:solidFill>
                  <a:srgbClr val="002060"/>
                </a:solidFill>
              </a:rPr>
              <a:t>V</a:t>
            </a:r>
            <a:r>
              <a:rPr lang="zh-CN" altLang="en-US" dirty="0">
                <a:solidFill>
                  <a:srgbClr val="002060"/>
                </a:solidFill>
              </a:rPr>
              <a:t>、</a:t>
            </a:r>
            <a:r>
              <a:rPr lang="en-US" altLang="zh-CN" i="1" dirty="0">
                <a:solidFill>
                  <a:srgbClr val="002060"/>
                </a:solidFill>
              </a:rPr>
              <a:t>K</a:t>
            </a:r>
            <a:r>
              <a:rPr lang="en-US" altLang="zh-CN" baseline="-25000" dirty="0">
                <a:solidFill>
                  <a:srgbClr val="002060"/>
                </a:solidFill>
              </a:rPr>
              <a:t>α</a:t>
            </a:r>
            <a:r>
              <a:rPr lang="zh-CN" altLang="en-US" dirty="0">
                <a:solidFill>
                  <a:srgbClr val="002060"/>
                </a:solidFill>
              </a:rPr>
              <a:t>、</a:t>
            </a:r>
            <a:r>
              <a:rPr lang="en-US" altLang="zh-CN" i="1" dirty="0">
                <a:solidFill>
                  <a:srgbClr val="002060"/>
                </a:solidFill>
              </a:rPr>
              <a:t>K</a:t>
            </a:r>
            <a:r>
              <a:rPr lang="en-US" altLang="zh-CN" baseline="-25000" dirty="0">
                <a:solidFill>
                  <a:srgbClr val="002060"/>
                </a:solidFill>
              </a:rPr>
              <a:t>β</a:t>
            </a:r>
            <a:r>
              <a:rPr lang="zh-CN" altLang="en-US" dirty="0">
                <a:solidFill>
                  <a:srgbClr val="002060"/>
                </a:solidFill>
              </a:rPr>
              <a:t>从而计算</a:t>
            </a:r>
            <a:r>
              <a:rPr lang="en-US" altLang="zh-CN" i="1" dirty="0" smtClean="0">
                <a:solidFill>
                  <a:srgbClr val="FF0000"/>
                </a:solidFill>
              </a:rPr>
              <a:t>K</a:t>
            </a:r>
            <a:r>
              <a:rPr lang="en-US" altLang="zh-CN" dirty="0" smtClean="0">
                <a:solidFill>
                  <a:srgbClr val="000099"/>
                </a:solidFill>
              </a:rPr>
              <a:t> </a:t>
            </a:r>
            <a:r>
              <a:rPr lang="zh-CN" altLang="en-US" dirty="0">
                <a:solidFill>
                  <a:srgbClr val="000099"/>
                </a:solidFill>
              </a:rPr>
              <a:t>。</a:t>
            </a:r>
            <a:r>
              <a:rPr lang="zh-CN" altLang="en-US" dirty="0">
                <a:solidFill>
                  <a:srgbClr val="002060"/>
                </a:solidFill>
              </a:rPr>
              <a:t>若</a:t>
            </a:r>
            <a:r>
              <a:rPr lang="en-US" altLang="zh-CN" i="1" dirty="0" smtClean="0">
                <a:solidFill>
                  <a:srgbClr val="002060"/>
                </a:solidFill>
              </a:rPr>
              <a:t>K</a:t>
            </a:r>
            <a:r>
              <a:rPr lang="zh-CN" altLang="en-US" dirty="0" smtClean="0">
                <a:solidFill>
                  <a:srgbClr val="002060"/>
                </a:solidFill>
              </a:rPr>
              <a:t>与</a:t>
            </a:r>
            <a:r>
              <a:rPr lang="en-US" altLang="zh-CN" i="1" dirty="0" err="1" smtClean="0">
                <a:solidFill>
                  <a:srgbClr val="002060"/>
                </a:solidFill>
              </a:rPr>
              <a:t>K</a:t>
            </a:r>
            <a:r>
              <a:rPr lang="en-US" altLang="zh-CN" baseline="-25000" dirty="0" err="1" smtClean="0">
                <a:solidFill>
                  <a:srgbClr val="002060"/>
                </a:solidFill>
              </a:rPr>
              <a:t>t</a:t>
            </a:r>
            <a:r>
              <a:rPr lang="zh-CN" altLang="en-US" dirty="0">
                <a:solidFill>
                  <a:srgbClr val="002060"/>
                </a:solidFill>
              </a:rPr>
              <a:t>接近，则不必修改原设计。否则，按下式修正原设计。</a:t>
            </a:r>
            <a:endParaRPr lang="zh-CN" altLang="en-US" dirty="0">
              <a:solidFill>
                <a:srgbClr val="002060"/>
              </a:solidFill>
            </a:endParaRPr>
          </a:p>
        </p:txBody>
      </p:sp>
      <p:grpSp>
        <p:nvGrpSpPr>
          <p:cNvPr id="2" name="Group 22"/>
          <p:cNvGrpSpPr/>
          <p:nvPr/>
        </p:nvGrpSpPr>
        <p:grpSpPr bwMode="auto">
          <a:xfrm>
            <a:off x="316548" y="1422384"/>
            <a:ext cx="8847137" cy="1352549"/>
            <a:chOff x="187" y="725"/>
            <a:chExt cx="5573" cy="852"/>
          </a:xfrm>
        </p:grpSpPr>
        <p:sp>
          <p:nvSpPr>
            <p:cNvPr id="5135" name="Text Box 9"/>
            <p:cNvSpPr txBox="1">
              <a:spLocks noChangeArrowheads="1"/>
            </p:cNvSpPr>
            <p:nvPr/>
          </p:nvSpPr>
          <p:spPr bwMode="auto">
            <a:xfrm>
              <a:off x="187" y="725"/>
              <a:ext cx="5573" cy="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70000"/>
                </a:lnSpc>
                <a:buClr>
                  <a:srgbClr val="FF3300"/>
                </a:buClr>
                <a:buSzPct val="80000"/>
                <a:buFont typeface="Wingdings" panose="05000000000000000000" pitchFamily="2" charset="2"/>
                <a:buChar char="q"/>
              </a:pPr>
              <a:r>
                <a:rPr lang="en-US" altLang="zh-CN" dirty="0">
                  <a:solidFill>
                    <a:srgbClr val="000099"/>
                  </a:solidFill>
                </a:rPr>
                <a:t> </a:t>
              </a:r>
              <a:r>
                <a:rPr lang="zh-CN" altLang="en-US" dirty="0">
                  <a:solidFill>
                    <a:srgbClr val="002060"/>
                  </a:solidFill>
                </a:rPr>
                <a:t>弯曲强度计算中，因大、小齿轮的</a:t>
              </a:r>
              <a:r>
                <a:rPr lang="en-US" altLang="zh-CN" dirty="0">
                  <a:solidFill>
                    <a:srgbClr val="002060"/>
                  </a:solidFill>
                </a:rPr>
                <a:t>[</a:t>
              </a:r>
              <a:r>
                <a:rPr lang="en-US" altLang="zh-CN" i="1" dirty="0" err="1">
                  <a:solidFill>
                    <a:srgbClr val="002060"/>
                  </a:solidFill>
                </a:rPr>
                <a:t>σ</a:t>
              </a:r>
              <a:r>
                <a:rPr lang="en-US" altLang="zh-CN" baseline="-25000" dirty="0" err="1">
                  <a:solidFill>
                    <a:srgbClr val="002060"/>
                  </a:solidFill>
                </a:rPr>
                <a:t>F</a:t>
              </a:r>
              <a:r>
                <a:rPr lang="en-US" altLang="zh-CN" dirty="0">
                  <a:solidFill>
                    <a:srgbClr val="002060"/>
                  </a:solidFill>
                </a:rPr>
                <a:t>] </a:t>
              </a:r>
              <a:r>
                <a:rPr lang="zh-CN" altLang="en-US" dirty="0">
                  <a:solidFill>
                    <a:srgbClr val="002060"/>
                  </a:solidFill>
                </a:rPr>
                <a:t>、</a:t>
              </a:r>
              <a:r>
                <a:rPr lang="en-US" altLang="zh-CN" i="1" dirty="0" err="1">
                  <a:solidFill>
                    <a:srgbClr val="002060"/>
                  </a:solidFill>
                </a:rPr>
                <a:t>Y</a:t>
              </a:r>
              <a:r>
                <a:rPr lang="en-US" altLang="zh-CN" baseline="-25000" dirty="0" err="1">
                  <a:solidFill>
                    <a:srgbClr val="002060"/>
                  </a:solidFill>
                </a:rPr>
                <a:t>F</a:t>
              </a:r>
              <a:r>
                <a:rPr lang="en-US" altLang="zh-CN" dirty="0">
                  <a:solidFill>
                    <a:srgbClr val="002060"/>
                  </a:solidFill>
                </a:rPr>
                <a:t> </a:t>
              </a:r>
              <a:r>
                <a:rPr lang="zh-CN" altLang="en-US" dirty="0">
                  <a:solidFill>
                    <a:srgbClr val="002060"/>
                  </a:solidFill>
                </a:rPr>
                <a:t>值不同，故按此强度</a:t>
              </a:r>
              <a:endParaRPr lang="zh-CN" altLang="en-US" dirty="0">
                <a:solidFill>
                  <a:srgbClr val="002060"/>
                </a:solidFill>
              </a:endParaRPr>
            </a:p>
            <a:p>
              <a:pPr eaLnBrk="1" hangingPunct="1">
                <a:lnSpc>
                  <a:spcPct val="170000"/>
                </a:lnSpc>
                <a:buClr>
                  <a:srgbClr val="FF3300"/>
                </a:buClr>
                <a:buSzPct val="80000"/>
                <a:buFont typeface="Wingdings" panose="05000000000000000000" pitchFamily="2" charset="2"/>
                <a:buNone/>
              </a:pPr>
              <a:r>
                <a:rPr lang="zh-CN" altLang="en-US" dirty="0">
                  <a:solidFill>
                    <a:srgbClr val="002060"/>
                  </a:solidFill>
                </a:rPr>
                <a:t>　准则设计齿轮传动时，公式中应代　</a:t>
              </a:r>
              <a:r>
                <a:rPr lang="zh-CN" altLang="en-US" dirty="0">
                  <a:solidFill>
                    <a:srgbClr val="000099"/>
                  </a:solidFill>
                </a:rPr>
                <a:t>         和 　        </a:t>
              </a:r>
              <a:r>
                <a:rPr lang="zh-CN" altLang="en-US" dirty="0">
                  <a:solidFill>
                    <a:srgbClr val="002060"/>
                  </a:solidFill>
                </a:rPr>
                <a:t>中较大者。 </a:t>
              </a:r>
              <a:endParaRPr lang="zh-CN" altLang="en-US" dirty="0">
                <a:solidFill>
                  <a:srgbClr val="002060"/>
                </a:solidFill>
              </a:endParaRPr>
            </a:p>
          </p:txBody>
        </p:sp>
        <p:graphicFrame>
          <p:nvGraphicFramePr>
            <p:cNvPr id="5124" name="Object 13"/>
            <p:cNvGraphicFramePr>
              <a:graphicFrameLocks noChangeAspect="1"/>
            </p:cNvGraphicFramePr>
            <p:nvPr/>
          </p:nvGraphicFramePr>
          <p:xfrm>
            <a:off x="2914" y="1094"/>
            <a:ext cx="448" cy="483"/>
          </p:xfrm>
          <a:graphic>
            <a:graphicData uri="http://schemas.openxmlformats.org/presentationml/2006/ole">
              <mc:AlternateContent xmlns:mc="http://schemas.openxmlformats.org/markup-compatibility/2006">
                <mc:Choice xmlns:v="urn:schemas-microsoft-com:vml" Requires="v">
                  <p:oleObj spid="_x0000_s5468" name="Equation" r:id="rId4" imgW="381000" imgH="431800" progId="Equation.3">
                    <p:embed/>
                  </p:oleObj>
                </mc:Choice>
                <mc:Fallback>
                  <p:oleObj name="Equation" r:id="rId4" imgW="381000" imgH="431800" progId="Equation.3">
                    <p:embed/>
                    <p:pic>
                      <p:nvPicPr>
                        <p:cNvPr id="0" name="Object 13"/>
                        <p:cNvPicPr>
                          <a:picLocks noChangeAspect="1" noChangeArrowheads="1"/>
                        </p:cNvPicPr>
                        <p:nvPr/>
                      </p:nvPicPr>
                      <p:blipFill>
                        <a:blip r:embed="rId5"/>
                        <a:srcRect/>
                        <a:stretch>
                          <a:fillRect/>
                        </a:stretch>
                      </p:blipFill>
                      <p:spPr bwMode="auto">
                        <a:xfrm>
                          <a:off x="2914" y="1094"/>
                          <a:ext cx="44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13"/>
            <p:cNvGraphicFramePr>
              <a:graphicFrameLocks noChangeAspect="1"/>
            </p:cNvGraphicFramePr>
            <p:nvPr/>
          </p:nvGraphicFramePr>
          <p:xfrm>
            <a:off x="3503" y="1069"/>
            <a:ext cx="463" cy="483"/>
          </p:xfrm>
          <a:graphic>
            <a:graphicData uri="http://schemas.openxmlformats.org/presentationml/2006/ole">
              <mc:AlternateContent xmlns:mc="http://schemas.openxmlformats.org/markup-compatibility/2006">
                <mc:Choice xmlns:v="urn:schemas-microsoft-com:vml" Requires="v">
                  <p:oleObj spid="_x0000_s5" name="Equation" r:id="rId6" imgW="393700" imgH="431800" progId="Equation.3">
                    <p:embed/>
                  </p:oleObj>
                </mc:Choice>
                <mc:Fallback>
                  <p:oleObj name="Equation" r:id="rId6" imgW="393700" imgH="431800" progId="Equation.3">
                    <p:embed/>
                    <p:pic>
                      <p:nvPicPr>
                        <p:cNvPr id="0" name="Object 13"/>
                        <p:cNvPicPr>
                          <a:picLocks noChangeAspect="1" noChangeArrowheads="1"/>
                        </p:cNvPicPr>
                        <p:nvPr/>
                      </p:nvPicPr>
                      <p:blipFill>
                        <a:blip r:embed="rId7"/>
                        <a:srcRect/>
                        <a:stretch>
                          <a:fillRect/>
                        </a:stretch>
                      </p:blipFill>
                      <p:spPr bwMode="auto">
                        <a:xfrm>
                          <a:off x="3503" y="1069"/>
                          <a:ext cx="46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0670" name="Object 14"/>
          <p:cNvGraphicFramePr>
            <a:graphicFrameLocks noChangeAspect="1"/>
          </p:cNvGraphicFramePr>
          <p:nvPr/>
        </p:nvGraphicFramePr>
        <p:xfrm>
          <a:off x="2145030" y="5746115"/>
          <a:ext cx="1600200" cy="935355"/>
        </p:xfrm>
        <a:graphic>
          <a:graphicData uri="http://schemas.openxmlformats.org/presentationml/2006/ole">
            <mc:AlternateContent xmlns:mc="http://schemas.openxmlformats.org/markup-compatibility/2006">
              <mc:Choice xmlns:v="urn:schemas-microsoft-com:vml" Requires="v">
                <p:oleObj spid="_x0000_s5469" name="公式" r:id="rId8" imgW="812800" imgH="495300" progId="Equation.3">
                  <p:embed/>
                </p:oleObj>
              </mc:Choice>
              <mc:Fallback>
                <p:oleObj name="公式" r:id="rId8" imgW="812800" imgH="495300" progId="Equation.3">
                  <p:embed/>
                  <p:pic>
                    <p:nvPicPr>
                      <p:cNvPr id="0" name="Object 14"/>
                      <p:cNvPicPr>
                        <a:picLocks noChangeAspect="1" noChangeArrowheads="1"/>
                      </p:cNvPicPr>
                      <p:nvPr/>
                    </p:nvPicPr>
                    <p:blipFill>
                      <a:blip r:embed="rId9"/>
                      <a:srcRect/>
                      <a:stretch>
                        <a:fillRect/>
                      </a:stretch>
                    </p:blipFill>
                    <p:spPr bwMode="auto">
                      <a:xfrm>
                        <a:off x="2145030" y="5746115"/>
                        <a:ext cx="1600200" cy="935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77" name="Text Box 21"/>
          <p:cNvSpPr txBox="1">
            <a:spLocks noChangeArrowheads="1"/>
          </p:cNvSpPr>
          <p:nvPr/>
        </p:nvSpPr>
        <p:spPr bwMode="auto">
          <a:xfrm>
            <a:off x="6797675" y="6058853"/>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sp>
        <p:nvSpPr>
          <p:cNvPr id="5134" name="Text Box 1032"/>
          <p:cNvSpPr txBox="1">
            <a:spLocks noChangeArrowheads="1"/>
          </p:cNvSpPr>
          <p:nvPr/>
        </p:nvSpPr>
        <p:spPr bwMode="auto">
          <a:xfrm>
            <a:off x="1698625" y="200025"/>
            <a:ext cx="744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3.4-6 </a:t>
            </a:r>
            <a:r>
              <a:rPr lang="zh-CN" altLang="en-US" sz="2800" dirty="0">
                <a:solidFill>
                  <a:srgbClr val="CC3300"/>
                </a:solidFill>
                <a:latin typeface="黑体" panose="02010609060101010101" pitchFamily="49" charset="-122"/>
                <a:ea typeface="黑体" panose="02010609060101010101" pitchFamily="49" charset="-122"/>
              </a:rPr>
              <a:t>圆柱齿轮传动的设计参数和许用应力</a:t>
            </a:r>
            <a:endParaRPr lang="zh-CN" altLang="en-US" sz="2800" dirty="0">
              <a:solidFill>
                <a:srgbClr val="CC3300"/>
              </a:solidFill>
              <a:latin typeface="黑体" panose="02010609060101010101" pitchFamily="49" charset="-122"/>
              <a:ea typeface="黑体" panose="02010609060101010101" pitchFamily="49" charset="-122"/>
            </a:endParaRPr>
          </a:p>
        </p:txBody>
      </p:sp>
      <p:sp>
        <p:nvSpPr>
          <p:cNvPr id="1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 name="Object 14"/>
          <p:cNvGraphicFramePr>
            <a:graphicFrameLocks noChangeAspect="1"/>
          </p:cNvGraphicFramePr>
          <p:nvPr/>
        </p:nvGraphicFramePr>
        <p:xfrm>
          <a:off x="4575810" y="5664200"/>
          <a:ext cx="1951355" cy="1043305"/>
        </p:xfrm>
        <a:graphic>
          <a:graphicData uri="http://schemas.openxmlformats.org/presentationml/2006/ole">
            <mc:AlternateContent xmlns:mc="http://schemas.openxmlformats.org/markup-compatibility/2006">
              <mc:Choice xmlns:v="urn:schemas-microsoft-com:vml" Requires="v">
                <p:oleObj spid="_x0000_s5470" name="公式" r:id="rId10" imgW="889000" imgH="495300" progId="Equation.3">
                  <p:embed/>
                </p:oleObj>
              </mc:Choice>
              <mc:Fallback>
                <p:oleObj name="公式" r:id="rId10" imgW="889000" imgH="495300" progId="Equation.3">
                  <p:embed/>
                  <p:pic>
                    <p:nvPicPr>
                      <p:cNvPr id="0" name="图片 5367"/>
                      <p:cNvPicPr>
                        <a:picLocks noChangeAspect="1" noChangeArrowheads="1"/>
                      </p:cNvPicPr>
                      <p:nvPr/>
                    </p:nvPicPr>
                    <p:blipFill>
                      <a:blip r:embed="rId11"/>
                      <a:srcRect/>
                      <a:stretch>
                        <a:fillRect/>
                      </a:stretch>
                    </p:blipFill>
                    <p:spPr bwMode="auto">
                      <a:xfrm>
                        <a:off x="4575810" y="5664200"/>
                        <a:ext cx="1951355" cy="1043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5947410" y="3141345"/>
          <a:ext cx="1310640" cy="332105"/>
        </p:xfrm>
        <a:graphic>
          <a:graphicData uri="http://schemas.openxmlformats.org/presentationml/2006/ole">
            <mc:AlternateContent xmlns:mc="http://schemas.openxmlformats.org/markup-compatibility/2006">
              <mc:Choice xmlns:v="urn:schemas-microsoft-com:vml" Requires="v">
                <p:oleObj spid="_x0000_s2049" name="" r:id="rId12" imgW="850900" imgH="215900" progId="Equation.KSEE3">
                  <p:embed/>
                </p:oleObj>
              </mc:Choice>
              <mc:Fallback>
                <p:oleObj name="" r:id="rId12" imgW="850900" imgH="215900" progId="Equation.KSEE3">
                  <p:embed/>
                  <p:pic>
                    <p:nvPicPr>
                      <p:cNvPr id="0" name="图片 2048"/>
                      <p:cNvPicPr/>
                      <p:nvPr/>
                    </p:nvPicPr>
                    <p:blipFill>
                      <a:blip r:embed="rId13"/>
                      <a:stretch>
                        <a:fillRect/>
                      </a:stretch>
                    </p:blipFill>
                    <p:spPr>
                      <a:xfrm>
                        <a:off x="5947410" y="3141345"/>
                        <a:ext cx="1310640" cy="33210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wipe(left)">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0666"/>
                                        </p:tgtEl>
                                        <p:attrNameLst>
                                          <p:attrName>style.visibility</p:attrName>
                                        </p:attrNameLst>
                                      </p:cBhvr>
                                      <p:to>
                                        <p:strVal val="visible"/>
                                      </p:to>
                                    </p:set>
                                    <p:animEffect transition="in" filter="wipe(left)">
                                      <p:cBhvr>
                                        <p:cTn id="17" dur="500"/>
                                        <p:tgtEl>
                                          <p:spTgt spid="706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70667"/>
                                        </p:tgtEl>
                                        <p:attrNameLst>
                                          <p:attrName>style.visibility</p:attrName>
                                        </p:attrNameLst>
                                      </p:cBhvr>
                                      <p:to>
                                        <p:strVal val="visible"/>
                                      </p:to>
                                    </p:set>
                                    <p:animEffect transition="in" filter="wipe(right)">
                                      <p:cBhvr>
                                        <p:cTn id="22" dur="500"/>
                                        <p:tgtEl>
                                          <p:spTgt spid="70667"/>
                                        </p:tgtEl>
                                      </p:cBhvr>
                                    </p:animEffect>
                                  </p:childTnLst>
                                </p:cTn>
                              </p:par>
                            </p:childTnLst>
                          </p:cTn>
                        </p:par>
                        <p:par>
                          <p:cTn id="23" fill="hold">
                            <p:stCondLst>
                              <p:cond delay="500"/>
                            </p:stCondLst>
                            <p:childTnLst>
                              <p:par>
                                <p:cTn id="24" presetID="12" presetClass="entr" presetSubtype="8" fill="hold" nodeType="afterEffect">
                                  <p:stCondLst>
                                    <p:cond delay="0"/>
                                  </p:stCondLst>
                                  <p:childTnLst>
                                    <p:set>
                                      <p:cBhvr>
                                        <p:cTn id="25" dur="1" fill="hold">
                                          <p:stCondLst>
                                            <p:cond delay="0"/>
                                          </p:stCondLst>
                                        </p:cTn>
                                        <p:tgtEl>
                                          <p:spTgt spid="70670"/>
                                        </p:tgtEl>
                                        <p:attrNameLst>
                                          <p:attrName>style.visibility</p:attrName>
                                        </p:attrNameLst>
                                      </p:cBhvr>
                                      <p:to>
                                        <p:strVal val="visible"/>
                                      </p:to>
                                    </p:set>
                                    <p:animEffect transition="in" filter="slide(fromLeft)">
                                      <p:cBhvr>
                                        <p:cTn id="26" dur="500"/>
                                        <p:tgtEl>
                                          <p:spTgt spid="70670"/>
                                        </p:tgtEl>
                                      </p:cBhvr>
                                    </p:animEffect>
                                  </p:childTnLst>
                                </p:cTn>
                              </p:par>
                            </p:childTnLst>
                          </p:cTn>
                        </p:par>
                        <p:par>
                          <p:cTn id="27" fill="hold">
                            <p:stCondLst>
                              <p:cond delay="1000"/>
                            </p:stCondLst>
                            <p:childTnLst>
                              <p:par>
                                <p:cTn id="28" presetID="1" presetClass="entr" presetSubtype="0" fill="hold" nodeType="afterEffect">
                                  <p:stCondLst>
                                    <p:cond delay="0"/>
                                  </p:stCondLst>
                                  <p:childTnLst>
                                    <p:set>
                                      <p:cBhvr>
                                        <p:cTn id="29" dur="1" fill="hold">
                                          <p:stCondLst>
                                            <p:cond delay="499"/>
                                          </p:stCondLst>
                                        </p:cTn>
                                        <p:tgtEl>
                                          <p:spTgt spid="70661"/>
                                        </p:tgtEl>
                                        <p:attrNameLst>
                                          <p:attrName>style.visibility</p:attrName>
                                        </p:attrNameLst>
                                      </p:cBhvr>
                                      <p:to>
                                        <p:strVal val="visible"/>
                                      </p:to>
                                    </p:set>
                                  </p:childTnLst>
                                </p:cTn>
                              </p:par>
                            </p:childTnLst>
                          </p:cTn>
                        </p:par>
                        <p:par>
                          <p:cTn id="30" fill="hold">
                            <p:stCondLst>
                              <p:cond delay="1500"/>
                            </p:stCondLst>
                            <p:childTnLst>
                              <p:par>
                                <p:cTn id="31" presetID="1" presetClass="entr" presetSubtype="0" fill="hold" nodeType="afterEffect">
                                  <p:stCondLst>
                                    <p:cond delay="0"/>
                                  </p:stCondLst>
                                  <p:childTnLst>
                                    <p:set>
                                      <p:cBhvr>
                                        <p:cTn id="32" dur="1" fill="hold">
                                          <p:stCondLst>
                                            <p:cond delay="499"/>
                                          </p:stCondLst>
                                        </p:cTn>
                                        <p:tgtEl>
                                          <p:spTgt spid="70662"/>
                                        </p:tgtEl>
                                        <p:attrNameLst>
                                          <p:attrName>style.visibility</p:attrName>
                                        </p:attrNameLst>
                                      </p:cBhvr>
                                      <p:to>
                                        <p:strVal val="visible"/>
                                      </p:to>
                                    </p:set>
                                  </p:childTnLst>
                                </p:cTn>
                              </p:par>
                            </p:childTnLst>
                          </p:cTn>
                        </p:par>
                        <p:par>
                          <p:cTn id="33" fill="hold">
                            <p:stCondLst>
                              <p:cond delay="2000"/>
                            </p:stCondLst>
                            <p:childTnLst>
                              <p:par>
                                <p:cTn id="34" presetID="2" presetClass="entr" presetSubtype="8" fill="hold" nodeType="afterEffect">
                                  <p:stCondLst>
                                    <p:cond delay="0"/>
                                  </p:stCondLst>
                                  <p:childTnLst>
                                    <p:set>
                                      <p:cBhvr>
                                        <p:cTn id="35" dur="1" fill="hold">
                                          <p:stCondLst>
                                            <p:cond delay="0"/>
                                          </p:stCondLst>
                                        </p:cTn>
                                        <p:tgtEl>
                                          <p:spTgt spid="70663"/>
                                        </p:tgtEl>
                                        <p:attrNameLst>
                                          <p:attrName>style.visibility</p:attrName>
                                        </p:attrNameLst>
                                      </p:cBhvr>
                                      <p:to>
                                        <p:strVal val="visible"/>
                                      </p:to>
                                    </p:set>
                                    <p:anim calcmode="lin" valueType="num">
                                      <p:cBhvr additive="base">
                                        <p:cTn id="36" dur="500" fill="hold"/>
                                        <p:tgtEl>
                                          <p:spTgt spid="70663"/>
                                        </p:tgtEl>
                                        <p:attrNameLst>
                                          <p:attrName>ppt_x</p:attrName>
                                        </p:attrNameLst>
                                      </p:cBhvr>
                                      <p:tavLst>
                                        <p:tav tm="0">
                                          <p:val>
                                            <p:strVal val="0-#ppt_w/2"/>
                                          </p:val>
                                        </p:tav>
                                        <p:tav tm="100000">
                                          <p:val>
                                            <p:strVal val="#ppt_x"/>
                                          </p:val>
                                        </p:tav>
                                      </p:tavLst>
                                    </p:anim>
                                    <p:anim calcmode="lin" valueType="num">
                                      <p:cBhvr additive="base">
                                        <p:cTn id="37" dur="500" fill="hold"/>
                                        <p:tgtEl>
                                          <p:spTgt spid="7066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70677"/>
                                        </p:tgtEl>
                                        <p:attrNameLst>
                                          <p:attrName>style.visibility</p:attrName>
                                        </p:attrNameLst>
                                      </p:cBhvr>
                                      <p:to>
                                        <p:strVal val="visible"/>
                                      </p:to>
                                    </p:set>
                                    <p:anim calcmode="lin" valueType="num">
                                      <p:cBhvr additive="base">
                                        <p:cTn id="42" dur="500" fill="hold"/>
                                        <p:tgtEl>
                                          <p:spTgt spid="70677"/>
                                        </p:tgtEl>
                                        <p:attrNameLst>
                                          <p:attrName>ppt_x</p:attrName>
                                        </p:attrNameLst>
                                      </p:cBhvr>
                                      <p:tavLst>
                                        <p:tav tm="0">
                                          <p:val>
                                            <p:strVal val="0-#ppt_w/2"/>
                                          </p:val>
                                        </p:tav>
                                        <p:tav tm="100000">
                                          <p:val>
                                            <p:strVal val="#ppt_x"/>
                                          </p:val>
                                        </p:tav>
                                      </p:tavLst>
                                    </p:anim>
                                    <p:anim calcmode="lin" valueType="num">
                                      <p:cBhvr additive="base">
                                        <p:cTn id="43" dur="500" fill="hold"/>
                                        <p:tgtEl>
                                          <p:spTgt spid="70677"/>
                                        </p:tgtEl>
                                        <p:attrNameLst>
                                          <p:attrName>ppt_y</p:attrName>
                                        </p:attrNameLst>
                                      </p:cBhvr>
                                      <p:tavLst>
                                        <p:tav tm="0">
                                          <p:val>
                                            <p:strVal val="#ppt_y"/>
                                          </p:val>
                                        </p:tav>
                                        <p:tav tm="100000">
                                          <p:val>
                                            <p:strVal val="#ppt_y"/>
                                          </p:val>
                                        </p:tav>
                                      </p:tavLst>
                                    </p:anim>
                                  </p:childTnLst>
                                </p:cTn>
                              </p:par>
                            </p:childTnLst>
                          </p:cTn>
                        </p:par>
                        <p:par>
                          <p:cTn id="44" fill="hold">
                            <p:stCondLst>
                              <p:cond delay="500"/>
                            </p:stCondLst>
                            <p:childTnLst>
                              <p:par>
                                <p:cTn id="45" presetID="12" presetClass="entr" presetSubtype="8"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slide(fromLeft)">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autoUpdateAnimBg="0"/>
      <p:bldP spid="70666" grpId="0" autoUpdateAnimBg="0"/>
      <p:bldP spid="70667" grpId="0" autoUpdateAnimBg="0"/>
      <p:bldP spid="70677"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bwMode="auto">
          <a:xfrm>
            <a:off x="6188075" y="814388"/>
            <a:ext cx="1592263" cy="260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齿轮传动的设计参数</a:t>
            </a:r>
            <a:r>
              <a:rPr lang="en-US" altLang="zh-CN" sz="800" smtClean="0">
                <a:solidFill>
                  <a:schemeClr val="bg1"/>
                </a:solidFill>
                <a:latin typeface="Times New Roman" panose="02020603050405020304" pitchFamily="18" charset="0"/>
              </a:rPr>
              <a:t>3</a:t>
            </a:r>
            <a:endParaRPr lang="en-US" altLang="zh-CN" sz="800" smtClean="0">
              <a:solidFill>
                <a:schemeClr val="bg1"/>
              </a:solidFill>
              <a:latin typeface="Times New Roman" panose="02020603050405020304" pitchFamily="18" charset="0"/>
            </a:endParaRPr>
          </a:p>
        </p:txBody>
      </p:sp>
      <p:sp>
        <p:nvSpPr>
          <p:cNvPr id="70666" name="Text Box 10"/>
          <p:cNvSpPr txBox="1">
            <a:spLocks noChangeArrowheads="1"/>
          </p:cNvSpPr>
          <p:nvPr/>
        </p:nvSpPr>
        <p:spPr bwMode="auto">
          <a:xfrm>
            <a:off x="190500" y="2388870"/>
            <a:ext cx="8531225"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70000"/>
              </a:lnSpc>
              <a:buClr>
                <a:srgbClr val="FF3300"/>
              </a:buClr>
              <a:buSzPct val="80000"/>
              <a:buFont typeface="Wingdings" panose="05000000000000000000" pitchFamily="2" charset="2"/>
              <a:buChar char="q"/>
            </a:pPr>
            <a:r>
              <a:rPr lang="zh-CN" altLang="en-US" dirty="0" smtClean="0">
                <a:solidFill>
                  <a:srgbClr val="000099"/>
                </a:solidFill>
              </a:rPr>
              <a:t> </a:t>
            </a:r>
            <a:r>
              <a:rPr lang="zh-CN" altLang="en-US" dirty="0" smtClean="0">
                <a:solidFill>
                  <a:srgbClr val="002060"/>
                </a:solidFill>
              </a:rPr>
              <a:t>由</a:t>
            </a:r>
            <a:r>
              <a:rPr lang="zh-CN" altLang="en-US" dirty="0">
                <a:solidFill>
                  <a:srgbClr val="002060"/>
                </a:solidFill>
              </a:rPr>
              <a:t>式（</a:t>
            </a:r>
            <a:r>
              <a:rPr lang="en-US" altLang="zh-CN" dirty="0" smtClean="0">
                <a:solidFill>
                  <a:srgbClr val="002060"/>
                </a:solidFill>
              </a:rPr>
              <a:t>3.4-13</a:t>
            </a:r>
            <a:r>
              <a:rPr lang="zh-CN" altLang="en-US" dirty="0" smtClean="0">
                <a:solidFill>
                  <a:srgbClr val="002060"/>
                </a:solidFill>
              </a:rPr>
              <a:t>）</a:t>
            </a:r>
            <a:r>
              <a:rPr lang="zh-CN" altLang="en-US" dirty="0">
                <a:solidFill>
                  <a:srgbClr val="002060"/>
                </a:solidFill>
              </a:rPr>
              <a:t>可知，在齿轮的齿宽系数、齿数及材料已选定的情况下，影响</a:t>
            </a:r>
            <a:r>
              <a:rPr lang="zh-CN" altLang="en-US" dirty="0" smtClean="0">
                <a:solidFill>
                  <a:srgbClr val="002060"/>
                </a:solidFill>
              </a:rPr>
              <a:t>齿面接触疲劳强度</a:t>
            </a:r>
            <a:r>
              <a:rPr lang="zh-CN" altLang="en-US" dirty="0">
                <a:solidFill>
                  <a:srgbClr val="002060"/>
                </a:solidFill>
              </a:rPr>
              <a:t>的主要因素</a:t>
            </a:r>
            <a:r>
              <a:rPr lang="zh-CN" altLang="en-US" dirty="0" smtClean="0">
                <a:solidFill>
                  <a:srgbClr val="002060"/>
                </a:solidFill>
              </a:rPr>
              <a:t>是</a:t>
            </a:r>
            <a:r>
              <a:rPr lang="zh-CN" altLang="en-US" dirty="0" smtClean="0">
                <a:solidFill>
                  <a:srgbClr val="FF0000"/>
                </a:solidFill>
              </a:rPr>
              <a:t>小齿轮直径</a:t>
            </a:r>
            <a:r>
              <a:rPr lang="zh-CN" altLang="en-US" dirty="0" smtClean="0">
                <a:solidFill>
                  <a:srgbClr val="002060"/>
                </a:solidFill>
              </a:rPr>
              <a:t>。小齿轮直径越</a:t>
            </a:r>
            <a:r>
              <a:rPr lang="zh-CN" altLang="en-US" dirty="0">
                <a:solidFill>
                  <a:srgbClr val="002060"/>
                </a:solidFill>
              </a:rPr>
              <a:t>大，齿轮的</a:t>
            </a:r>
            <a:r>
              <a:rPr lang="zh-CN" altLang="en-US" dirty="0" smtClean="0">
                <a:solidFill>
                  <a:srgbClr val="002060"/>
                </a:solidFill>
              </a:rPr>
              <a:t>齿面接触疲劳强度</a:t>
            </a:r>
            <a:r>
              <a:rPr lang="zh-CN" altLang="en-US" dirty="0">
                <a:solidFill>
                  <a:srgbClr val="002060"/>
                </a:solidFill>
              </a:rPr>
              <a:t>越高。</a:t>
            </a:r>
            <a:r>
              <a:rPr lang="zh-CN" altLang="en-US" dirty="0">
                <a:solidFill>
                  <a:srgbClr val="C00000"/>
                </a:solidFill>
              </a:rPr>
              <a:t>单纯增大模数</a:t>
            </a:r>
            <a:r>
              <a:rPr lang="en-US" altLang="zh-CN" dirty="0">
                <a:solidFill>
                  <a:srgbClr val="C00000"/>
                </a:solidFill>
              </a:rPr>
              <a:t>m而d</a:t>
            </a:r>
            <a:r>
              <a:rPr lang="en-US" altLang="zh-CN" baseline="-25000" dirty="0">
                <a:solidFill>
                  <a:srgbClr val="C00000"/>
                </a:solidFill>
              </a:rPr>
              <a:t>1</a:t>
            </a:r>
            <a:r>
              <a:rPr lang="zh-CN" altLang="en-US" dirty="0">
                <a:solidFill>
                  <a:srgbClr val="C00000"/>
                </a:solidFill>
              </a:rPr>
              <a:t>不变，齿面接触强度不变</a:t>
            </a:r>
            <a:r>
              <a:rPr lang="zh-CN" altLang="en-US" dirty="0">
                <a:solidFill>
                  <a:srgbClr val="002060"/>
                </a:solidFill>
              </a:rPr>
              <a:t>。</a:t>
            </a:r>
            <a:endParaRPr lang="zh-CN" altLang="en-US" dirty="0">
              <a:solidFill>
                <a:srgbClr val="002060"/>
              </a:solidFill>
            </a:endParaRPr>
          </a:p>
        </p:txBody>
      </p:sp>
      <p:sp>
        <p:nvSpPr>
          <p:cNvPr id="70667" name="Text Box 11"/>
          <p:cNvSpPr txBox="1">
            <a:spLocks noChangeArrowheads="1"/>
          </p:cNvSpPr>
          <p:nvPr/>
        </p:nvSpPr>
        <p:spPr bwMode="auto">
          <a:xfrm>
            <a:off x="284604" y="4275512"/>
            <a:ext cx="8561388"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50000"/>
              </a:lnSpc>
              <a:buClr>
                <a:srgbClr val="FF3300"/>
              </a:buClr>
              <a:buSzPct val="80000"/>
              <a:buFont typeface="Wingdings" panose="05000000000000000000" pitchFamily="2" charset="2"/>
              <a:buChar char="q"/>
            </a:pPr>
            <a:r>
              <a:rPr lang="en-US" altLang="zh-CN" dirty="0">
                <a:solidFill>
                  <a:srgbClr val="000099"/>
                </a:solidFill>
              </a:rPr>
              <a:t> </a:t>
            </a:r>
            <a:r>
              <a:rPr lang="zh-CN" altLang="en-US" dirty="0" smtClean="0">
                <a:solidFill>
                  <a:srgbClr val="002060"/>
                </a:solidFill>
              </a:rPr>
              <a:t>设计齿轮传动时，可分别按齿根弯曲疲劳强度及齿面接触疲劳强度的设计公式进行设计，并取其中几何尺寸较大者作为设计结果。</a:t>
            </a:r>
            <a:endParaRPr lang="en-US" altLang="zh-CN" dirty="0" smtClean="0">
              <a:solidFill>
                <a:srgbClr val="002060"/>
              </a:solidFill>
            </a:endParaRPr>
          </a:p>
          <a:p>
            <a:pPr eaLnBrk="1" hangingPunct="1">
              <a:lnSpc>
                <a:spcPct val="150000"/>
              </a:lnSpc>
              <a:buClr>
                <a:srgbClr val="FF3300"/>
              </a:buClr>
              <a:buSzPct val="80000"/>
              <a:buFont typeface="Wingdings" panose="05000000000000000000" pitchFamily="2" charset="2"/>
              <a:buChar char="q"/>
            </a:pPr>
            <a:r>
              <a:rPr lang="en-US" altLang="zh-CN" dirty="0">
                <a:solidFill>
                  <a:srgbClr val="000099"/>
                </a:solidFill>
              </a:rPr>
              <a:t> </a:t>
            </a:r>
            <a:r>
              <a:rPr lang="zh-CN" altLang="en-US" dirty="0" smtClean="0">
                <a:solidFill>
                  <a:srgbClr val="000099"/>
                </a:solidFill>
              </a:rPr>
              <a:t>考</a:t>
            </a:r>
            <a:r>
              <a:rPr lang="zh-CN" altLang="en-US" dirty="0" smtClean="0">
                <a:solidFill>
                  <a:srgbClr val="002060"/>
                </a:solidFill>
              </a:rPr>
              <a:t>虑圆柱齿轮的轴向安装误差，一般选择大齿轮齿宽等于设计齿宽，</a:t>
            </a:r>
            <a:r>
              <a:rPr lang="zh-CN" altLang="en-US" dirty="0" smtClean="0">
                <a:solidFill>
                  <a:srgbClr val="C00000"/>
                </a:solidFill>
              </a:rPr>
              <a:t>小齿轮的齿宽略大于大齿轮齿宽</a:t>
            </a:r>
            <a:r>
              <a:rPr lang="zh-CN" altLang="en-US" dirty="0" smtClean="0">
                <a:solidFill>
                  <a:srgbClr val="000099"/>
                </a:solidFill>
              </a:rPr>
              <a:t>（</a:t>
            </a:r>
            <a:r>
              <a:rPr lang="en-US" altLang="zh-CN" dirty="0" smtClean="0">
                <a:solidFill>
                  <a:srgbClr val="FF0000"/>
                </a:solidFill>
              </a:rPr>
              <a:t>+3~5mm</a:t>
            </a:r>
            <a:r>
              <a:rPr lang="en-US" altLang="zh-CN" dirty="0" smtClean="0">
                <a:solidFill>
                  <a:srgbClr val="000099"/>
                </a:solidFill>
              </a:rPr>
              <a:t>)</a:t>
            </a:r>
            <a:r>
              <a:rPr lang="zh-CN" altLang="en-US" dirty="0" smtClean="0">
                <a:solidFill>
                  <a:srgbClr val="000099"/>
                </a:solidFill>
              </a:rPr>
              <a:t>。</a:t>
            </a:r>
            <a:endParaRPr lang="zh-CN" altLang="en-US" dirty="0">
              <a:solidFill>
                <a:srgbClr val="000099"/>
              </a:solidFill>
            </a:endParaRPr>
          </a:p>
        </p:txBody>
      </p:sp>
      <p:sp>
        <p:nvSpPr>
          <p:cNvPr id="5135" name="Text Box 9"/>
          <p:cNvSpPr txBox="1">
            <a:spLocks noChangeArrowheads="1"/>
          </p:cNvSpPr>
          <p:nvPr/>
        </p:nvSpPr>
        <p:spPr bwMode="auto">
          <a:xfrm>
            <a:off x="376377" y="905493"/>
            <a:ext cx="8499266"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70000"/>
              </a:lnSpc>
              <a:buClr>
                <a:srgbClr val="FF3300"/>
              </a:buClr>
              <a:buSzPct val="80000"/>
              <a:buFont typeface="Wingdings" panose="05000000000000000000" pitchFamily="2" charset="2"/>
              <a:buChar char="q"/>
            </a:pPr>
            <a:r>
              <a:rPr lang="zh-CN" altLang="en-US" dirty="0" smtClean="0">
                <a:solidFill>
                  <a:srgbClr val="000099"/>
                </a:solidFill>
              </a:rPr>
              <a:t> </a:t>
            </a:r>
            <a:r>
              <a:rPr lang="zh-CN" altLang="en-US" dirty="0" smtClean="0">
                <a:solidFill>
                  <a:srgbClr val="002060"/>
                </a:solidFill>
              </a:rPr>
              <a:t>由式（</a:t>
            </a:r>
            <a:r>
              <a:rPr lang="en-US" altLang="zh-CN" dirty="0" smtClean="0">
                <a:solidFill>
                  <a:srgbClr val="002060"/>
                </a:solidFill>
              </a:rPr>
              <a:t>3.4-20</a:t>
            </a:r>
            <a:r>
              <a:rPr lang="zh-CN" altLang="en-US" dirty="0" smtClean="0">
                <a:solidFill>
                  <a:srgbClr val="002060"/>
                </a:solidFill>
              </a:rPr>
              <a:t>）可知，在齿轮的齿宽系数、齿数及材料已选定的情况下，影响齿根弯曲疲劳强度的主要因素是模数。模数越大，齿轮的齿根弯曲疲劳强度越高。</a:t>
            </a:r>
            <a:endParaRPr lang="zh-CN" altLang="en-US" dirty="0" smtClean="0">
              <a:solidFill>
                <a:srgbClr val="002060"/>
              </a:solidFill>
            </a:endParaRPr>
          </a:p>
        </p:txBody>
      </p:sp>
      <p:sp>
        <p:nvSpPr>
          <p:cNvPr id="5134" name="Text Box 1032"/>
          <p:cNvSpPr txBox="1">
            <a:spLocks noChangeArrowheads="1"/>
          </p:cNvSpPr>
          <p:nvPr/>
        </p:nvSpPr>
        <p:spPr bwMode="auto">
          <a:xfrm>
            <a:off x="1698625" y="200025"/>
            <a:ext cx="744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3.4-6 </a:t>
            </a:r>
            <a:r>
              <a:rPr lang="zh-CN" altLang="en-US" sz="2800" dirty="0">
                <a:solidFill>
                  <a:srgbClr val="CC3300"/>
                </a:solidFill>
                <a:latin typeface="黑体" panose="02010609060101010101" pitchFamily="49" charset="-122"/>
                <a:ea typeface="黑体" panose="02010609060101010101" pitchFamily="49" charset="-122"/>
              </a:rPr>
              <a:t>圆柱齿轮传动的设计参数和许用应力</a:t>
            </a:r>
            <a:endParaRPr lang="zh-CN" altLang="en-US" sz="2800" dirty="0">
              <a:solidFill>
                <a:srgbClr val="CC3300"/>
              </a:solidFill>
              <a:latin typeface="黑体" panose="02010609060101010101" pitchFamily="49" charset="-122"/>
              <a:ea typeface="黑体" panose="02010609060101010101" pitchFamily="49" charset="-122"/>
            </a:endParaRPr>
          </a:p>
        </p:txBody>
      </p:sp>
      <p:sp>
        <p:nvSpPr>
          <p:cNvPr id="1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35">
                                            <p:txEl>
                                              <p:pRg st="0" end="0"/>
                                            </p:txEl>
                                          </p:spTgt>
                                        </p:tgtEl>
                                        <p:attrNameLst>
                                          <p:attrName>style.visibility</p:attrName>
                                        </p:attrNameLst>
                                      </p:cBhvr>
                                      <p:to>
                                        <p:strVal val="visible"/>
                                      </p:to>
                                    </p:set>
                                    <p:animEffect transition="in" filter="wipe(left)">
                                      <p:cBhvr>
                                        <p:cTn id="7" dur="500"/>
                                        <p:tgtEl>
                                          <p:spTgt spid="51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66"/>
                                        </p:tgtEl>
                                        <p:attrNameLst>
                                          <p:attrName>style.visibility</p:attrName>
                                        </p:attrNameLst>
                                      </p:cBhvr>
                                      <p:to>
                                        <p:strVal val="visible"/>
                                      </p:to>
                                    </p:set>
                                    <p:animEffect transition="in" filter="wipe(left)">
                                      <p:cBhvr>
                                        <p:cTn id="12" dur="500"/>
                                        <p:tgtEl>
                                          <p:spTgt spid="706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0667">
                                            <p:txEl>
                                              <p:pRg st="0" end="0"/>
                                            </p:txEl>
                                          </p:spTgt>
                                        </p:tgtEl>
                                        <p:attrNameLst>
                                          <p:attrName>style.visibility</p:attrName>
                                        </p:attrNameLst>
                                      </p:cBhvr>
                                      <p:to>
                                        <p:strVal val="visible"/>
                                      </p:to>
                                    </p:set>
                                    <p:animEffect transition="in" filter="wipe(left)">
                                      <p:cBhvr>
                                        <p:cTn id="17" dur="500"/>
                                        <p:tgtEl>
                                          <p:spTgt spid="706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0667">
                                            <p:txEl>
                                              <p:pRg st="1" end="1"/>
                                            </p:txEl>
                                          </p:spTgt>
                                        </p:tgtEl>
                                        <p:attrNameLst>
                                          <p:attrName>style.visibility</p:attrName>
                                        </p:attrNameLst>
                                      </p:cBhvr>
                                      <p:to>
                                        <p:strVal val="visible"/>
                                      </p:to>
                                    </p:set>
                                    <p:animEffect transition="in" filter="wipe(left)">
                                      <p:cBhvr>
                                        <p:cTn id="22" dur="500"/>
                                        <p:tgtEl>
                                          <p:spTgt spid="706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6"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6"/>
          <p:cNvSpPr>
            <a:spLocks noGrp="1" noChangeArrowheads="1"/>
          </p:cNvSpPr>
          <p:nvPr>
            <p:ph type="title"/>
          </p:nvPr>
        </p:nvSpPr>
        <p:spPr bwMode="auto">
          <a:xfrm>
            <a:off x="6772275" y="687388"/>
            <a:ext cx="1198563" cy="180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齿轮传动的设计参数</a:t>
            </a:r>
            <a:r>
              <a:rPr lang="en-US" altLang="zh-CN" sz="800" smtClean="0">
                <a:solidFill>
                  <a:schemeClr val="bg1"/>
                </a:solidFill>
                <a:latin typeface="Times New Roman" panose="02020603050405020304" pitchFamily="18" charset="0"/>
              </a:rPr>
              <a:t>1</a:t>
            </a:r>
            <a:endParaRPr lang="en-US" altLang="zh-CN" sz="800" smtClean="0">
              <a:solidFill>
                <a:schemeClr val="bg1"/>
              </a:solidFill>
              <a:latin typeface="Times New Roman" panose="02020603050405020304" pitchFamily="18" charset="0"/>
            </a:endParaRPr>
          </a:p>
        </p:txBody>
      </p:sp>
      <p:sp>
        <p:nvSpPr>
          <p:cNvPr id="66564" name="Text Box 1028"/>
          <p:cNvSpPr txBox="1">
            <a:spLocks noChangeArrowheads="1"/>
          </p:cNvSpPr>
          <p:nvPr/>
        </p:nvSpPr>
        <p:spPr bwMode="auto">
          <a:xfrm>
            <a:off x="368300" y="806450"/>
            <a:ext cx="3771900" cy="33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七、齿轮传动设计参数的选择</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1748" name="Text Box 1032"/>
          <p:cNvSpPr txBox="1">
            <a:spLocks noChangeArrowheads="1"/>
          </p:cNvSpPr>
          <p:nvPr/>
        </p:nvSpPr>
        <p:spPr bwMode="auto">
          <a:xfrm>
            <a:off x="1698625" y="200025"/>
            <a:ext cx="744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3.4-4   </a:t>
            </a:r>
            <a:r>
              <a:rPr lang="zh-CN" altLang="en-US" sz="2800" dirty="0" smtClean="0">
                <a:solidFill>
                  <a:srgbClr val="CC3300"/>
                </a:solidFill>
                <a:latin typeface="黑体" panose="02010609060101010101" pitchFamily="49" charset="-122"/>
                <a:ea typeface="黑体" panose="02010609060101010101" pitchFamily="49" charset="-122"/>
              </a:rPr>
              <a:t>标准</a:t>
            </a:r>
            <a:r>
              <a:rPr lang="zh-CN" altLang="en-US" sz="2800" dirty="0">
                <a:solidFill>
                  <a:srgbClr val="CC3300"/>
                </a:solidFill>
                <a:latin typeface="黑体" panose="02010609060101010101" pitchFamily="49" charset="-122"/>
                <a:ea typeface="黑体" panose="02010609060101010101" pitchFamily="49" charset="-122"/>
              </a:rPr>
              <a:t>圆柱齿轮传动的设计</a:t>
            </a:r>
            <a:endParaRPr lang="zh-CN" altLang="en-US" sz="2800" dirty="0">
              <a:solidFill>
                <a:srgbClr val="CC3300"/>
              </a:solidFill>
              <a:latin typeface="黑体" panose="02010609060101010101" pitchFamily="49" charset="-122"/>
              <a:ea typeface="黑体" panose="02010609060101010101" pitchFamily="49" charset="-122"/>
            </a:endParaRPr>
          </a:p>
        </p:txBody>
      </p:sp>
      <p:sp>
        <p:nvSpPr>
          <p:cNvPr id="66569" name="Text Box 1033"/>
          <p:cNvSpPr txBox="1">
            <a:spLocks noChangeArrowheads="1"/>
          </p:cNvSpPr>
          <p:nvPr/>
        </p:nvSpPr>
        <p:spPr bwMode="auto">
          <a:xfrm>
            <a:off x="434975" y="1233488"/>
            <a:ext cx="2478564" cy="430887"/>
          </a:xfrm>
          <a:prstGeom prst="rect">
            <a:avLst/>
          </a:prstGeom>
          <a:solidFill>
            <a:schemeClr val="tx2">
              <a:lumMod val="20000"/>
              <a:lumOff val="80000"/>
            </a:schemeClr>
          </a:solidFill>
          <a:ln>
            <a:noFill/>
          </a:ln>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fontAlgn="ctr" hangingPunct="1"/>
            <a:r>
              <a:rPr lang="en-US" altLang="zh-CN" sz="2200" dirty="0">
                <a:solidFill>
                  <a:srgbClr val="000099"/>
                </a:solidFill>
              </a:rPr>
              <a:t>1</a:t>
            </a:r>
            <a:r>
              <a:rPr lang="zh-CN" altLang="en-US" sz="2200" dirty="0">
                <a:solidFill>
                  <a:srgbClr val="000099"/>
                </a:solidFill>
              </a:rPr>
              <a:t>．压力角</a:t>
            </a:r>
            <a:r>
              <a:rPr lang="en-US" altLang="zh-CN" sz="2200" dirty="0">
                <a:solidFill>
                  <a:srgbClr val="000099"/>
                </a:solidFill>
                <a:latin typeface="Symbol" panose="05050102010706020507" pitchFamily="18" charset="2"/>
              </a:rPr>
              <a:t>a</a:t>
            </a:r>
            <a:r>
              <a:rPr lang="zh-CN" altLang="en-US" sz="2200" dirty="0">
                <a:solidFill>
                  <a:srgbClr val="000099"/>
                </a:solidFill>
              </a:rPr>
              <a:t>的选择</a:t>
            </a:r>
            <a:endParaRPr lang="zh-CN" altLang="en-US" sz="2200" dirty="0">
              <a:solidFill>
                <a:srgbClr val="000099"/>
              </a:solidFill>
            </a:endParaRPr>
          </a:p>
        </p:txBody>
      </p:sp>
      <p:sp>
        <p:nvSpPr>
          <p:cNvPr id="66570" name="Text Box 1034"/>
          <p:cNvSpPr txBox="1">
            <a:spLocks noChangeArrowheads="1"/>
          </p:cNvSpPr>
          <p:nvPr/>
        </p:nvSpPr>
        <p:spPr bwMode="auto">
          <a:xfrm>
            <a:off x="434975" y="1747838"/>
            <a:ext cx="2018501" cy="430887"/>
          </a:xfrm>
          <a:prstGeom prst="rect">
            <a:avLst/>
          </a:prstGeom>
          <a:solidFill>
            <a:schemeClr val="tx2">
              <a:lumMod val="20000"/>
              <a:lumOff val="80000"/>
            </a:schemeClr>
          </a:solidFill>
          <a:ln>
            <a:noFill/>
          </a:ln>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fontAlgn="ctr" hangingPunct="1"/>
            <a:r>
              <a:rPr lang="en-US" altLang="zh-CN" sz="2200" dirty="0">
                <a:solidFill>
                  <a:srgbClr val="000099"/>
                </a:solidFill>
              </a:rPr>
              <a:t>2</a:t>
            </a:r>
            <a:r>
              <a:rPr lang="zh-CN" altLang="en-US" sz="2200" dirty="0">
                <a:solidFill>
                  <a:srgbClr val="000099"/>
                </a:solidFill>
              </a:rPr>
              <a:t>．齿数的选择</a:t>
            </a:r>
            <a:endParaRPr lang="zh-CN" altLang="en-US" sz="2200" dirty="0">
              <a:solidFill>
                <a:srgbClr val="000099"/>
              </a:solidFill>
            </a:endParaRPr>
          </a:p>
        </p:txBody>
      </p:sp>
      <p:sp>
        <p:nvSpPr>
          <p:cNvPr id="66571" name="Text Box 1035"/>
          <p:cNvSpPr txBox="1">
            <a:spLocks noChangeArrowheads="1"/>
          </p:cNvSpPr>
          <p:nvPr/>
        </p:nvSpPr>
        <p:spPr bwMode="auto">
          <a:xfrm>
            <a:off x="836814" y="4093461"/>
            <a:ext cx="767715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fontAlgn="ctr" hangingPunct="1">
              <a:lnSpc>
                <a:spcPct val="125000"/>
              </a:lnSpc>
            </a:pPr>
            <a:r>
              <a:rPr lang="zh-CN" altLang="en-US" dirty="0">
                <a:solidFill>
                  <a:srgbClr val="000099"/>
                </a:solidFill>
              </a:rPr>
              <a:t>一般情况下，</a:t>
            </a:r>
            <a:r>
              <a:rPr lang="zh-CN" altLang="en-US" dirty="0">
                <a:solidFill>
                  <a:srgbClr val="FF0000"/>
                </a:solidFill>
              </a:rPr>
              <a:t>闭式齿轮传动</a:t>
            </a:r>
            <a:r>
              <a:rPr lang="en-US" altLang="zh-CN" dirty="0">
                <a:solidFill>
                  <a:srgbClr val="FF0000"/>
                </a:solidFill>
              </a:rPr>
              <a:t>:   </a:t>
            </a:r>
            <a:r>
              <a:rPr lang="en-US" altLang="zh-CN" sz="2200" i="1" dirty="0">
                <a:solidFill>
                  <a:srgbClr val="FF0000"/>
                </a:solidFill>
                <a:latin typeface="黑体" panose="02010609060101010101" pitchFamily="49" charset="-122"/>
                <a:ea typeface="黑体" panose="02010609060101010101" pitchFamily="49" charset="-122"/>
              </a:rPr>
              <a:t>z</a:t>
            </a:r>
            <a:r>
              <a:rPr lang="en-US" altLang="zh-CN" baseline="-25000" dirty="0">
                <a:solidFill>
                  <a:srgbClr val="FF0000"/>
                </a:solidFill>
              </a:rPr>
              <a:t>1</a:t>
            </a:r>
            <a:r>
              <a:rPr lang="en-US" altLang="zh-CN" dirty="0">
                <a:solidFill>
                  <a:srgbClr val="FF0000"/>
                </a:solidFill>
              </a:rPr>
              <a:t>=20~40</a:t>
            </a:r>
            <a:r>
              <a:rPr lang="zh-CN" altLang="en-US" dirty="0">
                <a:solidFill>
                  <a:srgbClr val="FF0000"/>
                </a:solidFill>
              </a:rPr>
              <a:t> </a:t>
            </a:r>
            <a:r>
              <a:rPr lang="zh-CN" altLang="en-US" dirty="0"/>
              <a:t>（</a:t>
            </a:r>
            <a:r>
              <a:rPr lang="zh-CN" altLang="en-US" dirty="0">
                <a:solidFill>
                  <a:srgbClr val="000099"/>
                </a:solidFill>
              </a:rPr>
              <a:t>对软齿面齿轮，</a:t>
            </a:r>
            <a:r>
              <a:rPr lang="en-US" altLang="en-US" dirty="0">
                <a:solidFill>
                  <a:srgbClr val="000099"/>
                </a:solidFill>
              </a:rPr>
              <a:t>z</a:t>
            </a:r>
            <a:r>
              <a:rPr lang="en-US" altLang="en-US" baseline="-25000" dirty="0">
                <a:solidFill>
                  <a:srgbClr val="000099"/>
                </a:solidFill>
              </a:rPr>
              <a:t>1</a:t>
            </a:r>
            <a:r>
              <a:rPr lang="zh-CN" altLang="en-US" dirty="0">
                <a:solidFill>
                  <a:srgbClr val="000099"/>
                </a:solidFill>
              </a:rPr>
              <a:t>取多些较好；对硬齿面齿轮，</a:t>
            </a:r>
            <a:r>
              <a:rPr lang="en-US" altLang="en-US" dirty="0">
                <a:solidFill>
                  <a:srgbClr val="000099"/>
                </a:solidFill>
              </a:rPr>
              <a:t>z</a:t>
            </a:r>
            <a:r>
              <a:rPr lang="en-US" altLang="en-US" baseline="-25000" dirty="0">
                <a:solidFill>
                  <a:srgbClr val="000099"/>
                </a:solidFill>
              </a:rPr>
              <a:t>1</a:t>
            </a:r>
            <a:r>
              <a:rPr lang="zh-CN" altLang="en-US" dirty="0">
                <a:solidFill>
                  <a:srgbClr val="000099"/>
                </a:solidFill>
              </a:rPr>
              <a:t>取少些较好）。</a:t>
            </a:r>
            <a:endParaRPr lang="en-US" altLang="zh-CN" dirty="0">
              <a:solidFill>
                <a:srgbClr val="000099"/>
              </a:solidFill>
            </a:endParaRPr>
          </a:p>
          <a:p>
            <a:pPr eaLnBrk="1" fontAlgn="ctr" hangingPunct="1">
              <a:lnSpc>
                <a:spcPct val="125000"/>
              </a:lnSpc>
            </a:pPr>
            <a:r>
              <a:rPr lang="en-US" altLang="zh-CN" dirty="0">
                <a:solidFill>
                  <a:srgbClr val="000099"/>
                </a:solidFill>
              </a:rPr>
              <a:t>                        </a:t>
            </a:r>
            <a:r>
              <a:rPr lang="zh-CN" altLang="en-US" dirty="0">
                <a:solidFill>
                  <a:srgbClr val="FF0000"/>
                </a:solidFill>
              </a:rPr>
              <a:t>开式齿轮传动</a:t>
            </a:r>
            <a:r>
              <a:rPr lang="en-US" altLang="zh-CN" dirty="0">
                <a:solidFill>
                  <a:srgbClr val="FF0000"/>
                </a:solidFill>
              </a:rPr>
              <a:t>:   </a:t>
            </a:r>
            <a:r>
              <a:rPr lang="en-US" altLang="zh-CN" sz="2200" i="1" dirty="0">
                <a:solidFill>
                  <a:srgbClr val="FF0000"/>
                </a:solidFill>
                <a:latin typeface="黑体" panose="02010609060101010101" pitchFamily="49" charset="-122"/>
                <a:ea typeface="黑体" panose="02010609060101010101" pitchFamily="49" charset="-122"/>
              </a:rPr>
              <a:t>z</a:t>
            </a:r>
            <a:r>
              <a:rPr lang="en-US" altLang="zh-CN" baseline="-25000" dirty="0">
                <a:solidFill>
                  <a:srgbClr val="FF0000"/>
                </a:solidFill>
              </a:rPr>
              <a:t>1</a:t>
            </a:r>
            <a:r>
              <a:rPr lang="en-US" altLang="zh-CN" dirty="0">
                <a:solidFill>
                  <a:srgbClr val="FF0000"/>
                </a:solidFill>
              </a:rPr>
              <a:t>=17~20 </a:t>
            </a:r>
            <a:r>
              <a:rPr lang="en-US" altLang="zh-CN" dirty="0">
                <a:solidFill>
                  <a:srgbClr val="000099"/>
                </a:solidFill>
              </a:rPr>
              <a:t>        </a:t>
            </a:r>
            <a:r>
              <a:rPr lang="en-US" altLang="zh-CN" sz="2200" i="1" dirty="0">
                <a:solidFill>
                  <a:srgbClr val="000099"/>
                </a:solidFill>
                <a:latin typeface="黑体" panose="02010609060101010101" pitchFamily="49" charset="-122"/>
                <a:ea typeface="黑体" panose="02010609060101010101" pitchFamily="49" charset="-122"/>
              </a:rPr>
              <a:t>z</a:t>
            </a:r>
            <a:r>
              <a:rPr lang="en-US" altLang="zh-CN" baseline="-25000" dirty="0">
                <a:solidFill>
                  <a:srgbClr val="000099"/>
                </a:solidFill>
              </a:rPr>
              <a:t>2</a:t>
            </a:r>
            <a:r>
              <a:rPr lang="en-US" altLang="zh-CN" dirty="0">
                <a:solidFill>
                  <a:srgbClr val="000099"/>
                </a:solidFill>
              </a:rPr>
              <a:t>=</a:t>
            </a:r>
            <a:r>
              <a:rPr lang="en-US" altLang="zh-CN" i="1" dirty="0">
                <a:solidFill>
                  <a:srgbClr val="000099"/>
                </a:solidFill>
              </a:rPr>
              <a:t>u</a:t>
            </a:r>
            <a:r>
              <a:rPr lang="en-US" altLang="zh-CN" sz="2200" i="1" dirty="0">
                <a:solidFill>
                  <a:srgbClr val="000099"/>
                </a:solidFill>
                <a:latin typeface="黑体" panose="02010609060101010101" pitchFamily="49" charset="-122"/>
                <a:ea typeface="黑体" panose="02010609060101010101" pitchFamily="49" charset="-122"/>
              </a:rPr>
              <a:t>z</a:t>
            </a:r>
            <a:r>
              <a:rPr lang="en-US" altLang="zh-CN" baseline="-25000" dirty="0">
                <a:solidFill>
                  <a:srgbClr val="000099"/>
                </a:solidFill>
              </a:rPr>
              <a:t>1</a:t>
            </a:r>
            <a:endParaRPr lang="en-US" altLang="zh-CN" baseline="-25000" dirty="0">
              <a:solidFill>
                <a:srgbClr val="000099"/>
              </a:solidFill>
            </a:endParaRPr>
          </a:p>
        </p:txBody>
      </p:sp>
      <p:sp>
        <p:nvSpPr>
          <p:cNvPr id="66572" name="Text Box 1036"/>
          <p:cNvSpPr txBox="1">
            <a:spLocks noChangeArrowheads="1"/>
          </p:cNvSpPr>
          <p:nvPr/>
        </p:nvSpPr>
        <p:spPr bwMode="auto">
          <a:xfrm>
            <a:off x="420688" y="5392738"/>
            <a:ext cx="2824812" cy="430887"/>
          </a:xfrm>
          <a:prstGeom prst="rect">
            <a:avLst/>
          </a:prstGeom>
          <a:solidFill>
            <a:schemeClr val="tx2">
              <a:lumMod val="20000"/>
              <a:lumOff val="80000"/>
            </a:schemeClr>
          </a:solidFill>
          <a:ln>
            <a:noFill/>
          </a:ln>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fontAlgn="ctr" hangingPunct="1"/>
            <a:r>
              <a:rPr lang="en-US" altLang="zh-CN" sz="2200" dirty="0">
                <a:solidFill>
                  <a:srgbClr val="000099"/>
                </a:solidFill>
              </a:rPr>
              <a:t>3</a:t>
            </a:r>
            <a:r>
              <a:rPr lang="zh-CN" altLang="en-US" sz="2200" dirty="0">
                <a:solidFill>
                  <a:srgbClr val="000099"/>
                </a:solidFill>
              </a:rPr>
              <a:t>．齿宽系数</a:t>
            </a:r>
            <a:r>
              <a:rPr lang="en-US" altLang="zh-CN" sz="2200" i="1" dirty="0" err="1">
                <a:solidFill>
                  <a:srgbClr val="000099"/>
                </a:solidFill>
                <a:latin typeface="Symbol" panose="05050102010706020507" pitchFamily="18" charset="2"/>
              </a:rPr>
              <a:t>f</a:t>
            </a:r>
            <a:r>
              <a:rPr lang="en-US" altLang="zh-CN" sz="2200" baseline="-25000" dirty="0" err="1">
                <a:solidFill>
                  <a:srgbClr val="000099"/>
                </a:solidFill>
              </a:rPr>
              <a:t>d</a:t>
            </a:r>
            <a:r>
              <a:rPr lang="zh-CN" altLang="en-US" sz="2200" dirty="0">
                <a:solidFill>
                  <a:srgbClr val="000099"/>
                </a:solidFill>
              </a:rPr>
              <a:t>的选择</a:t>
            </a:r>
            <a:endParaRPr lang="zh-CN" altLang="en-US" sz="2200" dirty="0">
              <a:solidFill>
                <a:srgbClr val="000099"/>
              </a:solidFill>
            </a:endParaRPr>
          </a:p>
        </p:txBody>
      </p:sp>
      <p:sp>
        <p:nvSpPr>
          <p:cNvPr id="66573" name="Text Box 1037"/>
          <p:cNvSpPr txBox="1">
            <a:spLocks noChangeArrowheads="1"/>
          </p:cNvSpPr>
          <p:nvPr/>
        </p:nvSpPr>
        <p:spPr bwMode="auto">
          <a:xfrm>
            <a:off x="2818538" y="1747021"/>
            <a:ext cx="3702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rPr>
              <a:t>当</a:t>
            </a:r>
            <a:r>
              <a:rPr lang="en-US" altLang="zh-CN" i="1" dirty="0">
                <a:solidFill>
                  <a:srgbClr val="000099"/>
                </a:solidFill>
              </a:rPr>
              <a:t>d</a:t>
            </a:r>
            <a:r>
              <a:rPr lang="en-US" altLang="zh-CN" baseline="-25000" dirty="0">
                <a:solidFill>
                  <a:srgbClr val="000099"/>
                </a:solidFill>
              </a:rPr>
              <a:t>1</a:t>
            </a:r>
            <a:r>
              <a:rPr lang="zh-CN" altLang="en-US" dirty="0">
                <a:solidFill>
                  <a:srgbClr val="000099"/>
                </a:solidFill>
              </a:rPr>
              <a:t>已按接触疲劳强度确定时，</a:t>
            </a:r>
            <a:endParaRPr lang="zh-CN" altLang="en-US" dirty="0">
              <a:solidFill>
                <a:srgbClr val="000099"/>
              </a:solidFill>
            </a:endParaRPr>
          </a:p>
        </p:txBody>
      </p:sp>
      <p:sp>
        <p:nvSpPr>
          <p:cNvPr id="66574" name="Text Box 1038"/>
          <p:cNvSpPr txBox="1">
            <a:spLocks noChangeArrowheads="1"/>
          </p:cNvSpPr>
          <p:nvPr/>
        </p:nvSpPr>
        <p:spPr bwMode="auto">
          <a:xfrm>
            <a:off x="1079500" y="2889250"/>
            <a:ext cx="69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i="1">
                <a:solidFill>
                  <a:srgbClr val="000099"/>
                </a:solidFill>
                <a:latin typeface="黑体" panose="02010609060101010101" pitchFamily="49" charset="-122"/>
                <a:ea typeface="黑体" panose="02010609060101010101" pitchFamily="49" charset="-122"/>
              </a:rPr>
              <a:t>z</a:t>
            </a:r>
            <a:r>
              <a:rPr lang="en-US" altLang="zh-CN" sz="2400" baseline="-25000">
                <a:solidFill>
                  <a:srgbClr val="000099"/>
                </a:solidFill>
              </a:rPr>
              <a:t>1</a:t>
            </a:r>
            <a:r>
              <a:rPr lang="en-US" altLang="zh-CN">
                <a:solidFill>
                  <a:srgbClr val="CC0000"/>
                </a:solidFill>
              </a:rPr>
              <a:t>↑</a:t>
            </a:r>
            <a:endParaRPr lang="en-US" altLang="zh-CN">
              <a:solidFill>
                <a:srgbClr val="CC0000"/>
              </a:solidFill>
            </a:endParaRPr>
          </a:p>
        </p:txBody>
      </p:sp>
      <p:sp>
        <p:nvSpPr>
          <p:cNvPr id="66576" name="Line 1040"/>
          <p:cNvSpPr>
            <a:spLocks noChangeShapeType="1"/>
          </p:cNvSpPr>
          <p:nvPr/>
        </p:nvSpPr>
        <p:spPr bwMode="auto">
          <a:xfrm flipV="1">
            <a:off x="1685925" y="2776538"/>
            <a:ext cx="428625" cy="3238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6577" name="Text Box 1041"/>
          <p:cNvSpPr txBox="1">
            <a:spLocks noChangeArrowheads="1"/>
          </p:cNvSpPr>
          <p:nvPr/>
        </p:nvSpPr>
        <p:spPr bwMode="auto">
          <a:xfrm>
            <a:off x="2136775" y="2417763"/>
            <a:ext cx="674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000099"/>
                </a:solidFill>
              </a:rPr>
              <a:t>m</a:t>
            </a:r>
            <a:r>
              <a:rPr lang="en-US" altLang="zh-CN">
                <a:solidFill>
                  <a:srgbClr val="CC0000"/>
                </a:solidFill>
              </a:rPr>
              <a:t>↓</a:t>
            </a:r>
            <a:endParaRPr lang="en-US" altLang="zh-CN">
              <a:solidFill>
                <a:srgbClr val="CC0000"/>
              </a:solidFill>
            </a:endParaRPr>
          </a:p>
        </p:txBody>
      </p:sp>
      <p:sp>
        <p:nvSpPr>
          <p:cNvPr id="66578" name="Line 1042"/>
          <p:cNvSpPr>
            <a:spLocks noChangeShapeType="1"/>
          </p:cNvSpPr>
          <p:nvPr/>
        </p:nvSpPr>
        <p:spPr bwMode="auto">
          <a:xfrm>
            <a:off x="1676400" y="3109913"/>
            <a:ext cx="466725" cy="228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6579" name="Text Box 1043"/>
          <p:cNvSpPr txBox="1">
            <a:spLocks noChangeArrowheads="1"/>
          </p:cNvSpPr>
          <p:nvPr/>
        </p:nvSpPr>
        <p:spPr bwMode="auto">
          <a:xfrm>
            <a:off x="2051050" y="3232150"/>
            <a:ext cx="213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重合度</a:t>
            </a:r>
            <a:r>
              <a:rPr lang="en-US" altLang="zh-CN" sz="2400" i="1">
                <a:solidFill>
                  <a:srgbClr val="000099"/>
                </a:solidFill>
                <a:latin typeface="Symbol" panose="05050102010706020507" pitchFamily="18" charset="2"/>
              </a:rPr>
              <a:t>e</a:t>
            </a:r>
            <a:r>
              <a:rPr lang="en-US" altLang="zh-CN">
                <a:solidFill>
                  <a:srgbClr val="CC0000"/>
                </a:solidFill>
              </a:rPr>
              <a:t>↑</a:t>
            </a:r>
            <a:endParaRPr lang="en-US" altLang="zh-CN">
              <a:solidFill>
                <a:srgbClr val="CC0000"/>
              </a:solidFill>
            </a:endParaRPr>
          </a:p>
        </p:txBody>
      </p:sp>
      <p:sp>
        <p:nvSpPr>
          <p:cNvPr id="66580" name="Text Box 1044"/>
          <p:cNvSpPr txBox="1">
            <a:spLocks noChangeArrowheads="1"/>
          </p:cNvSpPr>
          <p:nvPr/>
        </p:nvSpPr>
        <p:spPr bwMode="auto">
          <a:xfrm>
            <a:off x="3270250" y="3249613"/>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0099"/>
                </a:solidFill>
              </a:rPr>
              <a:t>→</a:t>
            </a:r>
            <a:r>
              <a:rPr lang="zh-CN" altLang="en-US">
                <a:solidFill>
                  <a:srgbClr val="000099"/>
                </a:solidFill>
              </a:rPr>
              <a:t>传动平稳</a:t>
            </a:r>
            <a:endParaRPr lang="zh-CN" altLang="en-US">
              <a:solidFill>
                <a:srgbClr val="000099"/>
              </a:solidFill>
            </a:endParaRPr>
          </a:p>
        </p:txBody>
      </p:sp>
      <p:sp>
        <p:nvSpPr>
          <p:cNvPr id="66581" name="Line 1045"/>
          <p:cNvSpPr>
            <a:spLocks noChangeShapeType="1"/>
          </p:cNvSpPr>
          <p:nvPr/>
        </p:nvSpPr>
        <p:spPr bwMode="auto">
          <a:xfrm flipV="1">
            <a:off x="2762250" y="2433638"/>
            <a:ext cx="542925" cy="1428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6582" name="Text Box 1046"/>
          <p:cNvSpPr txBox="1">
            <a:spLocks noChangeArrowheads="1"/>
          </p:cNvSpPr>
          <p:nvPr/>
        </p:nvSpPr>
        <p:spPr bwMode="auto">
          <a:xfrm>
            <a:off x="3289300" y="2219325"/>
            <a:ext cx="247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抗弯曲疲劳强度降低</a:t>
            </a:r>
            <a:endParaRPr lang="zh-CN" altLang="en-US">
              <a:solidFill>
                <a:srgbClr val="000099"/>
              </a:solidFill>
            </a:endParaRPr>
          </a:p>
        </p:txBody>
      </p:sp>
      <p:sp>
        <p:nvSpPr>
          <p:cNvPr id="66583" name="Line 1047"/>
          <p:cNvSpPr>
            <a:spLocks noChangeShapeType="1"/>
          </p:cNvSpPr>
          <p:nvPr/>
        </p:nvSpPr>
        <p:spPr bwMode="auto">
          <a:xfrm>
            <a:off x="2752725" y="2605088"/>
            <a:ext cx="523875" cy="2190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6584" name="Text Box 1048"/>
          <p:cNvSpPr txBox="1">
            <a:spLocks noChangeArrowheads="1"/>
          </p:cNvSpPr>
          <p:nvPr/>
        </p:nvSpPr>
        <p:spPr bwMode="auto">
          <a:xfrm>
            <a:off x="3251200" y="2733675"/>
            <a:ext cx="1136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齿高</a:t>
            </a:r>
            <a:r>
              <a:rPr lang="en-US" altLang="zh-CN" i="1">
                <a:solidFill>
                  <a:srgbClr val="000099"/>
                </a:solidFill>
              </a:rPr>
              <a:t>h </a:t>
            </a:r>
            <a:r>
              <a:rPr lang="en-US" altLang="zh-CN">
                <a:solidFill>
                  <a:srgbClr val="CC0000"/>
                </a:solidFill>
              </a:rPr>
              <a:t>↓</a:t>
            </a:r>
            <a:endParaRPr lang="en-US" altLang="zh-CN">
              <a:solidFill>
                <a:srgbClr val="CC0000"/>
              </a:solidFill>
            </a:endParaRPr>
          </a:p>
        </p:txBody>
      </p:sp>
      <p:sp>
        <p:nvSpPr>
          <p:cNvPr id="66585" name="Text Box 1049"/>
          <p:cNvSpPr txBox="1">
            <a:spLocks noChangeArrowheads="1"/>
          </p:cNvSpPr>
          <p:nvPr/>
        </p:nvSpPr>
        <p:spPr bwMode="auto">
          <a:xfrm>
            <a:off x="4238625" y="2744788"/>
            <a:ext cx="323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0099"/>
                </a:solidFill>
              </a:rPr>
              <a:t>→</a:t>
            </a:r>
            <a:r>
              <a:rPr lang="zh-CN" altLang="en-US">
                <a:solidFill>
                  <a:srgbClr val="000099"/>
                </a:solidFill>
              </a:rPr>
              <a:t>减小切削量、减小滑动率</a:t>
            </a:r>
            <a:endParaRPr lang="zh-CN" altLang="en-US">
              <a:solidFill>
                <a:srgbClr val="000099"/>
              </a:solidFill>
            </a:endParaRPr>
          </a:p>
        </p:txBody>
      </p:sp>
      <p:sp>
        <p:nvSpPr>
          <p:cNvPr id="66586" name="Text Box 1050"/>
          <p:cNvSpPr txBox="1">
            <a:spLocks noChangeArrowheads="1"/>
          </p:cNvSpPr>
          <p:nvPr/>
        </p:nvSpPr>
        <p:spPr bwMode="auto">
          <a:xfrm>
            <a:off x="803275" y="3732213"/>
            <a:ext cx="678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因此，在保证弯曲疲劳强度的前提下，齿数选得多一些好！</a:t>
            </a:r>
            <a:endParaRPr lang="zh-CN" altLang="en-US">
              <a:solidFill>
                <a:srgbClr val="000099"/>
              </a:solidFill>
            </a:endParaRPr>
          </a:p>
        </p:txBody>
      </p:sp>
      <p:sp>
        <p:nvSpPr>
          <p:cNvPr id="66588" name="Text Box 1052"/>
          <p:cNvSpPr txBox="1">
            <a:spLocks noChangeArrowheads="1"/>
          </p:cNvSpPr>
          <p:nvPr/>
        </p:nvSpPr>
        <p:spPr bwMode="auto">
          <a:xfrm>
            <a:off x="718367" y="5820592"/>
            <a:ext cx="749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i="1" dirty="0" err="1">
                <a:solidFill>
                  <a:srgbClr val="000099"/>
                </a:solidFill>
                <a:latin typeface="Symbol" panose="05050102010706020507" pitchFamily="18" charset="2"/>
              </a:rPr>
              <a:t>f</a:t>
            </a:r>
            <a:r>
              <a:rPr lang="en-US" altLang="zh-CN" baseline="-25000" dirty="0" err="1">
                <a:solidFill>
                  <a:srgbClr val="000099"/>
                </a:solidFill>
              </a:rPr>
              <a:t>d</a:t>
            </a:r>
            <a:r>
              <a:rPr lang="en-US" altLang="zh-CN" dirty="0">
                <a:solidFill>
                  <a:srgbClr val="000099"/>
                </a:solidFill>
              </a:rPr>
              <a:t> </a:t>
            </a:r>
            <a:r>
              <a:rPr lang="en-US" altLang="zh-CN" dirty="0">
                <a:solidFill>
                  <a:srgbClr val="CC0000"/>
                </a:solidFill>
              </a:rPr>
              <a:t>↑ </a:t>
            </a:r>
            <a:r>
              <a:rPr lang="en-US" altLang="zh-CN" dirty="0">
                <a:solidFill>
                  <a:srgbClr val="000099"/>
                </a:solidFill>
              </a:rPr>
              <a:t>→</a:t>
            </a:r>
            <a:r>
              <a:rPr lang="zh-CN" altLang="en-US" dirty="0">
                <a:solidFill>
                  <a:srgbClr val="000099"/>
                </a:solidFill>
              </a:rPr>
              <a:t>齿宽</a:t>
            </a:r>
            <a:r>
              <a:rPr lang="en-US" altLang="zh-CN" i="1" dirty="0">
                <a:solidFill>
                  <a:srgbClr val="000099"/>
                </a:solidFill>
              </a:rPr>
              <a:t>b </a:t>
            </a:r>
            <a:r>
              <a:rPr lang="en-US" altLang="zh-CN" dirty="0">
                <a:solidFill>
                  <a:srgbClr val="CC0000"/>
                </a:solidFill>
              </a:rPr>
              <a:t>↑</a:t>
            </a:r>
            <a:r>
              <a:rPr lang="en-US" altLang="zh-CN" dirty="0">
                <a:solidFill>
                  <a:srgbClr val="000099"/>
                </a:solidFill>
              </a:rPr>
              <a:t> →</a:t>
            </a:r>
            <a:r>
              <a:rPr lang="en-US" altLang="zh-CN" i="1" dirty="0">
                <a:solidFill>
                  <a:srgbClr val="000099"/>
                </a:solidFill>
              </a:rPr>
              <a:t> </a:t>
            </a:r>
            <a:r>
              <a:rPr lang="zh-CN" altLang="en-US" dirty="0">
                <a:solidFill>
                  <a:srgbClr val="000099"/>
                </a:solidFill>
              </a:rPr>
              <a:t>有利于提高强度，但</a:t>
            </a:r>
            <a:r>
              <a:rPr lang="en-US" altLang="zh-CN" i="1" dirty="0" err="1">
                <a:solidFill>
                  <a:srgbClr val="000099"/>
                </a:solidFill>
                <a:latin typeface="Symbol" panose="05050102010706020507" pitchFamily="18" charset="2"/>
              </a:rPr>
              <a:t>f</a:t>
            </a:r>
            <a:r>
              <a:rPr lang="en-US" altLang="zh-CN" baseline="-25000" dirty="0" err="1">
                <a:solidFill>
                  <a:srgbClr val="000099"/>
                </a:solidFill>
              </a:rPr>
              <a:t>d</a:t>
            </a:r>
            <a:r>
              <a:rPr lang="zh-CN" altLang="en-US" dirty="0">
                <a:solidFill>
                  <a:srgbClr val="000099"/>
                </a:solidFill>
              </a:rPr>
              <a:t>过大将导致</a:t>
            </a:r>
            <a:r>
              <a:rPr lang="en-US" altLang="zh-CN" i="1" dirty="0">
                <a:solidFill>
                  <a:srgbClr val="000099"/>
                </a:solidFill>
              </a:rPr>
              <a:t>K</a:t>
            </a:r>
            <a:r>
              <a:rPr lang="en-US" altLang="zh-CN" baseline="-25000" dirty="0">
                <a:solidFill>
                  <a:srgbClr val="000099"/>
                </a:solidFill>
              </a:rPr>
              <a:t>β</a:t>
            </a:r>
            <a:r>
              <a:rPr lang="en-US" altLang="zh-CN" dirty="0">
                <a:solidFill>
                  <a:srgbClr val="CC0000"/>
                </a:solidFill>
              </a:rPr>
              <a:t>↑</a:t>
            </a:r>
            <a:endParaRPr lang="en-US" altLang="zh-CN" dirty="0">
              <a:solidFill>
                <a:srgbClr val="CC0000"/>
              </a:solidFill>
            </a:endParaRPr>
          </a:p>
        </p:txBody>
      </p:sp>
      <p:pic>
        <p:nvPicPr>
          <p:cNvPr id="66592" name="Picture 1056" descr="NEXT">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24913" y="653891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93" name="Picture 1057" descr="rewind">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787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94" name="Text Box 1058"/>
          <p:cNvSpPr txBox="1">
            <a:spLocks noChangeArrowheads="1"/>
          </p:cNvSpPr>
          <p:nvPr/>
        </p:nvSpPr>
        <p:spPr bwMode="auto">
          <a:xfrm>
            <a:off x="3064873" y="1299210"/>
            <a:ext cx="2582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fontAlgn="ctr" hangingPunct="1"/>
            <a:r>
              <a:rPr lang="zh-CN" altLang="en-US" dirty="0">
                <a:solidFill>
                  <a:srgbClr val="000099"/>
                </a:solidFill>
              </a:rPr>
              <a:t>一般情况下取</a:t>
            </a:r>
            <a:r>
              <a:rPr lang="en-US" altLang="zh-CN" dirty="0">
                <a:solidFill>
                  <a:srgbClr val="000099"/>
                </a:solidFill>
                <a:latin typeface="Symbol" panose="05050102010706020507" pitchFamily="18" charset="2"/>
              </a:rPr>
              <a:t>a</a:t>
            </a:r>
            <a:r>
              <a:rPr lang="en-US" altLang="zh-CN" dirty="0">
                <a:solidFill>
                  <a:srgbClr val="000099"/>
                </a:solidFill>
              </a:rPr>
              <a:t> =20°</a:t>
            </a:r>
            <a:endParaRPr lang="en-US" altLang="zh-CN" dirty="0"/>
          </a:p>
        </p:txBody>
      </p:sp>
      <p:sp>
        <p:nvSpPr>
          <p:cNvPr id="32796" name="Text Box 1053"/>
          <p:cNvSpPr txBox="1">
            <a:spLocks noChangeArrowheads="1"/>
          </p:cNvSpPr>
          <p:nvPr/>
        </p:nvSpPr>
        <p:spPr bwMode="auto">
          <a:xfrm>
            <a:off x="879995" y="6235421"/>
            <a:ext cx="374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i="1">
                <a:solidFill>
                  <a:srgbClr val="000099"/>
                </a:solidFill>
                <a:latin typeface="Symbol" panose="05050102010706020507" pitchFamily="18" charset="2"/>
                <a:hlinkClick r:id="rId3" action="ppaction://hlinksldjump"/>
              </a:rPr>
              <a:t>f</a:t>
            </a:r>
            <a:r>
              <a:rPr lang="en-US" altLang="zh-CN" baseline="-25000">
                <a:solidFill>
                  <a:srgbClr val="000099"/>
                </a:solidFill>
                <a:hlinkClick r:id="rId3" action="ppaction://hlinksldjump"/>
              </a:rPr>
              <a:t>d</a:t>
            </a:r>
            <a:r>
              <a:rPr lang="zh-CN" altLang="en-US">
                <a:solidFill>
                  <a:srgbClr val="000099"/>
                </a:solidFill>
                <a:hlinkClick r:id="rId3" action="ppaction://hlinksldjump"/>
              </a:rPr>
              <a:t>的选取可参考齿宽系数表</a:t>
            </a:r>
            <a:endParaRPr lang="zh-CN" altLang="en-US">
              <a:solidFill>
                <a:srgbClr val="000099"/>
              </a:solidFill>
            </a:endParaRPr>
          </a:p>
        </p:txBody>
      </p:sp>
      <p:sp>
        <p:nvSpPr>
          <p:cNvPr id="31771" name="Text Box 1062"/>
          <p:cNvSpPr txBox="1">
            <a:spLocks noChangeArrowheads="1"/>
          </p:cNvSpPr>
          <p:nvPr/>
        </p:nvSpPr>
        <p:spPr bwMode="auto">
          <a:xfrm>
            <a:off x="7821613" y="5984875"/>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sp>
        <p:nvSpPr>
          <p:cNvPr id="3177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wipe(left)">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569"/>
                                        </p:tgtEl>
                                        <p:attrNameLst>
                                          <p:attrName>style.visibility</p:attrName>
                                        </p:attrNameLst>
                                      </p:cBhvr>
                                      <p:to>
                                        <p:strVal val="visible"/>
                                      </p:to>
                                    </p:set>
                                    <p:animEffect transition="in" filter="wipe(left)">
                                      <p:cBhvr>
                                        <p:cTn id="12" dur="500"/>
                                        <p:tgtEl>
                                          <p:spTgt spid="665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594"/>
                                        </p:tgtEl>
                                        <p:attrNameLst>
                                          <p:attrName>style.visibility</p:attrName>
                                        </p:attrNameLst>
                                      </p:cBhvr>
                                      <p:to>
                                        <p:strVal val="visible"/>
                                      </p:to>
                                    </p:set>
                                    <p:animEffect transition="in" filter="wipe(left)">
                                      <p:cBhvr>
                                        <p:cTn id="17" dur="500"/>
                                        <p:tgtEl>
                                          <p:spTgt spid="665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6570"/>
                                        </p:tgtEl>
                                        <p:attrNameLst>
                                          <p:attrName>style.visibility</p:attrName>
                                        </p:attrNameLst>
                                      </p:cBhvr>
                                      <p:to>
                                        <p:strVal val="visible"/>
                                      </p:to>
                                    </p:set>
                                    <p:animEffect transition="in" filter="wipe(left)">
                                      <p:cBhvr>
                                        <p:cTn id="22" dur="500"/>
                                        <p:tgtEl>
                                          <p:spTgt spid="665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6573"/>
                                        </p:tgtEl>
                                        <p:attrNameLst>
                                          <p:attrName>style.visibility</p:attrName>
                                        </p:attrNameLst>
                                      </p:cBhvr>
                                      <p:to>
                                        <p:strVal val="visible"/>
                                      </p:to>
                                    </p:set>
                                    <p:animEffect transition="in" filter="wipe(left)">
                                      <p:cBhvr>
                                        <p:cTn id="27" dur="500"/>
                                        <p:tgtEl>
                                          <p:spTgt spid="66573"/>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6574"/>
                                        </p:tgtEl>
                                        <p:attrNameLst>
                                          <p:attrName>style.visibility</p:attrName>
                                        </p:attrNameLst>
                                      </p:cBhvr>
                                      <p:to>
                                        <p:strVal val="visible"/>
                                      </p:to>
                                    </p:set>
                                    <p:animEffect transition="in" filter="wipe(left)">
                                      <p:cBhvr>
                                        <p:cTn id="31" dur="500"/>
                                        <p:tgtEl>
                                          <p:spTgt spid="66574"/>
                                        </p:tgtEl>
                                      </p:cBhvr>
                                    </p:animEffect>
                                  </p:childTnLst>
                                </p:cTn>
                              </p:par>
                            </p:childTnLst>
                          </p:cTn>
                        </p:par>
                        <p:par>
                          <p:cTn id="32" fill="hold">
                            <p:stCondLst>
                              <p:cond delay="1000"/>
                            </p:stCondLst>
                            <p:childTnLst>
                              <p:par>
                                <p:cTn id="33" presetID="22" presetClass="entr" presetSubtype="4" fill="hold" grpId="0" nodeType="afterEffect">
                                  <p:stCondLst>
                                    <p:cond delay="0"/>
                                  </p:stCondLst>
                                  <p:childTnLst>
                                    <p:set>
                                      <p:cBhvr>
                                        <p:cTn id="34" dur="1" fill="hold">
                                          <p:stCondLst>
                                            <p:cond delay="0"/>
                                          </p:stCondLst>
                                        </p:cTn>
                                        <p:tgtEl>
                                          <p:spTgt spid="66576"/>
                                        </p:tgtEl>
                                        <p:attrNameLst>
                                          <p:attrName>style.visibility</p:attrName>
                                        </p:attrNameLst>
                                      </p:cBhvr>
                                      <p:to>
                                        <p:strVal val="visible"/>
                                      </p:to>
                                    </p:set>
                                    <p:animEffect transition="in" filter="wipe(down)">
                                      <p:cBhvr>
                                        <p:cTn id="35" dur="500"/>
                                        <p:tgtEl>
                                          <p:spTgt spid="66576"/>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66577"/>
                                        </p:tgtEl>
                                        <p:attrNameLst>
                                          <p:attrName>style.visibility</p:attrName>
                                        </p:attrNameLst>
                                      </p:cBhvr>
                                      <p:to>
                                        <p:strVal val="visible"/>
                                      </p:to>
                                    </p:set>
                                    <p:animEffect transition="in" filter="wipe(left)">
                                      <p:cBhvr>
                                        <p:cTn id="39" dur="500"/>
                                        <p:tgtEl>
                                          <p:spTgt spid="66577"/>
                                        </p:tgtEl>
                                      </p:cBhvr>
                                    </p:animEffect>
                                  </p:childTnLst>
                                </p:cTn>
                              </p:par>
                            </p:childTnLst>
                          </p:cTn>
                        </p:par>
                        <p:par>
                          <p:cTn id="40" fill="hold">
                            <p:stCondLst>
                              <p:cond delay="2000"/>
                            </p:stCondLst>
                            <p:childTnLst>
                              <p:par>
                                <p:cTn id="41" presetID="22" presetClass="entr" presetSubtype="4" fill="hold" grpId="0" nodeType="afterEffect">
                                  <p:stCondLst>
                                    <p:cond delay="0"/>
                                  </p:stCondLst>
                                  <p:childTnLst>
                                    <p:set>
                                      <p:cBhvr>
                                        <p:cTn id="42" dur="1" fill="hold">
                                          <p:stCondLst>
                                            <p:cond delay="0"/>
                                          </p:stCondLst>
                                        </p:cTn>
                                        <p:tgtEl>
                                          <p:spTgt spid="66581"/>
                                        </p:tgtEl>
                                        <p:attrNameLst>
                                          <p:attrName>style.visibility</p:attrName>
                                        </p:attrNameLst>
                                      </p:cBhvr>
                                      <p:to>
                                        <p:strVal val="visible"/>
                                      </p:to>
                                    </p:set>
                                    <p:animEffect transition="in" filter="wipe(down)">
                                      <p:cBhvr>
                                        <p:cTn id="43" dur="500"/>
                                        <p:tgtEl>
                                          <p:spTgt spid="66581"/>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66582"/>
                                        </p:tgtEl>
                                        <p:attrNameLst>
                                          <p:attrName>style.visibility</p:attrName>
                                        </p:attrNameLst>
                                      </p:cBhvr>
                                      <p:to>
                                        <p:strVal val="visible"/>
                                      </p:to>
                                    </p:set>
                                    <p:animEffect transition="in" filter="wipe(left)">
                                      <p:cBhvr>
                                        <p:cTn id="47" dur="500"/>
                                        <p:tgtEl>
                                          <p:spTgt spid="6658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66583"/>
                                        </p:tgtEl>
                                        <p:attrNameLst>
                                          <p:attrName>style.visibility</p:attrName>
                                        </p:attrNameLst>
                                      </p:cBhvr>
                                      <p:to>
                                        <p:strVal val="visible"/>
                                      </p:to>
                                    </p:set>
                                    <p:animEffect transition="in" filter="wipe(up)">
                                      <p:cBhvr>
                                        <p:cTn id="52" dur="500"/>
                                        <p:tgtEl>
                                          <p:spTgt spid="66583"/>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66584"/>
                                        </p:tgtEl>
                                        <p:attrNameLst>
                                          <p:attrName>style.visibility</p:attrName>
                                        </p:attrNameLst>
                                      </p:cBhvr>
                                      <p:to>
                                        <p:strVal val="visible"/>
                                      </p:to>
                                    </p:set>
                                    <p:animEffect transition="in" filter="wipe(left)">
                                      <p:cBhvr>
                                        <p:cTn id="56" dur="500"/>
                                        <p:tgtEl>
                                          <p:spTgt spid="66584"/>
                                        </p:tgtEl>
                                      </p:cBhvr>
                                    </p:animEffect>
                                  </p:childTnLst>
                                </p:cTn>
                              </p:par>
                            </p:childTnLst>
                          </p:cTn>
                        </p:par>
                        <p:par>
                          <p:cTn id="57" fill="hold">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66585"/>
                                        </p:tgtEl>
                                        <p:attrNameLst>
                                          <p:attrName>style.visibility</p:attrName>
                                        </p:attrNameLst>
                                      </p:cBhvr>
                                      <p:to>
                                        <p:strVal val="visible"/>
                                      </p:to>
                                    </p:set>
                                    <p:animEffect transition="in" filter="wipe(left)">
                                      <p:cBhvr>
                                        <p:cTn id="60" dur="500"/>
                                        <p:tgtEl>
                                          <p:spTgt spid="6658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66578"/>
                                        </p:tgtEl>
                                        <p:attrNameLst>
                                          <p:attrName>style.visibility</p:attrName>
                                        </p:attrNameLst>
                                      </p:cBhvr>
                                      <p:to>
                                        <p:strVal val="visible"/>
                                      </p:to>
                                    </p:set>
                                    <p:animEffect transition="in" filter="wipe(up)">
                                      <p:cBhvr>
                                        <p:cTn id="65" dur="500"/>
                                        <p:tgtEl>
                                          <p:spTgt spid="66578"/>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66579"/>
                                        </p:tgtEl>
                                        <p:attrNameLst>
                                          <p:attrName>style.visibility</p:attrName>
                                        </p:attrNameLst>
                                      </p:cBhvr>
                                      <p:to>
                                        <p:strVal val="visible"/>
                                      </p:to>
                                    </p:set>
                                    <p:animEffect transition="in" filter="wipe(left)">
                                      <p:cBhvr>
                                        <p:cTn id="69" dur="500"/>
                                        <p:tgtEl>
                                          <p:spTgt spid="66579"/>
                                        </p:tgtEl>
                                      </p:cBhvr>
                                    </p:animEffect>
                                  </p:childTnLst>
                                </p:cTn>
                              </p:par>
                            </p:childTnLst>
                          </p:cTn>
                        </p:par>
                        <p:par>
                          <p:cTn id="70" fill="hold">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66580"/>
                                        </p:tgtEl>
                                        <p:attrNameLst>
                                          <p:attrName>style.visibility</p:attrName>
                                        </p:attrNameLst>
                                      </p:cBhvr>
                                      <p:to>
                                        <p:strVal val="visible"/>
                                      </p:to>
                                    </p:set>
                                    <p:animEffect transition="in" filter="wipe(left)">
                                      <p:cBhvr>
                                        <p:cTn id="73" dur="500"/>
                                        <p:tgtEl>
                                          <p:spTgt spid="66580"/>
                                        </p:tgtEl>
                                      </p:cBhvr>
                                    </p:animEffect>
                                  </p:childTnLst>
                                </p:cTn>
                              </p:par>
                            </p:childTnLst>
                          </p:cTn>
                        </p:par>
                        <p:par>
                          <p:cTn id="74" fill="hold">
                            <p:stCondLst>
                              <p:cond delay="1500"/>
                            </p:stCondLst>
                            <p:childTnLst>
                              <p:par>
                                <p:cTn id="75" presetID="12" presetClass="entr" presetSubtype="4" fill="hold" grpId="0" nodeType="afterEffect">
                                  <p:stCondLst>
                                    <p:cond delay="0"/>
                                  </p:stCondLst>
                                  <p:childTnLst>
                                    <p:set>
                                      <p:cBhvr>
                                        <p:cTn id="76" dur="1" fill="hold">
                                          <p:stCondLst>
                                            <p:cond delay="0"/>
                                          </p:stCondLst>
                                        </p:cTn>
                                        <p:tgtEl>
                                          <p:spTgt spid="66586"/>
                                        </p:tgtEl>
                                        <p:attrNameLst>
                                          <p:attrName>style.visibility</p:attrName>
                                        </p:attrNameLst>
                                      </p:cBhvr>
                                      <p:to>
                                        <p:strVal val="visible"/>
                                      </p:to>
                                    </p:set>
                                    <p:animEffect transition="in" filter="slide(fromBottom)">
                                      <p:cBhvr>
                                        <p:cTn id="77" dur="500"/>
                                        <p:tgtEl>
                                          <p:spTgt spid="66586"/>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1" fill="hold" grpId="0" nodeType="clickEffect">
                                  <p:stCondLst>
                                    <p:cond delay="0"/>
                                  </p:stCondLst>
                                  <p:childTnLst>
                                    <p:set>
                                      <p:cBhvr>
                                        <p:cTn id="81" dur="1" fill="hold">
                                          <p:stCondLst>
                                            <p:cond delay="0"/>
                                          </p:stCondLst>
                                        </p:cTn>
                                        <p:tgtEl>
                                          <p:spTgt spid="66571"/>
                                        </p:tgtEl>
                                        <p:attrNameLst>
                                          <p:attrName>style.visibility</p:attrName>
                                        </p:attrNameLst>
                                      </p:cBhvr>
                                      <p:to>
                                        <p:strVal val="visible"/>
                                      </p:to>
                                    </p:set>
                                    <p:animEffect transition="in" filter="slide(fromTop)">
                                      <p:cBhvr>
                                        <p:cTn id="82" dur="500"/>
                                        <p:tgtEl>
                                          <p:spTgt spid="66571"/>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66572"/>
                                        </p:tgtEl>
                                        <p:attrNameLst>
                                          <p:attrName>style.visibility</p:attrName>
                                        </p:attrNameLst>
                                      </p:cBhvr>
                                      <p:to>
                                        <p:strVal val="visible"/>
                                      </p:to>
                                    </p:set>
                                    <p:animEffect transition="in" filter="wipe(left)">
                                      <p:cBhvr>
                                        <p:cTn id="86" dur="500"/>
                                        <p:tgtEl>
                                          <p:spTgt spid="6657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66588"/>
                                        </p:tgtEl>
                                        <p:attrNameLst>
                                          <p:attrName>style.visibility</p:attrName>
                                        </p:attrNameLst>
                                      </p:cBhvr>
                                      <p:to>
                                        <p:strVal val="visible"/>
                                      </p:to>
                                    </p:set>
                                    <p:animEffect transition="in" filter="wipe(left)">
                                      <p:cBhvr>
                                        <p:cTn id="91" dur="500"/>
                                        <p:tgtEl>
                                          <p:spTgt spid="66588"/>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32796"/>
                                        </p:tgtEl>
                                        <p:attrNameLst>
                                          <p:attrName>style.visibility</p:attrName>
                                        </p:attrNameLst>
                                      </p:cBhvr>
                                      <p:to>
                                        <p:strVal val="visible"/>
                                      </p:to>
                                    </p:set>
                                  </p:childTnLst>
                                </p:cTn>
                              </p:par>
                            </p:childTnLst>
                          </p:cTn>
                        </p:par>
                        <p:par>
                          <p:cTn id="96" fill="hold">
                            <p:stCondLst>
                              <p:cond delay="0"/>
                            </p:stCondLst>
                            <p:childTnLst>
                              <p:par>
                                <p:cTn id="97" presetID="1" presetClass="entr" presetSubtype="0" fill="hold" nodeType="afterEffect">
                                  <p:stCondLst>
                                    <p:cond delay="0"/>
                                  </p:stCondLst>
                                  <p:childTnLst>
                                    <p:set>
                                      <p:cBhvr>
                                        <p:cTn id="98" dur="1" fill="hold">
                                          <p:stCondLst>
                                            <p:cond delay="499"/>
                                          </p:stCondLst>
                                        </p:cTn>
                                        <p:tgtEl>
                                          <p:spTgt spid="66592"/>
                                        </p:tgtEl>
                                        <p:attrNameLst>
                                          <p:attrName>style.visibility</p:attrName>
                                        </p:attrNameLst>
                                      </p:cBhvr>
                                      <p:to>
                                        <p:strVal val="visible"/>
                                      </p:to>
                                    </p:set>
                                  </p:childTnLst>
                                </p:cTn>
                              </p:par>
                            </p:childTnLst>
                          </p:cTn>
                        </p:par>
                        <p:par>
                          <p:cTn id="99" fill="hold">
                            <p:stCondLst>
                              <p:cond delay="500"/>
                            </p:stCondLst>
                            <p:childTnLst>
                              <p:par>
                                <p:cTn id="100" presetID="2" presetClass="entr" presetSubtype="8" fill="hold" nodeType="afterEffect">
                                  <p:stCondLst>
                                    <p:cond delay="0"/>
                                  </p:stCondLst>
                                  <p:childTnLst>
                                    <p:set>
                                      <p:cBhvr>
                                        <p:cTn id="101" dur="1" fill="hold">
                                          <p:stCondLst>
                                            <p:cond delay="0"/>
                                          </p:stCondLst>
                                        </p:cTn>
                                        <p:tgtEl>
                                          <p:spTgt spid="66593"/>
                                        </p:tgtEl>
                                        <p:attrNameLst>
                                          <p:attrName>style.visibility</p:attrName>
                                        </p:attrNameLst>
                                      </p:cBhvr>
                                      <p:to>
                                        <p:strVal val="visible"/>
                                      </p:to>
                                    </p:set>
                                    <p:anim calcmode="lin" valueType="num">
                                      <p:cBhvr additive="base">
                                        <p:cTn id="102" dur="500" fill="hold"/>
                                        <p:tgtEl>
                                          <p:spTgt spid="66593"/>
                                        </p:tgtEl>
                                        <p:attrNameLst>
                                          <p:attrName>ppt_x</p:attrName>
                                        </p:attrNameLst>
                                      </p:cBhvr>
                                      <p:tavLst>
                                        <p:tav tm="0">
                                          <p:val>
                                            <p:strVal val="0-#ppt_w/2"/>
                                          </p:val>
                                        </p:tav>
                                        <p:tav tm="100000">
                                          <p:val>
                                            <p:strVal val="#ppt_x"/>
                                          </p:val>
                                        </p:tav>
                                      </p:tavLst>
                                    </p:anim>
                                    <p:anim calcmode="lin" valueType="num">
                                      <p:cBhvr additive="base">
                                        <p:cTn id="103" dur="500" fill="hold"/>
                                        <p:tgtEl>
                                          <p:spTgt spid="665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utoUpdateAnimBg="0"/>
      <p:bldP spid="66569" grpId="0" animBg="1" autoUpdateAnimBg="0"/>
      <p:bldP spid="66570" grpId="0" animBg="1" autoUpdateAnimBg="0"/>
      <p:bldP spid="66571" grpId="0" autoUpdateAnimBg="0"/>
      <p:bldP spid="66572" grpId="0" animBg="1" autoUpdateAnimBg="0"/>
      <p:bldP spid="66573" grpId="0" autoUpdateAnimBg="0"/>
      <p:bldP spid="66574" grpId="0" autoUpdateAnimBg="0"/>
      <p:bldP spid="66576" grpId="0" animBg="1"/>
      <p:bldP spid="66577" grpId="0" autoUpdateAnimBg="0"/>
      <p:bldP spid="66578" grpId="0" animBg="1"/>
      <p:bldP spid="66579" grpId="0" autoUpdateAnimBg="0"/>
      <p:bldP spid="66580" grpId="0" autoUpdateAnimBg="0"/>
      <p:bldP spid="66581" grpId="0" animBg="1"/>
      <p:bldP spid="66582" grpId="0" autoUpdateAnimBg="0"/>
      <p:bldP spid="66583" grpId="0" animBg="1"/>
      <p:bldP spid="66584" grpId="0" autoUpdateAnimBg="0"/>
      <p:bldP spid="66585" grpId="0" autoUpdateAnimBg="0"/>
      <p:bldP spid="66586" grpId="0" autoUpdateAnimBg="0"/>
      <p:bldP spid="66588" grpId="0" autoUpdateAnimBg="0"/>
      <p:bldP spid="66594" grpId="0" autoUpdateAnimBg="0"/>
      <p:bldP spid="3279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p:nvPr/>
        </p:nvGrpSpPr>
        <p:grpSpPr bwMode="auto">
          <a:xfrm>
            <a:off x="228283" y="1951672"/>
            <a:ext cx="8693149" cy="3940175"/>
            <a:chOff x="149" y="791"/>
            <a:chExt cx="5476" cy="2482"/>
          </a:xfrm>
        </p:grpSpPr>
        <p:sp>
          <p:nvSpPr>
            <p:cNvPr id="3" name="Text Box 3"/>
            <p:cNvSpPr txBox="1">
              <a:spLocks noChangeArrowheads="1"/>
            </p:cNvSpPr>
            <p:nvPr/>
          </p:nvSpPr>
          <p:spPr bwMode="auto">
            <a:xfrm>
              <a:off x="1361" y="791"/>
              <a:ext cx="4215"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dirty="0">
                  <a:solidFill>
                    <a:srgbClr val="002060"/>
                  </a:solidFill>
                  <a:latin typeface="黑体" panose="02010609060101010101" pitchFamily="49" charset="-122"/>
                  <a:ea typeface="黑体" panose="02010609060101010101" pitchFamily="49" charset="-122"/>
                  <a:cs typeface="黑体" panose="02010609060101010101" pitchFamily="49" charset="-122"/>
                </a:rPr>
                <a:t>标准模数系列表（</a:t>
              </a:r>
              <a:r>
                <a:rPr kumimoji="1" lang="en-US" altLang="zh-CN" sz="2400" dirty="0">
                  <a:solidFill>
                    <a:srgbClr val="002060"/>
                  </a:solidFill>
                  <a:latin typeface="黑体" panose="02010609060101010101" pitchFamily="49" charset="-122"/>
                  <a:ea typeface="黑体" panose="02010609060101010101" pitchFamily="49" charset="-122"/>
                  <a:cs typeface="黑体" panose="02010609060101010101" pitchFamily="49" charset="-122"/>
                </a:rPr>
                <a:t>GB1357</a:t>
              </a:r>
              <a:r>
                <a:rPr kumimoji="1" lang="zh-CN" altLang="en-US" sz="2400" dirty="0">
                  <a:solidFill>
                    <a:srgbClr val="002060"/>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sz="2400" dirty="0">
                  <a:solidFill>
                    <a:srgbClr val="002060"/>
                  </a:solidFill>
                  <a:latin typeface="黑体" panose="02010609060101010101" pitchFamily="49" charset="-122"/>
                  <a:ea typeface="黑体" panose="02010609060101010101" pitchFamily="49" charset="-122"/>
                  <a:cs typeface="黑体" panose="02010609060101010101" pitchFamily="49" charset="-122"/>
                </a:rPr>
                <a:t>87</a:t>
              </a:r>
              <a:r>
                <a:rPr kumimoji="1" lang="zh-CN" altLang="en-US" sz="2400" dirty="0">
                  <a:solidFill>
                    <a:srgbClr val="002060"/>
                  </a:solidFill>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4" name="Text Box 4"/>
            <p:cNvSpPr txBox="1">
              <a:spLocks noChangeArrowheads="1"/>
            </p:cNvSpPr>
            <p:nvPr/>
          </p:nvSpPr>
          <p:spPr bwMode="auto">
            <a:xfrm>
              <a:off x="149" y="1312"/>
              <a:ext cx="5476" cy="639"/>
            </a:xfrm>
            <a:prstGeom prst="rect">
              <a:avLst/>
            </a:prstGeom>
            <a:noFill/>
            <a:ln w="12700">
              <a:noFill/>
              <a:miter lim="800000"/>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kumimoji="1" lang="en-US" altLang="zh-CN" sz="2000" dirty="0">
                  <a:solidFill>
                    <a:schemeClr val="folHlink"/>
                  </a:solidFill>
                  <a:latin typeface="Times New Roman" panose="02020603050405020304" pitchFamily="18" charset="0"/>
                </a:rPr>
                <a:t>  </a:t>
              </a:r>
              <a:r>
                <a:rPr kumimoji="1" lang="zh-CN" altLang="en-US" sz="2400" dirty="0">
                  <a:solidFill>
                    <a:schemeClr val="hlink"/>
                  </a:solidFill>
                  <a:latin typeface="Times New Roman" panose="02020603050405020304" pitchFamily="18" charset="0"/>
                </a:rPr>
                <a:t>第一系列      </a:t>
              </a:r>
              <a:r>
                <a:rPr kumimoji="1" lang="en-US" altLang="zh-CN" sz="2400" dirty="0">
                  <a:solidFill>
                    <a:schemeClr val="folHlink"/>
                  </a:solidFill>
                  <a:latin typeface="Times New Roman" panose="02020603050405020304" pitchFamily="18" charset="0"/>
                </a:rPr>
                <a:t>1     1.25     1.5     2      2.5      3      4      5       6      8  </a:t>
              </a:r>
              <a:endParaRPr kumimoji="1" lang="en-US" altLang="zh-CN" sz="2400" dirty="0">
                <a:solidFill>
                  <a:schemeClr val="folHlink"/>
                </a:solidFill>
                <a:latin typeface="Times New Roman" panose="02020603050405020304" pitchFamily="18" charset="0"/>
              </a:endParaRPr>
            </a:p>
            <a:p>
              <a:pPr algn="l">
                <a:spcBef>
                  <a:spcPct val="50000"/>
                </a:spcBef>
              </a:pPr>
              <a:r>
                <a:rPr kumimoji="1" lang="en-US" altLang="zh-CN" sz="2400" dirty="0">
                  <a:solidFill>
                    <a:schemeClr val="folHlink"/>
                  </a:solidFill>
                  <a:latin typeface="Times New Roman" panose="02020603050405020304" pitchFamily="18" charset="0"/>
                </a:rPr>
                <a:t>                      10     12       16     20      25      32    40    50</a:t>
              </a:r>
              <a:endParaRPr kumimoji="1" lang="en-US" altLang="zh-CN" sz="2400" dirty="0">
                <a:solidFill>
                  <a:schemeClr val="folHlink"/>
                </a:solidFill>
                <a:latin typeface="Times New Roman" panose="02020603050405020304" pitchFamily="18" charset="0"/>
              </a:endParaRPr>
            </a:p>
          </p:txBody>
        </p:sp>
        <p:grpSp>
          <p:nvGrpSpPr>
            <p:cNvPr id="5" name="Group 5"/>
            <p:cNvGrpSpPr/>
            <p:nvPr/>
          </p:nvGrpSpPr>
          <p:grpSpPr bwMode="auto">
            <a:xfrm>
              <a:off x="195" y="1111"/>
              <a:ext cx="5425" cy="2162"/>
              <a:chOff x="195" y="1111"/>
              <a:chExt cx="5425" cy="2162"/>
            </a:xfrm>
          </p:grpSpPr>
          <p:sp>
            <p:nvSpPr>
              <p:cNvPr id="7" name="Line 6"/>
              <p:cNvSpPr>
                <a:spLocks noChangeShapeType="1"/>
              </p:cNvSpPr>
              <p:nvPr/>
            </p:nvSpPr>
            <p:spPr bwMode="auto">
              <a:xfrm>
                <a:off x="1132" y="1142"/>
                <a:ext cx="0" cy="2131"/>
              </a:xfrm>
              <a:prstGeom prst="line">
                <a:avLst/>
              </a:prstGeom>
              <a:noFill/>
              <a:ln w="190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 name="Group 7"/>
              <p:cNvGrpSpPr/>
              <p:nvPr/>
            </p:nvGrpSpPr>
            <p:grpSpPr bwMode="auto">
              <a:xfrm>
                <a:off x="195" y="1111"/>
                <a:ext cx="5425" cy="2131"/>
                <a:chOff x="186" y="574"/>
                <a:chExt cx="5425" cy="2131"/>
              </a:xfrm>
            </p:grpSpPr>
            <p:sp>
              <p:nvSpPr>
                <p:cNvPr id="9" name="Rectangle 8"/>
                <p:cNvSpPr>
                  <a:spLocks noChangeArrowheads="1"/>
                </p:cNvSpPr>
                <p:nvPr/>
              </p:nvSpPr>
              <p:spPr bwMode="auto">
                <a:xfrm>
                  <a:off x="226" y="574"/>
                  <a:ext cx="5385" cy="2131"/>
                </a:xfrm>
                <a:prstGeom prst="rect">
                  <a:avLst/>
                </a:prstGeom>
                <a:noFill/>
                <a:ln w="19050">
                  <a:solidFill>
                    <a:srgbClr val="0070C0"/>
                  </a:solidFill>
                  <a:miter lim="800000"/>
                  <a:headEnd type="none" w="sm" len="lg"/>
                  <a:tailEnd type="none" w="sm"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 name="Line 9"/>
                <p:cNvSpPr>
                  <a:spLocks noChangeShapeType="1"/>
                </p:cNvSpPr>
                <p:nvPr/>
              </p:nvSpPr>
              <p:spPr bwMode="auto">
                <a:xfrm>
                  <a:off x="186" y="1558"/>
                  <a:ext cx="5395" cy="0"/>
                </a:xfrm>
                <a:prstGeom prst="line">
                  <a:avLst/>
                </a:prstGeom>
                <a:noFill/>
                <a:ln w="1905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grpSp>
      <p:sp>
        <p:nvSpPr>
          <p:cNvPr id="11" name="Text Box 2"/>
          <p:cNvSpPr txBox="1">
            <a:spLocks noChangeArrowheads="1"/>
          </p:cNvSpPr>
          <p:nvPr/>
        </p:nvSpPr>
        <p:spPr bwMode="auto">
          <a:xfrm>
            <a:off x="342265" y="4351655"/>
            <a:ext cx="8444865" cy="1014730"/>
          </a:xfrm>
          <a:prstGeom prst="rect">
            <a:avLst/>
          </a:prstGeom>
          <a:noFill/>
          <a:ln w="12700">
            <a:noFill/>
            <a:miter lim="800000"/>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kumimoji="1" lang="en-US" altLang="zh-CN" sz="2000" dirty="0">
                <a:solidFill>
                  <a:schemeClr val="folHlink"/>
                </a:solidFill>
                <a:latin typeface="Times New Roman" panose="02020603050405020304" pitchFamily="18" charset="0"/>
              </a:rPr>
              <a:t>                       </a:t>
            </a:r>
            <a:r>
              <a:rPr kumimoji="1" lang="en-US" altLang="zh-CN" sz="2400" dirty="0">
                <a:solidFill>
                  <a:schemeClr val="folHlink"/>
                </a:solidFill>
                <a:latin typeface="Times New Roman" panose="02020603050405020304" pitchFamily="18" charset="0"/>
              </a:rPr>
              <a:t>1.125   1.375    1.75   2.25    2.75     3.5     </a:t>
            </a:r>
            <a:r>
              <a:rPr lang="en-US" altLang="zh-CN" sz="2400" dirty="0">
                <a:solidFill>
                  <a:schemeClr val="folHlink"/>
                </a:solidFill>
                <a:sym typeface="+mn-ea"/>
              </a:rPr>
              <a:t>4.5     5.5 </a:t>
            </a:r>
            <a:endParaRPr kumimoji="1" lang="en-US" altLang="zh-CN" sz="2400" dirty="0">
              <a:solidFill>
                <a:schemeClr val="folHlink"/>
              </a:solidFill>
              <a:latin typeface="Times New Roman" panose="02020603050405020304" pitchFamily="18" charset="0"/>
            </a:endParaRPr>
          </a:p>
          <a:p>
            <a:pPr algn="l">
              <a:spcBef>
                <a:spcPct val="50000"/>
              </a:spcBef>
            </a:pPr>
            <a:r>
              <a:rPr kumimoji="1" lang="zh-CN" altLang="en-US" sz="2400" dirty="0">
                <a:solidFill>
                  <a:schemeClr val="hlink"/>
                </a:solidFill>
                <a:latin typeface="Times New Roman" panose="02020603050405020304" pitchFamily="18" charset="0"/>
              </a:rPr>
              <a:t>第二系列</a:t>
            </a:r>
            <a:r>
              <a:rPr kumimoji="1" lang="zh-CN" altLang="en-US" sz="2400" dirty="0">
                <a:solidFill>
                  <a:schemeClr val="folHlink"/>
                </a:solidFill>
                <a:latin typeface="Times New Roman" panose="02020603050405020304" pitchFamily="18" charset="0"/>
              </a:rPr>
              <a:t>  </a:t>
            </a:r>
            <a:r>
              <a:rPr kumimoji="1" lang="en-US" altLang="zh-CN" sz="2400" dirty="0">
                <a:solidFill>
                  <a:schemeClr val="folHlink"/>
                </a:solidFill>
                <a:latin typeface="Times New Roman" panose="02020603050405020304" pitchFamily="18" charset="0"/>
              </a:rPr>
              <a:t>   7        9         11        14      18      22       </a:t>
            </a:r>
            <a:r>
              <a:rPr lang="en-US" altLang="zh-CN" sz="2400" dirty="0">
                <a:solidFill>
                  <a:schemeClr val="folHlink"/>
                </a:solidFill>
                <a:sym typeface="+mn-ea"/>
              </a:rPr>
              <a:t> 28     36    </a:t>
            </a:r>
            <a:endParaRPr kumimoji="1" lang="en-US" altLang="zh-CN" sz="2400" dirty="0">
              <a:solidFill>
                <a:schemeClr val="folHlink"/>
              </a:solidFill>
              <a:latin typeface="Times New Roman" panose="02020603050405020304" pitchFamily="18" charset="0"/>
            </a:endParaRPr>
          </a:p>
        </p:txBody>
      </p:sp>
      <p:sp>
        <p:nvSpPr>
          <p:cNvPr id="31748" name="Text Box 1032"/>
          <p:cNvSpPr txBox="1">
            <a:spLocks noChangeArrowheads="1"/>
          </p:cNvSpPr>
          <p:nvPr/>
        </p:nvSpPr>
        <p:spPr bwMode="auto">
          <a:xfrm>
            <a:off x="1698625" y="200025"/>
            <a:ext cx="744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3.4-4   </a:t>
            </a:r>
            <a:r>
              <a:rPr lang="zh-CN" altLang="en-US" sz="2800" dirty="0" smtClean="0">
                <a:solidFill>
                  <a:srgbClr val="CC3300"/>
                </a:solidFill>
                <a:latin typeface="黑体" panose="02010609060101010101" pitchFamily="49" charset="-122"/>
                <a:ea typeface="黑体" panose="02010609060101010101" pitchFamily="49" charset="-122"/>
              </a:rPr>
              <a:t>标准</a:t>
            </a:r>
            <a:r>
              <a:rPr lang="zh-CN" altLang="en-US" sz="2800" dirty="0">
                <a:solidFill>
                  <a:srgbClr val="CC3300"/>
                </a:solidFill>
                <a:latin typeface="黑体" panose="02010609060101010101" pitchFamily="49" charset="-122"/>
                <a:ea typeface="黑体" panose="02010609060101010101" pitchFamily="49" charset="-122"/>
              </a:rPr>
              <a:t>圆柱齿轮传动的设计</a:t>
            </a:r>
            <a:endParaRPr lang="zh-CN" altLang="en-US" sz="2800" dirty="0">
              <a:solidFill>
                <a:srgbClr val="CC3300"/>
              </a:solidFill>
              <a:latin typeface="黑体" panose="02010609060101010101" pitchFamily="49" charset="-122"/>
              <a:ea typeface="黑体" panose="02010609060101010101" pitchFamily="49" charset="-122"/>
            </a:endParaRPr>
          </a:p>
        </p:txBody>
      </p:sp>
      <p:sp>
        <p:nvSpPr>
          <p:cNvPr id="3177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文本框 5"/>
          <p:cNvSpPr txBox="1"/>
          <p:nvPr/>
        </p:nvSpPr>
        <p:spPr>
          <a:xfrm>
            <a:off x="8398510" y="4886960"/>
            <a:ext cx="487680" cy="460375"/>
          </a:xfrm>
          <a:prstGeom prst="rect">
            <a:avLst/>
          </a:prstGeom>
          <a:noFill/>
        </p:spPr>
        <p:txBody>
          <a:bodyPr wrap="none" rtlCol="0">
            <a:spAutoFit/>
          </a:bodyPr>
          <a:p>
            <a:pPr algn="l">
              <a:spcBef>
                <a:spcPct val="50000"/>
              </a:spcBef>
            </a:pPr>
            <a:r>
              <a:rPr lang="en-US" altLang="zh-CN" sz="2400" dirty="0">
                <a:solidFill>
                  <a:schemeClr val="folHlink"/>
                </a:solidFill>
                <a:sym typeface="+mn-ea"/>
              </a:rPr>
              <a:t>45</a:t>
            </a:r>
            <a:endParaRPr kumimoji="1" lang="en-US" altLang="zh-CN" sz="2400" dirty="0">
              <a:solidFill>
                <a:schemeClr val="folHlink"/>
              </a:solidFill>
              <a:latin typeface="Times New Roman" panose="02020603050405020304" pitchFamily="18" charset="0"/>
            </a:endParaRPr>
          </a:p>
        </p:txBody>
      </p:sp>
      <p:sp>
        <p:nvSpPr>
          <p:cNvPr id="66572" name="Text Box 1036"/>
          <p:cNvSpPr txBox="1">
            <a:spLocks noChangeArrowheads="1"/>
          </p:cNvSpPr>
          <p:nvPr/>
        </p:nvSpPr>
        <p:spPr bwMode="auto">
          <a:xfrm>
            <a:off x="360998" y="1103313"/>
            <a:ext cx="1998980" cy="429895"/>
          </a:xfrm>
          <a:prstGeom prst="rect">
            <a:avLst/>
          </a:prstGeom>
          <a:solidFill>
            <a:schemeClr val="tx2">
              <a:lumMod val="20000"/>
              <a:lumOff val="80000"/>
            </a:schemeClr>
          </a:solidFill>
          <a:ln>
            <a:noFill/>
          </a:ln>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fontAlgn="ctr" hangingPunct="1"/>
            <a:r>
              <a:rPr lang="en-US" altLang="zh-CN" sz="2200" dirty="0">
                <a:solidFill>
                  <a:srgbClr val="000099"/>
                </a:solidFill>
              </a:rPr>
              <a:t>4</a:t>
            </a:r>
            <a:r>
              <a:rPr lang="zh-CN" altLang="en-US" sz="2200" dirty="0">
                <a:solidFill>
                  <a:srgbClr val="000099"/>
                </a:solidFill>
              </a:rPr>
              <a:t>．标准模数表</a:t>
            </a:r>
            <a:endParaRPr lang="en-US" altLang="zh-CN" sz="2200" dirty="0">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
                                        </p:tgtEl>
                                        <p:attrNameLst>
                                          <p:attrName>style.visibility</p:attrName>
                                        </p:attrNameLst>
                                      </p:cBhvr>
                                      <p:to>
                                        <p:strVal val="visible"/>
                                      </p:to>
                                    </p:se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66572"/>
                                        </p:tgtEl>
                                        <p:attrNameLst>
                                          <p:attrName>style.visibility</p:attrName>
                                        </p:attrNameLst>
                                      </p:cBhvr>
                                      <p:to>
                                        <p:strVal val="visible"/>
                                      </p:to>
                                    </p:set>
                                    <p:animEffect transition="in" filter="wipe(left)">
                                      <p:cBhvr>
                                        <p:cTn id="15" dur="500"/>
                                        <p:tgtEl>
                                          <p:spTgt spid="66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autoUpdateAnimBg="0"/>
      <p:bldP spid="66572" grpId="0" bldLvl="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248234" y="931545"/>
            <a:ext cx="26974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八、齿轮精度的选择</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8" name="Text Box 28"/>
          <p:cNvSpPr txBox="1">
            <a:spLocks noChangeArrowheads="1"/>
          </p:cNvSpPr>
          <p:nvPr/>
        </p:nvSpPr>
        <p:spPr bwMode="auto">
          <a:xfrm>
            <a:off x="516890" y="1376680"/>
            <a:ext cx="8200390" cy="169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30000"/>
              </a:lnSpc>
            </a:pPr>
            <a:r>
              <a:rPr lang="zh-CN" altLang="en-US" dirty="0">
                <a:solidFill>
                  <a:srgbClr val="000099"/>
                </a:solidFill>
              </a:rPr>
              <a:t>　　齿轮精度共分</a:t>
            </a:r>
            <a:r>
              <a:rPr lang="en-US" altLang="zh-CN" dirty="0">
                <a:solidFill>
                  <a:srgbClr val="000099"/>
                </a:solidFill>
              </a:rPr>
              <a:t>13</a:t>
            </a:r>
            <a:r>
              <a:rPr lang="zh-CN" altLang="en-US" dirty="0">
                <a:solidFill>
                  <a:srgbClr val="000099"/>
                </a:solidFill>
              </a:rPr>
              <a:t>级，</a:t>
            </a:r>
            <a:r>
              <a:rPr lang="en-US" altLang="zh-CN" dirty="0">
                <a:solidFill>
                  <a:srgbClr val="000099"/>
                </a:solidFill>
              </a:rPr>
              <a:t>0</a:t>
            </a:r>
            <a:r>
              <a:rPr lang="zh-CN" altLang="en-US" dirty="0">
                <a:solidFill>
                  <a:srgbClr val="000099"/>
                </a:solidFill>
              </a:rPr>
              <a:t>级精度最高，第</a:t>
            </a:r>
            <a:r>
              <a:rPr lang="en-US" altLang="zh-CN" dirty="0">
                <a:solidFill>
                  <a:srgbClr val="000099"/>
                </a:solidFill>
              </a:rPr>
              <a:t>12</a:t>
            </a:r>
            <a:r>
              <a:rPr lang="zh-CN" altLang="en-US" dirty="0">
                <a:solidFill>
                  <a:srgbClr val="000099"/>
                </a:solidFill>
              </a:rPr>
              <a:t>级精度最低。常用的是</a:t>
            </a:r>
            <a:r>
              <a:rPr lang="en-US" altLang="zh-CN" dirty="0">
                <a:solidFill>
                  <a:srgbClr val="000099"/>
                </a:solidFill>
              </a:rPr>
              <a:t>6~9</a:t>
            </a:r>
            <a:r>
              <a:rPr lang="zh-CN" altLang="en-US" dirty="0">
                <a:solidFill>
                  <a:srgbClr val="000099"/>
                </a:solidFill>
              </a:rPr>
              <a:t>级精度。</a:t>
            </a:r>
            <a:endParaRPr lang="zh-CN" altLang="en-US" dirty="0">
              <a:solidFill>
                <a:srgbClr val="000099"/>
              </a:solidFill>
            </a:endParaRPr>
          </a:p>
          <a:p>
            <a:pPr eaLnBrk="1" hangingPunct="1">
              <a:lnSpc>
                <a:spcPct val="130000"/>
              </a:lnSpc>
            </a:pPr>
            <a:r>
              <a:rPr lang="zh-CN" altLang="en-US" dirty="0">
                <a:solidFill>
                  <a:srgbClr val="000099"/>
                </a:solidFill>
              </a:rPr>
              <a:t>　　精度选择是以传动的用途，使用条件，传递功率，圆周速度等为依据来确定。</a:t>
            </a:r>
            <a:endParaRPr lang="zh-CN" altLang="en-US" dirty="0">
              <a:solidFill>
                <a:srgbClr val="000099"/>
              </a:solidFill>
            </a:endParaRPr>
          </a:p>
        </p:txBody>
      </p:sp>
      <p:grpSp>
        <p:nvGrpSpPr>
          <p:cNvPr id="9" name="Group 51"/>
          <p:cNvGrpSpPr/>
          <p:nvPr/>
        </p:nvGrpSpPr>
        <p:grpSpPr bwMode="auto">
          <a:xfrm>
            <a:off x="7399875" y="2427665"/>
            <a:ext cx="1166813" cy="746125"/>
            <a:chOff x="3638" y="3874"/>
            <a:chExt cx="735" cy="470"/>
          </a:xfrm>
        </p:grpSpPr>
        <p:sp>
          <p:nvSpPr>
            <p:cNvPr id="10" name="Text Box 35"/>
            <p:cNvSpPr txBox="1">
              <a:spLocks noChangeArrowheads="1"/>
            </p:cNvSpPr>
            <p:nvPr/>
          </p:nvSpPr>
          <p:spPr bwMode="auto">
            <a:xfrm>
              <a:off x="3638" y="4132"/>
              <a:ext cx="62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dirty="0">
                  <a:solidFill>
                    <a:srgbClr val="CC3300"/>
                  </a:solidFill>
                  <a:latin typeface="Tahoma" panose="020B0604030504040204" pitchFamily="34" charset="0"/>
                  <a:hlinkClick r:id="rId1" action="ppaction://hlinksldjump"/>
                </a:rPr>
                <a:t>详细说明</a:t>
              </a:r>
              <a:endParaRPr lang="zh-CN" altLang="en-US" sz="1600" dirty="0">
                <a:solidFill>
                  <a:srgbClr val="CC3300"/>
                </a:solidFill>
                <a:latin typeface="Tahoma" panose="020B0604030504040204" pitchFamily="34" charset="0"/>
              </a:endParaRPr>
            </a:p>
          </p:txBody>
        </p:sp>
        <p:pic>
          <p:nvPicPr>
            <p:cNvPr id="11" name="Picture 49" descr="ARROW"/>
            <p:cNvPicPr>
              <a:picLocks noChangeAspect="1" noChangeArrowheads="1" noCrop="1"/>
            </p:cNvPicPr>
            <p:nvPr/>
          </p:nvPicPr>
          <p:blipFill>
            <a:blip r:embed="rId2"/>
            <a:srcRect/>
            <a:stretch>
              <a:fillRect/>
            </a:stretch>
          </p:blipFill>
          <p:spPr bwMode="auto">
            <a:xfrm>
              <a:off x="4315" y="3874"/>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Text Box 1032"/>
          <p:cNvSpPr txBox="1">
            <a:spLocks noChangeArrowheads="1"/>
          </p:cNvSpPr>
          <p:nvPr/>
        </p:nvSpPr>
        <p:spPr bwMode="auto">
          <a:xfrm>
            <a:off x="1698625" y="200025"/>
            <a:ext cx="744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3.4-6 </a:t>
            </a:r>
            <a:r>
              <a:rPr lang="zh-CN" altLang="en-US" sz="2800" dirty="0">
                <a:solidFill>
                  <a:srgbClr val="CC3300"/>
                </a:solidFill>
                <a:latin typeface="黑体" panose="02010609060101010101" pitchFamily="49" charset="-122"/>
                <a:ea typeface="黑体" panose="02010609060101010101" pitchFamily="49" charset="-122"/>
              </a:rPr>
              <a:t>圆柱齿轮传动的设计参数和许用应力</a:t>
            </a:r>
            <a:endParaRPr lang="zh-CN" altLang="en-US" sz="2800" dirty="0">
              <a:solidFill>
                <a:srgbClr val="CC3300"/>
              </a:solidFill>
              <a:latin typeface="黑体" panose="02010609060101010101" pitchFamily="49" charset="-122"/>
              <a:ea typeface="黑体" panose="02010609060101010101" pitchFamily="49" charset="-122"/>
            </a:endParaRPr>
          </a:p>
        </p:txBody>
      </p:sp>
      <p:sp>
        <p:nvSpPr>
          <p:cNvPr id="1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 name="Group 4"/>
          <p:cNvGraphicFramePr>
            <a:graphicFrameLocks noGrp="1"/>
          </p:cNvGraphicFramePr>
          <p:nvPr>
            <p:custDataLst>
              <p:tags r:id="rId3"/>
            </p:custDataLst>
          </p:nvPr>
        </p:nvGraphicFramePr>
        <p:xfrm>
          <a:off x="1572717" y="3721969"/>
          <a:ext cx="5701665" cy="2770505"/>
        </p:xfrm>
        <a:graphic>
          <a:graphicData uri="http://schemas.openxmlformats.org/drawingml/2006/table">
            <a:tbl>
              <a:tblPr/>
              <a:tblGrid>
                <a:gridCol w="1610995"/>
                <a:gridCol w="1195070"/>
                <a:gridCol w="1611630"/>
                <a:gridCol w="1283970"/>
              </a:tblGrid>
              <a:tr h="640080">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rPr>
                        <a:t>机器名称</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endParaRPr>
                    </a:p>
                  </a:txBody>
                  <a:tcPr marT="45709" marB="4570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rPr>
                        <a:t>精度等级</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rPr>
                        <a:t>机器名称</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rPr>
                        <a:t>精度等级</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宋体" panose="02010600030101010101" pitchFamily="2" charset="-122"/>
                      </a:endParaRPr>
                    </a:p>
                  </a:txBody>
                  <a:tcPr marT="45709" marB="4570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4650">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测量齿轮</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2</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5</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拖拉机</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6</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8</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639445">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金属切削机床</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3</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8</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通用减速器</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6</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8</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374650">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航空发动机</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4</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8</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锻压机床</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6</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9</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375920">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轻型汽车</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5</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8</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起重机</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7</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10</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365760">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载重汽车</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7</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9</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农业机械</a:t>
                      </a:r>
                      <a:endPar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8</a:t>
                      </a:r>
                      <a:r>
                        <a:rPr kumimoji="0" lang="zh-CN" altLang="en-US"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a:t>
                      </a:r>
                      <a:r>
                        <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rPr>
                        <a:t>11</a:t>
                      </a:r>
                      <a:endParaRPr kumimoji="0" lang="en-US" altLang="zh-CN" sz="1800" b="1" i="0" u="none" strike="noStrike" cap="none" normalizeH="0" baseline="0" dirty="0" smtClean="0">
                        <a:ln>
                          <a:noFill/>
                        </a:ln>
                        <a:solidFill>
                          <a:srgbClr val="040000"/>
                        </a:solidFill>
                        <a:effectLst/>
                        <a:latin typeface="Times New Roman" panose="02020603050405020304" pitchFamily="18" charset="0"/>
                        <a:ea typeface="楷体_GB2312" pitchFamily="49" charset="-122"/>
                      </a:endParaRPr>
                    </a:p>
                  </a:txBody>
                  <a:tcPr marT="45709" marB="4570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r>
            </a:tbl>
          </a:graphicData>
        </a:graphic>
      </p:graphicFrame>
      <p:sp>
        <p:nvSpPr>
          <p:cNvPr id="4" name="矩形 3"/>
          <p:cNvSpPr/>
          <p:nvPr/>
        </p:nvSpPr>
        <p:spPr>
          <a:xfrm>
            <a:off x="1634849" y="3240468"/>
            <a:ext cx="5485765" cy="398780"/>
          </a:xfrm>
          <a:prstGeom prst="rect">
            <a:avLst/>
          </a:prstGeom>
        </p:spPr>
        <p:txBody>
          <a:bodyPr wrap="none">
            <a:spAutoFit/>
          </a:bodyPr>
          <a:p>
            <a:pPr eaLnBrk="1" hangingPunct="1">
              <a:spcBef>
                <a:spcPct val="50000"/>
              </a:spcBef>
              <a:buFontTx/>
              <a:buNone/>
            </a:pPr>
            <a:r>
              <a:rPr lang="zh-CN" altLang="en-US" b="1" dirty="0" smtClean="0"/>
              <a:t>表</a:t>
            </a:r>
            <a:r>
              <a:rPr lang="en-US" altLang="zh-CN" b="1" dirty="0" smtClean="0"/>
              <a:t>3.4</a:t>
            </a:r>
            <a:r>
              <a:rPr lang="en-US" altLang="zh-CN" b="1" dirty="0" smtClean="0"/>
              <a:t>-10 </a:t>
            </a:r>
            <a:r>
              <a:rPr lang="zh-CN" altLang="en-US" b="1" dirty="0" smtClean="0"/>
              <a:t>各</a:t>
            </a:r>
            <a:r>
              <a:rPr lang="zh-CN" altLang="en-US" b="1" dirty="0"/>
              <a:t>类机器所用齿轮传动的精度等级范围</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bwMode="auto">
          <a:xfrm>
            <a:off x="6142038" y="768350"/>
            <a:ext cx="1835150" cy="2000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sz="800">
                <a:solidFill>
                  <a:schemeClr val="bg1"/>
                </a:solidFill>
                <a:latin typeface="Times New Roman" panose="02020603050405020304" pitchFamily="18" charset="0"/>
              </a:rPr>
              <a:t>齿轮传动的设计参数</a:t>
            </a:r>
            <a:r>
              <a:rPr lang="en-US" altLang="zh-CN" sz="800">
                <a:solidFill>
                  <a:schemeClr val="bg1"/>
                </a:solidFill>
                <a:latin typeface="Times New Roman" panose="02020603050405020304" pitchFamily="18" charset="0"/>
              </a:rPr>
              <a:t>4</a:t>
            </a:r>
            <a:endParaRPr lang="en-US" altLang="zh-CN" sz="800">
              <a:solidFill>
                <a:schemeClr val="bg1"/>
              </a:solidFill>
              <a:latin typeface="Times New Roman" panose="02020603050405020304" pitchFamily="18" charset="0"/>
            </a:endParaRPr>
          </a:p>
        </p:txBody>
      </p:sp>
      <p:sp>
        <p:nvSpPr>
          <p:cNvPr id="62470" name="Text Box 6"/>
          <p:cNvSpPr txBox="1">
            <a:spLocks noChangeArrowheads="1"/>
          </p:cNvSpPr>
          <p:nvPr/>
        </p:nvSpPr>
        <p:spPr bwMode="auto">
          <a:xfrm>
            <a:off x="0" y="706438"/>
            <a:ext cx="43738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a:solidFill>
                  <a:srgbClr val="C00000"/>
                </a:solidFill>
                <a:latin typeface="黑体" panose="02010609060101010101" pitchFamily="49" charset="-122"/>
                <a:ea typeface="黑体" panose="02010609060101010101" pitchFamily="49" charset="-122"/>
              </a:rPr>
              <a:t>九、直齿圆柱齿轮设计的大致过程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62472" name="Text Box 8"/>
          <p:cNvSpPr txBox="1">
            <a:spLocks noChangeArrowheads="1"/>
          </p:cNvSpPr>
          <p:nvPr/>
        </p:nvSpPr>
        <p:spPr bwMode="auto">
          <a:xfrm>
            <a:off x="843239" y="1428544"/>
            <a:ext cx="2749471" cy="70788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dirty="0">
                <a:solidFill>
                  <a:srgbClr val="000099"/>
                </a:solidFill>
              </a:rPr>
              <a:t>选择</a:t>
            </a:r>
            <a:r>
              <a:rPr lang="zh-CN" altLang="en-US" dirty="0" smtClean="0">
                <a:solidFill>
                  <a:srgbClr val="000099"/>
                </a:solidFill>
              </a:rPr>
              <a:t>齿轮的加工精度、</a:t>
            </a:r>
            <a:endParaRPr lang="en-US" altLang="zh-CN" dirty="0" smtClean="0">
              <a:solidFill>
                <a:srgbClr val="000099"/>
              </a:solidFill>
            </a:endParaRPr>
          </a:p>
          <a:p>
            <a:pPr algn="ctr"/>
            <a:r>
              <a:rPr lang="zh-CN" altLang="en-US" dirty="0" smtClean="0">
                <a:solidFill>
                  <a:srgbClr val="000099"/>
                </a:solidFill>
              </a:rPr>
              <a:t>材料</a:t>
            </a:r>
            <a:r>
              <a:rPr lang="zh-CN" altLang="en-US" dirty="0">
                <a:solidFill>
                  <a:srgbClr val="000099"/>
                </a:solidFill>
              </a:rPr>
              <a:t>和热处理</a:t>
            </a:r>
            <a:endParaRPr lang="zh-CN" altLang="en-US" dirty="0">
              <a:solidFill>
                <a:srgbClr val="000099"/>
              </a:solidFill>
            </a:endParaRPr>
          </a:p>
        </p:txBody>
      </p:sp>
      <p:sp>
        <p:nvSpPr>
          <p:cNvPr id="62473" name="Text Box 9"/>
          <p:cNvSpPr txBox="1">
            <a:spLocks noChangeArrowheads="1"/>
          </p:cNvSpPr>
          <p:nvPr/>
        </p:nvSpPr>
        <p:spPr bwMode="auto">
          <a:xfrm>
            <a:off x="685800" y="2513013"/>
            <a:ext cx="2937510" cy="70675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99"/>
                </a:solidFill>
              </a:rPr>
              <a:t>选择齿数，选齿宽系数</a:t>
            </a:r>
            <a:r>
              <a:rPr lang="en-US" altLang="zh-CN" i="1">
                <a:solidFill>
                  <a:srgbClr val="000099"/>
                </a:solidFill>
                <a:latin typeface="Symbol" panose="05050102010706020507" pitchFamily="18" charset="2"/>
              </a:rPr>
              <a:t>f</a:t>
            </a:r>
            <a:r>
              <a:rPr lang="en-US" altLang="zh-CN" baseline="-25000">
                <a:solidFill>
                  <a:srgbClr val="000099"/>
                </a:solidFill>
              </a:rPr>
              <a:t>d</a:t>
            </a:r>
            <a:endParaRPr lang="en-US" altLang="zh-CN" baseline="-25000">
              <a:solidFill>
                <a:srgbClr val="000099"/>
              </a:solidFill>
            </a:endParaRPr>
          </a:p>
          <a:p>
            <a:r>
              <a:rPr lang="zh-CN" altLang="en-US">
                <a:solidFill>
                  <a:srgbClr val="000099"/>
                </a:solidFill>
              </a:rPr>
              <a:t>初选载荷系数</a:t>
            </a:r>
            <a:r>
              <a:rPr lang="en-US" altLang="zh-CN">
                <a:solidFill>
                  <a:srgbClr val="000099"/>
                </a:solidFill>
              </a:rPr>
              <a:t>(</a:t>
            </a:r>
            <a:r>
              <a:rPr lang="zh-CN" altLang="en-US">
                <a:solidFill>
                  <a:srgbClr val="000099"/>
                </a:solidFill>
              </a:rPr>
              <a:t>如</a:t>
            </a:r>
            <a:r>
              <a:rPr lang="en-US" altLang="zh-CN" i="1">
                <a:solidFill>
                  <a:srgbClr val="000099"/>
                </a:solidFill>
              </a:rPr>
              <a:t>K</a:t>
            </a:r>
            <a:r>
              <a:rPr lang="en-US" altLang="zh-CN" baseline="-25000">
                <a:solidFill>
                  <a:srgbClr val="000099"/>
                </a:solidFill>
              </a:rPr>
              <a:t>t</a:t>
            </a:r>
            <a:r>
              <a:rPr lang="en-US" altLang="zh-CN">
                <a:solidFill>
                  <a:srgbClr val="000099"/>
                </a:solidFill>
              </a:rPr>
              <a:t>=1.5)</a:t>
            </a:r>
            <a:endParaRPr lang="en-US" altLang="zh-CN">
              <a:solidFill>
                <a:srgbClr val="000099"/>
              </a:solidFill>
            </a:endParaRPr>
          </a:p>
        </p:txBody>
      </p:sp>
      <p:sp>
        <p:nvSpPr>
          <p:cNvPr id="62474" name="Text Box 10"/>
          <p:cNvSpPr txBox="1">
            <a:spLocks noChangeArrowheads="1"/>
          </p:cNvSpPr>
          <p:nvPr/>
        </p:nvSpPr>
        <p:spPr bwMode="auto">
          <a:xfrm>
            <a:off x="830263" y="3581400"/>
            <a:ext cx="2689225" cy="711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solidFill>
                  <a:srgbClr val="000099"/>
                </a:solidFill>
              </a:rPr>
              <a:t>按接触强度确定直径</a:t>
            </a:r>
            <a:r>
              <a:rPr lang="en-US" altLang="zh-CN" i="1" dirty="0">
                <a:solidFill>
                  <a:srgbClr val="000099"/>
                </a:solidFill>
              </a:rPr>
              <a:t>d</a:t>
            </a:r>
            <a:r>
              <a:rPr lang="en-US" altLang="zh-CN" baseline="-25000" dirty="0">
                <a:solidFill>
                  <a:srgbClr val="000099"/>
                </a:solidFill>
              </a:rPr>
              <a:t>1</a:t>
            </a:r>
            <a:endParaRPr lang="en-US" altLang="zh-CN" baseline="-25000" dirty="0">
              <a:solidFill>
                <a:srgbClr val="000099"/>
              </a:solidFill>
            </a:endParaRPr>
          </a:p>
          <a:p>
            <a:r>
              <a:rPr lang="zh-CN" altLang="en-US" dirty="0">
                <a:solidFill>
                  <a:srgbClr val="000099"/>
                </a:solidFill>
              </a:rPr>
              <a:t>计算得</a:t>
            </a:r>
            <a:r>
              <a:rPr lang="en-US" altLang="zh-CN" i="1" dirty="0" err="1">
                <a:solidFill>
                  <a:srgbClr val="000099"/>
                </a:solidFill>
              </a:rPr>
              <a:t>m</a:t>
            </a:r>
            <a:r>
              <a:rPr lang="en-US" altLang="zh-CN" baseline="-25000" dirty="0" err="1">
                <a:solidFill>
                  <a:srgbClr val="000099"/>
                </a:solidFill>
              </a:rPr>
              <a:t>H</a:t>
            </a:r>
            <a:r>
              <a:rPr lang="en-US" altLang="zh-CN" dirty="0">
                <a:solidFill>
                  <a:srgbClr val="000099"/>
                </a:solidFill>
              </a:rPr>
              <a:t>=</a:t>
            </a:r>
            <a:r>
              <a:rPr lang="en-US" altLang="zh-CN" i="1" dirty="0">
                <a:solidFill>
                  <a:srgbClr val="000099"/>
                </a:solidFill>
              </a:rPr>
              <a:t>d</a:t>
            </a:r>
            <a:r>
              <a:rPr lang="en-US" altLang="zh-CN" baseline="-25000" dirty="0">
                <a:solidFill>
                  <a:srgbClr val="000099"/>
                </a:solidFill>
              </a:rPr>
              <a:t>1</a:t>
            </a:r>
            <a:r>
              <a:rPr lang="en-US" altLang="zh-CN" dirty="0">
                <a:solidFill>
                  <a:srgbClr val="000099"/>
                </a:solidFill>
              </a:rPr>
              <a:t>/</a:t>
            </a:r>
            <a:r>
              <a:rPr lang="en-US" altLang="zh-CN" dirty="0">
                <a:solidFill>
                  <a:srgbClr val="000099"/>
                </a:solidFill>
                <a:ea typeface="黑体" panose="02010609060101010101" pitchFamily="49" charset="-122"/>
              </a:rPr>
              <a:t>z</a:t>
            </a:r>
            <a:r>
              <a:rPr lang="en-US" altLang="zh-CN" baseline="-25000" dirty="0">
                <a:solidFill>
                  <a:srgbClr val="000099"/>
                </a:solidFill>
                <a:latin typeface="黑体" panose="02010609060101010101" pitchFamily="49" charset="-122"/>
                <a:ea typeface="黑体" panose="02010609060101010101" pitchFamily="49" charset="-122"/>
              </a:rPr>
              <a:t>1</a:t>
            </a:r>
            <a:endParaRPr lang="en-US" altLang="zh-CN" baseline="-25000" dirty="0">
              <a:solidFill>
                <a:srgbClr val="000099"/>
              </a:solidFill>
              <a:latin typeface="黑体" panose="02010609060101010101" pitchFamily="49" charset="-122"/>
              <a:ea typeface="黑体" panose="02010609060101010101" pitchFamily="49" charset="-122"/>
            </a:endParaRPr>
          </a:p>
        </p:txBody>
      </p:sp>
      <p:sp>
        <p:nvSpPr>
          <p:cNvPr id="62475" name="Text Box 11"/>
          <p:cNvSpPr txBox="1">
            <a:spLocks noChangeArrowheads="1"/>
          </p:cNvSpPr>
          <p:nvPr/>
        </p:nvSpPr>
        <p:spPr bwMode="auto">
          <a:xfrm>
            <a:off x="785813" y="4645025"/>
            <a:ext cx="2755900" cy="406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solidFill>
                  <a:srgbClr val="000099"/>
                </a:solidFill>
              </a:rPr>
              <a:t>按弯曲强度确定模数</a:t>
            </a:r>
            <a:r>
              <a:rPr lang="en-US" altLang="zh-CN" i="1" dirty="0">
                <a:solidFill>
                  <a:srgbClr val="000099"/>
                </a:solidFill>
              </a:rPr>
              <a:t>m</a:t>
            </a:r>
            <a:r>
              <a:rPr lang="en-US" altLang="zh-CN" baseline="-25000" dirty="0">
                <a:solidFill>
                  <a:srgbClr val="000099"/>
                </a:solidFill>
              </a:rPr>
              <a:t>F</a:t>
            </a:r>
            <a:endParaRPr lang="en-US" altLang="zh-CN" baseline="-25000" dirty="0">
              <a:solidFill>
                <a:srgbClr val="000099"/>
              </a:solidFill>
            </a:endParaRPr>
          </a:p>
        </p:txBody>
      </p:sp>
      <p:sp>
        <p:nvSpPr>
          <p:cNvPr id="62476" name="Text Box 12"/>
          <p:cNvSpPr txBox="1">
            <a:spLocks noChangeArrowheads="1"/>
          </p:cNvSpPr>
          <p:nvPr/>
        </p:nvSpPr>
        <p:spPr bwMode="auto">
          <a:xfrm>
            <a:off x="666750" y="5405438"/>
            <a:ext cx="2970213" cy="406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solidFill>
                  <a:srgbClr val="000099"/>
                </a:solidFill>
              </a:rPr>
              <a:t>确定模数</a:t>
            </a:r>
            <a:r>
              <a:rPr lang="en-US" altLang="zh-CN" i="1" dirty="0" err="1">
                <a:solidFill>
                  <a:srgbClr val="000099"/>
                </a:solidFill>
              </a:rPr>
              <a:t>m</a:t>
            </a:r>
            <a:r>
              <a:rPr lang="en-US" altLang="zh-CN" baseline="-25000" dirty="0" err="1">
                <a:solidFill>
                  <a:srgbClr val="000099"/>
                </a:solidFill>
              </a:rPr>
              <a:t>t</a:t>
            </a:r>
            <a:r>
              <a:rPr lang="en-US" altLang="zh-CN" dirty="0">
                <a:solidFill>
                  <a:srgbClr val="000099"/>
                </a:solidFill>
              </a:rPr>
              <a:t>=max{</a:t>
            </a:r>
            <a:r>
              <a:rPr lang="en-US" altLang="zh-CN" i="1" dirty="0" err="1">
                <a:solidFill>
                  <a:srgbClr val="000099"/>
                </a:solidFill>
              </a:rPr>
              <a:t>m</a:t>
            </a:r>
            <a:r>
              <a:rPr lang="en-US" altLang="zh-CN" baseline="-25000" dirty="0" err="1">
                <a:solidFill>
                  <a:srgbClr val="000099"/>
                </a:solidFill>
              </a:rPr>
              <a:t>H</a:t>
            </a:r>
            <a:r>
              <a:rPr lang="en-US" altLang="zh-CN" dirty="0">
                <a:solidFill>
                  <a:srgbClr val="000099"/>
                </a:solidFill>
              </a:rPr>
              <a:t> ,</a:t>
            </a:r>
            <a:r>
              <a:rPr lang="en-US" altLang="zh-CN" i="1" dirty="0">
                <a:solidFill>
                  <a:srgbClr val="000099"/>
                </a:solidFill>
              </a:rPr>
              <a:t>m</a:t>
            </a:r>
            <a:r>
              <a:rPr lang="en-US" altLang="zh-CN" baseline="-25000" dirty="0">
                <a:solidFill>
                  <a:srgbClr val="000099"/>
                </a:solidFill>
              </a:rPr>
              <a:t>F</a:t>
            </a:r>
            <a:r>
              <a:rPr lang="en-US" altLang="zh-CN" dirty="0">
                <a:solidFill>
                  <a:srgbClr val="000099"/>
                </a:solidFill>
              </a:rPr>
              <a:t>}</a:t>
            </a:r>
            <a:endParaRPr lang="en-US" altLang="zh-CN" dirty="0">
              <a:solidFill>
                <a:srgbClr val="000099"/>
              </a:solidFill>
            </a:endParaRPr>
          </a:p>
        </p:txBody>
      </p:sp>
      <p:sp>
        <p:nvSpPr>
          <p:cNvPr id="62477" name="Text Box 13"/>
          <p:cNvSpPr txBox="1">
            <a:spLocks noChangeArrowheads="1"/>
          </p:cNvSpPr>
          <p:nvPr/>
        </p:nvSpPr>
        <p:spPr bwMode="auto">
          <a:xfrm>
            <a:off x="5075238" y="1757363"/>
            <a:ext cx="3686175" cy="406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99"/>
                </a:solidFill>
              </a:rPr>
              <a:t>计算确定载荷系数</a:t>
            </a:r>
            <a:r>
              <a:rPr lang="en-US" altLang="zh-CN" i="1">
                <a:solidFill>
                  <a:srgbClr val="000099"/>
                </a:solidFill>
              </a:rPr>
              <a:t>K</a:t>
            </a:r>
            <a:r>
              <a:rPr lang="en-US" altLang="zh-CN">
                <a:solidFill>
                  <a:srgbClr val="000099"/>
                </a:solidFill>
              </a:rPr>
              <a:t>= </a:t>
            </a:r>
            <a:r>
              <a:rPr lang="en-US" altLang="zh-CN" i="1">
                <a:solidFill>
                  <a:srgbClr val="000099"/>
                </a:solidFill>
              </a:rPr>
              <a:t>K</a:t>
            </a:r>
            <a:r>
              <a:rPr lang="en-US" altLang="zh-CN" baseline="-25000">
                <a:solidFill>
                  <a:srgbClr val="000099"/>
                </a:solidFill>
              </a:rPr>
              <a:t>A</a:t>
            </a:r>
            <a:r>
              <a:rPr lang="en-US" altLang="zh-CN" i="1">
                <a:solidFill>
                  <a:srgbClr val="000099"/>
                </a:solidFill>
              </a:rPr>
              <a:t>K</a:t>
            </a:r>
            <a:r>
              <a:rPr lang="en-US" altLang="zh-CN" baseline="-25000">
                <a:solidFill>
                  <a:srgbClr val="000099"/>
                </a:solidFill>
              </a:rPr>
              <a:t>v</a:t>
            </a:r>
            <a:r>
              <a:rPr lang="en-US" altLang="zh-CN" i="1">
                <a:solidFill>
                  <a:srgbClr val="000099"/>
                </a:solidFill>
              </a:rPr>
              <a:t>K</a:t>
            </a:r>
            <a:r>
              <a:rPr lang="en-US" altLang="zh-CN" baseline="-25000">
                <a:solidFill>
                  <a:srgbClr val="000099"/>
                </a:solidFill>
              </a:rPr>
              <a:t>α</a:t>
            </a:r>
            <a:r>
              <a:rPr lang="en-US" altLang="zh-CN" i="1">
                <a:solidFill>
                  <a:srgbClr val="000099"/>
                </a:solidFill>
              </a:rPr>
              <a:t>K</a:t>
            </a:r>
            <a:r>
              <a:rPr lang="en-US" altLang="zh-CN" baseline="-25000">
                <a:solidFill>
                  <a:srgbClr val="000099"/>
                </a:solidFill>
              </a:rPr>
              <a:t>β</a:t>
            </a:r>
            <a:endParaRPr lang="en-US" altLang="zh-CN" baseline="-25000">
              <a:solidFill>
                <a:srgbClr val="000099"/>
              </a:solidFill>
            </a:endParaRPr>
          </a:p>
        </p:txBody>
      </p:sp>
      <p:grpSp>
        <p:nvGrpSpPr>
          <p:cNvPr id="62501" name="Group 37"/>
          <p:cNvGrpSpPr/>
          <p:nvPr/>
        </p:nvGrpSpPr>
        <p:grpSpPr bwMode="auto">
          <a:xfrm>
            <a:off x="5232400" y="2530475"/>
            <a:ext cx="3441700" cy="406400"/>
            <a:chOff x="3296" y="1378"/>
            <a:chExt cx="2168" cy="256"/>
          </a:xfrm>
        </p:grpSpPr>
        <p:sp>
          <p:nvSpPr>
            <p:cNvPr id="62478" name="Text Box 14"/>
            <p:cNvSpPr txBox="1">
              <a:spLocks noChangeArrowheads="1"/>
            </p:cNvSpPr>
            <p:nvPr/>
          </p:nvSpPr>
          <p:spPr bwMode="auto">
            <a:xfrm>
              <a:off x="3296" y="1378"/>
              <a:ext cx="2168" cy="25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99"/>
                  </a:solidFill>
                </a:rPr>
                <a:t>修正计算模数</a:t>
              </a:r>
              <a:endParaRPr lang="zh-CN" altLang="en-US">
                <a:solidFill>
                  <a:srgbClr val="000099"/>
                </a:solidFill>
              </a:endParaRPr>
            </a:p>
          </p:txBody>
        </p:sp>
        <p:graphicFrame>
          <p:nvGraphicFramePr>
            <p:cNvPr id="62479" name="Object 15"/>
            <p:cNvGraphicFramePr>
              <a:graphicFrameLocks noChangeAspect="1"/>
            </p:cNvGraphicFramePr>
            <p:nvPr/>
          </p:nvGraphicFramePr>
          <p:xfrm>
            <a:off x="4514" y="1386"/>
            <a:ext cx="828" cy="232"/>
          </p:xfrm>
          <a:graphic>
            <a:graphicData uri="http://schemas.openxmlformats.org/presentationml/2006/ole">
              <mc:AlternateContent xmlns:mc="http://schemas.openxmlformats.org/markup-compatibility/2006">
                <mc:Choice xmlns:v="urn:schemas-microsoft-com:vml" Requires="v">
                  <p:oleObj spid="_x0000_s26682" name="公式" r:id="rId1" imgW="1002665" imgH="279400" progId="Equation.3">
                    <p:embed/>
                  </p:oleObj>
                </mc:Choice>
                <mc:Fallback>
                  <p:oleObj name="公式" r:id="rId1" imgW="1002665" imgH="279400" progId="Equation.3">
                    <p:embed/>
                    <p:pic>
                      <p:nvPicPr>
                        <p:cNvPr id="0" name="图片 26654"/>
                        <p:cNvPicPr>
                          <a:picLocks noChangeAspect="1" noChangeArrowheads="1"/>
                        </p:cNvPicPr>
                        <p:nvPr/>
                      </p:nvPicPr>
                      <p:blipFill>
                        <a:blip r:embed="rId2"/>
                        <a:srcRect/>
                        <a:stretch>
                          <a:fillRect/>
                        </a:stretch>
                      </p:blipFill>
                      <p:spPr bwMode="auto">
                        <a:xfrm>
                          <a:off x="4514" y="1386"/>
                          <a:ext cx="828"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2480" name="Text Box 16"/>
          <p:cNvSpPr txBox="1">
            <a:spLocks noChangeArrowheads="1"/>
          </p:cNvSpPr>
          <p:nvPr/>
        </p:nvSpPr>
        <p:spPr bwMode="auto">
          <a:xfrm>
            <a:off x="5181600" y="3330575"/>
            <a:ext cx="3543300" cy="13208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a:solidFill>
                  <a:srgbClr val="000099"/>
                </a:solidFill>
              </a:rPr>
              <a:t>m</a:t>
            </a:r>
            <a:r>
              <a:rPr lang="zh-CN" altLang="en-US" dirty="0">
                <a:solidFill>
                  <a:srgbClr val="000099"/>
                </a:solidFill>
              </a:rPr>
              <a:t>模数标准化</a:t>
            </a:r>
            <a:endParaRPr lang="zh-CN" altLang="en-US" dirty="0">
              <a:solidFill>
                <a:srgbClr val="000099"/>
              </a:solidFill>
            </a:endParaRPr>
          </a:p>
          <a:p>
            <a:r>
              <a:rPr lang="zh-CN" altLang="en-US" dirty="0">
                <a:solidFill>
                  <a:srgbClr val="000099"/>
                </a:solidFill>
              </a:rPr>
              <a:t>计算主要尺寸：</a:t>
            </a:r>
            <a:r>
              <a:rPr lang="en-US" altLang="zh-CN" i="1" dirty="0">
                <a:solidFill>
                  <a:srgbClr val="000099"/>
                </a:solidFill>
              </a:rPr>
              <a:t>d</a:t>
            </a:r>
            <a:r>
              <a:rPr lang="en-US" altLang="zh-CN" baseline="-25000" dirty="0">
                <a:solidFill>
                  <a:srgbClr val="000099"/>
                </a:solidFill>
              </a:rPr>
              <a:t>1</a:t>
            </a:r>
            <a:r>
              <a:rPr lang="en-US" altLang="zh-CN" dirty="0">
                <a:solidFill>
                  <a:srgbClr val="000099"/>
                </a:solidFill>
              </a:rPr>
              <a:t>=</a:t>
            </a:r>
            <a:r>
              <a:rPr lang="en-US" altLang="zh-CN" i="1" dirty="0">
                <a:solidFill>
                  <a:srgbClr val="000099"/>
                </a:solidFill>
              </a:rPr>
              <a:t>m</a:t>
            </a:r>
            <a:r>
              <a:rPr lang="en-US" altLang="zh-CN" sz="1800" i="1" dirty="0">
                <a:solidFill>
                  <a:srgbClr val="000099"/>
                </a:solidFill>
              </a:rPr>
              <a:t>z</a:t>
            </a:r>
            <a:r>
              <a:rPr lang="en-US" altLang="zh-CN" baseline="-25000" dirty="0">
                <a:solidFill>
                  <a:srgbClr val="000099"/>
                </a:solidFill>
              </a:rPr>
              <a:t>1</a:t>
            </a:r>
            <a:endParaRPr lang="en-US" altLang="zh-CN" dirty="0">
              <a:solidFill>
                <a:srgbClr val="000099"/>
              </a:solidFill>
            </a:endParaRPr>
          </a:p>
          <a:p>
            <a:r>
              <a:rPr lang="en-US" altLang="zh-CN" dirty="0">
                <a:solidFill>
                  <a:srgbClr val="000099"/>
                </a:solidFill>
              </a:rPr>
              <a:t>                             </a:t>
            </a:r>
            <a:r>
              <a:rPr lang="en-US" altLang="zh-CN" i="1" dirty="0">
                <a:solidFill>
                  <a:srgbClr val="000099"/>
                </a:solidFill>
              </a:rPr>
              <a:t>d</a:t>
            </a:r>
            <a:r>
              <a:rPr lang="en-US" altLang="zh-CN" baseline="-25000" dirty="0">
                <a:solidFill>
                  <a:srgbClr val="000099"/>
                </a:solidFill>
              </a:rPr>
              <a:t>2</a:t>
            </a:r>
            <a:r>
              <a:rPr lang="en-US" altLang="zh-CN" dirty="0">
                <a:solidFill>
                  <a:srgbClr val="000099"/>
                </a:solidFill>
              </a:rPr>
              <a:t>=</a:t>
            </a:r>
            <a:r>
              <a:rPr lang="en-US" altLang="zh-CN" i="1" dirty="0">
                <a:solidFill>
                  <a:srgbClr val="000099"/>
                </a:solidFill>
              </a:rPr>
              <a:t>m</a:t>
            </a:r>
            <a:r>
              <a:rPr lang="en-US" altLang="zh-CN" sz="1800" dirty="0">
                <a:solidFill>
                  <a:srgbClr val="000099"/>
                </a:solidFill>
                <a:ea typeface="黑体" panose="02010609060101010101" pitchFamily="49" charset="-122"/>
              </a:rPr>
              <a:t>z</a:t>
            </a:r>
            <a:r>
              <a:rPr lang="en-US" altLang="zh-CN" baseline="-25000" dirty="0">
                <a:solidFill>
                  <a:srgbClr val="000099"/>
                </a:solidFill>
              </a:rPr>
              <a:t>2</a:t>
            </a:r>
            <a:r>
              <a:rPr lang="en-US" altLang="zh-CN" dirty="0">
                <a:solidFill>
                  <a:srgbClr val="000099"/>
                </a:solidFill>
              </a:rPr>
              <a:t> …</a:t>
            </a:r>
            <a:endParaRPr lang="en-US" altLang="zh-CN" dirty="0">
              <a:solidFill>
                <a:srgbClr val="000099"/>
              </a:solidFill>
            </a:endParaRPr>
          </a:p>
          <a:p>
            <a:r>
              <a:rPr lang="zh-CN" altLang="en-US" dirty="0">
                <a:solidFill>
                  <a:srgbClr val="000099"/>
                </a:solidFill>
              </a:rPr>
              <a:t>计 算 齿 宽：      </a:t>
            </a:r>
            <a:r>
              <a:rPr lang="en-US" altLang="zh-CN" i="1" dirty="0">
                <a:solidFill>
                  <a:srgbClr val="000099"/>
                </a:solidFill>
              </a:rPr>
              <a:t>b</a:t>
            </a:r>
            <a:r>
              <a:rPr lang="en-US" altLang="zh-CN" dirty="0">
                <a:solidFill>
                  <a:srgbClr val="000099"/>
                </a:solidFill>
              </a:rPr>
              <a:t>=</a:t>
            </a:r>
            <a:r>
              <a:rPr lang="en-US" altLang="zh-CN" i="1" dirty="0" err="1">
                <a:solidFill>
                  <a:srgbClr val="000099"/>
                </a:solidFill>
                <a:latin typeface="Symbol" panose="05050102010706020507" pitchFamily="18" charset="2"/>
              </a:rPr>
              <a:t>f</a:t>
            </a:r>
            <a:r>
              <a:rPr lang="en-US" altLang="zh-CN" baseline="-25000" dirty="0" err="1">
                <a:solidFill>
                  <a:srgbClr val="000099"/>
                </a:solidFill>
              </a:rPr>
              <a:t>d</a:t>
            </a:r>
            <a:r>
              <a:rPr lang="en-US" altLang="zh-CN" baseline="-25000" dirty="0">
                <a:solidFill>
                  <a:srgbClr val="000099"/>
                </a:solidFill>
              </a:rPr>
              <a:t> </a:t>
            </a:r>
            <a:r>
              <a:rPr lang="en-US" altLang="zh-CN" i="1" dirty="0">
                <a:solidFill>
                  <a:srgbClr val="000099"/>
                </a:solidFill>
              </a:rPr>
              <a:t>d</a:t>
            </a:r>
            <a:r>
              <a:rPr lang="en-US" altLang="zh-CN" baseline="-25000" dirty="0">
                <a:solidFill>
                  <a:srgbClr val="000099"/>
                </a:solidFill>
              </a:rPr>
              <a:t>1</a:t>
            </a:r>
            <a:endParaRPr lang="en-US" altLang="zh-CN" baseline="-25000" dirty="0">
              <a:solidFill>
                <a:srgbClr val="000099"/>
              </a:solidFill>
            </a:endParaRPr>
          </a:p>
        </p:txBody>
      </p:sp>
      <p:sp>
        <p:nvSpPr>
          <p:cNvPr id="62481" name="Text Box 17"/>
          <p:cNvSpPr txBox="1">
            <a:spLocks noChangeArrowheads="1"/>
          </p:cNvSpPr>
          <p:nvPr/>
        </p:nvSpPr>
        <p:spPr bwMode="auto">
          <a:xfrm>
            <a:off x="5305425" y="5100638"/>
            <a:ext cx="3243263" cy="711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solidFill>
                  <a:srgbClr val="000099"/>
                </a:solidFill>
              </a:rPr>
              <a:t>确定齿宽</a:t>
            </a:r>
            <a:r>
              <a:rPr lang="zh-CN" altLang="en-US" dirty="0" smtClean="0">
                <a:solidFill>
                  <a:srgbClr val="000099"/>
                </a:solidFill>
              </a:rPr>
              <a:t>：</a:t>
            </a:r>
            <a:r>
              <a:rPr lang="en-US" altLang="zh-CN" i="1" dirty="0" smtClean="0">
                <a:solidFill>
                  <a:srgbClr val="000099"/>
                </a:solidFill>
              </a:rPr>
              <a:t>b</a:t>
            </a:r>
            <a:r>
              <a:rPr lang="en-US" altLang="zh-CN" baseline="-25000" dirty="0" smtClean="0">
                <a:solidFill>
                  <a:srgbClr val="000099"/>
                </a:solidFill>
              </a:rPr>
              <a:t>2</a:t>
            </a:r>
            <a:r>
              <a:rPr lang="en-US" altLang="zh-CN" dirty="0" smtClean="0">
                <a:solidFill>
                  <a:srgbClr val="000099"/>
                </a:solidFill>
              </a:rPr>
              <a:t>=</a:t>
            </a:r>
            <a:r>
              <a:rPr lang="en-US" altLang="zh-CN" dirty="0" err="1" smtClean="0">
                <a:solidFill>
                  <a:srgbClr val="000099"/>
                </a:solidFill>
              </a:rPr>
              <a:t>int</a:t>
            </a:r>
            <a:r>
              <a:rPr lang="en-US" altLang="zh-CN" dirty="0" smtClean="0">
                <a:solidFill>
                  <a:srgbClr val="000099"/>
                </a:solidFill>
              </a:rPr>
              <a:t>(</a:t>
            </a:r>
            <a:r>
              <a:rPr lang="en-US" altLang="zh-CN" i="1" dirty="0" smtClean="0">
                <a:solidFill>
                  <a:srgbClr val="000099"/>
                </a:solidFill>
              </a:rPr>
              <a:t>b</a:t>
            </a:r>
            <a:r>
              <a:rPr lang="en-US" altLang="zh-CN" dirty="0">
                <a:solidFill>
                  <a:srgbClr val="000099"/>
                </a:solidFill>
              </a:rPr>
              <a:t>)</a:t>
            </a:r>
            <a:endParaRPr lang="en-US" altLang="zh-CN" dirty="0">
              <a:solidFill>
                <a:srgbClr val="000099"/>
              </a:solidFill>
            </a:endParaRPr>
          </a:p>
          <a:p>
            <a:r>
              <a:rPr lang="en-US" altLang="zh-CN" i="1" dirty="0">
                <a:solidFill>
                  <a:srgbClr val="000099"/>
                </a:solidFill>
              </a:rPr>
              <a:t>                    </a:t>
            </a:r>
            <a:r>
              <a:rPr lang="en-US" altLang="zh-CN" i="1" dirty="0" smtClean="0">
                <a:solidFill>
                  <a:srgbClr val="000099"/>
                </a:solidFill>
              </a:rPr>
              <a:t>b</a:t>
            </a:r>
            <a:r>
              <a:rPr lang="en-US" altLang="zh-CN" baseline="-25000" dirty="0" smtClean="0">
                <a:solidFill>
                  <a:srgbClr val="000099"/>
                </a:solidFill>
              </a:rPr>
              <a:t>1</a:t>
            </a:r>
            <a:r>
              <a:rPr lang="en-US" altLang="zh-CN" dirty="0">
                <a:solidFill>
                  <a:srgbClr val="000099"/>
                </a:solidFill>
              </a:rPr>
              <a:t>= </a:t>
            </a:r>
            <a:r>
              <a:rPr lang="en-US" altLang="zh-CN" i="1" dirty="0" smtClean="0">
                <a:solidFill>
                  <a:srgbClr val="000099"/>
                </a:solidFill>
              </a:rPr>
              <a:t>b</a:t>
            </a:r>
            <a:r>
              <a:rPr lang="en-US" altLang="zh-CN" baseline="-25000" dirty="0" smtClean="0">
                <a:solidFill>
                  <a:srgbClr val="000099"/>
                </a:solidFill>
              </a:rPr>
              <a:t>2</a:t>
            </a:r>
            <a:r>
              <a:rPr lang="en-US" altLang="zh-CN" dirty="0">
                <a:solidFill>
                  <a:srgbClr val="000099"/>
                </a:solidFill>
              </a:rPr>
              <a:t>+(3~5)mm</a:t>
            </a:r>
            <a:endParaRPr lang="en-US" altLang="zh-CN" dirty="0">
              <a:solidFill>
                <a:srgbClr val="000099"/>
              </a:solidFill>
            </a:endParaRPr>
          </a:p>
        </p:txBody>
      </p:sp>
      <p:sp>
        <p:nvSpPr>
          <p:cNvPr id="62483" name="Line 19"/>
          <p:cNvSpPr>
            <a:spLocks noChangeShapeType="1"/>
          </p:cNvSpPr>
          <p:nvPr/>
        </p:nvSpPr>
        <p:spPr bwMode="auto">
          <a:xfrm>
            <a:off x="2171700" y="2171700"/>
            <a:ext cx="0" cy="3429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4" name="Line 20"/>
          <p:cNvSpPr>
            <a:spLocks noChangeShapeType="1"/>
          </p:cNvSpPr>
          <p:nvPr/>
        </p:nvSpPr>
        <p:spPr bwMode="auto">
          <a:xfrm>
            <a:off x="2171700" y="3238500"/>
            <a:ext cx="0" cy="331788"/>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5" name="Line 21"/>
          <p:cNvSpPr>
            <a:spLocks noChangeShapeType="1"/>
          </p:cNvSpPr>
          <p:nvPr/>
        </p:nvSpPr>
        <p:spPr bwMode="auto">
          <a:xfrm>
            <a:off x="2171700" y="4305300"/>
            <a:ext cx="0" cy="3429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6" name="Line 22"/>
          <p:cNvSpPr>
            <a:spLocks noChangeShapeType="1"/>
          </p:cNvSpPr>
          <p:nvPr/>
        </p:nvSpPr>
        <p:spPr bwMode="auto">
          <a:xfrm>
            <a:off x="2171700" y="5067300"/>
            <a:ext cx="0" cy="3429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7" name="Line 23"/>
          <p:cNvSpPr>
            <a:spLocks noChangeShapeType="1"/>
          </p:cNvSpPr>
          <p:nvPr/>
        </p:nvSpPr>
        <p:spPr bwMode="auto">
          <a:xfrm>
            <a:off x="2171700" y="5829300"/>
            <a:ext cx="0" cy="3429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8" name="Line 24"/>
          <p:cNvSpPr>
            <a:spLocks noChangeShapeType="1"/>
          </p:cNvSpPr>
          <p:nvPr/>
        </p:nvSpPr>
        <p:spPr bwMode="auto">
          <a:xfrm>
            <a:off x="2184400" y="6159500"/>
            <a:ext cx="22098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9" name="Line 25"/>
          <p:cNvSpPr>
            <a:spLocks noChangeShapeType="1"/>
          </p:cNvSpPr>
          <p:nvPr/>
        </p:nvSpPr>
        <p:spPr bwMode="auto">
          <a:xfrm flipH="1" flipV="1">
            <a:off x="4394200" y="1358900"/>
            <a:ext cx="0" cy="48133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0" name="Line 26"/>
          <p:cNvSpPr>
            <a:spLocks noChangeShapeType="1"/>
          </p:cNvSpPr>
          <p:nvPr/>
        </p:nvSpPr>
        <p:spPr bwMode="auto">
          <a:xfrm flipV="1">
            <a:off x="4378325" y="1371600"/>
            <a:ext cx="2574290" cy="6985"/>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2" name="Line 28"/>
          <p:cNvSpPr>
            <a:spLocks noChangeShapeType="1"/>
          </p:cNvSpPr>
          <p:nvPr/>
        </p:nvSpPr>
        <p:spPr bwMode="auto">
          <a:xfrm>
            <a:off x="6953250" y="2159000"/>
            <a:ext cx="0" cy="3810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3" name="Line 29"/>
          <p:cNvSpPr>
            <a:spLocks noChangeShapeType="1"/>
          </p:cNvSpPr>
          <p:nvPr/>
        </p:nvSpPr>
        <p:spPr bwMode="auto">
          <a:xfrm>
            <a:off x="6953250" y="2946400"/>
            <a:ext cx="0" cy="3810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4" name="Line 30"/>
          <p:cNvSpPr>
            <a:spLocks noChangeShapeType="1"/>
          </p:cNvSpPr>
          <p:nvPr/>
        </p:nvSpPr>
        <p:spPr bwMode="auto">
          <a:xfrm>
            <a:off x="6953250" y="4660900"/>
            <a:ext cx="0" cy="4445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5" name="Line 31"/>
          <p:cNvSpPr>
            <a:spLocks noChangeShapeType="1"/>
          </p:cNvSpPr>
          <p:nvPr/>
        </p:nvSpPr>
        <p:spPr bwMode="auto">
          <a:xfrm>
            <a:off x="6940550" y="1384300"/>
            <a:ext cx="0" cy="3810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pic>
        <p:nvPicPr>
          <p:cNvPr id="62498" name="Picture 34" descr="back">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9350" y="6523038"/>
            <a:ext cx="287338" cy="287337"/>
          </a:xfrm>
          <a:prstGeom prst="rect">
            <a:avLst/>
          </a:prstGeom>
          <a:noFill/>
          <a:extLst>
            <a:ext uri="{909E8E84-426E-40DD-AFC4-6F175D3DCCD1}">
              <a14:hiddenFill xmlns:a14="http://schemas.microsoft.com/office/drawing/2010/main">
                <a:solidFill>
                  <a:srgbClr val="FFFFFF"/>
                </a:solidFill>
              </a14:hiddenFill>
            </a:ext>
          </a:extLst>
        </p:spPr>
      </p:pic>
      <p:pic>
        <p:nvPicPr>
          <p:cNvPr id="62500" name="Picture 36" descr="rewind">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50250" y="6523038"/>
            <a:ext cx="287338" cy="287337"/>
          </a:xfrm>
          <a:prstGeom prst="rect">
            <a:avLst/>
          </a:prstGeom>
          <a:noFill/>
          <a:extLst>
            <a:ext uri="{909E8E84-426E-40DD-AFC4-6F175D3DCCD1}">
              <a14:hiddenFill xmlns:a14="http://schemas.microsoft.com/office/drawing/2010/main">
                <a:solidFill>
                  <a:srgbClr val="FFFFFF"/>
                </a:solidFill>
              </a14:hiddenFill>
            </a:ext>
          </a:extLst>
        </p:spPr>
      </p:pic>
      <p:sp>
        <p:nvSpPr>
          <p:cNvPr id="62502" name="Text Box 38"/>
          <p:cNvSpPr txBox="1">
            <a:spLocks noChangeArrowheads="1"/>
          </p:cNvSpPr>
          <p:nvPr/>
        </p:nvSpPr>
        <p:spPr bwMode="auto">
          <a:xfrm>
            <a:off x="6835775" y="6488113"/>
            <a:ext cx="682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  </a:t>
            </a:r>
            <a:endParaRPr lang="en-US" altLang="zh-CN"/>
          </a:p>
        </p:txBody>
      </p:sp>
      <p:sp>
        <p:nvSpPr>
          <p:cNvPr id="31" name="直接连接符 6"/>
          <p:cNvSpPr>
            <a:spLocks noChangeShapeType="1"/>
          </p:cNvSpPr>
          <p:nvPr/>
        </p:nvSpPr>
        <p:spPr bwMode="auto">
          <a:xfrm>
            <a:off x="0" y="66938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2" name="Text Box 1032"/>
          <p:cNvSpPr txBox="1">
            <a:spLocks noChangeArrowheads="1"/>
          </p:cNvSpPr>
          <p:nvPr/>
        </p:nvSpPr>
        <p:spPr bwMode="auto">
          <a:xfrm>
            <a:off x="1698625" y="200025"/>
            <a:ext cx="744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3.4-6 </a:t>
            </a:r>
            <a:r>
              <a:rPr lang="zh-CN" altLang="en-US" sz="2800" dirty="0">
                <a:solidFill>
                  <a:srgbClr val="CC3300"/>
                </a:solidFill>
                <a:latin typeface="黑体" panose="02010609060101010101" pitchFamily="49" charset="-122"/>
                <a:ea typeface="黑体" panose="02010609060101010101" pitchFamily="49" charset="-122"/>
              </a:rPr>
              <a:t>圆柱齿轮传动的设计参数和许用应力</a:t>
            </a:r>
            <a:endParaRPr lang="zh-CN" altLang="en-US" sz="2800" dirty="0">
              <a:solidFill>
                <a:srgbClr val="CC33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2470"/>
                                        </p:tgtEl>
                                        <p:attrNameLst>
                                          <p:attrName>style.visibility</p:attrName>
                                        </p:attrNameLst>
                                      </p:cBhvr>
                                      <p:to>
                                        <p:strVal val="visible"/>
                                      </p:to>
                                    </p:set>
                                    <p:animEffect transition="in" filter="wipe(left)">
                                      <p:cBhvr>
                                        <p:cTn id="7" dur="500"/>
                                        <p:tgtEl>
                                          <p:spTgt spid="6247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62472"/>
                                        </p:tgtEl>
                                        <p:attrNameLst>
                                          <p:attrName>style.visibility</p:attrName>
                                        </p:attrNameLst>
                                      </p:cBhvr>
                                      <p:to>
                                        <p:strVal val="visible"/>
                                      </p:to>
                                    </p:set>
                                    <p:animEffect transition="in" filter="slide(fromTop)">
                                      <p:cBhvr>
                                        <p:cTn id="12" dur="500"/>
                                        <p:tgtEl>
                                          <p:spTgt spid="624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2483"/>
                                        </p:tgtEl>
                                        <p:attrNameLst>
                                          <p:attrName>style.visibility</p:attrName>
                                        </p:attrNameLst>
                                      </p:cBhvr>
                                      <p:to>
                                        <p:strVal val="visible"/>
                                      </p:to>
                                    </p:set>
                                    <p:animEffect transition="in" filter="wipe(up)">
                                      <p:cBhvr>
                                        <p:cTn id="17" dur="500"/>
                                        <p:tgtEl>
                                          <p:spTgt spid="62483"/>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62473"/>
                                        </p:tgtEl>
                                        <p:attrNameLst>
                                          <p:attrName>style.visibility</p:attrName>
                                        </p:attrNameLst>
                                      </p:cBhvr>
                                      <p:to>
                                        <p:strVal val="visible"/>
                                      </p:to>
                                    </p:set>
                                    <p:animEffect transition="in" filter="wipe(up)">
                                      <p:cBhvr>
                                        <p:cTn id="21" dur="500"/>
                                        <p:tgtEl>
                                          <p:spTgt spid="6247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62484"/>
                                        </p:tgtEl>
                                        <p:attrNameLst>
                                          <p:attrName>style.visibility</p:attrName>
                                        </p:attrNameLst>
                                      </p:cBhvr>
                                      <p:to>
                                        <p:strVal val="visible"/>
                                      </p:to>
                                    </p:set>
                                    <p:animEffect transition="in" filter="wipe(up)">
                                      <p:cBhvr>
                                        <p:cTn id="26" dur="500"/>
                                        <p:tgtEl>
                                          <p:spTgt spid="62484"/>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62474"/>
                                        </p:tgtEl>
                                        <p:attrNameLst>
                                          <p:attrName>style.visibility</p:attrName>
                                        </p:attrNameLst>
                                      </p:cBhvr>
                                      <p:to>
                                        <p:strVal val="visible"/>
                                      </p:to>
                                    </p:set>
                                    <p:animEffect transition="in" filter="wipe(up)">
                                      <p:cBhvr>
                                        <p:cTn id="30" dur="500"/>
                                        <p:tgtEl>
                                          <p:spTgt spid="6247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62485"/>
                                        </p:tgtEl>
                                        <p:attrNameLst>
                                          <p:attrName>style.visibility</p:attrName>
                                        </p:attrNameLst>
                                      </p:cBhvr>
                                      <p:to>
                                        <p:strVal val="visible"/>
                                      </p:to>
                                    </p:set>
                                    <p:animEffect transition="in" filter="wipe(up)">
                                      <p:cBhvr>
                                        <p:cTn id="35" dur="500"/>
                                        <p:tgtEl>
                                          <p:spTgt spid="62485"/>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62475"/>
                                        </p:tgtEl>
                                        <p:attrNameLst>
                                          <p:attrName>style.visibility</p:attrName>
                                        </p:attrNameLst>
                                      </p:cBhvr>
                                      <p:to>
                                        <p:strVal val="visible"/>
                                      </p:to>
                                    </p:set>
                                    <p:animEffect transition="in" filter="wipe(up)">
                                      <p:cBhvr>
                                        <p:cTn id="39" dur="500"/>
                                        <p:tgtEl>
                                          <p:spTgt spid="6247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62486"/>
                                        </p:tgtEl>
                                        <p:attrNameLst>
                                          <p:attrName>style.visibility</p:attrName>
                                        </p:attrNameLst>
                                      </p:cBhvr>
                                      <p:to>
                                        <p:strVal val="visible"/>
                                      </p:to>
                                    </p:set>
                                    <p:animEffect transition="in" filter="wipe(up)">
                                      <p:cBhvr>
                                        <p:cTn id="44" dur="500"/>
                                        <p:tgtEl>
                                          <p:spTgt spid="62486"/>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62476"/>
                                        </p:tgtEl>
                                        <p:attrNameLst>
                                          <p:attrName>style.visibility</p:attrName>
                                        </p:attrNameLst>
                                      </p:cBhvr>
                                      <p:to>
                                        <p:strVal val="visible"/>
                                      </p:to>
                                    </p:set>
                                    <p:animEffect transition="in" filter="wipe(up)">
                                      <p:cBhvr>
                                        <p:cTn id="48" dur="500"/>
                                        <p:tgtEl>
                                          <p:spTgt spid="6247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62487"/>
                                        </p:tgtEl>
                                        <p:attrNameLst>
                                          <p:attrName>style.visibility</p:attrName>
                                        </p:attrNameLst>
                                      </p:cBhvr>
                                      <p:to>
                                        <p:strVal val="visible"/>
                                      </p:to>
                                    </p:set>
                                    <p:animEffect transition="in" filter="wipe(up)">
                                      <p:cBhvr>
                                        <p:cTn id="53" dur="500"/>
                                        <p:tgtEl>
                                          <p:spTgt spid="62487"/>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62488"/>
                                        </p:tgtEl>
                                        <p:attrNameLst>
                                          <p:attrName>style.visibility</p:attrName>
                                        </p:attrNameLst>
                                      </p:cBhvr>
                                      <p:to>
                                        <p:strVal val="visible"/>
                                      </p:to>
                                    </p:set>
                                    <p:animEffect transition="in" filter="wipe(left)">
                                      <p:cBhvr>
                                        <p:cTn id="57" dur="500"/>
                                        <p:tgtEl>
                                          <p:spTgt spid="62488"/>
                                        </p:tgtEl>
                                      </p:cBhvr>
                                    </p:animEffect>
                                  </p:childTnLst>
                                </p:cTn>
                              </p:par>
                            </p:childTnLst>
                          </p:cTn>
                        </p:par>
                        <p:par>
                          <p:cTn id="58" fill="hold">
                            <p:stCondLst>
                              <p:cond delay="1000"/>
                            </p:stCondLst>
                            <p:childTnLst>
                              <p:par>
                                <p:cTn id="59" presetID="22" presetClass="entr" presetSubtype="4" fill="hold" grpId="0" nodeType="afterEffect">
                                  <p:stCondLst>
                                    <p:cond delay="0"/>
                                  </p:stCondLst>
                                  <p:childTnLst>
                                    <p:set>
                                      <p:cBhvr>
                                        <p:cTn id="60" dur="1" fill="hold">
                                          <p:stCondLst>
                                            <p:cond delay="0"/>
                                          </p:stCondLst>
                                        </p:cTn>
                                        <p:tgtEl>
                                          <p:spTgt spid="62489"/>
                                        </p:tgtEl>
                                        <p:attrNameLst>
                                          <p:attrName>style.visibility</p:attrName>
                                        </p:attrNameLst>
                                      </p:cBhvr>
                                      <p:to>
                                        <p:strVal val="visible"/>
                                      </p:to>
                                    </p:set>
                                    <p:animEffect transition="in" filter="wipe(down)">
                                      <p:cBhvr>
                                        <p:cTn id="61" dur="500"/>
                                        <p:tgtEl>
                                          <p:spTgt spid="62489"/>
                                        </p:tgtEl>
                                      </p:cBhvr>
                                    </p:animEffect>
                                  </p:childTnLst>
                                </p:cTn>
                              </p:par>
                            </p:childTnLst>
                          </p:cTn>
                        </p:par>
                        <p:par>
                          <p:cTn id="62" fill="hold">
                            <p:stCondLst>
                              <p:cond delay="1500"/>
                            </p:stCondLst>
                            <p:childTnLst>
                              <p:par>
                                <p:cTn id="63" presetID="22" presetClass="entr" presetSubtype="8" fill="hold" grpId="0" nodeType="afterEffect">
                                  <p:stCondLst>
                                    <p:cond delay="0"/>
                                  </p:stCondLst>
                                  <p:childTnLst>
                                    <p:set>
                                      <p:cBhvr>
                                        <p:cTn id="64" dur="1" fill="hold">
                                          <p:stCondLst>
                                            <p:cond delay="0"/>
                                          </p:stCondLst>
                                        </p:cTn>
                                        <p:tgtEl>
                                          <p:spTgt spid="62490"/>
                                        </p:tgtEl>
                                        <p:attrNameLst>
                                          <p:attrName>style.visibility</p:attrName>
                                        </p:attrNameLst>
                                      </p:cBhvr>
                                      <p:to>
                                        <p:strVal val="visible"/>
                                      </p:to>
                                    </p:set>
                                    <p:animEffect transition="in" filter="wipe(left)">
                                      <p:cBhvr>
                                        <p:cTn id="65" dur="500"/>
                                        <p:tgtEl>
                                          <p:spTgt spid="62490"/>
                                        </p:tgtEl>
                                      </p:cBhvr>
                                    </p:animEffect>
                                  </p:childTnLst>
                                </p:cTn>
                              </p:par>
                            </p:childTnLst>
                          </p:cTn>
                        </p:par>
                        <p:par>
                          <p:cTn id="66" fill="hold">
                            <p:stCondLst>
                              <p:cond delay="2000"/>
                            </p:stCondLst>
                            <p:childTnLst>
                              <p:par>
                                <p:cTn id="67" presetID="22" presetClass="entr" presetSubtype="1" fill="hold" grpId="0" nodeType="afterEffect">
                                  <p:stCondLst>
                                    <p:cond delay="0"/>
                                  </p:stCondLst>
                                  <p:childTnLst>
                                    <p:set>
                                      <p:cBhvr>
                                        <p:cTn id="68" dur="1" fill="hold">
                                          <p:stCondLst>
                                            <p:cond delay="0"/>
                                          </p:stCondLst>
                                        </p:cTn>
                                        <p:tgtEl>
                                          <p:spTgt spid="62495"/>
                                        </p:tgtEl>
                                        <p:attrNameLst>
                                          <p:attrName>style.visibility</p:attrName>
                                        </p:attrNameLst>
                                      </p:cBhvr>
                                      <p:to>
                                        <p:strVal val="visible"/>
                                      </p:to>
                                    </p:set>
                                    <p:animEffect transition="in" filter="wipe(up)">
                                      <p:cBhvr>
                                        <p:cTn id="69" dur="500"/>
                                        <p:tgtEl>
                                          <p:spTgt spid="62495"/>
                                        </p:tgtEl>
                                      </p:cBhvr>
                                    </p:animEffect>
                                  </p:childTnLst>
                                </p:cTn>
                              </p:par>
                            </p:childTnLst>
                          </p:cTn>
                        </p:par>
                        <p:par>
                          <p:cTn id="70" fill="hold">
                            <p:stCondLst>
                              <p:cond delay="2500"/>
                            </p:stCondLst>
                            <p:childTnLst>
                              <p:par>
                                <p:cTn id="71" presetID="22" presetClass="entr" presetSubtype="1" fill="hold" grpId="0" nodeType="afterEffect">
                                  <p:stCondLst>
                                    <p:cond delay="0"/>
                                  </p:stCondLst>
                                  <p:childTnLst>
                                    <p:set>
                                      <p:cBhvr>
                                        <p:cTn id="72" dur="1" fill="hold">
                                          <p:stCondLst>
                                            <p:cond delay="0"/>
                                          </p:stCondLst>
                                        </p:cTn>
                                        <p:tgtEl>
                                          <p:spTgt spid="62477"/>
                                        </p:tgtEl>
                                        <p:attrNameLst>
                                          <p:attrName>style.visibility</p:attrName>
                                        </p:attrNameLst>
                                      </p:cBhvr>
                                      <p:to>
                                        <p:strVal val="visible"/>
                                      </p:to>
                                    </p:set>
                                    <p:animEffect transition="in" filter="wipe(up)">
                                      <p:cBhvr>
                                        <p:cTn id="73" dur="500"/>
                                        <p:tgtEl>
                                          <p:spTgt spid="6247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62492"/>
                                        </p:tgtEl>
                                        <p:attrNameLst>
                                          <p:attrName>style.visibility</p:attrName>
                                        </p:attrNameLst>
                                      </p:cBhvr>
                                      <p:to>
                                        <p:strVal val="visible"/>
                                      </p:to>
                                    </p:set>
                                    <p:animEffect transition="in" filter="wipe(up)">
                                      <p:cBhvr>
                                        <p:cTn id="78" dur="500"/>
                                        <p:tgtEl>
                                          <p:spTgt spid="62492"/>
                                        </p:tgtEl>
                                      </p:cBhvr>
                                    </p:animEffect>
                                  </p:childTnLst>
                                </p:cTn>
                              </p:par>
                            </p:childTnLst>
                          </p:cTn>
                        </p:par>
                        <p:par>
                          <p:cTn id="79" fill="hold">
                            <p:stCondLst>
                              <p:cond delay="500"/>
                            </p:stCondLst>
                            <p:childTnLst>
                              <p:par>
                                <p:cTn id="80" presetID="22" presetClass="entr" presetSubtype="1" fill="hold" nodeType="afterEffect">
                                  <p:stCondLst>
                                    <p:cond delay="0"/>
                                  </p:stCondLst>
                                  <p:childTnLst>
                                    <p:set>
                                      <p:cBhvr>
                                        <p:cTn id="81" dur="1" fill="hold">
                                          <p:stCondLst>
                                            <p:cond delay="0"/>
                                          </p:stCondLst>
                                        </p:cTn>
                                        <p:tgtEl>
                                          <p:spTgt spid="62501"/>
                                        </p:tgtEl>
                                        <p:attrNameLst>
                                          <p:attrName>style.visibility</p:attrName>
                                        </p:attrNameLst>
                                      </p:cBhvr>
                                      <p:to>
                                        <p:strVal val="visible"/>
                                      </p:to>
                                    </p:set>
                                    <p:animEffect transition="in" filter="wipe(up)">
                                      <p:cBhvr>
                                        <p:cTn id="82" dur="500"/>
                                        <p:tgtEl>
                                          <p:spTgt spid="6250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62493"/>
                                        </p:tgtEl>
                                        <p:attrNameLst>
                                          <p:attrName>style.visibility</p:attrName>
                                        </p:attrNameLst>
                                      </p:cBhvr>
                                      <p:to>
                                        <p:strVal val="visible"/>
                                      </p:to>
                                    </p:set>
                                    <p:animEffect transition="in" filter="wipe(up)">
                                      <p:cBhvr>
                                        <p:cTn id="87" dur="500"/>
                                        <p:tgtEl>
                                          <p:spTgt spid="62493"/>
                                        </p:tgtEl>
                                      </p:cBhvr>
                                    </p:animEffect>
                                  </p:childTnLst>
                                </p:cTn>
                              </p:par>
                            </p:childTnLst>
                          </p:cTn>
                        </p:par>
                        <p:par>
                          <p:cTn id="88" fill="hold">
                            <p:stCondLst>
                              <p:cond delay="500"/>
                            </p:stCondLst>
                            <p:childTnLst>
                              <p:par>
                                <p:cTn id="89" presetID="22" presetClass="entr" presetSubtype="1" fill="hold" grpId="0" nodeType="afterEffect">
                                  <p:stCondLst>
                                    <p:cond delay="0"/>
                                  </p:stCondLst>
                                  <p:childTnLst>
                                    <p:set>
                                      <p:cBhvr>
                                        <p:cTn id="90" dur="1" fill="hold">
                                          <p:stCondLst>
                                            <p:cond delay="0"/>
                                          </p:stCondLst>
                                        </p:cTn>
                                        <p:tgtEl>
                                          <p:spTgt spid="62480"/>
                                        </p:tgtEl>
                                        <p:attrNameLst>
                                          <p:attrName>style.visibility</p:attrName>
                                        </p:attrNameLst>
                                      </p:cBhvr>
                                      <p:to>
                                        <p:strVal val="visible"/>
                                      </p:to>
                                    </p:set>
                                    <p:animEffect transition="in" filter="wipe(up)">
                                      <p:cBhvr>
                                        <p:cTn id="91" dur="500"/>
                                        <p:tgtEl>
                                          <p:spTgt spid="62480"/>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62494"/>
                                        </p:tgtEl>
                                        <p:attrNameLst>
                                          <p:attrName>style.visibility</p:attrName>
                                        </p:attrNameLst>
                                      </p:cBhvr>
                                      <p:to>
                                        <p:strVal val="visible"/>
                                      </p:to>
                                    </p:set>
                                    <p:animEffect transition="in" filter="wipe(up)">
                                      <p:cBhvr>
                                        <p:cTn id="96" dur="500"/>
                                        <p:tgtEl>
                                          <p:spTgt spid="62494"/>
                                        </p:tgtEl>
                                      </p:cBhvr>
                                    </p:animEffect>
                                  </p:childTnLst>
                                </p:cTn>
                              </p:par>
                            </p:childTnLst>
                          </p:cTn>
                        </p:par>
                        <p:par>
                          <p:cTn id="97" fill="hold">
                            <p:stCondLst>
                              <p:cond delay="500"/>
                            </p:stCondLst>
                            <p:childTnLst>
                              <p:par>
                                <p:cTn id="98" presetID="22" presetClass="entr" presetSubtype="1" fill="hold" grpId="0" nodeType="afterEffect">
                                  <p:stCondLst>
                                    <p:cond delay="0"/>
                                  </p:stCondLst>
                                  <p:childTnLst>
                                    <p:set>
                                      <p:cBhvr>
                                        <p:cTn id="99" dur="1" fill="hold">
                                          <p:stCondLst>
                                            <p:cond delay="0"/>
                                          </p:stCondLst>
                                        </p:cTn>
                                        <p:tgtEl>
                                          <p:spTgt spid="62481"/>
                                        </p:tgtEl>
                                        <p:attrNameLst>
                                          <p:attrName>style.visibility</p:attrName>
                                        </p:attrNameLst>
                                      </p:cBhvr>
                                      <p:to>
                                        <p:strVal val="visible"/>
                                      </p:to>
                                    </p:set>
                                    <p:animEffect transition="in" filter="wipe(up)">
                                      <p:cBhvr>
                                        <p:cTn id="100" dur="500"/>
                                        <p:tgtEl>
                                          <p:spTgt spid="62481"/>
                                        </p:tgtEl>
                                      </p:cBhvr>
                                    </p:animEffect>
                                  </p:childTnLst>
                                </p:cTn>
                              </p:par>
                            </p:childTnLst>
                          </p:cTn>
                        </p:par>
                        <p:par>
                          <p:cTn id="101" fill="hold">
                            <p:stCondLst>
                              <p:cond delay="1000"/>
                            </p:stCondLst>
                            <p:childTnLst>
                              <p:par>
                                <p:cTn id="102" presetID="1" presetClass="entr" presetSubtype="0" fill="hold" nodeType="afterEffect">
                                  <p:stCondLst>
                                    <p:cond delay="0"/>
                                  </p:stCondLst>
                                  <p:childTnLst>
                                    <p:set>
                                      <p:cBhvr>
                                        <p:cTn id="103" dur="1" fill="hold">
                                          <p:stCondLst>
                                            <p:cond delay="499"/>
                                          </p:stCondLst>
                                        </p:cTn>
                                        <p:tgtEl>
                                          <p:spTgt spid="62498"/>
                                        </p:tgtEl>
                                        <p:attrNameLst>
                                          <p:attrName>style.visibility</p:attrName>
                                        </p:attrNameLst>
                                      </p:cBhvr>
                                      <p:to>
                                        <p:strVal val="visible"/>
                                      </p:to>
                                    </p:set>
                                  </p:childTnLst>
                                </p:cTn>
                              </p:par>
                            </p:childTnLst>
                          </p:cTn>
                        </p:par>
                        <p:par>
                          <p:cTn id="104" fill="hold">
                            <p:stCondLst>
                              <p:cond delay="1500"/>
                            </p:stCondLst>
                            <p:childTnLst>
                              <p:par>
                                <p:cTn id="105" presetID="2" presetClass="entr" presetSubtype="8" fill="hold" nodeType="afterEffect">
                                  <p:stCondLst>
                                    <p:cond delay="0"/>
                                  </p:stCondLst>
                                  <p:childTnLst>
                                    <p:set>
                                      <p:cBhvr>
                                        <p:cTn id="106" dur="1" fill="hold">
                                          <p:stCondLst>
                                            <p:cond delay="0"/>
                                          </p:stCondLst>
                                        </p:cTn>
                                        <p:tgtEl>
                                          <p:spTgt spid="62500"/>
                                        </p:tgtEl>
                                        <p:attrNameLst>
                                          <p:attrName>style.visibility</p:attrName>
                                        </p:attrNameLst>
                                      </p:cBhvr>
                                      <p:to>
                                        <p:strVal val="visible"/>
                                      </p:to>
                                    </p:set>
                                    <p:anim calcmode="lin" valueType="num">
                                      <p:cBhvr additive="base">
                                        <p:cTn id="107" dur="500" fill="hold"/>
                                        <p:tgtEl>
                                          <p:spTgt spid="62500"/>
                                        </p:tgtEl>
                                        <p:attrNameLst>
                                          <p:attrName>ppt_x</p:attrName>
                                        </p:attrNameLst>
                                      </p:cBhvr>
                                      <p:tavLst>
                                        <p:tav tm="0">
                                          <p:val>
                                            <p:strVal val="0-#ppt_w/2"/>
                                          </p:val>
                                        </p:tav>
                                        <p:tav tm="100000">
                                          <p:val>
                                            <p:strVal val="#ppt_x"/>
                                          </p:val>
                                        </p:tav>
                                      </p:tavLst>
                                    </p:anim>
                                    <p:anim calcmode="lin" valueType="num">
                                      <p:cBhvr additive="base">
                                        <p:cTn id="108" dur="500" fill="hold"/>
                                        <p:tgtEl>
                                          <p:spTgt spid="62500"/>
                                        </p:tgtEl>
                                        <p:attrNameLst>
                                          <p:attrName>ppt_y</p:attrName>
                                        </p:attrNameLst>
                                      </p:cBhvr>
                                      <p:tavLst>
                                        <p:tav tm="0">
                                          <p:val>
                                            <p:strVal val="#ppt_y"/>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8" fill="hold" grpId="0" nodeType="clickEffect">
                                  <p:stCondLst>
                                    <p:cond delay="0"/>
                                  </p:stCondLst>
                                  <p:childTnLst>
                                    <p:set>
                                      <p:cBhvr>
                                        <p:cTn id="112" dur="1" fill="hold">
                                          <p:stCondLst>
                                            <p:cond delay="0"/>
                                          </p:stCondLst>
                                        </p:cTn>
                                        <p:tgtEl>
                                          <p:spTgt spid="62502"/>
                                        </p:tgtEl>
                                        <p:attrNameLst>
                                          <p:attrName>style.visibility</p:attrName>
                                        </p:attrNameLst>
                                      </p:cBhvr>
                                      <p:to>
                                        <p:strVal val="visible"/>
                                      </p:to>
                                    </p:set>
                                    <p:anim calcmode="lin" valueType="num">
                                      <p:cBhvr additive="base">
                                        <p:cTn id="113" dur="500" fill="hold"/>
                                        <p:tgtEl>
                                          <p:spTgt spid="62502"/>
                                        </p:tgtEl>
                                        <p:attrNameLst>
                                          <p:attrName>ppt_x</p:attrName>
                                        </p:attrNameLst>
                                      </p:cBhvr>
                                      <p:tavLst>
                                        <p:tav tm="0">
                                          <p:val>
                                            <p:strVal val="0-#ppt_w/2"/>
                                          </p:val>
                                        </p:tav>
                                        <p:tav tm="100000">
                                          <p:val>
                                            <p:strVal val="#ppt_x"/>
                                          </p:val>
                                        </p:tav>
                                      </p:tavLst>
                                    </p:anim>
                                    <p:anim calcmode="lin" valueType="num">
                                      <p:cBhvr additive="base">
                                        <p:cTn id="114" dur="500" fill="hold"/>
                                        <p:tgtEl>
                                          <p:spTgt spid="625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bldLvl="0" animBg="1" autoUpdateAnimBg="0"/>
      <p:bldP spid="62472" grpId="0" animBg="1" autoUpdateAnimBg="0"/>
      <p:bldP spid="62473" grpId="0" bldLvl="0" animBg="1" autoUpdateAnimBg="0"/>
      <p:bldP spid="62474" grpId="0" animBg="1" autoUpdateAnimBg="0"/>
      <p:bldP spid="62475" grpId="0" animBg="1" autoUpdateAnimBg="0"/>
      <p:bldP spid="62476" grpId="0" animBg="1" autoUpdateAnimBg="0"/>
      <p:bldP spid="62477" grpId="0" animBg="1" autoUpdateAnimBg="0"/>
      <p:bldP spid="62480" grpId="0" animBg="1" autoUpdateAnimBg="0"/>
      <p:bldP spid="62481" grpId="0" animBg="1" autoUpdateAnimBg="0"/>
      <p:bldP spid="62483" grpId="0" animBg="1"/>
      <p:bldP spid="62484" grpId="0" animBg="1"/>
      <p:bldP spid="62485" grpId="0" animBg="1"/>
      <p:bldP spid="62486" grpId="0" animBg="1"/>
      <p:bldP spid="62487" grpId="0" animBg="1"/>
      <p:bldP spid="62488" grpId="0" animBg="1"/>
      <p:bldP spid="62489" grpId="0" animBg="1"/>
      <p:bldP spid="62490" grpId="0" bldLvl="0" animBg="1"/>
      <p:bldP spid="62492" grpId="0" animBg="1"/>
      <p:bldP spid="62493" grpId="0" animBg="1"/>
      <p:bldP spid="62494" grpId="0" animBg="1"/>
      <p:bldP spid="62495" grpId="0" animBg="1"/>
      <p:bldP spid="62502"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Rectangle 2"/>
          <p:cNvSpPr>
            <a:spLocks noGrp="1" noChangeArrowheads="1"/>
          </p:cNvSpPr>
          <p:nvPr>
            <p:ph type="title"/>
          </p:nvPr>
        </p:nvSpPr>
        <p:spPr bwMode="auto">
          <a:xfrm>
            <a:off x="6229350" y="782638"/>
            <a:ext cx="908050" cy="1555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ea typeface="黑体" panose="02010609060101010101" pitchFamily="49" charset="-122"/>
              </a:rPr>
              <a:t>齿轮的结构设计</a:t>
            </a:r>
            <a:endParaRPr lang="zh-CN" altLang="en-US" sz="800" smtClean="0">
              <a:solidFill>
                <a:schemeClr val="bg1"/>
              </a:solidFill>
              <a:ea typeface="黑体" panose="02010609060101010101" pitchFamily="49" charset="-122"/>
            </a:endParaRPr>
          </a:p>
        </p:txBody>
      </p:sp>
      <p:sp>
        <p:nvSpPr>
          <p:cNvPr id="13320" name="Text Box 4"/>
          <p:cNvSpPr txBox="1">
            <a:spLocks noChangeArrowheads="1"/>
          </p:cNvSpPr>
          <p:nvPr/>
        </p:nvSpPr>
        <p:spPr bwMode="auto">
          <a:xfrm>
            <a:off x="3062288" y="200025"/>
            <a:ext cx="4935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200" dirty="0" smtClean="0">
                <a:solidFill>
                  <a:srgbClr val="CC3300"/>
                </a:solidFill>
                <a:latin typeface="黑体" panose="02010609060101010101" pitchFamily="49" charset="-122"/>
                <a:ea typeface="黑体" panose="02010609060101010101" pitchFamily="49" charset="-122"/>
              </a:rPr>
              <a:t>3.4-5 </a:t>
            </a:r>
            <a:r>
              <a:rPr lang="zh-CN" altLang="en-US" sz="3000" dirty="0">
                <a:solidFill>
                  <a:srgbClr val="CC3300"/>
                </a:solidFill>
                <a:latin typeface="黑体" panose="02010609060101010101" pitchFamily="49" charset="-122"/>
                <a:ea typeface="黑体" panose="02010609060101010101" pitchFamily="49" charset="-122"/>
              </a:rPr>
              <a:t>齿轮的结构设计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3494" name="Text Box 6"/>
          <p:cNvSpPr txBox="1">
            <a:spLocks noChangeArrowheads="1"/>
          </p:cNvSpPr>
          <p:nvPr/>
        </p:nvSpPr>
        <p:spPr bwMode="auto">
          <a:xfrm>
            <a:off x="139700" y="706438"/>
            <a:ext cx="8794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buClr>
                <a:srgbClr val="FF3300"/>
              </a:buClr>
              <a:buSzPct val="80000"/>
              <a:buFont typeface="Wingdings" panose="05000000000000000000" pitchFamily="2" charset="2"/>
              <a:buChar char="q"/>
            </a:pPr>
            <a:r>
              <a:rPr lang="en-US" altLang="zh-CN">
                <a:solidFill>
                  <a:srgbClr val="000099"/>
                </a:solidFill>
                <a:latin typeface="华文中宋" panose="02010600040101010101" pitchFamily="2" charset="-122"/>
              </a:rPr>
              <a:t> </a:t>
            </a:r>
            <a:r>
              <a:rPr lang="zh-CN" altLang="en-US">
                <a:solidFill>
                  <a:srgbClr val="002060"/>
                </a:solidFill>
                <a:latin typeface="华文中宋" panose="02010600040101010101" pitchFamily="2" charset="-122"/>
              </a:rPr>
              <a:t>通过强度计算确定出了齿轮的齿数</a:t>
            </a:r>
            <a:r>
              <a:rPr lang="en-US" altLang="zh-CN">
                <a:solidFill>
                  <a:srgbClr val="002060"/>
                </a:solidFill>
                <a:latin typeface="黑体" panose="02010609060101010101" pitchFamily="49" charset="-122"/>
                <a:ea typeface="黑体" panose="02010609060101010101" pitchFamily="49" charset="-122"/>
              </a:rPr>
              <a:t>z</a:t>
            </a:r>
            <a:r>
              <a:rPr lang="zh-CN" altLang="en-US">
                <a:solidFill>
                  <a:srgbClr val="002060"/>
                </a:solidFill>
                <a:latin typeface="华文中宋" panose="02010600040101010101" pitchFamily="2" charset="-122"/>
              </a:rPr>
              <a:t>、模数</a:t>
            </a:r>
            <a:r>
              <a:rPr lang="en-US" altLang="zh-CN" i="1">
                <a:solidFill>
                  <a:srgbClr val="002060"/>
                </a:solidFill>
              </a:rPr>
              <a:t>m</a:t>
            </a:r>
            <a:r>
              <a:rPr lang="zh-CN" altLang="en-US">
                <a:solidFill>
                  <a:srgbClr val="002060"/>
                </a:solidFill>
                <a:latin typeface="华文中宋" panose="02010600040101010101" pitchFamily="2" charset="-122"/>
              </a:rPr>
              <a:t>、齿宽</a:t>
            </a:r>
            <a:r>
              <a:rPr lang="en-US" altLang="zh-CN" i="1">
                <a:solidFill>
                  <a:srgbClr val="002060"/>
                </a:solidFill>
              </a:rPr>
              <a:t>B</a:t>
            </a:r>
            <a:r>
              <a:rPr lang="zh-CN" altLang="en-US">
                <a:solidFill>
                  <a:srgbClr val="002060"/>
                </a:solidFill>
                <a:latin typeface="华文中宋" panose="02010600040101010101" pitchFamily="2" charset="-122"/>
              </a:rPr>
              <a:t>、螺旋角</a:t>
            </a:r>
            <a:r>
              <a:rPr lang="en-US" altLang="zh-CN">
                <a:solidFill>
                  <a:srgbClr val="002060"/>
                </a:solidFill>
                <a:latin typeface="Symbol" panose="05050102010706020507" pitchFamily="18" charset="2"/>
              </a:rPr>
              <a:t>b</a:t>
            </a:r>
            <a:r>
              <a:rPr lang="zh-CN" altLang="en-US">
                <a:solidFill>
                  <a:srgbClr val="002060"/>
                </a:solidFill>
                <a:latin typeface="华文中宋" panose="02010600040101010101" pitchFamily="2" charset="-122"/>
              </a:rPr>
              <a:t>、分度圆直　径</a:t>
            </a:r>
            <a:r>
              <a:rPr lang="en-US" altLang="zh-CN" i="1">
                <a:solidFill>
                  <a:srgbClr val="002060"/>
                </a:solidFill>
                <a:latin typeface="华文中宋" panose="02010600040101010101" pitchFamily="2" charset="-122"/>
              </a:rPr>
              <a:t>d </a:t>
            </a:r>
            <a:r>
              <a:rPr lang="zh-CN" altLang="en-US">
                <a:solidFill>
                  <a:srgbClr val="002060"/>
                </a:solidFill>
                <a:latin typeface="华文中宋" panose="02010600040101010101" pitchFamily="2" charset="-122"/>
              </a:rPr>
              <a:t>等主要尺寸。</a:t>
            </a:r>
            <a:endParaRPr lang="zh-CN" altLang="en-US">
              <a:solidFill>
                <a:srgbClr val="002060"/>
              </a:solidFill>
              <a:latin typeface="华文中宋" panose="02010600040101010101" pitchFamily="2" charset="-122"/>
            </a:endParaRPr>
          </a:p>
        </p:txBody>
      </p:sp>
      <p:sp>
        <p:nvSpPr>
          <p:cNvPr id="63497" name="Text Box 9"/>
          <p:cNvSpPr txBox="1">
            <a:spLocks noChangeArrowheads="1"/>
          </p:cNvSpPr>
          <p:nvPr/>
        </p:nvSpPr>
        <p:spPr bwMode="auto">
          <a:xfrm>
            <a:off x="139700" y="1854200"/>
            <a:ext cx="872648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buClr>
                <a:srgbClr val="FF33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dirty="0">
                <a:solidFill>
                  <a:srgbClr val="002060"/>
                </a:solidFill>
                <a:latin typeface="华文中宋" panose="02010600040101010101" pitchFamily="2" charset="-122"/>
              </a:rPr>
              <a:t>在综合考虑齿轮几何尺寸，毛坯，材料，加工方法，使用要求及经济性等　各方面因素的基础上，按齿轮的直径大小，选定合适的结构形式，再根据　推荐的经验数据进行结构尺寸计算。 </a:t>
            </a:r>
            <a:endParaRPr lang="zh-CN" altLang="en-US" dirty="0">
              <a:solidFill>
                <a:srgbClr val="002060"/>
              </a:solidFill>
              <a:latin typeface="华文中宋" panose="02010600040101010101" pitchFamily="2" charset="-122"/>
            </a:endParaRPr>
          </a:p>
        </p:txBody>
      </p:sp>
      <p:sp>
        <p:nvSpPr>
          <p:cNvPr id="63499" name="Text Box 11"/>
          <p:cNvSpPr txBox="1">
            <a:spLocks noChangeArrowheads="1"/>
          </p:cNvSpPr>
          <p:nvPr/>
        </p:nvSpPr>
        <p:spPr bwMode="auto">
          <a:xfrm>
            <a:off x="139700" y="2954338"/>
            <a:ext cx="871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buClr>
                <a:srgbClr val="FF33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dirty="0">
                <a:solidFill>
                  <a:srgbClr val="002060"/>
                </a:solidFill>
                <a:latin typeface="华文中宋" panose="02010600040101010101" pitchFamily="2" charset="-122"/>
              </a:rPr>
              <a:t>常见的结构形式有</a:t>
            </a:r>
            <a:endParaRPr lang="zh-CN" altLang="en-US" dirty="0">
              <a:solidFill>
                <a:srgbClr val="002060"/>
              </a:solidFill>
              <a:latin typeface="华文中宋" panose="02010600040101010101" pitchFamily="2" charset="-122"/>
            </a:endParaRPr>
          </a:p>
        </p:txBody>
      </p:sp>
      <p:pic>
        <p:nvPicPr>
          <p:cNvPr id="63503" name="Picture 15"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1537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4" name="Text Box 16"/>
          <p:cNvSpPr txBox="1">
            <a:spLocks noChangeArrowheads="1"/>
          </p:cNvSpPr>
          <p:nvPr/>
        </p:nvSpPr>
        <p:spPr bwMode="auto">
          <a:xfrm>
            <a:off x="139700" y="1485900"/>
            <a:ext cx="8401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buClr>
                <a:srgbClr val="FF3300"/>
              </a:buClr>
              <a:buSzPct val="80000"/>
              <a:buFont typeface="Wingdings" panose="05000000000000000000" pitchFamily="2" charset="2"/>
              <a:buChar char="q"/>
            </a:pPr>
            <a:r>
              <a:rPr lang="en-US" altLang="zh-CN" dirty="0">
                <a:solidFill>
                  <a:srgbClr val="000099"/>
                </a:solidFill>
                <a:latin typeface="华文中宋" panose="02010600040101010101" pitchFamily="2" charset="-122"/>
              </a:rPr>
              <a:t> </a:t>
            </a:r>
            <a:r>
              <a:rPr lang="zh-CN" altLang="en-US" dirty="0">
                <a:solidFill>
                  <a:srgbClr val="002060"/>
                </a:solidFill>
                <a:latin typeface="华文中宋" panose="02010600040101010101" pitchFamily="2" charset="-122"/>
              </a:rPr>
              <a:t>齿轮的结构设计主要是确定轮缘，轮辐，轮毂等结构形式及尺寸大小。</a:t>
            </a:r>
            <a:r>
              <a:rPr lang="zh-CN" altLang="en-US" dirty="0">
                <a:solidFill>
                  <a:srgbClr val="000099"/>
                </a:solidFill>
                <a:latin typeface="华文中宋" panose="02010600040101010101" pitchFamily="2" charset="-122"/>
              </a:rPr>
              <a:t> </a:t>
            </a:r>
            <a:endParaRPr lang="zh-CN" altLang="en-US" dirty="0">
              <a:solidFill>
                <a:srgbClr val="000099"/>
              </a:solidFill>
              <a:latin typeface="华文中宋" panose="02010600040101010101" pitchFamily="2" charset="-122"/>
            </a:endParaRPr>
          </a:p>
        </p:txBody>
      </p:sp>
      <p:grpSp>
        <p:nvGrpSpPr>
          <p:cNvPr id="2" name="Group 37"/>
          <p:cNvGrpSpPr/>
          <p:nvPr/>
        </p:nvGrpSpPr>
        <p:grpSpPr bwMode="auto">
          <a:xfrm>
            <a:off x="6715125" y="3109913"/>
            <a:ext cx="2389188" cy="2557462"/>
            <a:chOff x="4230" y="2085"/>
            <a:chExt cx="1505" cy="1611"/>
          </a:xfrm>
        </p:grpSpPr>
        <p:graphicFrame>
          <p:nvGraphicFramePr>
            <p:cNvPr id="13318" name="Object 21"/>
            <p:cNvGraphicFramePr>
              <a:graphicFrameLocks noChangeAspect="1"/>
            </p:cNvGraphicFramePr>
            <p:nvPr/>
          </p:nvGraphicFramePr>
          <p:xfrm>
            <a:off x="4230" y="2085"/>
            <a:ext cx="1505" cy="1360"/>
          </p:xfrm>
          <a:graphic>
            <a:graphicData uri="http://schemas.openxmlformats.org/presentationml/2006/ole">
              <mc:AlternateContent xmlns:mc="http://schemas.openxmlformats.org/markup-compatibility/2006">
                <mc:Choice xmlns:v="urn:schemas-microsoft-com:vml" Requires="v">
                  <p:oleObj spid="_x0000_s13820" name="Flash Movie" r:id="rId2" imgW="3039745" imgH="2747645" progId="Flash.Movie">
                    <p:embed/>
                  </p:oleObj>
                </mc:Choice>
                <mc:Fallback>
                  <p:oleObj name="Flash Movie" r:id="rId2" imgW="3039745" imgH="2747645" progId="Flash.Movie">
                    <p:embed/>
                    <p:pic>
                      <p:nvPicPr>
                        <p:cNvPr id="0"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0" y="2085"/>
                          <a:ext cx="1505" cy="1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37" name="Text Box 31"/>
            <p:cNvSpPr txBox="1">
              <a:spLocks noChangeArrowheads="1"/>
            </p:cNvSpPr>
            <p:nvPr/>
          </p:nvSpPr>
          <p:spPr bwMode="auto">
            <a:xfrm>
              <a:off x="4564" y="3465"/>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800">
                  <a:solidFill>
                    <a:srgbClr val="FF0000"/>
                  </a:solidFill>
                  <a:latin typeface="华文中宋" panose="02010600040101010101" pitchFamily="2" charset="-122"/>
                </a:rPr>
                <a:t>轮辐式结构</a:t>
              </a:r>
              <a:endParaRPr lang="zh-CN" altLang="en-US" sz="1800">
                <a:solidFill>
                  <a:srgbClr val="FF0000"/>
                </a:solidFill>
                <a:latin typeface="华文中宋" panose="02010600040101010101" pitchFamily="2" charset="-122"/>
              </a:endParaRPr>
            </a:p>
          </p:txBody>
        </p:sp>
      </p:grpSp>
      <p:grpSp>
        <p:nvGrpSpPr>
          <p:cNvPr id="3" name="Group 35"/>
          <p:cNvGrpSpPr/>
          <p:nvPr/>
        </p:nvGrpSpPr>
        <p:grpSpPr bwMode="auto">
          <a:xfrm>
            <a:off x="239713" y="3722688"/>
            <a:ext cx="3759200" cy="1573212"/>
            <a:chOff x="151" y="2412"/>
            <a:chExt cx="2368" cy="991"/>
          </a:xfrm>
        </p:grpSpPr>
        <p:graphicFrame>
          <p:nvGraphicFramePr>
            <p:cNvPr id="13316" name="Object 19"/>
            <p:cNvGraphicFramePr>
              <a:graphicFrameLocks noChangeAspect="1"/>
            </p:cNvGraphicFramePr>
            <p:nvPr/>
          </p:nvGraphicFramePr>
          <p:xfrm>
            <a:off x="413" y="2412"/>
            <a:ext cx="396" cy="706"/>
          </p:xfrm>
          <a:graphic>
            <a:graphicData uri="http://schemas.openxmlformats.org/presentationml/2006/ole">
              <mc:AlternateContent xmlns:mc="http://schemas.openxmlformats.org/markup-compatibility/2006">
                <mc:Choice xmlns:v="urn:schemas-microsoft-com:vml" Requires="v">
                  <p:oleObj spid="_x0000_s13821" name="Flash Movie" r:id="rId4" imgW="1110615" imgH="1978025" progId="Flash.Movie">
                    <p:embed/>
                  </p:oleObj>
                </mc:Choice>
                <mc:Fallback>
                  <p:oleObj name="Flash Movie" r:id="rId4" imgW="1110615" imgH="1978025" progId="Flash.Movie">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 y="2412"/>
                          <a:ext cx="396" cy="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35" name="Text Box 27"/>
            <p:cNvSpPr txBox="1">
              <a:spLocks noChangeArrowheads="1"/>
            </p:cNvSpPr>
            <p:nvPr/>
          </p:nvSpPr>
          <p:spPr bwMode="auto">
            <a:xfrm>
              <a:off x="151" y="3172"/>
              <a:ext cx="9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800">
                  <a:solidFill>
                    <a:srgbClr val="FF0000"/>
                  </a:solidFill>
                  <a:latin typeface="华文中宋" panose="02010600040101010101" pitchFamily="2" charset="-122"/>
                </a:rPr>
                <a:t>实心式齿轮</a:t>
              </a:r>
              <a:endParaRPr lang="zh-CN" altLang="en-US" sz="1800">
                <a:solidFill>
                  <a:srgbClr val="FF0000"/>
                </a:solidFill>
                <a:latin typeface="华文中宋" panose="02010600040101010101" pitchFamily="2" charset="-122"/>
              </a:endParaRPr>
            </a:p>
          </p:txBody>
        </p:sp>
        <p:sp>
          <p:nvSpPr>
            <p:cNvPr id="13336" name="Text Box 29"/>
            <p:cNvSpPr txBox="1">
              <a:spLocks noChangeArrowheads="1"/>
            </p:cNvSpPr>
            <p:nvPr/>
          </p:nvSpPr>
          <p:spPr bwMode="auto">
            <a:xfrm>
              <a:off x="1387" y="3171"/>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800">
                  <a:solidFill>
                    <a:srgbClr val="FF0000"/>
                  </a:solidFill>
                  <a:latin typeface="华文中宋" panose="02010600040101010101" pitchFamily="2" charset="-122"/>
                </a:rPr>
                <a:t>齿轮轴</a:t>
              </a:r>
              <a:endParaRPr lang="zh-CN" altLang="en-US" sz="1800">
                <a:solidFill>
                  <a:srgbClr val="FF0000"/>
                </a:solidFill>
                <a:latin typeface="华文中宋" panose="02010600040101010101" pitchFamily="2" charset="-122"/>
              </a:endParaRPr>
            </a:p>
          </p:txBody>
        </p:sp>
        <p:graphicFrame>
          <p:nvGraphicFramePr>
            <p:cNvPr id="13317" name="Object 33"/>
            <p:cNvGraphicFramePr>
              <a:graphicFrameLocks noChangeAspect="1"/>
            </p:cNvGraphicFramePr>
            <p:nvPr/>
          </p:nvGraphicFramePr>
          <p:xfrm>
            <a:off x="857" y="2531"/>
            <a:ext cx="1662" cy="468"/>
          </p:xfrm>
          <a:graphic>
            <a:graphicData uri="http://schemas.openxmlformats.org/presentationml/2006/ole">
              <mc:AlternateContent xmlns:mc="http://schemas.openxmlformats.org/markup-compatibility/2006">
                <mc:Choice xmlns:v="urn:schemas-microsoft-com:vml" Requires="v">
                  <p:oleObj spid="_x0000_s13822" name="Flash Movie" r:id="rId6" imgW="3436620" imgH="967740" progId="Flash.Movie">
                    <p:embed/>
                  </p:oleObj>
                </mc:Choice>
                <mc:Fallback>
                  <p:oleObj name="Flash Movie" r:id="rId6" imgW="3436620" imgH="967740" progId="Flash.Movie">
                    <p:embed/>
                    <p:pic>
                      <p:nvPicPr>
                        <p:cNvPr id="0"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7" y="2531"/>
                          <a:ext cx="1662" cy="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3526" name="Text Box 38"/>
          <p:cNvSpPr txBox="1">
            <a:spLocks noChangeArrowheads="1"/>
          </p:cNvSpPr>
          <p:nvPr/>
        </p:nvSpPr>
        <p:spPr bwMode="auto">
          <a:xfrm>
            <a:off x="3944938" y="5749925"/>
            <a:ext cx="221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chemeClr val="folHlink"/>
                </a:solidFill>
                <a:hlinkClick r:id="rId8" action="ppaction://hlinksldjump"/>
              </a:rPr>
              <a:t>中型尺寸齿轮结构</a:t>
            </a:r>
            <a:endParaRPr lang="zh-CN" altLang="en-US">
              <a:solidFill>
                <a:schemeClr val="folHlink"/>
              </a:solidFill>
            </a:endParaRPr>
          </a:p>
        </p:txBody>
      </p:sp>
      <p:sp>
        <p:nvSpPr>
          <p:cNvPr id="63527" name="Text Box 39"/>
          <p:cNvSpPr txBox="1">
            <a:spLocks noChangeArrowheads="1"/>
          </p:cNvSpPr>
          <p:nvPr/>
        </p:nvSpPr>
        <p:spPr bwMode="auto">
          <a:xfrm>
            <a:off x="1076325" y="5751513"/>
            <a:ext cx="196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chemeClr val="folHlink"/>
                </a:solidFill>
                <a:hlinkClick r:id="rId9" action="ppaction://hlinksldjump"/>
              </a:rPr>
              <a:t>小尺寸齿轮结构</a:t>
            </a:r>
            <a:endParaRPr lang="zh-CN" altLang="en-US">
              <a:solidFill>
                <a:schemeClr val="folHlink"/>
              </a:solidFill>
            </a:endParaRPr>
          </a:p>
        </p:txBody>
      </p:sp>
      <p:sp>
        <p:nvSpPr>
          <p:cNvPr id="63528" name="Text Box 40"/>
          <p:cNvSpPr txBox="1">
            <a:spLocks noChangeArrowheads="1"/>
          </p:cNvSpPr>
          <p:nvPr/>
        </p:nvSpPr>
        <p:spPr bwMode="auto">
          <a:xfrm>
            <a:off x="6929438" y="5751513"/>
            <a:ext cx="196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chemeClr val="folHlink"/>
                </a:solidFill>
                <a:hlinkClick r:id="rId10" action="ppaction://hlinksldjump"/>
              </a:rPr>
              <a:t>大尺寸齿轮结构</a:t>
            </a:r>
            <a:endParaRPr lang="zh-CN" altLang="en-US">
              <a:solidFill>
                <a:schemeClr val="folHlink"/>
              </a:solidFill>
            </a:endParaRPr>
          </a:p>
        </p:txBody>
      </p:sp>
      <p:sp>
        <p:nvSpPr>
          <p:cNvPr id="63529" name="Text Box 41"/>
          <p:cNvSpPr txBox="1">
            <a:spLocks noChangeArrowheads="1"/>
          </p:cNvSpPr>
          <p:nvPr/>
        </p:nvSpPr>
        <p:spPr bwMode="auto">
          <a:xfrm>
            <a:off x="6743700" y="6240463"/>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grpSp>
        <p:nvGrpSpPr>
          <p:cNvPr id="4" name="Group 47"/>
          <p:cNvGrpSpPr/>
          <p:nvPr/>
        </p:nvGrpSpPr>
        <p:grpSpPr bwMode="auto">
          <a:xfrm>
            <a:off x="4433888" y="3178175"/>
            <a:ext cx="1519237" cy="2489200"/>
            <a:chOff x="2793" y="2002"/>
            <a:chExt cx="957" cy="1568"/>
          </a:xfrm>
        </p:grpSpPr>
        <p:graphicFrame>
          <p:nvGraphicFramePr>
            <p:cNvPr id="13314" name="Object 23"/>
            <p:cNvGraphicFramePr>
              <a:graphicFrameLocks noChangeAspect="1"/>
            </p:cNvGraphicFramePr>
            <p:nvPr/>
          </p:nvGraphicFramePr>
          <p:xfrm>
            <a:off x="3281" y="2002"/>
            <a:ext cx="469" cy="1354"/>
          </p:xfrm>
          <a:graphic>
            <a:graphicData uri="http://schemas.openxmlformats.org/presentationml/2006/ole">
              <mc:AlternateContent xmlns:mc="http://schemas.openxmlformats.org/markup-compatibility/2006">
                <mc:Choice xmlns:v="urn:schemas-microsoft-com:vml" Requires="v">
                  <p:oleObj spid="_x0000_s13823" name="Flash Movie" r:id="rId11" imgW="766445" imgH="2215515" progId="Flash.Movie">
                    <p:embed/>
                  </p:oleObj>
                </mc:Choice>
                <mc:Fallback>
                  <p:oleObj name="Flash Movie" r:id="rId11" imgW="766445" imgH="2215515" progId="Flash.Movie">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1" y="2002"/>
                          <a:ext cx="469" cy="1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34" name="Text Box 30"/>
            <p:cNvSpPr txBox="1">
              <a:spLocks noChangeArrowheads="1"/>
            </p:cNvSpPr>
            <p:nvPr/>
          </p:nvSpPr>
          <p:spPr bwMode="auto">
            <a:xfrm>
              <a:off x="2828" y="3339"/>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800" dirty="0">
                  <a:solidFill>
                    <a:srgbClr val="FF0000"/>
                  </a:solidFill>
                  <a:latin typeface="华文中宋" panose="02010600040101010101" pitchFamily="2" charset="-122"/>
                </a:rPr>
                <a:t>腹板式结构</a:t>
              </a:r>
              <a:endParaRPr lang="zh-CN" altLang="en-US" sz="1800" dirty="0">
                <a:solidFill>
                  <a:srgbClr val="FF0000"/>
                </a:solidFill>
                <a:latin typeface="华文中宋" panose="02010600040101010101" pitchFamily="2" charset="-122"/>
              </a:endParaRPr>
            </a:p>
          </p:txBody>
        </p:sp>
        <p:graphicFrame>
          <p:nvGraphicFramePr>
            <p:cNvPr id="13315" name="Object 45"/>
            <p:cNvGraphicFramePr>
              <a:graphicFrameLocks noChangeAspect="1"/>
            </p:cNvGraphicFramePr>
            <p:nvPr/>
          </p:nvGraphicFramePr>
          <p:xfrm>
            <a:off x="2793" y="2106"/>
            <a:ext cx="465" cy="1136"/>
          </p:xfrm>
          <a:graphic>
            <a:graphicData uri="http://schemas.openxmlformats.org/presentationml/2006/ole">
              <mc:AlternateContent xmlns:mc="http://schemas.openxmlformats.org/markup-compatibility/2006">
                <mc:Choice xmlns:v="urn:schemas-microsoft-com:vml" Requires="v">
                  <p:oleObj spid="_x0000_s13824" name="Flash Movie" r:id="rId13" imgW="1256030" imgH="3073400" progId="Flash.Movie">
                    <p:embed/>
                  </p:oleObj>
                </mc:Choice>
                <mc:Fallback>
                  <p:oleObj name="Flash Movie" r:id="rId13" imgW="1256030" imgH="3073400" progId="Flash.Movie">
                    <p:embed/>
                    <p:pic>
                      <p:nvPicPr>
                        <p:cNvPr id="0" name="Object 4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93" y="2106"/>
                          <a:ext cx="465" cy="1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33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94"/>
                                        </p:tgtEl>
                                        <p:attrNameLst>
                                          <p:attrName>style.visibility</p:attrName>
                                        </p:attrNameLst>
                                      </p:cBhvr>
                                      <p:to>
                                        <p:strVal val="visible"/>
                                      </p:to>
                                    </p:set>
                                    <p:animEffect transition="in" filter="wipe(left)">
                                      <p:cBhvr>
                                        <p:cTn id="7" dur="500"/>
                                        <p:tgtEl>
                                          <p:spTgt spid="634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504"/>
                                        </p:tgtEl>
                                        <p:attrNameLst>
                                          <p:attrName>style.visibility</p:attrName>
                                        </p:attrNameLst>
                                      </p:cBhvr>
                                      <p:to>
                                        <p:strVal val="visible"/>
                                      </p:to>
                                    </p:set>
                                    <p:animEffect transition="in" filter="wipe(left)">
                                      <p:cBhvr>
                                        <p:cTn id="12" dur="500"/>
                                        <p:tgtEl>
                                          <p:spTgt spid="635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3497"/>
                                        </p:tgtEl>
                                        <p:attrNameLst>
                                          <p:attrName>style.visibility</p:attrName>
                                        </p:attrNameLst>
                                      </p:cBhvr>
                                      <p:to>
                                        <p:strVal val="visible"/>
                                      </p:to>
                                    </p:set>
                                    <p:animEffect transition="in" filter="wipe(up)">
                                      <p:cBhvr>
                                        <p:cTn id="17" dur="500"/>
                                        <p:tgtEl>
                                          <p:spTgt spid="634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3499"/>
                                        </p:tgtEl>
                                        <p:attrNameLst>
                                          <p:attrName>style.visibility</p:attrName>
                                        </p:attrNameLst>
                                      </p:cBhvr>
                                      <p:to>
                                        <p:strVal val="visible"/>
                                      </p:to>
                                    </p:set>
                                    <p:animEffect transition="in" filter="wipe(up)">
                                      <p:cBhvr>
                                        <p:cTn id="22" dur="500"/>
                                        <p:tgtEl>
                                          <p:spTgt spid="63499"/>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63527"/>
                                        </p:tgtEl>
                                        <p:attrNameLst>
                                          <p:attrName>style.visibility</p:attrName>
                                        </p:attrNameLst>
                                      </p:cBhvr>
                                      <p:to>
                                        <p:strVal val="visible"/>
                                      </p:to>
                                    </p:set>
                                    <p:animEffect transition="in" filter="wipe(left)">
                                      <p:cBhvr>
                                        <p:cTn id="30" dur="500"/>
                                        <p:tgtEl>
                                          <p:spTgt spid="635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500"/>
                                        <p:tgtEl>
                                          <p:spTgt spid="4"/>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63526"/>
                                        </p:tgtEl>
                                        <p:attrNameLst>
                                          <p:attrName>style.visibility</p:attrName>
                                        </p:attrNameLst>
                                      </p:cBhvr>
                                      <p:to>
                                        <p:strVal val="visible"/>
                                      </p:to>
                                    </p:set>
                                    <p:animEffect transition="in" filter="wipe(left)">
                                      <p:cBhvr>
                                        <p:cTn id="39" dur="500"/>
                                        <p:tgtEl>
                                          <p:spTgt spid="6352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ipe(up)">
                                      <p:cBhvr>
                                        <p:cTn id="44" dur="500"/>
                                        <p:tgtEl>
                                          <p:spTgt spid="2"/>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63528"/>
                                        </p:tgtEl>
                                        <p:attrNameLst>
                                          <p:attrName>style.visibility</p:attrName>
                                        </p:attrNameLst>
                                      </p:cBhvr>
                                      <p:to>
                                        <p:strVal val="visible"/>
                                      </p:to>
                                    </p:set>
                                    <p:animEffect transition="in" filter="wipe(left)">
                                      <p:cBhvr>
                                        <p:cTn id="48" dur="500"/>
                                        <p:tgtEl>
                                          <p:spTgt spid="63528"/>
                                        </p:tgtEl>
                                      </p:cBhvr>
                                    </p:animEffect>
                                  </p:childTnLst>
                                </p:cTn>
                              </p:par>
                            </p:childTnLst>
                          </p:cTn>
                        </p:par>
                        <p:par>
                          <p:cTn id="49" fill="hold">
                            <p:stCondLst>
                              <p:cond delay="1000"/>
                            </p:stCondLst>
                            <p:childTnLst>
                              <p:par>
                                <p:cTn id="50" presetID="2" presetClass="entr" presetSubtype="8" fill="hold" nodeType="afterEffect">
                                  <p:stCondLst>
                                    <p:cond delay="0"/>
                                  </p:stCondLst>
                                  <p:childTnLst>
                                    <p:set>
                                      <p:cBhvr>
                                        <p:cTn id="51" dur="1" fill="hold">
                                          <p:stCondLst>
                                            <p:cond delay="0"/>
                                          </p:stCondLst>
                                        </p:cTn>
                                        <p:tgtEl>
                                          <p:spTgt spid="63503"/>
                                        </p:tgtEl>
                                        <p:attrNameLst>
                                          <p:attrName>style.visibility</p:attrName>
                                        </p:attrNameLst>
                                      </p:cBhvr>
                                      <p:to>
                                        <p:strVal val="visible"/>
                                      </p:to>
                                    </p:set>
                                    <p:anim calcmode="lin" valueType="num">
                                      <p:cBhvr additive="base">
                                        <p:cTn id="52" dur="500" fill="hold"/>
                                        <p:tgtEl>
                                          <p:spTgt spid="63503"/>
                                        </p:tgtEl>
                                        <p:attrNameLst>
                                          <p:attrName>ppt_x</p:attrName>
                                        </p:attrNameLst>
                                      </p:cBhvr>
                                      <p:tavLst>
                                        <p:tav tm="0">
                                          <p:val>
                                            <p:strVal val="0-#ppt_w/2"/>
                                          </p:val>
                                        </p:tav>
                                        <p:tav tm="100000">
                                          <p:val>
                                            <p:strVal val="#ppt_x"/>
                                          </p:val>
                                        </p:tav>
                                      </p:tavLst>
                                    </p:anim>
                                    <p:anim calcmode="lin" valueType="num">
                                      <p:cBhvr additive="base">
                                        <p:cTn id="53" dur="500" fill="hold"/>
                                        <p:tgtEl>
                                          <p:spTgt spid="6350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63529"/>
                                        </p:tgtEl>
                                        <p:attrNameLst>
                                          <p:attrName>style.visibility</p:attrName>
                                        </p:attrNameLst>
                                      </p:cBhvr>
                                      <p:to>
                                        <p:strVal val="visible"/>
                                      </p:to>
                                    </p:set>
                                    <p:anim calcmode="lin" valueType="num">
                                      <p:cBhvr additive="base">
                                        <p:cTn id="58" dur="500" fill="hold"/>
                                        <p:tgtEl>
                                          <p:spTgt spid="63529"/>
                                        </p:tgtEl>
                                        <p:attrNameLst>
                                          <p:attrName>ppt_x</p:attrName>
                                        </p:attrNameLst>
                                      </p:cBhvr>
                                      <p:tavLst>
                                        <p:tav tm="0">
                                          <p:val>
                                            <p:strVal val="0-#ppt_w/2"/>
                                          </p:val>
                                        </p:tav>
                                        <p:tav tm="100000">
                                          <p:val>
                                            <p:strVal val="#ppt_x"/>
                                          </p:val>
                                        </p:tav>
                                      </p:tavLst>
                                    </p:anim>
                                    <p:anim calcmode="lin" valueType="num">
                                      <p:cBhvr additive="base">
                                        <p:cTn id="59" dur="500" fill="hold"/>
                                        <p:tgtEl>
                                          <p:spTgt spid="635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autoUpdateAnimBg="0"/>
      <p:bldP spid="63497" grpId="0" autoUpdateAnimBg="0"/>
      <p:bldP spid="63499" grpId="0" autoUpdateAnimBg="0"/>
      <p:bldP spid="63504" grpId="0" autoUpdateAnimBg="0"/>
      <p:bldP spid="63526" grpId="0" autoUpdateAnimBg="0"/>
      <p:bldP spid="63527" grpId="0" autoUpdateAnimBg="0"/>
      <p:bldP spid="63528" grpId="0" autoUpdateAnimBg="0"/>
      <p:bldP spid="63529"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8357" name="图片 228356" descr="齿轮轴"/>
          <p:cNvPicPr>
            <a:picLocks noChangeAspect="1"/>
          </p:cNvPicPr>
          <p:nvPr/>
        </p:nvPicPr>
        <p:blipFill>
          <a:blip r:embed="rId1"/>
          <a:stretch>
            <a:fillRect/>
          </a:stretch>
        </p:blipFill>
        <p:spPr>
          <a:xfrm>
            <a:off x="646043" y="966995"/>
            <a:ext cx="2209800" cy="1358900"/>
          </a:xfrm>
          <a:prstGeom prst="rect">
            <a:avLst/>
          </a:prstGeom>
          <a:noFill/>
          <a:ln w="9525">
            <a:noFill/>
          </a:ln>
        </p:spPr>
      </p:pic>
      <p:pic>
        <p:nvPicPr>
          <p:cNvPr id="228358" name="图片 228357" descr="辐条式直齿齿轮"/>
          <p:cNvPicPr>
            <a:picLocks noChangeAspect="1"/>
          </p:cNvPicPr>
          <p:nvPr/>
        </p:nvPicPr>
        <p:blipFill>
          <a:blip r:embed="rId2"/>
          <a:stretch>
            <a:fillRect/>
          </a:stretch>
        </p:blipFill>
        <p:spPr>
          <a:xfrm>
            <a:off x="573916" y="2734159"/>
            <a:ext cx="1884362" cy="1841500"/>
          </a:xfrm>
          <a:prstGeom prst="rect">
            <a:avLst/>
          </a:prstGeom>
          <a:noFill/>
          <a:ln w="9525">
            <a:noFill/>
          </a:ln>
        </p:spPr>
      </p:pic>
      <p:pic>
        <p:nvPicPr>
          <p:cNvPr id="228359" name="图片 228358" descr="孔板式圆柱齿轮"/>
          <p:cNvPicPr>
            <a:picLocks noChangeAspect="1"/>
          </p:cNvPicPr>
          <p:nvPr/>
        </p:nvPicPr>
        <p:blipFill>
          <a:blip r:embed="rId3"/>
          <a:stretch>
            <a:fillRect/>
          </a:stretch>
        </p:blipFill>
        <p:spPr>
          <a:xfrm>
            <a:off x="3519212" y="2849839"/>
            <a:ext cx="1884362" cy="1878012"/>
          </a:xfrm>
          <a:prstGeom prst="rect">
            <a:avLst/>
          </a:prstGeom>
          <a:noFill/>
          <a:ln w="9525">
            <a:noFill/>
          </a:ln>
        </p:spPr>
      </p:pic>
      <p:pic>
        <p:nvPicPr>
          <p:cNvPr id="228360" name="图片 228359" descr="锥齿轮轴"/>
          <p:cNvPicPr>
            <a:picLocks noChangeAspect="1"/>
          </p:cNvPicPr>
          <p:nvPr/>
        </p:nvPicPr>
        <p:blipFill>
          <a:blip r:embed="rId4"/>
          <a:stretch>
            <a:fillRect/>
          </a:stretch>
        </p:blipFill>
        <p:spPr>
          <a:xfrm>
            <a:off x="3544956" y="1007165"/>
            <a:ext cx="2209800" cy="1293813"/>
          </a:xfrm>
          <a:prstGeom prst="rect">
            <a:avLst/>
          </a:prstGeom>
          <a:noFill/>
          <a:ln w="9525">
            <a:noFill/>
          </a:ln>
        </p:spPr>
      </p:pic>
      <p:pic>
        <p:nvPicPr>
          <p:cNvPr id="228361" name="图片 228360" descr="内齿圈"/>
          <p:cNvPicPr>
            <a:picLocks noChangeAspect="1"/>
          </p:cNvPicPr>
          <p:nvPr/>
        </p:nvPicPr>
        <p:blipFill>
          <a:blip r:embed="rId5"/>
          <a:stretch>
            <a:fillRect/>
          </a:stretch>
        </p:blipFill>
        <p:spPr>
          <a:xfrm>
            <a:off x="6284568" y="2841487"/>
            <a:ext cx="1806575" cy="1884363"/>
          </a:xfrm>
          <a:prstGeom prst="rect">
            <a:avLst/>
          </a:prstGeom>
          <a:noFill/>
          <a:ln w="9525">
            <a:noFill/>
          </a:ln>
        </p:spPr>
      </p:pic>
      <p:pic>
        <p:nvPicPr>
          <p:cNvPr id="228362" name="图片 228361" descr="人字齿轮1"/>
          <p:cNvPicPr>
            <a:picLocks noChangeAspect="1"/>
          </p:cNvPicPr>
          <p:nvPr/>
        </p:nvPicPr>
        <p:blipFill>
          <a:blip r:embed="rId6"/>
          <a:stretch>
            <a:fillRect/>
          </a:stretch>
        </p:blipFill>
        <p:spPr>
          <a:xfrm>
            <a:off x="609186" y="4831384"/>
            <a:ext cx="1819275" cy="1603375"/>
          </a:xfrm>
          <a:prstGeom prst="rect">
            <a:avLst/>
          </a:prstGeom>
          <a:noFill/>
          <a:ln w="9525">
            <a:noFill/>
          </a:ln>
        </p:spPr>
      </p:pic>
      <p:pic>
        <p:nvPicPr>
          <p:cNvPr id="228363" name="图片 228362" descr="人字齿轮2"/>
          <p:cNvPicPr>
            <a:picLocks noChangeAspect="1"/>
          </p:cNvPicPr>
          <p:nvPr/>
        </p:nvPicPr>
        <p:blipFill>
          <a:blip r:embed="rId7"/>
          <a:stretch>
            <a:fillRect/>
          </a:stretch>
        </p:blipFill>
        <p:spPr>
          <a:xfrm>
            <a:off x="3416714" y="4997864"/>
            <a:ext cx="2079625" cy="1497013"/>
          </a:xfrm>
          <a:prstGeom prst="rect">
            <a:avLst/>
          </a:prstGeom>
          <a:noFill/>
          <a:ln w="9525">
            <a:noFill/>
          </a:ln>
        </p:spPr>
      </p:pic>
      <p:pic>
        <p:nvPicPr>
          <p:cNvPr id="228364" name="图片 228363" descr="圆锥齿轮"/>
          <p:cNvPicPr>
            <a:picLocks noChangeAspect="1"/>
          </p:cNvPicPr>
          <p:nvPr/>
        </p:nvPicPr>
        <p:blipFill>
          <a:blip r:embed="rId8"/>
          <a:stretch>
            <a:fillRect/>
          </a:stretch>
        </p:blipFill>
        <p:spPr>
          <a:xfrm>
            <a:off x="6347033" y="1105866"/>
            <a:ext cx="2090737" cy="1385888"/>
          </a:xfrm>
          <a:prstGeom prst="rect">
            <a:avLst/>
          </a:prstGeom>
          <a:noFill/>
          <a:ln w="9525">
            <a:noFill/>
          </a:ln>
        </p:spPr>
      </p:pic>
      <p:pic>
        <p:nvPicPr>
          <p:cNvPr id="228365" name="图片 228364" descr="直齿圆柱齿轮1"/>
          <p:cNvPicPr>
            <a:picLocks noChangeAspect="1"/>
          </p:cNvPicPr>
          <p:nvPr/>
        </p:nvPicPr>
        <p:blipFill>
          <a:blip r:embed="rId9"/>
          <a:stretch>
            <a:fillRect/>
          </a:stretch>
        </p:blipFill>
        <p:spPr>
          <a:xfrm>
            <a:off x="6212716" y="4994689"/>
            <a:ext cx="1884362" cy="1482725"/>
          </a:xfrm>
          <a:prstGeom prst="rect">
            <a:avLst/>
          </a:prstGeom>
          <a:noFill/>
          <a:ln w="9525">
            <a:noFill/>
          </a:ln>
        </p:spPr>
      </p:pic>
      <p:sp>
        <p:nvSpPr>
          <p:cNvPr id="12" name="Text Box 4"/>
          <p:cNvSpPr txBox="1">
            <a:spLocks noChangeArrowheads="1"/>
          </p:cNvSpPr>
          <p:nvPr/>
        </p:nvSpPr>
        <p:spPr bwMode="auto">
          <a:xfrm>
            <a:off x="3062288" y="200025"/>
            <a:ext cx="4935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3200" dirty="0" smtClean="0">
                <a:solidFill>
                  <a:srgbClr val="CC3300"/>
                </a:solidFill>
                <a:latin typeface="黑体" panose="02010609060101010101" pitchFamily="49" charset="-122"/>
                <a:ea typeface="黑体" panose="02010609060101010101" pitchFamily="49" charset="-122"/>
              </a:rPr>
              <a:t>3.4-5 </a:t>
            </a:r>
            <a:r>
              <a:rPr lang="zh-CN" altLang="en-US" sz="3000" dirty="0">
                <a:solidFill>
                  <a:srgbClr val="CC3300"/>
                </a:solidFill>
                <a:latin typeface="黑体" panose="02010609060101010101" pitchFamily="49" charset="-122"/>
                <a:ea typeface="黑体" panose="02010609060101010101" pitchFamily="49" charset="-122"/>
              </a:rPr>
              <a:t>齿轮的结构设计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AutoShape 2">
            <a:hlinkClick r:id="" action="ppaction://hlinkshowjump?jump=previousslide" highlightClick="1"/>
          </p:cNvPr>
          <p:cNvSpPr>
            <a:spLocks noChangeArrowheads="1"/>
          </p:cNvSpPr>
          <p:nvPr/>
        </p:nvSpPr>
        <p:spPr bwMode="auto">
          <a:xfrm>
            <a:off x="8001000" y="6400800"/>
            <a:ext cx="457200" cy="381000"/>
          </a:xfrm>
          <a:prstGeom prst="actionButtonBackPrevious">
            <a:avLst/>
          </a:prstGeom>
          <a:gradFill rotWithShape="0">
            <a:gsLst>
              <a:gs pos="0">
                <a:srgbClr val="FFFF99">
                  <a:gamma/>
                  <a:shade val="46275"/>
                  <a:invGamma/>
                </a:srgbClr>
              </a:gs>
              <a:gs pos="50000">
                <a:srgbClr val="FFFF99"/>
              </a:gs>
              <a:gs pos="100000">
                <a:srgbClr val="FFFF99">
                  <a:gamma/>
                  <a:shade val="46275"/>
                  <a:invGamma/>
                </a:srgbClr>
              </a:gs>
            </a:gsLst>
            <a:lin ang="18900000" scaled="1"/>
          </a:gradFill>
          <a:ln>
            <a:noFill/>
          </a:ln>
          <a:effectLst>
            <a:prstShdw prst="shdw17" dist="17961" dir="2700000">
              <a:srgbClr val="FF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spAutoFit/>
          </a:bodyPr>
          <a:lstStyle/>
          <a:p>
            <a:endParaRPr lang="zh-CN" altLang="en-US"/>
          </a:p>
        </p:txBody>
      </p:sp>
      <p:sp>
        <p:nvSpPr>
          <p:cNvPr id="358403" name="AutoShape 3">
            <a:hlinkClick r:id="" action="ppaction://hlinkshowjump?jump=nextslide" highlightClick="1"/>
          </p:cNvPr>
          <p:cNvSpPr>
            <a:spLocks noChangeArrowheads="1"/>
          </p:cNvSpPr>
          <p:nvPr/>
        </p:nvSpPr>
        <p:spPr bwMode="auto">
          <a:xfrm flipH="1">
            <a:off x="8610600" y="6400800"/>
            <a:ext cx="381000" cy="381000"/>
          </a:xfrm>
          <a:prstGeom prst="actionButtonBackPrevious">
            <a:avLst/>
          </a:prstGeom>
          <a:gradFill rotWithShape="0">
            <a:gsLst>
              <a:gs pos="0">
                <a:srgbClr val="FFFF99">
                  <a:gamma/>
                  <a:shade val="46275"/>
                  <a:invGamma/>
                </a:srgbClr>
              </a:gs>
              <a:gs pos="50000">
                <a:srgbClr val="FFFF99"/>
              </a:gs>
              <a:gs pos="100000">
                <a:srgbClr val="FFFF99">
                  <a:gamma/>
                  <a:shade val="46275"/>
                  <a:invGamma/>
                </a:srgbClr>
              </a:gs>
            </a:gsLst>
            <a:lin ang="18900000" scaled="1"/>
          </a:gradFill>
          <a:ln>
            <a:noFill/>
          </a:ln>
          <a:effectLst>
            <a:prstShdw prst="shdw17" dist="17961" dir="2700000">
              <a:srgbClr val="FF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spAutoFit/>
          </a:bodyPr>
          <a:lstStyle/>
          <a:p>
            <a:endParaRPr lang="zh-CN" altLang="en-US"/>
          </a:p>
        </p:txBody>
      </p:sp>
      <p:sp>
        <p:nvSpPr>
          <p:cNvPr id="358405" name="Rectangle 5"/>
          <p:cNvSpPr>
            <a:spLocks noChangeArrowheads="1"/>
          </p:cNvSpPr>
          <p:nvPr/>
        </p:nvSpPr>
        <p:spPr bwMode="auto">
          <a:xfrm>
            <a:off x="0" y="404664"/>
            <a:ext cx="117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dirty="0">
                <a:solidFill>
                  <a:srgbClr val="003399"/>
                </a:solidFill>
              </a:rPr>
              <a:t> </a:t>
            </a:r>
            <a:r>
              <a:rPr lang="zh-CN" altLang="en-US" dirty="0">
                <a:solidFill>
                  <a:srgbClr val="FF3300"/>
                </a:solidFill>
              </a:rPr>
              <a:t>例题：</a:t>
            </a:r>
            <a:endParaRPr lang="zh-CN" altLang="en-US" dirty="0">
              <a:solidFill>
                <a:srgbClr val="FF3300"/>
              </a:solidFill>
            </a:endParaRPr>
          </a:p>
        </p:txBody>
      </p:sp>
      <p:sp>
        <p:nvSpPr>
          <p:cNvPr id="358406" name="Rectangle 6"/>
          <p:cNvSpPr>
            <a:spLocks noChangeArrowheads="1"/>
          </p:cNvSpPr>
          <p:nvPr/>
        </p:nvSpPr>
        <p:spPr bwMode="auto">
          <a:xfrm>
            <a:off x="1043608" y="332656"/>
            <a:ext cx="784887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b="0" dirty="0">
                <a:latin typeface="黑体" panose="02010609060101010101" pitchFamily="49" charset="-122"/>
              </a:rPr>
              <a:t>两级圆柱齿轮减速器由电机驱动。输入功率 </a:t>
            </a:r>
            <a:r>
              <a:rPr lang="en-US" altLang="zh-CN" b="0" i="1" dirty="0">
                <a:latin typeface="黑体" panose="02010609060101010101" pitchFamily="49" charset="-122"/>
              </a:rPr>
              <a:t>P</a:t>
            </a:r>
            <a:r>
              <a:rPr lang="zh-CN" altLang="en-US" b="0" dirty="0" smtClean="0">
                <a:latin typeface="黑体" panose="02010609060101010101" pitchFamily="49" charset="-122"/>
              </a:rPr>
              <a:t>＝</a:t>
            </a:r>
            <a:r>
              <a:rPr lang="en-US" altLang="zh-CN" b="0" dirty="0" smtClean="0">
                <a:latin typeface="黑体" panose="02010609060101010101" pitchFamily="49" charset="-122"/>
              </a:rPr>
              <a:t>17kW</a:t>
            </a:r>
            <a:r>
              <a:rPr lang="zh-CN" altLang="en-US" b="0" dirty="0">
                <a:latin typeface="黑体" panose="02010609060101010101" pitchFamily="49" charset="-122"/>
              </a:rPr>
              <a:t>，输入转速 </a:t>
            </a:r>
            <a:r>
              <a:rPr lang="en-US" altLang="zh-CN" b="0" i="1" dirty="0">
                <a:latin typeface="黑体" panose="02010609060101010101" pitchFamily="49" charset="-122"/>
              </a:rPr>
              <a:t>n</a:t>
            </a:r>
            <a:r>
              <a:rPr lang="en-US" altLang="zh-CN" b="0" baseline="-16000" dirty="0">
                <a:latin typeface="黑体" panose="02010609060101010101" pitchFamily="49" charset="-122"/>
              </a:rPr>
              <a:t>1</a:t>
            </a:r>
            <a:r>
              <a:rPr lang="zh-CN" altLang="en-US" b="0" dirty="0">
                <a:latin typeface="黑体" panose="02010609060101010101" pitchFamily="49" charset="-122"/>
              </a:rPr>
              <a:t>＝</a:t>
            </a:r>
            <a:r>
              <a:rPr lang="en-US" altLang="zh-CN" b="0" dirty="0">
                <a:latin typeface="黑体" panose="02010609060101010101" pitchFamily="49" charset="-122"/>
              </a:rPr>
              <a:t>1000r/min</a:t>
            </a:r>
            <a:r>
              <a:rPr lang="zh-CN" altLang="en-US" b="0" dirty="0">
                <a:latin typeface="黑体" panose="02010609060101010101" pitchFamily="49" charset="-122"/>
              </a:rPr>
              <a:t>，高速级传动比 </a:t>
            </a:r>
            <a:r>
              <a:rPr lang="en-US" altLang="zh-CN" b="0" i="1" dirty="0" err="1">
                <a:latin typeface="黑体" panose="02010609060101010101" pitchFamily="49" charset="-122"/>
              </a:rPr>
              <a:t>i</a:t>
            </a:r>
            <a:r>
              <a:rPr lang="en-US" altLang="zh-CN" b="0" dirty="0">
                <a:latin typeface="黑体" panose="02010609060101010101" pitchFamily="49" charset="-122"/>
              </a:rPr>
              <a:t> </a:t>
            </a:r>
            <a:r>
              <a:rPr lang="zh-CN" altLang="en-US" b="0" dirty="0">
                <a:latin typeface="黑体" panose="02010609060101010101" pitchFamily="49" charset="-122"/>
              </a:rPr>
              <a:t>＝</a:t>
            </a:r>
            <a:r>
              <a:rPr lang="en-US" altLang="zh-CN" b="0" dirty="0">
                <a:latin typeface="黑体" panose="02010609060101010101" pitchFamily="49" charset="-122"/>
              </a:rPr>
              <a:t>4.6</a:t>
            </a:r>
            <a:r>
              <a:rPr lang="zh-CN" altLang="en-US" b="0" dirty="0">
                <a:latin typeface="黑体" panose="02010609060101010101" pitchFamily="49" charset="-122"/>
              </a:rPr>
              <a:t>，单向运转、载荷有轻微冲击、预期寿命 </a:t>
            </a:r>
            <a:r>
              <a:rPr lang="en-US" altLang="zh-CN" b="0" dirty="0">
                <a:latin typeface="黑体" panose="02010609060101010101" pitchFamily="49" charset="-122"/>
              </a:rPr>
              <a:t>10 </a:t>
            </a:r>
            <a:r>
              <a:rPr lang="zh-CN" altLang="en-US" b="0" dirty="0">
                <a:latin typeface="黑体" panose="02010609060101010101" pitchFamily="49" charset="-122"/>
              </a:rPr>
              <a:t>年、每天工作 </a:t>
            </a:r>
            <a:r>
              <a:rPr lang="en-US" altLang="zh-CN" b="0" dirty="0">
                <a:latin typeface="黑体" panose="02010609060101010101" pitchFamily="49" charset="-122"/>
              </a:rPr>
              <a:t>8h</a:t>
            </a:r>
            <a:r>
              <a:rPr lang="zh-CN" altLang="en-US" b="0" dirty="0">
                <a:latin typeface="黑体" panose="02010609060101010101" pitchFamily="49" charset="-122"/>
              </a:rPr>
              <a:t>。试设计高速级齿轮传动。</a:t>
            </a:r>
            <a:endParaRPr lang="zh-CN" altLang="en-US" b="0" dirty="0">
              <a:latin typeface="黑体" panose="02010609060101010101" pitchFamily="49" charset="-122"/>
            </a:endParaRPr>
          </a:p>
        </p:txBody>
      </p:sp>
      <p:pic>
        <p:nvPicPr>
          <p:cNvPr id="358407" name="Picture 7" descr="3-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95963" y="2205038"/>
            <a:ext cx="2667000" cy="1473200"/>
          </a:xfrm>
          <a:prstGeom prst="rect">
            <a:avLst/>
          </a:prstGeom>
          <a:noFill/>
          <a:ln w="38100">
            <a:solidFill>
              <a:srgbClr val="FFCC00"/>
            </a:solidFill>
            <a:miter lim="800000"/>
            <a:headEnd/>
            <a:tailEnd/>
          </a:ln>
          <a:extLst>
            <a:ext uri="{909E8E84-426E-40DD-AFC4-6F175D3DCCD1}">
              <a14:hiddenFill xmlns:a14="http://schemas.microsoft.com/office/drawing/2010/main">
                <a:solidFill>
                  <a:srgbClr val="FFFFFF"/>
                </a:solidFill>
              </a14:hiddenFill>
            </a:ext>
          </a:extLst>
        </p:spPr>
      </p:pic>
      <p:pic>
        <p:nvPicPr>
          <p:cNvPr id="358408" name="Picture 8"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0" y="3860800"/>
            <a:ext cx="3733800" cy="2370138"/>
          </a:xfrm>
          <a:prstGeom prst="rect">
            <a:avLst/>
          </a:prstGeom>
          <a:noFill/>
          <a:ln w="38100">
            <a:solidFill>
              <a:srgbClr val="FFCC00"/>
            </a:solidFill>
            <a:miter lim="800000"/>
            <a:headEnd/>
            <a:tailEnd/>
          </a:ln>
          <a:extLst>
            <a:ext uri="{909E8E84-426E-40DD-AFC4-6F175D3DCCD1}">
              <a14:hiddenFill xmlns:a14="http://schemas.microsoft.com/office/drawing/2010/main">
                <a:solidFill>
                  <a:srgbClr val="FFFFFF"/>
                </a:solidFill>
              </a14:hiddenFill>
            </a:ext>
          </a:extLst>
        </p:spPr>
      </p:pic>
      <p:sp>
        <p:nvSpPr>
          <p:cNvPr id="358409" name="Text Box 9"/>
          <p:cNvSpPr txBox="1">
            <a:spLocks noChangeArrowheads="1"/>
          </p:cNvSpPr>
          <p:nvPr/>
        </p:nvSpPr>
        <p:spPr bwMode="auto">
          <a:xfrm>
            <a:off x="394970" y="1811655"/>
            <a:ext cx="303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solidFill>
                  <a:srgbClr val="0000FF"/>
                </a:solidFill>
              </a:rPr>
              <a:t>一、设计要求分析</a:t>
            </a:r>
            <a:endParaRPr lang="zh-CN" altLang="en-US" b="0" dirty="0">
              <a:solidFill>
                <a:srgbClr val="0000FF"/>
              </a:solidFill>
            </a:endParaRPr>
          </a:p>
        </p:txBody>
      </p:sp>
      <p:sp>
        <p:nvSpPr>
          <p:cNvPr id="358410" name="Text Box 10"/>
          <p:cNvSpPr txBox="1">
            <a:spLocks noChangeArrowheads="1"/>
          </p:cNvSpPr>
          <p:nvPr/>
        </p:nvSpPr>
        <p:spPr bwMode="auto">
          <a:xfrm>
            <a:off x="914400" y="2268855"/>
            <a:ext cx="434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t>属中速、中载的一般齿轮传动</a:t>
            </a:r>
            <a:endParaRPr lang="zh-CN" altLang="en-US" b="0" dirty="0"/>
          </a:p>
        </p:txBody>
      </p:sp>
      <p:sp>
        <p:nvSpPr>
          <p:cNvPr id="358411" name="Text Box 11"/>
          <p:cNvSpPr txBox="1">
            <a:spLocks noChangeArrowheads="1"/>
          </p:cNvSpPr>
          <p:nvPr/>
        </p:nvSpPr>
        <p:spPr bwMode="auto">
          <a:xfrm>
            <a:off x="394970" y="376174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solidFill>
                  <a:srgbClr val="0000FF"/>
                </a:solidFill>
              </a:rPr>
              <a:t>二、可用设计方案</a:t>
            </a:r>
            <a:endParaRPr lang="zh-CN" altLang="en-US" b="0" dirty="0">
              <a:solidFill>
                <a:srgbClr val="0000FF"/>
              </a:solidFill>
            </a:endParaRPr>
          </a:p>
        </p:txBody>
      </p:sp>
      <p:sp>
        <p:nvSpPr>
          <p:cNvPr id="358412" name="Text Box 12"/>
          <p:cNvSpPr txBox="1">
            <a:spLocks noChangeArrowheads="1"/>
          </p:cNvSpPr>
          <p:nvPr/>
        </p:nvSpPr>
        <p:spPr bwMode="auto">
          <a:xfrm>
            <a:off x="838200" y="4419600"/>
            <a:ext cx="419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solidFill>
                  <a:srgbClr val="FF0000"/>
                </a:solidFill>
              </a:rPr>
              <a:t>方案</a:t>
            </a:r>
            <a:r>
              <a:rPr lang="en-US" altLang="zh-CN" b="0" dirty="0">
                <a:solidFill>
                  <a:srgbClr val="FF0000"/>
                </a:solidFill>
              </a:rPr>
              <a:t>1</a:t>
            </a:r>
            <a:r>
              <a:rPr lang="zh-CN" altLang="en-US" b="0" dirty="0">
                <a:solidFill>
                  <a:srgbClr val="FF0000"/>
                </a:solidFill>
              </a:rPr>
              <a:t>：</a:t>
            </a:r>
            <a:r>
              <a:rPr lang="zh-CN" altLang="en-US" b="0" dirty="0"/>
              <a:t>斜齿圆柱齿轮、材料</a:t>
            </a:r>
            <a:endParaRPr lang="zh-CN" altLang="en-US" b="0" dirty="0"/>
          </a:p>
        </p:txBody>
      </p:sp>
      <p:sp>
        <p:nvSpPr>
          <p:cNvPr id="358413" name="Text Box 13"/>
          <p:cNvSpPr txBox="1">
            <a:spLocks noChangeArrowheads="1"/>
          </p:cNvSpPr>
          <p:nvPr/>
        </p:nvSpPr>
        <p:spPr bwMode="auto">
          <a:xfrm>
            <a:off x="914400" y="2726055"/>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t>可采用软齿面，也可采用硬齿面</a:t>
            </a:r>
            <a:endParaRPr lang="zh-CN" altLang="en-US" b="0" dirty="0"/>
          </a:p>
        </p:txBody>
      </p:sp>
      <p:sp>
        <p:nvSpPr>
          <p:cNvPr id="358414" name="Text Box 14"/>
          <p:cNvSpPr txBox="1">
            <a:spLocks noChangeArrowheads="1"/>
          </p:cNvSpPr>
          <p:nvPr/>
        </p:nvSpPr>
        <p:spPr bwMode="auto">
          <a:xfrm>
            <a:off x="914400" y="3221355"/>
            <a:ext cx="510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t>采用斜齿轮，使传动平稳</a:t>
            </a:r>
            <a:endParaRPr lang="zh-CN" altLang="en-US" b="0" dirty="0"/>
          </a:p>
        </p:txBody>
      </p:sp>
      <p:sp>
        <p:nvSpPr>
          <p:cNvPr id="358415" name="Text Box 15"/>
          <p:cNvSpPr txBox="1">
            <a:spLocks noChangeArrowheads="1"/>
          </p:cNvSpPr>
          <p:nvPr/>
        </p:nvSpPr>
        <p:spPr bwMode="auto">
          <a:xfrm>
            <a:off x="827584" y="5517232"/>
            <a:ext cx="419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solidFill>
                  <a:srgbClr val="FF0000"/>
                </a:solidFill>
              </a:rPr>
              <a:t>方案</a:t>
            </a:r>
            <a:r>
              <a:rPr lang="en-US" altLang="zh-CN" b="0" dirty="0">
                <a:solidFill>
                  <a:srgbClr val="FF0000"/>
                </a:solidFill>
              </a:rPr>
              <a:t>2</a:t>
            </a:r>
            <a:r>
              <a:rPr lang="zh-CN" altLang="en-US" b="0" dirty="0">
                <a:solidFill>
                  <a:srgbClr val="FF0000"/>
                </a:solidFill>
              </a:rPr>
              <a:t>：</a:t>
            </a:r>
            <a:r>
              <a:rPr lang="zh-CN" altLang="en-US" b="0" dirty="0"/>
              <a:t>斜齿圆柱齿轮、材料</a:t>
            </a:r>
            <a:endParaRPr lang="zh-CN" altLang="en-US" b="0" dirty="0"/>
          </a:p>
        </p:txBody>
      </p:sp>
      <p:sp>
        <p:nvSpPr>
          <p:cNvPr id="358416" name="Text Box 16"/>
          <p:cNvSpPr txBox="1">
            <a:spLocks noChangeArrowheads="1"/>
          </p:cNvSpPr>
          <p:nvPr/>
        </p:nvSpPr>
        <p:spPr bwMode="auto">
          <a:xfrm>
            <a:off x="1907540" y="48768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t>用</a:t>
            </a:r>
            <a:r>
              <a:rPr lang="en-US" altLang="zh-CN" b="0" dirty="0"/>
              <a:t>45</a:t>
            </a:r>
            <a:r>
              <a:rPr lang="zh-CN" altLang="en-US" b="0" dirty="0"/>
              <a:t>钢、软齿面；</a:t>
            </a:r>
            <a:endParaRPr lang="zh-CN" altLang="en-US" b="0" dirty="0"/>
          </a:p>
        </p:txBody>
      </p:sp>
      <p:sp>
        <p:nvSpPr>
          <p:cNvPr id="358417" name="Text Box 17"/>
          <p:cNvSpPr txBox="1">
            <a:spLocks noChangeArrowheads="1"/>
          </p:cNvSpPr>
          <p:nvPr/>
        </p:nvSpPr>
        <p:spPr bwMode="auto">
          <a:xfrm>
            <a:off x="1907704" y="594928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t>用</a:t>
            </a:r>
            <a:r>
              <a:rPr lang="en-US" altLang="zh-CN" b="0" dirty="0"/>
              <a:t>45</a:t>
            </a:r>
            <a:r>
              <a:rPr lang="zh-CN" altLang="en-US" b="0" dirty="0"/>
              <a:t>钢、硬齿面。</a:t>
            </a:r>
            <a:endParaRPr lang="zh-CN" altLang="en-US" b="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58405"/>
                                        </p:tgtEl>
                                        <p:attrNameLst>
                                          <p:attrName>style.visibility</p:attrName>
                                        </p:attrNameLst>
                                      </p:cBhvr>
                                      <p:to>
                                        <p:strVal val="visible"/>
                                      </p:to>
                                    </p:set>
                                    <p:animEffect transition="in" filter="dissolve">
                                      <p:cBhvr>
                                        <p:cTn id="7" dur="500"/>
                                        <p:tgtEl>
                                          <p:spTgt spid="358405"/>
                                        </p:tgtEl>
                                      </p:cBhvr>
                                    </p:animEffect>
                                  </p:childTnLst>
                                </p:cTn>
                              </p:par>
                            </p:childTnLst>
                          </p:cTn>
                        </p:par>
                        <p:par>
                          <p:cTn id="8" fill="hold">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358406"/>
                                        </p:tgtEl>
                                        <p:attrNameLst>
                                          <p:attrName>style.visibility</p:attrName>
                                        </p:attrNameLst>
                                      </p:cBhvr>
                                      <p:to>
                                        <p:strVal val="visible"/>
                                      </p:to>
                                    </p:set>
                                    <p:animEffect transition="in" filter="barn(inHorizontal)">
                                      <p:cBhvr>
                                        <p:cTn id="11" dur="500"/>
                                        <p:tgtEl>
                                          <p:spTgt spid="358406"/>
                                        </p:tgtEl>
                                      </p:cBhvr>
                                    </p:animEffect>
                                  </p:childTnLst>
                                </p:cTn>
                              </p:par>
                            </p:childTnLst>
                          </p:cTn>
                        </p:par>
                        <p:par>
                          <p:cTn id="12" fill="hold">
                            <p:stCondLst>
                              <p:cond delay="1000"/>
                            </p:stCondLst>
                            <p:childTnLst>
                              <p:par>
                                <p:cTn id="13" presetID="5" presetClass="entr" presetSubtype="10" fill="hold" nodeType="afterEffect">
                                  <p:stCondLst>
                                    <p:cond delay="0"/>
                                  </p:stCondLst>
                                  <p:childTnLst>
                                    <p:set>
                                      <p:cBhvr>
                                        <p:cTn id="14" dur="1" fill="hold">
                                          <p:stCondLst>
                                            <p:cond delay="0"/>
                                          </p:stCondLst>
                                        </p:cTn>
                                        <p:tgtEl>
                                          <p:spTgt spid="358407"/>
                                        </p:tgtEl>
                                        <p:attrNameLst>
                                          <p:attrName>style.visibility</p:attrName>
                                        </p:attrNameLst>
                                      </p:cBhvr>
                                      <p:to>
                                        <p:strVal val="visible"/>
                                      </p:to>
                                    </p:set>
                                    <p:animEffect transition="in" filter="checkerboard(across)">
                                      <p:cBhvr>
                                        <p:cTn id="15" dur="500"/>
                                        <p:tgtEl>
                                          <p:spTgt spid="358407"/>
                                        </p:tgtEl>
                                      </p:cBhvr>
                                    </p:animEffect>
                                  </p:childTnLst>
                                </p:cTn>
                              </p:par>
                            </p:childTnLst>
                          </p:cTn>
                        </p:par>
                        <p:par>
                          <p:cTn id="16" fill="hold">
                            <p:stCondLst>
                              <p:cond delay="1500"/>
                            </p:stCondLst>
                            <p:childTnLst>
                              <p:par>
                                <p:cTn id="17" presetID="4" presetClass="entr" presetSubtype="16" fill="hold" nodeType="afterEffect">
                                  <p:stCondLst>
                                    <p:cond delay="0"/>
                                  </p:stCondLst>
                                  <p:childTnLst>
                                    <p:set>
                                      <p:cBhvr>
                                        <p:cTn id="18" dur="1" fill="hold">
                                          <p:stCondLst>
                                            <p:cond delay="0"/>
                                          </p:stCondLst>
                                        </p:cTn>
                                        <p:tgtEl>
                                          <p:spTgt spid="358408"/>
                                        </p:tgtEl>
                                        <p:attrNameLst>
                                          <p:attrName>style.visibility</p:attrName>
                                        </p:attrNameLst>
                                      </p:cBhvr>
                                      <p:to>
                                        <p:strVal val="visible"/>
                                      </p:to>
                                    </p:set>
                                    <p:animEffect transition="in" filter="box(in)">
                                      <p:cBhvr>
                                        <p:cTn id="19" dur="500"/>
                                        <p:tgtEl>
                                          <p:spTgt spid="35840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8409"/>
                                        </p:tgtEl>
                                        <p:attrNameLst>
                                          <p:attrName>style.visibility</p:attrName>
                                        </p:attrNameLst>
                                      </p:cBhvr>
                                      <p:to>
                                        <p:strVal val="visible"/>
                                      </p:to>
                                    </p:set>
                                    <p:animEffect transition="in" filter="wipe(left)">
                                      <p:cBhvr>
                                        <p:cTn id="24" dur="500"/>
                                        <p:tgtEl>
                                          <p:spTgt spid="35840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58410"/>
                                        </p:tgtEl>
                                        <p:attrNameLst>
                                          <p:attrName>style.visibility</p:attrName>
                                        </p:attrNameLst>
                                      </p:cBhvr>
                                      <p:to>
                                        <p:strVal val="visible"/>
                                      </p:to>
                                    </p:set>
                                    <p:animEffect transition="in" filter="wipe(left)">
                                      <p:cBhvr>
                                        <p:cTn id="29" dur="500"/>
                                        <p:tgtEl>
                                          <p:spTgt spid="3584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58413"/>
                                        </p:tgtEl>
                                        <p:attrNameLst>
                                          <p:attrName>style.visibility</p:attrName>
                                        </p:attrNameLst>
                                      </p:cBhvr>
                                      <p:to>
                                        <p:strVal val="visible"/>
                                      </p:to>
                                    </p:set>
                                    <p:animEffect transition="in" filter="wipe(left)">
                                      <p:cBhvr>
                                        <p:cTn id="34" dur="500"/>
                                        <p:tgtEl>
                                          <p:spTgt spid="35841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58414"/>
                                        </p:tgtEl>
                                        <p:attrNameLst>
                                          <p:attrName>style.visibility</p:attrName>
                                        </p:attrNameLst>
                                      </p:cBhvr>
                                      <p:to>
                                        <p:strVal val="visible"/>
                                      </p:to>
                                    </p:set>
                                    <p:animEffect transition="in" filter="wipe(left)">
                                      <p:cBhvr>
                                        <p:cTn id="39" dur="500"/>
                                        <p:tgtEl>
                                          <p:spTgt spid="3584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58411"/>
                                        </p:tgtEl>
                                        <p:attrNameLst>
                                          <p:attrName>style.visibility</p:attrName>
                                        </p:attrNameLst>
                                      </p:cBhvr>
                                      <p:to>
                                        <p:strVal val="visible"/>
                                      </p:to>
                                    </p:set>
                                    <p:animEffect transition="in" filter="wipe(left)">
                                      <p:cBhvr>
                                        <p:cTn id="44" dur="500"/>
                                        <p:tgtEl>
                                          <p:spTgt spid="3584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58412"/>
                                        </p:tgtEl>
                                        <p:attrNameLst>
                                          <p:attrName>style.visibility</p:attrName>
                                        </p:attrNameLst>
                                      </p:cBhvr>
                                      <p:to>
                                        <p:strVal val="visible"/>
                                      </p:to>
                                    </p:set>
                                    <p:animEffect transition="in" filter="wipe(left)">
                                      <p:cBhvr>
                                        <p:cTn id="49" dur="500"/>
                                        <p:tgtEl>
                                          <p:spTgt spid="358412"/>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358416"/>
                                        </p:tgtEl>
                                        <p:attrNameLst>
                                          <p:attrName>style.visibility</p:attrName>
                                        </p:attrNameLst>
                                      </p:cBhvr>
                                      <p:to>
                                        <p:strVal val="visible"/>
                                      </p:to>
                                    </p:set>
                                    <p:animEffect transition="in" filter="wipe(left)">
                                      <p:cBhvr>
                                        <p:cTn id="53" dur="500"/>
                                        <p:tgtEl>
                                          <p:spTgt spid="3584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58415"/>
                                        </p:tgtEl>
                                        <p:attrNameLst>
                                          <p:attrName>style.visibility</p:attrName>
                                        </p:attrNameLst>
                                      </p:cBhvr>
                                      <p:to>
                                        <p:strVal val="visible"/>
                                      </p:to>
                                    </p:set>
                                    <p:animEffect transition="in" filter="wipe(left)">
                                      <p:cBhvr>
                                        <p:cTn id="58" dur="500"/>
                                        <p:tgtEl>
                                          <p:spTgt spid="358415"/>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358417"/>
                                        </p:tgtEl>
                                        <p:attrNameLst>
                                          <p:attrName>style.visibility</p:attrName>
                                        </p:attrNameLst>
                                      </p:cBhvr>
                                      <p:to>
                                        <p:strVal val="visible"/>
                                      </p:to>
                                    </p:set>
                                    <p:animEffect transition="in" filter="wipe(left)">
                                      <p:cBhvr>
                                        <p:cTn id="62" dur="500"/>
                                        <p:tgtEl>
                                          <p:spTgt spid="358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5" grpId="0" autoUpdateAnimBg="0"/>
      <p:bldP spid="358406" grpId="0" autoUpdateAnimBg="0"/>
      <p:bldP spid="358409" grpId="0" bldLvl="0" animBg="1" autoUpdateAnimBg="0"/>
      <p:bldP spid="358410" grpId="0" bldLvl="0" animBg="1" autoUpdateAnimBg="0"/>
      <p:bldP spid="358411" grpId="0" bldLvl="0" animBg="1" autoUpdateAnimBg="0"/>
      <p:bldP spid="358412" grpId="0" autoUpdateAnimBg="0"/>
      <p:bldP spid="358413" grpId="0" bldLvl="0" animBg="1" autoUpdateAnimBg="0"/>
      <p:bldP spid="358414" grpId="0" bldLvl="0" animBg="1" autoUpdateAnimBg="0"/>
      <p:bldP spid="358415" grpId="0" autoUpdateAnimBg="0"/>
      <p:bldP spid="358416" grpId="0" bldLvl="0" animBg="1" autoUpdateAnimBg="0"/>
      <p:bldP spid="358417"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733" name="Group 93"/>
          <p:cNvGrpSpPr/>
          <p:nvPr/>
        </p:nvGrpSpPr>
        <p:grpSpPr bwMode="auto">
          <a:xfrm>
            <a:off x="228600" y="228600"/>
            <a:ext cx="8686800" cy="5715000"/>
            <a:chOff x="144" y="144"/>
            <a:chExt cx="5472" cy="3600"/>
          </a:xfrm>
        </p:grpSpPr>
        <p:sp>
          <p:nvSpPr>
            <p:cNvPr id="368645" name="Rectangle 5"/>
            <p:cNvSpPr>
              <a:spLocks noChangeArrowheads="1"/>
            </p:cNvSpPr>
            <p:nvPr/>
          </p:nvSpPr>
          <p:spPr bwMode="auto">
            <a:xfrm>
              <a:off x="1344" y="144"/>
              <a:ext cx="20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solidFill>
                    <a:schemeClr val="hlink"/>
                  </a:solidFill>
                </a:rPr>
                <a:t>两组方案主要结果比较</a:t>
              </a:r>
              <a:endParaRPr lang="zh-CN" altLang="en-US">
                <a:solidFill>
                  <a:schemeClr val="hlink"/>
                </a:solidFill>
              </a:endParaRPr>
            </a:p>
          </p:txBody>
        </p:sp>
        <p:sp>
          <p:nvSpPr>
            <p:cNvPr id="368648" name="Rectangle 8"/>
            <p:cNvSpPr>
              <a:spLocks noChangeArrowheads="1"/>
            </p:cNvSpPr>
            <p:nvPr/>
          </p:nvSpPr>
          <p:spPr bwMode="auto">
            <a:xfrm>
              <a:off x="1732" y="768"/>
              <a:ext cx="1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    45</a:t>
              </a:r>
              <a:r>
                <a:rPr lang="zh-CN" altLang="en-US" sz="2000">
                  <a:solidFill>
                    <a:srgbClr val="003399"/>
                  </a:solidFill>
                </a:rPr>
                <a:t>钢                 </a:t>
              </a:r>
              <a:r>
                <a:rPr lang="en-US" altLang="zh-CN" sz="2000">
                  <a:solidFill>
                    <a:srgbClr val="003399"/>
                  </a:solidFill>
                </a:rPr>
                <a:t>45 </a:t>
              </a:r>
              <a:r>
                <a:rPr lang="zh-CN" altLang="en-US" sz="2000">
                  <a:solidFill>
                    <a:srgbClr val="003399"/>
                  </a:solidFill>
                </a:rPr>
                <a:t>钢                   </a:t>
              </a:r>
              <a:endParaRPr lang="zh-CN" altLang="en-US" sz="2000">
                <a:solidFill>
                  <a:srgbClr val="003399"/>
                </a:solidFill>
              </a:endParaRPr>
            </a:p>
          </p:txBody>
        </p:sp>
        <p:sp>
          <p:nvSpPr>
            <p:cNvPr id="368649" name="Rectangle 9"/>
            <p:cNvSpPr>
              <a:spLocks noChangeArrowheads="1"/>
            </p:cNvSpPr>
            <p:nvPr/>
          </p:nvSpPr>
          <p:spPr bwMode="auto">
            <a:xfrm>
              <a:off x="624" y="778"/>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 </a:t>
              </a:r>
              <a:r>
                <a:rPr lang="zh-CN" altLang="en-US" sz="2000">
                  <a:solidFill>
                    <a:srgbClr val="003399"/>
                  </a:solidFill>
                </a:rPr>
                <a:t>齿轮材料               </a:t>
              </a:r>
              <a:endParaRPr lang="zh-CN" altLang="en-US" sz="2000">
                <a:solidFill>
                  <a:srgbClr val="003399"/>
                </a:solidFill>
              </a:endParaRPr>
            </a:p>
          </p:txBody>
        </p:sp>
        <p:sp>
          <p:nvSpPr>
            <p:cNvPr id="368653" name="Rectangle 13"/>
            <p:cNvSpPr>
              <a:spLocks noChangeArrowheads="1"/>
            </p:cNvSpPr>
            <p:nvPr/>
          </p:nvSpPr>
          <p:spPr bwMode="auto">
            <a:xfrm>
              <a:off x="480" y="1094"/>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齿轮热处理 </a:t>
              </a:r>
              <a:endParaRPr lang="zh-CN" altLang="en-US" sz="2000">
                <a:solidFill>
                  <a:srgbClr val="003399"/>
                </a:solidFill>
              </a:endParaRPr>
            </a:p>
          </p:txBody>
        </p:sp>
        <p:sp>
          <p:nvSpPr>
            <p:cNvPr id="368657" name="Rectangle 17"/>
            <p:cNvSpPr>
              <a:spLocks noChangeArrowheads="1"/>
            </p:cNvSpPr>
            <p:nvPr/>
          </p:nvSpPr>
          <p:spPr bwMode="auto">
            <a:xfrm>
              <a:off x="2880" y="1046"/>
              <a:ext cx="8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表面淬火</a:t>
              </a:r>
              <a:endParaRPr lang="zh-CN" altLang="en-US" sz="2000">
                <a:solidFill>
                  <a:srgbClr val="003399"/>
                </a:solidFill>
              </a:endParaRPr>
            </a:p>
          </p:txBody>
        </p:sp>
        <p:sp>
          <p:nvSpPr>
            <p:cNvPr id="368659" name="Rectangle 19"/>
            <p:cNvSpPr>
              <a:spLocks noChangeArrowheads="1"/>
            </p:cNvSpPr>
            <p:nvPr/>
          </p:nvSpPr>
          <p:spPr bwMode="auto">
            <a:xfrm>
              <a:off x="1876" y="998"/>
              <a:ext cx="96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小齿轮调质大齿轮正火</a:t>
              </a:r>
              <a:endParaRPr lang="zh-CN" altLang="en-US" sz="2000">
                <a:solidFill>
                  <a:srgbClr val="003399"/>
                </a:solidFill>
              </a:endParaRPr>
            </a:p>
          </p:txBody>
        </p:sp>
        <p:sp>
          <p:nvSpPr>
            <p:cNvPr id="368664" name="Rectangle 24"/>
            <p:cNvSpPr>
              <a:spLocks noChangeArrowheads="1"/>
            </p:cNvSpPr>
            <p:nvPr/>
          </p:nvSpPr>
          <p:spPr bwMode="auto">
            <a:xfrm>
              <a:off x="816" y="1424"/>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螺旋角</a:t>
              </a:r>
              <a:endParaRPr lang="zh-CN" altLang="en-US" sz="2000">
                <a:solidFill>
                  <a:srgbClr val="003399"/>
                </a:solidFill>
              </a:endParaRPr>
            </a:p>
          </p:txBody>
        </p:sp>
        <p:graphicFrame>
          <p:nvGraphicFramePr>
            <p:cNvPr id="368665" name="Object 25"/>
            <p:cNvGraphicFramePr>
              <a:graphicFrameLocks noChangeAspect="1"/>
            </p:cNvGraphicFramePr>
            <p:nvPr/>
          </p:nvGraphicFramePr>
          <p:xfrm>
            <a:off x="1578" y="1473"/>
            <a:ext cx="171" cy="207"/>
          </p:xfrm>
          <a:graphic>
            <a:graphicData uri="http://schemas.openxmlformats.org/presentationml/2006/ole">
              <mc:AlternateContent xmlns:mc="http://schemas.openxmlformats.org/markup-compatibility/2006">
                <mc:Choice xmlns:v="urn:schemas-microsoft-com:vml" Requires="v">
                  <p:oleObj spid="_x0000_s40118" name="Equation" r:id="rId1" imgW="165100" imgH="203200" progId="Equation.3">
                    <p:embed/>
                  </p:oleObj>
                </mc:Choice>
                <mc:Fallback>
                  <p:oleObj name="Equation" r:id="rId1" imgW="165100" imgH="203200" progId="Equation.3">
                    <p:embed/>
                    <p:pic>
                      <p:nvPicPr>
                        <p:cNvPr id="0" name="图片 401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8" y="1473"/>
                          <a:ext cx="171"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72" name="Rectangle 32"/>
            <p:cNvSpPr>
              <a:spLocks noChangeArrowheads="1"/>
            </p:cNvSpPr>
            <p:nvPr/>
          </p:nvSpPr>
          <p:spPr bwMode="auto">
            <a:xfrm>
              <a:off x="960" y="176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齿数 </a:t>
              </a:r>
              <a:endParaRPr lang="zh-CN" altLang="en-US" sz="2000">
                <a:solidFill>
                  <a:srgbClr val="003399"/>
                </a:solidFill>
              </a:endParaRPr>
            </a:p>
          </p:txBody>
        </p:sp>
        <p:sp>
          <p:nvSpPr>
            <p:cNvPr id="368674" name="Rectangle 34"/>
            <p:cNvSpPr>
              <a:spLocks noChangeArrowheads="1"/>
            </p:cNvSpPr>
            <p:nvPr/>
          </p:nvSpPr>
          <p:spPr bwMode="auto">
            <a:xfrm>
              <a:off x="1920" y="1680"/>
              <a:ext cx="1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26                    21</a:t>
              </a:r>
              <a:endParaRPr lang="en-US" altLang="zh-CN" sz="2000">
                <a:solidFill>
                  <a:srgbClr val="003399"/>
                </a:solidFill>
              </a:endParaRPr>
            </a:p>
          </p:txBody>
        </p:sp>
        <p:sp>
          <p:nvSpPr>
            <p:cNvPr id="368677" name="Rectangle 37"/>
            <p:cNvSpPr>
              <a:spLocks noChangeArrowheads="1"/>
            </p:cNvSpPr>
            <p:nvPr/>
          </p:nvSpPr>
          <p:spPr bwMode="auto">
            <a:xfrm>
              <a:off x="1920" y="2438"/>
              <a:ext cx="1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79.61               59.08</a:t>
              </a:r>
              <a:endParaRPr lang="en-US" altLang="zh-CN" sz="2000">
                <a:solidFill>
                  <a:srgbClr val="003399"/>
                </a:solidFill>
              </a:endParaRPr>
            </a:p>
          </p:txBody>
        </p:sp>
        <p:sp>
          <p:nvSpPr>
            <p:cNvPr id="368678" name="Rectangle 38"/>
            <p:cNvSpPr>
              <a:spLocks noChangeArrowheads="1"/>
            </p:cNvSpPr>
            <p:nvPr/>
          </p:nvSpPr>
          <p:spPr bwMode="auto">
            <a:xfrm>
              <a:off x="505" y="2486"/>
              <a:ext cx="93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分度圆直径（</a:t>
              </a:r>
              <a:r>
                <a:rPr lang="en-US" altLang="zh-CN" sz="2000">
                  <a:solidFill>
                    <a:srgbClr val="003399"/>
                  </a:solidFill>
                </a:rPr>
                <a:t>mm</a:t>
              </a:r>
              <a:r>
                <a:rPr lang="zh-CN" altLang="en-US" sz="2000">
                  <a:solidFill>
                    <a:srgbClr val="003399"/>
                  </a:solidFill>
                </a:rPr>
                <a:t>） </a:t>
              </a:r>
              <a:endParaRPr lang="zh-CN" altLang="en-US" sz="2000">
                <a:solidFill>
                  <a:srgbClr val="003399"/>
                </a:solidFill>
              </a:endParaRPr>
            </a:p>
          </p:txBody>
        </p:sp>
        <p:graphicFrame>
          <p:nvGraphicFramePr>
            <p:cNvPr id="368679" name="Object 39"/>
            <p:cNvGraphicFramePr>
              <a:graphicFrameLocks noChangeAspect="1"/>
            </p:cNvGraphicFramePr>
            <p:nvPr/>
          </p:nvGraphicFramePr>
          <p:xfrm>
            <a:off x="1584" y="2405"/>
            <a:ext cx="218" cy="283"/>
          </p:xfrm>
          <a:graphic>
            <a:graphicData uri="http://schemas.openxmlformats.org/presentationml/2006/ole">
              <mc:AlternateContent xmlns:mc="http://schemas.openxmlformats.org/markup-compatibility/2006">
                <mc:Choice xmlns:v="urn:schemas-microsoft-com:vml" Requires="v">
                  <p:oleObj spid="_x0000_s40119" name="Equation" r:id="rId3" imgW="165100" imgH="215900" progId="Equation.3">
                    <p:embed/>
                  </p:oleObj>
                </mc:Choice>
                <mc:Fallback>
                  <p:oleObj name="Equation" r:id="rId3" imgW="165100" imgH="215900" progId="Equation.3">
                    <p:embed/>
                    <p:pic>
                      <p:nvPicPr>
                        <p:cNvPr id="0" name="图片 40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 y="2405"/>
                          <a:ext cx="218"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80" name="Object 40"/>
            <p:cNvGraphicFramePr>
              <a:graphicFrameLocks noChangeAspect="1"/>
            </p:cNvGraphicFramePr>
            <p:nvPr/>
          </p:nvGraphicFramePr>
          <p:xfrm>
            <a:off x="1584" y="2688"/>
            <a:ext cx="239" cy="288"/>
          </p:xfrm>
          <a:graphic>
            <a:graphicData uri="http://schemas.openxmlformats.org/presentationml/2006/ole">
              <mc:AlternateContent xmlns:mc="http://schemas.openxmlformats.org/markup-compatibility/2006">
                <mc:Choice xmlns:v="urn:schemas-microsoft-com:vml" Requires="v">
                  <p:oleObj spid="_x0000_s40120" name="Equation" r:id="rId5" imgW="177800" imgH="215900" progId="Equation.3">
                    <p:embed/>
                  </p:oleObj>
                </mc:Choice>
                <mc:Fallback>
                  <p:oleObj name="Equation" r:id="rId5" imgW="177800" imgH="215900" progId="Equation.3">
                    <p:embed/>
                    <p:pic>
                      <p:nvPicPr>
                        <p:cNvPr id="0" name="图片 401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 y="2688"/>
                          <a:ext cx="23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81" name="Rectangle 41"/>
            <p:cNvSpPr>
              <a:spLocks noChangeArrowheads="1"/>
            </p:cNvSpPr>
            <p:nvPr/>
          </p:nvSpPr>
          <p:spPr bwMode="auto">
            <a:xfrm>
              <a:off x="1920" y="2678"/>
              <a:ext cx="17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364.39             272.92</a:t>
              </a:r>
              <a:endParaRPr lang="en-US" altLang="zh-CN" sz="2000">
                <a:solidFill>
                  <a:srgbClr val="003399"/>
                </a:solidFill>
              </a:endParaRPr>
            </a:p>
          </p:txBody>
        </p:sp>
        <p:sp>
          <p:nvSpPr>
            <p:cNvPr id="368683" name="Rectangle 43"/>
            <p:cNvSpPr>
              <a:spLocks noChangeArrowheads="1"/>
            </p:cNvSpPr>
            <p:nvPr/>
          </p:nvSpPr>
          <p:spPr bwMode="auto">
            <a:xfrm>
              <a:off x="1924" y="2170"/>
              <a:ext cx="16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000" dirty="0">
                  <a:solidFill>
                    <a:srgbClr val="003399"/>
                  </a:solidFill>
                </a:rPr>
                <a:t>3                      2.75        </a:t>
              </a:r>
              <a:endParaRPr lang="en-US" altLang="zh-CN" sz="2000" dirty="0">
                <a:solidFill>
                  <a:srgbClr val="003399"/>
                </a:solidFill>
              </a:endParaRPr>
            </a:p>
          </p:txBody>
        </p:sp>
        <p:sp>
          <p:nvSpPr>
            <p:cNvPr id="368684" name="Rectangle 44"/>
            <p:cNvSpPr>
              <a:spLocks noChangeArrowheads="1"/>
            </p:cNvSpPr>
            <p:nvPr/>
          </p:nvSpPr>
          <p:spPr bwMode="auto">
            <a:xfrm>
              <a:off x="510" y="2160"/>
              <a:ext cx="126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模数（</a:t>
              </a:r>
              <a:r>
                <a:rPr lang="en-US" altLang="zh-CN" sz="2000">
                  <a:solidFill>
                    <a:srgbClr val="003399"/>
                  </a:solidFill>
                </a:rPr>
                <a:t>mm</a:t>
              </a:r>
              <a:r>
                <a:rPr lang="zh-CN" altLang="en-US" sz="2000">
                  <a:solidFill>
                    <a:srgbClr val="003399"/>
                  </a:solidFill>
                </a:rPr>
                <a:t>） </a:t>
              </a:r>
              <a:endParaRPr lang="zh-CN" altLang="en-US" sz="2000">
                <a:solidFill>
                  <a:srgbClr val="003399"/>
                </a:solidFill>
              </a:endParaRPr>
            </a:p>
          </p:txBody>
        </p:sp>
        <p:sp>
          <p:nvSpPr>
            <p:cNvPr id="368688" name="Rectangle 48"/>
            <p:cNvSpPr>
              <a:spLocks noChangeArrowheads="1"/>
            </p:cNvSpPr>
            <p:nvPr/>
          </p:nvSpPr>
          <p:spPr bwMode="auto">
            <a:xfrm>
              <a:off x="528" y="3024"/>
              <a:ext cx="10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rgbClr val="003399"/>
                  </a:solidFill>
                </a:rPr>
                <a:t>齿宽（</a:t>
              </a:r>
              <a:r>
                <a:rPr lang="en-US" altLang="zh-CN" sz="2000">
                  <a:solidFill>
                    <a:srgbClr val="003399"/>
                  </a:solidFill>
                </a:rPr>
                <a:t>mm</a:t>
              </a:r>
              <a:r>
                <a:rPr lang="zh-CN" altLang="en-US" sz="2000">
                  <a:solidFill>
                    <a:srgbClr val="003399"/>
                  </a:solidFill>
                </a:rPr>
                <a:t>） </a:t>
              </a:r>
              <a:endParaRPr lang="zh-CN" altLang="en-US" sz="2000">
                <a:solidFill>
                  <a:srgbClr val="003399"/>
                </a:solidFill>
              </a:endParaRPr>
            </a:p>
          </p:txBody>
        </p:sp>
        <p:sp>
          <p:nvSpPr>
            <p:cNvPr id="368690" name="Rectangle 50"/>
            <p:cNvSpPr>
              <a:spLocks noChangeArrowheads="1"/>
            </p:cNvSpPr>
            <p:nvPr/>
          </p:nvSpPr>
          <p:spPr bwMode="auto">
            <a:xfrm>
              <a:off x="1924" y="2976"/>
              <a:ext cx="16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78                    35</a:t>
              </a:r>
              <a:endParaRPr lang="en-US" altLang="zh-CN" sz="2000">
                <a:solidFill>
                  <a:srgbClr val="003399"/>
                </a:solidFill>
              </a:endParaRPr>
            </a:p>
          </p:txBody>
        </p:sp>
        <p:sp>
          <p:nvSpPr>
            <p:cNvPr id="368693" name="Rectangle 53"/>
            <p:cNvSpPr>
              <a:spLocks noChangeArrowheads="1"/>
            </p:cNvSpPr>
            <p:nvPr/>
          </p:nvSpPr>
          <p:spPr bwMode="auto">
            <a:xfrm>
              <a:off x="336" y="3456"/>
              <a:ext cx="12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 </a:t>
              </a:r>
              <a:r>
                <a:rPr lang="zh-CN" altLang="en-US" sz="2000">
                  <a:solidFill>
                    <a:srgbClr val="003399"/>
                  </a:solidFill>
                </a:rPr>
                <a:t>中心距（</a:t>
              </a:r>
              <a:r>
                <a:rPr lang="en-US" altLang="zh-CN" sz="2000">
                  <a:solidFill>
                    <a:srgbClr val="003399"/>
                  </a:solidFill>
                </a:rPr>
                <a:t>mm</a:t>
              </a:r>
              <a:r>
                <a:rPr lang="zh-CN" altLang="en-US" sz="2000">
                  <a:solidFill>
                    <a:srgbClr val="003399"/>
                  </a:solidFill>
                </a:rPr>
                <a:t>）</a:t>
              </a:r>
              <a:endParaRPr lang="zh-CN" altLang="en-US" sz="2000">
                <a:solidFill>
                  <a:srgbClr val="003399"/>
                </a:solidFill>
              </a:endParaRPr>
            </a:p>
          </p:txBody>
        </p:sp>
        <p:sp>
          <p:nvSpPr>
            <p:cNvPr id="368694" name="Rectangle 54"/>
            <p:cNvSpPr>
              <a:spLocks noChangeArrowheads="1"/>
            </p:cNvSpPr>
            <p:nvPr/>
          </p:nvSpPr>
          <p:spPr bwMode="auto">
            <a:xfrm>
              <a:off x="1920" y="3456"/>
              <a:ext cx="17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dirty="0">
                  <a:solidFill>
                    <a:srgbClr val="003399"/>
                  </a:solidFill>
                </a:rPr>
                <a:t>222                  166</a:t>
              </a:r>
              <a:endParaRPr lang="en-US" altLang="zh-CN" sz="2000" dirty="0">
                <a:solidFill>
                  <a:srgbClr val="003399"/>
                </a:solidFill>
              </a:endParaRPr>
            </a:p>
          </p:txBody>
        </p:sp>
        <p:sp>
          <p:nvSpPr>
            <p:cNvPr id="368697" name="Rectangle 57"/>
            <p:cNvSpPr>
              <a:spLocks noChangeArrowheads="1"/>
            </p:cNvSpPr>
            <p:nvPr/>
          </p:nvSpPr>
          <p:spPr bwMode="auto">
            <a:xfrm>
              <a:off x="528" y="480"/>
              <a:ext cx="383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zh-CN" altLang="en-US" dirty="0">
                  <a:solidFill>
                    <a:schemeClr val="hlink"/>
                  </a:solidFill>
                </a:rPr>
                <a:t>设计内容            </a:t>
              </a:r>
              <a:r>
                <a:rPr lang="zh-CN" altLang="en-US" dirty="0" smtClean="0">
                  <a:solidFill>
                    <a:schemeClr val="hlink"/>
                  </a:solidFill>
                </a:rPr>
                <a:t>          方案 </a:t>
              </a:r>
              <a:r>
                <a:rPr lang="en-US" altLang="zh-CN" dirty="0">
                  <a:solidFill>
                    <a:schemeClr val="hlink"/>
                  </a:solidFill>
                </a:rPr>
                <a:t>1     </a:t>
              </a:r>
              <a:r>
                <a:rPr lang="en-US" altLang="zh-CN" dirty="0" smtClean="0">
                  <a:solidFill>
                    <a:schemeClr val="hlink"/>
                  </a:solidFill>
                </a:rPr>
                <a:t>           </a:t>
              </a:r>
              <a:r>
                <a:rPr lang="zh-CN" altLang="en-US" dirty="0" smtClean="0">
                  <a:solidFill>
                    <a:schemeClr val="hlink"/>
                  </a:solidFill>
                </a:rPr>
                <a:t>方案 </a:t>
              </a:r>
              <a:r>
                <a:rPr lang="en-US" altLang="zh-CN" dirty="0">
                  <a:solidFill>
                    <a:schemeClr val="hlink"/>
                  </a:solidFill>
                </a:rPr>
                <a:t>2                </a:t>
              </a:r>
              <a:endParaRPr lang="en-US" altLang="zh-CN" dirty="0">
                <a:solidFill>
                  <a:schemeClr val="hlink"/>
                </a:solidFill>
              </a:endParaRPr>
            </a:p>
          </p:txBody>
        </p:sp>
        <p:sp>
          <p:nvSpPr>
            <p:cNvPr id="368698" name="Line 58"/>
            <p:cNvSpPr>
              <a:spLocks noChangeShapeType="1"/>
            </p:cNvSpPr>
            <p:nvPr/>
          </p:nvSpPr>
          <p:spPr bwMode="auto">
            <a:xfrm>
              <a:off x="144" y="480"/>
              <a:ext cx="5472" cy="0"/>
            </a:xfrm>
            <a:prstGeom prst="line">
              <a:avLst/>
            </a:prstGeom>
            <a:noFill/>
            <a:ln w="28575">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9" name="Line 59"/>
            <p:cNvSpPr>
              <a:spLocks noChangeShapeType="1"/>
            </p:cNvSpPr>
            <p:nvPr/>
          </p:nvSpPr>
          <p:spPr bwMode="auto">
            <a:xfrm>
              <a:off x="144" y="768"/>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0" name="Line 60"/>
            <p:cNvSpPr>
              <a:spLocks noChangeShapeType="1"/>
            </p:cNvSpPr>
            <p:nvPr/>
          </p:nvSpPr>
          <p:spPr bwMode="auto">
            <a:xfrm>
              <a:off x="144" y="1680"/>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1" name="Line 61"/>
            <p:cNvSpPr>
              <a:spLocks noChangeShapeType="1"/>
            </p:cNvSpPr>
            <p:nvPr/>
          </p:nvSpPr>
          <p:spPr bwMode="auto">
            <a:xfrm>
              <a:off x="144" y="2160"/>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2" name="Line 62"/>
            <p:cNvSpPr>
              <a:spLocks noChangeShapeType="1"/>
            </p:cNvSpPr>
            <p:nvPr/>
          </p:nvSpPr>
          <p:spPr bwMode="auto">
            <a:xfrm>
              <a:off x="144" y="2448"/>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3" name="Line 63"/>
            <p:cNvSpPr>
              <a:spLocks noChangeShapeType="1"/>
            </p:cNvSpPr>
            <p:nvPr/>
          </p:nvSpPr>
          <p:spPr bwMode="auto">
            <a:xfrm>
              <a:off x="1872" y="480"/>
              <a:ext cx="0" cy="3264"/>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4" name="Line 64"/>
            <p:cNvSpPr>
              <a:spLocks noChangeShapeType="1"/>
            </p:cNvSpPr>
            <p:nvPr/>
          </p:nvSpPr>
          <p:spPr bwMode="auto">
            <a:xfrm>
              <a:off x="144" y="1008"/>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5" name="Line 65"/>
            <p:cNvSpPr>
              <a:spLocks noChangeShapeType="1"/>
            </p:cNvSpPr>
            <p:nvPr/>
          </p:nvSpPr>
          <p:spPr bwMode="auto">
            <a:xfrm>
              <a:off x="2832" y="480"/>
              <a:ext cx="0" cy="3264"/>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6" name="Line 66"/>
            <p:cNvSpPr>
              <a:spLocks noChangeShapeType="1"/>
            </p:cNvSpPr>
            <p:nvPr/>
          </p:nvSpPr>
          <p:spPr bwMode="auto">
            <a:xfrm>
              <a:off x="3840" y="480"/>
              <a:ext cx="0" cy="3264"/>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7" name="Line 67"/>
            <p:cNvSpPr>
              <a:spLocks noChangeShapeType="1"/>
            </p:cNvSpPr>
            <p:nvPr/>
          </p:nvSpPr>
          <p:spPr bwMode="auto">
            <a:xfrm>
              <a:off x="144" y="1440"/>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8" name="Line 68"/>
            <p:cNvSpPr>
              <a:spLocks noChangeShapeType="1"/>
            </p:cNvSpPr>
            <p:nvPr/>
          </p:nvSpPr>
          <p:spPr bwMode="auto">
            <a:xfrm>
              <a:off x="144" y="2976"/>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9" name="Line 69"/>
            <p:cNvSpPr>
              <a:spLocks noChangeShapeType="1"/>
            </p:cNvSpPr>
            <p:nvPr/>
          </p:nvSpPr>
          <p:spPr bwMode="auto">
            <a:xfrm>
              <a:off x="1488" y="2688"/>
              <a:ext cx="2352"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10" name="Line 70"/>
            <p:cNvSpPr>
              <a:spLocks noChangeShapeType="1"/>
            </p:cNvSpPr>
            <p:nvPr/>
          </p:nvSpPr>
          <p:spPr bwMode="auto">
            <a:xfrm>
              <a:off x="144" y="3456"/>
              <a:ext cx="3696"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11" name="Line 71"/>
            <p:cNvSpPr>
              <a:spLocks noChangeShapeType="1"/>
            </p:cNvSpPr>
            <p:nvPr/>
          </p:nvSpPr>
          <p:spPr bwMode="auto">
            <a:xfrm>
              <a:off x="144" y="3744"/>
              <a:ext cx="5472" cy="0"/>
            </a:xfrm>
            <a:prstGeom prst="line">
              <a:avLst/>
            </a:prstGeom>
            <a:noFill/>
            <a:ln w="28575">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12" name="Rectangle 72"/>
            <p:cNvSpPr>
              <a:spLocks noChangeArrowheads="1"/>
            </p:cNvSpPr>
            <p:nvPr/>
          </p:nvSpPr>
          <p:spPr bwMode="auto">
            <a:xfrm>
              <a:off x="2880" y="1425"/>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12</a:t>
              </a:r>
              <a:r>
                <a:rPr lang="en-US" altLang="zh-CN" sz="2000" baseline="30000">
                  <a:solidFill>
                    <a:srgbClr val="003399"/>
                  </a:solidFill>
                </a:rPr>
                <a:t>o</a:t>
              </a:r>
              <a:r>
                <a:rPr lang="en-US" altLang="zh-CN" sz="2000">
                  <a:solidFill>
                    <a:srgbClr val="003399"/>
                  </a:solidFill>
                </a:rPr>
                <a:t>12</a:t>
              </a:r>
              <a:r>
                <a:rPr lang="en-US" altLang="zh-CN" sz="2000" i="1">
                  <a:solidFill>
                    <a:srgbClr val="003399"/>
                  </a:solidFill>
                </a:rPr>
                <a:t>'</a:t>
              </a:r>
              <a:r>
                <a:rPr lang="en-US" altLang="zh-CN" sz="2000">
                  <a:solidFill>
                    <a:srgbClr val="003399"/>
                  </a:solidFill>
                </a:rPr>
                <a:t>6</a:t>
              </a:r>
              <a:r>
                <a:rPr lang="en-US" altLang="zh-CN" sz="2000" i="1">
                  <a:solidFill>
                    <a:srgbClr val="003399"/>
                  </a:solidFill>
                </a:rPr>
                <a:t>''</a:t>
              </a:r>
              <a:endParaRPr lang="en-US" altLang="zh-CN" sz="2000" i="1">
                <a:solidFill>
                  <a:srgbClr val="003399"/>
                </a:solidFill>
              </a:endParaRPr>
            </a:p>
          </p:txBody>
        </p:sp>
        <p:sp>
          <p:nvSpPr>
            <p:cNvPr id="368713" name="Rectangle 73"/>
            <p:cNvSpPr>
              <a:spLocks noChangeArrowheads="1"/>
            </p:cNvSpPr>
            <p:nvPr/>
          </p:nvSpPr>
          <p:spPr bwMode="auto">
            <a:xfrm>
              <a:off x="1920" y="1425"/>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11</a:t>
              </a:r>
              <a:r>
                <a:rPr lang="en-US" altLang="zh-CN" sz="2000" baseline="30000">
                  <a:solidFill>
                    <a:srgbClr val="003399"/>
                  </a:solidFill>
                </a:rPr>
                <a:t>o</a:t>
              </a:r>
              <a:r>
                <a:rPr lang="en-US" altLang="zh-CN" sz="2000">
                  <a:solidFill>
                    <a:srgbClr val="003399"/>
                  </a:solidFill>
                </a:rPr>
                <a:t>33</a:t>
              </a:r>
              <a:r>
                <a:rPr lang="en-US" altLang="zh-CN" sz="2000" i="1">
                  <a:solidFill>
                    <a:srgbClr val="003399"/>
                  </a:solidFill>
                </a:rPr>
                <a:t>'</a:t>
              </a:r>
              <a:r>
                <a:rPr lang="en-US" altLang="zh-CN" sz="2000">
                  <a:solidFill>
                    <a:srgbClr val="003399"/>
                  </a:solidFill>
                </a:rPr>
                <a:t>21</a:t>
              </a:r>
              <a:r>
                <a:rPr lang="en-US" altLang="zh-CN" sz="2000" i="1">
                  <a:solidFill>
                    <a:srgbClr val="003399"/>
                  </a:solidFill>
                </a:rPr>
                <a:t>''</a:t>
              </a:r>
              <a:endParaRPr lang="en-US" altLang="zh-CN" sz="2000" i="1">
                <a:solidFill>
                  <a:srgbClr val="003399"/>
                </a:solidFill>
              </a:endParaRPr>
            </a:p>
          </p:txBody>
        </p:sp>
        <p:sp>
          <p:nvSpPr>
            <p:cNvPr id="368714" name="Line 74"/>
            <p:cNvSpPr>
              <a:spLocks noChangeShapeType="1"/>
            </p:cNvSpPr>
            <p:nvPr/>
          </p:nvSpPr>
          <p:spPr bwMode="auto">
            <a:xfrm>
              <a:off x="1488" y="480"/>
              <a:ext cx="0" cy="3264"/>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68715" name="Object 75"/>
            <p:cNvGraphicFramePr>
              <a:graphicFrameLocks noChangeAspect="1"/>
            </p:cNvGraphicFramePr>
            <p:nvPr/>
          </p:nvGraphicFramePr>
          <p:xfrm>
            <a:off x="1590" y="1680"/>
            <a:ext cx="158" cy="220"/>
          </p:xfrm>
          <a:graphic>
            <a:graphicData uri="http://schemas.openxmlformats.org/presentationml/2006/ole">
              <mc:AlternateContent xmlns:mc="http://schemas.openxmlformats.org/markup-compatibility/2006">
                <mc:Choice xmlns:v="urn:schemas-microsoft-com:vml" Requires="v">
                  <p:oleObj spid="_x0000_s40121" name="Equation" r:id="rId7" imgW="152400" imgH="215900" progId="Equation.3">
                    <p:embed/>
                  </p:oleObj>
                </mc:Choice>
                <mc:Fallback>
                  <p:oleObj name="Equation" r:id="rId7" imgW="152400" imgH="215900" progId="Equation.3">
                    <p:embed/>
                    <p:pic>
                      <p:nvPicPr>
                        <p:cNvPr id="0" name="图片 401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0" y="1680"/>
                          <a:ext cx="158" cy="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16" name="Object 76"/>
            <p:cNvGraphicFramePr>
              <a:graphicFrameLocks noChangeAspect="1"/>
            </p:cNvGraphicFramePr>
            <p:nvPr/>
          </p:nvGraphicFramePr>
          <p:xfrm>
            <a:off x="1578" y="1892"/>
            <a:ext cx="171" cy="220"/>
          </p:xfrm>
          <a:graphic>
            <a:graphicData uri="http://schemas.openxmlformats.org/presentationml/2006/ole">
              <mc:AlternateContent xmlns:mc="http://schemas.openxmlformats.org/markup-compatibility/2006">
                <mc:Choice xmlns:v="urn:schemas-microsoft-com:vml" Requires="v">
                  <p:oleObj spid="_x0000_s40122" name="Equation" r:id="rId9" imgW="165100" imgH="215900" progId="Equation.3">
                    <p:embed/>
                  </p:oleObj>
                </mc:Choice>
                <mc:Fallback>
                  <p:oleObj name="Equation" r:id="rId9" imgW="165100" imgH="215900" progId="Equation.3">
                    <p:embed/>
                    <p:pic>
                      <p:nvPicPr>
                        <p:cNvPr id="0" name="图片 401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8" y="1892"/>
                          <a:ext cx="171" cy="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17" name="Rectangle 77"/>
            <p:cNvSpPr>
              <a:spLocks noChangeArrowheads="1"/>
            </p:cNvSpPr>
            <p:nvPr/>
          </p:nvSpPr>
          <p:spPr bwMode="auto">
            <a:xfrm>
              <a:off x="1920" y="1910"/>
              <a:ext cx="14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a:solidFill>
                    <a:srgbClr val="003399"/>
                  </a:solidFill>
                </a:rPr>
                <a:t>119                  97</a:t>
              </a:r>
              <a:endParaRPr lang="en-US" altLang="zh-CN" sz="2000">
                <a:solidFill>
                  <a:srgbClr val="003399"/>
                </a:solidFill>
              </a:endParaRPr>
            </a:p>
          </p:txBody>
        </p:sp>
        <p:sp>
          <p:nvSpPr>
            <p:cNvPr id="368718" name="Line 78"/>
            <p:cNvSpPr>
              <a:spLocks noChangeShapeType="1"/>
            </p:cNvSpPr>
            <p:nvPr/>
          </p:nvSpPr>
          <p:spPr bwMode="auto">
            <a:xfrm>
              <a:off x="1488" y="1920"/>
              <a:ext cx="2352"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68719" name="Object 79"/>
            <p:cNvGraphicFramePr>
              <a:graphicFrameLocks noChangeAspect="1"/>
            </p:cNvGraphicFramePr>
            <p:nvPr/>
          </p:nvGraphicFramePr>
          <p:xfrm>
            <a:off x="1551" y="2180"/>
            <a:ext cx="237" cy="220"/>
          </p:xfrm>
          <a:graphic>
            <a:graphicData uri="http://schemas.openxmlformats.org/presentationml/2006/ole">
              <mc:AlternateContent xmlns:mc="http://schemas.openxmlformats.org/markup-compatibility/2006">
                <mc:Choice xmlns:v="urn:schemas-microsoft-com:vml" Requires="v">
                  <p:oleObj spid="_x0000_s40123" name="Equation" r:id="rId11" imgW="228600" imgH="215900" progId="Equation.3">
                    <p:embed/>
                  </p:oleObj>
                </mc:Choice>
                <mc:Fallback>
                  <p:oleObj name="Equation" r:id="rId11" imgW="228600" imgH="215900" progId="Equation.3">
                    <p:embed/>
                    <p:pic>
                      <p:nvPicPr>
                        <p:cNvPr id="0" name="图片 401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51" y="2180"/>
                          <a:ext cx="237" cy="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20" name="Object 80"/>
            <p:cNvGraphicFramePr>
              <a:graphicFrameLocks noChangeAspect="1"/>
            </p:cNvGraphicFramePr>
            <p:nvPr/>
          </p:nvGraphicFramePr>
          <p:xfrm>
            <a:off x="1601" y="2976"/>
            <a:ext cx="171" cy="240"/>
          </p:xfrm>
          <a:graphic>
            <a:graphicData uri="http://schemas.openxmlformats.org/presentationml/2006/ole">
              <mc:AlternateContent xmlns:mc="http://schemas.openxmlformats.org/markup-compatibility/2006">
                <mc:Choice xmlns:v="urn:schemas-microsoft-com:vml" Requires="v">
                  <p:oleObj spid="_x0000_s40124" name="Equation" r:id="rId13" imgW="152400" imgH="215900" progId="Equation.3">
                    <p:embed/>
                  </p:oleObj>
                </mc:Choice>
                <mc:Fallback>
                  <p:oleObj name="Equation" r:id="rId13" imgW="152400" imgH="215900" progId="Equation.3">
                    <p:embed/>
                    <p:pic>
                      <p:nvPicPr>
                        <p:cNvPr id="0" name="图片 401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1" y="2976"/>
                          <a:ext cx="171"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21" name="Object 81"/>
            <p:cNvGraphicFramePr>
              <a:graphicFrameLocks noChangeAspect="1"/>
            </p:cNvGraphicFramePr>
            <p:nvPr/>
          </p:nvGraphicFramePr>
          <p:xfrm>
            <a:off x="1591" y="3216"/>
            <a:ext cx="185" cy="240"/>
          </p:xfrm>
          <a:graphic>
            <a:graphicData uri="http://schemas.openxmlformats.org/presentationml/2006/ole">
              <mc:AlternateContent xmlns:mc="http://schemas.openxmlformats.org/markup-compatibility/2006">
                <mc:Choice xmlns:v="urn:schemas-microsoft-com:vml" Requires="v">
                  <p:oleObj spid="_x0000_s40125" name="Equation" r:id="rId15" imgW="165100" imgH="215900" progId="Equation.3">
                    <p:embed/>
                  </p:oleObj>
                </mc:Choice>
                <mc:Fallback>
                  <p:oleObj name="Equation" r:id="rId15" imgW="165100" imgH="215900" progId="Equation.3">
                    <p:embed/>
                    <p:pic>
                      <p:nvPicPr>
                        <p:cNvPr id="0" name="图片 401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91" y="3216"/>
                          <a:ext cx="185"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22" name="Rectangle 82"/>
            <p:cNvSpPr>
              <a:spLocks noChangeArrowheads="1"/>
            </p:cNvSpPr>
            <p:nvPr/>
          </p:nvSpPr>
          <p:spPr bwMode="auto">
            <a:xfrm>
              <a:off x="1924" y="3216"/>
              <a:ext cx="18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000" dirty="0">
                  <a:solidFill>
                    <a:srgbClr val="003399"/>
                  </a:solidFill>
                </a:rPr>
                <a:t>72                    30</a:t>
              </a:r>
              <a:endParaRPr lang="en-US" altLang="zh-CN" sz="2000" dirty="0">
                <a:solidFill>
                  <a:srgbClr val="003399"/>
                </a:solidFill>
              </a:endParaRPr>
            </a:p>
          </p:txBody>
        </p:sp>
        <p:sp>
          <p:nvSpPr>
            <p:cNvPr id="368723" name="Line 83"/>
            <p:cNvSpPr>
              <a:spLocks noChangeShapeType="1"/>
            </p:cNvSpPr>
            <p:nvPr/>
          </p:nvSpPr>
          <p:spPr bwMode="auto">
            <a:xfrm>
              <a:off x="1488" y="3216"/>
              <a:ext cx="2352"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68724" name="Object 84"/>
            <p:cNvGraphicFramePr>
              <a:graphicFrameLocks noChangeAspect="1"/>
            </p:cNvGraphicFramePr>
            <p:nvPr/>
          </p:nvGraphicFramePr>
          <p:xfrm>
            <a:off x="1612" y="3504"/>
            <a:ext cx="143" cy="156"/>
          </p:xfrm>
          <a:graphic>
            <a:graphicData uri="http://schemas.openxmlformats.org/presentationml/2006/ole">
              <mc:AlternateContent xmlns:mc="http://schemas.openxmlformats.org/markup-compatibility/2006">
                <mc:Choice xmlns:v="urn:schemas-microsoft-com:vml" Requires="v">
                  <p:oleObj spid="_x0000_s40126" name="Equation" r:id="rId17" imgW="127000" imgH="139700" progId="Equation.3">
                    <p:embed/>
                  </p:oleObj>
                </mc:Choice>
                <mc:Fallback>
                  <p:oleObj name="Equation" r:id="rId17" imgW="127000" imgH="139700" progId="Equation.3">
                    <p:embed/>
                    <p:pic>
                      <p:nvPicPr>
                        <p:cNvPr id="0" name="图片 401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12" y="3504"/>
                          <a:ext cx="143" cy="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68725" name="Rectangle 85"/>
          <p:cNvSpPr>
            <a:spLocks noChangeArrowheads="1"/>
          </p:cNvSpPr>
          <p:nvPr/>
        </p:nvSpPr>
        <p:spPr bwMode="auto">
          <a:xfrm>
            <a:off x="6324600" y="9144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solidFill>
                  <a:schemeClr val="hlink"/>
                </a:solidFill>
              </a:rPr>
              <a:t>分析：        </a:t>
            </a:r>
            <a:endParaRPr lang="zh-CN" altLang="en-US">
              <a:solidFill>
                <a:schemeClr val="hlink"/>
              </a:solidFill>
            </a:endParaRPr>
          </a:p>
        </p:txBody>
      </p:sp>
      <p:sp>
        <p:nvSpPr>
          <p:cNvPr id="368726" name="Rectangle 86"/>
          <p:cNvSpPr>
            <a:spLocks noChangeArrowheads="1"/>
          </p:cNvSpPr>
          <p:nvPr/>
        </p:nvSpPr>
        <p:spPr bwMode="auto">
          <a:xfrm>
            <a:off x="6096000" y="1295400"/>
            <a:ext cx="2667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chemeClr val="hlink"/>
                </a:solidFill>
              </a:rPr>
              <a:t>方案</a:t>
            </a:r>
            <a:r>
              <a:rPr lang="en-US" altLang="zh-CN" sz="2000">
                <a:solidFill>
                  <a:schemeClr val="hlink"/>
                </a:solidFill>
              </a:rPr>
              <a:t>1</a:t>
            </a:r>
            <a:r>
              <a:rPr lang="zh-CN" altLang="en-US" sz="2000">
                <a:solidFill>
                  <a:schemeClr val="hlink"/>
                </a:solidFill>
              </a:rPr>
              <a:t>为软齿面，加工工艺简单，制造成本低。但结构尺寸大        </a:t>
            </a:r>
            <a:endParaRPr lang="zh-CN" altLang="en-US" sz="2000">
              <a:solidFill>
                <a:schemeClr val="hlink"/>
              </a:solidFill>
            </a:endParaRPr>
          </a:p>
        </p:txBody>
      </p:sp>
      <p:sp>
        <p:nvSpPr>
          <p:cNvPr id="368727" name="Rectangle 87"/>
          <p:cNvSpPr>
            <a:spLocks noChangeArrowheads="1"/>
          </p:cNvSpPr>
          <p:nvPr/>
        </p:nvSpPr>
        <p:spPr bwMode="auto">
          <a:xfrm>
            <a:off x="6096000" y="2286000"/>
            <a:ext cx="25908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chemeClr val="hlink"/>
                </a:solidFill>
              </a:rPr>
              <a:t>方案</a:t>
            </a:r>
            <a:r>
              <a:rPr lang="en-US" altLang="zh-CN" sz="2000">
                <a:solidFill>
                  <a:schemeClr val="hlink"/>
                </a:solidFill>
              </a:rPr>
              <a:t>2</a:t>
            </a:r>
            <a:r>
              <a:rPr lang="zh-CN" altLang="en-US" sz="2000">
                <a:solidFill>
                  <a:schemeClr val="hlink"/>
                </a:solidFill>
              </a:rPr>
              <a:t>为硬齿面，加工工艺复杂，制造成本高。但结构尺寸小，重量轻，强度高，总体效益好。        </a:t>
            </a:r>
            <a:endParaRPr lang="zh-CN" altLang="en-US" sz="2000">
              <a:solidFill>
                <a:schemeClr val="hlink"/>
              </a:solidFill>
            </a:endParaRPr>
          </a:p>
        </p:txBody>
      </p:sp>
      <p:sp>
        <p:nvSpPr>
          <p:cNvPr id="368728" name="Rectangle 88"/>
          <p:cNvSpPr>
            <a:spLocks noChangeArrowheads="1"/>
          </p:cNvSpPr>
          <p:nvPr/>
        </p:nvSpPr>
        <p:spPr bwMode="auto">
          <a:xfrm>
            <a:off x="6096000" y="3886200"/>
            <a:ext cx="2590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dirty="0">
                <a:solidFill>
                  <a:srgbClr val="FF0000"/>
                </a:solidFill>
              </a:rPr>
              <a:t>对结构尺寸无特殊要求时，可采用方案</a:t>
            </a:r>
            <a:r>
              <a:rPr lang="en-US" altLang="zh-CN" sz="2000" dirty="0">
                <a:solidFill>
                  <a:srgbClr val="FF0000"/>
                </a:solidFill>
              </a:rPr>
              <a:t>1</a:t>
            </a:r>
            <a:endParaRPr lang="en-US" altLang="zh-CN" sz="2000" dirty="0">
              <a:solidFill>
                <a:srgbClr val="FF0000"/>
              </a:solidFill>
            </a:endParaRPr>
          </a:p>
        </p:txBody>
      </p:sp>
      <p:sp>
        <p:nvSpPr>
          <p:cNvPr id="368729" name="Rectangle 89"/>
          <p:cNvSpPr>
            <a:spLocks noChangeArrowheads="1"/>
          </p:cNvSpPr>
          <p:nvPr/>
        </p:nvSpPr>
        <p:spPr bwMode="auto">
          <a:xfrm>
            <a:off x="6096000" y="4632325"/>
            <a:ext cx="2590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dirty="0">
                <a:solidFill>
                  <a:srgbClr val="FF0000"/>
                </a:solidFill>
              </a:rPr>
              <a:t>载荷大、要求结构紧凑时，可采用方案</a:t>
            </a:r>
            <a:r>
              <a:rPr lang="en-US" altLang="zh-CN" sz="2000" dirty="0">
                <a:solidFill>
                  <a:srgbClr val="FF0000"/>
                </a:solidFill>
              </a:rPr>
              <a:t>2</a:t>
            </a:r>
            <a:endParaRPr lang="en-US" altLang="zh-CN" sz="20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725"/>
                                        </p:tgtEl>
                                        <p:attrNameLst>
                                          <p:attrName>style.visibility</p:attrName>
                                        </p:attrNameLst>
                                      </p:cBhvr>
                                      <p:to>
                                        <p:strVal val="visible"/>
                                      </p:to>
                                    </p:set>
                                    <p:animEffect transition="in" filter="wipe(left)">
                                      <p:cBhvr>
                                        <p:cTn id="7" dur="500"/>
                                        <p:tgtEl>
                                          <p:spTgt spid="3687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726"/>
                                        </p:tgtEl>
                                        <p:attrNameLst>
                                          <p:attrName>style.visibility</p:attrName>
                                        </p:attrNameLst>
                                      </p:cBhvr>
                                      <p:to>
                                        <p:strVal val="visible"/>
                                      </p:to>
                                    </p:set>
                                    <p:animEffect transition="in" filter="wipe(left)">
                                      <p:cBhvr>
                                        <p:cTn id="12" dur="500"/>
                                        <p:tgtEl>
                                          <p:spTgt spid="3687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8727"/>
                                        </p:tgtEl>
                                        <p:attrNameLst>
                                          <p:attrName>style.visibility</p:attrName>
                                        </p:attrNameLst>
                                      </p:cBhvr>
                                      <p:to>
                                        <p:strVal val="visible"/>
                                      </p:to>
                                    </p:set>
                                    <p:animEffect transition="in" filter="wipe(left)">
                                      <p:cBhvr>
                                        <p:cTn id="17" dur="500"/>
                                        <p:tgtEl>
                                          <p:spTgt spid="3687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8728"/>
                                        </p:tgtEl>
                                        <p:attrNameLst>
                                          <p:attrName>style.visibility</p:attrName>
                                        </p:attrNameLst>
                                      </p:cBhvr>
                                      <p:to>
                                        <p:strVal val="visible"/>
                                      </p:to>
                                    </p:set>
                                    <p:animEffect transition="in" filter="wipe(left)">
                                      <p:cBhvr>
                                        <p:cTn id="22" dur="500"/>
                                        <p:tgtEl>
                                          <p:spTgt spid="3687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8729"/>
                                        </p:tgtEl>
                                        <p:attrNameLst>
                                          <p:attrName>style.visibility</p:attrName>
                                        </p:attrNameLst>
                                      </p:cBhvr>
                                      <p:to>
                                        <p:strVal val="visible"/>
                                      </p:to>
                                    </p:set>
                                    <p:animEffect transition="in" filter="wipe(left)">
                                      <p:cBhvr>
                                        <p:cTn id="27" dur="500"/>
                                        <p:tgtEl>
                                          <p:spTgt spid="368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5" grpId="0" autoUpdateAnimBg="0"/>
      <p:bldP spid="368726" grpId="0" autoUpdateAnimBg="0"/>
      <p:bldP spid="368727" grpId="0" autoUpdateAnimBg="0"/>
      <p:bldP spid="368728" grpId="0" autoUpdateAnimBg="0"/>
      <p:bldP spid="368729"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38915" name="Text Box 5"/>
          <p:cNvSpPr txBox="1"/>
          <p:nvPr/>
        </p:nvSpPr>
        <p:spPr>
          <a:xfrm>
            <a:off x="1260475" y="186373"/>
            <a:ext cx="6829425" cy="549275"/>
          </a:xfrm>
          <a:prstGeom prst="rect">
            <a:avLst/>
          </a:prstGeom>
          <a:noFill/>
          <a:ln w="9525">
            <a:noFill/>
          </a:ln>
        </p:spPr>
        <p:txBody>
          <a:bodyPr tIns="36000" bIns="72000" anchor="ctr" anchorCtr="1"/>
          <a:p>
            <a:r>
              <a:rPr lang="zh-CN" altLang="zh-CN" sz="2400" dirty="0">
                <a:solidFill>
                  <a:srgbClr val="C00000"/>
                </a:solidFill>
                <a:latin typeface="黑体" panose="02010609060101010101" pitchFamily="49" charset="-122"/>
                <a:ea typeface="黑体" panose="02010609060101010101" pitchFamily="49" charset="-122"/>
              </a:rPr>
              <a:t>案例</a:t>
            </a:r>
            <a:r>
              <a:rPr lang="en-US" altLang="zh-CN" sz="2400" dirty="0">
                <a:solidFill>
                  <a:srgbClr val="C00000"/>
                </a:solidFill>
                <a:latin typeface="黑体" panose="02010609060101010101" pitchFamily="49" charset="-122"/>
                <a:ea typeface="黑体" panose="02010609060101010101" pitchFamily="49" charset="-122"/>
              </a:rPr>
              <a:t>2</a:t>
            </a:r>
            <a:r>
              <a:rPr lang="zh-CN" altLang="zh-CN" sz="2400" dirty="0">
                <a:solidFill>
                  <a:srgbClr val="C00000"/>
                </a:solidFill>
                <a:latin typeface="黑体" panose="02010609060101010101" pitchFamily="49" charset="-122"/>
                <a:ea typeface="黑体" panose="02010609060101010101" pitchFamily="49" charset="-122"/>
              </a:rPr>
              <a:t>“传动方案</a:t>
            </a:r>
            <a:r>
              <a:rPr lang="en-US" altLang="zh-CN" sz="2400" dirty="0">
                <a:solidFill>
                  <a:srgbClr val="C00000"/>
                </a:solidFill>
                <a:latin typeface="黑体" panose="02010609060101010101" pitchFamily="49" charset="-122"/>
                <a:ea typeface="黑体" panose="02010609060101010101" pitchFamily="49" charset="-122"/>
              </a:rPr>
              <a:t>1</a:t>
            </a:r>
            <a:r>
              <a:rPr lang="zh-CN" altLang="zh-CN" sz="2400" dirty="0">
                <a:solidFill>
                  <a:srgbClr val="C00000"/>
                </a:solidFill>
                <a:latin typeface="黑体" panose="02010609060101010101" pitchFamily="49" charset="-122"/>
                <a:ea typeface="黑体" panose="02010609060101010101" pitchFamily="49" charset="-122"/>
              </a:rPr>
              <a:t>”圆柱齿轮传动的设计</a:t>
            </a:r>
            <a:endParaRPr lang="zh-CN" altLang="zh-CN" sz="2400" dirty="0">
              <a:solidFill>
                <a:srgbClr val="C00000"/>
              </a:solidFill>
              <a:latin typeface="黑体" panose="02010609060101010101" pitchFamily="49" charset="-122"/>
              <a:ea typeface="黑体" panose="02010609060101010101" pitchFamily="49" charset="-122"/>
            </a:endParaRPr>
          </a:p>
        </p:txBody>
      </p:sp>
      <p:pic>
        <p:nvPicPr>
          <p:cNvPr id="38916" name="Picture 24" descr="rewind">
            <a:hlinkClick r:id="" action="ppaction://hlinkshowjump?jump=firstslide"/>
          </p:cNvPr>
          <p:cNvPicPr>
            <a:picLocks noChangeAspect="1"/>
          </p:cNvPicPr>
          <p:nvPr/>
        </p:nvPicPr>
        <p:blipFill>
          <a:blip r:embed="rId1"/>
          <a:stretch>
            <a:fillRect/>
          </a:stretch>
        </p:blipFill>
        <p:spPr>
          <a:xfrm>
            <a:off x="8435975" y="653891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38918"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38920"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38921" name="文本框 2"/>
          <p:cNvSpPr txBox="1"/>
          <p:nvPr/>
        </p:nvSpPr>
        <p:spPr>
          <a:xfrm>
            <a:off x="141923" y="935355"/>
            <a:ext cx="3840480" cy="460375"/>
          </a:xfrm>
          <a:prstGeom prst="rect">
            <a:avLst/>
          </a:prstGeom>
          <a:noFill/>
          <a:ln w="9525">
            <a:noFill/>
          </a:ln>
        </p:spPr>
        <p:txBody>
          <a:bodyPr wrap="none">
            <a:spAutoFit/>
          </a:bodyPr>
          <a:p>
            <a:r>
              <a:rPr lang="zh-CN"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一</a:t>
            </a:r>
            <a:r>
              <a:rPr lang="zh-CN"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齿轮传动的设计计算</a:t>
            </a:r>
            <a:endParaRPr lang="zh-CN" altLang="zh-CN" sz="2400" dirty="0">
              <a:latin typeface="黑体" panose="02010609060101010101" pitchFamily="49" charset="-122"/>
              <a:ea typeface="黑体" panose="02010609060101010101" pitchFamily="49" charset="-122"/>
            </a:endParaRPr>
          </a:p>
        </p:txBody>
      </p:sp>
      <p:sp>
        <p:nvSpPr>
          <p:cNvPr id="38923" name="文本框 3"/>
          <p:cNvSpPr txBox="1"/>
          <p:nvPr/>
        </p:nvSpPr>
        <p:spPr>
          <a:xfrm>
            <a:off x="644525" y="1526223"/>
            <a:ext cx="2621280" cy="460375"/>
          </a:xfrm>
          <a:prstGeom prst="rect">
            <a:avLst/>
          </a:prstGeom>
          <a:noFill/>
          <a:ln w="9525">
            <a:noFill/>
          </a:ln>
        </p:spPr>
        <p:txBody>
          <a:bodyPr wrap="none">
            <a:spAutoFit/>
          </a:bodyPr>
          <a:p>
            <a:r>
              <a:rPr lang="en-US" altLang="zh-CN" sz="2400" dirty="0">
                <a:latin typeface="黑体" panose="02010609060101010101" pitchFamily="49" charset="-122"/>
                <a:ea typeface="黑体" panose="02010609060101010101" pitchFamily="49" charset="-122"/>
                <a:cs typeface="黑体" panose="02010609060101010101" pitchFamily="49" charset="-122"/>
              </a:rPr>
              <a:t>1.</a:t>
            </a:r>
            <a:r>
              <a:rPr lang="zh-CN" altLang="en-US" sz="2400" dirty="0">
                <a:latin typeface="黑体" panose="02010609060101010101" pitchFamily="49" charset="-122"/>
                <a:ea typeface="黑体" panose="02010609060101010101" pitchFamily="49" charset="-122"/>
                <a:cs typeface="黑体" panose="02010609060101010101" pitchFamily="49" charset="-122"/>
              </a:rPr>
              <a:t>高速级齿轮计算</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5" name="矩形 4"/>
          <p:cNvSpPr>
            <a:spLocks noRot="1" noChangeAspect="1" noMove="1" noResize="1" noEditPoints="1" noAdjustHandles="1" noChangeArrowheads="1" noChangeShapeType="1" noTextEdit="1"/>
          </p:cNvSpPr>
          <p:nvPr/>
        </p:nvSpPr>
        <p:spPr>
          <a:xfrm>
            <a:off x="1704424" y="2630277"/>
            <a:ext cx="2039021" cy="400110"/>
          </a:xfrm>
          <a:prstGeom prst="rect">
            <a:avLst/>
          </a:prstGeom>
          <a:blipFill>
            <a:blip r:embed="rId2"/>
            <a:stretch>
              <a:fillRect b="-1515"/>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6" name="矩形 5"/>
          <p:cNvSpPr>
            <a:spLocks noRot="1" noChangeAspect="1" noMove="1" noResize="1" noEditPoints="1" noAdjustHandles="1" noChangeArrowheads="1" noChangeShapeType="1" noTextEdit="1"/>
          </p:cNvSpPr>
          <p:nvPr/>
        </p:nvSpPr>
        <p:spPr>
          <a:xfrm>
            <a:off x="1688090" y="3163058"/>
            <a:ext cx="2187650" cy="400110"/>
          </a:xfrm>
          <a:prstGeom prst="rect">
            <a:avLst/>
          </a:prstGeom>
          <a:blipFill>
            <a:blip r:embed="rId3"/>
            <a:stretch>
              <a:fillRect b="-1515"/>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7" name="矩形 6"/>
          <p:cNvSpPr>
            <a:spLocks noRot="1" noChangeAspect="1" noMove="1" noResize="1" noEditPoints="1" noAdjustHandles="1" noChangeArrowheads="1" noChangeShapeType="1" noTextEdit="1"/>
          </p:cNvSpPr>
          <p:nvPr/>
        </p:nvSpPr>
        <p:spPr>
          <a:xfrm>
            <a:off x="4188728" y="2630277"/>
            <a:ext cx="3658309" cy="400110"/>
          </a:xfrm>
          <a:prstGeom prst="rect">
            <a:avLst/>
          </a:prstGeom>
          <a:blipFill>
            <a:blip r:embed="rId4"/>
            <a:stretch>
              <a:fillRect l="-1667" t="-10606" b="-22727"/>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38927" name="矩形 7"/>
          <p:cNvSpPr/>
          <p:nvPr/>
        </p:nvSpPr>
        <p:spPr>
          <a:xfrm>
            <a:off x="4189413" y="3176588"/>
            <a:ext cx="2314575" cy="400050"/>
          </a:xfrm>
          <a:prstGeom prst="rect">
            <a:avLst/>
          </a:prstGeom>
          <a:noFill/>
          <a:ln w="9525">
            <a:noFill/>
          </a:ln>
        </p:spPr>
        <p:txBody>
          <a:bodyPr wrap="none">
            <a:spAutoFit/>
          </a:bodyPr>
          <a:p>
            <a:r>
              <a:rPr lang="zh-CN" altLang="zh-CN" dirty="0">
                <a:latin typeface="Times New Roman" panose="02020603050405020304" pitchFamily="18" charset="0"/>
                <a:ea typeface="宋体" panose="02010600030101010101" pitchFamily="2" charset="-122"/>
              </a:rPr>
              <a:t>中心距</a:t>
            </a:r>
            <a:r>
              <a:rPr lang="en-US" altLang="zh-CN" dirty="0">
                <a:latin typeface="Times New Roman" panose="02020603050405020304" pitchFamily="18" charset="0"/>
                <a:ea typeface="宋体" panose="02010600030101010101" pitchFamily="2" charset="-122"/>
              </a:rPr>
              <a:t> a=185mm</a:t>
            </a:r>
            <a:r>
              <a:rPr lang="zh-CN" altLang="zh-CN"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8928" name="矩形 8"/>
          <p:cNvSpPr/>
          <p:nvPr/>
        </p:nvSpPr>
        <p:spPr>
          <a:xfrm>
            <a:off x="695325" y="3757613"/>
            <a:ext cx="2749550" cy="401637"/>
          </a:xfrm>
          <a:prstGeom prst="rect">
            <a:avLst/>
          </a:prstGeom>
          <a:noFill/>
          <a:ln w="9525">
            <a:noFill/>
          </a:ln>
        </p:spPr>
        <p:txBody>
          <a:bodyPr wrap="none">
            <a:spAutoFit/>
          </a:bodyPr>
          <a:p>
            <a:r>
              <a:rPr lang="zh-CN" altLang="en-US" dirty="0">
                <a:latin typeface="Times New Roman" panose="02020603050405020304" pitchFamily="18" charset="0"/>
              </a:rPr>
              <a:t>低速级齿轮计算结果：</a:t>
            </a:r>
            <a:endParaRPr lang="en-US" altLang="zh-CN" dirty="0">
              <a:latin typeface="Times New Roman" panose="02020603050405020304" pitchFamily="18" charset="0"/>
            </a:endParaRPr>
          </a:p>
        </p:txBody>
      </p:sp>
      <p:sp>
        <p:nvSpPr>
          <p:cNvPr id="10" name="矩形 9"/>
          <p:cNvSpPr>
            <a:spLocks noRot="1" noChangeAspect="1" noMove="1" noResize="1" noEditPoints="1" noAdjustHandles="1" noChangeArrowheads="1" noChangeShapeType="1" noTextEdit="1"/>
          </p:cNvSpPr>
          <p:nvPr/>
        </p:nvSpPr>
        <p:spPr>
          <a:xfrm>
            <a:off x="1637924" y="4333078"/>
            <a:ext cx="1700788" cy="400110"/>
          </a:xfrm>
          <a:prstGeom prst="rect">
            <a:avLst/>
          </a:prstGeom>
          <a:blipFill>
            <a:blip r:embed="rId5"/>
            <a:stretch>
              <a:fillRect b="-1538"/>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11" name="矩形 10"/>
          <p:cNvSpPr>
            <a:spLocks noRot="1" noChangeAspect="1" noMove="1" noResize="1" noEditPoints="1" noAdjustHandles="1" noChangeArrowheads="1" noChangeShapeType="1" noTextEdit="1"/>
          </p:cNvSpPr>
          <p:nvPr/>
        </p:nvSpPr>
        <p:spPr>
          <a:xfrm>
            <a:off x="1631962" y="4880005"/>
            <a:ext cx="1706750" cy="400109"/>
          </a:xfrm>
          <a:prstGeom prst="rect">
            <a:avLst/>
          </a:prstGeom>
          <a:blipFill>
            <a:blip r:embed="rId6"/>
            <a:stretch>
              <a:fillRect b="-3077"/>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12" name="矩形 11"/>
          <p:cNvSpPr>
            <a:spLocks noRot="1" noChangeAspect="1" noMove="1" noResize="1" noEditPoints="1" noAdjustHandles="1" noChangeArrowheads="1" noChangeShapeType="1" noTextEdit="1"/>
          </p:cNvSpPr>
          <p:nvPr/>
        </p:nvSpPr>
        <p:spPr>
          <a:xfrm>
            <a:off x="4188728" y="4313598"/>
            <a:ext cx="4572000" cy="400111"/>
          </a:xfrm>
          <a:prstGeom prst="rect">
            <a:avLst/>
          </a:prstGeom>
          <a:blipFill>
            <a:blip r:embed="rId7"/>
            <a:stretch>
              <a:fillRect l="-1333" t="-12308" b="-24615"/>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38932" name="矩形 12"/>
          <p:cNvSpPr/>
          <p:nvPr/>
        </p:nvSpPr>
        <p:spPr>
          <a:xfrm>
            <a:off x="4189413" y="4957763"/>
            <a:ext cx="2122487" cy="400050"/>
          </a:xfrm>
          <a:prstGeom prst="rect">
            <a:avLst/>
          </a:prstGeom>
          <a:noFill/>
          <a:ln w="9525">
            <a:noFill/>
          </a:ln>
        </p:spPr>
        <p:txBody>
          <a:bodyPr wrap="none">
            <a:spAutoFit/>
          </a:bodyPr>
          <a:p>
            <a:r>
              <a:rPr lang="zh-CN" altLang="zh-CN" dirty="0">
                <a:latin typeface="Times New Roman" panose="02020603050405020304" pitchFamily="18" charset="0"/>
                <a:ea typeface="宋体" panose="02010600030101010101" pitchFamily="2" charset="-122"/>
              </a:rPr>
              <a:t>中心距</a:t>
            </a:r>
            <a:r>
              <a:rPr lang="en-US" altLang="zh-CN" dirty="0">
                <a:latin typeface="Times New Roman" panose="02020603050405020304" pitchFamily="18" charset="0"/>
                <a:ea typeface="宋体" panose="02010600030101010101" pitchFamily="2" charset="-122"/>
              </a:rPr>
              <a:t> a=286 mm</a:t>
            </a:r>
            <a:endParaRPr lang="zh-CN" altLang="en-US" dirty="0">
              <a:latin typeface="Times New Roman" panose="02020603050405020304" pitchFamily="18" charset="0"/>
              <a:ea typeface="宋体" panose="02010600030101010101" pitchFamily="2" charset="-122"/>
            </a:endParaRPr>
          </a:p>
        </p:txBody>
      </p:sp>
      <p:sp>
        <p:nvSpPr>
          <p:cNvPr id="38933" name="文本框 13"/>
          <p:cNvSpPr txBox="1"/>
          <p:nvPr/>
        </p:nvSpPr>
        <p:spPr>
          <a:xfrm>
            <a:off x="2741613" y="5702300"/>
            <a:ext cx="3005137" cy="400050"/>
          </a:xfrm>
          <a:prstGeom prst="rect">
            <a:avLst/>
          </a:prstGeom>
          <a:noFill/>
          <a:ln w="9525">
            <a:noFill/>
          </a:ln>
        </p:spPr>
        <p:txBody>
          <a:bodyPr wrap="none">
            <a:spAutoFit/>
          </a:bodyPr>
          <a:p>
            <a:r>
              <a:rPr lang="zh-CN" altLang="en-US" dirty="0">
                <a:latin typeface="Times New Roman" panose="02020603050405020304" pitchFamily="18" charset="0"/>
              </a:rPr>
              <a:t>（按上述尺寸开始画图）</a:t>
            </a:r>
            <a:endParaRPr lang="zh-CN" altLang="en-US" dirty="0">
              <a:latin typeface="Times New Roman" panose="02020603050405020304" pitchFamily="18" charset="0"/>
            </a:endParaRPr>
          </a:p>
        </p:txBody>
      </p:sp>
      <p:pic>
        <p:nvPicPr>
          <p:cNvPr id="38934" name="Picture 23" descr="NEXT">
            <a:hlinkClick r:id="" action="ppaction://hlinkshowjump?jump=nextslide"/>
          </p:cNvPr>
          <p:cNvPicPr>
            <a:picLocks noChangeAspect="1"/>
          </p:cNvPicPr>
          <p:nvPr/>
        </p:nvPicPr>
        <p:blipFill>
          <a:blip r:embed="rId8"/>
          <a:stretch>
            <a:fillRect/>
          </a:stretch>
        </p:blipFill>
        <p:spPr>
          <a:xfrm>
            <a:off x="8797925" y="6538913"/>
            <a:ext cx="287338" cy="287337"/>
          </a:xfrm>
          <a:prstGeom prst="rect">
            <a:avLst/>
          </a:prstGeom>
          <a:noFill/>
          <a:ln w="9525">
            <a:noFill/>
          </a:ln>
        </p:spPr>
      </p:pic>
      <p:sp>
        <p:nvSpPr>
          <p:cNvPr id="1333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2" name="文本框 1"/>
          <p:cNvSpPr txBox="1"/>
          <p:nvPr/>
        </p:nvSpPr>
        <p:spPr>
          <a:xfrm>
            <a:off x="1313815" y="2143125"/>
            <a:ext cx="2186305" cy="398780"/>
          </a:xfrm>
          <a:prstGeom prst="rect">
            <a:avLst/>
          </a:prstGeom>
          <a:noFill/>
        </p:spPr>
        <p:txBody>
          <a:bodyPr wrap="square" rtlCol="0">
            <a:spAutoFit/>
          </a:bodyPr>
          <a:p>
            <a:r>
              <a:rPr lang="en-US" altLang="zh-CN"/>
              <a:t>1) </a:t>
            </a:r>
            <a:r>
              <a:rPr lang="zh-CN" altLang="en-US"/>
              <a:t>选择齿轮材料</a:t>
            </a:r>
            <a:endParaRPr lang="zh-CN" altLang="en-US"/>
          </a:p>
        </p:txBody>
      </p:sp>
      <p:sp>
        <p:nvSpPr>
          <p:cNvPr id="3" name="文本框 2"/>
          <p:cNvSpPr txBox="1"/>
          <p:nvPr/>
        </p:nvSpPr>
        <p:spPr>
          <a:xfrm>
            <a:off x="6504305" y="948055"/>
            <a:ext cx="1220470" cy="398780"/>
          </a:xfrm>
          <a:prstGeom prst="rect">
            <a:avLst/>
          </a:prstGeom>
          <a:noFill/>
        </p:spPr>
        <p:txBody>
          <a:bodyPr wrap="square" rtlCol="0">
            <a:spAutoFit/>
          </a:bodyPr>
          <a:p>
            <a:r>
              <a:rPr lang="zh-CN" altLang="en-US">
                <a:solidFill>
                  <a:srgbClr val="FF0000"/>
                </a:solidFill>
              </a:rPr>
              <a:t>教材</a:t>
            </a:r>
            <a:r>
              <a:rPr lang="en-US" altLang="zh-CN">
                <a:solidFill>
                  <a:srgbClr val="FF0000"/>
                </a:solidFill>
              </a:rPr>
              <a:t>P231</a:t>
            </a:r>
            <a:endParaRPr lang="en-US"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jy117"/>
          <p:cNvPicPr>
            <a:picLocks noChangeAspect="1"/>
          </p:cNvPicPr>
          <p:nvPr>
            <p:custDataLst>
              <p:tags r:id="rId1"/>
            </p:custDataLst>
          </p:nvPr>
        </p:nvPicPr>
        <p:blipFill rotWithShape="1">
          <a:blip r:embed="rId2">
            <a:lum contrast="24000"/>
          </a:blip>
          <a:srcRect l="-1921" t="1035" r="1485" b="27618"/>
          <a:stretch>
            <a:fillRect/>
          </a:stretch>
        </p:blipFill>
        <p:spPr>
          <a:xfrm>
            <a:off x="1223010" y="105410"/>
            <a:ext cx="6266180" cy="6684010"/>
          </a:xfrm>
          <a:prstGeom prst="rect">
            <a:avLst/>
          </a:prstGeom>
          <a:noFill/>
          <a:ln>
            <a:noFill/>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08" name="Picture 8" descr="1"/>
          <p:cNvPicPr>
            <a:picLocks noChangeAspect="1" noChangeArrowheads="1"/>
          </p:cNvPicPr>
          <p:nvPr>
            <p:custDataLst>
              <p:tags r:id="rId1"/>
            </p:custDataLst>
          </p:nvPr>
        </p:nvPicPr>
        <p:blipFill>
          <a:blip r:embed="rId2">
            <a:clrChange>
              <a:clrFrom>
                <a:srgbClr val="000000">
                  <a:alpha val="100000"/>
                </a:srgbClr>
              </a:clrFrom>
              <a:clrTo>
                <a:srgbClr val="000000">
                  <a:alpha val="100000"/>
                  <a:alpha val="0"/>
                </a:srgbClr>
              </a:clrTo>
            </a:clrChange>
            <a:lum contrast="6000"/>
            <a:extLst>
              <a:ext uri="{28A0092B-C50C-407E-A947-70E740481C1C}">
                <a14:useLocalDpi xmlns:a14="http://schemas.microsoft.com/office/drawing/2010/main" val="0"/>
              </a:ext>
            </a:extLst>
          </a:blip>
          <a:srcRect/>
          <a:stretch>
            <a:fillRect/>
          </a:stretch>
        </p:blipFill>
        <p:spPr bwMode="auto">
          <a:xfrm>
            <a:off x="195580" y="106045"/>
            <a:ext cx="5132705" cy="3259455"/>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pic>
      <p:pic>
        <p:nvPicPr>
          <p:cNvPr id="85042" name="图片 85041"/>
          <p:cNvPicPr>
            <a:picLocks noChangeAspect="1"/>
          </p:cNvPicPr>
          <p:nvPr>
            <p:custDataLst>
              <p:tags r:id="rId3"/>
            </p:custDataLst>
          </p:nvPr>
        </p:nvPicPr>
        <p:blipFill>
          <a:blip r:embed="rId4">
            <a:clrChange>
              <a:clrFrom>
                <a:srgbClr val="FFFFFF">
                  <a:alpha val="100000"/>
                </a:srgbClr>
              </a:clrFrom>
              <a:clrTo>
                <a:srgbClr val="FFFFFF">
                  <a:alpha val="100000"/>
                  <a:alpha val="0"/>
                </a:srgbClr>
              </a:clrTo>
            </a:clrChange>
            <a:lum contrast="6000"/>
          </a:blip>
          <a:srcRect l="2571" t="1842" r="1736" b="1489"/>
          <a:stretch>
            <a:fillRect/>
          </a:stretch>
        </p:blipFill>
        <p:spPr>
          <a:xfrm flipH="1">
            <a:off x="4204970" y="2119630"/>
            <a:ext cx="4867275" cy="42005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358408"/>
                                        </p:tgtEl>
                                        <p:attrNameLst>
                                          <p:attrName>style.visibility</p:attrName>
                                        </p:attrNameLst>
                                      </p:cBhvr>
                                      <p:to>
                                        <p:strVal val="visible"/>
                                      </p:to>
                                    </p:set>
                                    <p:animEffect transition="in" filter="box(in)">
                                      <p:cBhvr>
                                        <p:cTn id="7" dur="500"/>
                                        <p:tgtEl>
                                          <p:spTgt spid="358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a:xfrm>
            <a:off x="3561715" y="3879215"/>
            <a:ext cx="0" cy="23272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5" name="直接连接符 4"/>
          <p:cNvCxnSpPr/>
          <p:nvPr/>
        </p:nvCxnSpPr>
        <p:spPr>
          <a:xfrm>
            <a:off x="4445000" y="4050030"/>
            <a:ext cx="0" cy="204279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6" name="直接连接符 5"/>
          <p:cNvCxnSpPr/>
          <p:nvPr/>
        </p:nvCxnSpPr>
        <p:spPr>
          <a:xfrm>
            <a:off x="5819140" y="4167505"/>
            <a:ext cx="0" cy="196913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7" name="直接连接符 6"/>
          <p:cNvCxnSpPr/>
          <p:nvPr/>
        </p:nvCxnSpPr>
        <p:spPr>
          <a:xfrm>
            <a:off x="3559175" y="1348105"/>
            <a:ext cx="0" cy="258318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8" name="直接连接符 7"/>
          <p:cNvCxnSpPr/>
          <p:nvPr/>
        </p:nvCxnSpPr>
        <p:spPr>
          <a:xfrm>
            <a:off x="4449445" y="1377950"/>
            <a:ext cx="0" cy="258318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11" name="直接连接符 10"/>
          <p:cNvCxnSpPr/>
          <p:nvPr/>
        </p:nvCxnSpPr>
        <p:spPr>
          <a:xfrm>
            <a:off x="5819140" y="1134110"/>
            <a:ext cx="0" cy="301244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12" name="直接连接符 11"/>
          <p:cNvCxnSpPr/>
          <p:nvPr/>
        </p:nvCxnSpPr>
        <p:spPr>
          <a:xfrm>
            <a:off x="2727325" y="2531745"/>
            <a:ext cx="4832350" cy="0"/>
          </a:xfrm>
          <a:prstGeom prst="line">
            <a:avLst/>
          </a:prstGeom>
          <a:solidFill>
            <a:schemeClr val="accent1"/>
          </a:solidFill>
          <a:ln w="12700" cap="flat" cmpd="sng" algn="ctr">
            <a:solidFill>
              <a:srgbClr val="FF0000"/>
            </a:solidFill>
            <a:prstDash val="lgDashDot"/>
            <a:round/>
            <a:headEnd type="none" w="med" len="med"/>
            <a:tailEnd type="none" w="med" len="med"/>
          </a:ln>
        </p:spPr>
      </p:cxnSp>
      <p:sp>
        <p:nvSpPr>
          <p:cNvPr id="13" name="椭圆 12"/>
          <p:cNvSpPr/>
          <p:nvPr/>
        </p:nvSpPr>
        <p:spPr>
          <a:xfrm>
            <a:off x="3411855" y="2375535"/>
            <a:ext cx="293370" cy="293370"/>
          </a:xfrm>
          <a:prstGeom prst="ellipse">
            <a:avLst/>
          </a:prstGeom>
          <a:noFill/>
          <a:ln w="12700" cap="flat" cmpd="sng" algn="ctr">
            <a:solidFill>
              <a:srgbClr val="FF0000"/>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4" name="椭圆 13"/>
          <p:cNvSpPr/>
          <p:nvPr/>
        </p:nvSpPr>
        <p:spPr>
          <a:xfrm>
            <a:off x="3687445" y="1758950"/>
            <a:ext cx="1516380" cy="1516380"/>
          </a:xfrm>
          <a:prstGeom prst="ellipse">
            <a:avLst/>
          </a:prstGeom>
          <a:noFill/>
          <a:ln w="12700" cap="flat" cmpd="sng" algn="ctr">
            <a:solidFill>
              <a:srgbClr val="FF0000"/>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5" name="椭圆 14"/>
          <p:cNvSpPr/>
          <p:nvPr/>
        </p:nvSpPr>
        <p:spPr>
          <a:xfrm>
            <a:off x="4725035" y="1445260"/>
            <a:ext cx="2171700" cy="2171700"/>
          </a:xfrm>
          <a:prstGeom prst="ellipse">
            <a:avLst/>
          </a:prstGeom>
          <a:noFill/>
          <a:ln w="12700" cap="flat" cmpd="sng" algn="ctr">
            <a:solidFill>
              <a:schemeClr val="tx2">
                <a:lumMod val="60000"/>
                <a:lumOff val="40000"/>
              </a:schemeClr>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6" name="椭圆 15"/>
          <p:cNvSpPr/>
          <p:nvPr/>
        </p:nvSpPr>
        <p:spPr>
          <a:xfrm>
            <a:off x="4119245" y="2209165"/>
            <a:ext cx="646430" cy="646430"/>
          </a:xfrm>
          <a:prstGeom prst="ellipse">
            <a:avLst/>
          </a:prstGeom>
          <a:noFill/>
          <a:ln w="12700" cap="flat" cmpd="sng" algn="ctr">
            <a:solidFill>
              <a:schemeClr val="tx2">
                <a:lumMod val="60000"/>
                <a:lumOff val="40000"/>
              </a:schemeClr>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17" name="直接连接符 16"/>
          <p:cNvCxnSpPr/>
          <p:nvPr/>
        </p:nvCxnSpPr>
        <p:spPr>
          <a:xfrm>
            <a:off x="3683635" y="5432425"/>
            <a:ext cx="0" cy="57721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18" name="直接连接符 17"/>
          <p:cNvCxnSpPr/>
          <p:nvPr/>
        </p:nvCxnSpPr>
        <p:spPr>
          <a:xfrm>
            <a:off x="3427095" y="5481320"/>
            <a:ext cx="0" cy="577215"/>
          </a:xfrm>
          <a:prstGeom prst="line">
            <a:avLst/>
          </a:prstGeom>
          <a:solidFill>
            <a:schemeClr val="accent1"/>
          </a:solidFill>
          <a:ln w="12700" cap="flat" cmpd="sng" algn="ctr">
            <a:solidFill>
              <a:srgbClr val="FF0000"/>
            </a:solidFill>
            <a:prstDash val="lgDashDot"/>
            <a:round/>
            <a:headEnd type="none" w="med" len="med"/>
            <a:tailEnd type="none" w="med" len="med"/>
          </a:ln>
        </p:spPr>
      </p:cxnSp>
      <p:sp>
        <p:nvSpPr>
          <p:cNvPr id="19" name="矩形 18"/>
          <p:cNvSpPr/>
          <p:nvPr/>
        </p:nvSpPr>
        <p:spPr>
          <a:xfrm>
            <a:off x="3389630" y="5539740"/>
            <a:ext cx="319405" cy="337820"/>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20" name="矩形 19"/>
          <p:cNvSpPr/>
          <p:nvPr/>
        </p:nvSpPr>
        <p:spPr>
          <a:xfrm>
            <a:off x="3649345" y="5567680"/>
            <a:ext cx="1577975" cy="284480"/>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21" name="直接连接符 20"/>
          <p:cNvCxnSpPr/>
          <p:nvPr/>
        </p:nvCxnSpPr>
        <p:spPr>
          <a:xfrm>
            <a:off x="5207635" y="5483860"/>
            <a:ext cx="0" cy="45720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2" name="直接连接符 21"/>
          <p:cNvCxnSpPr/>
          <p:nvPr/>
        </p:nvCxnSpPr>
        <p:spPr>
          <a:xfrm>
            <a:off x="2420620" y="5929630"/>
            <a:ext cx="4676140" cy="0"/>
          </a:xfrm>
          <a:prstGeom prst="line">
            <a:avLst/>
          </a:prstGeom>
          <a:solidFill>
            <a:schemeClr val="accent1"/>
          </a:solidFill>
          <a:ln w="19050" cap="flat" cmpd="sng" algn="ctr">
            <a:solidFill>
              <a:schemeClr val="bg2">
                <a:lumMod val="10000"/>
              </a:schemeClr>
            </a:solidFill>
            <a:prstDash val="solid"/>
            <a:round/>
            <a:headEnd type="none" w="med" len="med"/>
            <a:tailEnd type="none" w="med" len="med"/>
          </a:ln>
        </p:spPr>
      </p:cxnSp>
      <p:sp>
        <p:nvSpPr>
          <p:cNvPr id="23" name="矩形 22"/>
          <p:cNvSpPr/>
          <p:nvPr/>
        </p:nvSpPr>
        <p:spPr>
          <a:xfrm>
            <a:off x="4107815" y="4820285"/>
            <a:ext cx="665480" cy="671830"/>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25" name="矩形 24"/>
          <p:cNvSpPr/>
          <p:nvPr/>
        </p:nvSpPr>
        <p:spPr>
          <a:xfrm>
            <a:off x="4716145" y="4855210"/>
            <a:ext cx="2214245" cy="597535"/>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26" name="直接连接符 25"/>
          <p:cNvCxnSpPr/>
          <p:nvPr/>
        </p:nvCxnSpPr>
        <p:spPr>
          <a:xfrm>
            <a:off x="4152265" y="4753610"/>
            <a:ext cx="1905" cy="7905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7" name="直接连接符 26"/>
          <p:cNvCxnSpPr/>
          <p:nvPr/>
        </p:nvCxnSpPr>
        <p:spPr>
          <a:xfrm>
            <a:off x="4755515" y="4753610"/>
            <a:ext cx="1905" cy="7905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8" name="直接连接符 27"/>
          <p:cNvCxnSpPr/>
          <p:nvPr/>
        </p:nvCxnSpPr>
        <p:spPr>
          <a:xfrm>
            <a:off x="6872605" y="4753610"/>
            <a:ext cx="1905" cy="7905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9" name="直接连接符 28"/>
          <p:cNvCxnSpPr/>
          <p:nvPr/>
        </p:nvCxnSpPr>
        <p:spPr>
          <a:xfrm>
            <a:off x="2401570" y="4762500"/>
            <a:ext cx="4705350" cy="0"/>
          </a:xfrm>
          <a:prstGeom prst="line">
            <a:avLst/>
          </a:prstGeom>
          <a:solidFill>
            <a:schemeClr val="accent1"/>
          </a:solidFill>
          <a:ln w="19050" cap="flat" cmpd="sng" algn="ctr">
            <a:solidFill>
              <a:schemeClr val="bg2">
                <a:lumMod val="10000"/>
              </a:schemeClr>
            </a:solidFill>
            <a:prstDash val="solid"/>
            <a:round/>
            <a:headEnd type="none" w="med" len="med"/>
            <a:tailEnd type="none" w="med" len="med"/>
          </a:ln>
        </p:spPr>
      </p:cxnSp>
      <p:sp>
        <p:nvSpPr>
          <p:cNvPr id="39939" name="Text Box 5"/>
          <p:cNvSpPr txBox="1"/>
          <p:nvPr>
            <p:custDataLst>
              <p:tags r:id="rId1"/>
            </p:custDataLst>
          </p:nvPr>
        </p:nvSpPr>
        <p:spPr>
          <a:xfrm>
            <a:off x="1258570" y="182563"/>
            <a:ext cx="6829425" cy="549275"/>
          </a:xfrm>
          <a:prstGeom prst="rect">
            <a:avLst/>
          </a:prstGeom>
          <a:noFill/>
          <a:ln w="9525">
            <a:noFill/>
          </a:ln>
        </p:spPr>
        <p:txBody>
          <a:bodyPr tIns="36000" bIns="72000" anchor="ctr" anchorCtr="1"/>
          <a:p>
            <a:r>
              <a:rPr lang="zh-CN" altLang="zh-CN" sz="2400" dirty="0">
                <a:solidFill>
                  <a:srgbClr val="C00000"/>
                </a:solidFill>
                <a:latin typeface="黑体" panose="02010609060101010101" pitchFamily="49" charset="-122"/>
                <a:ea typeface="黑体" panose="02010609060101010101" pitchFamily="49" charset="-122"/>
              </a:rPr>
              <a:t>案例</a:t>
            </a:r>
            <a:r>
              <a:rPr lang="en-US" altLang="zh-CN" sz="2400" dirty="0">
                <a:solidFill>
                  <a:srgbClr val="C00000"/>
                </a:solidFill>
                <a:latin typeface="黑体" panose="02010609060101010101" pitchFamily="49" charset="-122"/>
                <a:ea typeface="黑体" panose="02010609060101010101" pitchFamily="49" charset="-122"/>
              </a:rPr>
              <a:t>2</a:t>
            </a:r>
            <a:r>
              <a:rPr lang="zh-CN" altLang="zh-CN" sz="2400" dirty="0">
                <a:solidFill>
                  <a:srgbClr val="C00000"/>
                </a:solidFill>
                <a:latin typeface="黑体" panose="02010609060101010101" pitchFamily="49" charset="-122"/>
                <a:ea typeface="黑体" panose="02010609060101010101" pitchFamily="49" charset="-122"/>
              </a:rPr>
              <a:t>“传动方案</a:t>
            </a:r>
            <a:r>
              <a:rPr lang="en-US" altLang="zh-CN" sz="2400" dirty="0">
                <a:solidFill>
                  <a:srgbClr val="C00000"/>
                </a:solidFill>
                <a:latin typeface="黑体" panose="02010609060101010101" pitchFamily="49" charset="-122"/>
                <a:ea typeface="黑体" panose="02010609060101010101" pitchFamily="49" charset="-122"/>
              </a:rPr>
              <a:t>1</a:t>
            </a:r>
            <a:r>
              <a:rPr lang="zh-CN" altLang="zh-CN" sz="2400" dirty="0">
                <a:solidFill>
                  <a:srgbClr val="C00000"/>
                </a:solidFill>
                <a:latin typeface="黑体" panose="02010609060101010101" pitchFamily="49" charset="-122"/>
                <a:ea typeface="黑体" panose="02010609060101010101" pitchFamily="49" charset="-122"/>
              </a:rPr>
              <a:t>”圆柱齿轮传动的设计</a:t>
            </a:r>
            <a:endParaRPr lang="zh-CN" altLang="zh-CN" sz="2400" dirty="0">
              <a:solidFill>
                <a:srgbClr val="C00000"/>
              </a:solidFill>
              <a:latin typeface="黑体" panose="02010609060101010101" pitchFamily="49" charset="-122"/>
              <a:ea typeface="黑体" panose="02010609060101010101" pitchFamily="49" charset="-122"/>
            </a:endParaRPr>
          </a:p>
        </p:txBody>
      </p:sp>
      <p:sp>
        <p:nvSpPr>
          <p:cNvPr id="39947" name="文本框 2"/>
          <p:cNvSpPr txBox="1"/>
          <p:nvPr>
            <p:custDataLst>
              <p:tags r:id="rId2"/>
            </p:custDataLst>
          </p:nvPr>
        </p:nvSpPr>
        <p:spPr>
          <a:xfrm>
            <a:off x="411163" y="765810"/>
            <a:ext cx="3262312" cy="400050"/>
          </a:xfrm>
          <a:prstGeom prst="rect">
            <a:avLst/>
          </a:prstGeom>
          <a:noFill/>
          <a:ln w="9525">
            <a:noFill/>
          </a:ln>
        </p:spPr>
        <p:txBody>
          <a:bodyPr wrap="none">
            <a:spAutoFit/>
          </a:bodyPr>
          <a:p>
            <a:r>
              <a:rPr lang="zh-CN" altLang="zh-CN" b="1" dirty="0">
                <a:latin typeface="Times New Roman" panose="02020603050405020304" pitchFamily="18" charset="0"/>
              </a:rPr>
              <a:t>（二）开始画减速器装配图</a:t>
            </a:r>
            <a:endParaRPr lang="zh-CN" altLang="zh-CN" dirty="0">
              <a:latin typeface="Times New Roman" panose="02020603050405020304" pitchFamily="18" charset="0"/>
            </a:endParaRPr>
          </a:p>
        </p:txBody>
      </p:sp>
      <p:sp>
        <p:nvSpPr>
          <p:cNvPr id="30" name="文本框 29"/>
          <p:cNvSpPr txBox="1"/>
          <p:nvPr/>
        </p:nvSpPr>
        <p:spPr>
          <a:xfrm>
            <a:off x="696595" y="5127625"/>
            <a:ext cx="1654175" cy="398780"/>
          </a:xfrm>
          <a:prstGeom prst="rect">
            <a:avLst/>
          </a:prstGeom>
          <a:noFill/>
        </p:spPr>
        <p:txBody>
          <a:bodyPr wrap="square" rtlCol="0">
            <a:spAutoFit/>
          </a:bodyPr>
          <a:p>
            <a:r>
              <a:rPr lang="zh-CN" altLang="en-US"/>
              <a:t>下箱体内壁</a:t>
            </a:r>
            <a:endParaRPr lang="zh-CN" altLang="en-US"/>
          </a:p>
        </p:txBody>
      </p:sp>
      <p:sp>
        <p:nvSpPr>
          <p:cNvPr id="31" name="文本框 30"/>
          <p:cNvSpPr txBox="1"/>
          <p:nvPr>
            <p:custDataLst>
              <p:tags r:id="rId3"/>
            </p:custDataLst>
          </p:nvPr>
        </p:nvSpPr>
        <p:spPr>
          <a:xfrm>
            <a:off x="369570" y="1531620"/>
            <a:ext cx="1517015" cy="132207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初绘减速器装配底图，参考设计手册</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 P216～</a:t>
            </a:r>
            <a:endPar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32" name="文本框 31"/>
          <p:cNvSpPr txBox="1"/>
          <p:nvPr>
            <p:custDataLst>
              <p:tags r:id="rId4"/>
            </p:custDataLst>
          </p:nvPr>
        </p:nvSpPr>
        <p:spPr>
          <a:xfrm>
            <a:off x="140335" y="3475355"/>
            <a:ext cx="2224405" cy="132207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（减速箱箱座壁厚δ，查</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设计手册</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P164</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表</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11-1</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设计手册</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P20</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表</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1-34</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a:t>
            </a:r>
            <a:endPar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33" name="文本框 32"/>
          <p:cNvSpPr txBox="1"/>
          <p:nvPr/>
        </p:nvSpPr>
        <p:spPr>
          <a:xfrm>
            <a:off x="2943860" y="5858510"/>
            <a:ext cx="508000" cy="368300"/>
          </a:xfrm>
          <a:prstGeom prst="rect">
            <a:avLst/>
          </a:prstGeom>
          <a:noFill/>
        </p:spPr>
        <p:txBody>
          <a:bodyPr wrap="square" rtlCol="0" anchor="t">
            <a:spAutoFit/>
          </a:bodyPr>
          <a:p>
            <a:r>
              <a:rPr lang="en-US" altLang="zh-CN" sz="1800">
                <a:solidFill>
                  <a:srgbClr val="FF0000"/>
                </a:solidFill>
                <a:latin typeface="Arial" panose="020B0604020202020204" pitchFamily="34" charset="0"/>
                <a:ea typeface="黑体" panose="02010609060101010101" pitchFamily="49" charset="-122"/>
                <a:cs typeface="Arial" panose="020B0604020202020204" pitchFamily="34" charset="0"/>
                <a:sym typeface="+mn-ea"/>
              </a:rPr>
              <a:t>Δ</a:t>
            </a:r>
            <a:r>
              <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rPr>
              <a:t>2</a:t>
            </a:r>
            <a:endPar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endParaRPr>
          </a:p>
        </p:txBody>
      </p:sp>
      <p:sp>
        <p:nvSpPr>
          <p:cNvPr id="34" name="文本框 33"/>
          <p:cNvSpPr txBox="1"/>
          <p:nvPr/>
        </p:nvSpPr>
        <p:spPr>
          <a:xfrm>
            <a:off x="4547870" y="4373245"/>
            <a:ext cx="508000" cy="368300"/>
          </a:xfrm>
          <a:prstGeom prst="rect">
            <a:avLst/>
          </a:prstGeom>
          <a:noFill/>
        </p:spPr>
        <p:txBody>
          <a:bodyPr wrap="square" rtlCol="0" anchor="t">
            <a:spAutoFit/>
          </a:bodyPr>
          <a:p>
            <a:r>
              <a:rPr lang="en-US" altLang="zh-CN" sz="1800">
                <a:solidFill>
                  <a:srgbClr val="FF0000"/>
                </a:solidFill>
                <a:latin typeface="Arial" panose="020B0604020202020204" pitchFamily="34" charset="0"/>
                <a:ea typeface="黑体" panose="02010609060101010101" pitchFamily="49" charset="-122"/>
                <a:cs typeface="Arial" panose="020B0604020202020204" pitchFamily="34" charset="0"/>
                <a:sym typeface="+mn-ea"/>
              </a:rPr>
              <a:t>Δ</a:t>
            </a:r>
            <a:r>
              <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rPr>
              <a:t>2</a:t>
            </a:r>
            <a:endPar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endParaRPr>
          </a:p>
        </p:txBody>
      </p:sp>
      <p:cxnSp>
        <p:nvCxnSpPr>
          <p:cNvPr id="35" name="直接连接符 34"/>
          <p:cNvCxnSpPr/>
          <p:nvPr/>
        </p:nvCxnSpPr>
        <p:spPr>
          <a:xfrm>
            <a:off x="7058025" y="4751070"/>
            <a:ext cx="0" cy="1182370"/>
          </a:xfrm>
          <a:prstGeom prst="line">
            <a:avLst/>
          </a:prstGeom>
          <a:solidFill>
            <a:schemeClr val="accent1"/>
          </a:solidFill>
          <a:ln w="19050" cap="flat" cmpd="sng" algn="ctr">
            <a:solidFill>
              <a:schemeClr val="tx2">
                <a:lumMod val="50000"/>
              </a:schemeClr>
            </a:solidFill>
            <a:prstDash val="solid"/>
            <a:round/>
            <a:headEnd type="none" w="med" len="med"/>
            <a:tailEnd type="none" w="med" len="med"/>
          </a:ln>
        </p:spPr>
      </p:cxnSp>
      <p:sp>
        <p:nvSpPr>
          <p:cNvPr id="36" name="文本框 35"/>
          <p:cNvSpPr txBox="1"/>
          <p:nvPr/>
        </p:nvSpPr>
        <p:spPr>
          <a:xfrm>
            <a:off x="7112635" y="4692015"/>
            <a:ext cx="508000" cy="368300"/>
          </a:xfrm>
          <a:prstGeom prst="rect">
            <a:avLst/>
          </a:prstGeom>
          <a:noFill/>
        </p:spPr>
        <p:txBody>
          <a:bodyPr wrap="square" rtlCol="0" anchor="t">
            <a:spAutoFit/>
          </a:bodyPr>
          <a:p>
            <a:r>
              <a:rPr lang="en-US" altLang="zh-CN" sz="1800">
                <a:solidFill>
                  <a:srgbClr val="FF0000"/>
                </a:solidFill>
                <a:latin typeface="Arial" panose="020B0604020202020204" pitchFamily="34" charset="0"/>
                <a:ea typeface="黑体" panose="02010609060101010101" pitchFamily="49" charset="-122"/>
                <a:cs typeface="Arial" panose="020B0604020202020204" pitchFamily="34" charset="0"/>
                <a:sym typeface="+mn-ea"/>
              </a:rPr>
              <a:t>Δ</a:t>
            </a:r>
            <a:r>
              <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rPr>
              <a:t>1</a:t>
            </a:r>
            <a:endPar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endParaRPr>
          </a:p>
        </p:txBody>
      </p:sp>
      <p:graphicFrame>
        <p:nvGraphicFramePr>
          <p:cNvPr id="37" name="对象 36">
            <a:hlinkClick r:id="" action="ppaction://ole?verb="/>
          </p:cNvPr>
          <p:cNvGraphicFramePr>
            <a:graphicFrameLocks noChangeAspect="1"/>
          </p:cNvGraphicFramePr>
          <p:nvPr/>
        </p:nvGraphicFramePr>
        <p:xfrm>
          <a:off x="7752080" y="4051300"/>
          <a:ext cx="1016635" cy="762635"/>
        </p:xfrm>
        <a:graphic>
          <a:graphicData uri="http://schemas.openxmlformats.org/presentationml/2006/ole">
            <mc:AlternateContent xmlns:mc="http://schemas.openxmlformats.org/markup-compatibility/2006">
              <mc:Choice xmlns:v="urn:schemas-microsoft-com:vml" Requires="v">
                <p:oleObj spid="_x0000_s1025" name="" r:id="rId5" imgW="609600" imgH="457200" progId="Equation.KSEE3">
                  <p:embed/>
                </p:oleObj>
              </mc:Choice>
              <mc:Fallback>
                <p:oleObj name="" r:id="rId5" imgW="609600" imgH="457200" progId="Equation.KSEE3">
                  <p:embed/>
                  <p:pic>
                    <p:nvPicPr>
                      <p:cNvPr id="0" name="图片 1024"/>
                      <p:cNvPicPr/>
                      <p:nvPr/>
                    </p:nvPicPr>
                    <p:blipFill>
                      <a:blip r:embed="rId6"/>
                      <a:stretch>
                        <a:fillRect/>
                      </a:stretch>
                    </p:blipFill>
                    <p:spPr>
                      <a:xfrm>
                        <a:off x="7752080" y="4051300"/>
                        <a:ext cx="1016635" cy="762635"/>
                      </a:xfrm>
                      <a:prstGeom prst="rect">
                        <a:avLst/>
                      </a:prstGeom>
                    </p:spPr>
                  </p:pic>
                </p:oleObj>
              </mc:Fallback>
            </mc:AlternateContent>
          </a:graphicData>
        </a:graphic>
      </p:graphicFrame>
      <p:sp>
        <p:nvSpPr>
          <p:cNvPr id="38" name="文本框 37"/>
          <p:cNvSpPr txBox="1"/>
          <p:nvPr>
            <p:custDataLst>
              <p:tags r:id="rId7"/>
            </p:custDataLst>
          </p:nvPr>
        </p:nvSpPr>
        <p:spPr>
          <a:xfrm>
            <a:off x="2682240" y="1159510"/>
            <a:ext cx="1872615" cy="398780"/>
          </a:xfrm>
          <a:prstGeom prst="rect">
            <a:avLst/>
          </a:prstGeom>
          <a:noFill/>
        </p:spPr>
        <p:txBody>
          <a:bodyPr wrap="square" rtlCol="0">
            <a:spAutoFit/>
          </a:bodyPr>
          <a:p>
            <a:r>
              <a:rPr lang="zh-CN" altLang="en-US">
                <a:solidFill>
                  <a:srgbClr val="0000FF"/>
                </a:solidFill>
              </a:rPr>
              <a:t>高速级齿轮</a:t>
            </a:r>
            <a:endParaRPr lang="zh-CN" altLang="en-US">
              <a:solidFill>
                <a:srgbClr val="0000FF"/>
              </a:solidFill>
            </a:endParaRPr>
          </a:p>
        </p:txBody>
      </p:sp>
      <p:sp>
        <p:nvSpPr>
          <p:cNvPr id="39" name="文本框 38"/>
          <p:cNvSpPr txBox="1"/>
          <p:nvPr>
            <p:custDataLst>
              <p:tags r:id="rId8"/>
            </p:custDataLst>
          </p:nvPr>
        </p:nvSpPr>
        <p:spPr>
          <a:xfrm>
            <a:off x="6054090" y="949960"/>
            <a:ext cx="1872615" cy="398780"/>
          </a:xfrm>
          <a:prstGeom prst="rect">
            <a:avLst/>
          </a:prstGeom>
          <a:noFill/>
        </p:spPr>
        <p:txBody>
          <a:bodyPr wrap="square" rtlCol="0">
            <a:spAutoFit/>
          </a:bodyPr>
          <a:p>
            <a:r>
              <a:rPr lang="zh-CN" altLang="en-US">
                <a:solidFill>
                  <a:srgbClr val="0000FF"/>
                </a:solidFill>
              </a:rPr>
              <a:t>低速级齿轮</a:t>
            </a:r>
            <a:endParaRPr lang="zh-CN" altLang="en-US">
              <a:solidFill>
                <a:srgbClr val="0000FF"/>
              </a:solidFill>
            </a:endParaRPr>
          </a:p>
        </p:txBody>
      </p:sp>
      <p:sp>
        <p:nvSpPr>
          <p:cNvPr id="39945" name="矩形 5"/>
          <p:cNvSpPr/>
          <p:nvPr/>
        </p:nvSpPr>
        <p:spPr>
          <a:xfrm>
            <a:off x="2434590" y="6111558"/>
            <a:ext cx="5481638" cy="400050"/>
          </a:xfrm>
          <a:prstGeom prst="rect">
            <a:avLst/>
          </a:prstGeom>
          <a:noFill/>
          <a:ln w="9525">
            <a:noFill/>
          </a:ln>
        </p:spPr>
        <p:txBody>
          <a:bodyPr wrap="none">
            <a:spAutoFit/>
          </a:bodyPr>
          <a:p>
            <a:r>
              <a:rPr lang="zh-CN" altLang="zh-CN" dirty="0">
                <a:latin typeface="Times New Roman" panose="02020603050405020304" pitchFamily="18" charset="0"/>
                <a:ea typeface="宋体" panose="02010600030101010101" pitchFamily="2" charset="-122"/>
              </a:rPr>
              <a:t> </a:t>
            </a:r>
            <a:r>
              <a:rPr lang="zh-CN" altLang="zh-CN" sz="1600" dirty="0">
                <a:solidFill>
                  <a:schemeClr val="tx1">
                    <a:lumMod val="75000"/>
                  </a:schemeClr>
                </a:solidFill>
                <a:latin typeface="华文中宋" panose="02010600040101010101" pitchFamily="2" charset="-122"/>
                <a:ea typeface="宋体" panose="02010600030101010101" pitchFamily="2" charset="-122"/>
              </a:rPr>
              <a:t>图</a:t>
            </a:r>
            <a:r>
              <a:rPr lang="en-US" altLang="zh-CN" sz="1600" dirty="0">
                <a:solidFill>
                  <a:schemeClr val="tx1">
                    <a:lumMod val="75000"/>
                  </a:schemeClr>
                </a:solidFill>
                <a:latin typeface="华文中宋" panose="02010600040101010101" pitchFamily="2" charset="-122"/>
                <a:ea typeface="宋体" panose="02010600030101010101" pitchFamily="2" charset="-122"/>
              </a:rPr>
              <a:t>3.4-27 </a:t>
            </a:r>
            <a:r>
              <a:rPr lang="zh-CN" altLang="zh-CN" sz="1600" dirty="0">
                <a:solidFill>
                  <a:schemeClr val="tx1">
                    <a:lumMod val="75000"/>
                  </a:schemeClr>
                </a:solidFill>
                <a:latin typeface="Times New Roman" panose="02020603050405020304" pitchFamily="18" charset="0"/>
                <a:ea typeface="宋体" panose="02010600030101010101" pitchFamily="2" charset="-122"/>
              </a:rPr>
              <a:t>画二级圆柱齿轮减速器装配图的第一步（底图）</a:t>
            </a:r>
            <a:endParaRPr lang="zh-CN" altLang="zh-CN" sz="1600" dirty="0">
              <a:solidFill>
                <a:schemeClr val="tx1">
                  <a:lumMod val="75000"/>
                </a:schemeClr>
              </a:solidFill>
              <a:latin typeface="Times New Roman" panose="02020603050405020304" pitchFamily="18" charset="0"/>
              <a:ea typeface="宋体" panose="02010600030101010101" pitchFamily="2" charset="-122"/>
            </a:endParaRPr>
          </a:p>
        </p:txBody>
      </p:sp>
      <p:grpSp>
        <p:nvGrpSpPr>
          <p:cNvPr id="40" name="组合 39"/>
          <p:cNvGrpSpPr/>
          <p:nvPr/>
        </p:nvGrpSpPr>
        <p:grpSpPr>
          <a:xfrm>
            <a:off x="4534535" y="4450080"/>
            <a:ext cx="6350" cy="555625"/>
            <a:chOff x="7141" y="7008"/>
            <a:chExt cx="10" cy="875"/>
          </a:xfrm>
        </p:grpSpPr>
        <p:cxnSp>
          <p:nvCxnSpPr>
            <p:cNvPr id="9" name="直接箭头连接符 8"/>
            <p:cNvCxnSpPr/>
            <p:nvPr/>
          </p:nvCxnSpPr>
          <p:spPr>
            <a:xfrm flipH="1">
              <a:off x="7141" y="7008"/>
              <a:ext cx="9" cy="497"/>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10" name="直接箭头连接符 9"/>
            <p:cNvCxnSpPr/>
            <p:nvPr/>
          </p:nvCxnSpPr>
          <p:spPr>
            <a:xfrm flipV="1">
              <a:off x="7143" y="7593"/>
              <a:ext cx="9" cy="291"/>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24" name="直接连接符 23"/>
            <p:cNvCxnSpPr/>
            <p:nvPr/>
          </p:nvCxnSpPr>
          <p:spPr>
            <a:xfrm>
              <a:off x="7143" y="7481"/>
              <a:ext cx="0" cy="120"/>
            </a:xfrm>
            <a:prstGeom prst="line">
              <a:avLst/>
            </a:prstGeom>
            <a:solidFill>
              <a:schemeClr val="accent1"/>
            </a:solidFill>
            <a:ln w="9525" cap="flat" cmpd="sng" algn="ctr">
              <a:solidFill>
                <a:srgbClr val="FF3300"/>
              </a:solidFill>
              <a:prstDash val="solid"/>
              <a:round/>
              <a:headEnd type="none" w="med" len="med"/>
              <a:tailEnd type="none" w="med" len="med"/>
            </a:ln>
          </p:spPr>
        </p:cxnSp>
      </p:grpSp>
      <p:grpSp>
        <p:nvGrpSpPr>
          <p:cNvPr id="41" name="组合 40"/>
          <p:cNvGrpSpPr/>
          <p:nvPr/>
        </p:nvGrpSpPr>
        <p:grpSpPr>
          <a:xfrm>
            <a:off x="3491865" y="5579110"/>
            <a:ext cx="6350" cy="555625"/>
            <a:chOff x="7141" y="7008"/>
            <a:chExt cx="10" cy="875"/>
          </a:xfrm>
        </p:grpSpPr>
        <p:cxnSp>
          <p:nvCxnSpPr>
            <p:cNvPr id="42" name="直接箭头连接符 41"/>
            <p:cNvCxnSpPr/>
            <p:nvPr>
              <p:custDataLst>
                <p:tags r:id="rId9"/>
              </p:custDataLst>
            </p:nvPr>
          </p:nvCxnSpPr>
          <p:spPr>
            <a:xfrm flipH="1">
              <a:off x="7141" y="7008"/>
              <a:ext cx="9" cy="497"/>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3" name="直接箭头连接符 42"/>
            <p:cNvCxnSpPr/>
            <p:nvPr>
              <p:custDataLst>
                <p:tags r:id="rId10"/>
              </p:custDataLst>
            </p:nvPr>
          </p:nvCxnSpPr>
          <p:spPr>
            <a:xfrm flipV="1">
              <a:off x="7143" y="7593"/>
              <a:ext cx="9" cy="291"/>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4" name="直接连接符 43"/>
            <p:cNvCxnSpPr/>
            <p:nvPr>
              <p:custDataLst>
                <p:tags r:id="rId11"/>
              </p:custDataLst>
            </p:nvPr>
          </p:nvCxnSpPr>
          <p:spPr>
            <a:xfrm>
              <a:off x="7143" y="7481"/>
              <a:ext cx="0" cy="120"/>
            </a:xfrm>
            <a:prstGeom prst="line">
              <a:avLst/>
            </a:prstGeom>
            <a:solidFill>
              <a:schemeClr val="accent1"/>
            </a:solidFill>
            <a:ln w="9525" cap="flat" cmpd="sng" algn="ctr">
              <a:solidFill>
                <a:srgbClr val="FF3300"/>
              </a:solidFill>
              <a:prstDash val="solid"/>
              <a:round/>
              <a:headEnd type="none" w="med" len="med"/>
              <a:tailEnd type="none" w="med" len="med"/>
            </a:ln>
          </p:spPr>
        </p:cxnSp>
      </p:grpSp>
      <p:grpSp>
        <p:nvGrpSpPr>
          <p:cNvPr id="45" name="组合 44"/>
          <p:cNvGrpSpPr/>
          <p:nvPr/>
        </p:nvGrpSpPr>
        <p:grpSpPr>
          <a:xfrm rot="16200000">
            <a:off x="6948170" y="4839335"/>
            <a:ext cx="6985" cy="594360"/>
            <a:chOff x="7141" y="6948"/>
            <a:chExt cx="11" cy="936"/>
          </a:xfrm>
        </p:grpSpPr>
        <p:cxnSp>
          <p:nvCxnSpPr>
            <p:cNvPr id="46" name="直接箭头连接符 45"/>
            <p:cNvCxnSpPr/>
            <p:nvPr/>
          </p:nvCxnSpPr>
          <p:spPr>
            <a:xfrm flipH="1">
              <a:off x="7141" y="6948"/>
              <a:ext cx="9" cy="497"/>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7" name="直接箭头连接符 46"/>
            <p:cNvCxnSpPr/>
            <p:nvPr/>
          </p:nvCxnSpPr>
          <p:spPr>
            <a:xfrm flipV="1">
              <a:off x="7143" y="7593"/>
              <a:ext cx="9" cy="291"/>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8" name="直接连接符 47"/>
            <p:cNvCxnSpPr/>
            <p:nvPr/>
          </p:nvCxnSpPr>
          <p:spPr>
            <a:xfrm>
              <a:off x="7143" y="7332"/>
              <a:ext cx="0" cy="270"/>
            </a:xfrm>
            <a:prstGeom prst="line">
              <a:avLst/>
            </a:prstGeom>
            <a:solidFill>
              <a:schemeClr val="accent1"/>
            </a:solidFill>
            <a:ln w="9525" cap="flat" cmpd="sng" algn="ctr">
              <a:solidFill>
                <a:srgbClr val="FF33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up)">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wipe(left)">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wipe(left)">
                                      <p:cBhvr>
                                        <p:cTn id="72" dur="50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up)">
                                      <p:cBhvr>
                                        <p:cTn id="77" dur="500"/>
                                        <p:tgtEl>
                                          <p:spTgt spid="18"/>
                                        </p:tgtEl>
                                      </p:cBhvr>
                                    </p:animEffect>
                                  </p:childTnLst>
                                </p:cTn>
                              </p:par>
                              <p:par>
                                <p:cTn id="78" presetID="22" presetClass="entr" presetSubtype="1" fill="hold"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up)">
                                      <p:cBhvr>
                                        <p:cTn id="80" dur="500"/>
                                        <p:tgtEl>
                                          <p:spTgt spid="1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wipe(left)">
                                      <p:cBhvr>
                                        <p:cTn id="85" dur="500"/>
                                        <p:tgtEl>
                                          <p:spTgt spid="1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wipe(up)">
                                      <p:cBhvr>
                                        <p:cTn id="90" dur="500"/>
                                        <p:tgtEl>
                                          <p:spTgt spid="2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wipe(left)">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left)">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wipe(left)">
                                      <p:cBhvr>
                                        <p:cTn id="105" dur="500"/>
                                        <p:tgtEl>
                                          <p:spTgt spid="2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wipe(down)">
                                      <p:cBhvr>
                                        <p:cTn id="110" dur="500"/>
                                        <p:tgtEl>
                                          <p:spTgt spid="33"/>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wipe(left)">
                                      <p:cBhvr>
                                        <p:cTn id="115" dur="500"/>
                                        <p:tgtEl>
                                          <p:spTgt spid="32"/>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3"/>
                                        </p:tgtEl>
                                        <p:attrNameLst>
                                          <p:attrName>style.visibility</p:attrName>
                                        </p:attrNameLst>
                                      </p:cBhvr>
                                      <p:to>
                                        <p:strVal val="visible"/>
                                      </p:to>
                                    </p:set>
                                    <p:animEffect transition="in" filter="wipe(left)">
                                      <p:cBhvr>
                                        <p:cTn id="120" dur="500"/>
                                        <p:tgtEl>
                                          <p:spTgt spid="23"/>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25"/>
                                        </p:tgtEl>
                                        <p:attrNameLst>
                                          <p:attrName>style.visibility</p:attrName>
                                        </p:attrNameLst>
                                      </p:cBhvr>
                                      <p:to>
                                        <p:strVal val="visible"/>
                                      </p:to>
                                    </p:set>
                                    <p:animEffect transition="in" filter="wipe(left)">
                                      <p:cBhvr>
                                        <p:cTn id="125" dur="500"/>
                                        <p:tgtEl>
                                          <p:spTgt spid="25"/>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nodeType="click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wipe(up)">
                                      <p:cBhvr>
                                        <p:cTn id="130" dur="500"/>
                                        <p:tgtEl>
                                          <p:spTgt spid="26"/>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27"/>
                                        </p:tgtEl>
                                        <p:attrNameLst>
                                          <p:attrName>style.visibility</p:attrName>
                                        </p:attrNameLst>
                                      </p:cBhvr>
                                      <p:to>
                                        <p:strVal val="visible"/>
                                      </p:to>
                                    </p:set>
                                    <p:animEffect transition="in" filter="wipe(up)">
                                      <p:cBhvr>
                                        <p:cTn id="135" dur="500"/>
                                        <p:tgtEl>
                                          <p:spTgt spid="27"/>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1" fill="hold" nodeType="clickEffect">
                                  <p:stCondLst>
                                    <p:cond delay="0"/>
                                  </p:stCondLst>
                                  <p:childTnLst>
                                    <p:set>
                                      <p:cBhvr>
                                        <p:cTn id="139" dur="1" fill="hold">
                                          <p:stCondLst>
                                            <p:cond delay="0"/>
                                          </p:stCondLst>
                                        </p:cTn>
                                        <p:tgtEl>
                                          <p:spTgt spid="28"/>
                                        </p:tgtEl>
                                        <p:attrNameLst>
                                          <p:attrName>style.visibility</p:attrName>
                                        </p:attrNameLst>
                                      </p:cBhvr>
                                      <p:to>
                                        <p:strVal val="visible"/>
                                      </p:to>
                                    </p:set>
                                    <p:animEffect transition="in" filter="wipe(up)">
                                      <p:cBhvr>
                                        <p:cTn id="140" dur="500"/>
                                        <p:tgtEl>
                                          <p:spTgt spid="28"/>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grpId="0" nodeType="clickEffect">
                                  <p:stCondLst>
                                    <p:cond delay="0"/>
                                  </p:stCondLst>
                                  <p:childTnLst>
                                    <p:set>
                                      <p:cBhvr>
                                        <p:cTn id="144" dur="1" fill="hold">
                                          <p:stCondLst>
                                            <p:cond delay="0"/>
                                          </p:stCondLst>
                                        </p:cTn>
                                        <p:tgtEl>
                                          <p:spTgt spid="34"/>
                                        </p:tgtEl>
                                        <p:attrNameLst>
                                          <p:attrName>style.visibility</p:attrName>
                                        </p:attrNameLst>
                                      </p:cBhvr>
                                      <p:to>
                                        <p:strVal val="visible"/>
                                      </p:to>
                                    </p:set>
                                    <p:animEffect transition="in" filter="wipe(down)">
                                      <p:cBhvr>
                                        <p:cTn id="145" dur="500"/>
                                        <p:tgtEl>
                                          <p:spTgt spid="34"/>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nodeType="clickEffect">
                                  <p:stCondLst>
                                    <p:cond delay="0"/>
                                  </p:stCondLst>
                                  <p:childTnLst>
                                    <p:set>
                                      <p:cBhvr>
                                        <p:cTn id="149" dur="1" fill="hold">
                                          <p:stCondLst>
                                            <p:cond delay="0"/>
                                          </p:stCondLst>
                                        </p:cTn>
                                        <p:tgtEl>
                                          <p:spTgt spid="29"/>
                                        </p:tgtEl>
                                        <p:attrNameLst>
                                          <p:attrName>style.visibility</p:attrName>
                                        </p:attrNameLst>
                                      </p:cBhvr>
                                      <p:to>
                                        <p:strVal val="visible"/>
                                      </p:to>
                                    </p:set>
                                    <p:animEffect transition="in" filter="wipe(left)">
                                      <p:cBhvr>
                                        <p:cTn id="150" dur="500"/>
                                        <p:tgtEl>
                                          <p:spTgt spid="29"/>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grpId="0" nodeType="click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wipe(down)">
                                      <p:cBhvr>
                                        <p:cTn id="155" dur="500"/>
                                        <p:tgtEl>
                                          <p:spTgt spid="36"/>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nodeType="click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wipe(down)">
                                      <p:cBhvr>
                                        <p:cTn id="160" dur="500"/>
                                        <p:tgtEl>
                                          <p:spTgt spid="35"/>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nodeType="click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wipe(left)">
                                      <p:cBhvr>
                                        <p:cTn id="165" dur="500"/>
                                        <p:tgtEl>
                                          <p:spTgt spid="37"/>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39945"/>
                                        </p:tgtEl>
                                        <p:attrNameLst>
                                          <p:attrName>style.visibility</p:attrName>
                                        </p:attrNameLst>
                                      </p:cBhvr>
                                      <p:to>
                                        <p:strVal val="visible"/>
                                      </p:to>
                                    </p:set>
                                    <p:animEffect transition="in" filter="wipe(left)">
                                      <p:cBhvr>
                                        <p:cTn id="170" dur="500"/>
                                        <p:tgtEl>
                                          <p:spTgt spid="39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6" grpId="0" bldLvl="0" animBg="1"/>
      <p:bldP spid="19" grpId="0" bldLvl="0" animBg="1"/>
      <p:bldP spid="20" grpId="0" bldLvl="0" animBg="1"/>
      <p:bldP spid="23" grpId="0" bldLvl="0" animBg="1"/>
      <p:bldP spid="25" grpId="0" bldLvl="0" animBg="1"/>
      <p:bldP spid="30" grpId="0"/>
      <p:bldP spid="31" grpId="0"/>
      <p:bldP spid="32" grpId="0"/>
      <p:bldP spid="33" grpId="0"/>
      <p:bldP spid="34" grpId="0"/>
      <p:bldP spid="36" grpId="0"/>
      <p:bldP spid="38" grpId="0"/>
      <p:bldP spid="39" grpId="0"/>
      <p:bldP spid="39945" grpId="0"/>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9938"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39939" name="Text Box 5"/>
          <p:cNvSpPr txBox="1"/>
          <p:nvPr/>
        </p:nvSpPr>
        <p:spPr>
          <a:xfrm>
            <a:off x="1968500" y="217488"/>
            <a:ext cx="6829425" cy="549275"/>
          </a:xfrm>
          <a:prstGeom prst="rect">
            <a:avLst/>
          </a:prstGeom>
          <a:noFill/>
          <a:ln w="9525">
            <a:noFill/>
          </a:ln>
        </p:spPr>
        <p:txBody>
          <a:bodyPr tIns="36000" bIns="72000" anchor="ctr" anchorCtr="1"/>
          <a:p>
            <a:r>
              <a:rPr lang="zh-CN" altLang="zh-CN" sz="2400" dirty="0">
                <a:solidFill>
                  <a:srgbClr val="C00000"/>
                </a:solidFill>
                <a:latin typeface="黑体" panose="02010609060101010101" pitchFamily="49" charset="-122"/>
                <a:ea typeface="黑体" panose="02010609060101010101" pitchFamily="49" charset="-122"/>
              </a:rPr>
              <a:t>案例</a:t>
            </a:r>
            <a:r>
              <a:rPr lang="en-US" altLang="zh-CN" sz="2400" dirty="0">
                <a:solidFill>
                  <a:srgbClr val="C00000"/>
                </a:solidFill>
                <a:latin typeface="黑体" panose="02010609060101010101" pitchFamily="49" charset="-122"/>
                <a:ea typeface="黑体" panose="02010609060101010101" pitchFamily="49" charset="-122"/>
              </a:rPr>
              <a:t>2</a:t>
            </a:r>
            <a:r>
              <a:rPr lang="zh-CN" altLang="zh-CN" sz="2400" dirty="0">
                <a:solidFill>
                  <a:srgbClr val="C00000"/>
                </a:solidFill>
                <a:latin typeface="黑体" panose="02010609060101010101" pitchFamily="49" charset="-122"/>
                <a:ea typeface="黑体" panose="02010609060101010101" pitchFamily="49" charset="-122"/>
              </a:rPr>
              <a:t>“传动方案</a:t>
            </a:r>
            <a:r>
              <a:rPr lang="en-US" altLang="zh-CN" sz="2400" dirty="0">
                <a:solidFill>
                  <a:srgbClr val="C00000"/>
                </a:solidFill>
                <a:latin typeface="黑体" panose="02010609060101010101" pitchFamily="49" charset="-122"/>
                <a:ea typeface="黑体" panose="02010609060101010101" pitchFamily="49" charset="-122"/>
              </a:rPr>
              <a:t>1</a:t>
            </a:r>
            <a:r>
              <a:rPr lang="zh-CN" altLang="zh-CN" sz="2400" dirty="0">
                <a:solidFill>
                  <a:srgbClr val="C00000"/>
                </a:solidFill>
                <a:latin typeface="黑体" panose="02010609060101010101" pitchFamily="49" charset="-122"/>
                <a:ea typeface="黑体" panose="02010609060101010101" pitchFamily="49" charset="-122"/>
              </a:rPr>
              <a:t>”圆柱齿轮传动的设计</a:t>
            </a:r>
            <a:endParaRPr lang="zh-CN" altLang="zh-CN" sz="2400" dirty="0">
              <a:solidFill>
                <a:srgbClr val="C00000"/>
              </a:solidFill>
              <a:latin typeface="黑体" panose="02010609060101010101" pitchFamily="49" charset="-122"/>
              <a:ea typeface="黑体" panose="02010609060101010101" pitchFamily="49" charset="-122"/>
            </a:endParaRPr>
          </a:p>
        </p:txBody>
      </p:sp>
      <p:pic>
        <p:nvPicPr>
          <p:cNvPr id="39940" name="Picture 24" descr="rewind">
            <a:hlinkClick r:id="" action="ppaction://hlinkshowjump?jump=firstslide"/>
          </p:cNvPr>
          <p:cNvPicPr>
            <a:picLocks noChangeAspect="1"/>
          </p:cNvPicPr>
          <p:nvPr/>
        </p:nvPicPr>
        <p:blipFill>
          <a:blip r:embed="rId1"/>
          <a:stretch>
            <a:fillRect/>
          </a:stretch>
        </p:blipFill>
        <p:spPr>
          <a:xfrm>
            <a:off x="8302625" y="6570663"/>
            <a:ext cx="287338" cy="287337"/>
          </a:xfrm>
          <a:prstGeom prst="rect">
            <a:avLst/>
          </a:prstGeom>
          <a:noFill/>
          <a:ln w="9525">
            <a:noFill/>
          </a:ln>
        </p:spPr>
      </p:pic>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39942"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39943" name="Rectangle 23"/>
          <p:cNvSpPr/>
          <p:nvPr/>
        </p:nvSpPr>
        <p:spPr>
          <a:xfrm>
            <a:off x="0" y="44132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39944"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39945" name="矩形 5"/>
          <p:cNvSpPr/>
          <p:nvPr/>
        </p:nvSpPr>
        <p:spPr>
          <a:xfrm>
            <a:off x="2951480" y="6120448"/>
            <a:ext cx="5481638" cy="400050"/>
          </a:xfrm>
          <a:prstGeom prst="rect">
            <a:avLst/>
          </a:prstGeom>
          <a:noFill/>
          <a:ln w="9525">
            <a:noFill/>
          </a:ln>
        </p:spPr>
        <p:txBody>
          <a:bodyPr wrap="none">
            <a:spAutoFit/>
          </a:bodyPr>
          <a:p>
            <a:r>
              <a:rPr lang="zh-CN" altLang="zh-CN" dirty="0">
                <a:latin typeface="Times New Roman" panose="02020603050405020304" pitchFamily="18" charset="0"/>
                <a:ea typeface="宋体" panose="02010600030101010101" pitchFamily="2" charset="-122"/>
              </a:rPr>
              <a:t> </a:t>
            </a:r>
            <a:r>
              <a:rPr lang="zh-CN" altLang="zh-CN" sz="1600" dirty="0">
                <a:solidFill>
                  <a:schemeClr val="tx1">
                    <a:lumMod val="75000"/>
                  </a:schemeClr>
                </a:solidFill>
                <a:latin typeface="华文中宋" panose="02010600040101010101" pitchFamily="2" charset="-122"/>
                <a:ea typeface="宋体" panose="02010600030101010101" pitchFamily="2" charset="-122"/>
              </a:rPr>
              <a:t>图</a:t>
            </a:r>
            <a:r>
              <a:rPr lang="en-US" altLang="zh-CN" sz="1600" dirty="0">
                <a:solidFill>
                  <a:schemeClr val="tx1">
                    <a:lumMod val="75000"/>
                  </a:schemeClr>
                </a:solidFill>
                <a:latin typeface="华文中宋" panose="02010600040101010101" pitchFamily="2" charset="-122"/>
                <a:ea typeface="宋体" panose="02010600030101010101" pitchFamily="2" charset="-122"/>
              </a:rPr>
              <a:t>3.4-27 </a:t>
            </a:r>
            <a:r>
              <a:rPr lang="zh-CN" altLang="zh-CN" sz="1600" dirty="0">
                <a:solidFill>
                  <a:schemeClr val="tx1">
                    <a:lumMod val="75000"/>
                  </a:schemeClr>
                </a:solidFill>
                <a:latin typeface="Times New Roman" panose="02020603050405020304" pitchFamily="18" charset="0"/>
                <a:ea typeface="宋体" panose="02010600030101010101" pitchFamily="2" charset="-122"/>
              </a:rPr>
              <a:t>画二级圆柱齿轮减速器装配图的第一步（底图）</a:t>
            </a:r>
            <a:endParaRPr lang="zh-CN" altLang="zh-CN" sz="1600" dirty="0">
              <a:solidFill>
                <a:schemeClr val="tx1">
                  <a:lumMod val="75000"/>
                </a:schemeClr>
              </a:solidFill>
              <a:latin typeface="Times New Roman" panose="02020603050405020304" pitchFamily="18" charset="0"/>
              <a:ea typeface="宋体" panose="02010600030101010101" pitchFamily="2" charset="-122"/>
            </a:endParaRPr>
          </a:p>
        </p:txBody>
      </p:sp>
      <p:pic>
        <p:nvPicPr>
          <p:cNvPr id="39946" name="图片 13"/>
          <p:cNvPicPr>
            <a:picLocks noChangeAspect="1"/>
          </p:cNvPicPr>
          <p:nvPr>
            <p:custDataLst>
              <p:tags r:id="rId2"/>
            </p:custDataLst>
          </p:nvPr>
        </p:nvPicPr>
        <p:blipFill>
          <a:blip r:embed="rId3"/>
          <a:stretch>
            <a:fillRect/>
          </a:stretch>
        </p:blipFill>
        <p:spPr>
          <a:xfrm>
            <a:off x="3042920" y="733425"/>
            <a:ext cx="5755005" cy="5408930"/>
          </a:xfrm>
          <a:prstGeom prst="rect">
            <a:avLst/>
          </a:prstGeom>
          <a:noFill/>
          <a:ln w="9525">
            <a:noFill/>
          </a:ln>
        </p:spPr>
      </p:pic>
      <p:sp>
        <p:nvSpPr>
          <p:cNvPr id="39947" name="文本框 2"/>
          <p:cNvSpPr txBox="1"/>
          <p:nvPr/>
        </p:nvSpPr>
        <p:spPr>
          <a:xfrm>
            <a:off x="481013" y="809625"/>
            <a:ext cx="3262312" cy="400050"/>
          </a:xfrm>
          <a:prstGeom prst="rect">
            <a:avLst/>
          </a:prstGeom>
          <a:noFill/>
          <a:ln w="9525">
            <a:noFill/>
          </a:ln>
        </p:spPr>
        <p:txBody>
          <a:bodyPr wrap="none">
            <a:spAutoFit/>
          </a:bodyPr>
          <a:p>
            <a:r>
              <a:rPr lang="zh-CN" altLang="zh-CN" b="1" dirty="0">
                <a:latin typeface="Times New Roman" panose="02020603050405020304" pitchFamily="18" charset="0"/>
              </a:rPr>
              <a:t>（二）开始画减速器装配图</a:t>
            </a:r>
            <a:endParaRPr lang="zh-CN" altLang="zh-CN" dirty="0">
              <a:latin typeface="Times New Roman" panose="02020603050405020304" pitchFamily="18" charset="0"/>
            </a:endParaRPr>
          </a:p>
        </p:txBody>
      </p:sp>
      <p:pic>
        <p:nvPicPr>
          <p:cNvPr id="39948" name="Picture 29" descr="back">
            <a:hlinkClick r:id="" action="ppaction://hlinkshowjump?jump=previousslide"/>
          </p:cNvPr>
          <p:cNvPicPr>
            <a:picLocks noChangeAspect="1"/>
          </p:cNvPicPr>
          <p:nvPr/>
        </p:nvPicPr>
        <p:blipFill>
          <a:blip r:embed="rId4"/>
          <a:stretch>
            <a:fillRect/>
          </a:stretch>
        </p:blipFill>
        <p:spPr>
          <a:xfrm>
            <a:off x="8653463" y="6557963"/>
            <a:ext cx="288925" cy="287337"/>
          </a:xfrm>
          <a:prstGeom prst="rect">
            <a:avLst/>
          </a:prstGeom>
          <a:noFill/>
          <a:ln w="9525">
            <a:noFill/>
          </a:ln>
        </p:spPr>
      </p:pic>
      <p:sp>
        <p:nvSpPr>
          <p:cNvPr id="2" name="文本框 1"/>
          <p:cNvSpPr txBox="1"/>
          <p:nvPr/>
        </p:nvSpPr>
        <p:spPr>
          <a:xfrm>
            <a:off x="387350" y="1899285"/>
            <a:ext cx="2043430" cy="101473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初绘减速器装配底图，参考设计手册</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 P216～</a:t>
            </a:r>
            <a:endPar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3" name="文本框 2"/>
          <p:cNvSpPr txBox="1"/>
          <p:nvPr/>
        </p:nvSpPr>
        <p:spPr>
          <a:xfrm>
            <a:off x="52705" y="5086985"/>
            <a:ext cx="2898775" cy="101473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（减速箱箱座壁厚δ，查</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设计手册</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P164</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表</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11-1</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设计手册</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P20</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表</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1-34</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a:t>
            </a:r>
            <a:endPar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6" name="矩形 5"/>
          <p:cNvSpPr/>
          <p:nvPr/>
        </p:nvSpPr>
        <p:spPr>
          <a:xfrm>
            <a:off x="4676775" y="5735320"/>
            <a:ext cx="419735" cy="335280"/>
          </a:xfrm>
          <a:prstGeom prst="rect">
            <a:avLst/>
          </a:prstGeom>
          <a:noFill/>
          <a:ln w="19050"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graphicFrame>
        <p:nvGraphicFramePr>
          <p:cNvPr id="7" name="对象 6">
            <a:hlinkClick r:id="" action="ppaction://ole?verb="/>
          </p:cNvPr>
          <p:cNvGraphicFramePr>
            <a:graphicFrameLocks noChangeAspect="1"/>
          </p:cNvGraphicFramePr>
          <p:nvPr/>
        </p:nvGraphicFramePr>
        <p:xfrm>
          <a:off x="928370" y="3776980"/>
          <a:ext cx="1148080" cy="542290"/>
        </p:xfrm>
        <a:graphic>
          <a:graphicData uri="http://schemas.openxmlformats.org/presentationml/2006/ole">
            <mc:AlternateContent xmlns:mc="http://schemas.openxmlformats.org/markup-compatibility/2006">
              <mc:Choice xmlns:v="urn:schemas-microsoft-com:vml" Requires="v">
                <p:oleObj spid="_x0000_s1026" name="" r:id="rId5" imgW="457200" imgH="215900" progId="Equation.KSEE3">
                  <p:embed/>
                </p:oleObj>
              </mc:Choice>
              <mc:Fallback>
                <p:oleObj name="" r:id="rId5" imgW="457200" imgH="215900" progId="Equation.KSEE3">
                  <p:embed/>
                  <p:pic>
                    <p:nvPicPr>
                      <p:cNvPr id="0" name="图片 1025"/>
                      <p:cNvPicPr/>
                      <p:nvPr/>
                    </p:nvPicPr>
                    <p:blipFill>
                      <a:blip r:embed="rId6"/>
                      <a:stretch>
                        <a:fillRect/>
                      </a:stretch>
                    </p:blipFill>
                    <p:spPr>
                      <a:xfrm>
                        <a:off x="928370" y="3776980"/>
                        <a:ext cx="1148080" cy="542290"/>
                      </a:xfrm>
                      <a:prstGeom prst="rect">
                        <a:avLst/>
                      </a:prstGeom>
                    </p:spPr>
                  </p:pic>
                </p:oleObj>
              </mc:Fallback>
            </mc:AlternateContent>
          </a:graphicData>
        </a:graphic>
      </p:graphicFrame>
      <p:sp>
        <p:nvSpPr>
          <p:cNvPr id="8" name="矩形 7"/>
          <p:cNvSpPr/>
          <p:nvPr/>
        </p:nvSpPr>
        <p:spPr>
          <a:xfrm>
            <a:off x="447040" y="3408045"/>
            <a:ext cx="1984375" cy="1239520"/>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9" name="直接箭头连接符 8"/>
          <p:cNvCxnSpPr/>
          <p:nvPr/>
        </p:nvCxnSpPr>
        <p:spPr>
          <a:xfrm flipH="1" flipV="1">
            <a:off x="4835525" y="1488440"/>
            <a:ext cx="512445" cy="186690"/>
          </a:xfrm>
          <a:prstGeom prst="straightConnector1">
            <a:avLst/>
          </a:prstGeom>
          <a:solidFill>
            <a:schemeClr val="accent1"/>
          </a:solidFill>
          <a:ln w="19050" cap="flat" cmpd="sng" algn="ctr">
            <a:solidFill>
              <a:srgbClr val="0000FF"/>
            </a:solidFill>
            <a:prstDash val="solid"/>
            <a:round/>
            <a:headEnd type="none" w="med" len="med"/>
            <a:tailEnd type="triangle" w="med" len="med"/>
          </a:ln>
        </p:spPr>
      </p:cxnSp>
      <p:cxnSp>
        <p:nvCxnSpPr>
          <p:cNvPr id="10" name="直接箭头连接符 9"/>
          <p:cNvCxnSpPr/>
          <p:nvPr/>
        </p:nvCxnSpPr>
        <p:spPr>
          <a:xfrm flipH="1" flipV="1">
            <a:off x="4826000" y="1535430"/>
            <a:ext cx="167640" cy="456565"/>
          </a:xfrm>
          <a:prstGeom prst="straightConnector1">
            <a:avLst/>
          </a:prstGeom>
          <a:solidFill>
            <a:schemeClr val="accent1"/>
          </a:solidFill>
          <a:ln w="19050" cap="flat" cmpd="sng" algn="ctr">
            <a:solidFill>
              <a:srgbClr val="0000FF"/>
            </a:solidFill>
            <a:prstDash val="solid"/>
            <a:round/>
            <a:headEnd type="none" w="med" len="med"/>
            <a:tailEnd type="triangle" w="med" len="med"/>
          </a:ln>
        </p:spPr>
      </p:cxnSp>
      <p:sp>
        <p:nvSpPr>
          <p:cNvPr id="11" name="文本框 10"/>
          <p:cNvSpPr txBox="1"/>
          <p:nvPr/>
        </p:nvSpPr>
        <p:spPr>
          <a:xfrm>
            <a:off x="3864610" y="984885"/>
            <a:ext cx="1872615" cy="398780"/>
          </a:xfrm>
          <a:prstGeom prst="rect">
            <a:avLst/>
          </a:prstGeom>
          <a:noFill/>
        </p:spPr>
        <p:txBody>
          <a:bodyPr wrap="square" rtlCol="0">
            <a:spAutoFit/>
          </a:bodyPr>
          <a:p>
            <a:r>
              <a:rPr lang="zh-CN" altLang="en-US">
                <a:solidFill>
                  <a:srgbClr val="0000FF"/>
                </a:solidFill>
              </a:rPr>
              <a:t>高速级齿轮</a:t>
            </a:r>
            <a:endParaRPr lang="zh-CN" altLang="en-US">
              <a:solidFill>
                <a:srgbClr val="0000FF"/>
              </a:solidFill>
            </a:endParaRPr>
          </a:p>
        </p:txBody>
      </p:sp>
      <p:sp>
        <p:nvSpPr>
          <p:cNvPr id="12" name="文本框 11"/>
          <p:cNvSpPr txBox="1"/>
          <p:nvPr/>
        </p:nvSpPr>
        <p:spPr>
          <a:xfrm>
            <a:off x="6631940" y="725170"/>
            <a:ext cx="1872615" cy="398780"/>
          </a:xfrm>
          <a:prstGeom prst="rect">
            <a:avLst/>
          </a:prstGeom>
          <a:noFill/>
        </p:spPr>
        <p:txBody>
          <a:bodyPr wrap="square" rtlCol="0">
            <a:spAutoFit/>
          </a:bodyPr>
          <a:p>
            <a:r>
              <a:rPr lang="zh-CN" altLang="en-US">
                <a:solidFill>
                  <a:srgbClr val="FF0000"/>
                </a:solidFill>
              </a:rPr>
              <a:t>低速级齿轮</a:t>
            </a:r>
            <a:endParaRPr lang="zh-CN" altLang="en-US">
              <a:solidFill>
                <a:srgbClr val="FF0000"/>
              </a:solidFill>
            </a:endParaRPr>
          </a:p>
        </p:txBody>
      </p:sp>
      <p:cxnSp>
        <p:nvCxnSpPr>
          <p:cNvPr id="13" name="直接箭头连接符 12"/>
          <p:cNvCxnSpPr/>
          <p:nvPr/>
        </p:nvCxnSpPr>
        <p:spPr>
          <a:xfrm flipH="1" flipV="1">
            <a:off x="7472680" y="1106170"/>
            <a:ext cx="33020" cy="277495"/>
          </a:xfrm>
          <a:prstGeom prst="straightConnector1">
            <a:avLst/>
          </a:prstGeom>
          <a:solidFill>
            <a:schemeClr val="accent1"/>
          </a:solidFill>
          <a:ln w="19050" cap="flat" cmpd="sng" algn="ctr">
            <a:solidFill>
              <a:srgbClr val="FF0000"/>
            </a:solidFill>
            <a:prstDash val="solid"/>
            <a:round/>
            <a:headEnd type="none" w="med" len="med"/>
            <a:tailEnd type="triangle" w="med" len="med"/>
          </a:ln>
        </p:spPr>
      </p:cxnSp>
      <p:cxnSp>
        <p:nvCxnSpPr>
          <p:cNvPr id="14" name="直接箭头连接符 13"/>
          <p:cNvCxnSpPr/>
          <p:nvPr/>
        </p:nvCxnSpPr>
        <p:spPr>
          <a:xfrm flipV="1">
            <a:off x="5858510" y="1078865"/>
            <a:ext cx="803275" cy="742315"/>
          </a:xfrm>
          <a:prstGeom prst="straightConnector1">
            <a:avLst/>
          </a:prstGeom>
          <a:solidFill>
            <a:schemeClr val="accent1"/>
          </a:solidFill>
          <a:ln w="19050" cap="flat" cmpd="sng" algn="ctr">
            <a:solidFill>
              <a:srgbClr val="FF0000"/>
            </a:solidFill>
            <a:prstDash val="solid"/>
            <a:round/>
            <a:headEnd type="none" w="med" len="med"/>
            <a:tailEnd type="triangle" w="med" len="med"/>
          </a:ln>
        </p:spPr>
      </p:cxnSp>
      <p:sp>
        <p:nvSpPr>
          <p:cNvPr id="15" name="文本框 14"/>
          <p:cNvSpPr txBox="1"/>
          <p:nvPr/>
        </p:nvSpPr>
        <p:spPr>
          <a:xfrm>
            <a:off x="5096510" y="3091180"/>
            <a:ext cx="624205" cy="398780"/>
          </a:xfrm>
          <a:prstGeom prst="rect">
            <a:avLst/>
          </a:prstGeom>
          <a:noFill/>
        </p:spPr>
        <p:txBody>
          <a:bodyPr wrap="square" rtlCol="0">
            <a:spAutoFit/>
          </a:bodyPr>
          <a:p>
            <a:r>
              <a:rPr lang="en-US" altLang="zh-CN">
                <a:solidFill>
                  <a:srgbClr val="FF0000"/>
                </a:solidFill>
              </a:rPr>
              <a:t>185</a:t>
            </a:r>
            <a:endParaRPr lang="en-US" altLang="zh-CN">
              <a:solidFill>
                <a:srgbClr val="FF0000"/>
              </a:solidFill>
            </a:endParaRPr>
          </a:p>
        </p:txBody>
      </p:sp>
      <p:sp>
        <p:nvSpPr>
          <p:cNvPr id="16" name="文本框 15"/>
          <p:cNvSpPr txBox="1"/>
          <p:nvPr/>
        </p:nvSpPr>
        <p:spPr>
          <a:xfrm>
            <a:off x="6007735" y="3081655"/>
            <a:ext cx="624205" cy="398780"/>
          </a:xfrm>
          <a:prstGeom prst="rect">
            <a:avLst/>
          </a:prstGeom>
          <a:noFill/>
        </p:spPr>
        <p:txBody>
          <a:bodyPr wrap="square" rtlCol="0">
            <a:spAutoFit/>
          </a:bodyPr>
          <a:p>
            <a:r>
              <a:rPr lang="en-US" altLang="zh-CN">
                <a:solidFill>
                  <a:srgbClr val="FF0000"/>
                </a:solidFill>
              </a:rPr>
              <a:t>286</a:t>
            </a:r>
            <a:endParaRPr lang="en-US" altLang="zh-CN">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down)">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22" presetClass="entr" presetSubtype="4"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down)">
                                      <p:cBhvr>
                                        <p:cTn id="39" dur="500"/>
                                        <p:tgtEl>
                                          <p:spTgt spid="14"/>
                                        </p:tgtEl>
                                      </p:cBhvr>
                                    </p:animEffect>
                                  </p:childTnLst>
                                </p:cTn>
                              </p:par>
                              <p:par>
                                <p:cTn id="40" presetID="22" presetClass="entr" presetSubtype="4"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left)">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xit" presetSubtype="8" fill="hold" grpId="0" nodeType="clickEffect">
                                  <p:stCondLst>
                                    <p:cond delay="0"/>
                                  </p:stCondLst>
                                  <p:childTnLst>
                                    <p:animEffect transition="out" filter="wipe(left)">
                                      <p:cBhvr>
                                        <p:cTn id="61" dur="500"/>
                                        <p:tgtEl>
                                          <p:spTgt spid="8"/>
                                        </p:tgtEl>
                                      </p:cBhvr>
                                    </p:animEffect>
                                    <p:set>
                                      <p:cBhvr>
                                        <p:cTn id="6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P spid="2" grpId="0"/>
      <p:bldP spid="3" grpId="0"/>
      <p:bldP spid="6" grpId="0" bldLvl="0" animBg="1"/>
      <p:bldP spid="8" grpId="0" bldLvl="0" animBg="1"/>
      <p:bldP spid="11" grpId="0"/>
      <p:bldP spid="12" grpId="0"/>
      <p:bldP spid="15" grpId="0"/>
      <p:bldP spid="16" grpId="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33512" name="Group 8"/>
          <p:cNvGraphicFramePr>
            <a:graphicFrameLocks noGrp="1"/>
          </p:cNvGraphicFramePr>
          <p:nvPr>
            <p:custDataLst>
              <p:tags r:id="rId1"/>
            </p:custDataLst>
          </p:nvPr>
        </p:nvGraphicFramePr>
        <p:xfrm>
          <a:off x="589280" y="3794760"/>
          <a:ext cx="8020050" cy="2875280"/>
        </p:xfrm>
        <a:graphic>
          <a:graphicData uri="http://schemas.openxmlformats.org/drawingml/2006/table">
            <a:tbl>
              <a:tblPr/>
              <a:tblGrid>
                <a:gridCol w="2603500"/>
                <a:gridCol w="2700020"/>
                <a:gridCol w="2716530"/>
              </a:tblGrid>
              <a:tr h="2875280">
                <a:tc>
                  <a:txBody>
                    <a:bodyPr/>
                    <a:lstStyle>
                      <a:lvl1pPr algn="l">
                        <a:spcBef>
                          <a:spcPct val="20000"/>
                        </a:spcBef>
                        <a:buClr>
                          <a:schemeClr val="hlink"/>
                        </a:buClr>
                        <a:buSzPct val="120000"/>
                        <a:defRPr sz="28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gn="l">
                        <a:spcBef>
                          <a:spcPct val="20000"/>
                        </a:spcBef>
                        <a:buFont typeface="Tahoma" panose="020B0604030504040204" pitchFamily="34" charset="0"/>
                        <a:defRPr sz="24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a:spcBef>
                          <a:spcPct val="20000"/>
                        </a:spcBef>
                        <a:buClr>
                          <a:schemeClr val="hlink"/>
                        </a:buClr>
                        <a:buSzPct val="120000"/>
                        <a:defRPr sz="20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a:spcBef>
                          <a:spcPct val="20000"/>
                        </a:spcBef>
                        <a:buFont typeface="Tahoma" panose="020B0604030504040204" pitchFamily="34" charset="0"/>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a:spcBef>
                          <a:spcPct val="20000"/>
                        </a:spcBef>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20000"/>
                        <a:buFontTx/>
                        <a:buNone/>
                      </a:pP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Arial" panose="020B0604020202020204" pitchFamily="34" charset="0"/>
                        <a:ea typeface="宋体" panose="02010600030101010101" pitchFamily="2" charset="-122"/>
                        <a:hlinkClick r:id="rId2" action="ppaction://hlinkfile"/>
                      </a:endParaRPr>
                    </a:p>
                    <a:p>
                      <a:pPr marL="0" marR="0" lvl="0" indent="0" algn="ctr" defTabSz="914400" rtl="0" eaLnBrk="1" fontAlgn="base" latinLnBrk="0" hangingPunct="1">
                        <a:lnSpc>
                          <a:spcPct val="100000"/>
                        </a:lnSpc>
                        <a:spcBef>
                          <a:spcPct val="0"/>
                        </a:spcBef>
                        <a:spcAft>
                          <a:spcPct val="0"/>
                        </a:spcAft>
                        <a:buClrTx/>
                        <a:buSzPct val="120000"/>
                        <a:buFontTx/>
                        <a:buNone/>
                      </a:pPr>
                      <a:r>
                        <a:rPr kumimoji="0" lang="en-US" altLang="zh-CN" sz="7200" b="1" i="0" u="none" strike="noStrike" cap="none" normalizeH="0" baseline="0" dirty="0" smtClean="0">
                          <a:ln>
                            <a:noFill/>
                          </a:ln>
                          <a:solidFill>
                            <a:srgbClr val="9900CC"/>
                          </a:solidFill>
                          <a:effectLst>
                            <a:outerShdw blurRad="38100" dist="38100" dir="2700000" algn="tl">
                              <a:srgbClr val="C0C0C0"/>
                            </a:outerShdw>
                          </a:effectLst>
                          <a:latin typeface="Arial" panose="020B0604020202020204" pitchFamily="34" charset="0"/>
                          <a:ea typeface="宋体" panose="02010600030101010101" pitchFamily="2" charset="-122"/>
                        </a:rPr>
                        <a:t> </a:t>
                      </a:r>
                      <a:r>
                        <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Arial" panose="020B0604020202020204" pitchFamily="34" charset="0"/>
                          <a:ea typeface="宋体" panose="02010600030101010101" pitchFamily="2" charset="-122"/>
                        </a:rPr>
                        <a:t>                        </a:t>
                      </a: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20000"/>
                        <a:buFontTx/>
                        <a:buNone/>
                      </a:pPr>
                      <a:r>
                        <a:rPr kumimoji="0" lang="zh-CN" altLang="en-US" sz="1800" b="1" i="0" u="none" strike="noStrike" cap="none" normalizeH="0" baseline="0" dirty="0" smtClean="0">
                          <a:ln>
                            <a:noFill/>
                          </a:ln>
                          <a:solidFill>
                            <a:srgbClr val="9900CC"/>
                          </a:solidFill>
                          <a:effectLst>
                            <a:outerShdw blurRad="38100" dist="38100" dir="2700000" algn="tl">
                              <a:srgbClr val="C0C0C0"/>
                            </a:outerShdw>
                          </a:effectLst>
                          <a:latin typeface="Arial" panose="020B0604020202020204" pitchFamily="34" charset="0"/>
                          <a:ea typeface="宋体" panose="02010600030101010101" pitchFamily="2" charset="-122"/>
                        </a:rPr>
                        <a:t>直齿圆锥齿轮传动</a:t>
                      </a:r>
                      <a:endParaRPr kumimoji="0" lang="zh-CN" altLang="en-US"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anchor="ctr" horzOverflow="overflow">
                    <a:lnL cap="flat">
                      <a:noFill/>
                    </a:lnL>
                    <a:lnR>
                      <a:noFill/>
                    </a:lnR>
                    <a:lnT cap="flat">
                      <a:noFill/>
                    </a:lnT>
                    <a:lnB cap="flat">
                      <a:noFill/>
                    </a:lnB>
                    <a:lnTlToBr>
                      <a:noFill/>
                    </a:lnTlToBr>
                    <a:lnBlToTr>
                      <a:noFill/>
                    </a:lnBlToTr>
                    <a:noFill/>
                  </a:tcPr>
                </a:tc>
                <a:tc>
                  <a:txBody>
                    <a:bodyPr/>
                    <a:lstStyle>
                      <a:lvl1pPr algn="l">
                        <a:spcBef>
                          <a:spcPct val="20000"/>
                        </a:spcBef>
                        <a:buClr>
                          <a:schemeClr val="hlink"/>
                        </a:buClr>
                        <a:buSzPct val="120000"/>
                        <a:defRPr sz="28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gn="l">
                        <a:spcBef>
                          <a:spcPct val="20000"/>
                        </a:spcBef>
                        <a:buFont typeface="Tahoma" panose="020B0604030504040204" pitchFamily="34" charset="0"/>
                        <a:defRPr sz="24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a:spcBef>
                          <a:spcPct val="20000"/>
                        </a:spcBef>
                        <a:buClr>
                          <a:schemeClr val="hlink"/>
                        </a:buClr>
                        <a:buSzPct val="120000"/>
                        <a:defRPr sz="20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a:spcBef>
                          <a:spcPct val="20000"/>
                        </a:spcBef>
                        <a:buFont typeface="Tahoma" panose="020B0604030504040204" pitchFamily="34" charset="0"/>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a:spcBef>
                          <a:spcPct val="20000"/>
                        </a:spcBef>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20000"/>
                        <a:buFontTx/>
                        <a:buNone/>
                      </a:pP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Pct val="120000"/>
                        <a:buFontTx/>
                        <a:buNone/>
                      </a:pPr>
                      <a:r>
                        <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hlinkClick r:id="rId3" action="ppaction://hlinkfile"/>
                        </a:rPr>
                        <a:t>  </a:t>
                      </a:r>
                      <a:r>
                        <a:rPr kumimoji="0" lang="en-US" altLang="zh-CN" sz="7200" b="1" i="0" u="none" strike="noStrike" cap="none" normalizeH="0" baseline="0" dirty="0" smtClean="0">
                          <a:ln>
                            <a:noFill/>
                          </a:ln>
                          <a:solidFill>
                            <a:srgbClr val="9900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Pct val="120000"/>
                        <a:buFontTx/>
                        <a:buNone/>
                      </a:pPr>
                      <a:r>
                        <a:rPr kumimoji="0" lang="zh-CN" altLang="en-US"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黑体" panose="02010609060101010101" pitchFamily="49" charset="-122"/>
                          <a:cs typeface="Times New Roman" panose="02020603050405020304" pitchFamily="18" charset="0"/>
                        </a:rPr>
                        <a:t>斜齿圆锥齿轮传动</a:t>
                      </a:r>
                      <a:endParaRPr kumimoji="0" lang="zh-CN" altLang="en-US"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黑体" panose="02010609060101010101" pitchFamily="49" charset="-122"/>
                      </a:endParaRPr>
                    </a:p>
                  </a:txBody>
                  <a:tcPr anchor="ctr" horzOverflow="overflow">
                    <a:lnL>
                      <a:noFill/>
                    </a:lnL>
                    <a:lnR>
                      <a:noFill/>
                    </a:lnR>
                    <a:lnT cap="flat">
                      <a:noFill/>
                    </a:lnT>
                    <a:lnB cap="flat">
                      <a:noFill/>
                    </a:lnB>
                    <a:lnTlToBr>
                      <a:noFill/>
                    </a:lnTlToBr>
                    <a:lnBlToTr>
                      <a:noFill/>
                    </a:lnBlToTr>
                    <a:noFill/>
                  </a:tcPr>
                </a:tc>
                <a:tc>
                  <a:txBody>
                    <a:bodyPr/>
                    <a:lstStyle>
                      <a:lvl1pPr algn="l">
                        <a:spcBef>
                          <a:spcPct val="20000"/>
                        </a:spcBef>
                        <a:buClr>
                          <a:schemeClr val="hlink"/>
                        </a:buClr>
                        <a:buSzPct val="120000"/>
                        <a:defRPr sz="28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gn="l">
                        <a:spcBef>
                          <a:spcPct val="20000"/>
                        </a:spcBef>
                        <a:buFont typeface="Tahoma" panose="020B0604030504040204" pitchFamily="34" charset="0"/>
                        <a:defRPr sz="24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a:spcBef>
                          <a:spcPct val="20000"/>
                        </a:spcBef>
                        <a:buClr>
                          <a:schemeClr val="hlink"/>
                        </a:buClr>
                        <a:buSzPct val="120000"/>
                        <a:defRPr sz="2000">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a:spcBef>
                          <a:spcPct val="20000"/>
                        </a:spcBef>
                        <a:buFont typeface="Tahoma" panose="020B0604030504040204" pitchFamily="34" charset="0"/>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a:spcBef>
                          <a:spcPct val="20000"/>
                        </a:spcBef>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spcBef>
                          <a:spcPct val="20000"/>
                        </a:spcBef>
                        <a:spcAft>
                          <a:spcPct val="0"/>
                        </a:spcAft>
                        <a:buClr>
                          <a:schemeClr val="hlink"/>
                        </a:buClr>
                        <a:buSzPct val="80000"/>
                        <a:buFont typeface="Wingdings" panose="05000000000000000000" pitchFamily="2" charset="2"/>
                        <a:defRPr>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20000"/>
                        <a:buFontTx/>
                        <a:buNone/>
                      </a:pPr>
                      <a:r>
                        <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Pct val="120000"/>
                        <a:buFontTx/>
                        <a:buNone/>
                      </a:pP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Pct val="120000"/>
                        <a:buFontTx/>
                        <a:buNone/>
                      </a:pP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Pct val="120000"/>
                        <a:buFontTx/>
                        <a:buNone/>
                      </a:pP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Pct val="120000"/>
                        <a:buFontTx/>
                        <a:buNone/>
                      </a:pPr>
                      <a:endParaRPr kumimoji="0" lang="en-US" altLang="zh-CN"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Pct val="120000"/>
                        <a:buFontTx/>
                        <a:buNone/>
                      </a:pPr>
                      <a:r>
                        <a:rPr kumimoji="0" lang="zh-CN" altLang="en-US"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黑体" panose="02010609060101010101" pitchFamily="49" charset="-122"/>
                          <a:cs typeface="Times New Roman" panose="02020603050405020304" pitchFamily="18" charset="0"/>
                        </a:rPr>
                        <a:t>曲齿圆锥齿轮传动</a:t>
                      </a:r>
                      <a:endParaRPr kumimoji="0" lang="zh-CN" altLang="en-US" sz="1800" b="1" i="0" u="none" strike="noStrike" cap="none" normalizeH="0" baseline="0" dirty="0" smtClean="0">
                        <a:ln>
                          <a:noFill/>
                        </a:ln>
                        <a:solidFill>
                          <a:srgbClr val="9900CC"/>
                        </a:solidFill>
                        <a:effectLst>
                          <a:outerShdw blurRad="38100" dist="38100" dir="2700000" algn="tl">
                            <a:srgbClr val="C0C0C0"/>
                          </a:outerShdw>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a:noFill/>
                    </a:lnL>
                    <a:lnR cap="flat">
                      <a:noFill/>
                    </a:lnR>
                    <a:lnT cap="flat">
                      <a:noFill/>
                    </a:lnT>
                    <a:lnB cap="flat">
                      <a:noFill/>
                    </a:lnB>
                    <a:lnTlToBr>
                      <a:noFill/>
                    </a:lnTlToBr>
                    <a:lnBlToTr>
                      <a:noFill/>
                    </a:lnBlToTr>
                    <a:noFill/>
                  </a:tcPr>
                </a:tc>
              </a:tr>
            </a:tbl>
          </a:graphicData>
        </a:graphic>
      </p:graphicFrame>
      <p:pic>
        <p:nvPicPr>
          <p:cNvPr id="533524" name="Picture 20" descr="xiezui">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2855" y="3721100"/>
            <a:ext cx="1828165" cy="1814195"/>
          </a:xfrm>
          <a:prstGeom prst="rect">
            <a:avLst/>
          </a:prstGeom>
          <a:noFill/>
          <a:extLst>
            <a:ext uri="{909E8E84-426E-40DD-AFC4-6F175D3DCCD1}">
              <a14:hiddenFill xmlns:a14="http://schemas.microsoft.com/office/drawing/2010/main">
                <a:solidFill>
                  <a:srgbClr val="FFFFFF"/>
                </a:solidFill>
              </a14:hiddenFill>
            </a:ext>
          </a:extLst>
        </p:spPr>
      </p:pic>
      <p:pic>
        <p:nvPicPr>
          <p:cNvPr id="533525" name="Picture 21" descr="qzchi">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5260" y="3600450"/>
            <a:ext cx="1932305" cy="1875790"/>
          </a:xfrm>
          <a:prstGeom prst="rect">
            <a:avLst/>
          </a:prstGeom>
          <a:noFill/>
          <a:extLst>
            <a:ext uri="{909E8E84-426E-40DD-AFC4-6F175D3DCCD1}">
              <a14:hiddenFill xmlns:a14="http://schemas.microsoft.com/office/drawing/2010/main">
                <a:solidFill>
                  <a:srgbClr val="FFFFFF"/>
                </a:solidFill>
              </a14:hiddenFill>
            </a:ext>
          </a:extLst>
        </p:spPr>
      </p:pic>
      <p:sp>
        <p:nvSpPr>
          <p:cNvPr id="533526" name="Text Box 22"/>
          <p:cNvSpPr txBox="1">
            <a:spLocks noChangeArrowheads="1"/>
          </p:cNvSpPr>
          <p:nvPr/>
        </p:nvSpPr>
        <p:spPr bwMode="auto">
          <a:xfrm>
            <a:off x="243205" y="1212215"/>
            <a:ext cx="8672195" cy="252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lang="en-US" altLang="zh-CN" sz="2200" dirty="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2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hlinkClick r:id="rId7" action="ppaction://hlinkfile"/>
              </a:rPr>
              <a:t>圆锥齿轮机构</a:t>
            </a:r>
            <a:r>
              <a:rPr lang="zh-CN" altLang="en-US" sz="22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是用来传递空间两轴相交之间运动和动力的一种齿轮机构，两轴的夹角</a:t>
            </a:r>
            <a:r>
              <a:rPr lang="zh-CN" altLang="en-US" sz="2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一般可为任意值，但通常多为</a:t>
            </a:r>
            <a:r>
              <a:rPr lang="en-US" altLang="zh-CN" sz="2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90</a:t>
            </a:r>
            <a:r>
              <a:rPr lang="en-US" altLang="zh-CN" sz="2200" baseline="30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o</a:t>
            </a:r>
            <a:r>
              <a:rPr lang="zh-CN" altLang="en-US" sz="22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。圆锥齿轮的轮齿有直齿、斜齿和曲齿等，如图所示，本节只讨论直齿圆锥齿轮机构。</a:t>
            </a:r>
            <a:endParaRPr lang="zh-CN" altLang="en-US" sz="22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20000"/>
              </a:lnSpc>
            </a:pPr>
            <a:r>
              <a:rPr lang="zh-CN" altLang="en-US" sz="2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锥齿轮传动可看成是两个圆锥形摩擦轮在一起作纯滚动，该圆锥即为</a:t>
            </a:r>
            <a:r>
              <a:rPr lang="zh-CN" altLang="en-US" sz="2200" dirty="0">
                <a:solidFill>
                  <a:srgbClr val="FF0066"/>
                </a:solidFill>
                <a:latin typeface="Times New Roman" panose="02020603050405020304" pitchFamily="18" charset="0"/>
                <a:ea typeface="黑体" panose="02010609060101010101" pitchFamily="49" charset="-122"/>
                <a:cs typeface="Times New Roman" panose="02020603050405020304" pitchFamily="18" charset="0"/>
              </a:rPr>
              <a:t>节圆锥</a:t>
            </a:r>
            <a:r>
              <a:rPr lang="zh-CN" altLang="en-US" sz="2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33527" name="Picture 23">
            <a:hlinkClick r:id="rId8" action="ppaction://hlinkfile"/>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2680" y="3723005"/>
            <a:ext cx="192087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5"/>
          <p:cNvSpPr txBox="1">
            <a:spLocks noChangeArrowheads="1"/>
          </p:cNvSpPr>
          <p:nvPr/>
        </p:nvSpPr>
        <p:spPr bwMode="auto">
          <a:xfrm>
            <a:off x="739775" y="308476"/>
            <a:ext cx="786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3.4-6 </a:t>
            </a:r>
            <a:r>
              <a:rPr lang="zh-CN" altLang="en-US" sz="3000" dirty="0">
                <a:solidFill>
                  <a:srgbClr val="CC3300"/>
                </a:solidFill>
                <a:latin typeface="黑体" panose="02010609060101010101" pitchFamily="49" charset="-122"/>
                <a:ea typeface="黑体" panose="02010609060101010101" pitchFamily="49" charset="-122"/>
              </a:rPr>
              <a:t>直齿锥齿轮传动的受力分析和强度计算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 name="直接连接符 6"/>
          <p:cNvSpPr>
            <a:spLocks noChangeShapeType="1"/>
          </p:cNvSpPr>
          <p:nvPr/>
        </p:nvSpPr>
        <p:spPr bwMode="auto">
          <a:xfrm>
            <a:off x="0" y="81330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7241540" y="857250"/>
            <a:ext cx="1623060" cy="398780"/>
          </a:xfrm>
          <a:prstGeom prst="rect">
            <a:avLst/>
          </a:prstGeom>
          <a:gradFill>
            <a:gsLst>
              <a:gs pos="50000">
                <a:schemeClr val="accent5"/>
              </a:gs>
              <a:gs pos="0">
                <a:schemeClr val="accent5">
                  <a:lumMod val="25000"/>
                  <a:lumOff val="75000"/>
                </a:schemeClr>
              </a:gs>
              <a:gs pos="100000">
                <a:schemeClr val="accent5">
                  <a:lumMod val="85000"/>
                </a:schemeClr>
              </a:gs>
            </a:gsLst>
            <a:lin ang="5400000" scaled="1"/>
          </a:gradFill>
          <a:effectLst>
            <a:outerShdw blurRad="50800" dist="38100" algn="l" rotWithShape="0">
              <a:prstClr val="black">
                <a:alpha val="40000"/>
              </a:prstClr>
            </a:outerShdw>
          </a:effectLst>
        </p:spPr>
        <p:txBody>
          <a:bodyPr wrap="square" rtlCol="0">
            <a:spAutoFit/>
          </a:bodyPr>
          <a:p>
            <a:r>
              <a:rPr lang="en-US" altLang="zh-CN"/>
              <a:t>  </a:t>
            </a:r>
            <a:r>
              <a:rPr lang="zh-CN" altLang="en-US"/>
              <a:t>教材</a:t>
            </a:r>
            <a:r>
              <a:rPr lang="en-US" altLang="zh-CN"/>
              <a:t>P356</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3526">
                                            <p:txEl>
                                              <p:pRg st="4294967295" end="429496729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3526">
                                            <p:txEl>
                                              <p:pRg st="4294967295" end="429496729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3526">
                                            <p:txEl>
                                              <p:pRg st="4294967295" end="429496729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3526">
                                            <p:txEl>
                                              <p:pRg st="4294967295" end="429496729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352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35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35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35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35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335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26"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34530" name="Picture 2"/>
          <p:cNvPicPr>
            <a:picLocks noChangeAspect="1" noChangeArrowheads="1"/>
          </p:cNvPicPr>
          <p:nvPr/>
        </p:nvPicPr>
        <p:blipFill>
          <a:blip r:embed="rId1">
            <a:lum contrast="26000"/>
            <a:extLst>
              <a:ext uri="{28A0092B-C50C-407E-A947-70E740481C1C}">
                <a14:useLocalDpi xmlns:a14="http://schemas.microsoft.com/office/drawing/2010/main" val="0"/>
              </a:ext>
            </a:extLst>
          </a:blip>
          <a:srcRect/>
          <a:stretch>
            <a:fillRect/>
          </a:stretch>
        </p:blipFill>
        <p:spPr bwMode="auto">
          <a:xfrm>
            <a:off x="967740" y="1061720"/>
            <a:ext cx="7412038" cy="481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4536" name="Text Box 8"/>
          <p:cNvSpPr txBox="1">
            <a:spLocks noChangeArrowheads="1"/>
          </p:cNvSpPr>
          <p:nvPr/>
        </p:nvSpPr>
        <p:spPr bwMode="auto">
          <a:xfrm>
            <a:off x="400050" y="227013"/>
            <a:ext cx="83423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buFontTx/>
              <a:buBlip>
                <a:blip r:embed="rId2"/>
              </a:buBlip>
            </a:pPr>
            <a:r>
              <a:rPr kumimoji="1" lang="en-US" altLang="zh-CN" sz="2800">
                <a:solidFill>
                  <a:srgbClr val="800080"/>
                </a:solidFill>
                <a:latin typeface="Arial" panose="020B0604020202020204" pitchFamily="34" charset="0"/>
                <a:ea typeface="黑体" panose="02010609060101010101" pitchFamily="49" charset="-122"/>
              </a:rPr>
              <a:t>   </a:t>
            </a:r>
            <a:r>
              <a:rPr kumimoji="1" lang="zh-CN" altLang="en-US" sz="2800">
                <a:solidFill>
                  <a:srgbClr val="800080"/>
                </a:solidFill>
                <a:latin typeface="Arial" panose="020B0604020202020204" pitchFamily="34" charset="0"/>
                <a:ea typeface="黑体" panose="02010609060101010101" pitchFamily="49" charset="-122"/>
              </a:rPr>
              <a:t>直齿圆锥齿轮的特点</a:t>
            </a:r>
            <a:endParaRPr kumimoji="1" lang="zh-CN" altLang="en-US" sz="2800">
              <a:solidFill>
                <a:srgbClr val="800080"/>
              </a:solidFill>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34536"/>
                                        </p:tgtEl>
                                        <p:attrNameLst>
                                          <p:attrName>style.visibility</p:attrName>
                                        </p:attrNameLst>
                                      </p:cBhvr>
                                      <p:to>
                                        <p:strVal val="visible"/>
                                      </p:to>
                                    </p:set>
                                    <p:animEffect transition="in" filter="strips(downRight)">
                                      <p:cBhvr>
                                        <p:cTn id="7" dur="500"/>
                                        <p:tgtEl>
                                          <p:spTgt spid="5345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345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p:cNvSpPr>
            <a:spLocks noGrp="1" noChangeArrowheads="1"/>
          </p:cNvSpPr>
          <p:nvPr>
            <p:ph type="title"/>
          </p:nvPr>
        </p:nvSpPr>
        <p:spPr bwMode="auto">
          <a:xfrm>
            <a:off x="6786563" y="720725"/>
            <a:ext cx="1465262" cy="165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锥齿轮传动的强度计算</a:t>
            </a:r>
            <a:r>
              <a:rPr lang="en-US" altLang="zh-CN" sz="800" smtClean="0">
                <a:solidFill>
                  <a:schemeClr val="bg1"/>
                </a:solidFill>
                <a:latin typeface="Times New Roman" panose="02020603050405020304" pitchFamily="18" charset="0"/>
              </a:rPr>
              <a:t>1</a:t>
            </a:r>
            <a:endParaRPr lang="en-US" altLang="zh-CN" sz="800" smtClean="0">
              <a:solidFill>
                <a:schemeClr val="bg1"/>
              </a:solidFill>
              <a:latin typeface="Times New Roman" panose="02020603050405020304" pitchFamily="18" charset="0"/>
            </a:endParaRPr>
          </a:p>
        </p:txBody>
      </p:sp>
      <p:sp>
        <p:nvSpPr>
          <p:cNvPr id="65540" name="Text Box 4"/>
          <p:cNvSpPr txBox="1">
            <a:spLocks noChangeArrowheads="1"/>
          </p:cNvSpPr>
          <p:nvPr/>
        </p:nvSpPr>
        <p:spPr bwMode="auto">
          <a:xfrm>
            <a:off x="-288758" y="2403124"/>
            <a:ext cx="4916488" cy="463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solidFill>
                  <a:srgbClr val="000099"/>
                </a:solidFill>
              </a:rPr>
              <a:t>　　</a:t>
            </a:r>
            <a:r>
              <a:rPr lang="zh-CN" altLang="en-US" sz="2200" dirty="0">
                <a:solidFill>
                  <a:srgbClr val="000099"/>
                </a:solidFill>
              </a:rPr>
              <a:t>对轴交角为</a:t>
            </a:r>
            <a:r>
              <a:rPr lang="en-US" altLang="zh-CN" sz="2200" dirty="0">
                <a:solidFill>
                  <a:srgbClr val="000099"/>
                </a:solidFill>
              </a:rPr>
              <a:t>90</a:t>
            </a:r>
            <a:r>
              <a:rPr lang="en-US" altLang="zh-CN" sz="2200" dirty="0">
                <a:solidFill>
                  <a:srgbClr val="000099"/>
                </a:solidFill>
                <a:ea typeface="宋体" panose="02010600030101010101" pitchFamily="2" charset="-122"/>
                <a:cs typeface="Times New Roman" panose="02020603050405020304" pitchFamily="18" charset="0"/>
              </a:rPr>
              <a:t>º</a:t>
            </a:r>
            <a:r>
              <a:rPr lang="zh-CN" altLang="en-US" sz="2200" dirty="0">
                <a:solidFill>
                  <a:srgbClr val="000099"/>
                </a:solidFill>
              </a:rPr>
              <a:t>的直齿锥齿轮传动： </a:t>
            </a:r>
            <a:endParaRPr lang="zh-CN" altLang="en-US" sz="2200" dirty="0">
              <a:solidFill>
                <a:srgbClr val="000099"/>
              </a:solidFill>
            </a:endParaRPr>
          </a:p>
        </p:txBody>
      </p:sp>
      <p:sp>
        <p:nvSpPr>
          <p:cNvPr id="9224" name="Text Box 5"/>
          <p:cNvSpPr txBox="1">
            <a:spLocks noChangeArrowheads="1"/>
          </p:cNvSpPr>
          <p:nvPr/>
        </p:nvSpPr>
        <p:spPr bwMode="auto">
          <a:xfrm>
            <a:off x="739775" y="260350"/>
            <a:ext cx="786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3.4-8 </a:t>
            </a:r>
            <a:r>
              <a:rPr lang="zh-CN" altLang="en-US" sz="3000" dirty="0">
                <a:solidFill>
                  <a:srgbClr val="CC3300"/>
                </a:solidFill>
                <a:latin typeface="黑体" panose="02010609060101010101" pitchFamily="49" charset="-122"/>
                <a:ea typeface="黑体" panose="02010609060101010101" pitchFamily="49" charset="-122"/>
              </a:rPr>
              <a:t>直齿锥齿轮传动的受力分析和强度计算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5542" name="Text Box 6"/>
          <p:cNvSpPr txBox="1">
            <a:spLocks noChangeArrowheads="1"/>
          </p:cNvSpPr>
          <p:nvPr/>
        </p:nvSpPr>
        <p:spPr bwMode="auto">
          <a:xfrm>
            <a:off x="207963" y="781050"/>
            <a:ext cx="18592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一、几何参数</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65543" name="Text Box 7"/>
          <p:cNvSpPr txBox="1">
            <a:spLocks noChangeArrowheads="1"/>
          </p:cNvSpPr>
          <p:nvPr/>
        </p:nvSpPr>
        <p:spPr bwMode="auto">
          <a:xfrm>
            <a:off x="158750" y="1301149"/>
            <a:ext cx="8985250"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solidFill>
                  <a:srgbClr val="000099"/>
                </a:solidFill>
              </a:rPr>
              <a:t>　　</a:t>
            </a:r>
            <a:r>
              <a:rPr lang="zh-CN" altLang="en-US" sz="2200">
                <a:solidFill>
                  <a:srgbClr val="002060"/>
                </a:solidFill>
                <a:sym typeface="+mn-ea"/>
              </a:rPr>
              <a:t>直齿锥齿轮</a:t>
            </a:r>
            <a:r>
              <a:rPr lang="zh-CN" altLang="en-US" sz="2200">
                <a:solidFill>
                  <a:srgbClr val="FF0000"/>
                </a:solidFill>
                <a:sym typeface="+mn-ea"/>
              </a:rPr>
              <a:t>大端</a:t>
            </a:r>
            <a:r>
              <a:rPr lang="zh-CN" altLang="en-US" sz="2200">
                <a:solidFill>
                  <a:srgbClr val="002060"/>
                </a:solidFill>
                <a:sym typeface="+mn-ea"/>
              </a:rPr>
              <a:t>和</a:t>
            </a:r>
            <a:r>
              <a:rPr lang="zh-CN" altLang="en-US" sz="2200">
                <a:solidFill>
                  <a:srgbClr val="FF0000"/>
                </a:solidFill>
                <a:sym typeface="+mn-ea"/>
              </a:rPr>
              <a:t>小端</a:t>
            </a:r>
            <a:r>
              <a:rPr lang="zh-CN" altLang="en-US" sz="2200">
                <a:solidFill>
                  <a:srgbClr val="002060"/>
                </a:solidFill>
                <a:sym typeface="+mn-ea"/>
              </a:rPr>
              <a:t>的模数不同，几何尺寸也不同；国家标准规定以</a:t>
            </a:r>
            <a:r>
              <a:rPr lang="zh-CN" altLang="en-US" sz="2200">
                <a:solidFill>
                  <a:srgbClr val="FF0000"/>
                </a:solidFill>
                <a:sym typeface="+mn-ea"/>
              </a:rPr>
              <a:t>大端参数</a:t>
            </a:r>
            <a:r>
              <a:rPr lang="zh-CN" altLang="en-US" sz="2200">
                <a:solidFill>
                  <a:srgbClr val="002060"/>
                </a:solidFill>
                <a:sym typeface="+mn-ea"/>
              </a:rPr>
              <a:t>为标准值。</a:t>
            </a:r>
            <a:endParaRPr lang="zh-CN" altLang="en-US" sz="2200" dirty="0">
              <a:solidFill>
                <a:srgbClr val="000099"/>
              </a:solidFill>
            </a:endParaRPr>
          </a:p>
        </p:txBody>
      </p:sp>
      <p:pic>
        <p:nvPicPr>
          <p:cNvPr id="65546" name="Picture 10" descr="NEXT">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24913" y="653891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7" name="Picture 11" descr="rewind">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962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5551" name="Object 15"/>
          <p:cNvGraphicFramePr>
            <a:graphicFrameLocks noChangeAspect="1"/>
          </p:cNvGraphicFramePr>
          <p:nvPr/>
        </p:nvGraphicFramePr>
        <p:xfrm>
          <a:off x="576580" y="3171825"/>
          <a:ext cx="3416300" cy="2149475"/>
        </p:xfrm>
        <a:graphic>
          <a:graphicData uri="http://schemas.openxmlformats.org/presentationml/2006/ole">
            <mc:AlternateContent xmlns:mc="http://schemas.openxmlformats.org/markup-compatibility/2006">
              <mc:Choice xmlns:v="urn:schemas-microsoft-com:vml" Requires="v">
                <p:oleObj spid="_x0000_s40974" name="公式" r:id="rId3" imgW="41452800" imgH="27736800" progId="Equation.3">
                  <p:embed/>
                </p:oleObj>
              </mc:Choice>
              <mc:Fallback>
                <p:oleObj name="公式" r:id="rId3" imgW="41452800" imgH="27736800" progId="Equation.3">
                  <p:embed/>
                  <p:pic>
                    <p:nvPicPr>
                      <p:cNvPr id="0" name="图片 40973"/>
                      <p:cNvPicPr>
                        <a:picLocks noChangeAspect="1" noChangeArrowheads="1"/>
                      </p:cNvPicPr>
                      <p:nvPr/>
                    </p:nvPicPr>
                    <p:blipFill>
                      <a:blip r:embed="rId4"/>
                      <a:srcRect/>
                      <a:stretch>
                        <a:fillRect/>
                      </a:stretch>
                    </p:blipFill>
                    <p:spPr bwMode="auto">
                      <a:xfrm>
                        <a:off x="576580" y="3171825"/>
                        <a:ext cx="3416300"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0" name="Text Box 20"/>
          <p:cNvSpPr txBox="1">
            <a:spLocks noChangeArrowheads="1"/>
          </p:cNvSpPr>
          <p:nvPr/>
        </p:nvSpPr>
        <p:spPr bwMode="auto">
          <a:xfrm>
            <a:off x="6608763" y="6221413"/>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pic>
        <p:nvPicPr>
          <p:cNvPr id="10255"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94610" y="2295174"/>
            <a:ext cx="4433887"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 name="Text Box 18"/>
          <p:cNvSpPr txBox="1">
            <a:spLocks noChangeArrowheads="1"/>
          </p:cNvSpPr>
          <p:nvPr/>
        </p:nvSpPr>
        <p:spPr bwMode="auto">
          <a:xfrm>
            <a:off x="78689" y="5400942"/>
            <a:ext cx="87820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400" dirty="0">
                <a:solidFill>
                  <a:srgbClr val="9900CC"/>
                </a:solidFill>
                <a:latin typeface="Times New Roman" panose="02020603050405020304" pitchFamily="18" charset="0"/>
                <a:ea typeface="黑体" panose="02010609060101010101" pitchFamily="49" charset="-122"/>
              </a:rPr>
              <a:t>        </a:t>
            </a:r>
            <a:r>
              <a:rPr lang="zh-CN" altLang="en-US" sz="2400" dirty="0">
                <a:solidFill>
                  <a:srgbClr val="9900CC"/>
                </a:solidFill>
                <a:latin typeface="Times New Roman" panose="02020603050405020304" pitchFamily="18" charset="0"/>
                <a:ea typeface="黑体" panose="02010609060101010101" pitchFamily="49" charset="-122"/>
              </a:rPr>
              <a:t>设计时，可</a:t>
            </a:r>
            <a:r>
              <a:rPr lang="zh-CN" altLang="en-US" sz="2400" dirty="0" smtClean="0">
                <a:solidFill>
                  <a:srgbClr val="9900CC"/>
                </a:solidFill>
                <a:latin typeface="Times New Roman" panose="02020603050405020304" pitchFamily="18" charset="0"/>
                <a:ea typeface="黑体" panose="02010609060101010101" pitchFamily="49" charset="-122"/>
              </a:rPr>
              <a:t>根据</a:t>
            </a:r>
            <a:r>
              <a:rPr lang="en-US" altLang="zh-CN" sz="2400" i="1" dirty="0" smtClean="0">
                <a:solidFill>
                  <a:srgbClr val="9900CC"/>
                </a:solidFill>
                <a:latin typeface="Times New Roman" panose="02020603050405020304" pitchFamily="18" charset="0"/>
                <a:ea typeface="黑体" panose="02010609060101010101" pitchFamily="49" charset="-122"/>
              </a:rPr>
              <a:t>u</a:t>
            </a:r>
            <a:r>
              <a:rPr lang="zh-CN" altLang="en-US" sz="2400" dirty="0" smtClean="0">
                <a:solidFill>
                  <a:srgbClr val="9900CC"/>
                </a:solidFill>
                <a:latin typeface="Times New Roman" panose="02020603050405020304" pitchFamily="18" charset="0"/>
                <a:ea typeface="黑体" panose="02010609060101010101" pitchFamily="49" charset="-122"/>
              </a:rPr>
              <a:t>来确定</a:t>
            </a:r>
            <a:r>
              <a:rPr lang="zh-CN" altLang="en-US" sz="2400" dirty="0" smtClean="0">
                <a:solidFill>
                  <a:srgbClr val="9900CC"/>
                </a:solidFill>
                <a:ea typeface="黑体" panose="02010609060101010101" pitchFamily="49" charset="-122"/>
              </a:rPr>
              <a:t>节锥角</a:t>
            </a:r>
            <a:r>
              <a:rPr lang="en-US" altLang="zh-CN" sz="2400" i="1" dirty="0" smtClean="0">
                <a:solidFill>
                  <a:srgbClr val="FF0000"/>
                </a:solidFill>
                <a:latin typeface="Times New Roman" panose="02020603050405020304" pitchFamily="18" charset="0"/>
                <a:ea typeface="黑体" panose="02010609060101010101" pitchFamily="49" charset="-122"/>
              </a:rPr>
              <a:t>δ</a:t>
            </a:r>
            <a:r>
              <a:rPr lang="en-US" altLang="zh-CN" sz="2400" baseline="-25000" dirty="0" smtClean="0">
                <a:solidFill>
                  <a:srgbClr val="FF0000"/>
                </a:solidFill>
                <a:latin typeface="Times New Roman" panose="02020603050405020304" pitchFamily="18" charset="0"/>
                <a:ea typeface="黑体" panose="02010609060101010101" pitchFamily="49" charset="-122"/>
              </a:rPr>
              <a:t>1</a:t>
            </a:r>
            <a:r>
              <a:rPr lang="zh-CN" altLang="en-US" sz="2400" dirty="0">
                <a:solidFill>
                  <a:srgbClr val="9900CC"/>
                </a:solidFill>
                <a:latin typeface="Times New Roman" panose="02020603050405020304" pitchFamily="18" charset="0"/>
                <a:ea typeface="黑体" panose="02010609060101010101" pitchFamily="49" charset="-122"/>
              </a:rPr>
              <a:t>和</a:t>
            </a:r>
            <a:r>
              <a:rPr lang="en-US" altLang="zh-CN" sz="2400" i="1" dirty="0">
                <a:solidFill>
                  <a:srgbClr val="FF0000"/>
                </a:solidFill>
                <a:latin typeface="Times New Roman" panose="02020603050405020304" pitchFamily="18" charset="0"/>
                <a:ea typeface="黑体" panose="02010609060101010101" pitchFamily="49" charset="-122"/>
              </a:rPr>
              <a:t>δ</a:t>
            </a:r>
            <a:r>
              <a:rPr lang="en-US" altLang="zh-CN" sz="2400" baseline="-25000" dirty="0">
                <a:solidFill>
                  <a:srgbClr val="FF0000"/>
                </a:solidFill>
                <a:latin typeface="Times New Roman" panose="02020603050405020304" pitchFamily="18" charset="0"/>
                <a:ea typeface="黑体" panose="02010609060101010101" pitchFamily="49" charset="-122"/>
              </a:rPr>
              <a:t>2</a:t>
            </a:r>
            <a:r>
              <a:rPr lang="zh-CN" altLang="en-US" sz="2400" dirty="0" smtClean="0">
                <a:solidFill>
                  <a:srgbClr val="9900CC"/>
                </a:solidFill>
                <a:latin typeface="Times New Roman" panose="02020603050405020304" pitchFamily="18" charset="0"/>
                <a:ea typeface="黑体" panose="02010609060101010101" pitchFamily="49" charset="-122"/>
              </a:rPr>
              <a:t>。</a:t>
            </a:r>
            <a:endParaRPr lang="en-US" altLang="zh-CN" sz="2400" dirty="0" smtClean="0">
              <a:solidFill>
                <a:srgbClr val="9900CC"/>
              </a:solidFill>
              <a:latin typeface="Times New Roman" panose="02020603050405020304" pitchFamily="18" charset="0"/>
              <a:ea typeface="黑体" panose="02010609060101010101" pitchFamily="49" charset="-122"/>
            </a:endParaRPr>
          </a:p>
          <a:p>
            <a:pPr algn="just">
              <a:spcBef>
                <a:spcPct val="50000"/>
              </a:spcBef>
            </a:pPr>
            <a:r>
              <a:rPr lang="zh-CN" altLang="en-US" sz="2400" dirty="0" smtClean="0">
                <a:solidFill>
                  <a:srgbClr val="9900CC"/>
                </a:solidFill>
                <a:latin typeface="Times New Roman" panose="02020603050405020304" pitchFamily="18" charset="0"/>
                <a:ea typeface="黑体" panose="02010609060101010101" pitchFamily="49" charset="-122"/>
              </a:rPr>
              <a:t>      传动比</a:t>
            </a:r>
            <a:r>
              <a:rPr lang="zh-CN" altLang="en-US" sz="2400" dirty="0">
                <a:solidFill>
                  <a:srgbClr val="9900CC"/>
                </a:solidFill>
                <a:latin typeface="Times New Roman" panose="02020603050405020304" pitchFamily="18" charset="0"/>
                <a:ea typeface="黑体" panose="02010609060101010101" pitchFamily="49" charset="-122"/>
              </a:rPr>
              <a:t>一定时，两锥齿轮的节锥角也就一定。</a:t>
            </a:r>
            <a:endParaRPr lang="zh-CN" altLang="en-US" sz="2400" baseline="-25000" dirty="0">
              <a:solidFill>
                <a:srgbClr val="9900CC"/>
              </a:solidFill>
              <a:latin typeface="Times New Roman" panose="02020603050405020304" pitchFamily="18" charset="0"/>
              <a:ea typeface="黑体" panose="02010609060101010101" pitchFamily="49" charset="-122"/>
            </a:endParaRPr>
          </a:p>
        </p:txBody>
      </p:sp>
      <p:graphicFrame>
        <p:nvGraphicFramePr>
          <p:cNvPr id="3" name="对象 2">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073" name="" r:id="rId6" imgW="114300" imgH="215900" progId="Equation.KSEE3">
                  <p:embed/>
                </p:oleObj>
              </mc:Choice>
              <mc:Fallback>
                <p:oleObj name="" r:id="rId6" imgW="114300" imgH="215900" progId="Equation.KSEE3">
                  <p:embed/>
                  <p:pic>
                    <p:nvPicPr>
                      <p:cNvPr id="0" name="图片 3072"/>
                      <p:cNvPicPr/>
                      <p:nvPr/>
                    </p:nvPicPr>
                    <p:blipFill>
                      <a:blip r:embed="rId7"/>
                      <a:stretch>
                        <a:fillRect/>
                      </a:stretch>
                    </p:blipFill>
                    <p:spPr>
                      <a:xfrm>
                        <a:off x="4514850" y="3321050"/>
                        <a:ext cx="114300" cy="2159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5542"/>
                                        </p:tgtEl>
                                        <p:attrNameLst>
                                          <p:attrName>style.visibility</p:attrName>
                                        </p:attrNameLst>
                                      </p:cBhvr>
                                      <p:to>
                                        <p:strVal val="visible"/>
                                      </p:to>
                                    </p:set>
                                    <p:animEffect transition="in" filter="wipe(left)">
                                      <p:cBhvr>
                                        <p:cTn id="7" dur="500"/>
                                        <p:tgtEl>
                                          <p:spTgt spid="655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5543"/>
                                        </p:tgtEl>
                                        <p:attrNameLst>
                                          <p:attrName>style.visibility</p:attrName>
                                        </p:attrNameLst>
                                      </p:cBhvr>
                                      <p:to>
                                        <p:strVal val="visible"/>
                                      </p:to>
                                    </p:set>
                                    <p:animEffect transition="in" filter="wipe(left)">
                                      <p:cBhvr>
                                        <p:cTn id="11" dur="500"/>
                                        <p:tgtEl>
                                          <p:spTgt spid="6554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25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5540"/>
                                        </p:tgtEl>
                                        <p:attrNameLst>
                                          <p:attrName>style.visibility</p:attrName>
                                        </p:attrNameLst>
                                      </p:cBhvr>
                                      <p:to>
                                        <p:strVal val="visible"/>
                                      </p:to>
                                    </p:set>
                                    <p:animEffect transition="in" filter="wipe(left)">
                                      <p:cBhvr>
                                        <p:cTn id="20" dur="500"/>
                                        <p:tgtEl>
                                          <p:spTgt spid="65540"/>
                                        </p:tgtEl>
                                      </p:cBhvr>
                                    </p:animEffect>
                                  </p:childTnLst>
                                </p:cTn>
                              </p:par>
                            </p:childTnLst>
                          </p:cTn>
                        </p:par>
                        <p:par>
                          <p:cTn id="21" fill="hold">
                            <p:stCondLst>
                              <p:cond delay="500"/>
                            </p:stCondLst>
                            <p:childTnLst>
                              <p:par>
                                <p:cTn id="22" presetID="12" presetClass="entr" presetSubtype="4" fill="hold" nodeType="afterEffect">
                                  <p:stCondLst>
                                    <p:cond delay="0"/>
                                  </p:stCondLst>
                                  <p:childTnLst>
                                    <p:set>
                                      <p:cBhvr>
                                        <p:cTn id="23" dur="1" fill="hold">
                                          <p:stCondLst>
                                            <p:cond delay="0"/>
                                          </p:stCondLst>
                                        </p:cTn>
                                        <p:tgtEl>
                                          <p:spTgt spid="65551"/>
                                        </p:tgtEl>
                                        <p:attrNameLst>
                                          <p:attrName>style.visibility</p:attrName>
                                        </p:attrNameLst>
                                      </p:cBhvr>
                                      <p:to>
                                        <p:strVal val="visible"/>
                                      </p:to>
                                    </p:set>
                                    <p:animEffect transition="in" filter="slide(fromBottom)">
                                      <p:cBhvr>
                                        <p:cTn id="24" dur="500"/>
                                        <p:tgtEl>
                                          <p:spTgt spid="65551"/>
                                        </p:tgtEl>
                                      </p:cBhvr>
                                    </p:animEffect>
                                  </p:childTnLst>
                                </p:cTn>
                              </p:par>
                            </p:childTnLst>
                          </p:cTn>
                        </p:par>
                        <p:par>
                          <p:cTn id="25" fill="hold">
                            <p:stCondLst>
                              <p:cond delay="1000"/>
                            </p:stCondLst>
                            <p:childTnLst>
                              <p:par>
                                <p:cTn id="26" presetID="1" presetClass="entr" presetSubtype="0" fill="hold" nodeType="afterEffect">
                                  <p:stCondLst>
                                    <p:cond delay="0"/>
                                  </p:stCondLst>
                                  <p:childTnLst>
                                    <p:set>
                                      <p:cBhvr>
                                        <p:cTn id="27" dur="1" fill="hold">
                                          <p:stCondLst>
                                            <p:cond delay="499"/>
                                          </p:stCondLst>
                                        </p:cTn>
                                        <p:tgtEl>
                                          <p:spTgt spid="65546"/>
                                        </p:tgtEl>
                                        <p:attrNameLst>
                                          <p:attrName>style.visibility</p:attrName>
                                        </p:attrNameLst>
                                      </p:cBhvr>
                                      <p:to>
                                        <p:strVal val="visible"/>
                                      </p:to>
                                    </p:set>
                                  </p:childTnLst>
                                </p:cTn>
                              </p:par>
                            </p:childTnLst>
                          </p:cTn>
                        </p:par>
                        <p:par>
                          <p:cTn id="28" fill="hold">
                            <p:stCondLst>
                              <p:cond delay="1500"/>
                            </p:stCondLst>
                            <p:childTnLst>
                              <p:par>
                                <p:cTn id="29" presetID="2" presetClass="entr" presetSubtype="8" fill="hold" nodeType="afterEffect">
                                  <p:stCondLst>
                                    <p:cond delay="0"/>
                                  </p:stCondLst>
                                  <p:childTnLst>
                                    <p:set>
                                      <p:cBhvr>
                                        <p:cTn id="30" dur="1" fill="hold">
                                          <p:stCondLst>
                                            <p:cond delay="0"/>
                                          </p:stCondLst>
                                        </p:cTn>
                                        <p:tgtEl>
                                          <p:spTgt spid="65547"/>
                                        </p:tgtEl>
                                        <p:attrNameLst>
                                          <p:attrName>style.visibility</p:attrName>
                                        </p:attrNameLst>
                                      </p:cBhvr>
                                      <p:to>
                                        <p:strVal val="visible"/>
                                      </p:to>
                                    </p:set>
                                    <p:anim calcmode="lin" valueType="num">
                                      <p:cBhvr additive="base">
                                        <p:cTn id="31" dur="500" fill="hold"/>
                                        <p:tgtEl>
                                          <p:spTgt spid="65547"/>
                                        </p:tgtEl>
                                        <p:attrNameLst>
                                          <p:attrName>ppt_x</p:attrName>
                                        </p:attrNameLst>
                                      </p:cBhvr>
                                      <p:tavLst>
                                        <p:tav tm="0">
                                          <p:val>
                                            <p:strVal val="0-#ppt_w/2"/>
                                          </p:val>
                                        </p:tav>
                                        <p:tav tm="100000">
                                          <p:val>
                                            <p:strVal val="#ppt_x"/>
                                          </p:val>
                                        </p:tav>
                                      </p:tavLst>
                                    </p:anim>
                                    <p:anim calcmode="lin" valueType="num">
                                      <p:cBhvr additive="base">
                                        <p:cTn id="32" dur="500" fill="hold"/>
                                        <p:tgtEl>
                                          <p:spTgt spid="6554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autoUpdateAnimBg="0"/>
      <p:bldP spid="65542" grpId="0" autoUpdateAnimBg="0"/>
      <p:bldP spid="65543" grpId="0" autoUpdateAnimBg="0"/>
      <p:bldP spid="17"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p:cNvSpPr>
            <a:spLocks noGrp="1" noChangeArrowheads="1"/>
          </p:cNvSpPr>
          <p:nvPr>
            <p:ph type="title"/>
          </p:nvPr>
        </p:nvSpPr>
        <p:spPr bwMode="auto">
          <a:xfrm>
            <a:off x="6786563" y="720725"/>
            <a:ext cx="1465262" cy="165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锥齿轮传动的强度计算</a:t>
            </a:r>
            <a:r>
              <a:rPr lang="en-US" altLang="zh-CN" sz="800" smtClean="0">
                <a:solidFill>
                  <a:schemeClr val="bg1"/>
                </a:solidFill>
                <a:latin typeface="Times New Roman" panose="02020603050405020304" pitchFamily="18" charset="0"/>
              </a:rPr>
              <a:t>1</a:t>
            </a:r>
            <a:endParaRPr lang="en-US" altLang="zh-CN" sz="800" smtClean="0">
              <a:solidFill>
                <a:schemeClr val="bg1"/>
              </a:solidFill>
              <a:latin typeface="Times New Roman" panose="02020603050405020304" pitchFamily="18" charset="0"/>
            </a:endParaRPr>
          </a:p>
        </p:txBody>
      </p:sp>
      <p:sp>
        <p:nvSpPr>
          <p:cNvPr id="9224" name="Text Box 5"/>
          <p:cNvSpPr txBox="1">
            <a:spLocks noChangeArrowheads="1"/>
          </p:cNvSpPr>
          <p:nvPr/>
        </p:nvSpPr>
        <p:spPr bwMode="auto">
          <a:xfrm>
            <a:off x="739775" y="260350"/>
            <a:ext cx="786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3.4-6 </a:t>
            </a:r>
            <a:r>
              <a:rPr lang="zh-CN" altLang="en-US" sz="3000" dirty="0">
                <a:solidFill>
                  <a:srgbClr val="CC3300"/>
                </a:solidFill>
                <a:latin typeface="黑体" panose="02010609060101010101" pitchFamily="49" charset="-122"/>
                <a:ea typeface="黑体" panose="02010609060101010101" pitchFamily="49" charset="-122"/>
              </a:rPr>
              <a:t>直齿锥齿轮传动的受力分析和强度计算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5542" name="Text Box 6"/>
          <p:cNvSpPr txBox="1">
            <a:spLocks noChangeArrowheads="1"/>
          </p:cNvSpPr>
          <p:nvPr/>
        </p:nvSpPr>
        <p:spPr bwMode="auto">
          <a:xfrm>
            <a:off x="163513" y="873125"/>
            <a:ext cx="18592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一、几何参数</a:t>
            </a:r>
            <a:endParaRPr lang="zh-CN" altLang="en-US" sz="2200" dirty="0">
              <a:solidFill>
                <a:srgbClr val="C00000"/>
              </a:solidFill>
              <a:latin typeface="黑体" panose="02010609060101010101" pitchFamily="49" charset="-122"/>
              <a:ea typeface="黑体" panose="02010609060101010101" pitchFamily="49" charset="-122"/>
            </a:endParaRPr>
          </a:p>
        </p:txBody>
      </p:sp>
      <p:pic>
        <p:nvPicPr>
          <p:cNvPr id="65546" name="Picture 10" descr="NEXT">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24913" y="653891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7" name="Picture 11" descr="rewind">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962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0" name="Text Box 20"/>
          <p:cNvSpPr txBox="1">
            <a:spLocks noChangeArrowheads="1"/>
          </p:cNvSpPr>
          <p:nvPr/>
        </p:nvSpPr>
        <p:spPr bwMode="auto">
          <a:xfrm>
            <a:off x="6608763" y="6221413"/>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p:pic>
        <p:nvPicPr>
          <p:cNvPr id="10255"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8363" y="3418022"/>
            <a:ext cx="4433887"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 name="对象 1">
            <a:hlinkClick r:id="" action="ppaction://ole?verb="/>
          </p:cNvPr>
          <p:cNvGraphicFramePr>
            <a:graphicFrameLocks noChangeAspect="1"/>
          </p:cNvGraphicFramePr>
          <p:nvPr/>
        </p:nvGraphicFramePr>
        <p:xfrm>
          <a:off x="1337945" y="3375025"/>
          <a:ext cx="1801495" cy="765810"/>
        </p:xfrm>
        <a:graphic>
          <a:graphicData uri="http://schemas.openxmlformats.org/presentationml/2006/ole">
            <mc:AlternateContent xmlns:mc="http://schemas.openxmlformats.org/markup-compatibility/2006">
              <mc:Choice xmlns:v="urn:schemas-microsoft-com:vml" Requires="v">
                <p:oleObj spid="_x0000_s4097" name="" r:id="rId4" imgW="1016000" imgH="431800" progId="Equation.KSEE3">
                  <p:embed/>
                </p:oleObj>
              </mc:Choice>
              <mc:Fallback>
                <p:oleObj name="" r:id="rId4" imgW="1016000" imgH="431800" progId="Equation.KSEE3">
                  <p:embed/>
                  <p:pic>
                    <p:nvPicPr>
                      <p:cNvPr id="0" name="图片 4096"/>
                      <p:cNvPicPr/>
                      <p:nvPr/>
                    </p:nvPicPr>
                    <p:blipFill>
                      <a:blip r:embed="rId5"/>
                      <a:stretch>
                        <a:fillRect/>
                      </a:stretch>
                    </p:blipFill>
                    <p:spPr>
                      <a:xfrm>
                        <a:off x="1337945" y="3375025"/>
                        <a:ext cx="1801495" cy="76581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922020" y="5236845"/>
          <a:ext cx="1824355" cy="765810"/>
        </p:xfrm>
        <a:graphic>
          <a:graphicData uri="http://schemas.openxmlformats.org/presentationml/2006/ole">
            <mc:AlternateContent xmlns:mc="http://schemas.openxmlformats.org/markup-compatibility/2006">
              <mc:Choice xmlns:v="urn:schemas-microsoft-com:vml" Requires="v">
                <p:oleObj spid="_x0000_s4" name="" r:id="rId6" imgW="1028700" imgH="431800" progId="Equation.KSEE3">
                  <p:embed/>
                </p:oleObj>
              </mc:Choice>
              <mc:Fallback>
                <p:oleObj name="" r:id="rId6" imgW="1028700" imgH="431800" progId="Equation.KSEE3">
                  <p:embed/>
                  <p:pic>
                    <p:nvPicPr>
                      <p:cNvPr id="0" name="图片 4096"/>
                      <p:cNvPicPr/>
                      <p:nvPr/>
                    </p:nvPicPr>
                    <p:blipFill>
                      <a:blip r:embed="rId7"/>
                      <a:stretch>
                        <a:fillRect/>
                      </a:stretch>
                    </p:blipFill>
                    <p:spPr>
                      <a:xfrm>
                        <a:off x="922020" y="5236845"/>
                        <a:ext cx="1824355" cy="765810"/>
                      </a:xfrm>
                      <a:prstGeom prst="rect">
                        <a:avLst/>
                      </a:prstGeom>
                    </p:spPr>
                  </p:pic>
                </p:oleObj>
              </mc:Fallback>
            </mc:AlternateContent>
          </a:graphicData>
        </a:graphic>
      </p:graphicFrame>
      <p:sp>
        <p:nvSpPr>
          <p:cNvPr id="8" name="文本框 7"/>
          <p:cNvSpPr txBox="1"/>
          <p:nvPr/>
        </p:nvSpPr>
        <p:spPr>
          <a:xfrm>
            <a:off x="777875" y="6140450"/>
            <a:ext cx="4674235" cy="398780"/>
          </a:xfrm>
          <a:prstGeom prst="rect">
            <a:avLst/>
          </a:prstGeom>
          <a:noFill/>
        </p:spPr>
        <p:txBody>
          <a:bodyPr wrap="square" rtlCol="0">
            <a:spAutoFit/>
          </a:bodyPr>
          <a:p>
            <a:r>
              <a:rPr lang="zh-CN" altLang="en-US">
                <a:solidFill>
                  <a:srgbClr val="FF0000"/>
                </a:solidFill>
              </a:rPr>
              <a:t>见表</a:t>
            </a:r>
            <a:r>
              <a:rPr lang="en-US" altLang="zh-CN">
                <a:solidFill>
                  <a:srgbClr val="FF0000"/>
                </a:solidFill>
              </a:rPr>
              <a:t>3.10-1</a:t>
            </a:r>
            <a:r>
              <a:rPr lang="zh-CN" altLang="en-US">
                <a:solidFill>
                  <a:srgbClr val="FF0000"/>
                </a:solidFill>
              </a:rPr>
              <a:t>（教材</a:t>
            </a:r>
            <a:r>
              <a:rPr lang="en-US" altLang="zh-CN">
                <a:solidFill>
                  <a:srgbClr val="FF0000"/>
                </a:solidFill>
              </a:rPr>
              <a:t>P357 </a:t>
            </a:r>
            <a:r>
              <a:rPr lang="zh-CN" altLang="en-US">
                <a:solidFill>
                  <a:srgbClr val="FF0000"/>
                </a:solidFill>
              </a:rPr>
              <a:t>）</a:t>
            </a:r>
            <a:endParaRPr lang="zh-CN" altLang="en-US">
              <a:solidFill>
                <a:srgbClr val="FF0000"/>
              </a:solidFill>
            </a:endParaRPr>
          </a:p>
        </p:txBody>
      </p:sp>
      <p:sp>
        <p:nvSpPr>
          <p:cNvPr id="9" name="文本框 8"/>
          <p:cNvSpPr txBox="1"/>
          <p:nvPr/>
        </p:nvSpPr>
        <p:spPr>
          <a:xfrm>
            <a:off x="276860" y="1303020"/>
            <a:ext cx="8866505" cy="398780"/>
          </a:xfrm>
          <a:prstGeom prst="rect">
            <a:avLst/>
          </a:prstGeom>
          <a:noFill/>
        </p:spPr>
        <p:txBody>
          <a:bodyPr wrap="square" rtlCol="0">
            <a:spAutoFit/>
          </a:bodyPr>
          <a:p>
            <a:r>
              <a:rPr lang="en-US" altLang="zh-CN"/>
              <a:t>       </a:t>
            </a:r>
            <a:endParaRPr lang="zh-CN" altLang="en-US">
              <a:solidFill>
                <a:srgbClr val="002060"/>
              </a:solidFill>
            </a:endParaRPr>
          </a:p>
        </p:txBody>
      </p:sp>
      <p:sp>
        <p:nvSpPr>
          <p:cNvPr id="10" name="文本框 9"/>
          <p:cNvSpPr txBox="1"/>
          <p:nvPr/>
        </p:nvSpPr>
        <p:spPr>
          <a:xfrm>
            <a:off x="309245" y="1410970"/>
            <a:ext cx="8515985" cy="1014730"/>
          </a:xfrm>
          <a:prstGeom prst="rect">
            <a:avLst/>
          </a:prstGeom>
          <a:noFill/>
        </p:spPr>
        <p:txBody>
          <a:bodyPr wrap="square" rtlCol="0">
            <a:spAutoFit/>
          </a:bodyPr>
          <a:p>
            <a:pPr marL="0" indent="0" eaLnBrk="1" latinLnBrk="0" hangingPunct="1">
              <a:lnSpc>
                <a:spcPct val="150000"/>
              </a:lnSpc>
            </a:pPr>
            <a:r>
              <a:rPr lang="en-US" altLang="zh-CN"/>
              <a:t>    </a:t>
            </a:r>
            <a:r>
              <a:rPr lang="en-US" altLang="zh-CN">
                <a:solidFill>
                  <a:srgbClr val="002060"/>
                </a:solidFill>
              </a:rPr>
              <a:t>  </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在强度计算时，国家标准规定以</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齿宽中点处</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的</a:t>
            </a:r>
            <a:r>
              <a:rPr lang="zh-CN" altLang="en-US">
                <a:solidFill>
                  <a:srgbClr val="C00000"/>
                </a:solidFill>
                <a:latin typeface="黑体" panose="02010609060101010101" pitchFamily="49" charset="-122"/>
                <a:ea typeface="黑体" panose="02010609060101010101" pitchFamily="49" charset="-122"/>
                <a:cs typeface="黑体" panose="02010609060101010101" pitchFamily="49" charset="-122"/>
              </a:rPr>
              <a:t>当量齿轮</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作为计算模型。将齿宽中点处的背锥展开，即可画出直径分别为</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d</a:t>
            </a:r>
            <a:r>
              <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rPr>
              <a:t>v1</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和</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d</a:t>
            </a:r>
            <a:r>
              <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rPr>
              <a:t>v2</a:t>
            </a:r>
            <a:r>
              <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rPr>
              <a:t>的两个当量直齿轮。</a:t>
            </a:r>
            <a:endParaRPr lang="zh-CN" altLang="en-US">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1" name="对象 10">
            <a:hlinkClick r:id="" action="ppaction://ole?verb="/>
          </p:cNvPr>
          <p:cNvGraphicFramePr>
            <a:graphicFrameLocks noChangeAspect="1"/>
          </p:cNvGraphicFramePr>
          <p:nvPr/>
        </p:nvGraphicFramePr>
        <p:xfrm>
          <a:off x="1015365" y="4259263"/>
          <a:ext cx="1574800" cy="925195"/>
        </p:xfrm>
        <a:graphic>
          <a:graphicData uri="http://schemas.openxmlformats.org/presentationml/2006/ole">
            <mc:AlternateContent xmlns:mc="http://schemas.openxmlformats.org/markup-compatibility/2006">
              <mc:Choice xmlns:v="urn:schemas-microsoft-com:vml" Requires="v">
                <p:oleObj spid="_x0000_s1025" name="" r:id="rId8" imgW="1079500" imgH="634365" progId="Equation.KSEE3">
                  <p:embed/>
                </p:oleObj>
              </mc:Choice>
              <mc:Fallback>
                <p:oleObj name="" r:id="rId8" imgW="1079500" imgH="634365" progId="Equation.KSEE3">
                  <p:embed/>
                  <p:pic>
                    <p:nvPicPr>
                      <p:cNvPr id="0" name="图片 1024"/>
                      <p:cNvPicPr/>
                      <p:nvPr/>
                    </p:nvPicPr>
                    <p:blipFill>
                      <a:blip r:embed="rId9"/>
                      <a:stretch>
                        <a:fillRect/>
                      </a:stretch>
                    </p:blipFill>
                    <p:spPr>
                      <a:xfrm>
                        <a:off x="1015365" y="4259263"/>
                        <a:ext cx="1574800" cy="92519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1258570" y="2437448"/>
          <a:ext cx="1592580" cy="925195"/>
        </p:xfrm>
        <a:graphic>
          <a:graphicData uri="http://schemas.openxmlformats.org/presentationml/2006/ole">
            <mc:AlternateContent xmlns:mc="http://schemas.openxmlformats.org/markup-compatibility/2006">
              <mc:Choice xmlns:v="urn:schemas-microsoft-com:vml" Requires="v">
                <p:oleObj spid="_x0000_s1025" name="" r:id="rId10" imgW="1091565" imgH="634365" progId="Equation.KSEE3">
                  <p:embed/>
                </p:oleObj>
              </mc:Choice>
              <mc:Fallback>
                <p:oleObj name="" r:id="rId10" imgW="1091565" imgH="634365" progId="Equation.KSEE3">
                  <p:embed/>
                  <p:pic>
                    <p:nvPicPr>
                      <p:cNvPr id="0" name="图片 1024"/>
                      <p:cNvPicPr/>
                      <p:nvPr/>
                    </p:nvPicPr>
                    <p:blipFill>
                      <a:blip r:embed="rId11"/>
                      <a:stretch>
                        <a:fillRect/>
                      </a:stretch>
                    </p:blipFill>
                    <p:spPr>
                      <a:xfrm>
                        <a:off x="1258570" y="2437448"/>
                        <a:ext cx="1592580" cy="925195"/>
                      </a:xfrm>
                      <a:prstGeom prst="rect">
                        <a:avLst/>
                      </a:prstGeom>
                    </p:spPr>
                  </p:pic>
                </p:oleObj>
              </mc:Fallback>
            </mc:AlternateContent>
          </a:graphicData>
        </a:graphic>
      </p:graphicFrame>
      <p:sp>
        <p:nvSpPr>
          <p:cNvPr id="13" name="右箭头 12"/>
          <p:cNvSpPr/>
          <p:nvPr/>
        </p:nvSpPr>
        <p:spPr>
          <a:xfrm>
            <a:off x="569595" y="3584575"/>
            <a:ext cx="500380" cy="199390"/>
          </a:xfrm>
          <a:prstGeom prst="rightArrow">
            <a:avLst/>
          </a:prstGeom>
          <a:solidFill>
            <a:schemeClr val="tx2">
              <a:lumMod val="20000"/>
              <a:lumOff val="80000"/>
            </a:schemeClr>
          </a:solidFill>
          <a:ln w="9525" cap="flat" cmpd="sng" algn="ctr">
            <a:solidFill>
              <a:schemeClr val="tx2">
                <a:lumMod val="20000"/>
                <a:lumOff val="80000"/>
              </a:schemeClr>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4" name="右箭头 13"/>
          <p:cNvSpPr/>
          <p:nvPr/>
        </p:nvSpPr>
        <p:spPr>
          <a:xfrm>
            <a:off x="365125" y="5447030"/>
            <a:ext cx="500380" cy="199390"/>
          </a:xfrm>
          <a:prstGeom prst="rightArrow">
            <a:avLst/>
          </a:prstGeom>
          <a:solidFill>
            <a:schemeClr val="tx2">
              <a:lumMod val="20000"/>
              <a:lumOff val="80000"/>
            </a:schemeClr>
          </a:solidFill>
          <a:ln w="9525" cap="flat" cmpd="sng" algn="ctr">
            <a:solidFill>
              <a:schemeClr val="tx2">
                <a:lumMod val="20000"/>
                <a:lumOff val="80000"/>
              </a:schemeClr>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5542"/>
                                        </p:tgtEl>
                                        <p:attrNameLst>
                                          <p:attrName>style.visibility</p:attrName>
                                        </p:attrNameLst>
                                      </p:cBhvr>
                                      <p:to>
                                        <p:strVal val="visible"/>
                                      </p:to>
                                    </p:set>
                                    <p:animEffect transition="in" filter="wipe(left)">
                                      <p:cBhvr>
                                        <p:cTn id="7" dur="500"/>
                                        <p:tgtEl>
                                          <p:spTgt spid="6554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255"/>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499"/>
                                          </p:stCondLst>
                                        </p:cTn>
                                        <p:tgtEl>
                                          <p:spTgt spid="65546"/>
                                        </p:tgtEl>
                                        <p:attrNameLst>
                                          <p:attrName>style.visibility</p:attrName>
                                        </p:attrNameLst>
                                      </p:cBhvr>
                                      <p:to>
                                        <p:strVal val="visible"/>
                                      </p:to>
                                    </p:set>
                                  </p:childTnLst>
                                </p:cTn>
                              </p:par>
                            </p:childTnLst>
                          </p:cTn>
                        </p:par>
                        <p:par>
                          <p:cTn id="15" fill="hold">
                            <p:stCondLst>
                              <p:cond delay="500"/>
                            </p:stCondLst>
                            <p:childTnLst>
                              <p:par>
                                <p:cTn id="16" presetID="2" presetClass="entr" presetSubtype="8" fill="hold" nodeType="afterEffect">
                                  <p:stCondLst>
                                    <p:cond delay="0"/>
                                  </p:stCondLst>
                                  <p:childTnLst>
                                    <p:set>
                                      <p:cBhvr>
                                        <p:cTn id="17" dur="1" fill="hold">
                                          <p:stCondLst>
                                            <p:cond delay="0"/>
                                          </p:stCondLst>
                                        </p:cTn>
                                        <p:tgtEl>
                                          <p:spTgt spid="65547"/>
                                        </p:tgtEl>
                                        <p:attrNameLst>
                                          <p:attrName>style.visibility</p:attrName>
                                        </p:attrNameLst>
                                      </p:cBhvr>
                                      <p:to>
                                        <p:strVal val="visible"/>
                                      </p:to>
                                    </p:set>
                                    <p:anim calcmode="lin" valueType="num">
                                      <p:cBhvr additive="base">
                                        <p:cTn id="18" dur="500" fill="hold"/>
                                        <p:tgtEl>
                                          <p:spTgt spid="65547"/>
                                        </p:tgtEl>
                                        <p:attrNameLst>
                                          <p:attrName>ppt_x</p:attrName>
                                        </p:attrNameLst>
                                      </p:cBhvr>
                                      <p:tavLst>
                                        <p:tav tm="0">
                                          <p:val>
                                            <p:strVal val="0-#ppt_w/2"/>
                                          </p:val>
                                        </p:tav>
                                        <p:tav tm="100000">
                                          <p:val>
                                            <p:strVal val="#ppt_x"/>
                                          </p:val>
                                        </p:tav>
                                      </p:tavLst>
                                    </p:anim>
                                    <p:anim calcmode="lin" valueType="num">
                                      <p:cBhvr additive="base">
                                        <p:cTn id="19" dur="500" fill="hold"/>
                                        <p:tgtEl>
                                          <p:spTgt spid="6554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left)">
                                      <p:cBhvr>
                                        <p:cTn id="5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autoUpdateAnimBg="0"/>
      <p:bldP spid="9" grpId="0"/>
      <p:bldP spid="13" grpId="0" animBg="1"/>
      <p:bldP spid="1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9655" name="文本框 539654"/>
          <p:cNvSpPr txBox="1"/>
          <p:nvPr/>
        </p:nvSpPr>
        <p:spPr>
          <a:xfrm>
            <a:off x="304800" y="234950"/>
            <a:ext cx="8342313" cy="519113"/>
          </a:xfrm>
          <a:prstGeom prst="rect">
            <a:avLst/>
          </a:prstGeom>
          <a:noFill/>
          <a:ln w="9525">
            <a:noFill/>
          </a:ln>
        </p:spPr>
        <p:txBody>
          <a:bodyPr>
            <a:spAutoFit/>
          </a:bodyPr>
          <a:p>
            <a:pPr algn="just">
              <a:buBlip>
                <a:blip r:embed="rId1"/>
              </a:buBlip>
            </a:pPr>
            <a:r>
              <a:rPr lang="en-US" altLang="zh-CN" sz="2800" dirty="0">
                <a:solidFill>
                  <a:srgbClr val="800080"/>
                </a:solidFill>
                <a:latin typeface="Arial" panose="020B0604020202020204" pitchFamily="34" charset="0"/>
                <a:ea typeface="黑体" panose="02010609060101010101" pitchFamily="49" charset="-122"/>
              </a:rPr>
              <a:t>   </a:t>
            </a:r>
            <a:r>
              <a:rPr lang="zh-CN" altLang="en-US" sz="2800" dirty="0">
                <a:solidFill>
                  <a:srgbClr val="800080"/>
                </a:solidFill>
                <a:latin typeface="Arial" panose="020B0604020202020204" pitchFamily="34" charset="0"/>
                <a:ea typeface="黑体" panose="02010609060101010101" pitchFamily="49" charset="-122"/>
              </a:rPr>
              <a:t>背锥和当量齿数</a:t>
            </a:r>
            <a:endParaRPr lang="zh-CN" altLang="en-US" sz="2800" dirty="0">
              <a:solidFill>
                <a:srgbClr val="800080"/>
              </a:solidFill>
              <a:latin typeface="Arial" panose="020B0604020202020204" pitchFamily="34" charset="0"/>
              <a:ea typeface="黑体" panose="02010609060101010101" pitchFamily="49" charset="-122"/>
            </a:endParaRPr>
          </a:p>
        </p:txBody>
      </p:sp>
      <p:sp>
        <p:nvSpPr>
          <p:cNvPr id="539656" name="文本框 539655"/>
          <p:cNvSpPr txBox="1"/>
          <p:nvPr/>
        </p:nvSpPr>
        <p:spPr>
          <a:xfrm>
            <a:off x="403543" y="754063"/>
            <a:ext cx="5124450" cy="3415030"/>
          </a:xfrm>
          <a:prstGeom prst="rect">
            <a:avLst/>
          </a:prstGeom>
          <a:noFill/>
          <a:ln w="9525">
            <a:noFill/>
          </a:ln>
        </p:spPr>
        <p:txBody>
          <a:bodyPr>
            <a:spAutoFit/>
          </a:bodyPr>
          <a:p>
            <a:pPr marL="0" indent="0" algn="just" eaLnBrk="1" latinLnBrk="0" hangingPunct="1">
              <a:lnSpc>
                <a:spcPct val="150000"/>
              </a:lnSpc>
              <a:buNone/>
            </a:pPr>
            <a:r>
              <a:rPr lang="en-US" altLang="zh-CN" sz="2400" dirty="0">
                <a:solidFill>
                  <a:srgbClr val="0000FF"/>
                </a:solidFill>
                <a:latin typeface="Times New Roman" panose="02020603050405020304" pitchFamily="18" charset="0"/>
                <a:ea typeface="黑体" panose="02010609060101010101" pitchFamily="49" charset="-122"/>
              </a:rPr>
              <a:t>       </a:t>
            </a:r>
            <a:r>
              <a:rPr lang="zh-CN" altLang="en-US" dirty="0">
                <a:solidFill>
                  <a:srgbClr val="002060"/>
                </a:solidFill>
                <a:latin typeface="Times New Roman" panose="02020603050405020304" pitchFamily="18" charset="0"/>
                <a:ea typeface="黑体" panose="02010609060101010101" pitchFamily="49" charset="-122"/>
              </a:rPr>
              <a:t>如图所示，自</a:t>
            </a:r>
            <a:r>
              <a:rPr lang="en-US" altLang="zh-CN">
                <a:solidFill>
                  <a:srgbClr val="002060"/>
                </a:solidFill>
                <a:latin typeface="Times New Roman" panose="02020603050405020304" pitchFamily="18" charset="0"/>
                <a:ea typeface="黑体" panose="02010609060101010101" pitchFamily="49" charset="-122"/>
              </a:rPr>
              <a:t>P</a:t>
            </a:r>
            <a:r>
              <a:rPr lang="zh-CN" altLang="en-US" dirty="0">
                <a:solidFill>
                  <a:srgbClr val="002060"/>
                </a:solidFill>
                <a:latin typeface="Times New Roman" panose="02020603050405020304" pitchFamily="18" charset="0"/>
                <a:ea typeface="黑体" panose="02010609060101010101" pitchFamily="49" charset="-122"/>
              </a:rPr>
              <a:t>点作</a:t>
            </a:r>
            <a:r>
              <a:rPr lang="en-US" altLang="zh-CN">
                <a:solidFill>
                  <a:srgbClr val="002060"/>
                </a:solidFill>
                <a:latin typeface="Times New Roman" panose="02020603050405020304" pitchFamily="18" charset="0"/>
                <a:ea typeface="黑体" panose="02010609060101010101" pitchFamily="49" charset="-122"/>
              </a:rPr>
              <a:t>OP</a:t>
            </a:r>
            <a:r>
              <a:rPr lang="zh-CN" altLang="en-US" dirty="0">
                <a:solidFill>
                  <a:srgbClr val="002060"/>
                </a:solidFill>
                <a:latin typeface="Times New Roman" panose="02020603050405020304" pitchFamily="18" charset="0"/>
                <a:ea typeface="黑体" panose="02010609060101010101" pitchFamily="49" charset="-122"/>
              </a:rPr>
              <a:t>的垂线</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1</a:t>
            </a:r>
            <a:r>
              <a:rPr lang="en-US" altLang="zh-CN">
                <a:solidFill>
                  <a:srgbClr val="002060"/>
                </a:solidFill>
                <a:latin typeface="Times New Roman" panose="02020603050405020304" pitchFamily="18" charset="0"/>
                <a:ea typeface="黑体" panose="02010609060101010101" pitchFamily="49" charset="-122"/>
              </a:rPr>
              <a:t>P</a:t>
            </a:r>
            <a:r>
              <a:rPr lang="zh-CN" altLang="en-US" dirty="0">
                <a:solidFill>
                  <a:srgbClr val="002060"/>
                </a:solidFill>
                <a:latin typeface="Times New Roman" panose="02020603050405020304" pitchFamily="18" charset="0"/>
                <a:ea typeface="黑体" panose="02010609060101010101" pitchFamily="49" charset="-122"/>
              </a:rPr>
              <a:t>与</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2</a:t>
            </a:r>
            <a:r>
              <a:rPr lang="en-US" altLang="zh-CN">
                <a:solidFill>
                  <a:srgbClr val="002060"/>
                </a:solidFill>
                <a:latin typeface="Times New Roman" panose="02020603050405020304" pitchFamily="18" charset="0"/>
                <a:ea typeface="黑体" panose="02010609060101010101" pitchFamily="49" charset="-122"/>
              </a:rPr>
              <a:t>P</a:t>
            </a:r>
            <a:r>
              <a:rPr lang="zh-CN" altLang="en-US" dirty="0">
                <a:solidFill>
                  <a:srgbClr val="002060"/>
                </a:solidFill>
                <a:latin typeface="Times New Roman" panose="02020603050405020304" pitchFamily="18" charset="0"/>
                <a:ea typeface="黑体" panose="02010609060101010101" pitchFamily="49" charset="-122"/>
              </a:rPr>
              <a:t>；再以</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1</a:t>
            </a:r>
            <a:r>
              <a:rPr lang="en-US" altLang="zh-CN">
                <a:solidFill>
                  <a:srgbClr val="002060"/>
                </a:solidFill>
                <a:latin typeface="Times New Roman" panose="02020603050405020304" pitchFamily="18" charset="0"/>
                <a:ea typeface="黑体" panose="02010609060101010101" pitchFamily="49" charset="-122"/>
              </a:rPr>
              <a:t>P</a:t>
            </a:r>
            <a:r>
              <a:rPr lang="zh-CN" altLang="en-US" dirty="0">
                <a:solidFill>
                  <a:srgbClr val="002060"/>
                </a:solidFill>
                <a:latin typeface="Times New Roman" panose="02020603050405020304" pitchFamily="18" charset="0"/>
                <a:ea typeface="黑体" panose="02010609060101010101" pitchFamily="49" charset="-122"/>
              </a:rPr>
              <a:t>与</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2</a:t>
            </a:r>
            <a:r>
              <a:rPr lang="en-US" altLang="zh-CN">
                <a:solidFill>
                  <a:srgbClr val="002060"/>
                </a:solidFill>
                <a:latin typeface="Times New Roman" panose="02020603050405020304" pitchFamily="18" charset="0"/>
                <a:ea typeface="黑体" panose="02010609060101010101" pitchFamily="49" charset="-122"/>
              </a:rPr>
              <a:t>P</a:t>
            </a:r>
            <a:r>
              <a:rPr lang="zh-CN" altLang="en-US" dirty="0">
                <a:solidFill>
                  <a:srgbClr val="002060"/>
                </a:solidFill>
                <a:latin typeface="Times New Roman" panose="02020603050405020304" pitchFamily="18" charset="0"/>
                <a:ea typeface="黑体" panose="02010609060101010101" pitchFamily="49" charset="-122"/>
              </a:rPr>
              <a:t>为母线及以</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1</a:t>
            </a:r>
            <a:r>
              <a:rPr lang="en-US" altLang="zh-CN">
                <a:solidFill>
                  <a:srgbClr val="002060"/>
                </a:solidFill>
                <a:latin typeface="Times New Roman" panose="02020603050405020304" pitchFamily="18" charset="0"/>
                <a:ea typeface="黑体" panose="02010609060101010101" pitchFamily="49" charset="-122"/>
              </a:rPr>
              <a:t>O</a:t>
            </a:r>
            <a:r>
              <a:rPr lang="zh-CN" altLang="en-US" dirty="0">
                <a:solidFill>
                  <a:srgbClr val="002060"/>
                </a:solidFill>
                <a:latin typeface="Times New Roman" panose="02020603050405020304" pitchFamily="18" charset="0"/>
                <a:ea typeface="黑体" panose="02010609060101010101" pitchFamily="49" charset="-122"/>
              </a:rPr>
              <a:t>与</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2</a:t>
            </a:r>
            <a:r>
              <a:rPr lang="en-US" altLang="zh-CN">
                <a:solidFill>
                  <a:srgbClr val="002060"/>
                </a:solidFill>
                <a:latin typeface="Times New Roman" panose="02020603050405020304" pitchFamily="18" charset="0"/>
                <a:ea typeface="黑体" panose="02010609060101010101" pitchFamily="49" charset="-122"/>
              </a:rPr>
              <a:t>O</a:t>
            </a:r>
            <a:r>
              <a:rPr lang="zh-CN" altLang="en-US" dirty="0">
                <a:solidFill>
                  <a:srgbClr val="002060"/>
                </a:solidFill>
                <a:latin typeface="Times New Roman" panose="02020603050405020304" pitchFamily="18" charset="0"/>
                <a:ea typeface="黑体" panose="02010609060101010101" pitchFamily="49" charset="-122"/>
              </a:rPr>
              <a:t>为轴线作两个</a:t>
            </a:r>
            <a:r>
              <a:rPr lang="zh-CN" altLang="en-US" dirty="0">
                <a:solidFill>
                  <a:srgbClr val="C00000"/>
                </a:solidFill>
                <a:latin typeface="Times New Roman" panose="02020603050405020304" pitchFamily="18" charset="0"/>
                <a:ea typeface="黑体" panose="02010609060101010101" pitchFamily="49" charset="-122"/>
              </a:rPr>
              <a:t>圆锥</a:t>
            </a:r>
            <a:r>
              <a:rPr lang="en-US" altLang="zh-CN">
                <a:solidFill>
                  <a:srgbClr val="C00000"/>
                </a:solidFill>
                <a:latin typeface="Times New Roman" panose="02020603050405020304" pitchFamily="18" charset="0"/>
                <a:ea typeface="黑体" panose="02010609060101010101" pitchFamily="49" charset="-122"/>
              </a:rPr>
              <a:t>O</a:t>
            </a:r>
            <a:r>
              <a:rPr lang="en-US" altLang="zh-CN" baseline="-30000">
                <a:solidFill>
                  <a:srgbClr val="C00000"/>
                </a:solidFill>
                <a:latin typeface="Times New Roman" panose="02020603050405020304" pitchFamily="18" charset="0"/>
                <a:ea typeface="黑体" panose="02010609060101010101" pitchFamily="49" charset="-122"/>
              </a:rPr>
              <a:t>1</a:t>
            </a:r>
            <a:r>
              <a:rPr lang="en-US" altLang="zh-CN">
                <a:solidFill>
                  <a:srgbClr val="C00000"/>
                </a:solidFill>
                <a:latin typeface="Times New Roman" panose="02020603050405020304" pitchFamily="18" charset="0"/>
                <a:ea typeface="黑体" panose="02010609060101010101" pitchFamily="49" charset="-122"/>
              </a:rPr>
              <a:t>PB</a:t>
            </a:r>
            <a:r>
              <a:rPr lang="zh-CN" altLang="en-US" dirty="0">
                <a:solidFill>
                  <a:srgbClr val="002060"/>
                </a:solidFill>
                <a:latin typeface="Times New Roman" panose="02020603050405020304" pitchFamily="18" charset="0"/>
                <a:ea typeface="黑体" panose="02010609060101010101" pitchFamily="49" charset="-122"/>
              </a:rPr>
              <a:t>与</a:t>
            </a:r>
            <a:r>
              <a:rPr lang="en-US" altLang="zh-CN">
                <a:solidFill>
                  <a:srgbClr val="C00000"/>
                </a:solidFill>
                <a:latin typeface="Times New Roman" panose="02020603050405020304" pitchFamily="18" charset="0"/>
                <a:ea typeface="黑体" panose="02010609060101010101" pitchFamily="49" charset="-122"/>
              </a:rPr>
              <a:t>O</a:t>
            </a:r>
            <a:r>
              <a:rPr lang="en-US" altLang="zh-CN" baseline="-30000">
                <a:solidFill>
                  <a:srgbClr val="C00000"/>
                </a:solidFill>
                <a:latin typeface="Times New Roman" panose="02020603050405020304" pitchFamily="18" charset="0"/>
                <a:ea typeface="黑体" panose="02010609060101010101" pitchFamily="49" charset="-122"/>
              </a:rPr>
              <a:t>2</a:t>
            </a:r>
            <a:r>
              <a:rPr lang="en-US" altLang="zh-CN">
                <a:solidFill>
                  <a:srgbClr val="C00000"/>
                </a:solidFill>
                <a:latin typeface="Times New Roman" panose="02020603050405020304" pitchFamily="18" charset="0"/>
                <a:ea typeface="黑体" panose="02010609060101010101" pitchFamily="49" charset="-122"/>
              </a:rPr>
              <a:t>PC</a:t>
            </a:r>
            <a:r>
              <a:rPr lang="zh-CN" altLang="en-US" dirty="0">
                <a:solidFill>
                  <a:srgbClr val="002060"/>
                </a:solidFill>
                <a:latin typeface="Times New Roman" panose="02020603050405020304" pitchFamily="18" charset="0"/>
                <a:ea typeface="黑体" panose="02010609060101010101" pitchFamily="49" charset="-122"/>
              </a:rPr>
              <a:t>，该两圆锥称为两锥齿轮的</a:t>
            </a:r>
            <a:r>
              <a:rPr lang="zh-CN" altLang="en-US" dirty="0">
                <a:solidFill>
                  <a:srgbClr val="FF33CC"/>
                </a:solidFill>
                <a:latin typeface="Times New Roman" panose="02020603050405020304" pitchFamily="18" charset="0"/>
                <a:ea typeface="黑体" panose="02010609060101010101" pitchFamily="49" charset="-122"/>
              </a:rPr>
              <a:t>背锥</a:t>
            </a:r>
            <a:r>
              <a:rPr lang="zh-CN" altLang="en-US" dirty="0">
                <a:solidFill>
                  <a:srgbClr val="002060"/>
                </a:solidFill>
                <a:latin typeface="Times New Roman" panose="02020603050405020304" pitchFamily="18" charset="0"/>
                <a:ea typeface="黑体" panose="02010609060101010101" pitchFamily="49" charset="-122"/>
              </a:rPr>
              <a:t>。由图可知，在</a:t>
            </a:r>
            <a:r>
              <a:rPr lang="en-US" altLang="zh-CN">
                <a:solidFill>
                  <a:srgbClr val="002060"/>
                </a:solidFill>
                <a:latin typeface="Times New Roman" panose="02020603050405020304" pitchFamily="18" charset="0"/>
                <a:ea typeface="黑体" panose="02010609060101010101" pitchFamily="49" charset="-122"/>
              </a:rPr>
              <a:t>P</a:t>
            </a:r>
            <a:r>
              <a:rPr lang="zh-CN" altLang="en-US" dirty="0">
                <a:solidFill>
                  <a:srgbClr val="002060"/>
                </a:solidFill>
                <a:latin typeface="Times New Roman" panose="02020603050405020304" pitchFamily="18" charset="0"/>
                <a:ea typeface="黑体" panose="02010609060101010101" pitchFamily="49" charset="-122"/>
              </a:rPr>
              <a:t>、</a:t>
            </a:r>
            <a:r>
              <a:rPr lang="en-US" altLang="zh-CN">
                <a:solidFill>
                  <a:srgbClr val="002060"/>
                </a:solidFill>
                <a:latin typeface="Times New Roman" panose="02020603050405020304" pitchFamily="18" charset="0"/>
                <a:ea typeface="黑体" panose="02010609060101010101" pitchFamily="49" charset="-122"/>
              </a:rPr>
              <a:t>B</a:t>
            </a:r>
            <a:r>
              <a:rPr lang="zh-CN" altLang="en-US" dirty="0">
                <a:solidFill>
                  <a:srgbClr val="002060"/>
                </a:solidFill>
                <a:latin typeface="Times New Roman" panose="02020603050405020304" pitchFamily="18" charset="0"/>
                <a:ea typeface="黑体" panose="02010609060101010101" pitchFamily="49" charset="-122"/>
              </a:rPr>
              <a:t>、</a:t>
            </a:r>
            <a:r>
              <a:rPr lang="en-US" altLang="zh-CN">
                <a:solidFill>
                  <a:srgbClr val="002060"/>
                </a:solidFill>
                <a:latin typeface="Times New Roman" panose="02020603050405020304" pitchFamily="18" charset="0"/>
                <a:ea typeface="黑体" panose="02010609060101010101" pitchFamily="49" charset="-122"/>
              </a:rPr>
              <a:t>C</a:t>
            </a:r>
            <a:r>
              <a:rPr lang="zh-CN" altLang="en-US" dirty="0">
                <a:solidFill>
                  <a:srgbClr val="002060"/>
                </a:solidFill>
                <a:latin typeface="Times New Roman" panose="02020603050405020304" pitchFamily="18" charset="0"/>
                <a:ea typeface="黑体" panose="02010609060101010101" pitchFamily="49" charset="-122"/>
              </a:rPr>
              <a:t>点附近，背锥面与球面几乎重合，故可以近似地</a:t>
            </a:r>
            <a:r>
              <a:rPr lang="zh-CN" altLang="en-US" dirty="0">
                <a:solidFill>
                  <a:srgbClr val="FF33CC"/>
                </a:solidFill>
                <a:latin typeface="Times New Roman" panose="02020603050405020304" pitchFamily="18" charset="0"/>
                <a:ea typeface="黑体" panose="02010609060101010101" pitchFamily="49" charset="-122"/>
              </a:rPr>
              <a:t>用背锥面上的齿廓来代替锥齿轮大端的球面齿廓</a:t>
            </a:r>
            <a:r>
              <a:rPr lang="zh-CN" altLang="en-US" dirty="0">
                <a:solidFill>
                  <a:srgbClr val="0000FF"/>
                </a:solidFill>
                <a:latin typeface="Times New Roman" panose="02020603050405020304" pitchFamily="18" charset="0"/>
                <a:ea typeface="黑体" panose="02010609060101010101" pitchFamily="49" charset="-122"/>
              </a:rPr>
              <a:t>。 </a:t>
            </a:r>
            <a:endParaRPr lang="zh-CN" altLang="en-US">
              <a:solidFill>
                <a:srgbClr val="0000FF"/>
              </a:solidFill>
              <a:latin typeface="Times New Roman" panose="02020603050405020304" pitchFamily="18" charset="0"/>
              <a:ea typeface="黑体" panose="02010609060101010101" pitchFamily="49" charset="-122"/>
            </a:endParaRPr>
          </a:p>
        </p:txBody>
      </p:sp>
      <p:sp>
        <p:nvSpPr>
          <p:cNvPr id="539657" name="文本框 539656"/>
          <p:cNvSpPr txBox="1"/>
          <p:nvPr/>
        </p:nvSpPr>
        <p:spPr>
          <a:xfrm>
            <a:off x="264795" y="4074478"/>
            <a:ext cx="5168900" cy="2030095"/>
          </a:xfrm>
          <a:prstGeom prst="rect">
            <a:avLst/>
          </a:prstGeom>
          <a:noFill/>
          <a:ln w="9525">
            <a:noFill/>
          </a:ln>
        </p:spPr>
        <p:txBody>
          <a:bodyPr>
            <a:spAutoFit/>
          </a:bodyPr>
          <a:p>
            <a:pPr marL="0" indent="0" algn="just" eaLnBrk="1" latinLnBrk="0" hangingPunct="1">
              <a:lnSpc>
                <a:spcPct val="150000"/>
              </a:lnSpc>
              <a:buNone/>
            </a:pPr>
            <a:r>
              <a:rPr lang="en-US" altLang="zh-CN" sz="2400" dirty="0">
                <a:solidFill>
                  <a:srgbClr val="000000"/>
                </a:solidFill>
                <a:latin typeface="Times New Roman" panose="02020603050405020304" pitchFamily="18" charset="0"/>
                <a:ea typeface="黑体" panose="02010609060101010101" pitchFamily="49" charset="-122"/>
              </a:rPr>
              <a:t>        </a:t>
            </a:r>
            <a:r>
              <a:rPr lang="en-US" altLang="zh-CN" sz="2400" dirty="0">
                <a:solidFill>
                  <a:srgbClr val="002060"/>
                </a:solidFill>
                <a:latin typeface="Times New Roman" panose="02020603050405020304" pitchFamily="18" charset="0"/>
                <a:ea typeface="黑体" panose="02010609060101010101" pitchFamily="49" charset="-122"/>
              </a:rPr>
              <a:t> </a:t>
            </a:r>
            <a:r>
              <a:rPr lang="zh-CN" altLang="en-US" dirty="0">
                <a:solidFill>
                  <a:srgbClr val="002060"/>
                </a:solidFill>
                <a:latin typeface="Times New Roman" panose="02020603050405020304" pitchFamily="18" charset="0"/>
                <a:ea typeface="黑体" panose="02010609060101010101" pitchFamily="49" charset="-122"/>
              </a:rPr>
              <a:t>将两轮的背锥展开成平面时，其形状为两个扇形</a:t>
            </a:r>
            <a:r>
              <a:rPr lang="en-US" altLang="zh-CN">
                <a:solidFill>
                  <a:srgbClr val="002060"/>
                </a:solidFill>
                <a:latin typeface="Times New Roman" panose="02020603050405020304" pitchFamily="18" charset="0"/>
                <a:ea typeface="黑体" panose="02010609060101010101" pitchFamily="49" charset="-122"/>
              </a:rPr>
              <a:t>,</a:t>
            </a:r>
            <a:r>
              <a:rPr lang="zh-CN" altLang="en-US" dirty="0">
                <a:solidFill>
                  <a:srgbClr val="002060"/>
                </a:solidFill>
                <a:latin typeface="Times New Roman" panose="02020603050405020304" pitchFamily="18" charset="0"/>
                <a:ea typeface="黑体" panose="02010609060101010101" pitchFamily="49" charset="-122"/>
              </a:rPr>
              <a:t>两扇形的半径用</a:t>
            </a:r>
            <a:r>
              <a:rPr lang="en-US" altLang="zh-CN" i="1">
                <a:solidFill>
                  <a:srgbClr val="002060"/>
                </a:solidFill>
                <a:latin typeface="Times New Roman" panose="02020603050405020304" pitchFamily="18" charset="0"/>
                <a:ea typeface="黑体" panose="02010609060101010101" pitchFamily="49" charset="-122"/>
              </a:rPr>
              <a:t>r</a:t>
            </a:r>
            <a:r>
              <a:rPr lang="en-US" altLang="zh-CN" baseline="-30000">
                <a:solidFill>
                  <a:srgbClr val="002060"/>
                </a:solidFill>
                <a:latin typeface="Times New Roman" panose="02020603050405020304" pitchFamily="18" charset="0"/>
                <a:ea typeface="黑体" panose="02010609060101010101" pitchFamily="49" charset="-122"/>
              </a:rPr>
              <a:t>v1</a:t>
            </a:r>
            <a:r>
              <a:rPr lang="zh-CN" altLang="en-US" dirty="0">
                <a:solidFill>
                  <a:srgbClr val="002060"/>
                </a:solidFill>
                <a:latin typeface="Times New Roman" panose="02020603050405020304" pitchFamily="18" charset="0"/>
                <a:ea typeface="黑体" panose="02010609060101010101" pitchFamily="49" charset="-122"/>
              </a:rPr>
              <a:t>及</a:t>
            </a:r>
            <a:r>
              <a:rPr lang="en-US" altLang="zh-CN" i="1">
                <a:solidFill>
                  <a:srgbClr val="002060"/>
                </a:solidFill>
                <a:latin typeface="Times New Roman" panose="02020603050405020304" pitchFamily="18" charset="0"/>
                <a:ea typeface="黑体" panose="02010609060101010101" pitchFamily="49" charset="-122"/>
              </a:rPr>
              <a:t>r</a:t>
            </a:r>
            <a:r>
              <a:rPr lang="en-US" altLang="zh-CN" baseline="-30000">
                <a:solidFill>
                  <a:srgbClr val="002060"/>
                </a:solidFill>
                <a:latin typeface="Times New Roman" panose="02020603050405020304" pitchFamily="18" charset="0"/>
                <a:ea typeface="黑体" panose="02010609060101010101" pitchFamily="49" charset="-122"/>
              </a:rPr>
              <a:t>v2</a:t>
            </a:r>
            <a:r>
              <a:rPr lang="zh-CN" altLang="en-US" dirty="0">
                <a:solidFill>
                  <a:srgbClr val="002060"/>
                </a:solidFill>
                <a:latin typeface="Times New Roman" panose="02020603050405020304" pitchFamily="18" charset="0"/>
                <a:ea typeface="黑体" panose="02010609060101010101" pitchFamily="49" charset="-122"/>
              </a:rPr>
              <a:t>表示。把这两扇形当作以</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1</a:t>
            </a:r>
            <a:r>
              <a:rPr lang="zh-CN" altLang="en-US" dirty="0">
                <a:solidFill>
                  <a:srgbClr val="002060"/>
                </a:solidFill>
                <a:latin typeface="Times New Roman" panose="02020603050405020304" pitchFamily="18" charset="0"/>
                <a:ea typeface="黑体" panose="02010609060101010101" pitchFamily="49" charset="-122"/>
              </a:rPr>
              <a:t>和</a:t>
            </a:r>
            <a:r>
              <a:rPr lang="en-US" altLang="zh-CN">
                <a:solidFill>
                  <a:srgbClr val="002060"/>
                </a:solidFill>
                <a:latin typeface="Times New Roman" panose="02020603050405020304" pitchFamily="18" charset="0"/>
                <a:ea typeface="黑体" panose="02010609060101010101" pitchFamily="49" charset="-122"/>
              </a:rPr>
              <a:t>O</a:t>
            </a:r>
            <a:r>
              <a:rPr lang="en-US" altLang="zh-CN" baseline="-30000">
                <a:solidFill>
                  <a:srgbClr val="002060"/>
                </a:solidFill>
                <a:latin typeface="Times New Roman" panose="02020603050405020304" pitchFamily="18" charset="0"/>
                <a:ea typeface="黑体" panose="02010609060101010101" pitchFamily="49" charset="-122"/>
              </a:rPr>
              <a:t>2</a:t>
            </a:r>
            <a:r>
              <a:rPr lang="zh-CN" altLang="en-US" dirty="0">
                <a:solidFill>
                  <a:srgbClr val="002060"/>
                </a:solidFill>
                <a:latin typeface="Times New Roman" panose="02020603050405020304" pitchFamily="18" charset="0"/>
                <a:ea typeface="黑体" panose="02010609060101010101" pitchFamily="49" charset="-122"/>
              </a:rPr>
              <a:t>为中心的直齿圆柱齿轮分度圆（或节圆）的一部分。</a:t>
            </a:r>
            <a:endParaRPr lang="zh-CN" altLang="en-US" dirty="0">
              <a:solidFill>
                <a:srgbClr val="002060"/>
              </a:solidFill>
              <a:latin typeface="Times New Roman" panose="02020603050405020304" pitchFamily="18" charset="0"/>
              <a:ea typeface="黑体" panose="02010609060101010101" pitchFamily="49" charset="-122"/>
            </a:endParaRPr>
          </a:p>
        </p:txBody>
      </p:sp>
      <p:grpSp>
        <p:nvGrpSpPr>
          <p:cNvPr id="539659" name="组合 539658"/>
          <p:cNvGrpSpPr/>
          <p:nvPr/>
        </p:nvGrpSpPr>
        <p:grpSpPr>
          <a:xfrm rot="0">
            <a:off x="5497830" y="1183005"/>
            <a:ext cx="3469005" cy="4500880"/>
            <a:chOff x="3497" y="839"/>
            <a:chExt cx="2185" cy="2835"/>
          </a:xfrm>
        </p:grpSpPr>
        <p:grpSp>
          <p:nvGrpSpPr>
            <p:cNvPr id="539660" name="组合 539659"/>
            <p:cNvGrpSpPr/>
            <p:nvPr/>
          </p:nvGrpSpPr>
          <p:grpSpPr>
            <a:xfrm>
              <a:off x="3497" y="839"/>
              <a:ext cx="2185" cy="2835"/>
              <a:chOff x="3497" y="839"/>
              <a:chExt cx="2185" cy="2835"/>
            </a:xfrm>
          </p:grpSpPr>
          <p:pic>
            <p:nvPicPr>
              <p:cNvPr id="539661" name="图片 539660"/>
              <p:cNvPicPr>
                <a:picLocks noChangeAspect="1"/>
              </p:cNvPicPr>
              <p:nvPr/>
            </p:nvPicPr>
            <p:blipFill>
              <a:blip r:embed="rId2"/>
              <a:stretch>
                <a:fillRect/>
              </a:stretch>
            </p:blipFill>
            <p:spPr>
              <a:xfrm>
                <a:off x="3497" y="839"/>
                <a:ext cx="2185" cy="2835"/>
              </a:xfrm>
              <a:prstGeom prst="rect">
                <a:avLst/>
              </a:prstGeom>
              <a:noFill/>
              <a:ln w="9525">
                <a:noFill/>
              </a:ln>
            </p:spPr>
          </p:pic>
          <p:sp>
            <p:nvSpPr>
              <p:cNvPr id="539662" name="矩形 539661"/>
              <p:cNvSpPr/>
              <p:nvPr/>
            </p:nvSpPr>
            <p:spPr>
              <a:xfrm>
                <a:off x="4604" y="1253"/>
                <a:ext cx="136" cy="181"/>
              </a:xfrm>
              <a:prstGeom prst="rect">
                <a:avLst/>
              </a:prstGeom>
              <a:solidFill>
                <a:schemeClr val="bg1"/>
              </a:solidFill>
              <a:ln w="9525" cap="flat" cmpd="sng">
                <a:solidFill>
                  <a:schemeClr val="bg1"/>
                </a:solidFill>
                <a:prstDash val="solid"/>
                <a:miter/>
                <a:headEnd type="none" w="med" len="med"/>
                <a:tailEnd type="none" w="med" len="med"/>
              </a:ln>
            </p:spPr>
            <p:txBody>
              <a:bodyPr/>
              <a:p>
                <a:endParaRPr lang="zh-CN" altLang="en-US"/>
              </a:p>
            </p:txBody>
          </p:sp>
          <p:sp>
            <p:nvSpPr>
              <p:cNvPr id="539663" name="矩形 539662"/>
              <p:cNvSpPr/>
              <p:nvPr/>
            </p:nvSpPr>
            <p:spPr>
              <a:xfrm>
                <a:off x="5148" y="2886"/>
                <a:ext cx="136" cy="136"/>
              </a:xfrm>
              <a:prstGeom prst="rect">
                <a:avLst/>
              </a:prstGeom>
              <a:solidFill>
                <a:schemeClr val="bg1"/>
              </a:solidFill>
              <a:ln w="9525" cap="flat" cmpd="sng">
                <a:solidFill>
                  <a:schemeClr val="bg1"/>
                </a:solidFill>
                <a:prstDash val="solid"/>
                <a:miter/>
                <a:headEnd type="none" w="med" len="med"/>
                <a:tailEnd type="none" w="med" len="med"/>
              </a:ln>
            </p:spPr>
            <p:txBody>
              <a:bodyPr/>
              <a:p>
                <a:endParaRPr lang="zh-CN" altLang="en-US"/>
              </a:p>
            </p:txBody>
          </p:sp>
        </p:grpSp>
        <p:graphicFrame>
          <p:nvGraphicFramePr>
            <p:cNvPr id="539664" name="对象 539663"/>
            <p:cNvGraphicFramePr/>
            <p:nvPr/>
          </p:nvGraphicFramePr>
          <p:xfrm>
            <a:off x="4594" y="1201"/>
            <a:ext cx="211" cy="253"/>
          </p:xfrm>
          <a:graphic>
            <a:graphicData uri="http://schemas.openxmlformats.org/presentationml/2006/ole">
              <mc:AlternateContent xmlns:mc="http://schemas.openxmlformats.org/markup-compatibility/2006">
                <mc:Choice xmlns:v="urn:schemas-microsoft-com:vml" Requires="v">
                  <p:oleObj spid="_x0000_s3124" name="" r:id="rId3" imgW="190500" imgH="228600" progId="Equation.3">
                    <p:embed/>
                  </p:oleObj>
                </mc:Choice>
                <mc:Fallback>
                  <p:oleObj name="" r:id="rId3" imgW="190500" imgH="228600" progId="Equation.3">
                    <p:embed/>
                    <p:pic>
                      <p:nvPicPr>
                        <p:cNvPr id="0" name="图片 3123"/>
                        <p:cNvPicPr/>
                        <p:nvPr/>
                      </p:nvPicPr>
                      <p:blipFill>
                        <a:blip r:embed="rId4"/>
                        <a:stretch>
                          <a:fillRect/>
                        </a:stretch>
                      </p:blipFill>
                      <p:spPr>
                        <a:xfrm>
                          <a:off x="4594" y="1201"/>
                          <a:ext cx="211" cy="253"/>
                        </a:xfrm>
                        <a:prstGeom prst="rect">
                          <a:avLst/>
                        </a:prstGeom>
                        <a:solidFill>
                          <a:srgbClr val="CCFFFF"/>
                        </a:solidFill>
                        <a:ln w="38100">
                          <a:noFill/>
                          <a:miter/>
                        </a:ln>
                      </p:spPr>
                    </p:pic>
                  </p:oleObj>
                </mc:Fallback>
              </mc:AlternateContent>
            </a:graphicData>
          </a:graphic>
        </p:graphicFrame>
        <p:graphicFrame>
          <p:nvGraphicFramePr>
            <p:cNvPr id="539665" name="对象 539664"/>
            <p:cNvGraphicFramePr/>
            <p:nvPr/>
          </p:nvGraphicFramePr>
          <p:xfrm>
            <a:off x="5178" y="2800"/>
            <a:ext cx="211" cy="253"/>
          </p:xfrm>
          <a:graphic>
            <a:graphicData uri="http://schemas.openxmlformats.org/presentationml/2006/ole">
              <mc:AlternateContent xmlns:mc="http://schemas.openxmlformats.org/markup-compatibility/2006">
                <mc:Choice xmlns:v="urn:schemas-microsoft-com:vml" Requires="v">
                  <p:oleObj spid="_x0000_s3121" name="" r:id="rId5" imgW="190500" imgH="228600" progId="Equation.3">
                    <p:embed/>
                  </p:oleObj>
                </mc:Choice>
                <mc:Fallback>
                  <p:oleObj name="" r:id="rId5" imgW="190500" imgH="228600" progId="Equation.3">
                    <p:embed/>
                    <p:pic>
                      <p:nvPicPr>
                        <p:cNvPr id="0" name="图片 3120"/>
                        <p:cNvPicPr/>
                        <p:nvPr/>
                      </p:nvPicPr>
                      <p:blipFill>
                        <a:blip r:embed="rId6"/>
                        <a:stretch>
                          <a:fillRect/>
                        </a:stretch>
                      </p:blipFill>
                      <p:spPr>
                        <a:xfrm>
                          <a:off x="5178" y="2800"/>
                          <a:ext cx="211" cy="253"/>
                        </a:xfrm>
                        <a:prstGeom prst="rect">
                          <a:avLst/>
                        </a:prstGeom>
                        <a:solidFill>
                          <a:srgbClr val="CCFFFF"/>
                        </a:solidFill>
                        <a:ln w="38100">
                          <a:noFill/>
                          <a:miter/>
                        </a:ln>
                      </p:spPr>
                    </p:pic>
                  </p:oleObj>
                </mc:Fallback>
              </mc:AlternateContent>
            </a:graphicData>
          </a:graphic>
        </p:graphicFrame>
      </p:grpSp>
      <p:cxnSp>
        <p:nvCxnSpPr>
          <p:cNvPr id="2" name="直接连接符 1"/>
          <p:cNvCxnSpPr/>
          <p:nvPr/>
        </p:nvCxnSpPr>
        <p:spPr>
          <a:xfrm>
            <a:off x="7480300" y="4558665"/>
            <a:ext cx="290830" cy="503555"/>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3" name="直接连接符 2"/>
          <p:cNvCxnSpPr/>
          <p:nvPr/>
        </p:nvCxnSpPr>
        <p:spPr>
          <a:xfrm flipH="1" flipV="1">
            <a:off x="6630035" y="3143250"/>
            <a:ext cx="839470" cy="1431290"/>
          </a:xfrm>
          <a:prstGeom prst="line">
            <a:avLst/>
          </a:prstGeom>
          <a:solidFill>
            <a:schemeClr val="accent1"/>
          </a:solidFill>
          <a:ln w="9525" cap="flat" cmpd="sng" algn="ctr">
            <a:solidFill>
              <a:srgbClr val="00B0F0"/>
            </a:solidFill>
            <a:prstDash val="solid"/>
            <a:round/>
            <a:headEnd type="none" w="med" len="med"/>
            <a:tailEnd type="none"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39655"/>
                                        </p:tgtEl>
                                        <p:attrNameLst>
                                          <p:attrName>style.visibility</p:attrName>
                                        </p:attrNameLst>
                                      </p:cBhvr>
                                      <p:to>
                                        <p:strVal val="visible"/>
                                      </p:to>
                                    </p:set>
                                    <p:animEffect transition="in" filter="strips(downRight)">
                                      <p:cBhvr>
                                        <p:cTn id="7" dur="500"/>
                                        <p:tgtEl>
                                          <p:spTgt spid="53965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3965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396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5" grpId="0"/>
      <p:bldP spid="539656" grpId="0"/>
      <p:bldP spid="539657" grpId="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0679" name="Text Box 7"/>
          <p:cNvSpPr txBox="1">
            <a:spLocks noChangeArrowheads="1"/>
          </p:cNvSpPr>
          <p:nvPr/>
        </p:nvSpPr>
        <p:spPr bwMode="auto">
          <a:xfrm>
            <a:off x="385763" y="373063"/>
            <a:ext cx="83423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buFontTx/>
              <a:buBlip>
                <a:blip r:embed="rId1"/>
              </a:buBlip>
            </a:pPr>
            <a:r>
              <a:rPr kumimoji="1" lang="en-US" altLang="zh-CN" sz="2800">
                <a:solidFill>
                  <a:srgbClr val="800080"/>
                </a:solidFill>
                <a:latin typeface="Arial" panose="020B0604020202020204" pitchFamily="34" charset="0"/>
                <a:ea typeface="黑体" panose="02010609060101010101" pitchFamily="49" charset="-122"/>
              </a:rPr>
              <a:t>   </a:t>
            </a:r>
            <a:r>
              <a:rPr kumimoji="1" lang="zh-CN" altLang="en-US" sz="2800">
                <a:solidFill>
                  <a:srgbClr val="800080"/>
                </a:solidFill>
                <a:latin typeface="Arial" panose="020B0604020202020204" pitchFamily="34" charset="0"/>
                <a:ea typeface="黑体" panose="02010609060101010101" pitchFamily="49" charset="-122"/>
              </a:rPr>
              <a:t>背锥和当量齿数</a:t>
            </a:r>
            <a:endParaRPr kumimoji="1" lang="zh-CN" altLang="en-US" sz="2800">
              <a:solidFill>
                <a:srgbClr val="800080"/>
              </a:solidFill>
              <a:latin typeface="Arial" panose="020B0604020202020204" pitchFamily="34" charset="0"/>
              <a:ea typeface="黑体" panose="02010609060101010101" pitchFamily="49" charset="-122"/>
            </a:endParaRPr>
          </a:p>
        </p:txBody>
      </p:sp>
      <p:pic>
        <p:nvPicPr>
          <p:cNvPr id="540680" name="Picture 8"/>
          <p:cNvPicPr>
            <a:picLocks noChangeAspect="1" noChangeArrowheads="1"/>
          </p:cNvPicPr>
          <p:nvPr/>
        </p:nvPicPr>
        <p:blipFill>
          <a:blip r:embed="rId2">
            <a:lum contrast="26000"/>
            <a:extLst>
              <a:ext uri="{28A0092B-C50C-407E-A947-70E740481C1C}">
                <a14:useLocalDpi xmlns:a14="http://schemas.microsoft.com/office/drawing/2010/main" val="0"/>
              </a:ext>
            </a:extLst>
          </a:blip>
          <a:srcRect t="-1213" r="44392"/>
          <a:stretch>
            <a:fillRect/>
          </a:stretch>
        </p:blipFill>
        <p:spPr bwMode="auto">
          <a:xfrm>
            <a:off x="167640" y="892175"/>
            <a:ext cx="4404360" cy="455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0681" name="Text Box 9"/>
          <p:cNvSpPr txBox="1">
            <a:spLocks noChangeArrowheads="1"/>
          </p:cNvSpPr>
          <p:nvPr/>
        </p:nvSpPr>
        <p:spPr bwMode="auto">
          <a:xfrm>
            <a:off x="1128128" y="5749959"/>
            <a:ext cx="609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rgbClr val="FF0066"/>
                </a:solidFill>
                <a:ea typeface="黑体" panose="02010609060101010101" pitchFamily="49" charset="-122"/>
              </a:rPr>
              <a:t>当量齿轮的齿廓与锥齿轮大端的齿廓近似</a:t>
            </a:r>
            <a:endParaRPr lang="zh-CN" altLang="en-US" sz="2400">
              <a:solidFill>
                <a:srgbClr val="FF0066"/>
              </a:solidFill>
              <a:ea typeface="黑体" panose="02010609060101010101" pitchFamily="49" charset="-122"/>
            </a:endParaRPr>
          </a:p>
        </p:txBody>
      </p:sp>
      <p:sp>
        <p:nvSpPr>
          <p:cNvPr id="3" name="文本框 2"/>
          <p:cNvSpPr txBox="1"/>
          <p:nvPr/>
        </p:nvSpPr>
        <p:spPr>
          <a:xfrm>
            <a:off x="4520565" y="996950"/>
            <a:ext cx="4004310" cy="1938020"/>
          </a:xfrm>
          <a:prstGeom prst="rect">
            <a:avLst/>
          </a:prstGeom>
          <a:noFill/>
        </p:spPr>
        <p:txBody>
          <a:bodyPr wrap="square" rtlCol="0">
            <a:spAutoFit/>
          </a:bodyPr>
          <a:p>
            <a:pPr marL="0" indent="0" eaLnBrk="1" latinLnBrk="0" hangingPunct="1">
              <a:lnSpc>
                <a:spcPct val="150000"/>
              </a:lnSpc>
            </a:pPr>
            <a:r>
              <a:rPr lang="zh-CN" altLang="en-US">
                <a:latin typeface="黑体" panose="02010609060101010101" pitchFamily="49" charset="-122"/>
                <a:ea typeface="黑体" panose="02010609060101010101" pitchFamily="49" charset="-122"/>
                <a:cs typeface="黑体" panose="02010609060101010101" pitchFamily="49" charset="-122"/>
              </a:rPr>
              <a:t>将背锥展成平面，得到一扇形齿轮。其齿数等于圆锥齿轮的实际齿数</a:t>
            </a:r>
            <a:r>
              <a:rPr lang="en-US" altLang="zh-CN">
                <a:latin typeface="黑体" panose="02010609060101010101" pitchFamily="49" charset="-122"/>
                <a:ea typeface="黑体" panose="02010609060101010101" pitchFamily="49" charset="-122"/>
                <a:cs typeface="黑体" panose="02010609060101010101" pitchFamily="49" charset="-122"/>
              </a:rPr>
              <a:t>z</a:t>
            </a:r>
            <a:r>
              <a:rPr lang="zh-CN" altLang="en-US">
                <a:latin typeface="黑体" panose="02010609060101010101" pitchFamily="49" charset="-122"/>
                <a:ea typeface="黑体" panose="02010609060101010101" pitchFamily="49" charset="-122"/>
                <a:cs typeface="黑体" panose="02010609060101010101" pitchFamily="49" charset="-122"/>
              </a:rPr>
              <a:t>，其模数、压力角、齿顶高和齿根高分别与圆锥齿轮大端相同。</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nvSpPr>
        <p:spPr>
          <a:xfrm>
            <a:off x="4629150" y="3472180"/>
            <a:ext cx="3674110" cy="1938020"/>
          </a:xfrm>
          <a:prstGeom prst="rect">
            <a:avLst/>
          </a:prstGeom>
          <a:noFill/>
        </p:spPr>
        <p:txBody>
          <a:bodyPr wrap="square" rtlCol="0">
            <a:spAutoFit/>
          </a:bodyPr>
          <a:p>
            <a:pPr algn="l">
              <a:lnSpc>
                <a:spcPct val="150000"/>
              </a:lnSpc>
              <a:buClrTx/>
              <a:buSzTx/>
              <a:buFontTx/>
            </a:pPr>
            <a:r>
              <a:rPr lang="zh-CN" altLang="en-US">
                <a:latin typeface="黑体" panose="02010609060101010101" pitchFamily="49" charset="-122"/>
                <a:ea typeface="黑体" panose="02010609060101010101" pitchFamily="49" charset="-122"/>
                <a:cs typeface="黑体" panose="02010609060101010101" pitchFamily="49" charset="-122"/>
              </a:rPr>
              <a:t>将扇形齿轮补足成完整的直齿圆柱齿轮，其齿数将增至</a:t>
            </a:r>
            <a:r>
              <a:rPr lang="zh-CN" altLang="en-US" i="1">
                <a:latin typeface="黑体" panose="02010609060101010101" pitchFamily="49" charset="-122"/>
                <a:ea typeface="黑体" panose="02010609060101010101" pitchFamily="49" charset="-122"/>
                <a:cs typeface="黑体" panose="02010609060101010101" pitchFamily="49" charset="-122"/>
              </a:rPr>
              <a:t>Z</a:t>
            </a:r>
            <a:r>
              <a:rPr lang="zh-CN" altLang="en-US" i="1" baseline="-25000">
                <a:latin typeface="黑体" panose="02010609060101010101" pitchFamily="49" charset="-122"/>
                <a:ea typeface="黑体" panose="02010609060101010101" pitchFamily="49" charset="-122"/>
                <a:cs typeface="黑体" panose="02010609060101010101" pitchFamily="49" charset="-122"/>
              </a:rPr>
              <a:t>V</a:t>
            </a:r>
            <a:r>
              <a:rPr lang="zh-CN" altLang="en-US">
                <a:latin typeface="黑体" panose="02010609060101010101" pitchFamily="49" charset="-122"/>
                <a:ea typeface="黑体" panose="02010609060101010101" pitchFamily="49" charset="-122"/>
                <a:cs typeface="黑体" panose="02010609060101010101" pitchFamily="49" charset="-122"/>
              </a:rPr>
              <a:t>，该齿轮成为圆锥齿轮的当量齿轮，</a:t>
            </a:r>
            <a:r>
              <a:rPr lang="zh-CN" altLang="en-US" i="1">
                <a:latin typeface="黑体" panose="02010609060101010101" pitchFamily="49" charset="-122"/>
                <a:ea typeface="黑体" panose="02010609060101010101" pitchFamily="49" charset="-122"/>
                <a:cs typeface="黑体" panose="02010609060101010101" pitchFamily="49" charset="-122"/>
                <a:sym typeface="+mn-ea"/>
              </a:rPr>
              <a:t>Z</a:t>
            </a:r>
            <a:r>
              <a:rPr lang="zh-CN" altLang="en-US" i="1" baseline="-25000">
                <a:latin typeface="黑体" panose="02010609060101010101" pitchFamily="49" charset="-122"/>
                <a:ea typeface="黑体" panose="02010609060101010101" pitchFamily="49" charset="-122"/>
                <a:cs typeface="黑体" panose="02010609060101010101" pitchFamily="49" charset="-122"/>
                <a:sym typeface="+mn-ea"/>
              </a:rPr>
              <a:t>V</a:t>
            </a:r>
            <a:r>
              <a:rPr lang="zh-CN" altLang="en-US">
                <a:latin typeface="黑体" panose="02010609060101010101" pitchFamily="49" charset="-122"/>
                <a:ea typeface="黑体" panose="02010609060101010101" pitchFamily="49" charset="-122"/>
                <a:cs typeface="黑体" panose="02010609060101010101" pitchFamily="49" charset="-122"/>
              </a:rPr>
              <a:t>称为当量齿数</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40680"/>
                                        </p:tgtEl>
                                        <p:attrNameLst>
                                          <p:attrName>style.visibility</p:attrName>
                                        </p:attrNameLst>
                                      </p:cBhvr>
                                      <p:to>
                                        <p:strVal val="visible"/>
                                      </p:to>
                                    </p:set>
                                    <p:anim calcmode="lin" valueType="num">
                                      <p:cBhvr>
                                        <p:cTn id="7" dur="500" fill="hold"/>
                                        <p:tgtEl>
                                          <p:spTgt spid="540680"/>
                                        </p:tgtEl>
                                        <p:attrNameLst>
                                          <p:attrName>ppt_w</p:attrName>
                                        </p:attrNameLst>
                                      </p:cBhvr>
                                      <p:tavLst>
                                        <p:tav tm="0">
                                          <p:val>
                                            <p:fltVal val="0"/>
                                          </p:val>
                                        </p:tav>
                                        <p:tav tm="100000">
                                          <p:val>
                                            <p:strVal val="#ppt_w"/>
                                          </p:val>
                                        </p:tav>
                                      </p:tavLst>
                                    </p:anim>
                                    <p:anim calcmode="lin" valueType="num">
                                      <p:cBhvr>
                                        <p:cTn id="8" dur="500" fill="hold"/>
                                        <p:tgtEl>
                                          <p:spTgt spid="54068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6" presetClass="entr" presetSubtype="0" fill="hold" grpId="0" nodeType="clickEffect">
                                  <p:stCondLst>
                                    <p:cond delay="0"/>
                                  </p:stCondLst>
                                  <p:childTnLst>
                                    <p:set>
                                      <p:cBhvr>
                                        <p:cTn id="17" dur="1" fill="hold">
                                          <p:stCondLst>
                                            <p:cond delay="0"/>
                                          </p:stCondLst>
                                        </p:cTn>
                                        <p:tgtEl>
                                          <p:spTgt spid="540681"/>
                                        </p:tgtEl>
                                        <p:attrNameLst>
                                          <p:attrName>style.visibility</p:attrName>
                                        </p:attrNameLst>
                                      </p:cBhvr>
                                      <p:to>
                                        <p:strVal val="visible"/>
                                      </p:to>
                                    </p:set>
                                    <p:animEffect transition="in" filter="wipe(down)">
                                      <p:cBhvr>
                                        <p:cTn id="18" dur="580">
                                          <p:stCondLst>
                                            <p:cond delay="0"/>
                                          </p:stCondLst>
                                        </p:cTn>
                                        <p:tgtEl>
                                          <p:spTgt spid="540681"/>
                                        </p:tgtEl>
                                      </p:cBhvr>
                                    </p:animEffect>
                                    <p:anim calcmode="lin" valueType="num">
                                      <p:cBhvr>
                                        <p:cTn id="19" dur="1822" tmFilter="0,0; 0.14,0.36; 0.43,0.73; 0.71,0.91; 1.0,1.0">
                                          <p:stCondLst>
                                            <p:cond delay="0"/>
                                          </p:stCondLst>
                                        </p:cTn>
                                        <p:tgtEl>
                                          <p:spTgt spid="540681"/>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540681"/>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540681"/>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540681"/>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540681"/>
                                        </p:tgtEl>
                                        <p:attrNameLst>
                                          <p:attrName>ppt_y</p:attrName>
                                        </p:attrNameLst>
                                      </p:cBhvr>
                                      <p:tavLst>
                                        <p:tav tm="0" fmla="#ppt_y-sin(pi*$)/81">
                                          <p:val>
                                            <p:fltVal val="0"/>
                                          </p:val>
                                        </p:tav>
                                        <p:tav tm="100000">
                                          <p:val>
                                            <p:fltVal val="1"/>
                                          </p:val>
                                        </p:tav>
                                      </p:tavLst>
                                    </p:anim>
                                    <p:animScale>
                                      <p:cBhvr>
                                        <p:cTn id="24" dur="26">
                                          <p:stCondLst>
                                            <p:cond delay="650"/>
                                          </p:stCondLst>
                                        </p:cTn>
                                        <p:tgtEl>
                                          <p:spTgt spid="540681"/>
                                        </p:tgtEl>
                                      </p:cBhvr>
                                      <p:to x="100000" y="60000"/>
                                    </p:animScale>
                                    <p:animScale>
                                      <p:cBhvr>
                                        <p:cTn id="25" dur="166" decel="50000">
                                          <p:stCondLst>
                                            <p:cond delay="676"/>
                                          </p:stCondLst>
                                        </p:cTn>
                                        <p:tgtEl>
                                          <p:spTgt spid="540681"/>
                                        </p:tgtEl>
                                      </p:cBhvr>
                                      <p:to x="100000" y="100000"/>
                                    </p:animScale>
                                    <p:animScale>
                                      <p:cBhvr>
                                        <p:cTn id="26" dur="26">
                                          <p:stCondLst>
                                            <p:cond delay="1312"/>
                                          </p:stCondLst>
                                        </p:cTn>
                                        <p:tgtEl>
                                          <p:spTgt spid="540681"/>
                                        </p:tgtEl>
                                      </p:cBhvr>
                                      <p:to x="100000" y="80000"/>
                                    </p:animScale>
                                    <p:animScale>
                                      <p:cBhvr>
                                        <p:cTn id="27" dur="166" decel="50000">
                                          <p:stCondLst>
                                            <p:cond delay="1338"/>
                                          </p:stCondLst>
                                        </p:cTn>
                                        <p:tgtEl>
                                          <p:spTgt spid="540681"/>
                                        </p:tgtEl>
                                      </p:cBhvr>
                                      <p:to x="100000" y="100000"/>
                                    </p:animScale>
                                    <p:animScale>
                                      <p:cBhvr>
                                        <p:cTn id="28" dur="26">
                                          <p:stCondLst>
                                            <p:cond delay="1642"/>
                                          </p:stCondLst>
                                        </p:cTn>
                                        <p:tgtEl>
                                          <p:spTgt spid="540681"/>
                                        </p:tgtEl>
                                      </p:cBhvr>
                                      <p:to x="100000" y="90000"/>
                                    </p:animScale>
                                    <p:animScale>
                                      <p:cBhvr>
                                        <p:cTn id="29" dur="166" decel="50000">
                                          <p:stCondLst>
                                            <p:cond delay="1668"/>
                                          </p:stCondLst>
                                        </p:cTn>
                                        <p:tgtEl>
                                          <p:spTgt spid="540681"/>
                                        </p:tgtEl>
                                      </p:cBhvr>
                                      <p:to x="100000" y="100000"/>
                                    </p:animScale>
                                    <p:animScale>
                                      <p:cBhvr>
                                        <p:cTn id="30" dur="26">
                                          <p:stCondLst>
                                            <p:cond delay="1808"/>
                                          </p:stCondLst>
                                        </p:cTn>
                                        <p:tgtEl>
                                          <p:spTgt spid="540681"/>
                                        </p:tgtEl>
                                      </p:cBhvr>
                                      <p:to x="100000" y="95000"/>
                                    </p:animScale>
                                    <p:animScale>
                                      <p:cBhvr>
                                        <p:cTn id="31" dur="166" decel="50000">
                                          <p:stCondLst>
                                            <p:cond delay="1834"/>
                                          </p:stCondLst>
                                        </p:cTn>
                                        <p:tgtEl>
                                          <p:spTgt spid="540681"/>
                                        </p:tgtEl>
                                      </p:cBhvr>
                                      <p:to x="100000" y="100000"/>
                                    </p:animScale>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81" grpId="0" bldLvl="0" animBg="1"/>
      <p:bldP spid="3" grpId="0"/>
      <p:bldP spid="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xfrm>
            <a:off x="6786563" y="720725"/>
            <a:ext cx="1465262" cy="165100"/>
          </a:xfrm>
          <a:noFill/>
          <a:ln>
            <a:noFill/>
          </a:ln>
        </p:spPr>
        <p:txBody>
          <a:bodyPr/>
          <a:p>
            <a:pPr eaLnBrk="1" hangingPunct="1"/>
            <a:r>
              <a:rPr lang="zh-CN" altLang="en-US" sz="800" dirty="0">
                <a:solidFill>
                  <a:schemeClr val="bg1"/>
                </a:solidFill>
                <a:latin typeface="Times New Roman" panose="02020603050405020304" pitchFamily="18" charset="0"/>
              </a:rPr>
              <a:t>锥齿轮传动的强度计算</a:t>
            </a:r>
            <a:r>
              <a:rPr lang="en-US" altLang="zh-CN" sz="800" dirty="0">
                <a:solidFill>
                  <a:schemeClr val="bg1"/>
                </a:solidFill>
                <a:latin typeface="Times New Roman" panose="02020603050405020304" pitchFamily="18" charset="0"/>
              </a:rPr>
              <a:t>1</a:t>
            </a:r>
            <a:endParaRPr lang="en-US" altLang="zh-CN" sz="800" dirty="0">
              <a:solidFill>
                <a:schemeClr val="bg1"/>
              </a:solidFill>
              <a:latin typeface="Times New Roman" panose="02020603050405020304" pitchFamily="18" charset="0"/>
            </a:endParaRPr>
          </a:p>
        </p:txBody>
      </p:sp>
      <p:sp>
        <p:nvSpPr>
          <p:cNvPr id="4099" name="Text Box 5"/>
          <p:cNvSpPr txBox="1"/>
          <p:nvPr/>
        </p:nvSpPr>
        <p:spPr>
          <a:xfrm>
            <a:off x="473075" y="120650"/>
            <a:ext cx="4792663" cy="396875"/>
          </a:xfrm>
          <a:prstGeom prst="rect">
            <a:avLst/>
          </a:prstGeom>
          <a:noFill/>
          <a:ln w="9525">
            <a:noFill/>
          </a:ln>
        </p:spPr>
        <p:txBody>
          <a:bodyPr tIns="36000" bIns="72000" anchor="ctr" anchorCtr="1"/>
          <a:p>
            <a:pPr eaLnBrk="1" hangingPunct="1"/>
            <a:r>
              <a:rPr lang="zh-CN" altLang="en-US" sz="3200" dirty="0">
                <a:solidFill>
                  <a:schemeClr val="bg1"/>
                </a:solidFill>
                <a:latin typeface="黑体" panose="02010609060101010101" pitchFamily="49" charset="-122"/>
                <a:ea typeface="黑体" panose="02010609060101010101" pitchFamily="49" charset="-122"/>
              </a:rPr>
              <a:t>直齿锥齿轮传动设计</a:t>
            </a:r>
            <a:endParaRPr lang="zh-CN" altLang="en-US" sz="3200" dirty="0">
              <a:solidFill>
                <a:schemeClr val="bg1"/>
              </a:solidFill>
              <a:latin typeface="黑体" panose="02010609060101010101" pitchFamily="49" charset="-122"/>
              <a:ea typeface="黑体" panose="02010609060101010101" pitchFamily="49" charset="-122"/>
            </a:endParaRPr>
          </a:p>
        </p:txBody>
      </p:sp>
      <p:pic>
        <p:nvPicPr>
          <p:cNvPr id="4100" name="Picture 10"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4101" name="Picture 11" descr="rewind">
            <a:hlinkClick r:id="" action="ppaction://hlinkshowjump?jump=firstslide"/>
          </p:cNvPr>
          <p:cNvPicPr>
            <a:picLocks noChangeAspect="1"/>
          </p:cNvPicPr>
          <p:nvPr/>
        </p:nvPicPr>
        <p:blipFill>
          <a:blip r:embed="rId2"/>
          <a:stretch>
            <a:fillRect/>
          </a:stretch>
        </p:blipFill>
        <p:spPr>
          <a:xfrm>
            <a:off x="8116888" y="6538913"/>
            <a:ext cx="287337" cy="287337"/>
          </a:xfrm>
          <a:prstGeom prst="rect">
            <a:avLst/>
          </a:prstGeom>
          <a:noFill/>
          <a:ln w="9525">
            <a:noFill/>
          </a:ln>
        </p:spPr>
      </p:pic>
      <p:sp>
        <p:nvSpPr>
          <p:cNvPr id="65556" name="Text Box 20"/>
          <p:cNvSpPr txBox="1"/>
          <p:nvPr/>
        </p:nvSpPr>
        <p:spPr>
          <a:xfrm>
            <a:off x="6608763" y="6221413"/>
            <a:ext cx="247650" cy="396875"/>
          </a:xfrm>
          <a:prstGeom prst="rect">
            <a:avLst/>
          </a:prstGeom>
          <a:noFill/>
          <a:ln w="9525">
            <a:noFill/>
          </a:ln>
        </p:spPr>
        <p:txBody>
          <a:bodyPr wrap="none">
            <a:spAutoFit/>
          </a:bodyPr>
          <a:p>
            <a:pPr eaLnBrk="1" hangingPunct="1"/>
            <a:r>
              <a:rPr lang="en-US" altLang="zh-CN" dirty="0">
                <a:solidFill>
                  <a:schemeClr val="tx1"/>
                </a:solidFill>
                <a:latin typeface="Times New Roman" panose="02020603050405020304" pitchFamily="18" charset="0"/>
              </a:rPr>
              <a:t> </a:t>
            </a:r>
            <a:endParaRPr lang="en-US" altLang="zh-CN" dirty="0">
              <a:solidFill>
                <a:schemeClr val="tx1"/>
              </a:solidFill>
              <a:latin typeface="Times New Roman" panose="02020603050405020304" pitchFamily="18" charset="0"/>
            </a:endParaRPr>
          </a:p>
        </p:txBody>
      </p:sp>
      <p:pic>
        <p:nvPicPr>
          <p:cNvPr id="4103" name="图片 1"/>
          <p:cNvPicPr>
            <a:picLocks noChangeAspect="1"/>
          </p:cNvPicPr>
          <p:nvPr/>
        </p:nvPicPr>
        <p:blipFill>
          <a:blip r:embed="rId3"/>
          <a:stretch>
            <a:fillRect/>
          </a:stretch>
        </p:blipFill>
        <p:spPr>
          <a:xfrm>
            <a:off x="4392930" y="517525"/>
            <a:ext cx="4365625" cy="4406900"/>
          </a:xfrm>
          <a:prstGeom prst="rect">
            <a:avLst/>
          </a:prstGeom>
          <a:noFill/>
          <a:ln w="9525">
            <a:noFill/>
          </a:ln>
        </p:spPr>
      </p:pic>
      <p:sp>
        <p:nvSpPr>
          <p:cNvPr id="4104" name="文本框 3"/>
          <p:cNvSpPr txBox="1"/>
          <p:nvPr/>
        </p:nvSpPr>
        <p:spPr>
          <a:xfrm>
            <a:off x="4927283" y="5092065"/>
            <a:ext cx="3433762" cy="338138"/>
          </a:xfrm>
          <a:prstGeom prst="rect">
            <a:avLst/>
          </a:prstGeom>
          <a:noFill/>
          <a:ln w="9525">
            <a:noFill/>
          </a:ln>
        </p:spPr>
        <p:txBody>
          <a:bodyPr wrap="none">
            <a:spAutoFit/>
          </a:bodyPr>
          <a:p>
            <a:r>
              <a:rPr lang="zh-CN" altLang="en-US" sz="1600" dirty="0">
                <a:latin typeface="Times New Roman" panose="02020603050405020304" pitchFamily="18" charset="0"/>
              </a:rPr>
              <a:t>图</a:t>
            </a:r>
            <a:r>
              <a:rPr lang="en-US" altLang="zh-CN" sz="1600" dirty="0">
                <a:latin typeface="Times New Roman" panose="02020603050405020304" pitchFamily="18" charset="0"/>
              </a:rPr>
              <a:t>3.10-1 </a:t>
            </a:r>
            <a:r>
              <a:rPr lang="zh-CN" altLang="en-US" sz="1600" dirty="0">
                <a:latin typeface="Times New Roman" panose="02020603050405020304" pitchFamily="18" charset="0"/>
              </a:rPr>
              <a:t>直齿锥齿轮传动的几何关系</a:t>
            </a:r>
            <a:endParaRPr lang="zh-CN" altLang="en-US" sz="1600" dirty="0">
              <a:latin typeface="Times New Roman" panose="02020603050405020304" pitchFamily="18" charset="0"/>
            </a:endParaRPr>
          </a:p>
        </p:txBody>
      </p:sp>
      <p:sp>
        <p:nvSpPr>
          <p:cNvPr id="6" name="矩形 5"/>
          <p:cNvSpPr/>
          <p:nvPr/>
        </p:nvSpPr>
        <p:spPr>
          <a:xfrm>
            <a:off x="693738" y="814388"/>
            <a:ext cx="646113" cy="515938"/>
          </a:xfrm>
          <a:prstGeom prst="rect">
            <a:avLst/>
          </a:prstGeom>
        </p:spPr>
        <p:txBody>
          <a:bodyPr wrap="none">
            <a:spAutoFit/>
          </a:bodyPr>
          <a:lstStyle/>
          <a:p>
            <a:pPr marL="0" marR="0" lvl="0" indent="457200" algn="l" defTabSz="914400" rtl="0" eaLnBrk="0" fontAlgn="base" latinLnBrk="0" hangingPunct="0">
              <a:lnSpc>
                <a:spcPct val="200000"/>
              </a:lnSpc>
              <a:spcBef>
                <a:spcPct val="0"/>
              </a:spcBef>
              <a:spcAft>
                <a:spcPts val="0"/>
              </a:spcAft>
              <a:buClrTx/>
              <a:buSzTx/>
              <a:buFontTx/>
              <a:buNone/>
              <a:defRPr/>
            </a:pPr>
            <a:endParaRPr kumimoji="1" lang="zh-CN" altLang="zh-CN" sz="1600" b="0" i="0" u="none" strike="noStrike" kern="100" cap="none" spc="0" normalizeH="0" baseline="0" noProof="0" dirty="0">
              <a:ln>
                <a:noFill/>
              </a:ln>
              <a:solidFill>
                <a:srgbClr val="000099"/>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4106" name="文本框 7"/>
          <p:cNvSpPr txBox="1"/>
          <p:nvPr/>
        </p:nvSpPr>
        <p:spPr>
          <a:xfrm>
            <a:off x="848360" y="5598160"/>
            <a:ext cx="5865813" cy="400050"/>
          </a:xfrm>
          <a:prstGeom prst="rect">
            <a:avLst/>
          </a:prstGeom>
          <a:noFill/>
          <a:ln w="9525">
            <a:noFill/>
          </a:ln>
        </p:spPr>
        <p:txBody>
          <a:bodyPr>
            <a:spAutoFit/>
          </a:bodyPr>
          <a:p>
            <a:r>
              <a:rPr lang="zh-CN" altLang="zh-CN" dirty="0">
                <a:latin typeface="Times New Roman" panose="02020603050405020304" pitchFamily="18" charset="0"/>
              </a:rPr>
              <a:t>标准直齿锥齿轮传动的主要几何参数见</a:t>
            </a:r>
            <a:r>
              <a:rPr lang="zh-CN" altLang="zh-CN" dirty="0">
                <a:latin typeface="Times New Roman" panose="02020603050405020304" pitchFamily="18" charset="0"/>
                <a:hlinkClick r:id="rId4" action="ppaction://hlinkfile"/>
              </a:rPr>
              <a:t>表</a:t>
            </a:r>
            <a:r>
              <a:rPr lang="en-US" altLang="zh-CN" dirty="0">
                <a:latin typeface="Times New Roman" panose="02020603050405020304" pitchFamily="18" charset="0"/>
                <a:hlinkClick r:id="rId4" action="ppaction://hlinkfile"/>
              </a:rPr>
              <a:t>3.10-1</a:t>
            </a:r>
            <a:endParaRPr lang="zh-CN" altLang="zh-CN" dirty="0">
              <a:latin typeface="Times New Roman" panose="02020603050405020304" pitchFamily="18" charset="0"/>
            </a:endParaRPr>
          </a:p>
        </p:txBody>
      </p:sp>
      <p:pic>
        <p:nvPicPr>
          <p:cNvPr id="4107" name="Picture 10" descr="back">
            <a:hlinkClick r:id="" action="ppaction://hlinkshowjump?jump=previousslide"/>
          </p:cNvPr>
          <p:cNvPicPr>
            <a:picLocks noChangeAspect="1"/>
          </p:cNvPicPr>
          <p:nvPr/>
        </p:nvPicPr>
        <p:blipFill>
          <a:blip r:embed="rId5"/>
          <a:stretch>
            <a:fillRect/>
          </a:stretch>
        </p:blipFill>
        <p:spPr>
          <a:xfrm>
            <a:off x="8470900" y="6538913"/>
            <a:ext cx="287338" cy="287337"/>
          </a:xfrm>
          <a:prstGeom prst="rect">
            <a:avLst/>
          </a:prstGeom>
          <a:noFill/>
          <a:ln w="9525">
            <a:noFill/>
          </a:ln>
        </p:spPr>
      </p:pic>
      <p:graphicFrame>
        <p:nvGraphicFramePr>
          <p:cNvPr id="5" name="对象 4">
            <a:hlinkClick r:id="" action="ppaction://ole?verb="/>
          </p:cNvPr>
          <p:cNvGraphicFramePr>
            <a:graphicFrameLocks noChangeAspect="1"/>
          </p:cNvGraphicFramePr>
          <p:nvPr/>
        </p:nvGraphicFramePr>
        <p:xfrm>
          <a:off x="891540" y="911860"/>
          <a:ext cx="3021330" cy="904240"/>
        </p:xfrm>
        <a:graphic>
          <a:graphicData uri="http://schemas.openxmlformats.org/presentationml/2006/ole">
            <mc:AlternateContent xmlns:mc="http://schemas.openxmlformats.org/markup-compatibility/2006">
              <mc:Choice xmlns:v="urn:schemas-microsoft-com:vml" Requires="v">
                <p:oleObj spid="_x0000_s2" name="" r:id="rId6" imgW="1612900" imgH="482600" progId="Equation.KSEE3">
                  <p:embed/>
                </p:oleObj>
              </mc:Choice>
              <mc:Fallback>
                <p:oleObj name="" r:id="rId6" imgW="1612900" imgH="482600" progId="Equation.KSEE3">
                  <p:embed/>
                  <p:pic>
                    <p:nvPicPr>
                      <p:cNvPr id="0" name="图片 4097"/>
                      <p:cNvPicPr/>
                      <p:nvPr/>
                    </p:nvPicPr>
                    <p:blipFill>
                      <a:blip r:embed="rId7"/>
                      <a:stretch>
                        <a:fillRect/>
                      </a:stretch>
                    </p:blipFill>
                    <p:spPr>
                      <a:xfrm>
                        <a:off x="891540" y="911860"/>
                        <a:ext cx="3021330" cy="90424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891540" y="2109153"/>
          <a:ext cx="3021330" cy="809625"/>
        </p:xfrm>
        <a:graphic>
          <a:graphicData uri="http://schemas.openxmlformats.org/presentationml/2006/ole">
            <mc:AlternateContent xmlns:mc="http://schemas.openxmlformats.org/markup-compatibility/2006">
              <mc:Choice xmlns:v="urn:schemas-microsoft-com:vml" Requires="v">
                <p:oleObj spid="_x0000_s7" name="" r:id="rId8" imgW="1612900" imgH="431800" progId="Equation.KSEE3">
                  <p:embed/>
                </p:oleObj>
              </mc:Choice>
              <mc:Fallback>
                <p:oleObj name="" r:id="rId8" imgW="1612900" imgH="431800" progId="Equation.KSEE3">
                  <p:embed/>
                  <p:pic>
                    <p:nvPicPr>
                      <p:cNvPr id="0" name="图片 4097"/>
                      <p:cNvPicPr/>
                      <p:nvPr/>
                    </p:nvPicPr>
                    <p:blipFill>
                      <a:blip r:embed="rId9"/>
                      <a:stretch>
                        <a:fillRect/>
                      </a:stretch>
                    </p:blipFill>
                    <p:spPr>
                      <a:xfrm>
                        <a:off x="891540" y="2109153"/>
                        <a:ext cx="3021330" cy="809625"/>
                      </a:xfrm>
                      <a:prstGeom prst="rect">
                        <a:avLst/>
                      </a:prstGeom>
                    </p:spPr>
                  </p:pic>
                </p:oleObj>
              </mc:Fallback>
            </mc:AlternateContent>
          </a:graphicData>
        </a:graphic>
      </p:graphicFrame>
      <p:cxnSp>
        <p:nvCxnSpPr>
          <p:cNvPr id="4" name="直接连接符 3"/>
          <p:cNvCxnSpPr/>
          <p:nvPr/>
        </p:nvCxnSpPr>
        <p:spPr>
          <a:xfrm flipH="1">
            <a:off x="5521960" y="2737485"/>
            <a:ext cx="697230" cy="540385"/>
          </a:xfrm>
          <a:prstGeom prst="line">
            <a:avLst/>
          </a:prstGeom>
          <a:solidFill>
            <a:schemeClr val="accent1"/>
          </a:solidFill>
          <a:ln w="12700" cap="flat" cmpd="sng" algn="ctr">
            <a:solidFill>
              <a:srgbClr val="FF0000"/>
            </a:solidFill>
            <a:prstDash val="solid"/>
            <a:round/>
            <a:headEnd type="none" w="med" len="med"/>
            <a:tailEnd type="none" w="med" len="med"/>
          </a:ln>
        </p:spPr>
      </p:cxnSp>
      <p:cxnSp>
        <p:nvCxnSpPr>
          <p:cNvPr id="8" name="直接连接符 7"/>
          <p:cNvCxnSpPr/>
          <p:nvPr/>
        </p:nvCxnSpPr>
        <p:spPr>
          <a:xfrm flipV="1">
            <a:off x="6214110" y="1864360"/>
            <a:ext cx="1121410" cy="865505"/>
          </a:xfrm>
          <a:prstGeom prst="line">
            <a:avLst/>
          </a:prstGeom>
          <a:solidFill>
            <a:schemeClr val="accent1"/>
          </a:solidFill>
          <a:ln w="12700" cap="flat" cmpd="sng" algn="ctr">
            <a:solidFill>
              <a:srgbClr val="0070C0"/>
            </a:solidFill>
            <a:prstDash val="solid"/>
            <a:round/>
            <a:headEnd type="none" w="med" len="med"/>
            <a:tailEnd type="none" w="med" len="med"/>
          </a:ln>
        </p:spPr>
      </p:cxnSp>
      <p:sp>
        <p:nvSpPr>
          <p:cNvPr id="9" name="文本框 8"/>
          <p:cNvSpPr txBox="1"/>
          <p:nvPr/>
        </p:nvSpPr>
        <p:spPr>
          <a:xfrm>
            <a:off x="5258435" y="2971165"/>
            <a:ext cx="424180" cy="306705"/>
          </a:xfrm>
          <a:prstGeom prst="rect">
            <a:avLst/>
          </a:prstGeom>
          <a:noFill/>
        </p:spPr>
        <p:txBody>
          <a:bodyPr wrap="square" rtlCol="0">
            <a:spAutoFit/>
          </a:bodyPr>
          <a:p>
            <a:r>
              <a:rPr lang="en-US" altLang="zh-CN" sz="1400" i="1">
                <a:solidFill>
                  <a:srgbClr val="C00000"/>
                </a:solidFill>
              </a:rPr>
              <a:t>O</a:t>
            </a:r>
            <a:r>
              <a:rPr lang="en-US" altLang="zh-CN" sz="1400" i="1" baseline="-25000">
                <a:solidFill>
                  <a:srgbClr val="C00000"/>
                </a:solidFill>
              </a:rPr>
              <a:t>1</a:t>
            </a:r>
            <a:endParaRPr lang="en-US" altLang="zh-CN" sz="1400" i="1" baseline="-25000">
              <a:solidFill>
                <a:srgbClr val="C00000"/>
              </a:solidFill>
            </a:endParaRPr>
          </a:p>
        </p:txBody>
      </p:sp>
      <p:sp>
        <p:nvSpPr>
          <p:cNvPr id="10" name="文本框 9"/>
          <p:cNvSpPr txBox="1"/>
          <p:nvPr/>
        </p:nvSpPr>
        <p:spPr>
          <a:xfrm>
            <a:off x="7219950" y="1550035"/>
            <a:ext cx="424180" cy="306705"/>
          </a:xfrm>
          <a:prstGeom prst="rect">
            <a:avLst/>
          </a:prstGeom>
          <a:noFill/>
        </p:spPr>
        <p:txBody>
          <a:bodyPr wrap="square" rtlCol="0">
            <a:spAutoFit/>
          </a:bodyPr>
          <a:p>
            <a:r>
              <a:rPr lang="en-US" altLang="zh-CN" sz="1400" i="1">
                <a:solidFill>
                  <a:srgbClr val="C00000"/>
                </a:solidFill>
              </a:rPr>
              <a:t>O</a:t>
            </a:r>
            <a:r>
              <a:rPr lang="en-US" altLang="zh-CN" sz="1400" i="1" baseline="-25000">
                <a:solidFill>
                  <a:srgbClr val="C00000"/>
                </a:solidFill>
              </a:rPr>
              <a:t>2</a:t>
            </a:r>
            <a:endParaRPr lang="en-US" altLang="zh-CN" sz="1400" i="1" baseline="-25000">
              <a:solidFill>
                <a:srgbClr val="C00000"/>
              </a:solidFill>
            </a:endParaRPr>
          </a:p>
        </p:txBody>
      </p:sp>
      <p:cxnSp>
        <p:nvCxnSpPr>
          <p:cNvPr id="11" name="曲线连接符 10"/>
          <p:cNvCxnSpPr/>
          <p:nvPr/>
        </p:nvCxnSpPr>
        <p:spPr>
          <a:xfrm>
            <a:off x="5969635" y="2919095"/>
            <a:ext cx="246380" cy="190500"/>
          </a:xfrm>
          <a:prstGeom prst="curvedConnector3">
            <a:avLst>
              <a:gd name="adj1" fmla="val 17010"/>
            </a:avLst>
          </a:prstGeom>
          <a:solidFill>
            <a:schemeClr val="accent1"/>
          </a:solidFill>
          <a:ln w="9525" cap="flat" cmpd="sng" algn="ctr">
            <a:solidFill>
              <a:srgbClr val="FF0000"/>
            </a:solidFill>
            <a:prstDash val="solid"/>
            <a:round/>
            <a:headEnd type="triangle" w="med" len="med"/>
            <a:tailEnd type="triangle" w="med" len="med"/>
          </a:ln>
        </p:spPr>
      </p:cxnSp>
      <p:sp>
        <p:nvSpPr>
          <p:cNvPr id="13" name="文本框 12"/>
          <p:cNvSpPr txBox="1"/>
          <p:nvPr/>
        </p:nvSpPr>
        <p:spPr>
          <a:xfrm>
            <a:off x="6042660" y="2503805"/>
            <a:ext cx="190500" cy="337185"/>
          </a:xfrm>
          <a:prstGeom prst="rect">
            <a:avLst/>
          </a:prstGeom>
          <a:noFill/>
        </p:spPr>
        <p:txBody>
          <a:bodyPr wrap="square" rtlCol="0">
            <a:spAutoFit/>
          </a:bodyPr>
          <a:p>
            <a:r>
              <a:rPr lang="en-US" altLang="zh-CN" sz="1600" i="1">
                <a:solidFill>
                  <a:srgbClr val="C00000"/>
                </a:solidFill>
              </a:rPr>
              <a:t>C</a:t>
            </a:r>
            <a:endParaRPr lang="en-US" altLang="zh-CN" sz="1600" i="1">
              <a:solidFill>
                <a:srgbClr val="C00000"/>
              </a:solidFill>
            </a:endParaRPr>
          </a:p>
        </p:txBody>
      </p:sp>
      <p:sp>
        <p:nvSpPr>
          <p:cNvPr id="14" name="文本框 13"/>
          <p:cNvSpPr txBox="1"/>
          <p:nvPr/>
        </p:nvSpPr>
        <p:spPr>
          <a:xfrm>
            <a:off x="5862955" y="3091815"/>
            <a:ext cx="406400" cy="337185"/>
          </a:xfrm>
          <a:prstGeom prst="rect">
            <a:avLst/>
          </a:prstGeom>
          <a:noFill/>
        </p:spPr>
        <p:txBody>
          <a:bodyPr wrap="square" rtlCol="0" anchor="t">
            <a:spAutoFit/>
          </a:bodyPr>
          <a:p>
            <a:r>
              <a:rPr lang="en-US" altLang="zh-CN" sz="1600" i="1">
                <a:solidFill>
                  <a:srgbClr val="C00000"/>
                </a:solidFill>
                <a:latin typeface="Arial" panose="020B0604020202020204" pitchFamily="34" charset="0"/>
                <a:cs typeface="Arial" panose="020B0604020202020204" pitchFamily="34" charset="0"/>
              </a:rPr>
              <a:t>δ</a:t>
            </a:r>
            <a:r>
              <a:rPr lang="en-US" altLang="zh-CN" sz="1600" i="1" baseline="-25000">
                <a:solidFill>
                  <a:srgbClr val="C00000"/>
                </a:solidFill>
                <a:latin typeface="Arial" panose="020B0604020202020204" pitchFamily="34" charset="0"/>
                <a:cs typeface="Arial" panose="020B0604020202020204" pitchFamily="34" charset="0"/>
              </a:rPr>
              <a:t>1</a:t>
            </a:r>
            <a:endParaRPr lang="en-US" altLang="zh-CN" sz="1600" i="1" baseline="-25000">
              <a:solidFill>
                <a:srgbClr val="C00000"/>
              </a:solidFill>
              <a:latin typeface="Arial" panose="020B0604020202020204" pitchFamily="34" charset="0"/>
              <a:cs typeface="Arial" panose="020B0604020202020204" pitchFamily="34" charset="0"/>
            </a:endParaRPr>
          </a:p>
        </p:txBody>
      </p:sp>
      <p:graphicFrame>
        <p:nvGraphicFramePr>
          <p:cNvPr id="15" name="对象 14">
            <a:hlinkClick r:id="" action="ppaction://ole?verb="/>
          </p:cNvPr>
          <p:cNvGraphicFramePr>
            <a:graphicFrameLocks noChangeAspect="1"/>
          </p:cNvGraphicFramePr>
          <p:nvPr/>
        </p:nvGraphicFramePr>
        <p:xfrm>
          <a:off x="1579245" y="3237865"/>
          <a:ext cx="1195705" cy="701040"/>
        </p:xfrm>
        <a:graphic>
          <a:graphicData uri="http://schemas.openxmlformats.org/presentationml/2006/ole">
            <mc:AlternateContent xmlns:mc="http://schemas.openxmlformats.org/markup-compatibility/2006">
              <mc:Choice xmlns:v="urn:schemas-microsoft-com:vml" Requires="v">
                <p:oleObj spid="_x0000_s2049" name="" r:id="rId10" imgW="736600" imgH="431800" progId="Equation.KSEE3">
                  <p:embed/>
                </p:oleObj>
              </mc:Choice>
              <mc:Fallback>
                <p:oleObj name="" r:id="rId10" imgW="736600" imgH="431800" progId="Equation.KSEE3">
                  <p:embed/>
                  <p:pic>
                    <p:nvPicPr>
                      <p:cNvPr id="0" name="图片 2048"/>
                      <p:cNvPicPr/>
                      <p:nvPr/>
                    </p:nvPicPr>
                    <p:blipFill>
                      <a:blip r:embed="rId11"/>
                      <a:stretch>
                        <a:fillRect/>
                      </a:stretch>
                    </p:blipFill>
                    <p:spPr>
                      <a:xfrm>
                        <a:off x="1579245" y="3237865"/>
                        <a:ext cx="1195705" cy="701040"/>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2971165" y="3237865"/>
          <a:ext cx="1339215" cy="758825"/>
        </p:xfrm>
        <a:graphic>
          <a:graphicData uri="http://schemas.openxmlformats.org/presentationml/2006/ole">
            <mc:AlternateContent xmlns:mc="http://schemas.openxmlformats.org/markup-compatibility/2006">
              <mc:Choice xmlns:v="urn:schemas-microsoft-com:vml" Requires="v">
                <p:oleObj spid="_x0000_s2049" name="" r:id="rId12" imgW="762000" imgH="431800" progId="Equation.KSEE3">
                  <p:embed/>
                </p:oleObj>
              </mc:Choice>
              <mc:Fallback>
                <p:oleObj name="" r:id="rId12" imgW="762000" imgH="431800" progId="Equation.KSEE3">
                  <p:embed/>
                  <p:pic>
                    <p:nvPicPr>
                      <p:cNvPr id="0" name="图片 2048"/>
                      <p:cNvPicPr/>
                      <p:nvPr/>
                    </p:nvPicPr>
                    <p:blipFill>
                      <a:blip r:embed="rId13"/>
                      <a:stretch>
                        <a:fillRect/>
                      </a:stretch>
                    </p:blipFill>
                    <p:spPr>
                      <a:xfrm>
                        <a:off x="2971165" y="3237865"/>
                        <a:ext cx="1339215" cy="758825"/>
                      </a:xfrm>
                      <a:prstGeom prst="rect">
                        <a:avLst/>
                      </a:prstGeom>
                    </p:spPr>
                  </p:pic>
                </p:oleObj>
              </mc:Fallback>
            </mc:AlternateContent>
          </a:graphicData>
        </a:graphic>
      </p:graphicFrame>
      <p:sp>
        <p:nvSpPr>
          <p:cNvPr id="17" name="文本框 16"/>
          <p:cNvSpPr txBox="1"/>
          <p:nvPr/>
        </p:nvSpPr>
        <p:spPr>
          <a:xfrm>
            <a:off x="302260" y="3429000"/>
            <a:ext cx="1276985"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当量齿数</a:t>
            </a:r>
            <a:endParaRPr lang="zh-CN" altLang="en-US">
              <a:latin typeface="黑体" panose="02010609060101010101" pitchFamily="49" charset="-122"/>
              <a:ea typeface="黑体" panose="02010609060101010101" pitchFamily="49" charset="-122"/>
            </a:endParaRPr>
          </a:p>
        </p:txBody>
      </p:sp>
      <p:sp>
        <p:nvSpPr>
          <p:cNvPr id="18" name="文本框 17"/>
          <p:cNvSpPr txBox="1"/>
          <p:nvPr/>
        </p:nvSpPr>
        <p:spPr>
          <a:xfrm>
            <a:off x="246380" y="4213860"/>
            <a:ext cx="1622425"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当量齿数</a:t>
            </a:r>
            <a:r>
              <a:rPr lang="zh-CN" altLang="en-US">
                <a:latin typeface="黑体" panose="02010609060101010101" pitchFamily="49" charset="-122"/>
                <a:ea typeface="黑体" panose="02010609060101010101" pitchFamily="49" charset="-122"/>
              </a:rPr>
              <a:t>比</a:t>
            </a:r>
            <a:endParaRPr lang="zh-CN" altLang="en-US">
              <a:latin typeface="黑体" panose="02010609060101010101" pitchFamily="49" charset="-122"/>
              <a:ea typeface="黑体" panose="02010609060101010101" pitchFamily="49" charset="-122"/>
            </a:endParaRPr>
          </a:p>
        </p:txBody>
      </p:sp>
      <p:graphicFrame>
        <p:nvGraphicFramePr>
          <p:cNvPr id="19" name="对象 18">
            <a:hlinkClick r:id="" action="ppaction://ole?verb="/>
          </p:cNvPr>
          <p:cNvGraphicFramePr>
            <a:graphicFrameLocks noChangeAspect="1"/>
          </p:cNvGraphicFramePr>
          <p:nvPr/>
        </p:nvGraphicFramePr>
        <p:xfrm>
          <a:off x="1800860" y="4129405"/>
          <a:ext cx="1519555" cy="795020"/>
        </p:xfrm>
        <a:graphic>
          <a:graphicData uri="http://schemas.openxmlformats.org/presentationml/2006/ole">
            <mc:AlternateContent xmlns:mc="http://schemas.openxmlformats.org/markup-compatibility/2006">
              <mc:Choice xmlns:v="urn:schemas-microsoft-com:vml" Requires="v">
                <p:oleObj spid="_x0000_s20" name="" r:id="rId14" imgW="825500" imgH="431800" progId="Equation.KSEE3">
                  <p:embed/>
                </p:oleObj>
              </mc:Choice>
              <mc:Fallback>
                <p:oleObj name="" r:id="rId14" imgW="825500" imgH="431800" progId="Equation.KSEE3">
                  <p:embed/>
                  <p:pic>
                    <p:nvPicPr>
                      <p:cNvPr id="0" name="图片 2048"/>
                      <p:cNvPicPr/>
                      <p:nvPr/>
                    </p:nvPicPr>
                    <p:blipFill>
                      <a:blip r:embed="rId15"/>
                      <a:stretch>
                        <a:fillRect/>
                      </a:stretch>
                    </p:blipFill>
                    <p:spPr>
                      <a:xfrm>
                        <a:off x="1800860" y="4129405"/>
                        <a:ext cx="1519555" cy="795020"/>
                      </a:xfrm>
                      <a:prstGeom prst="rect">
                        <a:avLst/>
                      </a:prstGeom>
                    </p:spPr>
                  </p:pic>
                </p:oleObj>
              </mc:Fallback>
            </mc:AlternateContent>
          </a:graphicData>
        </a:graphic>
      </p:graphicFrame>
      <p:sp>
        <p:nvSpPr>
          <p:cNvPr id="21" name="文本框 20"/>
          <p:cNvSpPr txBox="1"/>
          <p:nvPr/>
        </p:nvSpPr>
        <p:spPr>
          <a:xfrm>
            <a:off x="246380" y="517525"/>
            <a:ext cx="2682240"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当量齿轮分度圆</a:t>
            </a:r>
            <a:r>
              <a:rPr lang="zh-CN" altLang="en-US">
                <a:latin typeface="黑体" panose="02010609060101010101" pitchFamily="49" charset="-122"/>
                <a:ea typeface="黑体" panose="02010609060101010101" pitchFamily="49" charset="-122"/>
              </a:rPr>
              <a:t>直径</a:t>
            </a:r>
            <a:endParaRPr lang="zh-CN" altLang="en-US">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56"/>
                                        </p:tgtEl>
                                        <p:attrNameLst>
                                          <p:attrName>style.visibility</p:attrName>
                                        </p:attrNameLst>
                                      </p:cBhvr>
                                      <p:to>
                                        <p:strVal val="visible"/>
                                      </p:to>
                                    </p:set>
                                    <p:anim calcmode="lin" valueType="num">
                                      <p:cBhvr additive="base">
                                        <p:cTn id="7" dur="500" fill="hold"/>
                                        <p:tgtEl>
                                          <p:spTgt spid="65556"/>
                                        </p:tgtEl>
                                        <p:attrNameLst>
                                          <p:attrName>ppt_x</p:attrName>
                                        </p:attrNameLst>
                                      </p:cBhvr>
                                      <p:tavLst>
                                        <p:tav tm="0">
                                          <p:val>
                                            <p:strVal val="0-#ppt_w/2"/>
                                          </p:val>
                                        </p:tav>
                                        <p:tav tm="100000">
                                          <p:val>
                                            <p:strVal val="#ppt_x"/>
                                          </p:val>
                                        </p:tav>
                                      </p:tavLst>
                                    </p:anim>
                                    <p:anim calcmode="lin" valueType="num">
                                      <p:cBhvr additive="base">
                                        <p:cTn id="8" dur="500" fill="hold"/>
                                        <p:tgtEl>
                                          <p:spTgt spid="655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righ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wipe(down)">
                                      <p:cBhvr>
                                        <p:cTn id="38" dur="500"/>
                                        <p:tgtEl>
                                          <p:spTgt spid="1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down)">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down)">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wipe(left)">
                                      <p:cBhvr>
                                        <p:cTn id="58" dur="500"/>
                                        <p:tgtEl>
                                          <p:spTgt spid="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wipe(left)">
                                      <p:cBhvr>
                                        <p:cTn id="63" dur="500"/>
                                        <p:tgtEl>
                                          <p:spTgt spid="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wipe(left)">
                                      <p:cBhvr>
                                        <p:cTn id="68" dur="5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wipe(left)">
                                      <p:cBhvr>
                                        <p:cTn id="73" dur="500"/>
                                        <p:tgtEl>
                                          <p:spTgt spid="15"/>
                                        </p:tgtEl>
                                      </p:cBhvr>
                                    </p:animEffec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left)">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wipe(left)">
                                      <p:cBhvr>
                                        <p:cTn id="82" dur="500"/>
                                        <p:tgtEl>
                                          <p:spTgt spid="18"/>
                                        </p:tgtEl>
                                      </p:cBhvr>
                                    </p:animEffect>
                                  </p:childTnLst>
                                </p:cTn>
                              </p:par>
                            </p:childTnLst>
                          </p:cTn>
                        </p:par>
                        <p:par>
                          <p:cTn id="83" fill="hold">
                            <p:stCondLst>
                              <p:cond delay="500"/>
                            </p:stCondLst>
                            <p:childTnLst>
                              <p:par>
                                <p:cTn id="84" presetID="22" presetClass="entr" presetSubtype="8" fill="hold" nodeType="after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wipe(left)">
                                      <p:cBhvr>
                                        <p:cTn id="8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6" grpId="0"/>
      <p:bldP spid="9" grpId="0"/>
      <p:bldP spid="10" grpId="0"/>
      <p:bldP spid="13" grpId="0"/>
      <p:bldP spid="14" grpId="0"/>
      <p:bldP spid="21" grpId="0"/>
      <p:bldP spid="17" grpId="0"/>
      <p:bldP spid="1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Rectangle 2"/>
          <p:cNvSpPr>
            <a:spLocks noGrp="1" noChangeArrowheads="1"/>
          </p:cNvSpPr>
          <p:nvPr>
            <p:ph type="title"/>
          </p:nvPr>
        </p:nvSpPr>
        <p:spPr bwMode="auto">
          <a:xfrm>
            <a:off x="5037138" y="784225"/>
            <a:ext cx="2806700" cy="180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锥齿轮传动的强度计算</a:t>
            </a:r>
            <a:r>
              <a:rPr lang="en-US" altLang="zh-CN" sz="800" smtClean="0">
                <a:solidFill>
                  <a:schemeClr val="bg1"/>
                </a:solidFill>
                <a:latin typeface="Times New Roman" panose="02020603050405020304" pitchFamily="18" charset="0"/>
              </a:rPr>
              <a:t>2</a:t>
            </a:r>
            <a:endParaRPr lang="en-US" altLang="zh-CN" sz="800" smtClean="0">
              <a:solidFill>
                <a:schemeClr val="bg1"/>
              </a:solidFill>
              <a:latin typeface="Times New Roman" panose="02020603050405020304" pitchFamily="18" charset="0"/>
            </a:endParaRPr>
          </a:p>
        </p:txBody>
      </p:sp>
      <p:sp>
        <p:nvSpPr>
          <p:cNvPr id="73733" name="Text Box 5"/>
          <p:cNvSpPr txBox="1">
            <a:spLocks noChangeArrowheads="1"/>
          </p:cNvSpPr>
          <p:nvPr/>
        </p:nvSpPr>
        <p:spPr bwMode="auto">
          <a:xfrm>
            <a:off x="190500" y="812800"/>
            <a:ext cx="28648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二、轮齿的受力分析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73734" name="Text Box 6"/>
          <p:cNvSpPr txBox="1">
            <a:spLocks noChangeArrowheads="1"/>
          </p:cNvSpPr>
          <p:nvPr/>
        </p:nvSpPr>
        <p:spPr bwMode="auto">
          <a:xfrm>
            <a:off x="0" y="1211263"/>
            <a:ext cx="881888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dirty="0">
                <a:solidFill>
                  <a:srgbClr val="000099"/>
                </a:solidFill>
              </a:rPr>
              <a:t>　　直齿锥齿轮的轮齿受力分析模型如下图，将总法向载荷集中作用于齿宽中</a:t>
            </a:r>
            <a:endParaRPr lang="zh-CN" altLang="en-US" dirty="0">
              <a:solidFill>
                <a:srgbClr val="000099"/>
              </a:solidFill>
            </a:endParaRPr>
          </a:p>
          <a:p>
            <a:pPr eaLnBrk="1" hangingPunct="1">
              <a:lnSpc>
                <a:spcPct val="140000"/>
              </a:lnSpc>
            </a:pPr>
            <a:r>
              <a:rPr lang="zh-CN" altLang="en-US" dirty="0">
                <a:solidFill>
                  <a:srgbClr val="000099"/>
                </a:solidFill>
              </a:rPr>
              <a:t>点处的法</a:t>
            </a:r>
            <a:r>
              <a:rPr lang="zh-CN" altLang="en-US" dirty="0">
                <a:solidFill>
                  <a:srgbClr val="000099"/>
                </a:solidFill>
              </a:rPr>
              <a:t>向截面内。</a:t>
            </a:r>
            <a:r>
              <a:rPr lang="en-US" altLang="zh-CN" i="1" dirty="0" err="1">
                <a:solidFill>
                  <a:srgbClr val="C00000"/>
                </a:solidFill>
              </a:rPr>
              <a:t>F</a:t>
            </a:r>
            <a:r>
              <a:rPr lang="en-US" altLang="zh-CN" baseline="-25000" dirty="0" err="1">
                <a:solidFill>
                  <a:srgbClr val="C00000"/>
                </a:solidFill>
              </a:rPr>
              <a:t>n</a:t>
            </a:r>
            <a:r>
              <a:rPr lang="zh-CN" altLang="en-US" dirty="0">
                <a:solidFill>
                  <a:srgbClr val="000099"/>
                </a:solidFill>
              </a:rPr>
              <a:t>可分解为</a:t>
            </a:r>
            <a:r>
              <a:rPr lang="zh-CN" altLang="en-US" dirty="0">
                <a:solidFill>
                  <a:srgbClr val="C00000"/>
                </a:solidFill>
              </a:rPr>
              <a:t>圆周力</a:t>
            </a:r>
            <a:r>
              <a:rPr lang="en-US" altLang="zh-CN" i="1" dirty="0">
                <a:solidFill>
                  <a:srgbClr val="C00000"/>
                </a:solidFill>
              </a:rPr>
              <a:t>F</a:t>
            </a:r>
            <a:r>
              <a:rPr lang="en-US" altLang="zh-CN" baseline="-25000" dirty="0">
                <a:solidFill>
                  <a:srgbClr val="C00000"/>
                </a:solidFill>
              </a:rPr>
              <a:t>t</a:t>
            </a:r>
            <a:r>
              <a:rPr lang="zh-CN" altLang="en-US" dirty="0">
                <a:solidFill>
                  <a:srgbClr val="000099"/>
                </a:solidFill>
              </a:rPr>
              <a:t>、</a:t>
            </a:r>
            <a:r>
              <a:rPr lang="zh-CN" altLang="en-US" dirty="0">
                <a:solidFill>
                  <a:srgbClr val="C00000"/>
                </a:solidFill>
              </a:rPr>
              <a:t>径向力</a:t>
            </a:r>
            <a:r>
              <a:rPr lang="en-US" altLang="zh-CN" i="1" dirty="0">
                <a:solidFill>
                  <a:srgbClr val="C00000"/>
                </a:solidFill>
              </a:rPr>
              <a:t>F</a:t>
            </a:r>
            <a:r>
              <a:rPr lang="en-US" altLang="zh-CN" baseline="-25000" dirty="0">
                <a:solidFill>
                  <a:srgbClr val="C00000"/>
                </a:solidFill>
              </a:rPr>
              <a:t>r</a:t>
            </a:r>
            <a:r>
              <a:rPr lang="zh-CN" altLang="en-US" dirty="0">
                <a:solidFill>
                  <a:srgbClr val="000099"/>
                </a:solidFill>
              </a:rPr>
              <a:t>和</a:t>
            </a:r>
            <a:r>
              <a:rPr lang="zh-CN" altLang="en-US" dirty="0">
                <a:solidFill>
                  <a:srgbClr val="C00000"/>
                </a:solidFill>
              </a:rPr>
              <a:t>轴向力</a:t>
            </a:r>
            <a:r>
              <a:rPr lang="en-US" altLang="zh-CN" i="1" dirty="0" err="1">
                <a:solidFill>
                  <a:srgbClr val="C00000"/>
                </a:solidFill>
              </a:rPr>
              <a:t>F</a:t>
            </a:r>
            <a:r>
              <a:rPr lang="en-US" altLang="zh-CN" baseline="-25000" dirty="0" err="1">
                <a:solidFill>
                  <a:srgbClr val="C00000"/>
                </a:solidFill>
              </a:rPr>
              <a:t>a</a:t>
            </a:r>
            <a:r>
              <a:rPr lang="zh-CN" altLang="en-US" dirty="0">
                <a:solidFill>
                  <a:srgbClr val="000099"/>
                </a:solidFill>
              </a:rPr>
              <a:t>三个分力。 </a:t>
            </a:r>
            <a:endParaRPr lang="zh-CN" altLang="en-US" dirty="0">
              <a:solidFill>
                <a:srgbClr val="000099"/>
              </a:solidFill>
            </a:endParaRPr>
          </a:p>
        </p:txBody>
      </p:sp>
      <p:graphicFrame>
        <p:nvGraphicFramePr>
          <p:cNvPr id="73736" name="Object 8"/>
          <p:cNvGraphicFramePr>
            <a:graphicFrameLocks noChangeAspect="1"/>
          </p:cNvGraphicFramePr>
          <p:nvPr/>
        </p:nvGraphicFramePr>
        <p:xfrm>
          <a:off x="626745" y="3767455"/>
          <a:ext cx="3564255" cy="697230"/>
        </p:xfrm>
        <a:graphic>
          <a:graphicData uri="http://schemas.openxmlformats.org/presentationml/2006/ole">
            <mc:AlternateContent xmlns:mc="http://schemas.openxmlformats.org/markup-compatibility/2006">
              <mc:Choice xmlns:v="urn:schemas-microsoft-com:vml" Requires="v">
                <p:oleObj spid="_x0000_s10750" name="公式" r:id="rId1" imgW="2349500" imgH="431800" progId="Equation.3">
                  <p:embed/>
                </p:oleObj>
              </mc:Choice>
              <mc:Fallback>
                <p:oleObj name="公式" r:id="rId1" imgW="2349500" imgH="431800" progId="Equation.3">
                  <p:embed/>
                  <p:pic>
                    <p:nvPicPr>
                      <p:cNvPr id="0" name="Object 8"/>
                      <p:cNvPicPr>
                        <a:picLocks noChangeAspect="1" noChangeArrowheads="1"/>
                      </p:cNvPicPr>
                      <p:nvPr/>
                    </p:nvPicPr>
                    <p:blipFill>
                      <a:blip r:embed="rId2"/>
                      <a:srcRect/>
                      <a:stretch>
                        <a:fillRect/>
                      </a:stretch>
                    </p:blipFill>
                    <p:spPr bwMode="auto">
                      <a:xfrm>
                        <a:off x="626745" y="3767455"/>
                        <a:ext cx="3564255" cy="697230"/>
                      </a:xfrm>
                      <a:prstGeom prst="rect">
                        <a:avLst/>
                      </a:prstGeom>
                      <a:noFill/>
                      <a:ln>
                        <a:noFill/>
                      </a:ln>
                    </p:spPr>
                  </p:pic>
                </p:oleObj>
              </mc:Fallback>
            </mc:AlternateContent>
          </a:graphicData>
        </a:graphic>
      </p:graphicFrame>
      <p:graphicFrame>
        <p:nvGraphicFramePr>
          <p:cNvPr id="73737" name="Object 9"/>
          <p:cNvGraphicFramePr>
            <a:graphicFrameLocks noChangeAspect="1"/>
          </p:cNvGraphicFramePr>
          <p:nvPr/>
        </p:nvGraphicFramePr>
        <p:xfrm>
          <a:off x="626745" y="4497070"/>
          <a:ext cx="4288155" cy="783590"/>
        </p:xfrm>
        <a:graphic>
          <a:graphicData uri="http://schemas.openxmlformats.org/presentationml/2006/ole">
            <mc:AlternateContent xmlns:mc="http://schemas.openxmlformats.org/markup-compatibility/2006">
              <mc:Choice xmlns:v="urn:schemas-microsoft-com:vml" Requires="v">
                <p:oleObj spid="_x0000_s10751" name="Equation" r:id="rId3" imgW="2349500" imgH="431800" progId="Equation.3">
                  <p:embed/>
                </p:oleObj>
              </mc:Choice>
              <mc:Fallback>
                <p:oleObj name="Equation" r:id="rId3" imgW="2349500" imgH="431800" progId="Equation.3">
                  <p:embed/>
                  <p:pic>
                    <p:nvPicPr>
                      <p:cNvPr id="0" name="Object 9"/>
                      <p:cNvPicPr>
                        <a:picLocks noChangeAspect="1" noChangeArrowheads="1"/>
                      </p:cNvPicPr>
                      <p:nvPr/>
                    </p:nvPicPr>
                    <p:blipFill>
                      <a:blip r:embed="rId4"/>
                      <a:srcRect/>
                      <a:stretch>
                        <a:fillRect/>
                      </a:stretch>
                    </p:blipFill>
                    <p:spPr bwMode="auto">
                      <a:xfrm>
                        <a:off x="626745" y="4497070"/>
                        <a:ext cx="4288155"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8" name="Object 10"/>
          <p:cNvGraphicFramePr>
            <a:graphicFrameLocks noChangeAspect="1"/>
          </p:cNvGraphicFramePr>
          <p:nvPr/>
        </p:nvGraphicFramePr>
        <p:xfrm>
          <a:off x="923124" y="2184345"/>
          <a:ext cx="982663" cy="720725"/>
        </p:xfrm>
        <a:graphic>
          <a:graphicData uri="http://schemas.openxmlformats.org/presentationml/2006/ole">
            <mc:AlternateContent xmlns:mc="http://schemas.openxmlformats.org/markup-compatibility/2006">
              <mc:Choice xmlns:v="urn:schemas-microsoft-com:vml" Requires="v">
                <p:oleObj spid="_x0000_s10752" name="Equation" r:id="rId5" imgW="532130" imgH="393700" progId="Equation.3">
                  <p:embed/>
                </p:oleObj>
              </mc:Choice>
              <mc:Fallback>
                <p:oleObj name="Equation" r:id="rId5" imgW="532130" imgH="3937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3124" y="2184345"/>
                        <a:ext cx="9826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9" name="Object 11"/>
          <p:cNvGraphicFramePr>
            <a:graphicFrameLocks noChangeAspect="1"/>
          </p:cNvGraphicFramePr>
          <p:nvPr/>
        </p:nvGraphicFramePr>
        <p:xfrm>
          <a:off x="955951" y="5312189"/>
          <a:ext cx="2414588" cy="720725"/>
        </p:xfrm>
        <a:graphic>
          <a:graphicData uri="http://schemas.openxmlformats.org/presentationml/2006/ole">
            <mc:AlternateContent xmlns:mc="http://schemas.openxmlformats.org/markup-compatibility/2006">
              <mc:Choice xmlns:v="urn:schemas-microsoft-com:vml" Requires="v">
                <p:oleObj spid="_x0000_s10753" name="Equation" r:id="rId7" imgW="1308100" imgH="393700" progId="Equation.3">
                  <p:embed/>
                </p:oleObj>
              </mc:Choice>
              <mc:Fallback>
                <p:oleObj name="Equation" r:id="rId7" imgW="1308100" imgH="3937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5951" y="5312189"/>
                        <a:ext cx="24145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3741" name="Picture 13" descr="back">
            <a:hlinkClick r:id="" action="ppaction://hlinkshowjump?jump=previousslide"/>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40422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2" name="Picture 14" descr="NEXT">
            <a:hlinkClick r:id="" action="ppaction://hlinkshowjump?jump=nextslide"/>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824913" y="653891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3" name="Picture 15" descr="rewind">
            <a:hlinkClick r:id="" action="ppaction://hlinkshowjump?jump=firstslide"/>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8512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3744" name="Object 16"/>
          <p:cNvGraphicFramePr>
            <a:graphicFrameLocks noChangeAspect="1"/>
          </p:cNvGraphicFramePr>
          <p:nvPr/>
        </p:nvGraphicFramePr>
        <p:xfrm>
          <a:off x="708218" y="2976370"/>
          <a:ext cx="2535238" cy="720725"/>
        </p:xfrm>
        <a:graphic>
          <a:graphicData uri="http://schemas.openxmlformats.org/presentationml/2006/ole">
            <mc:AlternateContent xmlns:mc="http://schemas.openxmlformats.org/markup-compatibility/2006">
              <mc:Choice xmlns:v="urn:schemas-microsoft-com:vml" Requires="v">
                <p:oleObj spid="_x0000_s10754" name="Equation" r:id="rId12" imgW="1377315" imgH="393700" progId="Equation.3">
                  <p:embed/>
                </p:oleObj>
              </mc:Choice>
              <mc:Fallback>
                <p:oleObj name="Equation" r:id="rId12" imgW="1377315" imgH="393700" progId="Equation.3">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8218" y="2976370"/>
                        <a:ext cx="25352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46" name="Text Box 18"/>
          <p:cNvSpPr txBox="1">
            <a:spLocks noChangeArrowheads="1"/>
          </p:cNvSpPr>
          <p:nvPr/>
        </p:nvSpPr>
        <p:spPr bwMode="auto">
          <a:xfrm>
            <a:off x="527203" y="6160730"/>
            <a:ext cx="5546711" cy="400110"/>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FF0000"/>
                </a:solidFill>
              </a:rPr>
              <a:t>轴向力</a:t>
            </a:r>
            <a:r>
              <a:rPr lang="en-US" altLang="zh-CN" i="1" dirty="0" err="1">
                <a:solidFill>
                  <a:srgbClr val="FF0000"/>
                </a:solidFill>
              </a:rPr>
              <a:t>F</a:t>
            </a:r>
            <a:r>
              <a:rPr lang="en-US" altLang="zh-CN" baseline="-25000" dirty="0" err="1">
                <a:solidFill>
                  <a:srgbClr val="FF0000"/>
                </a:solidFill>
              </a:rPr>
              <a:t>a</a:t>
            </a:r>
            <a:r>
              <a:rPr lang="zh-CN" altLang="en-US" dirty="0">
                <a:solidFill>
                  <a:srgbClr val="FF0000"/>
                </a:solidFill>
              </a:rPr>
              <a:t>的方向总是由锥齿轮的小端指向大端。</a:t>
            </a:r>
            <a:endParaRPr lang="zh-CN" altLang="en-US" dirty="0">
              <a:solidFill>
                <a:srgbClr val="FF0000"/>
              </a:solidFill>
            </a:endParaRPr>
          </a:p>
        </p:txBody>
      </p:sp>
      <p:sp>
        <p:nvSpPr>
          <p:cNvPr id="10254" name="Text Box 19"/>
          <p:cNvSpPr txBox="1">
            <a:spLocks noChangeArrowheads="1"/>
          </p:cNvSpPr>
          <p:nvPr/>
        </p:nvSpPr>
        <p:spPr bwMode="auto">
          <a:xfrm>
            <a:off x="6654800" y="625157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dirty="0"/>
              <a:t>  </a:t>
            </a:r>
            <a:endParaRPr lang="en-US" altLang="zh-CN" dirty="0"/>
          </a:p>
        </p:txBody>
      </p:sp>
      <p:sp>
        <p:nvSpPr>
          <p:cNvPr id="10255" name="Text Box 5"/>
          <p:cNvSpPr txBox="1">
            <a:spLocks noChangeArrowheads="1"/>
          </p:cNvSpPr>
          <p:nvPr/>
        </p:nvSpPr>
        <p:spPr bwMode="auto">
          <a:xfrm>
            <a:off x="739775" y="260350"/>
            <a:ext cx="786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3.4-8 </a:t>
            </a:r>
            <a:r>
              <a:rPr lang="zh-CN" altLang="en-US" sz="3000" dirty="0">
                <a:solidFill>
                  <a:srgbClr val="CC3300"/>
                </a:solidFill>
                <a:latin typeface="黑体" panose="02010609060101010101" pitchFamily="49" charset="-122"/>
                <a:ea typeface="黑体" panose="02010609060101010101" pitchFamily="49" charset="-122"/>
              </a:rPr>
              <a:t>直齿锥齿轮传动的受力分析和强度计算</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1281" name="Picture 18"/>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509315" y="2222156"/>
            <a:ext cx="3756025"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733"/>
                                        </p:tgtEl>
                                        <p:attrNameLst>
                                          <p:attrName>style.visibility</p:attrName>
                                        </p:attrNameLst>
                                      </p:cBhvr>
                                      <p:to>
                                        <p:strVal val="visible"/>
                                      </p:to>
                                    </p:set>
                                    <p:animEffect transition="in" filter="wipe(left)">
                                      <p:cBhvr>
                                        <p:cTn id="7" dur="500"/>
                                        <p:tgtEl>
                                          <p:spTgt spid="737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28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3734"/>
                                        </p:tgtEl>
                                        <p:attrNameLst>
                                          <p:attrName>style.visibility</p:attrName>
                                        </p:attrNameLst>
                                      </p:cBhvr>
                                      <p:to>
                                        <p:strVal val="visible"/>
                                      </p:to>
                                    </p:set>
                                    <p:animEffect transition="in" filter="wipe(up)">
                                      <p:cBhvr>
                                        <p:cTn id="16" dur="500"/>
                                        <p:tgtEl>
                                          <p:spTgt spid="73734"/>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73738"/>
                                        </p:tgtEl>
                                        <p:attrNameLst>
                                          <p:attrName>style.visibility</p:attrName>
                                        </p:attrNameLst>
                                      </p:cBhvr>
                                      <p:to>
                                        <p:strVal val="visible"/>
                                      </p:to>
                                    </p:set>
                                    <p:animEffect transition="in" filter="slide(fromBottom)">
                                      <p:cBhvr>
                                        <p:cTn id="21" dur="500"/>
                                        <p:tgtEl>
                                          <p:spTgt spid="73738"/>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73744"/>
                                        </p:tgtEl>
                                        <p:attrNameLst>
                                          <p:attrName>style.visibility</p:attrName>
                                        </p:attrNameLst>
                                      </p:cBhvr>
                                      <p:to>
                                        <p:strVal val="visible"/>
                                      </p:to>
                                    </p:set>
                                    <p:animEffect transition="in" filter="slide(fromBottom)">
                                      <p:cBhvr>
                                        <p:cTn id="26" dur="500"/>
                                        <p:tgtEl>
                                          <p:spTgt spid="73744"/>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73736"/>
                                        </p:tgtEl>
                                        <p:attrNameLst>
                                          <p:attrName>style.visibility</p:attrName>
                                        </p:attrNameLst>
                                      </p:cBhvr>
                                      <p:to>
                                        <p:strVal val="visible"/>
                                      </p:to>
                                    </p:set>
                                    <p:animEffect transition="in" filter="slide(fromBottom)">
                                      <p:cBhvr>
                                        <p:cTn id="31" dur="500"/>
                                        <p:tgtEl>
                                          <p:spTgt spid="73736"/>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73737"/>
                                        </p:tgtEl>
                                        <p:attrNameLst>
                                          <p:attrName>style.visibility</p:attrName>
                                        </p:attrNameLst>
                                      </p:cBhvr>
                                      <p:to>
                                        <p:strVal val="visible"/>
                                      </p:to>
                                    </p:set>
                                    <p:animEffect transition="in" filter="slide(fromBottom)">
                                      <p:cBhvr>
                                        <p:cTn id="36" dur="500"/>
                                        <p:tgtEl>
                                          <p:spTgt spid="73737"/>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73739"/>
                                        </p:tgtEl>
                                        <p:attrNameLst>
                                          <p:attrName>style.visibility</p:attrName>
                                        </p:attrNameLst>
                                      </p:cBhvr>
                                      <p:to>
                                        <p:strVal val="visible"/>
                                      </p:to>
                                    </p:set>
                                    <p:animEffect transition="in" filter="slide(fromBottom)">
                                      <p:cBhvr>
                                        <p:cTn id="41" dur="500"/>
                                        <p:tgtEl>
                                          <p:spTgt spid="7373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3746"/>
                                        </p:tgtEl>
                                        <p:attrNameLst>
                                          <p:attrName>style.visibility</p:attrName>
                                        </p:attrNameLst>
                                      </p:cBhvr>
                                      <p:to>
                                        <p:strVal val="visible"/>
                                      </p:to>
                                    </p:set>
                                    <p:animEffect transition="in" filter="wipe(left)">
                                      <p:cBhvr>
                                        <p:cTn id="46" dur="500"/>
                                        <p:tgtEl>
                                          <p:spTgt spid="73746"/>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499"/>
                                          </p:stCondLst>
                                        </p:cTn>
                                        <p:tgtEl>
                                          <p:spTgt spid="73742"/>
                                        </p:tgtEl>
                                        <p:attrNameLst>
                                          <p:attrName>style.visibility</p:attrName>
                                        </p:attrNameLst>
                                      </p:cBhvr>
                                      <p:to>
                                        <p:strVal val="visible"/>
                                      </p:to>
                                    </p:set>
                                  </p:childTnLst>
                                </p:cTn>
                              </p:par>
                            </p:childTnLst>
                          </p:cTn>
                        </p:par>
                        <p:par>
                          <p:cTn id="50" fill="hold">
                            <p:stCondLst>
                              <p:cond delay="1000"/>
                            </p:stCondLst>
                            <p:childTnLst>
                              <p:par>
                                <p:cTn id="51" presetID="1" presetClass="entr" presetSubtype="0" fill="hold" nodeType="afterEffect">
                                  <p:stCondLst>
                                    <p:cond delay="0"/>
                                  </p:stCondLst>
                                  <p:childTnLst>
                                    <p:set>
                                      <p:cBhvr>
                                        <p:cTn id="52" dur="1" fill="hold">
                                          <p:stCondLst>
                                            <p:cond delay="499"/>
                                          </p:stCondLst>
                                        </p:cTn>
                                        <p:tgtEl>
                                          <p:spTgt spid="73741"/>
                                        </p:tgtEl>
                                        <p:attrNameLst>
                                          <p:attrName>style.visibility</p:attrName>
                                        </p:attrNameLst>
                                      </p:cBhvr>
                                      <p:to>
                                        <p:strVal val="visible"/>
                                      </p:to>
                                    </p:set>
                                  </p:childTnLst>
                                </p:cTn>
                              </p:par>
                            </p:childTnLst>
                          </p:cTn>
                        </p:par>
                        <p:par>
                          <p:cTn id="53" fill="hold">
                            <p:stCondLst>
                              <p:cond delay="1500"/>
                            </p:stCondLst>
                            <p:childTnLst>
                              <p:par>
                                <p:cTn id="54" presetID="2" presetClass="entr" presetSubtype="8" fill="hold" nodeType="afterEffect">
                                  <p:stCondLst>
                                    <p:cond delay="0"/>
                                  </p:stCondLst>
                                  <p:childTnLst>
                                    <p:set>
                                      <p:cBhvr>
                                        <p:cTn id="55" dur="1" fill="hold">
                                          <p:stCondLst>
                                            <p:cond delay="0"/>
                                          </p:stCondLst>
                                        </p:cTn>
                                        <p:tgtEl>
                                          <p:spTgt spid="73743"/>
                                        </p:tgtEl>
                                        <p:attrNameLst>
                                          <p:attrName>style.visibility</p:attrName>
                                        </p:attrNameLst>
                                      </p:cBhvr>
                                      <p:to>
                                        <p:strVal val="visible"/>
                                      </p:to>
                                    </p:set>
                                    <p:anim calcmode="lin" valueType="num">
                                      <p:cBhvr additive="base">
                                        <p:cTn id="56" dur="500" fill="hold"/>
                                        <p:tgtEl>
                                          <p:spTgt spid="73743"/>
                                        </p:tgtEl>
                                        <p:attrNameLst>
                                          <p:attrName>ppt_x</p:attrName>
                                        </p:attrNameLst>
                                      </p:cBhvr>
                                      <p:tavLst>
                                        <p:tav tm="0">
                                          <p:val>
                                            <p:strVal val="0-#ppt_w/2"/>
                                          </p:val>
                                        </p:tav>
                                        <p:tav tm="100000">
                                          <p:val>
                                            <p:strVal val="#ppt_x"/>
                                          </p:val>
                                        </p:tav>
                                      </p:tavLst>
                                    </p:anim>
                                    <p:anim calcmode="lin" valueType="num">
                                      <p:cBhvr additive="base">
                                        <p:cTn id="57" dur="500" fill="hold"/>
                                        <p:tgtEl>
                                          <p:spTgt spid="737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autoUpdateAnimBg="0"/>
      <p:bldP spid="73734" grpId="0" autoUpdateAnimBg="0"/>
      <p:bldP spid="73746" grpId="0" bldLvl="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4231" name="Text Box 7"/>
          <p:cNvSpPr txBox="1">
            <a:spLocks noChangeArrowheads="1"/>
          </p:cNvSpPr>
          <p:nvPr/>
        </p:nvSpPr>
        <p:spPr bwMode="auto">
          <a:xfrm>
            <a:off x="203518" y="683378"/>
            <a:ext cx="8799512" cy="1999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一对</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锥齿轮之间的作用力的</a:t>
            </a:r>
            <a:r>
              <a:rPr lang="zh-CN" altLang="en-US"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方向：由</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图可知，小齿轮的</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r1</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及</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a1</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即为大齿轮的</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a2</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及</a:t>
            </a:r>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baseline="-30000"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r2</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，但方向相反，且大小轮的切向力</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t1 </a:t>
            </a:r>
            <a:r>
              <a:rPr lang="zh-CN" altLang="en-US"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t2</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大小相等，方向相反，即：</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en-US" sz="2800"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i="1" dirty="0">
                <a:solidFill>
                  <a:srgbClr val="9900CC"/>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aseline="-30000" dirty="0">
                <a:solidFill>
                  <a:srgbClr val="9900CC"/>
                </a:solidFill>
                <a:latin typeface="Times New Roman" panose="02020603050405020304" pitchFamily="18" charset="0"/>
                <a:ea typeface="黑体" panose="02010609060101010101" pitchFamily="49" charset="-122"/>
                <a:cs typeface="Times New Roman" panose="02020603050405020304" pitchFamily="18" charset="0"/>
              </a:rPr>
              <a:t>a1</a:t>
            </a:r>
            <a:r>
              <a:rPr lang="en-US" altLang="zh-CN" sz="2400" i="1" dirty="0">
                <a:solidFill>
                  <a:srgbClr val="9900CC"/>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solidFill>
                  <a:srgbClr val="99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i="1" dirty="0">
                <a:solidFill>
                  <a:srgbClr val="9900CC"/>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aseline="-30000" dirty="0">
                <a:solidFill>
                  <a:srgbClr val="9900CC"/>
                </a:solidFill>
                <a:latin typeface="Times New Roman" panose="02020603050405020304" pitchFamily="18" charset="0"/>
                <a:ea typeface="黑体" panose="02010609060101010101" pitchFamily="49" charset="-122"/>
                <a:cs typeface="Times New Roman" panose="02020603050405020304" pitchFamily="18" charset="0"/>
              </a:rPr>
              <a:t>r2</a:t>
            </a:r>
            <a:r>
              <a:rPr lang="en-US" altLang="zh-CN" sz="2400"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400"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sz="2400"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aseline="-30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r1</a:t>
            </a:r>
            <a:r>
              <a:rPr lang="en-US" altLang="zh-CN" sz="24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aseline="-30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a2</a:t>
            </a:r>
            <a:r>
              <a:rPr lang="en-US" altLang="zh-CN" sz="2800" dirty="0">
                <a:solidFill>
                  <a:srgbClr val="80008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800" dirty="0">
              <a:solidFill>
                <a:srgbClr val="800080"/>
              </a:solidFill>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sz="24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i="1"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aseline="-30000"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t1</a:t>
            </a:r>
            <a:r>
              <a:rPr lang="en-US" altLang="zh-CN" sz="2400" i="1"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i="1"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aseline="-30000"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t2</a:t>
            </a:r>
            <a:r>
              <a:rPr lang="en-US" altLang="zh-CN" sz="2800" dirty="0">
                <a:solidFill>
                  <a:srgbClr val="80008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800" dirty="0">
              <a:solidFill>
                <a:srgbClr val="80008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64234" name="Picture 10"/>
          <p:cNvPicPr>
            <a:picLocks noChangeAspect="1" noChangeArrowheads="1"/>
          </p:cNvPicPr>
          <p:nvPr/>
        </p:nvPicPr>
        <p:blipFill rotWithShape="1">
          <a:blip r:embed="rId1">
            <a:extLst>
              <a:ext uri="{28A0092B-C50C-407E-A947-70E740481C1C}">
                <a14:useLocalDpi xmlns:a14="http://schemas.microsoft.com/office/drawing/2010/main" val="0"/>
              </a:ext>
            </a:extLst>
          </a:blip>
          <a:srcRect l="13316" b="8995"/>
          <a:stretch>
            <a:fillRect/>
          </a:stretch>
        </p:blipFill>
        <p:spPr bwMode="auto">
          <a:xfrm>
            <a:off x="4280598" y="1391853"/>
            <a:ext cx="4592096" cy="3913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2"/>
          <a:stretch>
            <a:fillRect/>
          </a:stretch>
        </p:blipFill>
        <p:spPr>
          <a:xfrm>
            <a:off x="402763" y="2895873"/>
            <a:ext cx="1819275" cy="2667000"/>
          </a:xfrm>
          <a:prstGeom prst="rect">
            <a:avLst/>
          </a:prstGeom>
        </p:spPr>
      </p:pic>
      <p:grpSp>
        <p:nvGrpSpPr>
          <p:cNvPr id="86" name="组合 85"/>
          <p:cNvGrpSpPr/>
          <p:nvPr/>
        </p:nvGrpSpPr>
        <p:grpSpPr>
          <a:xfrm>
            <a:off x="910143" y="4178422"/>
            <a:ext cx="3236321" cy="1780359"/>
            <a:chOff x="1136650" y="4610501"/>
            <a:chExt cx="3236321" cy="1780359"/>
          </a:xfrm>
        </p:grpSpPr>
        <p:cxnSp>
          <p:nvCxnSpPr>
            <p:cNvPr id="7" name="直接连接符 6"/>
            <p:cNvCxnSpPr/>
            <p:nvPr/>
          </p:nvCxnSpPr>
          <p:spPr bwMode="auto">
            <a:xfrm>
              <a:off x="2733261" y="4610501"/>
              <a:ext cx="0" cy="1780359"/>
            </a:xfrm>
            <a:prstGeom prst="line">
              <a:avLst/>
            </a:prstGeom>
            <a:solidFill>
              <a:schemeClr val="accent1"/>
            </a:solidFill>
            <a:ln w="19050" cap="flat" cmpd="sng" algn="ctr">
              <a:solidFill>
                <a:srgbClr val="FF3300"/>
              </a:solidFill>
              <a:prstDash val="lgDashDot"/>
              <a:round/>
              <a:headEnd type="none" w="med" len="med"/>
              <a:tailEnd type="none" w="med" len="med"/>
            </a:ln>
          </p:spPr>
        </p:cxnSp>
        <p:cxnSp>
          <p:nvCxnSpPr>
            <p:cNvPr id="41" name="直接连接符 40"/>
            <p:cNvCxnSpPr/>
            <p:nvPr/>
          </p:nvCxnSpPr>
          <p:spPr bwMode="auto">
            <a:xfrm>
              <a:off x="1974850" y="5118616"/>
              <a:ext cx="1530350" cy="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76" name="直接连接符 75"/>
            <p:cNvCxnSpPr/>
            <p:nvPr/>
          </p:nvCxnSpPr>
          <p:spPr bwMode="auto">
            <a:xfrm>
              <a:off x="1136650" y="5692115"/>
              <a:ext cx="3206750" cy="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80" name="直接连接符 79"/>
            <p:cNvCxnSpPr/>
            <p:nvPr/>
          </p:nvCxnSpPr>
          <p:spPr bwMode="auto">
            <a:xfrm>
              <a:off x="3509183" y="5124965"/>
              <a:ext cx="863788" cy="566861"/>
            </a:xfrm>
            <a:prstGeom prst="line">
              <a:avLst/>
            </a:prstGeom>
            <a:solidFill>
              <a:schemeClr val="accent1"/>
            </a:solidFill>
            <a:ln w="19050" cap="flat" cmpd="sng" algn="ctr">
              <a:solidFill>
                <a:srgbClr val="FF0000"/>
              </a:solidFill>
              <a:prstDash val="solid"/>
              <a:round/>
              <a:headEnd type="none" w="med" len="med"/>
              <a:tailEnd type="none" w="med" len="med"/>
            </a:ln>
          </p:spPr>
        </p:cxnSp>
      </p:grpSp>
      <p:cxnSp>
        <p:nvCxnSpPr>
          <p:cNvPr id="88" name="直接箭头连接符 87"/>
          <p:cNvCxnSpPr/>
          <p:nvPr/>
        </p:nvCxnSpPr>
        <p:spPr bwMode="auto">
          <a:xfrm>
            <a:off x="617709" y="3543155"/>
            <a:ext cx="0" cy="1299410"/>
          </a:xfrm>
          <a:prstGeom prst="straightConnector1">
            <a:avLst/>
          </a:prstGeom>
          <a:solidFill>
            <a:schemeClr val="accent1"/>
          </a:solidFill>
          <a:ln w="19050" cap="flat" cmpd="sng" algn="ctr">
            <a:solidFill>
              <a:srgbClr val="0000FF"/>
            </a:solidFill>
            <a:prstDash val="solid"/>
            <a:round/>
            <a:headEnd type="none" w="med" len="med"/>
            <a:tailEnd type="triangle"/>
          </a:ln>
        </p:spPr>
      </p:cxnSp>
      <p:cxnSp>
        <p:nvCxnSpPr>
          <p:cNvPr id="90" name="直接箭头连接符 89"/>
          <p:cNvCxnSpPr/>
          <p:nvPr/>
        </p:nvCxnSpPr>
        <p:spPr bwMode="auto">
          <a:xfrm flipH="1">
            <a:off x="1666862" y="5612586"/>
            <a:ext cx="1973179" cy="0"/>
          </a:xfrm>
          <a:prstGeom prst="straightConnector1">
            <a:avLst/>
          </a:prstGeom>
          <a:solidFill>
            <a:schemeClr val="accent1"/>
          </a:solidFill>
          <a:ln w="19050" cap="flat" cmpd="sng" algn="ctr">
            <a:solidFill>
              <a:srgbClr val="0000FF"/>
            </a:solidFill>
            <a:prstDash val="solid"/>
            <a:round/>
            <a:headEnd type="none" w="med" len="med"/>
            <a:tailEnd type="triangle"/>
          </a:ln>
        </p:spPr>
      </p:cxnSp>
      <p:sp>
        <p:nvSpPr>
          <p:cNvPr id="91" name="文本框 90"/>
          <p:cNvSpPr txBox="1"/>
          <p:nvPr/>
        </p:nvSpPr>
        <p:spPr>
          <a:xfrm>
            <a:off x="174947" y="3600906"/>
            <a:ext cx="462013" cy="461665"/>
          </a:xfrm>
          <a:prstGeom prst="rect">
            <a:avLst/>
          </a:prstGeom>
          <a:noFill/>
        </p:spPr>
        <p:txBody>
          <a:bodyPr wrap="square" rtlCol="0">
            <a:spAutoFit/>
          </a:bodyPr>
          <a:lstStyle/>
          <a:p>
            <a:r>
              <a:rPr lang="en-US" altLang="zh-CN" sz="2400" b="1" dirty="0" smtClean="0">
                <a:solidFill>
                  <a:srgbClr val="0000FF"/>
                </a:solidFill>
              </a:rPr>
              <a:t>n</a:t>
            </a:r>
            <a:r>
              <a:rPr lang="en-US" altLang="zh-CN" sz="2400" b="1" baseline="-25000" dirty="0" smtClean="0">
                <a:solidFill>
                  <a:srgbClr val="0000FF"/>
                </a:solidFill>
              </a:rPr>
              <a:t>1</a:t>
            </a:r>
            <a:endParaRPr lang="zh-CN" altLang="en-US" sz="2400" b="1" baseline="-25000" dirty="0">
              <a:solidFill>
                <a:srgbClr val="0000FF"/>
              </a:solidFill>
            </a:endParaRPr>
          </a:p>
        </p:txBody>
      </p:sp>
      <p:sp>
        <p:nvSpPr>
          <p:cNvPr id="99" name="文本框 98"/>
          <p:cNvSpPr txBox="1"/>
          <p:nvPr/>
        </p:nvSpPr>
        <p:spPr>
          <a:xfrm>
            <a:off x="3168403" y="5564459"/>
            <a:ext cx="462013" cy="461665"/>
          </a:xfrm>
          <a:prstGeom prst="rect">
            <a:avLst/>
          </a:prstGeom>
          <a:noFill/>
        </p:spPr>
        <p:txBody>
          <a:bodyPr wrap="square" rtlCol="0">
            <a:spAutoFit/>
          </a:bodyPr>
          <a:lstStyle/>
          <a:p>
            <a:r>
              <a:rPr lang="en-US" altLang="zh-CN" sz="2400" b="1" dirty="0" smtClean="0">
                <a:solidFill>
                  <a:srgbClr val="0000FF"/>
                </a:solidFill>
              </a:rPr>
              <a:t>n</a:t>
            </a:r>
            <a:r>
              <a:rPr lang="en-US" altLang="zh-CN" sz="2400" b="1" baseline="-25000" dirty="0" smtClean="0">
                <a:solidFill>
                  <a:srgbClr val="0000FF"/>
                </a:solidFill>
              </a:rPr>
              <a:t>2</a:t>
            </a:r>
            <a:endParaRPr lang="zh-CN" altLang="en-US" sz="2400" b="1" baseline="-25000" dirty="0">
              <a:solidFill>
                <a:srgbClr val="0000FF"/>
              </a:solidFill>
            </a:endParaRPr>
          </a:p>
        </p:txBody>
      </p:sp>
      <p:sp>
        <p:nvSpPr>
          <p:cNvPr id="92" name="椭圆 91"/>
          <p:cNvSpPr/>
          <p:nvPr/>
        </p:nvSpPr>
        <p:spPr bwMode="auto">
          <a:xfrm>
            <a:off x="1333253" y="4912816"/>
            <a:ext cx="77002" cy="77002"/>
          </a:xfrm>
          <a:prstGeom prst="ellipse">
            <a:avLst/>
          </a:prstGeom>
          <a:solidFill>
            <a:srgbClr val="C0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94" name="直接箭头连接符 93"/>
          <p:cNvCxnSpPr/>
          <p:nvPr/>
        </p:nvCxnSpPr>
        <p:spPr bwMode="auto">
          <a:xfrm flipH="1">
            <a:off x="713293" y="4944967"/>
            <a:ext cx="639010" cy="1404"/>
          </a:xfrm>
          <a:prstGeom prst="straightConnector1">
            <a:avLst/>
          </a:prstGeom>
          <a:solidFill>
            <a:schemeClr val="accent1"/>
          </a:solidFill>
          <a:ln w="19050" cap="flat" cmpd="sng" algn="ctr">
            <a:solidFill>
              <a:srgbClr val="0000FF"/>
            </a:solidFill>
            <a:prstDash val="solid"/>
            <a:round/>
            <a:headEnd type="none" w="sm" len="lg"/>
            <a:tailEnd type="stealth"/>
          </a:ln>
        </p:spPr>
      </p:cxnSp>
      <p:sp>
        <p:nvSpPr>
          <p:cNvPr id="95" name="文本框 94"/>
          <p:cNvSpPr txBox="1"/>
          <p:nvPr/>
        </p:nvSpPr>
        <p:spPr>
          <a:xfrm>
            <a:off x="179893" y="4946371"/>
            <a:ext cx="635000" cy="400110"/>
          </a:xfrm>
          <a:prstGeom prst="rect">
            <a:avLst/>
          </a:prstGeom>
          <a:noFill/>
        </p:spPr>
        <p:txBody>
          <a:bodyPr wrap="square" rtlCol="0">
            <a:spAutoFit/>
          </a:bodyPr>
          <a:lstStyle/>
          <a:p>
            <a:r>
              <a:rPr lang="en-US" altLang="zh-CN" dirty="0" smtClean="0">
                <a:solidFill>
                  <a:srgbClr val="0000FF"/>
                </a:solidFill>
              </a:rPr>
              <a:t>F</a:t>
            </a:r>
            <a:r>
              <a:rPr lang="en-US" altLang="zh-CN" baseline="-25000" dirty="0" smtClean="0">
                <a:solidFill>
                  <a:srgbClr val="0000FF"/>
                </a:solidFill>
              </a:rPr>
              <a:t>a1</a:t>
            </a:r>
            <a:endParaRPr lang="zh-CN" altLang="en-US" baseline="-25000" dirty="0">
              <a:solidFill>
                <a:srgbClr val="0000FF"/>
              </a:solidFill>
            </a:endParaRPr>
          </a:p>
        </p:txBody>
      </p:sp>
      <p:cxnSp>
        <p:nvCxnSpPr>
          <p:cNvPr id="97" name="直接箭头连接符 96"/>
          <p:cNvCxnSpPr/>
          <p:nvPr/>
        </p:nvCxnSpPr>
        <p:spPr bwMode="auto">
          <a:xfrm flipH="1">
            <a:off x="1386393" y="4920971"/>
            <a:ext cx="6350" cy="685800"/>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triangle"/>
          </a:ln>
        </p:spPr>
      </p:cxnSp>
      <p:sp>
        <p:nvSpPr>
          <p:cNvPr id="108" name="文本框 107"/>
          <p:cNvSpPr txBox="1"/>
          <p:nvPr/>
        </p:nvSpPr>
        <p:spPr>
          <a:xfrm>
            <a:off x="1157793" y="5517871"/>
            <a:ext cx="635000" cy="400110"/>
          </a:xfrm>
          <a:prstGeom prst="rect">
            <a:avLst/>
          </a:prstGeom>
          <a:noFill/>
        </p:spPr>
        <p:txBody>
          <a:bodyPr wrap="square" rtlCol="0">
            <a:spAutoFit/>
          </a:bodyPr>
          <a:lstStyle/>
          <a:p>
            <a:r>
              <a:rPr lang="en-US" altLang="zh-CN" dirty="0" smtClean="0">
                <a:solidFill>
                  <a:schemeClr val="tx2">
                    <a:lumMod val="60000"/>
                    <a:lumOff val="40000"/>
                  </a:schemeClr>
                </a:solidFill>
              </a:rPr>
              <a:t>F</a:t>
            </a:r>
            <a:r>
              <a:rPr lang="en-US" altLang="zh-CN" baseline="-25000" dirty="0" smtClean="0">
                <a:solidFill>
                  <a:schemeClr val="tx2">
                    <a:lumMod val="60000"/>
                    <a:lumOff val="40000"/>
                  </a:schemeClr>
                </a:solidFill>
              </a:rPr>
              <a:t>a2</a:t>
            </a:r>
            <a:endParaRPr lang="zh-CN" altLang="en-US" baseline="-25000" dirty="0">
              <a:solidFill>
                <a:schemeClr val="tx2">
                  <a:lumMod val="60000"/>
                  <a:lumOff val="40000"/>
                </a:schemeClr>
              </a:solidFill>
            </a:endParaRPr>
          </a:p>
        </p:txBody>
      </p:sp>
      <p:cxnSp>
        <p:nvCxnSpPr>
          <p:cNvPr id="102" name="直接箭头连接符 101"/>
          <p:cNvCxnSpPr>
            <a:stCxn id="92" idx="7"/>
          </p:cNvCxnSpPr>
          <p:nvPr/>
        </p:nvCxnSpPr>
        <p:spPr bwMode="auto">
          <a:xfrm flipH="1" flipV="1">
            <a:off x="1380043" y="4324071"/>
            <a:ext cx="18935" cy="600022"/>
          </a:xfrm>
          <a:prstGeom prst="straightConnector1">
            <a:avLst/>
          </a:prstGeom>
          <a:solidFill>
            <a:schemeClr val="accent1"/>
          </a:solidFill>
          <a:ln w="19050" cap="flat" cmpd="sng" algn="ctr">
            <a:solidFill>
              <a:srgbClr val="0000CC"/>
            </a:solidFill>
            <a:prstDash val="solid"/>
            <a:round/>
            <a:headEnd type="none" w="med" len="med"/>
            <a:tailEnd type="triangle"/>
          </a:ln>
        </p:spPr>
      </p:cxnSp>
      <p:cxnSp>
        <p:nvCxnSpPr>
          <p:cNvPr id="104" name="直接箭头连接符 103"/>
          <p:cNvCxnSpPr>
            <a:stCxn id="92" idx="2"/>
          </p:cNvCxnSpPr>
          <p:nvPr/>
        </p:nvCxnSpPr>
        <p:spPr bwMode="auto">
          <a:xfrm>
            <a:off x="1333253" y="4951317"/>
            <a:ext cx="726240" cy="1404"/>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triangle"/>
          </a:ln>
        </p:spPr>
      </p:cxnSp>
      <p:sp>
        <p:nvSpPr>
          <p:cNvPr id="113" name="文本框 112"/>
          <p:cNvSpPr txBox="1"/>
          <p:nvPr/>
        </p:nvSpPr>
        <p:spPr>
          <a:xfrm>
            <a:off x="1119693" y="3752571"/>
            <a:ext cx="635000" cy="400110"/>
          </a:xfrm>
          <a:prstGeom prst="rect">
            <a:avLst/>
          </a:prstGeom>
          <a:noFill/>
        </p:spPr>
        <p:txBody>
          <a:bodyPr wrap="square" rtlCol="0">
            <a:spAutoFit/>
          </a:bodyPr>
          <a:lstStyle/>
          <a:p>
            <a:r>
              <a:rPr lang="en-US" altLang="zh-CN" dirty="0" smtClean="0">
                <a:solidFill>
                  <a:srgbClr val="0000FF"/>
                </a:solidFill>
              </a:rPr>
              <a:t>F</a:t>
            </a:r>
            <a:r>
              <a:rPr lang="en-US" altLang="zh-CN" baseline="-25000" dirty="0" smtClean="0">
                <a:solidFill>
                  <a:srgbClr val="0000FF"/>
                </a:solidFill>
              </a:rPr>
              <a:t>r1</a:t>
            </a:r>
            <a:endParaRPr lang="zh-CN" altLang="en-US" baseline="-25000" dirty="0">
              <a:solidFill>
                <a:srgbClr val="0000FF"/>
              </a:solidFill>
            </a:endParaRPr>
          </a:p>
        </p:txBody>
      </p:sp>
      <p:sp>
        <p:nvSpPr>
          <p:cNvPr id="114" name="文本框 113"/>
          <p:cNvSpPr txBox="1"/>
          <p:nvPr/>
        </p:nvSpPr>
        <p:spPr>
          <a:xfrm>
            <a:off x="2046793" y="4622521"/>
            <a:ext cx="635000" cy="400110"/>
          </a:xfrm>
          <a:prstGeom prst="rect">
            <a:avLst/>
          </a:prstGeom>
          <a:noFill/>
        </p:spPr>
        <p:txBody>
          <a:bodyPr wrap="square" rtlCol="0">
            <a:spAutoFit/>
          </a:bodyPr>
          <a:lstStyle/>
          <a:p>
            <a:r>
              <a:rPr lang="en-US" altLang="zh-CN" dirty="0" smtClean="0">
                <a:solidFill>
                  <a:schemeClr val="tx2">
                    <a:lumMod val="60000"/>
                    <a:lumOff val="40000"/>
                  </a:schemeClr>
                </a:solidFill>
              </a:rPr>
              <a:t>F</a:t>
            </a:r>
            <a:r>
              <a:rPr lang="en-US" altLang="zh-CN" baseline="-25000" dirty="0" smtClean="0">
                <a:solidFill>
                  <a:schemeClr val="tx2">
                    <a:lumMod val="60000"/>
                    <a:lumOff val="40000"/>
                  </a:schemeClr>
                </a:solidFill>
              </a:rPr>
              <a:t>r2</a:t>
            </a:r>
            <a:endParaRPr lang="zh-CN" altLang="en-US" baseline="-25000" dirty="0">
              <a:solidFill>
                <a:schemeClr val="tx2">
                  <a:lumMod val="60000"/>
                  <a:lumOff val="40000"/>
                </a:schemeClr>
              </a:solidFill>
            </a:endParaRPr>
          </a:p>
        </p:txBody>
      </p:sp>
      <p:grpSp>
        <p:nvGrpSpPr>
          <p:cNvPr id="107" name="组合 106"/>
          <p:cNvGrpSpPr/>
          <p:nvPr/>
        </p:nvGrpSpPr>
        <p:grpSpPr>
          <a:xfrm>
            <a:off x="1126043" y="4679671"/>
            <a:ext cx="184150" cy="184150"/>
            <a:chOff x="1060450" y="5099050"/>
            <a:chExt cx="184150" cy="184150"/>
          </a:xfrm>
        </p:grpSpPr>
        <p:sp>
          <p:nvSpPr>
            <p:cNvPr id="105" name="椭圆 104"/>
            <p:cNvSpPr/>
            <p:nvPr/>
          </p:nvSpPr>
          <p:spPr bwMode="auto">
            <a:xfrm>
              <a:off x="1060450" y="5099050"/>
              <a:ext cx="184150" cy="184150"/>
            </a:xfrm>
            <a:prstGeom prst="ellipse">
              <a:avLst/>
            </a:prstGeom>
            <a:solidFill>
              <a:schemeClr val="bg1"/>
            </a:solidFill>
            <a:ln w="19050" cap="flat" cmpd="sng" algn="ctr">
              <a:solidFill>
                <a:srgbClr val="0000FF"/>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06" name="椭圆 105"/>
            <p:cNvSpPr/>
            <p:nvPr/>
          </p:nvSpPr>
          <p:spPr bwMode="auto">
            <a:xfrm>
              <a:off x="1130300" y="5168900"/>
              <a:ext cx="45719" cy="45719"/>
            </a:xfrm>
            <a:prstGeom prst="ellipse">
              <a:avLst/>
            </a:prstGeom>
            <a:solidFill>
              <a:srgbClr val="0000FF"/>
            </a:solidFill>
            <a:ln w="19050"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grpSp>
      <p:sp>
        <p:nvSpPr>
          <p:cNvPr id="118" name="文本框 117"/>
          <p:cNvSpPr txBox="1"/>
          <p:nvPr/>
        </p:nvSpPr>
        <p:spPr>
          <a:xfrm>
            <a:off x="872043" y="4279621"/>
            <a:ext cx="635000" cy="400110"/>
          </a:xfrm>
          <a:prstGeom prst="rect">
            <a:avLst/>
          </a:prstGeom>
          <a:noFill/>
        </p:spPr>
        <p:txBody>
          <a:bodyPr wrap="square" rtlCol="0">
            <a:spAutoFit/>
          </a:bodyPr>
          <a:lstStyle/>
          <a:p>
            <a:r>
              <a:rPr lang="en-US" altLang="zh-CN" dirty="0" smtClean="0">
                <a:solidFill>
                  <a:srgbClr val="0000FF"/>
                </a:solidFill>
              </a:rPr>
              <a:t>F</a:t>
            </a:r>
            <a:r>
              <a:rPr lang="en-US" altLang="zh-CN" baseline="-25000" dirty="0" smtClean="0">
                <a:solidFill>
                  <a:srgbClr val="0000FF"/>
                </a:solidFill>
              </a:rPr>
              <a:t>t1</a:t>
            </a:r>
            <a:endParaRPr lang="zh-CN" altLang="en-US" baseline="-25000" dirty="0">
              <a:solidFill>
                <a:srgbClr val="0000FF"/>
              </a:solidFill>
            </a:endParaRPr>
          </a:p>
        </p:txBody>
      </p:sp>
      <p:sp>
        <p:nvSpPr>
          <p:cNvPr id="119" name="文本框 118"/>
          <p:cNvSpPr txBox="1"/>
          <p:nvPr/>
        </p:nvSpPr>
        <p:spPr>
          <a:xfrm>
            <a:off x="1627693" y="5194021"/>
            <a:ext cx="635000" cy="400110"/>
          </a:xfrm>
          <a:prstGeom prst="rect">
            <a:avLst/>
          </a:prstGeom>
          <a:noFill/>
        </p:spPr>
        <p:txBody>
          <a:bodyPr wrap="square" rtlCol="0">
            <a:spAutoFit/>
          </a:bodyPr>
          <a:lstStyle/>
          <a:p>
            <a:r>
              <a:rPr lang="en-US" altLang="zh-CN" dirty="0" smtClean="0">
                <a:solidFill>
                  <a:schemeClr val="tx2">
                    <a:lumMod val="60000"/>
                    <a:lumOff val="40000"/>
                  </a:schemeClr>
                </a:solidFill>
              </a:rPr>
              <a:t>F</a:t>
            </a:r>
            <a:r>
              <a:rPr lang="en-US" altLang="zh-CN" baseline="-25000" dirty="0" smtClean="0">
                <a:solidFill>
                  <a:schemeClr val="tx2">
                    <a:lumMod val="60000"/>
                    <a:lumOff val="40000"/>
                  </a:schemeClr>
                </a:solidFill>
              </a:rPr>
              <a:t>t2</a:t>
            </a:r>
            <a:endParaRPr lang="zh-CN" altLang="en-US" baseline="-25000" dirty="0">
              <a:solidFill>
                <a:schemeClr val="tx2">
                  <a:lumMod val="60000"/>
                  <a:lumOff val="40000"/>
                </a:schemeClr>
              </a:solidFill>
            </a:endParaRPr>
          </a:p>
        </p:txBody>
      </p:sp>
      <p:grpSp>
        <p:nvGrpSpPr>
          <p:cNvPr id="127" name="组合 126"/>
          <p:cNvGrpSpPr/>
          <p:nvPr/>
        </p:nvGrpSpPr>
        <p:grpSpPr>
          <a:xfrm>
            <a:off x="1532443" y="4997171"/>
            <a:ext cx="184150" cy="184150"/>
            <a:chOff x="3416300" y="4400550"/>
            <a:chExt cx="184150" cy="184150"/>
          </a:xfrm>
        </p:grpSpPr>
        <p:sp>
          <p:nvSpPr>
            <p:cNvPr id="131" name="椭圆 130"/>
            <p:cNvSpPr/>
            <p:nvPr/>
          </p:nvSpPr>
          <p:spPr bwMode="auto">
            <a:xfrm>
              <a:off x="3416300" y="4400550"/>
              <a:ext cx="184150" cy="184150"/>
            </a:xfrm>
            <a:prstGeom prst="ellipse">
              <a:avLst/>
            </a:prstGeom>
            <a:solidFill>
              <a:schemeClr val="bg1"/>
            </a:solidFill>
            <a:ln w="19050" cap="flat" cmpd="sng" algn="ctr">
              <a:solidFill>
                <a:schemeClr val="tx2">
                  <a:lumMod val="60000"/>
                  <a:lumOff val="40000"/>
                </a:schemeClr>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124" name="直接连接符 123"/>
            <p:cNvCxnSpPr>
              <a:stCxn id="131" idx="7"/>
              <a:endCxn id="131" idx="3"/>
            </p:cNvCxnSpPr>
            <p:nvPr/>
          </p:nvCxnSpPr>
          <p:spPr bwMode="auto">
            <a:xfrm flipH="1">
              <a:off x="3443268" y="4427518"/>
              <a:ext cx="130214" cy="130214"/>
            </a:xfrm>
            <a:prstGeom prst="line">
              <a:avLst/>
            </a:prstGeom>
            <a:solidFill>
              <a:schemeClr val="accent1"/>
            </a:solidFill>
            <a:ln w="19050" cap="flat" cmpd="sng" algn="ctr">
              <a:solidFill>
                <a:schemeClr val="tx2">
                  <a:lumMod val="60000"/>
                  <a:lumOff val="40000"/>
                </a:schemeClr>
              </a:solidFill>
              <a:prstDash val="solid"/>
              <a:round/>
              <a:headEnd type="none" w="med" len="med"/>
              <a:tailEnd type="none" w="med" len="med"/>
            </a:ln>
          </p:spPr>
        </p:cxnSp>
        <p:cxnSp>
          <p:nvCxnSpPr>
            <p:cNvPr id="126" name="直接连接符 125"/>
            <p:cNvCxnSpPr>
              <a:stCxn id="131" idx="1"/>
              <a:endCxn id="131" idx="5"/>
            </p:cNvCxnSpPr>
            <p:nvPr/>
          </p:nvCxnSpPr>
          <p:spPr bwMode="auto">
            <a:xfrm>
              <a:off x="3443268" y="4427518"/>
              <a:ext cx="130214" cy="130214"/>
            </a:xfrm>
            <a:prstGeom prst="line">
              <a:avLst/>
            </a:prstGeom>
            <a:solidFill>
              <a:schemeClr val="accent1"/>
            </a:solidFill>
            <a:ln w="19050" cap="flat" cmpd="sng" algn="ctr">
              <a:solidFill>
                <a:schemeClr val="tx2">
                  <a:lumMod val="60000"/>
                  <a:lumOff val="40000"/>
                </a:schemeClr>
              </a:solidFill>
              <a:prstDash val="solid"/>
              <a:round/>
              <a:headEnd type="none" w="med" len="med"/>
              <a:tailEnd type="none" w="med" len="med"/>
            </a:ln>
          </p:spPr>
        </p:cxn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up)">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wipe(up)">
                                      <p:cBhvr>
                                        <p:cTn id="17" dur="500"/>
                                        <p:tgtEl>
                                          <p:spTgt spid="88"/>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91"/>
                                        </p:tgtEl>
                                        <p:attrNameLst>
                                          <p:attrName>style.visibility</p:attrName>
                                        </p:attrNameLst>
                                      </p:cBhvr>
                                      <p:to>
                                        <p:strVal val="visible"/>
                                      </p:to>
                                    </p:set>
                                    <p:animEffect transition="in" filter="wipe(down)">
                                      <p:cBhvr>
                                        <p:cTn id="21" dur="5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90"/>
                                        </p:tgtEl>
                                        <p:attrNameLst>
                                          <p:attrName>style.visibility</p:attrName>
                                        </p:attrNameLst>
                                      </p:cBhvr>
                                      <p:to>
                                        <p:strVal val="visible"/>
                                      </p:to>
                                    </p:set>
                                    <p:animEffect transition="in" filter="wipe(right)">
                                      <p:cBhvr>
                                        <p:cTn id="26" dur="500"/>
                                        <p:tgtEl>
                                          <p:spTgt spid="90"/>
                                        </p:tgtEl>
                                      </p:cBhvr>
                                    </p:animEffect>
                                  </p:childTnLst>
                                </p:cTn>
                              </p:par>
                            </p:childTnLst>
                          </p:cTn>
                        </p:par>
                        <p:par>
                          <p:cTn id="27" fill="hold">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99"/>
                                        </p:tgtEl>
                                        <p:attrNameLst>
                                          <p:attrName>style.visibility</p:attrName>
                                        </p:attrNameLst>
                                      </p:cBhvr>
                                      <p:to>
                                        <p:strVal val="visible"/>
                                      </p:to>
                                    </p:set>
                                    <p:animEffect transition="in" filter="wipe(down)">
                                      <p:cBhvr>
                                        <p:cTn id="30" dur="500"/>
                                        <p:tgtEl>
                                          <p:spTgt spid="9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2"/>
                                        </p:tgtEl>
                                        <p:attrNameLst>
                                          <p:attrName>style.visibility</p:attrName>
                                        </p:attrNameLst>
                                      </p:cBhvr>
                                      <p:to>
                                        <p:strVal val="visible"/>
                                      </p:to>
                                    </p:set>
                                    <p:animEffect transition="in" filter="wipe(down)">
                                      <p:cBhvr>
                                        <p:cTn id="35" dur="500"/>
                                        <p:tgtEl>
                                          <p:spTgt spid="9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94"/>
                                        </p:tgtEl>
                                        <p:attrNameLst>
                                          <p:attrName>style.visibility</p:attrName>
                                        </p:attrNameLst>
                                      </p:cBhvr>
                                      <p:to>
                                        <p:strVal val="visible"/>
                                      </p:to>
                                    </p:set>
                                    <p:animEffect transition="in" filter="wipe(right)">
                                      <p:cBhvr>
                                        <p:cTn id="40" dur="500"/>
                                        <p:tgtEl>
                                          <p:spTgt spid="9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wipe(down)">
                                      <p:cBhvr>
                                        <p:cTn id="45" dur="500"/>
                                        <p:tgtEl>
                                          <p:spTgt spid="9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97"/>
                                        </p:tgtEl>
                                        <p:attrNameLst>
                                          <p:attrName>style.visibility</p:attrName>
                                        </p:attrNameLst>
                                      </p:cBhvr>
                                      <p:to>
                                        <p:strVal val="visible"/>
                                      </p:to>
                                    </p:set>
                                    <p:animEffect transition="in" filter="wipe(up)">
                                      <p:cBhvr>
                                        <p:cTn id="50" dur="500"/>
                                        <p:tgtEl>
                                          <p:spTgt spid="97"/>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108"/>
                                        </p:tgtEl>
                                        <p:attrNameLst>
                                          <p:attrName>style.visibility</p:attrName>
                                        </p:attrNameLst>
                                      </p:cBhvr>
                                      <p:to>
                                        <p:strVal val="visible"/>
                                      </p:to>
                                    </p:set>
                                    <p:animEffect transition="in" filter="wipe(up)">
                                      <p:cBhvr>
                                        <p:cTn id="53" dur="500"/>
                                        <p:tgtEl>
                                          <p:spTgt spid="10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02"/>
                                        </p:tgtEl>
                                        <p:attrNameLst>
                                          <p:attrName>style.visibility</p:attrName>
                                        </p:attrNameLst>
                                      </p:cBhvr>
                                      <p:to>
                                        <p:strVal val="visible"/>
                                      </p:to>
                                    </p:set>
                                    <p:animEffect transition="in" filter="wipe(down)">
                                      <p:cBhvr>
                                        <p:cTn id="58" dur="500"/>
                                        <p:tgtEl>
                                          <p:spTgt spid="10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13"/>
                                        </p:tgtEl>
                                        <p:attrNameLst>
                                          <p:attrName>style.visibility</p:attrName>
                                        </p:attrNameLst>
                                      </p:cBhvr>
                                      <p:to>
                                        <p:strVal val="visible"/>
                                      </p:to>
                                    </p:set>
                                    <p:animEffect transition="in" filter="wipe(left)">
                                      <p:cBhvr>
                                        <p:cTn id="63" dur="500"/>
                                        <p:tgtEl>
                                          <p:spTgt spid="11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04"/>
                                        </p:tgtEl>
                                        <p:attrNameLst>
                                          <p:attrName>style.visibility</p:attrName>
                                        </p:attrNameLst>
                                      </p:cBhvr>
                                      <p:to>
                                        <p:strVal val="visible"/>
                                      </p:to>
                                    </p:set>
                                    <p:animEffect transition="in" filter="wipe(left)">
                                      <p:cBhvr>
                                        <p:cTn id="68" dur="500"/>
                                        <p:tgtEl>
                                          <p:spTgt spid="104"/>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114"/>
                                        </p:tgtEl>
                                        <p:attrNameLst>
                                          <p:attrName>style.visibility</p:attrName>
                                        </p:attrNameLst>
                                      </p:cBhvr>
                                      <p:to>
                                        <p:strVal val="visible"/>
                                      </p:to>
                                    </p:set>
                                    <p:animEffect transition="in" filter="wipe(left)">
                                      <p:cBhvr>
                                        <p:cTn id="71" dur="500"/>
                                        <p:tgtEl>
                                          <p:spTgt spid="11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107"/>
                                        </p:tgtEl>
                                        <p:attrNameLst>
                                          <p:attrName>style.visibility</p:attrName>
                                        </p:attrNameLst>
                                      </p:cBhvr>
                                      <p:to>
                                        <p:strVal val="visible"/>
                                      </p:to>
                                    </p:set>
                                    <p:animEffect transition="in" filter="wipe(down)">
                                      <p:cBhvr>
                                        <p:cTn id="76" dur="500"/>
                                        <p:tgtEl>
                                          <p:spTgt spid="10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118"/>
                                        </p:tgtEl>
                                        <p:attrNameLst>
                                          <p:attrName>style.visibility</p:attrName>
                                        </p:attrNameLst>
                                      </p:cBhvr>
                                      <p:to>
                                        <p:strVal val="visible"/>
                                      </p:to>
                                    </p:set>
                                    <p:animEffect transition="in" filter="wipe(down)">
                                      <p:cBhvr>
                                        <p:cTn id="81" dur="500"/>
                                        <p:tgtEl>
                                          <p:spTgt spid="11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127"/>
                                        </p:tgtEl>
                                        <p:attrNameLst>
                                          <p:attrName>style.visibility</p:attrName>
                                        </p:attrNameLst>
                                      </p:cBhvr>
                                      <p:to>
                                        <p:strVal val="visible"/>
                                      </p:to>
                                    </p:set>
                                    <p:animEffect transition="in" filter="wipe(down)">
                                      <p:cBhvr>
                                        <p:cTn id="86" dur="500"/>
                                        <p:tgtEl>
                                          <p:spTgt spid="12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119"/>
                                        </p:tgtEl>
                                        <p:attrNameLst>
                                          <p:attrName>style.visibility</p:attrName>
                                        </p:attrNameLst>
                                      </p:cBhvr>
                                      <p:to>
                                        <p:strVal val="visible"/>
                                      </p:to>
                                    </p:set>
                                    <p:animEffect transition="in" filter="wipe(down)">
                                      <p:cBhvr>
                                        <p:cTn id="91" dur="500"/>
                                        <p:tgtEl>
                                          <p:spTgt spid="119"/>
                                        </p:tgtEl>
                                      </p:cBhvr>
                                    </p:animEffect>
                                  </p:childTnLst>
                                </p:cTn>
                              </p:par>
                            </p:childTnLst>
                          </p:cTn>
                        </p:par>
                        <p:par>
                          <p:cTn id="92" fill="hold">
                            <p:stCondLst>
                              <p:cond delay="500"/>
                            </p:stCondLst>
                            <p:childTnLst>
                              <p:par>
                                <p:cTn id="93" presetID="18" presetClass="entr" presetSubtype="6" fill="hold" grpId="0" nodeType="afterEffect">
                                  <p:stCondLst>
                                    <p:cond delay="0"/>
                                  </p:stCondLst>
                                  <p:childTnLst>
                                    <p:set>
                                      <p:cBhvr>
                                        <p:cTn id="94" dur="1" fill="hold">
                                          <p:stCondLst>
                                            <p:cond delay="0"/>
                                          </p:stCondLst>
                                        </p:cTn>
                                        <p:tgtEl>
                                          <p:spTgt spid="564231">
                                            <p:txEl>
                                              <p:pRg st="4294967295" end="4294967295"/>
                                            </p:txEl>
                                          </p:spTgt>
                                        </p:tgtEl>
                                        <p:attrNameLst>
                                          <p:attrName>style.visibility</p:attrName>
                                        </p:attrNameLst>
                                      </p:cBhvr>
                                      <p:to>
                                        <p:strVal val="visible"/>
                                      </p:to>
                                    </p:set>
                                    <p:animEffect transition="in" filter="strips(downRight)">
                                      <p:cBhvr>
                                        <p:cTn id="95" dur="500"/>
                                        <p:tgtEl>
                                          <p:spTgt spid="564231">
                                            <p:txEl>
                                              <p:pRg st="4294967295" end="4294967295"/>
                                            </p:txEl>
                                          </p:spTgt>
                                        </p:tgtEl>
                                      </p:cBhvr>
                                    </p:animEffect>
                                  </p:childTnLst>
                                </p:cTn>
                              </p:par>
                            </p:childTnLst>
                          </p:cTn>
                        </p:par>
                        <p:par>
                          <p:cTn id="96" fill="hold">
                            <p:stCondLst>
                              <p:cond delay="1000"/>
                            </p:stCondLst>
                            <p:childTnLst>
                              <p:par>
                                <p:cTn id="97" presetID="18" presetClass="entr" presetSubtype="6" fill="hold" grpId="0" nodeType="afterEffect">
                                  <p:stCondLst>
                                    <p:cond delay="0"/>
                                  </p:stCondLst>
                                  <p:childTnLst>
                                    <p:set>
                                      <p:cBhvr>
                                        <p:cTn id="98" dur="1" fill="hold">
                                          <p:stCondLst>
                                            <p:cond delay="0"/>
                                          </p:stCondLst>
                                        </p:cTn>
                                        <p:tgtEl>
                                          <p:spTgt spid="564231">
                                            <p:txEl>
                                              <p:pRg st="0" end="0"/>
                                            </p:txEl>
                                          </p:spTgt>
                                        </p:tgtEl>
                                        <p:attrNameLst>
                                          <p:attrName>style.visibility</p:attrName>
                                        </p:attrNameLst>
                                      </p:cBhvr>
                                      <p:to>
                                        <p:strVal val="visible"/>
                                      </p:to>
                                    </p:set>
                                    <p:animEffect transition="in" filter="strips(downRight)">
                                      <p:cBhvr>
                                        <p:cTn id="99" dur="500"/>
                                        <p:tgtEl>
                                          <p:spTgt spid="564231">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8" presetClass="entr" presetSubtype="6" fill="hold" grpId="0" nodeType="clickEffect">
                                  <p:stCondLst>
                                    <p:cond delay="0"/>
                                  </p:stCondLst>
                                  <p:childTnLst>
                                    <p:set>
                                      <p:cBhvr>
                                        <p:cTn id="103" dur="1" fill="hold">
                                          <p:stCondLst>
                                            <p:cond delay="0"/>
                                          </p:stCondLst>
                                        </p:cTn>
                                        <p:tgtEl>
                                          <p:spTgt spid="564231">
                                            <p:txEl>
                                              <p:pRg st="1" end="1"/>
                                            </p:txEl>
                                          </p:spTgt>
                                        </p:tgtEl>
                                        <p:attrNameLst>
                                          <p:attrName>style.visibility</p:attrName>
                                        </p:attrNameLst>
                                      </p:cBhvr>
                                      <p:to>
                                        <p:strVal val="visible"/>
                                      </p:to>
                                    </p:set>
                                    <p:animEffect transition="in" filter="strips(downRight)">
                                      <p:cBhvr>
                                        <p:cTn id="104" dur="500"/>
                                        <p:tgtEl>
                                          <p:spTgt spid="564231">
                                            <p:txEl>
                                              <p:pRg st="1" end="1"/>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8" presetClass="entr" presetSubtype="6" fill="hold" grpId="0" nodeType="clickEffect">
                                  <p:stCondLst>
                                    <p:cond delay="0"/>
                                  </p:stCondLst>
                                  <p:childTnLst>
                                    <p:set>
                                      <p:cBhvr>
                                        <p:cTn id="108" dur="1" fill="hold">
                                          <p:stCondLst>
                                            <p:cond delay="0"/>
                                          </p:stCondLst>
                                        </p:cTn>
                                        <p:tgtEl>
                                          <p:spTgt spid="564231">
                                            <p:txEl>
                                              <p:pRg st="2" end="2"/>
                                            </p:txEl>
                                          </p:spTgt>
                                        </p:tgtEl>
                                        <p:attrNameLst>
                                          <p:attrName>style.visibility</p:attrName>
                                        </p:attrNameLst>
                                      </p:cBhvr>
                                      <p:to>
                                        <p:strVal val="visible"/>
                                      </p:to>
                                    </p:set>
                                    <p:animEffect transition="in" filter="strips(downRight)">
                                      <p:cBhvr>
                                        <p:cTn id="109" dur="500"/>
                                        <p:tgtEl>
                                          <p:spTgt spid="564231">
                                            <p:txEl>
                                              <p:pRg st="2" end="2"/>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8" presetClass="entr" presetSubtype="6" fill="hold" grpId="0" nodeType="clickEffect">
                                  <p:stCondLst>
                                    <p:cond delay="0"/>
                                  </p:stCondLst>
                                  <p:childTnLst>
                                    <p:set>
                                      <p:cBhvr>
                                        <p:cTn id="113" dur="1" fill="hold">
                                          <p:stCondLst>
                                            <p:cond delay="0"/>
                                          </p:stCondLst>
                                        </p:cTn>
                                        <p:tgtEl>
                                          <p:spTgt spid="564231">
                                            <p:txEl>
                                              <p:pRg st="3" end="3"/>
                                            </p:txEl>
                                          </p:spTgt>
                                        </p:tgtEl>
                                        <p:attrNameLst>
                                          <p:attrName>style.visibility</p:attrName>
                                        </p:attrNameLst>
                                      </p:cBhvr>
                                      <p:to>
                                        <p:strVal val="visible"/>
                                      </p:to>
                                    </p:set>
                                    <p:animEffect transition="in" filter="strips(downRight)">
                                      <p:cBhvr>
                                        <p:cTn id="114" dur="500"/>
                                        <p:tgtEl>
                                          <p:spTgt spid="5642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31" grpId="0" uiExpand="1" build="p"/>
      <p:bldP spid="91" grpId="0"/>
      <p:bldP spid="99" grpId="0"/>
      <p:bldP spid="92" grpId="0" animBg="1"/>
      <p:bldP spid="95" grpId="0"/>
      <p:bldP spid="108" grpId="0"/>
      <p:bldP spid="113" grpId="0"/>
      <p:bldP spid="114" grpId="0"/>
      <p:bldP spid="118" grpId="0"/>
      <p:bldP spid="11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15"/>
          <p:cNvGrpSpPr/>
          <p:nvPr/>
        </p:nvGrpSpPr>
        <p:grpSpPr bwMode="auto">
          <a:xfrm>
            <a:off x="973852" y="2286838"/>
            <a:ext cx="3124200" cy="1524000"/>
            <a:chOff x="0" y="0"/>
            <a:chExt cx="3504" cy="2004"/>
          </a:xfrm>
        </p:grpSpPr>
        <p:sp>
          <p:nvSpPr>
            <p:cNvPr id="4" name="Line 116"/>
            <p:cNvSpPr>
              <a:spLocks noChangeShapeType="1"/>
            </p:cNvSpPr>
            <p:nvPr/>
          </p:nvSpPr>
          <p:spPr bwMode="auto">
            <a:xfrm>
              <a:off x="0" y="828"/>
              <a:ext cx="984" cy="0"/>
            </a:xfrm>
            <a:prstGeom prst="line">
              <a:avLst/>
            </a:prstGeom>
            <a:noFill/>
            <a:ln w="2857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Freeform 117"/>
            <p:cNvSpPr/>
            <p:nvPr/>
          </p:nvSpPr>
          <p:spPr bwMode="auto">
            <a:xfrm>
              <a:off x="420" y="312"/>
              <a:ext cx="336" cy="1020"/>
            </a:xfrm>
            <a:custGeom>
              <a:avLst/>
              <a:gdLst>
                <a:gd name="T0" fmla="*/ 0 w 336"/>
                <a:gd name="T1" fmla="*/ 0 h 1020"/>
                <a:gd name="T2" fmla="*/ 0 w 336"/>
                <a:gd name="T3" fmla="*/ 1020 h 1020"/>
                <a:gd name="T4" fmla="*/ 336 w 336"/>
                <a:gd name="T5" fmla="*/ 768 h 1020"/>
                <a:gd name="T6" fmla="*/ 336 w 336"/>
                <a:gd name="T7" fmla="*/ 276 h 1020"/>
                <a:gd name="T8" fmla="*/ 0 w 336"/>
                <a:gd name="T9" fmla="*/ 0 h 1020"/>
              </a:gdLst>
              <a:ahLst/>
              <a:cxnLst>
                <a:cxn ang="0">
                  <a:pos x="T0" y="T1"/>
                </a:cxn>
                <a:cxn ang="0">
                  <a:pos x="T2" y="T3"/>
                </a:cxn>
                <a:cxn ang="0">
                  <a:pos x="T4" y="T5"/>
                </a:cxn>
                <a:cxn ang="0">
                  <a:pos x="T6" y="T7"/>
                </a:cxn>
                <a:cxn ang="0">
                  <a:pos x="T8" y="T9"/>
                </a:cxn>
              </a:cxnLst>
              <a:rect l="0" t="0" r="r" b="b"/>
              <a:pathLst>
                <a:path w="336" h="1020">
                  <a:moveTo>
                    <a:pt x="0" y="0"/>
                  </a:moveTo>
                  <a:lnTo>
                    <a:pt x="0" y="1020"/>
                  </a:lnTo>
                  <a:lnTo>
                    <a:pt x="336" y="768"/>
                  </a:lnTo>
                  <a:lnTo>
                    <a:pt x="336" y="276"/>
                  </a:lnTo>
                  <a:lnTo>
                    <a:pt x="0" y="0"/>
                  </a:lnTo>
                  <a:close/>
                </a:path>
              </a:pathLst>
            </a:custGeom>
            <a:solidFill>
              <a:srgbClr val="FFFFFF"/>
            </a:solidFill>
            <a:ln w="19050" cmpd="sng">
              <a:solidFill>
                <a:srgbClr val="000000"/>
              </a:solidFill>
              <a:round/>
            </a:ln>
          </p:spPr>
          <p:txBody>
            <a:bodyPr/>
            <a:lstStyle/>
            <a:p>
              <a:endParaRPr lang="zh-CN" altLang="en-US"/>
            </a:p>
          </p:txBody>
        </p:sp>
        <p:sp>
          <p:nvSpPr>
            <p:cNvPr id="6" name="Line 118"/>
            <p:cNvSpPr>
              <a:spLocks noChangeShapeType="1"/>
            </p:cNvSpPr>
            <p:nvPr/>
          </p:nvSpPr>
          <p:spPr bwMode="auto">
            <a:xfrm>
              <a:off x="1320" y="0"/>
              <a:ext cx="0" cy="2004"/>
            </a:xfrm>
            <a:prstGeom prst="line">
              <a:avLst/>
            </a:prstGeom>
            <a:noFill/>
            <a:ln w="2857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Rectangle 119"/>
            <p:cNvSpPr>
              <a:spLocks noChangeArrowheads="1"/>
            </p:cNvSpPr>
            <p:nvPr/>
          </p:nvSpPr>
          <p:spPr bwMode="auto">
            <a:xfrm>
              <a:off x="1032" y="1380"/>
              <a:ext cx="564" cy="348"/>
            </a:xfrm>
            <a:prstGeom prst="rect">
              <a:avLst/>
            </a:prstGeom>
            <a:solidFill>
              <a:srgbClr val="FFFFFF"/>
            </a:solidFill>
            <a:ln w="12700" cmpd="sng">
              <a:solidFill>
                <a:srgbClr val="000000"/>
              </a:solidFill>
              <a:miter lim="800000"/>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ln w="19050">
                  <a:solidFill>
                    <a:schemeClr val="tx1"/>
                  </a:solidFill>
                </a:ln>
              </a:endParaRPr>
            </a:p>
          </p:txBody>
        </p:sp>
        <p:sp>
          <p:nvSpPr>
            <p:cNvPr id="8" name="Line 120"/>
            <p:cNvSpPr>
              <a:spLocks noChangeShapeType="1"/>
            </p:cNvSpPr>
            <p:nvPr/>
          </p:nvSpPr>
          <p:spPr bwMode="auto">
            <a:xfrm>
              <a:off x="2556" y="0"/>
              <a:ext cx="0" cy="2004"/>
            </a:xfrm>
            <a:prstGeom prst="line">
              <a:avLst/>
            </a:prstGeom>
            <a:noFill/>
            <a:ln w="2857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Freeform 121"/>
            <p:cNvSpPr/>
            <p:nvPr/>
          </p:nvSpPr>
          <p:spPr bwMode="auto">
            <a:xfrm>
              <a:off x="432" y="312"/>
              <a:ext cx="1800" cy="264"/>
            </a:xfrm>
            <a:custGeom>
              <a:avLst/>
              <a:gdLst>
                <a:gd name="T0" fmla="*/ 1800 w 1800"/>
                <a:gd name="T1" fmla="*/ 0 h 264"/>
                <a:gd name="T2" fmla="*/ 0 w 1800"/>
                <a:gd name="T3" fmla="*/ 0 h 264"/>
                <a:gd name="T4" fmla="*/ 324 w 1800"/>
                <a:gd name="T5" fmla="*/ 264 h 264"/>
                <a:gd name="T6" fmla="*/ 1452 w 1800"/>
                <a:gd name="T7" fmla="*/ 264 h 264"/>
                <a:gd name="T8" fmla="*/ 1800 w 1800"/>
                <a:gd name="T9" fmla="*/ 0 h 264"/>
              </a:gdLst>
              <a:ahLst/>
              <a:cxnLst>
                <a:cxn ang="0">
                  <a:pos x="T0" y="T1"/>
                </a:cxn>
                <a:cxn ang="0">
                  <a:pos x="T2" y="T3"/>
                </a:cxn>
                <a:cxn ang="0">
                  <a:pos x="T4" y="T5"/>
                </a:cxn>
                <a:cxn ang="0">
                  <a:pos x="T6" y="T7"/>
                </a:cxn>
                <a:cxn ang="0">
                  <a:pos x="T8" y="T9"/>
                </a:cxn>
              </a:cxnLst>
              <a:rect l="0" t="0" r="r" b="b"/>
              <a:pathLst>
                <a:path w="1800" h="264">
                  <a:moveTo>
                    <a:pt x="1800" y="0"/>
                  </a:moveTo>
                  <a:lnTo>
                    <a:pt x="0" y="0"/>
                  </a:lnTo>
                  <a:lnTo>
                    <a:pt x="324" y="264"/>
                  </a:lnTo>
                  <a:lnTo>
                    <a:pt x="1452" y="264"/>
                  </a:lnTo>
                  <a:lnTo>
                    <a:pt x="1800" y="0"/>
                  </a:lnTo>
                  <a:close/>
                </a:path>
              </a:pathLst>
            </a:custGeom>
            <a:solidFill>
              <a:srgbClr val="FFFFFF"/>
            </a:solidFill>
            <a:ln w="19050" cmpd="sng">
              <a:solidFill>
                <a:srgbClr val="000000"/>
              </a:solidFill>
              <a:round/>
            </a:ln>
          </p:spPr>
          <p:txBody>
            <a:bodyPr/>
            <a:lstStyle/>
            <a:p>
              <a:endParaRPr lang="zh-CN" altLang="en-US"/>
            </a:p>
          </p:txBody>
        </p:sp>
        <p:grpSp>
          <p:nvGrpSpPr>
            <p:cNvPr id="11" name="Group 123"/>
            <p:cNvGrpSpPr/>
            <p:nvPr/>
          </p:nvGrpSpPr>
          <p:grpSpPr bwMode="auto">
            <a:xfrm>
              <a:off x="1260" y="384"/>
              <a:ext cx="120" cy="120"/>
              <a:chOff x="0" y="0"/>
              <a:chExt cx="120" cy="120"/>
            </a:xfrm>
          </p:grpSpPr>
          <p:sp>
            <p:nvSpPr>
              <p:cNvPr id="32" name="Line 124"/>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125"/>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126"/>
            <p:cNvGrpSpPr/>
            <p:nvPr/>
          </p:nvGrpSpPr>
          <p:grpSpPr bwMode="auto">
            <a:xfrm>
              <a:off x="528" y="768"/>
              <a:ext cx="120" cy="120"/>
              <a:chOff x="0" y="0"/>
              <a:chExt cx="120" cy="120"/>
            </a:xfrm>
          </p:grpSpPr>
          <p:sp>
            <p:nvSpPr>
              <p:cNvPr id="30" name="Line 127"/>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128"/>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 name="Rectangle 122"/>
            <p:cNvSpPr>
              <a:spLocks noChangeArrowheads="1"/>
            </p:cNvSpPr>
            <p:nvPr/>
          </p:nvSpPr>
          <p:spPr bwMode="auto">
            <a:xfrm>
              <a:off x="1608" y="1380"/>
              <a:ext cx="1896" cy="348"/>
            </a:xfrm>
            <a:prstGeom prst="rect">
              <a:avLst/>
            </a:prstGeom>
            <a:solidFill>
              <a:srgbClr val="FFFFFF"/>
            </a:solidFill>
            <a:ln w="12700" cmpd="sng">
              <a:solidFill>
                <a:srgbClr val="000000"/>
              </a:solidFill>
              <a:miter lim="800000"/>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ln w="28575">
                  <a:solidFill>
                    <a:schemeClr val="tx1"/>
                  </a:solidFill>
                </a:ln>
              </a:endParaRPr>
            </a:p>
          </p:txBody>
        </p:sp>
        <p:grpSp>
          <p:nvGrpSpPr>
            <p:cNvPr id="13" name="Group 129"/>
            <p:cNvGrpSpPr/>
            <p:nvPr/>
          </p:nvGrpSpPr>
          <p:grpSpPr bwMode="auto">
            <a:xfrm>
              <a:off x="2484" y="1500"/>
              <a:ext cx="120" cy="120"/>
              <a:chOff x="0" y="0"/>
              <a:chExt cx="120" cy="120"/>
            </a:xfrm>
          </p:grpSpPr>
          <p:sp>
            <p:nvSpPr>
              <p:cNvPr id="28" name="Line 130"/>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131"/>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132"/>
            <p:cNvGrpSpPr/>
            <p:nvPr/>
          </p:nvGrpSpPr>
          <p:grpSpPr bwMode="auto">
            <a:xfrm>
              <a:off x="1260" y="1488"/>
              <a:ext cx="120" cy="120"/>
              <a:chOff x="0" y="0"/>
              <a:chExt cx="120" cy="120"/>
            </a:xfrm>
          </p:grpSpPr>
          <p:sp>
            <p:nvSpPr>
              <p:cNvPr id="26" name="Line 133"/>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34"/>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 name="Line 135"/>
            <p:cNvSpPr>
              <a:spLocks noChangeShapeType="1"/>
            </p:cNvSpPr>
            <p:nvPr/>
          </p:nvSpPr>
          <p:spPr bwMode="auto">
            <a:xfrm>
              <a:off x="1032" y="1488"/>
              <a:ext cx="120" cy="24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36"/>
            <p:cNvSpPr>
              <a:spLocks noChangeShapeType="1"/>
            </p:cNvSpPr>
            <p:nvPr/>
          </p:nvSpPr>
          <p:spPr bwMode="auto">
            <a:xfrm>
              <a:off x="1080" y="1380"/>
              <a:ext cx="168" cy="336"/>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37"/>
            <p:cNvSpPr>
              <a:spLocks noChangeShapeType="1"/>
            </p:cNvSpPr>
            <p:nvPr/>
          </p:nvSpPr>
          <p:spPr bwMode="auto">
            <a:xfrm>
              <a:off x="1044" y="1416"/>
              <a:ext cx="144" cy="30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138"/>
            <p:cNvSpPr>
              <a:spLocks noChangeShapeType="1"/>
            </p:cNvSpPr>
            <p:nvPr/>
          </p:nvSpPr>
          <p:spPr bwMode="auto">
            <a:xfrm flipH="1">
              <a:off x="3288" y="1452"/>
              <a:ext cx="204" cy="28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39"/>
            <p:cNvSpPr>
              <a:spLocks noChangeShapeType="1"/>
            </p:cNvSpPr>
            <p:nvPr/>
          </p:nvSpPr>
          <p:spPr bwMode="auto">
            <a:xfrm flipH="1">
              <a:off x="3336" y="1536"/>
              <a:ext cx="156" cy="204"/>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140"/>
            <p:cNvSpPr>
              <a:spLocks noChangeShapeType="1"/>
            </p:cNvSpPr>
            <p:nvPr/>
          </p:nvSpPr>
          <p:spPr bwMode="auto">
            <a:xfrm flipH="1">
              <a:off x="3408" y="1632"/>
              <a:ext cx="72" cy="96"/>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Text Box 141"/>
            <p:cNvSpPr txBox="1">
              <a:spLocks noChangeArrowheads="1"/>
            </p:cNvSpPr>
            <p:nvPr/>
          </p:nvSpPr>
          <p:spPr bwMode="auto">
            <a:xfrm>
              <a:off x="408" y="360"/>
              <a:ext cx="408"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t>1</a:t>
              </a:r>
              <a:endParaRPr lang="en-US" sz="1800"/>
            </a:p>
          </p:txBody>
        </p:sp>
        <p:sp>
          <p:nvSpPr>
            <p:cNvPr id="22" name="Text Box 142"/>
            <p:cNvSpPr txBox="1">
              <a:spLocks noChangeArrowheads="1"/>
            </p:cNvSpPr>
            <p:nvPr/>
          </p:nvSpPr>
          <p:spPr bwMode="auto">
            <a:xfrm>
              <a:off x="600" y="168"/>
              <a:ext cx="4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t>2</a:t>
              </a:r>
              <a:endParaRPr lang="en-US" sz="1800"/>
            </a:p>
          </p:txBody>
        </p:sp>
        <p:sp>
          <p:nvSpPr>
            <p:cNvPr id="23" name="Text Box 143"/>
            <p:cNvSpPr txBox="1">
              <a:spLocks noChangeArrowheads="1"/>
            </p:cNvSpPr>
            <p:nvPr/>
          </p:nvSpPr>
          <p:spPr bwMode="auto">
            <a:xfrm>
              <a:off x="1296" y="1296"/>
              <a:ext cx="4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dirty="0"/>
                <a:t>3</a:t>
              </a:r>
              <a:endParaRPr lang="en-US" sz="1800" dirty="0"/>
            </a:p>
          </p:txBody>
        </p:sp>
        <p:sp>
          <p:nvSpPr>
            <p:cNvPr id="24" name="Text Box 144"/>
            <p:cNvSpPr txBox="1">
              <a:spLocks noChangeArrowheads="1"/>
            </p:cNvSpPr>
            <p:nvPr/>
          </p:nvSpPr>
          <p:spPr bwMode="auto">
            <a:xfrm>
              <a:off x="1536" y="1296"/>
              <a:ext cx="4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dirty="0"/>
                <a:t>4</a:t>
              </a:r>
              <a:endParaRPr lang="en-US" sz="1800" dirty="0"/>
            </a:p>
          </p:txBody>
        </p:sp>
        <p:sp>
          <p:nvSpPr>
            <p:cNvPr id="25" name="Line 145"/>
            <p:cNvSpPr>
              <a:spLocks noChangeShapeType="1"/>
            </p:cNvSpPr>
            <p:nvPr/>
          </p:nvSpPr>
          <p:spPr bwMode="auto">
            <a:xfrm>
              <a:off x="216" y="477"/>
              <a:ext cx="0" cy="708"/>
            </a:xfrm>
            <a:prstGeom prst="line">
              <a:avLst/>
            </a:prstGeom>
            <a:noFill/>
            <a:ln w="12700" cmpd="sng">
              <a:solidFill>
                <a:srgbClr val="000000"/>
              </a:solidFill>
              <a:rou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34" name="矩形 33"/>
          <p:cNvSpPr/>
          <p:nvPr/>
        </p:nvSpPr>
        <p:spPr>
          <a:xfrm>
            <a:off x="617974" y="231112"/>
            <a:ext cx="8224576" cy="1173480"/>
          </a:xfrm>
          <a:prstGeom prst="rect">
            <a:avLst/>
          </a:prstGeom>
        </p:spPr>
        <p:txBody>
          <a:bodyPr wrap="square">
            <a:spAutoFit/>
          </a:bodyPr>
          <a:lstStyle/>
          <a:p>
            <a:pPr marL="0" indent="0" eaLnBrk="1" hangingPunct="1">
              <a:lnSpc>
                <a:spcPct val="160000"/>
              </a:lnSpc>
              <a:buFontTx/>
              <a:buNone/>
            </a:pPr>
            <a:r>
              <a:rPr lang="zh-CN" altLang="en-US" sz="2200" dirty="0" smtClean="0">
                <a:solidFill>
                  <a:srgbClr val="FF0000"/>
                </a:solidFill>
              </a:rPr>
              <a:t>例</a:t>
            </a:r>
            <a:r>
              <a:rPr lang="en-US" altLang="zh-CN" sz="2200" dirty="0" smtClean="0">
                <a:solidFill>
                  <a:srgbClr val="FF0000"/>
                </a:solidFill>
              </a:rPr>
              <a:t>3</a:t>
            </a:r>
            <a:r>
              <a:rPr lang="en-US" altLang="zh-CN" sz="2200" dirty="0" smtClean="0">
                <a:solidFill>
                  <a:srgbClr val="FF0000"/>
                </a:solidFill>
              </a:rPr>
              <a:t>-5  </a:t>
            </a:r>
            <a:r>
              <a:rPr lang="zh-CN" altLang="zh-CN" sz="2200" dirty="0" smtClean="0"/>
              <a:t>试</a:t>
            </a:r>
            <a:r>
              <a:rPr lang="zh-CN" altLang="zh-CN" sz="2200" dirty="0"/>
              <a:t>分析下图所示的齿轮传动各齿轮所受的力（用受力图表示出各力的作用位置及方向）。</a:t>
            </a:r>
            <a:endParaRPr lang="zh-CN" altLang="zh-CN" sz="2200" dirty="0"/>
          </a:p>
        </p:txBody>
      </p:sp>
      <p:sp>
        <p:nvSpPr>
          <p:cNvPr id="36" name="Line 214"/>
          <p:cNvSpPr>
            <a:spLocks noChangeShapeType="1"/>
          </p:cNvSpPr>
          <p:nvPr/>
        </p:nvSpPr>
        <p:spPr bwMode="auto">
          <a:xfrm>
            <a:off x="4465517" y="4166276"/>
            <a:ext cx="1032344" cy="0"/>
          </a:xfrm>
          <a:prstGeom prst="line">
            <a:avLst/>
          </a:prstGeom>
          <a:noFill/>
          <a:ln w="2857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Freeform 215"/>
          <p:cNvSpPr/>
          <p:nvPr/>
        </p:nvSpPr>
        <p:spPr bwMode="auto">
          <a:xfrm>
            <a:off x="4906151" y="3638688"/>
            <a:ext cx="352508" cy="1042907"/>
          </a:xfrm>
          <a:custGeom>
            <a:avLst/>
            <a:gdLst>
              <a:gd name="T0" fmla="*/ 0 w 336"/>
              <a:gd name="T1" fmla="*/ 0 h 1020"/>
              <a:gd name="T2" fmla="*/ 0 w 336"/>
              <a:gd name="T3" fmla="*/ 1020 h 1020"/>
              <a:gd name="T4" fmla="*/ 336 w 336"/>
              <a:gd name="T5" fmla="*/ 768 h 1020"/>
              <a:gd name="T6" fmla="*/ 336 w 336"/>
              <a:gd name="T7" fmla="*/ 276 h 1020"/>
              <a:gd name="T8" fmla="*/ 0 w 336"/>
              <a:gd name="T9" fmla="*/ 0 h 1020"/>
            </a:gdLst>
            <a:ahLst/>
            <a:cxnLst>
              <a:cxn ang="0">
                <a:pos x="T0" y="T1"/>
              </a:cxn>
              <a:cxn ang="0">
                <a:pos x="T2" y="T3"/>
              </a:cxn>
              <a:cxn ang="0">
                <a:pos x="T4" y="T5"/>
              </a:cxn>
              <a:cxn ang="0">
                <a:pos x="T6" y="T7"/>
              </a:cxn>
              <a:cxn ang="0">
                <a:pos x="T8" y="T9"/>
              </a:cxn>
            </a:cxnLst>
            <a:rect l="0" t="0" r="r" b="b"/>
            <a:pathLst>
              <a:path w="336" h="1020">
                <a:moveTo>
                  <a:pt x="0" y="0"/>
                </a:moveTo>
                <a:lnTo>
                  <a:pt x="0" y="1020"/>
                </a:lnTo>
                <a:lnTo>
                  <a:pt x="336" y="768"/>
                </a:lnTo>
                <a:lnTo>
                  <a:pt x="336" y="276"/>
                </a:lnTo>
                <a:lnTo>
                  <a:pt x="0" y="0"/>
                </a:lnTo>
                <a:close/>
              </a:path>
            </a:pathLst>
          </a:custGeom>
          <a:solidFill>
            <a:srgbClr val="FFFFFF"/>
          </a:solidFill>
          <a:ln w="12700" cmpd="sng">
            <a:solidFill>
              <a:srgbClr val="000000"/>
            </a:solidFill>
            <a:round/>
          </a:ln>
        </p:spPr>
        <p:txBody>
          <a:bodyPr/>
          <a:lstStyle/>
          <a:p>
            <a:endParaRPr lang="zh-CN" altLang="en-US"/>
          </a:p>
        </p:txBody>
      </p:sp>
      <p:sp>
        <p:nvSpPr>
          <p:cNvPr id="38" name="Line 216"/>
          <p:cNvSpPr>
            <a:spLocks noChangeShapeType="1"/>
          </p:cNvSpPr>
          <p:nvPr/>
        </p:nvSpPr>
        <p:spPr bwMode="auto">
          <a:xfrm>
            <a:off x="5850369" y="3319681"/>
            <a:ext cx="0" cy="2049005"/>
          </a:xfrm>
          <a:prstGeom prst="line">
            <a:avLst/>
          </a:prstGeom>
          <a:noFill/>
          <a:ln w="2857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Rectangle 217"/>
          <p:cNvSpPr>
            <a:spLocks noChangeArrowheads="1"/>
          </p:cNvSpPr>
          <p:nvPr/>
        </p:nvSpPr>
        <p:spPr bwMode="auto">
          <a:xfrm>
            <a:off x="5548219" y="4730673"/>
            <a:ext cx="591710" cy="355815"/>
          </a:xfrm>
          <a:prstGeom prst="rect">
            <a:avLst/>
          </a:prstGeom>
          <a:solidFill>
            <a:srgbClr val="FFFFFF"/>
          </a:solidFill>
          <a:ln w="12700" cmpd="sng">
            <a:solidFill>
              <a:srgbClr val="000000"/>
            </a:solidFill>
            <a:miter lim="800000"/>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40" name="Line 218"/>
          <p:cNvSpPr>
            <a:spLocks noChangeShapeType="1"/>
          </p:cNvSpPr>
          <p:nvPr/>
        </p:nvSpPr>
        <p:spPr bwMode="auto">
          <a:xfrm>
            <a:off x="7147094" y="3319681"/>
            <a:ext cx="0" cy="2049005"/>
          </a:xfrm>
          <a:prstGeom prst="line">
            <a:avLst/>
          </a:prstGeom>
          <a:noFill/>
          <a:ln w="2857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Freeform 219"/>
          <p:cNvSpPr/>
          <p:nvPr/>
        </p:nvSpPr>
        <p:spPr bwMode="auto">
          <a:xfrm>
            <a:off x="4918741" y="3638688"/>
            <a:ext cx="1888435" cy="269929"/>
          </a:xfrm>
          <a:custGeom>
            <a:avLst/>
            <a:gdLst>
              <a:gd name="T0" fmla="*/ 1800 w 1800"/>
              <a:gd name="T1" fmla="*/ 0 h 264"/>
              <a:gd name="T2" fmla="*/ 0 w 1800"/>
              <a:gd name="T3" fmla="*/ 0 h 264"/>
              <a:gd name="T4" fmla="*/ 324 w 1800"/>
              <a:gd name="T5" fmla="*/ 264 h 264"/>
              <a:gd name="T6" fmla="*/ 1452 w 1800"/>
              <a:gd name="T7" fmla="*/ 264 h 264"/>
              <a:gd name="T8" fmla="*/ 1800 w 1800"/>
              <a:gd name="T9" fmla="*/ 0 h 264"/>
            </a:gdLst>
            <a:ahLst/>
            <a:cxnLst>
              <a:cxn ang="0">
                <a:pos x="T0" y="T1"/>
              </a:cxn>
              <a:cxn ang="0">
                <a:pos x="T2" y="T3"/>
              </a:cxn>
              <a:cxn ang="0">
                <a:pos x="T4" y="T5"/>
              </a:cxn>
              <a:cxn ang="0">
                <a:pos x="T6" y="T7"/>
              </a:cxn>
              <a:cxn ang="0">
                <a:pos x="T8" y="T9"/>
              </a:cxn>
            </a:cxnLst>
            <a:rect l="0" t="0" r="r" b="b"/>
            <a:pathLst>
              <a:path w="1800" h="264">
                <a:moveTo>
                  <a:pt x="1800" y="0"/>
                </a:moveTo>
                <a:lnTo>
                  <a:pt x="0" y="0"/>
                </a:lnTo>
                <a:lnTo>
                  <a:pt x="324" y="264"/>
                </a:lnTo>
                <a:lnTo>
                  <a:pt x="1452" y="264"/>
                </a:lnTo>
                <a:lnTo>
                  <a:pt x="1800" y="0"/>
                </a:lnTo>
                <a:close/>
              </a:path>
            </a:pathLst>
          </a:custGeom>
          <a:solidFill>
            <a:srgbClr val="FFFFFF"/>
          </a:solidFill>
          <a:ln w="12700" cmpd="sng">
            <a:solidFill>
              <a:srgbClr val="000000"/>
            </a:solidFill>
            <a:round/>
          </a:ln>
        </p:spPr>
        <p:txBody>
          <a:bodyPr/>
          <a:lstStyle/>
          <a:p>
            <a:endParaRPr lang="zh-CN" altLang="en-US"/>
          </a:p>
        </p:txBody>
      </p:sp>
      <p:sp>
        <p:nvSpPr>
          <p:cNvPr id="42" name="Rectangle 220"/>
          <p:cNvSpPr>
            <a:spLocks noChangeArrowheads="1"/>
          </p:cNvSpPr>
          <p:nvPr/>
        </p:nvSpPr>
        <p:spPr bwMode="auto">
          <a:xfrm>
            <a:off x="6138504" y="4727169"/>
            <a:ext cx="1989151" cy="355815"/>
          </a:xfrm>
          <a:prstGeom prst="rect">
            <a:avLst/>
          </a:prstGeom>
          <a:solidFill>
            <a:srgbClr val="FFFFFF"/>
          </a:solidFill>
          <a:ln w="12700" cmpd="sng">
            <a:solidFill>
              <a:srgbClr val="000000"/>
            </a:solidFill>
            <a:miter lim="800000"/>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grpSp>
        <p:nvGrpSpPr>
          <p:cNvPr id="43" name="Group 154"/>
          <p:cNvGrpSpPr/>
          <p:nvPr/>
        </p:nvGrpSpPr>
        <p:grpSpPr bwMode="auto">
          <a:xfrm>
            <a:off x="5787421" y="3712305"/>
            <a:ext cx="125896" cy="122695"/>
            <a:chOff x="0" y="0"/>
            <a:chExt cx="120" cy="120"/>
          </a:xfrm>
        </p:grpSpPr>
        <p:sp>
          <p:nvSpPr>
            <p:cNvPr id="100" name="Line 222"/>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 name="Line 223"/>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Group 157"/>
          <p:cNvGrpSpPr/>
          <p:nvPr/>
        </p:nvGrpSpPr>
        <p:grpSpPr bwMode="auto">
          <a:xfrm>
            <a:off x="5019457" y="4104929"/>
            <a:ext cx="125896" cy="122695"/>
            <a:chOff x="0" y="0"/>
            <a:chExt cx="120" cy="120"/>
          </a:xfrm>
        </p:grpSpPr>
        <p:sp>
          <p:nvSpPr>
            <p:cNvPr id="98" name="Line 225"/>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 name="Line 226"/>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5" name="Group 160"/>
          <p:cNvGrpSpPr/>
          <p:nvPr/>
        </p:nvGrpSpPr>
        <p:grpSpPr bwMode="auto">
          <a:xfrm>
            <a:off x="7071557" y="4853368"/>
            <a:ext cx="125896" cy="122695"/>
            <a:chOff x="0" y="0"/>
            <a:chExt cx="120" cy="120"/>
          </a:xfrm>
        </p:grpSpPr>
        <p:sp>
          <p:nvSpPr>
            <p:cNvPr id="96" name="Line 228"/>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 name="Line 229"/>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6" name="Group 163"/>
          <p:cNvGrpSpPr/>
          <p:nvPr/>
        </p:nvGrpSpPr>
        <p:grpSpPr bwMode="auto">
          <a:xfrm>
            <a:off x="5787421" y="4841098"/>
            <a:ext cx="125896" cy="122695"/>
            <a:chOff x="0" y="0"/>
            <a:chExt cx="120" cy="120"/>
          </a:xfrm>
        </p:grpSpPr>
        <p:sp>
          <p:nvSpPr>
            <p:cNvPr id="94" name="Line 231"/>
            <p:cNvSpPr>
              <a:spLocks noChangeShapeType="1"/>
            </p:cNvSpPr>
            <p:nvPr/>
          </p:nvSpPr>
          <p:spPr bwMode="auto">
            <a:xfrm>
              <a:off x="12" y="12"/>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Line 232"/>
            <p:cNvSpPr>
              <a:spLocks noChangeShapeType="1"/>
            </p:cNvSpPr>
            <p:nvPr/>
          </p:nvSpPr>
          <p:spPr bwMode="auto">
            <a:xfrm rot="16200000">
              <a:off x="0" y="0"/>
              <a:ext cx="108" cy="10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 name="组合 1"/>
          <p:cNvGrpSpPr/>
          <p:nvPr/>
        </p:nvGrpSpPr>
        <p:grpSpPr>
          <a:xfrm>
            <a:off x="5548219" y="4730673"/>
            <a:ext cx="226612" cy="355815"/>
            <a:chOff x="5548219" y="4730673"/>
            <a:chExt cx="226612" cy="355815"/>
          </a:xfrm>
        </p:grpSpPr>
        <p:sp>
          <p:nvSpPr>
            <p:cNvPr id="47" name="Line 233"/>
            <p:cNvSpPr>
              <a:spLocks noChangeShapeType="1"/>
            </p:cNvSpPr>
            <p:nvPr/>
          </p:nvSpPr>
          <p:spPr bwMode="auto">
            <a:xfrm>
              <a:off x="5548219" y="4841098"/>
              <a:ext cx="125896" cy="24539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234"/>
            <p:cNvSpPr>
              <a:spLocks noChangeShapeType="1"/>
            </p:cNvSpPr>
            <p:nvPr/>
          </p:nvSpPr>
          <p:spPr bwMode="auto">
            <a:xfrm>
              <a:off x="5598577" y="4730673"/>
              <a:ext cx="176254" cy="343546"/>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235"/>
            <p:cNvSpPr>
              <a:spLocks noChangeShapeType="1"/>
            </p:cNvSpPr>
            <p:nvPr/>
          </p:nvSpPr>
          <p:spPr bwMode="auto">
            <a:xfrm>
              <a:off x="5560809" y="4767481"/>
              <a:ext cx="151075" cy="306737"/>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组合 34"/>
          <p:cNvGrpSpPr/>
          <p:nvPr/>
        </p:nvGrpSpPr>
        <p:grpSpPr>
          <a:xfrm>
            <a:off x="7901460" y="4783895"/>
            <a:ext cx="224221" cy="295795"/>
            <a:chOff x="7901460" y="4783895"/>
            <a:chExt cx="224221" cy="295795"/>
          </a:xfrm>
        </p:grpSpPr>
        <p:sp>
          <p:nvSpPr>
            <p:cNvPr id="50" name="Line 236"/>
            <p:cNvSpPr>
              <a:spLocks noChangeShapeType="1"/>
            </p:cNvSpPr>
            <p:nvPr/>
          </p:nvSpPr>
          <p:spPr bwMode="auto">
            <a:xfrm flipH="1">
              <a:off x="7901460" y="4783895"/>
              <a:ext cx="214023" cy="294468"/>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237"/>
            <p:cNvSpPr>
              <a:spLocks noChangeShapeType="1"/>
            </p:cNvSpPr>
            <p:nvPr/>
          </p:nvSpPr>
          <p:spPr bwMode="auto">
            <a:xfrm flipH="1">
              <a:off x="7962017" y="4869781"/>
              <a:ext cx="163664" cy="208581"/>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238"/>
            <p:cNvSpPr>
              <a:spLocks noChangeShapeType="1"/>
            </p:cNvSpPr>
            <p:nvPr/>
          </p:nvSpPr>
          <p:spPr bwMode="auto">
            <a:xfrm flipH="1">
              <a:off x="8027356" y="4981534"/>
              <a:ext cx="75537" cy="98156"/>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 name="Text Box 239"/>
          <p:cNvSpPr txBox="1">
            <a:spLocks noChangeArrowheads="1"/>
          </p:cNvSpPr>
          <p:nvPr/>
        </p:nvSpPr>
        <p:spPr bwMode="auto">
          <a:xfrm>
            <a:off x="4694526" y="4619623"/>
            <a:ext cx="428045" cy="46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t>1</a:t>
            </a:r>
            <a:endParaRPr lang="en-US" dirty="0"/>
          </a:p>
        </p:txBody>
      </p:sp>
      <p:sp>
        <p:nvSpPr>
          <p:cNvPr id="54" name="Text Box 240"/>
          <p:cNvSpPr txBox="1">
            <a:spLocks noChangeArrowheads="1"/>
          </p:cNvSpPr>
          <p:nvPr/>
        </p:nvSpPr>
        <p:spPr bwMode="auto">
          <a:xfrm>
            <a:off x="6617022" y="3617623"/>
            <a:ext cx="440635" cy="490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t>2</a:t>
            </a:r>
            <a:endParaRPr lang="en-US" dirty="0"/>
          </a:p>
        </p:txBody>
      </p:sp>
      <p:sp>
        <p:nvSpPr>
          <p:cNvPr id="55" name="Text Box 241"/>
          <p:cNvSpPr txBox="1">
            <a:spLocks noChangeArrowheads="1"/>
          </p:cNvSpPr>
          <p:nvPr/>
        </p:nvSpPr>
        <p:spPr bwMode="auto">
          <a:xfrm>
            <a:off x="8171235" y="4643028"/>
            <a:ext cx="440635" cy="490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t>4</a:t>
            </a:r>
            <a:endParaRPr lang="en-US" dirty="0"/>
          </a:p>
        </p:txBody>
      </p:sp>
      <p:sp>
        <p:nvSpPr>
          <p:cNvPr id="56" name="Line 242"/>
          <p:cNvSpPr>
            <a:spLocks noChangeShapeType="1"/>
          </p:cNvSpPr>
          <p:nvPr/>
        </p:nvSpPr>
        <p:spPr bwMode="auto">
          <a:xfrm>
            <a:off x="4597535" y="3824910"/>
            <a:ext cx="0" cy="723900"/>
          </a:xfrm>
          <a:prstGeom prst="line">
            <a:avLst/>
          </a:prstGeom>
          <a:noFill/>
          <a:ln w="12700" cmpd="sng">
            <a:solidFill>
              <a:srgbClr val="0000FF"/>
            </a:solidFill>
            <a:rou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57" name="Line 243"/>
          <p:cNvSpPr>
            <a:spLocks noChangeShapeType="1"/>
          </p:cNvSpPr>
          <p:nvPr/>
        </p:nvSpPr>
        <p:spPr bwMode="auto">
          <a:xfrm rot="16200000">
            <a:off x="5862958" y="3098590"/>
            <a:ext cx="0" cy="742784"/>
          </a:xfrm>
          <a:prstGeom prst="line">
            <a:avLst/>
          </a:prstGeom>
          <a:noFill/>
          <a:ln w="12700" cmpd="sng">
            <a:solidFill>
              <a:srgbClr val="0000FF"/>
            </a:solidFill>
            <a:rou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44"/>
          <p:cNvSpPr>
            <a:spLocks noChangeShapeType="1"/>
          </p:cNvSpPr>
          <p:nvPr/>
        </p:nvSpPr>
        <p:spPr bwMode="auto">
          <a:xfrm rot="16200000">
            <a:off x="5875548" y="4991293"/>
            <a:ext cx="0" cy="490993"/>
          </a:xfrm>
          <a:prstGeom prst="line">
            <a:avLst/>
          </a:prstGeom>
          <a:noFill/>
          <a:ln w="12700" cmpd="sng">
            <a:solidFill>
              <a:srgbClr val="0000FF"/>
            </a:solidFill>
            <a:rou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59" name="Line 245"/>
          <p:cNvSpPr>
            <a:spLocks noChangeShapeType="1"/>
          </p:cNvSpPr>
          <p:nvPr/>
        </p:nvSpPr>
        <p:spPr bwMode="auto">
          <a:xfrm rot="5400000">
            <a:off x="7096736" y="4853128"/>
            <a:ext cx="0" cy="742784"/>
          </a:xfrm>
          <a:prstGeom prst="line">
            <a:avLst/>
          </a:prstGeom>
          <a:noFill/>
          <a:ln w="12700" cmpd="sng">
            <a:solidFill>
              <a:srgbClr val="0000FF"/>
            </a:solidFill>
            <a:rou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nvGrpSpPr>
          <p:cNvPr id="60" name="Group 179"/>
          <p:cNvGrpSpPr/>
          <p:nvPr/>
        </p:nvGrpSpPr>
        <p:grpSpPr bwMode="auto">
          <a:xfrm>
            <a:off x="4917202" y="3813979"/>
            <a:ext cx="151075" cy="171773"/>
            <a:chOff x="0" y="0"/>
            <a:chExt cx="144" cy="168"/>
          </a:xfrm>
        </p:grpSpPr>
        <p:sp>
          <p:nvSpPr>
            <p:cNvPr id="91" name="Oval 247"/>
            <p:cNvSpPr>
              <a:spLocks noChangeArrowheads="1"/>
            </p:cNvSpPr>
            <p:nvPr/>
          </p:nvSpPr>
          <p:spPr bwMode="auto">
            <a:xfrm>
              <a:off x="0" y="0"/>
              <a:ext cx="144" cy="168"/>
            </a:xfrm>
            <a:prstGeom prst="ellipse">
              <a:avLst/>
            </a:prstGeom>
            <a:solidFill>
              <a:srgbClr val="FFFFFF"/>
            </a:solidFill>
            <a:ln w="9525" cmpd="sng">
              <a:solidFill>
                <a:srgbClr val="FF0000"/>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92" name="Line 248"/>
            <p:cNvSpPr>
              <a:spLocks noChangeShapeType="1"/>
            </p:cNvSpPr>
            <p:nvPr/>
          </p:nvSpPr>
          <p:spPr bwMode="auto">
            <a:xfrm>
              <a:off x="12" y="24"/>
              <a:ext cx="108" cy="132"/>
            </a:xfrm>
            <a:prstGeom prst="line">
              <a:avLst/>
            </a:prstGeom>
            <a:noFill/>
            <a:ln w="9525" cmpd="sng">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 name="Line 249"/>
            <p:cNvSpPr>
              <a:spLocks noChangeShapeType="1"/>
            </p:cNvSpPr>
            <p:nvPr/>
          </p:nvSpPr>
          <p:spPr bwMode="auto">
            <a:xfrm rot="16200000">
              <a:off x="12" y="24"/>
              <a:ext cx="108" cy="132"/>
            </a:xfrm>
            <a:prstGeom prst="line">
              <a:avLst/>
            </a:prstGeom>
            <a:noFill/>
            <a:ln w="9525" cmpd="sng">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 name="Group 183"/>
          <p:cNvGrpSpPr/>
          <p:nvPr/>
        </p:nvGrpSpPr>
        <p:grpSpPr bwMode="auto">
          <a:xfrm>
            <a:off x="5157943" y="3572138"/>
            <a:ext cx="151075" cy="171773"/>
            <a:chOff x="0" y="0"/>
            <a:chExt cx="144" cy="168"/>
          </a:xfrm>
        </p:grpSpPr>
        <p:sp>
          <p:nvSpPr>
            <p:cNvPr id="89" name="Oval 251"/>
            <p:cNvSpPr>
              <a:spLocks noChangeArrowheads="1"/>
            </p:cNvSpPr>
            <p:nvPr/>
          </p:nvSpPr>
          <p:spPr bwMode="auto">
            <a:xfrm>
              <a:off x="0" y="0"/>
              <a:ext cx="144" cy="168"/>
            </a:xfrm>
            <a:prstGeom prst="ellipse">
              <a:avLst/>
            </a:prstGeom>
            <a:solidFill>
              <a:srgbClr val="FFFFFF"/>
            </a:solidFill>
            <a:ln w="19050" cmpd="sng">
              <a:solidFill>
                <a:srgbClr val="00B050"/>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90" name="Oval 252"/>
            <p:cNvSpPr>
              <a:spLocks noChangeArrowheads="1"/>
            </p:cNvSpPr>
            <p:nvPr/>
          </p:nvSpPr>
          <p:spPr bwMode="auto">
            <a:xfrm>
              <a:off x="60" y="72"/>
              <a:ext cx="24" cy="36"/>
            </a:xfrm>
            <a:prstGeom prst="ellipse">
              <a:avLst/>
            </a:prstGeom>
            <a:solidFill>
              <a:srgbClr val="000000"/>
            </a:solidFill>
            <a:ln w="19050" cmpd="sng">
              <a:solidFill>
                <a:srgbClr val="00B050"/>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grpSp>
      <p:sp>
        <p:nvSpPr>
          <p:cNvPr id="62" name="Line 253"/>
          <p:cNvSpPr>
            <a:spLocks noChangeShapeType="1"/>
          </p:cNvSpPr>
          <p:nvPr/>
        </p:nvSpPr>
        <p:spPr bwMode="auto">
          <a:xfrm rot="5400000">
            <a:off x="4851748" y="3564646"/>
            <a:ext cx="0" cy="453224"/>
          </a:xfrm>
          <a:prstGeom prst="line">
            <a:avLst/>
          </a:prstGeom>
          <a:noFill/>
          <a:ln w="19050" cmpd="sng">
            <a:solidFill>
              <a:srgbClr val="FF0000"/>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63" name="Line 254"/>
          <p:cNvSpPr>
            <a:spLocks noChangeShapeType="1"/>
          </p:cNvSpPr>
          <p:nvPr/>
        </p:nvSpPr>
        <p:spPr bwMode="auto">
          <a:xfrm>
            <a:off x="5087334" y="3787815"/>
            <a:ext cx="0" cy="441702"/>
          </a:xfrm>
          <a:prstGeom prst="line">
            <a:avLst/>
          </a:prstGeom>
          <a:noFill/>
          <a:ln w="19050" cmpd="sng">
            <a:solidFill>
              <a:srgbClr val="FF0000"/>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64" name="Line 255"/>
          <p:cNvSpPr>
            <a:spLocks noChangeShapeType="1"/>
          </p:cNvSpPr>
          <p:nvPr/>
        </p:nvSpPr>
        <p:spPr bwMode="auto">
          <a:xfrm rot="10800000">
            <a:off x="5093342" y="3326628"/>
            <a:ext cx="0" cy="441702"/>
          </a:xfrm>
          <a:prstGeom prst="line">
            <a:avLst/>
          </a:prstGeom>
          <a:noFill/>
          <a:ln w="19050" cmpd="sng">
            <a:solidFill>
              <a:srgbClr val="00B050"/>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65" name="Line 256"/>
          <p:cNvSpPr>
            <a:spLocks noChangeShapeType="1"/>
          </p:cNvSpPr>
          <p:nvPr/>
        </p:nvSpPr>
        <p:spPr bwMode="auto">
          <a:xfrm rot="16200000" flipH="1">
            <a:off x="5327502" y="3557536"/>
            <a:ext cx="0" cy="453224"/>
          </a:xfrm>
          <a:prstGeom prst="line">
            <a:avLst/>
          </a:prstGeom>
          <a:noFill/>
          <a:ln w="19050" cmpd="sng">
            <a:solidFill>
              <a:srgbClr val="00B050"/>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grpSp>
        <p:nvGrpSpPr>
          <p:cNvPr id="66" name="Group 190"/>
          <p:cNvGrpSpPr/>
          <p:nvPr/>
        </p:nvGrpSpPr>
        <p:grpSpPr bwMode="auto">
          <a:xfrm>
            <a:off x="6295390" y="4914656"/>
            <a:ext cx="151075" cy="171773"/>
            <a:chOff x="0" y="0"/>
            <a:chExt cx="144" cy="168"/>
          </a:xfrm>
        </p:grpSpPr>
        <p:sp>
          <p:nvSpPr>
            <p:cNvPr id="86" name="Oval 258"/>
            <p:cNvSpPr>
              <a:spLocks noChangeArrowheads="1"/>
            </p:cNvSpPr>
            <p:nvPr/>
          </p:nvSpPr>
          <p:spPr bwMode="auto">
            <a:xfrm>
              <a:off x="0" y="0"/>
              <a:ext cx="144" cy="168"/>
            </a:xfrm>
            <a:prstGeom prst="ellipse">
              <a:avLst/>
            </a:prstGeom>
            <a:solidFill>
              <a:srgbClr val="FFFFFF"/>
            </a:solidFill>
            <a:ln w="9525" cmpd="sng">
              <a:solidFill>
                <a:srgbClr val="0000FF"/>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87" name="Line 259"/>
            <p:cNvSpPr>
              <a:spLocks noChangeShapeType="1"/>
            </p:cNvSpPr>
            <p:nvPr/>
          </p:nvSpPr>
          <p:spPr bwMode="auto">
            <a:xfrm>
              <a:off x="12" y="24"/>
              <a:ext cx="108" cy="132"/>
            </a:xfrm>
            <a:prstGeom prst="line">
              <a:avLst/>
            </a:prstGeom>
            <a:noFill/>
            <a:ln w="9525" cmpd="sng">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 name="Line 260"/>
            <p:cNvSpPr>
              <a:spLocks noChangeShapeType="1"/>
            </p:cNvSpPr>
            <p:nvPr/>
          </p:nvSpPr>
          <p:spPr bwMode="auto">
            <a:xfrm rot="16200000">
              <a:off x="12" y="24"/>
              <a:ext cx="108" cy="132"/>
            </a:xfrm>
            <a:prstGeom prst="line">
              <a:avLst/>
            </a:prstGeom>
            <a:noFill/>
            <a:ln w="9525" cmpd="sng">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7" name="Group 194"/>
          <p:cNvGrpSpPr/>
          <p:nvPr/>
        </p:nvGrpSpPr>
        <p:grpSpPr bwMode="auto">
          <a:xfrm>
            <a:off x="5973531" y="4893634"/>
            <a:ext cx="151075" cy="171773"/>
            <a:chOff x="0" y="0"/>
            <a:chExt cx="144" cy="168"/>
          </a:xfrm>
        </p:grpSpPr>
        <p:sp>
          <p:nvSpPr>
            <p:cNvPr id="84" name="Oval 262"/>
            <p:cNvSpPr>
              <a:spLocks noChangeArrowheads="1"/>
            </p:cNvSpPr>
            <p:nvPr/>
          </p:nvSpPr>
          <p:spPr bwMode="auto">
            <a:xfrm>
              <a:off x="0" y="0"/>
              <a:ext cx="144" cy="168"/>
            </a:xfrm>
            <a:prstGeom prst="ellipse">
              <a:avLst/>
            </a:prstGeom>
            <a:solidFill>
              <a:srgbClr val="FFFFFF"/>
            </a:solidFill>
            <a:ln w="9525" cmpd="sng">
              <a:solidFill>
                <a:srgbClr val="FF0000"/>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85" name="Oval 263"/>
            <p:cNvSpPr>
              <a:spLocks noChangeArrowheads="1"/>
            </p:cNvSpPr>
            <p:nvPr/>
          </p:nvSpPr>
          <p:spPr bwMode="auto">
            <a:xfrm>
              <a:off x="60" y="72"/>
              <a:ext cx="24" cy="36"/>
            </a:xfrm>
            <a:prstGeom prst="ellipse">
              <a:avLst/>
            </a:prstGeom>
            <a:solidFill>
              <a:srgbClr val="000000"/>
            </a:solidFill>
            <a:ln w="9525" cmpd="sng">
              <a:solidFill>
                <a:srgbClr val="FF0000"/>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grpSp>
      <p:sp>
        <p:nvSpPr>
          <p:cNvPr id="68" name="Line 264"/>
          <p:cNvSpPr>
            <a:spLocks noChangeShapeType="1"/>
          </p:cNvSpPr>
          <p:nvPr/>
        </p:nvSpPr>
        <p:spPr bwMode="auto">
          <a:xfrm rot="5400000">
            <a:off x="5909501" y="4658315"/>
            <a:ext cx="0" cy="453224"/>
          </a:xfrm>
          <a:prstGeom prst="line">
            <a:avLst/>
          </a:prstGeom>
          <a:noFill/>
          <a:ln w="19050" cmpd="sng">
            <a:solidFill>
              <a:srgbClr val="FF0000"/>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69" name="Line 265"/>
          <p:cNvSpPr>
            <a:spLocks noChangeShapeType="1"/>
          </p:cNvSpPr>
          <p:nvPr/>
        </p:nvSpPr>
        <p:spPr bwMode="auto">
          <a:xfrm>
            <a:off x="6140157" y="4876221"/>
            <a:ext cx="0" cy="441702"/>
          </a:xfrm>
          <a:prstGeom prst="line">
            <a:avLst/>
          </a:prstGeom>
          <a:noFill/>
          <a:ln w="19050" cmpd="sng">
            <a:solidFill>
              <a:srgbClr val="FF0000"/>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70" name="Line 266"/>
          <p:cNvSpPr>
            <a:spLocks noChangeShapeType="1"/>
          </p:cNvSpPr>
          <p:nvPr/>
        </p:nvSpPr>
        <p:spPr bwMode="auto">
          <a:xfrm rot="16200000" flipH="1">
            <a:off x="6370358" y="4661820"/>
            <a:ext cx="0" cy="453224"/>
          </a:xfrm>
          <a:prstGeom prst="line">
            <a:avLst/>
          </a:prstGeom>
          <a:noFill/>
          <a:ln w="19050" cmpd="sng">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71" name="Line 267"/>
          <p:cNvSpPr>
            <a:spLocks noChangeShapeType="1"/>
          </p:cNvSpPr>
          <p:nvPr/>
        </p:nvSpPr>
        <p:spPr bwMode="auto">
          <a:xfrm rot="10800000">
            <a:off x="6132693" y="4423905"/>
            <a:ext cx="0" cy="441702"/>
          </a:xfrm>
          <a:prstGeom prst="line">
            <a:avLst/>
          </a:prstGeom>
          <a:noFill/>
          <a:ln w="19050" cmpd="sng">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72" name="Text Box 268"/>
          <p:cNvSpPr txBox="1">
            <a:spLocks noChangeArrowheads="1"/>
          </p:cNvSpPr>
          <p:nvPr/>
        </p:nvSpPr>
        <p:spPr bwMode="auto">
          <a:xfrm>
            <a:off x="5990736" y="5244662"/>
            <a:ext cx="642068" cy="494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FF0000"/>
                </a:solidFill>
              </a:rPr>
              <a:t>F</a:t>
            </a:r>
            <a:r>
              <a:rPr lang="en-US" baseline="-25000" dirty="0">
                <a:solidFill>
                  <a:srgbClr val="FF0000"/>
                </a:solidFill>
              </a:rPr>
              <a:t>a3</a:t>
            </a:r>
            <a:endParaRPr lang="en-US" dirty="0">
              <a:solidFill>
                <a:srgbClr val="FF0000"/>
              </a:solidFill>
            </a:endParaRPr>
          </a:p>
        </p:txBody>
      </p:sp>
      <p:sp>
        <p:nvSpPr>
          <p:cNvPr id="73" name="Text Box 269"/>
          <p:cNvSpPr txBox="1">
            <a:spLocks noChangeArrowheads="1"/>
          </p:cNvSpPr>
          <p:nvPr/>
        </p:nvSpPr>
        <p:spPr bwMode="auto">
          <a:xfrm>
            <a:off x="4987603" y="4689721"/>
            <a:ext cx="553941"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FF0000"/>
                </a:solidFill>
              </a:rPr>
              <a:t>F</a:t>
            </a:r>
            <a:r>
              <a:rPr lang="en-US" baseline="-25000" dirty="0">
                <a:solidFill>
                  <a:srgbClr val="FF0000"/>
                </a:solidFill>
              </a:rPr>
              <a:t>r3</a:t>
            </a:r>
            <a:endParaRPr lang="en-US" dirty="0">
              <a:solidFill>
                <a:srgbClr val="FF0000"/>
              </a:solidFill>
            </a:endParaRPr>
          </a:p>
        </p:txBody>
      </p:sp>
      <p:sp>
        <p:nvSpPr>
          <p:cNvPr id="74" name="Text Box 270"/>
          <p:cNvSpPr txBox="1">
            <a:spLocks noChangeArrowheads="1"/>
          </p:cNvSpPr>
          <p:nvPr/>
        </p:nvSpPr>
        <p:spPr bwMode="auto">
          <a:xfrm>
            <a:off x="5202687" y="5270621"/>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FF0000"/>
                </a:solidFill>
              </a:rPr>
              <a:t>F</a:t>
            </a:r>
            <a:r>
              <a:rPr lang="en-US" baseline="-25000" dirty="0">
                <a:solidFill>
                  <a:srgbClr val="FF0000"/>
                </a:solidFill>
              </a:rPr>
              <a:t>t3</a:t>
            </a:r>
            <a:endParaRPr lang="en-US" dirty="0">
              <a:solidFill>
                <a:srgbClr val="FF0000"/>
              </a:solidFill>
            </a:endParaRPr>
          </a:p>
        </p:txBody>
      </p:sp>
      <p:sp>
        <p:nvSpPr>
          <p:cNvPr id="75" name="Text Box 271"/>
          <p:cNvSpPr txBox="1">
            <a:spLocks noChangeArrowheads="1"/>
          </p:cNvSpPr>
          <p:nvPr/>
        </p:nvSpPr>
        <p:spPr bwMode="auto">
          <a:xfrm>
            <a:off x="6183280" y="4983189"/>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0000FF"/>
                </a:solidFill>
              </a:rPr>
              <a:t>F</a:t>
            </a:r>
            <a:r>
              <a:rPr lang="en-US" baseline="-25000" dirty="0">
                <a:solidFill>
                  <a:srgbClr val="0000FF"/>
                </a:solidFill>
              </a:rPr>
              <a:t>t4</a:t>
            </a:r>
            <a:endParaRPr lang="en-US" dirty="0">
              <a:solidFill>
                <a:srgbClr val="0000FF"/>
              </a:solidFill>
            </a:endParaRPr>
          </a:p>
        </p:txBody>
      </p:sp>
      <p:sp>
        <p:nvSpPr>
          <p:cNvPr id="76" name="Text Box 272"/>
          <p:cNvSpPr txBox="1">
            <a:spLocks noChangeArrowheads="1"/>
          </p:cNvSpPr>
          <p:nvPr/>
        </p:nvSpPr>
        <p:spPr bwMode="auto">
          <a:xfrm>
            <a:off x="5898419" y="3998408"/>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0000FF"/>
                </a:solidFill>
              </a:rPr>
              <a:t>F</a:t>
            </a:r>
            <a:r>
              <a:rPr lang="en-US" baseline="-25000" dirty="0">
                <a:solidFill>
                  <a:srgbClr val="0000FF"/>
                </a:solidFill>
              </a:rPr>
              <a:t>a4</a:t>
            </a:r>
            <a:endParaRPr lang="en-US" dirty="0">
              <a:solidFill>
                <a:srgbClr val="0000FF"/>
              </a:solidFill>
            </a:endParaRPr>
          </a:p>
        </p:txBody>
      </p:sp>
      <p:sp>
        <p:nvSpPr>
          <p:cNvPr id="77" name="Text Box 273"/>
          <p:cNvSpPr txBox="1">
            <a:spLocks noChangeArrowheads="1"/>
          </p:cNvSpPr>
          <p:nvPr/>
        </p:nvSpPr>
        <p:spPr bwMode="auto">
          <a:xfrm>
            <a:off x="6366624" y="4405224"/>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0000FF"/>
                </a:solidFill>
              </a:rPr>
              <a:t>F</a:t>
            </a:r>
            <a:r>
              <a:rPr lang="en-US" baseline="-25000" dirty="0">
                <a:solidFill>
                  <a:srgbClr val="0000FF"/>
                </a:solidFill>
              </a:rPr>
              <a:t>r4</a:t>
            </a:r>
            <a:endParaRPr lang="en-US" dirty="0">
              <a:solidFill>
                <a:srgbClr val="0000FF"/>
              </a:solidFill>
            </a:endParaRPr>
          </a:p>
        </p:txBody>
      </p:sp>
      <p:sp>
        <p:nvSpPr>
          <p:cNvPr id="78" name="Text Box 274"/>
          <p:cNvSpPr txBox="1">
            <a:spLocks noChangeArrowheads="1"/>
          </p:cNvSpPr>
          <p:nvPr/>
        </p:nvSpPr>
        <p:spPr bwMode="auto">
          <a:xfrm>
            <a:off x="4349049" y="3276103"/>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200" dirty="0">
                <a:solidFill>
                  <a:srgbClr val="FF0000"/>
                </a:solidFill>
              </a:rPr>
              <a:t>F</a:t>
            </a:r>
            <a:r>
              <a:rPr lang="en-US" sz="2200" baseline="-25000" dirty="0">
                <a:solidFill>
                  <a:srgbClr val="FF0000"/>
                </a:solidFill>
              </a:rPr>
              <a:t>a1</a:t>
            </a:r>
            <a:endParaRPr lang="en-US" sz="2200" dirty="0">
              <a:solidFill>
                <a:srgbClr val="FF0000"/>
              </a:solidFill>
            </a:endParaRPr>
          </a:p>
        </p:txBody>
      </p:sp>
      <p:sp>
        <p:nvSpPr>
          <p:cNvPr id="79" name="Text Box 275"/>
          <p:cNvSpPr txBox="1">
            <a:spLocks noChangeArrowheads="1"/>
          </p:cNvSpPr>
          <p:nvPr/>
        </p:nvSpPr>
        <p:spPr bwMode="auto">
          <a:xfrm>
            <a:off x="4538746" y="3742119"/>
            <a:ext cx="642068" cy="493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200" dirty="0">
                <a:solidFill>
                  <a:srgbClr val="FF0000"/>
                </a:solidFill>
              </a:rPr>
              <a:t>F</a:t>
            </a:r>
            <a:r>
              <a:rPr lang="en-US" sz="2200" baseline="-25000" dirty="0">
                <a:solidFill>
                  <a:srgbClr val="FF0000"/>
                </a:solidFill>
              </a:rPr>
              <a:t>t1</a:t>
            </a:r>
            <a:endParaRPr lang="en-US" sz="2200" dirty="0">
              <a:solidFill>
                <a:srgbClr val="FF0000"/>
              </a:solidFill>
            </a:endParaRPr>
          </a:p>
        </p:txBody>
      </p:sp>
      <p:sp>
        <p:nvSpPr>
          <p:cNvPr id="80" name="Text Box 276"/>
          <p:cNvSpPr txBox="1">
            <a:spLocks noChangeArrowheads="1"/>
          </p:cNvSpPr>
          <p:nvPr/>
        </p:nvSpPr>
        <p:spPr bwMode="auto">
          <a:xfrm>
            <a:off x="4893900" y="4182034"/>
            <a:ext cx="649432" cy="53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2200" dirty="0">
                <a:solidFill>
                  <a:srgbClr val="FF0000"/>
                </a:solidFill>
              </a:rPr>
              <a:t>F</a:t>
            </a:r>
            <a:r>
              <a:rPr lang="en-US" sz="2200" baseline="-25000" dirty="0">
                <a:solidFill>
                  <a:srgbClr val="FF0000"/>
                </a:solidFill>
              </a:rPr>
              <a:t>r1</a:t>
            </a:r>
            <a:endParaRPr lang="en-US" sz="2200" dirty="0">
              <a:solidFill>
                <a:srgbClr val="FF0000"/>
              </a:solidFill>
            </a:endParaRPr>
          </a:p>
        </p:txBody>
      </p:sp>
      <p:sp>
        <p:nvSpPr>
          <p:cNvPr id="81" name="Text Box 277"/>
          <p:cNvSpPr txBox="1">
            <a:spLocks noChangeArrowheads="1"/>
          </p:cNvSpPr>
          <p:nvPr/>
        </p:nvSpPr>
        <p:spPr bwMode="auto">
          <a:xfrm>
            <a:off x="4939647" y="2886715"/>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00B050"/>
                </a:solidFill>
              </a:rPr>
              <a:t>F</a:t>
            </a:r>
            <a:r>
              <a:rPr lang="en-US" baseline="-25000" dirty="0">
                <a:solidFill>
                  <a:srgbClr val="00B050"/>
                </a:solidFill>
              </a:rPr>
              <a:t>a2</a:t>
            </a:r>
            <a:endParaRPr lang="en-US" dirty="0">
              <a:solidFill>
                <a:srgbClr val="00B050"/>
              </a:solidFill>
            </a:endParaRPr>
          </a:p>
        </p:txBody>
      </p:sp>
      <p:sp>
        <p:nvSpPr>
          <p:cNvPr id="82" name="Text Box 278"/>
          <p:cNvSpPr txBox="1">
            <a:spLocks noChangeArrowheads="1"/>
          </p:cNvSpPr>
          <p:nvPr/>
        </p:nvSpPr>
        <p:spPr bwMode="auto">
          <a:xfrm>
            <a:off x="5216848" y="3286407"/>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a:solidFill>
                  <a:srgbClr val="00B050"/>
                </a:solidFill>
              </a:rPr>
              <a:t>F</a:t>
            </a:r>
            <a:r>
              <a:rPr lang="en-US" baseline="-25000" dirty="0">
                <a:solidFill>
                  <a:srgbClr val="00B050"/>
                </a:solidFill>
              </a:rPr>
              <a:t>t2</a:t>
            </a:r>
            <a:endParaRPr lang="en-US" dirty="0">
              <a:solidFill>
                <a:srgbClr val="00B050"/>
              </a:solidFill>
            </a:endParaRPr>
          </a:p>
        </p:txBody>
      </p:sp>
      <p:sp>
        <p:nvSpPr>
          <p:cNvPr id="83" name="Text Box 279"/>
          <p:cNvSpPr txBox="1">
            <a:spLocks noChangeArrowheads="1"/>
          </p:cNvSpPr>
          <p:nvPr/>
        </p:nvSpPr>
        <p:spPr bwMode="auto">
          <a:xfrm>
            <a:off x="5414860" y="3766900"/>
            <a:ext cx="642068" cy="47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smtClean="0">
                <a:solidFill>
                  <a:srgbClr val="00B050"/>
                </a:solidFill>
              </a:rPr>
              <a:t>F</a:t>
            </a:r>
            <a:r>
              <a:rPr lang="en-US" baseline="-25000" dirty="0" smtClean="0">
                <a:solidFill>
                  <a:srgbClr val="00B050"/>
                </a:solidFill>
              </a:rPr>
              <a:t>r2</a:t>
            </a:r>
            <a:endParaRPr lang="en-US" dirty="0">
              <a:solidFill>
                <a:srgbClr val="00B050"/>
              </a:solidFill>
            </a:endParaRPr>
          </a:p>
        </p:txBody>
      </p:sp>
      <p:sp>
        <p:nvSpPr>
          <p:cNvPr id="102" name="Text Box 239"/>
          <p:cNvSpPr txBox="1">
            <a:spLocks noChangeArrowheads="1"/>
          </p:cNvSpPr>
          <p:nvPr/>
        </p:nvSpPr>
        <p:spPr bwMode="auto">
          <a:xfrm>
            <a:off x="5401571" y="4351082"/>
            <a:ext cx="428045" cy="46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dirty="0" smtClean="0"/>
              <a:t>3</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left)">
                                      <p:cBhvr>
                                        <p:cTn id="16" dur="500"/>
                                        <p:tgtEl>
                                          <p:spTgt spid="3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down)">
                                      <p:cBhvr>
                                        <p:cTn id="21" dur="500"/>
                                        <p:tgtEl>
                                          <p:spTgt spid="41"/>
                                        </p:tgtEl>
                                      </p:cBhvr>
                                    </p:animEffect>
                                  </p:childTnLst>
                                </p:cTn>
                              </p:par>
                            </p:childTnLst>
                          </p:cTn>
                        </p:par>
                        <p:par>
                          <p:cTn id="22" fill="hold">
                            <p:stCondLst>
                              <p:cond delay="500"/>
                            </p:stCondLst>
                            <p:childTnLst>
                              <p:par>
                                <p:cTn id="23" presetID="22" presetClass="entr" presetSubtype="4" fill="hold" grpId="0"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down)">
                                      <p:cBhvr>
                                        <p:cTn id="25" dur="500"/>
                                        <p:tgtEl>
                                          <p:spTgt spid="38"/>
                                        </p:tgtEl>
                                      </p:cBhvr>
                                    </p:animEffect>
                                  </p:childTnLst>
                                </p:cTn>
                              </p:par>
                            </p:childTnLst>
                          </p:cTn>
                        </p:par>
                        <p:par>
                          <p:cTn id="26" fill="hold">
                            <p:stCondLst>
                              <p:cond delay="1000"/>
                            </p:stCondLst>
                            <p:childTnLst>
                              <p:par>
                                <p:cTn id="27" presetID="22" presetClass="entr" presetSubtype="4" fill="hold" nodeType="after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wipe(down)">
                                      <p:cBhvr>
                                        <p:cTn id="29" dur="500"/>
                                        <p:tgtEl>
                                          <p:spTgt spid="44"/>
                                        </p:tgtEl>
                                      </p:cBhvr>
                                    </p:animEffect>
                                  </p:childTnLst>
                                </p:cTn>
                              </p:par>
                            </p:childTnLst>
                          </p:cTn>
                        </p:par>
                        <p:par>
                          <p:cTn id="30" fill="hold">
                            <p:stCondLst>
                              <p:cond delay="1500"/>
                            </p:stCondLst>
                            <p:childTnLst>
                              <p:par>
                                <p:cTn id="31" presetID="22" presetClass="entr" presetSubtype="4" fill="hold" nodeType="after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wipe(down)">
                                      <p:cBhvr>
                                        <p:cTn id="33" dur="50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wipe(left)">
                                      <p:cBhvr>
                                        <p:cTn id="38" dur="50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wipe(left)">
                                      <p:cBhvr>
                                        <p:cTn id="43" dur="500"/>
                                        <p:tgtEl>
                                          <p:spTgt spid="42"/>
                                        </p:tgtEl>
                                      </p:cBhvr>
                                    </p:animEffect>
                                  </p:childTnLst>
                                </p:cTn>
                              </p:par>
                            </p:childTnLst>
                          </p:cTn>
                        </p:par>
                        <p:par>
                          <p:cTn id="44" fill="hold">
                            <p:stCondLst>
                              <p:cond delay="500"/>
                            </p:stCondLst>
                            <p:childTnLst>
                              <p:par>
                                <p:cTn id="45" presetID="22" presetClass="entr" presetSubtype="4"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down)">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ipe(down)">
                                      <p:cBhvr>
                                        <p:cTn id="52" dur="500"/>
                                        <p:tgtEl>
                                          <p:spTgt spid="46"/>
                                        </p:tgtEl>
                                      </p:cBhvr>
                                    </p:animEffect>
                                  </p:childTnLst>
                                </p:cTn>
                              </p:par>
                              <p:par>
                                <p:cTn id="53" presetID="22" presetClass="entr" presetSubtype="4" fill="hold"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down)">
                                      <p:cBhvr>
                                        <p:cTn id="55" dur="500"/>
                                        <p:tgtEl>
                                          <p:spTgt spid="4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wipe(down)">
                                      <p:cBhvr>
                                        <p:cTn id="60" dur="500"/>
                                        <p:tgtEl>
                                          <p:spTgt spid="53"/>
                                        </p:tgtEl>
                                      </p:cBhvr>
                                    </p:animEffect>
                                  </p:childTnLst>
                                </p:cTn>
                              </p:par>
                            </p:childTnLst>
                          </p:cTn>
                        </p:par>
                        <p:par>
                          <p:cTn id="61" fill="hold">
                            <p:stCondLst>
                              <p:cond delay="500"/>
                            </p:stCondLst>
                            <p:childTnLst>
                              <p:par>
                                <p:cTn id="62" presetID="22" presetClass="entr" presetSubtype="4" fill="hold" grpId="0" nodeType="after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wipe(down)">
                                      <p:cBhvr>
                                        <p:cTn id="64" dur="500"/>
                                        <p:tgtEl>
                                          <p:spTgt spid="54"/>
                                        </p:tgtEl>
                                      </p:cBhvr>
                                    </p:animEffect>
                                  </p:childTnLst>
                                </p:cTn>
                              </p:par>
                            </p:childTnLst>
                          </p:cTn>
                        </p:par>
                        <p:par>
                          <p:cTn id="65" fill="hold">
                            <p:stCondLst>
                              <p:cond delay="1000"/>
                            </p:stCondLst>
                            <p:childTnLst>
                              <p:par>
                                <p:cTn id="66" presetID="22" presetClass="entr" presetSubtype="4" fill="hold" grpId="0" nodeType="afterEffect">
                                  <p:stCondLst>
                                    <p:cond delay="0"/>
                                  </p:stCondLst>
                                  <p:childTnLst>
                                    <p:set>
                                      <p:cBhvr>
                                        <p:cTn id="67" dur="1" fill="hold">
                                          <p:stCondLst>
                                            <p:cond delay="0"/>
                                          </p:stCondLst>
                                        </p:cTn>
                                        <p:tgtEl>
                                          <p:spTgt spid="102"/>
                                        </p:tgtEl>
                                        <p:attrNameLst>
                                          <p:attrName>style.visibility</p:attrName>
                                        </p:attrNameLst>
                                      </p:cBhvr>
                                      <p:to>
                                        <p:strVal val="visible"/>
                                      </p:to>
                                    </p:set>
                                    <p:animEffect transition="in" filter="wipe(down)">
                                      <p:cBhvr>
                                        <p:cTn id="68" dur="500"/>
                                        <p:tgtEl>
                                          <p:spTgt spid="102"/>
                                        </p:tgtEl>
                                      </p:cBhvr>
                                    </p:animEffect>
                                  </p:childTnLst>
                                </p:cTn>
                              </p:par>
                            </p:childTnLst>
                          </p:cTn>
                        </p:par>
                        <p:par>
                          <p:cTn id="69" fill="hold">
                            <p:stCondLst>
                              <p:cond delay="1500"/>
                            </p:stCondLst>
                            <p:childTnLst>
                              <p:par>
                                <p:cTn id="70" presetID="22" presetClass="entr" presetSubtype="4" fill="hold" grpId="0" nodeType="afterEffect">
                                  <p:stCondLst>
                                    <p:cond delay="0"/>
                                  </p:stCondLst>
                                  <p:childTnLst>
                                    <p:set>
                                      <p:cBhvr>
                                        <p:cTn id="71" dur="1" fill="hold">
                                          <p:stCondLst>
                                            <p:cond delay="0"/>
                                          </p:stCondLst>
                                        </p:cTn>
                                        <p:tgtEl>
                                          <p:spTgt spid="55"/>
                                        </p:tgtEl>
                                        <p:attrNameLst>
                                          <p:attrName>style.visibility</p:attrName>
                                        </p:attrNameLst>
                                      </p:cBhvr>
                                      <p:to>
                                        <p:strVal val="visible"/>
                                      </p:to>
                                    </p:set>
                                    <p:animEffect transition="in" filter="wipe(down)">
                                      <p:cBhvr>
                                        <p:cTn id="72" dur="500"/>
                                        <p:tgtEl>
                                          <p:spTgt spid="5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wipe(up)">
                                      <p:cBhvr>
                                        <p:cTn id="77" dur="500"/>
                                        <p:tgtEl>
                                          <p:spTgt spid="5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wipe(left)">
                                      <p:cBhvr>
                                        <p:cTn id="82" dur="500"/>
                                        <p:tgtEl>
                                          <p:spTgt spid="5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8"/>
                                        </p:tgtEl>
                                        <p:attrNameLst>
                                          <p:attrName>style.visibility</p:attrName>
                                        </p:attrNameLst>
                                      </p:cBhvr>
                                      <p:to>
                                        <p:strVal val="visible"/>
                                      </p:to>
                                    </p:set>
                                    <p:animEffect transition="in" filter="wipe(left)">
                                      <p:cBhvr>
                                        <p:cTn id="87" dur="500"/>
                                        <p:tgtEl>
                                          <p:spTgt spid="5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grpId="0" nodeType="clickEffect">
                                  <p:stCondLst>
                                    <p:cond delay="0"/>
                                  </p:stCondLst>
                                  <p:childTnLst>
                                    <p:set>
                                      <p:cBhvr>
                                        <p:cTn id="91" dur="1" fill="hold">
                                          <p:stCondLst>
                                            <p:cond delay="0"/>
                                          </p:stCondLst>
                                        </p:cTn>
                                        <p:tgtEl>
                                          <p:spTgt spid="59"/>
                                        </p:tgtEl>
                                        <p:attrNameLst>
                                          <p:attrName>style.visibility</p:attrName>
                                        </p:attrNameLst>
                                      </p:cBhvr>
                                      <p:to>
                                        <p:strVal val="visible"/>
                                      </p:to>
                                    </p:set>
                                    <p:animEffect transition="in" filter="wipe(right)">
                                      <p:cBhvr>
                                        <p:cTn id="92" dur="500"/>
                                        <p:tgtEl>
                                          <p:spTgt spid="5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2" fill="hold" grpId="0" nodeType="clickEffect">
                                  <p:stCondLst>
                                    <p:cond delay="0"/>
                                  </p:stCondLst>
                                  <p:childTnLst>
                                    <p:set>
                                      <p:cBhvr>
                                        <p:cTn id="96" dur="1" fill="hold">
                                          <p:stCondLst>
                                            <p:cond delay="0"/>
                                          </p:stCondLst>
                                        </p:cTn>
                                        <p:tgtEl>
                                          <p:spTgt spid="62"/>
                                        </p:tgtEl>
                                        <p:attrNameLst>
                                          <p:attrName>style.visibility</p:attrName>
                                        </p:attrNameLst>
                                      </p:cBhvr>
                                      <p:to>
                                        <p:strVal val="visible"/>
                                      </p:to>
                                    </p:set>
                                    <p:animEffect transition="in" filter="wipe(right)">
                                      <p:cBhvr>
                                        <p:cTn id="97" dur="500"/>
                                        <p:tgtEl>
                                          <p:spTgt spid="6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78"/>
                                        </p:tgtEl>
                                        <p:attrNameLst>
                                          <p:attrName>style.visibility</p:attrName>
                                        </p:attrNameLst>
                                      </p:cBhvr>
                                      <p:to>
                                        <p:strVal val="visible"/>
                                      </p:to>
                                    </p:set>
                                    <p:animEffect transition="in" filter="wipe(down)">
                                      <p:cBhvr>
                                        <p:cTn id="102" dur="500"/>
                                        <p:tgtEl>
                                          <p:spTgt spid="7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63"/>
                                        </p:tgtEl>
                                        <p:attrNameLst>
                                          <p:attrName>style.visibility</p:attrName>
                                        </p:attrNameLst>
                                      </p:cBhvr>
                                      <p:to>
                                        <p:strVal val="visible"/>
                                      </p:to>
                                    </p:set>
                                    <p:animEffect transition="in" filter="wipe(up)">
                                      <p:cBhvr>
                                        <p:cTn id="107" dur="500"/>
                                        <p:tgtEl>
                                          <p:spTgt spid="63"/>
                                        </p:tgtEl>
                                      </p:cBhvr>
                                    </p:animEffect>
                                  </p:childTnLst>
                                </p:cTn>
                              </p:par>
                            </p:childTnLst>
                          </p:cTn>
                        </p:par>
                        <p:par>
                          <p:cTn id="108" fill="hold">
                            <p:stCondLst>
                              <p:cond delay="500"/>
                            </p:stCondLst>
                            <p:childTnLst>
                              <p:par>
                                <p:cTn id="109" presetID="22" presetClass="entr" presetSubtype="4" fill="hold" grpId="0" nodeType="afterEffect">
                                  <p:stCondLst>
                                    <p:cond delay="0"/>
                                  </p:stCondLst>
                                  <p:childTnLst>
                                    <p:set>
                                      <p:cBhvr>
                                        <p:cTn id="110" dur="1" fill="hold">
                                          <p:stCondLst>
                                            <p:cond delay="0"/>
                                          </p:stCondLst>
                                        </p:cTn>
                                        <p:tgtEl>
                                          <p:spTgt spid="80"/>
                                        </p:tgtEl>
                                        <p:attrNameLst>
                                          <p:attrName>style.visibility</p:attrName>
                                        </p:attrNameLst>
                                      </p:cBhvr>
                                      <p:to>
                                        <p:strVal val="visible"/>
                                      </p:to>
                                    </p:set>
                                    <p:animEffect transition="in" filter="wipe(down)">
                                      <p:cBhvr>
                                        <p:cTn id="111" dur="500"/>
                                        <p:tgtEl>
                                          <p:spTgt spid="80"/>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4" fill="hold" nodeType="clickEffect">
                                  <p:stCondLst>
                                    <p:cond delay="0"/>
                                  </p:stCondLst>
                                  <p:childTnLst>
                                    <p:set>
                                      <p:cBhvr>
                                        <p:cTn id="115" dur="1" fill="hold">
                                          <p:stCondLst>
                                            <p:cond delay="0"/>
                                          </p:stCondLst>
                                        </p:cTn>
                                        <p:tgtEl>
                                          <p:spTgt spid="60"/>
                                        </p:tgtEl>
                                        <p:attrNameLst>
                                          <p:attrName>style.visibility</p:attrName>
                                        </p:attrNameLst>
                                      </p:cBhvr>
                                      <p:to>
                                        <p:strVal val="visible"/>
                                      </p:to>
                                    </p:set>
                                    <p:animEffect transition="in" filter="wipe(down)">
                                      <p:cBhvr>
                                        <p:cTn id="116" dur="500"/>
                                        <p:tgtEl>
                                          <p:spTgt spid="60"/>
                                        </p:tgtEl>
                                      </p:cBhvr>
                                    </p:animEffect>
                                  </p:childTnLst>
                                </p:cTn>
                              </p:par>
                            </p:childTnLst>
                          </p:cTn>
                        </p:par>
                        <p:par>
                          <p:cTn id="117" fill="hold">
                            <p:stCondLst>
                              <p:cond delay="500"/>
                            </p:stCondLst>
                            <p:childTnLst>
                              <p:par>
                                <p:cTn id="118" presetID="22" presetClass="entr" presetSubtype="4" fill="hold" grpId="0" nodeType="afterEffect">
                                  <p:stCondLst>
                                    <p:cond delay="0"/>
                                  </p:stCondLst>
                                  <p:childTnLst>
                                    <p:set>
                                      <p:cBhvr>
                                        <p:cTn id="119" dur="1" fill="hold">
                                          <p:stCondLst>
                                            <p:cond delay="0"/>
                                          </p:stCondLst>
                                        </p:cTn>
                                        <p:tgtEl>
                                          <p:spTgt spid="79"/>
                                        </p:tgtEl>
                                        <p:attrNameLst>
                                          <p:attrName>style.visibility</p:attrName>
                                        </p:attrNameLst>
                                      </p:cBhvr>
                                      <p:to>
                                        <p:strVal val="visible"/>
                                      </p:to>
                                    </p:set>
                                    <p:animEffect transition="in" filter="wipe(down)">
                                      <p:cBhvr>
                                        <p:cTn id="120" dur="500"/>
                                        <p:tgtEl>
                                          <p:spTgt spid="79"/>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64"/>
                                        </p:tgtEl>
                                        <p:attrNameLst>
                                          <p:attrName>style.visibility</p:attrName>
                                        </p:attrNameLst>
                                      </p:cBhvr>
                                      <p:to>
                                        <p:strVal val="visible"/>
                                      </p:to>
                                    </p:set>
                                    <p:animEffect transition="in" filter="wipe(down)">
                                      <p:cBhvr>
                                        <p:cTn id="125" dur="500"/>
                                        <p:tgtEl>
                                          <p:spTgt spid="64"/>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81"/>
                                        </p:tgtEl>
                                        <p:attrNameLst>
                                          <p:attrName>style.visibility</p:attrName>
                                        </p:attrNameLst>
                                      </p:cBhvr>
                                      <p:to>
                                        <p:strVal val="visible"/>
                                      </p:to>
                                    </p:set>
                                    <p:animEffect transition="in" filter="wipe(left)">
                                      <p:cBhvr>
                                        <p:cTn id="130" dur="500"/>
                                        <p:tgtEl>
                                          <p:spTgt spid="81"/>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65"/>
                                        </p:tgtEl>
                                        <p:attrNameLst>
                                          <p:attrName>style.visibility</p:attrName>
                                        </p:attrNameLst>
                                      </p:cBhvr>
                                      <p:to>
                                        <p:strVal val="visible"/>
                                      </p:to>
                                    </p:set>
                                    <p:animEffect transition="in" filter="wipe(left)">
                                      <p:cBhvr>
                                        <p:cTn id="135" dur="500"/>
                                        <p:tgtEl>
                                          <p:spTgt spid="65"/>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nodeType="clickEffect">
                                  <p:stCondLst>
                                    <p:cond delay="0"/>
                                  </p:stCondLst>
                                  <p:childTnLst>
                                    <p:set>
                                      <p:cBhvr>
                                        <p:cTn id="139" dur="1" fill="hold">
                                          <p:stCondLst>
                                            <p:cond delay="0"/>
                                          </p:stCondLst>
                                        </p:cTn>
                                        <p:tgtEl>
                                          <p:spTgt spid="83">
                                            <p:txEl>
                                              <p:pRg st="0" end="0"/>
                                            </p:txEl>
                                          </p:spTgt>
                                        </p:tgtEl>
                                        <p:attrNameLst>
                                          <p:attrName>style.visibility</p:attrName>
                                        </p:attrNameLst>
                                      </p:cBhvr>
                                      <p:to>
                                        <p:strVal val="visible"/>
                                      </p:to>
                                    </p:set>
                                    <p:animEffect transition="in" filter="wipe(down)">
                                      <p:cBhvr>
                                        <p:cTn id="140" dur="500"/>
                                        <p:tgtEl>
                                          <p:spTgt spid="83">
                                            <p:txEl>
                                              <p:pRg st="0" end="0"/>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nodeType="clickEffect">
                                  <p:stCondLst>
                                    <p:cond delay="0"/>
                                  </p:stCondLst>
                                  <p:childTnLst>
                                    <p:set>
                                      <p:cBhvr>
                                        <p:cTn id="144" dur="1" fill="hold">
                                          <p:stCondLst>
                                            <p:cond delay="0"/>
                                          </p:stCondLst>
                                        </p:cTn>
                                        <p:tgtEl>
                                          <p:spTgt spid="61"/>
                                        </p:tgtEl>
                                        <p:attrNameLst>
                                          <p:attrName>style.visibility</p:attrName>
                                        </p:attrNameLst>
                                      </p:cBhvr>
                                      <p:to>
                                        <p:strVal val="visible"/>
                                      </p:to>
                                    </p:set>
                                    <p:animEffect transition="in" filter="wipe(down)">
                                      <p:cBhvr>
                                        <p:cTn id="145" dur="500"/>
                                        <p:tgtEl>
                                          <p:spTgt spid="61"/>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82"/>
                                        </p:tgtEl>
                                        <p:attrNameLst>
                                          <p:attrName>style.visibility</p:attrName>
                                        </p:attrNameLst>
                                      </p:cBhvr>
                                      <p:to>
                                        <p:strVal val="visible"/>
                                      </p:to>
                                    </p:set>
                                    <p:animEffect transition="in" filter="wipe(left)">
                                      <p:cBhvr>
                                        <p:cTn id="150" dur="500"/>
                                        <p:tgtEl>
                                          <p:spTgt spid="82"/>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grpId="0" nodeType="clickEffect">
                                  <p:stCondLst>
                                    <p:cond delay="0"/>
                                  </p:stCondLst>
                                  <p:childTnLst>
                                    <p:set>
                                      <p:cBhvr>
                                        <p:cTn id="154" dur="1" fill="hold">
                                          <p:stCondLst>
                                            <p:cond delay="0"/>
                                          </p:stCondLst>
                                        </p:cTn>
                                        <p:tgtEl>
                                          <p:spTgt spid="69"/>
                                        </p:tgtEl>
                                        <p:attrNameLst>
                                          <p:attrName>style.visibility</p:attrName>
                                        </p:attrNameLst>
                                      </p:cBhvr>
                                      <p:to>
                                        <p:strVal val="visible"/>
                                      </p:to>
                                    </p:set>
                                    <p:animEffect transition="in" filter="wipe(down)">
                                      <p:cBhvr>
                                        <p:cTn id="155" dur="500"/>
                                        <p:tgtEl>
                                          <p:spTgt spid="69"/>
                                        </p:tgtEl>
                                      </p:cBhvr>
                                    </p:animEffect>
                                  </p:childTnLst>
                                </p:cTn>
                              </p:par>
                              <p:par>
                                <p:cTn id="156" presetID="22" presetClass="entr" presetSubtype="4" fill="hold" grpId="0" nodeType="withEffect">
                                  <p:stCondLst>
                                    <p:cond delay="0"/>
                                  </p:stCondLst>
                                  <p:childTnLst>
                                    <p:set>
                                      <p:cBhvr>
                                        <p:cTn id="157" dur="1" fill="hold">
                                          <p:stCondLst>
                                            <p:cond delay="0"/>
                                          </p:stCondLst>
                                        </p:cTn>
                                        <p:tgtEl>
                                          <p:spTgt spid="72"/>
                                        </p:tgtEl>
                                        <p:attrNameLst>
                                          <p:attrName>style.visibility</p:attrName>
                                        </p:attrNameLst>
                                      </p:cBhvr>
                                      <p:to>
                                        <p:strVal val="visible"/>
                                      </p:to>
                                    </p:set>
                                    <p:animEffect transition="in" filter="wipe(down)">
                                      <p:cBhvr>
                                        <p:cTn id="158" dur="500"/>
                                        <p:tgtEl>
                                          <p:spTgt spid="72"/>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4" fill="hold" nodeType="clickEffect">
                                  <p:stCondLst>
                                    <p:cond delay="0"/>
                                  </p:stCondLst>
                                  <p:childTnLst>
                                    <p:set>
                                      <p:cBhvr>
                                        <p:cTn id="162" dur="1" fill="hold">
                                          <p:stCondLst>
                                            <p:cond delay="0"/>
                                          </p:stCondLst>
                                        </p:cTn>
                                        <p:tgtEl>
                                          <p:spTgt spid="2"/>
                                        </p:tgtEl>
                                        <p:attrNameLst>
                                          <p:attrName>style.visibility</p:attrName>
                                        </p:attrNameLst>
                                      </p:cBhvr>
                                      <p:to>
                                        <p:strVal val="visible"/>
                                      </p:to>
                                    </p:set>
                                    <p:animEffect transition="in" filter="wipe(down)">
                                      <p:cBhvr>
                                        <p:cTn id="163" dur="500"/>
                                        <p:tgtEl>
                                          <p:spTgt spid="2"/>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4" fill="hold" nodeType="clickEffect">
                                  <p:stCondLst>
                                    <p:cond delay="0"/>
                                  </p:stCondLst>
                                  <p:childTnLst>
                                    <p:set>
                                      <p:cBhvr>
                                        <p:cTn id="167" dur="1" fill="hold">
                                          <p:stCondLst>
                                            <p:cond delay="0"/>
                                          </p:stCondLst>
                                        </p:cTn>
                                        <p:tgtEl>
                                          <p:spTgt spid="35"/>
                                        </p:tgtEl>
                                        <p:attrNameLst>
                                          <p:attrName>style.visibility</p:attrName>
                                        </p:attrNameLst>
                                      </p:cBhvr>
                                      <p:to>
                                        <p:strVal val="visible"/>
                                      </p:to>
                                    </p:set>
                                    <p:animEffect transition="in" filter="wipe(down)">
                                      <p:cBhvr>
                                        <p:cTn id="168" dur="500"/>
                                        <p:tgtEl>
                                          <p:spTgt spid="35"/>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4" fill="hold" grpId="0" nodeType="clickEffect">
                                  <p:stCondLst>
                                    <p:cond delay="0"/>
                                  </p:stCondLst>
                                  <p:childTnLst>
                                    <p:set>
                                      <p:cBhvr>
                                        <p:cTn id="172" dur="1" fill="hold">
                                          <p:stCondLst>
                                            <p:cond delay="0"/>
                                          </p:stCondLst>
                                        </p:cTn>
                                        <p:tgtEl>
                                          <p:spTgt spid="68"/>
                                        </p:tgtEl>
                                        <p:attrNameLst>
                                          <p:attrName>style.visibility</p:attrName>
                                        </p:attrNameLst>
                                      </p:cBhvr>
                                      <p:to>
                                        <p:strVal val="visible"/>
                                      </p:to>
                                    </p:set>
                                    <p:animEffect transition="in" filter="wipe(down)">
                                      <p:cBhvr>
                                        <p:cTn id="173" dur="500"/>
                                        <p:tgtEl>
                                          <p:spTgt spid="68"/>
                                        </p:tgtEl>
                                      </p:cBhvr>
                                    </p:animEffect>
                                  </p:childTnLst>
                                </p:cTn>
                              </p:par>
                              <p:par>
                                <p:cTn id="174" presetID="22" presetClass="entr" presetSubtype="4" fill="hold" grpId="0" nodeType="withEffect">
                                  <p:stCondLst>
                                    <p:cond delay="0"/>
                                  </p:stCondLst>
                                  <p:childTnLst>
                                    <p:set>
                                      <p:cBhvr>
                                        <p:cTn id="175" dur="1" fill="hold">
                                          <p:stCondLst>
                                            <p:cond delay="0"/>
                                          </p:stCondLst>
                                        </p:cTn>
                                        <p:tgtEl>
                                          <p:spTgt spid="73"/>
                                        </p:tgtEl>
                                        <p:attrNameLst>
                                          <p:attrName>style.visibility</p:attrName>
                                        </p:attrNameLst>
                                      </p:cBhvr>
                                      <p:to>
                                        <p:strVal val="visible"/>
                                      </p:to>
                                    </p:set>
                                    <p:animEffect transition="in" filter="wipe(down)">
                                      <p:cBhvr>
                                        <p:cTn id="176" dur="500"/>
                                        <p:tgtEl>
                                          <p:spTgt spid="73"/>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4" fill="hold" nodeType="click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wipe(down)">
                                      <p:cBhvr>
                                        <p:cTn id="181" dur="500"/>
                                        <p:tgtEl>
                                          <p:spTgt spid="67"/>
                                        </p:tgtEl>
                                      </p:cBhvr>
                                    </p:animEffect>
                                  </p:childTnLst>
                                </p:cTn>
                              </p:par>
                              <p:par>
                                <p:cTn id="182" presetID="22" presetClass="entr" presetSubtype="4" fill="hold" grpId="0" nodeType="withEffect">
                                  <p:stCondLst>
                                    <p:cond delay="0"/>
                                  </p:stCondLst>
                                  <p:childTnLst>
                                    <p:set>
                                      <p:cBhvr>
                                        <p:cTn id="183" dur="1" fill="hold">
                                          <p:stCondLst>
                                            <p:cond delay="0"/>
                                          </p:stCondLst>
                                        </p:cTn>
                                        <p:tgtEl>
                                          <p:spTgt spid="74"/>
                                        </p:tgtEl>
                                        <p:attrNameLst>
                                          <p:attrName>style.visibility</p:attrName>
                                        </p:attrNameLst>
                                      </p:cBhvr>
                                      <p:to>
                                        <p:strVal val="visible"/>
                                      </p:to>
                                    </p:set>
                                    <p:animEffect transition="in" filter="wipe(down)">
                                      <p:cBhvr>
                                        <p:cTn id="184" dur="500"/>
                                        <p:tgtEl>
                                          <p:spTgt spid="74"/>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grpId="0" nodeType="clickEffect">
                                  <p:stCondLst>
                                    <p:cond delay="0"/>
                                  </p:stCondLst>
                                  <p:childTnLst>
                                    <p:set>
                                      <p:cBhvr>
                                        <p:cTn id="188" dur="1" fill="hold">
                                          <p:stCondLst>
                                            <p:cond delay="0"/>
                                          </p:stCondLst>
                                        </p:cTn>
                                        <p:tgtEl>
                                          <p:spTgt spid="71"/>
                                        </p:tgtEl>
                                        <p:attrNameLst>
                                          <p:attrName>style.visibility</p:attrName>
                                        </p:attrNameLst>
                                      </p:cBhvr>
                                      <p:to>
                                        <p:strVal val="visible"/>
                                      </p:to>
                                    </p:set>
                                    <p:animEffect transition="in" filter="wipe(down)">
                                      <p:cBhvr>
                                        <p:cTn id="189" dur="500"/>
                                        <p:tgtEl>
                                          <p:spTgt spid="71"/>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4" fill="hold" grpId="0" nodeType="clickEffect">
                                  <p:stCondLst>
                                    <p:cond delay="0"/>
                                  </p:stCondLst>
                                  <p:childTnLst>
                                    <p:set>
                                      <p:cBhvr>
                                        <p:cTn id="193" dur="1" fill="hold">
                                          <p:stCondLst>
                                            <p:cond delay="0"/>
                                          </p:stCondLst>
                                        </p:cTn>
                                        <p:tgtEl>
                                          <p:spTgt spid="76"/>
                                        </p:tgtEl>
                                        <p:attrNameLst>
                                          <p:attrName>style.visibility</p:attrName>
                                        </p:attrNameLst>
                                      </p:cBhvr>
                                      <p:to>
                                        <p:strVal val="visible"/>
                                      </p:to>
                                    </p:set>
                                    <p:animEffect transition="in" filter="wipe(down)">
                                      <p:cBhvr>
                                        <p:cTn id="194" dur="500"/>
                                        <p:tgtEl>
                                          <p:spTgt spid="76"/>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4" fill="hold" grpId="0" nodeType="clickEffect">
                                  <p:stCondLst>
                                    <p:cond delay="0"/>
                                  </p:stCondLst>
                                  <p:childTnLst>
                                    <p:set>
                                      <p:cBhvr>
                                        <p:cTn id="198" dur="1" fill="hold">
                                          <p:stCondLst>
                                            <p:cond delay="0"/>
                                          </p:stCondLst>
                                        </p:cTn>
                                        <p:tgtEl>
                                          <p:spTgt spid="70"/>
                                        </p:tgtEl>
                                        <p:attrNameLst>
                                          <p:attrName>style.visibility</p:attrName>
                                        </p:attrNameLst>
                                      </p:cBhvr>
                                      <p:to>
                                        <p:strVal val="visible"/>
                                      </p:to>
                                    </p:set>
                                    <p:animEffect transition="in" filter="wipe(down)">
                                      <p:cBhvr>
                                        <p:cTn id="199" dur="500"/>
                                        <p:tgtEl>
                                          <p:spTgt spid="70"/>
                                        </p:tgtEl>
                                      </p:cBhvr>
                                    </p:animEffect>
                                  </p:childTnLst>
                                </p:cTn>
                              </p:par>
                              <p:par>
                                <p:cTn id="200" presetID="22" presetClass="entr" presetSubtype="4" fill="hold" grpId="0" nodeType="withEffect">
                                  <p:stCondLst>
                                    <p:cond delay="0"/>
                                  </p:stCondLst>
                                  <p:childTnLst>
                                    <p:set>
                                      <p:cBhvr>
                                        <p:cTn id="201" dur="1" fill="hold">
                                          <p:stCondLst>
                                            <p:cond delay="0"/>
                                          </p:stCondLst>
                                        </p:cTn>
                                        <p:tgtEl>
                                          <p:spTgt spid="77"/>
                                        </p:tgtEl>
                                        <p:attrNameLst>
                                          <p:attrName>style.visibility</p:attrName>
                                        </p:attrNameLst>
                                      </p:cBhvr>
                                      <p:to>
                                        <p:strVal val="visible"/>
                                      </p:to>
                                    </p:set>
                                    <p:animEffect transition="in" filter="wipe(down)">
                                      <p:cBhvr>
                                        <p:cTn id="202" dur="500"/>
                                        <p:tgtEl>
                                          <p:spTgt spid="77"/>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4" fill="hold" nodeType="clickEffect">
                                  <p:stCondLst>
                                    <p:cond delay="0"/>
                                  </p:stCondLst>
                                  <p:childTnLst>
                                    <p:set>
                                      <p:cBhvr>
                                        <p:cTn id="206" dur="1" fill="hold">
                                          <p:stCondLst>
                                            <p:cond delay="0"/>
                                          </p:stCondLst>
                                        </p:cTn>
                                        <p:tgtEl>
                                          <p:spTgt spid="66"/>
                                        </p:tgtEl>
                                        <p:attrNameLst>
                                          <p:attrName>style.visibility</p:attrName>
                                        </p:attrNameLst>
                                      </p:cBhvr>
                                      <p:to>
                                        <p:strVal val="visible"/>
                                      </p:to>
                                    </p:set>
                                    <p:animEffect transition="in" filter="wipe(down)">
                                      <p:cBhvr>
                                        <p:cTn id="207" dur="500"/>
                                        <p:tgtEl>
                                          <p:spTgt spid="66"/>
                                        </p:tgtEl>
                                      </p:cBhvr>
                                    </p:animEffect>
                                  </p:childTnLst>
                                </p:cTn>
                              </p:par>
                              <p:par>
                                <p:cTn id="208" presetID="22" presetClass="entr" presetSubtype="4" fill="hold" grpId="0" nodeType="withEffect">
                                  <p:stCondLst>
                                    <p:cond delay="0"/>
                                  </p:stCondLst>
                                  <p:childTnLst>
                                    <p:set>
                                      <p:cBhvr>
                                        <p:cTn id="209" dur="1" fill="hold">
                                          <p:stCondLst>
                                            <p:cond delay="0"/>
                                          </p:stCondLst>
                                        </p:cTn>
                                        <p:tgtEl>
                                          <p:spTgt spid="75"/>
                                        </p:tgtEl>
                                        <p:attrNameLst>
                                          <p:attrName>style.visibility</p:attrName>
                                        </p:attrNameLst>
                                      </p:cBhvr>
                                      <p:to>
                                        <p:strVal val="visible"/>
                                      </p:to>
                                    </p:set>
                                    <p:animEffect transition="in" filter="wipe(down)">
                                      <p:cBhvr>
                                        <p:cTn id="210"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53" grpId="0"/>
      <p:bldP spid="54" grpId="0"/>
      <p:bldP spid="55" grpId="0"/>
      <p:bldP spid="56" grpId="0" animBg="1"/>
      <p:bldP spid="57" grpId="0" animBg="1"/>
      <p:bldP spid="58" grpId="0" animBg="1"/>
      <p:bldP spid="59" grpId="0" animBg="1"/>
      <p:bldP spid="62" grpId="0" animBg="1"/>
      <p:bldP spid="63" grpId="0" animBg="1"/>
      <p:bldP spid="64" grpId="0" animBg="1"/>
      <p:bldP spid="65" grpId="0" animBg="1"/>
      <p:bldP spid="68" grpId="0" animBg="1"/>
      <p:bldP spid="69" grpId="0" animBg="1"/>
      <p:bldP spid="70" grpId="0" animBg="1"/>
      <p:bldP spid="71" grpId="0" animBg="1"/>
      <p:bldP spid="72" grpId="0"/>
      <p:bldP spid="73" grpId="0"/>
      <p:bldP spid="74" grpId="0"/>
      <p:bldP spid="75" grpId="0"/>
      <p:bldP spid="76" grpId="0"/>
      <p:bldP spid="77" grpId="0"/>
      <p:bldP spid="78" grpId="0"/>
      <p:bldP spid="79" grpId="0"/>
      <p:bldP spid="80" grpId="0"/>
      <p:bldP spid="81" grpId="0"/>
      <p:bldP spid="82" grpId="0"/>
      <p:bldP spid="10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bwMode="auto">
          <a:xfrm>
            <a:off x="6062663" y="766763"/>
            <a:ext cx="2127250" cy="180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锥齿轮传动的强度计算</a:t>
            </a:r>
            <a:r>
              <a:rPr lang="en-US" altLang="zh-CN" sz="800" smtClean="0">
                <a:solidFill>
                  <a:schemeClr val="bg1"/>
                </a:solidFill>
                <a:latin typeface="Times New Roman" panose="02020603050405020304" pitchFamily="18" charset="0"/>
              </a:rPr>
              <a:t>4</a:t>
            </a:r>
            <a:endParaRPr lang="en-US" altLang="zh-CN" sz="800" smtClean="0">
              <a:solidFill>
                <a:schemeClr val="bg1"/>
              </a:solidFill>
              <a:latin typeface="Times New Roman" panose="02020603050405020304" pitchFamily="18" charset="0"/>
            </a:endParaRPr>
          </a:p>
        </p:txBody>
      </p:sp>
      <p:sp>
        <p:nvSpPr>
          <p:cNvPr id="75780" name="Text Box 4"/>
          <p:cNvSpPr txBox="1">
            <a:spLocks noChangeArrowheads="1"/>
          </p:cNvSpPr>
          <p:nvPr/>
        </p:nvSpPr>
        <p:spPr bwMode="auto">
          <a:xfrm>
            <a:off x="195263" y="827088"/>
            <a:ext cx="36753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三、齿面接触疲劳强度计算 </a:t>
            </a:r>
            <a:endParaRPr lang="zh-CN" altLang="en-US" sz="2200" dirty="0">
              <a:solidFill>
                <a:srgbClr val="C00000"/>
              </a:solidFill>
              <a:latin typeface="黑体" panose="02010609060101010101" pitchFamily="49" charset="-122"/>
              <a:ea typeface="黑体" panose="02010609060101010101" pitchFamily="49" charset="-122"/>
            </a:endParaRPr>
          </a:p>
        </p:txBody>
      </p:sp>
      <p:pic>
        <p:nvPicPr>
          <p:cNvPr id="75782" name="Picture 6"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5347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Picture 8" descr="rewind">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3437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5" name="Text Box 9"/>
          <p:cNvSpPr txBox="1">
            <a:spLocks noChangeArrowheads="1"/>
          </p:cNvSpPr>
          <p:nvPr/>
        </p:nvSpPr>
        <p:spPr bwMode="auto">
          <a:xfrm>
            <a:off x="211138" y="1199679"/>
            <a:ext cx="89328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dirty="0">
                <a:solidFill>
                  <a:srgbClr val="000099"/>
                </a:solidFill>
              </a:rPr>
              <a:t>　　直齿锥齿轮的齿面接触疲劳强度，仍按</a:t>
            </a:r>
            <a:r>
              <a:rPr lang="zh-CN" altLang="en-US" dirty="0">
                <a:solidFill>
                  <a:srgbClr val="C00000"/>
                </a:solidFill>
              </a:rPr>
              <a:t>齿宽中点处的当量圆柱齿轮</a:t>
            </a:r>
            <a:r>
              <a:rPr lang="zh-CN" altLang="en-US" dirty="0">
                <a:solidFill>
                  <a:srgbClr val="000099"/>
                </a:solidFill>
              </a:rPr>
              <a:t>计算</a:t>
            </a:r>
            <a:r>
              <a:rPr lang="zh-CN" altLang="en-US" dirty="0" smtClean="0">
                <a:solidFill>
                  <a:srgbClr val="000099"/>
                </a:solidFill>
              </a:rPr>
              <a:t>。</a:t>
            </a:r>
            <a:endParaRPr lang="zh-CN" altLang="en-US" dirty="0">
              <a:solidFill>
                <a:srgbClr val="000099"/>
              </a:solidFill>
            </a:endParaRPr>
          </a:p>
        </p:txBody>
      </p:sp>
      <p:sp>
        <p:nvSpPr>
          <p:cNvPr id="75788" name="Text Box 12"/>
          <p:cNvSpPr txBox="1">
            <a:spLocks noChangeArrowheads="1"/>
          </p:cNvSpPr>
          <p:nvPr/>
        </p:nvSpPr>
        <p:spPr bwMode="auto">
          <a:xfrm>
            <a:off x="195340" y="1690242"/>
            <a:ext cx="8747125"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dirty="0">
                <a:solidFill>
                  <a:srgbClr val="000099"/>
                </a:solidFill>
              </a:rPr>
              <a:t>　　利用赫兹公式，并代入齿宽中点处的当量齿轮相应参数，并考虑锥齿轮的实际承载能力只有圆柱齿轮的</a:t>
            </a:r>
            <a:r>
              <a:rPr lang="en-US" altLang="zh-CN" dirty="0">
                <a:solidFill>
                  <a:srgbClr val="000099"/>
                </a:solidFill>
              </a:rPr>
              <a:t>85%</a:t>
            </a:r>
            <a:r>
              <a:rPr lang="zh-CN" altLang="en-US" dirty="0">
                <a:solidFill>
                  <a:srgbClr val="000099"/>
                </a:solidFill>
              </a:rPr>
              <a:t>，可得锥齿轮齿面接触疲劳强度计算公式如下： </a:t>
            </a:r>
            <a:endParaRPr lang="zh-CN" altLang="en-US" dirty="0">
              <a:solidFill>
                <a:srgbClr val="000099"/>
              </a:solidFill>
            </a:endParaRPr>
          </a:p>
        </p:txBody>
      </p:sp>
      <p:graphicFrame>
        <p:nvGraphicFramePr>
          <p:cNvPr id="12291" name="Object 13"/>
          <p:cNvGraphicFramePr>
            <a:graphicFrameLocks noChangeAspect="1"/>
          </p:cNvGraphicFramePr>
          <p:nvPr/>
        </p:nvGraphicFramePr>
        <p:xfrm>
          <a:off x="1973263" y="3068003"/>
          <a:ext cx="3721735" cy="799465"/>
        </p:xfrm>
        <a:graphic>
          <a:graphicData uri="http://schemas.openxmlformats.org/presentationml/2006/ole">
            <mc:AlternateContent xmlns:mc="http://schemas.openxmlformats.org/markup-compatibility/2006">
              <mc:Choice xmlns:v="urn:schemas-microsoft-com:vml" Requires="v">
                <p:oleObj spid="_x0000_s12506" name="公式" r:id="rId3" imgW="2260600" imgH="482600" progId="Equation.3">
                  <p:embed/>
                </p:oleObj>
              </mc:Choice>
              <mc:Fallback>
                <p:oleObj name="公式" r:id="rId3" imgW="2260600" imgH="482600" progId="Equation.3">
                  <p:embed/>
                  <p:pic>
                    <p:nvPicPr>
                      <p:cNvPr id="0" name="Object 13"/>
                      <p:cNvPicPr>
                        <a:picLocks noChangeAspect="1" noChangeArrowheads="1"/>
                      </p:cNvPicPr>
                      <p:nvPr/>
                    </p:nvPicPr>
                    <p:blipFill>
                      <a:blip r:embed="rId4"/>
                      <a:srcRect/>
                      <a:stretch>
                        <a:fillRect/>
                      </a:stretch>
                    </p:blipFill>
                    <p:spPr bwMode="auto">
                      <a:xfrm>
                        <a:off x="1973263" y="3068003"/>
                        <a:ext cx="3721735" cy="799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0" name="Text Box 24"/>
          <p:cNvSpPr txBox="1">
            <a:spLocks noChangeArrowheads="1"/>
          </p:cNvSpPr>
          <p:nvPr/>
        </p:nvSpPr>
        <p:spPr bwMode="auto">
          <a:xfrm>
            <a:off x="6624638" y="6094413"/>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mc:AlternateContent xmlns:mc="http://schemas.openxmlformats.org/markup-compatibility/2006">
        <mc:Choice xmlns:a14="http://schemas.microsoft.com/office/drawing/2010/main" Requires="a14">
          <p:sp>
            <p:nvSpPr>
              <p:cNvPr id="13325" name="矩形 18"/>
              <p:cNvSpPr>
                <a:spLocks noChangeArrowheads="1"/>
              </p:cNvSpPr>
              <p:nvPr/>
            </p:nvSpPr>
            <p:spPr bwMode="auto">
              <a:xfrm>
                <a:off x="741985" y="4170043"/>
                <a:ext cx="787199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smtClean="0">
                    <a:solidFill>
                      <a:srgbClr val="000099"/>
                    </a:solidFill>
                  </a:rPr>
                  <a:t>式中，各符号的意义与单位均与直齿轮类似。</a:t>
                </a:r>
                <a14:m>
                  <m:oMath xmlns:m="http://schemas.openxmlformats.org/officeDocument/2006/math">
                    <m:sSub>
                      <m:sSubPr>
                        <m:ctrlPr>
                          <a:rPr lang="en-US" altLang="zh-CN" sz="2200" i="1" smtClean="0">
                            <a:solidFill>
                              <a:srgbClr val="000099"/>
                            </a:solidFill>
                            <a:latin typeface="Cambria Math" panose="02040503050406030204" pitchFamily="18" charset="0"/>
                          </a:rPr>
                        </m:ctrlPr>
                      </m:sSubPr>
                      <m:e>
                        <m:r>
                          <a:rPr lang="zh-CN" altLang="en-US" sz="2200" i="1" smtClean="0">
                            <a:solidFill>
                              <a:srgbClr val="000099"/>
                            </a:solidFill>
                            <a:latin typeface="Cambria Math" panose="02040503050406030204" pitchFamily="18" charset="0"/>
                          </a:rPr>
                          <m:t>𝜎</m:t>
                        </m:r>
                      </m:e>
                      <m:sub>
                        <m:r>
                          <a:rPr lang="en-US" altLang="zh-CN" sz="2200" b="0" i="1" smtClean="0">
                            <a:solidFill>
                              <a:srgbClr val="000099"/>
                            </a:solidFill>
                            <a:latin typeface="Cambria Math" panose="02040503050406030204" pitchFamily="18" charset="0"/>
                          </a:rPr>
                          <m:t>𝐻</m:t>
                        </m:r>
                        <m:r>
                          <a:rPr lang="zh-CN" altLang="en-US" sz="2200" i="1">
                            <a:solidFill>
                              <a:srgbClr val="000099"/>
                            </a:solidFill>
                            <a:latin typeface="Cambria Math" panose="02040503050406030204" pitchFamily="18" charset="0"/>
                          </a:rPr>
                          <m:t>、</m:t>
                        </m:r>
                      </m:sub>
                    </m:sSub>
                    <m:r>
                      <a:rPr lang="en-US" altLang="zh-CN" sz="2200" b="0" i="1" smtClean="0">
                        <a:solidFill>
                          <a:srgbClr val="000099"/>
                        </a:solidFill>
                        <a:latin typeface="Cambria Math" panose="02040503050406030204" pitchFamily="18" charset="0"/>
                      </a:rPr>
                      <m:t>[</m:t>
                    </m:r>
                    <m:sSub>
                      <m:sSubPr>
                        <m:ctrlPr>
                          <a:rPr lang="en-US" altLang="zh-CN" sz="2200" b="0" i="1" smtClean="0">
                            <a:solidFill>
                              <a:srgbClr val="000099"/>
                            </a:solidFill>
                            <a:latin typeface="Cambria Math" panose="02040503050406030204" pitchFamily="18" charset="0"/>
                          </a:rPr>
                        </m:ctrlPr>
                      </m:sSubPr>
                      <m:e>
                        <m:r>
                          <a:rPr lang="zh-CN" altLang="en-US" sz="2200" b="0" i="1" smtClean="0">
                            <a:solidFill>
                              <a:srgbClr val="000099"/>
                            </a:solidFill>
                            <a:latin typeface="Cambria Math" panose="02040503050406030204" pitchFamily="18" charset="0"/>
                          </a:rPr>
                          <m:t>𝜎</m:t>
                        </m:r>
                      </m:e>
                      <m:sub>
                        <m:r>
                          <a:rPr lang="en-US" altLang="zh-CN" sz="2200" b="0" i="1" smtClean="0">
                            <a:solidFill>
                              <a:srgbClr val="000099"/>
                            </a:solidFill>
                            <a:latin typeface="Cambria Math" panose="02040503050406030204" pitchFamily="18" charset="0"/>
                          </a:rPr>
                          <m:t>𝐻</m:t>
                        </m:r>
                      </m:sub>
                    </m:sSub>
                  </m:oMath>
                </a14:m>
                <a:r>
                  <a:rPr lang="en-US" altLang="zh-CN" sz="2200" dirty="0" smtClean="0">
                    <a:solidFill>
                      <a:srgbClr val="000099"/>
                    </a:solidFill>
                  </a:rPr>
                  <a:t>]</a:t>
                </a:r>
                <a:r>
                  <a:rPr lang="zh-CN" altLang="en-US" sz="2200" dirty="0" smtClean="0">
                    <a:solidFill>
                      <a:srgbClr val="000099"/>
                    </a:solidFill>
                  </a:rPr>
                  <a:t>的单位为</a:t>
                </a:r>
                <a:r>
                  <a:rPr lang="en-US" altLang="zh-CN" sz="2200" dirty="0" err="1" smtClean="0">
                    <a:solidFill>
                      <a:srgbClr val="000099"/>
                    </a:solidFill>
                  </a:rPr>
                  <a:t>MPa</a:t>
                </a:r>
                <a:r>
                  <a:rPr lang="zh-CN" altLang="en-US" sz="2200" dirty="0" smtClean="0">
                    <a:solidFill>
                      <a:srgbClr val="000099"/>
                    </a:solidFill>
                  </a:rPr>
                  <a:t>；</a:t>
                </a:r>
                <a14:m>
                  <m:oMath xmlns:m="http://schemas.openxmlformats.org/officeDocument/2006/math">
                    <m:sSub>
                      <m:sSubPr>
                        <m:ctrlPr>
                          <a:rPr lang="en-US" altLang="zh-CN" sz="2200" i="1" smtClean="0">
                            <a:solidFill>
                              <a:srgbClr val="000099"/>
                            </a:solidFill>
                            <a:latin typeface="Cambria Math" panose="02040503050406030204" pitchFamily="18" charset="0"/>
                          </a:rPr>
                        </m:ctrlPr>
                      </m:sSubPr>
                      <m:e>
                        <m:r>
                          <a:rPr lang="en-US" altLang="zh-CN" sz="2200" b="0" i="1" smtClean="0">
                            <a:solidFill>
                              <a:srgbClr val="000099"/>
                            </a:solidFill>
                            <a:latin typeface="Cambria Math" panose="02040503050406030204" pitchFamily="18" charset="0"/>
                          </a:rPr>
                          <m:t>𝑑</m:t>
                        </m:r>
                      </m:e>
                      <m:sub>
                        <m:r>
                          <a:rPr lang="en-US" altLang="zh-CN" sz="2200" b="0" i="1" smtClean="0">
                            <a:solidFill>
                              <a:srgbClr val="000099"/>
                            </a:solidFill>
                            <a:latin typeface="Cambria Math" panose="02040503050406030204" pitchFamily="18" charset="0"/>
                          </a:rPr>
                          <m:t>1</m:t>
                        </m:r>
                      </m:sub>
                    </m:sSub>
                    <m:r>
                      <a:rPr lang="zh-CN" altLang="en-US" sz="2200" i="1">
                        <a:solidFill>
                          <a:srgbClr val="000099"/>
                        </a:solidFill>
                        <a:latin typeface="Cambria Math" panose="02040503050406030204" pitchFamily="18" charset="0"/>
                      </a:rPr>
                      <m:t>的</m:t>
                    </m:r>
                  </m:oMath>
                </a14:m>
                <a:r>
                  <a:rPr lang="zh-CN" altLang="en-US" sz="2200" dirty="0" smtClean="0">
                    <a:solidFill>
                      <a:srgbClr val="000099"/>
                    </a:solidFill>
                  </a:rPr>
                  <a:t>单位为</a:t>
                </a:r>
                <a:r>
                  <a:rPr lang="en-US" altLang="zh-CN" sz="2200" dirty="0" smtClean="0">
                    <a:solidFill>
                      <a:srgbClr val="000099"/>
                    </a:solidFill>
                  </a:rPr>
                  <a:t>mm</a:t>
                </a:r>
                <a:r>
                  <a:rPr lang="zh-CN" altLang="en-US" sz="2200" dirty="0" smtClean="0">
                    <a:solidFill>
                      <a:srgbClr val="000099"/>
                    </a:solidFill>
                  </a:rPr>
                  <a:t>。</a:t>
                </a:r>
                <a:endParaRPr lang="zh-CN" altLang="en-US" sz="2200" dirty="0">
                  <a:solidFill>
                    <a:srgbClr val="000099"/>
                  </a:solidFill>
                </a:endParaRPr>
              </a:p>
            </p:txBody>
          </p:sp>
        </mc:Choice>
        <mc:Fallback>
          <p:sp>
            <p:nvSpPr>
              <p:cNvPr id="13325" name="矩形 18"/>
              <p:cNvSpPr>
                <a:spLocks noRot="1" noChangeAspect="1" noMove="1" noResize="1" noEditPoints="1" noAdjustHandles="1" noChangeArrowheads="1" noChangeShapeType="1" noTextEdit="1"/>
              </p:cNvSpPr>
              <p:nvPr/>
            </p:nvSpPr>
            <p:spPr bwMode="auto">
              <a:xfrm>
                <a:off x="741985" y="4170043"/>
                <a:ext cx="7871991" cy="769441"/>
              </a:xfrm>
              <a:prstGeom prst="rect">
                <a:avLst/>
              </a:prstGeom>
              <a:blipFill rotWithShape="1">
                <a:blip r:embed="rId5"/>
                <a:stretch>
                  <a:fillRect l="-4" t="-82" r="3" b="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2302" name="Text Box 5"/>
          <p:cNvSpPr txBox="1">
            <a:spLocks noChangeArrowheads="1"/>
          </p:cNvSpPr>
          <p:nvPr/>
        </p:nvSpPr>
        <p:spPr bwMode="auto">
          <a:xfrm>
            <a:off x="739775" y="260350"/>
            <a:ext cx="786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3.4-8 </a:t>
            </a:r>
            <a:r>
              <a:rPr lang="zh-CN" altLang="en-US" sz="3000" dirty="0">
                <a:solidFill>
                  <a:srgbClr val="CC3300"/>
                </a:solidFill>
                <a:latin typeface="黑体" panose="02010609060101010101" pitchFamily="49" charset="-122"/>
                <a:ea typeface="黑体" panose="02010609060101010101" pitchFamily="49" charset="-122"/>
              </a:rPr>
              <a:t>直齿锥齿轮传动的受力分析和强度计算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230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1" name="Text Box 8"/>
          <p:cNvSpPr txBox="1">
            <a:spLocks noChangeArrowheads="1"/>
          </p:cNvSpPr>
          <p:nvPr/>
        </p:nvSpPr>
        <p:spPr bwMode="auto">
          <a:xfrm>
            <a:off x="862456" y="5455934"/>
            <a:ext cx="8281725"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sz="2200" dirty="0" smtClean="0">
                <a:solidFill>
                  <a:srgbClr val="000099"/>
                </a:solidFill>
              </a:rPr>
              <a:t>重合度系数</a:t>
            </a:r>
            <a:r>
              <a:rPr lang="en-US" altLang="zh-CN" sz="2200" i="1" dirty="0" err="1" smtClean="0">
                <a:solidFill>
                  <a:srgbClr val="000099"/>
                </a:solidFill>
              </a:rPr>
              <a:t>Z</a:t>
            </a:r>
            <a:r>
              <a:rPr lang="en-US" altLang="zh-CN" sz="2200" baseline="-25000" dirty="0" err="1" smtClean="0">
                <a:solidFill>
                  <a:srgbClr val="000099"/>
                </a:solidFill>
              </a:rPr>
              <a:t>ε</a:t>
            </a:r>
            <a:r>
              <a:rPr lang="zh-CN" altLang="en-US" sz="2200" dirty="0">
                <a:solidFill>
                  <a:srgbClr val="000099"/>
                </a:solidFill>
              </a:rPr>
              <a:t>按照当量齿轮的</a:t>
            </a:r>
            <a:r>
              <a:rPr lang="zh-CN" altLang="en-US" sz="2200" dirty="0" smtClean="0">
                <a:solidFill>
                  <a:srgbClr val="000099"/>
                </a:solidFill>
              </a:rPr>
              <a:t>齿数计算。</a:t>
            </a:r>
            <a:endParaRPr lang="zh-CN" altLang="en-US" sz="2200" dirty="0">
              <a:solidFill>
                <a:srgbClr val="000099"/>
              </a:solidFill>
            </a:endParaRPr>
          </a:p>
        </p:txBody>
      </p:sp>
      <p:sp>
        <p:nvSpPr>
          <p:cNvPr id="4" name="文本框 3"/>
          <p:cNvSpPr txBox="1"/>
          <p:nvPr/>
        </p:nvSpPr>
        <p:spPr>
          <a:xfrm>
            <a:off x="920750" y="6035675"/>
            <a:ext cx="5624195" cy="398780"/>
          </a:xfrm>
          <a:prstGeom prst="rect">
            <a:avLst/>
          </a:prstGeom>
          <a:noFill/>
        </p:spPr>
        <p:txBody>
          <a:bodyPr wrap="square" rtlCol="0">
            <a:spAutoFit/>
          </a:bodyPr>
          <a:p>
            <a:r>
              <a:rPr lang="zh-CN" altLang="en-US">
                <a:solidFill>
                  <a:srgbClr val="002060"/>
                </a:solidFill>
              </a:rPr>
              <a:t>许用接触应力</a:t>
            </a:r>
            <a:r>
              <a:rPr lang="en-US" altLang="zh-CN">
                <a:solidFill>
                  <a:srgbClr val="002060"/>
                </a:solidFill>
              </a:rPr>
              <a:t>[</a:t>
            </a:r>
            <a:r>
              <a:rPr lang="en-US" altLang="zh-CN">
                <a:solidFill>
                  <a:srgbClr val="002060"/>
                </a:solidFill>
                <a:sym typeface="Symbol" panose="05050102010706020507" charset="0"/>
              </a:rPr>
              <a:t></a:t>
            </a:r>
            <a:r>
              <a:rPr lang="en-US" altLang="zh-CN" baseline="-25000">
                <a:solidFill>
                  <a:srgbClr val="002060"/>
                </a:solidFill>
                <a:sym typeface="Symbol" panose="05050102010706020507" charset="0"/>
              </a:rPr>
              <a:t>H</a:t>
            </a:r>
            <a:r>
              <a:rPr lang="en-US" altLang="zh-CN">
                <a:solidFill>
                  <a:srgbClr val="002060"/>
                </a:solidFill>
                <a:sym typeface="Symbol" panose="05050102010706020507" charset="0"/>
              </a:rPr>
              <a:t>]</a:t>
            </a:r>
            <a:r>
              <a:rPr lang="zh-CN" altLang="en-US">
                <a:solidFill>
                  <a:srgbClr val="002060"/>
                </a:solidFill>
                <a:sym typeface="Symbol" panose="05050102010706020507" charset="0"/>
              </a:rPr>
              <a:t>的选取同圆柱齿轮</a:t>
            </a:r>
            <a:endParaRPr lang="zh-CN" altLang="en-US">
              <a:solidFill>
                <a:srgbClr val="002060"/>
              </a:solidFill>
              <a:sym typeface="Symbol" panose="05050102010706020507" charset="0"/>
            </a:endParaRPr>
          </a:p>
        </p:txBody>
      </p:sp>
      <mc:AlternateContent xmlns:mc="http://schemas.openxmlformats.org/markup-compatibility/2006">
        <mc:Choice xmlns:a14="http://schemas.microsoft.com/office/drawing/2010/main" Requires="a14">
          <p:sp>
            <p:nvSpPr>
              <p:cNvPr id="5" name="文本框 4"/>
              <p:cNvSpPr txBox="1"/>
              <p:nvPr/>
            </p:nvSpPr>
            <p:spPr>
              <a:xfrm>
                <a:off x="1624330" y="5016500"/>
                <a:ext cx="2165985" cy="39370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𝐾</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𝐾</m:t>
                          </m:r>
                        </m:e>
                        <m:sub>
                          <m:r>
                            <a:rPr lang="en-US" altLang="zh-CN" i="1">
                              <a:latin typeface="Cambria Math" panose="02040503050406030204" pitchFamily="18" charset="0"/>
                              <a:cs typeface="Cambria Math" panose="02040503050406030204" pitchFamily="18" charset="0"/>
                            </a:rPr>
                            <m:t>𝐴</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𝐾</m:t>
                          </m:r>
                        </m:e>
                        <m:sub>
                          <m:r>
                            <a:rPr lang="en-US" altLang="zh-CN" i="1">
                              <a:latin typeface="Cambria Math" panose="02040503050406030204" pitchFamily="18" charset="0"/>
                              <a:cs typeface="Cambria Math" panose="02040503050406030204" pitchFamily="18" charset="0"/>
                            </a:rPr>
                            <m:t>𝑉</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𝐾</m:t>
                          </m:r>
                          <m:r>
                            <a:rPr lang="en-US" altLang="zh-CN" i="1">
                              <a:latin typeface="Cambria Math" panose="02040503050406030204" pitchFamily="18" charset="0"/>
                              <a:cs typeface="Cambria Math" panose="02040503050406030204" pitchFamily="18" charset="0"/>
                            </a:rPr>
                            <m:t> </m:t>
                          </m:r>
                        </m:e>
                        <m:sub>
                          <m:r>
                            <a:rPr lang="en-US" altLang="zh-CN" i="1">
                              <a:latin typeface="Cambria Math" panose="02040503050406030204" pitchFamily="18" charset="0"/>
                              <a:cs typeface="Cambria Math" panose="02040503050406030204" pitchFamily="18" charset="0"/>
                            </a:rPr>
                            <m:t>∝</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𝑘</m:t>
                          </m:r>
                        </m:e>
                        <m:sub>
                          <m:r>
                            <a:rPr lang="en-US" altLang="zh-CN" i="1">
                              <a:latin typeface="Cambria Math" panose="02040503050406030204" pitchFamily="18" charset="0"/>
                              <a:cs typeface="Cambria Math" panose="02040503050406030204" pitchFamily="18" charset="0"/>
                            </a:rPr>
                            <m:t>𝛽</m:t>
                          </m:r>
                        </m:sub>
                      </m:sSub>
                    </m:oMath>
                  </m:oMathPara>
                </a14:m>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1624330" y="5016500"/>
                <a:ext cx="2165985" cy="393700"/>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wipe(left)">
                                      <p:cBhvr>
                                        <p:cTn id="7" dur="500"/>
                                        <p:tgtEl>
                                          <p:spTgt spid="7578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5785"/>
                                        </p:tgtEl>
                                        <p:attrNameLst>
                                          <p:attrName>style.visibility</p:attrName>
                                        </p:attrNameLst>
                                      </p:cBhvr>
                                      <p:to>
                                        <p:strVal val="visible"/>
                                      </p:to>
                                    </p:set>
                                    <p:animEffect transition="in" filter="wipe(left)">
                                      <p:cBhvr>
                                        <p:cTn id="11" dur="500"/>
                                        <p:tgtEl>
                                          <p:spTgt spid="7578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5788"/>
                                        </p:tgtEl>
                                        <p:attrNameLst>
                                          <p:attrName>style.visibility</p:attrName>
                                        </p:attrNameLst>
                                      </p:cBhvr>
                                      <p:to>
                                        <p:strVal val="visible"/>
                                      </p:to>
                                    </p:set>
                                    <p:animEffect transition="in" filter="wipe(left)">
                                      <p:cBhvr>
                                        <p:cTn id="16" dur="500"/>
                                        <p:tgtEl>
                                          <p:spTgt spid="7578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291"/>
                                        </p:tgtEl>
                                        <p:attrNameLst>
                                          <p:attrName>style.visibility</p:attrName>
                                        </p:attrNameLst>
                                      </p:cBhvr>
                                      <p:to>
                                        <p:strVal val="visible"/>
                                      </p:to>
                                    </p:set>
                                    <p:animEffect transition="in" filter="wipe(left)">
                                      <p:cBhvr>
                                        <p:cTn id="21" dur="500"/>
                                        <p:tgtEl>
                                          <p:spTgt spid="12291"/>
                                        </p:tgtEl>
                                      </p:cBhvr>
                                    </p:animEffec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499"/>
                                          </p:stCondLst>
                                        </p:cTn>
                                        <p:tgtEl>
                                          <p:spTgt spid="75782"/>
                                        </p:tgtEl>
                                        <p:attrNameLst>
                                          <p:attrName>style.visibility</p:attrName>
                                        </p:attrNameLst>
                                      </p:cBhvr>
                                      <p:to>
                                        <p:strVal val="visible"/>
                                      </p:to>
                                    </p:set>
                                  </p:childTnLst>
                                </p:cTn>
                              </p:par>
                            </p:childTnLst>
                          </p:cTn>
                        </p:par>
                        <p:par>
                          <p:cTn id="25" fill="hold">
                            <p:stCondLst>
                              <p:cond delay="1000"/>
                            </p:stCondLst>
                            <p:childTnLst>
                              <p:par>
                                <p:cTn id="26" presetID="2" presetClass="entr" presetSubtype="8" fill="hold" nodeType="afterEffect">
                                  <p:stCondLst>
                                    <p:cond delay="0"/>
                                  </p:stCondLst>
                                  <p:childTnLst>
                                    <p:set>
                                      <p:cBhvr>
                                        <p:cTn id="27" dur="1" fill="hold">
                                          <p:stCondLst>
                                            <p:cond delay="0"/>
                                          </p:stCondLst>
                                        </p:cTn>
                                        <p:tgtEl>
                                          <p:spTgt spid="75784"/>
                                        </p:tgtEl>
                                        <p:attrNameLst>
                                          <p:attrName>style.visibility</p:attrName>
                                        </p:attrNameLst>
                                      </p:cBhvr>
                                      <p:to>
                                        <p:strVal val="visible"/>
                                      </p:to>
                                    </p:set>
                                    <p:anim calcmode="lin" valueType="num">
                                      <p:cBhvr additive="base">
                                        <p:cTn id="28" dur="500" fill="hold"/>
                                        <p:tgtEl>
                                          <p:spTgt spid="75784"/>
                                        </p:tgtEl>
                                        <p:attrNameLst>
                                          <p:attrName>ppt_x</p:attrName>
                                        </p:attrNameLst>
                                      </p:cBhvr>
                                      <p:tavLst>
                                        <p:tav tm="0">
                                          <p:val>
                                            <p:strVal val="0-#ppt_w/2"/>
                                          </p:val>
                                        </p:tav>
                                        <p:tav tm="100000">
                                          <p:val>
                                            <p:strVal val="#ppt_x"/>
                                          </p:val>
                                        </p:tav>
                                      </p:tavLst>
                                    </p:anim>
                                    <p:anim calcmode="lin" valueType="num">
                                      <p:cBhvr additive="base">
                                        <p:cTn id="29" dur="500" fill="hold"/>
                                        <p:tgtEl>
                                          <p:spTgt spid="7578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3325"/>
                                        </p:tgtEl>
                                        <p:attrNameLst>
                                          <p:attrName>style.visibility</p:attrName>
                                        </p:attrNameLst>
                                      </p:cBhvr>
                                      <p:to>
                                        <p:strVal val="visible"/>
                                      </p:to>
                                    </p:set>
                                    <p:animEffect transition="in" filter="wipe(left)">
                                      <p:cBhvr>
                                        <p:cTn id="39" dur="500"/>
                                        <p:tgtEl>
                                          <p:spTgt spid="133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left)">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utoUpdateAnimBg="0"/>
      <p:bldP spid="75785" grpId="0" autoUpdateAnimBg="0"/>
      <p:bldP spid="75788" grpId="0" autoUpdateAnimBg="0"/>
      <p:bldP spid="21" grpId="0" autoUpdateAnimBg="0"/>
      <p:bldP spid="4" grpId="0"/>
      <p:bldP spid="13325" grpId="0"/>
      <p:bldP spid="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bwMode="auto">
          <a:xfrm>
            <a:off x="6062663" y="766763"/>
            <a:ext cx="2127250" cy="180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锥齿轮传动的强度计算</a:t>
            </a:r>
            <a:r>
              <a:rPr lang="en-US" altLang="zh-CN" sz="800" smtClean="0">
                <a:solidFill>
                  <a:schemeClr val="bg1"/>
                </a:solidFill>
                <a:latin typeface="Times New Roman" panose="02020603050405020304" pitchFamily="18" charset="0"/>
              </a:rPr>
              <a:t>4</a:t>
            </a:r>
            <a:endParaRPr lang="en-US" altLang="zh-CN" sz="800" smtClean="0">
              <a:solidFill>
                <a:schemeClr val="bg1"/>
              </a:solidFill>
              <a:latin typeface="Times New Roman" panose="02020603050405020304" pitchFamily="18" charset="0"/>
            </a:endParaRPr>
          </a:p>
        </p:txBody>
      </p:sp>
      <p:pic>
        <p:nvPicPr>
          <p:cNvPr id="75782" name="Picture 6"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5347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Picture 8" descr="rewind">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3437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8" name="Text Box 12"/>
          <p:cNvSpPr txBox="1">
            <a:spLocks noChangeArrowheads="1"/>
          </p:cNvSpPr>
          <p:nvPr/>
        </p:nvSpPr>
        <p:spPr bwMode="auto">
          <a:xfrm>
            <a:off x="129300" y="1057782"/>
            <a:ext cx="87471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dirty="0">
                <a:solidFill>
                  <a:srgbClr val="000099"/>
                </a:solidFill>
              </a:rPr>
              <a:t>　　可得锥齿轮齿面接触疲劳强度计算公式如下： </a:t>
            </a:r>
            <a:endParaRPr lang="zh-CN" altLang="en-US" dirty="0">
              <a:solidFill>
                <a:srgbClr val="000099"/>
              </a:solidFill>
            </a:endParaRPr>
          </a:p>
        </p:txBody>
      </p:sp>
      <p:grpSp>
        <p:nvGrpSpPr>
          <p:cNvPr id="2" name="Group 21"/>
          <p:cNvGrpSpPr/>
          <p:nvPr/>
        </p:nvGrpSpPr>
        <p:grpSpPr bwMode="auto">
          <a:xfrm>
            <a:off x="1156095" y="1795751"/>
            <a:ext cx="5997575" cy="939799"/>
            <a:chOff x="653" y="2766"/>
            <a:chExt cx="3778" cy="592"/>
          </a:xfrm>
        </p:grpSpPr>
        <p:graphicFrame>
          <p:nvGraphicFramePr>
            <p:cNvPr id="12291" name="Object 13"/>
            <p:cNvGraphicFramePr>
              <a:graphicFrameLocks noChangeAspect="1"/>
            </p:cNvGraphicFramePr>
            <p:nvPr/>
          </p:nvGraphicFramePr>
          <p:xfrm>
            <a:off x="1489" y="2766"/>
            <a:ext cx="2942" cy="592"/>
          </p:xfrm>
          <a:graphic>
            <a:graphicData uri="http://schemas.openxmlformats.org/presentationml/2006/ole">
              <mc:AlternateContent xmlns:mc="http://schemas.openxmlformats.org/markup-compatibility/2006">
                <mc:Choice xmlns:v="urn:schemas-microsoft-com:vml" Requires="v">
                  <p:oleObj spid="_x0000_s12506" name="公式" r:id="rId3" imgW="2476500" imgH="495300" progId="Equation.3">
                    <p:embed/>
                  </p:oleObj>
                </mc:Choice>
                <mc:Fallback>
                  <p:oleObj name="公式" r:id="rId3" imgW="2476500" imgH="495300" progId="Equation.3">
                    <p:embed/>
                    <p:pic>
                      <p:nvPicPr>
                        <p:cNvPr id="0" name="Object 13"/>
                        <p:cNvPicPr>
                          <a:picLocks noChangeAspect="1" noChangeArrowheads="1"/>
                        </p:cNvPicPr>
                        <p:nvPr/>
                      </p:nvPicPr>
                      <p:blipFill>
                        <a:blip r:embed="rId4"/>
                        <a:srcRect/>
                        <a:stretch>
                          <a:fillRect/>
                        </a:stretch>
                      </p:blipFill>
                      <p:spPr bwMode="auto">
                        <a:xfrm>
                          <a:off x="1489" y="2766"/>
                          <a:ext cx="2942" cy="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5" name="Text Box 15"/>
            <p:cNvSpPr txBox="1">
              <a:spLocks noChangeArrowheads="1"/>
            </p:cNvSpPr>
            <p:nvPr/>
          </p:nvSpPr>
          <p:spPr bwMode="auto">
            <a:xfrm>
              <a:off x="653" y="2940"/>
              <a:ext cx="95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验算公式： </a:t>
              </a:r>
              <a:endParaRPr lang="zh-CN" altLang="en-US">
                <a:solidFill>
                  <a:srgbClr val="000099"/>
                </a:solidFill>
              </a:endParaRPr>
            </a:p>
          </p:txBody>
        </p:sp>
      </p:grpSp>
      <p:grpSp>
        <p:nvGrpSpPr>
          <p:cNvPr id="3" name="Group 23"/>
          <p:cNvGrpSpPr/>
          <p:nvPr/>
        </p:nvGrpSpPr>
        <p:grpSpPr bwMode="auto">
          <a:xfrm>
            <a:off x="957098" y="3031436"/>
            <a:ext cx="5710238" cy="903287"/>
            <a:chOff x="371" y="3431"/>
            <a:chExt cx="3597" cy="569"/>
          </a:xfrm>
        </p:grpSpPr>
        <p:graphicFrame>
          <p:nvGraphicFramePr>
            <p:cNvPr id="12290" name="Object 14"/>
            <p:cNvGraphicFramePr>
              <a:graphicFrameLocks noChangeAspect="1"/>
            </p:cNvGraphicFramePr>
            <p:nvPr/>
          </p:nvGraphicFramePr>
          <p:xfrm>
            <a:off x="1644" y="3431"/>
            <a:ext cx="2324" cy="569"/>
          </p:xfrm>
          <a:graphic>
            <a:graphicData uri="http://schemas.openxmlformats.org/presentationml/2006/ole">
              <mc:AlternateContent xmlns:mc="http://schemas.openxmlformats.org/markup-compatibility/2006">
                <mc:Choice xmlns:v="urn:schemas-microsoft-com:vml" Requires="v">
                  <p:oleObj spid="_x0000_s12507" name="公式" r:id="rId5" imgW="2145665" imgH="508000" progId="Equation.3">
                    <p:embed/>
                  </p:oleObj>
                </mc:Choice>
                <mc:Fallback>
                  <p:oleObj name="公式" r:id="rId5" imgW="2145665" imgH="508000" progId="Equation.3">
                    <p:embed/>
                    <p:pic>
                      <p:nvPicPr>
                        <p:cNvPr id="0" name="Object 14"/>
                        <p:cNvPicPr>
                          <a:picLocks noChangeAspect="1" noChangeArrowheads="1"/>
                        </p:cNvPicPr>
                        <p:nvPr/>
                      </p:nvPicPr>
                      <p:blipFill>
                        <a:blip r:embed="rId6"/>
                        <a:srcRect/>
                        <a:stretch>
                          <a:fillRect/>
                        </a:stretch>
                      </p:blipFill>
                      <p:spPr bwMode="auto">
                        <a:xfrm>
                          <a:off x="1644" y="3431"/>
                          <a:ext cx="2324"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4" name="Text Box 16"/>
            <p:cNvSpPr txBox="1">
              <a:spLocks noChangeArrowheads="1"/>
            </p:cNvSpPr>
            <p:nvPr/>
          </p:nvSpPr>
          <p:spPr bwMode="auto">
            <a:xfrm>
              <a:off x="371" y="3481"/>
              <a:ext cx="1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rPr>
                <a:t>设计计算公式： </a:t>
              </a:r>
              <a:endParaRPr lang="zh-CN" altLang="en-US" dirty="0">
                <a:solidFill>
                  <a:srgbClr val="000099"/>
                </a:solidFill>
              </a:endParaRPr>
            </a:p>
          </p:txBody>
        </p:sp>
      </p:grpSp>
      <p:sp>
        <p:nvSpPr>
          <p:cNvPr id="12300" name="Text Box 24"/>
          <p:cNvSpPr txBox="1">
            <a:spLocks noChangeArrowheads="1"/>
          </p:cNvSpPr>
          <p:nvPr/>
        </p:nvSpPr>
        <p:spPr bwMode="auto">
          <a:xfrm>
            <a:off x="6624638" y="6094413"/>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a:t> </a:t>
            </a:r>
            <a:endParaRPr lang="en-US" altLang="zh-CN"/>
          </a:p>
        </p:txBody>
      </p:sp>
      <mc:AlternateContent xmlns:mc="http://schemas.openxmlformats.org/markup-compatibility/2006">
        <mc:Choice xmlns:a14="http://schemas.microsoft.com/office/drawing/2010/main" Requires="a14">
          <p:sp>
            <p:nvSpPr>
              <p:cNvPr id="13325" name="矩形 18"/>
              <p:cNvSpPr>
                <a:spLocks noChangeArrowheads="1"/>
              </p:cNvSpPr>
              <p:nvPr/>
            </p:nvSpPr>
            <p:spPr bwMode="auto">
              <a:xfrm>
                <a:off x="729920" y="4166233"/>
                <a:ext cx="7871991"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smtClean="0">
                    <a:solidFill>
                      <a:srgbClr val="000099"/>
                    </a:solidFill>
                  </a:rPr>
                  <a:t>式中，各符号的意义与单位均与直齿轮类似。</a:t>
                </a:r>
                <a14:m>
                  <m:oMath xmlns:m="http://schemas.openxmlformats.org/officeDocument/2006/math">
                    <m:sSub>
                      <m:sSubPr>
                        <m:ctrlPr>
                          <a:rPr lang="en-US" altLang="zh-CN" i="1" smtClean="0">
                            <a:solidFill>
                              <a:srgbClr val="000099"/>
                            </a:solidFill>
                            <a:latin typeface="Cambria Math" panose="02040503050406030204" pitchFamily="18" charset="0"/>
                          </a:rPr>
                        </m:ctrlPr>
                      </m:sSubPr>
                      <m:e>
                        <m:r>
                          <a:rPr lang="zh-CN" altLang="en-US" i="1" smtClean="0">
                            <a:solidFill>
                              <a:srgbClr val="000099"/>
                            </a:solidFill>
                            <a:latin typeface="Cambria Math" panose="02040503050406030204" pitchFamily="18" charset="0"/>
                          </a:rPr>
                          <m:t>𝜎</m:t>
                        </m:r>
                      </m:e>
                      <m:sub>
                        <m:r>
                          <a:rPr lang="en-US" altLang="zh-CN" b="0" i="1" smtClean="0">
                            <a:solidFill>
                              <a:srgbClr val="000099"/>
                            </a:solidFill>
                            <a:latin typeface="Cambria Math" panose="02040503050406030204" pitchFamily="18" charset="0"/>
                          </a:rPr>
                          <m:t>𝐻</m:t>
                        </m:r>
                        <m:r>
                          <a:rPr lang="zh-CN" altLang="en-US" i="1">
                            <a:solidFill>
                              <a:srgbClr val="000099"/>
                            </a:solidFill>
                            <a:latin typeface="Cambria Math" panose="02040503050406030204" pitchFamily="18" charset="0"/>
                          </a:rPr>
                          <m:t>、</m:t>
                        </m:r>
                      </m:sub>
                    </m:sSub>
                    <m:r>
                      <a:rPr lang="en-US" altLang="zh-CN" b="0" i="1" smtClean="0">
                        <a:solidFill>
                          <a:srgbClr val="000099"/>
                        </a:solidFill>
                        <a:latin typeface="Cambria Math" panose="02040503050406030204" pitchFamily="18" charset="0"/>
                      </a:rPr>
                      <m:t>[</m:t>
                    </m:r>
                    <m:sSub>
                      <m:sSubPr>
                        <m:ctrlPr>
                          <a:rPr lang="en-US" altLang="zh-CN" b="0" i="1" smtClean="0">
                            <a:solidFill>
                              <a:srgbClr val="000099"/>
                            </a:solidFill>
                            <a:latin typeface="Cambria Math" panose="02040503050406030204" pitchFamily="18" charset="0"/>
                          </a:rPr>
                        </m:ctrlPr>
                      </m:sSubPr>
                      <m:e>
                        <m:r>
                          <a:rPr lang="zh-CN" altLang="en-US" b="0" i="1" smtClean="0">
                            <a:solidFill>
                              <a:srgbClr val="000099"/>
                            </a:solidFill>
                            <a:latin typeface="Cambria Math" panose="02040503050406030204" pitchFamily="18" charset="0"/>
                          </a:rPr>
                          <m:t>𝜎</m:t>
                        </m:r>
                      </m:e>
                      <m:sub>
                        <m:r>
                          <a:rPr lang="en-US" altLang="zh-CN" b="0" i="1" smtClean="0">
                            <a:solidFill>
                              <a:srgbClr val="000099"/>
                            </a:solidFill>
                            <a:latin typeface="Cambria Math" panose="02040503050406030204" pitchFamily="18" charset="0"/>
                          </a:rPr>
                          <m:t>𝐻</m:t>
                        </m:r>
                      </m:sub>
                    </m:sSub>
                  </m:oMath>
                </a14:m>
                <a:r>
                  <a:rPr lang="en-US" altLang="zh-CN" dirty="0" smtClean="0">
                    <a:solidFill>
                      <a:srgbClr val="000099"/>
                    </a:solidFill>
                  </a:rPr>
                  <a:t>]</a:t>
                </a:r>
                <a:r>
                  <a:rPr lang="zh-CN" altLang="en-US" dirty="0" smtClean="0">
                    <a:solidFill>
                      <a:srgbClr val="000099"/>
                    </a:solidFill>
                  </a:rPr>
                  <a:t>的单位为</a:t>
                </a:r>
                <a:r>
                  <a:rPr lang="en-US" altLang="zh-CN" dirty="0" err="1" smtClean="0">
                    <a:solidFill>
                      <a:srgbClr val="000099"/>
                    </a:solidFill>
                  </a:rPr>
                  <a:t>MPa</a:t>
                </a:r>
                <a:r>
                  <a:rPr lang="zh-CN" altLang="en-US" dirty="0" smtClean="0">
                    <a:solidFill>
                      <a:srgbClr val="000099"/>
                    </a:solidFill>
                  </a:rPr>
                  <a:t>；</a:t>
                </a:r>
                <a14:m>
                  <m:oMath xmlns:m="http://schemas.openxmlformats.org/officeDocument/2006/math">
                    <m:sSub>
                      <m:sSubPr>
                        <m:ctrlPr>
                          <a:rPr lang="en-US" altLang="zh-CN" i="1" smtClean="0">
                            <a:solidFill>
                              <a:srgbClr val="000099"/>
                            </a:solidFill>
                            <a:latin typeface="Cambria Math" panose="02040503050406030204" pitchFamily="18" charset="0"/>
                          </a:rPr>
                        </m:ctrlPr>
                      </m:sSubPr>
                      <m:e>
                        <m:r>
                          <a:rPr lang="en-US" altLang="zh-CN" b="0" i="1" smtClean="0">
                            <a:solidFill>
                              <a:srgbClr val="000099"/>
                            </a:solidFill>
                            <a:latin typeface="Cambria Math" panose="02040503050406030204" pitchFamily="18" charset="0"/>
                          </a:rPr>
                          <m:t>𝑑</m:t>
                        </m:r>
                      </m:e>
                      <m:sub>
                        <m:r>
                          <a:rPr lang="en-US" altLang="zh-CN" b="0" i="1" smtClean="0">
                            <a:solidFill>
                              <a:srgbClr val="000099"/>
                            </a:solidFill>
                            <a:latin typeface="Cambria Math" panose="02040503050406030204" pitchFamily="18" charset="0"/>
                          </a:rPr>
                          <m:t>1</m:t>
                        </m:r>
                      </m:sub>
                    </m:sSub>
                    <m:r>
                      <a:rPr lang="zh-CN" altLang="en-US" i="1">
                        <a:solidFill>
                          <a:srgbClr val="000099"/>
                        </a:solidFill>
                        <a:latin typeface="Cambria Math" panose="02040503050406030204" pitchFamily="18" charset="0"/>
                      </a:rPr>
                      <m:t>的</m:t>
                    </m:r>
                  </m:oMath>
                </a14:m>
                <a:r>
                  <a:rPr lang="zh-CN" altLang="en-US" dirty="0" smtClean="0">
                    <a:solidFill>
                      <a:srgbClr val="000099"/>
                    </a:solidFill>
                  </a:rPr>
                  <a:t>单位为</a:t>
                </a:r>
                <a:r>
                  <a:rPr lang="en-US" altLang="zh-CN" dirty="0" smtClean="0">
                    <a:solidFill>
                      <a:srgbClr val="000099"/>
                    </a:solidFill>
                  </a:rPr>
                  <a:t>mm</a:t>
                </a:r>
                <a:r>
                  <a:rPr lang="zh-CN" altLang="en-US" dirty="0" smtClean="0">
                    <a:solidFill>
                      <a:srgbClr val="000099"/>
                    </a:solidFill>
                  </a:rPr>
                  <a:t>。</a:t>
                </a:r>
                <a:endParaRPr lang="zh-CN" altLang="en-US" dirty="0">
                  <a:solidFill>
                    <a:srgbClr val="000099"/>
                  </a:solidFill>
                </a:endParaRPr>
              </a:p>
            </p:txBody>
          </p:sp>
        </mc:Choice>
        <mc:Fallback>
          <p:sp>
            <p:nvSpPr>
              <p:cNvPr id="13325" name="矩形 18"/>
              <p:cNvSpPr>
                <a:spLocks noRot="1" noChangeAspect="1" noMove="1" noResize="1" noEditPoints="1" noAdjustHandles="1" noChangeArrowheads="1" noChangeShapeType="1" noTextEdit="1"/>
              </p:cNvSpPr>
              <p:nvPr/>
            </p:nvSpPr>
            <p:spPr bwMode="auto">
              <a:xfrm>
                <a:off x="729920" y="4166233"/>
                <a:ext cx="7871991" cy="706755"/>
              </a:xfrm>
              <a:prstGeom prst="rect">
                <a:avLst/>
              </a:prstGeom>
              <a:blipFill rotWithShape="1">
                <a:blip r:embed="rId7"/>
                <a:stretch>
                  <a:fillRect l="-4" t="-90" r="3" b="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2302" name="Text Box 5"/>
          <p:cNvSpPr txBox="1">
            <a:spLocks noChangeArrowheads="1"/>
          </p:cNvSpPr>
          <p:nvPr/>
        </p:nvSpPr>
        <p:spPr bwMode="auto">
          <a:xfrm>
            <a:off x="739775" y="260350"/>
            <a:ext cx="786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3.4-8 </a:t>
            </a:r>
            <a:r>
              <a:rPr lang="zh-CN" altLang="en-US" sz="3000" dirty="0">
                <a:solidFill>
                  <a:srgbClr val="CC3300"/>
                </a:solidFill>
                <a:latin typeface="黑体" panose="02010609060101010101" pitchFamily="49" charset="-122"/>
                <a:ea typeface="黑体" panose="02010609060101010101" pitchFamily="49" charset="-122"/>
              </a:rPr>
              <a:t>直齿锥齿轮传动的受力分析和强度计算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230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1" name="Text Box 8"/>
          <p:cNvSpPr txBox="1">
            <a:spLocks noChangeArrowheads="1"/>
          </p:cNvSpPr>
          <p:nvPr/>
        </p:nvSpPr>
        <p:spPr bwMode="auto">
          <a:xfrm>
            <a:off x="788796" y="5373384"/>
            <a:ext cx="82817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dirty="0" smtClean="0">
                <a:solidFill>
                  <a:srgbClr val="000099"/>
                </a:solidFill>
                <a:latin typeface="黑体" panose="02010609060101010101" pitchFamily="49" charset="-122"/>
                <a:ea typeface="黑体" panose="02010609060101010101" pitchFamily="49" charset="-122"/>
                <a:cs typeface="黑体" panose="02010609060101010101" pitchFamily="49" charset="-122"/>
              </a:rPr>
              <a:t>重合度系数</a:t>
            </a:r>
            <a:r>
              <a:rPr lang="en-US" altLang="zh-CN" i="1" dirty="0" err="1" smtClean="0">
                <a:solidFill>
                  <a:srgbClr val="000099"/>
                </a:solidFill>
                <a:latin typeface="黑体" panose="02010609060101010101" pitchFamily="49" charset="-122"/>
                <a:ea typeface="黑体" panose="02010609060101010101" pitchFamily="49" charset="-122"/>
                <a:cs typeface="黑体" panose="02010609060101010101" pitchFamily="49" charset="-122"/>
              </a:rPr>
              <a:t>Z</a:t>
            </a:r>
            <a:r>
              <a:rPr lang="en-US" altLang="zh-CN" baseline="-25000" dirty="0" err="1" smtClean="0">
                <a:solidFill>
                  <a:srgbClr val="000099"/>
                </a:solidFill>
                <a:latin typeface="黑体" panose="02010609060101010101" pitchFamily="49" charset="-122"/>
                <a:ea typeface="黑体" panose="02010609060101010101" pitchFamily="49" charset="-122"/>
                <a:cs typeface="黑体" panose="02010609060101010101" pitchFamily="49" charset="-122"/>
              </a:rPr>
              <a:t>ε</a:t>
            </a:r>
            <a:r>
              <a:rPr lang="zh-CN" altLang="en-US" dirty="0">
                <a:solidFill>
                  <a:srgbClr val="000099"/>
                </a:solidFill>
                <a:latin typeface="黑体" panose="02010609060101010101" pitchFamily="49" charset="-122"/>
                <a:ea typeface="黑体" panose="02010609060101010101" pitchFamily="49" charset="-122"/>
                <a:cs typeface="黑体" panose="02010609060101010101" pitchFamily="49" charset="-122"/>
              </a:rPr>
              <a:t>按照当量齿轮的</a:t>
            </a:r>
            <a:r>
              <a:rPr lang="zh-CN" altLang="en-US" dirty="0" smtClean="0">
                <a:solidFill>
                  <a:srgbClr val="000099"/>
                </a:solidFill>
                <a:latin typeface="黑体" panose="02010609060101010101" pitchFamily="49" charset="-122"/>
                <a:ea typeface="黑体" panose="02010609060101010101" pitchFamily="49" charset="-122"/>
                <a:cs typeface="黑体" panose="02010609060101010101" pitchFamily="49" charset="-122"/>
              </a:rPr>
              <a:t>齿数计算。</a:t>
            </a:r>
            <a:endParaRPr lang="zh-CN" altLang="en-US"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nvSpPr>
        <p:spPr>
          <a:xfrm>
            <a:off x="788670" y="5895340"/>
            <a:ext cx="5624195"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rPr>
              <a:t>许用接触应力</a:t>
            </a:r>
            <a:r>
              <a:rPr lang="en-US" altLang="zh-CN">
                <a:latin typeface="黑体" panose="02010609060101010101" pitchFamily="49" charset="-122"/>
                <a:ea typeface="黑体" panose="02010609060101010101" pitchFamily="49" charset="-122"/>
                <a:cs typeface="黑体" panose="02010609060101010101" pitchFamily="49" charset="-122"/>
              </a:rPr>
              <a:t>[</a:t>
            </a:r>
            <a:r>
              <a:rPr lang="en-US" altLang="zh-CN">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a:t>
            </a:r>
            <a:r>
              <a:rPr lang="en-US" altLang="zh-CN" baseline="-25000">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H</a:t>
            </a:r>
            <a:r>
              <a:rPr lang="en-US" altLang="zh-CN">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a:t>
            </a:r>
            <a:r>
              <a:rPr lang="zh-CN" altLang="en-US">
                <a:latin typeface="黑体" panose="02010609060101010101" pitchFamily="49" charset="-122"/>
                <a:ea typeface="黑体" panose="02010609060101010101" pitchFamily="49" charset="-122"/>
                <a:cs typeface="黑体" panose="02010609060101010101" pitchFamily="49" charset="-122"/>
                <a:sym typeface="Symbol" panose="05050102010706020507" charset="0"/>
              </a:rPr>
              <a:t>的选取同圆柱齿轮</a:t>
            </a:r>
            <a:endParaRPr lang="zh-CN" altLang="en-US">
              <a:latin typeface="黑体" panose="02010609060101010101" pitchFamily="49" charset="-122"/>
              <a:ea typeface="黑体" panose="02010609060101010101" pitchFamily="49" charset="-122"/>
              <a:cs typeface="黑体" panose="02010609060101010101" pitchFamily="49" charset="-122"/>
              <a:sym typeface="Symbol" panose="05050102010706020507" charset="0"/>
            </a:endParaRPr>
          </a:p>
        </p:txBody>
      </p:sp>
      <p:graphicFrame>
        <p:nvGraphicFramePr>
          <p:cNvPr id="5" name="对象 4">
            <a:hlinkClick r:id="" action="ppaction://ole?verb="/>
          </p:cNvPr>
          <p:cNvGraphicFramePr>
            <a:graphicFrameLocks noChangeAspect="1"/>
          </p:cNvGraphicFramePr>
          <p:nvPr/>
        </p:nvGraphicFramePr>
        <p:xfrm>
          <a:off x="2155825" y="4925060"/>
          <a:ext cx="3792855" cy="570865"/>
        </p:xfrm>
        <a:graphic>
          <a:graphicData uri="http://schemas.openxmlformats.org/presentationml/2006/ole">
            <mc:AlternateContent xmlns:mc="http://schemas.openxmlformats.org/markup-compatibility/2006">
              <mc:Choice xmlns:v="urn:schemas-microsoft-com:vml" Requires="v">
                <p:oleObj spid="_x0000_s4097" name="" r:id="rId8" imgW="2616200" imgH="393700" progId="Equation.KSEE3">
                  <p:embed/>
                </p:oleObj>
              </mc:Choice>
              <mc:Fallback>
                <p:oleObj name="" r:id="rId8" imgW="2616200" imgH="393700" progId="Equation.KSEE3">
                  <p:embed/>
                  <p:pic>
                    <p:nvPicPr>
                      <p:cNvPr id="0" name="图片 4096"/>
                      <p:cNvPicPr/>
                      <p:nvPr/>
                    </p:nvPicPr>
                    <p:blipFill>
                      <a:blip r:embed="rId9"/>
                      <a:stretch>
                        <a:fillRect/>
                      </a:stretch>
                    </p:blipFill>
                    <p:spPr>
                      <a:xfrm>
                        <a:off x="2155825" y="4925060"/>
                        <a:ext cx="3792855" cy="570865"/>
                      </a:xfrm>
                      <a:prstGeom prst="rect">
                        <a:avLst/>
                      </a:prstGeom>
                    </p:spPr>
                  </p:pic>
                </p:oleObj>
              </mc:Fallback>
            </mc:AlternateContent>
          </a:graphicData>
        </a:graphic>
      </p:graphicFrame>
      <p:sp>
        <p:nvSpPr>
          <p:cNvPr id="6" name="文本框 5"/>
          <p:cNvSpPr txBox="1"/>
          <p:nvPr/>
        </p:nvSpPr>
        <p:spPr>
          <a:xfrm>
            <a:off x="911225" y="4979035"/>
            <a:ext cx="1324610"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齿宽系数</a:t>
            </a:r>
            <a:endParaRPr lang="zh-CN" altLang="en-US">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88"/>
                                        </p:tgtEl>
                                        <p:attrNameLst>
                                          <p:attrName>style.visibility</p:attrName>
                                        </p:attrNameLst>
                                      </p:cBhvr>
                                      <p:to>
                                        <p:strVal val="visible"/>
                                      </p:to>
                                    </p:set>
                                    <p:animEffect transition="in" filter="wipe(left)">
                                      <p:cBhvr>
                                        <p:cTn id="7" dur="500"/>
                                        <p:tgtEl>
                                          <p:spTgt spid="757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32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499"/>
                                          </p:stCondLst>
                                        </p:cTn>
                                        <p:tgtEl>
                                          <p:spTgt spid="75782"/>
                                        </p:tgtEl>
                                        <p:attrNameLst>
                                          <p:attrName>style.visibility</p:attrName>
                                        </p:attrNameLst>
                                      </p:cBhvr>
                                      <p:to>
                                        <p:strVal val="visible"/>
                                      </p:to>
                                    </p:set>
                                  </p:childTnLst>
                                </p:cTn>
                              </p:par>
                            </p:childTnLst>
                          </p:cTn>
                        </p:par>
                        <p:par>
                          <p:cTn id="25" fill="hold">
                            <p:stCondLst>
                              <p:cond delay="500"/>
                            </p:stCondLst>
                            <p:childTnLst>
                              <p:par>
                                <p:cTn id="26" presetID="2" presetClass="entr" presetSubtype="8" fill="hold" nodeType="afterEffect">
                                  <p:stCondLst>
                                    <p:cond delay="0"/>
                                  </p:stCondLst>
                                  <p:childTnLst>
                                    <p:set>
                                      <p:cBhvr>
                                        <p:cTn id="27" dur="1" fill="hold">
                                          <p:stCondLst>
                                            <p:cond delay="0"/>
                                          </p:stCondLst>
                                        </p:cTn>
                                        <p:tgtEl>
                                          <p:spTgt spid="75784"/>
                                        </p:tgtEl>
                                        <p:attrNameLst>
                                          <p:attrName>style.visibility</p:attrName>
                                        </p:attrNameLst>
                                      </p:cBhvr>
                                      <p:to>
                                        <p:strVal val="visible"/>
                                      </p:to>
                                    </p:set>
                                    <p:anim calcmode="lin" valueType="num">
                                      <p:cBhvr additive="base">
                                        <p:cTn id="28" dur="500" fill="hold"/>
                                        <p:tgtEl>
                                          <p:spTgt spid="75784"/>
                                        </p:tgtEl>
                                        <p:attrNameLst>
                                          <p:attrName>ppt_x</p:attrName>
                                        </p:attrNameLst>
                                      </p:cBhvr>
                                      <p:tavLst>
                                        <p:tav tm="0">
                                          <p:val>
                                            <p:strVal val="0-#ppt_w/2"/>
                                          </p:val>
                                        </p:tav>
                                        <p:tav tm="100000">
                                          <p:val>
                                            <p:strVal val="#ppt_x"/>
                                          </p:val>
                                        </p:tav>
                                      </p:tavLst>
                                    </p:anim>
                                    <p:anim calcmode="lin" valueType="num">
                                      <p:cBhvr additive="base">
                                        <p:cTn id="29" dur="500" fill="hold"/>
                                        <p:tgtEl>
                                          <p:spTgt spid="7578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8" grpId="0" autoUpdateAnimBg="0"/>
      <p:bldP spid="13325" grpId="0"/>
      <p:bldP spid="21" grpId="0" autoUpdateAnimBg="0"/>
      <p:bldP spid="4" grpId="0"/>
      <p:bldP spid="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bwMode="auto">
          <a:xfrm>
            <a:off x="5794375" y="828675"/>
            <a:ext cx="1828800" cy="182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锥齿轮传动的强度计算</a:t>
            </a:r>
            <a:r>
              <a:rPr lang="en-US" altLang="zh-CN" sz="800" smtClean="0">
                <a:solidFill>
                  <a:schemeClr val="bg1"/>
                </a:solidFill>
                <a:latin typeface="Times New Roman" panose="02020603050405020304" pitchFamily="18" charset="0"/>
              </a:rPr>
              <a:t>3</a:t>
            </a:r>
            <a:endParaRPr lang="en-US" altLang="zh-CN" sz="800" smtClean="0">
              <a:solidFill>
                <a:schemeClr val="bg1"/>
              </a:solidFill>
              <a:latin typeface="Times New Roman" panose="02020603050405020304" pitchFamily="18" charset="0"/>
            </a:endParaRPr>
          </a:p>
        </p:txBody>
      </p:sp>
      <p:sp>
        <p:nvSpPr>
          <p:cNvPr id="74756" name="Text Box 4"/>
          <p:cNvSpPr txBox="1">
            <a:spLocks noChangeArrowheads="1"/>
          </p:cNvSpPr>
          <p:nvPr/>
        </p:nvSpPr>
        <p:spPr bwMode="auto">
          <a:xfrm>
            <a:off x="285750" y="890588"/>
            <a:ext cx="36753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四、齿根弯曲疲劳强度计算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74757" name="Text Box 5"/>
          <p:cNvSpPr txBox="1">
            <a:spLocks noChangeArrowheads="1"/>
          </p:cNvSpPr>
          <p:nvPr/>
        </p:nvSpPr>
        <p:spPr bwMode="auto">
          <a:xfrm>
            <a:off x="250825" y="1252538"/>
            <a:ext cx="8893175"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dirty="0">
                <a:solidFill>
                  <a:srgbClr val="000099"/>
                </a:solidFill>
              </a:rPr>
              <a:t>　　直齿锥齿轮的弯曲疲劳强度可近似地按</a:t>
            </a:r>
            <a:r>
              <a:rPr lang="zh-CN" altLang="en-US" dirty="0">
                <a:solidFill>
                  <a:srgbClr val="FF0000"/>
                </a:solidFill>
              </a:rPr>
              <a:t>齿宽中点处的当量圆柱齿轮</a:t>
            </a:r>
            <a:r>
              <a:rPr lang="zh-CN" altLang="en-US" dirty="0">
                <a:solidFill>
                  <a:srgbClr val="000099"/>
                </a:solidFill>
              </a:rPr>
              <a:t>进行计算。采用直齿圆柱齿轮强度计算公式，并代入当量齿轮的相应参数，</a:t>
            </a:r>
            <a:r>
              <a:rPr lang="zh-CN" altLang="en-US" dirty="0">
                <a:solidFill>
                  <a:srgbClr val="000099"/>
                </a:solidFill>
                <a:sym typeface="+mn-ea"/>
              </a:rPr>
              <a:t>并考虑锥齿轮的实际承载能力只有圆柱齿轮的</a:t>
            </a:r>
            <a:r>
              <a:rPr lang="en-US" altLang="zh-CN" dirty="0">
                <a:solidFill>
                  <a:srgbClr val="FF0000"/>
                </a:solidFill>
                <a:sym typeface="+mn-ea"/>
              </a:rPr>
              <a:t>85%</a:t>
            </a:r>
            <a:r>
              <a:rPr lang="zh-CN" altLang="en-US" dirty="0">
                <a:solidFill>
                  <a:srgbClr val="000099"/>
                </a:solidFill>
                <a:sym typeface="+mn-ea"/>
              </a:rPr>
              <a:t>，</a:t>
            </a:r>
            <a:r>
              <a:rPr lang="zh-CN" altLang="en-US" dirty="0">
                <a:solidFill>
                  <a:srgbClr val="000099"/>
                </a:solidFill>
              </a:rPr>
              <a:t>得直齿锥齿轮弯曲强度校核式和设计式如下： </a:t>
            </a:r>
            <a:endParaRPr lang="zh-CN" altLang="en-US" dirty="0">
              <a:solidFill>
                <a:srgbClr val="000099"/>
              </a:solidFill>
            </a:endParaRPr>
          </a:p>
        </p:txBody>
      </p:sp>
      <p:sp>
        <p:nvSpPr>
          <p:cNvPr id="74760" name="Text Box 8"/>
          <p:cNvSpPr txBox="1">
            <a:spLocks noChangeArrowheads="1"/>
          </p:cNvSpPr>
          <p:nvPr/>
        </p:nvSpPr>
        <p:spPr bwMode="auto">
          <a:xfrm>
            <a:off x="379354" y="5770195"/>
            <a:ext cx="8281725" cy="103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ct val="140000"/>
              </a:lnSpc>
            </a:pPr>
            <a:r>
              <a:rPr lang="zh-CN" altLang="en-US" dirty="0">
                <a:solidFill>
                  <a:srgbClr val="000099"/>
                </a:solidFill>
              </a:rPr>
              <a:t>　　</a:t>
            </a:r>
            <a:r>
              <a:rPr lang="zh-CN" altLang="en-US" sz="2200" dirty="0" smtClean="0">
                <a:solidFill>
                  <a:srgbClr val="000099"/>
                </a:solidFill>
              </a:rPr>
              <a:t>齿形系数</a:t>
            </a:r>
            <a:r>
              <a:rPr lang="en-US" altLang="zh-CN" sz="2200" i="1" dirty="0" err="1" smtClean="0">
                <a:solidFill>
                  <a:srgbClr val="000099"/>
                </a:solidFill>
              </a:rPr>
              <a:t>Y</a:t>
            </a:r>
            <a:r>
              <a:rPr lang="en-US" altLang="zh-CN" sz="2200" baseline="-25000" dirty="0" err="1" smtClean="0">
                <a:solidFill>
                  <a:srgbClr val="000099"/>
                </a:solidFill>
              </a:rPr>
              <a:t>F</a:t>
            </a:r>
            <a:r>
              <a:rPr lang="en-US" altLang="zh-CN" sz="2200" i="1" dirty="0" smtClean="0">
                <a:solidFill>
                  <a:srgbClr val="000099"/>
                </a:solidFill>
              </a:rPr>
              <a:t> </a:t>
            </a:r>
            <a:r>
              <a:rPr lang="zh-CN" altLang="en-US" sz="2200" dirty="0">
                <a:solidFill>
                  <a:srgbClr val="000099"/>
                </a:solidFill>
              </a:rPr>
              <a:t>按照</a:t>
            </a:r>
            <a:r>
              <a:rPr lang="zh-CN" altLang="en-US" sz="2200" dirty="0">
                <a:solidFill>
                  <a:srgbClr val="FF0000"/>
                </a:solidFill>
              </a:rPr>
              <a:t>当量齿轮的齿数</a:t>
            </a:r>
            <a:r>
              <a:rPr lang="zh-CN" altLang="en-US" sz="2200" dirty="0">
                <a:solidFill>
                  <a:srgbClr val="000099"/>
                </a:solidFill>
              </a:rPr>
              <a:t>由图</a:t>
            </a:r>
            <a:r>
              <a:rPr lang="en-US" altLang="zh-CN" sz="2200" dirty="0">
                <a:solidFill>
                  <a:srgbClr val="000099"/>
                </a:solidFill>
              </a:rPr>
              <a:t>3.4-16</a:t>
            </a:r>
            <a:r>
              <a:rPr lang="zh-CN" altLang="en-US" sz="2200" dirty="0">
                <a:solidFill>
                  <a:srgbClr val="000099"/>
                </a:solidFill>
              </a:rPr>
              <a:t>查</a:t>
            </a:r>
            <a:r>
              <a:rPr lang="zh-CN" altLang="en-US" sz="2200" dirty="0" smtClean="0">
                <a:solidFill>
                  <a:srgbClr val="000099"/>
                </a:solidFill>
              </a:rPr>
              <a:t>取；重</a:t>
            </a:r>
            <a:r>
              <a:rPr lang="zh-CN" altLang="en-US" sz="2200" dirty="0">
                <a:solidFill>
                  <a:srgbClr val="000099"/>
                </a:solidFill>
              </a:rPr>
              <a:t>合度</a:t>
            </a:r>
            <a:r>
              <a:rPr lang="zh-CN" altLang="en-US" sz="2200" dirty="0" smtClean="0">
                <a:solidFill>
                  <a:srgbClr val="000099"/>
                </a:solidFill>
              </a:rPr>
              <a:t>系数</a:t>
            </a:r>
            <a:r>
              <a:rPr lang="en-US" altLang="zh-CN" sz="2200" i="1" dirty="0" err="1" smtClean="0">
                <a:solidFill>
                  <a:srgbClr val="000099"/>
                </a:solidFill>
              </a:rPr>
              <a:t>Y</a:t>
            </a:r>
            <a:r>
              <a:rPr lang="en-US" altLang="zh-CN" sz="2200" baseline="-25000" dirty="0" err="1" smtClean="0">
                <a:solidFill>
                  <a:srgbClr val="000099"/>
                </a:solidFill>
              </a:rPr>
              <a:t>ε</a:t>
            </a:r>
            <a:r>
              <a:rPr lang="zh-CN" altLang="en-US" sz="2200" dirty="0">
                <a:solidFill>
                  <a:srgbClr val="000099"/>
                </a:solidFill>
              </a:rPr>
              <a:t>按当量齿轮</a:t>
            </a:r>
            <a:r>
              <a:rPr lang="zh-CN" altLang="en-US" sz="2200" dirty="0" smtClean="0">
                <a:solidFill>
                  <a:srgbClr val="000099"/>
                </a:solidFill>
              </a:rPr>
              <a:t>计算。</a:t>
            </a:r>
            <a:endParaRPr lang="zh-CN" altLang="en-US" sz="2200" dirty="0">
              <a:solidFill>
                <a:srgbClr val="000099"/>
              </a:solidFill>
            </a:endParaRPr>
          </a:p>
        </p:txBody>
      </p:sp>
      <p:grpSp>
        <p:nvGrpSpPr>
          <p:cNvPr id="2" name="Group 21"/>
          <p:cNvGrpSpPr/>
          <p:nvPr/>
        </p:nvGrpSpPr>
        <p:grpSpPr bwMode="auto">
          <a:xfrm>
            <a:off x="285128" y="2970337"/>
            <a:ext cx="8322098" cy="1304249"/>
            <a:chOff x="244" y="2219"/>
            <a:chExt cx="4292" cy="588"/>
          </a:xfrm>
        </p:grpSpPr>
        <p:graphicFrame>
          <p:nvGraphicFramePr>
            <p:cNvPr id="11267" name="Object 6"/>
            <p:cNvGraphicFramePr>
              <a:graphicFrameLocks noChangeAspect="1"/>
            </p:cNvGraphicFramePr>
            <p:nvPr/>
          </p:nvGraphicFramePr>
          <p:xfrm>
            <a:off x="364" y="2392"/>
            <a:ext cx="4172" cy="415"/>
          </p:xfrm>
          <a:graphic>
            <a:graphicData uri="http://schemas.openxmlformats.org/presentationml/2006/ole">
              <mc:AlternateContent xmlns:mc="http://schemas.openxmlformats.org/markup-compatibility/2006">
                <mc:Choice xmlns:v="urn:schemas-microsoft-com:vml" Requires="v">
                  <p:oleObj spid="_x0000_s11488" name="公式" r:id="rId1" imgW="4660265" imgH="482600" progId="Equation.3">
                    <p:embed/>
                  </p:oleObj>
                </mc:Choice>
                <mc:Fallback>
                  <p:oleObj name="公式" r:id="rId1" imgW="4660265" imgH="482600" progId="Equation.3">
                    <p:embed/>
                    <p:pic>
                      <p:nvPicPr>
                        <p:cNvPr id="0" name="Object 6"/>
                        <p:cNvPicPr>
                          <a:picLocks noChangeAspect="1" noChangeArrowheads="1"/>
                        </p:cNvPicPr>
                        <p:nvPr/>
                      </p:nvPicPr>
                      <p:blipFill>
                        <a:blip r:embed="rId2"/>
                        <a:srcRect/>
                        <a:stretch>
                          <a:fillRect/>
                        </a:stretch>
                      </p:blipFill>
                      <p:spPr bwMode="auto">
                        <a:xfrm>
                          <a:off x="364" y="2392"/>
                          <a:ext cx="4172"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81" name="Text Box 13"/>
            <p:cNvSpPr txBox="1">
              <a:spLocks noChangeArrowheads="1"/>
            </p:cNvSpPr>
            <p:nvPr/>
          </p:nvSpPr>
          <p:spPr bwMode="auto">
            <a:xfrm>
              <a:off x="244" y="2219"/>
              <a:ext cx="123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校核计算公式：</a:t>
              </a:r>
              <a:endParaRPr lang="zh-CN" altLang="en-US">
                <a:solidFill>
                  <a:srgbClr val="000099"/>
                </a:solidFill>
              </a:endParaRPr>
            </a:p>
          </p:txBody>
        </p:sp>
      </p:grpSp>
      <p:grpSp>
        <p:nvGrpSpPr>
          <p:cNvPr id="3" name="Group 22"/>
          <p:cNvGrpSpPr/>
          <p:nvPr/>
        </p:nvGrpSpPr>
        <p:grpSpPr bwMode="auto">
          <a:xfrm>
            <a:off x="875665" y="4385626"/>
            <a:ext cx="6318251" cy="904874"/>
            <a:chOff x="580" y="2319"/>
            <a:chExt cx="3980" cy="570"/>
          </a:xfrm>
        </p:grpSpPr>
        <p:graphicFrame>
          <p:nvGraphicFramePr>
            <p:cNvPr id="11266" name="Object 7"/>
            <p:cNvGraphicFramePr>
              <a:graphicFrameLocks noChangeAspect="1"/>
            </p:cNvGraphicFramePr>
            <p:nvPr/>
          </p:nvGraphicFramePr>
          <p:xfrm>
            <a:off x="1802" y="2319"/>
            <a:ext cx="2758" cy="570"/>
          </p:xfrm>
          <a:graphic>
            <a:graphicData uri="http://schemas.openxmlformats.org/presentationml/2006/ole">
              <mc:AlternateContent xmlns:mc="http://schemas.openxmlformats.org/markup-compatibility/2006">
                <mc:Choice xmlns:v="urn:schemas-microsoft-com:vml" Requires="v">
                  <p:oleObj spid="_x0000_s11489" name="公式" r:id="rId3" imgW="2145665" imgH="508000" progId="Equation.3">
                    <p:embed/>
                  </p:oleObj>
                </mc:Choice>
                <mc:Fallback>
                  <p:oleObj name="公式" r:id="rId3" imgW="2145665" imgH="508000" progId="Equation.3">
                    <p:embed/>
                    <p:pic>
                      <p:nvPicPr>
                        <p:cNvPr id="0" name="Object 7"/>
                        <p:cNvPicPr>
                          <a:picLocks noChangeAspect="1" noChangeArrowheads="1"/>
                        </p:cNvPicPr>
                        <p:nvPr/>
                      </p:nvPicPr>
                      <p:blipFill>
                        <a:blip r:embed="rId4"/>
                        <a:srcRect/>
                        <a:stretch>
                          <a:fillRect/>
                        </a:stretch>
                      </p:blipFill>
                      <p:spPr bwMode="auto">
                        <a:xfrm>
                          <a:off x="1802" y="2319"/>
                          <a:ext cx="2758"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80" name="Text Box 14"/>
            <p:cNvSpPr txBox="1">
              <a:spLocks noChangeArrowheads="1"/>
            </p:cNvSpPr>
            <p:nvPr/>
          </p:nvSpPr>
          <p:spPr bwMode="auto">
            <a:xfrm>
              <a:off x="580" y="2431"/>
              <a:ext cx="123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000099"/>
                  </a:solidFill>
                </a:rPr>
                <a:t>设计计算公式：</a:t>
              </a:r>
              <a:endParaRPr lang="zh-CN" altLang="en-US">
                <a:solidFill>
                  <a:srgbClr val="000099"/>
                </a:solidFill>
              </a:endParaRPr>
            </a:p>
          </p:txBody>
        </p:sp>
      </p:grpSp>
      <p:sp>
        <p:nvSpPr>
          <p:cNvPr id="11278" name="Text Box 5"/>
          <p:cNvSpPr txBox="1">
            <a:spLocks noChangeArrowheads="1"/>
          </p:cNvSpPr>
          <p:nvPr/>
        </p:nvSpPr>
        <p:spPr bwMode="auto">
          <a:xfrm>
            <a:off x="739775" y="260350"/>
            <a:ext cx="786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en-US" altLang="zh-CN" sz="2800" dirty="0" smtClean="0">
                <a:solidFill>
                  <a:srgbClr val="CC3300"/>
                </a:solidFill>
                <a:latin typeface="黑体" panose="02010609060101010101" pitchFamily="49" charset="-122"/>
                <a:ea typeface="黑体" panose="02010609060101010101" pitchFamily="49" charset="-122"/>
              </a:rPr>
              <a:t>3.4-8 </a:t>
            </a:r>
            <a:r>
              <a:rPr lang="zh-CN" altLang="en-US" sz="3000" dirty="0">
                <a:solidFill>
                  <a:srgbClr val="CC3300"/>
                </a:solidFill>
                <a:latin typeface="黑体" panose="02010609060101010101" pitchFamily="49" charset="-122"/>
                <a:ea typeface="黑体" panose="02010609060101010101" pitchFamily="49" charset="-122"/>
              </a:rPr>
              <a:t>直齿锥齿轮传动的受力分析和强度计算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127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8" name="Text Box 8"/>
          <p:cNvSpPr txBox="1">
            <a:spLocks noChangeArrowheads="1"/>
          </p:cNvSpPr>
          <p:nvPr/>
        </p:nvSpPr>
        <p:spPr bwMode="auto">
          <a:xfrm>
            <a:off x="86000" y="5326309"/>
            <a:ext cx="87439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dirty="0">
                <a:solidFill>
                  <a:srgbClr val="000099"/>
                </a:solidFill>
              </a:rPr>
              <a:t>　　</a:t>
            </a:r>
            <a:r>
              <a:rPr lang="zh-CN" altLang="en-US" sz="2200" dirty="0">
                <a:solidFill>
                  <a:srgbClr val="000099"/>
                </a:solidFill>
              </a:rPr>
              <a:t>上</a:t>
            </a:r>
            <a:r>
              <a:rPr lang="zh-CN" altLang="en-US" sz="2200" dirty="0" smtClean="0">
                <a:solidFill>
                  <a:srgbClr val="000099"/>
                </a:solidFill>
              </a:rPr>
              <a:t>式中各符号的意义与单位均与直齿圆柱齿轮类似，</a:t>
            </a:r>
            <a:endParaRPr lang="zh-CN" altLang="en-US" sz="2200" dirty="0">
              <a:solidFill>
                <a:srgbClr val="00009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56"/>
                                        </p:tgtEl>
                                        <p:attrNameLst>
                                          <p:attrName>style.visibility</p:attrName>
                                        </p:attrNameLst>
                                      </p:cBhvr>
                                      <p:to>
                                        <p:strVal val="visible"/>
                                      </p:to>
                                    </p:set>
                                    <p:animEffect transition="in" filter="wipe(left)">
                                      <p:cBhvr>
                                        <p:cTn id="7" dur="500"/>
                                        <p:tgtEl>
                                          <p:spTgt spid="7475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4757"/>
                                        </p:tgtEl>
                                        <p:attrNameLst>
                                          <p:attrName>style.visibility</p:attrName>
                                        </p:attrNameLst>
                                      </p:cBhvr>
                                      <p:to>
                                        <p:strVal val="visible"/>
                                      </p:to>
                                    </p:set>
                                    <p:animEffect transition="in" filter="blinds(horizontal)">
                                      <p:cBhvr>
                                        <p:cTn id="11" dur="500"/>
                                        <p:tgtEl>
                                          <p:spTgt spid="7475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4760"/>
                                        </p:tgtEl>
                                        <p:attrNameLst>
                                          <p:attrName>style.visibility</p:attrName>
                                        </p:attrNameLst>
                                      </p:cBhvr>
                                      <p:to>
                                        <p:strVal val="visible"/>
                                      </p:to>
                                    </p:set>
                                    <p:animEffect transition="in" filter="wipe(left)">
                                      <p:cBhvr>
                                        <p:cTn id="31" dur="500"/>
                                        <p:tgtEl>
                                          <p:spTgt spid="74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utoUpdateAnimBg="0"/>
      <p:bldP spid="74757" grpId="0" autoUpdateAnimBg="0"/>
      <p:bldP spid="74760" grpId="0" autoUpdateAnimBg="0"/>
      <p:bldP spid="18" grpId="0" bldLvl="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15077" y="1673581"/>
            <a:ext cx="2170632" cy="460375"/>
          </a:xfrm>
          <a:prstGeom prst="rect">
            <a:avLst/>
          </a:prstGeom>
          <a:solidFill>
            <a:srgbClr val="FFFF00"/>
          </a:solidFill>
        </p:spPr>
        <p:txBody>
          <a:bodyPr wrap="square" rtlCol="0">
            <a:spAutoFit/>
          </a:bodyPr>
          <a:lstStyle/>
          <a:p>
            <a:r>
              <a:rPr lang="zh-CN" altLang="en-US" sz="2400" dirty="0" smtClean="0">
                <a:solidFill>
                  <a:srgbClr val="C00000"/>
                </a:solidFill>
                <a:latin typeface="黑体" panose="02010609060101010101" pitchFamily="49" charset="-122"/>
                <a:ea typeface="黑体" panose="02010609060101010101" pitchFamily="49" charset="-122"/>
              </a:rPr>
              <a:t>教材</a:t>
            </a:r>
            <a:r>
              <a:rPr lang="en-US" altLang="zh-CN" sz="2400" dirty="0" smtClean="0">
                <a:solidFill>
                  <a:srgbClr val="C00000"/>
                </a:solidFill>
                <a:latin typeface="黑体" panose="02010609060101010101" pitchFamily="49" charset="-122"/>
                <a:ea typeface="黑体" panose="02010609060101010101" pitchFamily="49" charset="-122"/>
              </a:rPr>
              <a:t>P361~366</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 name="文本框 1"/>
          <p:cNvSpPr txBox="1"/>
          <p:nvPr/>
        </p:nvSpPr>
        <p:spPr>
          <a:xfrm>
            <a:off x="1939290" y="319405"/>
            <a:ext cx="5988050" cy="521970"/>
          </a:xfrm>
          <a:prstGeom prst="rect">
            <a:avLst/>
          </a:prstGeom>
          <a:noFill/>
        </p:spPr>
        <p:txBody>
          <a:bodyPr wrap="square" rtlCol="0">
            <a:spAutoFit/>
          </a:bodyPr>
          <a:p>
            <a:r>
              <a:rPr lang="en-US" altLang="zh-CN" sz="2800" dirty="0" smtClean="0">
                <a:solidFill>
                  <a:srgbClr val="CC3300"/>
                </a:solidFill>
                <a:latin typeface="黑体" panose="02010609060101010101" pitchFamily="49" charset="-122"/>
                <a:ea typeface="黑体" panose="02010609060101010101" pitchFamily="49" charset="-122"/>
              </a:rPr>
              <a:t>案例2“传动方案2”的齿轮传动设计</a:t>
            </a:r>
            <a:endParaRPr lang="en-US" altLang="zh-CN" sz="2800" dirty="0" smtClean="0">
              <a:solidFill>
                <a:srgbClr val="CC3300"/>
              </a:solidFill>
              <a:latin typeface="黑体" panose="02010609060101010101" pitchFamily="49" charset="-122"/>
              <a:ea typeface="黑体" panose="02010609060101010101" pitchFamily="49" charset="-122"/>
            </a:endParaRPr>
          </a:p>
        </p:txBody>
      </p:sp>
      <p:sp>
        <p:nvSpPr>
          <p:cNvPr id="12303" name="直接连接符 6"/>
          <p:cNvSpPr>
            <a:spLocks noChangeShapeType="1"/>
          </p:cNvSpPr>
          <p:nvPr/>
        </p:nvSpPr>
        <p:spPr bwMode="auto">
          <a:xfrm>
            <a:off x="17780" y="90614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3" name="文本框 2"/>
          <p:cNvSpPr txBox="1"/>
          <p:nvPr/>
        </p:nvSpPr>
        <p:spPr>
          <a:xfrm>
            <a:off x="360045" y="1054735"/>
            <a:ext cx="8549640" cy="460375"/>
          </a:xfrm>
          <a:prstGeom prst="rect">
            <a:avLst/>
          </a:prstGeom>
          <a:noFill/>
        </p:spPr>
        <p:txBody>
          <a:bodyPr wrap="square" rtlCol="0">
            <a:spAutoFit/>
          </a:bodyPr>
          <a:p>
            <a:r>
              <a:rPr lang="zh-CN" altLang="en-US" sz="2400"/>
              <a:t>执行机构主轴转速</a:t>
            </a:r>
            <a:r>
              <a:rPr lang="en-US" altLang="zh-CN" sz="2400"/>
              <a:t>n</a:t>
            </a:r>
            <a:r>
              <a:rPr lang="en-US" altLang="zh-CN" sz="2400" baseline="-25000"/>
              <a:t>w</a:t>
            </a:r>
            <a:r>
              <a:rPr lang="en-US" altLang="zh-CN" sz="2400"/>
              <a:t>=13.64r/min</a:t>
            </a:r>
            <a:r>
              <a:rPr lang="zh-CN" altLang="en-US" sz="2400"/>
              <a:t>，所需输入功率</a:t>
            </a:r>
            <a:r>
              <a:rPr lang="en-US" altLang="zh-CN" sz="2400"/>
              <a:t>P</a:t>
            </a:r>
            <a:r>
              <a:rPr lang="en-US" altLang="zh-CN" sz="2400" baseline="-25000"/>
              <a:t>w</a:t>
            </a:r>
            <a:r>
              <a:rPr lang="en-US" altLang="zh-CN" sz="2400"/>
              <a:t>=5.63kW</a:t>
            </a:r>
            <a:endParaRPr lang="zh-CN" altLang="en-US" sz="2400"/>
          </a:p>
        </p:txBody>
      </p:sp>
      <p:pic>
        <p:nvPicPr>
          <p:cNvPr id="4" name="图片 2"/>
          <p:cNvPicPr>
            <a:picLocks noChangeAspect="1"/>
          </p:cNvPicPr>
          <p:nvPr/>
        </p:nvPicPr>
        <p:blipFill>
          <a:blip r:embed="rId1"/>
          <a:srcRect l="60128" t="1452" b="47287"/>
          <a:stretch>
            <a:fillRect/>
          </a:stretch>
        </p:blipFill>
        <p:spPr>
          <a:xfrm>
            <a:off x="4922520" y="1618615"/>
            <a:ext cx="3929380" cy="4476115"/>
          </a:xfrm>
          <a:prstGeom prst="rect">
            <a:avLst/>
          </a:prstGeom>
          <a:noFill/>
          <a:ln w="28575" cmpd="sng">
            <a:solidFill>
              <a:schemeClr val="accent1">
                <a:shade val="50000"/>
              </a:schemeClr>
            </a:solidFill>
            <a:prstDash val="solid"/>
          </a:ln>
        </p:spPr>
      </p:pic>
      <p:sp>
        <p:nvSpPr>
          <p:cNvPr id="6" name="文本框 5"/>
          <p:cNvSpPr txBox="1"/>
          <p:nvPr/>
        </p:nvSpPr>
        <p:spPr>
          <a:xfrm>
            <a:off x="400050" y="2299335"/>
            <a:ext cx="3264535" cy="82994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一、求传动系统总效率和电动机功率</a:t>
            </a:r>
            <a:endParaRPr lang="zh-CN" altLang="en-US" sz="2400">
              <a:solidFill>
                <a:srgbClr val="002060"/>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7" name="文本框 6"/>
              <p:cNvSpPr txBox="1"/>
              <p:nvPr/>
            </p:nvSpPr>
            <p:spPr>
              <a:xfrm>
                <a:off x="310515" y="3709035"/>
                <a:ext cx="4064635" cy="460375"/>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Cambria Math" panose="02040503050406030204" pitchFamily="18" charset="0"/>
                        </a:rPr>
                        <m:t>𝜂</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𝜂</m:t>
                          </m:r>
                        </m:e>
                        <m:sub>
                          <m:r>
                            <a:rPr lang="en-US" altLang="zh-CN" sz="2400" i="1">
                              <a:latin typeface="Cambria Math" panose="02040503050406030204" pitchFamily="18" charset="0"/>
                              <a:cs typeface="Cambria Math" panose="02040503050406030204" pitchFamily="18" charset="0"/>
                            </a:rPr>
                            <m:t>1</m:t>
                          </m:r>
                        </m:sub>
                      </m:sSub>
                      <m:sSub>
                        <m:sSubPr>
                          <m:ctrlPr>
                            <a:rPr lang="en-US" altLang="zh-CN" sz="2400" i="1">
                              <a:latin typeface="Cambria Math" panose="02040503050406030204" pitchFamily="18" charset="0"/>
                              <a:cs typeface="Cambria Math" panose="02040503050406030204" pitchFamily="18" charset="0"/>
                            </a:rPr>
                          </m:ctrlPr>
                        </m:sSub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𝜂</m:t>
                              </m:r>
                            </m:e>
                            <m:sub>
                              <m:r>
                                <a:rPr lang="en-US" altLang="zh-CN" sz="2400" i="1">
                                  <a:latin typeface="Cambria Math" panose="02040503050406030204" pitchFamily="18" charset="0"/>
                                  <a:cs typeface="Cambria Math" panose="02040503050406030204" pitchFamily="18" charset="0"/>
                                </a:rPr>
                                <m:t>2</m:t>
                              </m:r>
                            </m:sub>
                          </m:sSub>
                          <m:r>
                            <a:rPr lang="en-US" altLang="zh-CN" sz="2400" i="1">
                              <a:latin typeface="Cambria Math" panose="02040503050406030204" pitchFamily="18" charset="0"/>
                              <a:cs typeface="Cambria Math" panose="02040503050406030204" pitchFamily="18" charset="0"/>
                            </a:rPr>
                            <m:t>𝜂</m:t>
                          </m:r>
                        </m:e>
                        <m:sub>
                          <m:r>
                            <a:rPr lang="en-US" altLang="zh-CN" sz="2400" i="1">
                              <a:latin typeface="Cambria Math" panose="02040503050406030204" pitchFamily="18" charset="0"/>
                              <a:cs typeface="Cambria Math" panose="02040503050406030204" pitchFamily="18" charset="0"/>
                            </a:rPr>
                            <m:t>3</m:t>
                          </m:r>
                        </m:sub>
                      </m:sSub>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𝜂</m:t>
                          </m:r>
                        </m:e>
                        <m:sub>
                          <m:r>
                            <a:rPr lang="en-US" altLang="zh-CN" sz="2400" i="1">
                              <a:latin typeface="Cambria Math" panose="02040503050406030204" pitchFamily="18" charset="0"/>
                              <a:cs typeface="Cambria Math" panose="02040503050406030204" pitchFamily="18" charset="0"/>
                            </a:rPr>
                            <m:t>4</m:t>
                          </m:r>
                        </m:sub>
                        <m:sup>
                          <m:r>
                            <a:rPr lang="en-US" altLang="zh-CN" sz="2400" i="1">
                              <a:latin typeface="Cambria Math" panose="02040503050406030204" pitchFamily="18" charset="0"/>
                              <a:cs typeface="Cambria Math" panose="02040503050406030204" pitchFamily="18" charset="0"/>
                            </a:rPr>
                            <m:t>3</m:t>
                          </m:r>
                        </m:sup>
                      </m:sSubSup>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𝜂</m:t>
                          </m:r>
                        </m:e>
                        <m:sub>
                          <m:r>
                            <a:rPr lang="en-US" altLang="zh-CN" sz="2400" i="1">
                              <a:latin typeface="Cambria Math" panose="02040503050406030204" pitchFamily="18" charset="0"/>
                              <a:cs typeface="Cambria Math" panose="02040503050406030204" pitchFamily="18" charset="0"/>
                            </a:rPr>
                            <m:t>5</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83</m:t>
                      </m:r>
                    </m:oMath>
                  </m:oMathPara>
                </a14:m>
                <a:endParaRPr lang="zh-CN" altLang="en-US" sz="2400"/>
              </a:p>
            </p:txBody>
          </p:sp>
        </mc:Choice>
        <mc:Fallback>
          <p:sp>
            <p:nvSpPr>
              <p:cNvPr id="7" name="文本框 6"/>
              <p:cNvSpPr txBox="1">
                <a:spLocks noRot="1" noChangeAspect="1" noMove="1" noResize="1" noEditPoints="1" noAdjustHandles="1" noChangeArrowheads="1" noChangeShapeType="1" noTextEdit="1"/>
              </p:cNvSpPr>
              <p:nvPr/>
            </p:nvSpPr>
            <p:spPr>
              <a:xfrm>
                <a:off x="310515" y="3709035"/>
                <a:ext cx="4064635" cy="460375"/>
              </a:xfrm>
              <a:prstGeom prst="rect">
                <a:avLst/>
              </a:prstGeom>
              <a:blipFill rotWithShape="1">
                <a:blip r:embed="rId2"/>
                <a:stretch>
                  <a:fillRect/>
                </a:stretch>
              </a:blipFill>
            </p:spPr>
            <p:txBody>
              <a:bodyPr/>
              <a:lstStyle/>
              <a:p>
                <a:r>
                  <a:rPr lang="zh-CN" altLang="en-US">
                    <a:noFill/>
                  </a:rPr>
                  <a:t> </a:t>
                </a:r>
              </a:p>
            </p:txBody>
          </p:sp>
        </mc:Fallback>
      </mc:AlternateContent>
      <p:sp>
        <p:nvSpPr>
          <p:cNvPr id="8" name="文本框 7"/>
          <p:cNvSpPr txBox="1"/>
          <p:nvPr/>
        </p:nvSpPr>
        <p:spPr>
          <a:xfrm>
            <a:off x="509270" y="3234690"/>
            <a:ext cx="3046095" cy="398780"/>
          </a:xfrm>
          <a:prstGeom prst="rect">
            <a:avLst/>
          </a:prstGeom>
          <a:noFill/>
        </p:spPr>
        <p:txBody>
          <a:bodyPr wrap="square" rtlCol="0">
            <a:spAutoFit/>
          </a:bodyPr>
          <a:p>
            <a:r>
              <a:rPr lang="zh-CN" altLang="en-US">
                <a:solidFill>
                  <a:srgbClr val="002060"/>
                </a:solidFill>
              </a:rPr>
              <a:t>传动系统的总效率</a:t>
            </a:r>
            <a:endParaRPr lang="zh-CN" altLang="en-US">
              <a:solidFill>
                <a:srgbClr val="002060"/>
              </a:solidFill>
            </a:endParaRPr>
          </a:p>
        </p:txBody>
      </p:sp>
      <mc:AlternateContent xmlns:mc="http://schemas.openxmlformats.org/markup-compatibility/2006">
        <mc:Choice xmlns:a14="http://schemas.microsoft.com/office/drawing/2010/main" Requires="a14">
          <p:sp>
            <p:nvSpPr>
              <p:cNvPr id="9" name="文本框 8"/>
              <p:cNvSpPr txBox="1"/>
              <p:nvPr/>
            </p:nvSpPr>
            <p:spPr>
              <a:xfrm>
                <a:off x="499745" y="4468495"/>
                <a:ext cx="3662680" cy="1089025"/>
              </a:xfrm>
              <a:prstGeom prst="rect">
                <a:avLst/>
              </a:prstGeom>
              <a:noFill/>
            </p:spPr>
            <p:txBody>
              <a:bodyPr wrap="square" rtlCol="0">
                <a:spAutoFit/>
              </a:bodyPr>
              <a:p>
                <a:r>
                  <a:rPr lang="zh-CN" altLang="en-US" sz="2400">
                    <a:solidFill>
                      <a:srgbClr val="002060"/>
                    </a:solidFill>
                  </a:rPr>
                  <a:t>所需电动机输出功率：</a:t>
                </a:r>
                <a:endParaRPr lang="zh-CN" altLang="en-US" sz="2400">
                  <a:solidFill>
                    <a:srgbClr val="002060"/>
                  </a:solidFill>
                </a:endParaRPr>
              </a:p>
              <a:p>
                <a14:m>
                  <m:oMath xmlns:m="http://schemas.openxmlformats.org/officeDocument/2006/math">
                    <m:sSub>
                      <m:sSubPr>
                        <m:ctrlPr>
                          <a:rPr lang="en-US" altLang="zh-CN" sz="2400" i="1">
                            <a:solidFill>
                              <a:srgbClr val="002060"/>
                            </a:solidFill>
                            <a:latin typeface="Cambria Math" panose="02040503050406030204" pitchFamily="18" charset="0"/>
                            <a:cs typeface="Cambria Math" panose="02040503050406030204" pitchFamily="18" charset="0"/>
                          </a:rPr>
                        </m:ctrlPr>
                      </m:sSubPr>
                      <m:e>
                        <m:r>
                          <a:rPr lang="en-US" altLang="zh-CN" sz="2400" i="1">
                            <a:solidFill>
                              <a:srgbClr val="002060"/>
                            </a:solidFill>
                            <a:latin typeface="Cambria Math" panose="02040503050406030204" pitchFamily="18" charset="0"/>
                            <a:cs typeface="Cambria Math" panose="02040503050406030204" pitchFamily="18" charset="0"/>
                          </a:rPr>
                          <m:t>𝑃</m:t>
                        </m:r>
                      </m:e>
                      <m:sub>
                        <m:r>
                          <a:rPr lang="en-US" altLang="zh-CN" sz="2400" i="1">
                            <a:solidFill>
                              <a:srgbClr val="002060"/>
                            </a:solidFill>
                            <a:latin typeface="Cambria Math" panose="02040503050406030204" pitchFamily="18" charset="0"/>
                            <a:cs typeface="Cambria Math" panose="02040503050406030204" pitchFamily="18" charset="0"/>
                          </a:rPr>
                          <m:t>𝑑</m:t>
                        </m:r>
                      </m:sub>
                    </m:sSub>
                    <m:r>
                      <a:rPr lang="en-US" altLang="zh-CN" sz="2400" i="1">
                        <a:solidFill>
                          <a:srgbClr val="002060"/>
                        </a:solidFill>
                        <a:latin typeface="Cambria Math" panose="02040503050406030204" pitchFamily="18" charset="0"/>
                        <a:cs typeface="Cambria Math" panose="02040503050406030204" pitchFamily="18" charset="0"/>
                      </a:rPr>
                      <m:t>’=</m:t>
                    </m:r>
                    <m:f>
                      <m:fPr>
                        <m:ctrlPr>
                          <a:rPr lang="en-US" altLang="zh-CN" sz="2400" i="1">
                            <a:solidFill>
                              <a:srgbClr val="002060"/>
                            </a:solidFill>
                            <a:latin typeface="Cambria Math" panose="02040503050406030204" pitchFamily="18" charset="0"/>
                            <a:cs typeface="Cambria Math" panose="02040503050406030204" pitchFamily="18" charset="0"/>
                          </a:rPr>
                        </m:ctrlPr>
                      </m:fPr>
                      <m:num>
                        <m:sSub>
                          <m:sSubPr>
                            <m:ctrlPr>
                              <a:rPr lang="en-US" altLang="zh-CN" sz="2400" i="1">
                                <a:solidFill>
                                  <a:srgbClr val="002060"/>
                                </a:solidFill>
                                <a:latin typeface="Cambria Math" panose="02040503050406030204" pitchFamily="18" charset="0"/>
                                <a:cs typeface="Cambria Math" panose="02040503050406030204" pitchFamily="18" charset="0"/>
                              </a:rPr>
                            </m:ctrlPr>
                          </m:sSubPr>
                          <m:e>
                            <m:r>
                              <a:rPr lang="en-US" altLang="zh-CN" sz="2400" i="1">
                                <a:solidFill>
                                  <a:srgbClr val="002060"/>
                                </a:solidFill>
                                <a:latin typeface="Cambria Math" panose="02040503050406030204" pitchFamily="18" charset="0"/>
                                <a:cs typeface="Cambria Math" panose="02040503050406030204" pitchFamily="18" charset="0"/>
                              </a:rPr>
                              <m:t>𝑃</m:t>
                            </m:r>
                          </m:e>
                          <m:sub>
                            <m:r>
                              <a:rPr lang="en-US" altLang="zh-CN" sz="2400" i="1">
                                <a:solidFill>
                                  <a:srgbClr val="002060"/>
                                </a:solidFill>
                                <a:latin typeface="Cambria Math" panose="02040503050406030204" pitchFamily="18" charset="0"/>
                                <a:cs typeface="Cambria Math" panose="02040503050406030204" pitchFamily="18" charset="0"/>
                              </a:rPr>
                              <m:t>𝑤</m:t>
                            </m:r>
                          </m:sub>
                        </m:sSub>
                      </m:num>
                      <m:den>
                        <m:r>
                          <a:rPr lang="en-US" altLang="zh-CN" sz="2400" i="1">
                            <a:solidFill>
                              <a:srgbClr val="002060"/>
                            </a:solidFill>
                            <a:latin typeface="Cambria Math" panose="02040503050406030204" pitchFamily="18" charset="0"/>
                            <a:cs typeface="Cambria Math" panose="02040503050406030204" pitchFamily="18" charset="0"/>
                          </a:rPr>
                          <m:t>𝜂</m:t>
                        </m:r>
                      </m:den>
                    </m:f>
                  </m:oMath>
                </a14:m>
                <a:r>
                  <a:rPr lang="en-US" altLang="zh-CN" sz="2400" i="1">
                    <a:solidFill>
                      <a:srgbClr val="002060"/>
                    </a:solidFill>
                    <a:latin typeface="Cambria Math" panose="02040503050406030204" pitchFamily="18" charset="0"/>
                    <a:cs typeface="Cambria Math" panose="02040503050406030204" pitchFamily="18" charset="0"/>
                  </a:rPr>
                  <a:t> </a:t>
                </a:r>
                <a:r>
                  <a:rPr lang="en-US" altLang="zh-CN" sz="2400">
                    <a:solidFill>
                      <a:srgbClr val="002060"/>
                    </a:solidFill>
                    <a:latin typeface="Cambria Math" panose="02040503050406030204" pitchFamily="18" charset="0"/>
                    <a:cs typeface="Cambria Math" panose="02040503050406030204" pitchFamily="18" charset="0"/>
                  </a:rPr>
                  <a:t>=</a:t>
                </a:r>
                <a14:m>
                  <m:oMath xmlns:m="http://schemas.openxmlformats.org/officeDocument/2006/math">
                    <m:f>
                      <m:fPr>
                        <m:ctrlPr>
                          <a:rPr lang="en-US" altLang="zh-CN" sz="2400">
                            <a:solidFill>
                              <a:srgbClr val="002060"/>
                            </a:solidFill>
                            <a:latin typeface="Cambria Math" panose="02040503050406030204" pitchFamily="18" charset="0"/>
                            <a:cs typeface="Cambria Math" panose="02040503050406030204" pitchFamily="18" charset="0"/>
                          </a:rPr>
                        </m:ctrlPr>
                      </m:fPr>
                      <m:num>
                        <m:r>
                          <a:rPr lang="en-US" altLang="zh-CN" sz="2400">
                            <a:solidFill>
                              <a:srgbClr val="002060"/>
                            </a:solidFill>
                            <a:latin typeface="Cambria Math" panose="02040503050406030204" pitchFamily="18" charset="0"/>
                            <a:cs typeface="Cambria Math" panose="02040503050406030204" pitchFamily="18" charset="0"/>
                          </a:rPr>
                          <m:t>5</m:t>
                        </m:r>
                        <m:r>
                          <a:rPr lang="en-US" altLang="zh-CN" sz="2400">
                            <a:solidFill>
                              <a:srgbClr val="002060"/>
                            </a:solidFill>
                            <a:latin typeface="Cambria Math" panose="02040503050406030204" pitchFamily="18" charset="0"/>
                            <a:cs typeface="Cambria Math" panose="02040503050406030204" pitchFamily="18" charset="0"/>
                          </a:rPr>
                          <m:t>.</m:t>
                        </m:r>
                        <m:r>
                          <a:rPr lang="en-US" altLang="zh-CN" sz="2400">
                            <a:solidFill>
                              <a:srgbClr val="002060"/>
                            </a:solidFill>
                            <a:latin typeface="Cambria Math" panose="02040503050406030204" pitchFamily="18" charset="0"/>
                            <a:cs typeface="Cambria Math" panose="02040503050406030204" pitchFamily="18" charset="0"/>
                          </a:rPr>
                          <m:t>63</m:t>
                        </m:r>
                      </m:num>
                      <m:den>
                        <m:r>
                          <a:rPr lang="en-US" altLang="zh-CN" sz="2400">
                            <a:solidFill>
                              <a:srgbClr val="002060"/>
                            </a:solidFill>
                            <a:latin typeface="Cambria Math" panose="02040503050406030204" pitchFamily="18" charset="0"/>
                            <a:cs typeface="Cambria Math" panose="02040503050406030204" pitchFamily="18" charset="0"/>
                          </a:rPr>
                          <m:t>0</m:t>
                        </m:r>
                        <m:r>
                          <a:rPr lang="en-US" altLang="zh-CN" sz="2400">
                            <a:solidFill>
                              <a:srgbClr val="002060"/>
                            </a:solidFill>
                            <a:latin typeface="Cambria Math" panose="02040503050406030204" pitchFamily="18" charset="0"/>
                            <a:cs typeface="Cambria Math" panose="02040503050406030204" pitchFamily="18" charset="0"/>
                          </a:rPr>
                          <m:t>.</m:t>
                        </m:r>
                        <m:r>
                          <a:rPr lang="en-US" altLang="zh-CN" sz="2400">
                            <a:solidFill>
                              <a:srgbClr val="002060"/>
                            </a:solidFill>
                            <a:latin typeface="Cambria Math" panose="02040503050406030204" pitchFamily="18" charset="0"/>
                            <a:cs typeface="Cambria Math" panose="02040503050406030204" pitchFamily="18" charset="0"/>
                          </a:rPr>
                          <m:t>83</m:t>
                        </m:r>
                      </m:den>
                    </m:f>
                  </m:oMath>
                </a14:m>
                <a:r>
                  <a:rPr lang="en-US" altLang="zh-CN" sz="2400">
                    <a:solidFill>
                      <a:srgbClr val="002060"/>
                    </a:solidFill>
                    <a:latin typeface="Cambria Math" panose="02040503050406030204" pitchFamily="18" charset="0"/>
                    <a:cs typeface="Cambria Math" panose="02040503050406030204" pitchFamily="18" charset="0"/>
                  </a:rPr>
                  <a:t>=6.78kW</a:t>
                </a:r>
                <a:endParaRPr lang="en-US" altLang="zh-CN" sz="2400">
                  <a:solidFill>
                    <a:srgbClr val="002060"/>
                  </a:solidFill>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499745" y="4468495"/>
                <a:ext cx="3662680" cy="1089025"/>
              </a:xfrm>
              <a:prstGeom prst="rect">
                <a:avLst/>
              </a:prstGeom>
              <a:blipFill rotWithShape="1">
                <a:blip r:embed="rId3"/>
                <a:stretch>
                  <a:fillRect/>
                </a:stretch>
              </a:blipFill>
            </p:spPr>
            <p:txBody>
              <a:bodyPr/>
              <a:lstStyle/>
              <a:p>
                <a:r>
                  <a:rPr lang="zh-CN" altLang="en-US">
                    <a:noFill/>
                  </a:rPr>
                  <a:t> </a:t>
                </a:r>
              </a:p>
            </p:txBody>
          </p:sp>
        </mc:Fallback>
      </mc:AlternateContent>
      <p:sp>
        <p:nvSpPr>
          <p:cNvPr id="10" name="文本框 9"/>
          <p:cNvSpPr txBox="1"/>
          <p:nvPr/>
        </p:nvSpPr>
        <p:spPr>
          <a:xfrm>
            <a:off x="449580" y="5671820"/>
            <a:ext cx="326453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二、选择电动机</a:t>
            </a:r>
            <a:endParaRPr lang="zh-CN" altLang="en-US" sz="2400">
              <a:solidFill>
                <a:srgbClr val="00206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wipe(left)">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animEffect transition="in" filter="wipe(left)">
                                      <p:cBhvr>
                                        <p:cTn id="37" dur="500"/>
                                        <p:tgtEl>
                                          <p:spTgt spid="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wipe(left)">
                                      <p:cBhvr>
                                        <p:cTn id="4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8" grpId="0"/>
      <p:bldP spid="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39290" y="319405"/>
            <a:ext cx="5988050" cy="521970"/>
          </a:xfrm>
          <a:prstGeom prst="rect">
            <a:avLst/>
          </a:prstGeom>
          <a:noFill/>
        </p:spPr>
        <p:txBody>
          <a:bodyPr wrap="square" rtlCol="0">
            <a:spAutoFit/>
          </a:bodyPr>
          <a:p>
            <a:r>
              <a:rPr lang="en-US" altLang="zh-CN" sz="2800" dirty="0" smtClean="0">
                <a:solidFill>
                  <a:srgbClr val="CC3300"/>
                </a:solidFill>
                <a:latin typeface="黑体" panose="02010609060101010101" pitchFamily="49" charset="-122"/>
                <a:ea typeface="黑体" panose="02010609060101010101" pitchFamily="49" charset="-122"/>
              </a:rPr>
              <a:t>案例2“传动方案2”的齿轮传动设计</a:t>
            </a:r>
            <a:endParaRPr lang="en-US" altLang="zh-CN" sz="2800" dirty="0" smtClean="0">
              <a:solidFill>
                <a:srgbClr val="CC3300"/>
              </a:solidFill>
              <a:latin typeface="黑体" panose="02010609060101010101" pitchFamily="49" charset="-122"/>
              <a:ea typeface="黑体" panose="02010609060101010101" pitchFamily="49" charset="-122"/>
            </a:endParaRPr>
          </a:p>
        </p:txBody>
      </p:sp>
      <p:sp>
        <p:nvSpPr>
          <p:cNvPr id="12303" name="直接连接符 6"/>
          <p:cNvSpPr>
            <a:spLocks noChangeShapeType="1"/>
          </p:cNvSpPr>
          <p:nvPr/>
        </p:nvSpPr>
        <p:spPr bwMode="auto">
          <a:xfrm>
            <a:off x="17780" y="90614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10" name="文本框 9"/>
          <p:cNvSpPr txBox="1"/>
          <p:nvPr/>
        </p:nvSpPr>
        <p:spPr>
          <a:xfrm>
            <a:off x="201295" y="1244600"/>
            <a:ext cx="769302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三、总传动比及各级传动比分配</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3" name="文本框 2"/>
          <p:cNvSpPr txBox="1"/>
          <p:nvPr/>
        </p:nvSpPr>
        <p:spPr>
          <a:xfrm>
            <a:off x="280035" y="1963420"/>
            <a:ext cx="769302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四、计算各轴转速</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4" name="文本框 3"/>
          <p:cNvSpPr txBox="1"/>
          <p:nvPr/>
        </p:nvSpPr>
        <p:spPr>
          <a:xfrm>
            <a:off x="348615" y="2692400"/>
            <a:ext cx="769302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五、计算各轴功率</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5" name="文本框 4"/>
          <p:cNvSpPr txBox="1"/>
          <p:nvPr/>
        </p:nvSpPr>
        <p:spPr>
          <a:xfrm>
            <a:off x="299085" y="3352165"/>
            <a:ext cx="769302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六、计算各轴转矩</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6" name="文本框 5"/>
          <p:cNvSpPr txBox="1"/>
          <p:nvPr/>
        </p:nvSpPr>
        <p:spPr>
          <a:xfrm>
            <a:off x="359410" y="4001135"/>
            <a:ext cx="769302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七、齿轮传动的设计计算</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7" name="文本框 6"/>
          <p:cNvSpPr txBox="1"/>
          <p:nvPr/>
        </p:nvSpPr>
        <p:spPr>
          <a:xfrm>
            <a:off x="928370" y="4676775"/>
            <a:ext cx="6678930" cy="398780"/>
          </a:xfrm>
          <a:prstGeom prst="rect">
            <a:avLst/>
          </a:prstGeom>
          <a:noFill/>
        </p:spPr>
        <p:txBody>
          <a:bodyPr wrap="square" rtlCol="0">
            <a:spAutoFit/>
          </a:bodyPr>
          <a:p>
            <a:r>
              <a:rPr lang="en-US" altLang="zh-CN"/>
              <a:t>1.</a:t>
            </a:r>
            <a:r>
              <a:rPr lang="zh-CN" altLang="en-US"/>
              <a:t>高速级直齿锥齿轮的计算</a:t>
            </a:r>
            <a:endParaRPr lang="zh-CN" altLang="en-US"/>
          </a:p>
        </p:txBody>
      </p:sp>
      <p:sp>
        <p:nvSpPr>
          <p:cNvPr id="8" name="文本框 7"/>
          <p:cNvSpPr txBox="1"/>
          <p:nvPr/>
        </p:nvSpPr>
        <p:spPr>
          <a:xfrm>
            <a:off x="967105" y="5384165"/>
            <a:ext cx="6678930" cy="398780"/>
          </a:xfrm>
          <a:prstGeom prst="rect">
            <a:avLst/>
          </a:prstGeom>
          <a:noFill/>
        </p:spPr>
        <p:txBody>
          <a:bodyPr wrap="square" rtlCol="0">
            <a:spAutoFit/>
          </a:bodyPr>
          <a:p>
            <a:r>
              <a:rPr lang="en-US" altLang="zh-CN"/>
              <a:t>2.</a:t>
            </a:r>
            <a:r>
              <a:rPr lang="zh-CN" altLang="en-US"/>
              <a:t>低</a:t>
            </a:r>
            <a:r>
              <a:rPr lang="zh-CN" altLang="en-US"/>
              <a:t>速级圆柱齿齿轮的计算</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4" grpId="0"/>
      <p:bldP spid="5" grpId="0"/>
      <p:bldP spid="6" grpId="0"/>
      <p:bldP spid="7" grpId="0"/>
      <p:bldP spid="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sz="800">
                <a:solidFill>
                  <a:schemeClr val="bg1"/>
                </a:solidFill>
                <a:latin typeface="Times New Roman" panose="02020603050405020304" pitchFamily="18" charset="0"/>
              </a:rPr>
              <a:t>齿轮传动的润滑</a:t>
            </a:r>
            <a:r>
              <a:rPr lang="zh-CN" altLang="en-US" sz="800">
                <a:solidFill>
                  <a:schemeClr val="bg1"/>
                </a:solidFill>
                <a:ea typeface="黑体" panose="02010609060101010101" pitchFamily="49" charset="-122"/>
              </a:rPr>
              <a:t> </a:t>
            </a:r>
            <a:endParaRPr lang="zh-CN" altLang="en-US" sz="800">
              <a:solidFill>
                <a:schemeClr val="bg1"/>
              </a:solidFill>
              <a:ea typeface="黑体" panose="02010609060101010101" pitchFamily="49" charset="-122"/>
            </a:endParaRPr>
          </a:p>
        </p:txBody>
      </p:sp>
      <p:sp>
        <p:nvSpPr>
          <p:cNvPr id="64516" name="Text Box 4"/>
          <p:cNvSpPr txBox="1">
            <a:spLocks noChangeArrowheads="1"/>
          </p:cNvSpPr>
          <p:nvPr/>
        </p:nvSpPr>
        <p:spPr bwMode="auto">
          <a:xfrm>
            <a:off x="3975652" y="148259"/>
            <a:ext cx="4492487" cy="517663"/>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000" dirty="0" smtClean="0">
                <a:solidFill>
                  <a:srgbClr val="CC3300"/>
                </a:solidFill>
                <a:latin typeface="黑体" panose="02010609060101010101" pitchFamily="49" charset="-122"/>
                <a:ea typeface="黑体" panose="02010609060101010101" pitchFamily="49" charset="-122"/>
              </a:rPr>
              <a:t>3.4-9 </a:t>
            </a:r>
            <a:r>
              <a:rPr lang="zh-CN" altLang="en-US" sz="3000" dirty="0" smtClean="0">
                <a:solidFill>
                  <a:srgbClr val="CC3300"/>
                </a:solidFill>
                <a:latin typeface="黑体" panose="02010609060101010101" pitchFamily="49" charset="-122"/>
                <a:ea typeface="黑体" panose="02010609060101010101" pitchFamily="49" charset="-122"/>
              </a:rPr>
              <a:t>齿轮传动</a:t>
            </a:r>
            <a:r>
              <a:rPr lang="zh-CN" altLang="en-US" sz="3000" dirty="0">
                <a:solidFill>
                  <a:srgbClr val="CC3300"/>
                </a:solidFill>
                <a:latin typeface="黑体" panose="02010609060101010101" pitchFamily="49" charset="-122"/>
                <a:ea typeface="黑体" panose="02010609060101010101" pitchFamily="49" charset="-122"/>
              </a:rPr>
              <a:t>的润滑 </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4517" name="Text Box 5"/>
          <p:cNvSpPr txBox="1">
            <a:spLocks noChangeArrowheads="1"/>
          </p:cNvSpPr>
          <p:nvPr/>
        </p:nvSpPr>
        <p:spPr bwMode="auto">
          <a:xfrm>
            <a:off x="151894" y="1052339"/>
            <a:ext cx="342914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a:solidFill>
                  <a:srgbClr val="C00000"/>
                </a:solidFill>
                <a:latin typeface="黑体" panose="02010609060101010101" pitchFamily="49" charset="-122"/>
                <a:ea typeface="黑体" panose="02010609060101010101" pitchFamily="49" charset="-122"/>
              </a:rPr>
              <a:t>一、齿轮传动润滑的目的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64518" name="Text Box 6"/>
          <p:cNvSpPr txBox="1">
            <a:spLocks noChangeArrowheads="1"/>
          </p:cNvSpPr>
          <p:nvPr/>
        </p:nvSpPr>
        <p:spPr bwMode="auto">
          <a:xfrm>
            <a:off x="248335" y="1707048"/>
            <a:ext cx="8809037"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dirty="0">
                <a:solidFill>
                  <a:srgbClr val="000099"/>
                </a:solidFill>
                <a:latin typeface="华文中宋" panose="02010600040101010101" pitchFamily="2" charset="-122"/>
              </a:rPr>
              <a:t>　　</a:t>
            </a:r>
            <a:r>
              <a:rPr lang="zh-CN" altLang="en-US" sz="2200" dirty="0">
                <a:solidFill>
                  <a:srgbClr val="002060"/>
                </a:solidFill>
                <a:latin typeface="华文中宋" panose="02010600040101010101" pitchFamily="2" charset="-122"/>
              </a:rPr>
              <a:t>齿轮传动时，相啮合的齿面间有相对滑动，因此就会产生摩擦和磨损，增加动力消耗，降低传动效率</a:t>
            </a:r>
            <a:r>
              <a:rPr lang="zh-CN" altLang="en-US" sz="2200" dirty="0" smtClean="0">
                <a:solidFill>
                  <a:srgbClr val="002060"/>
                </a:solidFill>
                <a:latin typeface="华文中宋" panose="02010600040101010101" pitchFamily="2" charset="-122"/>
              </a:rPr>
              <a:t>。</a:t>
            </a:r>
            <a:endParaRPr lang="en-US" altLang="zh-CN" sz="2200" dirty="0" smtClean="0">
              <a:solidFill>
                <a:srgbClr val="002060"/>
              </a:solidFill>
              <a:latin typeface="华文中宋" panose="02010600040101010101" pitchFamily="2" charset="-122"/>
            </a:endParaRPr>
          </a:p>
          <a:p>
            <a:pPr>
              <a:lnSpc>
                <a:spcPct val="125000"/>
              </a:lnSpc>
            </a:pPr>
            <a:endParaRPr lang="zh-CN" altLang="en-US" sz="2200" dirty="0">
              <a:solidFill>
                <a:srgbClr val="000099"/>
              </a:solidFill>
              <a:latin typeface="华文中宋" panose="02010600040101010101" pitchFamily="2" charset="-122"/>
            </a:endParaRPr>
          </a:p>
          <a:p>
            <a:pPr>
              <a:lnSpc>
                <a:spcPct val="125000"/>
              </a:lnSpc>
            </a:pPr>
            <a:r>
              <a:rPr lang="zh-CN" altLang="en-US" sz="2200" dirty="0">
                <a:solidFill>
                  <a:srgbClr val="000099"/>
                </a:solidFill>
                <a:latin typeface="华文中宋" panose="02010600040101010101" pitchFamily="2" charset="-122"/>
              </a:rPr>
              <a:t>　　</a:t>
            </a:r>
            <a:r>
              <a:rPr lang="zh-CN" altLang="en-US" sz="2200" dirty="0">
                <a:solidFill>
                  <a:srgbClr val="002060"/>
                </a:solidFill>
                <a:latin typeface="华文中宋" panose="02010600040101010101" pitchFamily="2" charset="-122"/>
              </a:rPr>
              <a:t>对齿轮传动进行润滑，就是为了避免金属直接接触，减少摩擦磨损，同时还可以起到散热和防锈蚀的目的。 </a:t>
            </a:r>
            <a:endParaRPr lang="zh-CN" altLang="en-US" sz="2200" dirty="0">
              <a:solidFill>
                <a:srgbClr val="002060"/>
              </a:solidFill>
              <a:latin typeface="华文中宋" panose="02010600040101010101" pitchFamily="2" charset="-122"/>
            </a:endParaRPr>
          </a:p>
        </p:txBody>
      </p:sp>
      <p:sp>
        <p:nvSpPr>
          <p:cNvPr id="64520" name="Text Box 8"/>
          <p:cNvSpPr txBox="1">
            <a:spLocks noChangeArrowheads="1"/>
          </p:cNvSpPr>
          <p:nvPr/>
        </p:nvSpPr>
        <p:spPr bwMode="auto">
          <a:xfrm>
            <a:off x="382588" y="3209925"/>
            <a:ext cx="8377237" cy="44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dirty="0">
                <a:solidFill>
                  <a:srgbClr val="000099"/>
                </a:solidFill>
                <a:latin typeface="华文中宋" panose="02010600040101010101" pitchFamily="2" charset="-122"/>
              </a:rPr>
              <a:t>　　</a:t>
            </a:r>
            <a:endParaRPr lang="zh-CN" altLang="en-US" dirty="0">
              <a:solidFill>
                <a:srgbClr val="000099"/>
              </a:solidFill>
              <a:latin typeface="华文中宋" panose="02010600040101010101" pitchFamily="2" charset="-122"/>
            </a:endParaRPr>
          </a:p>
        </p:txBody>
      </p:sp>
      <p:pic>
        <p:nvPicPr>
          <p:cNvPr id="64526" name="Picture 14"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83625" y="6538913"/>
            <a:ext cx="287338" cy="287337"/>
          </a:xfrm>
          <a:prstGeom prst="rect">
            <a:avLst/>
          </a:prstGeom>
          <a:noFill/>
          <a:extLst>
            <a:ext uri="{909E8E84-426E-40DD-AFC4-6F175D3DCCD1}">
              <a14:hiddenFill xmlns:a14="http://schemas.microsoft.com/office/drawing/2010/main">
                <a:solidFill>
                  <a:srgbClr val="FFFFFF"/>
                </a:solidFill>
              </a14:hiddenFill>
            </a:ext>
          </a:extLst>
        </p:spPr>
      </p:pic>
      <p:sp>
        <p:nvSpPr>
          <p:cNvPr id="64540" name="Text Box 28"/>
          <p:cNvSpPr txBox="1">
            <a:spLocks noChangeArrowheads="1"/>
          </p:cNvSpPr>
          <p:nvPr/>
        </p:nvSpPr>
        <p:spPr bwMode="auto">
          <a:xfrm>
            <a:off x="6169025" y="6375400"/>
            <a:ext cx="11604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　　</a:t>
            </a:r>
            <a:endParaRPr lang="zh-CN" altLang="en-US"/>
          </a:p>
        </p:txBody>
      </p:sp>
      <p:sp>
        <p:nvSpPr>
          <p:cNvPr id="2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517"/>
                                        </p:tgtEl>
                                        <p:attrNameLst>
                                          <p:attrName>style.visibility</p:attrName>
                                        </p:attrNameLst>
                                      </p:cBhvr>
                                      <p:to>
                                        <p:strVal val="visible"/>
                                      </p:to>
                                    </p:set>
                                    <p:animEffect transition="in" filter="wipe(left)">
                                      <p:cBhvr>
                                        <p:cTn id="7" dur="500"/>
                                        <p:tgtEl>
                                          <p:spTgt spid="645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4518"/>
                                        </p:tgtEl>
                                        <p:attrNameLst>
                                          <p:attrName>style.visibility</p:attrName>
                                        </p:attrNameLst>
                                      </p:cBhvr>
                                      <p:to>
                                        <p:strVal val="visible"/>
                                      </p:to>
                                    </p:set>
                                    <p:animEffect transition="in" filter="wipe(up)">
                                      <p:cBhvr>
                                        <p:cTn id="12" dur="500"/>
                                        <p:tgtEl>
                                          <p:spTgt spid="645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520"/>
                                        </p:tgtEl>
                                        <p:attrNameLst>
                                          <p:attrName>style.visibility</p:attrName>
                                        </p:attrNameLst>
                                      </p:cBhvr>
                                      <p:to>
                                        <p:strVal val="visible"/>
                                      </p:to>
                                    </p:set>
                                    <p:animEffect transition="in" filter="wipe(left)">
                                      <p:cBhvr>
                                        <p:cTn id="17" dur="500"/>
                                        <p:tgtEl>
                                          <p:spTgt spid="64520"/>
                                        </p:tgtEl>
                                      </p:cBhvr>
                                    </p:animEffect>
                                  </p:childTnLst>
                                </p:cTn>
                              </p:par>
                            </p:childTnLst>
                          </p:cTn>
                        </p:par>
                        <p:par>
                          <p:cTn id="18" fill="hold">
                            <p:stCondLst>
                              <p:cond delay="500"/>
                            </p:stCondLst>
                            <p:childTnLst>
                              <p:par>
                                <p:cTn id="19" presetID="2" presetClass="entr" presetSubtype="8" fill="hold" nodeType="afterEffect">
                                  <p:stCondLst>
                                    <p:cond delay="0"/>
                                  </p:stCondLst>
                                  <p:childTnLst>
                                    <p:set>
                                      <p:cBhvr>
                                        <p:cTn id="20" dur="1" fill="hold">
                                          <p:stCondLst>
                                            <p:cond delay="0"/>
                                          </p:stCondLst>
                                        </p:cTn>
                                        <p:tgtEl>
                                          <p:spTgt spid="64526"/>
                                        </p:tgtEl>
                                        <p:attrNameLst>
                                          <p:attrName>style.visibility</p:attrName>
                                        </p:attrNameLst>
                                      </p:cBhvr>
                                      <p:to>
                                        <p:strVal val="visible"/>
                                      </p:to>
                                    </p:set>
                                    <p:anim calcmode="lin" valueType="num">
                                      <p:cBhvr additive="base">
                                        <p:cTn id="21" dur="500" fill="hold"/>
                                        <p:tgtEl>
                                          <p:spTgt spid="64526"/>
                                        </p:tgtEl>
                                        <p:attrNameLst>
                                          <p:attrName>ppt_x</p:attrName>
                                        </p:attrNameLst>
                                      </p:cBhvr>
                                      <p:tavLst>
                                        <p:tav tm="0">
                                          <p:val>
                                            <p:strVal val="0-#ppt_w/2"/>
                                          </p:val>
                                        </p:tav>
                                        <p:tav tm="100000">
                                          <p:val>
                                            <p:strVal val="#ppt_x"/>
                                          </p:val>
                                        </p:tav>
                                      </p:tavLst>
                                    </p:anim>
                                    <p:anim calcmode="lin" valueType="num">
                                      <p:cBhvr additive="base">
                                        <p:cTn id="22" dur="500" fill="hold"/>
                                        <p:tgtEl>
                                          <p:spTgt spid="64526"/>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4540"/>
                                        </p:tgtEl>
                                        <p:attrNameLst>
                                          <p:attrName>style.visibility</p:attrName>
                                        </p:attrNameLst>
                                      </p:cBhvr>
                                      <p:to>
                                        <p:strVal val="visible"/>
                                      </p:to>
                                    </p:set>
                                    <p:anim calcmode="lin" valueType="num">
                                      <p:cBhvr additive="base">
                                        <p:cTn id="27" dur="500" fill="hold"/>
                                        <p:tgtEl>
                                          <p:spTgt spid="64540"/>
                                        </p:tgtEl>
                                        <p:attrNameLst>
                                          <p:attrName>ppt_x</p:attrName>
                                        </p:attrNameLst>
                                      </p:cBhvr>
                                      <p:tavLst>
                                        <p:tav tm="0">
                                          <p:val>
                                            <p:strVal val="0-#ppt_w/2"/>
                                          </p:val>
                                        </p:tav>
                                        <p:tav tm="100000">
                                          <p:val>
                                            <p:strVal val="#ppt_x"/>
                                          </p:val>
                                        </p:tav>
                                      </p:tavLst>
                                    </p:anim>
                                    <p:anim calcmode="lin" valueType="num">
                                      <p:cBhvr additive="base">
                                        <p:cTn id="28" dur="500" fill="hold"/>
                                        <p:tgtEl>
                                          <p:spTgt spid="645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autoUpdateAnimBg="0"/>
      <p:bldP spid="64518" grpId="0" bldLvl="0" animBg="1" autoUpdateAnimBg="0"/>
      <p:bldP spid="64520" grpId="0" autoUpdateAnimBg="0"/>
      <p:bldP spid="64540"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1" name="Group 4"/>
          <p:cNvGrpSpPr/>
          <p:nvPr/>
        </p:nvGrpSpPr>
        <p:grpSpPr bwMode="auto">
          <a:xfrm>
            <a:off x="1477613" y="1577579"/>
            <a:ext cx="3941763" cy="483791"/>
            <a:chOff x="-320" y="18"/>
            <a:chExt cx="3056" cy="414"/>
          </a:xfrm>
          <a:solidFill>
            <a:srgbClr val="00B050"/>
          </a:solidFill>
        </p:grpSpPr>
        <p:sp>
          <p:nvSpPr>
            <p:cNvPr id="2066" name="AutoShape 5"/>
            <p:cNvSpPr>
              <a:spLocks noChangeArrowheads="1"/>
            </p:cNvSpPr>
            <p:nvPr/>
          </p:nvSpPr>
          <p:spPr bwMode="auto">
            <a:xfrm>
              <a:off x="-305" y="18"/>
              <a:ext cx="3041" cy="414"/>
            </a:xfrm>
            <a:prstGeom prst="rightArrowCallout">
              <a:avLst>
                <a:gd name="adj1" fmla="val 18981"/>
                <a:gd name="adj2" fmla="val 37269"/>
                <a:gd name="adj3" fmla="val 156252"/>
                <a:gd name="adj4" fmla="val 66667"/>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solidFill>
                  <a:schemeClr val="tx2"/>
                </a:solidFill>
              </a:endParaRPr>
            </a:p>
          </p:txBody>
        </p:sp>
        <p:sp>
          <p:nvSpPr>
            <p:cNvPr id="2067" name="Text Box 6"/>
            <p:cNvSpPr txBox="1">
              <a:spLocks noChangeArrowheads="1"/>
            </p:cNvSpPr>
            <p:nvPr/>
          </p:nvSpPr>
          <p:spPr bwMode="auto">
            <a:xfrm>
              <a:off x="-320" y="62"/>
              <a:ext cx="2034"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200" b="1" dirty="0">
                  <a:solidFill>
                    <a:srgbClr val="FFFF00"/>
                  </a:solidFill>
                  <a:latin typeface="华文新魏" panose="02010800040101010101" pitchFamily="2" charset="-122"/>
                  <a:ea typeface="华文新魏" panose="02010800040101010101" pitchFamily="2" charset="-122"/>
                </a:rPr>
                <a:t>开式或半开式传动</a:t>
              </a:r>
              <a:endParaRPr lang="zh-CN" altLang="en-US" sz="2200" b="1" dirty="0">
                <a:solidFill>
                  <a:srgbClr val="FFFF00"/>
                </a:solidFill>
                <a:latin typeface="华文新魏" panose="02010800040101010101" pitchFamily="2" charset="-122"/>
                <a:ea typeface="华文新魏" panose="02010800040101010101" pitchFamily="2" charset="-122"/>
              </a:endParaRPr>
            </a:p>
          </p:txBody>
        </p:sp>
      </p:grpSp>
      <p:sp>
        <p:nvSpPr>
          <p:cNvPr id="2052" name="Text Box 7"/>
          <p:cNvSpPr txBox="1">
            <a:spLocks noChangeArrowheads="1"/>
          </p:cNvSpPr>
          <p:nvPr/>
        </p:nvSpPr>
        <p:spPr bwMode="auto">
          <a:xfrm>
            <a:off x="5479666" y="1569279"/>
            <a:ext cx="2759982" cy="430887"/>
          </a:xfrm>
          <a:prstGeom prst="rect">
            <a:avLst/>
          </a:pr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200" dirty="0">
                <a:solidFill>
                  <a:schemeClr val="tx2"/>
                </a:solidFill>
                <a:ea typeface="黑体" panose="02010609060101010101" pitchFamily="49" charset="-122"/>
              </a:rPr>
              <a:t>定期人工加油润滑</a:t>
            </a:r>
            <a:endParaRPr lang="zh-CN" altLang="en-US" sz="2200" dirty="0">
              <a:solidFill>
                <a:schemeClr val="tx2"/>
              </a:solidFill>
              <a:ea typeface="黑体" panose="02010609060101010101" pitchFamily="49" charset="-122"/>
            </a:endParaRPr>
          </a:p>
        </p:txBody>
      </p:sp>
      <p:grpSp>
        <p:nvGrpSpPr>
          <p:cNvPr id="2053" name="Group 8"/>
          <p:cNvGrpSpPr/>
          <p:nvPr/>
        </p:nvGrpSpPr>
        <p:grpSpPr bwMode="auto">
          <a:xfrm>
            <a:off x="1419442" y="2323722"/>
            <a:ext cx="4140109" cy="495084"/>
            <a:chOff x="-42" y="14"/>
            <a:chExt cx="2866" cy="425"/>
          </a:xfrm>
          <a:solidFill>
            <a:srgbClr val="0070C0"/>
          </a:solidFill>
        </p:grpSpPr>
        <p:sp>
          <p:nvSpPr>
            <p:cNvPr id="2064" name="AutoShape 9"/>
            <p:cNvSpPr>
              <a:spLocks noChangeArrowheads="1"/>
            </p:cNvSpPr>
            <p:nvPr/>
          </p:nvSpPr>
          <p:spPr bwMode="auto">
            <a:xfrm>
              <a:off x="-31" y="14"/>
              <a:ext cx="2855" cy="425"/>
            </a:xfrm>
            <a:prstGeom prst="rightArrowCallout">
              <a:avLst>
                <a:gd name="adj1" fmla="val 18981"/>
                <a:gd name="adj2" fmla="val 37269"/>
                <a:gd name="adj3" fmla="val 156252"/>
                <a:gd name="adj4" fmla="val 66667"/>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solidFill>
                  <a:schemeClr val="tx2"/>
                </a:solidFill>
              </a:endParaRPr>
            </a:p>
          </p:txBody>
        </p:sp>
        <p:sp>
          <p:nvSpPr>
            <p:cNvPr id="2065" name="Text Box 10"/>
            <p:cNvSpPr txBox="1">
              <a:spLocks noChangeArrowheads="1"/>
            </p:cNvSpPr>
            <p:nvPr/>
          </p:nvSpPr>
          <p:spPr bwMode="auto">
            <a:xfrm>
              <a:off x="-42" y="35"/>
              <a:ext cx="1928" cy="37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200" b="1" i="1" dirty="0">
                  <a:solidFill>
                    <a:srgbClr val="FFFF00"/>
                  </a:solidFill>
                  <a:ea typeface="华文新魏" panose="02010800040101010101" pitchFamily="2" charset="-122"/>
                </a:rPr>
                <a:t>v</a:t>
              </a:r>
              <a:r>
                <a:rPr lang="en-US" altLang="zh-CN" sz="2200" b="1" dirty="0">
                  <a:solidFill>
                    <a:srgbClr val="FFFF00"/>
                  </a:solidFill>
                  <a:ea typeface="华文新魏" panose="02010800040101010101" pitchFamily="2" charset="-122"/>
                </a:rPr>
                <a:t>&lt; </a:t>
              </a:r>
              <a:r>
                <a:rPr lang="en-US" altLang="zh-CN" sz="2200" b="1" dirty="0" smtClean="0">
                  <a:solidFill>
                    <a:srgbClr val="FFFF00"/>
                  </a:solidFill>
                  <a:ea typeface="华文新魏" panose="02010800040101010101" pitchFamily="2" charset="-122"/>
                </a:rPr>
                <a:t>12 </a:t>
              </a:r>
              <a:r>
                <a:rPr lang="en-US" altLang="zh-CN" sz="2200" b="1" dirty="0">
                  <a:solidFill>
                    <a:srgbClr val="FFFF00"/>
                  </a:solidFill>
                  <a:ea typeface="华文新魏" panose="02010800040101010101" pitchFamily="2" charset="-122"/>
                </a:rPr>
                <a:t>m/s</a:t>
              </a:r>
              <a:r>
                <a:rPr lang="zh-CN" altLang="en-US" sz="2200" b="1" dirty="0">
                  <a:solidFill>
                    <a:srgbClr val="FFFF00"/>
                  </a:solidFill>
                  <a:ea typeface="华文新魏" panose="02010800040101010101" pitchFamily="2" charset="-122"/>
                </a:rPr>
                <a:t>的闭式传动</a:t>
              </a:r>
              <a:endParaRPr lang="zh-CN" altLang="en-US" sz="2200" b="1" dirty="0">
                <a:solidFill>
                  <a:srgbClr val="FFFF00"/>
                </a:solidFill>
                <a:ea typeface="华文新魏" panose="02010800040101010101" pitchFamily="2" charset="-122"/>
              </a:endParaRPr>
            </a:p>
          </p:txBody>
        </p:sp>
      </p:grpSp>
      <p:sp>
        <p:nvSpPr>
          <p:cNvPr id="2054" name="Text Box 11"/>
          <p:cNvSpPr txBox="1">
            <a:spLocks noChangeArrowheads="1"/>
          </p:cNvSpPr>
          <p:nvPr/>
        </p:nvSpPr>
        <p:spPr bwMode="auto">
          <a:xfrm>
            <a:off x="5590293" y="2305844"/>
            <a:ext cx="2086742" cy="430887"/>
          </a:xfrm>
          <a:prstGeom prst="rect">
            <a:avLst/>
          </a:pr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i="1" dirty="0">
                <a:solidFill>
                  <a:schemeClr val="tx2"/>
                </a:solidFill>
                <a:latin typeface="黑体" panose="02010609060101010101" pitchFamily="49" charset="-122"/>
                <a:ea typeface="黑体" panose="02010609060101010101" pitchFamily="49" charset="-122"/>
              </a:rPr>
              <a:t> </a:t>
            </a:r>
            <a:r>
              <a:rPr lang="zh-CN" altLang="en-US" sz="2200" dirty="0">
                <a:solidFill>
                  <a:schemeClr val="tx2"/>
                </a:solidFill>
                <a:latin typeface="黑体" panose="02010609060101010101" pitchFamily="49" charset="-122"/>
                <a:ea typeface="黑体" panose="02010609060101010101" pitchFamily="49" charset="-122"/>
              </a:rPr>
              <a:t>浸油润滑</a:t>
            </a:r>
            <a:endParaRPr lang="zh-CN" altLang="en-US" sz="2200" dirty="0">
              <a:solidFill>
                <a:schemeClr val="tx2"/>
              </a:solidFill>
              <a:latin typeface="黑体" panose="02010609060101010101" pitchFamily="49" charset="-122"/>
              <a:ea typeface="黑体" panose="02010609060101010101" pitchFamily="49" charset="-122"/>
            </a:endParaRPr>
          </a:p>
        </p:txBody>
      </p:sp>
      <p:grpSp>
        <p:nvGrpSpPr>
          <p:cNvPr id="2055" name="Group 12"/>
          <p:cNvGrpSpPr/>
          <p:nvPr/>
        </p:nvGrpSpPr>
        <p:grpSpPr bwMode="auto">
          <a:xfrm>
            <a:off x="1476786" y="3014404"/>
            <a:ext cx="4052800" cy="499176"/>
            <a:chOff x="-7" y="26"/>
            <a:chExt cx="2736" cy="432"/>
          </a:xfrm>
          <a:solidFill>
            <a:srgbClr val="0070C0"/>
          </a:solidFill>
        </p:grpSpPr>
        <p:sp>
          <p:nvSpPr>
            <p:cNvPr id="2062" name="AutoShape 13"/>
            <p:cNvSpPr>
              <a:spLocks noChangeArrowheads="1"/>
            </p:cNvSpPr>
            <p:nvPr/>
          </p:nvSpPr>
          <p:spPr bwMode="auto">
            <a:xfrm>
              <a:off x="-7" y="26"/>
              <a:ext cx="2736" cy="432"/>
            </a:xfrm>
            <a:prstGeom prst="rightArrowCallout">
              <a:avLst>
                <a:gd name="adj1" fmla="val 18981"/>
                <a:gd name="adj2" fmla="val 37269"/>
                <a:gd name="adj3" fmla="val 156252"/>
                <a:gd name="adj4" fmla="val 70252"/>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solidFill>
                  <a:schemeClr val="tx2"/>
                </a:solidFill>
              </a:endParaRPr>
            </a:p>
          </p:txBody>
        </p:sp>
        <p:sp>
          <p:nvSpPr>
            <p:cNvPr id="2063" name="Rectangle 14"/>
            <p:cNvSpPr>
              <a:spLocks noChangeArrowheads="1"/>
            </p:cNvSpPr>
            <p:nvPr/>
          </p:nvSpPr>
          <p:spPr bwMode="auto">
            <a:xfrm>
              <a:off x="-4" y="47"/>
              <a:ext cx="1895" cy="37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200" b="1" i="1" dirty="0">
                  <a:solidFill>
                    <a:srgbClr val="FFFF00"/>
                  </a:solidFill>
                  <a:ea typeface="华文新魏" panose="02010800040101010101" pitchFamily="2" charset="-122"/>
                </a:rPr>
                <a:t>v</a:t>
              </a:r>
              <a:r>
                <a:rPr lang="en-US" altLang="zh-CN" sz="2200" b="1" dirty="0">
                  <a:solidFill>
                    <a:srgbClr val="FFFF00"/>
                  </a:solidFill>
                  <a:ea typeface="华文新魏" panose="02010800040101010101" pitchFamily="2" charset="-122"/>
                </a:rPr>
                <a:t>&gt; 12 m/s</a:t>
              </a:r>
              <a:r>
                <a:rPr lang="zh-CN" altLang="en-US" sz="2200" b="1" dirty="0">
                  <a:solidFill>
                    <a:srgbClr val="FFFF00"/>
                  </a:solidFill>
                  <a:ea typeface="华文新魏" panose="02010800040101010101" pitchFamily="2" charset="-122"/>
                </a:rPr>
                <a:t>的闭式传动</a:t>
              </a:r>
              <a:endParaRPr lang="zh-CN" altLang="en-US" sz="2200" b="1" dirty="0">
                <a:solidFill>
                  <a:srgbClr val="FFFF00"/>
                </a:solidFill>
                <a:ea typeface="华文新魏" panose="02010800040101010101" pitchFamily="2" charset="-122"/>
              </a:endParaRPr>
            </a:p>
          </p:txBody>
        </p:sp>
      </p:grpSp>
      <p:sp>
        <p:nvSpPr>
          <p:cNvPr id="2056" name="Rectangle 15"/>
          <p:cNvSpPr>
            <a:spLocks noChangeArrowheads="1"/>
          </p:cNvSpPr>
          <p:nvPr/>
        </p:nvSpPr>
        <p:spPr bwMode="auto">
          <a:xfrm>
            <a:off x="5608709" y="3079481"/>
            <a:ext cx="2872100" cy="430887"/>
          </a:xfrm>
          <a:prstGeom prst="rect">
            <a:avLst/>
          </a:pr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200" dirty="0">
                <a:solidFill>
                  <a:schemeClr val="tx2"/>
                </a:solidFill>
                <a:latin typeface="黑体" panose="02010609060101010101" pitchFamily="49" charset="-122"/>
                <a:ea typeface="黑体" panose="02010609060101010101" pitchFamily="49" charset="-122"/>
              </a:rPr>
              <a:t>喷油润滑</a:t>
            </a:r>
            <a:endParaRPr lang="zh-CN" altLang="en-US" sz="2200" dirty="0">
              <a:solidFill>
                <a:schemeClr val="tx2"/>
              </a:solidFill>
              <a:latin typeface="黑体" panose="02010609060101010101" pitchFamily="49" charset="-122"/>
              <a:ea typeface="黑体" panose="02010609060101010101" pitchFamily="49" charset="-122"/>
            </a:endParaRPr>
          </a:p>
        </p:txBody>
      </p:sp>
      <p:sp>
        <p:nvSpPr>
          <p:cNvPr id="2057" name="Text Box 16"/>
          <p:cNvSpPr txBox="1">
            <a:spLocks noChangeArrowheads="1"/>
          </p:cNvSpPr>
          <p:nvPr/>
        </p:nvSpPr>
        <p:spPr bwMode="auto">
          <a:xfrm>
            <a:off x="150726" y="2442859"/>
            <a:ext cx="1206342" cy="1107996"/>
          </a:xfrm>
          <a:prstGeom prst="rect">
            <a:avLst/>
          </a:prstGeom>
          <a:solidFill>
            <a:srgbClr val="0070C0"/>
          </a:solidFill>
          <a:ln>
            <a:noFill/>
          </a:ln>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200" b="1" dirty="0">
                <a:solidFill>
                  <a:srgbClr val="FFFF00"/>
                </a:solidFill>
                <a:latin typeface="黑体" panose="02010609060101010101" pitchFamily="49" charset="-122"/>
                <a:ea typeface="黑体" panose="02010609060101010101" pitchFamily="49" charset="-122"/>
              </a:rPr>
              <a:t>闭式</a:t>
            </a:r>
            <a:endParaRPr lang="zh-CN" altLang="en-US" sz="2200" b="1" dirty="0">
              <a:solidFill>
                <a:srgbClr val="FFFF00"/>
              </a:solidFill>
              <a:latin typeface="黑体" panose="02010609060101010101" pitchFamily="49" charset="-122"/>
              <a:ea typeface="黑体" panose="02010609060101010101" pitchFamily="49" charset="-122"/>
            </a:endParaRPr>
          </a:p>
          <a:p>
            <a:pPr algn="ctr" eaLnBrk="1" hangingPunct="1">
              <a:spcBef>
                <a:spcPct val="0"/>
              </a:spcBef>
              <a:buFontTx/>
              <a:buNone/>
            </a:pPr>
            <a:r>
              <a:rPr lang="zh-CN" altLang="en-US" sz="2200" b="1" dirty="0">
                <a:solidFill>
                  <a:srgbClr val="FFFF00"/>
                </a:solidFill>
                <a:latin typeface="黑体" panose="02010609060101010101" pitchFamily="49" charset="-122"/>
                <a:ea typeface="黑体" panose="02010609060101010101" pitchFamily="49" charset="-122"/>
              </a:rPr>
              <a:t>齿轮</a:t>
            </a:r>
            <a:endParaRPr lang="zh-CN" altLang="en-US" sz="2200" b="1" dirty="0">
              <a:solidFill>
                <a:srgbClr val="FFFF00"/>
              </a:solidFill>
              <a:latin typeface="黑体" panose="02010609060101010101" pitchFamily="49" charset="-122"/>
              <a:ea typeface="黑体" panose="02010609060101010101" pitchFamily="49" charset="-122"/>
            </a:endParaRPr>
          </a:p>
          <a:p>
            <a:pPr algn="ctr" eaLnBrk="1" hangingPunct="1">
              <a:spcBef>
                <a:spcPct val="0"/>
              </a:spcBef>
              <a:buFontTx/>
              <a:buNone/>
            </a:pPr>
            <a:r>
              <a:rPr lang="zh-CN" altLang="en-US" sz="2200" b="1" dirty="0">
                <a:solidFill>
                  <a:srgbClr val="FFFF00"/>
                </a:solidFill>
                <a:latin typeface="黑体" panose="02010609060101010101" pitchFamily="49" charset="-122"/>
                <a:ea typeface="黑体" panose="02010609060101010101" pitchFamily="49" charset="-122"/>
              </a:rPr>
              <a:t>传动</a:t>
            </a:r>
            <a:endParaRPr lang="zh-CN" altLang="en-US" sz="2200" b="1" dirty="0">
              <a:solidFill>
                <a:srgbClr val="FFFF00"/>
              </a:solidFill>
              <a:latin typeface="黑体" panose="02010609060101010101" pitchFamily="49" charset="-122"/>
              <a:ea typeface="黑体" panose="02010609060101010101" pitchFamily="49" charset="-122"/>
            </a:endParaRPr>
          </a:p>
        </p:txBody>
      </p:sp>
      <p:sp>
        <p:nvSpPr>
          <p:cNvPr id="2058" name="Text Box 17"/>
          <p:cNvSpPr txBox="1">
            <a:spLocks noChangeArrowheads="1"/>
          </p:cNvSpPr>
          <p:nvPr/>
        </p:nvSpPr>
        <p:spPr bwMode="auto">
          <a:xfrm>
            <a:off x="2487733" y="5518589"/>
            <a:ext cx="18002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200" b="1" dirty="0">
                <a:latin typeface="Arial Narrow" panose="020B0606020202030204" pitchFamily="34" charset="0"/>
              </a:rPr>
              <a:t>浸油润滑</a:t>
            </a:r>
            <a:endParaRPr lang="zh-CN" altLang="en-US" sz="2200" b="1" dirty="0">
              <a:latin typeface="Arial Narrow" panose="020B0606020202030204" pitchFamily="34" charset="0"/>
            </a:endParaRPr>
          </a:p>
        </p:txBody>
      </p:sp>
      <p:sp>
        <p:nvSpPr>
          <p:cNvPr id="2059" name="Text Box 18"/>
          <p:cNvSpPr txBox="1">
            <a:spLocks noChangeArrowheads="1"/>
          </p:cNvSpPr>
          <p:nvPr/>
        </p:nvSpPr>
        <p:spPr bwMode="auto">
          <a:xfrm>
            <a:off x="6963352" y="5882220"/>
            <a:ext cx="14873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200" b="1" dirty="0">
                <a:latin typeface="Arial Narrow" panose="020B0606020202030204" pitchFamily="34" charset="0"/>
              </a:rPr>
              <a:t>喷油润滑</a:t>
            </a:r>
            <a:endParaRPr lang="zh-CN" altLang="en-US" sz="2200" b="1" dirty="0">
              <a:latin typeface="Arial Narrow" panose="020B0606020202030204" pitchFamily="34" charset="0"/>
            </a:endParaRPr>
          </a:p>
        </p:txBody>
      </p:sp>
      <p:pic>
        <p:nvPicPr>
          <p:cNvPr id="2060" name="Picture 19"/>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415442" y="3689276"/>
            <a:ext cx="5223155" cy="1829558"/>
          </a:xfrm>
          <a:noFill/>
        </p:spPr>
      </p:pic>
      <p:pic>
        <p:nvPicPr>
          <p:cNvPr id="2061"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6471343" y="3906458"/>
            <a:ext cx="1713411" cy="196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7"/>
          <p:cNvSpPr txBox="1">
            <a:spLocks noChangeArrowheads="1"/>
          </p:cNvSpPr>
          <p:nvPr/>
        </p:nvSpPr>
        <p:spPr bwMode="auto">
          <a:xfrm>
            <a:off x="242329" y="950390"/>
            <a:ext cx="342914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a:solidFill>
                  <a:srgbClr val="C00000"/>
                </a:solidFill>
                <a:latin typeface="黑体" panose="02010609060101010101" pitchFamily="49" charset="-122"/>
                <a:ea typeface="黑体" panose="02010609060101010101" pitchFamily="49" charset="-122"/>
              </a:rPr>
              <a:t>二、齿轮传动的润滑方式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21" name="Text Box 4"/>
          <p:cNvSpPr txBox="1">
            <a:spLocks noChangeArrowheads="1"/>
          </p:cNvSpPr>
          <p:nvPr/>
        </p:nvSpPr>
        <p:spPr bwMode="auto">
          <a:xfrm>
            <a:off x="3975652" y="158308"/>
            <a:ext cx="4492487" cy="517663"/>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000" dirty="0" smtClean="0">
                <a:solidFill>
                  <a:srgbClr val="CC3300"/>
                </a:solidFill>
                <a:latin typeface="黑体" panose="02010609060101010101" pitchFamily="49" charset="-122"/>
                <a:ea typeface="黑体" panose="02010609060101010101" pitchFamily="49" charset="-122"/>
              </a:rPr>
              <a:t>3.4-10 </a:t>
            </a:r>
            <a:r>
              <a:rPr lang="zh-CN" altLang="en-US" sz="3000" dirty="0" smtClean="0">
                <a:solidFill>
                  <a:srgbClr val="CC3300"/>
                </a:solidFill>
                <a:latin typeface="黑体" panose="02010609060101010101" pitchFamily="49" charset="-122"/>
                <a:ea typeface="黑体" panose="02010609060101010101" pitchFamily="49" charset="-122"/>
              </a:rPr>
              <a:t>齿轮传动</a:t>
            </a:r>
            <a:r>
              <a:rPr lang="zh-CN" altLang="en-US" sz="3000" dirty="0">
                <a:solidFill>
                  <a:srgbClr val="CC3300"/>
                </a:solidFill>
                <a:latin typeface="黑体" panose="02010609060101010101" pitchFamily="49" charset="-122"/>
                <a:ea typeface="黑体" panose="02010609060101010101" pitchFamily="49" charset="-122"/>
              </a:rPr>
              <a:t>的润滑 </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2" name="直接连接符 6"/>
          <p:cNvSpPr>
            <a:spLocks noChangeShapeType="1"/>
          </p:cNvSpPr>
          <p:nvPr/>
        </p:nvSpPr>
        <p:spPr bwMode="auto">
          <a:xfrm>
            <a:off x="0" y="77522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510540" y="6046152"/>
            <a:ext cx="5080000" cy="583565"/>
          </a:xfrm>
          <a:prstGeom prst="rect">
            <a:avLst/>
          </a:prstGeom>
        </p:spPr>
        <p:txBody>
          <a:bodyPr>
            <a:spAutoFit/>
          </a:bodyPr>
          <a:p>
            <a:pPr marL="0" indent="0"/>
            <a:r>
              <a:rPr lang="zh-CN" altLang="en-US" sz="1600" b="0" i="0">
                <a:solidFill>
                  <a:srgbClr val="333333"/>
                </a:solidFill>
                <a:latin typeface="黑体" panose="02010609060101010101" pitchFamily="49" charset="-122"/>
                <a:ea typeface="黑体" panose="02010609060101010101" pitchFamily="49" charset="-122"/>
              </a:rPr>
              <a:t>大齿轮在油池中的浸油深度为一个齿高，</a:t>
            </a:r>
            <a:r>
              <a:rPr lang="zh-CN" altLang="en-US" sz="1600" b="0" i="0">
                <a:solidFill>
                  <a:srgbClr val="333333"/>
                </a:solidFill>
                <a:latin typeface="黑体" panose="02010609060101010101" pitchFamily="49" charset="-122"/>
                <a:ea typeface="黑体" panose="02010609060101010101" pitchFamily="49" charset="-122"/>
              </a:rPr>
              <a:t>一般不应小于</a:t>
            </a:r>
            <a:r>
              <a:rPr lang="en-US" altLang="zh-CN" sz="1600" b="0" i="0">
                <a:solidFill>
                  <a:srgbClr val="333333"/>
                </a:solidFill>
                <a:latin typeface="黑体" panose="02010609060101010101" pitchFamily="49" charset="-122"/>
                <a:ea typeface="黑体" panose="02010609060101010101" pitchFamily="49" charset="-122"/>
              </a:rPr>
              <a:t>10</a:t>
            </a:r>
            <a:r>
              <a:rPr lang="en-US" altLang="zh-CN" sz="1600" b="0" i="0">
                <a:solidFill>
                  <a:srgbClr val="333333"/>
                </a:solidFill>
                <a:latin typeface="黑体" panose="02010609060101010101" pitchFamily="49" charset="-122"/>
                <a:ea typeface="黑体" panose="02010609060101010101" pitchFamily="49" charset="-122"/>
              </a:rPr>
              <a:t>mm</a:t>
            </a:r>
            <a:endParaRPr lang="en-US" altLang="zh-CN" sz="1600" b="0" i="0">
              <a:solidFill>
                <a:srgbClr val="333333"/>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wipe(left)">
                                      <p:cBhvr>
                                        <p:cTn id="12" dur="500"/>
                                        <p:tgtEl>
                                          <p:spTgt spid="20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2"/>
                                        </p:tgtEl>
                                        <p:attrNameLst>
                                          <p:attrName>style.visibility</p:attrName>
                                        </p:attrNameLst>
                                      </p:cBhvr>
                                      <p:to>
                                        <p:strVal val="visible"/>
                                      </p:to>
                                    </p:set>
                                    <p:animEffect transition="in" filter="wipe(left)">
                                      <p:cBhvr>
                                        <p:cTn id="17" dur="500"/>
                                        <p:tgtEl>
                                          <p:spTgt spid="20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7"/>
                                        </p:tgtEl>
                                        <p:attrNameLst>
                                          <p:attrName>style.visibility</p:attrName>
                                        </p:attrNameLst>
                                      </p:cBhvr>
                                      <p:to>
                                        <p:strVal val="visible"/>
                                      </p:to>
                                    </p:set>
                                    <p:animEffect transition="in" filter="wipe(left)">
                                      <p:cBhvr>
                                        <p:cTn id="22" dur="500"/>
                                        <p:tgtEl>
                                          <p:spTgt spid="20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53"/>
                                        </p:tgtEl>
                                        <p:attrNameLst>
                                          <p:attrName>style.visibility</p:attrName>
                                        </p:attrNameLst>
                                      </p:cBhvr>
                                      <p:to>
                                        <p:strVal val="visible"/>
                                      </p:to>
                                    </p:set>
                                    <p:animEffect transition="in" filter="wipe(left)">
                                      <p:cBhvr>
                                        <p:cTn id="27" dur="500"/>
                                        <p:tgtEl>
                                          <p:spTgt spid="2053"/>
                                        </p:tgtEl>
                                      </p:cBhvr>
                                    </p:animEffect>
                                  </p:childTnLst>
                                </p:cTn>
                              </p:par>
                              <p:par>
                                <p:cTn id="28" presetID="22" presetClass="entr" presetSubtype="8" fill="hold" nodeType="withEffect">
                                  <p:stCondLst>
                                    <p:cond delay="0"/>
                                  </p:stCondLst>
                                  <p:childTnLst>
                                    <p:set>
                                      <p:cBhvr>
                                        <p:cTn id="29" dur="1" fill="hold">
                                          <p:stCondLst>
                                            <p:cond delay="0"/>
                                          </p:stCondLst>
                                        </p:cTn>
                                        <p:tgtEl>
                                          <p:spTgt spid="2055"/>
                                        </p:tgtEl>
                                        <p:attrNameLst>
                                          <p:attrName>style.visibility</p:attrName>
                                        </p:attrNameLst>
                                      </p:cBhvr>
                                      <p:to>
                                        <p:strVal val="visible"/>
                                      </p:to>
                                    </p:set>
                                    <p:animEffect transition="in" filter="wipe(left)">
                                      <p:cBhvr>
                                        <p:cTn id="30" dur="500"/>
                                        <p:tgtEl>
                                          <p:spTgt spid="205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054"/>
                                        </p:tgtEl>
                                        <p:attrNameLst>
                                          <p:attrName>style.visibility</p:attrName>
                                        </p:attrNameLst>
                                      </p:cBhvr>
                                      <p:to>
                                        <p:strVal val="visible"/>
                                      </p:to>
                                    </p:set>
                                    <p:animEffect transition="in" filter="wipe(left)">
                                      <p:cBhvr>
                                        <p:cTn id="35" dur="500"/>
                                        <p:tgtEl>
                                          <p:spTgt spid="205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60"/>
                                        </p:tgtEl>
                                        <p:attrNameLst>
                                          <p:attrName>style.visibility</p:attrName>
                                        </p:attrNameLst>
                                      </p:cBhvr>
                                      <p:to>
                                        <p:strVal val="visible"/>
                                      </p:to>
                                    </p:set>
                                    <p:animEffect transition="in" filter="wipe(left)">
                                      <p:cBhvr>
                                        <p:cTn id="40" dur="500"/>
                                        <p:tgtEl>
                                          <p:spTgt spid="2060"/>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058"/>
                                        </p:tgtEl>
                                        <p:attrNameLst>
                                          <p:attrName>style.visibility</p:attrName>
                                        </p:attrNameLst>
                                      </p:cBhvr>
                                      <p:to>
                                        <p:strVal val="visible"/>
                                      </p:to>
                                    </p:set>
                                    <p:animEffect transition="in" filter="wipe(left)">
                                      <p:cBhvr>
                                        <p:cTn id="44" dur="500"/>
                                        <p:tgtEl>
                                          <p:spTgt spid="205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down)">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056"/>
                                        </p:tgtEl>
                                        <p:attrNameLst>
                                          <p:attrName>style.visibility</p:attrName>
                                        </p:attrNameLst>
                                      </p:cBhvr>
                                      <p:to>
                                        <p:strVal val="visible"/>
                                      </p:to>
                                    </p:set>
                                    <p:animEffect transition="in" filter="wipe(left)">
                                      <p:cBhvr>
                                        <p:cTn id="54" dur="500"/>
                                        <p:tgtEl>
                                          <p:spTgt spid="205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061"/>
                                        </p:tgtEl>
                                        <p:attrNameLst>
                                          <p:attrName>style.visibility</p:attrName>
                                        </p:attrNameLst>
                                      </p:cBhvr>
                                      <p:to>
                                        <p:strVal val="visible"/>
                                      </p:to>
                                    </p:set>
                                    <p:animEffect transition="in" filter="wipe(left)">
                                      <p:cBhvr>
                                        <p:cTn id="59" dur="500"/>
                                        <p:tgtEl>
                                          <p:spTgt spid="206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059"/>
                                        </p:tgtEl>
                                        <p:attrNameLst>
                                          <p:attrName>style.visibility</p:attrName>
                                        </p:attrNameLst>
                                      </p:cBhvr>
                                      <p:to>
                                        <p:strVal val="visible"/>
                                      </p:to>
                                    </p:set>
                                    <p:animEffect transition="in" filter="wipe(left)">
                                      <p:cBhvr>
                                        <p:cTn id="62" dur="500"/>
                                        <p:tgtEl>
                                          <p:spTgt spid="2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animBg="1"/>
      <p:bldP spid="2054" grpId="0" animBg="1"/>
      <p:bldP spid="2056" grpId="0" animBg="1"/>
      <p:bldP spid="2057" grpId="0" animBg="1"/>
      <p:bldP spid="2058" grpId="0"/>
      <p:bldP spid="2059" grpId="0"/>
      <p:bldP spid="20" grpId="0" autoUpdateAnimBg="0"/>
      <p:bldP spid="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sz="800">
                <a:solidFill>
                  <a:schemeClr val="bg1"/>
                </a:solidFill>
                <a:latin typeface="Times New Roman" panose="02020603050405020304" pitchFamily="18" charset="0"/>
              </a:rPr>
              <a:t>齿轮传动的润滑</a:t>
            </a:r>
            <a:r>
              <a:rPr lang="zh-CN" altLang="en-US" sz="800">
                <a:solidFill>
                  <a:schemeClr val="bg1"/>
                </a:solidFill>
                <a:ea typeface="黑体" panose="02010609060101010101" pitchFamily="49" charset="-122"/>
              </a:rPr>
              <a:t> </a:t>
            </a:r>
            <a:endParaRPr lang="zh-CN" altLang="en-US" sz="800">
              <a:solidFill>
                <a:schemeClr val="bg1"/>
              </a:solidFill>
              <a:ea typeface="黑体" panose="02010609060101010101" pitchFamily="49" charset="-122"/>
            </a:endParaRPr>
          </a:p>
        </p:txBody>
      </p:sp>
      <p:sp>
        <p:nvSpPr>
          <p:cNvPr id="64516" name="Text Box 4"/>
          <p:cNvSpPr txBox="1">
            <a:spLocks noChangeArrowheads="1"/>
          </p:cNvSpPr>
          <p:nvPr/>
        </p:nvSpPr>
        <p:spPr bwMode="auto">
          <a:xfrm>
            <a:off x="3975652" y="148259"/>
            <a:ext cx="4492487" cy="517663"/>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000" dirty="0" smtClean="0">
                <a:solidFill>
                  <a:srgbClr val="CC3300"/>
                </a:solidFill>
                <a:latin typeface="黑体" panose="02010609060101010101" pitchFamily="49" charset="-122"/>
                <a:ea typeface="黑体" panose="02010609060101010101" pitchFamily="49" charset="-122"/>
              </a:rPr>
              <a:t>3.4-10 </a:t>
            </a:r>
            <a:r>
              <a:rPr lang="zh-CN" altLang="en-US" sz="3000" dirty="0" smtClean="0">
                <a:solidFill>
                  <a:srgbClr val="CC3300"/>
                </a:solidFill>
                <a:latin typeface="黑体" panose="02010609060101010101" pitchFamily="49" charset="-122"/>
                <a:ea typeface="黑体" panose="02010609060101010101" pitchFamily="49" charset="-122"/>
              </a:rPr>
              <a:t>齿轮传动</a:t>
            </a:r>
            <a:r>
              <a:rPr lang="zh-CN" altLang="en-US" sz="3000" dirty="0">
                <a:solidFill>
                  <a:srgbClr val="CC3300"/>
                </a:solidFill>
                <a:latin typeface="黑体" panose="02010609060101010101" pitchFamily="49" charset="-122"/>
                <a:ea typeface="黑体" panose="02010609060101010101" pitchFamily="49" charset="-122"/>
              </a:rPr>
              <a:t>的润滑 </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4521" name="Text Box 9"/>
          <p:cNvSpPr txBox="1">
            <a:spLocks noChangeArrowheads="1"/>
          </p:cNvSpPr>
          <p:nvPr/>
        </p:nvSpPr>
        <p:spPr bwMode="auto">
          <a:xfrm>
            <a:off x="171991" y="1086112"/>
            <a:ext cx="258275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a:solidFill>
                  <a:srgbClr val="C00000"/>
                </a:solidFill>
                <a:latin typeface="黑体" panose="02010609060101010101" pitchFamily="49" charset="-122"/>
                <a:ea typeface="黑体" panose="02010609060101010101" pitchFamily="49" charset="-122"/>
              </a:rPr>
              <a:t>三、润滑剂的选择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64532" name="Text Box 20"/>
          <p:cNvSpPr txBox="1">
            <a:spLocks noChangeArrowheads="1"/>
          </p:cNvSpPr>
          <p:nvPr/>
        </p:nvSpPr>
        <p:spPr bwMode="auto">
          <a:xfrm>
            <a:off x="191711" y="1538737"/>
            <a:ext cx="8388647" cy="132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zh-CN" altLang="en-US" dirty="0">
                <a:solidFill>
                  <a:srgbClr val="000099"/>
                </a:solidFill>
                <a:latin typeface="华文中宋" panose="02010600040101010101" pitchFamily="2" charset="-122"/>
              </a:rPr>
              <a:t>　</a:t>
            </a:r>
            <a:r>
              <a:rPr lang="zh-CN" altLang="en-US" sz="2200" dirty="0">
                <a:solidFill>
                  <a:srgbClr val="000099"/>
                </a:solidFill>
                <a:latin typeface="华文中宋" panose="02010600040101010101" pitchFamily="2" charset="-122"/>
              </a:rPr>
              <a:t>　</a:t>
            </a:r>
            <a:r>
              <a:rPr lang="zh-CN" altLang="en-US" sz="2200" dirty="0">
                <a:solidFill>
                  <a:srgbClr val="002060"/>
                </a:solidFill>
                <a:latin typeface="华文中宋" panose="02010600040101010101" pitchFamily="2" charset="-122"/>
              </a:rPr>
              <a:t>齿轮传动常用的润滑剂为润滑油或润滑脂。 选用时，应根据齿轮的</a:t>
            </a:r>
            <a:r>
              <a:rPr lang="zh-CN" altLang="en-US" sz="2200" dirty="0" smtClean="0">
                <a:solidFill>
                  <a:srgbClr val="002060"/>
                </a:solidFill>
                <a:latin typeface="华文中宋" panose="02010600040101010101" pitchFamily="2" charset="-122"/>
              </a:rPr>
              <a:t>工作情况</a:t>
            </a:r>
            <a:r>
              <a:rPr lang="zh-CN" altLang="en-US" sz="2200" dirty="0">
                <a:solidFill>
                  <a:srgbClr val="002060"/>
                </a:solidFill>
                <a:latin typeface="华文中宋" panose="02010600040101010101" pitchFamily="2" charset="-122"/>
              </a:rPr>
              <a:t>（转速高低、载荷大小、环境温度等），选择润滑剂的粘度、牌号。</a:t>
            </a:r>
            <a:endParaRPr lang="zh-CN" altLang="en-US" sz="2200" dirty="0">
              <a:solidFill>
                <a:srgbClr val="002060"/>
              </a:solidFill>
              <a:latin typeface="华文中宋" panose="02010600040101010101" pitchFamily="2" charset="-122"/>
            </a:endParaRPr>
          </a:p>
        </p:txBody>
      </p:sp>
      <p:sp>
        <p:nvSpPr>
          <p:cNvPr id="64531" name="Text Box 19"/>
          <p:cNvSpPr txBox="1">
            <a:spLocks noChangeArrowheads="1"/>
          </p:cNvSpPr>
          <p:nvPr/>
        </p:nvSpPr>
        <p:spPr bwMode="auto">
          <a:xfrm>
            <a:off x="2519397" y="2610611"/>
            <a:ext cx="5818745"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200" dirty="0">
                <a:solidFill>
                  <a:srgbClr val="000099"/>
                </a:solidFill>
                <a:latin typeface="华文中宋" panose="02010600040101010101" pitchFamily="2" charset="-122"/>
              </a:rPr>
              <a:t>齿轮传动润滑油粘度荐用</a:t>
            </a:r>
            <a:r>
              <a:rPr lang="zh-CN" altLang="en-US" sz="2200" dirty="0" smtClean="0">
                <a:solidFill>
                  <a:srgbClr val="000099"/>
                </a:solidFill>
                <a:latin typeface="华文中宋" panose="02010600040101010101" pitchFamily="2" charset="-122"/>
              </a:rPr>
              <a:t>值   </a:t>
            </a:r>
            <a:endParaRPr lang="zh-CN" altLang="en-US" sz="2200" dirty="0">
              <a:solidFill>
                <a:srgbClr val="FF0000"/>
              </a:solidFill>
              <a:latin typeface="华文中宋" panose="02010600040101010101" pitchFamily="2" charset="-122"/>
            </a:endParaRPr>
          </a:p>
        </p:txBody>
      </p:sp>
      <p:sp>
        <p:nvSpPr>
          <p:cNvPr id="2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3" name="图片 2"/>
          <p:cNvPicPr>
            <a:picLocks noChangeAspect="1"/>
          </p:cNvPicPr>
          <p:nvPr/>
        </p:nvPicPr>
        <p:blipFill>
          <a:blip r:embed="rId1"/>
          <a:stretch>
            <a:fillRect/>
          </a:stretch>
        </p:blipFill>
        <p:spPr>
          <a:xfrm>
            <a:off x="684029" y="3004438"/>
            <a:ext cx="7556833" cy="33806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521"/>
                                        </p:tgtEl>
                                        <p:attrNameLst>
                                          <p:attrName>style.visibility</p:attrName>
                                        </p:attrNameLst>
                                      </p:cBhvr>
                                      <p:to>
                                        <p:strVal val="visible"/>
                                      </p:to>
                                    </p:set>
                                    <p:animEffect transition="in" filter="wipe(left)">
                                      <p:cBhvr>
                                        <p:cTn id="7" dur="500"/>
                                        <p:tgtEl>
                                          <p:spTgt spid="645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532"/>
                                        </p:tgtEl>
                                        <p:attrNameLst>
                                          <p:attrName>style.visibility</p:attrName>
                                        </p:attrNameLst>
                                      </p:cBhvr>
                                      <p:to>
                                        <p:strVal val="visible"/>
                                      </p:to>
                                    </p:set>
                                    <p:animEffect transition="in" filter="wipe(left)">
                                      <p:cBhvr>
                                        <p:cTn id="12" dur="500"/>
                                        <p:tgtEl>
                                          <p:spTgt spid="64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1" grpId="0" autoUpdateAnimBg="0"/>
      <p:bldP spid="64532" grpId="0" bldLvl="0"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1"/>
          <p:cNvSpPr txBox="1">
            <a:spLocks noChangeArrowheads="1"/>
          </p:cNvSpPr>
          <p:nvPr/>
        </p:nvSpPr>
        <p:spPr bwMode="auto">
          <a:xfrm>
            <a:off x="188530" y="821210"/>
            <a:ext cx="1218240" cy="1630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zh-CN" altLang="en-US" dirty="0">
                <a:solidFill>
                  <a:srgbClr val="000099"/>
                </a:solidFill>
                <a:latin typeface="华文中宋" panose="02010600040101010101" pitchFamily="2" charset="-122"/>
              </a:rPr>
              <a:t>润滑油与润滑脂的牌号</a:t>
            </a:r>
            <a:r>
              <a:rPr lang="zh-CN" altLang="en-US" dirty="0" smtClean="0">
                <a:solidFill>
                  <a:srgbClr val="000099"/>
                </a:solidFill>
                <a:latin typeface="华文中宋" panose="02010600040101010101" pitchFamily="2" charset="-122"/>
              </a:rPr>
              <a:t>表</a:t>
            </a:r>
            <a:endParaRPr lang="en-US" altLang="zh-CN" dirty="0" smtClean="0">
              <a:solidFill>
                <a:srgbClr val="000099"/>
              </a:solidFill>
              <a:latin typeface="华文中宋" panose="02010600040101010101" pitchFamily="2" charset="-122"/>
            </a:endParaRPr>
          </a:p>
          <a:p>
            <a:pPr>
              <a:lnSpc>
                <a:spcPct val="125000"/>
              </a:lnSpc>
            </a:pPr>
            <a:r>
              <a:rPr lang="en-US" altLang="zh-CN" dirty="0">
                <a:solidFill>
                  <a:srgbClr val="FF0000"/>
                </a:solidFill>
                <a:latin typeface="华文中宋" panose="02010600040101010101" pitchFamily="2" charset="-122"/>
              </a:rPr>
              <a:t>P62</a:t>
            </a:r>
            <a:endParaRPr lang="zh-CN" altLang="en-US" dirty="0">
              <a:solidFill>
                <a:srgbClr val="FF0000"/>
              </a:solidFill>
            </a:endParaRPr>
          </a:p>
        </p:txBody>
      </p:sp>
      <p:pic>
        <p:nvPicPr>
          <p:cNvPr id="6" name="图片 5"/>
          <p:cNvPicPr>
            <a:picLocks noChangeAspect="1"/>
          </p:cNvPicPr>
          <p:nvPr/>
        </p:nvPicPr>
        <p:blipFill>
          <a:blip r:embed="rId1"/>
          <a:stretch>
            <a:fillRect/>
          </a:stretch>
        </p:blipFill>
        <p:spPr>
          <a:xfrm>
            <a:off x="1585372" y="211015"/>
            <a:ext cx="7336668" cy="64158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21" name="Text Box 1029"/>
          <p:cNvSpPr txBox="1">
            <a:spLocks noChangeArrowheads="1"/>
          </p:cNvSpPr>
          <p:nvPr/>
        </p:nvSpPr>
        <p:spPr bwMode="auto">
          <a:xfrm>
            <a:off x="590350" y="360948"/>
            <a:ext cx="5461000" cy="461665"/>
          </a:xfrm>
          <a:prstGeom prst="rect">
            <a:avLst/>
          </a:prstGeom>
          <a:solidFill>
            <a:srgbClr val="FFCCFF"/>
          </a:solidFill>
          <a:ln w="9525">
            <a:solidFill>
              <a:schemeClr val="bg2"/>
            </a:solidFill>
            <a:miter lim="800000"/>
          </a:ln>
          <a:effectLst>
            <a:outerShdw dist="107763" dir="2700000" algn="ctr" rotWithShape="0">
              <a:schemeClr val="bg2"/>
            </a:outerShdw>
          </a:effectLst>
        </p:spPr>
        <p:txBody>
          <a:bodyPr>
            <a:spAutoFit/>
          </a:bodyPr>
          <a:lstStyle/>
          <a:p>
            <a:r>
              <a:rPr lang="zh-CN" altLang="en-US" sz="2400" dirty="0" smtClean="0">
                <a:latin typeface="黑体" panose="02010609060101010101" pitchFamily="49" charset="-122"/>
                <a:ea typeface="黑体" panose="02010609060101010101" pitchFamily="49" charset="-122"/>
              </a:rPr>
              <a:t>齿轮传动</a:t>
            </a:r>
            <a:r>
              <a:rPr lang="zh-CN" altLang="en-US" sz="2400" dirty="0">
                <a:latin typeface="黑体" panose="02010609060101010101" pitchFamily="49" charset="-122"/>
                <a:ea typeface="黑体" panose="02010609060101010101" pitchFamily="49" charset="-122"/>
              </a:rPr>
              <a:t>的设计方法和参数选择</a:t>
            </a:r>
            <a:endParaRPr lang="zh-CN" altLang="en-US" sz="2400" dirty="0">
              <a:latin typeface="黑体" panose="02010609060101010101" pitchFamily="49" charset="-122"/>
              <a:ea typeface="黑体" panose="02010609060101010101" pitchFamily="49" charset="-122"/>
            </a:endParaRPr>
          </a:p>
        </p:txBody>
      </p:sp>
      <p:sp>
        <p:nvSpPr>
          <p:cNvPr id="342022" name="Rectangle 1030"/>
          <p:cNvSpPr>
            <a:spLocks noChangeArrowheads="1"/>
          </p:cNvSpPr>
          <p:nvPr/>
        </p:nvSpPr>
        <p:spPr bwMode="auto">
          <a:xfrm>
            <a:off x="685800" y="1143000"/>
            <a:ext cx="3632200" cy="495300"/>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一、齿轮传动的设计步骤</a:t>
            </a:r>
            <a:endParaRPr lang="zh-CN" altLang="en-US">
              <a:latin typeface="黑体" panose="02010609060101010101" pitchFamily="49" charset="-122"/>
            </a:endParaRPr>
          </a:p>
        </p:txBody>
      </p:sp>
      <p:sp>
        <p:nvSpPr>
          <p:cNvPr id="342023" name="Rectangle 1031"/>
          <p:cNvSpPr>
            <a:spLocks noChangeArrowheads="1"/>
          </p:cNvSpPr>
          <p:nvPr/>
        </p:nvSpPr>
        <p:spPr bwMode="auto">
          <a:xfrm>
            <a:off x="838200" y="1752600"/>
            <a:ext cx="601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a:t>1</a:t>
            </a:r>
            <a:r>
              <a:rPr lang="zh-CN" altLang="en-US"/>
              <a:t>、根据工作条件、载荷性质、使用要求，</a:t>
            </a:r>
            <a:endParaRPr lang="zh-CN" altLang="en-US"/>
          </a:p>
        </p:txBody>
      </p:sp>
      <p:sp>
        <p:nvSpPr>
          <p:cNvPr id="342024" name="Rectangle 1032"/>
          <p:cNvSpPr>
            <a:spLocks noChangeArrowheads="1"/>
          </p:cNvSpPr>
          <p:nvPr/>
        </p:nvSpPr>
        <p:spPr bwMode="auto">
          <a:xfrm>
            <a:off x="1289050" y="2157413"/>
            <a:ext cx="7169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合理选择材料、齿面硬度、热处理方法及精度等级；</a:t>
            </a:r>
            <a:endParaRPr lang="zh-CN" altLang="en-US" dirty="0">
              <a:latin typeface="黑体" panose="02010609060101010101" pitchFamily="49" charset="-122"/>
            </a:endParaRPr>
          </a:p>
        </p:txBody>
      </p:sp>
      <p:sp>
        <p:nvSpPr>
          <p:cNvPr id="342026" name="Rectangle 1034"/>
          <p:cNvSpPr>
            <a:spLocks noChangeArrowheads="1"/>
          </p:cNvSpPr>
          <p:nvPr/>
        </p:nvSpPr>
        <p:spPr bwMode="auto">
          <a:xfrm>
            <a:off x="838200" y="3810000"/>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dirty="0"/>
              <a:t>2</a:t>
            </a:r>
            <a:r>
              <a:rPr lang="zh-CN" altLang="en-US" dirty="0"/>
              <a:t>、根据主要失效形式，确定相应的设计准则；</a:t>
            </a:r>
            <a:endParaRPr lang="zh-CN" altLang="en-US" dirty="0"/>
          </a:p>
        </p:txBody>
      </p:sp>
      <p:sp>
        <p:nvSpPr>
          <p:cNvPr id="342027" name="Rectangle 1035"/>
          <p:cNvSpPr>
            <a:spLocks noChangeArrowheads="1"/>
          </p:cNvSpPr>
          <p:nvPr/>
        </p:nvSpPr>
        <p:spPr bwMode="auto">
          <a:xfrm>
            <a:off x="838200" y="43434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a:t>3</a:t>
            </a:r>
            <a:r>
              <a:rPr lang="zh-CN" altLang="en-US"/>
              <a:t>、合理选择有关参数，设计计算 </a:t>
            </a:r>
            <a:r>
              <a:rPr lang="en-US" altLang="zh-CN" i="1"/>
              <a:t>d</a:t>
            </a:r>
            <a:r>
              <a:rPr lang="en-US" altLang="zh-CN" baseline="-16000"/>
              <a:t>1</a:t>
            </a:r>
            <a:r>
              <a:rPr lang="en-US" altLang="zh-CN" i="1"/>
              <a:t> </a:t>
            </a:r>
            <a:r>
              <a:rPr lang="zh-CN" altLang="en-US"/>
              <a:t>或 </a:t>
            </a:r>
            <a:r>
              <a:rPr lang="en-US" altLang="zh-CN" i="1"/>
              <a:t>m </a:t>
            </a:r>
            <a:r>
              <a:rPr lang="zh-CN" altLang="en-US"/>
              <a:t>；</a:t>
            </a:r>
            <a:endParaRPr lang="zh-CN" altLang="en-US" i="1"/>
          </a:p>
        </p:txBody>
      </p:sp>
      <p:sp>
        <p:nvSpPr>
          <p:cNvPr id="342028" name="Rectangle 1036"/>
          <p:cNvSpPr>
            <a:spLocks noChangeArrowheads="1"/>
          </p:cNvSpPr>
          <p:nvPr/>
        </p:nvSpPr>
        <p:spPr bwMode="auto">
          <a:xfrm>
            <a:off x="838200" y="4876800"/>
            <a:ext cx="739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a:t>4</a:t>
            </a:r>
            <a:r>
              <a:rPr lang="zh-CN" altLang="en-US"/>
              <a:t>、考虑其他可能产生的失效形式，进行强度校核；</a:t>
            </a:r>
            <a:endParaRPr lang="zh-CN" altLang="en-US"/>
          </a:p>
        </p:txBody>
      </p:sp>
      <p:sp>
        <p:nvSpPr>
          <p:cNvPr id="342029" name="Rectangle 1037"/>
          <p:cNvSpPr>
            <a:spLocks noChangeArrowheads="1"/>
          </p:cNvSpPr>
          <p:nvPr/>
        </p:nvSpPr>
        <p:spPr bwMode="auto">
          <a:xfrm>
            <a:off x="838200" y="5410200"/>
            <a:ext cx="533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dirty="0"/>
              <a:t>5</a:t>
            </a:r>
            <a:r>
              <a:rPr lang="zh-CN" altLang="en-US" dirty="0"/>
              <a:t>、几何尺寸计算及齿轮的结构设计。</a:t>
            </a:r>
            <a:endParaRPr lang="zh-CN" altLang="en-US" dirty="0"/>
          </a:p>
        </p:txBody>
      </p:sp>
      <p:sp>
        <p:nvSpPr>
          <p:cNvPr id="342030" name="Rectangle 1038"/>
          <p:cNvSpPr>
            <a:spLocks noChangeArrowheads="1"/>
          </p:cNvSpPr>
          <p:nvPr/>
        </p:nvSpPr>
        <p:spPr bwMode="auto">
          <a:xfrm>
            <a:off x="1289050" y="2667000"/>
            <a:ext cx="678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chemeClr val="hlink"/>
                </a:solidFill>
                <a:latin typeface="黑体" panose="02010609060101010101" pitchFamily="49" charset="-122"/>
              </a:rPr>
              <a:t>软齿面硬度≤</a:t>
            </a:r>
            <a:r>
              <a:rPr lang="en-US" altLang="zh-CN" sz="2000">
                <a:solidFill>
                  <a:schemeClr val="hlink"/>
                </a:solidFill>
              </a:rPr>
              <a:t>350HBS</a:t>
            </a:r>
            <a:r>
              <a:rPr lang="zh-CN" altLang="en-US" sz="2000">
                <a:solidFill>
                  <a:schemeClr val="hlink"/>
                </a:solidFill>
              </a:rPr>
              <a:t>，硬齿面</a:t>
            </a:r>
            <a:r>
              <a:rPr lang="zh-CN" altLang="en-US" sz="2000">
                <a:solidFill>
                  <a:schemeClr val="hlink"/>
                </a:solidFill>
                <a:latin typeface="黑体" panose="02010609060101010101" pitchFamily="49" charset="-122"/>
              </a:rPr>
              <a:t>硬度＞</a:t>
            </a:r>
            <a:r>
              <a:rPr lang="en-US" altLang="zh-CN" sz="2000">
                <a:solidFill>
                  <a:schemeClr val="hlink"/>
                </a:solidFill>
              </a:rPr>
              <a:t>350HBS </a:t>
            </a:r>
            <a:r>
              <a:rPr lang="zh-CN" altLang="en-US" sz="2000">
                <a:solidFill>
                  <a:schemeClr val="hlink"/>
                </a:solidFill>
              </a:rPr>
              <a:t>或</a:t>
            </a:r>
            <a:r>
              <a:rPr lang="zh-CN" altLang="en-US" sz="2000">
                <a:solidFill>
                  <a:schemeClr val="hlink"/>
                </a:solidFill>
                <a:latin typeface="黑体" panose="02010609060101010101" pitchFamily="49" charset="-122"/>
              </a:rPr>
              <a:t>＞</a:t>
            </a:r>
            <a:r>
              <a:rPr lang="en-US" altLang="zh-CN" sz="2000">
                <a:solidFill>
                  <a:schemeClr val="hlink"/>
                </a:solidFill>
              </a:rPr>
              <a:t>40HRC</a:t>
            </a:r>
            <a:endParaRPr lang="en-US" altLang="zh-CN" sz="2000">
              <a:solidFill>
                <a:schemeClr val="hlink"/>
              </a:solidFill>
            </a:endParaRPr>
          </a:p>
        </p:txBody>
      </p:sp>
      <p:sp>
        <p:nvSpPr>
          <p:cNvPr id="342032" name="Rectangle 1040"/>
          <p:cNvSpPr>
            <a:spLocks noChangeArrowheads="1"/>
          </p:cNvSpPr>
          <p:nvPr/>
        </p:nvSpPr>
        <p:spPr bwMode="auto">
          <a:xfrm>
            <a:off x="1295400" y="3032125"/>
            <a:ext cx="678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solidFill>
                  <a:schemeClr val="hlink"/>
                </a:solidFill>
                <a:latin typeface="黑体" panose="02010609060101010101" pitchFamily="49" charset="-122"/>
              </a:rPr>
              <a:t>载荷大小：重载、轻载</a:t>
            </a:r>
            <a:endParaRPr lang="zh-CN" altLang="en-US" sz="2000">
              <a:solidFill>
                <a:schemeClr val="hlink"/>
              </a:solidFill>
            </a:endParaRPr>
          </a:p>
        </p:txBody>
      </p:sp>
      <p:sp>
        <p:nvSpPr>
          <p:cNvPr id="342033" name="Rectangle 1041"/>
          <p:cNvSpPr>
            <a:spLocks noChangeArrowheads="1"/>
          </p:cNvSpPr>
          <p:nvPr/>
        </p:nvSpPr>
        <p:spPr bwMode="auto">
          <a:xfrm>
            <a:off x="1295400" y="3413125"/>
            <a:ext cx="678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dirty="0">
                <a:solidFill>
                  <a:schemeClr val="hlink"/>
                </a:solidFill>
                <a:latin typeface="黑体" panose="02010609060101010101" pitchFamily="49" charset="-122"/>
              </a:rPr>
              <a:t>工作环境：闭式、开式</a:t>
            </a:r>
            <a:endParaRPr lang="zh-CN" altLang="en-US" sz="2000" dirty="0">
              <a:solidFill>
                <a:schemeClr val="hlink"/>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iterate type="lt">
                                    <p:tmPct val="100000"/>
                                  </p:iterate>
                                  <p:childTnLst>
                                    <p:set>
                                      <p:cBhvr>
                                        <p:cTn id="6" dur="100" fill="hold">
                                          <p:stCondLst>
                                            <p:cond delay="0"/>
                                          </p:stCondLst>
                                        </p:cTn>
                                        <p:tgtEl>
                                          <p:spTgt spid="342021"/>
                                        </p:tgtEl>
                                        <p:attrNameLst>
                                          <p:attrName>style.visibility</p:attrName>
                                        </p:attrNameLst>
                                      </p:cBhvr>
                                      <p:to>
                                        <p:strVal val="visible"/>
                                      </p:to>
                                    </p:set>
                                    <p:anim calcmode="lin" valueType="num">
                                      <p:cBhvr additive="base">
                                        <p:cTn id="7" dur="100" fill="hold"/>
                                        <p:tgtEl>
                                          <p:spTgt spid="342021"/>
                                        </p:tgtEl>
                                        <p:attrNameLst>
                                          <p:attrName>ppt_x</p:attrName>
                                        </p:attrNameLst>
                                      </p:cBhvr>
                                      <p:tavLst>
                                        <p:tav tm="0">
                                          <p:val>
                                            <p:strVal val="1+#ppt_w/2"/>
                                          </p:val>
                                        </p:tav>
                                        <p:tav tm="100000">
                                          <p:val>
                                            <p:strVal val="#ppt_x"/>
                                          </p:val>
                                        </p:tav>
                                      </p:tavLst>
                                    </p:anim>
                                    <p:anim calcmode="lin" valueType="num">
                                      <p:cBhvr additive="base">
                                        <p:cTn id="8" dur="100" fill="hold"/>
                                        <p:tgtEl>
                                          <p:spTgt spid="34202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528" fill="hold" grpId="0" nodeType="clickEffect">
                                  <p:stCondLst>
                                    <p:cond delay="0"/>
                                  </p:stCondLst>
                                  <p:childTnLst>
                                    <p:set>
                                      <p:cBhvr>
                                        <p:cTn id="12" dur="1" fill="hold">
                                          <p:stCondLst>
                                            <p:cond delay="0"/>
                                          </p:stCondLst>
                                        </p:cTn>
                                        <p:tgtEl>
                                          <p:spTgt spid="342022"/>
                                        </p:tgtEl>
                                        <p:attrNameLst>
                                          <p:attrName>style.visibility</p:attrName>
                                        </p:attrNameLst>
                                      </p:cBhvr>
                                      <p:to>
                                        <p:strVal val="visible"/>
                                      </p:to>
                                    </p:set>
                                    <p:anim calcmode="lin" valueType="num">
                                      <p:cBhvr>
                                        <p:cTn id="13" dur="500" fill="hold"/>
                                        <p:tgtEl>
                                          <p:spTgt spid="342022"/>
                                        </p:tgtEl>
                                        <p:attrNameLst>
                                          <p:attrName>ppt_w</p:attrName>
                                        </p:attrNameLst>
                                      </p:cBhvr>
                                      <p:tavLst>
                                        <p:tav tm="0">
                                          <p:val>
                                            <p:fltVal val="0"/>
                                          </p:val>
                                        </p:tav>
                                        <p:tav tm="100000">
                                          <p:val>
                                            <p:strVal val="#ppt_w"/>
                                          </p:val>
                                        </p:tav>
                                      </p:tavLst>
                                    </p:anim>
                                    <p:anim calcmode="lin" valueType="num">
                                      <p:cBhvr>
                                        <p:cTn id="14" dur="500" fill="hold"/>
                                        <p:tgtEl>
                                          <p:spTgt spid="342022"/>
                                        </p:tgtEl>
                                        <p:attrNameLst>
                                          <p:attrName>ppt_h</p:attrName>
                                        </p:attrNameLst>
                                      </p:cBhvr>
                                      <p:tavLst>
                                        <p:tav tm="0">
                                          <p:val>
                                            <p:fltVal val="0"/>
                                          </p:val>
                                        </p:tav>
                                        <p:tav tm="100000">
                                          <p:val>
                                            <p:strVal val="#ppt_h"/>
                                          </p:val>
                                        </p:tav>
                                      </p:tavLst>
                                    </p:anim>
                                    <p:anim calcmode="lin" valueType="num">
                                      <p:cBhvr>
                                        <p:cTn id="15" dur="500" fill="hold"/>
                                        <p:tgtEl>
                                          <p:spTgt spid="342022"/>
                                        </p:tgtEl>
                                        <p:attrNameLst>
                                          <p:attrName>ppt_x</p:attrName>
                                        </p:attrNameLst>
                                      </p:cBhvr>
                                      <p:tavLst>
                                        <p:tav tm="0">
                                          <p:val>
                                            <p:fltVal val="0.5"/>
                                          </p:val>
                                        </p:tav>
                                        <p:tav tm="100000">
                                          <p:val>
                                            <p:strVal val="#ppt_x"/>
                                          </p:val>
                                        </p:tav>
                                      </p:tavLst>
                                    </p:anim>
                                    <p:anim calcmode="lin" valueType="num">
                                      <p:cBhvr>
                                        <p:cTn id="16" dur="500" fill="hold"/>
                                        <p:tgtEl>
                                          <p:spTgt spid="342022"/>
                                        </p:tgtEl>
                                        <p:attrNameLst>
                                          <p:attrName>ppt_y</p:attrName>
                                        </p:attrNameLst>
                                      </p:cBhvr>
                                      <p:tavLst>
                                        <p:tav tm="0">
                                          <p:val>
                                            <p:fltVal val="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42023"/>
                                        </p:tgtEl>
                                        <p:attrNameLst>
                                          <p:attrName>style.visibility</p:attrName>
                                        </p:attrNameLst>
                                      </p:cBhvr>
                                      <p:to>
                                        <p:strVal val="visible"/>
                                      </p:to>
                                    </p:set>
                                    <p:animEffect transition="in" filter="checkerboard(across)">
                                      <p:cBhvr>
                                        <p:cTn id="21" dur="500"/>
                                        <p:tgtEl>
                                          <p:spTgt spid="342023"/>
                                        </p:tgtEl>
                                      </p:cBhvr>
                                    </p:animEffect>
                                  </p:childTnLst>
                                </p:cTn>
                              </p:par>
                            </p:childTnLst>
                          </p:cTn>
                        </p:par>
                        <p:par>
                          <p:cTn id="22" fill="hold">
                            <p:stCondLst>
                              <p:cond delay="500"/>
                            </p:stCondLst>
                            <p:childTnLst>
                              <p:par>
                                <p:cTn id="23" presetID="5" presetClass="entr" presetSubtype="10" fill="hold" grpId="0" nodeType="afterEffect">
                                  <p:stCondLst>
                                    <p:cond delay="0"/>
                                  </p:stCondLst>
                                  <p:childTnLst>
                                    <p:set>
                                      <p:cBhvr>
                                        <p:cTn id="24" dur="1" fill="hold">
                                          <p:stCondLst>
                                            <p:cond delay="0"/>
                                          </p:stCondLst>
                                        </p:cTn>
                                        <p:tgtEl>
                                          <p:spTgt spid="342024"/>
                                        </p:tgtEl>
                                        <p:attrNameLst>
                                          <p:attrName>style.visibility</p:attrName>
                                        </p:attrNameLst>
                                      </p:cBhvr>
                                      <p:to>
                                        <p:strVal val="visible"/>
                                      </p:to>
                                    </p:set>
                                    <p:animEffect transition="in" filter="checkerboard(across)">
                                      <p:cBhvr>
                                        <p:cTn id="25" dur="500"/>
                                        <p:tgtEl>
                                          <p:spTgt spid="342024"/>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grpId="0" nodeType="clickEffect">
                                  <p:stCondLst>
                                    <p:cond delay="0"/>
                                  </p:stCondLst>
                                  <p:childTnLst>
                                    <p:set>
                                      <p:cBhvr>
                                        <p:cTn id="29" dur="1" fill="hold">
                                          <p:stCondLst>
                                            <p:cond delay="0"/>
                                          </p:stCondLst>
                                        </p:cTn>
                                        <p:tgtEl>
                                          <p:spTgt spid="342030"/>
                                        </p:tgtEl>
                                        <p:attrNameLst>
                                          <p:attrName>style.visibility</p:attrName>
                                        </p:attrNameLst>
                                      </p:cBhvr>
                                      <p:to>
                                        <p:strVal val="visible"/>
                                      </p:to>
                                    </p:set>
                                    <p:animEffect transition="in" filter="barn(outVertical)">
                                      <p:cBhvr>
                                        <p:cTn id="30" dur="500"/>
                                        <p:tgtEl>
                                          <p:spTgt spid="342030"/>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37" fill="hold" grpId="0" nodeType="clickEffect">
                                  <p:stCondLst>
                                    <p:cond delay="0"/>
                                  </p:stCondLst>
                                  <p:childTnLst>
                                    <p:set>
                                      <p:cBhvr>
                                        <p:cTn id="34" dur="1" fill="hold">
                                          <p:stCondLst>
                                            <p:cond delay="0"/>
                                          </p:stCondLst>
                                        </p:cTn>
                                        <p:tgtEl>
                                          <p:spTgt spid="342032"/>
                                        </p:tgtEl>
                                        <p:attrNameLst>
                                          <p:attrName>style.visibility</p:attrName>
                                        </p:attrNameLst>
                                      </p:cBhvr>
                                      <p:to>
                                        <p:strVal val="visible"/>
                                      </p:to>
                                    </p:set>
                                    <p:animEffect transition="in" filter="barn(outVertical)">
                                      <p:cBhvr>
                                        <p:cTn id="35" dur="500"/>
                                        <p:tgtEl>
                                          <p:spTgt spid="342032"/>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37" fill="hold" grpId="0" nodeType="clickEffect">
                                  <p:stCondLst>
                                    <p:cond delay="0"/>
                                  </p:stCondLst>
                                  <p:childTnLst>
                                    <p:set>
                                      <p:cBhvr>
                                        <p:cTn id="39" dur="1" fill="hold">
                                          <p:stCondLst>
                                            <p:cond delay="0"/>
                                          </p:stCondLst>
                                        </p:cTn>
                                        <p:tgtEl>
                                          <p:spTgt spid="342033"/>
                                        </p:tgtEl>
                                        <p:attrNameLst>
                                          <p:attrName>style.visibility</p:attrName>
                                        </p:attrNameLst>
                                      </p:cBhvr>
                                      <p:to>
                                        <p:strVal val="visible"/>
                                      </p:to>
                                    </p:set>
                                    <p:animEffect transition="in" filter="barn(outVertical)">
                                      <p:cBhvr>
                                        <p:cTn id="40" dur="500"/>
                                        <p:tgtEl>
                                          <p:spTgt spid="342033"/>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342026"/>
                                        </p:tgtEl>
                                        <p:attrNameLst>
                                          <p:attrName>style.visibility</p:attrName>
                                        </p:attrNameLst>
                                      </p:cBhvr>
                                      <p:to>
                                        <p:strVal val="visible"/>
                                      </p:to>
                                    </p:set>
                                    <p:animEffect transition="in" filter="checkerboard(across)">
                                      <p:cBhvr>
                                        <p:cTn id="45" dur="500"/>
                                        <p:tgtEl>
                                          <p:spTgt spid="342026"/>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342027"/>
                                        </p:tgtEl>
                                        <p:attrNameLst>
                                          <p:attrName>style.visibility</p:attrName>
                                        </p:attrNameLst>
                                      </p:cBhvr>
                                      <p:to>
                                        <p:strVal val="visible"/>
                                      </p:to>
                                    </p:set>
                                    <p:animEffect transition="in" filter="checkerboard(across)">
                                      <p:cBhvr>
                                        <p:cTn id="50" dur="500"/>
                                        <p:tgtEl>
                                          <p:spTgt spid="342027"/>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342028"/>
                                        </p:tgtEl>
                                        <p:attrNameLst>
                                          <p:attrName>style.visibility</p:attrName>
                                        </p:attrNameLst>
                                      </p:cBhvr>
                                      <p:to>
                                        <p:strVal val="visible"/>
                                      </p:to>
                                    </p:set>
                                    <p:animEffect transition="in" filter="checkerboard(across)">
                                      <p:cBhvr>
                                        <p:cTn id="55" dur="500"/>
                                        <p:tgtEl>
                                          <p:spTgt spid="342028"/>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grpId="0" nodeType="clickEffect">
                                  <p:stCondLst>
                                    <p:cond delay="0"/>
                                  </p:stCondLst>
                                  <p:childTnLst>
                                    <p:set>
                                      <p:cBhvr>
                                        <p:cTn id="59" dur="1" fill="hold">
                                          <p:stCondLst>
                                            <p:cond delay="0"/>
                                          </p:stCondLst>
                                        </p:cTn>
                                        <p:tgtEl>
                                          <p:spTgt spid="342029"/>
                                        </p:tgtEl>
                                        <p:attrNameLst>
                                          <p:attrName>style.visibility</p:attrName>
                                        </p:attrNameLst>
                                      </p:cBhvr>
                                      <p:to>
                                        <p:strVal val="visible"/>
                                      </p:to>
                                    </p:set>
                                    <p:animEffect transition="in" filter="checkerboard(across)">
                                      <p:cBhvr>
                                        <p:cTn id="60" dur="500"/>
                                        <p:tgtEl>
                                          <p:spTgt spid="342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21" grpId="0" animBg="1" autoUpdateAnimBg="0"/>
      <p:bldP spid="342022" grpId="0" animBg="1" autoUpdateAnimBg="0"/>
      <p:bldP spid="342023" grpId="0" autoUpdateAnimBg="0"/>
      <p:bldP spid="342024" grpId="0" autoUpdateAnimBg="0"/>
      <p:bldP spid="342026" grpId="0" autoUpdateAnimBg="0"/>
      <p:bldP spid="342027" grpId="0" autoUpdateAnimBg="0"/>
      <p:bldP spid="342028" grpId="0" autoUpdateAnimBg="0"/>
      <p:bldP spid="342029" grpId="0" autoUpdateAnimBg="0"/>
      <p:bldP spid="342030" grpId="0" autoUpdateAnimBg="0"/>
      <p:bldP spid="342032" grpId="0" autoUpdateAnimBg="0"/>
      <p:bldP spid="342033"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7" name="AutoShape 1027">
            <a:hlinkClick r:id="" action="ppaction://hlinkshowjump?jump=previousslide" highlightClick="1"/>
          </p:cNvPr>
          <p:cNvSpPr>
            <a:spLocks noChangeArrowheads="1"/>
          </p:cNvSpPr>
          <p:nvPr/>
        </p:nvSpPr>
        <p:spPr bwMode="auto">
          <a:xfrm>
            <a:off x="8001000" y="6400800"/>
            <a:ext cx="457200" cy="381000"/>
          </a:xfrm>
          <a:prstGeom prst="actionButtonBackPrevious">
            <a:avLst/>
          </a:prstGeom>
          <a:gradFill rotWithShape="0">
            <a:gsLst>
              <a:gs pos="0">
                <a:srgbClr val="FFFF99">
                  <a:gamma/>
                  <a:shade val="46275"/>
                  <a:invGamma/>
                </a:srgbClr>
              </a:gs>
              <a:gs pos="50000">
                <a:srgbClr val="FFFF99"/>
              </a:gs>
              <a:gs pos="100000">
                <a:srgbClr val="FFFF99">
                  <a:gamma/>
                  <a:shade val="46275"/>
                  <a:invGamma/>
                </a:srgbClr>
              </a:gs>
            </a:gsLst>
            <a:lin ang="18900000" scaled="1"/>
          </a:gradFill>
          <a:ln>
            <a:noFill/>
          </a:ln>
          <a:effectLst>
            <a:prstShdw prst="shdw17" dist="17961" dir="2700000">
              <a:srgbClr val="FF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spAutoFit/>
          </a:bodyPr>
          <a:lstStyle/>
          <a:p>
            <a:endParaRPr lang="zh-CN" altLang="en-US"/>
          </a:p>
        </p:txBody>
      </p:sp>
      <p:sp>
        <p:nvSpPr>
          <p:cNvPr id="344068" name="AutoShape 1028">
            <a:hlinkClick r:id="" action="ppaction://hlinkshowjump?jump=nextslide" highlightClick="1"/>
          </p:cNvPr>
          <p:cNvSpPr>
            <a:spLocks noChangeArrowheads="1"/>
          </p:cNvSpPr>
          <p:nvPr/>
        </p:nvSpPr>
        <p:spPr bwMode="auto">
          <a:xfrm flipH="1">
            <a:off x="8610600" y="6400800"/>
            <a:ext cx="381000" cy="381000"/>
          </a:xfrm>
          <a:prstGeom prst="actionButtonBackPrevious">
            <a:avLst/>
          </a:prstGeom>
          <a:gradFill rotWithShape="0">
            <a:gsLst>
              <a:gs pos="0">
                <a:srgbClr val="FFFF99">
                  <a:gamma/>
                  <a:shade val="46275"/>
                  <a:invGamma/>
                </a:srgbClr>
              </a:gs>
              <a:gs pos="50000">
                <a:srgbClr val="FFFF99"/>
              </a:gs>
              <a:gs pos="100000">
                <a:srgbClr val="FFFF99">
                  <a:gamma/>
                  <a:shade val="46275"/>
                  <a:invGamma/>
                </a:srgbClr>
              </a:gs>
            </a:gsLst>
            <a:lin ang="18900000" scaled="1"/>
          </a:gradFill>
          <a:ln>
            <a:noFill/>
          </a:ln>
          <a:effectLst>
            <a:prstShdw prst="shdw17" dist="17961" dir="2700000">
              <a:srgbClr val="FF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spAutoFit/>
          </a:bodyPr>
          <a:lstStyle/>
          <a:p>
            <a:endParaRPr lang="zh-CN" altLang="en-US"/>
          </a:p>
        </p:txBody>
      </p:sp>
      <p:sp>
        <p:nvSpPr>
          <p:cNvPr id="344070" name="Rectangle 1030"/>
          <p:cNvSpPr>
            <a:spLocks noChangeArrowheads="1"/>
          </p:cNvSpPr>
          <p:nvPr/>
        </p:nvSpPr>
        <p:spPr bwMode="auto">
          <a:xfrm>
            <a:off x="685800" y="381000"/>
            <a:ext cx="5486400" cy="495300"/>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二、材料、精度及主要参数的选择原则</a:t>
            </a:r>
            <a:endParaRPr lang="zh-CN" altLang="en-US">
              <a:latin typeface="黑体" panose="02010609060101010101" pitchFamily="49" charset="-122"/>
            </a:endParaRPr>
          </a:p>
        </p:txBody>
      </p:sp>
      <p:sp>
        <p:nvSpPr>
          <p:cNvPr id="344071" name="Rectangle 1031"/>
          <p:cNvSpPr>
            <a:spLocks noChangeArrowheads="1"/>
          </p:cNvSpPr>
          <p:nvPr/>
        </p:nvSpPr>
        <p:spPr bwMode="auto">
          <a:xfrm>
            <a:off x="609600" y="9906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a:solidFill>
                  <a:srgbClr val="800000"/>
                </a:solidFill>
              </a:rPr>
              <a:t>1</a:t>
            </a:r>
            <a:r>
              <a:rPr lang="zh-CN" altLang="en-US">
                <a:solidFill>
                  <a:srgbClr val="800000"/>
                </a:solidFill>
              </a:rPr>
              <a:t>、材料及热处理方法</a:t>
            </a:r>
            <a:endParaRPr lang="zh-CN" altLang="en-US">
              <a:solidFill>
                <a:srgbClr val="800000"/>
              </a:solidFill>
            </a:endParaRPr>
          </a:p>
        </p:txBody>
      </p:sp>
      <p:sp>
        <p:nvSpPr>
          <p:cNvPr id="344072" name="Rectangle 1032"/>
          <p:cNvSpPr>
            <a:spLocks noChangeArrowheads="1"/>
          </p:cNvSpPr>
          <p:nvPr/>
        </p:nvSpPr>
        <p:spPr bwMode="auto">
          <a:xfrm>
            <a:off x="1060450" y="1471613"/>
            <a:ext cx="465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要求轮齿具有足够的强度和韧性</a:t>
            </a:r>
            <a:endParaRPr lang="zh-CN" altLang="en-US" dirty="0">
              <a:latin typeface="黑体" panose="02010609060101010101" pitchFamily="49" charset="-122"/>
            </a:endParaRPr>
          </a:p>
        </p:txBody>
      </p:sp>
      <p:sp>
        <p:nvSpPr>
          <p:cNvPr id="344073" name="Rectangle 1033"/>
          <p:cNvSpPr>
            <a:spLocks noChangeArrowheads="1"/>
          </p:cNvSpPr>
          <p:nvPr/>
        </p:nvSpPr>
        <p:spPr bwMode="auto">
          <a:xfrm>
            <a:off x="1350077" y="2702693"/>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solidFill>
                  <a:schemeClr val="hlink"/>
                </a:solidFill>
                <a:latin typeface="黑体" panose="02010609060101010101" pitchFamily="49" charset="-122"/>
              </a:rPr>
              <a:t>重载、要求结构紧凑：材料选好些、硬度选高些</a:t>
            </a:r>
            <a:endParaRPr lang="zh-CN" altLang="en-US" dirty="0">
              <a:solidFill>
                <a:schemeClr val="hlink"/>
              </a:solidFill>
              <a:latin typeface="黑体" panose="02010609060101010101" pitchFamily="49" charset="-122"/>
            </a:endParaRPr>
          </a:p>
        </p:txBody>
      </p:sp>
      <p:sp>
        <p:nvSpPr>
          <p:cNvPr id="344074" name="Rectangle 1034"/>
          <p:cNvSpPr>
            <a:spLocks noChangeArrowheads="1"/>
          </p:cNvSpPr>
          <p:nvPr/>
        </p:nvSpPr>
        <p:spPr bwMode="auto">
          <a:xfrm>
            <a:off x="609600" y="32766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a:solidFill>
                  <a:srgbClr val="800000"/>
                </a:solidFill>
              </a:rPr>
              <a:t>2</a:t>
            </a:r>
            <a:r>
              <a:rPr lang="zh-CN" altLang="en-US">
                <a:solidFill>
                  <a:srgbClr val="800000"/>
                </a:solidFill>
              </a:rPr>
              <a:t>、精度等级</a:t>
            </a:r>
            <a:endParaRPr lang="zh-CN" altLang="en-US">
              <a:solidFill>
                <a:srgbClr val="800000"/>
              </a:solidFill>
            </a:endParaRPr>
          </a:p>
        </p:txBody>
      </p:sp>
      <p:sp>
        <p:nvSpPr>
          <p:cNvPr id="344075" name="Rectangle 1035"/>
          <p:cNvSpPr>
            <a:spLocks noChangeArrowheads="1"/>
          </p:cNvSpPr>
          <p:nvPr/>
        </p:nvSpPr>
        <p:spPr bwMode="auto">
          <a:xfrm>
            <a:off x="6148571" y="1471613"/>
            <a:ext cx="209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抵抗轮齿折断</a:t>
            </a:r>
            <a:endParaRPr lang="zh-CN" altLang="en-US" dirty="0">
              <a:latin typeface="黑体" panose="02010609060101010101" pitchFamily="49" charset="-122"/>
            </a:endParaRPr>
          </a:p>
        </p:txBody>
      </p:sp>
      <p:sp>
        <p:nvSpPr>
          <p:cNvPr id="344076" name="AutoShape 1036"/>
          <p:cNvSpPr>
            <a:spLocks noChangeArrowheads="1"/>
          </p:cNvSpPr>
          <p:nvPr/>
        </p:nvSpPr>
        <p:spPr bwMode="auto">
          <a:xfrm>
            <a:off x="5465545" y="1647524"/>
            <a:ext cx="609600" cy="152400"/>
          </a:xfrm>
          <a:prstGeom prst="chevron">
            <a:avLst>
              <a:gd name="adj" fmla="val 100000"/>
            </a:avLst>
          </a:prstGeom>
          <a:solidFill>
            <a:srgbClr val="CCFFFF"/>
          </a:solidFill>
          <a:ln w="25400">
            <a:solidFill>
              <a:srgbClr val="000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44077" name="Rectangle 1037"/>
          <p:cNvSpPr>
            <a:spLocks noChangeArrowheads="1"/>
          </p:cNvSpPr>
          <p:nvPr/>
        </p:nvSpPr>
        <p:spPr bwMode="auto">
          <a:xfrm>
            <a:off x="1057175" y="2019700"/>
            <a:ext cx="465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齿面应具有较高的硬度和耐磨性</a:t>
            </a:r>
            <a:endParaRPr lang="zh-CN" altLang="en-US" dirty="0">
              <a:latin typeface="黑体" panose="02010609060101010101" pitchFamily="49" charset="-122"/>
            </a:endParaRPr>
          </a:p>
        </p:txBody>
      </p:sp>
      <p:sp>
        <p:nvSpPr>
          <p:cNvPr id="344078" name="Rectangle 1038"/>
          <p:cNvSpPr>
            <a:spLocks noChangeArrowheads="1"/>
          </p:cNvSpPr>
          <p:nvPr/>
        </p:nvSpPr>
        <p:spPr bwMode="auto">
          <a:xfrm>
            <a:off x="6145296" y="1952324"/>
            <a:ext cx="20986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防止点蚀、胶合、磨损</a:t>
            </a:r>
            <a:endParaRPr lang="zh-CN" altLang="en-US" dirty="0">
              <a:latin typeface="黑体" panose="02010609060101010101" pitchFamily="49" charset="-122"/>
            </a:endParaRPr>
          </a:p>
        </p:txBody>
      </p:sp>
      <p:sp>
        <p:nvSpPr>
          <p:cNvPr id="344079" name="AutoShape 1039"/>
          <p:cNvSpPr>
            <a:spLocks noChangeArrowheads="1"/>
          </p:cNvSpPr>
          <p:nvPr/>
        </p:nvSpPr>
        <p:spPr bwMode="auto">
          <a:xfrm>
            <a:off x="5462270" y="2137862"/>
            <a:ext cx="609600" cy="152400"/>
          </a:xfrm>
          <a:prstGeom prst="chevron">
            <a:avLst>
              <a:gd name="adj" fmla="val 100000"/>
            </a:avLst>
          </a:prstGeom>
          <a:solidFill>
            <a:srgbClr val="CCFFFF"/>
          </a:solidFill>
          <a:ln w="25400">
            <a:solidFill>
              <a:srgbClr val="000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44080" name="Rectangle 1040"/>
          <p:cNvSpPr>
            <a:spLocks noChangeArrowheads="1"/>
          </p:cNvSpPr>
          <p:nvPr/>
        </p:nvSpPr>
        <p:spPr bwMode="auto">
          <a:xfrm>
            <a:off x="2561590" y="3256915"/>
            <a:ext cx="54102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t>根据圆周速度 </a:t>
            </a:r>
            <a:r>
              <a:rPr lang="en-US" altLang="zh-CN" i="1"/>
              <a:t>v </a:t>
            </a:r>
            <a:r>
              <a:rPr lang="zh-CN" altLang="en-US"/>
              <a:t>选择精度</a:t>
            </a:r>
            <a:endParaRPr lang="zh-CN" altLang="en-US"/>
          </a:p>
        </p:txBody>
      </p:sp>
      <p:sp>
        <p:nvSpPr>
          <p:cNvPr id="17" name="Rectangle 1029"/>
          <p:cNvSpPr>
            <a:spLocks noChangeArrowheads="1"/>
          </p:cNvSpPr>
          <p:nvPr/>
        </p:nvSpPr>
        <p:spPr bwMode="auto">
          <a:xfrm>
            <a:off x="580724" y="3826845"/>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a:solidFill>
                  <a:srgbClr val="800000"/>
                </a:solidFill>
              </a:rPr>
              <a:t>3</a:t>
            </a:r>
            <a:r>
              <a:rPr lang="zh-CN" altLang="en-US">
                <a:solidFill>
                  <a:srgbClr val="800000"/>
                </a:solidFill>
              </a:rPr>
              <a:t>、齿数 </a:t>
            </a:r>
            <a:r>
              <a:rPr lang="en-US" altLang="zh-CN" i="1">
                <a:solidFill>
                  <a:srgbClr val="800000"/>
                </a:solidFill>
              </a:rPr>
              <a:t>z </a:t>
            </a:r>
            <a:r>
              <a:rPr lang="zh-CN" altLang="en-US">
                <a:solidFill>
                  <a:srgbClr val="800000"/>
                </a:solidFill>
              </a:rPr>
              <a:t>的选择</a:t>
            </a:r>
            <a:endParaRPr lang="zh-CN" altLang="en-US">
              <a:solidFill>
                <a:srgbClr val="800000"/>
              </a:solidFill>
            </a:endParaRPr>
          </a:p>
        </p:txBody>
      </p:sp>
      <p:sp>
        <p:nvSpPr>
          <p:cNvPr id="18" name="Rectangle 1030"/>
          <p:cNvSpPr>
            <a:spLocks noChangeArrowheads="1"/>
          </p:cNvSpPr>
          <p:nvPr/>
        </p:nvSpPr>
        <p:spPr bwMode="auto">
          <a:xfrm>
            <a:off x="1037924" y="4741245"/>
            <a:ext cx="3398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u="sng"/>
              <a:t>对于闭式软齿面传动</a:t>
            </a:r>
            <a:r>
              <a:rPr lang="zh-CN" altLang="en-US"/>
              <a:t>：</a:t>
            </a:r>
            <a:endParaRPr lang="zh-CN" altLang="en-US"/>
          </a:p>
        </p:txBody>
      </p:sp>
      <p:sp>
        <p:nvSpPr>
          <p:cNvPr id="19" name="Rectangle 1031"/>
          <p:cNvSpPr>
            <a:spLocks noChangeArrowheads="1"/>
          </p:cNvSpPr>
          <p:nvPr/>
        </p:nvSpPr>
        <p:spPr bwMode="auto">
          <a:xfrm>
            <a:off x="1037924" y="5198445"/>
            <a:ext cx="4779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zh-CN" altLang="en-US" u="sng"/>
              <a:t>对于闭式硬齿面或开式齿轮传动</a:t>
            </a:r>
            <a:r>
              <a:rPr lang="zh-CN" altLang="en-US"/>
              <a:t>：</a:t>
            </a:r>
            <a:endParaRPr lang="zh-CN" altLang="en-US"/>
          </a:p>
        </p:txBody>
      </p:sp>
      <p:sp>
        <p:nvSpPr>
          <p:cNvPr id="20" name="Rectangle 1032"/>
          <p:cNvSpPr>
            <a:spLocks noChangeArrowheads="1"/>
          </p:cNvSpPr>
          <p:nvPr/>
        </p:nvSpPr>
        <p:spPr bwMode="auto">
          <a:xfrm>
            <a:off x="4162124" y="4741245"/>
            <a:ext cx="2743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solidFill>
                  <a:srgbClr val="0000FF"/>
                </a:solidFill>
              </a:rPr>
              <a:t>一般取 </a:t>
            </a:r>
            <a:r>
              <a:rPr lang="en-US" altLang="zh-CN" i="1" dirty="0">
                <a:solidFill>
                  <a:srgbClr val="0000FF"/>
                </a:solidFill>
              </a:rPr>
              <a:t>z</a:t>
            </a:r>
            <a:r>
              <a:rPr lang="en-US" altLang="zh-CN" baseline="-25000" dirty="0">
                <a:solidFill>
                  <a:srgbClr val="0000FF"/>
                </a:solidFill>
              </a:rPr>
              <a:t>1</a:t>
            </a:r>
            <a:r>
              <a:rPr lang="en-US" altLang="zh-CN" dirty="0">
                <a:solidFill>
                  <a:srgbClr val="0000FF"/>
                </a:solidFill>
              </a:rPr>
              <a:t>=20~40</a:t>
            </a:r>
            <a:endParaRPr lang="en-US" altLang="zh-CN" dirty="0">
              <a:solidFill>
                <a:srgbClr val="0000FF"/>
              </a:solidFill>
            </a:endParaRPr>
          </a:p>
        </p:txBody>
      </p:sp>
      <p:sp>
        <p:nvSpPr>
          <p:cNvPr id="21" name="Rectangle 1033"/>
          <p:cNvSpPr>
            <a:spLocks noChangeArrowheads="1"/>
          </p:cNvSpPr>
          <p:nvPr/>
        </p:nvSpPr>
        <p:spPr bwMode="auto">
          <a:xfrm>
            <a:off x="3781124" y="5731845"/>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t>以便增大模数提高弯曲强度</a:t>
            </a:r>
            <a:endParaRPr lang="zh-CN" altLang="en-US"/>
          </a:p>
        </p:txBody>
      </p:sp>
      <p:sp>
        <p:nvSpPr>
          <p:cNvPr id="22" name="Rectangle 1035"/>
          <p:cNvSpPr>
            <a:spLocks noChangeArrowheads="1"/>
          </p:cNvSpPr>
          <p:nvPr/>
        </p:nvSpPr>
        <p:spPr bwMode="auto">
          <a:xfrm>
            <a:off x="1342724" y="5731845"/>
            <a:ext cx="2514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solidFill>
                  <a:srgbClr val="0000FF"/>
                </a:solidFill>
              </a:rPr>
              <a:t>一般取 </a:t>
            </a:r>
            <a:r>
              <a:rPr lang="en-US" altLang="zh-CN" i="1" dirty="0">
                <a:solidFill>
                  <a:srgbClr val="0000FF"/>
                </a:solidFill>
              </a:rPr>
              <a:t>z</a:t>
            </a:r>
            <a:r>
              <a:rPr lang="en-US" altLang="zh-CN" baseline="-25000" dirty="0">
                <a:solidFill>
                  <a:srgbClr val="0000FF"/>
                </a:solidFill>
              </a:rPr>
              <a:t>1</a:t>
            </a:r>
            <a:r>
              <a:rPr lang="en-US" altLang="zh-CN" dirty="0">
                <a:solidFill>
                  <a:srgbClr val="0000FF"/>
                </a:solidFill>
              </a:rPr>
              <a:t>=17~25</a:t>
            </a:r>
            <a:endParaRPr lang="en-US" altLang="zh-CN" dirty="0">
              <a:solidFill>
                <a:srgbClr val="0000FF"/>
              </a:solidFill>
            </a:endParaRPr>
          </a:p>
        </p:txBody>
      </p:sp>
      <p:sp>
        <p:nvSpPr>
          <p:cNvPr id="23" name="Rectangle 1036"/>
          <p:cNvSpPr>
            <a:spLocks noChangeArrowheads="1"/>
          </p:cNvSpPr>
          <p:nvPr/>
        </p:nvSpPr>
        <p:spPr bwMode="auto">
          <a:xfrm>
            <a:off x="1037924" y="4284045"/>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t>齿数多，则重合度大，运动平稳性好，噪声小。</a:t>
            </a:r>
            <a:endParaRPr lang="zh-CN" altLang="en-US"/>
          </a:p>
        </p:txBody>
      </p:sp>
      <p:sp>
        <p:nvSpPr>
          <p:cNvPr id="24" name="Rectangle 1034"/>
          <p:cNvSpPr>
            <a:spLocks noChangeArrowheads="1"/>
          </p:cNvSpPr>
          <p:nvPr/>
        </p:nvSpPr>
        <p:spPr bwMode="auto">
          <a:xfrm>
            <a:off x="1410101" y="6179419"/>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t>大、小齿轮的齿数最好互质，使磨损均匀</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344070"/>
                                        </p:tgtEl>
                                        <p:attrNameLst>
                                          <p:attrName>style.visibility</p:attrName>
                                        </p:attrNameLst>
                                      </p:cBhvr>
                                      <p:to>
                                        <p:strVal val="visible"/>
                                      </p:to>
                                    </p:set>
                                    <p:anim calcmode="lin" valueType="num">
                                      <p:cBhvr>
                                        <p:cTn id="7" dur="500" fill="hold"/>
                                        <p:tgtEl>
                                          <p:spTgt spid="344070"/>
                                        </p:tgtEl>
                                        <p:attrNameLst>
                                          <p:attrName>ppt_w</p:attrName>
                                        </p:attrNameLst>
                                      </p:cBhvr>
                                      <p:tavLst>
                                        <p:tav tm="0">
                                          <p:val>
                                            <p:fltVal val="0"/>
                                          </p:val>
                                        </p:tav>
                                        <p:tav tm="100000">
                                          <p:val>
                                            <p:strVal val="#ppt_w"/>
                                          </p:val>
                                        </p:tav>
                                      </p:tavLst>
                                    </p:anim>
                                    <p:anim calcmode="lin" valueType="num">
                                      <p:cBhvr>
                                        <p:cTn id="8" dur="500" fill="hold"/>
                                        <p:tgtEl>
                                          <p:spTgt spid="344070"/>
                                        </p:tgtEl>
                                        <p:attrNameLst>
                                          <p:attrName>ppt_h</p:attrName>
                                        </p:attrNameLst>
                                      </p:cBhvr>
                                      <p:tavLst>
                                        <p:tav tm="0">
                                          <p:val>
                                            <p:fltVal val="0"/>
                                          </p:val>
                                        </p:tav>
                                        <p:tav tm="100000">
                                          <p:val>
                                            <p:strVal val="#ppt_h"/>
                                          </p:val>
                                        </p:tav>
                                      </p:tavLst>
                                    </p:anim>
                                    <p:anim calcmode="lin" valueType="num">
                                      <p:cBhvr>
                                        <p:cTn id="9" dur="500" fill="hold"/>
                                        <p:tgtEl>
                                          <p:spTgt spid="344070"/>
                                        </p:tgtEl>
                                        <p:attrNameLst>
                                          <p:attrName>ppt_x</p:attrName>
                                        </p:attrNameLst>
                                      </p:cBhvr>
                                      <p:tavLst>
                                        <p:tav tm="0">
                                          <p:val>
                                            <p:fltVal val="0.5"/>
                                          </p:val>
                                        </p:tav>
                                        <p:tav tm="100000">
                                          <p:val>
                                            <p:strVal val="#ppt_x"/>
                                          </p:val>
                                        </p:tav>
                                      </p:tavLst>
                                    </p:anim>
                                    <p:anim calcmode="lin" valueType="num">
                                      <p:cBhvr>
                                        <p:cTn id="10" dur="500" fill="hold"/>
                                        <p:tgtEl>
                                          <p:spTgt spid="344070"/>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44071"/>
                                        </p:tgtEl>
                                        <p:attrNameLst>
                                          <p:attrName>style.visibility</p:attrName>
                                        </p:attrNameLst>
                                      </p:cBhvr>
                                      <p:to>
                                        <p:strVal val="visible"/>
                                      </p:to>
                                    </p:set>
                                    <p:animEffect transition="in" filter="checkerboard(across)">
                                      <p:cBhvr>
                                        <p:cTn id="15" dur="500"/>
                                        <p:tgtEl>
                                          <p:spTgt spid="344071"/>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344072"/>
                                        </p:tgtEl>
                                        <p:attrNameLst>
                                          <p:attrName>style.visibility</p:attrName>
                                        </p:attrNameLst>
                                      </p:cBhvr>
                                      <p:to>
                                        <p:strVal val="visible"/>
                                      </p:to>
                                    </p:set>
                                    <p:animEffect transition="in" filter="checkerboard(across)">
                                      <p:cBhvr>
                                        <p:cTn id="20" dur="500"/>
                                        <p:tgtEl>
                                          <p:spTgt spid="344072"/>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344076"/>
                                        </p:tgtEl>
                                        <p:attrNameLst>
                                          <p:attrName>style.visibility</p:attrName>
                                        </p:attrNameLst>
                                      </p:cBhvr>
                                      <p:to>
                                        <p:strVal val="visible"/>
                                      </p:to>
                                    </p:set>
                                    <p:animEffect transition="in" filter="slide(fromLeft)">
                                      <p:cBhvr>
                                        <p:cTn id="25" dur="500"/>
                                        <p:tgtEl>
                                          <p:spTgt spid="34407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44075"/>
                                        </p:tgtEl>
                                        <p:attrNameLst>
                                          <p:attrName>style.visibility</p:attrName>
                                        </p:attrNameLst>
                                      </p:cBhvr>
                                      <p:to>
                                        <p:strVal val="visible"/>
                                      </p:to>
                                    </p:set>
                                    <p:animEffect transition="in" filter="wipe(left)">
                                      <p:cBhvr>
                                        <p:cTn id="29" dur="500"/>
                                        <p:tgtEl>
                                          <p:spTgt spid="344075"/>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344077"/>
                                        </p:tgtEl>
                                        <p:attrNameLst>
                                          <p:attrName>style.visibility</p:attrName>
                                        </p:attrNameLst>
                                      </p:cBhvr>
                                      <p:to>
                                        <p:strVal val="visible"/>
                                      </p:to>
                                    </p:set>
                                    <p:animEffect transition="in" filter="checkerboard(across)">
                                      <p:cBhvr>
                                        <p:cTn id="34" dur="500"/>
                                        <p:tgtEl>
                                          <p:spTgt spid="344077"/>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grpId="0" nodeType="clickEffect">
                                  <p:stCondLst>
                                    <p:cond delay="0"/>
                                  </p:stCondLst>
                                  <p:childTnLst>
                                    <p:set>
                                      <p:cBhvr>
                                        <p:cTn id="38" dur="1" fill="hold">
                                          <p:stCondLst>
                                            <p:cond delay="0"/>
                                          </p:stCondLst>
                                        </p:cTn>
                                        <p:tgtEl>
                                          <p:spTgt spid="344079"/>
                                        </p:tgtEl>
                                        <p:attrNameLst>
                                          <p:attrName>style.visibility</p:attrName>
                                        </p:attrNameLst>
                                      </p:cBhvr>
                                      <p:to>
                                        <p:strVal val="visible"/>
                                      </p:to>
                                    </p:set>
                                    <p:animEffect transition="in" filter="slide(fromLeft)">
                                      <p:cBhvr>
                                        <p:cTn id="39" dur="500"/>
                                        <p:tgtEl>
                                          <p:spTgt spid="344079"/>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344078"/>
                                        </p:tgtEl>
                                        <p:attrNameLst>
                                          <p:attrName>style.visibility</p:attrName>
                                        </p:attrNameLst>
                                      </p:cBhvr>
                                      <p:to>
                                        <p:strVal val="visible"/>
                                      </p:to>
                                    </p:set>
                                    <p:animEffect transition="in" filter="wipe(left)">
                                      <p:cBhvr>
                                        <p:cTn id="43" dur="500"/>
                                        <p:tgtEl>
                                          <p:spTgt spid="344078"/>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37" fill="hold" grpId="0" nodeType="clickEffect">
                                  <p:stCondLst>
                                    <p:cond delay="0"/>
                                  </p:stCondLst>
                                  <p:childTnLst>
                                    <p:set>
                                      <p:cBhvr>
                                        <p:cTn id="47" dur="1" fill="hold">
                                          <p:stCondLst>
                                            <p:cond delay="0"/>
                                          </p:stCondLst>
                                        </p:cTn>
                                        <p:tgtEl>
                                          <p:spTgt spid="344073"/>
                                        </p:tgtEl>
                                        <p:attrNameLst>
                                          <p:attrName>style.visibility</p:attrName>
                                        </p:attrNameLst>
                                      </p:cBhvr>
                                      <p:to>
                                        <p:strVal val="visible"/>
                                      </p:to>
                                    </p:set>
                                    <p:animEffect transition="in" filter="barn(outVertical)">
                                      <p:cBhvr>
                                        <p:cTn id="48" dur="500"/>
                                        <p:tgtEl>
                                          <p:spTgt spid="344073"/>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344074"/>
                                        </p:tgtEl>
                                        <p:attrNameLst>
                                          <p:attrName>style.visibility</p:attrName>
                                        </p:attrNameLst>
                                      </p:cBhvr>
                                      <p:to>
                                        <p:strVal val="visible"/>
                                      </p:to>
                                    </p:set>
                                    <p:animEffect transition="in" filter="checkerboard(across)">
                                      <p:cBhvr>
                                        <p:cTn id="53" dur="500"/>
                                        <p:tgtEl>
                                          <p:spTgt spid="344074"/>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grpId="0" nodeType="clickEffect">
                                  <p:stCondLst>
                                    <p:cond delay="0"/>
                                  </p:stCondLst>
                                  <p:childTnLst>
                                    <p:set>
                                      <p:cBhvr>
                                        <p:cTn id="57" dur="1" fill="hold">
                                          <p:stCondLst>
                                            <p:cond delay="0"/>
                                          </p:stCondLst>
                                        </p:cTn>
                                        <p:tgtEl>
                                          <p:spTgt spid="344080"/>
                                        </p:tgtEl>
                                        <p:attrNameLst>
                                          <p:attrName>style.visibility</p:attrName>
                                        </p:attrNameLst>
                                      </p:cBhvr>
                                      <p:to>
                                        <p:strVal val="visible"/>
                                      </p:to>
                                    </p:set>
                                    <p:animEffect transition="in" filter="checkerboard(across)">
                                      <p:cBhvr>
                                        <p:cTn id="58" dur="500"/>
                                        <p:tgtEl>
                                          <p:spTgt spid="344080"/>
                                        </p:tgtEl>
                                      </p:cBhvr>
                                    </p:animEffect>
                                  </p:childTnLst>
                                </p:cTn>
                              </p:par>
                            </p:childTnLst>
                          </p:cTn>
                        </p:par>
                        <p:par>
                          <p:cTn id="59" fill="hold">
                            <p:stCondLst>
                              <p:cond delay="500"/>
                            </p:stCondLst>
                            <p:childTnLst>
                              <p:par>
                                <p:cTn id="60" presetID="5" presetClass="entr" presetSubtype="1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checkerboard(across)">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left)">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left)">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wipe(left)">
                                      <p:cBhvr>
                                        <p:cTn id="87" dur="500"/>
                                        <p:tgtEl>
                                          <p:spTgt spid="22"/>
                                        </p:tgtEl>
                                      </p:cBhvr>
                                    </p:animEffect>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ipe(left)">
                                      <p:cBhvr>
                                        <p:cTn id="91" dur="5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wipe(left)">
                                      <p:cBhvr>
                                        <p:cTn id="9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0" grpId="0" animBg="1" autoUpdateAnimBg="0"/>
      <p:bldP spid="344071" grpId="0" autoUpdateAnimBg="0"/>
      <p:bldP spid="344072" grpId="0" autoUpdateAnimBg="0"/>
      <p:bldP spid="344073" grpId="0" bldLvl="0" animBg="1" autoUpdateAnimBg="0"/>
      <p:bldP spid="344074" grpId="0" autoUpdateAnimBg="0"/>
      <p:bldP spid="344075" grpId="0" autoUpdateAnimBg="0"/>
      <p:bldP spid="344076" grpId="0" animBg="1"/>
      <p:bldP spid="344077" grpId="0" autoUpdateAnimBg="0"/>
      <p:bldP spid="344078" grpId="0" autoUpdateAnimBg="0"/>
      <p:bldP spid="344079" grpId="0" animBg="1"/>
      <p:bldP spid="344080" grpId="0" bldLvl="0" animBg="1"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25" name="Rectangle 1037"/>
          <p:cNvSpPr>
            <a:spLocks noChangeArrowheads="1"/>
          </p:cNvSpPr>
          <p:nvPr/>
        </p:nvSpPr>
        <p:spPr bwMode="auto">
          <a:xfrm>
            <a:off x="417095" y="331269"/>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dirty="0">
                <a:solidFill>
                  <a:srgbClr val="800000"/>
                </a:solidFill>
              </a:rPr>
              <a:t>4</a:t>
            </a:r>
            <a:r>
              <a:rPr lang="zh-CN" altLang="en-US" dirty="0">
                <a:solidFill>
                  <a:srgbClr val="800000"/>
                </a:solidFill>
              </a:rPr>
              <a:t>、模数 </a:t>
            </a:r>
            <a:r>
              <a:rPr lang="en-US" altLang="zh-CN" i="1" dirty="0">
                <a:solidFill>
                  <a:srgbClr val="800000"/>
                </a:solidFill>
              </a:rPr>
              <a:t>m</a:t>
            </a:r>
            <a:r>
              <a:rPr lang="zh-CN" altLang="en-US" dirty="0">
                <a:solidFill>
                  <a:srgbClr val="800000"/>
                </a:solidFill>
              </a:rPr>
              <a:t>（</a:t>
            </a:r>
            <a:r>
              <a:rPr lang="en-US" altLang="zh-CN" i="1" dirty="0" err="1">
                <a:solidFill>
                  <a:srgbClr val="800000"/>
                </a:solidFill>
              </a:rPr>
              <a:t>m</a:t>
            </a:r>
            <a:r>
              <a:rPr lang="en-US" altLang="zh-CN" baseline="-16000" dirty="0" err="1">
                <a:solidFill>
                  <a:srgbClr val="800000"/>
                </a:solidFill>
              </a:rPr>
              <a:t>n</a:t>
            </a:r>
            <a:r>
              <a:rPr lang="zh-CN" altLang="en-US" dirty="0">
                <a:solidFill>
                  <a:srgbClr val="800000"/>
                </a:solidFill>
              </a:rPr>
              <a:t>）的选择</a:t>
            </a:r>
            <a:endParaRPr lang="zh-CN" altLang="en-US" dirty="0">
              <a:solidFill>
                <a:srgbClr val="800000"/>
              </a:solidFill>
            </a:endParaRPr>
          </a:p>
        </p:txBody>
      </p:sp>
      <p:sp>
        <p:nvSpPr>
          <p:cNvPr id="346126" name="Rectangle 1038"/>
          <p:cNvSpPr>
            <a:spLocks noChangeArrowheads="1"/>
          </p:cNvSpPr>
          <p:nvPr/>
        </p:nvSpPr>
        <p:spPr bwMode="auto">
          <a:xfrm>
            <a:off x="922421" y="788469"/>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t>强度计算后得到，圆整成标准值，优先选用第一系列</a:t>
            </a:r>
            <a:endParaRPr lang="zh-CN" altLang="en-US" dirty="0"/>
          </a:p>
        </p:txBody>
      </p:sp>
      <p:sp>
        <p:nvSpPr>
          <p:cNvPr id="346127" name="Rectangle 1039"/>
          <p:cNvSpPr>
            <a:spLocks noChangeArrowheads="1"/>
          </p:cNvSpPr>
          <p:nvPr/>
        </p:nvSpPr>
        <p:spPr bwMode="auto">
          <a:xfrm>
            <a:off x="893545" y="1273744"/>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t>传递动力时，圆柱齿轮 </a:t>
            </a:r>
            <a:r>
              <a:rPr lang="en-US" altLang="zh-CN" i="1" dirty="0"/>
              <a:t>m</a:t>
            </a:r>
            <a:r>
              <a:rPr lang="en-US" altLang="zh-CN" dirty="0"/>
              <a:t>≥1.5</a:t>
            </a:r>
            <a:r>
              <a:rPr lang="zh-CN" altLang="en-US" dirty="0"/>
              <a:t>，锥齿轮 </a:t>
            </a:r>
            <a:r>
              <a:rPr lang="en-US" altLang="zh-CN" i="1" dirty="0"/>
              <a:t>m</a:t>
            </a:r>
            <a:r>
              <a:rPr lang="en-US" altLang="zh-CN" dirty="0"/>
              <a:t>≥2</a:t>
            </a:r>
            <a:endParaRPr lang="en-US" altLang="zh-CN" dirty="0"/>
          </a:p>
        </p:txBody>
      </p:sp>
      <p:sp>
        <p:nvSpPr>
          <p:cNvPr id="346128" name="Rectangle 1040"/>
          <p:cNvSpPr>
            <a:spLocks noChangeArrowheads="1"/>
          </p:cNvSpPr>
          <p:nvPr/>
        </p:nvSpPr>
        <p:spPr bwMode="auto">
          <a:xfrm>
            <a:off x="445971" y="1711692"/>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dirty="0">
                <a:solidFill>
                  <a:srgbClr val="800000"/>
                </a:solidFill>
              </a:rPr>
              <a:t>5</a:t>
            </a:r>
            <a:r>
              <a:rPr lang="zh-CN" altLang="en-US" dirty="0">
                <a:solidFill>
                  <a:srgbClr val="800000"/>
                </a:solidFill>
              </a:rPr>
              <a:t>、螺旋角</a:t>
            </a:r>
            <a:r>
              <a:rPr lang="en-US" altLang="zh-CN" i="1" dirty="0">
                <a:solidFill>
                  <a:srgbClr val="800000"/>
                </a:solidFill>
                <a:ea typeface="楷体_GB2312" pitchFamily="49" charset="-122"/>
              </a:rPr>
              <a:t>β </a:t>
            </a:r>
            <a:r>
              <a:rPr lang="zh-CN" altLang="en-US" dirty="0">
                <a:solidFill>
                  <a:srgbClr val="800000"/>
                </a:solidFill>
              </a:rPr>
              <a:t>的选择</a:t>
            </a:r>
            <a:endParaRPr lang="zh-CN" altLang="en-US" dirty="0">
              <a:solidFill>
                <a:srgbClr val="800000"/>
              </a:solidFill>
            </a:endParaRPr>
          </a:p>
        </p:txBody>
      </p:sp>
      <p:sp>
        <p:nvSpPr>
          <p:cNvPr id="346129" name="Rectangle 1041"/>
          <p:cNvSpPr>
            <a:spLocks noChangeArrowheads="1"/>
          </p:cNvSpPr>
          <p:nvPr/>
        </p:nvSpPr>
        <p:spPr bwMode="auto">
          <a:xfrm>
            <a:off x="5627571" y="2397492"/>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t>一般取</a:t>
            </a:r>
            <a:r>
              <a:rPr lang="en-US" altLang="zh-CN" i="1">
                <a:ea typeface="楷体_GB2312" pitchFamily="49" charset="-122"/>
              </a:rPr>
              <a:t>β</a:t>
            </a:r>
            <a:r>
              <a:rPr lang="en-US" altLang="zh-CN"/>
              <a:t> =10°~20°</a:t>
            </a:r>
            <a:endParaRPr lang="en-US" altLang="zh-CN"/>
          </a:p>
        </p:txBody>
      </p:sp>
      <p:sp>
        <p:nvSpPr>
          <p:cNvPr id="346130" name="Rectangle 1042"/>
          <p:cNvSpPr>
            <a:spLocks noChangeArrowheads="1"/>
          </p:cNvSpPr>
          <p:nvPr/>
        </p:nvSpPr>
        <p:spPr bwMode="auto">
          <a:xfrm>
            <a:off x="1741371" y="2140317"/>
            <a:ext cx="1447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平稳性</a:t>
            </a:r>
            <a:r>
              <a:rPr lang="zh-CN" altLang="en-US" dirty="0">
                <a:solidFill>
                  <a:srgbClr val="FF0000"/>
                </a:solidFill>
                <a:ea typeface="华文中宋" panose="02010600040101010101" pitchFamily="2" charset="-122"/>
              </a:rPr>
              <a:t>↑</a:t>
            </a:r>
            <a:endParaRPr lang="zh-CN" altLang="en-US" dirty="0">
              <a:solidFill>
                <a:srgbClr val="FF0000"/>
              </a:solidFill>
              <a:ea typeface="华文中宋" panose="02010600040101010101" pitchFamily="2" charset="-122"/>
            </a:endParaRPr>
          </a:p>
        </p:txBody>
      </p:sp>
      <p:sp>
        <p:nvSpPr>
          <p:cNvPr id="346131" name="Rectangle 1043"/>
          <p:cNvSpPr>
            <a:spLocks noChangeArrowheads="1"/>
          </p:cNvSpPr>
          <p:nvPr/>
        </p:nvSpPr>
        <p:spPr bwMode="auto">
          <a:xfrm>
            <a:off x="3874971" y="2140317"/>
            <a:ext cx="1828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承载能力</a:t>
            </a:r>
            <a:r>
              <a:rPr lang="zh-CN" altLang="en-US" dirty="0">
                <a:solidFill>
                  <a:srgbClr val="FF0000"/>
                </a:solidFill>
                <a:ea typeface="华文中宋" panose="02010600040101010101" pitchFamily="2" charset="-122"/>
              </a:rPr>
              <a:t>↑</a:t>
            </a:r>
            <a:endParaRPr lang="zh-CN" altLang="en-US" dirty="0">
              <a:solidFill>
                <a:srgbClr val="FF0000"/>
              </a:solidFill>
              <a:ea typeface="华文中宋" panose="02010600040101010101" pitchFamily="2" charset="-122"/>
            </a:endParaRPr>
          </a:p>
        </p:txBody>
      </p:sp>
      <p:sp>
        <p:nvSpPr>
          <p:cNvPr id="346132" name="Rectangle 1044"/>
          <p:cNvSpPr>
            <a:spLocks noChangeArrowheads="1"/>
          </p:cNvSpPr>
          <p:nvPr/>
        </p:nvSpPr>
        <p:spPr bwMode="auto">
          <a:xfrm>
            <a:off x="1741371" y="2673717"/>
            <a:ext cx="152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轴向力</a:t>
            </a:r>
            <a:r>
              <a:rPr lang="zh-CN" altLang="en-US" dirty="0">
                <a:solidFill>
                  <a:srgbClr val="FF0000"/>
                </a:solidFill>
                <a:ea typeface="华文中宋" panose="02010600040101010101" pitchFamily="2" charset="-122"/>
              </a:rPr>
              <a:t>↑</a:t>
            </a:r>
            <a:endParaRPr lang="zh-CN" altLang="en-US" dirty="0">
              <a:solidFill>
                <a:srgbClr val="FF0000"/>
              </a:solidFill>
              <a:ea typeface="华文中宋" panose="02010600040101010101" pitchFamily="2" charset="-122"/>
            </a:endParaRPr>
          </a:p>
        </p:txBody>
      </p:sp>
      <p:sp>
        <p:nvSpPr>
          <p:cNvPr id="346133" name="Rectangle 1045"/>
          <p:cNvSpPr>
            <a:spLocks noChangeArrowheads="1"/>
          </p:cNvSpPr>
          <p:nvPr/>
        </p:nvSpPr>
        <p:spPr bwMode="auto">
          <a:xfrm>
            <a:off x="3874971" y="2673717"/>
            <a:ext cx="1981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轴承受力</a:t>
            </a:r>
            <a:r>
              <a:rPr lang="zh-CN" altLang="en-US" dirty="0">
                <a:solidFill>
                  <a:srgbClr val="FF0000"/>
                </a:solidFill>
                <a:ea typeface="华文中宋" panose="02010600040101010101" pitchFamily="2" charset="-122"/>
              </a:rPr>
              <a:t>↑</a:t>
            </a:r>
            <a:endParaRPr lang="zh-CN" altLang="en-US" dirty="0">
              <a:solidFill>
                <a:srgbClr val="FF0000"/>
              </a:solidFill>
              <a:ea typeface="华文中宋" panose="02010600040101010101" pitchFamily="2" charset="-122"/>
            </a:endParaRPr>
          </a:p>
        </p:txBody>
      </p:sp>
      <p:sp>
        <p:nvSpPr>
          <p:cNvPr id="346134" name="Line 1046"/>
          <p:cNvSpPr>
            <a:spLocks noChangeShapeType="1"/>
          </p:cNvSpPr>
          <p:nvPr/>
        </p:nvSpPr>
        <p:spPr bwMode="auto">
          <a:xfrm>
            <a:off x="3189171" y="2397492"/>
            <a:ext cx="60960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6135" name="Line 1047"/>
          <p:cNvSpPr>
            <a:spLocks noChangeShapeType="1"/>
          </p:cNvSpPr>
          <p:nvPr/>
        </p:nvSpPr>
        <p:spPr bwMode="auto">
          <a:xfrm>
            <a:off x="3189171" y="2930892"/>
            <a:ext cx="60960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6136" name="Rectangle 1048"/>
          <p:cNvSpPr>
            <a:spLocks noChangeArrowheads="1"/>
          </p:cNvSpPr>
          <p:nvPr/>
        </p:nvSpPr>
        <p:spPr bwMode="auto">
          <a:xfrm>
            <a:off x="903171" y="2397492"/>
            <a:ext cx="5693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i="1" dirty="0">
                <a:latin typeface="楷体_GB2312" pitchFamily="49" charset="-122"/>
                <a:ea typeface="楷体_GB2312" pitchFamily="49" charset="-122"/>
              </a:rPr>
              <a:t>β</a:t>
            </a:r>
            <a:r>
              <a:rPr lang="en-US" altLang="zh-CN" dirty="0">
                <a:solidFill>
                  <a:srgbClr val="FF0000"/>
                </a:solidFill>
                <a:ea typeface="华文中宋" panose="02010600040101010101" pitchFamily="2" charset="-122"/>
              </a:rPr>
              <a:t>↑</a:t>
            </a:r>
            <a:endParaRPr lang="en-US" altLang="zh-CN" dirty="0">
              <a:solidFill>
                <a:srgbClr val="FF0000"/>
              </a:solidFill>
              <a:ea typeface="华文中宋" panose="02010600040101010101" pitchFamily="2" charset="-122"/>
            </a:endParaRPr>
          </a:p>
        </p:txBody>
      </p:sp>
      <p:sp>
        <p:nvSpPr>
          <p:cNvPr id="346137" name="AutoShape 1049"/>
          <p:cNvSpPr/>
          <p:nvPr/>
        </p:nvSpPr>
        <p:spPr bwMode="auto">
          <a:xfrm>
            <a:off x="1588971" y="2321292"/>
            <a:ext cx="152400" cy="676275"/>
          </a:xfrm>
          <a:prstGeom prst="leftBrace">
            <a:avLst>
              <a:gd name="adj1" fmla="val 36979"/>
              <a:gd name="adj2" fmla="val 50000"/>
            </a:avLst>
          </a:prstGeom>
          <a:noFill/>
          <a:ln w="28575">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Rectangle 1029"/>
          <p:cNvSpPr>
            <a:spLocks noChangeArrowheads="1"/>
          </p:cNvSpPr>
          <p:nvPr/>
        </p:nvSpPr>
        <p:spPr bwMode="auto">
          <a:xfrm>
            <a:off x="542223" y="3403332"/>
            <a:ext cx="42672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a:solidFill>
                  <a:srgbClr val="800000"/>
                </a:solidFill>
              </a:rPr>
              <a:t>6</a:t>
            </a:r>
            <a:r>
              <a:rPr lang="zh-CN" altLang="en-US">
                <a:solidFill>
                  <a:srgbClr val="800000"/>
                </a:solidFill>
              </a:rPr>
              <a:t>、齿宽系数</a:t>
            </a:r>
            <a:r>
              <a:rPr lang="en-US" altLang="zh-CN" i="1">
                <a:solidFill>
                  <a:srgbClr val="800000"/>
                </a:solidFill>
                <a:cs typeface="Times New Roman" panose="02020603050405020304" pitchFamily="18" charset="0"/>
              </a:rPr>
              <a:t>φ</a:t>
            </a:r>
            <a:r>
              <a:rPr lang="en-US" altLang="zh-CN" baseline="-16000">
                <a:solidFill>
                  <a:srgbClr val="800000"/>
                </a:solidFill>
              </a:rPr>
              <a:t>d</a:t>
            </a:r>
            <a:r>
              <a:rPr lang="zh-CN" altLang="en-US">
                <a:solidFill>
                  <a:srgbClr val="800000"/>
                </a:solidFill>
              </a:rPr>
              <a:t>、</a:t>
            </a:r>
            <a:r>
              <a:rPr lang="en-US" altLang="zh-CN" i="1">
                <a:solidFill>
                  <a:srgbClr val="800000"/>
                </a:solidFill>
                <a:cs typeface="Times New Roman" panose="02020603050405020304" pitchFamily="18" charset="0"/>
                <a:sym typeface="+mn-ea"/>
              </a:rPr>
              <a:t>φ</a:t>
            </a:r>
            <a:r>
              <a:rPr lang="en-US" altLang="zh-CN" baseline="-16000">
                <a:solidFill>
                  <a:srgbClr val="800000"/>
                </a:solidFill>
              </a:rPr>
              <a:t>R </a:t>
            </a:r>
            <a:r>
              <a:rPr lang="zh-CN" altLang="en-US">
                <a:solidFill>
                  <a:srgbClr val="800000"/>
                </a:solidFill>
              </a:rPr>
              <a:t>的选择</a:t>
            </a:r>
            <a:endParaRPr lang="zh-CN" altLang="en-US">
              <a:solidFill>
                <a:srgbClr val="800000"/>
              </a:solidFill>
            </a:endParaRPr>
          </a:p>
        </p:txBody>
      </p:sp>
      <p:sp>
        <p:nvSpPr>
          <p:cNvPr id="27" name="Rectangle 1032"/>
          <p:cNvSpPr>
            <a:spLocks noChangeArrowheads="1"/>
          </p:cNvSpPr>
          <p:nvPr/>
        </p:nvSpPr>
        <p:spPr bwMode="auto">
          <a:xfrm>
            <a:off x="694623" y="4165332"/>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齿宽系数</a:t>
            </a:r>
            <a:endParaRPr lang="zh-CN" altLang="en-US">
              <a:latin typeface="黑体" panose="02010609060101010101" pitchFamily="49" charset="-122"/>
            </a:endParaRPr>
          </a:p>
        </p:txBody>
      </p:sp>
      <p:sp>
        <p:nvSpPr>
          <p:cNvPr id="28" name="Line 1033"/>
          <p:cNvSpPr>
            <a:spLocks noChangeShapeType="1"/>
          </p:cNvSpPr>
          <p:nvPr/>
        </p:nvSpPr>
        <p:spPr bwMode="auto">
          <a:xfrm flipV="1">
            <a:off x="2142423" y="4165332"/>
            <a:ext cx="0" cy="430213"/>
          </a:xfrm>
          <a:prstGeom prst="line">
            <a:avLst/>
          </a:prstGeom>
          <a:noFill/>
          <a:ln w="254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Rectangle 1034"/>
          <p:cNvSpPr>
            <a:spLocks noChangeArrowheads="1"/>
          </p:cNvSpPr>
          <p:nvPr/>
        </p:nvSpPr>
        <p:spPr bwMode="auto">
          <a:xfrm>
            <a:off x="4199823" y="4470132"/>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轴向尺寸</a:t>
            </a:r>
            <a:endParaRPr lang="zh-CN" altLang="en-US">
              <a:latin typeface="黑体" panose="02010609060101010101" pitchFamily="49" charset="-122"/>
            </a:endParaRPr>
          </a:p>
        </p:txBody>
      </p:sp>
      <p:sp>
        <p:nvSpPr>
          <p:cNvPr id="30" name="Rectangle 1035"/>
          <p:cNvSpPr>
            <a:spLocks noChangeArrowheads="1"/>
          </p:cNvSpPr>
          <p:nvPr/>
        </p:nvSpPr>
        <p:spPr bwMode="auto">
          <a:xfrm>
            <a:off x="6409623" y="4470132"/>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易引起偏载</a:t>
            </a:r>
            <a:endParaRPr lang="zh-CN" altLang="en-US">
              <a:latin typeface="黑体" panose="02010609060101010101" pitchFamily="49" charset="-122"/>
            </a:endParaRPr>
          </a:p>
        </p:txBody>
      </p:sp>
      <p:sp>
        <p:nvSpPr>
          <p:cNvPr id="31" name="Rectangle 1036"/>
          <p:cNvSpPr>
            <a:spLocks noChangeArrowheads="1"/>
          </p:cNvSpPr>
          <p:nvPr/>
        </p:nvSpPr>
        <p:spPr bwMode="auto">
          <a:xfrm>
            <a:off x="2752023" y="4165332"/>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齿宽 </a:t>
            </a:r>
            <a:r>
              <a:rPr lang="en-US" altLang="zh-CN" i="1"/>
              <a:t>b </a:t>
            </a:r>
            <a:endParaRPr lang="en-US" altLang="zh-CN">
              <a:latin typeface="黑体" panose="02010609060101010101" pitchFamily="49" charset="-122"/>
            </a:endParaRPr>
          </a:p>
        </p:txBody>
      </p:sp>
      <p:sp>
        <p:nvSpPr>
          <p:cNvPr id="32" name="Line 1037"/>
          <p:cNvSpPr>
            <a:spLocks noChangeShapeType="1"/>
          </p:cNvSpPr>
          <p:nvPr/>
        </p:nvSpPr>
        <p:spPr bwMode="auto">
          <a:xfrm>
            <a:off x="7324023" y="3860532"/>
            <a:ext cx="0" cy="407988"/>
          </a:xfrm>
          <a:prstGeom prst="line">
            <a:avLst/>
          </a:prstGeom>
          <a:noFill/>
          <a:ln w="254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1038"/>
          <p:cNvSpPr>
            <a:spLocks noChangeShapeType="1"/>
          </p:cNvSpPr>
          <p:nvPr/>
        </p:nvSpPr>
        <p:spPr bwMode="auto">
          <a:xfrm>
            <a:off x="5876223" y="4698732"/>
            <a:ext cx="5334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AutoShape 1039"/>
          <p:cNvSpPr/>
          <p:nvPr/>
        </p:nvSpPr>
        <p:spPr bwMode="auto">
          <a:xfrm>
            <a:off x="4072823" y="4051032"/>
            <a:ext cx="152400" cy="762000"/>
          </a:xfrm>
          <a:prstGeom prst="leftBrace">
            <a:avLst>
              <a:gd name="adj1" fmla="val 41667"/>
              <a:gd name="adj2" fmla="val 50000"/>
            </a:avLst>
          </a:prstGeom>
          <a:noFill/>
          <a:ln w="254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1040"/>
          <p:cNvSpPr>
            <a:spLocks noChangeArrowheads="1"/>
          </p:cNvSpPr>
          <p:nvPr/>
        </p:nvSpPr>
        <p:spPr bwMode="auto">
          <a:xfrm>
            <a:off x="5869873" y="3860532"/>
            <a:ext cx="1530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径向尺寸</a:t>
            </a:r>
            <a:endParaRPr lang="zh-CN" altLang="en-US">
              <a:latin typeface="黑体" panose="02010609060101010101" pitchFamily="49" charset="-122"/>
            </a:endParaRPr>
          </a:p>
        </p:txBody>
      </p:sp>
      <p:sp>
        <p:nvSpPr>
          <p:cNvPr id="36" name="Line 1041"/>
          <p:cNvSpPr>
            <a:spLocks noChangeShapeType="1"/>
          </p:cNvSpPr>
          <p:nvPr/>
        </p:nvSpPr>
        <p:spPr bwMode="auto">
          <a:xfrm flipV="1">
            <a:off x="3895023" y="4165332"/>
            <a:ext cx="0" cy="430213"/>
          </a:xfrm>
          <a:prstGeom prst="line">
            <a:avLst/>
          </a:prstGeom>
          <a:noFill/>
          <a:ln w="254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1042"/>
          <p:cNvSpPr>
            <a:spLocks noChangeArrowheads="1"/>
          </p:cNvSpPr>
          <p:nvPr/>
        </p:nvSpPr>
        <p:spPr bwMode="auto">
          <a:xfrm>
            <a:off x="4199823" y="3860532"/>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latin typeface="黑体" panose="02010609060101010101" pitchFamily="49" charset="-122"/>
              </a:rPr>
              <a:t>强度</a:t>
            </a:r>
            <a:endParaRPr lang="zh-CN" altLang="en-US">
              <a:latin typeface="黑体" panose="02010609060101010101" pitchFamily="49" charset="-122"/>
            </a:endParaRPr>
          </a:p>
        </p:txBody>
      </p:sp>
      <p:sp>
        <p:nvSpPr>
          <p:cNvPr id="38" name="Line 1043"/>
          <p:cNvSpPr>
            <a:spLocks noChangeShapeType="1"/>
          </p:cNvSpPr>
          <p:nvPr/>
        </p:nvSpPr>
        <p:spPr bwMode="auto">
          <a:xfrm flipV="1">
            <a:off x="5038023" y="3860532"/>
            <a:ext cx="0" cy="430213"/>
          </a:xfrm>
          <a:prstGeom prst="line">
            <a:avLst/>
          </a:prstGeom>
          <a:noFill/>
          <a:ln w="254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044"/>
          <p:cNvSpPr>
            <a:spLocks noChangeShapeType="1"/>
          </p:cNvSpPr>
          <p:nvPr/>
        </p:nvSpPr>
        <p:spPr bwMode="auto">
          <a:xfrm flipV="1">
            <a:off x="5647623" y="4497120"/>
            <a:ext cx="0" cy="430212"/>
          </a:xfrm>
          <a:prstGeom prst="line">
            <a:avLst/>
          </a:prstGeom>
          <a:noFill/>
          <a:ln w="254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045"/>
          <p:cNvSpPr>
            <a:spLocks noChangeShapeType="1"/>
          </p:cNvSpPr>
          <p:nvPr/>
        </p:nvSpPr>
        <p:spPr bwMode="auto">
          <a:xfrm>
            <a:off x="5342823" y="4089132"/>
            <a:ext cx="5334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046"/>
          <p:cNvSpPr>
            <a:spLocks noChangeShapeType="1"/>
          </p:cNvSpPr>
          <p:nvPr/>
        </p:nvSpPr>
        <p:spPr bwMode="auto">
          <a:xfrm>
            <a:off x="2294823" y="4393932"/>
            <a:ext cx="5334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Rectangle 1031"/>
          <p:cNvSpPr>
            <a:spLocks noChangeArrowheads="1"/>
          </p:cNvSpPr>
          <p:nvPr/>
        </p:nvSpPr>
        <p:spPr bwMode="auto">
          <a:xfrm>
            <a:off x="665748" y="5060099"/>
            <a:ext cx="728027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硬齿面、悬臂布置易产生偏载，故</a:t>
            </a:r>
            <a:r>
              <a:rPr lang="en-US" altLang="zh-CN" i="1">
                <a:solidFill>
                  <a:srgbClr val="800000"/>
                </a:solidFill>
                <a:cs typeface="Times New Roman" panose="02020603050405020304" pitchFamily="18" charset="0"/>
                <a:sym typeface="+mn-ea"/>
              </a:rPr>
              <a:t>φ</a:t>
            </a:r>
            <a:r>
              <a:rPr lang="en-US" altLang="zh-CN" baseline="-16000" dirty="0" err="1"/>
              <a:t>d</a:t>
            </a:r>
            <a:r>
              <a:rPr lang="en-US" altLang="zh-CN" baseline="-16000" dirty="0"/>
              <a:t> </a:t>
            </a:r>
            <a:r>
              <a:rPr lang="zh-CN" altLang="en-US" dirty="0">
                <a:latin typeface="黑体" panose="02010609060101010101" pitchFamily="49" charset="-122"/>
              </a:rPr>
              <a:t>取值很小；</a:t>
            </a:r>
            <a:endParaRPr lang="zh-CN" altLang="en-US" dirty="0">
              <a:latin typeface="黑体" panose="02010609060101010101" pitchFamily="49" charset="-122"/>
            </a:endParaRPr>
          </a:p>
        </p:txBody>
      </p:sp>
      <p:sp>
        <p:nvSpPr>
          <p:cNvPr id="43" name="Rectangle 1049"/>
          <p:cNvSpPr>
            <a:spLocks noChangeArrowheads="1"/>
          </p:cNvSpPr>
          <p:nvPr/>
        </p:nvSpPr>
        <p:spPr bwMode="auto">
          <a:xfrm>
            <a:off x="665748" y="5480786"/>
            <a:ext cx="728027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latin typeface="黑体" panose="02010609060101010101" pitchFamily="49" charset="-122"/>
              </a:rPr>
              <a:t>开式齿轮传动安装精度差，</a:t>
            </a:r>
            <a:r>
              <a:rPr lang="en-US" altLang="zh-CN" i="1">
                <a:solidFill>
                  <a:srgbClr val="800000"/>
                </a:solidFill>
                <a:cs typeface="Times New Roman" panose="02020603050405020304" pitchFamily="18" charset="0"/>
                <a:sym typeface="+mn-ea"/>
              </a:rPr>
              <a:t>φ</a:t>
            </a:r>
            <a:r>
              <a:rPr lang="en-US" altLang="zh-CN" baseline="-16000" dirty="0" err="1"/>
              <a:t>d</a:t>
            </a:r>
            <a:r>
              <a:rPr lang="en-US" altLang="zh-CN" baseline="-16000" dirty="0"/>
              <a:t> </a:t>
            </a:r>
            <a:r>
              <a:rPr lang="zh-CN" altLang="en-US" dirty="0">
                <a:latin typeface="黑体" panose="02010609060101010101" pitchFamily="49" charset="-122"/>
              </a:rPr>
              <a:t>取小值。</a:t>
            </a:r>
            <a:endParaRPr lang="zh-CN" altLang="en-US" dirty="0">
              <a:latin typeface="黑体" panose="02010609060101010101" pitchFamily="49" charset="-122"/>
            </a:endParaRPr>
          </a:p>
        </p:txBody>
      </p:sp>
      <p:sp>
        <p:nvSpPr>
          <p:cNvPr id="44" name="Rectangle 1050"/>
          <p:cNvSpPr>
            <a:spLocks noChangeArrowheads="1"/>
          </p:cNvSpPr>
          <p:nvPr/>
        </p:nvSpPr>
        <p:spPr bwMode="auto">
          <a:xfrm>
            <a:off x="665748" y="6014186"/>
            <a:ext cx="69342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dirty="0">
                <a:solidFill>
                  <a:srgbClr val="0000FF"/>
                </a:solidFill>
              </a:rPr>
              <a:t>锥齿轮传动：</a:t>
            </a:r>
            <a:r>
              <a:rPr lang="en-US" altLang="zh-CN" i="1">
                <a:solidFill>
                  <a:srgbClr val="800000"/>
                </a:solidFill>
                <a:cs typeface="Times New Roman" panose="02020603050405020304" pitchFamily="18" charset="0"/>
                <a:sym typeface="+mn-ea"/>
              </a:rPr>
              <a:t>φ</a:t>
            </a:r>
            <a:r>
              <a:rPr lang="en-US" altLang="zh-CN" baseline="-25000" dirty="0" err="1">
                <a:solidFill>
                  <a:srgbClr val="0000FF"/>
                </a:solidFill>
              </a:rPr>
              <a:t>R</a:t>
            </a:r>
            <a:r>
              <a:rPr lang="en-US" altLang="zh-CN" baseline="-16000" dirty="0">
                <a:solidFill>
                  <a:srgbClr val="0000FF"/>
                </a:solidFill>
              </a:rPr>
              <a:t> </a:t>
            </a:r>
            <a:r>
              <a:rPr lang="zh-CN" altLang="en-US" dirty="0">
                <a:solidFill>
                  <a:srgbClr val="0000FF"/>
                </a:solidFill>
              </a:rPr>
              <a:t>不宜过大，常取</a:t>
            </a:r>
            <a:r>
              <a:rPr lang="en-US" altLang="zh-CN" i="1">
                <a:solidFill>
                  <a:srgbClr val="800000"/>
                </a:solidFill>
                <a:cs typeface="Times New Roman" panose="02020603050405020304" pitchFamily="18" charset="0"/>
                <a:sym typeface="+mn-ea"/>
              </a:rPr>
              <a:t>φ</a:t>
            </a:r>
            <a:r>
              <a:rPr lang="en-US" altLang="zh-CN" baseline="-25000" dirty="0" err="1">
                <a:solidFill>
                  <a:srgbClr val="0000FF"/>
                </a:solidFill>
                <a:effectLst>
                  <a:outerShdw blurRad="38100" dist="38100" dir="2700000" algn="tl">
                    <a:srgbClr val="C0C0C0"/>
                  </a:outerShdw>
                </a:effectLst>
              </a:rPr>
              <a:t>R</a:t>
            </a:r>
            <a:r>
              <a:rPr lang="en-US" altLang="zh-CN" i="1" dirty="0">
                <a:solidFill>
                  <a:srgbClr val="0000FF"/>
                </a:solidFill>
                <a:effectLst>
                  <a:outerShdw blurRad="38100" dist="38100" dir="2700000" algn="tl">
                    <a:srgbClr val="C0C0C0"/>
                  </a:outerShdw>
                </a:effectLst>
              </a:rPr>
              <a:t> </a:t>
            </a:r>
            <a:r>
              <a:rPr lang="en-US" altLang="zh-CN" dirty="0">
                <a:solidFill>
                  <a:srgbClr val="0000FF"/>
                </a:solidFill>
                <a:effectLst>
                  <a:outerShdw blurRad="38100" dist="38100" dir="2700000" algn="tl">
                    <a:srgbClr val="C0C0C0"/>
                  </a:outerShdw>
                </a:effectLst>
              </a:rPr>
              <a:t>= 1/4 </a:t>
            </a:r>
            <a:r>
              <a:rPr lang="zh-CN" altLang="en-US" dirty="0">
                <a:solidFill>
                  <a:srgbClr val="0000FF"/>
                </a:solidFill>
                <a:effectLst>
                  <a:outerShdw blurRad="38100" dist="38100" dir="2700000" algn="tl">
                    <a:srgbClr val="C0C0C0"/>
                  </a:outerShdw>
                </a:effectLst>
              </a:rPr>
              <a:t>～</a:t>
            </a:r>
            <a:r>
              <a:rPr lang="en-US" altLang="zh-CN" dirty="0">
                <a:solidFill>
                  <a:srgbClr val="0000FF"/>
                </a:solidFill>
                <a:effectLst>
                  <a:outerShdw blurRad="38100" dist="38100" dir="2700000" algn="tl">
                    <a:srgbClr val="C0C0C0"/>
                  </a:outerShdw>
                </a:effectLst>
              </a:rPr>
              <a:t>1/3</a:t>
            </a:r>
            <a:endParaRPr lang="en-US" altLang="zh-CN" dirty="0">
              <a:solidFill>
                <a:srgbClr val="0000FF"/>
              </a:solidFill>
              <a:effectLst>
                <a:outerShdw blurRad="38100" dist="38100" dir="2700000" algn="tl">
                  <a:srgbClr val="C0C0C0"/>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6125"/>
                                        </p:tgtEl>
                                        <p:attrNameLst>
                                          <p:attrName>style.visibility</p:attrName>
                                        </p:attrNameLst>
                                      </p:cBhvr>
                                      <p:to>
                                        <p:strVal val="visible"/>
                                      </p:to>
                                    </p:set>
                                    <p:animEffect transition="in" filter="checkerboard(across)">
                                      <p:cBhvr>
                                        <p:cTn id="7" dur="500"/>
                                        <p:tgtEl>
                                          <p:spTgt spid="346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6126"/>
                                        </p:tgtEl>
                                        <p:attrNameLst>
                                          <p:attrName>style.visibility</p:attrName>
                                        </p:attrNameLst>
                                      </p:cBhvr>
                                      <p:to>
                                        <p:strVal val="visible"/>
                                      </p:to>
                                    </p:set>
                                    <p:animEffect transition="in" filter="wipe(left)">
                                      <p:cBhvr>
                                        <p:cTn id="12" dur="500"/>
                                        <p:tgtEl>
                                          <p:spTgt spid="3461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6127"/>
                                        </p:tgtEl>
                                        <p:attrNameLst>
                                          <p:attrName>style.visibility</p:attrName>
                                        </p:attrNameLst>
                                      </p:cBhvr>
                                      <p:to>
                                        <p:strVal val="visible"/>
                                      </p:to>
                                    </p:set>
                                    <p:animEffect transition="in" filter="wipe(left)">
                                      <p:cBhvr>
                                        <p:cTn id="17" dur="500"/>
                                        <p:tgtEl>
                                          <p:spTgt spid="34612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46128"/>
                                        </p:tgtEl>
                                        <p:attrNameLst>
                                          <p:attrName>style.visibility</p:attrName>
                                        </p:attrNameLst>
                                      </p:cBhvr>
                                      <p:to>
                                        <p:strVal val="visible"/>
                                      </p:to>
                                    </p:set>
                                    <p:animEffect transition="in" filter="checkerboard(across)">
                                      <p:cBhvr>
                                        <p:cTn id="22" dur="500"/>
                                        <p:tgtEl>
                                          <p:spTgt spid="3461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6136"/>
                                        </p:tgtEl>
                                        <p:attrNameLst>
                                          <p:attrName>style.visibility</p:attrName>
                                        </p:attrNameLst>
                                      </p:cBhvr>
                                      <p:to>
                                        <p:strVal val="visible"/>
                                      </p:to>
                                    </p:set>
                                    <p:animEffect transition="in" filter="wipe(left)">
                                      <p:cBhvr>
                                        <p:cTn id="27" dur="500"/>
                                        <p:tgtEl>
                                          <p:spTgt spid="34613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346137"/>
                                        </p:tgtEl>
                                        <p:attrNameLst>
                                          <p:attrName>style.visibility</p:attrName>
                                        </p:attrNameLst>
                                      </p:cBhvr>
                                      <p:to>
                                        <p:strVal val="visible"/>
                                      </p:to>
                                    </p:set>
                                    <p:animEffect transition="in" filter="slide(fromLeft)">
                                      <p:cBhvr>
                                        <p:cTn id="32" dur="500"/>
                                        <p:tgtEl>
                                          <p:spTgt spid="346137"/>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346130"/>
                                        </p:tgtEl>
                                        <p:attrNameLst>
                                          <p:attrName>style.visibility</p:attrName>
                                        </p:attrNameLst>
                                      </p:cBhvr>
                                      <p:to>
                                        <p:strVal val="visible"/>
                                      </p:to>
                                    </p:set>
                                    <p:animEffect transition="in" filter="wipe(left)">
                                      <p:cBhvr>
                                        <p:cTn id="36" dur="500"/>
                                        <p:tgtEl>
                                          <p:spTgt spid="3461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46134"/>
                                        </p:tgtEl>
                                        <p:attrNameLst>
                                          <p:attrName>style.visibility</p:attrName>
                                        </p:attrNameLst>
                                      </p:cBhvr>
                                      <p:to>
                                        <p:strVal val="visible"/>
                                      </p:to>
                                    </p:set>
                                    <p:animEffect transition="in" filter="wipe(left)">
                                      <p:cBhvr>
                                        <p:cTn id="41" dur="500"/>
                                        <p:tgtEl>
                                          <p:spTgt spid="346134"/>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346131"/>
                                        </p:tgtEl>
                                        <p:attrNameLst>
                                          <p:attrName>style.visibility</p:attrName>
                                        </p:attrNameLst>
                                      </p:cBhvr>
                                      <p:to>
                                        <p:strVal val="visible"/>
                                      </p:to>
                                    </p:set>
                                    <p:animEffect transition="in" filter="wipe(left)">
                                      <p:cBhvr>
                                        <p:cTn id="45" dur="500"/>
                                        <p:tgtEl>
                                          <p:spTgt spid="34613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46132"/>
                                        </p:tgtEl>
                                        <p:attrNameLst>
                                          <p:attrName>style.visibility</p:attrName>
                                        </p:attrNameLst>
                                      </p:cBhvr>
                                      <p:to>
                                        <p:strVal val="visible"/>
                                      </p:to>
                                    </p:set>
                                    <p:animEffect transition="in" filter="wipe(left)">
                                      <p:cBhvr>
                                        <p:cTn id="50" dur="500"/>
                                        <p:tgtEl>
                                          <p:spTgt spid="34613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46135"/>
                                        </p:tgtEl>
                                        <p:attrNameLst>
                                          <p:attrName>style.visibility</p:attrName>
                                        </p:attrNameLst>
                                      </p:cBhvr>
                                      <p:to>
                                        <p:strVal val="visible"/>
                                      </p:to>
                                    </p:set>
                                    <p:animEffect transition="in" filter="wipe(left)">
                                      <p:cBhvr>
                                        <p:cTn id="55" dur="500"/>
                                        <p:tgtEl>
                                          <p:spTgt spid="346135"/>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346133"/>
                                        </p:tgtEl>
                                        <p:attrNameLst>
                                          <p:attrName>style.visibility</p:attrName>
                                        </p:attrNameLst>
                                      </p:cBhvr>
                                      <p:to>
                                        <p:strVal val="visible"/>
                                      </p:to>
                                    </p:set>
                                    <p:animEffect transition="in" filter="wipe(left)">
                                      <p:cBhvr>
                                        <p:cTn id="59" dur="500"/>
                                        <p:tgtEl>
                                          <p:spTgt spid="34613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46129"/>
                                        </p:tgtEl>
                                        <p:attrNameLst>
                                          <p:attrName>style.visibility</p:attrName>
                                        </p:attrNameLst>
                                      </p:cBhvr>
                                      <p:to>
                                        <p:strVal val="visible"/>
                                      </p:to>
                                    </p:set>
                                    <p:animEffect transition="in" filter="wipe(left)">
                                      <p:cBhvr>
                                        <p:cTn id="64" dur="500"/>
                                        <p:tgtEl>
                                          <p:spTgt spid="346129"/>
                                        </p:tgtEl>
                                      </p:cBhvr>
                                    </p:animEffect>
                                  </p:childTnLst>
                                </p:cTn>
                              </p:par>
                            </p:childTnLst>
                          </p:cTn>
                        </p:par>
                        <p:par>
                          <p:cTn id="65" fill="hold">
                            <p:stCondLst>
                              <p:cond delay="500"/>
                            </p:stCondLst>
                            <p:childTnLst>
                              <p:par>
                                <p:cTn id="66" presetID="5" presetClass="entr" presetSubtype="10" fill="hold" grpId="0"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checkerboard(across)">
                                      <p:cBhvr>
                                        <p:cTn id="68" dur="500"/>
                                        <p:tgtEl>
                                          <p:spTgt spid="26"/>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box(in)">
                                      <p:cBhvr>
                                        <p:cTn id="73" dur="500"/>
                                        <p:tgtEl>
                                          <p:spTgt spid="27"/>
                                        </p:tgtEl>
                                      </p:cBhvr>
                                    </p:animEffect>
                                  </p:childTnLst>
                                </p:cTn>
                              </p:par>
                            </p:childTnLst>
                          </p:cTn>
                        </p:par>
                        <p:par>
                          <p:cTn id="74" fill="hold">
                            <p:stCondLst>
                              <p:cond delay="500"/>
                            </p:stCondLst>
                            <p:childTnLst>
                              <p:par>
                                <p:cTn id="75" presetID="17" presetClass="entr" presetSubtype="4" fill="hold" grpId="0" nodeType="after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p:cTn id="77" dur="500" fill="hold"/>
                                        <p:tgtEl>
                                          <p:spTgt spid="28"/>
                                        </p:tgtEl>
                                        <p:attrNameLst>
                                          <p:attrName>ppt_x</p:attrName>
                                        </p:attrNameLst>
                                      </p:cBhvr>
                                      <p:tavLst>
                                        <p:tav tm="0">
                                          <p:val>
                                            <p:strVal val="#ppt_x"/>
                                          </p:val>
                                        </p:tav>
                                        <p:tav tm="100000">
                                          <p:val>
                                            <p:strVal val="#ppt_x"/>
                                          </p:val>
                                        </p:tav>
                                      </p:tavLst>
                                    </p:anim>
                                    <p:anim calcmode="lin" valueType="num">
                                      <p:cBhvr>
                                        <p:cTn id="78" dur="500" fill="hold"/>
                                        <p:tgtEl>
                                          <p:spTgt spid="28"/>
                                        </p:tgtEl>
                                        <p:attrNameLst>
                                          <p:attrName>ppt_y</p:attrName>
                                        </p:attrNameLst>
                                      </p:cBhvr>
                                      <p:tavLst>
                                        <p:tav tm="0">
                                          <p:val>
                                            <p:strVal val="#ppt_y+#ppt_h/2"/>
                                          </p:val>
                                        </p:tav>
                                        <p:tav tm="100000">
                                          <p:val>
                                            <p:strVal val="#ppt_y"/>
                                          </p:val>
                                        </p:tav>
                                      </p:tavLst>
                                    </p:anim>
                                    <p:anim calcmode="lin" valueType="num">
                                      <p:cBhvr>
                                        <p:cTn id="79" dur="500" fill="hold"/>
                                        <p:tgtEl>
                                          <p:spTgt spid="28"/>
                                        </p:tgtEl>
                                        <p:attrNameLst>
                                          <p:attrName>ppt_w</p:attrName>
                                        </p:attrNameLst>
                                      </p:cBhvr>
                                      <p:tavLst>
                                        <p:tav tm="0">
                                          <p:val>
                                            <p:strVal val="#ppt_w"/>
                                          </p:val>
                                        </p:tav>
                                        <p:tav tm="100000">
                                          <p:val>
                                            <p:strVal val="#ppt_w"/>
                                          </p:val>
                                        </p:tav>
                                      </p:tavLst>
                                    </p:anim>
                                    <p:anim calcmode="lin" valueType="num">
                                      <p:cBhvr>
                                        <p:cTn id="80" dur="500" fill="hold"/>
                                        <p:tgtEl>
                                          <p:spTgt spid="28"/>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17" presetClass="entr" presetSubtype="8" fill="hold" grpId="0" nodeType="clickEffect">
                                  <p:stCondLst>
                                    <p:cond delay="0"/>
                                  </p:stCondLst>
                                  <p:childTnLst>
                                    <p:set>
                                      <p:cBhvr>
                                        <p:cTn id="84" dur="1" fill="hold">
                                          <p:stCondLst>
                                            <p:cond delay="0"/>
                                          </p:stCondLst>
                                        </p:cTn>
                                        <p:tgtEl>
                                          <p:spTgt spid="41"/>
                                        </p:tgtEl>
                                        <p:attrNameLst>
                                          <p:attrName>style.visibility</p:attrName>
                                        </p:attrNameLst>
                                      </p:cBhvr>
                                      <p:to>
                                        <p:strVal val="visible"/>
                                      </p:to>
                                    </p:set>
                                    <p:anim calcmode="lin" valueType="num">
                                      <p:cBhvr>
                                        <p:cTn id="85" dur="500" fill="hold"/>
                                        <p:tgtEl>
                                          <p:spTgt spid="41"/>
                                        </p:tgtEl>
                                        <p:attrNameLst>
                                          <p:attrName>ppt_x</p:attrName>
                                        </p:attrNameLst>
                                      </p:cBhvr>
                                      <p:tavLst>
                                        <p:tav tm="0">
                                          <p:val>
                                            <p:strVal val="#ppt_x-#ppt_w/2"/>
                                          </p:val>
                                        </p:tav>
                                        <p:tav tm="100000">
                                          <p:val>
                                            <p:strVal val="#ppt_x"/>
                                          </p:val>
                                        </p:tav>
                                      </p:tavLst>
                                    </p:anim>
                                    <p:anim calcmode="lin" valueType="num">
                                      <p:cBhvr>
                                        <p:cTn id="86" dur="500" fill="hold"/>
                                        <p:tgtEl>
                                          <p:spTgt spid="41"/>
                                        </p:tgtEl>
                                        <p:attrNameLst>
                                          <p:attrName>ppt_y</p:attrName>
                                        </p:attrNameLst>
                                      </p:cBhvr>
                                      <p:tavLst>
                                        <p:tav tm="0">
                                          <p:val>
                                            <p:strVal val="#ppt_y"/>
                                          </p:val>
                                        </p:tav>
                                        <p:tav tm="100000">
                                          <p:val>
                                            <p:strVal val="#ppt_y"/>
                                          </p:val>
                                        </p:tav>
                                      </p:tavLst>
                                    </p:anim>
                                    <p:anim calcmode="lin" valueType="num">
                                      <p:cBhvr>
                                        <p:cTn id="87" dur="500" fill="hold"/>
                                        <p:tgtEl>
                                          <p:spTgt spid="41"/>
                                        </p:tgtEl>
                                        <p:attrNameLst>
                                          <p:attrName>ppt_w</p:attrName>
                                        </p:attrNameLst>
                                      </p:cBhvr>
                                      <p:tavLst>
                                        <p:tav tm="0">
                                          <p:val>
                                            <p:fltVal val="0"/>
                                          </p:val>
                                        </p:tav>
                                        <p:tav tm="100000">
                                          <p:val>
                                            <p:strVal val="#ppt_w"/>
                                          </p:val>
                                        </p:tav>
                                      </p:tavLst>
                                    </p:anim>
                                    <p:anim calcmode="lin" valueType="num">
                                      <p:cBhvr>
                                        <p:cTn id="88" dur="500" fill="hold"/>
                                        <p:tgtEl>
                                          <p:spTgt spid="41"/>
                                        </p:tgtEl>
                                        <p:attrNameLst>
                                          <p:attrName>ppt_h</p:attrName>
                                        </p:attrNameLst>
                                      </p:cBhvr>
                                      <p:tavLst>
                                        <p:tav tm="0">
                                          <p:val>
                                            <p:strVal val="#ppt_h"/>
                                          </p:val>
                                        </p:tav>
                                        <p:tav tm="100000">
                                          <p:val>
                                            <p:strVal val="#ppt_h"/>
                                          </p:val>
                                        </p:tav>
                                      </p:tavLst>
                                    </p:anim>
                                  </p:childTnLst>
                                </p:cTn>
                              </p:par>
                            </p:childTnLst>
                          </p:cTn>
                        </p:par>
                        <p:par>
                          <p:cTn id="89" fill="hold">
                            <p:stCondLst>
                              <p:cond delay="500"/>
                            </p:stCondLst>
                            <p:childTnLst>
                              <p:par>
                                <p:cTn id="90" presetID="4" presetClass="entr" presetSubtype="16" fill="hold" grpId="0" nodeType="after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box(in)">
                                      <p:cBhvr>
                                        <p:cTn id="92" dur="500"/>
                                        <p:tgtEl>
                                          <p:spTgt spid="31"/>
                                        </p:tgtEl>
                                      </p:cBhvr>
                                    </p:animEffect>
                                  </p:childTnLst>
                                </p:cTn>
                              </p:par>
                            </p:childTnLst>
                          </p:cTn>
                        </p:par>
                        <p:par>
                          <p:cTn id="93" fill="hold">
                            <p:stCondLst>
                              <p:cond delay="1000"/>
                            </p:stCondLst>
                            <p:childTnLst>
                              <p:par>
                                <p:cTn id="94" presetID="17" presetClass="entr" presetSubtype="4" fill="hold" grpId="0" nodeType="afterEffect">
                                  <p:stCondLst>
                                    <p:cond delay="0"/>
                                  </p:stCondLst>
                                  <p:childTnLst>
                                    <p:set>
                                      <p:cBhvr>
                                        <p:cTn id="95" dur="1" fill="hold">
                                          <p:stCondLst>
                                            <p:cond delay="0"/>
                                          </p:stCondLst>
                                        </p:cTn>
                                        <p:tgtEl>
                                          <p:spTgt spid="36"/>
                                        </p:tgtEl>
                                        <p:attrNameLst>
                                          <p:attrName>style.visibility</p:attrName>
                                        </p:attrNameLst>
                                      </p:cBhvr>
                                      <p:to>
                                        <p:strVal val="visible"/>
                                      </p:to>
                                    </p:set>
                                    <p:anim calcmode="lin" valueType="num">
                                      <p:cBhvr>
                                        <p:cTn id="96" dur="500" fill="hold"/>
                                        <p:tgtEl>
                                          <p:spTgt spid="36"/>
                                        </p:tgtEl>
                                        <p:attrNameLst>
                                          <p:attrName>ppt_x</p:attrName>
                                        </p:attrNameLst>
                                      </p:cBhvr>
                                      <p:tavLst>
                                        <p:tav tm="0">
                                          <p:val>
                                            <p:strVal val="#ppt_x"/>
                                          </p:val>
                                        </p:tav>
                                        <p:tav tm="100000">
                                          <p:val>
                                            <p:strVal val="#ppt_x"/>
                                          </p:val>
                                        </p:tav>
                                      </p:tavLst>
                                    </p:anim>
                                    <p:anim calcmode="lin" valueType="num">
                                      <p:cBhvr>
                                        <p:cTn id="97" dur="500" fill="hold"/>
                                        <p:tgtEl>
                                          <p:spTgt spid="36"/>
                                        </p:tgtEl>
                                        <p:attrNameLst>
                                          <p:attrName>ppt_y</p:attrName>
                                        </p:attrNameLst>
                                      </p:cBhvr>
                                      <p:tavLst>
                                        <p:tav tm="0">
                                          <p:val>
                                            <p:strVal val="#ppt_y+#ppt_h/2"/>
                                          </p:val>
                                        </p:tav>
                                        <p:tav tm="100000">
                                          <p:val>
                                            <p:strVal val="#ppt_y"/>
                                          </p:val>
                                        </p:tav>
                                      </p:tavLst>
                                    </p:anim>
                                    <p:anim calcmode="lin" valueType="num">
                                      <p:cBhvr>
                                        <p:cTn id="98" dur="500" fill="hold"/>
                                        <p:tgtEl>
                                          <p:spTgt spid="36"/>
                                        </p:tgtEl>
                                        <p:attrNameLst>
                                          <p:attrName>ppt_w</p:attrName>
                                        </p:attrNameLst>
                                      </p:cBhvr>
                                      <p:tavLst>
                                        <p:tav tm="0">
                                          <p:val>
                                            <p:strVal val="#ppt_w"/>
                                          </p:val>
                                        </p:tav>
                                        <p:tav tm="100000">
                                          <p:val>
                                            <p:strVal val="#ppt_w"/>
                                          </p:val>
                                        </p:tav>
                                      </p:tavLst>
                                    </p:anim>
                                    <p:anim calcmode="lin" valueType="num">
                                      <p:cBhvr>
                                        <p:cTn id="99" dur="500" fill="hold"/>
                                        <p:tgtEl>
                                          <p:spTgt spid="36"/>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12" presetClass="entr" presetSubtype="8" fill="hold" grpId="0" nodeType="click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slide(fromLeft)">
                                      <p:cBhvr>
                                        <p:cTn id="104" dur="500"/>
                                        <p:tgtEl>
                                          <p:spTgt spid="34"/>
                                        </p:tgtEl>
                                      </p:cBhvr>
                                    </p:animEffect>
                                  </p:childTnLst>
                                </p:cTn>
                              </p:par>
                            </p:childTnLst>
                          </p:cTn>
                        </p:par>
                        <p:par>
                          <p:cTn id="105" fill="hold">
                            <p:stCondLst>
                              <p:cond delay="500"/>
                            </p:stCondLst>
                            <p:childTnLst>
                              <p:par>
                                <p:cTn id="106" presetID="4" presetClass="entr" presetSubtype="16" fill="hold" grpId="0" nodeType="after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box(in)">
                                      <p:cBhvr>
                                        <p:cTn id="108" dur="500"/>
                                        <p:tgtEl>
                                          <p:spTgt spid="37"/>
                                        </p:tgtEl>
                                      </p:cBhvr>
                                    </p:animEffect>
                                  </p:childTnLst>
                                </p:cTn>
                              </p:par>
                            </p:childTnLst>
                          </p:cTn>
                        </p:par>
                        <p:par>
                          <p:cTn id="109" fill="hold">
                            <p:stCondLst>
                              <p:cond delay="1000"/>
                            </p:stCondLst>
                            <p:childTnLst>
                              <p:par>
                                <p:cTn id="110" presetID="17" presetClass="entr" presetSubtype="4" fill="hold" grpId="0" nodeType="afterEffect">
                                  <p:stCondLst>
                                    <p:cond delay="0"/>
                                  </p:stCondLst>
                                  <p:childTnLst>
                                    <p:set>
                                      <p:cBhvr>
                                        <p:cTn id="111" dur="1" fill="hold">
                                          <p:stCondLst>
                                            <p:cond delay="0"/>
                                          </p:stCondLst>
                                        </p:cTn>
                                        <p:tgtEl>
                                          <p:spTgt spid="38"/>
                                        </p:tgtEl>
                                        <p:attrNameLst>
                                          <p:attrName>style.visibility</p:attrName>
                                        </p:attrNameLst>
                                      </p:cBhvr>
                                      <p:to>
                                        <p:strVal val="visible"/>
                                      </p:to>
                                    </p:set>
                                    <p:anim calcmode="lin" valueType="num">
                                      <p:cBhvr>
                                        <p:cTn id="112" dur="500" fill="hold"/>
                                        <p:tgtEl>
                                          <p:spTgt spid="38"/>
                                        </p:tgtEl>
                                        <p:attrNameLst>
                                          <p:attrName>ppt_x</p:attrName>
                                        </p:attrNameLst>
                                      </p:cBhvr>
                                      <p:tavLst>
                                        <p:tav tm="0">
                                          <p:val>
                                            <p:strVal val="#ppt_x"/>
                                          </p:val>
                                        </p:tav>
                                        <p:tav tm="100000">
                                          <p:val>
                                            <p:strVal val="#ppt_x"/>
                                          </p:val>
                                        </p:tav>
                                      </p:tavLst>
                                    </p:anim>
                                    <p:anim calcmode="lin" valueType="num">
                                      <p:cBhvr>
                                        <p:cTn id="113" dur="500" fill="hold"/>
                                        <p:tgtEl>
                                          <p:spTgt spid="38"/>
                                        </p:tgtEl>
                                        <p:attrNameLst>
                                          <p:attrName>ppt_y</p:attrName>
                                        </p:attrNameLst>
                                      </p:cBhvr>
                                      <p:tavLst>
                                        <p:tav tm="0">
                                          <p:val>
                                            <p:strVal val="#ppt_y+#ppt_h/2"/>
                                          </p:val>
                                        </p:tav>
                                        <p:tav tm="100000">
                                          <p:val>
                                            <p:strVal val="#ppt_y"/>
                                          </p:val>
                                        </p:tav>
                                      </p:tavLst>
                                    </p:anim>
                                    <p:anim calcmode="lin" valueType="num">
                                      <p:cBhvr>
                                        <p:cTn id="114" dur="500" fill="hold"/>
                                        <p:tgtEl>
                                          <p:spTgt spid="38"/>
                                        </p:tgtEl>
                                        <p:attrNameLst>
                                          <p:attrName>ppt_w</p:attrName>
                                        </p:attrNameLst>
                                      </p:cBhvr>
                                      <p:tavLst>
                                        <p:tav tm="0">
                                          <p:val>
                                            <p:strVal val="#ppt_w"/>
                                          </p:val>
                                        </p:tav>
                                        <p:tav tm="100000">
                                          <p:val>
                                            <p:strVal val="#ppt_w"/>
                                          </p:val>
                                        </p:tav>
                                      </p:tavLst>
                                    </p:anim>
                                    <p:anim calcmode="lin" valueType="num">
                                      <p:cBhvr>
                                        <p:cTn id="115" dur="500" fill="hold"/>
                                        <p:tgtEl>
                                          <p:spTgt spid="38"/>
                                        </p:tgtEl>
                                        <p:attrNameLst>
                                          <p:attrName>ppt_h</p:attrName>
                                        </p:attrNameLst>
                                      </p:cBhvr>
                                      <p:tavLst>
                                        <p:tav tm="0">
                                          <p:val>
                                            <p:fltVal val="0"/>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18" presetID="17" presetClass="entr" presetSubtype="8" fill="hold" grpId="0" nodeType="clickEffect">
                                  <p:stCondLst>
                                    <p:cond delay="0"/>
                                  </p:stCondLst>
                                  <p:childTnLst>
                                    <p:set>
                                      <p:cBhvr>
                                        <p:cTn id="119" dur="1" fill="hold">
                                          <p:stCondLst>
                                            <p:cond delay="0"/>
                                          </p:stCondLst>
                                        </p:cTn>
                                        <p:tgtEl>
                                          <p:spTgt spid="40"/>
                                        </p:tgtEl>
                                        <p:attrNameLst>
                                          <p:attrName>style.visibility</p:attrName>
                                        </p:attrNameLst>
                                      </p:cBhvr>
                                      <p:to>
                                        <p:strVal val="visible"/>
                                      </p:to>
                                    </p:set>
                                    <p:anim calcmode="lin" valueType="num">
                                      <p:cBhvr>
                                        <p:cTn id="120" dur="500" fill="hold"/>
                                        <p:tgtEl>
                                          <p:spTgt spid="40"/>
                                        </p:tgtEl>
                                        <p:attrNameLst>
                                          <p:attrName>ppt_x</p:attrName>
                                        </p:attrNameLst>
                                      </p:cBhvr>
                                      <p:tavLst>
                                        <p:tav tm="0">
                                          <p:val>
                                            <p:strVal val="#ppt_x-#ppt_w/2"/>
                                          </p:val>
                                        </p:tav>
                                        <p:tav tm="100000">
                                          <p:val>
                                            <p:strVal val="#ppt_x"/>
                                          </p:val>
                                        </p:tav>
                                      </p:tavLst>
                                    </p:anim>
                                    <p:anim calcmode="lin" valueType="num">
                                      <p:cBhvr>
                                        <p:cTn id="121" dur="500" fill="hold"/>
                                        <p:tgtEl>
                                          <p:spTgt spid="40"/>
                                        </p:tgtEl>
                                        <p:attrNameLst>
                                          <p:attrName>ppt_y</p:attrName>
                                        </p:attrNameLst>
                                      </p:cBhvr>
                                      <p:tavLst>
                                        <p:tav tm="0">
                                          <p:val>
                                            <p:strVal val="#ppt_y"/>
                                          </p:val>
                                        </p:tav>
                                        <p:tav tm="100000">
                                          <p:val>
                                            <p:strVal val="#ppt_y"/>
                                          </p:val>
                                        </p:tav>
                                      </p:tavLst>
                                    </p:anim>
                                    <p:anim calcmode="lin" valueType="num">
                                      <p:cBhvr>
                                        <p:cTn id="122" dur="500" fill="hold"/>
                                        <p:tgtEl>
                                          <p:spTgt spid="40"/>
                                        </p:tgtEl>
                                        <p:attrNameLst>
                                          <p:attrName>ppt_w</p:attrName>
                                        </p:attrNameLst>
                                      </p:cBhvr>
                                      <p:tavLst>
                                        <p:tav tm="0">
                                          <p:val>
                                            <p:fltVal val="0"/>
                                          </p:val>
                                        </p:tav>
                                        <p:tav tm="100000">
                                          <p:val>
                                            <p:strVal val="#ppt_w"/>
                                          </p:val>
                                        </p:tav>
                                      </p:tavLst>
                                    </p:anim>
                                    <p:anim calcmode="lin" valueType="num">
                                      <p:cBhvr>
                                        <p:cTn id="123" dur="500" fill="hold"/>
                                        <p:tgtEl>
                                          <p:spTgt spid="40"/>
                                        </p:tgtEl>
                                        <p:attrNameLst>
                                          <p:attrName>ppt_h</p:attrName>
                                        </p:attrNameLst>
                                      </p:cBhvr>
                                      <p:tavLst>
                                        <p:tav tm="0">
                                          <p:val>
                                            <p:strVal val="#ppt_h"/>
                                          </p:val>
                                        </p:tav>
                                        <p:tav tm="100000">
                                          <p:val>
                                            <p:strVal val="#ppt_h"/>
                                          </p:val>
                                        </p:tav>
                                      </p:tavLst>
                                    </p:anim>
                                  </p:childTnLst>
                                </p:cTn>
                              </p:par>
                            </p:childTnLst>
                          </p:cTn>
                        </p:par>
                        <p:par>
                          <p:cTn id="124" fill="hold">
                            <p:stCondLst>
                              <p:cond delay="500"/>
                            </p:stCondLst>
                            <p:childTnLst>
                              <p:par>
                                <p:cTn id="125" presetID="4" presetClass="entr" presetSubtype="16" fill="hold" grpId="0" nodeType="after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box(in)">
                                      <p:cBhvr>
                                        <p:cTn id="127" dur="500"/>
                                        <p:tgtEl>
                                          <p:spTgt spid="35"/>
                                        </p:tgtEl>
                                      </p:cBhvr>
                                    </p:animEffect>
                                  </p:childTnLst>
                                </p:cTn>
                              </p:par>
                            </p:childTnLst>
                          </p:cTn>
                        </p:par>
                        <p:par>
                          <p:cTn id="128" fill="hold">
                            <p:stCondLst>
                              <p:cond delay="1000"/>
                            </p:stCondLst>
                            <p:childTnLst>
                              <p:par>
                                <p:cTn id="129" presetID="17" presetClass="entr" presetSubtype="1" fill="hold" grpId="0" nodeType="afterEffect">
                                  <p:stCondLst>
                                    <p:cond delay="0"/>
                                  </p:stCondLst>
                                  <p:childTnLst>
                                    <p:set>
                                      <p:cBhvr>
                                        <p:cTn id="130" dur="1" fill="hold">
                                          <p:stCondLst>
                                            <p:cond delay="0"/>
                                          </p:stCondLst>
                                        </p:cTn>
                                        <p:tgtEl>
                                          <p:spTgt spid="32"/>
                                        </p:tgtEl>
                                        <p:attrNameLst>
                                          <p:attrName>style.visibility</p:attrName>
                                        </p:attrNameLst>
                                      </p:cBhvr>
                                      <p:to>
                                        <p:strVal val="visible"/>
                                      </p:to>
                                    </p:set>
                                    <p:anim calcmode="lin" valueType="num">
                                      <p:cBhvr>
                                        <p:cTn id="131" dur="500" fill="hold"/>
                                        <p:tgtEl>
                                          <p:spTgt spid="32"/>
                                        </p:tgtEl>
                                        <p:attrNameLst>
                                          <p:attrName>ppt_x</p:attrName>
                                        </p:attrNameLst>
                                      </p:cBhvr>
                                      <p:tavLst>
                                        <p:tav tm="0">
                                          <p:val>
                                            <p:strVal val="#ppt_x"/>
                                          </p:val>
                                        </p:tav>
                                        <p:tav tm="100000">
                                          <p:val>
                                            <p:strVal val="#ppt_x"/>
                                          </p:val>
                                        </p:tav>
                                      </p:tavLst>
                                    </p:anim>
                                    <p:anim calcmode="lin" valueType="num">
                                      <p:cBhvr>
                                        <p:cTn id="132" dur="500" fill="hold"/>
                                        <p:tgtEl>
                                          <p:spTgt spid="32"/>
                                        </p:tgtEl>
                                        <p:attrNameLst>
                                          <p:attrName>ppt_y</p:attrName>
                                        </p:attrNameLst>
                                      </p:cBhvr>
                                      <p:tavLst>
                                        <p:tav tm="0">
                                          <p:val>
                                            <p:strVal val="#ppt_y-#ppt_h/2"/>
                                          </p:val>
                                        </p:tav>
                                        <p:tav tm="100000">
                                          <p:val>
                                            <p:strVal val="#ppt_y"/>
                                          </p:val>
                                        </p:tav>
                                      </p:tavLst>
                                    </p:anim>
                                    <p:anim calcmode="lin" valueType="num">
                                      <p:cBhvr>
                                        <p:cTn id="133" dur="500" fill="hold"/>
                                        <p:tgtEl>
                                          <p:spTgt spid="32"/>
                                        </p:tgtEl>
                                        <p:attrNameLst>
                                          <p:attrName>ppt_w</p:attrName>
                                        </p:attrNameLst>
                                      </p:cBhvr>
                                      <p:tavLst>
                                        <p:tav tm="0">
                                          <p:val>
                                            <p:strVal val="#ppt_w"/>
                                          </p:val>
                                        </p:tav>
                                        <p:tav tm="100000">
                                          <p:val>
                                            <p:strVal val="#ppt_w"/>
                                          </p:val>
                                        </p:tav>
                                      </p:tavLst>
                                    </p:anim>
                                    <p:anim calcmode="lin" valueType="num">
                                      <p:cBhvr>
                                        <p:cTn id="134" dur="5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135" fill="hold">
                      <p:stCondLst>
                        <p:cond delay="indefinite"/>
                      </p:stCondLst>
                      <p:childTnLst>
                        <p:par>
                          <p:cTn id="136" fill="hold">
                            <p:stCondLst>
                              <p:cond delay="0"/>
                            </p:stCondLst>
                            <p:childTnLst>
                              <p:par>
                                <p:cTn id="137" presetID="4" presetClass="entr" presetSubtype="16" fill="hold" grpId="0" nodeType="clickEffect">
                                  <p:stCondLst>
                                    <p:cond delay="0"/>
                                  </p:stCondLst>
                                  <p:childTnLst>
                                    <p:set>
                                      <p:cBhvr>
                                        <p:cTn id="138" dur="1" fill="hold">
                                          <p:stCondLst>
                                            <p:cond delay="0"/>
                                          </p:stCondLst>
                                        </p:cTn>
                                        <p:tgtEl>
                                          <p:spTgt spid="29"/>
                                        </p:tgtEl>
                                        <p:attrNameLst>
                                          <p:attrName>style.visibility</p:attrName>
                                        </p:attrNameLst>
                                      </p:cBhvr>
                                      <p:to>
                                        <p:strVal val="visible"/>
                                      </p:to>
                                    </p:set>
                                    <p:animEffect transition="in" filter="box(in)">
                                      <p:cBhvr>
                                        <p:cTn id="139" dur="500"/>
                                        <p:tgtEl>
                                          <p:spTgt spid="29"/>
                                        </p:tgtEl>
                                      </p:cBhvr>
                                    </p:animEffect>
                                  </p:childTnLst>
                                </p:cTn>
                              </p:par>
                            </p:childTnLst>
                          </p:cTn>
                        </p:par>
                        <p:par>
                          <p:cTn id="140" fill="hold">
                            <p:stCondLst>
                              <p:cond delay="500"/>
                            </p:stCondLst>
                            <p:childTnLst>
                              <p:par>
                                <p:cTn id="141" presetID="17" presetClass="entr" presetSubtype="4" fill="hold" grpId="0" nodeType="afterEffect">
                                  <p:stCondLst>
                                    <p:cond delay="0"/>
                                  </p:stCondLst>
                                  <p:childTnLst>
                                    <p:set>
                                      <p:cBhvr>
                                        <p:cTn id="142" dur="1" fill="hold">
                                          <p:stCondLst>
                                            <p:cond delay="0"/>
                                          </p:stCondLst>
                                        </p:cTn>
                                        <p:tgtEl>
                                          <p:spTgt spid="39"/>
                                        </p:tgtEl>
                                        <p:attrNameLst>
                                          <p:attrName>style.visibility</p:attrName>
                                        </p:attrNameLst>
                                      </p:cBhvr>
                                      <p:to>
                                        <p:strVal val="visible"/>
                                      </p:to>
                                    </p:set>
                                    <p:anim calcmode="lin" valueType="num">
                                      <p:cBhvr>
                                        <p:cTn id="143" dur="500" fill="hold"/>
                                        <p:tgtEl>
                                          <p:spTgt spid="39"/>
                                        </p:tgtEl>
                                        <p:attrNameLst>
                                          <p:attrName>ppt_x</p:attrName>
                                        </p:attrNameLst>
                                      </p:cBhvr>
                                      <p:tavLst>
                                        <p:tav tm="0">
                                          <p:val>
                                            <p:strVal val="#ppt_x"/>
                                          </p:val>
                                        </p:tav>
                                        <p:tav tm="100000">
                                          <p:val>
                                            <p:strVal val="#ppt_x"/>
                                          </p:val>
                                        </p:tav>
                                      </p:tavLst>
                                    </p:anim>
                                    <p:anim calcmode="lin" valueType="num">
                                      <p:cBhvr>
                                        <p:cTn id="144" dur="500" fill="hold"/>
                                        <p:tgtEl>
                                          <p:spTgt spid="39"/>
                                        </p:tgtEl>
                                        <p:attrNameLst>
                                          <p:attrName>ppt_y</p:attrName>
                                        </p:attrNameLst>
                                      </p:cBhvr>
                                      <p:tavLst>
                                        <p:tav tm="0">
                                          <p:val>
                                            <p:strVal val="#ppt_y+#ppt_h/2"/>
                                          </p:val>
                                        </p:tav>
                                        <p:tav tm="100000">
                                          <p:val>
                                            <p:strVal val="#ppt_y"/>
                                          </p:val>
                                        </p:tav>
                                      </p:tavLst>
                                    </p:anim>
                                    <p:anim calcmode="lin" valueType="num">
                                      <p:cBhvr>
                                        <p:cTn id="145" dur="500" fill="hold"/>
                                        <p:tgtEl>
                                          <p:spTgt spid="39"/>
                                        </p:tgtEl>
                                        <p:attrNameLst>
                                          <p:attrName>ppt_w</p:attrName>
                                        </p:attrNameLst>
                                      </p:cBhvr>
                                      <p:tavLst>
                                        <p:tav tm="0">
                                          <p:val>
                                            <p:strVal val="#ppt_w"/>
                                          </p:val>
                                        </p:tav>
                                        <p:tav tm="100000">
                                          <p:val>
                                            <p:strVal val="#ppt_w"/>
                                          </p:val>
                                        </p:tav>
                                      </p:tavLst>
                                    </p:anim>
                                    <p:anim calcmode="lin" valueType="num">
                                      <p:cBhvr>
                                        <p:cTn id="146"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17" presetClass="entr" presetSubtype="8" fill="hold" grpId="0" nodeType="clickEffect">
                                  <p:stCondLst>
                                    <p:cond delay="0"/>
                                  </p:stCondLst>
                                  <p:childTnLst>
                                    <p:set>
                                      <p:cBhvr>
                                        <p:cTn id="150" dur="1" fill="hold">
                                          <p:stCondLst>
                                            <p:cond delay="0"/>
                                          </p:stCondLst>
                                        </p:cTn>
                                        <p:tgtEl>
                                          <p:spTgt spid="33"/>
                                        </p:tgtEl>
                                        <p:attrNameLst>
                                          <p:attrName>style.visibility</p:attrName>
                                        </p:attrNameLst>
                                      </p:cBhvr>
                                      <p:to>
                                        <p:strVal val="visible"/>
                                      </p:to>
                                    </p:set>
                                    <p:anim calcmode="lin" valueType="num">
                                      <p:cBhvr>
                                        <p:cTn id="151" dur="500" fill="hold"/>
                                        <p:tgtEl>
                                          <p:spTgt spid="33"/>
                                        </p:tgtEl>
                                        <p:attrNameLst>
                                          <p:attrName>ppt_x</p:attrName>
                                        </p:attrNameLst>
                                      </p:cBhvr>
                                      <p:tavLst>
                                        <p:tav tm="0">
                                          <p:val>
                                            <p:strVal val="#ppt_x-#ppt_w/2"/>
                                          </p:val>
                                        </p:tav>
                                        <p:tav tm="100000">
                                          <p:val>
                                            <p:strVal val="#ppt_x"/>
                                          </p:val>
                                        </p:tav>
                                      </p:tavLst>
                                    </p:anim>
                                    <p:anim calcmode="lin" valueType="num">
                                      <p:cBhvr>
                                        <p:cTn id="152" dur="500" fill="hold"/>
                                        <p:tgtEl>
                                          <p:spTgt spid="33"/>
                                        </p:tgtEl>
                                        <p:attrNameLst>
                                          <p:attrName>ppt_y</p:attrName>
                                        </p:attrNameLst>
                                      </p:cBhvr>
                                      <p:tavLst>
                                        <p:tav tm="0">
                                          <p:val>
                                            <p:strVal val="#ppt_y"/>
                                          </p:val>
                                        </p:tav>
                                        <p:tav tm="100000">
                                          <p:val>
                                            <p:strVal val="#ppt_y"/>
                                          </p:val>
                                        </p:tav>
                                      </p:tavLst>
                                    </p:anim>
                                    <p:anim calcmode="lin" valueType="num">
                                      <p:cBhvr>
                                        <p:cTn id="153" dur="500" fill="hold"/>
                                        <p:tgtEl>
                                          <p:spTgt spid="33"/>
                                        </p:tgtEl>
                                        <p:attrNameLst>
                                          <p:attrName>ppt_w</p:attrName>
                                        </p:attrNameLst>
                                      </p:cBhvr>
                                      <p:tavLst>
                                        <p:tav tm="0">
                                          <p:val>
                                            <p:fltVal val="0"/>
                                          </p:val>
                                        </p:tav>
                                        <p:tav tm="100000">
                                          <p:val>
                                            <p:strVal val="#ppt_w"/>
                                          </p:val>
                                        </p:tav>
                                      </p:tavLst>
                                    </p:anim>
                                    <p:anim calcmode="lin" valueType="num">
                                      <p:cBhvr>
                                        <p:cTn id="154" dur="500" fill="hold"/>
                                        <p:tgtEl>
                                          <p:spTgt spid="33"/>
                                        </p:tgtEl>
                                        <p:attrNameLst>
                                          <p:attrName>ppt_h</p:attrName>
                                        </p:attrNameLst>
                                      </p:cBhvr>
                                      <p:tavLst>
                                        <p:tav tm="0">
                                          <p:val>
                                            <p:strVal val="#ppt_h"/>
                                          </p:val>
                                        </p:tav>
                                        <p:tav tm="100000">
                                          <p:val>
                                            <p:strVal val="#ppt_h"/>
                                          </p:val>
                                        </p:tav>
                                      </p:tavLst>
                                    </p:anim>
                                  </p:childTnLst>
                                </p:cTn>
                              </p:par>
                            </p:childTnLst>
                          </p:cTn>
                        </p:par>
                        <p:par>
                          <p:cTn id="155" fill="hold">
                            <p:stCondLst>
                              <p:cond delay="500"/>
                            </p:stCondLst>
                            <p:childTnLst>
                              <p:par>
                                <p:cTn id="156" presetID="14" presetClass="entr" presetSubtype="10" fill="hold" grpId="0" nodeType="afterEffect">
                                  <p:stCondLst>
                                    <p:cond delay="0"/>
                                  </p:stCondLst>
                                  <p:childTnLst>
                                    <p:set>
                                      <p:cBhvr>
                                        <p:cTn id="157" dur="1" fill="hold">
                                          <p:stCondLst>
                                            <p:cond delay="0"/>
                                          </p:stCondLst>
                                        </p:cTn>
                                        <p:tgtEl>
                                          <p:spTgt spid="30"/>
                                        </p:tgtEl>
                                        <p:attrNameLst>
                                          <p:attrName>style.visibility</p:attrName>
                                        </p:attrNameLst>
                                      </p:cBhvr>
                                      <p:to>
                                        <p:strVal val="visible"/>
                                      </p:to>
                                    </p:set>
                                    <p:animEffect transition="in" filter="randombar(horizontal)">
                                      <p:cBhvr>
                                        <p:cTn id="158" dur="500"/>
                                        <p:tgtEl>
                                          <p:spTgt spid="30"/>
                                        </p:tgtEl>
                                      </p:cBhvr>
                                    </p:animEffect>
                                  </p:childTnLst>
                                </p:cTn>
                              </p:par>
                            </p:childTnLst>
                          </p:cTn>
                        </p:par>
                      </p:childTnLst>
                    </p:cTn>
                  </p:par>
                  <p:par>
                    <p:cTn id="159" fill="hold">
                      <p:stCondLst>
                        <p:cond delay="indefinite"/>
                      </p:stCondLst>
                      <p:childTnLst>
                        <p:par>
                          <p:cTn id="160" fill="hold">
                            <p:stCondLst>
                              <p:cond delay="0"/>
                            </p:stCondLst>
                            <p:childTnLst>
                              <p:par>
                                <p:cTn id="161" presetID="5" presetClass="entr" presetSubtype="10"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animEffect transition="in" filter="checkerboard(across)">
                                      <p:cBhvr>
                                        <p:cTn id="163" dur="500"/>
                                        <p:tgtEl>
                                          <p:spTgt spid="42"/>
                                        </p:tgtEl>
                                      </p:cBhvr>
                                    </p:animEffect>
                                  </p:childTnLst>
                                </p:cTn>
                              </p:par>
                            </p:childTnLst>
                          </p:cTn>
                        </p:par>
                      </p:childTnLst>
                    </p:cTn>
                  </p:par>
                  <p:par>
                    <p:cTn id="164" fill="hold">
                      <p:stCondLst>
                        <p:cond delay="indefinite"/>
                      </p:stCondLst>
                      <p:childTnLst>
                        <p:par>
                          <p:cTn id="165" fill="hold">
                            <p:stCondLst>
                              <p:cond delay="0"/>
                            </p:stCondLst>
                            <p:childTnLst>
                              <p:par>
                                <p:cTn id="166" presetID="5" presetClass="entr" presetSubtype="10" fill="hold" grpId="0" nodeType="clickEffect">
                                  <p:stCondLst>
                                    <p:cond delay="0"/>
                                  </p:stCondLst>
                                  <p:childTnLst>
                                    <p:set>
                                      <p:cBhvr>
                                        <p:cTn id="167" dur="1" fill="hold">
                                          <p:stCondLst>
                                            <p:cond delay="0"/>
                                          </p:stCondLst>
                                        </p:cTn>
                                        <p:tgtEl>
                                          <p:spTgt spid="43"/>
                                        </p:tgtEl>
                                        <p:attrNameLst>
                                          <p:attrName>style.visibility</p:attrName>
                                        </p:attrNameLst>
                                      </p:cBhvr>
                                      <p:to>
                                        <p:strVal val="visible"/>
                                      </p:to>
                                    </p:set>
                                    <p:animEffect transition="in" filter="checkerboard(across)">
                                      <p:cBhvr>
                                        <p:cTn id="168" dur="500"/>
                                        <p:tgtEl>
                                          <p:spTgt spid="43"/>
                                        </p:tgtEl>
                                      </p:cBhvr>
                                    </p:animEffect>
                                  </p:childTnLst>
                                </p:cTn>
                              </p:par>
                            </p:childTnLst>
                          </p:cTn>
                        </p:par>
                      </p:childTnLst>
                    </p:cTn>
                  </p:par>
                  <p:par>
                    <p:cTn id="169" fill="hold">
                      <p:stCondLst>
                        <p:cond delay="indefinite"/>
                      </p:stCondLst>
                      <p:childTnLst>
                        <p:par>
                          <p:cTn id="170" fill="hold">
                            <p:stCondLst>
                              <p:cond delay="0"/>
                            </p:stCondLst>
                            <p:childTnLst>
                              <p:par>
                                <p:cTn id="171" presetID="9" presetClass="entr" presetSubtype="0" fill="hold" grpId="0" nodeType="clickEffect">
                                  <p:stCondLst>
                                    <p:cond delay="0"/>
                                  </p:stCondLst>
                                  <p:childTnLst>
                                    <p:set>
                                      <p:cBhvr>
                                        <p:cTn id="172" dur="1" fill="hold">
                                          <p:stCondLst>
                                            <p:cond delay="0"/>
                                          </p:stCondLst>
                                        </p:cTn>
                                        <p:tgtEl>
                                          <p:spTgt spid="44"/>
                                        </p:tgtEl>
                                        <p:attrNameLst>
                                          <p:attrName>style.visibility</p:attrName>
                                        </p:attrNameLst>
                                      </p:cBhvr>
                                      <p:to>
                                        <p:strVal val="visible"/>
                                      </p:to>
                                    </p:set>
                                    <p:animEffect transition="in" filter="dissolve">
                                      <p:cBhvr>
                                        <p:cTn id="17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25" grpId="0" autoUpdateAnimBg="0"/>
      <p:bldP spid="346126" grpId="0" autoUpdateAnimBg="0"/>
      <p:bldP spid="346127" grpId="0" autoUpdateAnimBg="0"/>
      <p:bldP spid="346128" grpId="0" autoUpdateAnimBg="0"/>
      <p:bldP spid="346129" grpId="0" autoUpdateAnimBg="0"/>
      <p:bldP spid="346130" grpId="0" autoUpdateAnimBg="0"/>
      <p:bldP spid="346131" grpId="0" autoUpdateAnimBg="0"/>
      <p:bldP spid="346132" grpId="0" autoUpdateAnimBg="0"/>
      <p:bldP spid="346133" grpId="0" autoUpdateAnimBg="0"/>
      <p:bldP spid="346134" grpId="0" animBg="1"/>
      <p:bldP spid="346135" grpId="0" animBg="1"/>
      <p:bldP spid="346136" grpId="0" autoUpdateAnimBg="0"/>
      <p:bldP spid="346137" grpId="0" animBg="1"/>
      <p:bldP spid="26" grpId="0" bldLvl="0" animBg="1" autoUpdateAnimBg="0"/>
      <p:bldP spid="27" grpId="0" autoUpdateAnimBg="0"/>
      <p:bldP spid="28" grpId="0" animBg="1"/>
      <p:bldP spid="29" grpId="0" autoUpdateAnimBg="0"/>
      <p:bldP spid="30" grpId="0" autoUpdateAnimBg="0"/>
      <p:bldP spid="31" grpId="0" autoUpdateAnimBg="0"/>
      <p:bldP spid="32" grpId="0" animBg="1"/>
      <p:bldP spid="33" grpId="0" animBg="1"/>
      <p:bldP spid="34" grpId="0" animBg="1"/>
      <p:bldP spid="35" grpId="0" autoUpdateAnimBg="0"/>
      <p:bldP spid="36" grpId="0" animBg="1"/>
      <p:bldP spid="37" grpId="0" autoUpdateAnimBg="0"/>
      <p:bldP spid="38" grpId="0" animBg="1"/>
      <p:bldP spid="39" grpId="0" animBg="1"/>
      <p:bldP spid="40" grpId="0" animBg="1"/>
      <p:bldP spid="41" grpId="0" animBg="1"/>
      <p:bldP spid="42" grpId="0" bldLvl="0" animBg="1" autoUpdateAnimBg="0"/>
      <p:bldP spid="43" grpId="0" bldLvl="0" animBg="1" autoUpdateAnimBg="0"/>
      <p:bldP spid="44" grpId="0" bldLvl="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2261" name="Text Box 1029"/>
          <p:cNvSpPr txBox="1">
            <a:spLocks noChangeArrowheads="1"/>
          </p:cNvSpPr>
          <p:nvPr/>
        </p:nvSpPr>
        <p:spPr bwMode="auto">
          <a:xfrm>
            <a:off x="2816225" y="208915"/>
            <a:ext cx="3464560" cy="52197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dirty="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rPr>
              <a:t>本 章 重点及</a:t>
            </a:r>
            <a:r>
              <a:rPr lang="zh-CN" altLang="en-US" sz="2800" dirty="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rPr>
              <a:t>难点</a:t>
            </a:r>
            <a:endParaRPr lang="zh-CN" altLang="en-US" sz="2800" dirty="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352262" name="Text Box 1030"/>
          <p:cNvSpPr txBox="1">
            <a:spLocks noChangeArrowheads="1"/>
          </p:cNvSpPr>
          <p:nvPr/>
        </p:nvSpPr>
        <p:spPr bwMode="auto">
          <a:xfrm>
            <a:off x="939800" y="831850"/>
            <a:ext cx="35179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200" u="sng" dirty="0">
                <a:solidFill>
                  <a:srgbClr val="C00000"/>
                </a:solidFill>
                <a:latin typeface="黑体" panose="02010609060101010101" pitchFamily="49" charset="-122"/>
                <a:ea typeface="黑体" panose="02010609060101010101" pitchFamily="49" charset="-122"/>
              </a:rPr>
              <a:t>失效形式和设计准则</a:t>
            </a:r>
            <a:endParaRPr lang="zh-CN" altLang="en-US" sz="2200" u="sng" dirty="0">
              <a:solidFill>
                <a:srgbClr val="C00000"/>
              </a:solidFill>
              <a:latin typeface="黑体" panose="02010609060101010101" pitchFamily="49" charset="-122"/>
              <a:ea typeface="黑体" panose="02010609060101010101" pitchFamily="49" charset="-122"/>
            </a:endParaRPr>
          </a:p>
        </p:txBody>
      </p:sp>
      <p:sp>
        <p:nvSpPr>
          <p:cNvPr id="352263" name="Text Box 1031"/>
          <p:cNvSpPr txBox="1">
            <a:spLocks noChangeArrowheads="1"/>
          </p:cNvSpPr>
          <p:nvPr/>
        </p:nvSpPr>
        <p:spPr bwMode="auto">
          <a:xfrm>
            <a:off x="1327351" y="1269799"/>
            <a:ext cx="7061200" cy="870110"/>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200" dirty="0"/>
              <a:t>失效产生的原因、场合；防止失效的措施</a:t>
            </a:r>
            <a:r>
              <a:rPr lang="zh-CN" altLang="en-US" sz="2200" dirty="0" smtClean="0"/>
              <a:t>；</a:t>
            </a:r>
            <a:endParaRPr lang="en-US" altLang="zh-CN" sz="2200" dirty="0" smtClean="0"/>
          </a:p>
          <a:p>
            <a:pPr>
              <a:lnSpc>
                <a:spcPct val="120000"/>
              </a:lnSpc>
            </a:pPr>
            <a:r>
              <a:rPr lang="zh-CN" altLang="en-US" sz="2200" dirty="0" smtClean="0"/>
              <a:t>设计</a:t>
            </a:r>
            <a:r>
              <a:rPr lang="zh-CN" altLang="en-US" sz="2200" dirty="0"/>
              <a:t>准则主要针对齿面疲劳点蚀和轮齿疲劳折断</a:t>
            </a:r>
            <a:endParaRPr lang="zh-CN" altLang="en-US" sz="2200" dirty="0"/>
          </a:p>
        </p:txBody>
      </p:sp>
      <p:sp>
        <p:nvSpPr>
          <p:cNvPr id="352264" name="Text Box 1032"/>
          <p:cNvSpPr txBox="1">
            <a:spLocks noChangeArrowheads="1"/>
          </p:cNvSpPr>
          <p:nvPr/>
        </p:nvSpPr>
        <p:spPr bwMode="auto">
          <a:xfrm>
            <a:off x="952500" y="2258929"/>
            <a:ext cx="56261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200"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齿轮材料、热处理方法及精度的选择</a:t>
            </a:r>
            <a:endParaRPr lang="zh-CN" altLang="en-US" sz="2200"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352265" name="Text Box 1033"/>
          <p:cNvSpPr txBox="1">
            <a:spLocks noChangeArrowheads="1"/>
          </p:cNvSpPr>
          <p:nvPr/>
        </p:nvSpPr>
        <p:spPr bwMode="auto">
          <a:xfrm>
            <a:off x="962125" y="3529331"/>
            <a:ext cx="51435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200"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直齿及斜齿圆柱齿轮的受力分析</a:t>
            </a:r>
            <a:endParaRPr lang="zh-CN" altLang="en-US" sz="2200"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352266" name="Text Box 1034"/>
          <p:cNvSpPr txBox="1">
            <a:spLocks noChangeArrowheads="1"/>
          </p:cNvSpPr>
          <p:nvPr/>
        </p:nvSpPr>
        <p:spPr bwMode="auto">
          <a:xfrm>
            <a:off x="1333500" y="3916078"/>
            <a:ext cx="7010400" cy="769441"/>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t>轮齿螺旋线方向的判断，各分力的对应关系及方向的判断，特别是斜齿轮的轴向力</a:t>
            </a:r>
            <a:endParaRPr lang="zh-CN" altLang="en-US" sz="2200" dirty="0"/>
          </a:p>
        </p:txBody>
      </p:sp>
      <p:sp>
        <p:nvSpPr>
          <p:cNvPr id="352267" name="Text Box 1035"/>
          <p:cNvSpPr txBox="1">
            <a:spLocks noChangeArrowheads="1"/>
          </p:cNvSpPr>
          <p:nvPr/>
        </p:nvSpPr>
        <p:spPr bwMode="auto">
          <a:xfrm>
            <a:off x="965200" y="4747728"/>
            <a:ext cx="40894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latin typeface="黑体" panose="02010609060101010101" pitchFamily="49" charset="-122"/>
                <a:ea typeface="黑体" panose="02010609060101010101" pitchFamily="49" charset="-122"/>
              </a:rPr>
              <a:t>● </a:t>
            </a:r>
            <a:r>
              <a:rPr lang="zh-CN" altLang="en-US" sz="2200" dirty="0">
                <a:solidFill>
                  <a:srgbClr val="C00000"/>
                </a:solidFill>
                <a:latin typeface="黑体" panose="02010609060101010101" pitchFamily="49" charset="-122"/>
                <a:ea typeface="黑体" panose="02010609060101010101" pitchFamily="49" charset="-122"/>
              </a:rPr>
              <a:t>圆柱齿轮传动的强度条件</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52268" name="Text Box 1036"/>
          <p:cNvSpPr txBox="1">
            <a:spLocks noChangeArrowheads="1"/>
          </p:cNvSpPr>
          <p:nvPr/>
        </p:nvSpPr>
        <p:spPr bwMode="auto">
          <a:xfrm>
            <a:off x="1232035" y="5137952"/>
            <a:ext cx="7411452" cy="1311128"/>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2200" dirty="0"/>
              <a:t>齿面接触疲劳强度条件针对齿面点蚀失效，齿根弯曲疲劳强度条件针对轮齿疲劳折断，重点是直齿圆柱齿轮传动的强度条件</a:t>
            </a:r>
            <a:endParaRPr lang="zh-CN" altLang="en-US" sz="2200" dirty="0"/>
          </a:p>
        </p:txBody>
      </p:sp>
      <p:sp>
        <p:nvSpPr>
          <p:cNvPr id="352269" name="Text Box 1037"/>
          <p:cNvSpPr txBox="1">
            <a:spLocks noChangeArrowheads="1"/>
          </p:cNvSpPr>
          <p:nvPr/>
        </p:nvSpPr>
        <p:spPr bwMode="auto">
          <a:xfrm>
            <a:off x="1359300" y="2751956"/>
            <a:ext cx="6928051" cy="769441"/>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200" dirty="0"/>
              <a:t>选用材料的基本要求，材料的配对，大、小齿轮齿面硬度的选择</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2261"/>
                                        </p:tgtEl>
                                        <p:attrNameLst>
                                          <p:attrName>style.visibility</p:attrName>
                                        </p:attrNameLst>
                                      </p:cBhvr>
                                      <p:to>
                                        <p:strVal val="visible"/>
                                      </p:to>
                                    </p:set>
                                    <p:animEffect transition="in" filter="wipe(left)">
                                      <p:cBhvr>
                                        <p:cTn id="7" dur="500"/>
                                        <p:tgtEl>
                                          <p:spTgt spid="35226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iterate type="lt">
                                    <p:tmPct val="100000"/>
                                  </p:iterate>
                                  <p:childTnLst>
                                    <p:set>
                                      <p:cBhvr>
                                        <p:cTn id="11" dur="1" fill="hold">
                                          <p:stCondLst>
                                            <p:cond delay="0"/>
                                          </p:stCondLst>
                                        </p:cTn>
                                        <p:tgtEl>
                                          <p:spTgt spid="352262"/>
                                        </p:tgtEl>
                                        <p:attrNameLst>
                                          <p:attrName>style.visibility</p:attrName>
                                        </p:attrNameLst>
                                      </p:cBhvr>
                                      <p:to>
                                        <p:strVal val="visible"/>
                                      </p:to>
                                    </p:set>
                                    <p:animEffect transition="in" filter="slide(fromTop)">
                                      <p:cBhvr>
                                        <p:cTn id="12" dur="75"/>
                                        <p:tgtEl>
                                          <p:spTgt spid="35226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iterate type="lt">
                                    <p:tmPct val="100000"/>
                                  </p:iterate>
                                  <p:childTnLst>
                                    <p:set>
                                      <p:cBhvr>
                                        <p:cTn id="16" dur="1" fill="hold">
                                          <p:stCondLst>
                                            <p:cond delay="0"/>
                                          </p:stCondLst>
                                        </p:cTn>
                                        <p:tgtEl>
                                          <p:spTgt spid="352263"/>
                                        </p:tgtEl>
                                        <p:attrNameLst>
                                          <p:attrName>style.visibility</p:attrName>
                                        </p:attrNameLst>
                                      </p:cBhvr>
                                      <p:to>
                                        <p:strVal val="visible"/>
                                      </p:to>
                                    </p:set>
                                    <p:animEffect transition="in" filter="slide(fromTop)">
                                      <p:cBhvr>
                                        <p:cTn id="17" dur="75"/>
                                        <p:tgtEl>
                                          <p:spTgt spid="35226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iterate type="lt">
                                    <p:tmPct val="100000"/>
                                  </p:iterate>
                                  <p:childTnLst>
                                    <p:set>
                                      <p:cBhvr>
                                        <p:cTn id="21" dur="1" fill="hold">
                                          <p:stCondLst>
                                            <p:cond delay="0"/>
                                          </p:stCondLst>
                                        </p:cTn>
                                        <p:tgtEl>
                                          <p:spTgt spid="352264"/>
                                        </p:tgtEl>
                                        <p:attrNameLst>
                                          <p:attrName>style.visibility</p:attrName>
                                        </p:attrNameLst>
                                      </p:cBhvr>
                                      <p:to>
                                        <p:strVal val="visible"/>
                                      </p:to>
                                    </p:set>
                                    <p:animEffect transition="in" filter="slide(fromTop)">
                                      <p:cBhvr>
                                        <p:cTn id="22" dur="75"/>
                                        <p:tgtEl>
                                          <p:spTgt spid="352264"/>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iterate type="lt">
                                    <p:tmPct val="100000"/>
                                  </p:iterate>
                                  <p:childTnLst>
                                    <p:set>
                                      <p:cBhvr>
                                        <p:cTn id="26" dur="1" fill="hold">
                                          <p:stCondLst>
                                            <p:cond delay="0"/>
                                          </p:stCondLst>
                                        </p:cTn>
                                        <p:tgtEl>
                                          <p:spTgt spid="352269"/>
                                        </p:tgtEl>
                                        <p:attrNameLst>
                                          <p:attrName>style.visibility</p:attrName>
                                        </p:attrNameLst>
                                      </p:cBhvr>
                                      <p:to>
                                        <p:strVal val="visible"/>
                                      </p:to>
                                    </p:set>
                                    <p:animEffect transition="in" filter="slide(fromTop)">
                                      <p:cBhvr>
                                        <p:cTn id="27" dur="75"/>
                                        <p:tgtEl>
                                          <p:spTgt spid="35226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lt">
                                    <p:tmPct val="100000"/>
                                  </p:iterate>
                                  <p:childTnLst>
                                    <p:set>
                                      <p:cBhvr>
                                        <p:cTn id="31" dur="1" fill="hold">
                                          <p:stCondLst>
                                            <p:cond delay="0"/>
                                          </p:stCondLst>
                                        </p:cTn>
                                        <p:tgtEl>
                                          <p:spTgt spid="352265"/>
                                        </p:tgtEl>
                                        <p:attrNameLst>
                                          <p:attrName>style.visibility</p:attrName>
                                        </p:attrNameLst>
                                      </p:cBhvr>
                                      <p:to>
                                        <p:strVal val="visible"/>
                                      </p:to>
                                    </p:set>
                                    <p:animEffect transition="in" filter="slide(fromTop)">
                                      <p:cBhvr>
                                        <p:cTn id="32" dur="75"/>
                                        <p:tgtEl>
                                          <p:spTgt spid="352265"/>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iterate type="lt">
                                    <p:tmPct val="100000"/>
                                  </p:iterate>
                                  <p:childTnLst>
                                    <p:set>
                                      <p:cBhvr>
                                        <p:cTn id="36" dur="1" fill="hold">
                                          <p:stCondLst>
                                            <p:cond delay="0"/>
                                          </p:stCondLst>
                                        </p:cTn>
                                        <p:tgtEl>
                                          <p:spTgt spid="352266"/>
                                        </p:tgtEl>
                                        <p:attrNameLst>
                                          <p:attrName>style.visibility</p:attrName>
                                        </p:attrNameLst>
                                      </p:cBhvr>
                                      <p:to>
                                        <p:strVal val="visible"/>
                                      </p:to>
                                    </p:set>
                                    <p:animEffect transition="in" filter="slide(fromTop)">
                                      <p:cBhvr>
                                        <p:cTn id="37" dur="75"/>
                                        <p:tgtEl>
                                          <p:spTgt spid="35226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lt">
                                    <p:tmPct val="100000"/>
                                  </p:iterate>
                                  <p:childTnLst>
                                    <p:set>
                                      <p:cBhvr>
                                        <p:cTn id="41" dur="1" fill="hold">
                                          <p:stCondLst>
                                            <p:cond delay="0"/>
                                          </p:stCondLst>
                                        </p:cTn>
                                        <p:tgtEl>
                                          <p:spTgt spid="352267"/>
                                        </p:tgtEl>
                                        <p:attrNameLst>
                                          <p:attrName>style.visibility</p:attrName>
                                        </p:attrNameLst>
                                      </p:cBhvr>
                                      <p:to>
                                        <p:strVal val="visible"/>
                                      </p:to>
                                    </p:set>
                                    <p:animEffect transition="in" filter="slide(fromTop)">
                                      <p:cBhvr>
                                        <p:cTn id="42" dur="75"/>
                                        <p:tgtEl>
                                          <p:spTgt spid="352267"/>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grpId="0" nodeType="clickEffect">
                                  <p:stCondLst>
                                    <p:cond delay="0"/>
                                  </p:stCondLst>
                                  <p:iterate type="lt">
                                    <p:tmPct val="100000"/>
                                  </p:iterate>
                                  <p:childTnLst>
                                    <p:set>
                                      <p:cBhvr>
                                        <p:cTn id="46" dur="1" fill="hold">
                                          <p:stCondLst>
                                            <p:cond delay="0"/>
                                          </p:stCondLst>
                                        </p:cTn>
                                        <p:tgtEl>
                                          <p:spTgt spid="352268"/>
                                        </p:tgtEl>
                                        <p:attrNameLst>
                                          <p:attrName>style.visibility</p:attrName>
                                        </p:attrNameLst>
                                      </p:cBhvr>
                                      <p:to>
                                        <p:strVal val="visible"/>
                                      </p:to>
                                    </p:set>
                                    <p:animEffect transition="in" filter="slide(fromTop)">
                                      <p:cBhvr>
                                        <p:cTn id="47" dur="75"/>
                                        <p:tgtEl>
                                          <p:spTgt spid="352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61" grpId="0" bldLvl="0" animBg="1" autoUpdateAnimBg="0"/>
      <p:bldP spid="352262" grpId="0" autoUpdateAnimBg="0"/>
      <p:bldP spid="352263" grpId="0" autoUpdateAnimBg="0"/>
      <p:bldP spid="352264" grpId="0" autoUpdateAnimBg="0"/>
      <p:bldP spid="352265" grpId="0" autoUpdateAnimBg="0"/>
      <p:bldP spid="352266" grpId="0" autoUpdateAnimBg="0"/>
      <p:bldP spid="352267" grpId="0" autoUpdateAnimBg="0"/>
      <p:bldP spid="352268" grpId="0" autoUpdateAnimBg="0"/>
      <p:bldP spid="352269"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6357" name="Text Box 1029"/>
          <p:cNvSpPr txBox="1">
            <a:spLocks noChangeArrowheads="1"/>
          </p:cNvSpPr>
          <p:nvPr/>
        </p:nvSpPr>
        <p:spPr bwMode="auto">
          <a:xfrm>
            <a:off x="774700" y="469900"/>
            <a:ext cx="21209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latin typeface="黑体" panose="02010609060101010101" pitchFamily="49" charset="-122"/>
                <a:ea typeface="黑体" panose="02010609060101010101" pitchFamily="49" charset="-122"/>
              </a:rPr>
              <a:t>● </a:t>
            </a:r>
            <a:r>
              <a:rPr lang="zh-CN" altLang="en-US" sz="2200" dirty="0">
                <a:solidFill>
                  <a:srgbClr val="C00000"/>
                </a:solidFill>
                <a:latin typeface="黑体" panose="02010609060101010101" pitchFamily="49" charset="-122"/>
                <a:ea typeface="黑体" panose="02010609060101010101" pitchFamily="49" charset="-122"/>
              </a:rPr>
              <a:t>许用应力</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56358" name="Text Box 1030"/>
          <p:cNvSpPr txBox="1">
            <a:spLocks noChangeArrowheads="1"/>
          </p:cNvSpPr>
          <p:nvPr/>
        </p:nvSpPr>
        <p:spPr bwMode="auto">
          <a:xfrm>
            <a:off x="1296670" y="916940"/>
            <a:ext cx="69723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t>许用应力与材料、齿面硬度、应力循环次数有关</a:t>
            </a:r>
            <a:endParaRPr lang="zh-CN" altLang="en-US" sz="2200" dirty="0"/>
          </a:p>
        </p:txBody>
      </p:sp>
      <p:sp>
        <p:nvSpPr>
          <p:cNvPr id="356359" name="Text Box 1031"/>
          <p:cNvSpPr txBox="1">
            <a:spLocks noChangeArrowheads="1"/>
          </p:cNvSpPr>
          <p:nvPr/>
        </p:nvSpPr>
        <p:spPr bwMode="auto">
          <a:xfrm>
            <a:off x="762000" y="1435100"/>
            <a:ext cx="41402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latin typeface="黑体" panose="02010609060101010101" pitchFamily="49" charset="-122"/>
                <a:ea typeface="黑体" panose="02010609060101010101" pitchFamily="49" charset="-122"/>
              </a:rPr>
              <a:t>●  </a:t>
            </a:r>
            <a:r>
              <a:rPr lang="zh-CN" altLang="en-US" sz="2200" dirty="0">
                <a:solidFill>
                  <a:srgbClr val="C00000"/>
                </a:solidFill>
                <a:latin typeface="黑体" panose="02010609060101010101" pitchFamily="49" charset="-122"/>
                <a:ea typeface="黑体" panose="02010609060101010101" pitchFamily="49" charset="-122"/>
              </a:rPr>
              <a:t>强度条件中的设计参数</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56360" name="Text Box 1032"/>
          <p:cNvSpPr txBox="1">
            <a:spLocks noChangeArrowheads="1"/>
          </p:cNvSpPr>
          <p:nvPr/>
        </p:nvSpPr>
        <p:spPr bwMode="auto">
          <a:xfrm>
            <a:off x="762000" y="2984500"/>
            <a:ext cx="30734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latin typeface="黑体" panose="02010609060101010101" pitchFamily="49" charset="-122"/>
                <a:ea typeface="黑体" panose="02010609060101010101" pitchFamily="49" charset="-122"/>
              </a:rPr>
              <a:t>● </a:t>
            </a:r>
            <a:r>
              <a:rPr lang="zh-CN" altLang="en-US" sz="2200" dirty="0">
                <a:solidFill>
                  <a:srgbClr val="C00000"/>
                </a:solidFill>
                <a:latin typeface="黑体" panose="02010609060101010101" pitchFamily="49" charset="-122"/>
                <a:ea typeface="黑体" panose="02010609060101010101" pitchFamily="49" charset="-122"/>
              </a:rPr>
              <a:t>设计步骤和方法</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56361" name="Text Box 1033"/>
          <p:cNvSpPr txBox="1">
            <a:spLocks noChangeArrowheads="1"/>
          </p:cNvSpPr>
          <p:nvPr/>
        </p:nvSpPr>
        <p:spPr bwMode="auto">
          <a:xfrm>
            <a:off x="1143000" y="3429000"/>
            <a:ext cx="7429500" cy="769441"/>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t>设计计算和校核计算，数据处理（圆整或取标准值），合理选择齿轮参数</a:t>
            </a:r>
            <a:endParaRPr lang="zh-CN" altLang="en-US" sz="2200" dirty="0"/>
          </a:p>
        </p:txBody>
      </p:sp>
      <p:sp>
        <p:nvSpPr>
          <p:cNvPr id="356362" name="Text Box 1034"/>
          <p:cNvSpPr txBox="1">
            <a:spLocks noChangeArrowheads="1"/>
          </p:cNvSpPr>
          <p:nvPr/>
        </p:nvSpPr>
        <p:spPr bwMode="auto">
          <a:xfrm>
            <a:off x="774700" y="4279900"/>
            <a:ext cx="60706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C00000"/>
                </a:solidFill>
                <a:latin typeface="黑体" panose="02010609060101010101" pitchFamily="49" charset="-122"/>
                <a:ea typeface="黑体" panose="02010609060101010101" pitchFamily="49" charset="-122"/>
              </a:rPr>
              <a:t>● </a:t>
            </a:r>
            <a:r>
              <a:rPr lang="zh-CN" altLang="en-US" sz="2200" dirty="0">
                <a:solidFill>
                  <a:srgbClr val="C00000"/>
                </a:solidFill>
                <a:latin typeface="黑体" panose="02010609060101010101" pitchFamily="49" charset="-122"/>
                <a:ea typeface="黑体" panose="02010609060101010101" pitchFamily="49" charset="-122"/>
              </a:rPr>
              <a:t>锥齿轮传动的受力分析及强度计算特点</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56363" name="Text Box 1035"/>
          <p:cNvSpPr txBox="1">
            <a:spLocks noChangeArrowheads="1"/>
          </p:cNvSpPr>
          <p:nvPr/>
        </p:nvSpPr>
        <p:spPr bwMode="auto">
          <a:xfrm>
            <a:off x="1046480" y="4786163"/>
            <a:ext cx="7073900" cy="1107996"/>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t>各分力的对应关系及方向判断（注意与斜齿圆柱齿轮的异同之处）；将锥齿轮转化为当量直齿圆柱齿轮进行强度计算</a:t>
            </a:r>
            <a:endParaRPr lang="zh-CN" altLang="en-US" sz="2200" dirty="0"/>
          </a:p>
        </p:txBody>
      </p:sp>
      <p:sp>
        <p:nvSpPr>
          <p:cNvPr id="356364" name="Text Box 1036"/>
          <p:cNvSpPr txBox="1">
            <a:spLocks noChangeArrowheads="1"/>
          </p:cNvSpPr>
          <p:nvPr/>
        </p:nvSpPr>
        <p:spPr bwMode="auto">
          <a:xfrm>
            <a:off x="1130300" y="1841500"/>
            <a:ext cx="7366000" cy="1107996"/>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i="1" dirty="0"/>
              <a:t>z</a:t>
            </a:r>
            <a:r>
              <a:rPr lang="en-US" altLang="zh-CN" sz="2200" dirty="0"/>
              <a:t> </a:t>
            </a:r>
            <a:r>
              <a:rPr lang="zh-CN" altLang="en-US" sz="2200" dirty="0"/>
              <a:t>、</a:t>
            </a:r>
            <a:r>
              <a:rPr lang="en-US" altLang="zh-CN" sz="2200" i="1" dirty="0"/>
              <a:t>d</a:t>
            </a:r>
            <a:r>
              <a:rPr lang="zh-CN" altLang="en-US" sz="2200" dirty="0"/>
              <a:t>、</a:t>
            </a:r>
            <a:r>
              <a:rPr lang="en-US" altLang="zh-CN" sz="2200" i="1" dirty="0"/>
              <a:t>m</a:t>
            </a:r>
            <a:r>
              <a:rPr lang="zh-CN" altLang="en-US" sz="2200" dirty="0"/>
              <a:t>、</a:t>
            </a:r>
            <a:r>
              <a:rPr lang="en-US" altLang="zh-CN" sz="2200" i="1" dirty="0"/>
              <a:t>b</a:t>
            </a:r>
            <a:r>
              <a:rPr lang="zh-CN" altLang="en-US" sz="2200" dirty="0"/>
              <a:t>、</a:t>
            </a:r>
            <a:r>
              <a:rPr lang="en-US" altLang="zh-CN" sz="2200" i="1" dirty="0" err="1"/>
              <a:t>ψ</a:t>
            </a:r>
            <a:r>
              <a:rPr lang="en-US" altLang="zh-CN" sz="2200" baseline="-16000" dirty="0" err="1"/>
              <a:t>d</a:t>
            </a:r>
            <a:r>
              <a:rPr lang="zh-CN" altLang="en-US" sz="2200" dirty="0"/>
              <a:t>、</a:t>
            </a:r>
            <a:r>
              <a:rPr lang="en-US" altLang="zh-CN" sz="2200" i="1" dirty="0">
                <a:ea typeface="楷体_GB2312" pitchFamily="49" charset="-122"/>
              </a:rPr>
              <a:t>β</a:t>
            </a:r>
            <a:r>
              <a:rPr lang="zh-CN" altLang="en-US" sz="2200" dirty="0"/>
              <a:t>等的选择及对齿轮传动的</a:t>
            </a:r>
            <a:r>
              <a:rPr lang="zh-CN" altLang="en-US" sz="2200" dirty="0" smtClean="0"/>
              <a:t>影响；</a:t>
            </a:r>
            <a:endParaRPr lang="en-US" altLang="zh-CN" sz="2200" dirty="0" smtClean="0"/>
          </a:p>
          <a:p>
            <a:r>
              <a:rPr lang="zh-CN" altLang="en-US" sz="2200" dirty="0" smtClean="0"/>
              <a:t>载荷系数 </a:t>
            </a:r>
            <a:r>
              <a:rPr lang="en-US" altLang="zh-CN" sz="2200" i="1" dirty="0"/>
              <a:t>K </a:t>
            </a:r>
            <a:r>
              <a:rPr lang="zh-CN" altLang="en-US" sz="2200" dirty="0"/>
              <a:t>所考虑的因素；                                       </a:t>
            </a:r>
            <a:endParaRPr lang="en-US" altLang="zh-CN" sz="2200" dirty="0" smtClean="0"/>
          </a:p>
          <a:p>
            <a:r>
              <a:rPr lang="zh-CN" altLang="en-US" sz="2200" dirty="0" smtClean="0"/>
              <a:t> </a:t>
            </a:r>
            <a:r>
              <a:rPr lang="en-US" altLang="zh-CN" sz="2200" i="1" dirty="0" err="1"/>
              <a:t>Y</a:t>
            </a:r>
            <a:r>
              <a:rPr lang="en-US" altLang="zh-CN" sz="2200" baseline="-16000" dirty="0" err="1"/>
              <a:t>Fa</a:t>
            </a:r>
            <a:r>
              <a:rPr lang="en-US" altLang="zh-CN" sz="2200" baseline="-16000" dirty="0"/>
              <a:t> </a:t>
            </a:r>
            <a:r>
              <a:rPr lang="zh-CN" altLang="en-US" sz="2200" dirty="0"/>
              <a:t>的物理意义及与齿数、变位系数的关系</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iterate type="lt">
                                    <p:tmPct val="100000"/>
                                  </p:iterate>
                                  <p:childTnLst>
                                    <p:set>
                                      <p:cBhvr>
                                        <p:cTn id="6" dur="1" fill="hold">
                                          <p:stCondLst>
                                            <p:cond delay="0"/>
                                          </p:stCondLst>
                                        </p:cTn>
                                        <p:tgtEl>
                                          <p:spTgt spid="356357"/>
                                        </p:tgtEl>
                                        <p:attrNameLst>
                                          <p:attrName>style.visibility</p:attrName>
                                        </p:attrNameLst>
                                      </p:cBhvr>
                                      <p:to>
                                        <p:strVal val="visible"/>
                                      </p:to>
                                    </p:set>
                                    <p:animEffect transition="in" filter="slide(fromTop)">
                                      <p:cBhvr>
                                        <p:cTn id="7" dur="75"/>
                                        <p:tgtEl>
                                          <p:spTgt spid="35635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iterate type="lt">
                                    <p:tmPct val="100000"/>
                                  </p:iterate>
                                  <p:childTnLst>
                                    <p:set>
                                      <p:cBhvr>
                                        <p:cTn id="11" dur="1" fill="hold">
                                          <p:stCondLst>
                                            <p:cond delay="0"/>
                                          </p:stCondLst>
                                        </p:cTn>
                                        <p:tgtEl>
                                          <p:spTgt spid="356358"/>
                                        </p:tgtEl>
                                        <p:attrNameLst>
                                          <p:attrName>style.visibility</p:attrName>
                                        </p:attrNameLst>
                                      </p:cBhvr>
                                      <p:to>
                                        <p:strVal val="visible"/>
                                      </p:to>
                                    </p:set>
                                    <p:animEffect transition="in" filter="slide(fromTop)">
                                      <p:cBhvr>
                                        <p:cTn id="12" dur="75"/>
                                        <p:tgtEl>
                                          <p:spTgt spid="35635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iterate type="lt">
                                    <p:tmPct val="100000"/>
                                  </p:iterate>
                                  <p:childTnLst>
                                    <p:set>
                                      <p:cBhvr>
                                        <p:cTn id="16" dur="1" fill="hold">
                                          <p:stCondLst>
                                            <p:cond delay="0"/>
                                          </p:stCondLst>
                                        </p:cTn>
                                        <p:tgtEl>
                                          <p:spTgt spid="356359"/>
                                        </p:tgtEl>
                                        <p:attrNameLst>
                                          <p:attrName>style.visibility</p:attrName>
                                        </p:attrNameLst>
                                      </p:cBhvr>
                                      <p:to>
                                        <p:strVal val="visible"/>
                                      </p:to>
                                    </p:set>
                                    <p:animEffect transition="in" filter="slide(fromTop)">
                                      <p:cBhvr>
                                        <p:cTn id="17" dur="75"/>
                                        <p:tgtEl>
                                          <p:spTgt spid="35635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iterate type="lt">
                                    <p:tmPct val="100000"/>
                                  </p:iterate>
                                  <p:childTnLst>
                                    <p:set>
                                      <p:cBhvr>
                                        <p:cTn id="21" dur="1" fill="hold">
                                          <p:stCondLst>
                                            <p:cond delay="0"/>
                                          </p:stCondLst>
                                        </p:cTn>
                                        <p:tgtEl>
                                          <p:spTgt spid="356364"/>
                                        </p:tgtEl>
                                        <p:attrNameLst>
                                          <p:attrName>style.visibility</p:attrName>
                                        </p:attrNameLst>
                                      </p:cBhvr>
                                      <p:to>
                                        <p:strVal val="visible"/>
                                      </p:to>
                                    </p:set>
                                    <p:animEffect transition="in" filter="slide(fromTop)">
                                      <p:cBhvr>
                                        <p:cTn id="22" dur="75"/>
                                        <p:tgtEl>
                                          <p:spTgt spid="356364"/>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iterate type="lt">
                                    <p:tmPct val="100000"/>
                                  </p:iterate>
                                  <p:childTnLst>
                                    <p:set>
                                      <p:cBhvr>
                                        <p:cTn id="26" dur="1" fill="hold">
                                          <p:stCondLst>
                                            <p:cond delay="0"/>
                                          </p:stCondLst>
                                        </p:cTn>
                                        <p:tgtEl>
                                          <p:spTgt spid="356360"/>
                                        </p:tgtEl>
                                        <p:attrNameLst>
                                          <p:attrName>style.visibility</p:attrName>
                                        </p:attrNameLst>
                                      </p:cBhvr>
                                      <p:to>
                                        <p:strVal val="visible"/>
                                      </p:to>
                                    </p:set>
                                    <p:animEffect transition="in" filter="slide(fromTop)">
                                      <p:cBhvr>
                                        <p:cTn id="27" dur="75"/>
                                        <p:tgtEl>
                                          <p:spTgt spid="35636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lt">
                                    <p:tmPct val="100000"/>
                                  </p:iterate>
                                  <p:childTnLst>
                                    <p:set>
                                      <p:cBhvr>
                                        <p:cTn id="31" dur="1" fill="hold">
                                          <p:stCondLst>
                                            <p:cond delay="0"/>
                                          </p:stCondLst>
                                        </p:cTn>
                                        <p:tgtEl>
                                          <p:spTgt spid="356361"/>
                                        </p:tgtEl>
                                        <p:attrNameLst>
                                          <p:attrName>style.visibility</p:attrName>
                                        </p:attrNameLst>
                                      </p:cBhvr>
                                      <p:to>
                                        <p:strVal val="visible"/>
                                      </p:to>
                                    </p:set>
                                    <p:animEffect transition="in" filter="slide(fromTop)">
                                      <p:cBhvr>
                                        <p:cTn id="32" dur="75"/>
                                        <p:tgtEl>
                                          <p:spTgt spid="356361"/>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iterate type="lt">
                                    <p:tmPct val="100000"/>
                                  </p:iterate>
                                  <p:childTnLst>
                                    <p:set>
                                      <p:cBhvr>
                                        <p:cTn id="36" dur="1" fill="hold">
                                          <p:stCondLst>
                                            <p:cond delay="0"/>
                                          </p:stCondLst>
                                        </p:cTn>
                                        <p:tgtEl>
                                          <p:spTgt spid="356362"/>
                                        </p:tgtEl>
                                        <p:attrNameLst>
                                          <p:attrName>style.visibility</p:attrName>
                                        </p:attrNameLst>
                                      </p:cBhvr>
                                      <p:to>
                                        <p:strVal val="visible"/>
                                      </p:to>
                                    </p:set>
                                    <p:animEffect transition="in" filter="slide(fromTop)">
                                      <p:cBhvr>
                                        <p:cTn id="37" dur="75"/>
                                        <p:tgtEl>
                                          <p:spTgt spid="356362"/>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lt">
                                    <p:tmPct val="100000"/>
                                  </p:iterate>
                                  <p:childTnLst>
                                    <p:set>
                                      <p:cBhvr>
                                        <p:cTn id="41" dur="1" fill="hold">
                                          <p:stCondLst>
                                            <p:cond delay="0"/>
                                          </p:stCondLst>
                                        </p:cTn>
                                        <p:tgtEl>
                                          <p:spTgt spid="356363"/>
                                        </p:tgtEl>
                                        <p:attrNameLst>
                                          <p:attrName>style.visibility</p:attrName>
                                        </p:attrNameLst>
                                      </p:cBhvr>
                                      <p:to>
                                        <p:strVal val="visible"/>
                                      </p:to>
                                    </p:set>
                                    <p:animEffect transition="in" filter="slide(fromTop)">
                                      <p:cBhvr>
                                        <p:cTn id="42" dur="75"/>
                                        <p:tgtEl>
                                          <p:spTgt spid="356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7" grpId="0" autoUpdateAnimBg="0"/>
      <p:bldP spid="356358" grpId="0" bldLvl="0" animBg="1" autoUpdateAnimBg="0"/>
      <p:bldP spid="356359" grpId="0" autoUpdateAnimBg="0"/>
      <p:bldP spid="356360" grpId="0" autoUpdateAnimBg="0"/>
      <p:bldP spid="356361" grpId="0" autoUpdateAnimBg="0"/>
      <p:bldP spid="356362" grpId="0" autoUpdateAnimBg="0"/>
      <p:bldP spid="356363" grpId="0" bldLvl="0" animBg="1" autoUpdateAnimBg="0"/>
      <p:bldP spid="356364"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48335" y="1294765"/>
            <a:ext cx="4787265" cy="521970"/>
          </a:xfrm>
          <a:prstGeom prst="rect">
            <a:avLst/>
          </a:prstGeom>
          <a:noFill/>
        </p:spPr>
        <p:txBody>
          <a:bodyPr wrap="square" rtlCol="0">
            <a:spAutoFit/>
          </a:bodyPr>
          <a:p>
            <a:r>
              <a:rPr lang="zh-CN" altLang="en-US" sz="2800">
                <a:latin typeface="黑体" panose="02010609060101010101" pitchFamily="49" charset="-122"/>
                <a:ea typeface="黑体" panose="02010609060101010101" pitchFamily="49" charset="-122"/>
              </a:rPr>
              <a:t>本章</a:t>
            </a:r>
            <a:r>
              <a:rPr lang="zh-CN" altLang="en-US" sz="2800">
                <a:latin typeface="黑体" panose="02010609060101010101" pitchFamily="49" charset="-122"/>
                <a:ea typeface="黑体" panose="02010609060101010101" pitchFamily="49" charset="-122"/>
              </a:rPr>
              <a:t>作业</a:t>
            </a:r>
            <a:endParaRPr lang="zh-CN" altLang="en-US" sz="2800">
              <a:latin typeface="黑体" panose="02010609060101010101" pitchFamily="49" charset="-122"/>
              <a:ea typeface="黑体" panose="02010609060101010101" pitchFamily="49" charset="-122"/>
            </a:endParaRPr>
          </a:p>
        </p:txBody>
      </p:sp>
      <p:sp>
        <p:nvSpPr>
          <p:cNvPr id="5" name="文本框 4"/>
          <p:cNvSpPr txBox="1"/>
          <p:nvPr/>
        </p:nvSpPr>
        <p:spPr>
          <a:xfrm>
            <a:off x="1312545" y="2254250"/>
            <a:ext cx="6316345" cy="460375"/>
          </a:xfrm>
          <a:prstGeom prst="rect">
            <a:avLst/>
          </a:prstGeom>
          <a:noFill/>
        </p:spPr>
        <p:txBody>
          <a:bodyPr wrap="square" rtlCol="0">
            <a:spAutoFit/>
          </a:bodyPr>
          <a:p>
            <a:r>
              <a:rPr lang="en-US" altLang="zh-CN" sz="2400">
                <a:solidFill>
                  <a:srgbClr val="C00000"/>
                </a:solidFill>
              </a:rPr>
              <a:t>P237</a:t>
            </a:r>
            <a:r>
              <a:rPr lang="en-US" altLang="zh-CN" sz="2400"/>
              <a:t>   3.4-7    3.4-8</a:t>
            </a:r>
            <a:endParaRPr lang="en-US" altLang="zh-CN" sz="2400"/>
          </a:p>
        </p:txBody>
      </p:sp>
      <p:sp>
        <p:nvSpPr>
          <p:cNvPr id="6" name="文本框 5"/>
          <p:cNvSpPr txBox="1"/>
          <p:nvPr/>
        </p:nvSpPr>
        <p:spPr>
          <a:xfrm>
            <a:off x="1413510" y="3269615"/>
            <a:ext cx="6316345" cy="460375"/>
          </a:xfrm>
          <a:prstGeom prst="rect">
            <a:avLst/>
          </a:prstGeom>
          <a:noFill/>
        </p:spPr>
        <p:txBody>
          <a:bodyPr wrap="square" rtlCol="0">
            <a:spAutoFit/>
          </a:bodyPr>
          <a:p>
            <a:r>
              <a:rPr lang="en-US" altLang="zh-CN" sz="2400">
                <a:solidFill>
                  <a:srgbClr val="C00000"/>
                </a:solidFill>
              </a:rPr>
              <a:t>P366 </a:t>
            </a:r>
            <a:r>
              <a:rPr lang="en-US" altLang="zh-CN" sz="2400"/>
              <a:t>  3.10-5      </a:t>
            </a:r>
            <a:endParaRPr lang="en-US" altLang="zh-CN" sz="240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齿轮材料</a:t>
            </a:r>
            <a:endParaRPr lang="zh-CN" altLang="en-US" sz="800" smtClean="0">
              <a:solidFill>
                <a:schemeClr val="bg1"/>
              </a:solidFill>
              <a:ea typeface="黑体" panose="02010609060101010101" pitchFamily="49" charset="-122"/>
            </a:endParaRPr>
          </a:p>
        </p:txBody>
      </p:sp>
      <p:pic>
        <p:nvPicPr>
          <p:cNvPr id="64526" name="Picture 14" descr="rewind">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83625" y="653891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40" name="Text Box 28"/>
          <p:cNvSpPr txBox="1">
            <a:spLocks noChangeArrowheads="1"/>
          </p:cNvSpPr>
          <p:nvPr/>
        </p:nvSpPr>
        <p:spPr bwMode="auto">
          <a:xfrm>
            <a:off x="6169025" y="6375400"/>
            <a:ext cx="1160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t>　　</a:t>
            </a:r>
            <a:endParaRPr lang="zh-CN" altLang="en-US"/>
          </a:p>
        </p:txBody>
      </p:sp>
      <p:sp>
        <p:nvSpPr>
          <p:cNvPr id="32773" name="Rectangle 1"/>
          <p:cNvSpPr>
            <a:spLocks noChangeArrowheads="1"/>
          </p:cNvSpPr>
          <p:nvPr/>
        </p:nvSpPr>
        <p:spPr bwMode="auto">
          <a:xfrm>
            <a:off x="3089275" y="0"/>
            <a:ext cx="387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altLang="en-US" sz="2400">
                <a:solidFill>
                  <a:srgbClr val="CC3300"/>
                </a:solidFill>
                <a:latin typeface="黑体" panose="02010609060101010101" pitchFamily="49" charset="-122"/>
                <a:ea typeface="黑体" panose="02010609060101010101" pitchFamily="49" charset="-122"/>
              </a:rPr>
              <a:t>常用齿轮材料及其力学性能</a:t>
            </a:r>
            <a:endParaRPr lang="zh-CN" altLang="en-US" sz="2400">
              <a:solidFill>
                <a:srgbClr val="CC3300"/>
              </a:solidFill>
              <a:latin typeface="黑体" panose="02010609060101010101" pitchFamily="49" charset="-122"/>
              <a:ea typeface="黑体" panose="02010609060101010101" pitchFamily="49" charset="-122"/>
            </a:endParaRPr>
          </a:p>
        </p:txBody>
      </p:sp>
      <p:graphicFrame>
        <p:nvGraphicFramePr>
          <p:cNvPr id="23" name="表格 22"/>
          <p:cNvGraphicFramePr>
            <a:graphicFrameLocks noGrp="1"/>
          </p:cNvGraphicFramePr>
          <p:nvPr>
            <p:custDataLst>
              <p:tags r:id="rId2"/>
            </p:custDataLst>
          </p:nvPr>
        </p:nvGraphicFramePr>
        <p:xfrm>
          <a:off x="522288" y="588963"/>
          <a:ext cx="8289925" cy="5956447"/>
        </p:xfrm>
        <a:graphic>
          <a:graphicData uri="http://schemas.openxmlformats.org/drawingml/2006/table">
            <a:tbl>
              <a:tblPr/>
              <a:tblGrid>
                <a:gridCol w="1190818"/>
                <a:gridCol w="2030498"/>
                <a:gridCol w="1328220"/>
                <a:gridCol w="1099217"/>
                <a:gridCol w="1862561"/>
                <a:gridCol w="778611"/>
              </a:tblGrid>
              <a:tr h="274320">
                <a:tc rowSpan="2">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材料牌号</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热处理方法</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endParaRPr lang="zh-CN"/>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rowSpan="2">
                  <a:txBody>
                    <a:bodyPr/>
                    <a:lstStyle/>
                    <a:p>
                      <a:endParaRPr lang="zh-CN"/>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gridSpan="2">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硬度</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417777">
                <a:tc vMerge="1">
                  <a:tcPr/>
                </a:tc>
                <a:tc vMerge="1">
                  <a:tcPr/>
                </a:tc>
                <a:tc vMerge="1">
                  <a:tcPr/>
                </a:tc>
                <a:tc vMerge="1">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齿芯硬度</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齿面硬度</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2">
                <a:tc rowSpan="3">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45</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正火</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580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290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162</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217HBW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vMerge="1">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调质</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650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360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217</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smtClean="0">
                          <a:solidFill>
                            <a:srgbClr val="000099"/>
                          </a:solidFill>
                          <a:latin typeface="Calibri" panose="020F0502020204030204"/>
                          <a:ea typeface="宋体" panose="02010600030101010101" pitchFamily="2" charset="-122"/>
                          <a:cs typeface="Times New Roman" panose="02020603050405020304"/>
                        </a:rPr>
                        <a:t>255HBW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326590">
                <a:tc vMerge="1">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调质后表面淬火</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c vMerge="1">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217</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255HBW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40</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50HRC</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2">
                <a:tc row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40Gr</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调质</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700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500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241</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286HBW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vMerge="1">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调质后表面淬火</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c vMerge="1">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241</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286HBW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48</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55HRC</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30CrMnSi</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调质</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1100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900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310</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360HBW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35SiMn</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调质</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750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450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217</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269HBW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20Cr</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表面渗碳后淬火</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650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400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300HBW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58</a:t>
                      </a:r>
                      <a:r>
                        <a:rPr lang="zh-CN" sz="1200" b="1" kern="100">
                          <a:solidFill>
                            <a:srgbClr val="000099"/>
                          </a:solidFill>
                          <a:latin typeface="Calibri" panose="020F0502020204030204"/>
                          <a:ea typeface="宋体" panose="02010600030101010101" pitchFamily="2" charset="-122"/>
                          <a:cs typeface="Times New Roman" panose="02020603050405020304"/>
                        </a:rPr>
                        <a:t>～</a:t>
                      </a:r>
                      <a:r>
                        <a:rPr lang="en-US" sz="1200" b="1" kern="100">
                          <a:solidFill>
                            <a:srgbClr val="000099"/>
                          </a:solidFill>
                          <a:latin typeface="Calibri" panose="020F0502020204030204"/>
                          <a:ea typeface="宋体" panose="02010600030101010101" pitchFamily="2" charset="-122"/>
                          <a:cs typeface="Times New Roman" panose="02020603050405020304"/>
                        </a:rPr>
                        <a:t>62HRC</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2">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20CrMnTi</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表面渗碳后淬火</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1100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850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300HBW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58</a:t>
                      </a:r>
                      <a:r>
                        <a:rPr lang="zh-CN" sz="1200" b="1" kern="100">
                          <a:solidFill>
                            <a:srgbClr val="000099"/>
                          </a:solidFill>
                          <a:latin typeface="Calibri" panose="020F0502020204030204"/>
                          <a:ea typeface="宋体" panose="02010600030101010101" pitchFamily="2" charset="-122"/>
                          <a:cs typeface="Times New Roman" panose="02020603050405020304"/>
                        </a:rPr>
                        <a:t>～</a:t>
                      </a:r>
                      <a:r>
                        <a:rPr lang="en-US" sz="1200" b="1" kern="100">
                          <a:solidFill>
                            <a:srgbClr val="000099"/>
                          </a:solidFill>
                          <a:latin typeface="Calibri" panose="020F0502020204030204"/>
                          <a:ea typeface="宋体" panose="02010600030101010101" pitchFamily="2" charset="-122"/>
                          <a:cs typeface="Times New Roman" panose="02020603050405020304"/>
                        </a:rPr>
                        <a:t>62HRC</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25">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38CrMoAlA</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调质后氮化（氮化层厚δ≥</a:t>
                      </a:r>
                      <a:r>
                        <a:rPr lang="en-US" sz="1200" b="1" kern="100">
                          <a:solidFill>
                            <a:srgbClr val="000099"/>
                          </a:solidFill>
                          <a:latin typeface="Calibri" panose="020F0502020204030204"/>
                          <a:ea typeface="宋体" panose="02010600030101010101" pitchFamily="2" charset="-122"/>
                          <a:cs typeface="Times New Roman" panose="02020603050405020304"/>
                        </a:rPr>
                        <a:t>0.3</a:t>
                      </a:r>
                      <a:r>
                        <a:rPr lang="zh-CN" sz="1200" b="1" kern="100">
                          <a:solidFill>
                            <a:srgbClr val="000099"/>
                          </a:solidFill>
                          <a:latin typeface="Calibri" panose="020F0502020204030204"/>
                          <a:ea typeface="宋体" panose="02010600030101010101" pitchFamily="2" charset="-122"/>
                          <a:cs typeface="Times New Roman" panose="02020603050405020304"/>
                        </a:rPr>
                        <a:t>～</a:t>
                      </a:r>
                      <a:r>
                        <a:rPr lang="en-US" sz="1200" b="1" kern="100">
                          <a:solidFill>
                            <a:srgbClr val="000099"/>
                          </a:solidFill>
                          <a:latin typeface="Calibri" panose="020F0502020204030204"/>
                          <a:ea typeface="宋体" panose="02010600030101010101" pitchFamily="2" charset="-122"/>
                          <a:cs typeface="Times New Roman" panose="02020603050405020304"/>
                        </a:rPr>
                        <a:t>0.5mm</a:t>
                      </a:r>
                      <a:r>
                        <a:rPr lang="zh-CN" sz="1200" b="1" kern="100">
                          <a:solidFill>
                            <a:srgbClr val="000099"/>
                          </a:solidFill>
                          <a:latin typeface="Calibri" panose="020F0502020204030204"/>
                          <a:ea typeface="宋体" panose="02010600030101010101" pitchFamily="2" charset="-122"/>
                          <a:cs typeface="Times New Roman" panose="02020603050405020304"/>
                        </a:rPr>
                        <a:t>）</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1000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850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255</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321HBW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850HV</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2">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ZG310-570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正火</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580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320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156</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217HBW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rowSpan="2">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ZG340-640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正火</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650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350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169</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229HBW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vMerge="1">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调质</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700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380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241</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269HBW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HT250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人工时效</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250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en-US" sz="1200" b="1" kern="100">
                        <a:solidFill>
                          <a:srgbClr val="000099"/>
                        </a:solidFill>
                        <a:latin typeface="宋体" panose="02010600030101010101" pitchFamily="2" charset="-122"/>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170</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241HBW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HT300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人工时效</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300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en-US" sz="1200" b="1" kern="100">
                        <a:solidFill>
                          <a:srgbClr val="000099"/>
                        </a:solidFill>
                        <a:latin typeface="宋体" panose="02010600030101010101" pitchFamily="2" charset="-122"/>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187</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255HBW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20">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HT350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人工时效</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350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en-US" sz="1200" b="1" kern="100">
                        <a:solidFill>
                          <a:srgbClr val="000099"/>
                        </a:solidFill>
                        <a:latin typeface="宋体" panose="02010600030101010101" pitchFamily="2" charset="-122"/>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197</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269HBW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QT500-5</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正火</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500</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en-US" sz="1200" b="1" kern="100">
                        <a:solidFill>
                          <a:srgbClr val="000099"/>
                        </a:solidFill>
                        <a:latin typeface="宋体" panose="02010600030101010101" pitchFamily="2" charset="-122"/>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147</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241HBW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74312">
                <a:tc>
                  <a:txBody>
                    <a:bodyPr/>
                    <a:lstStyle/>
                    <a:p>
                      <a:pPr algn="ctr">
                        <a:lnSpc>
                          <a:spcPct val="150000"/>
                        </a:lnSpc>
                        <a:spcAft>
                          <a:spcPts val="0"/>
                        </a:spcAft>
                      </a:pPr>
                      <a:r>
                        <a:rPr lang="en-US" sz="1200" b="1" kern="100">
                          <a:solidFill>
                            <a:srgbClr val="000099"/>
                          </a:solidFill>
                          <a:latin typeface="宋体" panose="02010600030101010101" pitchFamily="2" charset="-122"/>
                          <a:ea typeface="宋体" panose="02010600030101010101" pitchFamily="2" charset="-122"/>
                          <a:cs typeface="Times New Roman" panose="02020603050405020304"/>
                        </a:rPr>
                        <a:t>QT600-2</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99"/>
                          </a:solidFill>
                          <a:latin typeface="Calibri" panose="020F0502020204030204"/>
                          <a:ea typeface="宋体" panose="02010600030101010101" pitchFamily="2" charset="-122"/>
                          <a:cs typeface="Times New Roman" panose="02020603050405020304"/>
                        </a:rPr>
                        <a:t>正火</a:t>
                      </a:r>
                      <a:endParaRPr lang="zh-CN" sz="1200" b="1" kern="10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600</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en-US" sz="1200" b="1" kern="100">
                        <a:solidFill>
                          <a:srgbClr val="000099"/>
                        </a:solidFill>
                        <a:latin typeface="宋体" panose="02010600030101010101" pitchFamily="2" charset="-122"/>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200" b="1" kern="100" dirty="0">
                          <a:solidFill>
                            <a:srgbClr val="000099"/>
                          </a:solidFill>
                          <a:latin typeface="宋体" panose="02010600030101010101" pitchFamily="2" charset="-122"/>
                          <a:ea typeface="宋体" panose="02010600030101010101" pitchFamily="2" charset="-122"/>
                          <a:cs typeface="Times New Roman" panose="02020603050405020304"/>
                        </a:rPr>
                        <a:t>229</a:t>
                      </a:r>
                      <a:r>
                        <a:rPr lang="zh-CN" sz="1200" b="1" kern="100" dirty="0">
                          <a:solidFill>
                            <a:srgbClr val="000099"/>
                          </a:solidFill>
                          <a:latin typeface="Calibri" panose="020F0502020204030204"/>
                          <a:ea typeface="宋体" panose="02010600030101010101" pitchFamily="2" charset="-122"/>
                          <a:cs typeface="Times New Roman" panose="02020603050405020304"/>
                        </a:rPr>
                        <a:t>～</a:t>
                      </a:r>
                      <a:r>
                        <a:rPr lang="en-US" sz="1200" b="1" kern="100" dirty="0">
                          <a:solidFill>
                            <a:srgbClr val="000099"/>
                          </a:solidFill>
                          <a:latin typeface="Calibri" panose="020F0502020204030204"/>
                          <a:ea typeface="宋体" panose="02010600030101010101" pitchFamily="2" charset="-122"/>
                          <a:cs typeface="Times New Roman" panose="02020603050405020304"/>
                        </a:rPr>
                        <a:t>302HBW</a:t>
                      </a:r>
                      <a:endParaRPr lang="zh-CN" sz="1200" b="1" kern="100" dirty="0">
                        <a:solidFill>
                          <a:srgbClr val="000099"/>
                        </a:solidFill>
                        <a:latin typeface="Calibri" panose="020F0502020204030204"/>
                        <a:ea typeface="宋体" panose="02010600030101010101" pitchFamily="2" charset="-122"/>
                        <a:cs typeface="Times New Roman" panose="02020603050405020304"/>
                      </a:endParaRPr>
                    </a:p>
                  </a:txBody>
                  <a:tcPr marL="20081" marR="2008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a:tc>
              </a:tr>
            </a:tbl>
          </a:graphicData>
        </a:graphic>
      </p:graphicFrame>
      <p:sp>
        <p:nvSpPr>
          <p:cNvPr id="32900" name="Text Box 16"/>
          <p:cNvSpPr txBox="1">
            <a:spLocks noChangeArrowheads="1"/>
          </p:cNvSpPr>
          <p:nvPr/>
        </p:nvSpPr>
        <p:spPr bwMode="auto">
          <a:xfrm>
            <a:off x="7208838" y="6519863"/>
            <a:ext cx="5953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4" action="ppaction://hlinksldjump"/>
              </a:rPr>
              <a:t>返回</a:t>
            </a:r>
            <a:endParaRPr lang="zh-CN" altLang="en-US" sz="1600">
              <a:solidFill>
                <a:srgbClr val="CC3300"/>
              </a:solidFill>
              <a:latin typeface="Tahoma" panose="020B0604030504040204" pitchFamily="34" charset="0"/>
            </a:endParaRPr>
          </a:p>
        </p:txBody>
      </p:sp>
      <p:sp>
        <p:nvSpPr>
          <p:cNvPr id="32901" name="直接连接符 6"/>
          <p:cNvSpPr>
            <a:spLocks noChangeShapeType="1"/>
          </p:cNvSpPr>
          <p:nvPr/>
        </p:nvSpPr>
        <p:spPr bwMode="auto">
          <a:xfrm>
            <a:off x="0" y="4603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4526"/>
                                        </p:tgtEl>
                                        <p:attrNameLst>
                                          <p:attrName>style.visibility</p:attrName>
                                        </p:attrNameLst>
                                      </p:cBhvr>
                                      <p:to>
                                        <p:strVal val="visible"/>
                                      </p:to>
                                    </p:set>
                                    <p:anim calcmode="lin" valueType="num">
                                      <p:cBhvr additive="base">
                                        <p:cTn id="7" dur="500" fill="hold"/>
                                        <p:tgtEl>
                                          <p:spTgt spid="64526"/>
                                        </p:tgtEl>
                                        <p:attrNameLst>
                                          <p:attrName>ppt_x</p:attrName>
                                        </p:attrNameLst>
                                      </p:cBhvr>
                                      <p:tavLst>
                                        <p:tav tm="0">
                                          <p:val>
                                            <p:strVal val="0-#ppt_w/2"/>
                                          </p:val>
                                        </p:tav>
                                        <p:tav tm="100000">
                                          <p:val>
                                            <p:strVal val="#ppt_x"/>
                                          </p:val>
                                        </p:tav>
                                      </p:tavLst>
                                    </p:anim>
                                    <p:anim calcmode="lin" valueType="num">
                                      <p:cBhvr additive="base">
                                        <p:cTn id="8" dur="500" fill="hold"/>
                                        <p:tgtEl>
                                          <p:spTgt spid="645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4540"/>
                                        </p:tgtEl>
                                        <p:attrNameLst>
                                          <p:attrName>style.visibility</p:attrName>
                                        </p:attrNameLst>
                                      </p:cBhvr>
                                      <p:to>
                                        <p:strVal val="visible"/>
                                      </p:to>
                                    </p:set>
                                    <p:anim calcmode="lin" valueType="num">
                                      <p:cBhvr additive="base">
                                        <p:cTn id="13" dur="500" fill="hold"/>
                                        <p:tgtEl>
                                          <p:spTgt spid="64540"/>
                                        </p:tgtEl>
                                        <p:attrNameLst>
                                          <p:attrName>ppt_x</p:attrName>
                                        </p:attrNameLst>
                                      </p:cBhvr>
                                      <p:tavLst>
                                        <p:tav tm="0">
                                          <p:val>
                                            <p:strVal val="0-#ppt_w/2"/>
                                          </p:val>
                                        </p:tav>
                                        <p:tav tm="100000">
                                          <p:val>
                                            <p:strVal val="#ppt_x"/>
                                          </p:val>
                                        </p:tav>
                                      </p:tavLst>
                                    </p:anim>
                                    <p:anim calcmode="lin" valueType="num">
                                      <p:cBhvr additive="base">
                                        <p:cTn id="14" dur="500" fill="hold"/>
                                        <p:tgtEl>
                                          <p:spTgt spid="645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0"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ea typeface="黑体" panose="02010609060101010101" pitchFamily="49" charset="-122"/>
              </a:rPr>
              <a:t>使用系数</a:t>
            </a:r>
            <a:r>
              <a:rPr lang="zh-CN" altLang="en-US" sz="800" smtClean="0">
                <a:solidFill>
                  <a:schemeClr val="bg1"/>
                </a:solidFill>
                <a:ea typeface="黑体" panose="02010609060101010101" pitchFamily="49" charset="-122"/>
              </a:rPr>
              <a:t> </a:t>
            </a:r>
            <a:endParaRPr lang="zh-CN" altLang="en-US" sz="800" smtClean="0">
              <a:solidFill>
                <a:schemeClr val="bg1"/>
              </a:solidFill>
              <a:ea typeface="黑体" panose="02010609060101010101" pitchFamily="49" charset="-122"/>
            </a:endParaRPr>
          </a:p>
        </p:txBody>
      </p:sp>
      <p:sp>
        <p:nvSpPr>
          <p:cNvPr id="33795" name="Rectangle 1"/>
          <p:cNvSpPr>
            <a:spLocks noChangeArrowheads="1"/>
          </p:cNvSpPr>
          <p:nvPr/>
        </p:nvSpPr>
        <p:spPr bwMode="auto">
          <a:xfrm>
            <a:off x="4178300" y="0"/>
            <a:ext cx="1504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altLang="en-US" b="1">
                <a:solidFill>
                  <a:srgbClr val="CC3300"/>
                </a:solidFill>
              </a:rPr>
              <a:t>使用系数</a:t>
            </a:r>
            <a:r>
              <a:rPr lang="en-US" altLang="zh-CN" b="1" i="1">
                <a:solidFill>
                  <a:srgbClr val="CC3300"/>
                </a:solidFill>
              </a:rPr>
              <a:t>K</a:t>
            </a:r>
            <a:r>
              <a:rPr lang="en-US" altLang="zh-CN" b="1" baseline="-25000">
                <a:solidFill>
                  <a:srgbClr val="CC3300"/>
                </a:solidFill>
              </a:rPr>
              <a:t>A</a:t>
            </a:r>
            <a:endParaRPr lang="zh-CN" altLang="en-US">
              <a:solidFill>
                <a:srgbClr val="CC3300"/>
              </a:solidFill>
            </a:endParaRPr>
          </a:p>
        </p:txBody>
      </p:sp>
      <p:sp>
        <p:nvSpPr>
          <p:cNvPr id="33796" name="Text Box 16"/>
          <p:cNvSpPr txBox="1">
            <a:spLocks noChangeArrowheads="1"/>
          </p:cNvSpPr>
          <p:nvPr/>
        </p:nvSpPr>
        <p:spPr bwMode="auto">
          <a:xfrm>
            <a:off x="8328025" y="65198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graphicFrame>
        <p:nvGraphicFramePr>
          <p:cNvPr id="8" name="表格 7"/>
          <p:cNvGraphicFramePr>
            <a:graphicFrameLocks noGrp="1"/>
          </p:cNvGraphicFramePr>
          <p:nvPr/>
        </p:nvGraphicFramePr>
        <p:xfrm>
          <a:off x="392113" y="554038"/>
          <a:ext cx="8483600" cy="5931123"/>
        </p:xfrm>
        <a:graphic>
          <a:graphicData uri="http://schemas.openxmlformats.org/drawingml/2006/table">
            <a:tbl>
              <a:tblPr/>
              <a:tblGrid>
                <a:gridCol w="1352934"/>
                <a:gridCol w="2221936"/>
                <a:gridCol w="1352934"/>
                <a:gridCol w="1248864"/>
                <a:gridCol w="1200298"/>
                <a:gridCol w="1106634"/>
              </a:tblGrid>
              <a:tr h="233302">
                <a:tc rowSpan="3">
                  <a:txBody>
                    <a:bodyPr/>
                    <a:lstStyle/>
                    <a:p>
                      <a:pPr algn="ctr">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工作机</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p>
                      <a:pPr algn="ctr">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工作特性</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ctr">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工作机</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原动机工作特性</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r>
              <a:tr h="263602">
                <a:tc vMerge="1">
                  <a:tcPr/>
                </a:tc>
                <a:tc vMerge="1">
                  <a:tcPr/>
                </a:tc>
                <a:tc>
                  <a:txBody>
                    <a:bodyPr/>
                    <a:lstStyle/>
                    <a:p>
                      <a:pPr algn="ctr">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均匀平稳</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轻微振动</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中等振动</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强烈振动</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3837">
                <a:tc vMerge="1">
                  <a:tcPr/>
                </a:tc>
                <a:tc vMerge="1">
                  <a:tcPr/>
                </a:tc>
                <a:tc>
                  <a:txBody>
                    <a:bodyPr/>
                    <a:lstStyle/>
                    <a:p>
                      <a:pPr algn="just">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电动机、均匀运转的蒸汽机和燃气轮机</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蒸汽机、燃气轮机、液压装置</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多缸内燃机</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单缸内燃机</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26740">
                <a:tc>
                  <a:txBody>
                    <a:bodyPr/>
                    <a:lstStyle/>
                    <a:p>
                      <a:pPr algn="ctr">
                        <a:lnSpc>
                          <a:spcPct val="150000"/>
                        </a:lnSpc>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均匀平稳</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发电机、均匀传送的带式输送机、螺旋输送机、包装机、通风机、轻型离心机、离心泵、均匀密度材料搅拌机、轻型升降机等</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1.00</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1.10</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1.25</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a:solidFill>
                            <a:srgbClr val="000099"/>
                          </a:solidFill>
                          <a:latin typeface="宋体" panose="02010600030101010101" pitchFamily="2" charset="-122"/>
                          <a:ea typeface="宋体" panose="02010600030101010101" pitchFamily="2" charset="-122"/>
                          <a:cs typeface="Times New Roman" panose="02020603050405020304"/>
                        </a:rPr>
                        <a:t>1.50</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26740">
                <a:tc>
                  <a:txBody>
                    <a:bodyPr/>
                    <a:lstStyle/>
                    <a:p>
                      <a:pPr algn="ctr">
                        <a:lnSpc>
                          <a:spcPct val="150000"/>
                        </a:lnSpc>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轻微振动</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不均匀传送的带式输送机、重型升降机、工业与矿用风机、重型离心机、机床主驱动装置、变密度材料搅拌机、多缸活塞泵等</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1.25</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1.35</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1.50</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a:solidFill>
                            <a:srgbClr val="000099"/>
                          </a:solidFill>
                          <a:latin typeface="宋体" panose="02010600030101010101" pitchFamily="2" charset="-122"/>
                          <a:ea typeface="宋体" panose="02010600030101010101" pitchFamily="2" charset="-122"/>
                          <a:cs typeface="Times New Roman" panose="02020603050405020304"/>
                        </a:rPr>
                        <a:t>1.75</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81392">
                <a:tc>
                  <a:txBody>
                    <a:bodyPr/>
                    <a:lstStyle/>
                    <a:p>
                      <a:pPr algn="ctr">
                        <a:lnSpc>
                          <a:spcPct val="150000"/>
                        </a:lnSpc>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中等振动</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橡胶挤压机、连续工作的橡胶和塑料混料机、轻型球磨机、木工机械、提升装置、单缸活塞泵等</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a:solidFill>
                            <a:srgbClr val="000099"/>
                          </a:solidFill>
                          <a:latin typeface="宋体" panose="02010600030101010101" pitchFamily="2" charset="-122"/>
                          <a:ea typeface="宋体" panose="02010600030101010101" pitchFamily="2" charset="-122"/>
                          <a:cs typeface="Times New Roman" panose="02020603050405020304"/>
                        </a:rPr>
                        <a:t>1.50</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1.60</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1.75</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2.00</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45286">
                <a:tc>
                  <a:txBody>
                    <a:bodyPr/>
                    <a:lstStyle/>
                    <a:p>
                      <a:pPr algn="ctr">
                        <a:lnSpc>
                          <a:spcPct val="150000"/>
                        </a:lnSpc>
                        <a:spcAft>
                          <a:spcPts val="0"/>
                        </a:spcAft>
                      </a:pPr>
                      <a:r>
                        <a:rPr lang="zh-CN" sz="1400" b="1" kern="100" dirty="0">
                          <a:solidFill>
                            <a:srgbClr val="000099"/>
                          </a:solidFill>
                          <a:latin typeface="Calibri" panose="020F0502020204030204"/>
                          <a:ea typeface="宋体" panose="02010600030101010101" pitchFamily="2" charset="-122"/>
                          <a:cs typeface="Times New Roman" panose="02020603050405020304"/>
                        </a:rPr>
                        <a:t>强烈振动</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b="1" kern="100">
                          <a:solidFill>
                            <a:srgbClr val="000099"/>
                          </a:solidFill>
                          <a:latin typeface="Calibri" panose="020F0502020204030204"/>
                          <a:ea typeface="宋体" panose="02010600030101010101" pitchFamily="2" charset="-122"/>
                          <a:cs typeface="Times New Roman" panose="02020603050405020304"/>
                        </a:rPr>
                        <a:t>挖掘机、重型球磨机、橡胶揉合机、破碎机、重型给水泵、旋转式钻探装置、压砖机、带材冷轧机、压坯机、轮碾机等</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a:solidFill>
                            <a:srgbClr val="000099"/>
                          </a:solidFill>
                          <a:latin typeface="宋体" panose="02010600030101010101" pitchFamily="2" charset="-122"/>
                          <a:ea typeface="宋体" panose="02010600030101010101" pitchFamily="2" charset="-122"/>
                          <a:cs typeface="Times New Roman" panose="02020603050405020304"/>
                        </a:rPr>
                        <a:t>1.75</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a:solidFill>
                            <a:srgbClr val="000099"/>
                          </a:solidFill>
                          <a:latin typeface="宋体" panose="02010600030101010101" pitchFamily="2" charset="-122"/>
                          <a:ea typeface="宋体" panose="02010600030101010101" pitchFamily="2" charset="-122"/>
                          <a:cs typeface="Times New Roman" panose="02020603050405020304"/>
                        </a:rPr>
                        <a:t>1.85</a:t>
                      </a:r>
                      <a:endParaRPr lang="zh-CN" sz="1400" b="1" kern="10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2.00</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99"/>
                          </a:solidFill>
                          <a:latin typeface="宋体" panose="02010600030101010101" pitchFamily="2" charset="-122"/>
                          <a:ea typeface="宋体" panose="02010600030101010101" pitchFamily="2" charset="-122"/>
                          <a:cs typeface="Times New Roman" panose="02020603050405020304"/>
                        </a:rPr>
                        <a:t>2.25</a:t>
                      </a:r>
                      <a:endParaRPr lang="zh-CN" sz="1400" b="1" kern="100" dirty="0">
                        <a:solidFill>
                          <a:srgbClr val="000099"/>
                        </a:solidFill>
                        <a:latin typeface="Calibri" panose="020F0502020204030204"/>
                        <a:ea typeface="宋体" panose="02010600030101010101" pitchFamily="2" charset="-122"/>
                        <a:cs typeface="Times New Roman" panose="02020603050405020304"/>
                      </a:endParaRPr>
                    </a:p>
                  </a:txBody>
                  <a:tcPr marL="47146" marR="471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33846" name="直接连接符 6"/>
          <p:cNvSpPr>
            <a:spLocks noChangeShapeType="1"/>
          </p:cNvSpPr>
          <p:nvPr/>
        </p:nvSpPr>
        <p:spPr bwMode="auto">
          <a:xfrm>
            <a:off x="0" y="446088"/>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5800090" y="69215"/>
            <a:ext cx="2329180" cy="398780"/>
          </a:xfrm>
          <a:prstGeom prst="rect">
            <a:avLst/>
          </a:prstGeom>
          <a:noFill/>
        </p:spPr>
        <p:txBody>
          <a:bodyPr wrap="square" rtlCol="0">
            <a:spAutoFit/>
          </a:bodyPr>
          <a:p>
            <a:r>
              <a:rPr lang="zh-CN" altLang="en-US">
                <a:solidFill>
                  <a:srgbClr val="0000FF"/>
                </a:solidFill>
              </a:rPr>
              <a:t>教材</a:t>
            </a:r>
            <a:r>
              <a:rPr lang="en-US" altLang="zh-CN">
                <a:solidFill>
                  <a:srgbClr val="0000FF"/>
                </a:solidFill>
              </a:rPr>
              <a:t>P216</a:t>
            </a:r>
            <a:endParaRPr lang="en-US" altLang="zh-CN">
              <a:solidFill>
                <a:srgbClr val="0000FF"/>
              </a:solidFill>
            </a:endParaRPr>
          </a:p>
        </p:txBody>
      </p:sp>
      <p:cxnSp>
        <p:nvCxnSpPr>
          <p:cNvPr id="3" name="直接连接符 2"/>
          <p:cNvCxnSpPr/>
          <p:nvPr/>
        </p:nvCxnSpPr>
        <p:spPr>
          <a:xfrm>
            <a:off x="3588385" y="4999990"/>
            <a:ext cx="309245" cy="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4" name="直接连接符 3"/>
          <p:cNvCxnSpPr/>
          <p:nvPr/>
        </p:nvCxnSpPr>
        <p:spPr>
          <a:xfrm>
            <a:off x="1829435" y="5227955"/>
            <a:ext cx="309245" cy="0"/>
          </a:xfrm>
          <a:prstGeom prst="line">
            <a:avLst/>
          </a:prstGeom>
          <a:solidFill>
            <a:schemeClr val="accent1"/>
          </a:solidFill>
          <a:ln w="19050" cap="flat" cmpd="sng" algn="ctr">
            <a:solidFill>
              <a:srgbClr val="FF0000"/>
            </a:solidFill>
            <a:prstDash val="solid"/>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ea typeface="黑体" panose="02010609060101010101" pitchFamily="49" charset="-122"/>
              </a:rPr>
              <a:t>动载系数</a:t>
            </a:r>
            <a:r>
              <a:rPr lang="zh-CN" altLang="en-US" sz="800" smtClean="0">
                <a:solidFill>
                  <a:schemeClr val="bg1"/>
                </a:solidFill>
                <a:ea typeface="黑体" panose="02010609060101010101" pitchFamily="49" charset="-122"/>
              </a:rPr>
              <a:t> </a:t>
            </a:r>
            <a:endParaRPr lang="zh-CN" altLang="en-US" sz="800" smtClean="0">
              <a:solidFill>
                <a:schemeClr val="bg1"/>
              </a:solidFill>
              <a:ea typeface="黑体" panose="02010609060101010101" pitchFamily="49" charset="-122"/>
            </a:endParaRPr>
          </a:p>
        </p:txBody>
      </p:sp>
      <p:sp>
        <p:nvSpPr>
          <p:cNvPr id="64540" name="Text Box 28"/>
          <p:cNvSpPr txBox="1">
            <a:spLocks noChangeArrowheads="1"/>
          </p:cNvSpPr>
          <p:nvPr/>
        </p:nvSpPr>
        <p:spPr bwMode="auto">
          <a:xfrm>
            <a:off x="6169025" y="6375400"/>
            <a:ext cx="1160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t>　　</a:t>
            </a:r>
            <a:endParaRPr lang="zh-CN" altLang="en-US"/>
          </a:p>
        </p:txBody>
      </p:sp>
      <p:sp>
        <p:nvSpPr>
          <p:cNvPr id="34820" name="Rectangle 1"/>
          <p:cNvSpPr>
            <a:spLocks noChangeArrowheads="1"/>
          </p:cNvSpPr>
          <p:nvPr/>
        </p:nvSpPr>
        <p:spPr bwMode="auto">
          <a:xfrm>
            <a:off x="4089400" y="5807075"/>
            <a:ext cx="1203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altLang="en-US" sz="1600" b="1">
                <a:solidFill>
                  <a:srgbClr val="000099"/>
                </a:solidFill>
                <a:latin typeface="Calibri" panose="020F0502020204030204" pitchFamily="34" charset="0"/>
                <a:cs typeface="Times New Roman" panose="02020603050405020304" pitchFamily="18" charset="0"/>
              </a:rPr>
              <a:t>动载</a:t>
            </a:r>
            <a:r>
              <a:rPr lang="zh-CN" altLang="en-US" sz="1600" b="1">
                <a:solidFill>
                  <a:srgbClr val="000099"/>
                </a:solidFill>
              </a:rPr>
              <a:t>系数</a:t>
            </a:r>
            <a:r>
              <a:rPr lang="en-US" altLang="zh-CN" sz="1600" b="1" i="1">
                <a:solidFill>
                  <a:srgbClr val="000099"/>
                </a:solidFill>
              </a:rPr>
              <a:t>K</a:t>
            </a:r>
            <a:r>
              <a:rPr lang="en-US" altLang="zh-CN" sz="1600" b="1" i="1" baseline="-25000">
                <a:solidFill>
                  <a:srgbClr val="000099"/>
                </a:solidFill>
              </a:rPr>
              <a:t>v</a:t>
            </a:r>
            <a:endParaRPr lang="zh-CN" altLang="en-US" sz="1600">
              <a:solidFill>
                <a:srgbClr val="000099"/>
              </a:solidFill>
            </a:endParaRPr>
          </a:p>
        </p:txBody>
      </p:sp>
      <p:sp>
        <p:nvSpPr>
          <p:cNvPr id="34821" name="Text Box 16"/>
          <p:cNvSpPr txBox="1">
            <a:spLocks noChangeArrowheads="1"/>
          </p:cNvSpPr>
          <p:nvPr/>
        </p:nvSpPr>
        <p:spPr bwMode="auto">
          <a:xfrm>
            <a:off x="8359775" y="6519863"/>
            <a:ext cx="593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sp>
        <p:nvSpPr>
          <p:cNvPr id="34822" name="Rectangle 1"/>
          <p:cNvSpPr>
            <a:spLocks noChangeArrowheads="1"/>
          </p:cNvSpPr>
          <p:nvPr/>
        </p:nvSpPr>
        <p:spPr bwMode="auto">
          <a:xfrm>
            <a:off x="0" y="883444"/>
            <a:ext cx="87661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ct val="150000"/>
              </a:lnSpc>
            </a:pPr>
            <a:r>
              <a:rPr lang="zh-CN" altLang="en-US" b="1" dirty="0">
                <a:solidFill>
                  <a:srgbClr val="0000CC"/>
                </a:solidFill>
                <a:latin typeface="Calibri" panose="020F0502020204030204" pitchFamily="34" charset="0"/>
                <a:cs typeface="Times New Roman" panose="02020603050405020304" pitchFamily="18" charset="0"/>
              </a:rPr>
              <a:t>   </a:t>
            </a:r>
            <a:r>
              <a:rPr lang="zh-CN" altLang="en-US" dirty="0">
                <a:solidFill>
                  <a:srgbClr val="000099"/>
                </a:solidFill>
                <a:latin typeface="华文中宋" panose="02010600040101010101" pitchFamily="2" charset="-122"/>
                <a:cs typeface="Times New Roman" panose="02020603050405020304" pitchFamily="18" charset="0"/>
              </a:rPr>
              <a:t>动载系数</a:t>
            </a:r>
            <a:r>
              <a:rPr lang="en-US" altLang="zh-CN" i="1" dirty="0" err="1">
                <a:solidFill>
                  <a:srgbClr val="000099"/>
                </a:solidFill>
                <a:latin typeface="华文中宋" panose="02010600040101010101" pitchFamily="2" charset="-122"/>
                <a:cs typeface="Times New Roman" panose="02020603050405020304" pitchFamily="18" charset="0"/>
              </a:rPr>
              <a:t>K</a:t>
            </a:r>
            <a:r>
              <a:rPr lang="en-US" altLang="zh-CN" baseline="-25000" dirty="0" err="1">
                <a:solidFill>
                  <a:srgbClr val="000099"/>
                </a:solidFill>
                <a:latin typeface="华文中宋" panose="02010600040101010101" pitchFamily="2" charset="-122"/>
                <a:cs typeface="Times New Roman" panose="02020603050405020304" pitchFamily="18" charset="0"/>
              </a:rPr>
              <a:t>v</a:t>
            </a:r>
            <a:r>
              <a:rPr lang="zh-CN" altLang="en-US" dirty="0">
                <a:solidFill>
                  <a:srgbClr val="000099"/>
                </a:solidFill>
                <a:latin typeface="华文中宋" panose="02010600040101010101" pitchFamily="2" charset="-122"/>
                <a:cs typeface="Times New Roman" panose="02020603050405020304" pitchFamily="18" charset="0"/>
              </a:rPr>
              <a:t>是考虑齿轮制造误差和变形而产生的内部附加动载荷影响的系数。影响动载系数</a:t>
            </a:r>
            <a:r>
              <a:rPr lang="en-US" altLang="zh-CN" i="1" dirty="0" err="1">
                <a:solidFill>
                  <a:srgbClr val="000099"/>
                </a:solidFill>
                <a:latin typeface="华文中宋" panose="02010600040101010101" pitchFamily="2" charset="-122"/>
                <a:cs typeface="Times New Roman" panose="02020603050405020304" pitchFamily="18" charset="0"/>
              </a:rPr>
              <a:t>K</a:t>
            </a:r>
            <a:r>
              <a:rPr lang="en-US" altLang="zh-CN" baseline="-25000" dirty="0" err="1">
                <a:solidFill>
                  <a:srgbClr val="000099"/>
                </a:solidFill>
                <a:latin typeface="华文中宋" panose="02010600040101010101" pitchFamily="2" charset="-122"/>
                <a:cs typeface="Times New Roman" panose="02020603050405020304" pitchFamily="18" charset="0"/>
              </a:rPr>
              <a:t>v</a:t>
            </a:r>
            <a:r>
              <a:rPr lang="zh-CN" altLang="en-US" dirty="0">
                <a:solidFill>
                  <a:srgbClr val="000099"/>
                </a:solidFill>
                <a:latin typeface="华文中宋" panose="02010600040101010101" pitchFamily="2" charset="-122"/>
                <a:cs typeface="Times New Roman" panose="02020603050405020304" pitchFamily="18" charset="0"/>
              </a:rPr>
              <a:t>的主要因素有：基节和齿形误差、啮合刚度及其在啮合过程中的变化等，主要却决于齿轮</a:t>
            </a:r>
            <a:r>
              <a:rPr lang="zh-CN" altLang="en-US" dirty="0">
                <a:solidFill>
                  <a:srgbClr val="000099"/>
                </a:solidFill>
                <a:latin typeface="华文中宋" panose="02010600040101010101" pitchFamily="2" charset="-122"/>
                <a:cs typeface="Times New Roman" panose="02020603050405020304" pitchFamily="18" charset="0"/>
              </a:rPr>
              <a:t>制造精度和圆周</a:t>
            </a:r>
            <a:r>
              <a:rPr lang="zh-CN" altLang="en-US" dirty="0">
                <a:solidFill>
                  <a:srgbClr val="000099"/>
                </a:solidFill>
                <a:latin typeface="华文中宋" panose="02010600040101010101" pitchFamily="2" charset="-122"/>
                <a:cs typeface="Times New Roman" panose="02020603050405020304" pitchFamily="18" charset="0"/>
              </a:rPr>
              <a:t>速度。</a:t>
            </a:r>
            <a:endParaRPr lang="zh-CN" altLang="en-US" dirty="0">
              <a:solidFill>
                <a:srgbClr val="000099"/>
              </a:solidFill>
              <a:latin typeface="华文中宋" panose="02010600040101010101" pitchFamily="2" charset="-122"/>
              <a:cs typeface="Times New Roman" panose="02020603050405020304" pitchFamily="18" charset="0"/>
            </a:endParaRPr>
          </a:p>
        </p:txBody>
      </p:sp>
      <p:sp>
        <p:nvSpPr>
          <p:cNvPr id="34823" name="Rectangle 1"/>
          <p:cNvSpPr>
            <a:spLocks noChangeArrowheads="1"/>
          </p:cNvSpPr>
          <p:nvPr/>
        </p:nvSpPr>
        <p:spPr bwMode="auto">
          <a:xfrm>
            <a:off x="3916363" y="174625"/>
            <a:ext cx="176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altLang="en-US" sz="2400" b="1">
                <a:solidFill>
                  <a:srgbClr val="CC3300"/>
                </a:solidFill>
              </a:rPr>
              <a:t>动载系数</a:t>
            </a:r>
            <a:r>
              <a:rPr lang="en-US" altLang="zh-CN" sz="2400" b="1" i="1">
                <a:solidFill>
                  <a:srgbClr val="CC3300"/>
                </a:solidFill>
              </a:rPr>
              <a:t>K</a:t>
            </a:r>
            <a:r>
              <a:rPr lang="en-US" altLang="zh-CN" sz="2400" b="1" baseline="-25000">
                <a:solidFill>
                  <a:srgbClr val="CC3300"/>
                </a:solidFill>
              </a:rPr>
              <a:t>V</a:t>
            </a:r>
            <a:endParaRPr lang="zh-CN" altLang="en-US" sz="2400">
              <a:solidFill>
                <a:srgbClr val="CC3300"/>
              </a:solidFill>
            </a:endParaRPr>
          </a:p>
        </p:txBody>
      </p:sp>
      <p:pic>
        <p:nvPicPr>
          <p:cNvPr id="34824"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1074" y="2428649"/>
            <a:ext cx="5343525"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7051675" y="2936875"/>
            <a:ext cx="1714500" cy="1322070"/>
          </a:xfrm>
          <a:prstGeom prst="rect">
            <a:avLst/>
          </a:prstGeom>
          <a:noFill/>
        </p:spPr>
        <p:txBody>
          <a:bodyPr wrap="square" rtlCol="0">
            <a:spAutoFit/>
          </a:bodyPr>
          <a:p>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C</a:t>
            </a:r>
            <a:r>
              <a:rPr lang="zh-CN" altLang="en-US">
                <a:latin typeface="黑体" panose="02010609060101010101" pitchFamily="49" charset="-122"/>
                <a:ea typeface="黑体" panose="02010609060101010101" pitchFamily="49" charset="-122"/>
                <a:cs typeface="黑体" panose="02010609060101010101" pitchFamily="49" charset="-122"/>
              </a:rPr>
              <a:t>为齿轮传动的精度系数，与齿轮</a:t>
            </a:r>
            <a:r>
              <a:rPr lang="zh-CN" altLang="en-US">
                <a:latin typeface="黑体" panose="02010609060101010101" pitchFamily="49" charset="-122"/>
                <a:ea typeface="黑体" panose="02010609060101010101" pitchFamily="49" charset="-122"/>
                <a:cs typeface="黑体" panose="02010609060101010101" pitchFamily="49" charset="-122"/>
              </a:rPr>
              <a:t>制造精度有关</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40"/>
                                        </p:tgtEl>
                                        <p:attrNameLst>
                                          <p:attrName>style.visibility</p:attrName>
                                        </p:attrNameLst>
                                      </p:cBhvr>
                                      <p:to>
                                        <p:strVal val="visible"/>
                                      </p:to>
                                    </p:set>
                                    <p:anim calcmode="lin" valueType="num">
                                      <p:cBhvr additive="base">
                                        <p:cTn id="7" dur="500" fill="hold"/>
                                        <p:tgtEl>
                                          <p:spTgt spid="64540"/>
                                        </p:tgtEl>
                                        <p:attrNameLst>
                                          <p:attrName>ppt_x</p:attrName>
                                        </p:attrNameLst>
                                      </p:cBhvr>
                                      <p:tavLst>
                                        <p:tav tm="0">
                                          <p:val>
                                            <p:strVal val="0-#ppt_w/2"/>
                                          </p:val>
                                        </p:tav>
                                        <p:tav tm="100000">
                                          <p:val>
                                            <p:strVal val="#ppt_x"/>
                                          </p:val>
                                        </p:tav>
                                      </p:tavLst>
                                    </p:anim>
                                    <p:anim calcmode="lin" valueType="num">
                                      <p:cBhvr additive="base">
                                        <p:cTn id="8" dur="500" fill="hold"/>
                                        <p:tgtEl>
                                          <p:spTgt spid="645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0"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齿间载荷分配系数</a:t>
            </a:r>
            <a:r>
              <a:rPr lang="zh-CN" altLang="en-US" sz="800" smtClean="0">
                <a:solidFill>
                  <a:schemeClr val="bg1"/>
                </a:solidFill>
                <a:ea typeface="黑体" panose="02010609060101010101" pitchFamily="49" charset="-122"/>
              </a:rPr>
              <a:t> </a:t>
            </a:r>
            <a:endParaRPr lang="zh-CN" altLang="en-US" sz="800" smtClean="0">
              <a:solidFill>
                <a:schemeClr val="bg1"/>
              </a:solidFill>
              <a:ea typeface="黑体" panose="02010609060101010101" pitchFamily="49" charset="-122"/>
            </a:endParaRPr>
          </a:p>
        </p:txBody>
      </p:sp>
      <p:sp>
        <p:nvSpPr>
          <p:cNvPr id="64540" name="Text Box 28"/>
          <p:cNvSpPr txBox="1">
            <a:spLocks noChangeArrowheads="1"/>
          </p:cNvSpPr>
          <p:nvPr/>
        </p:nvSpPr>
        <p:spPr bwMode="auto">
          <a:xfrm>
            <a:off x="6169025" y="6375400"/>
            <a:ext cx="1160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t>　　</a:t>
            </a:r>
            <a:endParaRPr lang="zh-CN" altLang="en-US"/>
          </a:p>
        </p:txBody>
      </p:sp>
      <p:sp>
        <p:nvSpPr>
          <p:cNvPr id="35844" name="Text Box 16"/>
          <p:cNvSpPr txBox="1">
            <a:spLocks noChangeArrowheads="1"/>
          </p:cNvSpPr>
          <p:nvPr/>
        </p:nvSpPr>
        <p:spPr bwMode="auto">
          <a:xfrm>
            <a:off x="8328025" y="65198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graphicFrame>
        <p:nvGraphicFramePr>
          <p:cNvPr id="10" name="表格 9"/>
          <p:cNvGraphicFramePr>
            <a:graphicFrameLocks noGrp="1"/>
          </p:cNvGraphicFramePr>
          <p:nvPr>
            <p:custDataLst>
              <p:tags r:id="rId2"/>
            </p:custDataLst>
          </p:nvPr>
        </p:nvGraphicFramePr>
        <p:xfrm>
          <a:off x="856933" y="2659063"/>
          <a:ext cx="7078520" cy="4047490"/>
        </p:xfrm>
        <a:graphic>
          <a:graphicData uri="http://schemas.openxmlformats.org/drawingml/2006/table">
            <a:tbl>
              <a:tblPr/>
              <a:tblGrid>
                <a:gridCol w="587462"/>
                <a:gridCol w="588453"/>
                <a:gridCol w="523069"/>
                <a:gridCol w="523069"/>
                <a:gridCol w="523070"/>
                <a:gridCol w="523069"/>
                <a:gridCol w="523069"/>
                <a:gridCol w="529590"/>
                <a:gridCol w="546100"/>
                <a:gridCol w="509270"/>
                <a:gridCol w="509454"/>
                <a:gridCol w="547370"/>
                <a:gridCol w="645475"/>
              </a:tblGrid>
              <a:tr h="400050">
                <a:tc rowSpan="3" gridSpan="2">
                  <a:txBody>
                    <a:bodyPr/>
                    <a:lstStyle/>
                    <a:p>
                      <a:pPr marL="0" marR="0" lvl="0" indent="0" algn="ctr" defTabSz="914400" rtl="0" eaLnBrk="1" fontAlgn="base" latinLnBrk="0" hangingPunct="1">
                        <a:lnSpc>
                          <a:spcPct val="150000"/>
                        </a:lnSpc>
                        <a:spcBef>
                          <a:spcPct val="0"/>
                        </a:spcBef>
                        <a:spcAft>
                          <a:spcPct val="0"/>
                        </a:spcAft>
                        <a:buClrTx/>
                        <a:buSzTx/>
                        <a:buFontTx/>
                        <a:buNone/>
                      </a:pPr>
                      <a:r>
                        <a:rPr lang="zh-CN" altLang="zh-CN" sz="1600" b="1" i="0" u="none" baseline="0">
                          <a:solidFill>
                            <a:srgbClr val="000099"/>
                          </a:solidFill>
                          <a:latin typeface="Calibri" panose="020F0502020204030204" pitchFamily="34" charset="0"/>
                          <a:ea typeface="宋体" panose="02010600030101010101" pitchFamily="2" charset="-122"/>
                        </a:rPr>
                        <a:t>齿轮精度等级</a:t>
                      </a:r>
                      <a:endPar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hMerge="1">
                  <a:tcPr/>
                </a:tc>
                <a:tc rowSpan="3">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rPr>
                        <a:t>6</a:t>
                      </a:r>
                      <a:r>
                        <a:rPr kumimoji="0" lang="zh-CN" altLang="en-US" sz="16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rPr>
                        <a:t>级以上</a:t>
                      </a:r>
                      <a:endParaRPr kumimoji="0" lang="zh-CN" altLang="en-US" sz="16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9">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i="0" u="none" baseline="0">
                          <a:solidFill>
                            <a:srgbClr val="000099"/>
                          </a:solidFill>
                          <a:latin typeface="宋体" panose="02010600030101010101" pitchFamily="2" charset="-122"/>
                          <a:ea typeface="宋体" panose="02010600030101010101" pitchFamily="2" charset="-122"/>
                        </a:rPr>
                        <a:t>7</a:t>
                      </a:r>
                      <a:r>
                        <a:rPr lang="zh-CN" altLang="en-US" sz="1600" b="1" i="0" u="none" baseline="0">
                          <a:solidFill>
                            <a:srgbClr val="000099"/>
                          </a:solidFill>
                          <a:latin typeface="宋体" panose="02010600030101010101" pitchFamily="2" charset="-122"/>
                          <a:ea typeface="宋体" panose="02010600030101010101" pitchFamily="2" charset="-122"/>
                        </a:rPr>
                        <a:t>级</a:t>
                      </a:r>
                      <a:endParaRPr kumimoji="0" lang="zh-CN" altLang="en-US" sz="16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rowSpan="3">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en-US" altLang="zh-CN" sz="16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50000"/>
                        </a:lnSpc>
                        <a:spcBef>
                          <a:spcPct val="0"/>
                        </a:spcBef>
                        <a:spcAft>
                          <a:spcPct val="0"/>
                        </a:spcAft>
                        <a:buClrTx/>
                        <a:buSzTx/>
                        <a:buFontTx/>
                        <a:buNone/>
                      </a:pPr>
                      <a:r>
                        <a:rPr lang="en-US" altLang="zh-CN" sz="1600" b="1" i="0" u="none" baseline="0">
                          <a:solidFill>
                            <a:srgbClr val="000099"/>
                          </a:solidFill>
                          <a:latin typeface="宋体" panose="02010600030101010101" pitchFamily="2" charset="-122"/>
                          <a:ea typeface="宋体" panose="02010600030101010101" pitchFamily="2" charset="-122"/>
                        </a:rPr>
                        <a:t>8</a:t>
                      </a:r>
                      <a:r>
                        <a:rPr lang="zh-CN" altLang="zh-CN" sz="1600" b="1" i="0" u="none" baseline="0">
                          <a:solidFill>
                            <a:srgbClr val="000099"/>
                          </a:solidFill>
                          <a:latin typeface="Calibri" panose="020F0502020204030204" pitchFamily="34" charset="0"/>
                          <a:ea typeface="宋体" panose="02010600030101010101" pitchFamily="2" charset="-122"/>
                        </a:rPr>
                        <a:t>级或更低</a:t>
                      </a:r>
                      <a:endPar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60">
                <a:tc vMerge="1" gridSpan="2">
                  <a:tcPr marL="68580" marR="68580"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hMerge="1">
                  <a:tcPr/>
                </a:tc>
                <a:tc v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9">
                  <a:txBody>
                    <a:bodyPr/>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端面重合度</a:t>
                      </a:r>
                      <a:r>
                        <a:rPr kumimoji="0" lang="zh-CN" altLang="en-US" sz="16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cs typeface="Arial" panose="020B0604020202020204" pitchFamily="34" charset="0"/>
                        </a:rPr>
                        <a:t>ε</a:t>
                      </a:r>
                      <a:r>
                        <a:rPr kumimoji="0" lang="zh-CN" altLang="en-US" sz="1600" b="1" i="0" u="none" strike="noStrike" cap="none" normalizeH="0" baseline="-25000" smtClean="0">
                          <a:ln>
                            <a:noFill/>
                          </a:ln>
                          <a:solidFill>
                            <a:srgbClr val="000099"/>
                          </a:solidFill>
                          <a:effectLst/>
                          <a:latin typeface="Arial" panose="020B0604020202020204" pitchFamily="34" charset="0"/>
                          <a:ea typeface="宋体" panose="02010600030101010101" pitchFamily="2" charset="-122"/>
                          <a:cs typeface="Arial" panose="020B0604020202020204" pitchFamily="34" charset="0"/>
                        </a:rPr>
                        <a:t>α</a:t>
                      </a:r>
                      <a:endParaRPr kumimoji="0" lang="zh-CN" altLang="en-US" sz="1600" b="1" i="0" u="none" strike="noStrike" cap="none" normalizeH="0" baseline="-25000" smtClean="0">
                        <a:ln>
                          <a:noFill/>
                        </a:ln>
                        <a:solidFill>
                          <a:srgbClr val="000099"/>
                        </a:solidFill>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60">
                <a:tc vMerge="1" gridSpan="2">
                  <a:tcPr marL="68580" marR="68580"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hMerge="1">
                  <a:tcPr/>
                </a:tc>
                <a:tc vMerge="1">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sym typeface="+mn-ea"/>
                        </a:rPr>
                        <a:t>1.2</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sym typeface="+mn-ea"/>
                        </a:rPr>
                        <a:t>1.3</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sym typeface="+mn-ea"/>
                        </a:rPr>
                        <a:t>1.4</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sym typeface="+mn-ea"/>
                        </a:rPr>
                        <a:t>1.5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sym typeface="+mn-ea"/>
                        </a:rPr>
                        <a:t>1.6</a:t>
                      </a:r>
                      <a:endParaRPr kumimoji="0" lang="en-US" altLang="zh-CN" sz="16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sym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sym typeface="+mn-ea"/>
                        </a:rPr>
                        <a:t>1.7</a:t>
                      </a:r>
                      <a:endParaRPr kumimoji="0" lang="en-US" altLang="zh-CN" sz="16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sym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sym typeface="+mn-ea"/>
                        </a:rPr>
                        <a:t>1.8</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lang="en-US" altLang="zh-CN" sz="1600" b="1"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sym typeface="+mn-ea"/>
                        </a:rPr>
                        <a:t>1.9</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2.0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0900">
                <a:tc rowSpan="2">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接触强度</a:t>
                      </a:r>
                      <a:endPar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vert="eaVert"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直齿轮</a:t>
                      </a:r>
                      <a:endPar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1.00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1.04</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1.06</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1.08</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1.13</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1.18</a:t>
                      </a:r>
                      <a:endParaRPr kumimoji="0" lang="zh-CN"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algn="ctr" defTabSz="914400" rtl="0" eaLnBrk="1" fontAlgn="base" latinLnBrk="0" hangingPunct="1">
                        <a:lnSpc>
                          <a:spcPct val="150000"/>
                        </a:lnSpc>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1.22</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1.25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zh-CN"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63600">
                <a:tc vMerge="1">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斜齿轮</a:t>
                      </a:r>
                      <a:endParaRPr kumimoji="0" 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1.00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1.20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1.25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1.30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1.35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1.40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algn="ctr" defTabSz="914400" rtl="0" eaLnBrk="1" fontAlgn="base" latinLnBrk="0" hangingPunct="1">
                        <a:lnSpc>
                          <a:spcPct val="150000"/>
                        </a:lnSpc>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1.45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1.50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69950">
                <a:tc gridSpan="2">
                  <a:txBody>
                    <a:bodyPr/>
                    <a:lstStyle/>
                    <a:p>
                      <a:pPr marL="71755" marR="0" lvl="0" indent="0" algn="ctr" defTabSz="914400" rtl="0" eaLnBrk="1" fontAlgn="base" latinLnBrk="0" hangingPunct="1">
                        <a:lnSpc>
                          <a:spcPct val="150000"/>
                        </a:lnSpc>
                        <a:spcBef>
                          <a:spcPct val="0"/>
                        </a:spcBef>
                        <a:spcAft>
                          <a:spcPct val="0"/>
                        </a:spcAft>
                        <a:buClrTx/>
                        <a:buSzTx/>
                        <a:buFontTx/>
                        <a:buNone/>
                      </a:pPr>
                      <a:endParaRPr kumimoji="0" lang="en-US" altLang="zh-CN" sz="1600" b="1"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68580" marR="68580" marT="0" marB="0" vert="eaVert"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1.00</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1.08</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1.11</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1.15</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1.18</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algn="ctr" defTabSz="914400" rtl="0" eaLnBrk="1" fontAlgn="base" latinLnBrk="0" hangingPunct="1">
                        <a:lnSpc>
                          <a:spcPct val="150000"/>
                        </a:lnSpc>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1.22</a:t>
                      </a:r>
                      <a:endPar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algn="ctr" defTabSz="914400" rtl="0" eaLnBrk="1" fontAlgn="base" latinLnBrk="0" hangingPunct="1">
                        <a:lnSpc>
                          <a:spcPct val="150000"/>
                        </a:lnSpc>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1.25</a:t>
                      </a:r>
                      <a:endPar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endParaRPr>
                    </a:p>
                  </a:txBody>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1.28</a:t>
                      </a:r>
                      <a:endParaRPr kumimoji="0" lang="en-US"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1.3</a:t>
                      </a:r>
                      <a:r>
                        <a:rPr kumimoji="0" lang="en-US" sz="16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50000"/>
                        </a:lnSpc>
                        <a:spcBef>
                          <a:spcPct val="0"/>
                        </a:spcBef>
                        <a:spcAft>
                          <a:spcPct val="0"/>
                        </a:spcAft>
                        <a:buClrTx/>
                        <a:buSzTx/>
                        <a:buFontTx/>
                        <a:buNone/>
                      </a:pPr>
                      <a:r>
                        <a:rPr kumimoji="0" lang="en-US" altLang="en-US"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rPr>
                        <a:t>1.33</a:t>
                      </a:r>
                      <a:endParaRPr kumimoji="0" lang="en-US" altLang="en-US"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zh-CN" altLang="zh-CN" sz="1600" b="1" i="0" u="none" strike="noStrike" cap="none" normalizeH="0" baseline="0" smtClean="0">
                        <a:ln>
                          <a:noFill/>
                        </a:ln>
                        <a:solidFill>
                          <a:srgbClr val="000099"/>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5894" name="Rectangle 1"/>
          <p:cNvSpPr>
            <a:spLocks noChangeArrowheads="1"/>
          </p:cNvSpPr>
          <p:nvPr/>
        </p:nvSpPr>
        <p:spPr bwMode="auto">
          <a:xfrm>
            <a:off x="1592263" y="2254727"/>
            <a:ext cx="6132512"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sz="1600" b="1" dirty="0" smtClean="0">
                <a:solidFill>
                  <a:srgbClr val="000099"/>
                </a:solidFill>
                <a:latin typeface="Calibri" panose="020F0502020204030204" pitchFamily="34" charset="0"/>
                <a:cs typeface="Times New Roman" panose="02020603050405020304" pitchFamily="18" charset="0"/>
              </a:rPr>
              <a:t>表</a:t>
            </a:r>
            <a:r>
              <a:rPr lang="en-US" altLang="zh-CN" sz="1600" b="1" dirty="0" smtClean="0">
                <a:solidFill>
                  <a:srgbClr val="000099"/>
                </a:solidFill>
                <a:latin typeface="Calibri" panose="020F0502020204030204" pitchFamily="34" charset="0"/>
                <a:cs typeface="Times New Roman" panose="02020603050405020304" pitchFamily="18" charset="0"/>
              </a:rPr>
              <a:t>3.4</a:t>
            </a:r>
            <a:r>
              <a:rPr lang="en-US" altLang="zh-CN" sz="1600" b="1" dirty="0" smtClean="0">
                <a:solidFill>
                  <a:srgbClr val="000099"/>
                </a:solidFill>
                <a:latin typeface="Calibri" panose="020F0502020204030204" pitchFamily="34" charset="0"/>
                <a:cs typeface="Times New Roman" panose="02020603050405020304" pitchFamily="18" charset="0"/>
              </a:rPr>
              <a:t>-4</a:t>
            </a:r>
            <a:r>
              <a:rPr lang="zh-CN" altLang="en-US" sz="1600" b="1" dirty="0">
                <a:solidFill>
                  <a:srgbClr val="000099"/>
                </a:solidFill>
                <a:latin typeface="Calibri" panose="020F0502020204030204" pitchFamily="34" charset="0"/>
                <a:cs typeface="Times New Roman" panose="02020603050405020304" pitchFamily="18" charset="0"/>
              </a:rPr>
              <a:t>齿间载荷分配系数</a:t>
            </a:r>
            <a:r>
              <a:rPr lang="en-US" altLang="zh-CN" sz="1600" b="1" i="1" dirty="0">
                <a:solidFill>
                  <a:srgbClr val="000099"/>
                </a:solidFill>
                <a:latin typeface="Calibri" panose="020F0502020204030204" pitchFamily="34" charset="0"/>
                <a:cs typeface="Times New Roman" panose="02020603050405020304" pitchFamily="18" charset="0"/>
              </a:rPr>
              <a:t>K</a:t>
            </a:r>
            <a:r>
              <a:rPr lang="en-US" altLang="zh-CN" sz="1600" baseline="-30000" dirty="0">
                <a:solidFill>
                  <a:srgbClr val="000099"/>
                </a:solidFill>
                <a:latin typeface="Calibri" panose="020F0502020204030204" pitchFamily="34" charset="0"/>
                <a:cs typeface="Times New Roman" panose="02020603050405020304" pitchFamily="18" charset="0"/>
              </a:rPr>
              <a:t>α</a:t>
            </a:r>
            <a:endParaRPr lang="en-US" altLang="zh-CN" sz="1600" dirty="0">
              <a:solidFill>
                <a:srgbClr val="000099"/>
              </a:solidFill>
            </a:endParaRPr>
          </a:p>
        </p:txBody>
      </p:sp>
      <p:sp>
        <p:nvSpPr>
          <p:cNvPr id="35895" name="Rectangle 1"/>
          <p:cNvSpPr>
            <a:spLocks noChangeArrowheads="1"/>
          </p:cNvSpPr>
          <p:nvPr/>
        </p:nvSpPr>
        <p:spPr bwMode="auto">
          <a:xfrm>
            <a:off x="930275" y="188913"/>
            <a:ext cx="74406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altLang="en-US" sz="2400">
                <a:solidFill>
                  <a:srgbClr val="CC3300"/>
                </a:solidFill>
                <a:latin typeface="Calibri" panose="020F0502020204030204" pitchFamily="34" charset="0"/>
                <a:cs typeface="Times New Roman" panose="02020603050405020304" pitchFamily="18" charset="0"/>
              </a:rPr>
              <a:t>齿间载荷分配系数</a:t>
            </a:r>
            <a:endParaRPr lang="en-US" altLang="zh-CN" sz="2400">
              <a:solidFill>
                <a:srgbClr val="CC3300"/>
              </a:solidFill>
            </a:endParaRPr>
          </a:p>
        </p:txBody>
      </p:sp>
      <p:sp>
        <p:nvSpPr>
          <p:cNvPr id="3589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a:spLocks noRot="1" noChangeAspect="1" noMove="1" noResize="1" noEditPoints="1" noAdjustHandles="1" noChangeArrowheads="1" noChangeShapeType="1" noTextEdit="1"/>
          </p:cNvSpPr>
          <p:nvPr/>
        </p:nvSpPr>
        <p:spPr>
          <a:xfrm>
            <a:off x="327648" y="765046"/>
            <a:ext cx="8488704" cy="1477328"/>
          </a:xfrm>
          <a:prstGeom prst="rect">
            <a:avLst/>
          </a:prstGeom>
          <a:blipFill>
            <a:blip r:embed="rId3"/>
            <a:stretch>
              <a:fillRect l="-790" b="-2469"/>
            </a:stretch>
          </a:blipFill>
        </p:spPr>
        <p:txBody>
          <a:bodyPr/>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4" name="文本框 3"/>
          <p:cNvSpPr txBox="1"/>
          <p:nvPr/>
        </p:nvSpPr>
        <p:spPr>
          <a:xfrm>
            <a:off x="761365" y="6094095"/>
            <a:ext cx="1156970" cy="337185"/>
          </a:xfrm>
          <a:prstGeom prst="rect">
            <a:avLst/>
          </a:prstGeom>
          <a:noFill/>
        </p:spPr>
        <p:txBody>
          <a:bodyPr wrap="square" rtlCol="0">
            <a:spAutoFit/>
          </a:bodyPr>
          <a:p>
            <a:r>
              <a:rPr lang="zh-CN" altLang="en-US" sz="1600"/>
              <a:t>弯曲强度</a:t>
            </a:r>
            <a:endParaRPr lang="zh-CN" altLang="en-US" sz="1600"/>
          </a:p>
        </p:txBody>
      </p:sp>
      <p:graphicFrame>
        <p:nvGraphicFramePr>
          <p:cNvPr id="5" name="对象 4">
            <a:hlinkClick r:id="" action="ppaction://ole?verb="/>
          </p:cNvPr>
          <p:cNvGraphicFramePr>
            <a:graphicFrameLocks noChangeAspect="1"/>
          </p:cNvGraphicFramePr>
          <p:nvPr/>
        </p:nvGraphicFramePr>
        <p:xfrm>
          <a:off x="7392035" y="4347845"/>
          <a:ext cx="543560" cy="827405"/>
        </p:xfrm>
        <a:graphic>
          <a:graphicData uri="http://schemas.openxmlformats.org/presentationml/2006/ole">
            <mc:AlternateContent xmlns:mc="http://schemas.openxmlformats.org/markup-compatibility/2006">
              <mc:Choice xmlns:v="urn:schemas-microsoft-com:vml" Requires="v">
                <p:oleObj spid="_x0000_s1025" name="" r:id="rId4" imgW="292100" imgH="444500" progId="Equation.KSEE3">
                  <p:embed/>
                </p:oleObj>
              </mc:Choice>
              <mc:Fallback>
                <p:oleObj name="" r:id="rId4" imgW="292100" imgH="444500" progId="Equation.KSEE3">
                  <p:embed/>
                  <p:pic>
                    <p:nvPicPr>
                      <p:cNvPr id="0" name="图片 1024"/>
                      <p:cNvPicPr/>
                      <p:nvPr/>
                    </p:nvPicPr>
                    <p:blipFill>
                      <a:blip r:embed="rId5"/>
                      <a:stretch>
                        <a:fillRect/>
                      </a:stretch>
                    </p:blipFill>
                    <p:spPr>
                      <a:xfrm>
                        <a:off x="7392035" y="4347845"/>
                        <a:ext cx="543560" cy="82740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7452995" y="5908040"/>
          <a:ext cx="421640" cy="737235"/>
        </p:xfrm>
        <a:graphic>
          <a:graphicData uri="http://schemas.openxmlformats.org/presentationml/2006/ole">
            <mc:AlternateContent xmlns:mc="http://schemas.openxmlformats.org/markup-compatibility/2006">
              <mc:Choice xmlns:v="urn:schemas-microsoft-com:vml" Requires="v">
                <p:oleObj spid="_x0000_s2" name="" r:id="rId6" imgW="254000" imgH="444500" progId="Equation.KSEE3">
                  <p:embed/>
                </p:oleObj>
              </mc:Choice>
              <mc:Fallback>
                <p:oleObj name="" r:id="rId6" imgW="254000" imgH="444500" progId="Equation.KSEE3">
                  <p:embed/>
                  <p:pic>
                    <p:nvPicPr>
                      <p:cNvPr id="0" name="图片 1024"/>
                      <p:cNvPicPr/>
                      <p:nvPr/>
                    </p:nvPicPr>
                    <p:blipFill>
                      <a:blip r:embed="rId7"/>
                      <a:stretch>
                        <a:fillRect/>
                      </a:stretch>
                    </p:blipFill>
                    <p:spPr>
                      <a:xfrm>
                        <a:off x="7452995" y="5908040"/>
                        <a:ext cx="421640" cy="73723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40"/>
                                        </p:tgtEl>
                                        <p:attrNameLst>
                                          <p:attrName>style.visibility</p:attrName>
                                        </p:attrNameLst>
                                      </p:cBhvr>
                                      <p:to>
                                        <p:strVal val="visible"/>
                                      </p:to>
                                    </p:set>
                                    <p:anim calcmode="lin" valueType="num">
                                      <p:cBhvr additive="base">
                                        <p:cTn id="7" dur="500" fill="hold"/>
                                        <p:tgtEl>
                                          <p:spTgt spid="64540"/>
                                        </p:tgtEl>
                                        <p:attrNameLst>
                                          <p:attrName>ppt_x</p:attrName>
                                        </p:attrNameLst>
                                      </p:cBhvr>
                                      <p:tavLst>
                                        <p:tav tm="0">
                                          <p:val>
                                            <p:strVal val="0-#ppt_w/2"/>
                                          </p:val>
                                        </p:tav>
                                        <p:tav tm="100000">
                                          <p:val>
                                            <p:strVal val="#ppt_x"/>
                                          </p:val>
                                        </p:tav>
                                      </p:tavLst>
                                    </p:anim>
                                    <p:anim calcmode="lin" valueType="num">
                                      <p:cBhvr additive="base">
                                        <p:cTn id="8" dur="500" fill="hold"/>
                                        <p:tgtEl>
                                          <p:spTgt spid="645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0"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20487" name="Rectangle 27"/>
          <p:cNvSpPr/>
          <p:nvPr/>
        </p:nvSpPr>
        <p:spPr>
          <a:xfrm>
            <a:off x="1214438" y="2032000"/>
            <a:ext cx="13506450"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0489"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0490" name="Rectangle 23"/>
          <p:cNvSpPr/>
          <p:nvPr/>
        </p:nvSpPr>
        <p:spPr>
          <a:xfrm>
            <a:off x="0" y="48704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0491"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0493" name="文本框 1"/>
          <p:cNvSpPr txBox="1"/>
          <p:nvPr/>
        </p:nvSpPr>
        <p:spPr>
          <a:xfrm>
            <a:off x="5435600" y="5792788"/>
            <a:ext cx="2708275" cy="339725"/>
          </a:xfrm>
          <a:prstGeom prst="rect">
            <a:avLst/>
          </a:prstGeom>
          <a:noFill/>
          <a:ln w="9525">
            <a:noFill/>
          </a:ln>
        </p:spPr>
        <p:txBody>
          <a:bodyPr wrap="none">
            <a:spAutoFit/>
          </a:bodyPr>
          <a:p>
            <a:r>
              <a:rPr lang="zh-CN" altLang="en-US" sz="1600" dirty="0">
                <a:latin typeface="Times New Roman" panose="02020603050405020304" pitchFamily="18" charset="0"/>
              </a:rPr>
              <a:t>图</a:t>
            </a:r>
            <a:r>
              <a:rPr lang="en-US" altLang="zh-CN" sz="1600" dirty="0">
                <a:latin typeface="Times New Roman" panose="02020603050405020304" pitchFamily="18" charset="0"/>
              </a:rPr>
              <a:t>3.4-10 </a:t>
            </a:r>
            <a:r>
              <a:rPr lang="zh-CN" altLang="zh-CN" sz="1600" dirty="0">
                <a:latin typeface="Times New Roman" panose="02020603050405020304" pitchFamily="18" charset="0"/>
              </a:rPr>
              <a:t>轮齿上的载荷集中</a:t>
            </a:r>
            <a:endParaRPr lang="zh-CN" altLang="en-US" sz="1600" dirty="0">
              <a:latin typeface="Times New Roman" panose="02020603050405020304" pitchFamily="18" charset="0"/>
            </a:endParaRPr>
          </a:p>
        </p:txBody>
      </p:sp>
      <p:sp>
        <p:nvSpPr>
          <p:cNvPr id="20494" name="文本框 10"/>
          <p:cNvSpPr txBox="1"/>
          <p:nvPr/>
        </p:nvSpPr>
        <p:spPr>
          <a:xfrm>
            <a:off x="500380" y="1005523"/>
            <a:ext cx="8143875" cy="960437"/>
          </a:xfrm>
          <a:prstGeom prst="rect">
            <a:avLst/>
          </a:prstGeom>
          <a:noFill/>
          <a:ln w="9525">
            <a:noFill/>
          </a:ln>
        </p:spPr>
        <p:txBody>
          <a:bodyPr>
            <a:spAutoFit/>
          </a:bodyPr>
          <a:p>
            <a:pPr>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由于齿轮、轴、轴承和箱体的变形以及齿轮本身不可避免的制造误差，将引起载荷沿齿宽接触线上分布不均。</a:t>
            </a:r>
            <a:endParaRPr lang="zh-CN" altLang="zh-CN" dirty="0">
              <a:latin typeface="Times New Roman" panose="02020603050405020304" pitchFamily="18" charset="0"/>
            </a:endParaRPr>
          </a:p>
        </p:txBody>
      </p:sp>
      <p:pic>
        <p:nvPicPr>
          <p:cNvPr id="20495" name="图片 20"/>
          <p:cNvPicPr>
            <a:picLocks noChangeAspect="1"/>
          </p:cNvPicPr>
          <p:nvPr/>
        </p:nvPicPr>
        <p:blipFill>
          <a:blip r:embed="rId1"/>
          <a:stretch>
            <a:fillRect/>
          </a:stretch>
        </p:blipFill>
        <p:spPr>
          <a:xfrm>
            <a:off x="3738563" y="2206625"/>
            <a:ext cx="4889500" cy="3527425"/>
          </a:xfrm>
          <a:prstGeom prst="rect">
            <a:avLst/>
          </a:prstGeom>
          <a:noFill/>
          <a:ln w="9525">
            <a:noFill/>
          </a:ln>
        </p:spPr>
      </p:pic>
      <p:sp>
        <p:nvSpPr>
          <p:cNvPr id="12" name="文本框 11"/>
          <p:cNvSpPr txBox="1">
            <a:spLocks noRot="1" noChangeAspect="1" noMove="1" noResize="1" noEditPoints="1" noAdjustHandles="1" noChangeArrowheads="1" noChangeShapeType="1" noTextEdit="1"/>
          </p:cNvSpPr>
          <p:nvPr/>
        </p:nvSpPr>
        <p:spPr>
          <a:xfrm>
            <a:off x="372903" y="2078146"/>
            <a:ext cx="3248646" cy="1518301"/>
          </a:xfrm>
          <a:prstGeom prst="rect">
            <a:avLst/>
          </a:prstGeom>
          <a:blipFill>
            <a:blip r:embed="rId2"/>
            <a:stretch>
              <a:fillRect l="-1876" r="-1501" b="-1606"/>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9" name="文本框 28"/>
          <p:cNvSpPr txBox="1">
            <a:spLocks noRot="1" noChangeAspect="1" noMove="1" noResize="1" noEditPoints="1" noAdjustHandles="1" noChangeArrowheads="1" noChangeShapeType="1" noTextEdit="1"/>
          </p:cNvSpPr>
          <p:nvPr/>
        </p:nvSpPr>
        <p:spPr>
          <a:xfrm>
            <a:off x="372934" y="4865477"/>
            <a:ext cx="3364992" cy="1364412"/>
          </a:xfrm>
          <a:prstGeom prst="rect">
            <a:avLst/>
          </a:prstGeom>
          <a:blipFill>
            <a:blip r:embed="rId3"/>
            <a:stretch>
              <a:fillRect l="-1812"/>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20498" name="图片 1"/>
          <p:cNvPicPr>
            <a:picLocks noChangeAspect="1"/>
          </p:cNvPicPr>
          <p:nvPr/>
        </p:nvPicPr>
        <p:blipFill>
          <a:blip r:embed="rId4"/>
          <a:stretch>
            <a:fillRect/>
          </a:stretch>
        </p:blipFill>
        <p:spPr>
          <a:xfrm>
            <a:off x="1012508" y="3771265"/>
            <a:ext cx="2084387" cy="720725"/>
          </a:xfrm>
          <a:prstGeom prst="rect">
            <a:avLst/>
          </a:prstGeom>
          <a:noFill/>
          <a:ln w="9525">
            <a:noFill/>
          </a:ln>
        </p:spPr>
      </p:pic>
      <p:sp>
        <p:nvSpPr>
          <p:cNvPr id="35895" name="Rectangle 1"/>
          <p:cNvSpPr>
            <a:spLocks noChangeArrowheads="1"/>
          </p:cNvSpPr>
          <p:nvPr/>
        </p:nvSpPr>
        <p:spPr bwMode="auto">
          <a:xfrm>
            <a:off x="990600" y="257017"/>
            <a:ext cx="74406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altLang="en-US" sz="2400">
                <a:solidFill>
                  <a:srgbClr val="CC3300"/>
                </a:solidFill>
                <a:latin typeface="Calibri" panose="020F0502020204030204" pitchFamily="34" charset="0"/>
                <a:cs typeface="Times New Roman" panose="02020603050405020304" pitchFamily="18" charset="0"/>
              </a:rPr>
              <a:t>齿向载荷分配系数</a:t>
            </a:r>
            <a:endParaRPr lang="en-US" altLang="zh-CN" sz="2400">
              <a:solidFill>
                <a:srgbClr val="CC3300"/>
              </a:solidFill>
            </a:endParaRPr>
          </a:p>
        </p:txBody>
      </p:sp>
      <p:sp>
        <p:nvSpPr>
          <p:cNvPr id="3589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5734050" y="895350"/>
            <a:ext cx="1771650" cy="228600"/>
          </a:xfrm>
          <a:noFill/>
          <a:ln>
            <a:noFill/>
          </a:ln>
        </p:spPr>
        <p:txBody>
          <a:bodyPr/>
          <a:p>
            <a:pPr eaLnBrk="1" hangingPunct="1"/>
            <a:r>
              <a:rPr lang="zh-CN" altLang="en-US" sz="800" dirty="0">
                <a:solidFill>
                  <a:schemeClr val="bg1"/>
                </a:solidFill>
                <a:ea typeface="黑体" panose="02010609060101010101" pitchFamily="49" charset="-122"/>
              </a:rPr>
              <a:t>直齿圆柱齿轮强度计算</a:t>
            </a:r>
            <a:r>
              <a:rPr lang="en-US" altLang="zh-CN" sz="800" dirty="0">
                <a:solidFill>
                  <a:schemeClr val="bg1"/>
                </a:solidFill>
                <a:ea typeface="黑体" panose="02010609060101010101" pitchFamily="49" charset="-122"/>
              </a:rPr>
              <a:t>1</a:t>
            </a:r>
            <a:endParaRPr lang="en-US" altLang="zh-CN" sz="800" dirty="0">
              <a:solidFill>
                <a:schemeClr val="bg1"/>
              </a:solidFill>
              <a:ea typeface="黑体" panose="02010609060101010101" pitchFamily="49" charset="-122"/>
            </a:endParaRPr>
          </a:p>
        </p:txBody>
      </p:sp>
      <p:sp>
        <p:nvSpPr>
          <p:cNvPr id="59429" name="Text Box 37"/>
          <p:cNvSpPr txBox="1"/>
          <p:nvPr/>
        </p:nvSpPr>
        <p:spPr>
          <a:xfrm>
            <a:off x="6813550" y="6102350"/>
            <a:ext cx="342900" cy="396875"/>
          </a:xfrm>
          <a:prstGeom prst="rect">
            <a:avLst/>
          </a:prstGeom>
          <a:noFill/>
          <a:ln w="9525">
            <a:noFill/>
          </a:ln>
        </p:spPr>
        <p:txBody>
          <a:bodyPr wrap="none">
            <a:spAutoFit/>
          </a:bodyPr>
          <a:p>
            <a:pPr eaLnBrk="1" hangingPunct="1"/>
            <a:r>
              <a:rPr lang="en-US" altLang="zh-CN" dirty="0">
                <a:solidFill>
                  <a:schemeClr val="tx1"/>
                </a:solidFill>
                <a:latin typeface="Tahoma" panose="020B0604030504040204" pitchFamily="34" charset="0"/>
                <a:ea typeface="宋体" panose="02010600030101010101" pitchFamily="2" charset="-122"/>
              </a:rPr>
              <a:t>  </a:t>
            </a:r>
            <a:endParaRPr lang="en-US" altLang="zh-CN" dirty="0">
              <a:solidFill>
                <a:schemeClr val="tx1"/>
              </a:solidFill>
              <a:latin typeface="Tahoma" panose="020B0604030504040204" pitchFamily="34" charset="0"/>
              <a:ea typeface="宋体" panose="02010600030101010101" pitchFamily="2" charset="-122"/>
            </a:endParaRPr>
          </a:p>
        </p:txBody>
      </p:sp>
      <p:sp>
        <p:nvSpPr>
          <p:cNvPr id="21511" name="Rectangle 27"/>
          <p:cNvSpPr/>
          <p:nvPr/>
        </p:nvSpPr>
        <p:spPr>
          <a:xfrm>
            <a:off x="1214438" y="2032000"/>
            <a:ext cx="13506450"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1513" name="Rectangle 22"/>
          <p:cNvSpPr/>
          <p:nvPr/>
        </p:nvSpPr>
        <p:spPr>
          <a:xfrm>
            <a:off x="0" y="0"/>
            <a:ext cx="9144000" cy="0"/>
          </a:xfrm>
          <a:prstGeom prst="rect">
            <a:avLst/>
          </a:prstGeom>
          <a:noFill/>
          <a:ln w="9525">
            <a:noFill/>
          </a:ln>
        </p:spPr>
        <p:txBody>
          <a:bodyPr wrap="none" anchor="ctr">
            <a:spAutoFit/>
          </a:bodyPr>
          <a:p>
            <a:endParaRPr lang="zh-CN" altLang="en-US" dirty="0">
              <a:latin typeface="Times New Roman" panose="02020603050405020304" pitchFamily="18" charset="0"/>
            </a:endParaRPr>
          </a:p>
        </p:txBody>
      </p:sp>
      <p:sp>
        <p:nvSpPr>
          <p:cNvPr id="21514" name="Rectangle 23"/>
          <p:cNvSpPr/>
          <p:nvPr/>
        </p:nvSpPr>
        <p:spPr>
          <a:xfrm>
            <a:off x="0" y="441325"/>
            <a:ext cx="9144000" cy="0"/>
          </a:xfrm>
          <a:prstGeom prst="rect">
            <a:avLst/>
          </a:prstGeom>
          <a:noFill/>
          <a:ln w="9525">
            <a:noFill/>
          </a:ln>
        </p:spPr>
        <p:txBody>
          <a:bodyPr wrap="none" anchor="ctr">
            <a:spAutoFit/>
          </a:bodyPr>
          <a:p>
            <a:r>
              <a:rPr lang="en-US" altLang="zh-CN" sz="1200" dirty="0">
                <a:latin typeface="宋体" panose="02010600030101010101" pitchFamily="2" charset="-122"/>
                <a:cs typeface="Times New Roman" panose="02020603050405020304" pitchFamily="18" charset="0"/>
              </a:rPr>
              <a:t> </a:t>
            </a:r>
            <a:r>
              <a:rPr lang="en-US" altLang="zh-CN" sz="600" dirty="0">
                <a:latin typeface="Times New Roman" panose="02020603050405020304" pitchFamily="18" charset="0"/>
              </a:rPr>
              <a:t> </a:t>
            </a:r>
            <a:endParaRPr lang="en-US" altLang="zh-CN" dirty="0">
              <a:latin typeface="Times New Roman" panose="02020603050405020304" pitchFamily="18" charset="0"/>
            </a:endParaRPr>
          </a:p>
        </p:txBody>
      </p:sp>
      <p:sp>
        <p:nvSpPr>
          <p:cNvPr id="21515" name="Rectangle 29"/>
          <p:cNvSpPr/>
          <p:nvPr/>
        </p:nvSpPr>
        <p:spPr>
          <a:xfrm>
            <a:off x="5737225" y="7286625"/>
            <a:ext cx="10774363" cy="46038"/>
          </a:xfrm>
          <a:prstGeom prst="rect">
            <a:avLst/>
          </a:prstGeom>
          <a:noFill/>
          <a:ln w="9525">
            <a:noFill/>
          </a:ln>
        </p:spPr>
        <p:txBody>
          <a:bodyPr anchor="ctr">
            <a:spAutoFit/>
          </a:bodyPr>
          <a:p>
            <a:endParaRPr lang="zh-CN" altLang="en-US" dirty="0">
              <a:latin typeface="Times New Roman" panose="02020603050405020304" pitchFamily="18" charset="0"/>
            </a:endParaRPr>
          </a:p>
        </p:txBody>
      </p:sp>
      <p:sp>
        <p:nvSpPr>
          <p:cNvPr id="2" name="文本框 1"/>
          <p:cNvSpPr txBox="1">
            <a:spLocks noRot="1" noChangeAspect="1" noMove="1" noResize="1" noEditPoints="1" noAdjustHandles="1" noChangeArrowheads="1" noChangeShapeType="1" noTextEdit="1"/>
          </p:cNvSpPr>
          <p:nvPr/>
        </p:nvSpPr>
        <p:spPr>
          <a:xfrm>
            <a:off x="3471237" y="4187676"/>
            <a:ext cx="2426946" cy="360482"/>
          </a:xfrm>
          <a:prstGeom prst="rect">
            <a:avLst/>
          </a:prstGeom>
          <a:blipFill>
            <a:blip r:embed="rId1"/>
            <a:stretch>
              <a:fillRect l="-1253" t="-5085" b="-15254"/>
            </a:stretch>
          </a:blipFill>
        </p:spPr>
        <p:txBody>
          <a:bodyPr/>
          <a:lstStyle/>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21517" name="图片 18"/>
          <p:cNvPicPr>
            <a:picLocks noChangeAspect="1"/>
          </p:cNvPicPr>
          <p:nvPr/>
        </p:nvPicPr>
        <p:blipFill>
          <a:blip r:embed="rId2"/>
          <a:stretch>
            <a:fillRect/>
          </a:stretch>
        </p:blipFill>
        <p:spPr>
          <a:xfrm>
            <a:off x="1966913" y="762000"/>
            <a:ext cx="5435600" cy="3471863"/>
          </a:xfrm>
          <a:prstGeom prst="rect">
            <a:avLst/>
          </a:prstGeom>
          <a:noFill/>
          <a:ln w="9525">
            <a:noFill/>
          </a:ln>
        </p:spPr>
      </p:pic>
      <p:sp>
        <p:nvSpPr>
          <p:cNvPr id="5" name="Rectangle 2"/>
          <p:cNvSpPr>
            <a:spLocks noRot="1" noChangeAspect="1" noMove="1" noResize="1" noEditPoints="1" noAdjustHandles="1" noChangeArrowheads="1" noChangeShapeType="1" noTextEdit="1"/>
          </p:cNvSpPr>
          <p:nvPr/>
        </p:nvSpPr>
        <p:spPr bwMode="auto">
          <a:xfrm>
            <a:off x="352425" y="4476949"/>
            <a:ext cx="8610600" cy="1938993"/>
          </a:xfrm>
          <a:prstGeom prst="rect">
            <a:avLst/>
          </a:prstGeom>
          <a:blipFill>
            <a:blip r:embed="rId3"/>
            <a:stretch>
              <a:fillRect l="-779" r="-708" b="-2516"/>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rPr>
              <a:t> </a:t>
            </a:r>
            <a:endParaRPr kumimoji="1" lang="zh-CN" altLang="en-US" sz="2000" b="0" i="0" u="none" strike="noStrike" kern="1200" cap="none" spc="0" normalizeH="0" baseline="0" noProof="0">
              <a:ln>
                <a:noFill/>
              </a:ln>
              <a:noFill/>
              <a:effectLst/>
              <a:uLnTx/>
              <a:uFillTx/>
              <a:latin typeface="Times New Roman" panose="02020603050405020304" pitchFamily="18" charset="0"/>
              <a:ea typeface="华文中宋" panose="02010600040101010101" pitchFamily="2" charset="-122"/>
              <a:cs typeface="+mn-cs"/>
            </a:endParaRPr>
          </a:p>
        </p:txBody>
      </p:sp>
      <p:sp>
        <p:nvSpPr>
          <p:cNvPr id="35844" name="Text Box 16"/>
          <p:cNvSpPr txBox="1">
            <a:spLocks noChangeArrowheads="1"/>
          </p:cNvSpPr>
          <p:nvPr/>
        </p:nvSpPr>
        <p:spPr bwMode="auto">
          <a:xfrm>
            <a:off x="7291070" y="631412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4" action="ppaction://hlinksldjump"/>
              </a:rPr>
              <a:t>返回</a:t>
            </a:r>
            <a:endParaRPr lang="zh-CN" altLang="en-US" sz="1600">
              <a:solidFill>
                <a:srgbClr val="CC3300"/>
              </a:solidFill>
              <a:latin typeface="Tahoma" panose="020B0604030504040204" pitchFamily="34" charset="0"/>
            </a:endParaRPr>
          </a:p>
        </p:txBody>
      </p:sp>
      <p:sp>
        <p:nvSpPr>
          <p:cNvPr id="3" name="文本框 2"/>
          <p:cNvSpPr txBox="1"/>
          <p:nvPr/>
        </p:nvSpPr>
        <p:spPr>
          <a:xfrm>
            <a:off x="6245225" y="3911600"/>
            <a:ext cx="2540000" cy="398780"/>
          </a:xfrm>
          <a:prstGeom prst="rect">
            <a:avLst/>
          </a:prstGeom>
          <a:noFill/>
        </p:spPr>
        <p:txBody>
          <a:bodyPr wrap="square" rtlCol="0">
            <a:spAutoFit/>
          </a:bodyPr>
          <a:p>
            <a:r>
              <a:rPr lang="zh-CN" altLang="en-US" i="1">
                <a:solidFill>
                  <a:srgbClr val="C00000"/>
                </a:solidFill>
                <a:cs typeface="Times New Roman" panose="02020603050405020304" pitchFamily="18" charset="0"/>
              </a:rPr>
              <a:t>Φ</a:t>
            </a:r>
            <a:r>
              <a:rPr lang="en-US" altLang="zh-CN" i="1" baseline="-25000">
                <a:solidFill>
                  <a:srgbClr val="C00000"/>
                </a:solidFill>
                <a:cs typeface="Times New Roman" panose="02020603050405020304" pitchFamily="18" charset="0"/>
              </a:rPr>
              <a:t>d</a:t>
            </a:r>
            <a:r>
              <a:rPr lang="en-US" altLang="zh-CN">
                <a:solidFill>
                  <a:srgbClr val="C00000"/>
                </a:solidFill>
                <a:latin typeface="Arial" panose="020B0604020202020204" pitchFamily="34" charset="0"/>
                <a:cs typeface="Arial" panose="020B0604020202020204" pitchFamily="34" charset="0"/>
              </a:rPr>
              <a:t>=</a:t>
            </a:r>
            <a:r>
              <a:rPr lang="en-US" altLang="zh-CN">
                <a:solidFill>
                  <a:srgbClr val="C00000"/>
                </a:solidFill>
                <a:cs typeface="Times New Roman" panose="02020603050405020304" pitchFamily="18" charset="0"/>
                <a:sym typeface="+mn-ea"/>
              </a:rPr>
              <a:t>b/d</a:t>
            </a:r>
            <a:r>
              <a:rPr lang="en-US" altLang="zh-CN" baseline="-25000">
                <a:solidFill>
                  <a:srgbClr val="C00000"/>
                </a:solidFill>
                <a:cs typeface="Times New Roman" panose="02020603050405020304" pitchFamily="18" charset="0"/>
                <a:sym typeface="+mn-ea"/>
              </a:rPr>
              <a:t>1</a:t>
            </a:r>
            <a:r>
              <a:rPr lang="en-US" altLang="zh-CN">
                <a:solidFill>
                  <a:srgbClr val="C00000"/>
                </a:solidFill>
                <a:cs typeface="Times New Roman" panose="02020603050405020304" pitchFamily="18" charset="0"/>
                <a:sym typeface="+mn-ea"/>
              </a:rPr>
              <a:t>--</a:t>
            </a:r>
            <a:r>
              <a:rPr lang="zh-CN" altLang="en-US">
                <a:solidFill>
                  <a:srgbClr val="C00000"/>
                </a:solidFill>
                <a:latin typeface="Arial" panose="020B0604020202020204" pitchFamily="34" charset="0"/>
                <a:cs typeface="Arial" panose="020B0604020202020204" pitchFamily="34" charset="0"/>
              </a:rPr>
              <a:t>齿宽系数</a:t>
            </a:r>
            <a:endParaRPr lang="en-US" altLang="zh-CN" baseline="-25000">
              <a:solidFill>
                <a:srgbClr val="C00000"/>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齿形系数和应力修正系数</a:t>
            </a:r>
            <a:r>
              <a:rPr lang="zh-CN" altLang="en-US" sz="800" smtClean="0">
                <a:solidFill>
                  <a:schemeClr val="bg1"/>
                </a:solidFill>
                <a:ea typeface="黑体" panose="02010609060101010101" pitchFamily="49" charset="-122"/>
              </a:rPr>
              <a:t> </a:t>
            </a:r>
            <a:endParaRPr lang="zh-CN" altLang="en-US" sz="800" smtClean="0">
              <a:solidFill>
                <a:schemeClr val="bg1"/>
              </a:solidFill>
              <a:ea typeface="黑体" panose="02010609060101010101" pitchFamily="49" charset="-122"/>
            </a:endParaRPr>
          </a:p>
        </p:txBody>
      </p:sp>
      <p:sp>
        <p:nvSpPr>
          <p:cNvPr id="64540" name="Text Box 28"/>
          <p:cNvSpPr txBox="1">
            <a:spLocks noChangeArrowheads="1"/>
          </p:cNvSpPr>
          <p:nvPr/>
        </p:nvSpPr>
        <p:spPr bwMode="auto">
          <a:xfrm>
            <a:off x="6169025" y="6375400"/>
            <a:ext cx="1160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t>　　</a:t>
            </a:r>
            <a:endParaRPr lang="zh-CN" altLang="en-US"/>
          </a:p>
        </p:txBody>
      </p:sp>
      <p:sp>
        <p:nvSpPr>
          <p:cNvPr id="36868" name="Text Box 16"/>
          <p:cNvSpPr txBox="1">
            <a:spLocks noChangeArrowheads="1"/>
          </p:cNvSpPr>
          <p:nvPr/>
        </p:nvSpPr>
        <p:spPr bwMode="auto">
          <a:xfrm>
            <a:off x="8328025" y="65198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graphicFrame>
        <p:nvGraphicFramePr>
          <p:cNvPr id="8" name="表格 7"/>
          <p:cNvGraphicFramePr>
            <a:graphicFrameLocks noGrp="1"/>
          </p:cNvGraphicFramePr>
          <p:nvPr/>
        </p:nvGraphicFramePr>
        <p:xfrm>
          <a:off x="203200" y="1147763"/>
          <a:ext cx="8639171" cy="1687513"/>
        </p:xfrm>
        <a:graphic>
          <a:graphicData uri="http://schemas.openxmlformats.org/drawingml/2006/table">
            <a:tbl>
              <a:tblPr/>
              <a:tblGrid>
                <a:gridCol w="775702"/>
                <a:gridCol w="605341"/>
                <a:gridCol w="604347"/>
                <a:gridCol w="605341"/>
                <a:gridCol w="604347"/>
                <a:gridCol w="605341"/>
                <a:gridCol w="604347"/>
                <a:gridCol w="605341"/>
                <a:gridCol w="604347"/>
                <a:gridCol w="605341"/>
                <a:gridCol w="604347"/>
                <a:gridCol w="605341"/>
                <a:gridCol w="604347"/>
                <a:gridCol w="605341"/>
              </a:tblGrid>
              <a:tr h="544731">
                <a:tc>
                  <a:txBody>
                    <a:bodyPr/>
                    <a:lstStyle/>
                    <a:p>
                      <a:pPr algn="ctr">
                        <a:lnSpc>
                          <a:spcPct val="150000"/>
                        </a:lnSpc>
                        <a:spcAft>
                          <a:spcPts val="0"/>
                        </a:spcAft>
                      </a:pPr>
                      <a:r>
                        <a:rPr lang="en-US" sz="1800" b="1" i="1" kern="100" dirty="0">
                          <a:solidFill>
                            <a:srgbClr val="000099"/>
                          </a:solidFill>
                          <a:latin typeface="Times New Roman" panose="02020603050405020304"/>
                          <a:ea typeface="宋体" panose="02010600030101010101" pitchFamily="2" charset="-122"/>
                          <a:cs typeface="Times New Roman" panose="02020603050405020304"/>
                        </a:rPr>
                        <a:t>z</a:t>
                      </a:r>
                      <a:r>
                        <a:rPr lang="en-US" sz="1800" b="1" kern="100" dirty="0">
                          <a:solidFill>
                            <a:srgbClr val="000099"/>
                          </a:solidFill>
                          <a:latin typeface="Times New Roman" panose="02020603050405020304"/>
                          <a:ea typeface="宋体" panose="02010600030101010101" pitchFamily="2" charset="-122"/>
                          <a:cs typeface="Times New Roman" panose="02020603050405020304"/>
                        </a:rPr>
                        <a:t>(</a:t>
                      </a:r>
                      <a:r>
                        <a:rPr lang="en-US" sz="1800" b="1" i="1" kern="100" dirty="0" err="1">
                          <a:solidFill>
                            <a:srgbClr val="000099"/>
                          </a:solidFill>
                          <a:latin typeface="Times New Roman" panose="02020603050405020304"/>
                          <a:ea typeface="宋体" panose="02010600030101010101" pitchFamily="2" charset="-122"/>
                          <a:cs typeface="Times New Roman" panose="02020603050405020304"/>
                        </a:rPr>
                        <a:t>z</a:t>
                      </a:r>
                      <a:r>
                        <a:rPr lang="en-US" sz="1800" b="1" kern="100" baseline="-25000" dirty="0" err="1">
                          <a:solidFill>
                            <a:srgbClr val="000099"/>
                          </a:solidFill>
                          <a:latin typeface="Times New Roman" panose="02020603050405020304"/>
                          <a:ea typeface="宋体" panose="02010600030101010101" pitchFamily="2" charset="-122"/>
                          <a:cs typeface="Times New Roman" panose="02020603050405020304"/>
                        </a:rPr>
                        <a:t>v</a:t>
                      </a:r>
                      <a:r>
                        <a:rPr lang="en-US" sz="1800" b="1" kern="100" dirty="0">
                          <a:solidFill>
                            <a:srgbClr val="000099"/>
                          </a:solidFill>
                          <a:latin typeface="Times New Roman" panose="02020603050405020304"/>
                          <a:ea typeface="宋体" panose="02010600030101010101" pitchFamily="2" charset="-122"/>
                          <a:cs typeface="Times New Roman" panose="02020603050405020304"/>
                        </a:rPr>
                        <a:t>)</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18</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19</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21</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22</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23</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24</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25</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26</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27</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28</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29</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4731">
                <a:tc>
                  <a:txBody>
                    <a:bodyPr/>
                    <a:lstStyle/>
                    <a:p>
                      <a:pPr algn="ctr">
                        <a:lnSpc>
                          <a:spcPct val="150000"/>
                        </a:lnSpc>
                        <a:spcAft>
                          <a:spcPts val="0"/>
                        </a:spcAft>
                      </a:pPr>
                      <a:r>
                        <a:rPr lang="en-US" sz="1800" b="1" i="1" kern="100" dirty="0">
                          <a:solidFill>
                            <a:srgbClr val="000099"/>
                          </a:solidFill>
                          <a:latin typeface="Times New Roman" panose="02020603050405020304"/>
                          <a:ea typeface="宋体" panose="02010600030101010101" pitchFamily="2" charset="-122"/>
                          <a:cs typeface="Times New Roman" panose="02020603050405020304"/>
                        </a:rPr>
                        <a:t>Y</a:t>
                      </a:r>
                      <a:r>
                        <a:rPr lang="en-US" sz="1800" b="1" kern="100" baseline="-25000" dirty="0">
                          <a:solidFill>
                            <a:srgbClr val="000099"/>
                          </a:solidFill>
                          <a:latin typeface="Times New Roman" panose="02020603050405020304"/>
                          <a:ea typeface="宋体" panose="02010600030101010101" pitchFamily="2" charset="-122"/>
                          <a:cs typeface="Times New Roman" panose="02020603050405020304"/>
                        </a:rPr>
                        <a:t>Fa</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2.97</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2.91</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2.85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2.80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2.76</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2.72</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2.69</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2.65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2.62</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2.60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2.57</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2.55</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2.53</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8051">
                <a:tc>
                  <a:txBody>
                    <a:bodyPr/>
                    <a:lstStyle/>
                    <a:p>
                      <a:pPr algn="ctr">
                        <a:lnSpc>
                          <a:spcPct val="150000"/>
                        </a:lnSpc>
                        <a:spcAft>
                          <a:spcPts val="0"/>
                        </a:spcAft>
                      </a:pPr>
                      <a:r>
                        <a:rPr lang="en-US" sz="1800" b="1" i="1" kern="100" dirty="0">
                          <a:solidFill>
                            <a:srgbClr val="000099"/>
                          </a:solidFill>
                          <a:latin typeface="Times New Roman" panose="02020603050405020304"/>
                          <a:ea typeface="宋体" panose="02010600030101010101" pitchFamily="2" charset="-122"/>
                          <a:cs typeface="Times New Roman" panose="02020603050405020304"/>
                        </a:rPr>
                        <a:t>Y</a:t>
                      </a:r>
                      <a:r>
                        <a:rPr lang="en-US" sz="1800" b="1" kern="100" baseline="-25000" dirty="0">
                          <a:solidFill>
                            <a:srgbClr val="000099"/>
                          </a:solidFill>
                          <a:latin typeface="Times New Roman" panose="02020603050405020304"/>
                          <a:ea typeface="宋体" panose="02010600030101010101" pitchFamily="2" charset="-122"/>
                          <a:cs typeface="Times New Roman" panose="02020603050405020304"/>
                        </a:rPr>
                        <a:t>sa</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1.52</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1.53</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1.54</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1.56</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1.57</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1.575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1.58</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1.59</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1.595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1.60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1.61</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1.62</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36929" name="Rectangle 1"/>
          <p:cNvSpPr>
            <a:spLocks noChangeArrowheads="1"/>
          </p:cNvSpPr>
          <p:nvPr/>
        </p:nvSpPr>
        <p:spPr bwMode="auto">
          <a:xfrm>
            <a:off x="930275" y="253207"/>
            <a:ext cx="74406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a:r>
              <a:rPr lang="zh-CN" altLang="en-US" sz="2400" dirty="0" smtClean="0">
                <a:solidFill>
                  <a:srgbClr val="CC3300"/>
                </a:solidFill>
                <a:latin typeface="Calibri" panose="020F0502020204030204" pitchFamily="34" charset="0"/>
                <a:cs typeface="Times New Roman" panose="02020603050405020304" pitchFamily="18" charset="0"/>
              </a:rPr>
              <a:t>表</a:t>
            </a:r>
            <a:r>
              <a:rPr lang="en-US" altLang="zh-CN" sz="2400" dirty="0" smtClean="0">
                <a:solidFill>
                  <a:srgbClr val="CC3300"/>
                </a:solidFill>
                <a:latin typeface="Calibri" panose="020F0502020204030204" pitchFamily="34" charset="0"/>
                <a:cs typeface="Times New Roman" panose="02020603050405020304" pitchFamily="18" charset="0"/>
              </a:rPr>
              <a:t>3.4</a:t>
            </a:r>
            <a:r>
              <a:rPr lang="en-US" altLang="zh-CN" sz="2400" dirty="0" smtClean="0">
                <a:solidFill>
                  <a:srgbClr val="CC3300"/>
                </a:solidFill>
                <a:latin typeface="Calibri" panose="020F0502020204030204" pitchFamily="34" charset="0"/>
                <a:cs typeface="Times New Roman" panose="02020603050405020304" pitchFamily="18" charset="0"/>
              </a:rPr>
              <a:t>-5 </a:t>
            </a:r>
            <a:r>
              <a:rPr lang="zh-CN" altLang="en-US" sz="2400" dirty="0" smtClean="0">
                <a:solidFill>
                  <a:srgbClr val="CC3300"/>
                </a:solidFill>
                <a:latin typeface="Calibri" panose="020F0502020204030204" pitchFamily="34" charset="0"/>
                <a:cs typeface="Times New Roman" panose="02020603050405020304" pitchFamily="18" charset="0"/>
              </a:rPr>
              <a:t>标准</a:t>
            </a:r>
            <a:r>
              <a:rPr lang="zh-CN" altLang="en-US" sz="2400" dirty="0">
                <a:solidFill>
                  <a:srgbClr val="CC3300"/>
                </a:solidFill>
                <a:latin typeface="Calibri" panose="020F0502020204030204" pitchFamily="34" charset="0"/>
                <a:cs typeface="Times New Roman" panose="02020603050405020304" pitchFamily="18" charset="0"/>
              </a:rPr>
              <a:t>外齿轮齿形系数</a:t>
            </a:r>
            <a:r>
              <a:rPr lang="en-US" altLang="zh-CN" sz="2400" i="1" dirty="0" err="1">
                <a:solidFill>
                  <a:srgbClr val="CC3300"/>
                </a:solidFill>
                <a:cs typeface="Times New Roman" panose="02020603050405020304" pitchFamily="18" charset="0"/>
              </a:rPr>
              <a:t>Y</a:t>
            </a:r>
            <a:r>
              <a:rPr lang="en-US" altLang="zh-CN" sz="2400" baseline="-30000" dirty="0" err="1">
                <a:solidFill>
                  <a:srgbClr val="CC3300"/>
                </a:solidFill>
                <a:cs typeface="Times New Roman" panose="02020603050405020304" pitchFamily="18" charset="0"/>
              </a:rPr>
              <a:t>Fa</a:t>
            </a:r>
            <a:r>
              <a:rPr lang="zh-CN" altLang="en-US" sz="2400" dirty="0">
                <a:solidFill>
                  <a:srgbClr val="CC3300"/>
                </a:solidFill>
                <a:latin typeface="Calibri" panose="020F0502020204030204" pitchFamily="34" charset="0"/>
                <a:cs typeface="Times New Roman" panose="02020603050405020304" pitchFamily="18" charset="0"/>
              </a:rPr>
              <a:t>和应力修正系数</a:t>
            </a:r>
            <a:r>
              <a:rPr lang="en-US" altLang="zh-CN" sz="2400" i="1" dirty="0" err="1">
                <a:solidFill>
                  <a:srgbClr val="CC3300"/>
                </a:solidFill>
                <a:cs typeface="Times New Roman" panose="02020603050405020304" pitchFamily="18" charset="0"/>
              </a:rPr>
              <a:t>Y</a:t>
            </a:r>
            <a:r>
              <a:rPr lang="en-US" altLang="zh-CN" sz="2400" baseline="-30000" dirty="0" err="1">
                <a:solidFill>
                  <a:srgbClr val="CC3300"/>
                </a:solidFill>
                <a:cs typeface="Times New Roman" panose="02020603050405020304" pitchFamily="18" charset="0"/>
              </a:rPr>
              <a:t>sa</a:t>
            </a:r>
            <a:endParaRPr lang="en-US" altLang="zh-CN" sz="2400" dirty="0">
              <a:solidFill>
                <a:srgbClr val="CC3300"/>
              </a:solidFill>
            </a:endParaRPr>
          </a:p>
        </p:txBody>
      </p:sp>
      <p:graphicFrame>
        <p:nvGraphicFramePr>
          <p:cNvPr id="11" name="表格 10"/>
          <p:cNvGraphicFramePr>
            <a:graphicFrameLocks noGrp="1"/>
          </p:cNvGraphicFramePr>
          <p:nvPr>
            <p:custDataLst>
              <p:tags r:id="rId2"/>
            </p:custDataLst>
          </p:nvPr>
        </p:nvGraphicFramePr>
        <p:xfrm>
          <a:off x="188913" y="3057525"/>
          <a:ext cx="8670921" cy="1751013"/>
        </p:xfrm>
        <a:graphic>
          <a:graphicData uri="http://schemas.openxmlformats.org/drawingml/2006/table">
            <a:tbl>
              <a:tblPr/>
              <a:tblGrid>
                <a:gridCol w="618842"/>
                <a:gridCol w="619861"/>
                <a:gridCol w="618842"/>
                <a:gridCol w="619861"/>
                <a:gridCol w="618842"/>
                <a:gridCol w="619861"/>
                <a:gridCol w="618842"/>
                <a:gridCol w="619861"/>
                <a:gridCol w="618842"/>
                <a:gridCol w="619861"/>
                <a:gridCol w="618842"/>
                <a:gridCol w="619861"/>
                <a:gridCol w="618842"/>
                <a:gridCol w="619861"/>
              </a:tblGrid>
              <a:tr h="565229">
                <a:tc>
                  <a:txBody>
                    <a:bodyPr/>
                    <a:lstStyle/>
                    <a:p>
                      <a:pPr algn="ctr">
                        <a:lnSpc>
                          <a:spcPct val="150000"/>
                        </a:lnSpc>
                        <a:spcAft>
                          <a:spcPts val="0"/>
                        </a:spcAft>
                      </a:pPr>
                      <a:r>
                        <a:rPr lang="en-US" sz="1800" b="1" i="1" kern="100" dirty="0">
                          <a:solidFill>
                            <a:srgbClr val="000099"/>
                          </a:solidFill>
                          <a:latin typeface="Times New Roman" panose="02020603050405020304"/>
                          <a:ea typeface="宋体" panose="02010600030101010101" pitchFamily="2" charset="-122"/>
                          <a:cs typeface="Times New Roman" panose="02020603050405020304"/>
                        </a:rPr>
                        <a:t>z</a:t>
                      </a:r>
                      <a:r>
                        <a:rPr lang="en-US" sz="1800" b="1" kern="100" dirty="0">
                          <a:solidFill>
                            <a:srgbClr val="000099"/>
                          </a:solidFill>
                          <a:latin typeface="Times New Roman" panose="02020603050405020304"/>
                          <a:ea typeface="宋体" panose="02010600030101010101" pitchFamily="2" charset="-122"/>
                          <a:cs typeface="Times New Roman" panose="02020603050405020304"/>
                        </a:rPr>
                        <a:t>(</a:t>
                      </a:r>
                      <a:r>
                        <a:rPr lang="en-US" sz="1800" b="1" i="1" kern="100" dirty="0" err="1">
                          <a:solidFill>
                            <a:srgbClr val="000099"/>
                          </a:solidFill>
                          <a:latin typeface="Times New Roman" panose="02020603050405020304"/>
                          <a:ea typeface="宋体" panose="02010600030101010101" pitchFamily="2" charset="-122"/>
                          <a:cs typeface="Times New Roman" panose="02020603050405020304"/>
                        </a:rPr>
                        <a:t>z</a:t>
                      </a:r>
                      <a:r>
                        <a:rPr lang="en-US" sz="1800" b="1" kern="100" baseline="-25000" dirty="0" err="1">
                          <a:solidFill>
                            <a:srgbClr val="000099"/>
                          </a:solidFill>
                          <a:latin typeface="Times New Roman" panose="02020603050405020304"/>
                          <a:ea typeface="宋体" panose="02010600030101010101" pitchFamily="2" charset="-122"/>
                          <a:cs typeface="Times New Roman" panose="02020603050405020304"/>
                        </a:rPr>
                        <a:t>v</a:t>
                      </a:r>
                      <a:r>
                        <a:rPr lang="en-US" sz="1800" b="1" kern="100" dirty="0">
                          <a:solidFill>
                            <a:srgbClr val="000099"/>
                          </a:solidFill>
                          <a:latin typeface="Times New Roman" panose="02020603050405020304"/>
                          <a:ea typeface="宋体" panose="02010600030101010101" pitchFamily="2" charset="-122"/>
                          <a:cs typeface="Times New Roman" panose="02020603050405020304"/>
                        </a:rPr>
                        <a:t>)</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30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35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40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45</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50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60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70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80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90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100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150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200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a:t>
                      </a:r>
                      <a:endParaRPr lang="zh-CN" sz="1800" b="1" kern="100" dirty="0">
                        <a:solidFill>
                          <a:srgbClr val="000099"/>
                        </a:solidFill>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5229">
                <a:tc>
                  <a:txBody>
                    <a:bodyPr/>
                    <a:lstStyle/>
                    <a:p>
                      <a:pPr algn="ctr">
                        <a:lnSpc>
                          <a:spcPct val="150000"/>
                        </a:lnSpc>
                        <a:spcAft>
                          <a:spcPts val="0"/>
                        </a:spcAft>
                      </a:pPr>
                      <a:r>
                        <a:rPr lang="en-US" sz="1800" b="1" i="1" kern="100" dirty="0">
                          <a:solidFill>
                            <a:srgbClr val="000099"/>
                          </a:solidFill>
                          <a:latin typeface="Times New Roman" panose="02020603050405020304"/>
                          <a:ea typeface="宋体" panose="02010600030101010101" pitchFamily="2" charset="-122"/>
                          <a:cs typeface="Times New Roman" panose="02020603050405020304"/>
                        </a:rPr>
                        <a:t>Y</a:t>
                      </a:r>
                      <a:r>
                        <a:rPr lang="en-US" sz="1800" b="1" kern="100" baseline="-25000" dirty="0">
                          <a:solidFill>
                            <a:srgbClr val="000099"/>
                          </a:solidFill>
                          <a:latin typeface="Times New Roman" panose="02020603050405020304"/>
                          <a:ea typeface="宋体" panose="02010600030101010101" pitchFamily="2" charset="-122"/>
                          <a:cs typeface="Times New Roman" panose="02020603050405020304"/>
                        </a:rPr>
                        <a:t>Fa</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2.52</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2.45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2.40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2.35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2.32</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2.28</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2.24</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2.22</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2.20</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2.18</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2.14</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2.12</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2.06</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0555">
                <a:tc>
                  <a:txBody>
                    <a:bodyPr/>
                    <a:lstStyle/>
                    <a:p>
                      <a:pPr algn="ctr">
                        <a:lnSpc>
                          <a:spcPct val="150000"/>
                        </a:lnSpc>
                        <a:spcAft>
                          <a:spcPts val="0"/>
                        </a:spcAft>
                      </a:pPr>
                      <a:r>
                        <a:rPr lang="en-US" sz="1800" b="1" i="1" kern="100" dirty="0">
                          <a:solidFill>
                            <a:srgbClr val="000099"/>
                          </a:solidFill>
                          <a:latin typeface="Times New Roman" panose="02020603050405020304"/>
                          <a:ea typeface="宋体" panose="02010600030101010101" pitchFamily="2" charset="-122"/>
                          <a:cs typeface="Times New Roman" panose="02020603050405020304"/>
                        </a:rPr>
                        <a:t>Y</a:t>
                      </a:r>
                      <a:r>
                        <a:rPr lang="en-US" sz="1800" b="1" kern="100" baseline="-25000" dirty="0">
                          <a:solidFill>
                            <a:srgbClr val="000099"/>
                          </a:solidFill>
                          <a:latin typeface="Times New Roman" panose="02020603050405020304"/>
                          <a:ea typeface="宋体" panose="02010600030101010101" pitchFamily="2" charset="-122"/>
                          <a:cs typeface="Times New Roman" panose="02020603050405020304"/>
                        </a:rPr>
                        <a:t>sa</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1.625</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1.65</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1.67</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1.68</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1.73</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1.77</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1.78</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1.79</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1.83</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1.865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1.97</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3699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40"/>
                                        </p:tgtEl>
                                        <p:attrNameLst>
                                          <p:attrName>style.visibility</p:attrName>
                                        </p:attrNameLst>
                                      </p:cBhvr>
                                      <p:to>
                                        <p:strVal val="visible"/>
                                      </p:to>
                                    </p:set>
                                    <p:anim calcmode="lin" valueType="num">
                                      <p:cBhvr additive="base">
                                        <p:cTn id="7" dur="500" fill="hold"/>
                                        <p:tgtEl>
                                          <p:spTgt spid="64540"/>
                                        </p:tgtEl>
                                        <p:attrNameLst>
                                          <p:attrName>ppt_x</p:attrName>
                                        </p:attrNameLst>
                                      </p:cBhvr>
                                      <p:tavLst>
                                        <p:tav tm="0">
                                          <p:val>
                                            <p:strVal val="0-#ppt_w/2"/>
                                          </p:val>
                                        </p:tav>
                                        <p:tav tm="100000">
                                          <p:val>
                                            <p:strVal val="#ppt_x"/>
                                          </p:val>
                                        </p:tav>
                                      </p:tavLst>
                                    </p:anim>
                                    <p:anim calcmode="lin" valueType="num">
                                      <p:cBhvr additive="base">
                                        <p:cTn id="8" dur="500" fill="hold"/>
                                        <p:tgtEl>
                                          <p:spTgt spid="645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0"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区域系数等</a:t>
            </a:r>
            <a:r>
              <a:rPr lang="zh-CN" altLang="en-US" sz="800" smtClean="0">
                <a:solidFill>
                  <a:schemeClr val="bg1"/>
                </a:solidFill>
                <a:ea typeface="黑体" panose="02010609060101010101" pitchFamily="49" charset="-122"/>
              </a:rPr>
              <a:t> </a:t>
            </a:r>
            <a:endParaRPr lang="zh-CN" altLang="en-US" sz="800" smtClean="0">
              <a:solidFill>
                <a:schemeClr val="bg1"/>
              </a:solidFill>
              <a:ea typeface="黑体" panose="02010609060101010101" pitchFamily="49" charset="-122"/>
            </a:endParaRPr>
          </a:p>
        </p:txBody>
      </p:sp>
      <p:sp>
        <p:nvSpPr>
          <p:cNvPr id="15365" name="Text Box 16"/>
          <p:cNvSpPr txBox="1">
            <a:spLocks noChangeArrowheads="1"/>
          </p:cNvSpPr>
          <p:nvPr/>
        </p:nvSpPr>
        <p:spPr bwMode="auto">
          <a:xfrm>
            <a:off x="8268335" y="6251258"/>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sp>
        <p:nvSpPr>
          <p:cNvPr id="15366" name="Rectangle 2"/>
          <p:cNvSpPr>
            <a:spLocks noChangeArrowheads="1"/>
          </p:cNvSpPr>
          <p:nvPr/>
        </p:nvSpPr>
        <p:spPr bwMode="auto">
          <a:xfrm>
            <a:off x="3516313" y="536575"/>
            <a:ext cx="661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15362" name="Object 1"/>
          <p:cNvGraphicFramePr>
            <a:graphicFrameLocks noChangeAspect="1"/>
          </p:cNvGraphicFramePr>
          <p:nvPr/>
        </p:nvGraphicFramePr>
        <p:xfrm>
          <a:off x="2621439" y="821690"/>
          <a:ext cx="1718310" cy="676275"/>
        </p:xfrm>
        <a:graphic>
          <a:graphicData uri="http://schemas.openxmlformats.org/presentationml/2006/ole">
            <mc:AlternateContent xmlns:mc="http://schemas.openxmlformats.org/markup-compatibility/2006">
              <mc:Choice xmlns:v="urn:schemas-microsoft-com:vml" Requires="v">
                <p:oleObj spid="_x0000_s15598" name="公式" r:id="rId2" imgW="1168400" imgH="457200" progId="Equation.3">
                  <p:embed/>
                </p:oleObj>
              </mc:Choice>
              <mc:Fallback>
                <p:oleObj name="公式" r:id="rId2" imgW="1168400" imgH="457200" progId="Equation.3">
                  <p:embed/>
                  <p:pic>
                    <p:nvPicPr>
                      <p:cNvPr id="0" name="Object 1"/>
                      <p:cNvPicPr>
                        <a:picLocks noChangeAspect="1" noChangeArrowheads="1"/>
                      </p:cNvPicPr>
                      <p:nvPr/>
                    </p:nvPicPr>
                    <p:blipFill>
                      <a:blip r:embed="rId3"/>
                      <a:srcRect/>
                      <a:stretch>
                        <a:fillRect/>
                      </a:stretch>
                    </p:blipFill>
                    <p:spPr bwMode="auto">
                      <a:xfrm>
                        <a:off x="2621439" y="821690"/>
                        <a:ext cx="171831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7" name="Rectangle 3"/>
          <p:cNvSpPr>
            <a:spLocks noChangeArrowheads="1"/>
          </p:cNvSpPr>
          <p:nvPr/>
        </p:nvSpPr>
        <p:spPr bwMode="auto">
          <a:xfrm>
            <a:off x="646113" y="1522413"/>
            <a:ext cx="3592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a:solidFill>
                  <a:srgbClr val="000099"/>
                </a:solidFill>
                <a:latin typeface="宋体" panose="02010600030101010101" pitchFamily="2" charset="-122"/>
                <a:cs typeface="Times New Roman" panose="02020603050405020304" pitchFamily="18" charset="0"/>
              </a:rPr>
              <a:t>对于标准直圆柱齿轮，</a:t>
            </a:r>
            <a:r>
              <a:rPr lang="en-US" altLang="zh-CN" i="1">
                <a:solidFill>
                  <a:srgbClr val="000099"/>
                </a:solidFill>
              </a:rPr>
              <a:t>Z</a:t>
            </a:r>
            <a:r>
              <a:rPr lang="en-US" altLang="zh-CN" baseline="-30000">
                <a:solidFill>
                  <a:srgbClr val="000099"/>
                </a:solidFill>
              </a:rPr>
              <a:t>H</a:t>
            </a:r>
            <a:r>
              <a:rPr lang="en-US" altLang="zh-CN">
                <a:solidFill>
                  <a:srgbClr val="000099"/>
                </a:solidFill>
                <a:latin typeface="宋体" panose="02010600030101010101" pitchFamily="2" charset="-122"/>
                <a:cs typeface="Times New Roman" panose="02020603050405020304" pitchFamily="18" charset="0"/>
              </a:rPr>
              <a:t>=2.5</a:t>
            </a:r>
            <a:r>
              <a:rPr lang="en-US" altLang="zh-CN">
                <a:solidFill>
                  <a:srgbClr val="000099"/>
                </a:solidFill>
              </a:rPr>
              <a:t> </a:t>
            </a:r>
            <a:endParaRPr lang="en-US" altLang="zh-CN">
              <a:solidFill>
                <a:srgbClr val="000099"/>
              </a:solidFill>
            </a:endParaRPr>
          </a:p>
        </p:txBody>
      </p:sp>
      <p:sp>
        <p:nvSpPr>
          <p:cNvPr id="15368" name="TextBox 11"/>
          <p:cNvSpPr txBox="1">
            <a:spLocks noChangeArrowheads="1"/>
          </p:cNvSpPr>
          <p:nvPr/>
        </p:nvSpPr>
        <p:spPr bwMode="auto">
          <a:xfrm>
            <a:off x="614363" y="968375"/>
            <a:ext cx="23653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a:solidFill>
                  <a:srgbClr val="000099"/>
                </a:solidFill>
                <a:latin typeface="宋体" panose="02010600030101010101" pitchFamily="2" charset="-122"/>
                <a:cs typeface="Times New Roman" panose="02020603050405020304" pitchFamily="18" charset="0"/>
              </a:rPr>
              <a:t>节点啮合系数，</a:t>
            </a:r>
            <a:endParaRPr lang="zh-CN" altLang="en-US" sz="3600">
              <a:solidFill>
                <a:srgbClr val="000099"/>
              </a:solidFill>
            </a:endParaRPr>
          </a:p>
        </p:txBody>
      </p:sp>
      <p:graphicFrame>
        <p:nvGraphicFramePr>
          <p:cNvPr id="13" name="表格 12"/>
          <p:cNvGraphicFramePr>
            <a:graphicFrameLocks noGrp="1"/>
          </p:cNvGraphicFramePr>
          <p:nvPr>
            <p:custDataLst>
              <p:tags r:id="rId4"/>
            </p:custDataLst>
          </p:nvPr>
        </p:nvGraphicFramePr>
        <p:xfrm>
          <a:off x="1150938" y="2443163"/>
          <a:ext cx="7346950" cy="2784476"/>
        </p:xfrm>
        <a:graphic>
          <a:graphicData uri="http://schemas.openxmlformats.org/drawingml/2006/table">
            <a:tbl>
              <a:tblPr/>
              <a:tblGrid>
                <a:gridCol w="1184330"/>
                <a:gridCol w="1184330"/>
                <a:gridCol w="1184330"/>
                <a:gridCol w="1184330"/>
                <a:gridCol w="1304815"/>
                <a:gridCol w="1304815"/>
              </a:tblGrid>
              <a:tr h="459502">
                <a:tc rowSpan="2">
                  <a:txBody>
                    <a:bodyPr/>
                    <a:lstStyle/>
                    <a:p>
                      <a:pPr algn="ctr">
                        <a:lnSpc>
                          <a:spcPct val="150000"/>
                        </a:lnSpc>
                        <a:spcAft>
                          <a:spcPts val="0"/>
                        </a:spcAft>
                      </a:pPr>
                      <a:r>
                        <a:rPr lang="zh-CN" sz="1800" b="1" kern="100" dirty="0">
                          <a:solidFill>
                            <a:srgbClr val="000099"/>
                          </a:solidFill>
                          <a:latin typeface="Calibri" panose="020F0502020204030204"/>
                          <a:ea typeface="宋体" panose="02010600030101010101" pitchFamily="2" charset="-122"/>
                          <a:cs typeface="Times New Roman" panose="02020603050405020304"/>
                        </a:rPr>
                        <a:t>齿轮材料</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lnSpc>
                          <a:spcPct val="150000"/>
                        </a:lnSpc>
                        <a:spcAft>
                          <a:spcPts val="0"/>
                        </a:spcAft>
                      </a:pPr>
                      <a:r>
                        <a:rPr lang="zh-CN" sz="1800" b="1" kern="100" dirty="0">
                          <a:solidFill>
                            <a:srgbClr val="000099"/>
                          </a:solidFill>
                          <a:latin typeface="Calibri" panose="020F0502020204030204"/>
                          <a:ea typeface="宋体" panose="02010600030101010101" pitchFamily="2" charset="-122"/>
                          <a:cs typeface="Times New Roman" panose="02020603050405020304"/>
                        </a:rPr>
                        <a:t>配对齿轮材料</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r>
              <a:tr h="459502">
                <a:tc vMerge="1">
                  <a:tcPr/>
                </a:tc>
                <a:tc>
                  <a:txBody>
                    <a:bodyPr/>
                    <a:lstStyle/>
                    <a:p>
                      <a:pPr algn="ctr">
                        <a:lnSpc>
                          <a:spcPct val="150000"/>
                        </a:lnSpc>
                        <a:spcAft>
                          <a:spcPts val="0"/>
                        </a:spcAft>
                      </a:pPr>
                      <a:r>
                        <a:rPr lang="zh-CN" sz="1800" b="1" kern="100" dirty="0">
                          <a:solidFill>
                            <a:srgbClr val="000099"/>
                          </a:solidFill>
                          <a:latin typeface="Calibri" panose="020F0502020204030204"/>
                          <a:ea typeface="宋体" panose="02010600030101010101" pitchFamily="2" charset="-122"/>
                          <a:cs typeface="Times New Roman" panose="02020603050405020304"/>
                        </a:rPr>
                        <a:t>灰铸铁</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球墨铸铁</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铸钢</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锻钢</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夹布塑胶</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9502">
                <a:tc>
                  <a:txBody>
                    <a:bodyPr/>
                    <a:lstStyle/>
                    <a:p>
                      <a:pPr algn="ctr">
                        <a:lnSpc>
                          <a:spcPct val="150000"/>
                        </a:lnSpc>
                        <a:spcAft>
                          <a:spcPts val="0"/>
                        </a:spcAft>
                      </a:pPr>
                      <a:r>
                        <a:rPr lang="zh-CN" sz="1800" b="1" kern="100" dirty="0">
                          <a:solidFill>
                            <a:srgbClr val="000099"/>
                          </a:solidFill>
                          <a:latin typeface="Calibri" panose="020F0502020204030204"/>
                          <a:ea typeface="宋体" panose="02010600030101010101" pitchFamily="2" charset="-122"/>
                          <a:cs typeface="Times New Roman" panose="02020603050405020304"/>
                        </a:rPr>
                        <a:t>锻钢</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162.0</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181.4</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188.9</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189.8</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56.4</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7812">
                <a:tc>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铸钢</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161.4</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180.5</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188</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rowSpan="3">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491192">
                <a:tc>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球墨铸铁</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156.6</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dirty="0">
                          <a:solidFill>
                            <a:srgbClr val="000099"/>
                          </a:solidFill>
                          <a:latin typeface="宋体" panose="02010600030101010101" pitchFamily="2" charset="-122"/>
                          <a:ea typeface="宋体" panose="02010600030101010101" pitchFamily="2" charset="-122"/>
                          <a:cs typeface="Times New Roman" panose="02020603050405020304"/>
                        </a:rPr>
                        <a:t>173.9</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50000"/>
                        </a:lnSpc>
                        <a:spcAft>
                          <a:spcPts val="0"/>
                        </a:spcAft>
                      </a:pPr>
                      <a:r>
                        <a:rPr lang="zh-CN" sz="1800" b="1" kern="100" dirty="0">
                          <a:solidFill>
                            <a:srgbClr val="000099"/>
                          </a:solidFill>
                          <a:latin typeface="Calibri" panose="020F0502020204030204"/>
                          <a:ea typeface="宋体" panose="02010600030101010101" pitchFamily="2" charset="-122"/>
                          <a:cs typeface="Times New Roman" panose="02020603050405020304"/>
                        </a:rPr>
                        <a:t>—</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vMerge="1">
                  <a:tcPr/>
                </a:tc>
                <a:tc vMerge="1">
                  <a:tcPr/>
                </a:tc>
              </a:tr>
              <a:tr h="486966">
                <a:tc>
                  <a:txBody>
                    <a:bodyPr/>
                    <a:lstStyle/>
                    <a:p>
                      <a:pPr algn="ctr">
                        <a:lnSpc>
                          <a:spcPct val="150000"/>
                        </a:lnSpc>
                        <a:spcAft>
                          <a:spcPts val="0"/>
                        </a:spcAft>
                      </a:pPr>
                      <a:r>
                        <a:rPr lang="zh-CN" sz="1800" b="1" kern="100">
                          <a:solidFill>
                            <a:srgbClr val="000099"/>
                          </a:solidFill>
                          <a:latin typeface="Calibri" panose="020F0502020204030204"/>
                          <a:ea typeface="宋体" panose="02010600030101010101" pitchFamily="2" charset="-122"/>
                          <a:cs typeface="Times New Roman" panose="02020603050405020304"/>
                        </a:rPr>
                        <a:t>灰铸铁</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kern="100">
                          <a:solidFill>
                            <a:srgbClr val="000099"/>
                          </a:solidFill>
                          <a:latin typeface="宋体" panose="02010600030101010101" pitchFamily="2" charset="-122"/>
                          <a:ea typeface="宋体" panose="02010600030101010101" pitchFamily="2" charset="-122"/>
                          <a:cs typeface="Times New Roman" panose="02020603050405020304"/>
                        </a:rPr>
                        <a:t>143.7</a:t>
                      </a:r>
                      <a:endParaRPr lang="zh-CN" sz="1800" b="1" kern="10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dirty="0">
                          <a:solidFill>
                            <a:srgbClr val="000099"/>
                          </a:solidFill>
                          <a:latin typeface="Calibri" panose="020F0502020204030204"/>
                          <a:ea typeface="宋体" panose="02010600030101010101" pitchFamily="2" charset="-122"/>
                          <a:cs typeface="Times New Roman" panose="02020603050405020304"/>
                        </a:rPr>
                        <a:t>—</a:t>
                      </a:r>
                      <a:endParaRPr lang="zh-CN" sz="1800" b="1" kern="100" dirty="0">
                        <a:solidFill>
                          <a:srgbClr val="000099"/>
                        </a:solidFill>
                        <a:latin typeface="Calibri" panose="020F0502020204030204"/>
                        <a:ea typeface="宋体" panose="02010600030101010101" pitchFamily="2" charset="-122"/>
                        <a:cs typeface="Times New Roman" panose="02020603050405020304"/>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vMerge="1">
                  <a:tcPr/>
                </a:tc>
                <a:tc vMerge="1">
                  <a:tcPr/>
                </a:tc>
                <a:tc vMerge="1">
                  <a:tcPr/>
                </a:tc>
              </a:tr>
            </a:tbl>
          </a:graphicData>
        </a:graphic>
      </p:graphicFrame>
      <p:sp>
        <p:nvSpPr>
          <p:cNvPr id="15408" name="Rectangle 4"/>
          <p:cNvSpPr>
            <a:spLocks noChangeArrowheads="1"/>
          </p:cNvSpPr>
          <p:nvPr/>
        </p:nvSpPr>
        <p:spPr bwMode="auto">
          <a:xfrm>
            <a:off x="2490788" y="1971199"/>
            <a:ext cx="4015740" cy="675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sz="1800" b="1" dirty="0" smtClean="0">
                <a:solidFill>
                  <a:srgbClr val="000099"/>
                </a:solidFill>
                <a:latin typeface="Calibri" panose="020F0502020204030204" pitchFamily="34" charset="0"/>
                <a:cs typeface="Times New Roman" panose="02020603050405020304" pitchFamily="18" charset="0"/>
              </a:rPr>
              <a:t>表</a:t>
            </a:r>
            <a:r>
              <a:rPr lang="en-US" altLang="zh-CN" sz="1800" b="1" dirty="0" smtClean="0">
                <a:solidFill>
                  <a:srgbClr val="000099"/>
                </a:solidFill>
                <a:latin typeface="Calibri" panose="020F0502020204030204" pitchFamily="34" charset="0"/>
                <a:cs typeface="Times New Roman" panose="02020603050405020304" pitchFamily="18" charset="0"/>
              </a:rPr>
              <a:t>3.4</a:t>
            </a:r>
            <a:r>
              <a:rPr lang="en-US" altLang="zh-CN" sz="1800" b="1" dirty="0" smtClean="0">
                <a:solidFill>
                  <a:srgbClr val="000099"/>
                </a:solidFill>
                <a:latin typeface="Calibri" panose="020F0502020204030204" pitchFamily="34" charset="0"/>
                <a:cs typeface="Times New Roman" panose="02020603050405020304" pitchFamily="18" charset="0"/>
              </a:rPr>
              <a:t>-5    </a:t>
            </a:r>
            <a:r>
              <a:rPr lang="zh-CN" altLang="en-US" sz="1800" b="1" dirty="0">
                <a:solidFill>
                  <a:srgbClr val="000099"/>
                </a:solidFill>
                <a:latin typeface="Calibri" panose="020F0502020204030204" pitchFamily="34" charset="0"/>
                <a:cs typeface="Times New Roman" panose="02020603050405020304" pitchFamily="18" charset="0"/>
              </a:rPr>
              <a:t>弹性系数</a:t>
            </a:r>
            <a:r>
              <a:rPr lang="en-US" altLang="zh-CN" sz="1800" b="1" i="1" dirty="0">
                <a:solidFill>
                  <a:srgbClr val="000099"/>
                </a:solidFill>
                <a:cs typeface="Times New Roman" panose="02020603050405020304" pitchFamily="18" charset="0"/>
              </a:rPr>
              <a:t>Z</a:t>
            </a:r>
            <a:r>
              <a:rPr lang="en-US" altLang="zh-CN" sz="1800" b="1" baseline="-30000" dirty="0">
                <a:solidFill>
                  <a:srgbClr val="000099"/>
                </a:solidFill>
                <a:cs typeface="Times New Roman" panose="02020603050405020304" pitchFamily="18" charset="0"/>
              </a:rPr>
              <a:t>E</a:t>
            </a:r>
            <a:r>
              <a:rPr lang="en-US" altLang="zh-CN" sz="1800" b="1" dirty="0">
                <a:solidFill>
                  <a:srgbClr val="000099"/>
                </a:solidFill>
                <a:cs typeface="Times New Roman" panose="02020603050405020304" pitchFamily="18" charset="0"/>
              </a:rPr>
              <a:t>                    </a:t>
            </a:r>
            <a:r>
              <a:rPr lang="en-US" altLang="zh-CN" sz="1800" dirty="0">
                <a:solidFill>
                  <a:srgbClr val="000099"/>
                </a:solidFill>
                <a:cs typeface="Times New Roman" panose="02020603050405020304" pitchFamily="18" charset="0"/>
              </a:rPr>
              <a:t>MPa</a:t>
            </a:r>
            <a:r>
              <a:rPr lang="en-US" altLang="zh-CN" sz="1800" baseline="30000" dirty="0">
                <a:solidFill>
                  <a:srgbClr val="000099"/>
                </a:solidFill>
                <a:cs typeface="Times New Roman" panose="02020603050405020304" pitchFamily="18" charset="0"/>
              </a:rPr>
              <a:t>1/2</a:t>
            </a:r>
            <a:endParaRPr lang="en-US" altLang="zh-CN" sz="1800" dirty="0">
              <a:solidFill>
                <a:srgbClr val="000099"/>
              </a:solidFill>
            </a:endParaRPr>
          </a:p>
          <a:p>
            <a:endParaRPr lang="en-US" altLang="zh-CN" dirty="0">
              <a:solidFill>
                <a:srgbClr val="000099"/>
              </a:solidFill>
            </a:endParaRPr>
          </a:p>
        </p:txBody>
      </p:sp>
      <p:sp>
        <p:nvSpPr>
          <p:cNvPr id="15409" name="Rectangle 6"/>
          <p:cNvSpPr>
            <a:spLocks noChangeArrowheads="1"/>
          </p:cNvSpPr>
          <p:nvPr/>
        </p:nvSpPr>
        <p:spPr bwMode="auto">
          <a:xfrm>
            <a:off x="781050" y="5392738"/>
            <a:ext cx="5784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en-US" altLang="zh-CN" i="1">
                <a:solidFill>
                  <a:srgbClr val="000099"/>
                </a:solidFill>
                <a:cs typeface="Times New Roman" panose="02020603050405020304" pitchFamily="18" charset="0"/>
              </a:rPr>
              <a:t>Z</a:t>
            </a:r>
            <a:r>
              <a:rPr lang="en-US" altLang="zh-CN" baseline="-30000">
                <a:solidFill>
                  <a:srgbClr val="000099"/>
                </a:solidFill>
                <a:cs typeface="Times New Roman" panose="02020603050405020304" pitchFamily="18" charset="0"/>
              </a:rPr>
              <a:t>ε</a:t>
            </a:r>
            <a:r>
              <a:rPr lang="zh-CN" altLang="en-US">
                <a:solidFill>
                  <a:srgbClr val="000099"/>
                </a:solidFill>
                <a:latin typeface="Calibri" panose="020F0502020204030204" pitchFamily="34" charset="0"/>
                <a:cs typeface="Times New Roman" panose="02020603050405020304" pitchFamily="18" charset="0"/>
              </a:rPr>
              <a:t>为接触疲劳强度计算的重合度系数，其表达式为</a:t>
            </a:r>
            <a:endParaRPr lang="zh-CN" altLang="en-US">
              <a:solidFill>
                <a:srgbClr val="000099"/>
              </a:solidFill>
            </a:endParaRPr>
          </a:p>
        </p:txBody>
      </p:sp>
      <p:graphicFrame>
        <p:nvGraphicFramePr>
          <p:cNvPr id="15363" name="Object 5"/>
          <p:cNvGraphicFramePr>
            <a:graphicFrameLocks noChangeAspect="1"/>
          </p:cNvGraphicFramePr>
          <p:nvPr/>
        </p:nvGraphicFramePr>
        <p:xfrm>
          <a:off x="2850516" y="5847239"/>
          <a:ext cx="1320800" cy="763905"/>
        </p:xfrm>
        <a:graphic>
          <a:graphicData uri="http://schemas.openxmlformats.org/presentationml/2006/ole">
            <mc:AlternateContent xmlns:mc="http://schemas.openxmlformats.org/markup-compatibility/2006">
              <mc:Choice xmlns:v="urn:schemas-microsoft-com:vml" Requires="v">
                <p:oleObj spid="_x0000_s15599" name="公式" r:id="rId5" imgW="838200" imgH="482600" progId="Equation.3">
                  <p:embed/>
                </p:oleObj>
              </mc:Choice>
              <mc:Fallback>
                <p:oleObj name="公式" r:id="rId5" imgW="838200" imgH="482600" progId="Equation.3">
                  <p:embed/>
                  <p:pic>
                    <p:nvPicPr>
                      <p:cNvPr id="0" name="Object 5"/>
                      <p:cNvPicPr>
                        <a:picLocks noChangeAspect="1" noChangeArrowheads="1"/>
                      </p:cNvPicPr>
                      <p:nvPr/>
                    </p:nvPicPr>
                    <p:blipFill>
                      <a:blip r:embed="rId6"/>
                      <a:srcRect/>
                      <a:stretch>
                        <a:fillRect/>
                      </a:stretch>
                    </p:blipFill>
                    <p:spPr bwMode="auto">
                      <a:xfrm>
                        <a:off x="2850516" y="5847239"/>
                        <a:ext cx="1320800" cy="7639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410" name="矩形 5"/>
          <p:cNvSpPr>
            <a:spLocks noChangeArrowheads="1"/>
          </p:cNvSpPr>
          <p:nvPr/>
        </p:nvSpPr>
        <p:spPr bwMode="auto">
          <a:xfrm>
            <a:off x="1613728" y="188913"/>
            <a:ext cx="67900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3337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400" b="1" dirty="0" smtClean="0">
                <a:solidFill>
                  <a:srgbClr val="CC3300"/>
                </a:solidFill>
                <a:latin typeface="Calibri" panose="020F0502020204030204" pitchFamily="34" charset="0"/>
                <a:cs typeface="Times New Roman" panose="02020603050405020304" pitchFamily="18" charset="0"/>
              </a:rPr>
              <a:t>表</a:t>
            </a:r>
            <a:r>
              <a:rPr lang="en-US" altLang="zh-CN" sz="2400" b="1" dirty="0" smtClean="0">
                <a:solidFill>
                  <a:srgbClr val="CC3300"/>
                </a:solidFill>
                <a:latin typeface="Calibri" panose="020F0502020204030204" pitchFamily="34" charset="0"/>
                <a:cs typeface="Times New Roman" panose="02020603050405020304" pitchFamily="18" charset="0"/>
              </a:rPr>
              <a:t>3.4-6  </a:t>
            </a:r>
            <a:r>
              <a:rPr lang="zh-CN" altLang="en-US" sz="2400" b="1" dirty="0" smtClean="0">
                <a:solidFill>
                  <a:srgbClr val="CC3300"/>
                </a:solidFill>
                <a:latin typeface="Calibri" panose="020F0502020204030204" pitchFamily="34" charset="0"/>
                <a:cs typeface="Times New Roman" panose="02020603050405020304" pitchFamily="18" charset="0"/>
              </a:rPr>
              <a:t>区域</a:t>
            </a:r>
            <a:r>
              <a:rPr lang="zh-CN" altLang="en-US" sz="2400" b="1" dirty="0">
                <a:solidFill>
                  <a:srgbClr val="CC3300"/>
                </a:solidFill>
                <a:latin typeface="Calibri" panose="020F0502020204030204" pitchFamily="34" charset="0"/>
                <a:cs typeface="Times New Roman" panose="02020603050405020304" pitchFamily="18" charset="0"/>
              </a:rPr>
              <a:t>系数、弹性影响系数、重合度系数</a:t>
            </a:r>
            <a:endParaRPr lang="en-US" altLang="zh-CN" sz="2400" dirty="0">
              <a:solidFill>
                <a:srgbClr val="CC3300"/>
              </a:solidFill>
            </a:endParaRPr>
          </a:p>
        </p:txBody>
      </p:sp>
      <p:sp>
        <p:nvSpPr>
          <p:cNvPr id="1541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4" name="组合 3"/>
          <p:cNvGrpSpPr/>
          <p:nvPr/>
        </p:nvGrpSpPr>
        <p:grpSpPr>
          <a:xfrm>
            <a:off x="4491355" y="986155"/>
            <a:ext cx="4757420" cy="398780"/>
            <a:chOff x="7073" y="1553"/>
            <a:chExt cx="7492" cy="628"/>
          </a:xfrm>
        </p:grpSpPr>
        <p:sp>
          <p:nvSpPr>
            <p:cNvPr id="2" name="Rectangle 3"/>
            <p:cNvSpPr>
              <a:spLocks noChangeArrowheads="1"/>
            </p:cNvSpPr>
            <p:nvPr/>
          </p:nvSpPr>
          <p:spPr bwMode="auto">
            <a:xfrm>
              <a:off x="7073" y="1553"/>
              <a:ext cx="7492"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a:solidFill>
                    <a:srgbClr val="000099"/>
                  </a:solidFill>
                  <a:latin typeface="宋体" panose="02010600030101010101" pitchFamily="2" charset="-122"/>
                  <a:cs typeface="Times New Roman" panose="02020603050405020304" pitchFamily="18" charset="0"/>
                </a:rPr>
                <a:t>对于标准斜齿轮，</a:t>
              </a:r>
              <a:r>
                <a:rPr lang="en-US" altLang="zh-CN">
                  <a:solidFill>
                    <a:srgbClr val="000099"/>
                  </a:solidFill>
                  <a:latin typeface="宋体" panose="02010600030101010101" pitchFamily="2" charset="-122"/>
                  <a:cs typeface="Times New Roman" panose="02020603050405020304" pitchFamily="18" charset="0"/>
                </a:rPr>
                <a:t>     </a:t>
              </a:r>
              <a:r>
                <a:rPr lang="zh-CN" altLang="en-US">
                  <a:solidFill>
                    <a:srgbClr val="000099"/>
                  </a:solidFill>
                  <a:latin typeface="宋体" panose="02010600030101010101" pitchFamily="2" charset="-122"/>
                  <a:cs typeface="Times New Roman" panose="02020603050405020304" pitchFamily="18" charset="0"/>
                </a:rPr>
                <a:t>，</a:t>
              </a:r>
              <a:r>
                <a:rPr lang="en-US" altLang="zh-CN" i="1">
                  <a:solidFill>
                    <a:srgbClr val="000099"/>
                  </a:solidFill>
                </a:rPr>
                <a:t>Z</a:t>
              </a:r>
              <a:r>
                <a:rPr lang="en-US" altLang="zh-CN" baseline="-30000">
                  <a:solidFill>
                    <a:srgbClr val="000099"/>
                  </a:solidFill>
                </a:rPr>
                <a:t>H</a:t>
              </a:r>
              <a:r>
                <a:rPr lang="en-US" altLang="zh-CN">
                  <a:solidFill>
                    <a:srgbClr val="000099"/>
                  </a:solidFill>
                  <a:latin typeface="宋体" panose="02010600030101010101" pitchFamily="2" charset="-122"/>
                  <a:cs typeface="Times New Roman" panose="02020603050405020304" pitchFamily="18" charset="0"/>
                </a:rPr>
                <a:t>=2.5cos</a:t>
              </a:r>
              <a:r>
                <a:rPr lang="en-US" altLang="zh-CN">
                  <a:solidFill>
                    <a:srgbClr val="000099"/>
                  </a:solidFill>
                  <a:latin typeface="Arial" panose="020B0604020202020204" pitchFamily="34" charset="0"/>
                  <a:cs typeface="Arial" panose="020B0604020202020204" pitchFamily="34" charset="0"/>
                </a:rPr>
                <a:t>β</a:t>
              </a:r>
              <a:r>
                <a:rPr lang="en-US" altLang="zh-CN">
                  <a:solidFill>
                    <a:srgbClr val="000099"/>
                  </a:solidFill>
                </a:rPr>
                <a:t> </a:t>
              </a:r>
              <a:endParaRPr lang="en-US" altLang="zh-CN">
                <a:solidFill>
                  <a:srgbClr val="000099"/>
                </a:solidFill>
              </a:endParaRPr>
            </a:p>
          </p:txBody>
        </p:sp>
        <p:graphicFrame>
          <p:nvGraphicFramePr>
            <p:cNvPr id="3" name="对象 2">
              <a:hlinkClick r:id="" action="ppaction://ole?verb="/>
            </p:cNvPr>
            <p:cNvGraphicFramePr>
              <a:graphicFrameLocks noChangeAspect="1"/>
            </p:cNvGraphicFramePr>
            <p:nvPr/>
          </p:nvGraphicFramePr>
          <p:xfrm>
            <a:off x="10263" y="1585"/>
            <a:ext cx="1282" cy="513"/>
          </p:xfrm>
          <a:graphic>
            <a:graphicData uri="http://schemas.openxmlformats.org/presentationml/2006/ole">
              <mc:AlternateContent xmlns:mc="http://schemas.openxmlformats.org/markup-compatibility/2006">
                <mc:Choice xmlns:v="urn:schemas-microsoft-com:vml" Requires="v">
                  <p:oleObj spid="_x0000_s1025" name="" r:id="rId7" imgW="571500" imgH="228600" progId="Equation.KSEE3">
                    <p:embed/>
                  </p:oleObj>
                </mc:Choice>
                <mc:Fallback>
                  <p:oleObj name="" r:id="rId7" imgW="571500" imgH="228600" progId="Equation.KSEE3">
                    <p:embed/>
                    <p:pic>
                      <p:nvPicPr>
                        <p:cNvPr id="0" name="图片 1024"/>
                        <p:cNvPicPr/>
                        <p:nvPr/>
                      </p:nvPicPr>
                      <p:blipFill>
                        <a:blip r:embed="rId8"/>
                        <a:stretch>
                          <a:fillRect/>
                        </a:stretch>
                      </p:blipFill>
                      <p:spPr>
                        <a:xfrm>
                          <a:off x="10263" y="1585"/>
                          <a:ext cx="1282" cy="513"/>
                        </a:xfrm>
                        <a:prstGeom prst="rect">
                          <a:avLst/>
                        </a:prstGeom>
                      </p:spPr>
                    </p:pic>
                  </p:oleObj>
                </mc:Fallback>
              </mc:AlternateContent>
            </a:graphicData>
          </a:graphic>
        </p:graphicFrame>
      </p:grpSp>
      <p:grpSp>
        <p:nvGrpSpPr>
          <p:cNvPr id="7" name="组合 6"/>
          <p:cNvGrpSpPr/>
          <p:nvPr/>
        </p:nvGrpSpPr>
        <p:grpSpPr>
          <a:xfrm>
            <a:off x="4501515" y="5984875"/>
            <a:ext cx="2842895" cy="424815"/>
            <a:chOff x="7134" y="9563"/>
            <a:chExt cx="4477" cy="669"/>
          </a:xfrm>
        </p:grpSpPr>
        <p:sp>
          <p:nvSpPr>
            <p:cNvPr id="5" name="Rectangle 3"/>
            <p:cNvSpPr>
              <a:spLocks noChangeArrowheads="1"/>
            </p:cNvSpPr>
            <p:nvPr/>
          </p:nvSpPr>
          <p:spPr bwMode="auto">
            <a:xfrm>
              <a:off x="7134" y="9563"/>
              <a:ext cx="3488"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a:solidFill>
                    <a:srgbClr val="000099"/>
                  </a:solidFill>
                  <a:latin typeface="宋体" panose="02010600030101010101" pitchFamily="2" charset="-122"/>
                  <a:cs typeface="Times New Roman" panose="02020603050405020304" pitchFamily="18" charset="0"/>
                </a:rPr>
                <a:t>对于直圆柱齿轮，</a:t>
              </a:r>
              <a:endParaRPr lang="en-US" altLang="zh-CN">
                <a:solidFill>
                  <a:srgbClr val="000099"/>
                </a:solidFill>
              </a:endParaRPr>
            </a:p>
          </p:txBody>
        </p:sp>
        <p:graphicFrame>
          <p:nvGraphicFramePr>
            <p:cNvPr id="6" name="对象 5">
              <a:hlinkClick r:id="" action="ppaction://ole?verb="/>
            </p:cNvPr>
            <p:cNvGraphicFramePr>
              <a:graphicFrameLocks noChangeAspect="1"/>
            </p:cNvGraphicFramePr>
            <p:nvPr/>
          </p:nvGraphicFramePr>
          <p:xfrm>
            <a:off x="10445" y="9596"/>
            <a:ext cx="1167" cy="637"/>
          </p:xfrm>
          <a:graphic>
            <a:graphicData uri="http://schemas.openxmlformats.org/presentationml/2006/ole">
              <mc:AlternateContent xmlns:mc="http://schemas.openxmlformats.org/markup-compatibility/2006">
                <mc:Choice xmlns:v="urn:schemas-microsoft-com:vml" Requires="v">
                  <p:oleObj spid="_x0000_s1026" name="" r:id="rId9" imgW="419100" imgH="228600" progId="Equation.KSEE3">
                    <p:embed/>
                  </p:oleObj>
                </mc:Choice>
                <mc:Fallback>
                  <p:oleObj name="" r:id="rId9" imgW="419100" imgH="228600" progId="Equation.KSEE3">
                    <p:embed/>
                    <p:pic>
                      <p:nvPicPr>
                        <p:cNvPr id="0" name="图片 1025"/>
                        <p:cNvPicPr/>
                        <p:nvPr/>
                      </p:nvPicPr>
                      <p:blipFill>
                        <a:blip r:embed="rId10"/>
                        <a:stretch>
                          <a:fillRect/>
                        </a:stretch>
                      </p:blipFill>
                      <p:spPr>
                        <a:xfrm>
                          <a:off x="10445" y="9596"/>
                          <a:ext cx="1167" cy="637"/>
                        </a:xfrm>
                        <a:prstGeom prst="rect">
                          <a:avLst/>
                        </a:prstGeom>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25488" y="1292225"/>
          <a:ext cx="7227888" cy="1828800"/>
        </p:xfrm>
        <a:graphic>
          <a:graphicData uri="http://schemas.openxmlformats.org/drawingml/2006/table">
            <a:tbl>
              <a:tblPr/>
              <a:tblGrid>
                <a:gridCol w="778871"/>
                <a:gridCol w="2446422"/>
                <a:gridCol w="2557017"/>
                <a:gridCol w="1445578"/>
              </a:tblGrid>
              <a:tr h="688634">
                <a:tc>
                  <a:txBody>
                    <a:bodyPr/>
                    <a:lstStyle/>
                    <a:p>
                      <a:pPr algn="ctr">
                        <a:lnSpc>
                          <a:spcPct val="150000"/>
                        </a:lnSpc>
                        <a:spcAft>
                          <a:spcPts val="0"/>
                        </a:spcAft>
                      </a:pP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布置状况</a:t>
                      </a:r>
                      <a:endPar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两支承相对于小齿轮作对称布置</a:t>
                      </a:r>
                      <a:endPar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两支承相对于小齿轮作非对称布置</a:t>
                      </a:r>
                      <a:endPar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小齿轮作悬臂布置</a:t>
                      </a:r>
                      <a:endPar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1168">
                <a:tc>
                  <a:txBody>
                    <a:bodyPr/>
                    <a:lstStyle/>
                    <a:p>
                      <a:pPr algn="ctr">
                        <a:lnSpc>
                          <a:spcPct val="150000"/>
                        </a:lnSpc>
                        <a:spcAft>
                          <a:spcPts val="0"/>
                        </a:spcAft>
                      </a:pPr>
                      <a:r>
                        <a:rPr lang="en-US" sz="2000" i="1" kern="100">
                          <a:solidFill>
                            <a:srgbClr val="000099"/>
                          </a:solidFill>
                          <a:latin typeface="华文中宋" panose="02010600040101010101" pitchFamily="2" charset="-122"/>
                          <a:ea typeface="华文中宋" panose="02010600040101010101" pitchFamily="2" charset="-122"/>
                          <a:cs typeface="Times New Roman" panose="02020603050405020304"/>
                        </a:rPr>
                        <a:t>Φ</a:t>
                      </a:r>
                      <a:r>
                        <a:rPr lang="en-US" sz="2000" kern="100" baseline="-25000">
                          <a:solidFill>
                            <a:srgbClr val="000099"/>
                          </a:solidFill>
                          <a:latin typeface="华文中宋" panose="02010600040101010101" pitchFamily="2" charset="-122"/>
                          <a:ea typeface="华文中宋" panose="02010600040101010101" pitchFamily="2" charset="-122"/>
                          <a:cs typeface="Times New Roman" panose="02020603050405020304"/>
                        </a:rPr>
                        <a:t>d</a:t>
                      </a:r>
                      <a:endParaRPr lang="zh-CN" sz="20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0.9</a:t>
                      </a: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2000" kern="100" dirty="0" smtClean="0">
                          <a:solidFill>
                            <a:srgbClr val="000099"/>
                          </a:solidFill>
                          <a:latin typeface="华文中宋" panose="02010600040101010101" pitchFamily="2" charset="-122"/>
                          <a:ea typeface="华文中宋" panose="02010600040101010101" pitchFamily="2" charset="-122"/>
                          <a:cs typeface="Times New Roman" panose="02020603050405020304"/>
                        </a:rPr>
                        <a:t>1.4</a:t>
                      </a:r>
                      <a:endParaRPr lang="en-US" sz="2000" kern="100" dirty="0" smtClean="0">
                        <a:solidFill>
                          <a:srgbClr val="000099"/>
                        </a:solidFill>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smtClean="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1.2</a:t>
                      </a: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1.9</a:t>
                      </a: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endPar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0.7</a:t>
                      </a: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2000" kern="100" dirty="0" smtClean="0">
                          <a:solidFill>
                            <a:srgbClr val="000099"/>
                          </a:solidFill>
                          <a:latin typeface="华文中宋" panose="02010600040101010101" pitchFamily="2" charset="-122"/>
                          <a:ea typeface="华文中宋" panose="02010600040101010101" pitchFamily="2" charset="-122"/>
                          <a:cs typeface="Times New Roman" panose="02020603050405020304"/>
                        </a:rPr>
                        <a:t>1.15</a:t>
                      </a:r>
                      <a:endParaRPr lang="en-US" sz="2000" kern="100" dirty="0" smtClean="0">
                        <a:solidFill>
                          <a:srgbClr val="000099"/>
                        </a:solidFill>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smtClean="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1.1</a:t>
                      </a: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1.65</a:t>
                      </a: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endPar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0.4</a:t>
                      </a:r>
                      <a:r>
                        <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2000" kern="100" dirty="0">
                          <a:solidFill>
                            <a:srgbClr val="000099"/>
                          </a:solidFill>
                          <a:latin typeface="华文中宋" panose="02010600040101010101" pitchFamily="2" charset="-122"/>
                          <a:ea typeface="华文中宋" panose="02010600040101010101" pitchFamily="2" charset="-122"/>
                          <a:cs typeface="Times New Roman" panose="02020603050405020304"/>
                        </a:rPr>
                        <a:t>0.6</a:t>
                      </a:r>
                      <a:endParaRPr lang="zh-CN" sz="20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17779" marR="17779"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37905" name="Rectangle 1"/>
          <p:cNvSpPr>
            <a:spLocks noChangeArrowheads="1"/>
          </p:cNvSpPr>
          <p:nvPr/>
        </p:nvSpPr>
        <p:spPr bwMode="auto">
          <a:xfrm>
            <a:off x="638175" y="3423161"/>
            <a:ext cx="802640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3337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ct val="150000"/>
              </a:lnSpc>
            </a:pPr>
            <a:r>
              <a:rPr lang="zh-CN" altLang="en-US" sz="1800" dirty="0">
                <a:solidFill>
                  <a:srgbClr val="000099"/>
                </a:solidFill>
                <a:latin typeface="Calibri" panose="020F0502020204030204" pitchFamily="34" charset="0"/>
                <a:cs typeface="Times New Roman" panose="02020603050405020304" pitchFamily="18" charset="0"/>
              </a:rPr>
              <a:t>注：</a:t>
            </a:r>
            <a:r>
              <a:rPr lang="zh-CN" altLang="en-US" sz="1800" dirty="0">
                <a:solidFill>
                  <a:srgbClr val="FF0000"/>
                </a:solidFill>
                <a:latin typeface="Calibri" panose="020F0502020204030204" pitchFamily="34" charset="0"/>
                <a:cs typeface="Times New Roman" panose="02020603050405020304" pitchFamily="18" charset="0"/>
              </a:rPr>
              <a:t>①大、小齿轮皆为硬齿面时，</a:t>
            </a:r>
            <a:r>
              <a:rPr lang="en-US" altLang="zh-CN" sz="1800" i="1" dirty="0" err="1">
                <a:solidFill>
                  <a:srgbClr val="FF0000"/>
                </a:solidFill>
                <a:cs typeface="Times New Roman" panose="02020603050405020304" pitchFamily="18" charset="0"/>
              </a:rPr>
              <a:t>Φ</a:t>
            </a:r>
            <a:r>
              <a:rPr lang="en-US" altLang="zh-CN" sz="1800" baseline="-30000" dirty="0" err="1">
                <a:solidFill>
                  <a:srgbClr val="FF0000"/>
                </a:solidFill>
                <a:cs typeface="Times New Roman" panose="02020603050405020304" pitchFamily="18" charset="0"/>
              </a:rPr>
              <a:t>d</a:t>
            </a:r>
            <a:r>
              <a:rPr lang="zh-CN" altLang="en-US" sz="1800" dirty="0">
                <a:solidFill>
                  <a:srgbClr val="FF0000"/>
                </a:solidFill>
                <a:latin typeface="Calibri" panose="020F0502020204030204" pitchFamily="34" charset="0"/>
                <a:cs typeface="Times New Roman" panose="02020603050405020304" pitchFamily="18" charset="0"/>
              </a:rPr>
              <a:t>应取表中偏下限值</a:t>
            </a:r>
            <a:r>
              <a:rPr lang="zh-CN" altLang="en-US" sz="1800" dirty="0" smtClean="0">
                <a:solidFill>
                  <a:srgbClr val="FF0000"/>
                </a:solidFill>
                <a:latin typeface="Calibri" panose="020F0502020204030204" pitchFamily="34" charset="0"/>
                <a:cs typeface="Times New Roman" panose="02020603050405020304" pitchFamily="18" charset="0"/>
              </a:rPr>
              <a:t>；</a:t>
            </a:r>
            <a:endParaRPr lang="en-US" altLang="zh-CN" sz="1800" dirty="0" smtClean="0">
              <a:solidFill>
                <a:srgbClr val="FF0000"/>
              </a:solidFill>
              <a:latin typeface="Calibri" panose="020F0502020204030204" pitchFamily="34" charset="0"/>
              <a:cs typeface="Times New Roman" panose="02020603050405020304" pitchFamily="18" charset="0"/>
            </a:endParaRPr>
          </a:p>
          <a:p>
            <a:pPr>
              <a:lnSpc>
                <a:spcPct val="150000"/>
              </a:lnSpc>
            </a:pPr>
            <a:r>
              <a:rPr lang="en-US" altLang="zh-CN" sz="1800" dirty="0">
                <a:solidFill>
                  <a:srgbClr val="FF0000"/>
                </a:solidFill>
                <a:latin typeface="Calibri" panose="020F0502020204030204" pitchFamily="34" charset="0"/>
                <a:cs typeface="Times New Roman" panose="02020603050405020304" pitchFamily="18" charset="0"/>
              </a:rPr>
              <a:t> </a:t>
            </a:r>
            <a:r>
              <a:rPr lang="en-US" altLang="zh-CN" sz="1800" dirty="0" smtClean="0">
                <a:solidFill>
                  <a:srgbClr val="FF0000"/>
                </a:solidFill>
                <a:latin typeface="Calibri" panose="020F0502020204030204" pitchFamily="34" charset="0"/>
                <a:cs typeface="Times New Roman" panose="02020603050405020304" pitchFamily="18" charset="0"/>
              </a:rPr>
              <a:t>           </a:t>
            </a:r>
            <a:r>
              <a:rPr lang="zh-CN" altLang="en-US" sz="1800" dirty="0" smtClean="0">
                <a:solidFill>
                  <a:srgbClr val="FF0000"/>
                </a:solidFill>
                <a:latin typeface="Calibri" panose="020F0502020204030204" pitchFamily="34" charset="0"/>
                <a:cs typeface="Times New Roman" panose="02020603050405020304" pitchFamily="18" charset="0"/>
              </a:rPr>
              <a:t>若</a:t>
            </a:r>
            <a:r>
              <a:rPr lang="zh-CN" altLang="en-US" sz="1800" dirty="0">
                <a:solidFill>
                  <a:srgbClr val="FF0000"/>
                </a:solidFill>
                <a:latin typeface="Calibri" panose="020F0502020204030204" pitchFamily="34" charset="0"/>
                <a:cs typeface="Times New Roman" panose="02020603050405020304" pitchFamily="18" charset="0"/>
              </a:rPr>
              <a:t>皆为软齿面或仅大齿轮为软齿面时，</a:t>
            </a:r>
            <a:r>
              <a:rPr lang="en-US" altLang="zh-CN" sz="1800" i="1" dirty="0" err="1">
                <a:solidFill>
                  <a:srgbClr val="FF0000"/>
                </a:solidFill>
                <a:cs typeface="Times New Roman" panose="02020603050405020304" pitchFamily="18" charset="0"/>
              </a:rPr>
              <a:t>Φ</a:t>
            </a:r>
            <a:r>
              <a:rPr lang="en-US" altLang="zh-CN" sz="1800" baseline="-30000" dirty="0" err="1">
                <a:solidFill>
                  <a:srgbClr val="FF0000"/>
                </a:solidFill>
                <a:cs typeface="Times New Roman" panose="02020603050405020304" pitchFamily="18" charset="0"/>
              </a:rPr>
              <a:t>d</a:t>
            </a:r>
            <a:r>
              <a:rPr lang="zh-CN" altLang="en-US" sz="1800" dirty="0">
                <a:solidFill>
                  <a:srgbClr val="FF0000"/>
                </a:solidFill>
                <a:latin typeface="Calibri" panose="020F0502020204030204" pitchFamily="34" charset="0"/>
                <a:cs typeface="Times New Roman" panose="02020603050405020304" pitchFamily="18" charset="0"/>
              </a:rPr>
              <a:t>取表中偏上限值。</a:t>
            </a:r>
            <a:endParaRPr lang="zh-CN" altLang="en-US" sz="1800" dirty="0">
              <a:solidFill>
                <a:srgbClr val="FF0000"/>
              </a:solidFill>
            </a:endParaRPr>
          </a:p>
          <a:p>
            <a:pPr>
              <a:lnSpc>
                <a:spcPct val="150000"/>
              </a:lnSpc>
            </a:pPr>
            <a:r>
              <a:rPr lang="zh-CN" altLang="en-US" sz="1800" dirty="0">
                <a:solidFill>
                  <a:srgbClr val="FF0000"/>
                </a:solidFill>
                <a:latin typeface="Calibri" panose="020F0502020204030204" pitchFamily="34" charset="0"/>
                <a:cs typeface="Times New Roman" panose="02020603050405020304" pitchFamily="18" charset="0"/>
              </a:rPr>
              <a:t>         ②括号内的数值用于人字齿轮，此时</a:t>
            </a:r>
            <a:r>
              <a:rPr lang="en-US" altLang="zh-CN" sz="1800" i="1" dirty="0">
                <a:solidFill>
                  <a:srgbClr val="FF0000"/>
                </a:solidFill>
                <a:cs typeface="Times New Roman" panose="02020603050405020304" pitchFamily="18" charset="0"/>
              </a:rPr>
              <a:t>b</a:t>
            </a:r>
            <a:r>
              <a:rPr lang="zh-CN" altLang="en-US" sz="1800" dirty="0">
                <a:solidFill>
                  <a:srgbClr val="FF0000"/>
                </a:solidFill>
                <a:latin typeface="Calibri" panose="020F0502020204030204" pitchFamily="34" charset="0"/>
                <a:cs typeface="Times New Roman" panose="02020603050405020304" pitchFamily="18" charset="0"/>
              </a:rPr>
              <a:t>为人字齿轮的总宽度。</a:t>
            </a:r>
            <a:endParaRPr lang="zh-CN" altLang="en-US" sz="1800" dirty="0">
              <a:solidFill>
                <a:srgbClr val="FF0000"/>
              </a:solidFill>
            </a:endParaRPr>
          </a:p>
        </p:txBody>
      </p:sp>
      <p:sp>
        <p:nvSpPr>
          <p:cNvPr id="37906" name="矩形 5"/>
          <p:cNvSpPr>
            <a:spLocks noChangeArrowheads="1"/>
          </p:cNvSpPr>
          <p:nvPr/>
        </p:nvSpPr>
        <p:spPr bwMode="auto">
          <a:xfrm>
            <a:off x="2508250" y="282575"/>
            <a:ext cx="3213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3337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en-US" altLang="zh-CN" sz="2400" b="1" dirty="0" smtClean="0">
                <a:solidFill>
                  <a:srgbClr val="CC3300"/>
                </a:solidFill>
                <a:latin typeface="Calibri" panose="020F0502020204030204" pitchFamily="34" charset="0"/>
                <a:cs typeface="Times New Roman" panose="02020603050405020304" pitchFamily="18" charset="0"/>
              </a:rPr>
              <a:t>   </a:t>
            </a:r>
            <a:r>
              <a:rPr lang="zh-CN" altLang="en-US" sz="2400" b="1" dirty="0" smtClean="0">
                <a:solidFill>
                  <a:srgbClr val="CC3300"/>
                </a:solidFill>
                <a:latin typeface="Calibri" panose="020F0502020204030204" pitchFamily="34" charset="0"/>
                <a:cs typeface="Times New Roman" panose="02020603050405020304" pitchFamily="18" charset="0"/>
              </a:rPr>
              <a:t>齿轮</a:t>
            </a:r>
            <a:r>
              <a:rPr lang="zh-CN" altLang="en-US" sz="2400" b="1" dirty="0">
                <a:solidFill>
                  <a:srgbClr val="CC3300"/>
                </a:solidFill>
                <a:latin typeface="Calibri" panose="020F0502020204030204" pitchFamily="34" charset="0"/>
                <a:cs typeface="Times New Roman" panose="02020603050405020304" pitchFamily="18" charset="0"/>
              </a:rPr>
              <a:t>的齿宽系数</a:t>
            </a:r>
            <a:r>
              <a:rPr lang="en-US" altLang="zh-CN" sz="2400" b="1" i="1" dirty="0" err="1">
                <a:solidFill>
                  <a:srgbClr val="CC3300"/>
                </a:solidFill>
                <a:cs typeface="Times New Roman" panose="02020603050405020304" pitchFamily="18" charset="0"/>
              </a:rPr>
              <a:t>Φ</a:t>
            </a:r>
            <a:r>
              <a:rPr lang="en-US" altLang="zh-CN" sz="2400" b="1" baseline="-30000" dirty="0" err="1">
                <a:solidFill>
                  <a:srgbClr val="CC3300"/>
                </a:solidFill>
                <a:cs typeface="Times New Roman" panose="02020603050405020304" pitchFamily="18" charset="0"/>
              </a:rPr>
              <a:t>d</a:t>
            </a:r>
            <a:endParaRPr lang="en-US" altLang="zh-CN" sz="2400" dirty="0">
              <a:solidFill>
                <a:srgbClr val="CC3300"/>
              </a:solidFill>
            </a:endParaRPr>
          </a:p>
        </p:txBody>
      </p:sp>
      <p:sp>
        <p:nvSpPr>
          <p:cNvPr id="37907" name="Text Box 16"/>
          <p:cNvSpPr txBox="1">
            <a:spLocks noChangeArrowheads="1"/>
          </p:cNvSpPr>
          <p:nvPr/>
        </p:nvSpPr>
        <p:spPr bwMode="auto">
          <a:xfrm>
            <a:off x="7671435" y="621125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sp>
        <p:nvSpPr>
          <p:cNvPr id="3790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16"/>
          <p:cNvSpPr txBox="1">
            <a:spLocks noChangeArrowheads="1"/>
          </p:cNvSpPr>
          <p:nvPr/>
        </p:nvSpPr>
        <p:spPr bwMode="auto">
          <a:xfrm>
            <a:off x="8328025" y="65198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sp>
        <p:nvSpPr>
          <p:cNvPr id="41987" name="Rectangle 2"/>
          <p:cNvSpPr>
            <a:spLocks noChangeArrowheads="1"/>
          </p:cNvSpPr>
          <p:nvPr/>
        </p:nvSpPr>
        <p:spPr bwMode="auto">
          <a:xfrm>
            <a:off x="4357688" y="0"/>
            <a:ext cx="661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endParaRPr lang="zh-CN" altLang="en-US"/>
          </a:p>
        </p:txBody>
      </p:sp>
      <p:sp>
        <p:nvSpPr>
          <p:cNvPr id="41988" name="矩形 5"/>
          <p:cNvSpPr>
            <a:spLocks noChangeArrowheads="1"/>
          </p:cNvSpPr>
          <p:nvPr/>
        </p:nvSpPr>
        <p:spPr bwMode="auto">
          <a:xfrm>
            <a:off x="3451225" y="0"/>
            <a:ext cx="2368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3337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400">
                <a:solidFill>
                  <a:srgbClr val="CC3300"/>
                </a:solidFill>
                <a:latin typeface="Calibri" panose="020F0502020204030204" pitchFamily="34" charset="0"/>
                <a:cs typeface="Times New Roman" panose="02020603050405020304" pitchFamily="18" charset="0"/>
              </a:rPr>
              <a:t>齿轮精度选择</a:t>
            </a:r>
            <a:endParaRPr lang="en-US" altLang="zh-CN" sz="2400">
              <a:solidFill>
                <a:srgbClr val="CC3300"/>
              </a:solidFill>
            </a:endParaRPr>
          </a:p>
        </p:txBody>
      </p:sp>
      <p:sp>
        <p:nvSpPr>
          <p:cNvPr id="41989" name="Rectangle 7"/>
          <p:cNvSpPr>
            <a:spLocks noChangeArrowheads="1"/>
          </p:cNvSpPr>
          <p:nvPr/>
        </p:nvSpPr>
        <p:spPr bwMode="auto">
          <a:xfrm>
            <a:off x="0" y="219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zh-CN" sz="800"/>
              <a:t> </a:t>
            </a:r>
            <a:endParaRPr lang="zh-CN" altLang="zh-CN"/>
          </a:p>
        </p:txBody>
      </p:sp>
      <p:graphicFrame>
        <p:nvGraphicFramePr>
          <p:cNvPr id="18" name="表格 17"/>
          <p:cNvGraphicFramePr>
            <a:graphicFrameLocks noGrp="1"/>
          </p:cNvGraphicFramePr>
          <p:nvPr>
            <p:custDataLst>
              <p:tags r:id="rId2"/>
            </p:custDataLst>
          </p:nvPr>
        </p:nvGraphicFramePr>
        <p:xfrm>
          <a:off x="261938" y="855663"/>
          <a:ext cx="7997825" cy="5826126"/>
        </p:xfrm>
        <a:graphic>
          <a:graphicData uri="http://schemas.openxmlformats.org/drawingml/2006/table">
            <a:tbl>
              <a:tblPr/>
              <a:tblGrid>
                <a:gridCol w="1070885"/>
                <a:gridCol w="1332031"/>
                <a:gridCol w="1464484"/>
                <a:gridCol w="1464484"/>
                <a:gridCol w="1465422"/>
                <a:gridCol w="535442"/>
                <a:gridCol w="665077"/>
              </a:tblGrid>
              <a:tr h="320075">
                <a:tc>
                  <a:txBody>
                    <a:bodyPr/>
                    <a:lstStyle/>
                    <a:p>
                      <a:pPr algn="ctr">
                        <a:lnSpc>
                          <a:spcPct val="150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精度等级</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5</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级</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6</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级</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7</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级</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8</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级</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9</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级</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10</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级</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91888">
                <a:tc>
                  <a:txBody>
                    <a:bodyPr/>
                    <a:lstStyle/>
                    <a:p>
                      <a:pPr algn="ctr">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加工方法</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在周期性误差非常小的精密机床上范成加工</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在高精度的齿轮机床上范成加工</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在高精度的齿轮机床上范成加工</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用范成法或仿形法来加工</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133350" algn="just">
                        <a:lnSpc>
                          <a:spcPct val="115000"/>
                        </a:lnSpc>
                        <a:spcAft>
                          <a:spcPts val="0"/>
                        </a:spcAft>
                      </a:pP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用任意的方法加工</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720736">
                <a:tc>
                  <a:txBody>
                    <a:bodyPr/>
                    <a:lstStyle/>
                    <a:p>
                      <a:pPr algn="just">
                        <a:lnSpc>
                          <a:spcPct val="115000"/>
                        </a:lnSpc>
                        <a:spcAft>
                          <a:spcPts val="0"/>
                        </a:spcAft>
                      </a:pP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齿面最终精加工</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精密磨齿。大型齿轮用精密滚齿滚切后，再研磨或剃齿</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精密磨齿或剃齿</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不淬火的齿轮推荐用高精度的刀具切制。淬火的齿轮需要精加工（磨齿、剃齿、研磨、珩齿）</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不磨齿。必要时剃齿或研磨</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133350" algn="just">
                        <a:lnSpc>
                          <a:spcPct val="115000"/>
                        </a:lnSpc>
                        <a:spcAft>
                          <a:spcPts val="0"/>
                        </a:spcAft>
                      </a:pP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不需要精加工</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2372508">
                <a:tc>
                  <a:txBody>
                    <a:bodyPr/>
                    <a:lstStyle/>
                    <a:p>
                      <a:pPr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应用范围</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精密的分度机构用齿轮；用于高速、并对运转平稳性和噪音有比较高要求的齿轮；高速汽轮机用齿轮</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用于在高速下平稳地回转，并要求有最高的效率和低噪音的齿轮；分度机构用齿轮；高速减速器的齿轮；飞机、汽车和机床中的重要齿轮</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用于高速、载荷小或反转的齿轮；机床的进给齿轮；需要运动有配合的齿轮；中速减速器的齿轮；飞机、汽车制造中的齿轮</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对精度没有特别要求的一般机械用齿轮；机床齿轮（分度机构除外）；拖拉机齿轮；起重机、农业机械、普通减速器用齿轮</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133350" algn="just">
                        <a:lnSpc>
                          <a:spcPct val="115000"/>
                        </a:lnSpc>
                        <a:spcAft>
                          <a:spcPts val="0"/>
                        </a:spcAft>
                      </a:pP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用于对精度要求不高，并且在低速下工作的齿轮</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320919">
                <a:tc>
                  <a:txBody>
                    <a:bodyPr/>
                    <a:lstStyle/>
                    <a:p>
                      <a:pPr algn="ctr">
                        <a:lnSpc>
                          <a:spcPct val="150000"/>
                        </a:lnSpc>
                        <a:spcAft>
                          <a:spcPts val="0"/>
                        </a:spcAft>
                      </a:pP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效率</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0.99</a:t>
                      </a: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以上</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0.99</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以上</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0.98</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以上</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kern="100">
                          <a:solidFill>
                            <a:srgbClr val="000099"/>
                          </a:solidFill>
                          <a:latin typeface="华文中宋" panose="02010600040101010101" pitchFamily="2" charset="-122"/>
                          <a:ea typeface="华文中宋" panose="02010600040101010101" pitchFamily="2" charset="-122"/>
                          <a:cs typeface="Times New Roman" panose="02020603050405020304"/>
                        </a:rPr>
                        <a:t>0.97</a:t>
                      </a:r>
                      <a:r>
                        <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rPr>
                        <a:t>以上</a:t>
                      </a:r>
                      <a:endParaRPr lang="zh-CN" sz="14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r>
                        <a:rPr lang="en-US"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0.96</a:t>
                      </a:r>
                      <a:r>
                        <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rPr>
                        <a:t>以上</a:t>
                      </a:r>
                      <a:endParaRPr lang="zh-CN" sz="14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57475" marR="574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a:tc>
              </a:tr>
            </a:tbl>
          </a:graphicData>
        </a:graphic>
      </p:graphicFrame>
      <p:sp>
        <p:nvSpPr>
          <p:cNvPr id="42034" name="直接连接符 6"/>
          <p:cNvSpPr>
            <a:spLocks noChangeShapeType="1"/>
          </p:cNvSpPr>
          <p:nvPr/>
        </p:nvSpPr>
        <p:spPr bwMode="auto">
          <a:xfrm>
            <a:off x="0" y="6635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齿轮结构</a:t>
            </a:r>
            <a:r>
              <a:rPr lang="en-US" altLang="zh-CN" sz="800" smtClean="0">
                <a:solidFill>
                  <a:schemeClr val="bg1"/>
                </a:solidFill>
                <a:latin typeface="Times New Roman" panose="02020603050405020304" pitchFamily="18" charset="0"/>
              </a:rPr>
              <a:t>1</a:t>
            </a:r>
            <a:endParaRPr lang="zh-CN" altLang="en-US" sz="800" smtClean="0">
              <a:solidFill>
                <a:schemeClr val="bg1"/>
              </a:solidFill>
              <a:ea typeface="黑体" panose="02010609060101010101" pitchFamily="49" charset="-122"/>
            </a:endParaRPr>
          </a:p>
        </p:txBody>
      </p:sp>
      <p:sp>
        <p:nvSpPr>
          <p:cNvPr id="43011" name="Text Box 16"/>
          <p:cNvSpPr txBox="1">
            <a:spLocks noChangeArrowheads="1"/>
          </p:cNvSpPr>
          <p:nvPr/>
        </p:nvSpPr>
        <p:spPr bwMode="auto">
          <a:xfrm>
            <a:off x="8328025" y="65198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sp>
        <p:nvSpPr>
          <p:cNvPr id="43012" name="Rectangle 2"/>
          <p:cNvSpPr>
            <a:spLocks noChangeArrowheads="1"/>
          </p:cNvSpPr>
          <p:nvPr/>
        </p:nvSpPr>
        <p:spPr bwMode="auto">
          <a:xfrm>
            <a:off x="3516313" y="536575"/>
            <a:ext cx="661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endParaRPr lang="zh-CN" altLang="en-US"/>
          </a:p>
        </p:txBody>
      </p:sp>
      <p:sp>
        <p:nvSpPr>
          <p:cNvPr id="43013" name="Rectangle 4"/>
          <p:cNvSpPr>
            <a:spLocks noChangeArrowheads="1"/>
          </p:cNvSpPr>
          <p:nvPr/>
        </p:nvSpPr>
        <p:spPr bwMode="auto">
          <a:xfrm>
            <a:off x="0" y="769938"/>
            <a:ext cx="91440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ct val="150000"/>
              </a:lnSpc>
            </a:pPr>
            <a:r>
              <a:rPr lang="zh-CN" dirty="0">
                <a:solidFill>
                  <a:srgbClr val="000099"/>
                </a:solidFill>
                <a:latin typeface="Calibri" panose="020F0502020204030204" pitchFamily="34" charset="0"/>
                <a:cs typeface="Times New Roman" panose="02020603050405020304" pitchFamily="18" charset="0"/>
              </a:rPr>
              <a:t>对于</a:t>
            </a:r>
            <a:r>
              <a:rPr lang="zh-CN" altLang="en-US" dirty="0">
                <a:solidFill>
                  <a:srgbClr val="000099"/>
                </a:solidFill>
                <a:latin typeface="Calibri" panose="020F0502020204030204" pitchFamily="34" charset="0"/>
                <a:cs typeface="Times New Roman" panose="02020603050405020304" pitchFamily="18" charset="0"/>
              </a:rPr>
              <a:t>直径较小的锻造圆柱齿轮，若齿顶圆直径</a:t>
            </a:r>
            <a:r>
              <a:rPr lang="en-US" altLang="zh-CN" i="1" dirty="0">
                <a:solidFill>
                  <a:srgbClr val="FF0000"/>
                </a:solidFill>
                <a:cs typeface="Times New Roman" panose="02020603050405020304" pitchFamily="18" charset="0"/>
              </a:rPr>
              <a:t>d</a:t>
            </a:r>
            <a:r>
              <a:rPr lang="en-US" altLang="zh-CN" baseline="-30000" dirty="0">
                <a:solidFill>
                  <a:srgbClr val="FF0000"/>
                </a:solidFill>
                <a:cs typeface="Times New Roman" panose="02020603050405020304" pitchFamily="18" charset="0"/>
              </a:rPr>
              <a:t>a</a:t>
            </a:r>
            <a:r>
              <a:rPr lang="en-US" altLang="zh-CN" dirty="0">
                <a:solidFill>
                  <a:srgbClr val="FF0000"/>
                </a:solidFill>
                <a:latin typeface="Calibri" panose="020F0502020204030204" pitchFamily="34" charset="0"/>
                <a:cs typeface="Times New Roman" panose="02020603050405020304" pitchFamily="18" charset="0"/>
              </a:rPr>
              <a:t>﹤2</a:t>
            </a:r>
            <a:r>
              <a:rPr lang="en-US" altLang="zh-CN" i="1" dirty="0">
                <a:solidFill>
                  <a:srgbClr val="FF0000"/>
                </a:solidFill>
                <a:cs typeface="Times New Roman" panose="02020603050405020304" pitchFamily="18" charset="0"/>
              </a:rPr>
              <a:t>d</a:t>
            </a:r>
            <a:r>
              <a:rPr lang="zh-CN" altLang="en-US" dirty="0">
                <a:solidFill>
                  <a:srgbClr val="000099"/>
                </a:solidFill>
                <a:latin typeface="Calibri" panose="020F0502020204030204" pitchFamily="34" charset="0"/>
                <a:cs typeface="Times New Roman" panose="02020603050405020304" pitchFamily="18" charset="0"/>
              </a:rPr>
              <a:t>或齿根圆到齿轮键槽底部的距离</a:t>
            </a:r>
            <a:r>
              <a:rPr lang="en-US" altLang="zh-CN" i="1" dirty="0">
                <a:solidFill>
                  <a:srgbClr val="FF0000"/>
                </a:solidFill>
                <a:cs typeface="Times New Roman" panose="02020603050405020304" pitchFamily="18" charset="0"/>
              </a:rPr>
              <a:t>δ</a:t>
            </a:r>
            <a:r>
              <a:rPr lang="en-US" altLang="zh-CN" dirty="0">
                <a:solidFill>
                  <a:srgbClr val="FF0000"/>
                </a:solidFill>
                <a:latin typeface="Calibri" panose="020F0502020204030204" pitchFamily="34" charset="0"/>
                <a:cs typeface="Times New Roman" panose="02020603050405020304" pitchFamily="18" charset="0"/>
              </a:rPr>
              <a:t>﹤2.5</a:t>
            </a:r>
            <a:r>
              <a:rPr lang="en-US" altLang="zh-CN" i="1" dirty="0">
                <a:solidFill>
                  <a:srgbClr val="FF0000"/>
                </a:solidFill>
                <a:cs typeface="Times New Roman" panose="02020603050405020304" pitchFamily="18" charset="0"/>
              </a:rPr>
              <a:t>m</a:t>
            </a:r>
            <a:r>
              <a:rPr lang="en-US" altLang="zh-CN" baseline="-30000" dirty="0">
                <a:solidFill>
                  <a:srgbClr val="FF0000"/>
                </a:solidFill>
                <a:cs typeface="Times New Roman" panose="02020603050405020304" pitchFamily="18" charset="0"/>
              </a:rPr>
              <a:t>t</a:t>
            </a:r>
            <a:r>
              <a:rPr lang="zh-CN" altLang="en-US" dirty="0">
                <a:solidFill>
                  <a:srgbClr val="000099"/>
                </a:solidFill>
                <a:cs typeface="Times New Roman" panose="02020603050405020304" pitchFamily="18" charset="0"/>
              </a:rPr>
              <a:t>（</a:t>
            </a:r>
            <a:r>
              <a:rPr lang="en-US" altLang="zh-CN" i="1" dirty="0" err="1">
                <a:solidFill>
                  <a:srgbClr val="000099"/>
                </a:solidFill>
                <a:cs typeface="Times New Roman" panose="02020603050405020304" pitchFamily="18" charset="0"/>
              </a:rPr>
              <a:t>m</a:t>
            </a:r>
            <a:r>
              <a:rPr lang="en-US" altLang="zh-CN" baseline="-30000" dirty="0" err="1">
                <a:solidFill>
                  <a:srgbClr val="000099"/>
                </a:solidFill>
                <a:cs typeface="Times New Roman" panose="02020603050405020304" pitchFamily="18" charset="0"/>
              </a:rPr>
              <a:t>t</a:t>
            </a:r>
            <a:r>
              <a:rPr lang="zh-CN" altLang="en-US" dirty="0">
                <a:solidFill>
                  <a:srgbClr val="000099"/>
                </a:solidFill>
                <a:cs typeface="Times New Roman" panose="02020603050405020304" pitchFamily="18" charset="0"/>
              </a:rPr>
              <a:t>为齿轮端面模数），为避免出现轮缘断裂，应将轴和齿轮做成一体，并称其为齿轮轴。而对于</a:t>
            </a:r>
            <a:r>
              <a:rPr lang="zh-CN" altLang="en-US" dirty="0">
                <a:solidFill>
                  <a:srgbClr val="000099"/>
                </a:solidFill>
                <a:latin typeface="Calibri" panose="020F0502020204030204" pitchFamily="34" charset="0"/>
                <a:cs typeface="Times New Roman" panose="02020603050405020304" pitchFamily="18" charset="0"/>
              </a:rPr>
              <a:t>直径较小的锻造圆锥齿轮</a:t>
            </a:r>
            <a:r>
              <a:rPr lang="zh-CN" altLang="en-US" dirty="0" smtClean="0">
                <a:solidFill>
                  <a:srgbClr val="000099"/>
                </a:solidFill>
                <a:latin typeface="Calibri" panose="020F0502020204030204" pitchFamily="34" charset="0"/>
                <a:cs typeface="Times New Roman" panose="02020603050405020304" pitchFamily="18" charset="0"/>
              </a:rPr>
              <a:t>，当</a:t>
            </a:r>
            <a:r>
              <a:rPr lang="en-US" altLang="zh-CN" i="1" dirty="0" smtClean="0">
                <a:solidFill>
                  <a:srgbClr val="FF0000"/>
                </a:solidFill>
                <a:cs typeface="Times New Roman" panose="02020603050405020304" pitchFamily="18" charset="0"/>
              </a:rPr>
              <a:t>δ</a:t>
            </a:r>
            <a:r>
              <a:rPr lang="en-US" altLang="zh-CN" dirty="0" smtClean="0">
                <a:solidFill>
                  <a:srgbClr val="FF0000"/>
                </a:solidFill>
                <a:latin typeface="Calibri" panose="020F0502020204030204" pitchFamily="34" charset="0"/>
                <a:cs typeface="Times New Roman" panose="02020603050405020304" pitchFamily="18" charset="0"/>
              </a:rPr>
              <a:t>﹤1.6</a:t>
            </a:r>
            <a:r>
              <a:rPr lang="en-US" altLang="zh-CN" i="1" dirty="0" smtClean="0">
                <a:solidFill>
                  <a:srgbClr val="FF0000"/>
                </a:solidFill>
                <a:cs typeface="Times New Roman" panose="02020603050405020304" pitchFamily="18" charset="0"/>
              </a:rPr>
              <a:t>m</a:t>
            </a:r>
            <a:r>
              <a:rPr lang="zh-CN" altLang="en-US" dirty="0" smtClean="0">
                <a:solidFill>
                  <a:srgbClr val="000099"/>
                </a:solidFill>
                <a:cs typeface="Times New Roman" panose="02020603050405020304" pitchFamily="18" charset="0"/>
              </a:rPr>
              <a:t>（</a:t>
            </a:r>
            <a:r>
              <a:rPr lang="en-US" altLang="zh-CN" i="1" dirty="0">
                <a:solidFill>
                  <a:srgbClr val="000099"/>
                </a:solidFill>
                <a:cs typeface="Times New Roman" panose="02020603050405020304" pitchFamily="18" charset="0"/>
              </a:rPr>
              <a:t>m</a:t>
            </a:r>
            <a:r>
              <a:rPr lang="zh-CN" altLang="en-US" dirty="0">
                <a:solidFill>
                  <a:srgbClr val="000099"/>
                </a:solidFill>
                <a:cs typeface="Times New Roman" panose="02020603050405020304" pitchFamily="18" charset="0"/>
              </a:rPr>
              <a:t>为大端模数）时，也需要做成锥齿轮轴</a:t>
            </a:r>
            <a:r>
              <a:rPr lang="zh-CN" altLang="en-US" dirty="0" smtClean="0">
                <a:solidFill>
                  <a:srgbClr val="000099"/>
                </a:solidFill>
                <a:cs typeface="Times New Roman" panose="02020603050405020304" pitchFamily="18" charset="0"/>
              </a:rPr>
              <a:t>。</a:t>
            </a:r>
            <a:endParaRPr lang="zh-CN" altLang="en-US" dirty="0">
              <a:solidFill>
                <a:srgbClr val="000099"/>
              </a:solidFill>
            </a:endParaRPr>
          </a:p>
        </p:txBody>
      </p:sp>
      <p:pic>
        <p:nvPicPr>
          <p:cNvPr id="43014"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775" y="2724150"/>
            <a:ext cx="252571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56113"/>
            <a:ext cx="3568700"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矩形 5"/>
          <p:cNvSpPr>
            <a:spLocks noChangeArrowheads="1"/>
          </p:cNvSpPr>
          <p:nvPr/>
        </p:nvSpPr>
        <p:spPr bwMode="auto">
          <a:xfrm>
            <a:off x="2386772" y="188913"/>
            <a:ext cx="2676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3337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400" dirty="0">
                <a:solidFill>
                  <a:srgbClr val="CC3300"/>
                </a:solidFill>
                <a:latin typeface="Calibri" panose="020F0502020204030204" pitchFamily="34" charset="0"/>
                <a:cs typeface="Times New Roman" panose="02020603050405020304" pitchFamily="18" charset="0"/>
              </a:rPr>
              <a:t>小尺寸齿轮结构</a:t>
            </a:r>
            <a:endParaRPr lang="en-US" altLang="zh-CN" sz="2400" dirty="0">
              <a:solidFill>
                <a:srgbClr val="CC3300"/>
              </a:solidFill>
            </a:endParaRPr>
          </a:p>
        </p:txBody>
      </p:sp>
      <p:sp>
        <p:nvSpPr>
          <p:cNvPr id="4301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43018"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3076" y="2711382"/>
            <a:ext cx="59817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9"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4494213"/>
            <a:ext cx="53340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436703" y="248478"/>
            <a:ext cx="2484783" cy="430887"/>
          </a:xfrm>
          <a:prstGeom prst="rect">
            <a:avLst/>
          </a:prstGeom>
          <a:noFill/>
        </p:spPr>
        <p:txBody>
          <a:bodyPr wrap="square" rtlCol="0">
            <a:spAutoFit/>
          </a:bodyPr>
          <a:lstStyle/>
          <a:p>
            <a:r>
              <a:rPr lang="zh-CN" altLang="en-US" sz="2200" dirty="0" smtClean="0">
                <a:solidFill>
                  <a:srgbClr val="0000FF"/>
                </a:solidFill>
                <a:latin typeface="黑体" panose="02010609060101010101" pitchFamily="49" charset="-122"/>
                <a:ea typeface="黑体" panose="02010609060101010101" pitchFamily="49" charset="-122"/>
              </a:rPr>
              <a:t>齿轮轴</a:t>
            </a:r>
            <a:endParaRPr lang="zh-CN" altLang="en-US" sz="2200" dirty="0">
              <a:solidFill>
                <a:srgbClr val="0000FF"/>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wipe(left)">
                                      <p:cBhvr>
                                        <p:cTn id="7" dur="500"/>
                                        <p:tgtEl>
                                          <p:spTgt spid="430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wipe(down)">
                                      <p:cBhvr>
                                        <p:cTn id="12" dur="500"/>
                                        <p:tgtEl>
                                          <p:spTgt spid="430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3015"/>
                                        </p:tgtEl>
                                        <p:attrNameLst>
                                          <p:attrName>style.visibility</p:attrName>
                                        </p:attrNameLst>
                                      </p:cBhvr>
                                      <p:to>
                                        <p:strVal val="visible"/>
                                      </p:to>
                                    </p:set>
                                    <p:animEffect transition="in" filter="barn(inVertical)">
                                      <p:cBhvr>
                                        <p:cTn id="17" dur="500"/>
                                        <p:tgtEl>
                                          <p:spTgt spid="430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3018"/>
                                        </p:tgtEl>
                                        <p:attrNameLst>
                                          <p:attrName>style.visibility</p:attrName>
                                        </p:attrNameLst>
                                      </p:cBhvr>
                                      <p:to>
                                        <p:strVal val="visible"/>
                                      </p:to>
                                    </p:set>
                                    <p:animEffect transition="in" filter="wipe(down)">
                                      <p:cBhvr>
                                        <p:cTn id="22" dur="500"/>
                                        <p:tgtEl>
                                          <p:spTgt spid="430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3019"/>
                                        </p:tgtEl>
                                        <p:attrNameLst>
                                          <p:attrName>style.visibility</p:attrName>
                                        </p:attrNameLst>
                                      </p:cBhvr>
                                      <p:to>
                                        <p:strVal val="visible"/>
                                      </p:to>
                                    </p:set>
                                    <p:animEffect transition="in" filter="wipe(down)">
                                      <p:cBhvr>
                                        <p:cTn id="27" dur="500"/>
                                        <p:tgtEl>
                                          <p:spTgt spid="43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8904" y="482130"/>
            <a:ext cx="9144000" cy="5615444"/>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54" name="Text Box 46"/>
          <p:cNvSpPr txBox="1">
            <a:spLocks noChangeArrowheads="1"/>
          </p:cNvSpPr>
          <p:nvPr/>
        </p:nvSpPr>
        <p:spPr bwMode="auto">
          <a:xfrm>
            <a:off x="597521" y="424070"/>
            <a:ext cx="153888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a:r>
              <a:rPr kumimoji="1" lang="en-US" altLang="zh-CN" sz="2400" dirty="0">
                <a:solidFill>
                  <a:srgbClr val="0000FF"/>
                </a:solidFill>
                <a:latin typeface="Times New Roman" panose="02020603050405020304" pitchFamily="18" charset="0"/>
                <a:ea typeface="华文中宋" panose="02010600040101010101" pitchFamily="2" charset="-122"/>
              </a:rPr>
              <a:t>2. </a:t>
            </a:r>
            <a:r>
              <a:rPr kumimoji="1" lang="zh-CN" altLang="en-US" sz="2400" dirty="0">
                <a:solidFill>
                  <a:srgbClr val="0000FF"/>
                </a:solidFill>
                <a:latin typeface="Times New Roman" panose="02020603050405020304" pitchFamily="18" charset="0"/>
                <a:ea typeface="华文中宋" panose="02010600040101010101" pitchFamily="2" charset="-122"/>
              </a:rPr>
              <a:t>实心齿轮</a:t>
            </a:r>
            <a:endParaRPr kumimoji="1" lang="zh-CN" altLang="en-US" sz="2400" dirty="0">
              <a:solidFill>
                <a:srgbClr val="0000FF"/>
              </a:solidFill>
              <a:latin typeface="Times New Roman" panose="02020603050405020304" pitchFamily="18" charset="0"/>
              <a:ea typeface="华文中宋" panose="02010600040101010101" pitchFamily="2" charset="-122"/>
            </a:endParaRPr>
          </a:p>
        </p:txBody>
      </p:sp>
      <p:grpSp>
        <p:nvGrpSpPr>
          <p:cNvPr id="452655" name="Group 47"/>
          <p:cNvGrpSpPr/>
          <p:nvPr/>
        </p:nvGrpSpPr>
        <p:grpSpPr bwMode="auto">
          <a:xfrm>
            <a:off x="786571" y="3020531"/>
            <a:ext cx="4229100" cy="2505075"/>
            <a:chOff x="1140" y="2478"/>
            <a:chExt cx="2664" cy="1578"/>
          </a:xfrm>
        </p:grpSpPr>
        <p:grpSp>
          <p:nvGrpSpPr>
            <p:cNvPr id="452656" name="Group 48"/>
            <p:cNvGrpSpPr/>
            <p:nvPr/>
          </p:nvGrpSpPr>
          <p:grpSpPr bwMode="auto">
            <a:xfrm>
              <a:off x="1140" y="2576"/>
              <a:ext cx="879" cy="1390"/>
              <a:chOff x="1140" y="2576"/>
              <a:chExt cx="879" cy="1390"/>
            </a:xfrm>
          </p:grpSpPr>
          <p:sp>
            <p:nvSpPr>
              <p:cNvPr id="452657" name="Line 49"/>
              <p:cNvSpPr>
                <a:spLocks noChangeShapeType="1"/>
              </p:cNvSpPr>
              <p:nvPr/>
            </p:nvSpPr>
            <p:spPr bwMode="auto">
              <a:xfrm>
                <a:off x="1146" y="3276"/>
                <a:ext cx="873" cy="0"/>
              </a:xfrm>
              <a:prstGeom prst="line">
                <a:avLst/>
              </a:prstGeom>
              <a:noFill/>
              <a:ln w="12700">
                <a:solidFill>
                  <a:srgbClr val="000099"/>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58" name="Freeform 50"/>
              <p:cNvSpPr/>
              <p:nvPr/>
            </p:nvSpPr>
            <p:spPr bwMode="auto">
              <a:xfrm flipV="1">
                <a:off x="1223" y="2976"/>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rgbClr val="000099"/>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59" name="Freeform 51"/>
              <p:cNvSpPr/>
              <p:nvPr/>
            </p:nvSpPr>
            <p:spPr bwMode="auto">
              <a:xfrm flipH="1" flipV="1">
                <a:off x="1924" y="2981"/>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rgbClr val="000099"/>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0" name="Line 52"/>
              <p:cNvSpPr>
                <a:spLocks noChangeShapeType="1"/>
              </p:cNvSpPr>
              <p:nvPr/>
            </p:nvSpPr>
            <p:spPr bwMode="auto">
              <a:xfrm flipV="1">
                <a:off x="1261" y="3017"/>
                <a:ext cx="668" cy="0"/>
              </a:xfrm>
              <a:prstGeom prst="line">
                <a:avLst/>
              </a:prstGeom>
              <a:noFill/>
              <a:ln w="2857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1" name="Freeform 53"/>
              <p:cNvSpPr/>
              <p:nvPr/>
            </p:nvSpPr>
            <p:spPr bwMode="auto">
              <a:xfrm>
                <a:off x="1220" y="2576"/>
                <a:ext cx="740" cy="700"/>
              </a:xfrm>
              <a:custGeom>
                <a:avLst/>
                <a:gdLst>
                  <a:gd name="T0" fmla="*/ 0 w 740"/>
                  <a:gd name="T1" fmla="*/ 700 h 700"/>
                  <a:gd name="T2" fmla="*/ 0 w 740"/>
                  <a:gd name="T3" fmla="*/ 44 h 700"/>
                  <a:gd name="T4" fmla="*/ 44 w 740"/>
                  <a:gd name="T5" fmla="*/ 0 h 700"/>
                  <a:gd name="T6" fmla="*/ 700 w 740"/>
                  <a:gd name="T7" fmla="*/ 0 h 700"/>
                  <a:gd name="T8" fmla="*/ 740 w 740"/>
                  <a:gd name="T9" fmla="*/ 40 h 700"/>
                  <a:gd name="T10" fmla="*/ 740 w 740"/>
                  <a:gd name="T11" fmla="*/ 692 h 700"/>
                </a:gdLst>
                <a:ahLst/>
                <a:cxnLst>
                  <a:cxn ang="0">
                    <a:pos x="T0" y="T1"/>
                  </a:cxn>
                  <a:cxn ang="0">
                    <a:pos x="T2" y="T3"/>
                  </a:cxn>
                  <a:cxn ang="0">
                    <a:pos x="T4" y="T5"/>
                  </a:cxn>
                  <a:cxn ang="0">
                    <a:pos x="T6" y="T7"/>
                  </a:cxn>
                  <a:cxn ang="0">
                    <a:pos x="T8" y="T9"/>
                  </a:cxn>
                  <a:cxn ang="0">
                    <a:pos x="T10" y="T11"/>
                  </a:cxn>
                </a:cxnLst>
                <a:rect l="0" t="0" r="r" b="b"/>
                <a:pathLst>
                  <a:path w="740" h="700">
                    <a:moveTo>
                      <a:pt x="0" y="700"/>
                    </a:moveTo>
                    <a:lnTo>
                      <a:pt x="0" y="44"/>
                    </a:lnTo>
                    <a:lnTo>
                      <a:pt x="44" y="0"/>
                    </a:lnTo>
                    <a:lnTo>
                      <a:pt x="700" y="0"/>
                    </a:lnTo>
                    <a:lnTo>
                      <a:pt x="740" y="40"/>
                    </a:lnTo>
                    <a:lnTo>
                      <a:pt x="740" y="692"/>
                    </a:lnTo>
                  </a:path>
                </a:pathLst>
              </a:custGeom>
              <a:noFill/>
              <a:ln w="28575" cap="flat" cmpd="sng">
                <a:solidFill>
                  <a:srgbClr val="000099"/>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2662" name="Group 54"/>
              <p:cNvGrpSpPr/>
              <p:nvPr/>
            </p:nvGrpSpPr>
            <p:grpSpPr bwMode="auto">
              <a:xfrm>
                <a:off x="1221" y="2671"/>
                <a:ext cx="741" cy="354"/>
                <a:chOff x="1221" y="2767"/>
                <a:chExt cx="741" cy="282"/>
              </a:xfrm>
            </p:grpSpPr>
            <p:sp>
              <p:nvSpPr>
                <p:cNvPr id="452663" name="Line 55"/>
                <p:cNvSpPr>
                  <a:spLocks noChangeShapeType="1"/>
                </p:cNvSpPr>
                <p:nvPr/>
              </p:nvSpPr>
              <p:spPr bwMode="auto">
                <a:xfrm flipH="1">
                  <a:off x="1874" y="2940"/>
                  <a:ext cx="77" cy="105"/>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4" name="Line 56"/>
                <p:cNvSpPr>
                  <a:spLocks noChangeShapeType="1"/>
                </p:cNvSpPr>
                <p:nvPr/>
              </p:nvSpPr>
              <p:spPr bwMode="auto">
                <a:xfrm flipH="1">
                  <a:off x="1771" y="2770"/>
                  <a:ext cx="179" cy="273"/>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5" name="Line 57"/>
                <p:cNvSpPr>
                  <a:spLocks noChangeShapeType="1"/>
                </p:cNvSpPr>
                <p:nvPr/>
              </p:nvSpPr>
              <p:spPr bwMode="auto">
                <a:xfrm flipH="1">
                  <a:off x="1713" y="2767"/>
                  <a:ext cx="181" cy="272"/>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6" name="Line 58"/>
                <p:cNvSpPr>
                  <a:spLocks noChangeShapeType="1"/>
                </p:cNvSpPr>
                <p:nvPr/>
              </p:nvSpPr>
              <p:spPr bwMode="auto">
                <a:xfrm flipH="1">
                  <a:off x="1655" y="2772"/>
                  <a:ext cx="174" cy="264"/>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7" name="Line 59"/>
                <p:cNvSpPr>
                  <a:spLocks noChangeShapeType="1"/>
                </p:cNvSpPr>
                <p:nvPr/>
              </p:nvSpPr>
              <p:spPr bwMode="auto">
                <a:xfrm flipH="1">
                  <a:off x="1587" y="2773"/>
                  <a:ext cx="185" cy="265"/>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8" name="Line 60"/>
                <p:cNvSpPr>
                  <a:spLocks noChangeShapeType="1"/>
                </p:cNvSpPr>
                <p:nvPr/>
              </p:nvSpPr>
              <p:spPr bwMode="auto">
                <a:xfrm flipH="1">
                  <a:off x="1524" y="2773"/>
                  <a:ext cx="188" cy="266"/>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69" name="Line 61"/>
                <p:cNvSpPr>
                  <a:spLocks noChangeShapeType="1"/>
                </p:cNvSpPr>
                <p:nvPr/>
              </p:nvSpPr>
              <p:spPr bwMode="auto">
                <a:xfrm flipH="1">
                  <a:off x="1396" y="2771"/>
                  <a:ext cx="192" cy="273"/>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0" name="Line 62"/>
                <p:cNvSpPr>
                  <a:spLocks noChangeShapeType="1"/>
                </p:cNvSpPr>
                <p:nvPr/>
              </p:nvSpPr>
              <p:spPr bwMode="auto">
                <a:xfrm flipH="1">
                  <a:off x="1460" y="2779"/>
                  <a:ext cx="182" cy="261"/>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1" name="Line 63"/>
                <p:cNvSpPr>
                  <a:spLocks noChangeShapeType="1"/>
                </p:cNvSpPr>
                <p:nvPr/>
              </p:nvSpPr>
              <p:spPr bwMode="auto">
                <a:xfrm flipH="1">
                  <a:off x="1337" y="2777"/>
                  <a:ext cx="185" cy="267"/>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2" name="Line 64"/>
                <p:cNvSpPr>
                  <a:spLocks noChangeShapeType="1"/>
                </p:cNvSpPr>
                <p:nvPr/>
              </p:nvSpPr>
              <p:spPr bwMode="auto">
                <a:xfrm flipH="1">
                  <a:off x="1280" y="2772"/>
                  <a:ext cx="182" cy="267"/>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3" name="Line 65"/>
                <p:cNvSpPr>
                  <a:spLocks noChangeShapeType="1"/>
                </p:cNvSpPr>
                <p:nvPr/>
              </p:nvSpPr>
              <p:spPr bwMode="auto">
                <a:xfrm flipH="1">
                  <a:off x="1825" y="2847"/>
                  <a:ext cx="131" cy="199"/>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4" name="Line 66"/>
                <p:cNvSpPr>
                  <a:spLocks noChangeShapeType="1"/>
                </p:cNvSpPr>
                <p:nvPr/>
              </p:nvSpPr>
              <p:spPr bwMode="auto">
                <a:xfrm flipH="1">
                  <a:off x="1225" y="2773"/>
                  <a:ext cx="181" cy="266"/>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5" name="Line 67"/>
                <p:cNvSpPr>
                  <a:spLocks noChangeShapeType="1"/>
                </p:cNvSpPr>
                <p:nvPr/>
              </p:nvSpPr>
              <p:spPr bwMode="auto">
                <a:xfrm flipH="1">
                  <a:off x="1922" y="2999"/>
                  <a:ext cx="40" cy="50"/>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6" name="Line 68"/>
                <p:cNvSpPr>
                  <a:spLocks noChangeShapeType="1"/>
                </p:cNvSpPr>
                <p:nvPr/>
              </p:nvSpPr>
              <p:spPr bwMode="auto">
                <a:xfrm flipH="1">
                  <a:off x="1221" y="2774"/>
                  <a:ext cx="126" cy="185"/>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7" name="Line 69"/>
                <p:cNvSpPr>
                  <a:spLocks noChangeShapeType="1"/>
                </p:cNvSpPr>
                <p:nvPr/>
              </p:nvSpPr>
              <p:spPr bwMode="auto">
                <a:xfrm flipH="1">
                  <a:off x="1221" y="2772"/>
                  <a:ext cx="70" cy="103"/>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2678" name="Line 70"/>
              <p:cNvSpPr>
                <a:spLocks noChangeShapeType="1"/>
              </p:cNvSpPr>
              <p:nvPr/>
            </p:nvSpPr>
            <p:spPr bwMode="auto">
              <a:xfrm flipV="1">
                <a:off x="1220" y="2674"/>
                <a:ext cx="738" cy="0"/>
              </a:xfrm>
              <a:prstGeom prst="line">
                <a:avLst/>
              </a:prstGeom>
              <a:noFill/>
              <a:ln w="2857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79" name="Freeform 71"/>
              <p:cNvSpPr/>
              <p:nvPr/>
            </p:nvSpPr>
            <p:spPr bwMode="auto">
              <a:xfrm>
                <a:off x="1223" y="3271"/>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rgbClr val="000099"/>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0" name="Freeform 72"/>
              <p:cNvSpPr/>
              <p:nvPr/>
            </p:nvSpPr>
            <p:spPr bwMode="auto">
              <a:xfrm flipH="1">
                <a:off x="1924" y="3266"/>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rgbClr val="000099"/>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1" name="Line 73"/>
              <p:cNvSpPr>
                <a:spLocks noChangeShapeType="1"/>
              </p:cNvSpPr>
              <p:nvPr/>
            </p:nvSpPr>
            <p:spPr bwMode="auto">
              <a:xfrm>
                <a:off x="1261" y="3525"/>
                <a:ext cx="668" cy="0"/>
              </a:xfrm>
              <a:prstGeom prst="line">
                <a:avLst/>
              </a:prstGeom>
              <a:noFill/>
              <a:ln w="2857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2" name="Line 74"/>
              <p:cNvSpPr>
                <a:spLocks noChangeShapeType="1"/>
              </p:cNvSpPr>
              <p:nvPr/>
            </p:nvSpPr>
            <p:spPr bwMode="auto">
              <a:xfrm flipV="1">
                <a:off x="1221" y="3623"/>
                <a:ext cx="747" cy="0"/>
              </a:xfrm>
              <a:prstGeom prst="line">
                <a:avLst/>
              </a:prstGeom>
              <a:noFill/>
              <a:ln w="2857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3" name="Freeform 75"/>
              <p:cNvSpPr/>
              <p:nvPr/>
            </p:nvSpPr>
            <p:spPr bwMode="auto">
              <a:xfrm flipV="1">
                <a:off x="1220" y="3266"/>
                <a:ext cx="740" cy="700"/>
              </a:xfrm>
              <a:custGeom>
                <a:avLst/>
                <a:gdLst>
                  <a:gd name="T0" fmla="*/ 0 w 740"/>
                  <a:gd name="T1" fmla="*/ 700 h 700"/>
                  <a:gd name="T2" fmla="*/ 0 w 740"/>
                  <a:gd name="T3" fmla="*/ 44 h 700"/>
                  <a:gd name="T4" fmla="*/ 44 w 740"/>
                  <a:gd name="T5" fmla="*/ 0 h 700"/>
                  <a:gd name="T6" fmla="*/ 700 w 740"/>
                  <a:gd name="T7" fmla="*/ 0 h 700"/>
                  <a:gd name="T8" fmla="*/ 740 w 740"/>
                  <a:gd name="T9" fmla="*/ 40 h 700"/>
                  <a:gd name="T10" fmla="*/ 740 w 740"/>
                  <a:gd name="T11" fmla="*/ 692 h 700"/>
                </a:gdLst>
                <a:ahLst/>
                <a:cxnLst>
                  <a:cxn ang="0">
                    <a:pos x="T0" y="T1"/>
                  </a:cxn>
                  <a:cxn ang="0">
                    <a:pos x="T2" y="T3"/>
                  </a:cxn>
                  <a:cxn ang="0">
                    <a:pos x="T4" y="T5"/>
                  </a:cxn>
                  <a:cxn ang="0">
                    <a:pos x="T6" y="T7"/>
                  </a:cxn>
                  <a:cxn ang="0">
                    <a:pos x="T8" y="T9"/>
                  </a:cxn>
                  <a:cxn ang="0">
                    <a:pos x="T10" y="T11"/>
                  </a:cxn>
                </a:cxnLst>
                <a:rect l="0" t="0" r="r" b="b"/>
                <a:pathLst>
                  <a:path w="740" h="700">
                    <a:moveTo>
                      <a:pt x="0" y="700"/>
                    </a:moveTo>
                    <a:lnTo>
                      <a:pt x="0" y="44"/>
                    </a:lnTo>
                    <a:lnTo>
                      <a:pt x="44" y="0"/>
                    </a:lnTo>
                    <a:lnTo>
                      <a:pt x="700" y="0"/>
                    </a:lnTo>
                    <a:lnTo>
                      <a:pt x="740" y="40"/>
                    </a:lnTo>
                    <a:lnTo>
                      <a:pt x="740" y="692"/>
                    </a:lnTo>
                  </a:path>
                </a:pathLst>
              </a:custGeom>
              <a:noFill/>
              <a:ln w="28575" cap="flat" cmpd="sng">
                <a:solidFill>
                  <a:srgbClr val="000099"/>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2684" name="Group 76"/>
              <p:cNvGrpSpPr/>
              <p:nvPr/>
            </p:nvGrpSpPr>
            <p:grpSpPr bwMode="auto">
              <a:xfrm flipH="1" flipV="1">
                <a:off x="1215" y="3624"/>
                <a:ext cx="741" cy="243"/>
                <a:chOff x="1221" y="2767"/>
                <a:chExt cx="741" cy="282"/>
              </a:xfrm>
            </p:grpSpPr>
            <p:sp>
              <p:nvSpPr>
                <p:cNvPr id="452685" name="Line 77"/>
                <p:cNvSpPr>
                  <a:spLocks noChangeShapeType="1"/>
                </p:cNvSpPr>
                <p:nvPr/>
              </p:nvSpPr>
              <p:spPr bwMode="auto">
                <a:xfrm flipH="1">
                  <a:off x="1874" y="2940"/>
                  <a:ext cx="77" cy="105"/>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6" name="Line 78"/>
                <p:cNvSpPr>
                  <a:spLocks noChangeShapeType="1"/>
                </p:cNvSpPr>
                <p:nvPr/>
              </p:nvSpPr>
              <p:spPr bwMode="auto">
                <a:xfrm flipH="1">
                  <a:off x="1771" y="2770"/>
                  <a:ext cx="179" cy="273"/>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7" name="Line 79"/>
                <p:cNvSpPr>
                  <a:spLocks noChangeShapeType="1"/>
                </p:cNvSpPr>
                <p:nvPr/>
              </p:nvSpPr>
              <p:spPr bwMode="auto">
                <a:xfrm flipH="1">
                  <a:off x="1713" y="2767"/>
                  <a:ext cx="181" cy="272"/>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8" name="Line 80"/>
                <p:cNvSpPr>
                  <a:spLocks noChangeShapeType="1"/>
                </p:cNvSpPr>
                <p:nvPr/>
              </p:nvSpPr>
              <p:spPr bwMode="auto">
                <a:xfrm flipH="1">
                  <a:off x="1655" y="2772"/>
                  <a:ext cx="174" cy="264"/>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89" name="Line 81"/>
                <p:cNvSpPr>
                  <a:spLocks noChangeShapeType="1"/>
                </p:cNvSpPr>
                <p:nvPr/>
              </p:nvSpPr>
              <p:spPr bwMode="auto">
                <a:xfrm flipH="1">
                  <a:off x="1587" y="2773"/>
                  <a:ext cx="185" cy="265"/>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0" name="Line 82"/>
                <p:cNvSpPr>
                  <a:spLocks noChangeShapeType="1"/>
                </p:cNvSpPr>
                <p:nvPr/>
              </p:nvSpPr>
              <p:spPr bwMode="auto">
                <a:xfrm flipH="1">
                  <a:off x="1524" y="2773"/>
                  <a:ext cx="188" cy="266"/>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1" name="Line 83"/>
                <p:cNvSpPr>
                  <a:spLocks noChangeShapeType="1"/>
                </p:cNvSpPr>
                <p:nvPr/>
              </p:nvSpPr>
              <p:spPr bwMode="auto">
                <a:xfrm flipH="1">
                  <a:off x="1396" y="2771"/>
                  <a:ext cx="192" cy="273"/>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2" name="Line 84"/>
                <p:cNvSpPr>
                  <a:spLocks noChangeShapeType="1"/>
                </p:cNvSpPr>
                <p:nvPr/>
              </p:nvSpPr>
              <p:spPr bwMode="auto">
                <a:xfrm flipH="1">
                  <a:off x="1460" y="2779"/>
                  <a:ext cx="182" cy="261"/>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3" name="Line 85"/>
                <p:cNvSpPr>
                  <a:spLocks noChangeShapeType="1"/>
                </p:cNvSpPr>
                <p:nvPr/>
              </p:nvSpPr>
              <p:spPr bwMode="auto">
                <a:xfrm flipH="1">
                  <a:off x="1337" y="2777"/>
                  <a:ext cx="185" cy="267"/>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4" name="Line 86"/>
                <p:cNvSpPr>
                  <a:spLocks noChangeShapeType="1"/>
                </p:cNvSpPr>
                <p:nvPr/>
              </p:nvSpPr>
              <p:spPr bwMode="auto">
                <a:xfrm flipH="1">
                  <a:off x="1280" y="2772"/>
                  <a:ext cx="182" cy="267"/>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5" name="Line 87"/>
                <p:cNvSpPr>
                  <a:spLocks noChangeShapeType="1"/>
                </p:cNvSpPr>
                <p:nvPr/>
              </p:nvSpPr>
              <p:spPr bwMode="auto">
                <a:xfrm flipH="1">
                  <a:off x="1825" y="2847"/>
                  <a:ext cx="131" cy="199"/>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6" name="Line 88"/>
                <p:cNvSpPr>
                  <a:spLocks noChangeShapeType="1"/>
                </p:cNvSpPr>
                <p:nvPr/>
              </p:nvSpPr>
              <p:spPr bwMode="auto">
                <a:xfrm flipH="1">
                  <a:off x="1225" y="2773"/>
                  <a:ext cx="181" cy="266"/>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7" name="Line 89"/>
                <p:cNvSpPr>
                  <a:spLocks noChangeShapeType="1"/>
                </p:cNvSpPr>
                <p:nvPr/>
              </p:nvSpPr>
              <p:spPr bwMode="auto">
                <a:xfrm flipH="1">
                  <a:off x="1922" y="2999"/>
                  <a:ext cx="40" cy="50"/>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8" name="Line 90"/>
                <p:cNvSpPr>
                  <a:spLocks noChangeShapeType="1"/>
                </p:cNvSpPr>
                <p:nvPr/>
              </p:nvSpPr>
              <p:spPr bwMode="auto">
                <a:xfrm flipH="1">
                  <a:off x="1221" y="2774"/>
                  <a:ext cx="126" cy="185"/>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699" name="Line 91"/>
                <p:cNvSpPr>
                  <a:spLocks noChangeShapeType="1"/>
                </p:cNvSpPr>
                <p:nvPr/>
              </p:nvSpPr>
              <p:spPr bwMode="auto">
                <a:xfrm flipH="1">
                  <a:off x="1221" y="2772"/>
                  <a:ext cx="70" cy="103"/>
                </a:xfrm>
                <a:prstGeom prst="line">
                  <a:avLst/>
                </a:prstGeom>
                <a:noFill/>
                <a:ln w="127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2700" name="Line 92"/>
              <p:cNvSpPr>
                <a:spLocks noChangeShapeType="1"/>
              </p:cNvSpPr>
              <p:nvPr/>
            </p:nvSpPr>
            <p:spPr bwMode="auto">
              <a:xfrm>
                <a:off x="1224" y="3864"/>
                <a:ext cx="736" cy="2"/>
              </a:xfrm>
              <a:prstGeom prst="line">
                <a:avLst/>
              </a:prstGeom>
              <a:noFill/>
              <a:ln w="2857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01" name="Line 93"/>
              <p:cNvSpPr>
                <a:spLocks noChangeShapeType="1"/>
              </p:cNvSpPr>
              <p:nvPr/>
            </p:nvSpPr>
            <p:spPr bwMode="auto">
              <a:xfrm>
                <a:off x="1146" y="2616"/>
                <a:ext cx="873" cy="0"/>
              </a:xfrm>
              <a:prstGeom prst="line">
                <a:avLst/>
              </a:prstGeom>
              <a:noFill/>
              <a:ln w="12700">
                <a:solidFill>
                  <a:srgbClr val="000099"/>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02" name="Line 94"/>
              <p:cNvSpPr>
                <a:spLocks noChangeShapeType="1"/>
              </p:cNvSpPr>
              <p:nvPr/>
            </p:nvSpPr>
            <p:spPr bwMode="auto">
              <a:xfrm>
                <a:off x="1140" y="3924"/>
                <a:ext cx="873" cy="0"/>
              </a:xfrm>
              <a:prstGeom prst="line">
                <a:avLst/>
              </a:prstGeom>
              <a:noFill/>
              <a:ln w="12700">
                <a:solidFill>
                  <a:srgbClr val="000099"/>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2703" name="Group 95"/>
            <p:cNvGrpSpPr/>
            <p:nvPr/>
          </p:nvGrpSpPr>
          <p:grpSpPr bwMode="auto">
            <a:xfrm>
              <a:off x="2268" y="2478"/>
              <a:ext cx="1536" cy="1578"/>
              <a:chOff x="2268" y="2478"/>
              <a:chExt cx="1536" cy="1578"/>
            </a:xfrm>
          </p:grpSpPr>
          <p:sp>
            <p:nvSpPr>
              <p:cNvPr id="452704" name="Oval 96"/>
              <p:cNvSpPr>
                <a:spLocks noChangeArrowheads="1"/>
              </p:cNvSpPr>
              <p:nvPr/>
            </p:nvSpPr>
            <p:spPr bwMode="auto">
              <a:xfrm flipV="1">
                <a:off x="2758" y="2954"/>
                <a:ext cx="555" cy="556"/>
              </a:xfrm>
              <a:prstGeom prst="ellipse">
                <a:avLst/>
              </a:prstGeom>
              <a:solidFill>
                <a:schemeClr val="bg1"/>
              </a:solidFill>
              <a:ln w="28575">
                <a:solidFill>
                  <a:srgbClr val="0000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05" name="Oval 97"/>
              <p:cNvSpPr>
                <a:spLocks noChangeArrowheads="1"/>
              </p:cNvSpPr>
              <p:nvPr/>
            </p:nvSpPr>
            <p:spPr bwMode="auto">
              <a:xfrm flipV="1">
                <a:off x="2786" y="2989"/>
                <a:ext cx="488" cy="489"/>
              </a:xfrm>
              <a:prstGeom prst="ellipse">
                <a:avLst/>
              </a:prstGeom>
              <a:solidFill>
                <a:schemeClr val="bg1"/>
              </a:solidFill>
              <a:ln w="28575">
                <a:solidFill>
                  <a:srgbClr val="0000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2706" name="Group 98"/>
              <p:cNvGrpSpPr/>
              <p:nvPr/>
            </p:nvGrpSpPr>
            <p:grpSpPr bwMode="auto">
              <a:xfrm>
                <a:off x="2968" y="3464"/>
                <a:ext cx="122" cy="106"/>
                <a:chOff x="2968" y="3464"/>
                <a:chExt cx="122" cy="106"/>
              </a:xfrm>
            </p:grpSpPr>
            <p:sp>
              <p:nvSpPr>
                <p:cNvPr id="452707" name="Rectangle 99"/>
                <p:cNvSpPr>
                  <a:spLocks noChangeArrowheads="1"/>
                </p:cNvSpPr>
                <p:nvPr/>
              </p:nvSpPr>
              <p:spPr bwMode="auto">
                <a:xfrm flipV="1">
                  <a:off x="2968" y="3471"/>
                  <a:ext cx="122" cy="99"/>
                </a:xfrm>
                <a:prstGeom prst="rect">
                  <a:avLst/>
                </a:prstGeom>
                <a:solidFill>
                  <a:schemeClr val="bg1"/>
                </a:solidFill>
                <a:ln w="28575">
                  <a:solidFill>
                    <a:srgbClr val="0000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08" name="Line 100"/>
                <p:cNvSpPr>
                  <a:spLocks noChangeShapeType="1"/>
                </p:cNvSpPr>
                <p:nvPr/>
              </p:nvSpPr>
              <p:spPr bwMode="auto">
                <a:xfrm flipV="1">
                  <a:off x="2977" y="3464"/>
                  <a:ext cx="104" cy="0"/>
                </a:xfrm>
                <a:prstGeom prst="line">
                  <a:avLst/>
                </a:prstGeom>
                <a:noFill/>
                <a:ln w="762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2709" name="Oval 101"/>
              <p:cNvSpPr>
                <a:spLocks noChangeArrowheads="1"/>
              </p:cNvSpPr>
              <p:nvPr/>
            </p:nvSpPr>
            <p:spPr bwMode="auto">
              <a:xfrm>
                <a:off x="2352" y="2562"/>
                <a:ext cx="1368" cy="1410"/>
              </a:xfrm>
              <a:prstGeom prst="ellipse">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10" name="Line 102"/>
              <p:cNvSpPr>
                <a:spLocks noChangeShapeType="1"/>
              </p:cNvSpPr>
              <p:nvPr/>
            </p:nvSpPr>
            <p:spPr bwMode="auto">
              <a:xfrm>
                <a:off x="2268" y="3270"/>
                <a:ext cx="1536" cy="0"/>
              </a:xfrm>
              <a:prstGeom prst="line">
                <a:avLst/>
              </a:prstGeom>
              <a:noFill/>
              <a:ln w="12700">
                <a:solidFill>
                  <a:srgbClr val="000099"/>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11" name="Line 103"/>
              <p:cNvSpPr>
                <a:spLocks noChangeShapeType="1"/>
              </p:cNvSpPr>
              <p:nvPr/>
            </p:nvSpPr>
            <p:spPr bwMode="auto">
              <a:xfrm flipV="1">
                <a:off x="3036" y="2478"/>
                <a:ext cx="0" cy="1578"/>
              </a:xfrm>
              <a:prstGeom prst="line">
                <a:avLst/>
              </a:prstGeom>
              <a:noFill/>
              <a:ln w="12700">
                <a:solidFill>
                  <a:srgbClr val="000099"/>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12" name="Oval 104"/>
              <p:cNvSpPr>
                <a:spLocks noChangeArrowheads="1"/>
              </p:cNvSpPr>
              <p:nvPr/>
            </p:nvSpPr>
            <p:spPr bwMode="auto">
              <a:xfrm>
                <a:off x="2406" y="2610"/>
                <a:ext cx="1260" cy="1308"/>
              </a:xfrm>
              <a:prstGeom prst="ellipse">
                <a:avLst/>
              </a:prstGeom>
              <a:noFill/>
              <a:ln w="12700">
                <a:solidFill>
                  <a:srgbClr val="000099"/>
                </a:solidFill>
                <a:prstDash val="lgDash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2713" name="Oval 105"/>
              <p:cNvSpPr>
                <a:spLocks noChangeArrowheads="1"/>
              </p:cNvSpPr>
              <p:nvPr/>
            </p:nvSpPr>
            <p:spPr bwMode="auto">
              <a:xfrm>
                <a:off x="2478" y="2682"/>
                <a:ext cx="1122" cy="1176"/>
              </a:xfrm>
              <a:prstGeom prst="ellipse">
                <a:avLst/>
              </a:prstGeom>
              <a:noFill/>
              <a:ln w="9525">
                <a:solidFill>
                  <a:srgbClr val="000099"/>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452714" name="Picture 106"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2757" y="0"/>
            <a:ext cx="2573337" cy="2670175"/>
          </a:xfrm>
          <a:prstGeom prst="rect">
            <a:avLst/>
          </a:prstGeom>
          <a:noFill/>
          <a:extLst>
            <a:ext uri="{909E8E84-426E-40DD-AFC4-6F175D3DCCD1}">
              <a14:hiddenFill xmlns:a14="http://schemas.microsoft.com/office/drawing/2010/main">
                <a:solidFill>
                  <a:srgbClr val="FFFFFF"/>
                </a:solidFill>
              </a14:hiddenFill>
            </a:ext>
          </a:extLst>
        </p:spPr>
      </p:pic>
      <p:sp>
        <p:nvSpPr>
          <p:cNvPr id="452715" name="Text Box 107"/>
          <p:cNvSpPr txBox="1">
            <a:spLocks noChangeArrowheads="1"/>
          </p:cNvSpPr>
          <p:nvPr/>
        </p:nvSpPr>
        <p:spPr bwMode="auto">
          <a:xfrm>
            <a:off x="1486866" y="5884518"/>
            <a:ext cx="445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400" b="0" dirty="0">
                <a:solidFill>
                  <a:schemeClr val="folHlink"/>
                </a:solidFill>
              </a:rPr>
              <a:t>d</a:t>
            </a:r>
            <a:r>
              <a:rPr lang="en-US" altLang="zh-CN" sz="2400" b="0" baseline="-25000" dirty="0">
                <a:solidFill>
                  <a:schemeClr val="folHlink"/>
                </a:solidFill>
              </a:rPr>
              <a:t>a</a:t>
            </a:r>
            <a:r>
              <a:rPr lang="en-US" altLang="zh-CN" sz="2400" b="0" dirty="0">
                <a:solidFill>
                  <a:schemeClr val="folHlink"/>
                </a:solidFill>
              </a:rPr>
              <a:t>≤200 mm</a:t>
            </a:r>
            <a:endParaRPr lang="en-US" altLang="zh-CN" sz="2400" b="0" dirty="0">
              <a:solidFill>
                <a:schemeClr val="folHlink"/>
              </a:solidFill>
            </a:endParaRPr>
          </a:p>
        </p:txBody>
      </p:sp>
      <p:pic>
        <p:nvPicPr>
          <p:cNvPr id="65"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4876" y="2800626"/>
            <a:ext cx="260985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47261" y="893586"/>
            <a:ext cx="5655365" cy="769441"/>
          </a:xfrm>
          <a:prstGeom prst="rect">
            <a:avLst/>
          </a:prstGeom>
        </p:spPr>
        <p:txBody>
          <a:bodyPr wrap="square">
            <a:spAutoFit/>
          </a:bodyPr>
          <a:lstStyle/>
          <a:p>
            <a:r>
              <a:rPr lang="zh-CN" altLang="en-US" sz="2200" dirty="0">
                <a:solidFill>
                  <a:srgbClr val="000099"/>
                </a:solidFill>
                <a:latin typeface="黑体" panose="02010609060101010101" pitchFamily="49" charset="-122"/>
                <a:ea typeface="黑体" panose="02010609060101010101" pitchFamily="49" charset="-122"/>
              </a:rPr>
              <a:t>对于直径较大的锻造圆柱齿轮，可根据齿轮齿顶圆直径</a:t>
            </a:r>
            <a:r>
              <a:rPr lang="en-US" altLang="zh-CN" sz="2200" i="1" dirty="0">
                <a:solidFill>
                  <a:srgbClr val="000099"/>
                </a:solidFill>
                <a:latin typeface="黑体" panose="02010609060101010101" pitchFamily="49" charset="-122"/>
                <a:ea typeface="黑体" panose="02010609060101010101" pitchFamily="49" charset="-122"/>
              </a:rPr>
              <a:t>d</a:t>
            </a:r>
            <a:r>
              <a:rPr lang="en-US" altLang="zh-CN" sz="2200" baseline="-25000" dirty="0">
                <a:solidFill>
                  <a:srgbClr val="000099"/>
                </a:solidFill>
                <a:latin typeface="黑体" panose="02010609060101010101" pitchFamily="49" charset="-122"/>
                <a:ea typeface="黑体" panose="02010609060101010101" pitchFamily="49" charset="-122"/>
              </a:rPr>
              <a:t>a</a:t>
            </a:r>
            <a:r>
              <a:rPr lang="zh-CN" altLang="en-US" sz="2200" dirty="0">
                <a:solidFill>
                  <a:srgbClr val="000099"/>
                </a:solidFill>
                <a:latin typeface="黑体" panose="02010609060101010101" pitchFamily="49" charset="-122"/>
                <a:ea typeface="黑体" panose="02010609060101010101" pitchFamily="49" charset="-122"/>
              </a:rPr>
              <a:t>的大小选择不同的结构形式。</a:t>
            </a:r>
            <a:endParaRPr lang="zh-CN" altLang="en-US" sz="2200" dirty="0">
              <a:latin typeface="黑体" panose="02010609060101010101" pitchFamily="49" charset="-122"/>
              <a:ea typeface="黑体" panose="02010609060101010101" pitchFamily="49" charset="-122"/>
            </a:endParaRPr>
          </a:p>
        </p:txBody>
      </p:sp>
      <p:sp>
        <p:nvSpPr>
          <p:cNvPr id="68" name="Text Box 107"/>
          <p:cNvSpPr txBox="1">
            <a:spLocks noChangeArrowheads="1"/>
          </p:cNvSpPr>
          <p:nvPr/>
        </p:nvSpPr>
        <p:spPr bwMode="auto">
          <a:xfrm>
            <a:off x="714927" y="1882362"/>
            <a:ext cx="44577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zh-CN" altLang="en-US" sz="2200" b="0" dirty="0" smtClean="0">
                <a:solidFill>
                  <a:schemeClr val="folHlink"/>
                </a:solidFill>
                <a:latin typeface="黑体" panose="02010609060101010101" pitchFamily="49" charset="-122"/>
                <a:ea typeface="黑体" panose="02010609060101010101" pitchFamily="49" charset="-122"/>
              </a:rPr>
              <a:t>当</a:t>
            </a:r>
            <a:r>
              <a:rPr lang="en-US" altLang="zh-CN" sz="2200" b="0" dirty="0" smtClean="0">
                <a:solidFill>
                  <a:schemeClr val="folHlink"/>
                </a:solidFill>
                <a:latin typeface="黑体" panose="02010609060101010101" pitchFamily="49" charset="-122"/>
                <a:ea typeface="黑体" panose="02010609060101010101" pitchFamily="49" charset="-122"/>
              </a:rPr>
              <a:t>d</a:t>
            </a:r>
            <a:r>
              <a:rPr lang="en-US" altLang="zh-CN" sz="2200" b="0" baseline="-25000" dirty="0" smtClean="0">
                <a:solidFill>
                  <a:schemeClr val="folHlink"/>
                </a:solidFill>
                <a:latin typeface="黑体" panose="02010609060101010101" pitchFamily="49" charset="-122"/>
                <a:ea typeface="黑体" panose="02010609060101010101" pitchFamily="49" charset="-122"/>
              </a:rPr>
              <a:t>a</a:t>
            </a:r>
            <a:r>
              <a:rPr lang="en-US" altLang="zh-CN" sz="2200" b="0" dirty="0">
                <a:solidFill>
                  <a:schemeClr val="folHlink"/>
                </a:solidFill>
                <a:latin typeface="黑体" panose="02010609060101010101" pitchFamily="49" charset="-122"/>
                <a:ea typeface="黑体" panose="02010609060101010101" pitchFamily="49" charset="-122"/>
              </a:rPr>
              <a:t>≤200 </a:t>
            </a:r>
            <a:r>
              <a:rPr lang="en-US" altLang="zh-CN" sz="2200" b="0" dirty="0" smtClean="0">
                <a:solidFill>
                  <a:schemeClr val="folHlink"/>
                </a:solidFill>
                <a:latin typeface="黑体" panose="02010609060101010101" pitchFamily="49" charset="-122"/>
                <a:ea typeface="黑体" panose="02010609060101010101" pitchFamily="49" charset="-122"/>
              </a:rPr>
              <a:t>mm</a:t>
            </a:r>
            <a:r>
              <a:rPr lang="zh-CN" altLang="en-US" sz="2200" b="0" dirty="0" smtClean="0">
                <a:solidFill>
                  <a:schemeClr val="folHlink"/>
                </a:solidFill>
                <a:latin typeface="黑体" panose="02010609060101010101" pitchFamily="49" charset="-122"/>
                <a:ea typeface="黑体" panose="02010609060101010101" pitchFamily="49" charset="-122"/>
              </a:rPr>
              <a:t>时，可采用实心齿轮</a:t>
            </a:r>
            <a:endParaRPr lang="en-US" altLang="zh-CN" sz="2200" b="0" dirty="0">
              <a:solidFill>
                <a:schemeClr val="folHlink"/>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52654"/>
                                        </p:tgtEl>
                                        <p:attrNameLst>
                                          <p:attrName>style.visibility</p:attrName>
                                        </p:attrNameLst>
                                      </p:cBhvr>
                                      <p:to>
                                        <p:strVal val="visible"/>
                                      </p:to>
                                    </p:set>
                                    <p:animEffect transition="in" filter="slide(fromBottom)">
                                      <p:cBhvr>
                                        <p:cTn id="7" dur="500"/>
                                        <p:tgtEl>
                                          <p:spTgt spid="4526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left)">
                                      <p:cBhvr>
                                        <p:cTn id="17" dur="5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52714"/>
                                        </p:tgtEl>
                                        <p:attrNameLst>
                                          <p:attrName>style.visibility</p:attrName>
                                        </p:attrNameLst>
                                      </p:cBhvr>
                                      <p:to>
                                        <p:strVal val="visible"/>
                                      </p:to>
                                    </p:set>
                                    <p:animEffect transition="in" filter="dissolve">
                                      <p:cBhvr>
                                        <p:cTn id="22" dur="500"/>
                                        <p:tgtEl>
                                          <p:spTgt spid="4527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52655"/>
                                        </p:tgtEl>
                                        <p:attrNameLst>
                                          <p:attrName>style.visibility</p:attrName>
                                        </p:attrNameLst>
                                      </p:cBhvr>
                                      <p:to>
                                        <p:strVal val="visible"/>
                                      </p:to>
                                    </p:set>
                                    <p:animEffect transition="in" filter="dissolve">
                                      <p:cBhvr>
                                        <p:cTn id="27" dur="500"/>
                                        <p:tgtEl>
                                          <p:spTgt spid="45265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wipe(up)">
                                      <p:cBhvr>
                                        <p:cTn id="32" dur="500"/>
                                        <p:tgtEl>
                                          <p:spTgt spid="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52715"/>
                                        </p:tgtEl>
                                        <p:attrNameLst>
                                          <p:attrName>style.visibility</p:attrName>
                                        </p:attrNameLst>
                                      </p:cBhvr>
                                      <p:to>
                                        <p:strVal val="visible"/>
                                      </p:to>
                                    </p:set>
                                    <p:animEffect transition="in" filter="wipe(left)">
                                      <p:cBhvr>
                                        <p:cTn id="37" dur="500"/>
                                        <p:tgtEl>
                                          <p:spTgt spid="452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54" grpId="0" autoUpdateAnimBg="0"/>
      <p:bldP spid="452715" grpId="0"/>
      <p:bldP spid="2" grpId="0"/>
      <p:bldP spid="68"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齿轮结构</a:t>
            </a:r>
            <a:r>
              <a:rPr lang="en-US" altLang="zh-CN" sz="800" smtClean="0">
                <a:solidFill>
                  <a:schemeClr val="bg1"/>
                </a:solidFill>
                <a:latin typeface="Times New Roman" panose="02020603050405020304" pitchFamily="18" charset="0"/>
              </a:rPr>
              <a:t>2</a:t>
            </a:r>
            <a:r>
              <a:rPr lang="zh-CN" altLang="en-US" sz="800" smtClean="0">
                <a:solidFill>
                  <a:schemeClr val="bg1"/>
                </a:solidFill>
                <a:ea typeface="黑体" panose="02010609060101010101" pitchFamily="49" charset="-122"/>
              </a:rPr>
              <a:t> </a:t>
            </a:r>
            <a:endParaRPr lang="zh-CN" altLang="en-US" sz="800" smtClean="0">
              <a:solidFill>
                <a:schemeClr val="bg1"/>
              </a:solidFill>
              <a:ea typeface="黑体" panose="02010609060101010101" pitchFamily="49" charset="-122"/>
            </a:endParaRPr>
          </a:p>
        </p:txBody>
      </p:sp>
      <p:sp>
        <p:nvSpPr>
          <p:cNvPr id="44035" name="Text Box 16"/>
          <p:cNvSpPr txBox="1">
            <a:spLocks noChangeArrowheads="1"/>
          </p:cNvSpPr>
          <p:nvPr/>
        </p:nvSpPr>
        <p:spPr bwMode="auto">
          <a:xfrm>
            <a:off x="8328025" y="65198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a:solidFill>
                  <a:srgbClr val="CC3300"/>
                </a:solidFill>
                <a:latin typeface="Tahoma" panose="020B0604030504040204" pitchFamily="34" charset="0"/>
                <a:hlinkClick r:id="rId1" action="ppaction://hlinksldjump"/>
              </a:rPr>
              <a:t>返回</a:t>
            </a:r>
            <a:endParaRPr lang="zh-CN" altLang="en-US" sz="1600">
              <a:solidFill>
                <a:srgbClr val="CC3300"/>
              </a:solidFill>
              <a:latin typeface="Tahoma" panose="020B0604030504040204" pitchFamily="34" charset="0"/>
            </a:endParaRPr>
          </a:p>
        </p:txBody>
      </p:sp>
      <p:sp>
        <p:nvSpPr>
          <p:cNvPr id="44036" name="Rectangle 2"/>
          <p:cNvSpPr>
            <a:spLocks noChangeArrowheads="1"/>
          </p:cNvSpPr>
          <p:nvPr/>
        </p:nvSpPr>
        <p:spPr bwMode="auto">
          <a:xfrm>
            <a:off x="3516313" y="536575"/>
            <a:ext cx="661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endParaRPr lang="zh-CN" altLang="en-US"/>
          </a:p>
        </p:txBody>
      </p:sp>
      <p:sp>
        <p:nvSpPr>
          <p:cNvPr id="44037" name="Rectangle 4"/>
          <p:cNvSpPr>
            <a:spLocks noChangeArrowheads="1"/>
          </p:cNvSpPr>
          <p:nvPr/>
        </p:nvSpPr>
        <p:spPr bwMode="auto">
          <a:xfrm>
            <a:off x="0" y="977378"/>
            <a:ext cx="9144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ct val="150000"/>
              </a:lnSpc>
            </a:pPr>
            <a:r>
              <a:rPr lang="zh-CN" altLang="en-US" dirty="0">
                <a:solidFill>
                  <a:srgbClr val="000099"/>
                </a:solidFill>
              </a:rPr>
              <a:t>对于直径较大的锻造圆柱齿轮，可根据齿轮齿顶圆直径</a:t>
            </a:r>
            <a:r>
              <a:rPr lang="en-US" altLang="zh-CN" i="1" dirty="0">
                <a:solidFill>
                  <a:srgbClr val="000099"/>
                </a:solidFill>
              </a:rPr>
              <a:t>d</a:t>
            </a:r>
            <a:r>
              <a:rPr lang="en-US" altLang="zh-CN" baseline="-25000" dirty="0">
                <a:solidFill>
                  <a:srgbClr val="000099"/>
                </a:solidFill>
              </a:rPr>
              <a:t>a</a:t>
            </a:r>
            <a:r>
              <a:rPr lang="zh-CN" altLang="en-US" dirty="0">
                <a:solidFill>
                  <a:srgbClr val="000099"/>
                </a:solidFill>
              </a:rPr>
              <a:t>的大小选择不同的结构形式</a:t>
            </a:r>
            <a:r>
              <a:rPr lang="zh-CN" altLang="en-US" dirty="0" smtClean="0">
                <a:solidFill>
                  <a:srgbClr val="000099"/>
                </a:solidFill>
              </a:rPr>
              <a:t>。当</a:t>
            </a:r>
            <a:r>
              <a:rPr lang="zh-CN" altLang="en-US" dirty="0">
                <a:solidFill>
                  <a:srgbClr val="000099"/>
                </a:solidFill>
              </a:rPr>
              <a:t>齿顶圆直径</a:t>
            </a:r>
            <a:r>
              <a:rPr lang="en-US" altLang="zh-CN" i="1" dirty="0">
                <a:solidFill>
                  <a:srgbClr val="000099"/>
                </a:solidFill>
              </a:rPr>
              <a:t>d</a:t>
            </a:r>
            <a:r>
              <a:rPr lang="en-US" altLang="zh-CN" baseline="-25000" dirty="0">
                <a:solidFill>
                  <a:srgbClr val="000099"/>
                </a:solidFill>
              </a:rPr>
              <a:t>a</a:t>
            </a:r>
            <a:r>
              <a:rPr lang="zh-CN" altLang="en-US" dirty="0">
                <a:solidFill>
                  <a:srgbClr val="000099"/>
                </a:solidFill>
              </a:rPr>
              <a:t>≤</a:t>
            </a:r>
            <a:r>
              <a:rPr lang="en-US" altLang="zh-CN" dirty="0">
                <a:solidFill>
                  <a:srgbClr val="000099"/>
                </a:solidFill>
              </a:rPr>
              <a:t>500mm</a:t>
            </a:r>
            <a:r>
              <a:rPr lang="zh-CN" altLang="en-US" dirty="0">
                <a:solidFill>
                  <a:srgbClr val="000099"/>
                </a:solidFill>
              </a:rPr>
              <a:t>时，可做成腹板式齿轮。</a:t>
            </a:r>
            <a:endParaRPr lang="zh-CN" altLang="en-US" dirty="0">
              <a:solidFill>
                <a:srgbClr val="000099"/>
              </a:solidFill>
            </a:endParaRPr>
          </a:p>
        </p:txBody>
      </p:sp>
      <p:sp>
        <p:nvSpPr>
          <p:cNvPr id="44038" name="矩形 5"/>
          <p:cNvSpPr>
            <a:spLocks noChangeArrowheads="1"/>
          </p:cNvSpPr>
          <p:nvPr/>
        </p:nvSpPr>
        <p:spPr bwMode="auto">
          <a:xfrm>
            <a:off x="3321050" y="188913"/>
            <a:ext cx="2982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3337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400" dirty="0">
                <a:solidFill>
                  <a:srgbClr val="CC3300"/>
                </a:solidFill>
                <a:latin typeface="Calibri" panose="020F0502020204030204" pitchFamily="34" charset="0"/>
                <a:cs typeface="Times New Roman" panose="02020603050405020304" pitchFamily="18" charset="0"/>
              </a:rPr>
              <a:t>中型尺寸齿轮结构</a:t>
            </a:r>
            <a:endParaRPr lang="en-US" altLang="zh-CN" sz="2400" dirty="0">
              <a:solidFill>
                <a:srgbClr val="CC3300"/>
              </a:solidFill>
            </a:endParaRPr>
          </a:p>
        </p:txBody>
      </p:sp>
      <p:sp>
        <p:nvSpPr>
          <p:cNvPr id="4403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44041"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4" y="1956008"/>
            <a:ext cx="6212579" cy="3719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57"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0025" y="1966086"/>
            <a:ext cx="2593975" cy="2749550"/>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250454"/>
            <a:ext cx="9144000" cy="160754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041"/>
                                        </p:tgtEl>
                                        <p:attrNameLst>
                                          <p:attrName>style.visibility</p:attrName>
                                        </p:attrNameLst>
                                      </p:cBhvr>
                                      <p:to>
                                        <p:strVal val="visible"/>
                                      </p:to>
                                    </p:set>
                                    <p:animEffect transition="in" filter="wipe(left)">
                                      <p:cBhvr>
                                        <p:cTn id="7" dur="500"/>
                                        <p:tgtEl>
                                          <p:spTgt spid="440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7"/>
                                        </p:tgtEl>
                                        <p:attrNameLst>
                                          <p:attrName>style.visibility</p:attrName>
                                        </p:attrNameLst>
                                      </p:cBhvr>
                                      <p:to>
                                        <p:strVal val="visible"/>
                                      </p:to>
                                    </p:set>
                                    <p:animEffect transition="in" filter="wipe(left)">
                                      <p:cBhvr>
                                        <p:cTn id="22" dur="500"/>
                                        <p:tgtEl>
                                          <p:spTgt spid="44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Text Box 2"/>
          <p:cNvSpPr txBox="1">
            <a:spLocks noChangeArrowheads="1"/>
          </p:cNvSpPr>
          <p:nvPr/>
        </p:nvSpPr>
        <p:spPr bwMode="auto">
          <a:xfrm>
            <a:off x="228600" y="141288"/>
            <a:ext cx="2133600" cy="473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pPr algn="l"/>
            <a:r>
              <a:rPr kumimoji="1" lang="en-US" altLang="zh-CN" sz="2800">
                <a:solidFill>
                  <a:schemeClr val="hlink"/>
                </a:solidFill>
                <a:latin typeface="Times New Roman" panose="02020603050405020304" pitchFamily="18" charset="0"/>
                <a:ea typeface="华文中宋" panose="02010600040101010101" pitchFamily="2" charset="-122"/>
              </a:rPr>
              <a:t>3. </a:t>
            </a:r>
            <a:r>
              <a:rPr kumimoji="1" lang="zh-CN" altLang="en-US" sz="2800">
                <a:solidFill>
                  <a:schemeClr val="hlink"/>
                </a:solidFill>
                <a:latin typeface="Times New Roman" panose="02020603050405020304" pitchFamily="18" charset="0"/>
                <a:ea typeface="华文中宋" panose="02010600040101010101" pitchFamily="2" charset="-122"/>
              </a:rPr>
              <a:t>腹板式齿轮</a:t>
            </a:r>
            <a:endParaRPr kumimoji="1" lang="zh-CN" altLang="en-US" sz="2800">
              <a:solidFill>
                <a:schemeClr val="hlink"/>
              </a:solidFill>
              <a:latin typeface="Times New Roman" panose="02020603050405020304" pitchFamily="18" charset="0"/>
              <a:ea typeface="华文中宋" panose="02010600040101010101" pitchFamily="2" charset="-122"/>
            </a:endParaRPr>
          </a:p>
        </p:txBody>
      </p:sp>
      <p:grpSp>
        <p:nvGrpSpPr>
          <p:cNvPr id="454660" name="Group 4"/>
          <p:cNvGrpSpPr/>
          <p:nvPr/>
        </p:nvGrpSpPr>
        <p:grpSpPr bwMode="auto">
          <a:xfrm>
            <a:off x="2517567" y="1028618"/>
            <a:ext cx="6489700" cy="4794250"/>
            <a:chOff x="1672" y="47"/>
            <a:chExt cx="4088" cy="3020"/>
          </a:xfrm>
        </p:grpSpPr>
        <p:grpSp>
          <p:nvGrpSpPr>
            <p:cNvPr id="454661" name="Group 5"/>
            <p:cNvGrpSpPr/>
            <p:nvPr/>
          </p:nvGrpSpPr>
          <p:grpSpPr bwMode="auto">
            <a:xfrm>
              <a:off x="3125" y="47"/>
              <a:ext cx="2635" cy="2639"/>
              <a:chOff x="3125" y="47"/>
              <a:chExt cx="2635" cy="2639"/>
            </a:xfrm>
          </p:grpSpPr>
          <p:grpSp>
            <p:nvGrpSpPr>
              <p:cNvPr id="454662" name="Group 6"/>
              <p:cNvGrpSpPr/>
              <p:nvPr/>
            </p:nvGrpSpPr>
            <p:grpSpPr bwMode="auto">
              <a:xfrm>
                <a:off x="3125" y="47"/>
                <a:ext cx="2635" cy="2639"/>
                <a:chOff x="1501" y="271"/>
                <a:chExt cx="2270" cy="2251"/>
              </a:xfrm>
            </p:grpSpPr>
            <p:sp>
              <p:nvSpPr>
                <p:cNvPr id="454663" name="Line 7"/>
                <p:cNvSpPr>
                  <a:spLocks noChangeShapeType="1"/>
                </p:cNvSpPr>
                <p:nvPr/>
              </p:nvSpPr>
              <p:spPr bwMode="auto">
                <a:xfrm>
                  <a:off x="2648" y="271"/>
                  <a:ext cx="0" cy="2251"/>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64" name="Line 8"/>
                <p:cNvSpPr>
                  <a:spLocks noChangeShapeType="1"/>
                </p:cNvSpPr>
                <p:nvPr/>
              </p:nvSpPr>
              <p:spPr bwMode="auto">
                <a:xfrm flipH="1">
                  <a:off x="1501" y="1385"/>
                  <a:ext cx="2270"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4665" name="Oval 9"/>
              <p:cNvSpPr>
                <a:spLocks noChangeArrowheads="1"/>
              </p:cNvSpPr>
              <p:nvPr/>
            </p:nvSpPr>
            <p:spPr bwMode="auto">
              <a:xfrm>
                <a:off x="3287" y="148"/>
                <a:ext cx="2340" cy="2396"/>
              </a:xfrm>
              <a:prstGeom prst="ellipse">
                <a:avLst/>
              </a:prstGeom>
              <a:noFill/>
              <a:ln w="28575">
                <a:solidFill>
                  <a:schemeClr val="tx2"/>
                </a:solidFill>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66" name="Oval 10"/>
              <p:cNvSpPr>
                <a:spLocks noChangeArrowheads="1"/>
              </p:cNvSpPr>
              <p:nvPr/>
            </p:nvSpPr>
            <p:spPr bwMode="auto">
              <a:xfrm>
                <a:off x="3433" y="308"/>
                <a:ext cx="2032" cy="2073"/>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67" name="Oval 11"/>
              <p:cNvSpPr>
                <a:spLocks noChangeArrowheads="1"/>
              </p:cNvSpPr>
              <p:nvPr/>
            </p:nvSpPr>
            <p:spPr bwMode="auto">
              <a:xfrm>
                <a:off x="4186" y="1070"/>
                <a:ext cx="555" cy="55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68" name="Oval 12"/>
              <p:cNvSpPr>
                <a:spLocks noChangeArrowheads="1"/>
              </p:cNvSpPr>
              <p:nvPr/>
            </p:nvSpPr>
            <p:spPr bwMode="auto">
              <a:xfrm>
                <a:off x="4214" y="1102"/>
                <a:ext cx="488" cy="489"/>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69" name="Oval 13"/>
              <p:cNvSpPr>
                <a:spLocks noChangeArrowheads="1"/>
              </p:cNvSpPr>
              <p:nvPr/>
            </p:nvSpPr>
            <p:spPr bwMode="auto">
              <a:xfrm>
                <a:off x="4030" y="907"/>
                <a:ext cx="845" cy="872"/>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70" name="Oval 14"/>
              <p:cNvSpPr>
                <a:spLocks noChangeArrowheads="1"/>
              </p:cNvSpPr>
              <p:nvPr/>
            </p:nvSpPr>
            <p:spPr bwMode="auto">
              <a:xfrm>
                <a:off x="3316" y="171"/>
                <a:ext cx="2274" cy="2342"/>
              </a:xfrm>
              <a:prstGeom prst="ellipse">
                <a:avLst/>
              </a:prstGeom>
              <a:noFill/>
              <a:ln w="12700">
                <a:solidFill>
                  <a:schemeClr val="tx2"/>
                </a:solidFill>
                <a:prstDash val="lgDashDot"/>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71" name="Rectangle 15"/>
              <p:cNvSpPr>
                <a:spLocks noChangeArrowheads="1"/>
              </p:cNvSpPr>
              <p:nvPr/>
            </p:nvSpPr>
            <p:spPr bwMode="auto">
              <a:xfrm>
                <a:off x="4396" y="1010"/>
                <a:ext cx="122" cy="99"/>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72" name="Line 16"/>
              <p:cNvSpPr>
                <a:spLocks noChangeShapeType="1"/>
              </p:cNvSpPr>
              <p:nvPr/>
            </p:nvSpPr>
            <p:spPr bwMode="auto">
              <a:xfrm>
                <a:off x="4405" y="1116"/>
                <a:ext cx="107" cy="0"/>
              </a:xfrm>
              <a:prstGeom prst="line">
                <a:avLst/>
              </a:prstGeom>
              <a:noFill/>
              <a:ln w="762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4673" name="Group 17"/>
            <p:cNvGrpSpPr/>
            <p:nvPr/>
          </p:nvGrpSpPr>
          <p:grpSpPr bwMode="auto">
            <a:xfrm>
              <a:off x="1672" y="93"/>
              <a:ext cx="1753" cy="2974"/>
              <a:chOff x="1672" y="93"/>
              <a:chExt cx="1753" cy="2974"/>
            </a:xfrm>
          </p:grpSpPr>
          <p:sp>
            <p:nvSpPr>
              <p:cNvPr id="454674" name="Text Box 18"/>
              <p:cNvSpPr txBox="1">
                <a:spLocks noChangeArrowheads="1"/>
              </p:cNvSpPr>
              <p:nvPr/>
            </p:nvSpPr>
            <p:spPr bwMode="auto">
              <a:xfrm>
                <a:off x="2479" y="2564"/>
                <a:ext cx="80" cy="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000" i="1">
                    <a:solidFill>
                      <a:schemeClr val="hlink"/>
                    </a:solidFill>
                    <a:latin typeface="Times New Roman" panose="02020603050405020304" pitchFamily="18" charset="0"/>
                    <a:ea typeface="华文中宋" panose="02010600040101010101" pitchFamily="2" charset="-122"/>
                  </a:rPr>
                  <a:t>b</a:t>
                </a:r>
                <a:endParaRPr kumimoji="1" lang="en-US" altLang="zh-CN" sz="2000" i="1" baseline="-25000">
                  <a:solidFill>
                    <a:schemeClr val="hlink"/>
                  </a:solidFill>
                  <a:latin typeface="Times New Roman" panose="02020603050405020304" pitchFamily="18" charset="0"/>
                  <a:ea typeface="华文中宋" panose="02010600040101010101" pitchFamily="2" charset="-122"/>
                </a:endParaRPr>
              </a:p>
            </p:txBody>
          </p:sp>
          <p:sp>
            <p:nvSpPr>
              <p:cNvPr id="454675" name="Text Box 19"/>
              <p:cNvSpPr txBox="1">
                <a:spLocks noChangeArrowheads="1"/>
              </p:cNvSpPr>
              <p:nvPr/>
            </p:nvSpPr>
            <p:spPr bwMode="auto">
              <a:xfrm rot="-5400000">
                <a:off x="1932" y="973"/>
                <a:ext cx="120" cy="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000" i="1" dirty="0">
                    <a:solidFill>
                      <a:schemeClr val="hlink"/>
                    </a:solidFill>
                    <a:latin typeface="Times New Roman" panose="02020603050405020304" pitchFamily="18" charset="0"/>
                    <a:ea typeface="华文中宋" panose="02010600040101010101" pitchFamily="2" charset="-122"/>
                  </a:rPr>
                  <a:t>d</a:t>
                </a:r>
                <a:r>
                  <a:rPr kumimoji="1" lang="en-US" altLang="zh-CN" sz="2000" i="1" baseline="-25000" dirty="0">
                    <a:solidFill>
                      <a:schemeClr val="hlink"/>
                    </a:solidFill>
                    <a:latin typeface="Times New Roman" panose="02020603050405020304" pitchFamily="18" charset="0"/>
                    <a:ea typeface="华文中宋" panose="02010600040101010101" pitchFamily="2" charset="-122"/>
                  </a:rPr>
                  <a:t>s</a:t>
                </a:r>
                <a:endParaRPr kumimoji="1" lang="en-US" altLang="zh-CN" sz="2000" i="1" baseline="-25000" dirty="0">
                  <a:solidFill>
                    <a:schemeClr val="hlink"/>
                  </a:solidFill>
                  <a:latin typeface="Times New Roman" panose="02020603050405020304" pitchFamily="18" charset="0"/>
                  <a:ea typeface="华文中宋" panose="02010600040101010101" pitchFamily="2" charset="-122"/>
                </a:endParaRPr>
              </a:p>
            </p:txBody>
          </p:sp>
          <p:sp>
            <p:nvSpPr>
              <p:cNvPr id="454676" name="Text Box 20"/>
              <p:cNvSpPr txBox="1">
                <a:spLocks noChangeArrowheads="1"/>
              </p:cNvSpPr>
              <p:nvPr/>
            </p:nvSpPr>
            <p:spPr bwMode="auto">
              <a:xfrm rot="-5400000">
                <a:off x="2942" y="1212"/>
                <a:ext cx="138" cy="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000" i="1">
                    <a:solidFill>
                      <a:schemeClr val="hlink"/>
                    </a:solidFill>
                    <a:latin typeface="Times New Roman" panose="02020603050405020304" pitchFamily="18" charset="0"/>
                    <a:ea typeface="华文中宋" panose="02010600040101010101" pitchFamily="2" charset="-122"/>
                  </a:rPr>
                  <a:t>d</a:t>
                </a:r>
                <a:r>
                  <a:rPr kumimoji="1" lang="en-US" altLang="zh-CN" sz="2000" i="1" baseline="-25000">
                    <a:solidFill>
                      <a:schemeClr val="hlink"/>
                    </a:solidFill>
                    <a:latin typeface="Times New Roman" panose="02020603050405020304" pitchFamily="18" charset="0"/>
                    <a:ea typeface="华文中宋" panose="02010600040101010101" pitchFamily="2" charset="-122"/>
                  </a:rPr>
                  <a:t>h</a:t>
                </a:r>
                <a:endParaRPr kumimoji="1" lang="en-US" altLang="zh-CN" sz="2000" i="1" baseline="-25000">
                  <a:solidFill>
                    <a:schemeClr val="hlink"/>
                  </a:solidFill>
                  <a:latin typeface="Times New Roman" panose="02020603050405020304" pitchFamily="18" charset="0"/>
                  <a:ea typeface="华文中宋" panose="02010600040101010101" pitchFamily="2" charset="-122"/>
                </a:endParaRPr>
              </a:p>
            </p:txBody>
          </p:sp>
          <p:sp>
            <p:nvSpPr>
              <p:cNvPr id="454677" name="Text Box 21"/>
              <p:cNvSpPr txBox="1">
                <a:spLocks noChangeArrowheads="1"/>
              </p:cNvSpPr>
              <p:nvPr/>
            </p:nvSpPr>
            <p:spPr bwMode="auto">
              <a:xfrm rot="-5400000">
                <a:off x="1717" y="1154"/>
                <a:ext cx="132" cy="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000" i="1" dirty="0">
                    <a:solidFill>
                      <a:schemeClr val="hlink"/>
                    </a:solidFill>
                    <a:latin typeface="Times New Roman" panose="02020603050405020304" pitchFamily="18" charset="0"/>
                    <a:ea typeface="华文中宋" panose="02010600040101010101" pitchFamily="2" charset="-122"/>
                  </a:rPr>
                  <a:t>d</a:t>
                </a:r>
                <a:r>
                  <a:rPr kumimoji="1" lang="en-US" altLang="zh-CN" sz="2000" i="1" baseline="-25000" dirty="0">
                    <a:solidFill>
                      <a:schemeClr val="hlink"/>
                    </a:solidFill>
                    <a:latin typeface="Times New Roman" panose="02020603050405020304" pitchFamily="18" charset="0"/>
                    <a:ea typeface="华文中宋" panose="02010600040101010101" pitchFamily="2" charset="-122"/>
                  </a:rPr>
                  <a:t>a</a:t>
                </a:r>
                <a:endParaRPr kumimoji="1" lang="en-US" altLang="zh-CN" sz="2000" i="1" baseline="-25000" dirty="0">
                  <a:solidFill>
                    <a:schemeClr val="hlink"/>
                  </a:solidFill>
                  <a:latin typeface="Times New Roman" panose="02020603050405020304" pitchFamily="18" charset="0"/>
                  <a:ea typeface="华文中宋" panose="02010600040101010101" pitchFamily="2" charset="-122"/>
                </a:endParaRPr>
              </a:p>
            </p:txBody>
          </p:sp>
          <p:grpSp>
            <p:nvGrpSpPr>
              <p:cNvPr id="454678" name="Group 22"/>
              <p:cNvGrpSpPr/>
              <p:nvPr/>
            </p:nvGrpSpPr>
            <p:grpSpPr bwMode="auto">
              <a:xfrm>
                <a:off x="2142" y="1796"/>
                <a:ext cx="754" cy="1271"/>
                <a:chOff x="1442" y="2160"/>
                <a:chExt cx="754" cy="1099"/>
              </a:xfrm>
            </p:grpSpPr>
            <p:sp>
              <p:nvSpPr>
                <p:cNvPr id="454679" name="Line 23"/>
                <p:cNvSpPr>
                  <a:spLocks noChangeShapeType="1"/>
                </p:cNvSpPr>
                <p:nvPr/>
              </p:nvSpPr>
              <p:spPr bwMode="auto">
                <a:xfrm>
                  <a:off x="1442" y="2162"/>
                  <a:ext cx="0" cy="109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80" name="Line 24"/>
                <p:cNvSpPr>
                  <a:spLocks noChangeShapeType="1"/>
                </p:cNvSpPr>
                <p:nvPr/>
              </p:nvSpPr>
              <p:spPr bwMode="auto">
                <a:xfrm>
                  <a:off x="2195" y="2160"/>
                  <a:ext cx="0" cy="109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81" name="Line 25"/>
                <p:cNvSpPr>
                  <a:spLocks noChangeShapeType="1"/>
                </p:cNvSpPr>
                <p:nvPr/>
              </p:nvSpPr>
              <p:spPr bwMode="auto">
                <a:xfrm>
                  <a:off x="1442" y="3209"/>
                  <a:ext cx="754" cy="0"/>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4682" name="Group 26"/>
              <p:cNvGrpSpPr/>
              <p:nvPr/>
            </p:nvGrpSpPr>
            <p:grpSpPr bwMode="auto">
              <a:xfrm>
                <a:off x="2195" y="2526"/>
                <a:ext cx="655" cy="271"/>
                <a:chOff x="1495" y="2890"/>
                <a:chExt cx="655" cy="194"/>
              </a:xfrm>
            </p:grpSpPr>
            <p:sp>
              <p:nvSpPr>
                <p:cNvPr id="454683" name="Line 27"/>
                <p:cNvSpPr>
                  <a:spLocks noChangeShapeType="1"/>
                </p:cNvSpPr>
                <p:nvPr/>
              </p:nvSpPr>
              <p:spPr bwMode="auto">
                <a:xfrm>
                  <a:off x="1498" y="2890"/>
                  <a:ext cx="0" cy="19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84" name="Line 28"/>
                <p:cNvSpPr>
                  <a:spLocks noChangeShapeType="1"/>
                </p:cNvSpPr>
                <p:nvPr/>
              </p:nvSpPr>
              <p:spPr bwMode="auto">
                <a:xfrm>
                  <a:off x="2150" y="2906"/>
                  <a:ext cx="0" cy="173"/>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85" name="Line 29"/>
                <p:cNvSpPr>
                  <a:spLocks noChangeShapeType="1"/>
                </p:cNvSpPr>
                <p:nvPr/>
              </p:nvSpPr>
              <p:spPr bwMode="auto">
                <a:xfrm>
                  <a:off x="1495" y="3053"/>
                  <a:ext cx="653" cy="0"/>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4686" name="Group 30"/>
              <p:cNvGrpSpPr/>
              <p:nvPr/>
            </p:nvGrpSpPr>
            <p:grpSpPr bwMode="auto">
              <a:xfrm>
                <a:off x="1842" y="164"/>
                <a:ext cx="384" cy="2407"/>
                <a:chOff x="1094" y="238"/>
                <a:chExt cx="432" cy="2407"/>
              </a:xfrm>
            </p:grpSpPr>
            <p:sp>
              <p:nvSpPr>
                <p:cNvPr id="454687" name="Line 31"/>
                <p:cNvSpPr>
                  <a:spLocks noChangeShapeType="1"/>
                </p:cNvSpPr>
                <p:nvPr/>
              </p:nvSpPr>
              <p:spPr bwMode="auto">
                <a:xfrm flipH="1">
                  <a:off x="1104" y="2645"/>
                  <a:ext cx="422"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88" name="Line 32"/>
                <p:cNvSpPr>
                  <a:spLocks noChangeShapeType="1"/>
                </p:cNvSpPr>
                <p:nvPr/>
              </p:nvSpPr>
              <p:spPr bwMode="auto">
                <a:xfrm flipH="1">
                  <a:off x="1094" y="238"/>
                  <a:ext cx="422"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89" name="Line 33"/>
                <p:cNvSpPr>
                  <a:spLocks noChangeShapeType="1"/>
                </p:cNvSpPr>
                <p:nvPr/>
              </p:nvSpPr>
              <p:spPr bwMode="auto">
                <a:xfrm>
                  <a:off x="1142" y="240"/>
                  <a:ext cx="0" cy="2403"/>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4690" name="Group 34"/>
              <p:cNvGrpSpPr/>
              <p:nvPr/>
            </p:nvGrpSpPr>
            <p:grpSpPr bwMode="auto">
              <a:xfrm>
                <a:off x="1929" y="1170"/>
                <a:ext cx="252" cy="456"/>
                <a:chOff x="1229" y="1244"/>
                <a:chExt cx="252" cy="456"/>
              </a:xfrm>
            </p:grpSpPr>
            <p:sp>
              <p:nvSpPr>
                <p:cNvPr id="454691" name="Line 35"/>
                <p:cNvSpPr>
                  <a:spLocks noChangeShapeType="1"/>
                </p:cNvSpPr>
                <p:nvPr/>
              </p:nvSpPr>
              <p:spPr bwMode="auto">
                <a:xfrm flipH="1">
                  <a:off x="1229" y="1697"/>
                  <a:ext cx="252"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92" name="Line 36"/>
                <p:cNvSpPr>
                  <a:spLocks noChangeShapeType="1"/>
                </p:cNvSpPr>
                <p:nvPr/>
              </p:nvSpPr>
              <p:spPr bwMode="auto">
                <a:xfrm>
                  <a:off x="1296" y="1244"/>
                  <a:ext cx="0" cy="456"/>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4693" name="Group 37"/>
              <p:cNvGrpSpPr/>
              <p:nvPr/>
            </p:nvGrpSpPr>
            <p:grpSpPr bwMode="auto">
              <a:xfrm>
                <a:off x="2889" y="930"/>
                <a:ext cx="268" cy="868"/>
                <a:chOff x="2189" y="1294"/>
                <a:chExt cx="201" cy="868"/>
              </a:xfrm>
            </p:grpSpPr>
            <p:sp>
              <p:nvSpPr>
                <p:cNvPr id="454694" name="Line 38"/>
                <p:cNvSpPr>
                  <a:spLocks noChangeShapeType="1"/>
                </p:cNvSpPr>
                <p:nvPr/>
              </p:nvSpPr>
              <p:spPr bwMode="auto">
                <a:xfrm>
                  <a:off x="2189" y="1294"/>
                  <a:ext cx="192"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95" name="Line 39"/>
                <p:cNvSpPr>
                  <a:spLocks noChangeShapeType="1"/>
                </p:cNvSpPr>
                <p:nvPr/>
              </p:nvSpPr>
              <p:spPr bwMode="auto">
                <a:xfrm>
                  <a:off x="2189" y="2162"/>
                  <a:ext cx="201"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696" name="Line 40"/>
                <p:cNvSpPr>
                  <a:spLocks noChangeShapeType="1"/>
                </p:cNvSpPr>
                <p:nvPr/>
              </p:nvSpPr>
              <p:spPr bwMode="auto">
                <a:xfrm flipV="1">
                  <a:off x="2345" y="1296"/>
                  <a:ext cx="0" cy="866"/>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4697" name="Group 41"/>
              <p:cNvGrpSpPr/>
              <p:nvPr/>
            </p:nvGrpSpPr>
            <p:grpSpPr bwMode="auto">
              <a:xfrm>
                <a:off x="2706" y="337"/>
                <a:ext cx="719" cy="590"/>
                <a:chOff x="2006" y="701"/>
                <a:chExt cx="719" cy="590"/>
              </a:xfrm>
            </p:grpSpPr>
            <p:sp>
              <p:nvSpPr>
                <p:cNvPr id="454698" name="Text Box 42"/>
                <p:cNvSpPr txBox="1">
                  <a:spLocks noChangeArrowheads="1"/>
                </p:cNvSpPr>
                <p:nvPr/>
              </p:nvSpPr>
              <p:spPr bwMode="auto">
                <a:xfrm>
                  <a:off x="2173" y="819"/>
                  <a:ext cx="552" cy="2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zh-CN" altLang="en-US">
                      <a:solidFill>
                        <a:schemeClr val="hlink"/>
                      </a:solidFill>
                      <a:latin typeface="Times New Roman" panose="02020603050405020304" pitchFamily="18" charset="0"/>
                      <a:ea typeface="华文中宋" panose="02010600040101010101" pitchFamily="2" charset="-122"/>
                    </a:rPr>
                    <a:t>斜度</a:t>
                  </a:r>
                  <a:r>
                    <a:rPr kumimoji="1" lang="en-US" altLang="zh-CN">
                      <a:solidFill>
                        <a:schemeClr val="hlink"/>
                      </a:solidFill>
                      <a:latin typeface="Times New Roman" panose="02020603050405020304" pitchFamily="18" charset="0"/>
                      <a:ea typeface="华文中宋" panose="02010600040101010101" pitchFamily="2" charset="-122"/>
                    </a:rPr>
                    <a:t>1:10</a:t>
                  </a:r>
                  <a:endParaRPr kumimoji="1" lang="en-US" altLang="zh-CN">
                    <a:solidFill>
                      <a:schemeClr val="hlink"/>
                    </a:solidFill>
                    <a:latin typeface="Times New Roman" panose="02020603050405020304" pitchFamily="18" charset="0"/>
                    <a:ea typeface="华文中宋" panose="02010600040101010101" pitchFamily="2" charset="-122"/>
                  </a:endParaRPr>
                </a:p>
              </p:txBody>
            </p:sp>
            <p:sp>
              <p:nvSpPr>
                <p:cNvPr id="454699" name="Freeform 43"/>
                <p:cNvSpPr/>
                <p:nvPr/>
              </p:nvSpPr>
              <p:spPr bwMode="auto">
                <a:xfrm>
                  <a:off x="2014" y="1006"/>
                  <a:ext cx="656" cy="285"/>
                </a:xfrm>
                <a:custGeom>
                  <a:avLst/>
                  <a:gdLst>
                    <a:gd name="T0" fmla="*/ 0 w 656"/>
                    <a:gd name="T1" fmla="*/ 133 h 133"/>
                    <a:gd name="T2" fmla="*/ 80 w 656"/>
                    <a:gd name="T3" fmla="*/ 0 h 133"/>
                    <a:gd name="T4" fmla="*/ 656 w 656"/>
                    <a:gd name="T5" fmla="*/ 0 h 133"/>
                  </a:gdLst>
                  <a:ahLst/>
                  <a:cxnLst>
                    <a:cxn ang="0">
                      <a:pos x="T0" y="T1"/>
                    </a:cxn>
                    <a:cxn ang="0">
                      <a:pos x="T2" y="T3"/>
                    </a:cxn>
                    <a:cxn ang="0">
                      <a:pos x="T4" y="T5"/>
                    </a:cxn>
                  </a:cxnLst>
                  <a:rect l="0" t="0" r="r" b="b"/>
                  <a:pathLst>
                    <a:path w="656" h="133">
                      <a:moveTo>
                        <a:pt x="0" y="133"/>
                      </a:moveTo>
                      <a:lnTo>
                        <a:pt x="80" y="0"/>
                      </a:lnTo>
                      <a:lnTo>
                        <a:pt x="656" y="0"/>
                      </a:lnTo>
                    </a:path>
                  </a:pathLst>
                </a:custGeom>
                <a:noFill/>
                <a:ln w="127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00" name="Line 44"/>
                <p:cNvSpPr>
                  <a:spLocks noChangeShapeType="1"/>
                </p:cNvSpPr>
                <p:nvPr/>
              </p:nvSpPr>
              <p:spPr bwMode="auto">
                <a:xfrm flipH="1" flipV="1">
                  <a:off x="2006" y="701"/>
                  <a:ext cx="84" cy="303"/>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4701" name="Text Box 45"/>
              <p:cNvSpPr txBox="1">
                <a:spLocks noChangeArrowheads="1"/>
              </p:cNvSpPr>
              <p:nvPr/>
            </p:nvSpPr>
            <p:spPr bwMode="auto">
              <a:xfrm>
                <a:off x="2449" y="2785"/>
                <a:ext cx="102" cy="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000" i="1" dirty="0" err="1">
                    <a:solidFill>
                      <a:schemeClr val="hlink"/>
                    </a:solidFill>
                    <a:latin typeface="Times New Roman" panose="02020603050405020304" pitchFamily="18" charset="0"/>
                    <a:ea typeface="华文中宋" panose="02010600040101010101" pitchFamily="2" charset="-122"/>
                  </a:rPr>
                  <a:t>l</a:t>
                </a:r>
                <a:r>
                  <a:rPr kumimoji="1" lang="en-US" altLang="zh-CN" sz="2000" i="1" baseline="-25000" dirty="0" err="1">
                    <a:solidFill>
                      <a:schemeClr val="hlink"/>
                    </a:solidFill>
                    <a:latin typeface="Times New Roman" panose="02020603050405020304" pitchFamily="18" charset="0"/>
                    <a:ea typeface="华文中宋" panose="02010600040101010101" pitchFamily="2" charset="-122"/>
                  </a:rPr>
                  <a:t>h</a:t>
                </a:r>
                <a:endParaRPr kumimoji="1" lang="en-US" altLang="zh-CN" sz="2000" i="1" baseline="-25000" dirty="0">
                  <a:solidFill>
                    <a:schemeClr val="hlink"/>
                  </a:solidFill>
                  <a:latin typeface="Times New Roman" panose="02020603050405020304" pitchFamily="18" charset="0"/>
                  <a:ea typeface="华文中宋" panose="02010600040101010101" pitchFamily="2" charset="-122"/>
                </a:endParaRPr>
              </a:p>
            </p:txBody>
          </p:sp>
          <p:grpSp>
            <p:nvGrpSpPr>
              <p:cNvPr id="454702" name="Group 46"/>
              <p:cNvGrpSpPr/>
              <p:nvPr/>
            </p:nvGrpSpPr>
            <p:grpSpPr bwMode="auto">
              <a:xfrm>
                <a:off x="2825" y="93"/>
                <a:ext cx="476" cy="393"/>
                <a:chOff x="2125" y="167"/>
                <a:chExt cx="476" cy="393"/>
              </a:xfrm>
            </p:grpSpPr>
            <p:sp>
              <p:nvSpPr>
                <p:cNvPr id="454703" name="Line 47"/>
                <p:cNvSpPr>
                  <a:spLocks noChangeShapeType="1"/>
                </p:cNvSpPr>
                <p:nvPr/>
              </p:nvSpPr>
              <p:spPr bwMode="auto">
                <a:xfrm>
                  <a:off x="2125" y="409"/>
                  <a:ext cx="293"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04" name="Line 48"/>
                <p:cNvSpPr>
                  <a:spLocks noChangeShapeType="1"/>
                </p:cNvSpPr>
                <p:nvPr/>
              </p:nvSpPr>
              <p:spPr bwMode="auto">
                <a:xfrm>
                  <a:off x="2130" y="321"/>
                  <a:ext cx="293"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05" name="Line 49"/>
                <p:cNvSpPr>
                  <a:spLocks noChangeShapeType="1"/>
                </p:cNvSpPr>
                <p:nvPr/>
              </p:nvSpPr>
              <p:spPr bwMode="auto">
                <a:xfrm>
                  <a:off x="2382" y="167"/>
                  <a:ext cx="0" cy="156"/>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06" name="Line 50"/>
                <p:cNvSpPr>
                  <a:spLocks noChangeShapeType="1"/>
                </p:cNvSpPr>
                <p:nvPr/>
              </p:nvSpPr>
              <p:spPr bwMode="auto">
                <a:xfrm flipV="1">
                  <a:off x="2383" y="404"/>
                  <a:ext cx="0" cy="156"/>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07" name="Line 51"/>
                <p:cNvSpPr>
                  <a:spLocks noChangeShapeType="1"/>
                </p:cNvSpPr>
                <p:nvPr/>
              </p:nvSpPr>
              <p:spPr bwMode="auto">
                <a:xfrm flipV="1">
                  <a:off x="2384" y="307"/>
                  <a:ext cx="0" cy="103"/>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08" name="Rectangle 52"/>
                <p:cNvSpPr>
                  <a:spLocks noChangeArrowheads="1"/>
                </p:cNvSpPr>
                <p:nvPr/>
              </p:nvSpPr>
              <p:spPr bwMode="auto">
                <a:xfrm>
                  <a:off x="2340" y="251"/>
                  <a:ext cx="26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hlink"/>
                      </a:solidFill>
                      <a:latin typeface="隶书" panose="02010509060101010101" pitchFamily="49" charset="-122"/>
                    </a:rPr>
                    <a:t>δ</a:t>
                  </a:r>
                  <a:endParaRPr kumimoji="1" lang="en-US" altLang="zh-CN">
                    <a:solidFill>
                      <a:schemeClr val="hlink"/>
                    </a:solidFill>
                    <a:latin typeface="隶书" panose="02010509060101010101" pitchFamily="49" charset="-122"/>
                  </a:endParaRPr>
                </a:p>
              </p:txBody>
            </p:sp>
          </p:grpSp>
          <p:grpSp>
            <p:nvGrpSpPr>
              <p:cNvPr id="454709" name="Group 53"/>
              <p:cNvGrpSpPr/>
              <p:nvPr/>
            </p:nvGrpSpPr>
            <p:grpSpPr bwMode="auto">
              <a:xfrm>
                <a:off x="2123" y="166"/>
                <a:ext cx="820" cy="2402"/>
                <a:chOff x="2123" y="166"/>
                <a:chExt cx="820" cy="2402"/>
              </a:xfrm>
            </p:grpSpPr>
            <p:sp>
              <p:nvSpPr>
                <p:cNvPr id="454710" name="Line 54"/>
                <p:cNvSpPr>
                  <a:spLocks noChangeShapeType="1"/>
                </p:cNvSpPr>
                <p:nvPr/>
              </p:nvSpPr>
              <p:spPr bwMode="auto">
                <a:xfrm>
                  <a:off x="2124" y="1368"/>
                  <a:ext cx="819"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1" name="Line 55"/>
                <p:cNvSpPr>
                  <a:spLocks noChangeShapeType="1"/>
                </p:cNvSpPr>
                <p:nvPr/>
              </p:nvSpPr>
              <p:spPr bwMode="auto">
                <a:xfrm>
                  <a:off x="2146" y="2523"/>
                  <a:ext cx="797"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2" name="Line 56"/>
                <p:cNvSpPr>
                  <a:spLocks noChangeShapeType="1"/>
                </p:cNvSpPr>
                <p:nvPr/>
              </p:nvSpPr>
              <p:spPr bwMode="auto">
                <a:xfrm>
                  <a:off x="2373" y="2111"/>
                  <a:ext cx="330"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3" name="Line 57"/>
                <p:cNvSpPr>
                  <a:spLocks noChangeShapeType="1"/>
                </p:cNvSpPr>
                <p:nvPr/>
              </p:nvSpPr>
              <p:spPr bwMode="auto">
                <a:xfrm flipV="1">
                  <a:off x="2373" y="622"/>
                  <a:ext cx="330"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4" name="Freeform 58"/>
                <p:cNvSpPr/>
                <p:nvPr/>
              </p:nvSpPr>
              <p:spPr bwMode="auto">
                <a:xfrm>
                  <a:off x="2200" y="1798"/>
                  <a:ext cx="648" cy="770"/>
                </a:xfrm>
                <a:custGeom>
                  <a:avLst/>
                  <a:gdLst>
                    <a:gd name="T0" fmla="*/ 1 w 648"/>
                    <a:gd name="T1" fmla="*/ 3 h 770"/>
                    <a:gd name="T2" fmla="*/ 0 w 648"/>
                    <a:gd name="T3" fmla="*/ 735 h 770"/>
                    <a:gd name="T4" fmla="*/ 23 w 648"/>
                    <a:gd name="T5" fmla="*/ 770 h 770"/>
                    <a:gd name="T6" fmla="*/ 612 w 648"/>
                    <a:gd name="T7" fmla="*/ 770 h 770"/>
                    <a:gd name="T8" fmla="*/ 647 w 648"/>
                    <a:gd name="T9" fmla="*/ 751 h 770"/>
                    <a:gd name="T10" fmla="*/ 648 w 648"/>
                    <a:gd name="T11" fmla="*/ 0 h 770"/>
                  </a:gdLst>
                  <a:ahLst/>
                  <a:cxnLst>
                    <a:cxn ang="0">
                      <a:pos x="T0" y="T1"/>
                    </a:cxn>
                    <a:cxn ang="0">
                      <a:pos x="T2" y="T3"/>
                    </a:cxn>
                    <a:cxn ang="0">
                      <a:pos x="T4" y="T5"/>
                    </a:cxn>
                    <a:cxn ang="0">
                      <a:pos x="T6" y="T7"/>
                    </a:cxn>
                    <a:cxn ang="0">
                      <a:pos x="T8" y="T9"/>
                    </a:cxn>
                    <a:cxn ang="0">
                      <a:pos x="T10" y="T11"/>
                    </a:cxn>
                  </a:cxnLst>
                  <a:rect l="0" t="0" r="r" b="b"/>
                  <a:pathLst>
                    <a:path w="648" h="770">
                      <a:moveTo>
                        <a:pt x="1" y="3"/>
                      </a:moveTo>
                      <a:lnTo>
                        <a:pt x="0" y="735"/>
                      </a:lnTo>
                      <a:lnTo>
                        <a:pt x="23" y="770"/>
                      </a:lnTo>
                      <a:lnTo>
                        <a:pt x="612" y="770"/>
                      </a:lnTo>
                      <a:lnTo>
                        <a:pt x="647" y="751"/>
                      </a:lnTo>
                      <a:lnTo>
                        <a:pt x="648"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5" name="Freeform 59"/>
                <p:cNvSpPr/>
                <p:nvPr/>
              </p:nvSpPr>
              <p:spPr bwMode="auto">
                <a:xfrm>
                  <a:off x="2153" y="1368"/>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6" name="Freeform 60"/>
                <p:cNvSpPr/>
                <p:nvPr/>
              </p:nvSpPr>
              <p:spPr bwMode="auto">
                <a:xfrm flipH="1">
                  <a:off x="2848" y="1365"/>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7" name="Line 61"/>
                <p:cNvSpPr>
                  <a:spLocks noChangeShapeType="1"/>
                </p:cNvSpPr>
                <p:nvPr/>
              </p:nvSpPr>
              <p:spPr bwMode="auto">
                <a:xfrm>
                  <a:off x="2197" y="2479"/>
                  <a:ext cx="650"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8" name="Freeform 62"/>
                <p:cNvSpPr/>
                <p:nvPr/>
              </p:nvSpPr>
              <p:spPr bwMode="auto">
                <a:xfrm>
                  <a:off x="2200" y="166"/>
                  <a:ext cx="647" cy="764"/>
                </a:xfrm>
                <a:custGeom>
                  <a:avLst/>
                  <a:gdLst>
                    <a:gd name="T0" fmla="*/ 0 w 647"/>
                    <a:gd name="T1" fmla="*/ 764 h 764"/>
                    <a:gd name="T2" fmla="*/ 0 w 647"/>
                    <a:gd name="T3" fmla="*/ 35 h 764"/>
                    <a:gd name="T4" fmla="*/ 23 w 647"/>
                    <a:gd name="T5" fmla="*/ 0 h 764"/>
                    <a:gd name="T6" fmla="*/ 612 w 647"/>
                    <a:gd name="T7" fmla="*/ 0 h 764"/>
                    <a:gd name="T8" fmla="*/ 647 w 647"/>
                    <a:gd name="T9" fmla="*/ 19 h 764"/>
                    <a:gd name="T10" fmla="*/ 647 w 647"/>
                    <a:gd name="T11" fmla="*/ 763 h 764"/>
                  </a:gdLst>
                  <a:ahLst/>
                  <a:cxnLst>
                    <a:cxn ang="0">
                      <a:pos x="T0" y="T1"/>
                    </a:cxn>
                    <a:cxn ang="0">
                      <a:pos x="T2" y="T3"/>
                    </a:cxn>
                    <a:cxn ang="0">
                      <a:pos x="T4" y="T5"/>
                    </a:cxn>
                    <a:cxn ang="0">
                      <a:pos x="T6" y="T7"/>
                    </a:cxn>
                    <a:cxn ang="0">
                      <a:pos x="T8" y="T9"/>
                    </a:cxn>
                    <a:cxn ang="0">
                      <a:pos x="T10" y="T11"/>
                    </a:cxn>
                  </a:cxnLst>
                  <a:rect l="0" t="0" r="r" b="b"/>
                  <a:pathLst>
                    <a:path w="647" h="764">
                      <a:moveTo>
                        <a:pt x="0" y="764"/>
                      </a:moveTo>
                      <a:lnTo>
                        <a:pt x="0" y="35"/>
                      </a:lnTo>
                      <a:lnTo>
                        <a:pt x="23" y="0"/>
                      </a:lnTo>
                      <a:lnTo>
                        <a:pt x="612" y="0"/>
                      </a:lnTo>
                      <a:lnTo>
                        <a:pt x="647" y="19"/>
                      </a:lnTo>
                      <a:lnTo>
                        <a:pt x="647" y="763"/>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19" name="Freeform 63"/>
                <p:cNvSpPr/>
                <p:nvPr/>
              </p:nvSpPr>
              <p:spPr bwMode="auto">
                <a:xfrm flipV="1">
                  <a:off x="2153" y="1070"/>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20" name="Freeform 64"/>
                <p:cNvSpPr/>
                <p:nvPr/>
              </p:nvSpPr>
              <p:spPr bwMode="auto">
                <a:xfrm flipH="1" flipV="1">
                  <a:off x="2848" y="1073"/>
                  <a:ext cx="32" cy="295"/>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4721" name="Group 65"/>
                <p:cNvGrpSpPr/>
                <p:nvPr/>
              </p:nvGrpSpPr>
              <p:grpSpPr bwMode="auto">
                <a:xfrm>
                  <a:off x="2185" y="1109"/>
                  <a:ext cx="668" cy="515"/>
                  <a:chOff x="1564" y="1473"/>
                  <a:chExt cx="589" cy="515"/>
                </a:xfrm>
              </p:grpSpPr>
              <p:sp>
                <p:nvSpPr>
                  <p:cNvPr id="454722" name="Line 66"/>
                  <p:cNvSpPr>
                    <a:spLocks noChangeShapeType="1"/>
                  </p:cNvSpPr>
                  <p:nvPr/>
                </p:nvSpPr>
                <p:spPr bwMode="auto">
                  <a:xfrm>
                    <a:off x="1564" y="1988"/>
                    <a:ext cx="589"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23" name="Line 67"/>
                  <p:cNvSpPr>
                    <a:spLocks noChangeShapeType="1"/>
                  </p:cNvSpPr>
                  <p:nvPr/>
                </p:nvSpPr>
                <p:spPr bwMode="auto">
                  <a:xfrm flipV="1">
                    <a:off x="1564" y="1473"/>
                    <a:ext cx="589"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4724" name="Line 68"/>
                <p:cNvSpPr>
                  <a:spLocks noChangeShapeType="1"/>
                </p:cNvSpPr>
                <p:nvPr/>
              </p:nvSpPr>
              <p:spPr bwMode="auto">
                <a:xfrm flipV="1">
                  <a:off x="2197" y="254"/>
                  <a:ext cx="650"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25" name="Line 69"/>
                <p:cNvSpPr>
                  <a:spLocks noChangeShapeType="1"/>
                </p:cNvSpPr>
                <p:nvPr/>
              </p:nvSpPr>
              <p:spPr bwMode="auto">
                <a:xfrm>
                  <a:off x="2123" y="202"/>
                  <a:ext cx="804"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26" name="Line 70"/>
                <p:cNvSpPr>
                  <a:spLocks noChangeShapeType="1"/>
                </p:cNvSpPr>
                <p:nvPr/>
              </p:nvSpPr>
              <p:spPr bwMode="auto">
                <a:xfrm>
                  <a:off x="2145" y="1044"/>
                  <a:ext cx="747"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27" name="Line 71"/>
                <p:cNvSpPr>
                  <a:spLocks noChangeShapeType="1"/>
                </p:cNvSpPr>
                <p:nvPr/>
              </p:nvSpPr>
              <p:spPr bwMode="auto">
                <a:xfrm flipV="1">
                  <a:off x="2216" y="252"/>
                  <a:ext cx="48"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28" name="Line 72"/>
                <p:cNvSpPr>
                  <a:spLocks noChangeShapeType="1"/>
                </p:cNvSpPr>
                <p:nvPr/>
              </p:nvSpPr>
              <p:spPr bwMode="auto">
                <a:xfrm flipV="1">
                  <a:off x="2276" y="257"/>
                  <a:ext cx="48"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29" name="Line 73"/>
                <p:cNvSpPr>
                  <a:spLocks noChangeShapeType="1"/>
                </p:cNvSpPr>
                <p:nvPr/>
              </p:nvSpPr>
              <p:spPr bwMode="auto">
                <a:xfrm flipV="1">
                  <a:off x="2341" y="254"/>
                  <a:ext cx="48"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0" name="Line 74"/>
                <p:cNvSpPr>
                  <a:spLocks noChangeShapeType="1"/>
                </p:cNvSpPr>
                <p:nvPr/>
              </p:nvSpPr>
              <p:spPr bwMode="auto">
                <a:xfrm flipV="1">
                  <a:off x="2407" y="256"/>
                  <a:ext cx="48"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1" name="Line 75"/>
                <p:cNvSpPr>
                  <a:spLocks noChangeShapeType="1"/>
                </p:cNvSpPr>
                <p:nvPr/>
              </p:nvSpPr>
              <p:spPr bwMode="auto">
                <a:xfrm flipV="1">
                  <a:off x="2448" y="250"/>
                  <a:ext cx="79" cy="113"/>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2" name="Line 76"/>
                <p:cNvSpPr>
                  <a:spLocks noChangeShapeType="1"/>
                </p:cNvSpPr>
                <p:nvPr/>
              </p:nvSpPr>
              <p:spPr bwMode="auto">
                <a:xfrm flipV="1">
                  <a:off x="2453" y="249"/>
                  <a:ext cx="137" cy="19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3" name="Line 77"/>
                <p:cNvSpPr>
                  <a:spLocks noChangeShapeType="1"/>
                </p:cNvSpPr>
                <p:nvPr/>
              </p:nvSpPr>
              <p:spPr bwMode="auto">
                <a:xfrm flipV="1">
                  <a:off x="2448" y="417"/>
                  <a:ext cx="154" cy="22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4" name="Line 78"/>
                <p:cNvSpPr>
                  <a:spLocks noChangeShapeType="1"/>
                </p:cNvSpPr>
                <p:nvPr/>
              </p:nvSpPr>
              <p:spPr bwMode="auto">
                <a:xfrm flipV="1">
                  <a:off x="2666" y="256"/>
                  <a:ext cx="48"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5" name="Line 79"/>
                <p:cNvSpPr>
                  <a:spLocks noChangeShapeType="1"/>
                </p:cNvSpPr>
                <p:nvPr/>
              </p:nvSpPr>
              <p:spPr bwMode="auto">
                <a:xfrm flipV="1">
                  <a:off x="2446" y="256"/>
                  <a:ext cx="204" cy="28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6" name="Line 80"/>
                <p:cNvSpPr>
                  <a:spLocks noChangeShapeType="1"/>
                </p:cNvSpPr>
                <p:nvPr/>
              </p:nvSpPr>
              <p:spPr bwMode="auto">
                <a:xfrm flipV="1">
                  <a:off x="2724" y="256"/>
                  <a:ext cx="48"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7" name="Line 81"/>
                <p:cNvSpPr>
                  <a:spLocks noChangeShapeType="1"/>
                </p:cNvSpPr>
                <p:nvPr/>
              </p:nvSpPr>
              <p:spPr bwMode="auto">
                <a:xfrm flipV="1">
                  <a:off x="2779" y="254"/>
                  <a:ext cx="48"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8" name="Line 82"/>
                <p:cNvSpPr>
                  <a:spLocks noChangeShapeType="1"/>
                </p:cNvSpPr>
                <p:nvPr/>
              </p:nvSpPr>
              <p:spPr bwMode="auto">
                <a:xfrm flipH="1">
                  <a:off x="2798" y="936"/>
                  <a:ext cx="77" cy="10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39" name="Line 83"/>
                <p:cNvSpPr>
                  <a:spLocks noChangeShapeType="1"/>
                </p:cNvSpPr>
                <p:nvPr/>
              </p:nvSpPr>
              <p:spPr bwMode="auto">
                <a:xfrm flipH="1">
                  <a:off x="2695" y="937"/>
                  <a:ext cx="67" cy="10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0" name="Line 84"/>
                <p:cNvSpPr>
                  <a:spLocks noChangeShapeType="1"/>
                </p:cNvSpPr>
                <p:nvPr/>
              </p:nvSpPr>
              <p:spPr bwMode="auto">
                <a:xfrm flipH="1">
                  <a:off x="2637" y="937"/>
                  <a:ext cx="65" cy="9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1" name="Line 85"/>
                <p:cNvSpPr>
                  <a:spLocks noChangeShapeType="1"/>
                </p:cNvSpPr>
                <p:nvPr/>
              </p:nvSpPr>
              <p:spPr bwMode="auto">
                <a:xfrm flipH="1">
                  <a:off x="2579" y="944"/>
                  <a:ext cx="58" cy="8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2" name="Line 86"/>
                <p:cNvSpPr>
                  <a:spLocks noChangeShapeType="1"/>
                </p:cNvSpPr>
                <p:nvPr/>
              </p:nvSpPr>
              <p:spPr bwMode="auto">
                <a:xfrm flipH="1">
                  <a:off x="2511" y="914"/>
                  <a:ext cx="84" cy="12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3" name="Line 87"/>
                <p:cNvSpPr>
                  <a:spLocks noChangeShapeType="1"/>
                </p:cNvSpPr>
                <p:nvPr/>
              </p:nvSpPr>
              <p:spPr bwMode="auto">
                <a:xfrm flipH="1">
                  <a:off x="2448" y="834"/>
                  <a:ext cx="142" cy="20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4" name="Line 88"/>
                <p:cNvSpPr>
                  <a:spLocks noChangeShapeType="1"/>
                </p:cNvSpPr>
                <p:nvPr/>
              </p:nvSpPr>
              <p:spPr bwMode="auto">
                <a:xfrm flipH="1">
                  <a:off x="2456" y="639"/>
                  <a:ext cx="136" cy="19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5" name="Line 89"/>
                <p:cNvSpPr>
                  <a:spLocks noChangeShapeType="1"/>
                </p:cNvSpPr>
                <p:nvPr/>
              </p:nvSpPr>
              <p:spPr bwMode="auto">
                <a:xfrm flipH="1">
                  <a:off x="2320" y="938"/>
                  <a:ext cx="72" cy="10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6" name="Line 90"/>
                <p:cNvSpPr>
                  <a:spLocks noChangeShapeType="1"/>
                </p:cNvSpPr>
                <p:nvPr/>
              </p:nvSpPr>
              <p:spPr bwMode="auto">
                <a:xfrm flipH="1">
                  <a:off x="2388" y="727"/>
                  <a:ext cx="209" cy="30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7" name="Line 91"/>
                <p:cNvSpPr>
                  <a:spLocks noChangeShapeType="1"/>
                </p:cNvSpPr>
                <p:nvPr/>
              </p:nvSpPr>
              <p:spPr bwMode="auto">
                <a:xfrm flipH="1">
                  <a:off x="2261" y="942"/>
                  <a:ext cx="68" cy="9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8" name="Line 92"/>
                <p:cNvSpPr>
                  <a:spLocks noChangeShapeType="1"/>
                </p:cNvSpPr>
                <p:nvPr/>
              </p:nvSpPr>
              <p:spPr bwMode="auto">
                <a:xfrm flipH="1">
                  <a:off x="2204" y="947"/>
                  <a:ext cx="60" cy="8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49" name="Line 93"/>
                <p:cNvSpPr>
                  <a:spLocks noChangeShapeType="1"/>
                </p:cNvSpPr>
                <p:nvPr/>
              </p:nvSpPr>
              <p:spPr bwMode="auto">
                <a:xfrm flipH="1">
                  <a:off x="2749" y="940"/>
                  <a:ext cx="67" cy="10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0" name="Line 94"/>
                <p:cNvSpPr>
                  <a:spLocks noChangeShapeType="1"/>
                </p:cNvSpPr>
                <p:nvPr/>
              </p:nvSpPr>
              <p:spPr bwMode="auto">
                <a:xfrm flipH="1">
                  <a:off x="2785" y="1646"/>
                  <a:ext cx="94" cy="14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1" name="Line 95"/>
                <p:cNvSpPr>
                  <a:spLocks noChangeShapeType="1"/>
                </p:cNvSpPr>
                <p:nvPr/>
              </p:nvSpPr>
              <p:spPr bwMode="auto">
                <a:xfrm flipH="1">
                  <a:off x="2662" y="1628"/>
                  <a:ext cx="119" cy="16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2" name="Line 96"/>
                <p:cNvSpPr>
                  <a:spLocks noChangeShapeType="1"/>
                </p:cNvSpPr>
                <p:nvPr/>
              </p:nvSpPr>
              <p:spPr bwMode="auto">
                <a:xfrm flipH="1">
                  <a:off x="2447" y="1628"/>
                  <a:ext cx="274" cy="38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3" name="Line 97"/>
                <p:cNvSpPr>
                  <a:spLocks noChangeShapeType="1"/>
                </p:cNvSpPr>
                <p:nvPr/>
              </p:nvSpPr>
              <p:spPr bwMode="auto">
                <a:xfrm flipH="1">
                  <a:off x="2450" y="1633"/>
                  <a:ext cx="206" cy="29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4" name="Line 98"/>
                <p:cNvSpPr>
                  <a:spLocks noChangeShapeType="1"/>
                </p:cNvSpPr>
                <p:nvPr/>
              </p:nvSpPr>
              <p:spPr bwMode="auto">
                <a:xfrm flipH="1">
                  <a:off x="2455" y="1634"/>
                  <a:ext cx="137" cy="19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5" name="Line 99"/>
                <p:cNvSpPr>
                  <a:spLocks noChangeShapeType="1"/>
                </p:cNvSpPr>
                <p:nvPr/>
              </p:nvSpPr>
              <p:spPr bwMode="auto">
                <a:xfrm flipH="1">
                  <a:off x="2416" y="1626"/>
                  <a:ext cx="118" cy="16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6" name="Line 100"/>
                <p:cNvSpPr>
                  <a:spLocks noChangeShapeType="1"/>
                </p:cNvSpPr>
                <p:nvPr/>
              </p:nvSpPr>
              <p:spPr bwMode="auto">
                <a:xfrm flipH="1">
                  <a:off x="2454" y="1884"/>
                  <a:ext cx="141" cy="21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7" name="Line 101"/>
                <p:cNvSpPr>
                  <a:spLocks noChangeShapeType="1"/>
                </p:cNvSpPr>
                <p:nvPr/>
              </p:nvSpPr>
              <p:spPr bwMode="auto">
                <a:xfrm flipH="1">
                  <a:off x="2303" y="1629"/>
                  <a:ext cx="108" cy="15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8" name="Line 102"/>
                <p:cNvSpPr>
                  <a:spLocks noChangeShapeType="1"/>
                </p:cNvSpPr>
                <p:nvPr/>
              </p:nvSpPr>
              <p:spPr bwMode="auto">
                <a:xfrm flipH="1">
                  <a:off x="2359" y="1631"/>
                  <a:ext cx="113" cy="15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59" name="Line 103"/>
                <p:cNvSpPr>
                  <a:spLocks noChangeShapeType="1"/>
                </p:cNvSpPr>
                <p:nvPr/>
              </p:nvSpPr>
              <p:spPr bwMode="auto">
                <a:xfrm flipH="1">
                  <a:off x="2237" y="1633"/>
                  <a:ext cx="111" cy="15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0" name="Line 104"/>
                <p:cNvSpPr>
                  <a:spLocks noChangeShapeType="1"/>
                </p:cNvSpPr>
                <p:nvPr/>
              </p:nvSpPr>
              <p:spPr bwMode="auto">
                <a:xfrm flipH="1">
                  <a:off x="2178" y="1631"/>
                  <a:ext cx="110" cy="16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1" name="Line 105"/>
                <p:cNvSpPr>
                  <a:spLocks noChangeShapeType="1"/>
                </p:cNvSpPr>
                <p:nvPr/>
              </p:nvSpPr>
              <p:spPr bwMode="auto">
                <a:xfrm flipH="1">
                  <a:off x="2726" y="1631"/>
                  <a:ext cx="108" cy="16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2" name="Line 106"/>
                <p:cNvSpPr>
                  <a:spLocks noChangeShapeType="1"/>
                </p:cNvSpPr>
                <p:nvPr/>
              </p:nvSpPr>
              <p:spPr bwMode="auto">
                <a:xfrm flipH="1">
                  <a:off x="2809" y="2422"/>
                  <a:ext cx="31" cy="5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3" name="Line 107"/>
                <p:cNvSpPr>
                  <a:spLocks noChangeShapeType="1"/>
                </p:cNvSpPr>
                <p:nvPr/>
              </p:nvSpPr>
              <p:spPr bwMode="auto">
                <a:xfrm flipH="1">
                  <a:off x="2706" y="2400"/>
                  <a:ext cx="43" cy="7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4" name="Line 108"/>
                <p:cNvSpPr>
                  <a:spLocks noChangeShapeType="1"/>
                </p:cNvSpPr>
                <p:nvPr/>
              </p:nvSpPr>
              <p:spPr bwMode="auto">
                <a:xfrm flipH="1">
                  <a:off x="2648" y="2401"/>
                  <a:ext cx="44" cy="6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5" name="Line 109"/>
                <p:cNvSpPr>
                  <a:spLocks noChangeShapeType="1"/>
                </p:cNvSpPr>
                <p:nvPr/>
              </p:nvSpPr>
              <p:spPr bwMode="auto">
                <a:xfrm flipH="1">
                  <a:off x="2585" y="2401"/>
                  <a:ext cx="46" cy="7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6" name="Line 110"/>
                <p:cNvSpPr>
                  <a:spLocks noChangeShapeType="1"/>
                </p:cNvSpPr>
                <p:nvPr/>
              </p:nvSpPr>
              <p:spPr bwMode="auto">
                <a:xfrm flipH="1">
                  <a:off x="2519" y="2352"/>
                  <a:ext cx="84" cy="12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7" name="Line 111"/>
                <p:cNvSpPr>
                  <a:spLocks noChangeShapeType="1"/>
                </p:cNvSpPr>
                <p:nvPr/>
              </p:nvSpPr>
              <p:spPr bwMode="auto">
                <a:xfrm flipH="1">
                  <a:off x="2459" y="2279"/>
                  <a:ext cx="132" cy="18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8" name="Line 112"/>
                <p:cNvSpPr>
                  <a:spLocks noChangeShapeType="1"/>
                </p:cNvSpPr>
                <p:nvPr/>
              </p:nvSpPr>
              <p:spPr bwMode="auto">
                <a:xfrm flipH="1">
                  <a:off x="2453" y="2100"/>
                  <a:ext cx="138" cy="20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69" name="Line 113"/>
                <p:cNvSpPr>
                  <a:spLocks noChangeShapeType="1"/>
                </p:cNvSpPr>
                <p:nvPr/>
              </p:nvSpPr>
              <p:spPr bwMode="auto">
                <a:xfrm flipH="1">
                  <a:off x="2331" y="2400"/>
                  <a:ext cx="50" cy="7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0" name="Line 114"/>
                <p:cNvSpPr>
                  <a:spLocks noChangeShapeType="1"/>
                </p:cNvSpPr>
                <p:nvPr/>
              </p:nvSpPr>
              <p:spPr bwMode="auto">
                <a:xfrm flipH="1">
                  <a:off x="2389" y="2183"/>
                  <a:ext cx="204" cy="29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1" name="Line 115"/>
                <p:cNvSpPr>
                  <a:spLocks noChangeShapeType="1"/>
                </p:cNvSpPr>
                <p:nvPr/>
              </p:nvSpPr>
              <p:spPr bwMode="auto">
                <a:xfrm flipH="1">
                  <a:off x="2272" y="2402"/>
                  <a:ext cx="47" cy="69"/>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2" name="Line 116"/>
                <p:cNvSpPr>
                  <a:spLocks noChangeShapeType="1"/>
                </p:cNvSpPr>
                <p:nvPr/>
              </p:nvSpPr>
              <p:spPr bwMode="auto">
                <a:xfrm flipH="1">
                  <a:off x="2220" y="2412"/>
                  <a:ext cx="38" cy="5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3" name="Line 117"/>
                <p:cNvSpPr>
                  <a:spLocks noChangeShapeType="1"/>
                </p:cNvSpPr>
                <p:nvPr/>
              </p:nvSpPr>
              <p:spPr bwMode="auto">
                <a:xfrm flipH="1">
                  <a:off x="2760" y="2407"/>
                  <a:ext cx="43" cy="6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4" name="Line 118"/>
                <p:cNvSpPr>
                  <a:spLocks noChangeShapeType="1"/>
                </p:cNvSpPr>
                <p:nvPr/>
              </p:nvSpPr>
              <p:spPr bwMode="auto">
                <a:xfrm>
                  <a:off x="2889" y="929"/>
                  <a:ext cx="0" cy="879"/>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5" name="Line 119"/>
                <p:cNvSpPr>
                  <a:spLocks noChangeShapeType="1"/>
                </p:cNvSpPr>
                <p:nvPr/>
              </p:nvSpPr>
              <p:spPr bwMode="auto">
                <a:xfrm>
                  <a:off x="2145" y="929"/>
                  <a:ext cx="0" cy="879"/>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6" name="Line 120"/>
                <p:cNvSpPr>
                  <a:spLocks noChangeShapeType="1"/>
                </p:cNvSpPr>
                <p:nvPr/>
              </p:nvSpPr>
              <p:spPr bwMode="auto">
                <a:xfrm flipH="1">
                  <a:off x="2149" y="947"/>
                  <a:ext cx="60" cy="8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7" name="Line 121"/>
                <p:cNvSpPr>
                  <a:spLocks noChangeShapeType="1"/>
                </p:cNvSpPr>
                <p:nvPr/>
              </p:nvSpPr>
              <p:spPr bwMode="auto">
                <a:xfrm flipH="1">
                  <a:off x="2148" y="1629"/>
                  <a:ext cx="84" cy="12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8" name="Line 122"/>
                <p:cNvSpPr>
                  <a:spLocks noChangeShapeType="1"/>
                </p:cNvSpPr>
                <p:nvPr/>
              </p:nvSpPr>
              <p:spPr bwMode="auto">
                <a:xfrm flipH="1">
                  <a:off x="2835" y="1721"/>
                  <a:ext cx="48" cy="7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79" name="Line 123"/>
                <p:cNvSpPr>
                  <a:spLocks noChangeShapeType="1"/>
                </p:cNvSpPr>
                <p:nvPr/>
              </p:nvSpPr>
              <p:spPr bwMode="auto">
                <a:xfrm flipH="1">
                  <a:off x="2846" y="995"/>
                  <a:ext cx="40" cy="5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80" name="Line 124"/>
                <p:cNvSpPr>
                  <a:spLocks noChangeShapeType="1"/>
                </p:cNvSpPr>
                <p:nvPr/>
              </p:nvSpPr>
              <p:spPr bwMode="auto">
                <a:xfrm flipH="1">
                  <a:off x="2450" y="1986"/>
                  <a:ext cx="141" cy="21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81" name="Line 125"/>
                <p:cNvSpPr>
                  <a:spLocks noChangeShapeType="1"/>
                </p:cNvSpPr>
                <p:nvPr/>
              </p:nvSpPr>
              <p:spPr bwMode="auto">
                <a:xfrm flipV="1">
                  <a:off x="2446" y="525"/>
                  <a:ext cx="154" cy="22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82" name="Freeform 126"/>
                <p:cNvSpPr/>
                <p:nvPr/>
              </p:nvSpPr>
              <p:spPr bwMode="auto">
                <a:xfrm>
                  <a:off x="2146" y="309"/>
                  <a:ext cx="301" cy="627"/>
                </a:xfrm>
                <a:custGeom>
                  <a:avLst/>
                  <a:gdLst>
                    <a:gd name="T0" fmla="*/ 0 w 301"/>
                    <a:gd name="T1" fmla="*/ 625 h 627"/>
                    <a:gd name="T2" fmla="*/ 83 w 301"/>
                    <a:gd name="T3" fmla="*/ 627 h 627"/>
                    <a:gd name="T4" fmla="*/ 266 w 301"/>
                    <a:gd name="T5" fmla="*/ 627 h 627"/>
                    <a:gd name="T6" fmla="*/ 288 w 301"/>
                    <a:gd name="T7" fmla="*/ 620 h 627"/>
                    <a:gd name="T8" fmla="*/ 301 w 301"/>
                    <a:gd name="T9" fmla="*/ 601 h 627"/>
                    <a:gd name="T10" fmla="*/ 301 w 301"/>
                    <a:gd name="T11" fmla="*/ 70 h 627"/>
                    <a:gd name="T12" fmla="*/ 291 w 301"/>
                    <a:gd name="T13" fmla="*/ 44 h 627"/>
                    <a:gd name="T14" fmla="*/ 282 w 301"/>
                    <a:gd name="T15" fmla="*/ 28 h 627"/>
                    <a:gd name="T16" fmla="*/ 259 w 301"/>
                    <a:gd name="T17" fmla="*/ 22 h 627"/>
                    <a:gd name="T18" fmla="*/ 77 w 301"/>
                    <a:gd name="T19" fmla="*/ 22 h 627"/>
                    <a:gd name="T20" fmla="*/ 51 w 301"/>
                    <a:gd name="T21" fmla="*/ 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1" h="627">
                      <a:moveTo>
                        <a:pt x="0" y="625"/>
                      </a:moveTo>
                      <a:lnTo>
                        <a:pt x="83" y="627"/>
                      </a:lnTo>
                      <a:lnTo>
                        <a:pt x="266" y="627"/>
                      </a:lnTo>
                      <a:lnTo>
                        <a:pt x="288" y="620"/>
                      </a:lnTo>
                      <a:lnTo>
                        <a:pt x="301" y="601"/>
                      </a:lnTo>
                      <a:lnTo>
                        <a:pt x="301" y="70"/>
                      </a:lnTo>
                      <a:lnTo>
                        <a:pt x="291" y="44"/>
                      </a:lnTo>
                      <a:lnTo>
                        <a:pt x="282" y="28"/>
                      </a:lnTo>
                      <a:lnTo>
                        <a:pt x="259" y="22"/>
                      </a:lnTo>
                      <a:lnTo>
                        <a:pt x="77" y="22"/>
                      </a:lnTo>
                      <a:lnTo>
                        <a:pt x="51"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83" name="Freeform 127"/>
                <p:cNvSpPr/>
                <p:nvPr/>
              </p:nvSpPr>
              <p:spPr bwMode="auto">
                <a:xfrm>
                  <a:off x="2597" y="308"/>
                  <a:ext cx="297" cy="627"/>
                </a:xfrm>
                <a:custGeom>
                  <a:avLst/>
                  <a:gdLst>
                    <a:gd name="T0" fmla="*/ 297 w 297"/>
                    <a:gd name="T1" fmla="*/ 627 h 627"/>
                    <a:gd name="T2" fmla="*/ 218 w 297"/>
                    <a:gd name="T3" fmla="*/ 627 h 627"/>
                    <a:gd name="T4" fmla="*/ 35 w 297"/>
                    <a:gd name="T5" fmla="*/ 627 h 627"/>
                    <a:gd name="T6" fmla="*/ 13 w 297"/>
                    <a:gd name="T7" fmla="*/ 620 h 627"/>
                    <a:gd name="T8" fmla="*/ 0 w 297"/>
                    <a:gd name="T9" fmla="*/ 601 h 627"/>
                    <a:gd name="T10" fmla="*/ 0 w 297"/>
                    <a:gd name="T11" fmla="*/ 70 h 627"/>
                    <a:gd name="T12" fmla="*/ 10 w 297"/>
                    <a:gd name="T13" fmla="*/ 44 h 627"/>
                    <a:gd name="T14" fmla="*/ 19 w 297"/>
                    <a:gd name="T15" fmla="*/ 28 h 627"/>
                    <a:gd name="T16" fmla="*/ 42 w 297"/>
                    <a:gd name="T17" fmla="*/ 22 h 627"/>
                    <a:gd name="T18" fmla="*/ 224 w 297"/>
                    <a:gd name="T19" fmla="*/ 22 h 627"/>
                    <a:gd name="T20" fmla="*/ 250 w 297"/>
                    <a:gd name="T21" fmla="*/ 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7" h="627">
                      <a:moveTo>
                        <a:pt x="297" y="627"/>
                      </a:moveTo>
                      <a:lnTo>
                        <a:pt x="218" y="627"/>
                      </a:lnTo>
                      <a:lnTo>
                        <a:pt x="35" y="627"/>
                      </a:lnTo>
                      <a:lnTo>
                        <a:pt x="13" y="620"/>
                      </a:lnTo>
                      <a:lnTo>
                        <a:pt x="0" y="601"/>
                      </a:lnTo>
                      <a:lnTo>
                        <a:pt x="0" y="70"/>
                      </a:lnTo>
                      <a:lnTo>
                        <a:pt x="10" y="44"/>
                      </a:lnTo>
                      <a:lnTo>
                        <a:pt x="19" y="28"/>
                      </a:lnTo>
                      <a:lnTo>
                        <a:pt x="42" y="22"/>
                      </a:lnTo>
                      <a:lnTo>
                        <a:pt x="224" y="22"/>
                      </a:lnTo>
                      <a:lnTo>
                        <a:pt x="250"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84" name="Freeform 128"/>
                <p:cNvSpPr/>
                <p:nvPr/>
              </p:nvSpPr>
              <p:spPr bwMode="auto">
                <a:xfrm>
                  <a:off x="2145" y="1796"/>
                  <a:ext cx="302" cy="628"/>
                </a:xfrm>
                <a:custGeom>
                  <a:avLst/>
                  <a:gdLst>
                    <a:gd name="T0" fmla="*/ 0 w 302"/>
                    <a:gd name="T1" fmla="*/ 0 h 628"/>
                    <a:gd name="T2" fmla="*/ 84 w 302"/>
                    <a:gd name="T3" fmla="*/ 1 h 628"/>
                    <a:gd name="T4" fmla="*/ 267 w 302"/>
                    <a:gd name="T5" fmla="*/ 1 h 628"/>
                    <a:gd name="T6" fmla="*/ 289 w 302"/>
                    <a:gd name="T7" fmla="*/ 8 h 628"/>
                    <a:gd name="T8" fmla="*/ 302 w 302"/>
                    <a:gd name="T9" fmla="*/ 27 h 628"/>
                    <a:gd name="T10" fmla="*/ 302 w 302"/>
                    <a:gd name="T11" fmla="*/ 558 h 628"/>
                    <a:gd name="T12" fmla="*/ 292 w 302"/>
                    <a:gd name="T13" fmla="*/ 584 h 628"/>
                    <a:gd name="T14" fmla="*/ 283 w 302"/>
                    <a:gd name="T15" fmla="*/ 600 h 628"/>
                    <a:gd name="T16" fmla="*/ 260 w 302"/>
                    <a:gd name="T17" fmla="*/ 606 h 628"/>
                    <a:gd name="T18" fmla="*/ 78 w 302"/>
                    <a:gd name="T19" fmla="*/ 606 h 628"/>
                    <a:gd name="T20" fmla="*/ 52 w 302"/>
                    <a:gd name="T21" fmla="*/ 628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2" h="628">
                      <a:moveTo>
                        <a:pt x="0" y="0"/>
                      </a:moveTo>
                      <a:lnTo>
                        <a:pt x="84" y="1"/>
                      </a:lnTo>
                      <a:lnTo>
                        <a:pt x="267" y="1"/>
                      </a:lnTo>
                      <a:lnTo>
                        <a:pt x="289" y="8"/>
                      </a:lnTo>
                      <a:lnTo>
                        <a:pt x="302" y="27"/>
                      </a:lnTo>
                      <a:lnTo>
                        <a:pt x="302" y="558"/>
                      </a:lnTo>
                      <a:lnTo>
                        <a:pt x="292" y="584"/>
                      </a:lnTo>
                      <a:lnTo>
                        <a:pt x="283" y="600"/>
                      </a:lnTo>
                      <a:lnTo>
                        <a:pt x="260" y="606"/>
                      </a:lnTo>
                      <a:lnTo>
                        <a:pt x="78" y="606"/>
                      </a:lnTo>
                      <a:lnTo>
                        <a:pt x="52" y="628"/>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85" name="Freeform 129"/>
                <p:cNvSpPr/>
                <p:nvPr/>
              </p:nvSpPr>
              <p:spPr bwMode="auto">
                <a:xfrm>
                  <a:off x="2597" y="1798"/>
                  <a:ext cx="293" cy="627"/>
                </a:xfrm>
                <a:custGeom>
                  <a:avLst/>
                  <a:gdLst>
                    <a:gd name="T0" fmla="*/ 293 w 293"/>
                    <a:gd name="T1" fmla="*/ 0 h 627"/>
                    <a:gd name="T2" fmla="*/ 218 w 293"/>
                    <a:gd name="T3" fmla="*/ 0 h 627"/>
                    <a:gd name="T4" fmla="*/ 35 w 293"/>
                    <a:gd name="T5" fmla="*/ 0 h 627"/>
                    <a:gd name="T6" fmla="*/ 13 w 293"/>
                    <a:gd name="T7" fmla="*/ 7 h 627"/>
                    <a:gd name="T8" fmla="*/ 0 w 293"/>
                    <a:gd name="T9" fmla="*/ 26 h 627"/>
                    <a:gd name="T10" fmla="*/ 0 w 293"/>
                    <a:gd name="T11" fmla="*/ 557 h 627"/>
                    <a:gd name="T12" fmla="*/ 10 w 293"/>
                    <a:gd name="T13" fmla="*/ 583 h 627"/>
                    <a:gd name="T14" fmla="*/ 19 w 293"/>
                    <a:gd name="T15" fmla="*/ 599 h 627"/>
                    <a:gd name="T16" fmla="*/ 42 w 293"/>
                    <a:gd name="T17" fmla="*/ 605 h 627"/>
                    <a:gd name="T18" fmla="*/ 224 w 293"/>
                    <a:gd name="T19" fmla="*/ 605 h 627"/>
                    <a:gd name="T20" fmla="*/ 250 w 293"/>
                    <a:gd name="T21" fmla="*/ 62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3" h="627">
                      <a:moveTo>
                        <a:pt x="293" y="0"/>
                      </a:moveTo>
                      <a:lnTo>
                        <a:pt x="218" y="0"/>
                      </a:lnTo>
                      <a:lnTo>
                        <a:pt x="35" y="0"/>
                      </a:lnTo>
                      <a:lnTo>
                        <a:pt x="13" y="7"/>
                      </a:lnTo>
                      <a:lnTo>
                        <a:pt x="0" y="26"/>
                      </a:lnTo>
                      <a:lnTo>
                        <a:pt x="0" y="557"/>
                      </a:lnTo>
                      <a:lnTo>
                        <a:pt x="10" y="583"/>
                      </a:lnTo>
                      <a:lnTo>
                        <a:pt x="19" y="599"/>
                      </a:lnTo>
                      <a:lnTo>
                        <a:pt x="42" y="605"/>
                      </a:lnTo>
                      <a:lnTo>
                        <a:pt x="224" y="605"/>
                      </a:lnTo>
                      <a:lnTo>
                        <a:pt x="250" y="627"/>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4786" name="Group 130"/>
              <p:cNvGrpSpPr/>
              <p:nvPr/>
            </p:nvGrpSpPr>
            <p:grpSpPr bwMode="auto">
              <a:xfrm>
                <a:off x="2260" y="2034"/>
                <a:ext cx="504" cy="221"/>
                <a:chOff x="2260" y="2034"/>
                <a:chExt cx="504" cy="221"/>
              </a:xfrm>
            </p:grpSpPr>
            <p:sp>
              <p:nvSpPr>
                <p:cNvPr id="454787" name="Text Box 131"/>
                <p:cNvSpPr txBox="1">
                  <a:spLocks noChangeArrowheads="1"/>
                </p:cNvSpPr>
                <p:nvPr/>
              </p:nvSpPr>
              <p:spPr bwMode="auto">
                <a:xfrm>
                  <a:off x="2278" y="2034"/>
                  <a:ext cx="71" cy="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000" i="1">
                      <a:solidFill>
                        <a:schemeClr val="hlink"/>
                      </a:solidFill>
                      <a:latin typeface="Times New Roman" panose="02020603050405020304" pitchFamily="18" charset="0"/>
                      <a:ea typeface="华文中宋" panose="02010600040101010101" pitchFamily="2" charset="-122"/>
                    </a:rPr>
                    <a:t>c</a:t>
                  </a:r>
                  <a:endParaRPr kumimoji="1" lang="en-US" altLang="zh-CN" sz="2000" i="1" baseline="-25000">
                    <a:solidFill>
                      <a:schemeClr val="hlink"/>
                    </a:solidFill>
                    <a:latin typeface="Times New Roman" panose="02020603050405020304" pitchFamily="18" charset="0"/>
                    <a:ea typeface="华文中宋" panose="02010600040101010101" pitchFamily="2" charset="-122"/>
                  </a:endParaRPr>
                </a:p>
              </p:txBody>
            </p:sp>
            <p:grpSp>
              <p:nvGrpSpPr>
                <p:cNvPr id="454788" name="Group 132"/>
                <p:cNvGrpSpPr/>
                <p:nvPr/>
              </p:nvGrpSpPr>
              <p:grpSpPr bwMode="auto">
                <a:xfrm>
                  <a:off x="2260" y="2212"/>
                  <a:ext cx="504" cy="2"/>
                  <a:chOff x="1560" y="2566"/>
                  <a:chExt cx="504" cy="2"/>
                </a:xfrm>
              </p:grpSpPr>
              <p:sp>
                <p:nvSpPr>
                  <p:cNvPr id="454789" name="Line 133"/>
                  <p:cNvSpPr>
                    <a:spLocks noChangeShapeType="1"/>
                  </p:cNvSpPr>
                  <p:nvPr/>
                </p:nvSpPr>
                <p:spPr bwMode="auto">
                  <a:xfrm>
                    <a:off x="1560" y="2566"/>
                    <a:ext cx="182" cy="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90" name="Line 134"/>
                  <p:cNvSpPr>
                    <a:spLocks noChangeShapeType="1"/>
                  </p:cNvSpPr>
                  <p:nvPr/>
                </p:nvSpPr>
                <p:spPr bwMode="auto">
                  <a:xfrm flipH="1">
                    <a:off x="1898" y="2568"/>
                    <a:ext cx="166" cy="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4791" name="Line 135"/>
                  <p:cNvSpPr>
                    <a:spLocks noChangeShapeType="1"/>
                  </p:cNvSpPr>
                  <p:nvPr/>
                </p:nvSpPr>
                <p:spPr bwMode="auto">
                  <a:xfrm>
                    <a:off x="1747" y="2568"/>
                    <a:ext cx="151"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pic>
        <p:nvPicPr>
          <p:cNvPr id="454792" name="Picture 136"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577079"/>
            <a:ext cx="2846388" cy="3497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54660"/>
                                        </p:tgtEl>
                                        <p:attrNameLst>
                                          <p:attrName>style.visibility</p:attrName>
                                        </p:attrNameLst>
                                      </p:cBhvr>
                                      <p:to>
                                        <p:strVal val="visible"/>
                                      </p:to>
                                    </p:set>
                                    <p:animEffect transition="in" filter="dissolve">
                                      <p:cBhvr>
                                        <p:cTn id="7" dur="500"/>
                                        <p:tgtEl>
                                          <p:spTgt spid="45466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54792"/>
                                        </p:tgtEl>
                                        <p:attrNameLst>
                                          <p:attrName>style.visibility</p:attrName>
                                        </p:attrNameLst>
                                      </p:cBhvr>
                                      <p:to>
                                        <p:strVal val="visible"/>
                                      </p:to>
                                    </p:set>
                                    <p:animEffect transition="in" filter="dissolve">
                                      <p:cBhvr>
                                        <p:cTn id="11" dur="500"/>
                                        <p:tgtEl>
                                          <p:spTgt spid="454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66759" y="991312"/>
            <a:ext cx="3471516" cy="4671350"/>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382" y="991310"/>
            <a:ext cx="4725394" cy="4691641"/>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bwMode="auto">
          <a:xfrm>
            <a:off x="6503988" y="876300"/>
            <a:ext cx="1465262"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Times New Roman" panose="02020603050405020304" pitchFamily="18" charset="0"/>
              </a:rPr>
              <a:t>齿轮结构</a:t>
            </a:r>
            <a:r>
              <a:rPr lang="en-US" altLang="zh-CN" sz="800" smtClean="0">
                <a:solidFill>
                  <a:schemeClr val="bg1"/>
                </a:solidFill>
                <a:latin typeface="Times New Roman" panose="02020603050405020304" pitchFamily="18" charset="0"/>
              </a:rPr>
              <a:t>3</a:t>
            </a:r>
            <a:r>
              <a:rPr lang="zh-CN" altLang="en-US" sz="800" smtClean="0">
                <a:solidFill>
                  <a:schemeClr val="bg1"/>
                </a:solidFill>
                <a:ea typeface="黑体" panose="02010609060101010101" pitchFamily="49" charset="-122"/>
              </a:rPr>
              <a:t> </a:t>
            </a:r>
            <a:endParaRPr lang="zh-CN" altLang="en-US" sz="800" smtClean="0">
              <a:solidFill>
                <a:schemeClr val="bg1"/>
              </a:solidFill>
              <a:ea typeface="黑体" panose="02010609060101010101" pitchFamily="49" charset="-122"/>
            </a:endParaRPr>
          </a:p>
        </p:txBody>
      </p:sp>
      <p:sp>
        <p:nvSpPr>
          <p:cNvPr id="45059" name="Text Box 16"/>
          <p:cNvSpPr txBox="1">
            <a:spLocks noChangeArrowheads="1"/>
          </p:cNvSpPr>
          <p:nvPr/>
        </p:nvSpPr>
        <p:spPr bwMode="auto">
          <a:xfrm>
            <a:off x="8328025" y="65198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dirty="0">
                <a:solidFill>
                  <a:srgbClr val="CC3300"/>
                </a:solidFill>
                <a:latin typeface="Tahoma" panose="020B0604030504040204" pitchFamily="34" charset="0"/>
                <a:hlinkClick r:id="rId1" action="ppaction://hlinksldjump"/>
              </a:rPr>
              <a:t>返回</a:t>
            </a:r>
            <a:endParaRPr lang="zh-CN" altLang="en-US" sz="1600" dirty="0">
              <a:solidFill>
                <a:srgbClr val="CC3300"/>
              </a:solidFill>
              <a:latin typeface="Tahoma" panose="020B0604030504040204" pitchFamily="34" charset="0"/>
            </a:endParaRPr>
          </a:p>
        </p:txBody>
      </p:sp>
      <p:sp>
        <p:nvSpPr>
          <p:cNvPr id="45060" name="Rectangle 2"/>
          <p:cNvSpPr>
            <a:spLocks noChangeArrowheads="1"/>
          </p:cNvSpPr>
          <p:nvPr/>
        </p:nvSpPr>
        <p:spPr bwMode="auto">
          <a:xfrm>
            <a:off x="3516313" y="536575"/>
            <a:ext cx="661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endParaRPr lang="zh-CN" altLang="en-US"/>
          </a:p>
        </p:txBody>
      </p:sp>
      <p:sp>
        <p:nvSpPr>
          <p:cNvPr id="45061" name="Rectangle 4"/>
          <p:cNvSpPr>
            <a:spLocks noChangeArrowheads="1"/>
          </p:cNvSpPr>
          <p:nvPr/>
        </p:nvSpPr>
        <p:spPr bwMode="auto">
          <a:xfrm>
            <a:off x="0" y="914400"/>
            <a:ext cx="9144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ct val="150000"/>
              </a:lnSpc>
            </a:pPr>
            <a:r>
              <a:rPr lang="zh-CN" altLang="en-US"/>
              <a:t>当齿顶圆直径</a:t>
            </a:r>
            <a:r>
              <a:rPr lang="en-US" altLang="zh-CN"/>
              <a:t>400mm</a:t>
            </a:r>
            <a:r>
              <a:rPr lang="zh-CN" altLang="en-US"/>
              <a:t>﹤</a:t>
            </a:r>
            <a:r>
              <a:rPr lang="en-US" altLang="zh-CN" i="1"/>
              <a:t>d</a:t>
            </a:r>
            <a:r>
              <a:rPr lang="en-US" altLang="zh-CN" baseline="-25000"/>
              <a:t>a</a:t>
            </a:r>
            <a:r>
              <a:rPr lang="zh-CN" altLang="en-US"/>
              <a:t>﹤</a:t>
            </a:r>
            <a:r>
              <a:rPr lang="en-US" altLang="zh-CN"/>
              <a:t>1000mm</a:t>
            </a:r>
            <a:r>
              <a:rPr lang="zh-CN" altLang="en-US"/>
              <a:t>时，可做成如图</a:t>
            </a:r>
            <a:r>
              <a:rPr lang="en-US" altLang="zh-CN"/>
              <a:t>9-35</a:t>
            </a:r>
            <a:r>
              <a:rPr lang="zh-CN" altLang="en-US"/>
              <a:t>所示的轮辐式齿轮。</a:t>
            </a:r>
            <a:endParaRPr lang="zh-CN" altLang="en-US">
              <a:solidFill>
                <a:srgbClr val="000099"/>
              </a:solidFill>
            </a:endParaRPr>
          </a:p>
        </p:txBody>
      </p:sp>
      <p:sp>
        <p:nvSpPr>
          <p:cNvPr id="45062" name="矩形 5"/>
          <p:cNvSpPr>
            <a:spLocks noChangeArrowheads="1"/>
          </p:cNvSpPr>
          <p:nvPr/>
        </p:nvSpPr>
        <p:spPr bwMode="auto">
          <a:xfrm>
            <a:off x="3321050" y="188913"/>
            <a:ext cx="2982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33375"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sz="2400">
                <a:solidFill>
                  <a:srgbClr val="CC3300"/>
                </a:solidFill>
                <a:latin typeface="Calibri" panose="020F0502020204030204" pitchFamily="34" charset="0"/>
                <a:cs typeface="Times New Roman" panose="02020603050405020304" pitchFamily="18" charset="0"/>
              </a:rPr>
              <a:t>大型尺寸齿轮结构</a:t>
            </a:r>
            <a:endParaRPr lang="en-US" altLang="zh-CN" sz="2400">
              <a:solidFill>
                <a:srgbClr val="CC3300"/>
              </a:solidFill>
            </a:endParaRPr>
          </a:p>
        </p:txBody>
      </p:sp>
      <p:sp>
        <p:nvSpPr>
          <p:cNvPr id="4506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4506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322" y="1697907"/>
            <a:ext cx="7581900" cy="457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3"/>
          <a:stretch>
            <a:fillRect/>
          </a:stretch>
        </p:blipFill>
        <p:spPr>
          <a:xfrm>
            <a:off x="4544894" y="5135052"/>
            <a:ext cx="1163697" cy="152808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5682" name="Picture 2"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750" y="728663"/>
            <a:ext cx="2757488" cy="3109912"/>
          </a:xfrm>
          <a:prstGeom prst="rect">
            <a:avLst/>
          </a:prstGeom>
          <a:noFill/>
          <a:extLst>
            <a:ext uri="{909E8E84-426E-40DD-AFC4-6F175D3DCCD1}">
              <a14:hiddenFill xmlns:a14="http://schemas.microsoft.com/office/drawing/2010/main">
                <a:solidFill>
                  <a:srgbClr val="FFFFFF"/>
                </a:solidFill>
              </a14:hiddenFill>
            </a:ext>
          </a:extLst>
        </p:spPr>
      </p:pic>
      <p:sp>
        <p:nvSpPr>
          <p:cNvPr id="455683" name="Text Box 3"/>
          <p:cNvSpPr txBox="1">
            <a:spLocks noChangeArrowheads="1"/>
          </p:cNvSpPr>
          <p:nvPr/>
        </p:nvSpPr>
        <p:spPr bwMode="auto">
          <a:xfrm>
            <a:off x="534988" y="4868863"/>
            <a:ext cx="8132762" cy="1506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pPr algn="l"/>
            <a:r>
              <a:rPr kumimoji="1" lang="en-US" altLang="zh-CN" sz="2400" i="1" dirty="0">
                <a:solidFill>
                  <a:schemeClr val="tx2"/>
                </a:solidFill>
                <a:latin typeface="Times New Roman" panose="02020603050405020304" pitchFamily="18" charset="0"/>
                <a:ea typeface="华文中宋" panose="02010600040101010101" pitchFamily="2" charset="-122"/>
              </a:rPr>
              <a:t>d</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h</a:t>
            </a:r>
            <a:r>
              <a:rPr kumimoji="1" lang="en-US" altLang="zh-CN" sz="2400" i="1" dirty="0">
                <a:solidFill>
                  <a:schemeClr val="tx2"/>
                </a:solidFill>
                <a:latin typeface="Times New Roman" panose="02020603050405020304" pitchFamily="18" charset="0"/>
                <a:ea typeface="华文中宋" panose="02010600040101010101" pitchFamily="2" charset="-122"/>
              </a:rPr>
              <a:t>= 1.6 d</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s </a:t>
            </a:r>
            <a:r>
              <a:rPr kumimoji="1" lang="en-US" altLang="zh-CN" sz="2400" dirty="0">
                <a:solidFill>
                  <a:schemeClr val="tx2"/>
                </a:solidFill>
                <a:latin typeface="Times New Roman" panose="02020603050405020304" pitchFamily="18" charset="0"/>
                <a:ea typeface="华文中宋" panose="02010600040101010101" pitchFamily="2" charset="-122"/>
              </a:rPr>
              <a:t>(</a:t>
            </a:r>
            <a:r>
              <a:rPr kumimoji="1" lang="zh-CN" altLang="en-US" sz="2400" dirty="0">
                <a:solidFill>
                  <a:schemeClr val="tx2"/>
                </a:solidFill>
                <a:latin typeface="Times New Roman" panose="02020603050405020304" pitchFamily="18" charset="0"/>
                <a:ea typeface="华文中宋" panose="02010600040101010101" pitchFamily="2" charset="-122"/>
              </a:rPr>
              <a:t>铸钢</a:t>
            </a:r>
            <a:r>
              <a:rPr kumimoji="1" lang="en-US" altLang="zh-CN" sz="2400" dirty="0">
                <a:solidFill>
                  <a:schemeClr val="tx2"/>
                </a:solidFill>
                <a:latin typeface="Times New Roman" panose="02020603050405020304" pitchFamily="18" charset="0"/>
                <a:ea typeface="华文中宋" panose="02010600040101010101" pitchFamily="2" charset="-122"/>
              </a:rPr>
              <a:t>)</a:t>
            </a:r>
            <a:r>
              <a:rPr kumimoji="1" lang="en-US" altLang="zh-CN" sz="2400" i="1" dirty="0">
                <a:solidFill>
                  <a:schemeClr val="tx2"/>
                </a:solidFill>
                <a:latin typeface="Times New Roman" panose="02020603050405020304" pitchFamily="18" charset="0"/>
                <a:ea typeface="华文中宋" panose="02010600040101010101" pitchFamily="2" charset="-122"/>
              </a:rPr>
              <a:t> ;  d</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h</a:t>
            </a:r>
            <a:r>
              <a:rPr kumimoji="1" lang="en-US" altLang="zh-CN" sz="2400" i="1" dirty="0">
                <a:solidFill>
                  <a:schemeClr val="tx2"/>
                </a:solidFill>
                <a:latin typeface="Times New Roman" panose="02020603050405020304" pitchFamily="18" charset="0"/>
                <a:ea typeface="华文中宋" panose="02010600040101010101" pitchFamily="2" charset="-122"/>
              </a:rPr>
              <a:t>=1.6 d</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s </a:t>
            </a:r>
            <a:r>
              <a:rPr kumimoji="1" lang="en-US" altLang="zh-CN" sz="2400" dirty="0">
                <a:solidFill>
                  <a:schemeClr val="tx2"/>
                </a:solidFill>
                <a:latin typeface="Times New Roman" panose="02020603050405020304" pitchFamily="18" charset="0"/>
                <a:ea typeface="华文中宋" panose="02010600040101010101" pitchFamily="2" charset="-122"/>
              </a:rPr>
              <a:t>(</a:t>
            </a:r>
            <a:r>
              <a:rPr kumimoji="1" lang="zh-CN" altLang="en-US" sz="2400" dirty="0">
                <a:solidFill>
                  <a:schemeClr val="tx2"/>
                </a:solidFill>
                <a:latin typeface="Times New Roman" panose="02020603050405020304" pitchFamily="18" charset="0"/>
                <a:ea typeface="华文中宋" panose="02010600040101010101" pitchFamily="2" charset="-122"/>
              </a:rPr>
              <a:t>铸铁</a:t>
            </a:r>
            <a:r>
              <a:rPr kumimoji="1" lang="en-US" altLang="zh-CN" sz="2400" dirty="0">
                <a:solidFill>
                  <a:schemeClr val="tx2"/>
                </a:solidFill>
                <a:latin typeface="Times New Roman" panose="02020603050405020304" pitchFamily="18" charset="0"/>
                <a:ea typeface="华文中宋" panose="02010600040101010101" pitchFamily="2" charset="-122"/>
              </a:rPr>
              <a:t>)   </a:t>
            </a:r>
            <a:r>
              <a:rPr kumimoji="1" lang="en-US" altLang="zh-CN" sz="2400" i="1" dirty="0" err="1">
                <a:solidFill>
                  <a:schemeClr val="tx2"/>
                </a:solidFill>
                <a:latin typeface="Times New Roman" panose="02020603050405020304" pitchFamily="18" charset="0"/>
                <a:ea typeface="华文中宋" panose="02010600040101010101" pitchFamily="2" charset="-122"/>
              </a:rPr>
              <a:t>l</a:t>
            </a:r>
            <a:r>
              <a:rPr kumimoji="1" lang="en-US" altLang="zh-CN" sz="2400" i="1" baseline="-25000" dirty="0" err="1">
                <a:solidFill>
                  <a:schemeClr val="tx2"/>
                </a:solidFill>
                <a:latin typeface="Times New Roman" panose="02020603050405020304" pitchFamily="18" charset="0"/>
                <a:ea typeface="华文中宋" panose="02010600040101010101" pitchFamily="2" charset="-122"/>
              </a:rPr>
              <a:t>h</a:t>
            </a:r>
            <a:r>
              <a:rPr kumimoji="1" lang="en-US" altLang="zh-CN" sz="2400" i="1" dirty="0">
                <a:solidFill>
                  <a:schemeClr val="tx2"/>
                </a:solidFill>
                <a:latin typeface="Times New Roman" panose="02020603050405020304" pitchFamily="18" charset="0"/>
                <a:ea typeface="华文中宋" panose="02010600040101010101" pitchFamily="2" charset="-122"/>
              </a:rPr>
              <a:t>= </a:t>
            </a:r>
            <a:r>
              <a:rPr kumimoji="1" lang="en-US" altLang="zh-CN" sz="2400" dirty="0">
                <a:solidFill>
                  <a:schemeClr val="tx2"/>
                </a:solidFill>
                <a:latin typeface="Times New Roman" panose="02020603050405020304" pitchFamily="18" charset="0"/>
                <a:ea typeface="华文中宋" panose="02010600040101010101" pitchFamily="2" charset="-122"/>
              </a:rPr>
              <a:t>(1.2.~1.5)</a:t>
            </a:r>
            <a:r>
              <a:rPr kumimoji="1" lang="en-US" altLang="zh-CN" sz="2400" i="1" dirty="0">
                <a:solidFill>
                  <a:schemeClr val="tx2"/>
                </a:solidFill>
                <a:latin typeface="Times New Roman" panose="02020603050405020304" pitchFamily="18" charset="0"/>
                <a:ea typeface="华文中宋" panose="02010600040101010101" pitchFamily="2" charset="-122"/>
              </a:rPr>
              <a:t> d</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s </a:t>
            </a:r>
            <a:r>
              <a:rPr kumimoji="1" lang="en-US" altLang="zh-CN" sz="2400" i="1" dirty="0">
                <a:solidFill>
                  <a:schemeClr val="tx2"/>
                </a:solidFill>
                <a:latin typeface="Times New Roman" panose="02020603050405020304" pitchFamily="18" charset="0"/>
                <a:ea typeface="华文中宋" panose="02010600040101010101" pitchFamily="2" charset="-122"/>
              </a:rPr>
              <a:t>,</a:t>
            </a:r>
            <a:r>
              <a:rPr kumimoji="1" lang="zh-CN" altLang="en-US" sz="2400" dirty="0">
                <a:solidFill>
                  <a:schemeClr val="tx2"/>
                </a:solidFill>
                <a:latin typeface="Times New Roman" panose="02020603050405020304" pitchFamily="18" charset="0"/>
                <a:ea typeface="华文中宋" panose="02010600040101010101" pitchFamily="2" charset="-122"/>
              </a:rPr>
              <a:t>并使</a:t>
            </a:r>
            <a:r>
              <a:rPr kumimoji="1" lang="en-US" altLang="zh-CN" sz="2400" i="1" dirty="0" err="1">
                <a:solidFill>
                  <a:schemeClr val="tx2"/>
                </a:solidFill>
                <a:latin typeface="Times New Roman" panose="02020603050405020304" pitchFamily="18" charset="0"/>
                <a:ea typeface="华文中宋" panose="02010600040101010101" pitchFamily="2" charset="-122"/>
              </a:rPr>
              <a:t>l</a:t>
            </a:r>
            <a:r>
              <a:rPr kumimoji="1" lang="en-US" altLang="zh-CN" sz="2400" i="1" baseline="-25000" dirty="0" err="1">
                <a:solidFill>
                  <a:schemeClr val="tx2"/>
                </a:solidFill>
                <a:latin typeface="Times New Roman" panose="02020603050405020304" pitchFamily="18" charset="0"/>
                <a:ea typeface="华文中宋" panose="02010600040101010101" pitchFamily="2" charset="-122"/>
              </a:rPr>
              <a:t>h</a:t>
            </a:r>
            <a:r>
              <a:rPr kumimoji="1" lang="en-US" altLang="zh-CN" sz="2400" dirty="0">
                <a:solidFill>
                  <a:schemeClr val="tx2"/>
                </a:solidFill>
                <a:latin typeface="Times New Roman" panose="02020603050405020304" pitchFamily="18" charset="0"/>
                <a:ea typeface="华文中宋" panose="02010600040101010101" pitchFamily="2" charset="-122"/>
              </a:rPr>
              <a:t> </a:t>
            </a:r>
            <a:r>
              <a:rPr kumimoji="1" lang="en-US" altLang="zh-CN" sz="2400" dirty="0">
                <a:solidFill>
                  <a:schemeClr val="tx2"/>
                </a:solidFill>
                <a:latin typeface="Times New Roman" panose="02020603050405020304" pitchFamily="18" charset="0"/>
              </a:rPr>
              <a:t>≥b</a:t>
            </a:r>
            <a:r>
              <a:rPr kumimoji="1" lang="en-US" altLang="zh-CN" sz="2400" dirty="0">
                <a:solidFill>
                  <a:schemeClr val="tx2"/>
                </a:solidFill>
                <a:latin typeface="Times New Roman" panose="02020603050405020304" pitchFamily="18" charset="0"/>
                <a:ea typeface="华文中宋" panose="02010600040101010101" pitchFamily="2" charset="-122"/>
              </a:rPr>
              <a:t> </a:t>
            </a:r>
            <a:endParaRPr kumimoji="1" lang="en-US" altLang="zh-CN" sz="2400" dirty="0">
              <a:solidFill>
                <a:schemeClr val="tx2"/>
              </a:solidFill>
              <a:latin typeface="Times New Roman" panose="02020603050405020304" pitchFamily="18" charset="0"/>
              <a:ea typeface="华文中宋" panose="02010600040101010101" pitchFamily="2" charset="-122"/>
            </a:endParaRPr>
          </a:p>
          <a:p>
            <a:pPr algn="l"/>
            <a:r>
              <a:rPr kumimoji="1" lang="en-US" altLang="zh-CN" sz="2400" i="1" dirty="0">
                <a:solidFill>
                  <a:schemeClr val="tx2"/>
                </a:solidFill>
                <a:latin typeface="Times New Roman" panose="02020603050405020304" pitchFamily="18" charset="0"/>
                <a:ea typeface="华文中宋" panose="02010600040101010101" pitchFamily="2" charset="-122"/>
              </a:rPr>
              <a:t>c= 0.2b ; </a:t>
            </a:r>
            <a:r>
              <a:rPr kumimoji="1" lang="zh-CN" altLang="en-US" sz="2400" dirty="0">
                <a:solidFill>
                  <a:schemeClr val="tx2"/>
                </a:solidFill>
                <a:latin typeface="Times New Roman" panose="02020603050405020304" pitchFamily="18" charset="0"/>
                <a:ea typeface="华文中宋" panose="02010600040101010101" pitchFamily="2" charset="-122"/>
              </a:rPr>
              <a:t>但不小于</a:t>
            </a:r>
            <a:r>
              <a:rPr kumimoji="1" lang="en-US" altLang="zh-CN" sz="2400" dirty="0">
                <a:solidFill>
                  <a:schemeClr val="tx2"/>
                </a:solidFill>
                <a:latin typeface="Times New Roman" panose="02020603050405020304" pitchFamily="18" charset="0"/>
                <a:ea typeface="华文中宋" panose="02010600040101010101" pitchFamily="2" charset="-122"/>
              </a:rPr>
              <a:t>10  mm      </a:t>
            </a:r>
            <a:r>
              <a:rPr kumimoji="1" lang="en-US" altLang="zh-CN" sz="2400" dirty="0">
                <a:solidFill>
                  <a:schemeClr val="tx2"/>
                </a:solidFill>
                <a:latin typeface="隶书" panose="02010509060101010101" pitchFamily="49" charset="-122"/>
              </a:rPr>
              <a:t>δ</a:t>
            </a:r>
            <a:r>
              <a:rPr kumimoji="1" lang="en-US" altLang="zh-CN" sz="2400" i="1" dirty="0">
                <a:solidFill>
                  <a:schemeClr val="tx2"/>
                </a:solidFill>
                <a:latin typeface="Times New Roman" panose="02020603050405020304" pitchFamily="18" charset="0"/>
                <a:ea typeface="华文中宋" panose="02010600040101010101" pitchFamily="2" charset="-122"/>
              </a:rPr>
              <a:t>= </a:t>
            </a:r>
            <a:r>
              <a:rPr kumimoji="1" lang="en-US" altLang="zh-CN" sz="2400" dirty="0">
                <a:solidFill>
                  <a:schemeClr val="tx2"/>
                </a:solidFill>
                <a:latin typeface="Times New Roman" panose="02020603050405020304" pitchFamily="18" charset="0"/>
                <a:ea typeface="华文中宋" panose="02010600040101010101" pitchFamily="2" charset="-122"/>
              </a:rPr>
              <a:t>(2.5.~4)</a:t>
            </a:r>
            <a:r>
              <a:rPr kumimoji="1" lang="en-US" altLang="zh-CN" sz="2400" i="1" dirty="0">
                <a:solidFill>
                  <a:schemeClr val="tx2"/>
                </a:solidFill>
                <a:latin typeface="Times New Roman" panose="02020603050405020304" pitchFamily="18" charset="0"/>
                <a:ea typeface="华文中宋" panose="02010600040101010101" pitchFamily="2" charset="-122"/>
              </a:rPr>
              <a:t> </a:t>
            </a:r>
            <a:r>
              <a:rPr kumimoji="1" lang="en-US" altLang="zh-CN" sz="2400" i="1" dirty="0" err="1">
                <a:solidFill>
                  <a:schemeClr val="tx2"/>
                </a:solidFill>
                <a:latin typeface="Times New Roman" panose="02020603050405020304" pitchFamily="18" charset="0"/>
                <a:ea typeface="华文中宋" panose="02010600040101010101" pitchFamily="2" charset="-122"/>
              </a:rPr>
              <a:t>m</a:t>
            </a:r>
            <a:r>
              <a:rPr kumimoji="1" lang="en-US" altLang="zh-CN" sz="2400" i="1" baseline="-25000" dirty="0" err="1">
                <a:solidFill>
                  <a:schemeClr val="tx2"/>
                </a:solidFill>
                <a:latin typeface="Times New Roman" panose="02020603050405020304" pitchFamily="18" charset="0"/>
                <a:ea typeface="华文中宋" panose="02010600040101010101" pitchFamily="2" charset="-122"/>
              </a:rPr>
              <a:t>n</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 </a:t>
            </a:r>
            <a:r>
              <a:rPr kumimoji="1" lang="en-US" altLang="zh-CN" sz="2400" i="1" dirty="0">
                <a:solidFill>
                  <a:schemeClr val="tx2"/>
                </a:solidFill>
                <a:latin typeface="Times New Roman" panose="02020603050405020304" pitchFamily="18" charset="0"/>
                <a:ea typeface="华文中宋" panose="02010600040101010101" pitchFamily="2" charset="-122"/>
              </a:rPr>
              <a:t>,</a:t>
            </a:r>
            <a:r>
              <a:rPr kumimoji="1" lang="zh-CN" altLang="en-US" sz="2400" dirty="0">
                <a:solidFill>
                  <a:schemeClr val="tx2"/>
                </a:solidFill>
                <a:latin typeface="Times New Roman" panose="02020603050405020304" pitchFamily="18" charset="0"/>
                <a:ea typeface="华文中宋" panose="02010600040101010101" pitchFamily="2" charset="-122"/>
              </a:rPr>
              <a:t>但不小于</a:t>
            </a:r>
            <a:r>
              <a:rPr kumimoji="1" lang="en-US" altLang="zh-CN" sz="2400" dirty="0">
                <a:solidFill>
                  <a:schemeClr val="tx2"/>
                </a:solidFill>
                <a:latin typeface="Times New Roman" panose="02020603050405020304" pitchFamily="18" charset="0"/>
                <a:ea typeface="华文中宋" panose="02010600040101010101" pitchFamily="2" charset="-122"/>
              </a:rPr>
              <a:t>8 mm </a:t>
            </a:r>
            <a:endParaRPr kumimoji="1" lang="en-US" altLang="zh-CN" sz="2400" dirty="0">
              <a:solidFill>
                <a:schemeClr val="tx2"/>
              </a:solidFill>
              <a:latin typeface="Times New Roman" panose="02020603050405020304" pitchFamily="18" charset="0"/>
              <a:ea typeface="华文中宋" panose="02010600040101010101" pitchFamily="2" charset="-122"/>
            </a:endParaRPr>
          </a:p>
          <a:p>
            <a:pPr algn="l"/>
            <a:r>
              <a:rPr kumimoji="1" lang="en-US" altLang="zh-CN" sz="2400" i="1" dirty="0">
                <a:solidFill>
                  <a:schemeClr val="tx2"/>
                </a:solidFill>
                <a:latin typeface="Times New Roman" panose="02020603050405020304" pitchFamily="18" charset="0"/>
                <a:ea typeface="华文中宋" panose="02010600040101010101" pitchFamily="2" charset="-122"/>
              </a:rPr>
              <a:t>h</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1</a:t>
            </a:r>
            <a:r>
              <a:rPr kumimoji="1" lang="en-US" altLang="zh-CN" sz="2400" i="1" dirty="0">
                <a:solidFill>
                  <a:schemeClr val="tx2"/>
                </a:solidFill>
                <a:latin typeface="Times New Roman" panose="02020603050405020304" pitchFamily="18" charset="0"/>
                <a:ea typeface="华文中宋" panose="02010600040101010101" pitchFamily="2" charset="-122"/>
              </a:rPr>
              <a:t> = 0.8 d</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s</a:t>
            </a:r>
            <a:r>
              <a:rPr kumimoji="1" lang="en-US" altLang="zh-CN" sz="2400" i="1" dirty="0">
                <a:solidFill>
                  <a:schemeClr val="tx2"/>
                </a:solidFill>
                <a:latin typeface="Times New Roman" panose="02020603050405020304" pitchFamily="18" charset="0"/>
                <a:ea typeface="华文中宋" panose="02010600040101010101" pitchFamily="2" charset="-122"/>
              </a:rPr>
              <a:t> ; h</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2</a:t>
            </a:r>
            <a:r>
              <a:rPr kumimoji="1" lang="en-US" altLang="zh-CN" sz="2400" i="1" dirty="0">
                <a:solidFill>
                  <a:schemeClr val="tx2"/>
                </a:solidFill>
                <a:latin typeface="Times New Roman" panose="02020603050405020304" pitchFamily="18" charset="0"/>
                <a:ea typeface="华文中宋" panose="02010600040101010101" pitchFamily="2" charset="-122"/>
              </a:rPr>
              <a:t> = 0.8 h</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1 </a:t>
            </a:r>
            <a:r>
              <a:rPr kumimoji="1" lang="en-US" altLang="zh-CN" sz="2400" i="1" dirty="0">
                <a:solidFill>
                  <a:schemeClr val="tx2"/>
                </a:solidFill>
                <a:latin typeface="Times New Roman" panose="02020603050405020304" pitchFamily="18" charset="0"/>
                <a:ea typeface="华文中宋" panose="02010600040101010101" pitchFamily="2" charset="-122"/>
              </a:rPr>
              <a:t>; s = 1.5 h</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1</a:t>
            </a:r>
            <a:r>
              <a:rPr kumimoji="1" lang="en-US" altLang="zh-CN" sz="2400" i="1" dirty="0">
                <a:solidFill>
                  <a:schemeClr val="tx2"/>
                </a:solidFill>
                <a:latin typeface="Times New Roman" panose="02020603050405020304" pitchFamily="18" charset="0"/>
                <a:ea typeface="华文中宋" panose="02010600040101010101" pitchFamily="2" charset="-122"/>
              </a:rPr>
              <a:t> ; </a:t>
            </a:r>
            <a:r>
              <a:rPr kumimoji="1" lang="zh-CN" altLang="en-US" sz="2400" dirty="0">
                <a:solidFill>
                  <a:schemeClr val="tx2"/>
                </a:solidFill>
                <a:latin typeface="Times New Roman" panose="02020603050405020304" pitchFamily="18" charset="0"/>
                <a:ea typeface="华文中宋" panose="02010600040101010101" pitchFamily="2" charset="-122"/>
              </a:rPr>
              <a:t>但不小于</a:t>
            </a:r>
            <a:r>
              <a:rPr kumimoji="1" lang="en-US" altLang="zh-CN" sz="2400" dirty="0">
                <a:solidFill>
                  <a:schemeClr val="tx2"/>
                </a:solidFill>
                <a:latin typeface="Times New Roman" panose="02020603050405020304" pitchFamily="18" charset="0"/>
                <a:ea typeface="华文中宋" panose="02010600040101010101" pitchFamily="2" charset="-122"/>
              </a:rPr>
              <a:t>10  mm </a:t>
            </a:r>
            <a:endParaRPr kumimoji="1" lang="en-US" altLang="zh-CN" sz="2400" dirty="0">
              <a:solidFill>
                <a:schemeClr val="tx2"/>
              </a:solidFill>
              <a:latin typeface="Times New Roman" panose="02020603050405020304" pitchFamily="18" charset="0"/>
              <a:ea typeface="华文中宋" panose="02010600040101010101" pitchFamily="2" charset="-122"/>
            </a:endParaRPr>
          </a:p>
          <a:p>
            <a:pPr algn="l"/>
            <a:r>
              <a:rPr kumimoji="1" lang="en-US" altLang="zh-CN" sz="2400" i="1" dirty="0">
                <a:solidFill>
                  <a:schemeClr val="tx2"/>
                </a:solidFill>
                <a:latin typeface="Times New Roman" panose="02020603050405020304" pitchFamily="18" charset="0"/>
                <a:ea typeface="华文中宋" panose="02010600040101010101" pitchFamily="2" charset="-122"/>
              </a:rPr>
              <a:t>e = 0.8 d</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s</a:t>
            </a:r>
            <a:r>
              <a:rPr kumimoji="1" lang="en-US" altLang="zh-CN" sz="2400" i="1" dirty="0">
                <a:solidFill>
                  <a:schemeClr val="tx2"/>
                </a:solidFill>
                <a:latin typeface="Times New Roman" panose="02020603050405020304" pitchFamily="18" charset="0"/>
                <a:ea typeface="华文中宋" panose="02010600040101010101" pitchFamily="2" charset="-122"/>
              </a:rPr>
              <a:t> ; h</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2</a:t>
            </a:r>
            <a:r>
              <a:rPr kumimoji="1" lang="en-US" altLang="zh-CN" sz="2400" i="1" dirty="0">
                <a:solidFill>
                  <a:schemeClr val="tx2"/>
                </a:solidFill>
                <a:latin typeface="Times New Roman" panose="02020603050405020304" pitchFamily="18" charset="0"/>
                <a:ea typeface="华文中宋" panose="02010600040101010101" pitchFamily="2" charset="-122"/>
              </a:rPr>
              <a:t> = 0.8 h</a:t>
            </a:r>
            <a:r>
              <a:rPr kumimoji="1" lang="en-US" altLang="zh-CN" sz="2400" i="1" baseline="-25000" dirty="0">
                <a:solidFill>
                  <a:schemeClr val="tx2"/>
                </a:solidFill>
                <a:latin typeface="Times New Roman" panose="02020603050405020304" pitchFamily="18" charset="0"/>
                <a:ea typeface="华文中宋" panose="02010600040101010101" pitchFamily="2" charset="-122"/>
              </a:rPr>
              <a:t>1</a:t>
            </a:r>
            <a:r>
              <a:rPr kumimoji="1" lang="en-US" altLang="zh-CN" sz="2400" i="1" dirty="0">
                <a:solidFill>
                  <a:schemeClr val="tx2"/>
                </a:solidFill>
                <a:latin typeface="Times New Roman" panose="02020603050405020304" pitchFamily="18" charset="0"/>
                <a:ea typeface="华文中宋" panose="02010600040101010101" pitchFamily="2" charset="-122"/>
              </a:rPr>
              <a:t> </a:t>
            </a:r>
            <a:endParaRPr kumimoji="1" lang="en-US" altLang="zh-CN" sz="2400" dirty="0">
              <a:solidFill>
                <a:schemeClr val="tx2"/>
              </a:solidFill>
              <a:latin typeface="Times New Roman" panose="02020603050405020304" pitchFamily="18" charset="0"/>
              <a:ea typeface="华文中宋" panose="02010600040101010101" pitchFamily="2" charset="-122"/>
            </a:endParaRPr>
          </a:p>
        </p:txBody>
      </p:sp>
      <p:grpSp>
        <p:nvGrpSpPr>
          <p:cNvPr id="455684" name="Group 4"/>
          <p:cNvGrpSpPr/>
          <p:nvPr/>
        </p:nvGrpSpPr>
        <p:grpSpPr bwMode="auto">
          <a:xfrm>
            <a:off x="2541588" y="219075"/>
            <a:ext cx="6611937" cy="4425950"/>
            <a:chOff x="1601" y="138"/>
            <a:chExt cx="4165" cy="2788"/>
          </a:xfrm>
        </p:grpSpPr>
        <p:grpSp>
          <p:nvGrpSpPr>
            <p:cNvPr id="455685" name="Group 5"/>
            <p:cNvGrpSpPr/>
            <p:nvPr/>
          </p:nvGrpSpPr>
          <p:grpSpPr bwMode="auto">
            <a:xfrm>
              <a:off x="1601" y="138"/>
              <a:ext cx="1844" cy="2788"/>
              <a:chOff x="1601" y="138"/>
              <a:chExt cx="1844" cy="2788"/>
            </a:xfrm>
          </p:grpSpPr>
          <p:grpSp>
            <p:nvGrpSpPr>
              <p:cNvPr id="455686" name="Group 6"/>
              <p:cNvGrpSpPr/>
              <p:nvPr/>
            </p:nvGrpSpPr>
            <p:grpSpPr bwMode="auto">
              <a:xfrm>
                <a:off x="2081" y="253"/>
                <a:ext cx="805" cy="2425"/>
                <a:chOff x="2041" y="403"/>
                <a:chExt cx="737" cy="2425"/>
              </a:xfrm>
            </p:grpSpPr>
            <p:grpSp>
              <p:nvGrpSpPr>
                <p:cNvPr id="455687" name="Group 7"/>
                <p:cNvGrpSpPr/>
                <p:nvPr/>
              </p:nvGrpSpPr>
              <p:grpSpPr bwMode="auto">
                <a:xfrm>
                  <a:off x="2041" y="403"/>
                  <a:ext cx="737" cy="2425"/>
                  <a:chOff x="2041" y="403"/>
                  <a:chExt cx="737" cy="2425"/>
                </a:xfrm>
              </p:grpSpPr>
              <p:sp>
                <p:nvSpPr>
                  <p:cNvPr id="455688" name="Line 8"/>
                  <p:cNvSpPr>
                    <a:spLocks noChangeShapeType="1"/>
                  </p:cNvSpPr>
                  <p:nvPr/>
                </p:nvSpPr>
                <p:spPr bwMode="auto">
                  <a:xfrm>
                    <a:off x="2048" y="2797"/>
                    <a:ext cx="720"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89" name="Line 9"/>
                  <p:cNvSpPr>
                    <a:spLocks noChangeShapeType="1"/>
                  </p:cNvSpPr>
                  <p:nvPr/>
                </p:nvSpPr>
                <p:spPr bwMode="auto">
                  <a:xfrm flipV="1">
                    <a:off x="2049" y="434"/>
                    <a:ext cx="720"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5690" name="Group 10"/>
                  <p:cNvGrpSpPr/>
                  <p:nvPr/>
                </p:nvGrpSpPr>
                <p:grpSpPr bwMode="auto">
                  <a:xfrm>
                    <a:off x="2041" y="403"/>
                    <a:ext cx="737" cy="2425"/>
                    <a:chOff x="2041" y="403"/>
                    <a:chExt cx="737" cy="2425"/>
                  </a:xfrm>
                </p:grpSpPr>
                <p:sp>
                  <p:nvSpPr>
                    <p:cNvPr id="455691" name="Line 11"/>
                    <p:cNvSpPr>
                      <a:spLocks noChangeShapeType="1"/>
                    </p:cNvSpPr>
                    <p:nvPr/>
                  </p:nvSpPr>
                  <p:spPr bwMode="auto">
                    <a:xfrm>
                      <a:off x="2041" y="1615"/>
                      <a:ext cx="737"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2" name="Freeform 12"/>
                    <p:cNvSpPr/>
                    <p:nvPr/>
                  </p:nvSpPr>
                  <p:spPr bwMode="auto">
                    <a:xfrm>
                      <a:off x="2113" y="1612"/>
                      <a:ext cx="579" cy="1216"/>
                    </a:xfrm>
                    <a:custGeom>
                      <a:avLst/>
                      <a:gdLst>
                        <a:gd name="T0" fmla="*/ 0 w 579"/>
                        <a:gd name="T1" fmla="*/ 7 h 1216"/>
                        <a:gd name="T2" fmla="*/ 0 w 579"/>
                        <a:gd name="T3" fmla="*/ 1200 h 1216"/>
                        <a:gd name="T4" fmla="*/ 15 w 579"/>
                        <a:gd name="T5" fmla="*/ 1216 h 1216"/>
                        <a:gd name="T6" fmla="*/ 559 w 579"/>
                        <a:gd name="T7" fmla="*/ 1216 h 1216"/>
                        <a:gd name="T8" fmla="*/ 579 w 579"/>
                        <a:gd name="T9" fmla="*/ 1204 h 1216"/>
                        <a:gd name="T10" fmla="*/ 579 w 579"/>
                        <a:gd name="T11" fmla="*/ 0 h 1216"/>
                      </a:gdLst>
                      <a:ahLst/>
                      <a:cxnLst>
                        <a:cxn ang="0">
                          <a:pos x="T0" y="T1"/>
                        </a:cxn>
                        <a:cxn ang="0">
                          <a:pos x="T2" y="T3"/>
                        </a:cxn>
                        <a:cxn ang="0">
                          <a:pos x="T4" y="T5"/>
                        </a:cxn>
                        <a:cxn ang="0">
                          <a:pos x="T6" y="T7"/>
                        </a:cxn>
                        <a:cxn ang="0">
                          <a:pos x="T8" y="T9"/>
                        </a:cxn>
                        <a:cxn ang="0">
                          <a:pos x="T10" y="T11"/>
                        </a:cxn>
                      </a:cxnLst>
                      <a:rect l="0" t="0" r="r" b="b"/>
                      <a:pathLst>
                        <a:path w="579" h="1216">
                          <a:moveTo>
                            <a:pt x="0" y="7"/>
                          </a:moveTo>
                          <a:lnTo>
                            <a:pt x="0" y="1200"/>
                          </a:lnTo>
                          <a:lnTo>
                            <a:pt x="15" y="1216"/>
                          </a:lnTo>
                          <a:lnTo>
                            <a:pt x="559" y="1216"/>
                          </a:lnTo>
                          <a:lnTo>
                            <a:pt x="579" y="1204"/>
                          </a:lnTo>
                          <a:lnTo>
                            <a:pt x="579"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3" name="Freeform 13"/>
                    <p:cNvSpPr/>
                    <p:nvPr/>
                  </p:nvSpPr>
                  <p:spPr bwMode="auto">
                    <a:xfrm>
                      <a:off x="2663" y="1614"/>
                      <a:ext cx="26" cy="242"/>
                    </a:xfrm>
                    <a:custGeom>
                      <a:avLst/>
                      <a:gdLst>
                        <a:gd name="T0" fmla="*/ 0 w 26"/>
                        <a:gd name="T1" fmla="*/ 0 h 242"/>
                        <a:gd name="T2" fmla="*/ 0 w 26"/>
                        <a:gd name="T3" fmla="*/ 77 h 242"/>
                        <a:gd name="T4" fmla="*/ 0 w 26"/>
                        <a:gd name="T5" fmla="*/ 216 h 242"/>
                        <a:gd name="T6" fmla="*/ 26 w 26"/>
                        <a:gd name="T7" fmla="*/ 242 h 242"/>
                      </a:gdLst>
                      <a:ahLst/>
                      <a:cxnLst>
                        <a:cxn ang="0">
                          <a:pos x="T0" y="T1"/>
                        </a:cxn>
                        <a:cxn ang="0">
                          <a:pos x="T2" y="T3"/>
                        </a:cxn>
                        <a:cxn ang="0">
                          <a:pos x="T4" y="T5"/>
                        </a:cxn>
                        <a:cxn ang="0">
                          <a:pos x="T6" y="T7"/>
                        </a:cxn>
                      </a:cxnLst>
                      <a:rect l="0" t="0" r="r" b="b"/>
                      <a:pathLst>
                        <a:path w="26" h="242">
                          <a:moveTo>
                            <a:pt x="0" y="0"/>
                          </a:moveTo>
                          <a:cubicBezTo>
                            <a:pt x="0" y="26"/>
                            <a:pt x="0" y="51"/>
                            <a:pt x="0" y="77"/>
                          </a:cubicBezTo>
                          <a:lnTo>
                            <a:pt x="0" y="216"/>
                          </a:lnTo>
                          <a:lnTo>
                            <a:pt x="26" y="24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4" name="Freeform 14"/>
                    <p:cNvSpPr/>
                    <p:nvPr/>
                  </p:nvSpPr>
                  <p:spPr bwMode="auto">
                    <a:xfrm flipH="1">
                      <a:off x="2115" y="1615"/>
                      <a:ext cx="26" cy="242"/>
                    </a:xfrm>
                    <a:custGeom>
                      <a:avLst/>
                      <a:gdLst>
                        <a:gd name="T0" fmla="*/ 0 w 26"/>
                        <a:gd name="T1" fmla="*/ 0 h 242"/>
                        <a:gd name="T2" fmla="*/ 0 w 26"/>
                        <a:gd name="T3" fmla="*/ 77 h 242"/>
                        <a:gd name="T4" fmla="*/ 0 w 26"/>
                        <a:gd name="T5" fmla="*/ 216 h 242"/>
                        <a:gd name="T6" fmla="*/ 26 w 26"/>
                        <a:gd name="T7" fmla="*/ 242 h 242"/>
                      </a:gdLst>
                      <a:ahLst/>
                      <a:cxnLst>
                        <a:cxn ang="0">
                          <a:pos x="T0" y="T1"/>
                        </a:cxn>
                        <a:cxn ang="0">
                          <a:pos x="T2" y="T3"/>
                        </a:cxn>
                        <a:cxn ang="0">
                          <a:pos x="T4" y="T5"/>
                        </a:cxn>
                        <a:cxn ang="0">
                          <a:pos x="T6" y="T7"/>
                        </a:cxn>
                      </a:cxnLst>
                      <a:rect l="0" t="0" r="r" b="b"/>
                      <a:pathLst>
                        <a:path w="26" h="242">
                          <a:moveTo>
                            <a:pt x="0" y="0"/>
                          </a:moveTo>
                          <a:cubicBezTo>
                            <a:pt x="0" y="26"/>
                            <a:pt x="0" y="51"/>
                            <a:pt x="0" y="77"/>
                          </a:cubicBezTo>
                          <a:lnTo>
                            <a:pt x="0" y="216"/>
                          </a:lnTo>
                          <a:lnTo>
                            <a:pt x="26" y="24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5" name="Line 15"/>
                    <p:cNvSpPr>
                      <a:spLocks noChangeShapeType="1"/>
                    </p:cNvSpPr>
                    <p:nvPr/>
                  </p:nvSpPr>
                  <p:spPr bwMode="auto">
                    <a:xfrm>
                      <a:off x="2144" y="1830"/>
                      <a:ext cx="519"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6" name="Freeform 16"/>
                    <p:cNvSpPr/>
                    <p:nvPr/>
                  </p:nvSpPr>
                  <p:spPr bwMode="auto">
                    <a:xfrm>
                      <a:off x="2113" y="1969"/>
                      <a:ext cx="252" cy="732"/>
                    </a:xfrm>
                    <a:custGeom>
                      <a:avLst/>
                      <a:gdLst>
                        <a:gd name="T0" fmla="*/ 0 w 252"/>
                        <a:gd name="T1" fmla="*/ 0 h 732"/>
                        <a:gd name="T2" fmla="*/ 7 w 252"/>
                        <a:gd name="T3" fmla="*/ 22 h 732"/>
                        <a:gd name="T4" fmla="*/ 24 w 252"/>
                        <a:gd name="T5" fmla="*/ 31 h 732"/>
                        <a:gd name="T6" fmla="*/ 228 w 252"/>
                        <a:gd name="T7" fmla="*/ 51 h 732"/>
                        <a:gd name="T8" fmla="*/ 247 w 252"/>
                        <a:gd name="T9" fmla="*/ 67 h 732"/>
                        <a:gd name="T10" fmla="*/ 252 w 252"/>
                        <a:gd name="T11" fmla="*/ 94 h 732"/>
                        <a:gd name="T12" fmla="*/ 252 w 252"/>
                        <a:gd name="T13" fmla="*/ 115 h 732"/>
                        <a:gd name="T14" fmla="*/ 252 w 252"/>
                        <a:gd name="T15" fmla="*/ 665 h 732"/>
                        <a:gd name="T16" fmla="*/ 245 w 252"/>
                        <a:gd name="T17" fmla="*/ 691 h 732"/>
                        <a:gd name="T18" fmla="*/ 233 w 252"/>
                        <a:gd name="T19" fmla="*/ 703 h 732"/>
                        <a:gd name="T20" fmla="*/ 219 w 252"/>
                        <a:gd name="T21" fmla="*/ 708 h 732"/>
                        <a:gd name="T22" fmla="*/ 197 w 252"/>
                        <a:gd name="T23" fmla="*/ 711 h 732"/>
                        <a:gd name="T24" fmla="*/ 22 w 252"/>
                        <a:gd name="T25" fmla="*/ 718 h 732"/>
                        <a:gd name="T26" fmla="*/ 5 w 252"/>
                        <a:gd name="T2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2" h="732">
                          <a:moveTo>
                            <a:pt x="0" y="0"/>
                          </a:moveTo>
                          <a:lnTo>
                            <a:pt x="7" y="22"/>
                          </a:lnTo>
                          <a:lnTo>
                            <a:pt x="24" y="31"/>
                          </a:lnTo>
                          <a:lnTo>
                            <a:pt x="228" y="51"/>
                          </a:lnTo>
                          <a:lnTo>
                            <a:pt x="247" y="67"/>
                          </a:lnTo>
                          <a:lnTo>
                            <a:pt x="252" y="94"/>
                          </a:lnTo>
                          <a:lnTo>
                            <a:pt x="252" y="115"/>
                          </a:lnTo>
                          <a:lnTo>
                            <a:pt x="252" y="665"/>
                          </a:lnTo>
                          <a:lnTo>
                            <a:pt x="245" y="691"/>
                          </a:lnTo>
                          <a:lnTo>
                            <a:pt x="233" y="703"/>
                          </a:lnTo>
                          <a:lnTo>
                            <a:pt x="219" y="708"/>
                          </a:lnTo>
                          <a:lnTo>
                            <a:pt x="197" y="711"/>
                          </a:lnTo>
                          <a:lnTo>
                            <a:pt x="22" y="718"/>
                          </a:lnTo>
                          <a:lnTo>
                            <a:pt x="5" y="73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7" name="Freeform 17"/>
                    <p:cNvSpPr/>
                    <p:nvPr/>
                  </p:nvSpPr>
                  <p:spPr bwMode="auto">
                    <a:xfrm flipH="1">
                      <a:off x="2438" y="1959"/>
                      <a:ext cx="252" cy="732"/>
                    </a:xfrm>
                    <a:custGeom>
                      <a:avLst/>
                      <a:gdLst>
                        <a:gd name="T0" fmla="*/ 0 w 252"/>
                        <a:gd name="T1" fmla="*/ 0 h 732"/>
                        <a:gd name="T2" fmla="*/ 7 w 252"/>
                        <a:gd name="T3" fmla="*/ 22 h 732"/>
                        <a:gd name="T4" fmla="*/ 24 w 252"/>
                        <a:gd name="T5" fmla="*/ 31 h 732"/>
                        <a:gd name="T6" fmla="*/ 228 w 252"/>
                        <a:gd name="T7" fmla="*/ 51 h 732"/>
                        <a:gd name="T8" fmla="*/ 247 w 252"/>
                        <a:gd name="T9" fmla="*/ 67 h 732"/>
                        <a:gd name="T10" fmla="*/ 252 w 252"/>
                        <a:gd name="T11" fmla="*/ 94 h 732"/>
                        <a:gd name="T12" fmla="*/ 252 w 252"/>
                        <a:gd name="T13" fmla="*/ 115 h 732"/>
                        <a:gd name="T14" fmla="*/ 252 w 252"/>
                        <a:gd name="T15" fmla="*/ 665 h 732"/>
                        <a:gd name="T16" fmla="*/ 245 w 252"/>
                        <a:gd name="T17" fmla="*/ 691 h 732"/>
                        <a:gd name="T18" fmla="*/ 233 w 252"/>
                        <a:gd name="T19" fmla="*/ 703 h 732"/>
                        <a:gd name="T20" fmla="*/ 219 w 252"/>
                        <a:gd name="T21" fmla="*/ 708 h 732"/>
                        <a:gd name="T22" fmla="*/ 197 w 252"/>
                        <a:gd name="T23" fmla="*/ 711 h 732"/>
                        <a:gd name="T24" fmla="*/ 22 w 252"/>
                        <a:gd name="T25" fmla="*/ 718 h 732"/>
                        <a:gd name="T26" fmla="*/ 5 w 252"/>
                        <a:gd name="T2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2" h="732">
                          <a:moveTo>
                            <a:pt x="0" y="0"/>
                          </a:moveTo>
                          <a:lnTo>
                            <a:pt x="7" y="22"/>
                          </a:lnTo>
                          <a:lnTo>
                            <a:pt x="24" y="31"/>
                          </a:lnTo>
                          <a:lnTo>
                            <a:pt x="228" y="51"/>
                          </a:lnTo>
                          <a:lnTo>
                            <a:pt x="247" y="67"/>
                          </a:lnTo>
                          <a:lnTo>
                            <a:pt x="252" y="94"/>
                          </a:lnTo>
                          <a:lnTo>
                            <a:pt x="252" y="115"/>
                          </a:lnTo>
                          <a:lnTo>
                            <a:pt x="252" y="665"/>
                          </a:lnTo>
                          <a:lnTo>
                            <a:pt x="245" y="691"/>
                          </a:lnTo>
                          <a:lnTo>
                            <a:pt x="233" y="703"/>
                          </a:lnTo>
                          <a:lnTo>
                            <a:pt x="219" y="708"/>
                          </a:lnTo>
                          <a:lnTo>
                            <a:pt x="197" y="711"/>
                          </a:lnTo>
                          <a:lnTo>
                            <a:pt x="22" y="718"/>
                          </a:lnTo>
                          <a:lnTo>
                            <a:pt x="5" y="73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8" name="Line 18"/>
                    <p:cNvSpPr>
                      <a:spLocks noChangeShapeType="1"/>
                    </p:cNvSpPr>
                    <p:nvPr/>
                  </p:nvSpPr>
                  <p:spPr bwMode="auto">
                    <a:xfrm>
                      <a:off x="2363" y="2087"/>
                      <a:ext cx="77"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699" name="Line 19"/>
                    <p:cNvSpPr>
                      <a:spLocks noChangeShapeType="1"/>
                    </p:cNvSpPr>
                    <p:nvPr/>
                  </p:nvSpPr>
                  <p:spPr bwMode="auto">
                    <a:xfrm>
                      <a:off x="2365" y="2591"/>
                      <a:ext cx="72"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0" name="Line 20"/>
                    <p:cNvSpPr>
                      <a:spLocks noChangeShapeType="1"/>
                    </p:cNvSpPr>
                    <p:nvPr/>
                  </p:nvSpPr>
                  <p:spPr bwMode="auto">
                    <a:xfrm>
                      <a:off x="2113" y="2766"/>
                      <a:ext cx="579"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1" name="Line 21"/>
                    <p:cNvSpPr>
                      <a:spLocks noChangeShapeType="1"/>
                    </p:cNvSpPr>
                    <p:nvPr/>
                  </p:nvSpPr>
                  <p:spPr bwMode="auto">
                    <a:xfrm>
                      <a:off x="2639" y="1998"/>
                      <a:ext cx="0" cy="679"/>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2" name="Line 22"/>
                    <p:cNvSpPr>
                      <a:spLocks noChangeShapeType="1"/>
                    </p:cNvSpPr>
                    <p:nvPr/>
                  </p:nvSpPr>
                  <p:spPr bwMode="auto">
                    <a:xfrm>
                      <a:off x="2166" y="2008"/>
                      <a:ext cx="0" cy="679"/>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3" name="Freeform 23"/>
                    <p:cNvSpPr/>
                    <p:nvPr/>
                  </p:nvSpPr>
                  <p:spPr bwMode="auto">
                    <a:xfrm flipV="1">
                      <a:off x="2114" y="403"/>
                      <a:ext cx="579" cy="1216"/>
                    </a:xfrm>
                    <a:custGeom>
                      <a:avLst/>
                      <a:gdLst>
                        <a:gd name="T0" fmla="*/ 0 w 579"/>
                        <a:gd name="T1" fmla="*/ 7 h 1216"/>
                        <a:gd name="T2" fmla="*/ 0 w 579"/>
                        <a:gd name="T3" fmla="*/ 1200 h 1216"/>
                        <a:gd name="T4" fmla="*/ 15 w 579"/>
                        <a:gd name="T5" fmla="*/ 1216 h 1216"/>
                        <a:gd name="T6" fmla="*/ 559 w 579"/>
                        <a:gd name="T7" fmla="*/ 1216 h 1216"/>
                        <a:gd name="T8" fmla="*/ 579 w 579"/>
                        <a:gd name="T9" fmla="*/ 1204 h 1216"/>
                        <a:gd name="T10" fmla="*/ 579 w 579"/>
                        <a:gd name="T11" fmla="*/ 0 h 1216"/>
                      </a:gdLst>
                      <a:ahLst/>
                      <a:cxnLst>
                        <a:cxn ang="0">
                          <a:pos x="T0" y="T1"/>
                        </a:cxn>
                        <a:cxn ang="0">
                          <a:pos x="T2" y="T3"/>
                        </a:cxn>
                        <a:cxn ang="0">
                          <a:pos x="T4" y="T5"/>
                        </a:cxn>
                        <a:cxn ang="0">
                          <a:pos x="T6" y="T7"/>
                        </a:cxn>
                        <a:cxn ang="0">
                          <a:pos x="T8" y="T9"/>
                        </a:cxn>
                        <a:cxn ang="0">
                          <a:pos x="T10" y="T11"/>
                        </a:cxn>
                      </a:cxnLst>
                      <a:rect l="0" t="0" r="r" b="b"/>
                      <a:pathLst>
                        <a:path w="579" h="1216">
                          <a:moveTo>
                            <a:pt x="0" y="7"/>
                          </a:moveTo>
                          <a:lnTo>
                            <a:pt x="0" y="1200"/>
                          </a:lnTo>
                          <a:lnTo>
                            <a:pt x="15" y="1216"/>
                          </a:lnTo>
                          <a:lnTo>
                            <a:pt x="559" y="1216"/>
                          </a:lnTo>
                          <a:lnTo>
                            <a:pt x="579" y="1204"/>
                          </a:lnTo>
                          <a:lnTo>
                            <a:pt x="579"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4" name="Freeform 24"/>
                    <p:cNvSpPr/>
                    <p:nvPr/>
                  </p:nvSpPr>
                  <p:spPr bwMode="auto">
                    <a:xfrm flipV="1">
                      <a:off x="2664" y="1375"/>
                      <a:ext cx="26" cy="242"/>
                    </a:xfrm>
                    <a:custGeom>
                      <a:avLst/>
                      <a:gdLst>
                        <a:gd name="T0" fmla="*/ 0 w 26"/>
                        <a:gd name="T1" fmla="*/ 0 h 242"/>
                        <a:gd name="T2" fmla="*/ 0 w 26"/>
                        <a:gd name="T3" fmla="*/ 77 h 242"/>
                        <a:gd name="T4" fmla="*/ 0 w 26"/>
                        <a:gd name="T5" fmla="*/ 216 h 242"/>
                        <a:gd name="T6" fmla="*/ 26 w 26"/>
                        <a:gd name="T7" fmla="*/ 242 h 242"/>
                      </a:gdLst>
                      <a:ahLst/>
                      <a:cxnLst>
                        <a:cxn ang="0">
                          <a:pos x="T0" y="T1"/>
                        </a:cxn>
                        <a:cxn ang="0">
                          <a:pos x="T2" y="T3"/>
                        </a:cxn>
                        <a:cxn ang="0">
                          <a:pos x="T4" y="T5"/>
                        </a:cxn>
                        <a:cxn ang="0">
                          <a:pos x="T6" y="T7"/>
                        </a:cxn>
                      </a:cxnLst>
                      <a:rect l="0" t="0" r="r" b="b"/>
                      <a:pathLst>
                        <a:path w="26" h="242">
                          <a:moveTo>
                            <a:pt x="0" y="0"/>
                          </a:moveTo>
                          <a:cubicBezTo>
                            <a:pt x="0" y="26"/>
                            <a:pt x="0" y="51"/>
                            <a:pt x="0" y="77"/>
                          </a:cubicBezTo>
                          <a:lnTo>
                            <a:pt x="0" y="216"/>
                          </a:lnTo>
                          <a:lnTo>
                            <a:pt x="26" y="24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5" name="Freeform 25"/>
                    <p:cNvSpPr/>
                    <p:nvPr/>
                  </p:nvSpPr>
                  <p:spPr bwMode="auto">
                    <a:xfrm flipH="1" flipV="1">
                      <a:off x="2116" y="1374"/>
                      <a:ext cx="26" cy="242"/>
                    </a:xfrm>
                    <a:custGeom>
                      <a:avLst/>
                      <a:gdLst>
                        <a:gd name="T0" fmla="*/ 0 w 26"/>
                        <a:gd name="T1" fmla="*/ 0 h 242"/>
                        <a:gd name="T2" fmla="*/ 0 w 26"/>
                        <a:gd name="T3" fmla="*/ 77 h 242"/>
                        <a:gd name="T4" fmla="*/ 0 w 26"/>
                        <a:gd name="T5" fmla="*/ 216 h 242"/>
                        <a:gd name="T6" fmla="*/ 26 w 26"/>
                        <a:gd name="T7" fmla="*/ 242 h 242"/>
                      </a:gdLst>
                      <a:ahLst/>
                      <a:cxnLst>
                        <a:cxn ang="0">
                          <a:pos x="T0" y="T1"/>
                        </a:cxn>
                        <a:cxn ang="0">
                          <a:pos x="T2" y="T3"/>
                        </a:cxn>
                        <a:cxn ang="0">
                          <a:pos x="T4" y="T5"/>
                        </a:cxn>
                        <a:cxn ang="0">
                          <a:pos x="T6" y="T7"/>
                        </a:cxn>
                      </a:cxnLst>
                      <a:rect l="0" t="0" r="r" b="b"/>
                      <a:pathLst>
                        <a:path w="26" h="242">
                          <a:moveTo>
                            <a:pt x="0" y="0"/>
                          </a:moveTo>
                          <a:cubicBezTo>
                            <a:pt x="0" y="26"/>
                            <a:pt x="0" y="51"/>
                            <a:pt x="0" y="77"/>
                          </a:cubicBezTo>
                          <a:lnTo>
                            <a:pt x="0" y="216"/>
                          </a:lnTo>
                          <a:lnTo>
                            <a:pt x="26" y="24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6" name="Line 26"/>
                    <p:cNvSpPr>
                      <a:spLocks noChangeShapeType="1"/>
                    </p:cNvSpPr>
                    <p:nvPr/>
                  </p:nvSpPr>
                  <p:spPr bwMode="auto">
                    <a:xfrm flipV="1">
                      <a:off x="2145" y="1401"/>
                      <a:ext cx="519"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7" name="Freeform 27"/>
                    <p:cNvSpPr/>
                    <p:nvPr/>
                  </p:nvSpPr>
                  <p:spPr bwMode="auto">
                    <a:xfrm flipV="1">
                      <a:off x="2114" y="530"/>
                      <a:ext cx="252" cy="732"/>
                    </a:xfrm>
                    <a:custGeom>
                      <a:avLst/>
                      <a:gdLst>
                        <a:gd name="T0" fmla="*/ 0 w 252"/>
                        <a:gd name="T1" fmla="*/ 0 h 732"/>
                        <a:gd name="T2" fmla="*/ 7 w 252"/>
                        <a:gd name="T3" fmla="*/ 22 h 732"/>
                        <a:gd name="T4" fmla="*/ 24 w 252"/>
                        <a:gd name="T5" fmla="*/ 31 h 732"/>
                        <a:gd name="T6" fmla="*/ 228 w 252"/>
                        <a:gd name="T7" fmla="*/ 51 h 732"/>
                        <a:gd name="T8" fmla="*/ 247 w 252"/>
                        <a:gd name="T9" fmla="*/ 67 h 732"/>
                        <a:gd name="T10" fmla="*/ 252 w 252"/>
                        <a:gd name="T11" fmla="*/ 94 h 732"/>
                        <a:gd name="T12" fmla="*/ 252 w 252"/>
                        <a:gd name="T13" fmla="*/ 115 h 732"/>
                        <a:gd name="T14" fmla="*/ 252 w 252"/>
                        <a:gd name="T15" fmla="*/ 665 h 732"/>
                        <a:gd name="T16" fmla="*/ 245 w 252"/>
                        <a:gd name="T17" fmla="*/ 691 h 732"/>
                        <a:gd name="T18" fmla="*/ 233 w 252"/>
                        <a:gd name="T19" fmla="*/ 703 h 732"/>
                        <a:gd name="T20" fmla="*/ 219 w 252"/>
                        <a:gd name="T21" fmla="*/ 708 h 732"/>
                        <a:gd name="T22" fmla="*/ 197 w 252"/>
                        <a:gd name="T23" fmla="*/ 711 h 732"/>
                        <a:gd name="T24" fmla="*/ 22 w 252"/>
                        <a:gd name="T25" fmla="*/ 718 h 732"/>
                        <a:gd name="T26" fmla="*/ 5 w 252"/>
                        <a:gd name="T2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2" h="732">
                          <a:moveTo>
                            <a:pt x="0" y="0"/>
                          </a:moveTo>
                          <a:lnTo>
                            <a:pt x="7" y="22"/>
                          </a:lnTo>
                          <a:lnTo>
                            <a:pt x="24" y="31"/>
                          </a:lnTo>
                          <a:lnTo>
                            <a:pt x="228" y="51"/>
                          </a:lnTo>
                          <a:lnTo>
                            <a:pt x="247" y="67"/>
                          </a:lnTo>
                          <a:lnTo>
                            <a:pt x="252" y="94"/>
                          </a:lnTo>
                          <a:lnTo>
                            <a:pt x="252" y="115"/>
                          </a:lnTo>
                          <a:lnTo>
                            <a:pt x="252" y="665"/>
                          </a:lnTo>
                          <a:lnTo>
                            <a:pt x="245" y="691"/>
                          </a:lnTo>
                          <a:lnTo>
                            <a:pt x="233" y="703"/>
                          </a:lnTo>
                          <a:lnTo>
                            <a:pt x="219" y="708"/>
                          </a:lnTo>
                          <a:lnTo>
                            <a:pt x="197" y="711"/>
                          </a:lnTo>
                          <a:lnTo>
                            <a:pt x="22" y="718"/>
                          </a:lnTo>
                          <a:lnTo>
                            <a:pt x="5" y="73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8" name="Freeform 28"/>
                    <p:cNvSpPr/>
                    <p:nvPr/>
                  </p:nvSpPr>
                  <p:spPr bwMode="auto">
                    <a:xfrm flipH="1" flipV="1">
                      <a:off x="2439" y="540"/>
                      <a:ext cx="252" cy="732"/>
                    </a:xfrm>
                    <a:custGeom>
                      <a:avLst/>
                      <a:gdLst>
                        <a:gd name="T0" fmla="*/ 0 w 252"/>
                        <a:gd name="T1" fmla="*/ 0 h 732"/>
                        <a:gd name="T2" fmla="*/ 7 w 252"/>
                        <a:gd name="T3" fmla="*/ 22 h 732"/>
                        <a:gd name="T4" fmla="*/ 24 w 252"/>
                        <a:gd name="T5" fmla="*/ 31 h 732"/>
                        <a:gd name="T6" fmla="*/ 228 w 252"/>
                        <a:gd name="T7" fmla="*/ 51 h 732"/>
                        <a:gd name="T8" fmla="*/ 247 w 252"/>
                        <a:gd name="T9" fmla="*/ 67 h 732"/>
                        <a:gd name="T10" fmla="*/ 252 w 252"/>
                        <a:gd name="T11" fmla="*/ 94 h 732"/>
                        <a:gd name="T12" fmla="*/ 252 w 252"/>
                        <a:gd name="T13" fmla="*/ 115 h 732"/>
                        <a:gd name="T14" fmla="*/ 252 w 252"/>
                        <a:gd name="T15" fmla="*/ 665 h 732"/>
                        <a:gd name="T16" fmla="*/ 245 w 252"/>
                        <a:gd name="T17" fmla="*/ 691 h 732"/>
                        <a:gd name="T18" fmla="*/ 233 w 252"/>
                        <a:gd name="T19" fmla="*/ 703 h 732"/>
                        <a:gd name="T20" fmla="*/ 219 w 252"/>
                        <a:gd name="T21" fmla="*/ 708 h 732"/>
                        <a:gd name="T22" fmla="*/ 197 w 252"/>
                        <a:gd name="T23" fmla="*/ 711 h 732"/>
                        <a:gd name="T24" fmla="*/ 22 w 252"/>
                        <a:gd name="T25" fmla="*/ 718 h 732"/>
                        <a:gd name="T26" fmla="*/ 5 w 252"/>
                        <a:gd name="T2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2" h="732">
                          <a:moveTo>
                            <a:pt x="0" y="0"/>
                          </a:moveTo>
                          <a:lnTo>
                            <a:pt x="7" y="22"/>
                          </a:lnTo>
                          <a:lnTo>
                            <a:pt x="24" y="31"/>
                          </a:lnTo>
                          <a:lnTo>
                            <a:pt x="228" y="51"/>
                          </a:lnTo>
                          <a:lnTo>
                            <a:pt x="247" y="67"/>
                          </a:lnTo>
                          <a:lnTo>
                            <a:pt x="252" y="94"/>
                          </a:lnTo>
                          <a:lnTo>
                            <a:pt x="252" y="115"/>
                          </a:lnTo>
                          <a:lnTo>
                            <a:pt x="252" y="665"/>
                          </a:lnTo>
                          <a:lnTo>
                            <a:pt x="245" y="691"/>
                          </a:lnTo>
                          <a:lnTo>
                            <a:pt x="233" y="703"/>
                          </a:lnTo>
                          <a:lnTo>
                            <a:pt x="219" y="708"/>
                          </a:lnTo>
                          <a:lnTo>
                            <a:pt x="197" y="711"/>
                          </a:lnTo>
                          <a:lnTo>
                            <a:pt x="22" y="718"/>
                          </a:lnTo>
                          <a:lnTo>
                            <a:pt x="5" y="732"/>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09" name="Line 29"/>
                    <p:cNvSpPr>
                      <a:spLocks noChangeShapeType="1"/>
                    </p:cNvSpPr>
                    <p:nvPr/>
                  </p:nvSpPr>
                  <p:spPr bwMode="auto">
                    <a:xfrm flipV="1">
                      <a:off x="2364" y="1144"/>
                      <a:ext cx="77"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10" name="Line 30"/>
                    <p:cNvSpPr>
                      <a:spLocks noChangeShapeType="1"/>
                    </p:cNvSpPr>
                    <p:nvPr/>
                  </p:nvSpPr>
                  <p:spPr bwMode="auto">
                    <a:xfrm flipV="1">
                      <a:off x="2366" y="640"/>
                      <a:ext cx="72"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11" name="Line 31"/>
                    <p:cNvSpPr>
                      <a:spLocks noChangeShapeType="1"/>
                    </p:cNvSpPr>
                    <p:nvPr/>
                  </p:nvSpPr>
                  <p:spPr bwMode="auto">
                    <a:xfrm flipV="1">
                      <a:off x="2114" y="465"/>
                      <a:ext cx="579"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12" name="Line 32"/>
                    <p:cNvSpPr>
                      <a:spLocks noChangeShapeType="1"/>
                    </p:cNvSpPr>
                    <p:nvPr/>
                  </p:nvSpPr>
                  <p:spPr bwMode="auto">
                    <a:xfrm flipV="1">
                      <a:off x="2640" y="554"/>
                      <a:ext cx="0" cy="679"/>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13" name="Line 33"/>
                    <p:cNvSpPr>
                      <a:spLocks noChangeShapeType="1"/>
                    </p:cNvSpPr>
                    <p:nvPr/>
                  </p:nvSpPr>
                  <p:spPr bwMode="auto">
                    <a:xfrm flipV="1">
                      <a:off x="2167" y="544"/>
                      <a:ext cx="0" cy="679"/>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14" name="Line 34"/>
                    <p:cNvSpPr>
                      <a:spLocks noChangeShapeType="1"/>
                    </p:cNvSpPr>
                    <p:nvPr/>
                  </p:nvSpPr>
                  <p:spPr bwMode="auto">
                    <a:xfrm>
                      <a:off x="2118" y="1350"/>
                      <a:ext cx="576"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55715" name="Group 35"/>
                <p:cNvGrpSpPr/>
                <p:nvPr/>
              </p:nvGrpSpPr>
              <p:grpSpPr bwMode="auto">
                <a:xfrm>
                  <a:off x="2110" y="466"/>
                  <a:ext cx="579" cy="2295"/>
                  <a:chOff x="2110" y="466"/>
                  <a:chExt cx="579" cy="2295"/>
                </a:xfrm>
              </p:grpSpPr>
              <p:grpSp>
                <p:nvGrpSpPr>
                  <p:cNvPr id="455716" name="Group 36"/>
                  <p:cNvGrpSpPr/>
                  <p:nvPr/>
                </p:nvGrpSpPr>
                <p:grpSpPr bwMode="auto">
                  <a:xfrm>
                    <a:off x="2126" y="466"/>
                    <a:ext cx="556" cy="163"/>
                    <a:chOff x="2126" y="466"/>
                    <a:chExt cx="556" cy="163"/>
                  </a:xfrm>
                </p:grpSpPr>
                <p:sp>
                  <p:nvSpPr>
                    <p:cNvPr id="455717" name="Line 37"/>
                    <p:cNvSpPr>
                      <a:spLocks noChangeShapeType="1"/>
                    </p:cNvSpPr>
                    <p:nvPr/>
                  </p:nvSpPr>
                  <p:spPr bwMode="auto">
                    <a:xfrm flipV="1">
                      <a:off x="2126" y="473"/>
                      <a:ext cx="65" cy="6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18" name="Line 38"/>
                    <p:cNvSpPr>
                      <a:spLocks noChangeShapeType="1"/>
                    </p:cNvSpPr>
                    <p:nvPr/>
                  </p:nvSpPr>
                  <p:spPr bwMode="auto">
                    <a:xfrm flipV="1">
                      <a:off x="2200" y="471"/>
                      <a:ext cx="65" cy="6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19" name="Line 39"/>
                    <p:cNvSpPr>
                      <a:spLocks noChangeShapeType="1"/>
                    </p:cNvSpPr>
                    <p:nvPr/>
                  </p:nvSpPr>
                  <p:spPr bwMode="auto">
                    <a:xfrm flipV="1">
                      <a:off x="2267" y="477"/>
                      <a:ext cx="65" cy="6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0" name="Line 40"/>
                    <p:cNvSpPr>
                      <a:spLocks noChangeShapeType="1"/>
                    </p:cNvSpPr>
                    <p:nvPr/>
                  </p:nvSpPr>
                  <p:spPr bwMode="auto">
                    <a:xfrm flipV="1">
                      <a:off x="2337" y="466"/>
                      <a:ext cx="85" cy="8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1" name="Line 41"/>
                    <p:cNvSpPr>
                      <a:spLocks noChangeShapeType="1"/>
                    </p:cNvSpPr>
                    <p:nvPr/>
                  </p:nvSpPr>
                  <p:spPr bwMode="auto">
                    <a:xfrm flipV="1">
                      <a:off x="2371" y="468"/>
                      <a:ext cx="123" cy="12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2" name="Line 42"/>
                    <p:cNvSpPr>
                      <a:spLocks noChangeShapeType="1"/>
                    </p:cNvSpPr>
                    <p:nvPr/>
                  </p:nvSpPr>
                  <p:spPr bwMode="auto">
                    <a:xfrm flipV="1">
                      <a:off x="2404" y="473"/>
                      <a:ext cx="152" cy="15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3" name="Line 43"/>
                    <p:cNvSpPr>
                      <a:spLocks noChangeShapeType="1"/>
                    </p:cNvSpPr>
                    <p:nvPr/>
                  </p:nvSpPr>
                  <p:spPr bwMode="auto">
                    <a:xfrm flipV="1">
                      <a:off x="2538" y="475"/>
                      <a:ext cx="77" cy="8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4" name="Line 44"/>
                    <p:cNvSpPr>
                      <a:spLocks noChangeShapeType="1"/>
                    </p:cNvSpPr>
                    <p:nvPr/>
                  </p:nvSpPr>
                  <p:spPr bwMode="auto">
                    <a:xfrm flipV="1">
                      <a:off x="2605" y="470"/>
                      <a:ext cx="77" cy="8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725" name="Group 45"/>
                  <p:cNvGrpSpPr/>
                  <p:nvPr/>
                </p:nvGrpSpPr>
                <p:grpSpPr bwMode="auto">
                  <a:xfrm>
                    <a:off x="2123" y="1154"/>
                    <a:ext cx="555" cy="190"/>
                    <a:chOff x="2123" y="1154"/>
                    <a:chExt cx="555" cy="190"/>
                  </a:xfrm>
                </p:grpSpPr>
                <p:sp>
                  <p:nvSpPr>
                    <p:cNvPr id="455726" name="Line 46"/>
                    <p:cNvSpPr>
                      <a:spLocks noChangeShapeType="1"/>
                    </p:cNvSpPr>
                    <p:nvPr/>
                  </p:nvSpPr>
                  <p:spPr bwMode="auto">
                    <a:xfrm flipV="1">
                      <a:off x="2123" y="1228"/>
                      <a:ext cx="84" cy="8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7" name="Line 47"/>
                    <p:cNvSpPr>
                      <a:spLocks noChangeShapeType="1"/>
                    </p:cNvSpPr>
                    <p:nvPr/>
                  </p:nvSpPr>
                  <p:spPr bwMode="auto">
                    <a:xfrm flipV="1">
                      <a:off x="2164" y="1219"/>
                      <a:ext cx="125" cy="12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8" name="Line 48"/>
                    <p:cNvSpPr>
                      <a:spLocks noChangeShapeType="1"/>
                    </p:cNvSpPr>
                    <p:nvPr/>
                  </p:nvSpPr>
                  <p:spPr bwMode="auto">
                    <a:xfrm flipV="1">
                      <a:off x="2238" y="1154"/>
                      <a:ext cx="192" cy="18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9" name="Line 49"/>
                    <p:cNvSpPr>
                      <a:spLocks noChangeShapeType="1"/>
                    </p:cNvSpPr>
                    <p:nvPr/>
                  </p:nvSpPr>
                  <p:spPr bwMode="auto">
                    <a:xfrm flipV="1">
                      <a:off x="2318" y="1211"/>
                      <a:ext cx="125" cy="12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0" name="Line 50"/>
                    <p:cNvSpPr>
                      <a:spLocks noChangeShapeType="1"/>
                    </p:cNvSpPr>
                    <p:nvPr/>
                  </p:nvSpPr>
                  <p:spPr bwMode="auto">
                    <a:xfrm flipV="1">
                      <a:off x="2394" y="1235"/>
                      <a:ext cx="101" cy="10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1" name="Line 51"/>
                    <p:cNvSpPr>
                      <a:spLocks noChangeShapeType="1"/>
                    </p:cNvSpPr>
                    <p:nvPr/>
                  </p:nvSpPr>
                  <p:spPr bwMode="auto">
                    <a:xfrm flipV="1">
                      <a:off x="2470" y="1238"/>
                      <a:ext cx="99" cy="10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2" name="Line 52"/>
                    <p:cNvSpPr>
                      <a:spLocks noChangeShapeType="1"/>
                    </p:cNvSpPr>
                    <p:nvPr/>
                  </p:nvSpPr>
                  <p:spPr bwMode="auto">
                    <a:xfrm flipV="1">
                      <a:off x="2540" y="1238"/>
                      <a:ext cx="99" cy="10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3" name="Line 53"/>
                    <p:cNvSpPr>
                      <a:spLocks noChangeShapeType="1"/>
                    </p:cNvSpPr>
                    <p:nvPr/>
                  </p:nvSpPr>
                  <p:spPr bwMode="auto">
                    <a:xfrm flipV="1">
                      <a:off x="2612" y="1267"/>
                      <a:ext cx="66" cy="75"/>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734" name="Group 54"/>
                  <p:cNvGrpSpPr/>
                  <p:nvPr/>
                </p:nvGrpSpPr>
                <p:grpSpPr bwMode="auto">
                  <a:xfrm>
                    <a:off x="2123" y="2597"/>
                    <a:ext cx="549" cy="164"/>
                    <a:chOff x="2123" y="2597"/>
                    <a:chExt cx="549" cy="164"/>
                  </a:xfrm>
                </p:grpSpPr>
                <p:sp>
                  <p:nvSpPr>
                    <p:cNvPr id="455735" name="Line 55"/>
                    <p:cNvSpPr>
                      <a:spLocks noChangeShapeType="1"/>
                    </p:cNvSpPr>
                    <p:nvPr/>
                  </p:nvSpPr>
                  <p:spPr bwMode="auto">
                    <a:xfrm flipH="1">
                      <a:off x="2602" y="2687"/>
                      <a:ext cx="70" cy="6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6" name="Line 56"/>
                    <p:cNvSpPr>
                      <a:spLocks noChangeShapeType="1"/>
                    </p:cNvSpPr>
                    <p:nvPr/>
                  </p:nvSpPr>
                  <p:spPr bwMode="auto">
                    <a:xfrm flipH="1">
                      <a:off x="2528" y="2684"/>
                      <a:ext cx="79" cy="7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7" name="Line 57"/>
                    <p:cNvSpPr>
                      <a:spLocks noChangeShapeType="1"/>
                    </p:cNvSpPr>
                    <p:nvPr/>
                  </p:nvSpPr>
                  <p:spPr bwMode="auto">
                    <a:xfrm flipH="1">
                      <a:off x="2461" y="2677"/>
                      <a:ext cx="86" cy="81"/>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8" name="Line 58"/>
                    <p:cNvSpPr>
                      <a:spLocks noChangeShapeType="1"/>
                    </p:cNvSpPr>
                    <p:nvPr/>
                  </p:nvSpPr>
                  <p:spPr bwMode="auto">
                    <a:xfrm flipH="1">
                      <a:off x="2388" y="2674"/>
                      <a:ext cx="94" cy="82"/>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9" name="Line 59"/>
                    <p:cNvSpPr>
                      <a:spLocks noChangeShapeType="1"/>
                    </p:cNvSpPr>
                    <p:nvPr/>
                  </p:nvSpPr>
                  <p:spPr bwMode="auto">
                    <a:xfrm flipH="1">
                      <a:off x="2311" y="2645"/>
                      <a:ext cx="123" cy="11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0" name="Line 60"/>
                    <p:cNvSpPr>
                      <a:spLocks noChangeShapeType="1"/>
                    </p:cNvSpPr>
                    <p:nvPr/>
                  </p:nvSpPr>
                  <p:spPr bwMode="auto">
                    <a:xfrm flipH="1">
                      <a:off x="2249" y="2597"/>
                      <a:ext cx="169" cy="16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1" name="Line 61"/>
                    <p:cNvSpPr>
                      <a:spLocks noChangeShapeType="1"/>
                    </p:cNvSpPr>
                    <p:nvPr/>
                  </p:nvSpPr>
                  <p:spPr bwMode="auto">
                    <a:xfrm flipH="1">
                      <a:off x="2190" y="2675"/>
                      <a:ext cx="77" cy="8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2" name="Line 62"/>
                    <p:cNvSpPr>
                      <a:spLocks noChangeShapeType="1"/>
                    </p:cNvSpPr>
                    <p:nvPr/>
                  </p:nvSpPr>
                  <p:spPr bwMode="auto">
                    <a:xfrm flipH="1">
                      <a:off x="2123" y="2683"/>
                      <a:ext cx="77" cy="7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743" name="Group 63"/>
                  <p:cNvGrpSpPr/>
                  <p:nvPr/>
                </p:nvGrpSpPr>
                <p:grpSpPr bwMode="auto">
                  <a:xfrm>
                    <a:off x="2110" y="1823"/>
                    <a:ext cx="579" cy="259"/>
                    <a:chOff x="2110" y="1823"/>
                    <a:chExt cx="579" cy="259"/>
                  </a:xfrm>
                </p:grpSpPr>
                <p:sp>
                  <p:nvSpPr>
                    <p:cNvPr id="455744" name="Line 64"/>
                    <p:cNvSpPr>
                      <a:spLocks noChangeShapeType="1"/>
                    </p:cNvSpPr>
                    <p:nvPr/>
                  </p:nvSpPr>
                  <p:spPr bwMode="auto">
                    <a:xfrm flipV="1">
                      <a:off x="2600" y="1897"/>
                      <a:ext cx="89" cy="9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5" name="Line 65"/>
                    <p:cNvSpPr>
                      <a:spLocks noChangeShapeType="1"/>
                    </p:cNvSpPr>
                    <p:nvPr/>
                  </p:nvSpPr>
                  <p:spPr bwMode="auto">
                    <a:xfrm flipH="1">
                      <a:off x="2528" y="1851"/>
                      <a:ext cx="142" cy="147"/>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6" name="Line 66"/>
                    <p:cNvSpPr>
                      <a:spLocks noChangeShapeType="1"/>
                    </p:cNvSpPr>
                    <p:nvPr/>
                  </p:nvSpPr>
                  <p:spPr bwMode="auto">
                    <a:xfrm flipH="1">
                      <a:off x="2382" y="1844"/>
                      <a:ext cx="231" cy="23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7" name="Line 67"/>
                    <p:cNvSpPr>
                      <a:spLocks noChangeShapeType="1"/>
                    </p:cNvSpPr>
                    <p:nvPr/>
                  </p:nvSpPr>
                  <p:spPr bwMode="auto">
                    <a:xfrm flipH="1">
                      <a:off x="2353" y="1837"/>
                      <a:ext cx="199" cy="20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8" name="Line 68"/>
                    <p:cNvSpPr>
                      <a:spLocks noChangeShapeType="1"/>
                    </p:cNvSpPr>
                    <p:nvPr/>
                  </p:nvSpPr>
                  <p:spPr bwMode="auto">
                    <a:xfrm flipH="1">
                      <a:off x="2308" y="1834"/>
                      <a:ext cx="173" cy="18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9" name="Line 69"/>
                    <p:cNvSpPr>
                      <a:spLocks noChangeShapeType="1"/>
                    </p:cNvSpPr>
                    <p:nvPr/>
                  </p:nvSpPr>
                  <p:spPr bwMode="auto">
                    <a:xfrm flipH="1">
                      <a:off x="2247" y="1830"/>
                      <a:ext cx="170" cy="18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0" name="Line 70"/>
                    <p:cNvSpPr>
                      <a:spLocks noChangeShapeType="1"/>
                    </p:cNvSpPr>
                    <p:nvPr/>
                  </p:nvSpPr>
                  <p:spPr bwMode="auto">
                    <a:xfrm flipH="1">
                      <a:off x="2190" y="1823"/>
                      <a:ext cx="164" cy="173"/>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1" name="Line 71"/>
                    <p:cNvSpPr>
                      <a:spLocks noChangeShapeType="1"/>
                    </p:cNvSpPr>
                    <p:nvPr/>
                  </p:nvSpPr>
                  <p:spPr bwMode="auto">
                    <a:xfrm flipH="1">
                      <a:off x="2125" y="1826"/>
                      <a:ext cx="159" cy="168"/>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2" name="Line 72"/>
                    <p:cNvSpPr>
                      <a:spLocks noChangeShapeType="1"/>
                    </p:cNvSpPr>
                    <p:nvPr/>
                  </p:nvSpPr>
                  <p:spPr bwMode="auto">
                    <a:xfrm flipH="1">
                      <a:off x="2110" y="1830"/>
                      <a:ext cx="99" cy="106"/>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455753" name="Text Box 73"/>
              <p:cNvSpPr txBox="1">
                <a:spLocks noChangeArrowheads="1"/>
              </p:cNvSpPr>
              <p:nvPr/>
            </p:nvSpPr>
            <p:spPr bwMode="auto">
              <a:xfrm>
                <a:off x="2404" y="2661"/>
                <a:ext cx="102" cy="265"/>
              </a:xfrm>
              <a:prstGeom prst="rect">
                <a:avLst/>
              </a:prstGeom>
              <a:noFill/>
              <a:ln w="9525">
                <a:solidFill>
                  <a:schemeClr val="tx2"/>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b</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sp>
            <p:nvSpPr>
              <p:cNvPr id="455754" name="Text Box 74"/>
              <p:cNvSpPr txBox="1">
                <a:spLocks noChangeArrowheads="1"/>
              </p:cNvSpPr>
              <p:nvPr/>
            </p:nvSpPr>
            <p:spPr bwMode="auto">
              <a:xfrm rot="-5400000">
                <a:off x="1907" y="1007"/>
                <a:ext cx="146"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d</a:t>
                </a:r>
                <a:r>
                  <a:rPr kumimoji="1" lang="en-US" altLang="zh-CN" sz="2400" i="1" baseline="-25000">
                    <a:solidFill>
                      <a:schemeClr val="hlink"/>
                    </a:solidFill>
                    <a:latin typeface="Times New Roman" panose="02020603050405020304" pitchFamily="18" charset="0"/>
                    <a:ea typeface="华文中宋" panose="02010600040101010101" pitchFamily="2" charset="-122"/>
                  </a:rPr>
                  <a:t>s</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sp>
            <p:nvSpPr>
              <p:cNvPr id="455755" name="Text Box 75"/>
              <p:cNvSpPr txBox="1">
                <a:spLocks noChangeArrowheads="1"/>
              </p:cNvSpPr>
              <p:nvPr/>
            </p:nvSpPr>
            <p:spPr bwMode="auto">
              <a:xfrm rot="-5400000">
                <a:off x="2805" y="1296"/>
                <a:ext cx="167"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d</a:t>
                </a:r>
                <a:r>
                  <a:rPr kumimoji="1" lang="en-US" altLang="zh-CN" sz="2400" i="1" baseline="-25000">
                    <a:solidFill>
                      <a:schemeClr val="hlink"/>
                    </a:solidFill>
                    <a:latin typeface="Times New Roman" panose="02020603050405020304" pitchFamily="18" charset="0"/>
                    <a:ea typeface="华文中宋" panose="02010600040101010101" pitchFamily="2" charset="-122"/>
                  </a:rPr>
                  <a:t>h</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sp>
            <p:nvSpPr>
              <p:cNvPr id="455756" name="Text Box 76"/>
              <p:cNvSpPr txBox="1">
                <a:spLocks noChangeArrowheads="1"/>
              </p:cNvSpPr>
              <p:nvPr/>
            </p:nvSpPr>
            <p:spPr bwMode="auto">
              <a:xfrm rot="-5400000">
                <a:off x="1651" y="1238"/>
                <a:ext cx="160"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d</a:t>
                </a:r>
                <a:r>
                  <a:rPr kumimoji="1" lang="en-US" altLang="zh-CN" sz="2400" i="1" baseline="-25000">
                    <a:solidFill>
                      <a:schemeClr val="hlink"/>
                    </a:solidFill>
                    <a:latin typeface="Times New Roman" panose="02020603050405020304" pitchFamily="18" charset="0"/>
                    <a:ea typeface="华文中宋" panose="02010600040101010101" pitchFamily="2" charset="-122"/>
                  </a:rPr>
                  <a:t>a</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grpSp>
            <p:nvGrpSpPr>
              <p:cNvPr id="455757" name="Group 77"/>
              <p:cNvGrpSpPr/>
              <p:nvPr/>
            </p:nvGrpSpPr>
            <p:grpSpPr bwMode="auto">
              <a:xfrm>
                <a:off x="2145" y="2630"/>
                <a:ext cx="655" cy="271"/>
                <a:chOff x="1495" y="2890"/>
                <a:chExt cx="655" cy="194"/>
              </a:xfrm>
            </p:grpSpPr>
            <p:sp>
              <p:nvSpPr>
                <p:cNvPr id="455758" name="Line 78"/>
                <p:cNvSpPr>
                  <a:spLocks noChangeShapeType="1"/>
                </p:cNvSpPr>
                <p:nvPr/>
              </p:nvSpPr>
              <p:spPr bwMode="auto">
                <a:xfrm>
                  <a:off x="1498" y="2890"/>
                  <a:ext cx="0" cy="194"/>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9" name="Line 79"/>
                <p:cNvSpPr>
                  <a:spLocks noChangeShapeType="1"/>
                </p:cNvSpPr>
                <p:nvPr/>
              </p:nvSpPr>
              <p:spPr bwMode="auto">
                <a:xfrm>
                  <a:off x="2150" y="2906"/>
                  <a:ext cx="0" cy="173"/>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60" name="Line 80"/>
                <p:cNvSpPr>
                  <a:spLocks noChangeShapeType="1"/>
                </p:cNvSpPr>
                <p:nvPr/>
              </p:nvSpPr>
              <p:spPr bwMode="auto">
                <a:xfrm>
                  <a:off x="1495" y="3053"/>
                  <a:ext cx="653" cy="0"/>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761" name="Group 81"/>
              <p:cNvGrpSpPr/>
              <p:nvPr/>
            </p:nvGrpSpPr>
            <p:grpSpPr bwMode="auto">
              <a:xfrm>
                <a:off x="1806" y="240"/>
                <a:ext cx="360" cy="2445"/>
                <a:chOff x="1094" y="238"/>
                <a:chExt cx="432" cy="2407"/>
              </a:xfrm>
            </p:grpSpPr>
            <p:sp>
              <p:nvSpPr>
                <p:cNvPr id="455762" name="Line 82"/>
                <p:cNvSpPr>
                  <a:spLocks noChangeShapeType="1"/>
                </p:cNvSpPr>
                <p:nvPr/>
              </p:nvSpPr>
              <p:spPr bwMode="auto">
                <a:xfrm flipH="1">
                  <a:off x="1104" y="2645"/>
                  <a:ext cx="422"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63" name="Line 83"/>
                <p:cNvSpPr>
                  <a:spLocks noChangeShapeType="1"/>
                </p:cNvSpPr>
                <p:nvPr/>
              </p:nvSpPr>
              <p:spPr bwMode="auto">
                <a:xfrm flipH="1">
                  <a:off x="1094" y="238"/>
                  <a:ext cx="422"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64" name="Line 84"/>
                <p:cNvSpPr>
                  <a:spLocks noChangeShapeType="1"/>
                </p:cNvSpPr>
                <p:nvPr/>
              </p:nvSpPr>
              <p:spPr bwMode="auto">
                <a:xfrm>
                  <a:off x="1142" y="240"/>
                  <a:ext cx="0" cy="2403"/>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765" name="Group 85"/>
              <p:cNvGrpSpPr/>
              <p:nvPr/>
            </p:nvGrpSpPr>
            <p:grpSpPr bwMode="auto">
              <a:xfrm>
                <a:off x="1949" y="1234"/>
                <a:ext cx="252" cy="456"/>
                <a:chOff x="1229" y="1244"/>
                <a:chExt cx="252" cy="456"/>
              </a:xfrm>
            </p:grpSpPr>
            <p:sp>
              <p:nvSpPr>
                <p:cNvPr id="455766" name="Line 86"/>
                <p:cNvSpPr>
                  <a:spLocks noChangeShapeType="1"/>
                </p:cNvSpPr>
                <p:nvPr/>
              </p:nvSpPr>
              <p:spPr bwMode="auto">
                <a:xfrm flipH="1">
                  <a:off x="1229" y="1697"/>
                  <a:ext cx="252"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67" name="Line 87"/>
                <p:cNvSpPr>
                  <a:spLocks noChangeShapeType="1"/>
                </p:cNvSpPr>
                <p:nvPr/>
              </p:nvSpPr>
              <p:spPr bwMode="auto">
                <a:xfrm>
                  <a:off x="1296" y="1244"/>
                  <a:ext cx="0" cy="456"/>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768" name="Group 88"/>
              <p:cNvGrpSpPr/>
              <p:nvPr/>
            </p:nvGrpSpPr>
            <p:grpSpPr bwMode="auto">
              <a:xfrm>
                <a:off x="2280" y="2316"/>
                <a:ext cx="504" cy="2"/>
                <a:chOff x="1560" y="2566"/>
                <a:chExt cx="504" cy="2"/>
              </a:xfrm>
            </p:grpSpPr>
            <p:sp>
              <p:nvSpPr>
                <p:cNvPr id="455769" name="Line 89"/>
                <p:cNvSpPr>
                  <a:spLocks noChangeShapeType="1"/>
                </p:cNvSpPr>
                <p:nvPr/>
              </p:nvSpPr>
              <p:spPr bwMode="auto">
                <a:xfrm>
                  <a:off x="1560" y="2566"/>
                  <a:ext cx="182" cy="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70" name="Line 90"/>
                <p:cNvSpPr>
                  <a:spLocks noChangeShapeType="1"/>
                </p:cNvSpPr>
                <p:nvPr/>
              </p:nvSpPr>
              <p:spPr bwMode="auto">
                <a:xfrm flipH="1">
                  <a:off x="1898" y="2568"/>
                  <a:ext cx="166" cy="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71" name="Line 91"/>
                <p:cNvSpPr>
                  <a:spLocks noChangeShapeType="1"/>
                </p:cNvSpPr>
                <p:nvPr/>
              </p:nvSpPr>
              <p:spPr bwMode="auto">
                <a:xfrm>
                  <a:off x="1747" y="2568"/>
                  <a:ext cx="151"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772" name="Group 92"/>
              <p:cNvGrpSpPr/>
              <p:nvPr/>
            </p:nvGrpSpPr>
            <p:grpSpPr bwMode="auto">
              <a:xfrm>
                <a:off x="2769" y="1079"/>
                <a:ext cx="297" cy="763"/>
                <a:chOff x="2189" y="1294"/>
                <a:chExt cx="201" cy="868"/>
              </a:xfrm>
            </p:grpSpPr>
            <p:sp>
              <p:nvSpPr>
                <p:cNvPr id="455773" name="Line 93"/>
                <p:cNvSpPr>
                  <a:spLocks noChangeShapeType="1"/>
                </p:cNvSpPr>
                <p:nvPr/>
              </p:nvSpPr>
              <p:spPr bwMode="auto">
                <a:xfrm>
                  <a:off x="2189" y="1294"/>
                  <a:ext cx="192"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74" name="Line 94"/>
                <p:cNvSpPr>
                  <a:spLocks noChangeShapeType="1"/>
                </p:cNvSpPr>
                <p:nvPr/>
              </p:nvSpPr>
              <p:spPr bwMode="auto">
                <a:xfrm>
                  <a:off x="2189" y="2162"/>
                  <a:ext cx="201"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75" name="Line 95"/>
                <p:cNvSpPr>
                  <a:spLocks noChangeShapeType="1"/>
                </p:cNvSpPr>
                <p:nvPr/>
              </p:nvSpPr>
              <p:spPr bwMode="auto">
                <a:xfrm flipV="1">
                  <a:off x="2345" y="1296"/>
                  <a:ext cx="0" cy="866"/>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5776" name="Text Box 96"/>
              <p:cNvSpPr txBox="1">
                <a:spLocks noChangeArrowheads="1"/>
              </p:cNvSpPr>
              <p:nvPr/>
            </p:nvSpPr>
            <p:spPr bwMode="auto">
              <a:xfrm>
                <a:off x="2832" y="524"/>
                <a:ext cx="613" cy="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zh-CN" altLang="en-US" sz="2000">
                    <a:solidFill>
                      <a:schemeClr val="hlink"/>
                    </a:solidFill>
                    <a:latin typeface="Times New Roman" panose="02020603050405020304" pitchFamily="18" charset="0"/>
                    <a:ea typeface="华文中宋" panose="02010600040101010101" pitchFamily="2" charset="-122"/>
                  </a:rPr>
                  <a:t>斜度</a:t>
                </a:r>
                <a:r>
                  <a:rPr kumimoji="1" lang="en-US" altLang="zh-CN" sz="2000">
                    <a:solidFill>
                      <a:schemeClr val="hlink"/>
                    </a:solidFill>
                    <a:latin typeface="Times New Roman" panose="02020603050405020304" pitchFamily="18" charset="0"/>
                    <a:ea typeface="华文中宋" panose="02010600040101010101" pitchFamily="2" charset="-122"/>
                  </a:rPr>
                  <a:t>1:20</a:t>
                </a:r>
                <a:endParaRPr kumimoji="1" lang="en-US" altLang="zh-CN" sz="2000">
                  <a:solidFill>
                    <a:schemeClr val="hlink"/>
                  </a:solidFill>
                  <a:latin typeface="Times New Roman" panose="02020603050405020304" pitchFamily="18" charset="0"/>
                  <a:ea typeface="华文中宋" panose="02010600040101010101" pitchFamily="2" charset="-122"/>
                </a:endParaRPr>
              </a:p>
            </p:txBody>
          </p:sp>
          <p:sp>
            <p:nvSpPr>
              <p:cNvPr id="455777" name="Freeform 97"/>
              <p:cNvSpPr/>
              <p:nvPr/>
            </p:nvSpPr>
            <p:spPr bwMode="auto">
              <a:xfrm>
                <a:off x="2644" y="754"/>
                <a:ext cx="656" cy="327"/>
              </a:xfrm>
              <a:custGeom>
                <a:avLst/>
                <a:gdLst>
                  <a:gd name="T0" fmla="*/ 0 w 656"/>
                  <a:gd name="T1" fmla="*/ 133 h 133"/>
                  <a:gd name="T2" fmla="*/ 80 w 656"/>
                  <a:gd name="T3" fmla="*/ 0 h 133"/>
                  <a:gd name="T4" fmla="*/ 656 w 656"/>
                  <a:gd name="T5" fmla="*/ 0 h 133"/>
                </a:gdLst>
                <a:ahLst/>
                <a:cxnLst>
                  <a:cxn ang="0">
                    <a:pos x="T0" y="T1"/>
                  </a:cxn>
                  <a:cxn ang="0">
                    <a:pos x="T2" y="T3"/>
                  </a:cxn>
                  <a:cxn ang="0">
                    <a:pos x="T4" y="T5"/>
                  </a:cxn>
                </a:cxnLst>
                <a:rect l="0" t="0" r="r" b="b"/>
                <a:pathLst>
                  <a:path w="656" h="133">
                    <a:moveTo>
                      <a:pt x="0" y="133"/>
                    </a:moveTo>
                    <a:lnTo>
                      <a:pt x="80" y="0"/>
                    </a:lnTo>
                    <a:lnTo>
                      <a:pt x="656" y="0"/>
                    </a:lnTo>
                  </a:path>
                </a:pathLst>
              </a:custGeom>
              <a:noFill/>
              <a:ln w="127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78" name="Line 98"/>
              <p:cNvSpPr>
                <a:spLocks noChangeShapeType="1"/>
              </p:cNvSpPr>
              <p:nvPr/>
            </p:nvSpPr>
            <p:spPr bwMode="auto">
              <a:xfrm flipH="1" flipV="1">
                <a:off x="2636" y="404"/>
                <a:ext cx="84" cy="348"/>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79" name="Text Box 99"/>
              <p:cNvSpPr txBox="1">
                <a:spLocks noChangeArrowheads="1"/>
              </p:cNvSpPr>
              <p:nvPr/>
            </p:nvSpPr>
            <p:spPr bwMode="auto">
              <a:xfrm>
                <a:off x="2545" y="2117"/>
                <a:ext cx="85"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c</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grpSp>
            <p:nvGrpSpPr>
              <p:cNvPr id="455780" name="Group 100"/>
              <p:cNvGrpSpPr/>
              <p:nvPr/>
            </p:nvGrpSpPr>
            <p:grpSpPr bwMode="auto">
              <a:xfrm>
                <a:off x="2785" y="138"/>
                <a:ext cx="500" cy="422"/>
                <a:chOff x="2125" y="167"/>
                <a:chExt cx="500" cy="393"/>
              </a:xfrm>
            </p:grpSpPr>
            <p:sp>
              <p:nvSpPr>
                <p:cNvPr id="455781" name="Line 101"/>
                <p:cNvSpPr>
                  <a:spLocks noChangeShapeType="1"/>
                </p:cNvSpPr>
                <p:nvPr/>
              </p:nvSpPr>
              <p:spPr bwMode="auto">
                <a:xfrm>
                  <a:off x="2125" y="409"/>
                  <a:ext cx="293"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82" name="Line 102"/>
                <p:cNvSpPr>
                  <a:spLocks noChangeShapeType="1"/>
                </p:cNvSpPr>
                <p:nvPr/>
              </p:nvSpPr>
              <p:spPr bwMode="auto">
                <a:xfrm>
                  <a:off x="2130" y="321"/>
                  <a:ext cx="293"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83" name="Line 103"/>
                <p:cNvSpPr>
                  <a:spLocks noChangeShapeType="1"/>
                </p:cNvSpPr>
                <p:nvPr/>
              </p:nvSpPr>
              <p:spPr bwMode="auto">
                <a:xfrm>
                  <a:off x="2382" y="167"/>
                  <a:ext cx="0" cy="156"/>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84" name="Line 104"/>
                <p:cNvSpPr>
                  <a:spLocks noChangeShapeType="1"/>
                </p:cNvSpPr>
                <p:nvPr/>
              </p:nvSpPr>
              <p:spPr bwMode="auto">
                <a:xfrm flipV="1">
                  <a:off x="2383" y="404"/>
                  <a:ext cx="0" cy="156"/>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85" name="Line 105"/>
                <p:cNvSpPr>
                  <a:spLocks noChangeShapeType="1"/>
                </p:cNvSpPr>
                <p:nvPr/>
              </p:nvSpPr>
              <p:spPr bwMode="auto">
                <a:xfrm flipV="1">
                  <a:off x="2384" y="307"/>
                  <a:ext cx="0" cy="103"/>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86" name="Rectangle 106"/>
                <p:cNvSpPr>
                  <a:spLocks noChangeArrowheads="1"/>
                </p:cNvSpPr>
                <p:nvPr/>
              </p:nvSpPr>
              <p:spPr bwMode="auto">
                <a:xfrm>
                  <a:off x="2316" y="205"/>
                  <a:ext cx="309"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solidFill>
                        <a:schemeClr val="hlink"/>
                      </a:solidFill>
                      <a:latin typeface="隶书" panose="02010509060101010101" pitchFamily="49" charset="-122"/>
                    </a:rPr>
                    <a:t>δ</a:t>
                  </a:r>
                  <a:endParaRPr kumimoji="1" lang="en-US" altLang="zh-CN" sz="2400">
                    <a:solidFill>
                      <a:schemeClr val="hlink"/>
                    </a:solidFill>
                    <a:latin typeface="隶书" panose="02010509060101010101" pitchFamily="49" charset="-122"/>
                  </a:endParaRPr>
                </a:p>
              </p:txBody>
            </p:sp>
          </p:grpSp>
          <p:grpSp>
            <p:nvGrpSpPr>
              <p:cNvPr id="455787" name="Group 107"/>
              <p:cNvGrpSpPr/>
              <p:nvPr/>
            </p:nvGrpSpPr>
            <p:grpSpPr bwMode="auto">
              <a:xfrm>
                <a:off x="2159" y="1395"/>
                <a:ext cx="629" cy="259"/>
                <a:chOff x="1889" y="1545"/>
                <a:chExt cx="629" cy="259"/>
              </a:xfrm>
            </p:grpSpPr>
            <p:sp>
              <p:nvSpPr>
                <p:cNvPr id="455788" name="Text Box 108"/>
                <p:cNvSpPr txBox="1">
                  <a:spLocks noChangeArrowheads="1"/>
                </p:cNvSpPr>
                <p:nvPr/>
              </p:nvSpPr>
              <p:spPr bwMode="auto">
                <a:xfrm>
                  <a:off x="2138" y="1545"/>
                  <a:ext cx="124"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l</a:t>
                  </a:r>
                  <a:r>
                    <a:rPr kumimoji="1" lang="en-US" altLang="zh-CN" sz="2400" i="1" baseline="-25000">
                      <a:solidFill>
                        <a:schemeClr val="hlink"/>
                      </a:solidFill>
                      <a:latin typeface="Times New Roman" panose="02020603050405020304" pitchFamily="18" charset="0"/>
                      <a:ea typeface="华文中宋" panose="02010600040101010101" pitchFamily="2" charset="-122"/>
                    </a:rPr>
                    <a:t>h</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sp>
              <p:nvSpPr>
                <p:cNvPr id="455789" name="Line 109"/>
                <p:cNvSpPr>
                  <a:spLocks noChangeShapeType="1"/>
                </p:cNvSpPr>
                <p:nvPr/>
              </p:nvSpPr>
              <p:spPr bwMode="auto">
                <a:xfrm>
                  <a:off x="1889" y="1778"/>
                  <a:ext cx="629" cy="0"/>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55790" name="Group 110"/>
            <p:cNvGrpSpPr/>
            <p:nvPr/>
          </p:nvGrpSpPr>
          <p:grpSpPr bwMode="auto">
            <a:xfrm>
              <a:off x="3102" y="145"/>
              <a:ext cx="2664" cy="2659"/>
              <a:chOff x="1501" y="271"/>
              <a:chExt cx="2270" cy="2251"/>
            </a:xfrm>
          </p:grpSpPr>
          <p:sp>
            <p:nvSpPr>
              <p:cNvPr id="455791" name="Line 111"/>
              <p:cNvSpPr>
                <a:spLocks noChangeShapeType="1"/>
              </p:cNvSpPr>
              <p:nvPr/>
            </p:nvSpPr>
            <p:spPr bwMode="auto">
              <a:xfrm>
                <a:off x="2648" y="271"/>
                <a:ext cx="0" cy="2251"/>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92" name="Line 112"/>
              <p:cNvSpPr>
                <a:spLocks noChangeShapeType="1"/>
              </p:cNvSpPr>
              <p:nvPr/>
            </p:nvSpPr>
            <p:spPr bwMode="auto">
              <a:xfrm flipH="1">
                <a:off x="1501" y="1385"/>
                <a:ext cx="2270" cy="0"/>
              </a:xfrm>
              <a:prstGeom prst="line">
                <a:avLst/>
              </a:prstGeom>
              <a:noFill/>
              <a:ln w="1270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5793" name="Line 113"/>
            <p:cNvSpPr>
              <a:spLocks noChangeShapeType="1"/>
            </p:cNvSpPr>
            <p:nvPr/>
          </p:nvSpPr>
          <p:spPr bwMode="auto">
            <a:xfrm>
              <a:off x="4553" y="1295"/>
              <a:ext cx="1203" cy="729"/>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94" name="Line 114"/>
            <p:cNvSpPr>
              <a:spLocks noChangeShapeType="1"/>
            </p:cNvSpPr>
            <p:nvPr/>
          </p:nvSpPr>
          <p:spPr bwMode="auto">
            <a:xfrm flipH="1">
              <a:off x="5564" y="2010"/>
              <a:ext cx="164" cy="302"/>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5795" name="Group 115"/>
            <p:cNvGrpSpPr/>
            <p:nvPr/>
          </p:nvGrpSpPr>
          <p:grpSpPr bwMode="auto">
            <a:xfrm>
              <a:off x="3266" y="247"/>
              <a:ext cx="2392" cy="2414"/>
              <a:chOff x="3266" y="247"/>
              <a:chExt cx="2392" cy="2414"/>
            </a:xfrm>
          </p:grpSpPr>
          <p:sp>
            <p:nvSpPr>
              <p:cNvPr id="455796" name="Text Box 116"/>
              <p:cNvSpPr txBox="1">
                <a:spLocks noChangeArrowheads="1"/>
              </p:cNvSpPr>
              <p:nvPr/>
            </p:nvSpPr>
            <p:spPr bwMode="auto">
              <a:xfrm>
                <a:off x="4307" y="1224"/>
                <a:ext cx="171"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h</a:t>
                </a:r>
                <a:r>
                  <a:rPr kumimoji="1" lang="en-US" altLang="zh-CN" sz="2400" i="1" baseline="-25000">
                    <a:solidFill>
                      <a:schemeClr val="hlink"/>
                    </a:solidFill>
                    <a:latin typeface="Times New Roman" panose="02020603050405020304" pitchFamily="18" charset="0"/>
                    <a:ea typeface="华文中宋" panose="02010600040101010101" pitchFamily="2" charset="-122"/>
                  </a:rPr>
                  <a:t>1</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sp>
            <p:nvSpPr>
              <p:cNvPr id="455797" name="Oval 117"/>
              <p:cNvSpPr>
                <a:spLocks noChangeArrowheads="1"/>
              </p:cNvSpPr>
              <p:nvPr/>
            </p:nvSpPr>
            <p:spPr bwMode="auto">
              <a:xfrm>
                <a:off x="3266" y="247"/>
                <a:ext cx="2366" cy="2414"/>
              </a:xfrm>
              <a:prstGeom prst="ellipse">
                <a:avLst/>
              </a:prstGeom>
              <a:noFill/>
              <a:ln w="28575">
                <a:solidFill>
                  <a:schemeClr val="tx2"/>
                </a:solidFill>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98" name="Oval 118"/>
              <p:cNvSpPr>
                <a:spLocks noChangeArrowheads="1"/>
              </p:cNvSpPr>
              <p:nvPr/>
            </p:nvSpPr>
            <p:spPr bwMode="auto">
              <a:xfrm>
                <a:off x="3390" y="351"/>
                <a:ext cx="2114" cy="2222"/>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99" name="Oval 119"/>
              <p:cNvSpPr>
                <a:spLocks noChangeArrowheads="1"/>
              </p:cNvSpPr>
              <p:nvPr/>
            </p:nvSpPr>
            <p:spPr bwMode="auto">
              <a:xfrm>
                <a:off x="4175" y="1176"/>
                <a:ext cx="561" cy="560"/>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0" name="Oval 120"/>
              <p:cNvSpPr>
                <a:spLocks noChangeArrowheads="1"/>
              </p:cNvSpPr>
              <p:nvPr/>
            </p:nvSpPr>
            <p:spPr bwMode="auto">
              <a:xfrm>
                <a:off x="4203" y="1208"/>
                <a:ext cx="493" cy="493"/>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1" name="Freeform 121"/>
              <p:cNvSpPr/>
              <p:nvPr/>
            </p:nvSpPr>
            <p:spPr bwMode="auto">
              <a:xfrm>
                <a:off x="4657" y="805"/>
                <a:ext cx="641" cy="395"/>
              </a:xfrm>
              <a:custGeom>
                <a:avLst/>
                <a:gdLst>
                  <a:gd name="T0" fmla="*/ 0 w 477"/>
                  <a:gd name="T1" fmla="*/ 253 h 294"/>
                  <a:gd name="T2" fmla="*/ 23 w 477"/>
                  <a:gd name="T3" fmla="*/ 272 h 294"/>
                  <a:gd name="T4" fmla="*/ 39 w 477"/>
                  <a:gd name="T5" fmla="*/ 288 h 294"/>
                  <a:gd name="T6" fmla="*/ 61 w 477"/>
                  <a:gd name="T7" fmla="*/ 294 h 294"/>
                  <a:gd name="T8" fmla="*/ 93 w 477"/>
                  <a:gd name="T9" fmla="*/ 285 h 294"/>
                  <a:gd name="T10" fmla="*/ 461 w 477"/>
                  <a:gd name="T11" fmla="*/ 57 h 294"/>
                  <a:gd name="T12" fmla="*/ 477 w 477"/>
                  <a:gd name="T13" fmla="*/ 35 h 294"/>
                  <a:gd name="T14" fmla="*/ 477 w 477"/>
                  <a:gd name="T15" fmla="*/ 0 h 2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7" h="294">
                    <a:moveTo>
                      <a:pt x="0" y="253"/>
                    </a:moveTo>
                    <a:lnTo>
                      <a:pt x="23" y="272"/>
                    </a:lnTo>
                    <a:lnTo>
                      <a:pt x="39" y="288"/>
                    </a:lnTo>
                    <a:lnTo>
                      <a:pt x="61" y="294"/>
                    </a:lnTo>
                    <a:lnTo>
                      <a:pt x="93" y="285"/>
                    </a:lnTo>
                    <a:lnTo>
                      <a:pt x="461" y="57"/>
                    </a:lnTo>
                    <a:lnTo>
                      <a:pt x="477" y="35"/>
                    </a:lnTo>
                    <a:lnTo>
                      <a:pt x="477"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2" name="Freeform 122"/>
              <p:cNvSpPr/>
              <p:nvPr/>
            </p:nvSpPr>
            <p:spPr bwMode="auto">
              <a:xfrm rot="110548">
                <a:off x="4813" y="981"/>
                <a:ext cx="597" cy="412"/>
              </a:xfrm>
              <a:custGeom>
                <a:avLst/>
                <a:gdLst>
                  <a:gd name="T0" fmla="*/ 6 w 444"/>
                  <a:gd name="T1" fmla="*/ 307 h 307"/>
                  <a:gd name="T2" fmla="*/ 0 w 444"/>
                  <a:gd name="T3" fmla="*/ 275 h 307"/>
                  <a:gd name="T4" fmla="*/ 6 w 444"/>
                  <a:gd name="T5" fmla="*/ 250 h 307"/>
                  <a:gd name="T6" fmla="*/ 25 w 444"/>
                  <a:gd name="T7" fmla="*/ 230 h 307"/>
                  <a:gd name="T8" fmla="*/ 390 w 444"/>
                  <a:gd name="T9" fmla="*/ 0 h 307"/>
                  <a:gd name="T10" fmla="*/ 422 w 444"/>
                  <a:gd name="T11" fmla="*/ 0 h 307"/>
                  <a:gd name="T12" fmla="*/ 444 w 444"/>
                  <a:gd name="T13" fmla="*/ 3 h 307"/>
                </a:gdLst>
                <a:ahLst/>
                <a:cxnLst>
                  <a:cxn ang="0">
                    <a:pos x="T0" y="T1"/>
                  </a:cxn>
                  <a:cxn ang="0">
                    <a:pos x="T2" y="T3"/>
                  </a:cxn>
                  <a:cxn ang="0">
                    <a:pos x="T4" y="T5"/>
                  </a:cxn>
                  <a:cxn ang="0">
                    <a:pos x="T6" y="T7"/>
                  </a:cxn>
                  <a:cxn ang="0">
                    <a:pos x="T8" y="T9"/>
                  </a:cxn>
                  <a:cxn ang="0">
                    <a:pos x="T10" y="T11"/>
                  </a:cxn>
                  <a:cxn ang="0">
                    <a:pos x="T12" y="T13"/>
                  </a:cxn>
                </a:cxnLst>
                <a:rect l="0" t="0" r="r" b="b"/>
                <a:pathLst>
                  <a:path w="444" h="307">
                    <a:moveTo>
                      <a:pt x="6" y="307"/>
                    </a:moveTo>
                    <a:lnTo>
                      <a:pt x="0" y="275"/>
                    </a:lnTo>
                    <a:lnTo>
                      <a:pt x="6" y="250"/>
                    </a:lnTo>
                    <a:lnTo>
                      <a:pt x="25" y="230"/>
                    </a:lnTo>
                    <a:lnTo>
                      <a:pt x="390" y="0"/>
                    </a:lnTo>
                    <a:lnTo>
                      <a:pt x="422" y="0"/>
                    </a:lnTo>
                    <a:lnTo>
                      <a:pt x="444" y="3"/>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3" name="Freeform 123"/>
              <p:cNvSpPr/>
              <p:nvPr/>
            </p:nvSpPr>
            <p:spPr bwMode="auto">
              <a:xfrm rot="199305">
                <a:off x="4670" y="1716"/>
                <a:ext cx="656" cy="395"/>
              </a:xfrm>
              <a:custGeom>
                <a:avLst/>
                <a:gdLst>
                  <a:gd name="T0" fmla="*/ 0 w 486"/>
                  <a:gd name="T1" fmla="*/ 38 h 294"/>
                  <a:gd name="T2" fmla="*/ 19 w 486"/>
                  <a:gd name="T3" fmla="*/ 16 h 294"/>
                  <a:gd name="T4" fmla="*/ 41 w 486"/>
                  <a:gd name="T5" fmla="*/ 3 h 294"/>
                  <a:gd name="T6" fmla="*/ 67 w 486"/>
                  <a:gd name="T7" fmla="*/ 0 h 294"/>
                  <a:gd name="T8" fmla="*/ 89 w 486"/>
                  <a:gd name="T9" fmla="*/ 12 h 294"/>
                  <a:gd name="T10" fmla="*/ 454 w 486"/>
                  <a:gd name="T11" fmla="*/ 211 h 294"/>
                  <a:gd name="T12" fmla="*/ 480 w 486"/>
                  <a:gd name="T13" fmla="*/ 240 h 294"/>
                  <a:gd name="T14" fmla="*/ 486 w 486"/>
                  <a:gd name="T15" fmla="*/ 262 h 294"/>
                  <a:gd name="T16" fmla="*/ 483 w 486"/>
                  <a:gd name="T17" fmla="*/ 29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6" h="294">
                    <a:moveTo>
                      <a:pt x="0" y="38"/>
                    </a:moveTo>
                    <a:lnTo>
                      <a:pt x="19" y="16"/>
                    </a:lnTo>
                    <a:lnTo>
                      <a:pt x="41" y="3"/>
                    </a:lnTo>
                    <a:lnTo>
                      <a:pt x="67" y="0"/>
                    </a:lnTo>
                    <a:lnTo>
                      <a:pt x="89" y="12"/>
                    </a:lnTo>
                    <a:lnTo>
                      <a:pt x="454" y="211"/>
                    </a:lnTo>
                    <a:lnTo>
                      <a:pt x="480" y="240"/>
                    </a:lnTo>
                    <a:lnTo>
                      <a:pt x="486" y="262"/>
                    </a:lnTo>
                    <a:lnTo>
                      <a:pt x="483" y="294"/>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4" name="Freeform 124"/>
              <p:cNvSpPr/>
              <p:nvPr/>
            </p:nvSpPr>
            <p:spPr bwMode="auto">
              <a:xfrm>
                <a:off x="4801" y="1480"/>
                <a:ext cx="630" cy="434"/>
              </a:xfrm>
              <a:custGeom>
                <a:avLst/>
                <a:gdLst>
                  <a:gd name="T0" fmla="*/ 3 w 467"/>
                  <a:gd name="T1" fmla="*/ 0 h 323"/>
                  <a:gd name="T2" fmla="*/ 0 w 467"/>
                  <a:gd name="T3" fmla="*/ 42 h 323"/>
                  <a:gd name="T4" fmla="*/ 0 w 467"/>
                  <a:gd name="T5" fmla="*/ 74 h 323"/>
                  <a:gd name="T6" fmla="*/ 22 w 467"/>
                  <a:gd name="T7" fmla="*/ 99 h 323"/>
                  <a:gd name="T8" fmla="*/ 400 w 467"/>
                  <a:gd name="T9" fmla="*/ 320 h 323"/>
                  <a:gd name="T10" fmla="*/ 425 w 467"/>
                  <a:gd name="T11" fmla="*/ 323 h 323"/>
                  <a:gd name="T12" fmla="*/ 451 w 467"/>
                  <a:gd name="T13" fmla="*/ 320 h 323"/>
                  <a:gd name="T14" fmla="*/ 467 w 467"/>
                  <a:gd name="T15" fmla="*/ 304 h 3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7" h="323">
                    <a:moveTo>
                      <a:pt x="3" y="0"/>
                    </a:moveTo>
                    <a:lnTo>
                      <a:pt x="0" y="42"/>
                    </a:lnTo>
                    <a:lnTo>
                      <a:pt x="0" y="74"/>
                    </a:lnTo>
                    <a:lnTo>
                      <a:pt x="22" y="99"/>
                    </a:lnTo>
                    <a:lnTo>
                      <a:pt x="400" y="320"/>
                    </a:lnTo>
                    <a:lnTo>
                      <a:pt x="425" y="323"/>
                    </a:lnTo>
                    <a:lnTo>
                      <a:pt x="451" y="320"/>
                    </a:lnTo>
                    <a:lnTo>
                      <a:pt x="467" y="304"/>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5" name="Freeform 125"/>
              <p:cNvSpPr/>
              <p:nvPr/>
            </p:nvSpPr>
            <p:spPr bwMode="auto">
              <a:xfrm>
                <a:off x="4499" y="355"/>
                <a:ext cx="48" cy="729"/>
              </a:xfrm>
              <a:custGeom>
                <a:avLst/>
                <a:gdLst>
                  <a:gd name="T0" fmla="*/ 41 w 41"/>
                  <a:gd name="T1" fmla="*/ 553 h 553"/>
                  <a:gd name="T2" fmla="*/ 13 w 41"/>
                  <a:gd name="T3" fmla="*/ 541 h 553"/>
                  <a:gd name="T4" fmla="*/ 0 w 41"/>
                  <a:gd name="T5" fmla="*/ 525 h 553"/>
                  <a:gd name="T6" fmla="*/ 0 w 41"/>
                  <a:gd name="T7" fmla="*/ 51 h 553"/>
                  <a:gd name="T8" fmla="*/ 9 w 41"/>
                  <a:gd name="T9" fmla="*/ 25 h 553"/>
                  <a:gd name="T10" fmla="*/ 22 w 41"/>
                  <a:gd name="T11" fmla="*/ 9 h 553"/>
                  <a:gd name="T12" fmla="*/ 41 w 41"/>
                  <a:gd name="T13" fmla="*/ 0 h 553"/>
                </a:gdLst>
                <a:ahLst/>
                <a:cxnLst>
                  <a:cxn ang="0">
                    <a:pos x="T0" y="T1"/>
                  </a:cxn>
                  <a:cxn ang="0">
                    <a:pos x="T2" y="T3"/>
                  </a:cxn>
                  <a:cxn ang="0">
                    <a:pos x="T4" y="T5"/>
                  </a:cxn>
                  <a:cxn ang="0">
                    <a:pos x="T6" y="T7"/>
                  </a:cxn>
                  <a:cxn ang="0">
                    <a:pos x="T8" y="T9"/>
                  </a:cxn>
                  <a:cxn ang="0">
                    <a:pos x="T10" y="T11"/>
                  </a:cxn>
                  <a:cxn ang="0">
                    <a:pos x="T12" y="T13"/>
                  </a:cxn>
                </a:cxnLst>
                <a:rect l="0" t="0" r="r" b="b"/>
                <a:pathLst>
                  <a:path w="41" h="553">
                    <a:moveTo>
                      <a:pt x="41" y="553"/>
                    </a:moveTo>
                    <a:lnTo>
                      <a:pt x="13" y="541"/>
                    </a:lnTo>
                    <a:lnTo>
                      <a:pt x="0" y="525"/>
                    </a:lnTo>
                    <a:lnTo>
                      <a:pt x="0" y="51"/>
                    </a:lnTo>
                    <a:lnTo>
                      <a:pt x="9" y="25"/>
                    </a:lnTo>
                    <a:lnTo>
                      <a:pt x="22" y="9"/>
                    </a:lnTo>
                    <a:lnTo>
                      <a:pt x="41"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6" name="Freeform 126"/>
              <p:cNvSpPr/>
              <p:nvPr/>
            </p:nvSpPr>
            <p:spPr bwMode="auto">
              <a:xfrm flipH="1">
                <a:off x="4351" y="354"/>
                <a:ext cx="48" cy="729"/>
              </a:xfrm>
              <a:custGeom>
                <a:avLst/>
                <a:gdLst>
                  <a:gd name="T0" fmla="*/ 41 w 41"/>
                  <a:gd name="T1" fmla="*/ 553 h 553"/>
                  <a:gd name="T2" fmla="*/ 13 w 41"/>
                  <a:gd name="T3" fmla="*/ 541 h 553"/>
                  <a:gd name="T4" fmla="*/ 0 w 41"/>
                  <a:gd name="T5" fmla="*/ 525 h 553"/>
                  <a:gd name="T6" fmla="*/ 0 w 41"/>
                  <a:gd name="T7" fmla="*/ 51 h 553"/>
                  <a:gd name="T8" fmla="*/ 9 w 41"/>
                  <a:gd name="T9" fmla="*/ 25 h 553"/>
                  <a:gd name="T10" fmla="*/ 22 w 41"/>
                  <a:gd name="T11" fmla="*/ 9 h 553"/>
                  <a:gd name="T12" fmla="*/ 41 w 41"/>
                  <a:gd name="T13" fmla="*/ 0 h 553"/>
                </a:gdLst>
                <a:ahLst/>
                <a:cxnLst>
                  <a:cxn ang="0">
                    <a:pos x="T0" y="T1"/>
                  </a:cxn>
                  <a:cxn ang="0">
                    <a:pos x="T2" y="T3"/>
                  </a:cxn>
                  <a:cxn ang="0">
                    <a:pos x="T4" y="T5"/>
                  </a:cxn>
                  <a:cxn ang="0">
                    <a:pos x="T6" y="T7"/>
                  </a:cxn>
                  <a:cxn ang="0">
                    <a:pos x="T8" y="T9"/>
                  </a:cxn>
                  <a:cxn ang="0">
                    <a:pos x="T10" y="T11"/>
                  </a:cxn>
                  <a:cxn ang="0">
                    <a:pos x="T12" y="T13"/>
                  </a:cxn>
                </a:cxnLst>
                <a:rect l="0" t="0" r="r" b="b"/>
                <a:pathLst>
                  <a:path w="41" h="553">
                    <a:moveTo>
                      <a:pt x="41" y="553"/>
                    </a:moveTo>
                    <a:lnTo>
                      <a:pt x="13" y="541"/>
                    </a:lnTo>
                    <a:lnTo>
                      <a:pt x="0" y="525"/>
                    </a:lnTo>
                    <a:lnTo>
                      <a:pt x="0" y="51"/>
                    </a:lnTo>
                    <a:lnTo>
                      <a:pt x="9" y="25"/>
                    </a:lnTo>
                    <a:lnTo>
                      <a:pt x="22" y="9"/>
                    </a:lnTo>
                    <a:lnTo>
                      <a:pt x="41"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7" name="Freeform 127"/>
              <p:cNvSpPr/>
              <p:nvPr/>
            </p:nvSpPr>
            <p:spPr bwMode="auto">
              <a:xfrm flipV="1">
                <a:off x="4502" y="1838"/>
                <a:ext cx="48" cy="724"/>
              </a:xfrm>
              <a:custGeom>
                <a:avLst/>
                <a:gdLst>
                  <a:gd name="T0" fmla="*/ 41 w 41"/>
                  <a:gd name="T1" fmla="*/ 553 h 553"/>
                  <a:gd name="T2" fmla="*/ 13 w 41"/>
                  <a:gd name="T3" fmla="*/ 541 h 553"/>
                  <a:gd name="T4" fmla="*/ 0 w 41"/>
                  <a:gd name="T5" fmla="*/ 525 h 553"/>
                  <a:gd name="T6" fmla="*/ 0 w 41"/>
                  <a:gd name="T7" fmla="*/ 51 h 553"/>
                  <a:gd name="T8" fmla="*/ 9 w 41"/>
                  <a:gd name="T9" fmla="*/ 25 h 553"/>
                  <a:gd name="T10" fmla="*/ 22 w 41"/>
                  <a:gd name="T11" fmla="*/ 9 h 553"/>
                  <a:gd name="T12" fmla="*/ 41 w 41"/>
                  <a:gd name="T13" fmla="*/ 0 h 553"/>
                </a:gdLst>
                <a:ahLst/>
                <a:cxnLst>
                  <a:cxn ang="0">
                    <a:pos x="T0" y="T1"/>
                  </a:cxn>
                  <a:cxn ang="0">
                    <a:pos x="T2" y="T3"/>
                  </a:cxn>
                  <a:cxn ang="0">
                    <a:pos x="T4" y="T5"/>
                  </a:cxn>
                  <a:cxn ang="0">
                    <a:pos x="T6" y="T7"/>
                  </a:cxn>
                  <a:cxn ang="0">
                    <a:pos x="T8" y="T9"/>
                  </a:cxn>
                  <a:cxn ang="0">
                    <a:pos x="T10" y="T11"/>
                  </a:cxn>
                  <a:cxn ang="0">
                    <a:pos x="T12" y="T13"/>
                  </a:cxn>
                </a:cxnLst>
                <a:rect l="0" t="0" r="r" b="b"/>
                <a:pathLst>
                  <a:path w="41" h="553">
                    <a:moveTo>
                      <a:pt x="41" y="553"/>
                    </a:moveTo>
                    <a:lnTo>
                      <a:pt x="13" y="541"/>
                    </a:lnTo>
                    <a:lnTo>
                      <a:pt x="0" y="525"/>
                    </a:lnTo>
                    <a:lnTo>
                      <a:pt x="0" y="51"/>
                    </a:lnTo>
                    <a:lnTo>
                      <a:pt x="9" y="25"/>
                    </a:lnTo>
                    <a:lnTo>
                      <a:pt x="22" y="9"/>
                    </a:lnTo>
                    <a:lnTo>
                      <a:pt x="41"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8" name="Freeform 128"/>
              <p:cNvSpPr/>
              <p:nvPr/>
            </p:nvSpPr>
            <p:spPr bwMode="auto">
              <a:xfrm flipH="1" flipV="1">
                <a:off x="4340" y="1834"/>
                <a:ext cx="48" cy="724"/>
              </a:xfrm>
              <a:custGeom>
                <a:avLst/>
                <a:gdLst>
                  <a:gd name="T0" fmla="*/ 41 w 41"/>
                  <a:gd name="T1" fmla="*/ 553 h 553"/>
                  <a:gd name="T2" fmla="*/ 13 w 41"/>
                  <a:gd name="T3" fmla="*/ 541 h 553"/>
                  <a:gd name="T4" fmla="*/ 0 w 41"/>
                  <a:gd name="T5" fmla="*/ 525 h 553"/>
                  <a:gd name="T6" fmla="*/ 0 w 41"/>
                  <a:gd name="T7" fmla="*/ 51 h 553"/>
                  <a:gd name="T8" fmla="*/ 9 w 41"/>
                  <a:gd name="T9" fmla="*/ 25 h 553"/>
                  <a:gd name="T10" fmla="*/ 22 w 41"/>
                  <a:gd name="T11" fmla="*/ 9 h 553"/>
                  <a:gd name="T12" fmla="*/ 41 w 41"/>
                  <a:gd name="T13" fmla="*/ 0 h 553"/>
                </a:gdLst>
                <a:ahLst/>
                <a:cxnLst>
                  <a:cxn ang="0">
                    <a:pos x="T0" y="T1"/>
                  </a:cxn>
                  <a:cxn ang="0">
                    <a:pos x="T2" y="T3"/>
                  </a:cxn>
                  <a:cxn ang="0">
                    <a:pos x="T4" y="T5"/>
                  </a:cxn>
                  <a:cxn ang="0">
                    <a:pos x="T6" y="T7"/>
                  </a:cxn>
                  <a:cxn ang="0">
                    <a:pos x="T8" y="T9"/>
                  </a:cxn>
                  <a:cxn ang="0">
                    <a:pos x="T10" y="T11"/>
                  </a:cxn>
                  <a:cxn ang="0">
                    <a:pos x="T12" y="T13"/>
                  </a:cxn>
                </a:cxnLst>
                <a:rect l="0" t="0" r="r" b="b"/>
                <a:pathLst>
                  <a:path w="41" h="553">
                    <a:moveTo>
                      <a:pt x="41" y="553"/>
                    </a:moveTo>
                    <a:lnTo>
                      <a:pt x="13" y="541"/>
                    </a:lnTo>
                    <a:lnTo>
                      <a:pt x="0" y="525"/>
                    </a:lnTo>
                    <a:lnTo>
                      <a:pt x="0" y="51"/>
                    </a:lnTo>
                    <a:lnTo>
                      <a:pt x="9" y="25"/>
                    </a:lnTo>
                    <a:lnTo>
                      <a:pt x="22" y="9"/>
                    </a:lnTo>
                    <a:lnTo>
                      <a:pt x="41"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09" name="Freeform 129"/>
              <p:cNvSpPr/>
              <p:nvPr/>
            </p:nvSpPr>
            <p:spPr bwMode="auto">
              <a:xfrm flipH="1">
                <a:off x="3600" y="810"/>
                <a:ext cx="637" cy="392"/>
              </a:xfrm>
              <a:custGeom>
                <a:avLst/>
                <a:gdLst>
                  <a:gd name="T0" fmla="*/ 0 w 477"/>
                  <a:gd name="T1" fmla="*/ 253 h 294"/>
                  <a:gd name="T2" fmla="*/ 23 w 477"/>
                  <a:gd name="T3" fmla="*/ 272 h 294"/>
                  <a:gd name="T4" fmla="*/ 39 w 477"/>
                  <a:gd name="T5" fmla="*/ 288 h 294"/>
                  <a:gd name="T6" fmla="*/ 61 w 477"/>
                  <a:gd name="T7" fmla="*/ 294 h 294"/>
                  <a:gd name="T8" fmla="*/ 93 w 477"/>
                  <a:gd name="T9" fmla="*/ 285 h 294"/>
                  <a:gd name="T10" fmla="*/ 461 w 477"/>
                  <a:gd name="T11" fmla="*/ 57 h 294"/>
                  <a:gd name="T12" fmla="*/ 477 w 477"/>
                  <a:gd name="T13" fmla="*/ 35 h 294"/>
                  <a:gd name="T14" fmla="*/ 477 w 477"/>
                  <a:gd name="T15" fmla="*/ 0 h 2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7" h="294">
                    <a:moveTo>
                      <a:pt x="0" y="253"/>
                    </a:moveTo>
                    <a:lnTo>
                      <a:pt x="23" y="272"/>
                    </a:lnTo>
                    <a:lnTo>
                      <a:pt x="39" y="288"/>
                    </a:lnTo>
                    <a:lnTo>
                      <a:pt x="61" y="294"/>
                    </a:lnTo>
                    <a:lnTo>
                      <a:pt x="93" y="285"/>
                    </a:lnTo>
                    <a:lnTo>
                      <a:pt x="461" y="57"/>
                    </a:lnTo>
                    <a:lnTo>
                      <a:pt x="477" y="35"/>
                    </a:lnTo>
                    <a:lnTo>
                      <a:pt x="477" y="0"/>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0" name="Freeform 130"/>
              <p:cNvSpPr/>
              <p:nvPr/>
            </p:nvSpPr>
            <p:spPr bwMode="auto">
              <a:xfrm rot="21491150" flipH="1">
                <a:off x="3494" y="980"/>
                <a:ext cx="593" cy="409"/>
              </a:xfrm>
              <a:custGeom>
                <a:avLst/>
                <a:gdLst>
                  <a:gd name="T0" fmla="*/ 6 w 444"/>
                  <a:gd name="T1" fmla="*/ 307 h 307"/>
                  <a:gd name="T2" fmla="*/ 0 w 444"/>
                  <a:gd name="T3" fmla="*/ 275 h 307"/>
                  <a:gd name="T4" fmla="*/ 6 w 444"/>
                  <a:gd name="T5" fmla="*/ 250 h 307"/>
                  <a:gd name="T6" fmla="*/ 25 w 444"/>
                  <a:gd name="T7" fmla="*/ 230 h 307"/>
                  <a:gd name="T8" fmla="*/ 390 w 444"/>
                  <a:gd name="T9" fmla="*/ 0 h 307"/>
                  <a:gd name="T10" fmla="*/ 422 w 444"/>
                  <a:gd name="T11" fmla="*/ 0 h 307"/>
                  <a:gd name="T12" fmla="*/ 444 w 444"/>
                  <a:gd name="T13" fmla="*/ 3 h 307"/>
                </a:gdLst>
                <a:ahLst/>
                <a:cxnLst>
                  <a:cxn ang="0">
                    <a:pos x="T0" y="T1"/>
                  </a:cxn>
                  <a:cxn ang="0">
                    <a:pos x="T2" y="T3"/>
                  </a:cxn>
                  <a:cxn ang="0">
                    <a:pos x="T4" y="T5"/>
                  </a:cxn>
                  <a:cxn ang="0">
                    <a:pos x="T6" y="T7"/>
                  </a:cxn>
                  <a:cxn ang="0">
                    <a:pos x="T8" y="T9"/>
                  </a:cxn>
                  <a:cxn ang="0">
                    <a:pos x="T10" y="T11"/>
                  </a:cxn>
                  <a:cxn ang="0">
                    <a:pos x="T12" y="T13"/>
                  </a:cxn>
                </a:cxnLst>
                <a:rect l="0" t="0" r="r" b="b"/>
                <a:pathLst>
                  <a:path w="444" h="307">
                    <a:moveTo>
                      <a:pt x="6" y="307"/>
                    </a:moveTo>
                    <a:lnTo>
                      <a:pt x="0" y="275"/>
                    </a:lnTo>
                    <a:lnTo>
                      <a:pt x="6" y="250"/>
                    </a:lnTo>
                    <a:lnTo>
                      <a:pt x="25" y="230"/>
                    </a:lnTo>
                    <a:lnTo>
                      <a:pt x="390" y="0"/>
                    </a:lnTo>
                    <a:lnTo>
                      <a:pt x="422" y="0"/>
                    </a:lnTo>
                    <a:lnTo>
                      <a:pt x="444" y="3"/>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1" name="Freeform 131"/>
              <p:cNvSpPr/>
              <p:nvPr/>
            </p:nvSpPr>
            <p:spPr bwMode="auto">
              <a:xfrm rot="21439929" flipH="1">
                <a:off x="3578" y="1707"/>
                <a:ext cx="636" cy="388"/>
              </a:xfrm>
              <a:custGeom>
                <a:avLst/>
                <a:gdLst>
                  <a:gd name="T0" fmla="*/ 0 w 486"/>
                  <a:gd name="T1" fmla="*/ 38 h 294"/>
                  <a:gd name="T2" fmla="*/ 19 w 486"/>
                  <a:gd name="T3" fmla="*/ 16 h 294"/>
                  <a:gd name="T4" fmla="*/ 41 w 486"/>
                  <a:gd name="T5" fmla="*/ 3 h 294"/>
                  <a:gd name="T6" fmla="*/ 67 w 486"/>
                  <a:gd name="T7" fmla="*/ 0 h 294"/>
                  <a:gd name="T8" fmla="*/ 89 w 486"/>
                  <a:gd name="T9" fmla="*/ 12 h 294"/>
                  <a:gd name="T10" fmla="*/ 454 w 486"/>
                  <a:gd name="T11" fmla="*/ 211 h 294"/>
                  <a:gd name="T12" fmla="*/ 480 w 486"/>
                  <a:gd name="T13" fmla="*/ 240 h 294"/>
                  <a:gd name="T14" fmla="*/ 486 w 486"/>
                  <a:gd name="T15" fmla="*/ 262 h 294"/>
                  <a:gd name="T16" fmla="*/ 483 w 486"/>
                  <a:gd name="T17" fmla="*/ 29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6" h="294">
                    <a:moveTo>
                      <a:pt x="0" y="38"/>
                    </a:moveTo>
                    <a:lnTo>
                      <a:pt x="19" y="16"/>
                    </a:lnTo>
                    <a:lnTo>
                      <a:pt x="41" y="3"/>
                    </a:lnTo>
                    <a:lnTo>
                      <a:pt x="67" y="0"/>
                    </a:lnTo>
                    <a:lnTo>
                      <a:pt x="89" y="12"/>
                    </a:lnTo>
                    <a:lnTo>
                      <a:pt x="454" y="211"/>
                    </a:lnTo>
                    <a:lnTo>
                      <a:pt x="480" y="240"/>
                    </a:lnTo>
                    <a:lnTo>
                      <a:pt x="486" y="262"/>
                    </a:lnTo>
                    <a:lnTo>
                      <a:pt x="483" y="294"/>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2" name="Freeform 132"/>
              <p:cNvSpPr/>
              <p:nvPr/>
            </p:nvSpPr>
            <p:spPr bwMode="auto">
              <a:xfrm rot="21593543" flipH="1">
                <a:off x="3475" y="1472"/>
                <a:ext cx="611" cy="426"/>
              </a:xfrm>
              <a:custGeom>
                <a:avLst/>
                <a:gdLst>
                  <a:gd name="T0" fmla="*/ 3 w 467"/>
                  <a:gd name="T1" fmla="*/ 0 h 323"/>
                  <a:gd name="T2" fmla="*/ 0 w 467"/>
                  <a:gd name="T3" fmla="*/ 42 h 323"/>
                  <a:gd name="T4" fmla="*/ 0 w 467"/>
                  <a:gd name="T5" fmla="*/ 74 h 323"/>
                  <a:gd name="T6" fmla="*/ 22 w 467"/>
                  <a:gd name="T7" fmla="*/ 99 h 323"/>
                  <a:gd name="T8" fmla="*/ 400 w 467"/>
                  <a:gd name="T9" fmla="*/ 320 h 323"/>
                  <a:gd name="T10" fmla="*/ 425 w 467"/>
                  <a:gd name="T11" fmla="*/ 323 h 323"/>
                  <a:gd name="T12" fmla="*/ 451 w 467"/>
                  <a:gd name="T13" fmla="*/ 320 h 323"/>
                  <a:gd name="T14" fmla="*/ 467 w 467"/>
                  <a:gd name="T15" fmla="*/ 304 h 3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7" h="323">
                    <a:moveTo>
                      <a:pt x="3" y="0"/>
                    </a:moveTo>
                    <a:lnTo>
                      <a:pt x="0" y="42"/>
                    </a:lnTo>
                    <a:lnTo>
                      <a:pt x="0" y="74"/>
                    </a:lnTo>
                    <a:lnTo>
                      <a:pt x="22" y="99"/>
                    </a:lnTo>
                    <a:lnTo>
                      <a:pt x="400" y="320"/>
                    </a:lnTo>
                    <a:lnTo>
                      <a:pt x="425" y="323"/>
                    </a:lnTo>
                    <a:lnTo>
                      <a:pt x="451" y="320"/>
                    </a:lnTo>
                    <a:lnTo>
                      <a:pt x="467" y="304"/>
                    </a:ln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3" name="Freeform 133"/>
              <p:cNvSpPr/>
              <p:nvPr/>
            </p:nvSpPr>
            <p:spPr bwMode="auto">
              <a:xfrm>
                <a:off x="4592" y="519"/>
                <a:ext cx="509" cy="540"/>
              </a:xfrm>
              <a:custGeom>
                <a:avLst/>
                <a:gdLst>
                  <a:gd name="T0" fmla="*/ 0 w 509"/>
                  <a:gd name="T1" fmla="*/ 87 h 540"/>
                  <a:gd name="T2" fmla="*/ 17 w 509"/>
                  <a:gd name="T3" fmla="*/ 456 h 540"/>
                  <a:gd name="T4" fmla="*/ 29 w 509"/>
                  <a:gd name="T5" fmla="*/ 492 h 540"/>
                  <a:gd name="T6" fmla="*/ 48 w 509"/>
                  <a:gd name="T7" fmla="*/ 511 h 540"/>
                  <a:gd name="T8" fmla="*/ 65 w 509"/>
                  <a:gd name="T9" fmla="*/ 526 h 540"/>
                  <a:gd name="T10" fmla="*/ 101 w 509"/>
                  <a:gd name="T11" fmla="*/ 540 h 540"/>
                  <a:gd name="T12" fmla="*/ 139 w 509"/>
                  <a:gd name="T13" fmla="*/ 540 h 540"/>
                  <a:gd name="T14" fmla="*/ 180 w 509"/>
                  <a:gd name="T15" fmla="*/ 528 h 540"/>
                  <a:gd name="T16" fmla="*/ 468 w 509"/>
                  <a:gd name="T17" fmla="*/ 367 h 540"/>
                  <a:gd name="T18" fmla="*/ 487 w 509"/>
                  <a:gd name="T19" fmla="*/ 346 h 540"/>
                  <a:gd name="T20" fmla="*/ 501 w 509"/>
                  <a:gd name="T21" fmla="*/ 319 h 540"/>
                  <a:gd name="T22" fmla="*/ 509 w 509"/>
                  <a:gd name="T23" fmla="*/ 286 h 540"/>
                  <a:gd name="T24" fmla="*/ 509 w 509"/>
                  <a:gd name="T25" fmla="*/ 252 h 540"/>
                  <a:gd name="T26" fmla="*/ 501 w 509"/>
                  <a:gd name="T27" fmla="*/ 228 h 540"/>
                  <a:gd name="T28" fmla="*/ 482 w 509"/>
                  <a:gd name="T29" fmla="*/ 195 h 540"/>
                  <a:gd name="T30" fmla="*/ 420 w 509"/>
                  <a:gd name="T31" fmla="*/ 144 h 540"/>
                  <a:gd name="T32" fmla="*/ 355 w 509"/>
                  <a:gd name="T33" fmla="*/ 101 h 540"/>
                  <a:gd name="T34" fmla="*/ 285 w 509"/>
                  <a:gd name="T35" fmla="*/ 63 h 540"/>
                  <a:gd name="T36" fmla="*/ 213 w 509"/>
                  <a:gd name="T37" fmla="*/ 29 h 540"/>
                  <a:gd name="T38" fmla="*/ 153 w 509"/>
                  <a:gd name="T39" fmla="*/ 5 h 540"/>
                  <a:gd name="T40" fmla="*/ 113 w 509"/>
                  <a:gd name="T41" fmla="*/ 0 h 540"/>
                  <a:gd name="T42" fmla="*/ 79 w 509"/>
                  <a:gd name="T43" fmla="*/ 5 h 540"/>
                  <a:gd name="T44" fmla="*/ 41 w 509"/>
                  <a:gd name="T45" fmla="*/ 17 h 540"/>
                  <a:gd name="T46" fmla="*/ 19 w 509"/>
                  <a:gd name="T47" fmla="*/ 41 h 540"/>
                  <a:gd name="T48" fmla="*/ 7 w 509"/>
                  <a:gd name="T49" fmla="*/ 60 h 540"/>
                  <a:gd name="T50" fmla="*/ 0 w 509"/>
                  <a:gd name="T51" fmla="*/ 87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9" h="540">
                    <a:moveTo>
                      <a:pt x="0" y="87"/>
                    </a:moveTo>
                    <a:lnTo>
                      <a:pt x="17" y="456"/>
                    </a:lnTo>
                    <a:lnTo>
                      <a:pt x="29" y="492"/>
                    </a:lnTo>
                    <a:lnTo>
                      <a:pt x="48" y="511"/>
                    </a:lnTo>
                    <a:lnTo>
                      <a:pt x="65" y="526"/>
                    </a:lnTo>
                    <a:lnTo>
                      <a:pt x="101" y="540"/>
                    </a:lnTo>
                    <a:lnTo>
                      <a:pt x="139" y="540"/>
                    </a:lnTo>
                    <a:lnTo>
                      <a:pt x="180" y="528"/>
                    </a:lnTo>
                    <a:lnTo>
                      <a:pt x="468" y="367"/>
                    </a:lnTo>
                    <a:lnTo>
                      <a:pt x="487" y="346"/>
                    </a:lnTo>
                    <a:lnTo>
                      <a:pt x="501" y="319"/>
                    </a:lnTo>
                    <a:lnTo>
                      <a:pt x="509" y="286"/>
                    </a:lnTo>
                    <a:lnTo>
                      <a:pt x="509" y="252"/>
                    </a:lnTo>
                    <a:lnTo>
                      <a:pt x="501" y="228"/>
                    </a:lnTo>
                    <a:lnTo>
                      <a:pt x="482" y="195"/>
                    </a:lnTo>
                    <a:lnTo>
                      <a:pt x="420" y="144"/>
                    </a:lnTo>
                    <a:lnTo>
                      <a:pt x="355" y="101"/>
                    </a:lnTo>
                    <a:lnTo>
                      <a:pt x="285" y="63"/>
                    </a:lnTo>
                    <a:lnTo>
                      <a:pt x="213" y="29"/>
                    </a:lnTo>
                    <a:lnTo>
                      <a:pt x="153" y="5"/>
                    </a:lnTo>
                    <a:lnTo>
                      <a:pt x="113" y="0"/>
                    </a:lnTo>
                    <a:lnTo>
                      <a:pt x="79" y="5"/>
                    </a:lnTo>
                    <a:lnTo>
                      <a:pt x="41" y="17"/>
                    </a:lnTo>
                    <a:lnTo>
                      <a:pt x="19" y="41"/>
                    </a:lnTo>
                    <a:lnTo>
                      <a:pt x="7" y="60"/>
                    </a:lnTo>
                    <a:lnTo>
                      <a:pt x="0" y="87"/>
                    </a:lnTo>
                    <a:close/>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4" name="Freeform 134"/>
              <p:cNvSpPr/>
              <p:nvPr/>
            </p:nvSpPr>
            <p:spPr bwMode="auto">
              <a:xfrm rot="3523900">
                <a:off x="4959" y="1210"/>
                <a:ext cx="509" cy="540"/>
              </a:xfrm>
              <a:custGeom>
                <a:avLst/>
                <a:gdLst>
                  <a:gd name="T0" fmla="*/ 0 w 509"/>
                  <a:gd name="T1" fmla="*/ 87 h 540"/>
                  <a:gd name="T2" fmla="*/ 17 w 509"/>
                  <a:gd name="T3" fmla="*/ 456 h 540"/>
                  <a:gd name="T4" fmla="*/ 29 w 509"/>
                  <a:gd name="T5" fmla="*/ 492 h 540"/>
                  <a:gd name="T6" fmla="*/ 48 w 509"/>
                  <a:gd name="T7" fmla="*/ 511 h 540"/>
                  <a:gd name="T8" fmla="*/ 65 w 509"/>
                  <a:gd name="T9" fmla="*/ 526 h 540"/>
                  <a:gd name="T10" fmla="*/ 101 w 509"/>
                  <a:gd name="T11" fmla="*/ 540 h 540"/>
                  <a:gd name="T12" fmla="*/ 139 w 509"/>
                  <a:gd name="T13" fmla="*/ 540 h 540"/>
                  <a:gd name="T14" fmla="*/ 180 w 509"/>
                  <a:gd name="T15" fmla="*/ 528 h 540"/>
                  <a:gd name="T16" fmla="*/ 468 w 509"/>
                  <a:gd name="T17" fmla="*/ 367 h 540"/>
                  <a:gd name="T18" fmla="*/ 487 w 509"/>
                  <a:gd name="T19" fmla="*/ 346 h 540"/>
                  <a:gd name="T20" fmla="*/ 501 w 509"/>
                  <a:gd name="T21" fmla="*/ 319 h 540"/>
                  <a:gd name="T22" fmla="*/ 509 w 509"/>
                  <a:gd name="T23" fmla="*/ 286 h 540"/>
                  <a:gd name="T24" fmla="*/ 509 w 509"/>
                  <a:gd name="T25" fmla="*/ 252 h 540"/>
                  <a:gd name="T26" fmla="*/ 501 w 509"/>
                  <a:gd name="T27" fmla="*/ 228 h 540"/>
                  <a:gd name="T28" fmla="*/ 482 w 509"/>
                  <a:gd name="T29" fmla="*/ 195 h 540"/>
                  <a:gd name="T30" fmla="*/ 420 w 509"/>
                  <a:gd name="T31" fmla="*/ 144 h 540"/>
                  <a:gd name="T32" fmla="*/ 355 w 509"/>
                  <a:gd name="T33" fmla="*/ 101 h 540"/>
                  <a:gd name="T34" fmla="*/ 285 w 509"/>
                  <a:gd name="T35" fmla="*/ 63 h 540"/>
                  <a:gd name="T36" fmla="*/ 213 w 509"/>
                  <a:gd name="T37" fmla="*/ 29 h 540"/>
                  <a:gd name="T38" fmla="*/ 153 w 509"/>
                  <a:gd name="T39" fmla="*/ 5 h 540"/>
                  <a:gd name="T40" fmla="*/ 113 w 509"/>
                  <a:gd name="T41" fmla="*/ 0 h 540"/>
                  <a:gd name="T42" fmla="*/ 79 w 509"/>
                  <a:gd name="T43" fmla="*/ 5 h 540"/>
                  <a:gd name="T44" fmla="*/ 41 w 509"/>
                  <a:gd name="T45" fmla="*/ 17 h 540"/>
                  <a:gd name="T46" fmla="*/ 19 w 509"/>
                  <a:gd name="T47" fmla="*/ 41 h 540"/>
                  <a:gd name="T48" fmla="*/ 7 w 509"/>
                  <a:gd name="T49" fmla="*/ 60 h 540"/>
                  <a:gd name="T50" fmla="*/ 0 w 509"/>
                  <a:gd name="T51" fmla="*/ 87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9" h="540">
                    <a:moveTo>
                      <a:pt x="0" y="87"/>
                    </a:moveTo>
                    <a:lnTo>
                      <a:pt x="17" y="456"/>
                    </a:lnTo>
                    <a:lnTo>
                      <a:pt x="29" y="492"/>
                    </a:lnTo>
                    <a:lnTo>
                      <a:pt x="48" y="511"/>
                    </a:lnTo>
                    <a:lnTo>
                      <a:pt x="65" y="526"/>
                    </a:lnTo>
                    <a:lnTo>
                      <a:pt x="101" y="540"/>
                    </a:lnTo>
                    <a:lnTo>
                      <a:pt x="139" y="540"/>
                    </a:lnTo>
                    <a:lnTo>
                      <a:pt x="180" y="528"/>
                    </a:lnTo>
                    <a:lnTo>
                      <a:pt x="468" y="367"/>
                    </a:lnTo>
                    <a:lnTo>
                      <a:pt x="487" y="346"/>
                    </a:lnTo>
                    <a:lnTo>
                      <a:pt x="501" y="319"/>
                    </a:lnTo>
                    <a:lnTo>
                      <a:pt x="509" y="286"/>
                    </a:lnTo>
                    <a:lnTo>
                      <a:pt x="509" y="252"/>
                    </a:lnTo>
                    <a:lnTo>
                      <a:pt x="501" y="228"/>
                    </a:lnTo>
                    <a:lnTo>
                      <a:pt x="482" y="195"/>
                    </a:lnTo>
                    <a:lnTo>
                      <a:pt x="420" y="144"/>
                    </a:lnTo>
                    <a:lnTo>
                      <a:pt x="355" y="101"/>
                    </a:lnTo>
                    <a:lnTo>
                      <a:pt x="285" y="63"/>
                    </a:lnTo>
                    <a:lnTo>
                      <a:pt x="213" y="29"/>
                    </a:lnTo>
                    <a:lnTo>
                      <a:pt x="153" y="5"/>
                    </a:lnTo>
                    <a:lnTo>
                      <a:pt x="113" y="0"/>
                    </a:lnTo>
                    <a:lnTo>
                      <a:pt x="79" y="5"/>
                    </a:lnTo>
                    <a:lnTo>
                      <a:pt x="41" y="17"/>
                    </a:lnTo>
                    <a:lnTo>
                      <a:pt x="19" y="41"/>
                    </a:lnTo>
                    <a:lnTo>
                      <a:pt x="7" y="60"/>
                    </a:lnTo>
                    <a:lnTo>
                      <a:pt x="0" y="87"/>
                    </a:lnTo>
                    <a:close/>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5" name="Freeform 135"/>
              <p:cNvSpPr/>
              <p:nvPr/>
            </p:nvSpPr>
            <p:spPr bwMode="auto">
              <a:xfrm rot="7227858">
                <a:off x="4559" y="1909"/>
                <a:ext cx="509" cy="540"/>
              </a:xfrm>
              <a:custGeom>
                <a:avLst/>
                <a:gdLst>
                  <a:gd name="T0" fmla="*/ 0 w 509"/>
                  <a:gd name="T1" fmla="*/ 87 h 540"/>
                  <a:gd name="T2" fmla="*/ 17 w 509"/>
                  <a:gd name="T3" fmla="*/ 456 h 540"/>
                  <a:gd name="T4" fmla="*/ 29 w 509"/>
                  <a:gd name="T5" fmla="*/ 492 h 540"/>
                  <a:gd name="T6" fmla="*/ 48 w 509"/>
                  <a:gd name="T7" fmla="*/ 511 h 540"/>
                  <a:gd name="T8" fmla="*/ 65 w 509"/>
                  <a:gd name="T9" fmla="*/ 526 h 540"/>
                  <a:gd name="T10" fmla="*/ 101 w 509"/>
                  <a:gd name="T11" fmla="*/ 540 h 540"/>
                  <a:gd name="T12" fmla="*/ 139 w 509"/>
                  <a:gd name="T13" fmla="*/ 540 h 540"/>
                  <a:gd name="T14" fmla="*/ 180 w 509"/>
                  <a:gd name="T15" fmla="*/ 528 h 540"/>
                  <a:gd name="T16" fmla="*/ 468 w 509"/>
                  <a:gd name="T17" fmla="*/ 367 h 540"/>
                  <a:gd name="T18" fmla="*/ 487 w 509"/>
                  <a:gd name="T19" fmla="*/ 346 h 540"/>
                  <a:gd name="T20" fmla="*/ 501 w 509"/>
                  <a:gd name="T21" fmla="*/ 319 h 540"/>
                  <a:gd name="T22" fmla="*/ 509 w 509"/>
                  <a:gd name="T23" fmla="*/ 286 h 540"/>
                  <a:gd name="T24" fmla="*/ 509 w 509"/>
                  <a:gd name="T25" fmla="*/ 252 h 540"/>
                  <a:gd name="T26" fmla="*/ 501 w 509"/>
                  <a:gd name="T27" fmla="*/ 228 h 540"/>
                  <a:gd name="T28" fmla="*/ 482 w 509"/>
                  <a:gd name="T29" fmla="*/ 195 h 540"/>
                  <a:gd name="T30" fmla="*/ 420 w 509"/>
                  <a:gd name="T31" fmla="*/ 144 h 540"/>
                  <a:gd name="T32" fmla="*/ 355 w 509"/>
                  <a:gd name="T33" fmla="*/ 101 h 540"/>
                  <a:gd name="T34" fmla="*/ 285 w 509"/>
                  <a:gd name="T35" fmla="*/ 63 h 540"/>
                  <a:gd name="T36" fmla="*/ 213 w 509"/>
                  <a:gd name="T37" fmla="*/ 29 h 540"/>
                  <a:gd name="T38" fmla="*/ 153 w 509"/>
                  <a:gd name="T39" fmla="*/ 5 h 540"/>
                  <a:gd name="T40" fmla="*/ 113 w 509"/>
                  <a:gd name="T41" fmla="*/ 0 h 540"/>
                  <a:gd name="T42" fmla="*/ 79 w 509"/>
                  <a:gd name="T43" fmla="*/ 5 h 540"/>
                  <a:gd name="T44" fmla="*/ 41 w 509"/>
                  <a:gd name="T45" fmla="*/ 17 h 540"/>
                  <a:gd name="T46" fmla="*/ 19 w 509"/>
                  <a:gd name="T47" fmla="*/ 41 h 540"/>
                  <a:gd name="T48" fmla="*/ 7 w 509"/>
                  <a:gd name="T49" fmla="*/ 60 h 540"/>
                  <a:gd name="T50" fmla="*/ 0 w 509"/>
                  <a:gd name="T51" fmla="*/ 87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9" h="540">
                    <a:moveTo>
                      <a:pt x="0" y="87"/>
                    </a:moveTo>
                    <a:lnTo>
                      <a:pt x="17" y="456"/>
                    </a:lnTo>
                    <a:lnTo>
                      <a:pt x="29" y="492"/>
                    </a:lnTo>
                    <a:lnTo>
                      <a:pt x="48" y="511"/>
                    </a:lnTo>
                    <a:lnTo>
                      <a:pt x="65" y="526"/>
                    </a:lnTo>
                    <a:lnTo>
                      <a:pt x="101" y="540"/>
                    </a:lnTo>
                    <a:lnTo>
                      <a:pt x="139" y="540"/>
                    </a:lnTo>
                    <a:lnTo>
                      <a:pt x="180" y="528"/>
                    </a:lnTo>
                    <a:lnTo>
                      <a:pt x="468" y="367"/>
                    </a:lnTo>
                    <a:lnTo>
                      <a:pt x="487" y="346"/>
                    </a:lnTo>
                    <a:lnTo>
                      <a:pt x="501" y="319"/>
                    </a:lnTo>
                    <a:lnTo>
                      <a:pt x="509" y="286"/>
                    </a:lnTo>
                    <a:lnTo>
                      <a:pt x="509" y="252"/>
                    </a:lnTo>
                    <a:lnTo>
                      <a:pt x="501" y="228"/>
                    </a:lnTo>
                    <a:lnTo>
                      <a:pt x="482" y="195"/>
                    </a:lnTo>
                    <a:lnTo>
                      <a:pt x="420" y="144"/>
                    </a:lnTo>
                    <a:lnTo>
                      <a:pt x="355" y="101"/>
                    </a:lnTo>
                    <a:lnTo>
                      <a:pt x="285" y="63"/>
                    </a:lnTo>
                    <a:lnTo>
                      <a:pt x="213" y="29"/>
                    </a:lnTo>
                    <a:lnTo>
                      <a:pt x="153" y="5"/>
                    </a:lnTo>
                    <a:lnTo>
                      <a:pt x="113" y="0"/>
                    </a:lnTo>
                    <a:lnTo>
                      <a:pt x="79" y="5"/>
                    </a:lnTo>
                    <a:lnTo>
                      <a:pt x="41" y="17"/>
                    </a:lnTo>
                    <a:lnTo>
                      <a:pt x="19" y="41"/>
                    </a:lnTo>
                    <a:lnTo>
                      <a:pt x="7" y="60"/>
                    </a:lnTo>
                    <a:lnTo>
                      <a:pt x="0" y="87"/>
                    </a:lnTo>
                    <a:close/>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6" name="Oval 136"/>
              <p:cNvSpPr>
                <a:spLocks noChangeArrowheads="1"/>
              </p:cNvSpPr>
              <p:nvPr/>
            </p:nvSpPr>
            <p:spPr bwMode="auto">
              <a:xfrm>
                <a:off x="4090" y="1079"/>
                <a:ext cx="714" cy="763"/>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7" name="Oval 137"/>
              <p:cNvSpPr>
                <a:spLocks noChangeArrowheads="1"/>
              </p:cNvSpPr>
              <p:nvPr/>
            </p:nvSpPr>
            <p:spPr bwMode="auto">
              <a:xfrm>
                <a:off x="3295" y="270"/>
                <a:ext cx="2299" cy="2360"/>
              </a:xfrm>
              <a:prstGeom prst="ellipse">
                <a:avLst/>
              </a:prstGeom>
              <a:noFill/>
              <a:ln w="9525">
                <a:solidFill>
                  <a:schemeClr val="tx2"/>
                </a:solidFill>
                <a:prstDash val="lgDashDot"/>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8" name="Freeform 138"/>
              <p:cNvSpPr/>
              <p:nvPr/>
            </p:nvSpPr>
            <p:spPr bwMode="auto">
              <a:xfrm flipH="1">
                <a:off x="3795" y="524"/>
                <a:ext cx="509" cy="540"/>
              </a:xfrm>
              <a:custGeom>
                <a:avLst/>
                <a:gdLst>
                  <a:gd name="T0" fmla="*/ 0 w 509"/>
                  <a:gd name="T1" fmla="*/ 87 h 540"/>
                  <a:gd name="T2" fmla="*/ 17 w 509"/>
                  <a:gd name="T3" fmla="*/ 456 h 540"/>
                  <a:gd name="T4" fmla="*/ 29 w 509"/>
                  <a:gd name="T5" fmla="*/ 492 h 540"/>
                  <a:gd name="T6" fmla="*/ 48 w 509"/>
                  <a:gd name="T7" fmla="*/ 511 h 540"/>
                  <a:gd name="T8" fmla="*/ 65 w 509"/>
                  <a:gd name="T9" fmla="*/ 526 h 540"/>
                  <a:gd name="T10" fmla="*/ 101 w 509"/>
                  <a:gd name="T11" fmla="*/ 540 h 540"/>
                  <a:gd name="T12" fmla="*/ 139 w 509"/>
                  <a:gd name="T13" fmla="*/ 540 h 540"/>
                  <a:gd name="T14" fmla="*/ 180 w 509"/>
                  <a:gd name="T15" fmla="*/ 528 h 540"/>
                  <a:gd name="T16" fmla="*/ 468 w 509"/>
                  <a:gd name="T17" fmla="*/ 367 h 540"/>
                  <a:gd name="T18" fmla="*/ 487 w 509"/>
                  <a:gd name="T19" fmla="*/ 346 h 540"/>
                  <a:gd name="T20" fmla="*/ 501 w 509"/>
                  <a:gd name="T21" fmla="*/ 319 h 540"/>
                  <a:gd name="T22" fmla="*/ 509 w 509"/>
                  <a:gd name="T23" fmla="*/ 286 h 540"/>
                  <a:gd name="T24" fmla="*/ 509 w 509"/>
                  <a:gd name="T25" fmla="*/ 252 h 540"/>
                  <a:gd name="T26" fmla="*/ 501 w 509"/>
                  <a:gd name="T27" fmla="*/ 228 h 540"/>
                  <a:gd name="T28" fmla="*/ 482 w 509"/>
                  <a:gd name="T29" fmla="*/ 195 h 540"/>
                  <a:gd name="T30" fmla="*/ 420 w 509"/>
                  <a:gd name="T31" fmla="*/ 144 h 540"/>
                  <a:gd name="T32" fmla="*/ 355 w 509"/>
                  <a:gd name="T33" fmla="*/ 101 h 540"/>
                  <a:gd name="T34" fmla="*/ 285 w 509"/>
                  <a:gd name="T35" fmla="*/ 63 h 540"/>
                  <a:gd name="T36" fmla="*/ 213 w 509"/>
                  <a:gd name="T37" fmla="*/ 29 h 540"/>
                  <a:gd name="T38" fmla="*/ 153 w 509"/>
                  <a:gd name="T39" fmla="*/ 5 h 540"/>
                  <a:gd name="T40" fmla="*/ 113 w 509"/>
                  <a:gd name="T41" fmla="*/ 0 h 540"/>
                  <a:gd name="T42" fmla="*/ 79 w 509"/>
                  <a:gd name="T43" fmla="*/ 5 h 540"/>
                  <a:gd name="T44" fmla="*/ 41 w 509"/>
                  <a:gd name="T45" fmla="*/ 17 h 540"/>
                  <a:gd name="T46" fmla="*/ 19 w 509"/>
                  <a:gd name="T47" fmla="*/ 41 h 540"/>
                  <a:gd name="T48" fmla="*/ 7 w 509"/>
                  <a:gd name="T49" fmla="*/ 60 h 540"/>
                  <a:gd name="T50" fmla="*/ 0 w 509"/>
                  <a:gd name="T51" fmla="*/ 87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9" h="540">
                    <a:moveTo>
                      <a:pt x="0" y="87"/>
                    </a:moveTo>
                    <a:lnTo>
                      <a:pt x="17" y="456"/>
                    </a:lnTo>
                    <a:lnTo>
                      <a:pt x="29" y="492"/>
                    </a:lnTo>
                    <a:lnTo>
                      <a:pt x="48" y="511"/>
                    </a:lnTo>
                    <a:lnTo>
                      <a:pt x="65" y="526"/>
                    </a:lnTo>
                    <a:lnTo>
                      <a:pt x="101" y="540"/>
                    </a:lnTo>
                    <a:lnTo>
                      <a:pt x="139" y="540"/>
                    </a:lnTo>
                    <a:lnTo>
                      <a:pt x="180" y="528"/>
                    </a:lnTo>
                    <a:lnTo>
                      <a:pt x="468" y="367"/>
                    </a:lnTo>
                    <a:lnTo>
                      <a:pt x="487" y="346"/>
                    </a:lnTo>
                    <a:lnTo>
                      <a:pt x="501" y="319"/>
                    </a:lnTo>
                    <a:lnTo>
                      <a:pt x="509" y="286"/>
                    </a:lnTo>
                    <a:lnTo>
                      <a:pt x="509" y="252"/>
                    </a:lnTo>
                    <a:lnTo>
                      <a:pt x="501" y="228"/>
                    </a:lnTo>
                    <a:lnTo>
                      <a:pt x="482" y="195"/>
                    </a:lnTo>
                    <a:lnTo>
                      <a:pt x="420" y="144"/>
                    </a:lnTo>
                    <a:lnTo>
                      <a:pt x="355" y="101"/>
                    </a:lnTo>
                    <a:lnTo>
                      <a:pt x="285" y="63"/>
                    </a:lnTo>
                    <a:lnTo>
                      <a:pt x="213" y="29"/>
                    </a:lnTo>
                    <a:lnTo>
                      <a:pt x="153" y="5"/>
                    </a:lnTo>
                    <a:lnTo>
                      <a:pt x="113" y="0"/>
                    </a:lnTo>
                    <a:lnTo>
                      <a:pt x="79" y="5"/>
                    </a:lnTo>
                    <a:lnTo>
                      <a:pt x="41" y="17"/>
                    </a:lnTo>
                    <a:lnTo>
                      <a:pt x="19" y="41"/>
                    </a:lnTo>
                    <a:lnTo>
                      <a:pt x="7" y="60"/>
                    </a:lnTo>
                    <a:lnTo>
                      <a:pt x="0" y="87"/>
                    </a:lnTo>
                    <a:close/>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19" name="Freeform 139"/>
              <p:cNvSpPr/>
              <p:nvPr/>
            </p:nvSpPr>
            <p:spPr bwMode="auto">
              <a:xfrm rot="18076100" flipH="1">
                <a:off x="3427" y="1215"/>
                <a:ext cx="509" cy="540"/>
              </a:xfrm>
              <a:custGeom>
                <a:avLst/>
                <a:gdLst>
                  <a:gd name="T0" fmla="*/ 0 w 509"/>
                  <a:gd name="T1" fmla="*/ 87 h 540"/>
                  <a:gd name="T2" fmla="*/ 17 w 509"/>
                  <a:gd name="T3" fmla="*/ 456 h 540"/>
                  <a:gd name="T4" fmla="*/ 29 w 509"/>
                  <a:gd name="T5" fmla="*/ 492 h 540"/>
                  <a:gd name="T6" fmla="*/ 48 w 509"/>
                  <a:gd name="T7" fmla="*/ 511 h 540"/>
                  <a:gd name="T8" fmla="*/ 65 w 509"/>
                  <a:gd name="T9" fmla="*/ 526 h 540"/>
                  <a:gd name="T10" fmla="*/ 101 w 509"/>
                  <a:gd name="T11" fmla="*/ 540 h 540"/>
                  <a:gd name="T12" fmla="*/ 139 w 509"/>
                  <a:gd name="T13" fmla="*/ 540 h 540"/>
                  <a:gd name="T14" fmla="*/ 180 w 509"/>
                  <a:gd name="T15" fmla="*/ 528 h 540"/>
                  <a:gd name="T16" fmla="*/ 468 w 509"/>
                  <a:gd name="T17" fmla="*/ 367 h 540"/>
                  <a:gd name="T18" fmla="*/ 487 w 509"/>
                  <a:gd name="T19" fmla="*/ 346 h 540"/>
                  <a:gd name="T20" fmla="*/ 501 w 509"/>
                  <a:gd name="T21" fmla="*/ 319 h 540"/>
                  <a:gd name="T22" fmla="*/ 509 w 509"/>
                  <a:gd name="T23" fmla="*/ 286 h 540"/>
                  <a:gd name="T24" fmla="*/ 509 w 509"/>
                  <a:gd name="T25" fmla="*/ 252 h 540"/>
                  <a:gd name="T26" fmla="*/ 501 w 509"/>
                  <a:gd name="T27" fmla="*/ 228 h 540"/>
                  <a:gd name="T28" fmla="*/ 482 w 509"/>
                  <a:gd name="T29" fmla="*/ 195 h 540"/>
                  <a:gd name="T30" fmla="*/ 420 w 509"/>
                  <a:gd name="T31" fmla="*/ 144 h 540"/>
                  <a:gd name="T32" fmla="*/ 355 w 509"/>
                  <a:gd name="T33" fmla="*/ 101 h 540"/>
                  <a:gd name="T34" fmla="*/ 285 w 509"/>
                  <a:gd name="T35" fmla="*/ 63 h 540"/>
                  <a:gd name="T36" fmla="*/ 213 w 509"/>
                  <a:gd name="T37" fmla="*/ 29 h 540"/>
                  <a:gd name="T38" fmla="*/ 153 w 509"/>
                  <a:gd name="T39" fmla="*/ 5 h 540"/>
                  <a:gd name="T40" fmla="*/ 113 w 509"/>
                  <a:gd name="T41" fmla="*/ 0 h 540"/>
                  <a:gd name="T42" fmla="*/ 79 w 509"/>
                  <a:gd name="T43" fmla="*/ 5 h 540"/>
                  <a:gd name="T44" fmla="*/ 41 w 509"/>
                  <a:gd name="T45" fmla="*/ 17 h 540"/>
                  <a:gd name="T46" fmla="*/ 19 w 509"/>
                  <a:gd name="T47" fmla="*/ 41 h 540"/>
                  <a:gd name="T48" fmla="*/ 7 w 509"/>
                  <a:gd name="T49" fmla="*/ 60 h 540"/>
                  <a:gd name="T50" fmla="*/ 0 w 509"/>
                  <a:gd name="T51" fmla="*/ 87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9" h="540">
                    <a:moveTo>
                      <a:pt x="0" y="87"/>
                    </a:moveTo>
                    <a:lnTo>
                      <a:pt x="17" y="456"/>
                    </a:lnTo>
                    <a:lnTo>
                      <a:pt x="29" y="492"/>
                    </a:lnTo>
                    <a:lnTo>
                      <a:pt x="48" y="511"/>
                    </a:lnTo>
                    <a:lnTo>
                      <a:pt x="65" y="526"/>
                    </a:lnTo>
                    <a:lnTo>
                      <a:pt x="101" y="540"/>
                    </a:lnTo>
                    <a:lnTo>
                      <a:pt x="139" y="540"/>
                    </a:lnTo>
                    <a:lnTo>
                      <a:pt x="180" y="528"/>
                    </a:lnTo>
                    <a:lnTo>
                      <a:pt x="468" y="367"/>
                    </a:lnTo>
                    <a:lnTo>
                      <a:pt x="487" y="346"/>
                    </a:lnTo>
                    <a:lnTo>
                      <a:pt x="501" y="319"/>
                    </a:lnTo>
                    <a:lnTo>
                      <a:pt x="509" y="286"/>
                    </a:lnTo>
                    <a:lnTo>
                      <a:pt x="509" y="252"/>
                    </a:lnTo>
                    <a:lnTo>
                      <a:pt x="501" y="228"/>
                    </a:lnTo>
                    <a:lnTo>
                      <a:pt x="482" y="195"/>
                    </a:lnTo>
                    <a:lnTo>
                      <a:pt x="420" y="144"/>
                    </a:lnTo>
                    <a:lnTo>
                      <a:pt x="355" y="101"/>
                    </a:lnTo>
                    <a:lnTo>
                      <a:pt x="285" y="63"/>
                    </a:lnTo>
                    <a:lnTo>
                      <a:pt x="213" y="29"/>
                    </a:lnTo>
                    <a:lnTo>
                      <a:pt x="153" y="5"/>
                    </a:lnTo>
                    <a:lnTo>
                      <a:pt x="113" y="0"/>
                    </a:lnTo>
                    <a:lnTo>
                      <a:pt x="79" y="5"/>
                    </a:lnTo>
                    <a:lnTo>
                      <a:pt x="41" y="17"/>
                    </a:lnTo>
                    <a:lnTo>
                      <a:pt x="19" y="41"/>
                    </a:lnTo>
                    <a:lnTo>
                      <a:pt x="7" y="60"/>
                    </a:lnTo>
                    <a:lnTo>
                      <a:pt x="0" y="87"/>
                    </a:lnTo>
                    <a:close/>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20" name="Freeform 140"/>
              <p:cNvSpPr/>
              <p:nvPr/>
            </p:nvSpPr>
            <p:spPr bwMode="auto">
              <a:xfrm rot="14372142" flipH="1">
                <a:off x="3827" y="1914"/>
                <a:ext cx="509" cy="540"/>
              </a:xfrm>
              <a:custGeom>
                <a:avLst/>
                <a:gdLst>
                  <a:gd name="T0" fmla="*/ 0 w 509"/>
                  <a:gd name="T1" fmla="*/ 87 h 540"/>
                  <a:gd name="T2" fmla="*/ 17 w 509"/>
                  <a:gd name="T3" fmla="*/ 456 h 540"/>
                  <a:gd name="T4" fmla="*/ 29 w 509"/>
                  <a:gd name="T5" fmla="*/ 492 h 540"/>
                  <a:gd name="T6" fmla="*/ 48 w 509"/>
                  <a:gd name="T7" fmla="*/ 511 h 540"/>
                  <a:gd name="T8" fmla="*/ 65 w 509"/>
                  <a:gd name="T9" fmla="*/ 526 h 540"/>
                  <a:gd name="T10" fmla="*/ 101 w 509"/>
                  <a:gd name="T11" fmla="*/ 540 h 540"/>
                  <a:gd name="T12" fmla="*/ 139 w 509"/>
                  <a:gd name="T13" fmla="*/ 540 h 540"/>
                  <a:gd name="T14" fmla="*/ 180 w 509"/>
                  <a:gd name="T15" fmla="*/ 528 h 540"/>
                  <a:gd name="T16" fmla="*/ 468 w 509"/>
                  <a:gd name="T17" fmla="*/ 367 h 540"/>
                  <a:gd name="T18" fmla="*/ 487 w 509"/>
                  <a:gd name="T19" fmla="*/ 346 h 540"/>
                  <a:gd name="T20" fmla="*/ 501 w 509"/>
                  <a:gd name="T21" fmla="*/ 319 h 540"/>
                  <a:gd name="T22" fmla="*/ 509 w 509"/>
                  <a:gd name="T23" fmla="*/ 286 h 540"/>
                  <a:gd name="T24" fmla="*/ 509 w 509"/>
                  <a:gd name="T25" fmla="*/ 252 h 540"/>
                  <a:gd name="T26" fmla="*/ 501 w 509"/>
                  <a:gd name="T27" fmla="*/ 228 h 540"/>
                  <a:gd name="T28" fmla="*/ 482 w 509"/>
                  <a:gd name="T29" fmla="*/ 195 h 540"/>
                  <a:gd name="T30" fmla="*/ 420 w 509"/>
                  <a:gd name="T31" fmla="*/ 144 h 540"/>
                  <a:gd name="T32" fmla="*/ 355 w 509"/>
                  <a:gd name="T33" fmla="*/ 101 h 540"/>
                  <a:gd name="T34" fmla="*/ 285 w 509"/>
                  <a:gd name="T35" fmla="*/ 63 h 540"/>
                  <a:gd name="T36" fmla="*/ 213 w 509"/>
                  <a:gd name="T37" fmla="*/ 29 h 540"/>
                  <a:gd name="T38" fmla="*/ 153 w 509"/>
                  <a:gd name="T39" fmla="*/ 5 h 540"/>
                  <a:gd name="T40" fmla="*/ 113 w 509"/>
                  <a:gd name="T41" fmla="*/ 0 h 540"/>
                  <a:gd name="T42" fmla="*/ 79 w 509"/>
                  <a:gd name="T43" fmla="*/ 5 h 540"/>
                  <a:gd name="T44" fmla="*/ 41 w 509"/>
                  <a:gd name="T45" fmla="*/ 17 h 540"/>
                  <a:gd name="T46" fmla="*/ 19 w 509"/>
                  <a:gd name="T47" fmla="*/ 41 h 540"/>
                  <a:gd name="T48" fmla="*/ 7 w 509"/>
                  <a:gd name="T49" fmla="*/ 60 h 540"/>
                  <a:gd name="T50" fmla="*/ 0 w 509"/>
                  <a:gd name="T51" fmla="*/ 87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9" h="540">
                    <a:moveTo>
                      <a:pt x="0" y="87"/>
                    </a:moveTo>
                    <a:lnTo>
                      <a:pt x="17" y="456"/>
                    </a:lnTo>
                    <a:lnTo>
                      <a:pt x="29" y="492"/>
                    </a:lnTo>
                    <a:lnTo>
                      <a:pt x="48" y="511"/>
                    </a:lnTo>
                    <a:lnTo>
                      <a:pt x="65" y="526"/>
                    </a:lnTo>
                    <a:lnTo>
                      <a:pt x="101" y="540"/>
                    </a:lnTo>
                    <a:lnTo>
                      <a:pt x="139" y="540"/>
                    </a:lnTo>
                    <a:lnTo>
                      <a:pt x="180" y="528"/>
                    </a:lnTo>
                    <a:lnTo>
                      <a:pt x="468" y="367"/>
                    </a:lnTo>
                    <a:lnTo>
                      <a:pt x="487" y="346"/>
                    </a:lnTo>
                    <a:lnTo>
                      <a:pt x="501" y="319"/>
                    </a:lnTo>
                    <a:lnTo>
                      <a:pt x="509" y="286"/>
                    </a:lnTo>
                    <a:lnTo>
                      <a:pt x="509" y="252"/>
                    </a:lnTo>
                    <a:lnTo>
                      <a:pt x="501" y="228"/>
                    </a:lnTo>
                    <a:lnTo>
                      <a:pt x="482" y="195"/>
                    </a:lnTo>
                    <a:lnTo>
                      <a:pt x="420" y="144"/>
                    </a:lnTo>
                    <a:lnTo>
                      <a:pt x="355" y="101"/>
                    </a:lnTo>
                    <a:lnTo>
                      <a:pt x="285" y="63"/>
                    </a:lnTo>
                    <a:lnTo>
                      <a:pt x="213" y="29"/>
                    </a:lnTo>
                    <a:lnTo>
                      <a:pt x="153" y="5"/>
                    </a:lnTo>
                    <a:lnTo>
                      <a:pt x="113" y="0"/>
                    </a:lnTo>
                    <a:lnTo>
                      <a:pt x="79" y="5"/>
                    </a:lnTo>
                    <a:lnTo>
                      <a:pt x="41" y="17"/>
                    </a:lnTo>
                    <a:lnTo>
                      <a:pt x="19" y="41"/>
                    </a:lnTo>
                    <a:lnTo>
                      <a:pt x="7" y="60"/>
                    </a:lnTo>
                    <a:lnTo>
                      <a:pt x="0" y="87"/>
                    </a:lnTo>
                    <a:close/>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5821" name="Group 141"/>
              <p:cNvGrpSpPr/>
              <p:nvPr/>
            </p:nvGrpSpPr>
            <p:grpSpPr bwMode="auto">
              <a:xfrm>
                <a:off x="4387" y="1115"/>
                <a:ext cx="123" cy="108"/>
                <a:chOff x="4387" y="1115"/>
                <a:chExt cx="123" cy="108"/>
              </a:xfrm>
            </p:grpSpPr>
            <p:sp>
              <p:nvSpPr>
                <p:cNvPr id="455822" name="Rectangle 142"/>
                <p:cNvSpPr>
                  <a:spLocks noChangeArrowheads="1"/>
                </p:cNvSpPr>
                <p:nvPr/>
              </p:nvSpPr>
              <p:spPr bwMode="auto">
                <a:xfrm>
                  <a:off x="4387" y="1115"/>
                  <a:ext cx="123" cy="100"/>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23" name="Line 143"/>
                <p:cNvSpPr>
                  <a:spLocks noChangeShapeType="1"/>
                </p:cNvSpPr>
                <p:nvPr/>
              </p:nvSpPr>
              <p:spPr bwMode="auto">
                <a:xfrm>
                  <a:off x="4395" y="1222"/>
                  <a:ext cx="107" cy="1"/>
                </a:xfrm>
                <a:prstGeom prst="line">
                  <a:avLst/>
                </a:prstGeom>
                <a:noFill/>
                <a:ln w="762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824" name="Group 144"/>
              <p:cNvGrpSpPr/>
              <p:nvPr/>
            </p:nvGrpSpPr>
            <p:grpSpPr bwMode="auto">
              <a:xfrm>
                <a:off x="3276" y="379"/>
                <a:ext cx="2341" cy="2149"/>
                <a:chOff x="3006" y="529"/>
                <a:chExt cx="2341" cy="2149"/>
              </a:xfrm>
            </p:grpSpPr>
            <p:grpSp>
              <p:nvGrpSpPr>
                <p:cNvPr id="455825" name="Group 145"/>
                <p:cNvGrpSpPr/>
                <p:nvPr/>
              </p:nvGrpSpPr>
              <p:grpSpPr bwMode="auto">
                <a:xfrm>
                  <a:off x="4253" y="535"/>
                  <a:ext cx="1094" cy="2143"/>
                  <a:chOff x="4253" y="535"/>
                  <a:chExt cx="1094" cy="2143"/>
                </a:xfrm>
              </p:grpSpPr>
              <p:sp>
                <p:nvSpPr>
                  <p:cNvPr id="455826" name="Freeform 146"/>
                  <p:cNvSpPr/>
                  <p:nvPr/>
                </p:nvSpPr>
                <p:spPr bwMode="auto">
                  <a:xfrm>
                    <a:off x="4253" y="535"/>
                    <a:ext cx="751" cy="785"/>
                  </a:xfrm>
                  <a:custGeom>
                    <a:avLst/>
                    <a:gdLst>
                      <a:gd name="T0" fmla="*/ 0 w 751"/>
                      <a:gd name="T1" fmla="*/ 27 h 785"/>
                      <a:gd name="T2" fmla="*/ 0 w 751"/>
                      <a:gd name="T3" fmla="*/ 646 h 785"/>
                      <a:gd name="T4" fmla="*/ 7 w 751"/>
                      <a:gd name="T5" fmla="*/ 665 h 785"/>
                      <a:gd name="T6" fmla="*/ 14 w 751"/>
                      <a:gd name="T7" fmla="*/ 677 h 785"/>
                      <a:gd name="T8" fmla="*/ 36 w 751"/>
                      <a:gd name="T9" fmla="*/ 689 h 785"/>
                      <a:gd name="T10" fmla="*/ 74 w 751"/>
                      <a:gd name="T11" fmla="*/ 701 h 785"/>
                      <a:gd name="T12" fmla="*/ 105 w 751"/>
                      <a:gd name="T13" fmla="*/ 720 h 785"/>
                      <a:gd name="T14" fmla="*/ 134 w 751"/>
                      <a:gd name="T15" fmla="*/ 735 h 785"/>
                      <a:gd name="T16" fmla="*/ 158 w 751"/>
                      <a:gd name="T17" fmla="*/ 751 h 785"/>
                      <a:gd name="T18" fmla="*/ 185 w 751"/>
                      <a:gd name="T19" fmla="*/ 771 h 785"/>
                      <a:gd name="T20" fmla="*/ 199 w 751"/>
                      <a:gd name="T21" fmla="*/ 783 h 785"/>
                      <a:gd name="T22" fmla="*/ 221 w 751"/>
                      <a:gd name="T23" fmla="*/ 785 h 785"/>
                      <a:gd name="T24" fmla="*/ 245 w 751"/>
                      <a:gd name="T25" fmla="*/ 780 h 785"/>
                      <a:gd name="T26" fmla="*/ 269 w 751"/>
                      <a:gd name="T27" fmla="*/ 771 h 785"/>
                      <a:gd name="T28" fmla="*/ 739 w 751"/>
                      <a:gd name="T29" fmla="*/ 478 h 785"/>
                      <a:gd name="T30" fmla="*/ 751 w 751"/>
                      <a:gd name="T31" fmla="*/ 456 h 785"/>
                      <a:gd name="T32" fmla="*/ 751 w 751"/>
                      <a:gd name="T33" fmla="*/ 439 h 785"/>
                      <a:gd name="T34" fmla="*/ 741 w 751"/>
                      <a:gd name="T35" fmla="*/ 411 h 785"/>
                      <a:gd name="T36" fmla="*/ 689 w 751"/>
                      <a:gd name="T37" fmla="*/ 348 h 785"/>
                      <a:gd name="T38" fmla="*/ 629 w 751"/>
                      <a:gd name="T39" fmla="*/ 286 h 785"/>
                      <a:gd name="T40" fmla="*/ 552 w 751"/>
                      <a:gd name="T41" fmla="*/ 219 h 785"/>
                      <a:gd name="T42" fmla="*/ 480 w 751"/>
                      <a:gd name="T43" fmla="*/ 163 h 785"/>
                      <a:gd name="T44" fmla="*/ 379 w 751"/>
                      <a:gd name="T45" fmla="*/ 103 h 785"/>
                      <a:gd name="T46" fmla="*/ 293 w 751"/>
                      <a:gd name="T47" fmla="*/ 63 h 785"/>
                      <a:gd name="T48" fmla="*/ 185 w 751"/>
                      <a:gd name="T49" fmla="*/ 27 h 785"/>
                      <a:gd name="T50" fmla="*/ 110 w 751"/>
                      <a:gd name="T51" fmla="*/ 10 h 785"/>
                      <a:gd name="T52" fmla="*/ 65 w 751"/>
                      <a:gd name="T53" fmla="*/ 3 h 785"/>
                      <a:gd name="T54" fmla="*/ 29 w 751"/>
                      <a:gd name="T55" fmla="*/ 0 h 785"/>
                      <a:gd name="T56" fmla="*/ 12 w 751"/>
                      <a:gd name="T57" fmla="*/ 5 h 785"/>
                      <a:gd name="T58" fmla="*/ 0 w 751"/>
                      <a:gd name="T59" fmla="*/ 27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1" h="785">
                        <a:moveTo>
                          <a:pt x="0" y="27"/>
                        </a:moveTo>
                        <a:lnTo>
                          <a:pt x="0" y="646"/>
                        </a:lnTo>
                        <a:lnTo>
                          <a:pt x="7" y="665"/>
                        </a:lnTo>
                        <a:lnTo>
                          <a:pt x="14" y="677"/>
                        </a:lnTo>
                        <a:lnTo>
                          <a:pt x="36" y="689"/>
                        </a:lnTo>
                        <a:lnTo>
                          <a:pt x="74" y="701"/>
                        </a:lnTo>
                        <a:lnTo>
                          <a:pt x="105" y="720"/>
                        </a:lnTo>
                        <a:lnTo>
                          <a:pt x="134" y="735"/>
                        </a:lnTo>
                        <a:lnTo>
                          <a:pt x="158" y="751"/>
                        </a:lnTo>
                        <a:lnTo>
                          <a:pt x="185" y="771"/>
                        </a:lnTo>
                        <a:lnTo>
                          <a:pt x="199" y="783"/>
                        </a:lnTo>
                        <a:lnTo>
                          <a:pt x="221" y="785"/>
                        </a:lnTo>
                        <a:lnTo>
                          <a:pt x="245" y="780"/>
                        </a:lnTo>
                        <a:lnTo>
                          <a:pt x="269" y="771"/>
                        </a:lnTo>
                        <a:lnTo>
                          <a:pt x="739" y="478"/>
                        </a:lnTo>
                        <a:lnTo>
                          <a:pt x="751" y="456"/>
                        </a:lnTo>
                        <a:lnTo>
                          <a:pt x="751" y="439"/>
                        </a:lnTo>
                        <a:lnTo>
                          <a:pt x="741" y="411"/>
                        </a:lnTo>
                        <a:lnTo>
                          <a:pt x="689" y="348"/>
                        </a:lnTo>
                        <a:lnTo>
                          <a:pt x="629" y="286"/>
                        </a:lnTo>
                        <a:lnTo>
                          <a:pt x="552" y="219"/>
                        </a:lnTo>
                        <a:lnTo>
                          <a:pt x="480" y="163"/>
                        </a:lnTo>
                        <a:lnTo>
                          <a:pt x="379" y="103"/>
                        </a:lnTo>
                        <a:lnTo>
                          <a:pt x="293" y="63"/>
                        </a:lnTo>
                        <a:lnTo>
                          <a:pt x="185" y="27"/>
                        </a:lnTo>
                        <a:lnTo>
                          <a:pt x="110" y="10"/>
                        </a:lnTo>
                        <a:lnTo>
                          <a:pt x="65" y="3"/>
                        </a:lnTo>
                        <a:lnTo>
                          <a:pt x="29" y="0"/>
                        </a:lnTo>
                        <a:lnTo>
                          <a:pt x="12" y="5"/>
                        </a:lnTo>
                        <a:lnTo>
                          <a:pt x="0" y="27"/>
                        </a:lnTo>
                        <a:close/>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27" name="Freeform 147"/>
                  <p:cNvSpPr/>
                  <p:nvPr/>
                </p:nvSpPr>
                <p:spPr bwMode="auto">
                  <a:xfrm flipV="1">
                    <a:off x="4261" y="1893"/>
                    <a:ext cx="744" cy="785"/>
                  </a:xfrm>
                  <a:custGeom>
                    <a:avLst/>
                    <a:gdLst>
                      <a:gd name="T0" fmla="*/ 0 w 751"/>
                      <a:gd name="T1" fmla="*/ 27 h 785"/>
                      <a:gd name="T2" fmla="*/ 0 w 751"/>
                      <a:gd name="T3" fmla="*/ 646 h 785"/>
                      <a:gd name="T4" fmla="*/ 7 w 751"/>
                      <a:gd name="T5" fmla="*/ 665 h 785"/>
                      <a:gd name="T6" fmla="*/ 14 w 751"/>
                      <a:gd name="T7" fmla="*/ 677 h 785"/>
                      <a:gd name="T8" fmla="*/ 36 w 751"/>
                      <a:gd name="T9" fmla="*/ 689 h 785"/>
                      <a:gd name="T10" fmla="*/ 74 w 751"/>
                      <a:gd name="T11" fmla="*/ 701 h 785"/>
                      <a:gd name="T12" fmla="*/ 105 w 751"/>
                      <a:gd name="T13" fmla="*/ 720 h 785"/>
                      <a:gd name="T14" fmla="*/ 134 w 751"/>
                      <a:gd name="T15" fmla="*/ 735 h 785"/>
                      <a:gd name="T16" fmla="*/ 158 w 751"/>
                      <a:gd name="T17" fmla="*/ 751 h 785"/>
                      <a:gd name="T18" fmla="*/ 185 w 751"/>
                      <a:gd name="T19" fmla="*/ 771 h 785"/>
                      <a:gd name="T20" fmla="*/ 199 w 751"/>
                      <a:gd name="T21" fmla="*/ 783 h 785"/>
                      <a:gd name="T22" fmla="*/ 221 w 751"/>
                      <a:gd name="T23" fmla="*/ 785 h 785"/>
                      <a:gd name="T24" fmla="*/ 245 w 751"/>
                      <a:gd name="T25" fmla="*/ 780 h 785"/>
                      <a:gd name="T26" fmla="*/ 269 w 751"/>
                      <a:gd name="T27" fmla="*/ 771 h 785"/>
                      <a:gd name="T28" fmla="*/ 739 w 751"/>
                      <a:gd name="T29" fmla="*/ 478 h 785"/>
                      <a:gd name="T30" fmla="*/ 751 w 751"/>
                      <a:gd name="T31" fmla="*/ 456 h 785"/>
                      <a:gd name="T32" fmla="*/ 751 w 751"/>
                      <a:gd name="T33" fmla="*/ 439 h 785"/>
                      <a:gd name="T34" fmla="*/ 741 w 751"/>
                      <a:gd name="T35" fmla="*/ 411 h 785"/>
                      <a:gd name="T36" fmla="*/ 689 w 751"/>
                      <a:gd name="T37" fmla="*/ 348 h 785"/>
                      <a:gd name="T38" fmla="*/ 629 w 751"/>
                      <a:gd name="T39" fmla="*/ 286 h 785"/>
                      <a:gd name="T40" fmla="*/ 552 w 751"/>
                      <a:gd name="T41" fmla="*/ 219 h 785"/>
                      <a:gd name="T42" fmla="*/ 480 w 751"/>
                      <a:gd name="T43" fmla="*/ 163 h 785"/>
                      <a:gd name="T44" fmla="*/ 379 w 751"/>
                      <a:gd name="T45" fmla="*/ 103 h 785"/>
                      <a:gd name="T46" fmla="*/ 293 w 751"/>
                      <a:gd name="T47" fmla="*/ 63 h 785"/>
                      <a:gd name="T48" fmla="*/ 185 w 751"/>
                      <a:gd name="T49" fmla="*/ 27 h 785"/>
                      <a:gd name="T50" fmla="*/ 110 w 751"/>
                      <a:gd name="T51" fmla="*/ 10 h 785"/>
                      <a:gd name="T52" fmla="*/ 65 w 751"/>
                      <a:gd name="T53" fmla="*/ 3 h 785"/>
                      <a:gd name="T54" fmla="*/ 29 w 751"/>
                      <a:gd name="T55" fmla="*/ 0 h 785"/>
                      <a:gd name="T56" fmla="*/ 12 w 751"/>
                      <a:gd name="T57" fmla="*/ 5 h 785"/>
                      <a:gd name="T58" fmla="*/ 0 w 751"/>
                      <a:gd name="T59" fmla="*/ 27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1" h="785">
                        <a:moveTo>
                          <a:pt x="0" y="27"/>
                        </a:moveTo>
                        <a:lnTo>
                          <a:pt x="0" y="646"/>
                        </a:lnTo>
                        <a:lnTo>
                          <a:pt x="7" y="665"/>
                        </a:lnTo>
                        <a:lnTo>
                          <a:pt x="14" y="677"/>
                        </a:lnTo>
                        <a:lnTo>
                          <a:pt x="36" y="689"/>
                        </a:lnTo>
                        <a:lnTo>
                          <a:pt x="74" y="701"/>
                        </a:lnTo>
                        <a:lnTo>
                          <a:pt x="105" y="720"/>
                        </a:lnTo>
                        <a:lnTo>
                          <a:pt x="134" y="735"/>
                        </a:lnTo>
                        <a:lnTo>
                          <a:pt x="158" y="751"/>
                        </a:lnTo>
                        <a:lnTo>
                          <a:pt x="185" y="771"/>
                        </a:lnTo>
                        <a:lnTo>
                          <a:pt x="199" y="783"/>
                        </a:lnTo>
                        <a:lnTo>
                          <a:pt x="221" y="785"/>
                        </a:lnTo>
                        <a:lnTo>
                          <a:pt x="245" y="780"/>
                        </a:lnTo>
                        <a:lnTo>
                          <a:pt x="269" y="771"/>
                        </a:lnTo>
                        <a:lnTo>
                          <a:pt x="739" y="478"/>
                        </a:lnTo>
                        <a:lnTo>
                          <a:pt x="751" y="456"/>
                        </a:lnTo>
                        <a:lnTo>
                          <a:pt x="751" y="439"/>
                        </a:lnTo>
                        <a:lnTo>
                          <a:pt x="741" y="411"/>
                        </a:lnTo>
                        <a:lnTo>
                          <a:pt x="689" y="348"/>
                        </a:lnTo>
                        <a:lnTo>
                          <a:pt x="629" y="286"/>
                        </a:lnTo>
                        <a:lnTo>
                          <a:pt x="552" y="219"/>
                        </a:lnTo>
                        <a:lnTo>
                          <a:pt x="480" y="163"/>
                        </a:lnTo>
                        <a:lnTo>
                          <a:pt x="379" y="103"/>
                        </a:lnTo>
                        <a:lnTo>
                          <a:pt x="293" y="63"/>
                        </a:lnTo>
                        <a:lnTo>
                          <a:pt x="185" y="27"/>
                        </a:lnTo>
                        <a:lnTo>
                          <a:pt x="110" y="10"/>
                        </a:lnTo>
                        <a:lnTo>
                          <a:pt x="65" y="3"/>
                        </a:lnTo>
                        <a:lnTo>
                          <a:pt x="29" y="0"/>
                        </a:lnTo>
                        <a:lnTo>
                          <a:pt x="12" y="5"/>
                        </a:lnTo>
                        <a:lnTo>
                          <a:pt x="0" y="27"/>
                        </a:lnTo>
                        <a:close/>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28" name="Freeform 148"/>
                  <p:cNvSpPr/>
                  <p:nvPr/>
                </p:nvSpPr>
                <p:spPr bwMode="auto">
                  <a:xfrm rot="3597824">
                    <a:off x="4598" y="1296"/>
                    <a:ext cx="749" cy="749"/>
                  </a:xfrm>
                  <a:custGeom>
                    <a:avLst/>
                    <a:gdLst>
                      <a:gd name="T0" fmla="*/ 0 w 751"/>
                      <a:gd name="T1" fmla="*/ 27 h 785"/>
                      <a:gd name="T2" fmla="*/ 0 w 751"/>
                      <a:gd name="T3" fmla="*/ 646 h 785"/>
                      <a:gd name="T4" fmla="*/ 7 w 751"/>
                      <a:gd name="T5" fmla="*/ 665 h 785"/>
                      <a:gd name="T6" fmla="*/ 14 w 751"/>
                      <a:gd name="T7" fmla="*/ 677 h 785"/>
                      <a:gd name="T8" fmla="*/ 36 w 751"/>
                      <a:gd name="T9" fmla="*/ 689 h 785"/>
                      <a:gd name="T10" fmla="*/ 74 w 751"/>
                      <a:gd name="T11" fmla="*/ 701 h 785"/>
                      <a:gd name="T12" fmla="*/ 105 w 751"/>
                      <a:gd name="T13" fmla="*/ 720 h 785"/>
                      <a:gd name="T14" fmla="*/ 134 w 751"/>
                      <a:gd name="T15" fmla="*/ 735 h 785"/>
                      <a:gd name="T16" fmla="*/ 158 w 751"/>
                      <a:gd name="T17" fmla="*/ 751 h 785"/>
                      <a:gd name="T18" fmla="*/ 185 w 751"/>
                      <a:gd name="T19" fmla="*/ 771 h 785"/>
                      <a:gd name="T20" fmla="*/ 199 w 751"/>
                      <a:gd name="T21" fmla="*/ 783 h 785"/>
                      <a:gd name="T22" fmla="*/ 221 w 751"/>
                      <a:gd name="T23" fmla="*/ 785 h 785"/>
                      <a:gd name="T24" fmla="*/ 245 w 751"/>
                      <a:gd name="T25" fmla="*/ 780 h 785"/>
                      <a:gd name="T26" fmla="*/ 269 w 751"/>
                      <a:gd name="T27" fmla="*/ 771 h 785"/>
                      <a:gd name="T28" fmla="*/ 739 w 751"/>
                      <a:gd name="T29" fmla="*/ 478 h 785"/>
                      <a:gd name="T30" fmla="*/ 751 w 751"/>
                      <a:gd name="T31" fmla="*/ 456 h 785"/>
                      <a:gd name="T32" fmla="*/ 751 w 751"/>
                      <a:gd name="T33" fmla="*/ 439 h 785"/>
                      <a:gd name="T34" fmla="*/ 741 w 751"/>
                      <a:gd name="T35" fmla="*/ 411 h 785"/>
                      <a:gd name="T36" fmla="*/ 689 w 751"/>
                      <a:gd name="T37" fmla="*/ 348 h 785"/>
                      <a:gd name="T38" fmla="*/ 629 w 751"/>
                      <a:gd name="T39" fmla="*/ 286 h 785"/>
                      <a:gd name="T40" fmla="*/ 552 w 751"/>
                      <a:gd name="T41" fmla="*/ 219 h 785"/>
                      <a:gd name="T42" fmla="*/ 480 w 751"/>
                      <a:gd name="T43" fmla="*/ 163 h 785"/>
                      <a:gd name="T44" fmla="*/ 379 w 751"/>
                      <a:gd name="T45" fmla="*/ 103 h 785"/>
                      <a:gd name="T46" fmla="*/ 293 w 751"/>
                      <a:gd name="T47" fmla="*/ 63 h 785"/>
                      <a:gd name="T48" fmla="*/ 185 w 751"/>
                      <a:gd name="T49" fmla="*/ 27 h 785"/>
                      <a:gd name="T50" fmla="*/ 110 w 751"/>
                      <a:gd name="T51" fmla="*/ 10 h 785"/>
                      <a:gd name="T52" fmla="*/ 65 w 751"/>
                      <a:gd name="T53" fmla="*/ 3 h 785"/>
                      <a:gd name="T54" fmla="*/ 29 w 751"/>
                      <a:gd name="T55" fmla="*/ 0 h 785"/>
                      <a:gd name="T56" fmla="*/ 12 w 751"/>
                      <a:gd name="T57" fmla="*/ 5 h 785"/>
                      <a:gd name="T58" fmla="*/ 0 w 751"/>
                      <a:gd name="T59" fmla="*/ 27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1" h="785">
                        <a:moveTo>
                          <a:pt x="0" y="27"/>
                        </a:moveTo>
                        <a:lnTo>
                          <a:pt x="0" y="646"/>
                        </a:lnTo>
                        <a:lnTo>
                          <a:pt x="7" y="665"/>
                        </a:lnTo>
                        <a:lnTo>
                          <a:pt x="14" y="677"/>
                        </a:lnTo>
                        <a:lnTo>
                          <a:pt x="36" y="689"/>
                        </a:lnTo>
                        <a:lnTo>
                          <a:pt x="74" y="701"/>
                        </a:lnTo>
                        <a:lnTo>
                          <a:pt x="105" y="720"/>
                        </a:lnTo>
                        <a:lnTo>
                          <a:pt x="134" y="735"/>
                        </a:lnTo>
                        <a:lnTo>
                          <a:pt x="158" y="751"/>
                        </a:lnTo>
                        <a:lnTo>
                          <a:pt x="185" y="771"/>
                        </a:lnTo>
                        <a:lnTo>
                          <a:pt x="199" y="783"/>
                        </a:lnTo>
                        <a:lnTo>
                          <a:pt x="221" y="785"/>
                        </a:lnTo>
                        <a:lnTo>
                          <a:pt x="245" y="780"/>
                        </a:lnTo>
                        <a:lnTo>
                          <a:pt x="269" y="771"/>
                        </a:lnTo>
                        <a:lnTo>
                          <a:pt x="739" y="478"/>
                        </a:lnTo>
                        <a:lnTo>
                          <a:pt x="751" y="456"/>
                        </a:lnTo>
                        <a:lnTo>
                          <a:pt x="751" y="439"/>
                        </a:lnTo>
                        <a:lnTo>
                          <a:pt x="741" y="411"/>
                        </a:lnTo>
                        <a:lnTo>
                          <a:pt x="689" y="348"/>
                        </a:lnTo>
                        <a:lnTo>
                          <a:pt x="629" y="286"/>
                        </a:lnTo>
                        <a:lnTo>
                          <a:pt x="552" y="219"/>
                        </a:lnTo>
                        <a:lnTo>
                          <a:pt x="480" y="163"/>
                        </a:lnTo>
                        <a:lnTo>
                          <a:pt x="379" y="103"/>
                        </a:lnTo>
                        <a:lnTo>
                          <a:pt x="293" y="63"/>
                        </a:lnTo>
                        <a:lnTo>
                          <a:pt x="185" y="27"/>
                        </a:lnTo>
                        <a:lnTo>
                          <a:pt x="110" y="10"/>
                        </a:lnTo>
                        <a:lnTo>
                          <a:pt x="65" y="3"/>
                        </a:lnTo>
                        <a:lnTo>
                          <a:pt x="29" y="0"/>
                        </a:lnTo>
                        <a:lnTo>
                          <a:pt x="12" y="5"/>
                        </a:lnTo>
                        <a:lnTo>
                          <a:pt x="0" y="27"/>
                        </a:lnTo>
                        <a:close/>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5829" name="Group 149"/>
                <p:cNvGrpSpPr/>
                <p:nvPr/>
              </p:nvGrpSpPr>
              <p:grpSpPr bwMode="auto">
                <a:xfrm flipH="1">
                  <a:off x="3006" y="529"/>
                  <a:ext cx="1094" cy="2143"/>
                  <a:chOff x="4253" y="535"/>
                  <a:chExt cx="1094" cy="2143"/>
                </a:xfrm>
              </p:grpSpPr>
              <p:sp>
                <p:nvSpPr>
                  <p:cNvPr id="455830" name="Freeform 150"/>
                  <p:cNvSpPr/>
                  <p:nvPr/>
                </p:nvSpPr>
                <p:spPr bwMode="auto">
                  <a:xfrm>
                    <a:off x="4253" y="535"/>
                    <a:ext cx="751" cy="785"/>
                  </a:xfrm>
                  <a:custGeom>
                    <a:avLst/>
                    <a:gdLst>
                      <a:gd name="T0" fmla="*/ 0 w 751"/>
                      <a:gd name="T1" fmla="*/ 27 h 785"/>
                      <a:gd name="T2" fmla="*/ 0 w 751"/>
                      <a:gd name="T3" fmla="*/ 646 h 785"/>
                      <a:gd name="T4" fmla="*/ 7 w 751"/>
                      <a:gd name="T5" fmla="*/ 665 h 785"/>
                      <a:gd name="T6" fmla="*/ 14 w 751"/>
                      <a:gd name="T7" fmla="*/ 677 h 785"/>
                      <a:gd name="T8" fmla="*/ 36 w 751"/>
                      <a:gd name="T9" fmla="*/ 689 h 785"/>
                      <a:gd name="T10" fmla="*/ 74 w 751"/>
                      <a:gd name="T11" fmla="*/ 701 h 785"/>
                      <a:gd name="T12" fmla="*/ 105 w 751"/>
                      <a:gd name="T13" fmla="*/ 720 h 785"/>
                      <a:gd name="T14" fmla="*/ 134 w 751"/>
                      <a:gd name="T15" fmla="*/ 735 h 785"/>
                      <a:gd name="T16" fmla="*/ 158 w 751"/>
                      <a:gd name="T17" fmla="*/ 751 h 785"/>
                      <a:gd name="T18" fmla="*/ 185 w 751"/>
                      <a:gd name="T19" fmla="*/ 771 h 785"/>
                      <a:gd name="T20" fmla="*/ 199 w 751"/>
                      <a:gd name="T21" fmla="*/ 783 h 785"/>
                      <a:gd name="T22" fmla="*/ 221 w 751"/>
                      <a:gd name="T23" fmla="*/ 785 h 785"/>
                      <a:gd name="T24" fmla="*/ 245 w 751"/>
                      <a:gd name="T25" fmla="*/ 780 h 785"/>
                      <a:gd name="T26" fmla="*/ 269 w 751"/>
                      <a:gd name="T27" fmla="*/ 771 h 785"/>
                      <a:gd name="T28" fmla="*/ 739 w 751"/>
                      <a:gd name="T29" fmla="*/ 478 h 785"/>
                      <a:gd name="T30" fmla="*/ 751 w 751"/>
                      <a:gd name="T31" fmla="*/ 456 h 785"/>
                      <a:gd name="T32" fmla="*/ 751 w 751"/>
                      <a:gd name="T33" fmla="*/ 439 h 785"/>
                      <a:gd name="T34" fmla="*/ 741 w 751"/>
                      <a:gd name="T35" fmla="*/ 411 h 785"/>
                      <a:gd name="T36" fmla="*/ 689 w 751"/>
                      <a:gd name="T37" fmla="*/ 348 h 785"/>
                      <a:gd name="T38" fmla="*/ 629 w 751"/>
                      <a:gd name="T39" fmla="*/ 286 h 785"/>
                      <a:gd name="T40" fmla="*/ 552 w 751"/>
                      <a:gd name="T41" fmla="*/ 219 h 785"/>
                      <a:gd name="T42" fmla="*/ 480 w 751"/>
                      <a:gd name="T43" fmla="*/ 163 h 785"/>
                      <a:gd name="T44" fmla="*/ 379 w 751"/>
                      <a:gd name="T45" fmla="*/ 103 h 785"/>
                      <a:gd name="T46" fmla="*/ 293 w 751"/>
                      <a:gd name="T47" fmla="*/ 63 h 785"/>
                      <a:gd name="T48" fmla="*/ 185 w 751"/>
                      <a:gd name="T49" fmla="*/ 27 h 785"/>
                      <a:gd name="T50" fmla="*/ 110 w 751"/>
                      <a:gd name="T51" fmla="*/ 10 h 785"/>
                      <a:gd name="T52" fmla="*/ 65 w 751"/>
                      <a:gd name="T53" fmla="*/ 3 h 785"/>
                      <a:gd name="T54" fmla="*/ 29 w 751"/>
                      <a:gd name="T55" fmla="*/ 0 h 785"/>
                      <a:gd name="T56" fmla="*/ 12 w 751"/>
                      <a:gd name="T57" fmla="*/ 5 h 785"/>
                      <a:gd name="T58" fmla="*/ 0 w 751"/>
                      <a:gd name="T59" fmla="*/ 27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1" h="785">
                        <a:moveTo>
                          <a:pt x="0" y="27"/>
                        </a:moveTo>
                        <a:lnTo>
                          <a:pt x="0" y="646"/>
                        </a:lnTo>
                        <a:lnTo>
                          <a:pt x="7" y="665"/>
                        </a:lnTo>
                        <a:lnTo>
                          <a:pt x="14" y="677"/>
                        </a:lnTo>
                        <a:lnTo>
                          <a:pt x="36" y="689"/>
                        </a:lnTo>
                        <a:lnTo>
                          <a:pt x="74" y="701"/>
                        </a:lnTo>
                        <a:lnTo>
                          <a:pt x="105" y="720"/>
                        </a:lnTo>
                        <a:lnTo>
                          <a:pt x="134" y="735"/>
                        </a:lnTo>
                        <a:lnTo>
                          <a:pt x="158" y="751"/>
                        </a:lnTo>
                        <a:lnTo>
                          <a:pt x="185" y="771"/>
                        </a:lnTo>
                        <a:lnTo>
                          <a:pt x="199" y="783"/>
                        </a:lnTo>
                        <a:lnTo>
                          <a:pt x="221" y="785"/>
                        </a:lnTo>
                        <a:lnTo>
                          <a:pt x="245" y="780"/>
                        </a:lnTo>
                        <a:lnTo>
                          <a:pt x="269" y="771"/>
                        </a:lnTo>
                        <a:lnTo>
                          <a:pt x="739" y="478"/>
                        </a:lnTo>
                        <a:lnTo>
                          <a:pt x="751" y="456"/>
                        </a:lnTo>
                        <a:lnTo>
                          <a:pt x="751" y="439"/>
                        </a:lnTo>
                        <a:lnTo>
                          <a:pt x="741" y="411"/>
                        </a:lnTo>
                        <a:lnTo>
                          <a:pt x="689" y="348"/>
                        </a:lnTo>
                        <a:lnTo>
                          <a:pt x="629" y="286"/>
                        </a:lnTo>
                        <a:lnTo>
                          <a:pt x="552" y="219"/>
                        </a:lnTo>
                        <a:lnTo>
                          <a:pt x="480" y="163"/>
                        </a:lnTo>
                        <a:lnTo>
                          <a:pt x="379" y="103"/>
                        </a:lnTo>
                        <a:lnTo>
                          <a:pt x="293" y="63"/>
                        </a:lnTo>
                        <a:lnTo>
                          <a:pt x="185" y="27"/>
                        </a:lnTo>
                        <a:lnTo>
                          <a:pt x="110" y="10"/>
                        </a:lnTo>
                        <a:lnTo>
                          <a:pt x="65" y="3"/>
                        </a:lnTo>
                        <a:lnTo>
                          <a:pt x="29" y="0"/>
                        </a:lnTo>
                        <a:lnTo>
                          <a:pt x="12" y="5"/>
                        </a:lnTo>
                        <a:lnTo>
                          <a:pt x="0" y="27"/>
                        </a:lnTo>
                        <a:close/>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31" name="Freeform 151"/>
                  <p:cNvSpPr/>
                  <p:nvPr/>
                </p:nvSpPr>
                <p:spPr bwMode="auto">
                  <a:xfrm flipV="1">
                    <a:off x="4261" y="1893"/>
                    <a:ext cx="744" cy="785"/>
                  </a:xfrm>
                  <a:custGeom>
                    <a:avLst/>
                    <a:gdLst>
                      <a:gd name="T0" fmla="*/ 0 w 751"/>
                      <a:gd name="T1" fmla="*/ 27 h 785"/>
                      <a:gd name="T2" fmla="*/ 0 w 751"/>
                      <a:gd name="T3" fmla="*/ 646 h 785"/>
                      <a:gd name="T4" fmla="*/ 7 w 751"/>
                      <a:gd name="T5" fmla="*/ 665 h 785"/>
                      <a:gd name="T6" fmla="*/ 14 w 751"/>
                      <a:gd name="T7" fmla="*/ 677 h 785"/>
                      <a:gd name="T8" fmla="*/ 36 w 751"/>
                      <a:gd name="T9" fmla="*/ 689 h 785"/>
                      <a:gd name="T10" fmla="*/ 74 w 751"/>
                      <a:gd name="T11" fmla="*/ 701 h 785"/>
                      <a:gd name="T12" fmla="*/ 105 w 751"/>
                      <a:gd name="T13" fmla="*/ 720 h 785"/>
                      <a:gd name="T14" fmla="*/ 134 w 751"/>
                      <a:gd name="T15" fmla="*/ 735 h 785"/>
                      <a:gd name="T16" fmla="*/ 158 w 751"/>
                      <a:gd name="T17" fmla="*/ 751 h 785"/>
                      <a:gd name="T18" fmla="*/ 185 w 751"/>
                      <a:gd name="T19" fmla="*/ 771 h 785"/>
                      <a:gd name="T20" fmla="*/ 199 w 751"/>
                      <a:gd name="T21" fmla="*/ 783 h 785"/>
                      <a:gd name="T22" fmla="*/ 221 w 751"/>
                      <a:gd name="T23" fmla="*/ 785 h 785"/>
                      <a:gd name="T24" fmla="*/ 245 w 751"/>
                      <a:gd name="T25" fmla="*/ 780 h 785"/>
                      <a:gd name="T26" fmla="*/ 269 w 751"/>
                      <a:gd name="T27" fmla="*/ 771 h 785"/>
                      <a:gd name="T28" fmla="*/ 739 w 751"/>
                      <a:gd name="T29" fmla="*/ 478 h 785"/>
                      <a:gd name="T30" fmla="*/ 751 w 751"/>
                      <a:gd name="T31" fmla="*/ 456 h 785"/>
                      <a:gd name="T32" fmla="*/ 751 w 751"/>
                      <a:gd name="T33" fmla="*/ 439 h 785"/>
                      <a:gd name="T34" fmla="*/ 741 w 751"/>
                      <a:gd name="T35" fmla="*/ 411 h 785"/>
                      <a:gd name="T36" fmla="*/ 689 w 751"/>
                      <a:gd name="T37" fmla="*/ 348 h 785"/>
                      <a:gd name="T38" fmla="*/ 629 w 751"/>
                      <a:gd name="T39" fmla="*/ 286 h 785"/>
                      <a:gd name="T40" fmla="*/ 552 w 751"/>
                      <a:gd name="T41" fmla="*/ 219 h 785"/>
                      <a:gd name="T42" fmla="*/ 480 w 751"/>
                      <a:gd name="T43" fmla="*/ 163 h 785"/>
                      <a:gd name="T44" fmla="*/ 379 w 751"/>
                      <a:gd name="T45" fmla="*/ 103 h 785"/>
                      <a:gd name="T46" fmla="*/ 293 w 751"/>
                      <a:gd name="T47" fmla="*/ 63 h 785"/>
                      <a:gd name="T48" fmla="*/ 185 w 751"/>
                      <a:gd name="T49" fmla="*/ 27 h 785"/>
                      <a:gd name="T50" fmla="*/ 110 w 751"/>
                      <a:gd name="T51" fmla="*/ 10 h 785"/>
                      <a:gd name="T52" fmla="*/ 65 w 751"/>
                      <a:gd name="T53" fmla="*/ 3 h 785"/>
                      <a:gd name="T54" fmla="*/ 29 w 751"/>
                      <a:gd name="T55" fmla="*/ 0 h 785"/>
                      <a:gd name="T56" fmla="*/ 12 w 751"/>
                      <a:gd name="T57" fmla="*/ 5 h 785"/>
                      <a:gd name="T58" fmla="*/ 0 w 751"/>
                      <a:gd name="T59" fmla="*/ 27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1" h="785">
                        <a:moveTo>
                          <a:pt x="0" y="27"/>
                        </a:moveTo>
                        <a:lnTo>
                          <a:pt x="0" y="646"/>
                        </a:lnTo>
                        <a:lnTo>
                          <a:pt x="7" y="665"/>
                        </a:lnTo>
                        <a:lnTo>
                          <a:pt x="14" y="677"/>
                        </a:lnTo>
                        <a:lnTo>
                          <a:pt x="36" y="689"/>
                        </a:lnTo>
                        <a:lnTo>
                          <a:pt x="74" y="701"/>
                        </a:lnTo>
                        <a:lnTo>
                          <a:pt x="105" y="720"/>
                        </a:lnTo>
                        <a:lnTo>
                          <a:pt x="134" y="735"/>
                        </a:lnTo>
                        <a:lnTo>
                          <a:pt x="158" y="751"/>
                        </a:lnTo>
                        <a:lnTo>
                          <a:pt x="185" y="771"/>
                        </a:lnTo>
                        <a:lnTo>
                          <a:pt x="199" y="783"/>
                        </a:lnTo>
                        <a:lnTo>
                          <a:pt x="221" y="785"/>
                        </a:lnTo>
                        <a:lnTo>
                          <a:pt x="245" y="780"/>
                        </a:lnTo>
                        <a:lnTo>
                          <a:pt x="269" y="771"/>
                        </a:lnTo>
                        <a:lnTo>
                          <a:pt x="739" y="478"/>
                        </a:lnTo>
                        <a:lnTo>
                          <a:pt x="751" y="456"/>
                        </a:lnTo>
                        <a:lnTo>
                          <a:pt x="751" y="439"/>
                        </a:lnTo>
                        <a:lnTo>
                          <a:pt x="741" y="411"/>
                        </a:lnTo>
                        <a:lnTo>
                          <a:pt x="689" y="348"/>
                        </a:lnTo>
                        <a:lnTo>
                          <a:pt x="629" y="286"/>
                        </a:lnTo>
                        <a:lnTo>
                          <a:pt x="552" y="219"/>
                        </a:lnTo>
                        <a:lnTo>
                          <a:pt x="480" y="163"/>
                        </a:lnTo>
                        <a:lnTo>
                          <a:pt x="379" y="103"/>
                        </a:lnTo>
                        <a:lnTo>
                          <a:pt x="293" y="63"/>
                        </a:lnTo>
                        <a:lnTo>
                          <a:pt x="185" y="27"/>
                        </a:lnTo>
                        <a:lnTo>
                          <a:pt x="110" y="10"/>
                        </a:lnTo>
                        <a:lnTo>
                          <a:pt x="65" y="3"/>
                        </a:lnTo>
                        <a:lnTo>
                          <a:pt x="29" y="0"/>
                        </a:lnTo>
                        <a:lnTo>
                          <a:pt x="12" y="5"/>
                        </a:lnTo>
                        <a:lnTo>
                          <a:pt x="0" y="27"/>
                        </a:lnTo>
                        <a:close/>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32" name="Freeform 152"/>
                  <p:cNvSpPr/>
                  <p:nvPr/>
                </p:nvSpPr>
                <p:spPr bwMode="auto">
                  <a:xfrm rot="3597824">
                    <a:off x="4598" y="1296"/>
                    <a:ext cx="749" cy="749"/>
                  </a:xfrm>
                  <a:custGeom>
                    <a:avLst/>
                    <a:gdLst>
                      <a:gd name="T0" fmla="*/ 0 w 751"/>
                      <a:gd name="T1" fmla="*/ 27 h 785"/>
                      <a:gd name="T2" fmla="*/ 0 w 751"/>
                      <a:gd name="T3" fmla="*/ 646 h 785"/>
                      <a:gd name="T4" fmla="*/ 7 w 751"/>
                      <a:gd name="T5" fmla="*/ 665 h 785"/>
                      <a:gd name="T6" fmla="*/ 14 w 751"/>
                      <a:gd name="T7" fmla="*/ 677 h 785"/>
                      <a:gd name="T8" fmla="*/ 36 w 751"/>
                      <a:gd name="T9" fmla="*/ 689 h 785"/>
                      <a:gd name="T10" fmla="*/ 74 w 751"/>
                      <a:gd name="T11" fmla="*/ 701 h 785"/>
                      <a:gd name="T12" fmla="*/ 105 w 751"/>
                      <a:gd name="T13" fmla="*/ 720 h 785"/>
                      <a:gd name="T14" fmla="*/ 134 w 751"/>
                      <a:gd name="T15" fmla="*/ 735 h 785"/>
                      <a:gd name="T16" fmla="*/ 158 w 751"/>
                      <a:gd name="T17" fmla="*/ 751 h 785"/>
                      <a:gd name="T18" fmla="*/ 185 w 751"/>
                      <a:gd name="T19" fmla="*/ 771 h 785"/>
                      <a:gd name="T20" fmla="*/ 199 w 751"/>
                      <a:gd name="T21" fmla="*/ 783 h 785"/>
                      <a:gd name="T22" fmla="*/ 221 w 751"/>
                      <a:gd name="T23" fmla="*/ 785 h 785"/>
                      <a:gd name="T24" fmla="*/ 245 w 751"/>
                      <a:gd name="T25" fmla="*/ 780 h 785"/>
                      <a:gd name="T26" fmla="*/ 269 w 751"/>
                      <a:gd name="T27" fmla="*/ 771 h 785"/>
                      <a:gd name="T28" fmla="*/ 739 w 751"/>
                      <a:gd name="T29" fmla="*/ 478 h 785"/>
                      <a:gd name="T30" fmla="*/ 751 w 751"/>
                      <a:gd name="T31" fmla="*/ 456 h 785"/>
                      <a:gd name="T32" fmla="*/ 751 w 751"/>
                      <a:gd name="T33" fmla="*/ 439 h 785"/>
                      <a:gd name="T34" fmla="*/ 741 w 751"/>
                      <a:gd name="T35" fmla="*/ 411 h 785"/>
                      <a:gd name="T36" fmla="*/ 689 w 751"/>
                      <a:gd name="T37" fmla="*/ 348 h 785"/>
                      <a:gd name="T38" fmla="*/ 629 w 751"/>
                      <a:gd name="T39" fmla="*/ 286 h 785"/>
                      <a:gd name="T40" fmla="*/ 552 w 751"/>
                      <a:gd name="T41" fmla="*/ 219 h 785"/>
                      <a:gd name="T42" fmla="*/ 480 w 751"/>
                      <a:gd name="T43" fmla="*/ 163 h 785"/>
                      <a:gd name="T44" fmla="*/ 379 w 751"/>
                      <a:gd name="T45" fmla="*/ 103 h 785"/>
                      <a:gd name="T46" fmla="*/ 293 w 751"/>
                      <a:gd name="T47" fmla="*/ 63 h 785"/>
                      <a:gd name="T48" fmla="*/ 185 w 751"/>
                      <a:gd name="T49" fmla="*/ 27 h 785"/>
                      <a:gd name="T50" fmla="*/ 110 w 751"/>
                      <a:gd name="T51" fmla="*/ 10 h 785"/>
                      <a:gd name="T52" fmla="*/ 65 w 751"/>
                      <a:gd name="T53" fmla="*/ 3 h 785"/>
                      <a:gd name="T54" fmla="*/ 29 w 751"/>
                      <a:gd name="T55" fmla="*/ 0 h 785"/>
                      <a:gd name="T56" fmla="*/ 12 w 751"/>
                      <a:gd name="T57" fmla="*/ 5 h 785"/>
                      <a:gd name="T58" fmla="*/ 0 w 751"/>
                      <a:gd name="T59" fmla="*/ 27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1" h="785">
                        <a:moveTo>
                          <a:pt x="0" y="27"/>
                        </a:moveTo>
                        <a:lnTo>
                          <a:pt x="0" y="646"/>
                        </a:lnTo>
                        <a:lnTo>
                          <a:pt x="7" y="665"/>
                        </a:lnTo>
                        <a:lnTo>
                          <a:pt x="14" y="677"/>
                        </a:lnTo>
                        <a:lnTo>
                          <a:pt x="36" y="689"/>
                        </a:lnTo>
                        <a:lnTo>
                          <a:pt x="74" y="701"/>
                        </a:lnTo>
                        <a:lnTo>
                          <a:pt x="105" y="720"/>
                        </a:lnTo>
                        <a:lnTo>
                          <a:pt x="134" y="735"/>
                        </a:lnTo>
                        <a:lnTo>
                          <a:pt x="158" y="751"/>
                        </a:lnTo>
                        <a:lnTo>
                          <a:pt x="185" y="771"/>
                        </a:lnTo>
                        <a:lnTo>
                          <a:pt x="199" y="783"/>
                        </a:lnTo>
                        <a:lnTo>
                          <a:pt x="221" y="785"/>
                        </a:lnTo>
                        <a:lnTo>
                          <a:pt x="245" y="780"/>
                        </a:lnTo>
                        <a:lnTo>
                          <a:pt x="269" y="771"/>
                        </a:lnTo>
                        <a:lnTo>
                          <a:pt x="739" y="478"/>
                        </a:lnTo>
                        <a:lnTo>
                          <a:pt x="751" y="456"/>
                        </a:lnTo>
                        <a:lnTo>
                          <a:pt x="751" y="439"/>
                        </a:lnTo>
                        <a:lnTo>
                          <a:pt x="741" y="411"/>
                        </a:lnTo>
                        <a:lnTo>
                          <a:pt x="689" y="348"/>
                        </a:lnTo>
                        <a:lnTo>
                          <a:pt x="629" y="286"/>
                        </a:lnTo>
                        <a:lnTo>
                          <a:pt x="552" y="219"/>
                        </a:lnTo>
                        <a:lnTo>
                          <a:pt x="480" y="163"/>
                        </a:lnTo>
                        <a:lnTo>
                          <a:pt x="379" y="103"/>
                        </a:lnTo>
                        <a:lnTo>
                          <a:pt x="293" y="63"/>
                        </a:lnTo>
                        <a:lnTo>
                          <a:pt x="185" y="27"/>
                        </a:lnTo>
                        <a:lnTo>
                          <a:pt x="110" y="10"/>
                        </a:lnTo>
                        <a:lnTo>
                          <a:pt x="65" y="3"/>
                        </a:lnTo>
                        <a:lnTo>
                          <a:pt x="29" y="0"/>
                        </a:lnTo>
                        <a:lnTo>
                          <a:pt x="12" y="5"/>
                        </a:lnTo>
                        <a:lnTo>
                          <a:pt x="0" y="27"/>
                        </a:lnTo>
                        <a:close/>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55833" name="Group 153"/>
              <p:cNvGrpSpPr/>
              <p:nvPr/>
            </p:nvGrpSpPr>
            <p:grpSpPr bwMode="auto">
              <a:xfrm>
                <a:off x="4814" y="354"/>
                <a:ext cx="246" cy="385"/>
                <a:chOff x="4544" y="504"/>
                <a:chExt cx="246" cy="385"/>
              </a:xfrm>
            </p:grpSpPr>
            <p:grpSp>
              <p:nvGrpSpPr>
                <p:cNvPr id="455834" name="Group 154"/>
                <p:cNvGrpSpPr/>
                <p:nvPr/>
              </p:nvGrpSpPr>
              <p:grpSpPr bwMode="auto">
                <a:xfrm>
                  <a:off x="4544" y="504"/>
                  <a:ext cx="246" cy="385"/>
                  <a:chOff x="4544" y="504"/>
                  <a:chExt cx="246" cy="385"/>
                </a:xfrm>
              </p:grpSpPr>
              <p:sp>
                <p:nvSpPr>
                  <p:cNvPr id="455835" name="Line 155"/>
                  <p:cNvSpPr>
                    <a:spLocks noChangeShapeType="1"/>
                  </p:cNvSpPr>
                  <p:nvPr/>
                </p:nvSpPr>
                <p:spPr bwMode="auto">
                  <a:xfrm flipV="1">
                    <a:off x="4544" y="749"/>
                    <a:ext cx="93" cy="14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36" name="Line 156"/>
                  <p:cNvSpPr>
                    <a:spLocks noChangeShapeType="1"/>
                  </p:cNvSpPr>
                  <p:nvPr/>
                </p:nvSpPr>
                <p:spPr bwMode="auto">
                  <a:xfrm flipH="1">
                    <a:off x="4680" y="504"/>
                    <a:ext cx="110" cy="163"/>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5837" name="Text Box 157"/>
                <p:cNvSpPr txBox="1">
                  <a:spLocks noChangeArrowheads="1"/>
                </p:cNvSpPr>
                <p:nvPr/>
              </p:nvSpPr>
              <p:spPr bwMode="auto">
                <a:xfrm>
                  <a:off x="4618" y="565"/>
                  <a:ext cx="85"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e</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grpSp>
          <p:grpSp>
            <p:nvGrpSpPr>
              <p:cNvPr id="455838" name="Group 158"/>
              <p:cNvGrpSpPr/>
              <p:nvPr/>
            </p:nvGrpSpPr>
            <p:grpSpPr bwMode="auto">
              <a:xfrm>
                <a:off x="4526" y="771"/>
                <a:ext cx="246" cy="487"/>
                <a:chOff x="4256" y="921"/>
                <a:chExt cx="246" cy="487"/>
              </a:xfrm>
            </p:grpSpPr>
            <p:sp>
              <p:nvSpPr>
                <p:cNvPr id="455839" name="Text Box 159"/>
                <p:cNvSpPr txBox="1">
                  <a:spLocks noChangeArrowheads="1"/>
                </p:cNvSpPr>
                <p:nvPr/>
              </p:nvSpPr>
              <p:spPr bwMode="auto">
                <a:xfrm>
                  <a:off x="4349" y="921"/>
                  <a:ext cx="85"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e</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grpSp>
              <p:nvGrpSpPr>
                <p:cNvPr id="455840" name="Group 160"/>
                <p:cNvGrpSpPr/>
                <p:nvPr/>
              </p:nvGrpSpPr>
              <p:grpSpPr bwMode="auto">
                <a:xfrm>
                  <a:off x="4256" y="1023"/>
                  <a:ext cx="246" cy="385"/>
                  <a:chOff x="4544" y="504"/>
                  <a:chExt cx="246" cy="385"/>
                </a:xfrm>
              </p:grpSpPr>
              <p:sp>
                <p:nvSpPr>
                  <p:cNvPr id="455841" name="Line 161"/>
                  <p:cNvSpPr>
                    <a:spLocks noChangeShapeType="1"/>
                  </p:cNvSpPr>
                  <p:nvPr/>
                </p:nvSpPr>
                <p:spPr bwMode="auto">
                  <a:xfrm flipV="1">
                    <a:off x="4544" y="749"/>
                    <a:ext cx="93" cy="14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42" name="Line 162"/>
                  <p:cNvSpPr>
                    <a:spLocks noChangeShapeType="1"/>
                  </p:cNvSpPr>
                  <p:nvPr/>
                </p:nvSpPr>
                <p:spPr bwMode="auto">
                  <a:xfrm flipH="1">
                    <a:off x="4680" y="504"/>
                    <a:ext cx="110" cy="163"/>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55843" name="Line 163"/>
              <p:cNvSpPr>
                <a:spLocks noChangeShapeType="1"/>
              </p:cNvSpPr>
              <p:nvPr/>
            </p:nvSpPr>
            <p:spPr bwMode="auto">
              <a:xfrm>
                <a:off x="4341" y="1641"/>
                <a:ext cx="1273" cy="685"/>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44" name="Line 164"/>
              <p:cNvSpPr>
                <a:spLocks noChangeShapeType="1"/>
              </p:cNvSpPr>
              <p:nvPr/>
            </p:nvSpPr>
            <p:spPr bwMode="auto">
              <a:xfrm flipH="1">
                <a:off x="4384" y="1309"/>
                <a:ext cx="192" cy="355"/>
              </a:xfrm>
              <a:prstGeom prst="line">
                <a:avLst/>
              </a:prstGeom>
              <a:noFill/>
              <a:ln w="1270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45" name="Oval 165"/>
              <p:cNvSpPr>
                <a:spLocks noChangeArrowheads="1"/>
              </p:cNvSpPr>
              <p:nvPr/>
            </p:nvSpPr>
            <p:spPr bwMode="auto">
              <a:xfrm>
                <a:off x="5356" y="2175"/>
                <a:ext cx="36" cy="31"/>
              </a:xfrm>
              <a:prstGeom prst="ellipse">
                <a:avLst/>
              </a:prstGeom>
              <a:solidFill>
                <a:srgbClr val="FF0000"/>
              </a:solidFill>
              <a:ln w="127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46" name="Oval 166"/>
              <p:cNvSpPr>
                <a:spLocks noChangeArrowheads="1"/>
              </p:cNvSpPr>
              <p:nvPr/>
            </p:nvSpPr>
            <p:spPr bwMode="auto">
              <a:xfrm>
                <a:off x="5520" y="1887"/>
                <a:ext cx="36" cy="31"/>
              </a:xfrm>
              <a:prstGeom prst="ellipse">
                <a:avLst/>
              </a:prstGeom>
              <a:solidFill>
                <a:srgbClr val="FF0000"/>
              </a:solidFill>
              <a:ln w="127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47" name="Text Box 167"/>
              <p:cNvSpPr txBox="1">
                <a:spLocks noChangeArrowheads="1"/>
              </p:cNvSpPr>
              <p:nvPr/>
            </p:nvSpPr>
            <p:spPr bwMode="auto">
              <a:xfrm>
                <a:off x="5517" y="1970"/>
                <a:ext cx="141" cy="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h</a:t>
                </a:r>
                <a:r>
                  <a:rPr kumimoji="1" lang="en-US" altLang="zh-CN" sz="2400" i="1" baseline="-25000">
                    <a:solidFill>
                      <a:schemeClr val="hlink"/>
                    </a:solidFill>
                    <a:latin typeface="Times New Roman" panose="02020603050405020304" pitchFamily="18" charset="0"/>
                    <a:ea typeface="华文中宋" panose="02010600040101010101" pitchFamily="2" charset="-122"/>
                  </a:rPr>
                  <a:t>2</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grpSp>
            <p:nvGrpSpPr>
              <p:cNvPr id="455848" name="Group 168"/>
              <p:cNvGrpSpPr/>
              <p:nvPr/>
            </p:nvGrpSpPr>
            <p:grpSpPr bwMode="auto">
              <a:xfrm>
                <a:off x="4096" y="2054"/>
                <a:ext cx="585" cy="259"/>
                <a:chOff x="3826" y="2204"/>
                <a:chExt cx="585" cy="259"/>
              </a:xfrm>
            </p:grpSpPr>
            <p:sp>
              <p:nvSpPr>
                <p:cNvPr id="455849" name="Line 169"/>
                <p:cNvSpPr>
                  <a:spLocks noChangeShapeType="1"/>
                </p:cNvSpPr>
                <p:nvPr/>
              </p:nvSpPr>
              <p:spPr bwMode="auto">
                <a:xfrm>
                  <a:off x="3826" y="2405"/>
                  <a:ext cx="292" cy="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50" name="Line 170"/>
                <p:cNvSpPr>
                  <a:spLocks noChangeShapeType="1"/>
                </p:cNvSpPr>
                <p:nvPr/>
              </p:nvSpPr>
              <p:spPr bwMode="auto">
                <a:xfrm flipH="1">
                  <a:off x="4234" y="2405"/>
                  <a:ext cx="177" cy="0"/>
                </a:xfrm>
                <a:prstGeom prst="line">
                  <a:avLst/>
                </a:prstGeom>
                <a:noFill/>
                <a:ln w="1270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851" name="Text Box 171"/>
                <p:cNvSpPr txBox="1">
                  <a:spLocks noChangeArrowheads="1"/>
                </p:cNvSpPr>
                <p:nvPr/>
              </p:nvSpPr>
              <p:spPr bwMode="auto">
                <a:xfrm>
                  <a:off x="3903" y="2204"/>
                  <a:ext cx="75" cy="2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r>
                    <a:rPr kumimoji="1" lang="en-US" altLang="zh-CN" sz="2400" i="1">
                      <a:solidFill>
                        <a:schemeClr val="hlink"/>
                      </a:solidFill>
                      <a:latin typeface="Times New Roman" panose="02020603050405020304" pitchFamily="18" charset="0"/>
                      <a:ea typeface="华文中宋" panose="02010600040101010101" pitchFamily="2" charset="-122"/>
                    </a:rPr>
                    <a:t>s</a:t>
                  </a:r>
                  <a:endParaRPr kumimoji="1" lang="en-US" altLang="zh-CN" sz="2400" i="1" baseline="-25000">
                    <a:solidFill>
                      <a:schemeClr val="hlink"/>
                    </a:solidFill>
                    <a:latin typeface="Times New Roman" panose="02020603050405020304" pitchFamily="18" charset="0"/>
                    <a:ea typeface="华文中宋" panose="02010600040101010101" pitchFamily="2" charset="-122"/>
                  </a:endParaRPr>
                </a:p>
              </p:txBody>
            </p:sp>
          </p:grpSp>
        </p:grpSp>
      </p:grpSp>
      <p:sp>
        <p:nvSpPr>
          <p:cNvPr id="455852" name="Text Box 172"/>
          <p:cNvSpPr txBox="1">
            <a:spLocks noChangeArrowheads="1"/>
          </p:cNvSpPr>
          <p:nvPr/>
        </p:nvSpPr>
        <p:spPr bwMode="auto">
          <a:xfrm>
            <a:off x="206375" y="158750"/>
            <a:ext cx="2133600" cy="473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46800">
            <a:spAutoFit/>
          </a:bodyPr>
          <a:lstStyle/>
          <a:p>
            <a:pPr algn="l"/>
            <a:r>
              <a:rPr kumimoji="1" lang="en-US" altLang="zh-CN" sz="2800">
                <a:solidFill>
                  <a:schemeClr val="hlink"/>
                </a:solidFill>
                <a:latin typeface="Times New Roman" panose="02020603050405020304" pitchFamily="18" charset="0"/>
                <a:ea typeface="华文中宋" panose="02010600040101010101" pitchFamily="2" charset="-122"/>
              </a:rPr>
              <a:t>4. </a:t>
            </a:r>
            <a:r>
              <a:rPr kumimoji="1" lang="zh-CN" altLang="en-US" sz="2800">
                <a:solidFill>
                  <a:schemeClr val="hlink"/>
                </a:solidFill>
                <a:latin typeface="Times New Roman" panose="02020603050405020304" pitchFamily="18" charset="0"/>
                <a:ea typeface="华文中宋" panose="02010600040101010101" pitchFamily="2" charset="-122"/>
              </a:rPr>
              <a:t>轮辐式齿轮</a:t>
            </a:r>
            <a:endParaRPr kumimoji="1" lang="zh-CN" altLang="en-US" sz="2800">
              <a:solidFill>
                <a:schemeClr val="hlink"/>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55852"/>
                                        </p:tgtEl>
                                        <p:attrNameLst>
                                          <p:attrName>style.visibility</p:attrName>
                                        </p:attrNameLst>
                                      </p:cBhvr>
                                      <p:to>
                                        <p:strVal val="visible"/>
                                      </p:to>
                                    </p:set>
                                    <p:anim calcmode="lin" valueType="num">
                                      <p:cBhvr additive="base">
                                        <p:cTn id="7" dur="500" fill="hold"/>
                                        <p:tgtEl>
                                          <p:spTgt spid="455852"/>
                                        </p:tgtEl>
                                        <p:attrNameLst>
                                          <p:attrName>ppt_x</p:attrName>
                                        </p:attrNameLst>
                                      </p:cBhvr>
                                      <p:tavLst>
                                        <p:tav tm="0">
                                          <p:val>
                                            <p:strVal val="#ppt_x"/>
                                          </p:val>
                                        </p:tav>
                                        <p:tav tm="100000">
                                          <p:val>
                                            <p:strVal val="#ppt_x"/>
                                          </p:val>
                                        </p:tav>
                                      </p:tavLst>
                                    </p:anim>
                                    <p:anim calcmode="lin" valueType="num">
                                      <p:cBhvr additive="base">
                                        <p:cTn id="8" dur="500" fill="hold"/>
                                        <p:tgtEl>
                                          <p:spTgt spid="45585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455684"/>
                                        </p:tgtEl>
                                        <p:attrNameLst>
                                          <p:attrName>style.visibility</p:attrName>
                                        </p:attrNameLst>
                                      </p:cBhvr>
                                      <p:to>
                                        <p:strVal val="visible"/>
                                      </p:to>
                                    </p:set>
                                    <p:animEffect transition="in" filter="dissolve">
                                      <p:cBhvr>
                                        <p:cTn id="13" dur="500"/>
                                        <p:tgtEl>
                                          <p:spTgt spid="455684"/>
                                        </p:tgtEl>
                                      </p:cBhvr>
                                    </p:animEffect>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455682"/>
                                        </p:tgtEl>
                                        <p:attrNameLst>
                                          <p:attrName>style.visibility</p:attrName>
                                        </p:attrNameLst>
                                      </p:cBhvr>
                                      <p:to>
                                        <p:strVal val="visible"/>
                                      </p:to>
                                    </p:set>
                                    <p:animEffect transition="in" filter="dissolve">
                                      <p:cBhvr>
                                        <p:cTn id="17" dur="500"/>
                                        <p:tgtEl>
                                          <p:spTgt spid="455682"/>
                                        </p:tgtEl>
                                      </p:cBhvr>
                                    </p:animEffect>
                                  </p:childTnLst>
                                </p:cTn>
                              </p:par>
                            </p:childTnLst>
                          </p:cTn>
                        </p:par>
                        <p:par>
                          <p:cTn id="18" fill="hold">
                            <p:stCondLst>
                              <p:cond delay="1000"/>
                            </p:stCondLst>
                            <p:childTnLst>
                              <p:par>
                                <p:cTn id="19" presetID="2" presetClass="entr" presetSubtype="4" fill="hold" grpId="0" nodeType="afterEffect">
                                  <p:stCondLst>
                                    <p:cond delay="0"/>
                                  </p:stCondLst>
                                  <p:childTnLst>
                                    <p:set>
                                      <p:cBhvr>
                                        <p:cTn id="20" dur="1" fill="hold">
                                          <p:stCondLst>
                                            <p:cond delay="0"/>
                                          </p:stCondLst>
                                        </p:cTn>
                                        <p:tgtEl>
                                          <p:spTgt spid="455683"/>
                                        </p:tgtEl>
                                        <p:attrNameLst>
                                          <p:attrName>style.visibility</p:attrName>
                                        </p:attrNameLst>
                                      </p:cBhvr>
                                      <p:to>
                                        <p:strVal val="visible"/>
                                      </p:to>
                                    </p:set>
                                    <p:anim calcmode="lin" valueType="num">
                                      <p:cBhvr additive="base">
                                        <p:cTn id="21" dur="500" fill="hold"/>
                                        <p:tgtEl>
                                          <p:spTgt spid="455683"/>
                                        </p:tgtEl>
                                        <p:attrNameLst>
                                          <p:attrName>ppt_x</p:attrName>
                                        </p:attrNameLst>
                                      </p:cBhvr>
                                      <p:tavLst>
                                        <p:tav tm="0">
                                          <p:val>
                                            <p:strVal val="#ppt_x"/>
                                          </p:val>
                                        </p:tav>
                                        <p:tav tm="100000">
                                          <p:val>
                                            <p:strVal val="#ppt_x"/>
                                          </p:val>
                                        </p:tav>
                                      </p:tavLst>
                                    </p:anim>
                                    <p:anim calcmode="lin" valueType="num">
                                      <p:cBhvr additive="base">
                                        <p:cTn id="22" dur="500" fill="hold"/>
                                        <p:tgtEl>
                                          <p:spTgt spid="4556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3" grpId="0" autoUpdateAnimBg="0"/>
      <p:bldP spid="455852"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lum contrast="12000"/>
            <a:extLst>
              <a:ext uri="{28A0092B-C50C-407E-A947-70E740481C1C}">
                <a14:useLocalDpi xmlns:a14="http://schemas.microsoft.com/office/drawing/2010/main" val="0"/>
              </a:ext>
            </a:extLst>
          </a:blip>
          <a:stretch>
            <a:fillRect/>
          </a:stretch>
        </p:blipFill>
        <p:spPr>
          <a:xfrm>
            <a:off x="1638724" y="755373"/>
            <a:ext cx="5679447" cy="55460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57122" y="841977"/>
            <a:ext cx="8629650" cy="5324475"/>
          </a:xfrm>
          <a:prstGeom prst="rect">
            <a:avLst/>
          </a:prstGeom>
        </p:spPr>
      </p:pic>
      <p:sp>
        <p:nvSpPr>
          <p:cNvPr id="3" name="Text Box 16"/>
          <p:cNvSpPr txBox="1">
            <a:spLocks noChangeArrowheads="1"/>
          </p:cNvSpPr>
          <p:nvPr/>
        </p:nvSpPr>
        <p:spPr bwMode="auto">
          <a:xfrm>
            <a:off x="8114381" y="6237852"/>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1600" dirty="0">
                <a:solidFill>
                  <a:srgbClr val="CC3300"/>
                </a:solidFill>
                <a:latin typeface="Tahoma" panose="020B0604030504040204" pitchFamily="34" charset="0"/>
                <a:hlinkClick r:id="rId2" action="ppaction://hlinksldjump"/>
              </a:rPr>
              <a:t>返回</a:t>
            </a:r>
            <a:endParaRPr lang="zh-CN" altLang="en-US" sz="1600" dirty="0">
              <a:solidFill>
                <a:srgbClr val="CC3300"/>
              </a:solidFill>
              <a:latin typeface="Tahoma" panose="020B0604030504040204" pitchFamily="34" charset="0"/>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6786563" y="720725"/>
            <a:ext cx="1465262" cy="165100"/>
          </a:xfrm>
          <a:noFill/>
          <a:ln>
            <a:noFill/>
          </a:ln>
        </p:spPr>
        <p:txBody>
          <a:bodyPr/>
          <a:p>
            <a:pPr eaLnBrk="1" hangingPunct="1"/>
            <a:r>
              <a:rPr lang="zh-CN" altLang="en-US" sz="800" dirty="0">
                <a:solidFill>
                  <a:schemeClr val="bg1"/>
                </a:solidFill>
                <a:latin typeface="Times New Roman" panose="02020603050405020304" pitchFamily="18" charset="0"/>
              </a:rPr>
              <a:t>锥齿轮传动的强度计算</a:t>
            </a:r>
            <a:r>
              <a:rPr lang="en-US" altLang="zh-CN" sz="800" dirty="0">
                <a:solidFill>
                  <a:schemeClr val="bg1"/>
                </a:solidFill>
                <a:latin typeface="Times New Roman" panose="02020603050405020304" pitchFamily="18" charset="0"/>
              </a:rPr>
              <a:t>1</a:t>
            </a:r>
            <a:endParaRPr lang="en-US" altLang="zh-CN" sz="800" dirty="0">
              <a:solidFill>
                <a:schemeClr val="bg1"/>
              </a:solidFill>
              <a:latin typeface="Times New Roman" panose="02020603050405020304" pitchFamily="18" charset="0"/>
            </a:endParaRPr>
          </a:p>
        </p:txBody>
      </p:sp>
      <p:pic>
        <p:nvPicPr>
          <p:cNvPr id="10244" name="Picture 10"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10245" name="Picture 11" descr="rewind">
            <a:hlinkClick r:id="" action="ppaction://hlinkshowjump?jump=firstslide"/>
          </p:cNvPr>
          <p:cNvPicPr>
            <a:picLocks noChangeAspect="1"/>
          </p:cNvPicPr>
          <p:nvPr/>
        </p:nvPicPr>
        <p:blipFill>
          <a:blip r:embed="rId2"/>
          <a:stretch>
            <a:fillRect/>
          </a:stretch>
        </p:blipFill>
        <p:spPr>
          <a:xfrm>
            <a:off x="8116888" y="6538913"/>
            <a:ext cx="287337" cy="287337"/>
          </a:xfrm>
          <a:prstGeom prst="rect">
            <a:avLst/>
          </a:prstGeom>
          <a:noFill/>
          <a:ln w="9525">
            <a:noFill/>
          </a:ln>
        </p:spPr>
      </p:pic>
      <p:sp>
        <p:nvSpPr>
          <p:cNvPr id="65556" name="Text Box 20"/>
          <p:cNvSpPr txBox="1"/>
          <p:nvPr/>
        </p:nvSpPr>
        <p:spPr>
          <a:xfrm>
            <a:off x="6608763" y="6221413"/>
            <a:ext cx="247650" cy="396875"/>
          </a:xfrm>
          <a:prstGeom prst="rect">
            <a:avLst/>
          </a:prstGeom>
          <a:noFill/>
          <a:ln w="9525">
            <a:noFill/>
          </a:ln>
        </p:spPr>
        <p:txBody>
          <a:bodyPr wrap="none">
            <a:spAutoFit/>
          </a:bodyPr>
          <a:p>
            <a:pPr eaLnBrk="1" hangingPunct="1"/>
            <a:r>
              <a:rPr lang="en-US" altLang="zh-CN" dirty="0">
                <a:solidFill>
                  <a:schemeClr val="tx1"/>
                </a:solidFill>
                <a:latin typeface="Times New Roman" panose="02020603050405020304" pitchFamily="18" charset="0"/>
              </a:rPr>
              <a:t> </a:t>
            </a:r>
            <a:endParaRPr lang="en-US" altLang="zh-CN" dirty="0">
              <a:solidFill>
                <a:schemeClr val="tx1"/>
              </a:solidFill>
              <a:latin typeface="Times New Roman" panose="02020603050405020304" pitchFamily="18" charset="0"/>
            </a:endParaRPr>
          </a:p>
        </p:txBody>
      </p:sp>
      <p:pic>
        <p:nvPicPr>
          <p:cNvPr id="10247" name="Picture 10" descr="back">
            <a:hlinkClick r:id="" action="ppaction://hlinkshowjump?jump=previousslide"/>
          </p:cNvPr>
          <p:cNvPicPr>
            <a:picLocks noChangeAspect="1"/>
          </p:cNvPicPr>
          <p:nvPr/>
        </p:nvPicPr>
        <p:blipFill>
          <a:blip r:embed="rId3"/>
          <a:stretch>
            <a:fillRect/>
          </a:stretch>
        </p:blipFill>
        <p:spPr>
          <a:xfrm>
            <a:off x="8470900" y="6538913"/>
            <a:ext cx="287338" cy="287337"/>
          </a:xfrm>
          <a:prstGeom prst="rect">
            <a:avLst/>
          </a:prstGeom>
          <a:noFill/>
          <a:ln w="9525">
            <a:noFill/>
          </a:ln>
        </p:spPr>
      </p:pic>
      <p:sp>
        <p:nvSpPr>
          <p:cNvPr id="3" name="矩形 2"/>
          <p:cNvSpPr/>
          <p:nvPr/>
        </p:nvSpPr>
        <p:spPr>
          <a:xfrm>
            <a:off x="671830" y="1042353"/>
            <a:ext cx="3024188" cy="554038"/>
          </a:xfrm>
          <a:prstGeom prst="rect">
            <a:avLst/>
          </a:prstGeom>
        </p:spPr>
        <p:txBody>
          <a:bodyPr wrap="none">
            <a:spAutoFit/>
          </a:bodyPr>
          <a:lstStyle/>
          <a:p>
            <a:pPr marL="0" marR="0" lvl="0" indent="0" algn="l" defTabSz="914400" rtl="0" eaLnBrk="0" fontAlgn="base" latinLnBrk="0" hangingPunct="0">
              <a:lnSpc>
                <a:spcPct val="150000"/>
              </a:lnSpc>
              <a:spcBef>
                <a:spcPct val="0"/>
              </a:spcBef>
              <a:spcAft>
                <a:spcPts val="0"/>
              </a:spcAft>
              <a:buClrTx/>
              <a:buSzTx/>
              <a:buFontTx/>
              <a:buNone/>
              <a:defRPr/>
            </a:pPr>
            <a:r>
              <a:rPr kumimoji="1" lang="zh-CN" altLang="en-US" sz="2000" b="1" i="0" u="none" strike="noStrike" kern="100" cap="none" spc="0" normalizeH="0" baseline="0" noProof="0" dirty="0">
                <a:ln>
                  <a:noFill/>
                </a:ln>
                <a:solidFill>
                  <a:srgbClr val="000099"/>
                </a:solidFill>
                <a:effectLst/>
                <a:uLnTx/>
                <a:uFillTx/>
                <a:latin typeface="Calibri" panose="020F0502020204030204" pitchFamily="34" charset="0"/>
                <a:ea typeface="宋体" panose="02010600030101010101" pitchFamily="2" charset="-122"/>
                <a:cs typeface="Times New Roman" panose="02020603050405020304" pitchFamily="18" charset="0"/>
              </a:rPr>
              <a:t>（五）</a:t>
            </a:r>
            <a:r>
              <a:rPr kumimoji="1" lang="zh-CN" altLang="zh-CN" sz="2000" b="1" i="0" u="none" strike="noStrike" kern="100" cap="none" spc="0" normalizeH="0" baseline="0" noProof="0" dirty="0">
                <a:ln>
                  <a:noFill/>
                </a:ln>
                <a:solidFill>
                  <a:srgbClr val="000099"/>
                </a:solidFill>
                <a:effectLst/>
                <a:uLnTx/>
                <a:uFillTx/>
                <a:latin typeface="Calibri" panose="020F0502020204030204" pitchFamily="34" charset="0"/>
                <a:ea typeface="宋体" panose="02010600030101010101" pitchFamily="2" charset="-122"/>
                <a:cs typeface="Times New Roman" panose="02020603050405020304" pitchFamily="18" charset="0"/>
              </a:rPr>
              <a:t>锥齿轮的结构设计</a:t>
            </a:r>
            <a:endParaRPr kumimoji="1" lang="zh-CN" altLang="zh-CN" sz="1600" b="0" i="0" u="none" strike="noStrike" kern="100" cap="none" spc="0" normalizeH="0" baseline="0" noProof="0" dirty="0">
              <a:ln>
                <a:noFill/>
              </a:ln>
              <a:solidFill>
                <a:srgbClr val="000099"/>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8" name="文本框 7"/>
          <p:cNvSpPr txBox="1">
            <a:spLocks noRot="1" noChangeAspect="1" noMove="1" noResize="1" noEditPoints="1" noAdjustHandles="1" noChangeArrowheads="1" noChangeShapeType="1" noTextEdit="1"/>
          </p:cNvSpPr>
          <p:nvPr/>
        </p:nvSpPr>
        <p:spPr>
          <a:xfrm>
            <a:off x="300832" y="2035411"/>
            <a:ext cx="8590756" cy="1015663"/>
          </a:xfrm>
          <a:prstGeom prst="rect">
            <a:avLst/>
          </a:prstGeom>
          <a:blipFill>
            <a:blip r:embed="rId4"/>
            <a:stretch>
              <a:fillRect l="-709" b="-4192"/>
            </a:stretch>
          </a:blipFill>
        </p:spPr>
        <p:txBody>
          <a:bodyPr/>
          <a:lstStyle/>
          <a:p>
            <a:pPr marR="0" defTabSz="914400">
              <a:buClrTx/>
              <a:buSzTx/>
              <a:buFontTx/>
              <a:buNone/>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10250" name="图片 9"/>
          <p:cNvPicPr>
            <a:picLocks noChangeAspect="1"/>
          </p:cNvPicPr>
          <p:nvPr/>
        </p:nvPicPr>
        <p:blipFill>
          <a:blip r:embed="rId5"/>
          <a:stretch>
            <a:fillRect/>
          </a:stretch>
        </p:blipFill>
        <p:spPr>
          <a:xfrm>
            <a:off x="1054100" y="3216275"/>
            <a:ext cx="3238500" cy="1687513"/>
          </a:xfrm>
          <a:prstGeom prst="rect">
            <a:avLst/>
          </a:prstGeom>
          <a:noFill/>
          <a:ln w="9525">
            <a:noFill/>
          </a:ln>
        </p:spPr>
      </p:pic>
      <p:pic>
        <p:nvPicPr>
          <p:cNvPr id="10251" name="图片 10"/>
          <p:cNvPicPr>
            <a:picLocks noChangeAspect="1"/>
          </p:cNvPicPr>
          <p:nvPr/>
        </p:nvPicPr>
        <p:blipFill>
          <a:blip r:embed="rId6"/>
          <a:stretch>
            <a:fillRect/>
          </a:stretch>
        </p:blipFill>
        <p:spPr>
          <a:xfrm>
            <a:off x="5241925" y="3489325"/>
            <a:ext cx="2976563" cy="1484313"/>
          </a:xfrm>
          <a:prstGeom prst="rect">
            <a:avLst/>
          </a:prstGeom>
          <a:noFill/>
          <a:ln w="9525">
            <a:noFill/>
          </a:ln>
        </p:spPr>
      </p:pic>
      <p:sp>
        <p:nvSpPr>
          <p:cNvPr id="10252" name="文本框 12"/>
          <p:cNvSpPr txBox="1"/>
          <p:nvPr/>
        </p:nvSpPr>
        <p:spPr>
          <a:xfrm>
            <a:off x="1733550" y="5151438"/>
            <a:ext cx="2286000" cy="338137"/>
          </a:xfrm>
          <a:prstGeom prst="rect">
            <a:avLst/>
          </a:prstGeom>
          <a:noFill/>
          <a:ln w="9525">
            <a:noFill/>
          </a:ln>
        </p:spPr>
        <p:txBody>
          <a:bodyPr>
            <a:spAutoFit/>
          </a:bodyPr>
          <a:p>
            <a:r>
              <a:rPr lang="zh-CN" altLang="zh-CN" sz="1600" dirty="0">
                <a:latin typeface="Times New Roman" panose="02020603050405020304" pitchFamily="18" charset="0"/>
              </a:rPr>
              <a:t>图</a:t>
            </a:r>
            <a:r>
              <a:rPr lang="en-US" altLang="zh-CN" sz="1600" dirty="0">
                <a:latin typeface="Times New Roman" panose="02020603050405020304" pitchFamily="18" charset="0"/>
              </a:rPr>
              <a:t>3.10-3 </a:t>
            </a:r>
            <a:r>
              <a:rPr lang="zh-CN" altLang="zh-CN" sz="1600" dirty="0">
                <a:latin typeface="Times New Roman" panose="02020603050405020304" pitchFamily="18" charset="0"/>
              </a:rPr>
              <a:t>锥齿轮</a:t>
            </a:r>
            <a:r>
              <a:rPr lang="en-US" altLang="zh-CN" sz="1600" dirty="0">
                <a:latin typeface="Times New Roman" panose="02020603050405020304" pitchFamily="18" charset="0"/>
              </a:rPr>
              <a:t>e</a:t>
            </a:r>
            <a:r>
              <a:rPr lang="zh-CN" altLang="zh-CN" sz="1600" dirty="0">
                <a:latin typeface="Times New Roman" panose="02020603050405020304" pitchFamily="18" charset="0"/>
              </a:rPr>
              <a:t>值 </a:t>
            </a:r>
            <a:endParaRPr lang="zh-CN" altLang="en-US" sz="1600" dirty="0">
              <a:latin typeface="Times New Roman" panose="02020603050405020304" pitchFamily="18" charset="0"/>
            </a:endParaRPr>
          </a:p>
        </p:txBody>
      </p:sp>
      <p:sp>
        <p:nvSpPr>
          <p:cNvPr id="10253" name="文本框 13"/>
          <p:cNvSpPr txBox="1"/>
          <p:nvPr/>
        </p:nvSpPr>
        <p:spPr>
          <a:xfrm>
            <a:off x="6002338" y="5089525"/>
            <a:ext cx="2397125" cy="400050"/>
          </a:xfrm>
          <a:prstGeom prst="rect">
            <a:avLst/>
          </a:prstGeom>
          <a:noFill/>
          <a:ln w="9525">
            <a:noFill/>
          </a:ln>
        </p:spPr>
        <p:txBody>
          <a:bodyPr>
            <a:spAutoFit/>
          </a:bodyPr>
          <a:p>
            <a:r>
              <a:rPr lang="zh-CN" altLang="zh-CN" dirty="0">
                <a:latin typeface="Times New Roman" panose="02020603050405020304" pitchFamily="18" charset="0"/>
              </a:rPr>
              <a:t> </a:t>
            </a:r>
            <a:r>
              <a:rPr lang="zh-CN" altLang="zh-CN" sz="1600" dirty="0">
                <a:latin typeface="Times New Roman" panose="02020603050405020304" pitchFamily="18" charset="0"/>
              </a:rPr>
              <a:t>图</a:t>
            </a:r>
            <a:r>
              <a:rPr lang="en-US" altLang="zh-CN" sz="1600" dirty="0">
                <a:latin typeface="Times New Roman" panose="02020603050405020304" pitchFamily="18" charset="0"/>
              </a:rPr>
              <a:t>3.10-4 </a:t>
            </a:r>
            <a:r>
              <a:rPr lang="zh-CN" altLang="zh-CN" sz="1600" dirty="0">
                <a:latin typeface="Times New Roman" panose="02020603050405020304" pitchFamily="18" charset="0"/>
              </a:rPr>
              <a:t>锥齿轮轴</a:t>
            </a:r>
            <a:endParaRPr lang="zh-CN" altLang="en-US" sz="16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56"/>
                                        </p:tgtEl>
                                        <p:attrNameLst>
                                          <p:attrName>style.visibility</p:attrName>
                                        </p:attrNameLst>
                                      </p:cBhvr>
                                      <p:to>
                                        <p:strVal val="visible"/>
                                      </p:to>
                                    </p:set>
                                    <p:anim calcmode="lin" valueType="num">
                                      <p:cBhvr additive="base">
                                        <p:cTn id="7" dur="500" fill="hold"/>
                                        <p:tgtEl>
                                          <p:spTgt spid="65556"/>
                                        </p:tgtEl>
                                        <p:attrNameLst>
                                          <p:attrName>ppt_x</p:attrName>
                                        </p:attrNameLst>
                                      </p:cBhvr>
                                      <p:tavLst>
                                        <p:tav tm="0">
                                          <p:val>
                                            <p:strVal val="0-#ppt_w/2"/>
                                          </p:val>
                                        </p:tav>
                                        <p:tav tm="100000">
                                          <p:val>
                                            <p:strVal val="#ppt_x"/>
                                          </p:val>
                                        </p:tav>
                                      </p:tavLst>
                                    </p:anim>
                                    <p:anim calcmode="lin" valueType="num">
                                      <p:cBhvr additive="base">
                                        <p:cTn id="8" dur="500" fill="hold"/>
                                        <p:tgtEl>
                                          <p:spTgt spid="655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6"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6786563" y="720725"/>
            <a:ext cx="1465262" cy="165100"/>
          </a:xfrm>
          <a:noFill/>
          <a:ln>
            <a:noFill/>
          </a:ln>
        </p:spPr>
        <p:txBody>
          <a:bodyPr/>
          <a:p>
            <a:pPr eaLnBrk="1" hangingPunct="1"/>
            <a:r>
              <a:rPr lang="zh-CN" altLang="en-US" sz="800" dirty="0">
                <a:solidFill>
                  <a:schemeClr val="bg1"/>
                </a:solidFill>
                <a:latin typeface="Times New Roman" panose="02020603050405020304" pitchFamily="18" charset="0"/>
              </a:rPr>
              <a:t>锥齿轮传动的强度计算</a:t>
            </a:r>
            <a:r>
              <a:rPr lang="en-US" altLang="zh-CN" sz="800" dirty="0">
                <a:solidFill>
                  <a:schemeClr val="bg1"/>
                </a:solidFill>
                <a:latin typeface="Times New Roman" panose="02020603050405020304" pitchFamily="18" charset="0"/>
              </a:rPr>
              <a:t>1</a:t>
            </a:r>
            <a:endParaRPr lang="en-US" altLang="zh-CN" sz="800" dirty="0">
              <a:solidFill>
                <a:schemeClr val="bg1"/>
              </a:solidFill>
              <a:latin typeface="Times New Roman" panose="02020603050405020304" pitchFamily="18" charset="0"/>
            </a:endParaRPr>
          </a:p>
        </p:txBody>
      </p:sp>
      <p:pic>
        <p:nvPicPr>
          <p:cNvPr id="11268" name="Picture 10" descr="NEXT">
            <a:hlinkClick r:id="" action="ppaction://hlinkshowjump?jump=nextslide"/>
          </p:cNvPr>
          <p:cNvPicPr>
            <a:picLocks noChangeAspect="1"/>
          </p:cNvPicPr>
          <p:nvPr/>
        </p:nvPicPr>
        <p:blipFill>
          <a:blip r:embed="rId1"/>
          <a:stretch>
            <a:fillRect/>
          </a:stretch>
        </p:blipFill>
        <p:spPr>
          <a:xfrm>
            <a:off x="8824913" y="6538913"/>
            <a:ext cx="287337" cy="287337"/>
          </a:xfrm>
          <a:prstGeom prst="rect">
            <a:avLst/>
          </a:prstGeom>
          <a:noFill/>
          <a:ln w="9525">
            <a:noFill/>
          </a:ln>
        </p:spPr>
      </p:pic>
      <p:pic>
        <p:nvPicPr>
          <p:cNvPr id="11269" name="Picture 11" descr="rewind">
            <a:hlinkClick r:id="" action="ppaction://hlinkshowjump?jump=firstslide"/>
          </p:cNvPr>
          <p:cNvPicPr>
            <a:picLocks noChangeAspect="1"/>
          </p:cNvPicPr>
          <p:nvPr/>
        </p:nvPicPr>
        <p:blipFill>
          <a:blip r:embed="rId2"/>
          <a:stretch>
            <a:fillRect/>
          </a:stretch>
        </p:blipFill>
        <p:spPr>
          <a:xfrm>
            <a:off x="8116888" y="6538913"/>
            <a:ext cx="287337" cy="287337"/>
          </a:xfrm>
          <a:prstGeom prst="rect">
            <a:avLst/>
          </a:prstGeom>
          <a:noFill/>
          <a:ln w="9525">
            <a:noFill/>
          </a:ln>
        </p:spPr>
      </p:pic>
      <p:sp>
        <p:nvSpPr>
          <p:cNvPr id="65556" name="Text Box 20"/>
          <p:cNvSpPr txBox="1"/>
          <p:nvPr/>
        </p:nvSpPr>
        <p:spPr>
          <a:xfrm>
            <a:off x="6608763" y="6221413"/>
            <a:ext cx="247650" cy="396875"/>
          </a:xfrm>
          <a:prstGeom prst="rect">
            <a:avLst/>
          </a:prstGeom>
          <a:noFill/>
          <a:ln w="9525">
            <a:noFill/>
          </a:ln>
        </p:spPr>
        <p:txBody>
          <a:bodyPr wrap="none">
            <a:spAutoFit/>
          </a:bodyPr>
          <a:p>
            <a:pPr eaLnBrk="1" hangingPunct="1"/>
            <a:r>
              <a:rPr lang="en-US" altLang="zh-CN" dirty="0">
                <a:solidFill>
                  <a:schemeClr val="tx1"/>
                </a:solidFill>
                <a:latin typeface="Times New Roman" panose="02020603050405020304" pitchFamily="18" charset="0"/>
              </a:rPr>
              <a:t> </a:t>
            </a:r>
            <a:endParaRPr lang="en-US" altLang="zh-CN" dirty="0">
              <a:solidFill>
                <a:schemeClr val="tx1"/>
              </a:solidFill>
              <a:latin typeface="Times New Roman" panose="02020603050405020304" pitchFamily="18" charset="0"/>
            </a:endParaRPr>
          </a:p>
        </p:txBody>
      </p:sp>
      <p:pic>
        <p:nvPicPr>
          <p:cNvPr id="11271" name="Picture 10" descr="back">
            <a:hlinkClick r:id="" action="ppaction://hlinkshowjump?jump=previousslide"/>
          </p:cNvPr>
          <p:cNvPicPr>
            <a:picLocks noChangeAspect="1"/>
          </p:cNvPicPr>
          <p:nvPr/>
        </p:nvPicPr>
        <p:blipFill>
          <a:blip r:embed="rId3"/>
          <a:stretch>
            <a:fillRect/>
          </a:stretch>
        </p:blipFill>
        <p:spPr>
          <a:xfrm>
            <a:off x="8470900" y="6538913"/>
            <a:ext cx="287338" cy="287337"/>
          </a:xfrm>
          <a:prstGeom prst="rect">
            <a:avLst/>
          </a:prstGeom>
          <a:noFill/>
          <a:ln w="9525">
            <a:noFill/>
          </a:ln>
        </p:spPr>
      </p:pic>
      <p:pic>
        <p:nvPicPr>
          <p:cNvPr id="11272" name="图片 1"/>
          <p:cNvPicPr>
            <a:picLocks noChangeAspect="1"/>
          </p:cNvPicPr>
          <p:nvPr/>
        </p:nvPicPr>
        <p:blipFill>
          <a:blip r:embed="rId4"/>
          <a:stretch>
            <a:fillRect/>
          </a:stretch>
        </p:blipFill>
        <p:spPr>
          <a:xfrm>
            <a:off x="3790950" y="961073"/>
            <a:ext cx="4613275" cy="4411662"/>
          </a:xfrm>
          <a:prstGeom prst="rect">
            <a:avLst/>
          </a:prstGeom>
          <a:noFill/>
          <a:ln w="9525">
            <a:noFill/>
          </a:ln>
        </p:spPr>
      </p:pic>
      <p:sp>
        <p:nvSpPr>
          <p:cNvPr id="5" name="文本框 4"/>
          <p:cNvSpPr txBox="1">
            <a:spLocks noRot="1" noChangeAspect="1" noMove="1" noResize="1" noEditPoints="1" noAdjustHandles="1" noChangeArrowheads="1" noChangeShapeType="1" noTextEdit="1"/>
          </p:cNvSpPr>
          <p:nvPr/>
        </p:nvSpPr>
        <p:spPr>
          <a:xfrm>
            <a:off x="4589751" y="5842638"/>
            <a:ext cx="4285672" cy="338554"/>
          </a:xfrm>
          <a:prstGeom prst="rect">
            <a:avLst/>
          </a:prstGeom>
          <a:blipFill>
            <a:blip r:embed="rId5"/>
            <a:stretch>
              <a:fillRect l="-853" t="-5357" b="-21429"/>
            </a:stretch>
          </a:blipFill>
        </p:spPr>
        <p:txBody>
          <a:bodyPr/>
          <a:lstStyle/>
          <a:p>
            <a:pPr marR="0" defTabSz="914400">
              <a:buClrTx/>
              <a:buSzTx/>
              <a:buFontTx/>
              <a:buNone/>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11274" name="图片 6"/>
          <p:cNvPicPr>
            <a:picLocks noChangeAspect="1"/>
          </p:cNvPicPr>
          <p:nvPr/>
        </p:nvPicPr>
        <p:blipFill>
          <a:blip r:embed="rId6"/>
          <a:stretch>
            <a:fillRect/>
          </a:stretch>
        </p:blipFill>
        <p:spPr>
          <a:xfrm>
            <a:off x="866775" y="1479550"/>
            <a:ext cx="2681288" cy="4267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56"/>
                                        </p:tgtEl>
                                        <p:attrNameLst>
                                          <p:attrName>style.visibility</p:attrName>
                                        </p:attrNameLst>
                                      </p:cBhvr>
                                      <p:to>
                                        <p:strVal val="visible"/>
                                      </p:to>
                                    </p:set>
                                    <p:anim calcmode="lin" valueType="num">
                                      <p:cBhvr additive="base">
                                        <p:cTn id="7" dur="500" fill="hold"/>
                                        <p:tgtEl>
                                          <p:spTgt spid="65556"/>
                                        </p:tgtEl>
                                        <p:attrNameLst>
                                          <p:attrName>ppt_x</p:attrName>
                                        </p:attrNameLst>
                                      </p:cBhvr>
                                      <p:tavLst>
                                        <p:tav tm="0">
                                          <p:val>
                                            <p:strVal val="0-#ppt_w/2"/>
                                          </p:val>
                                        </p:tav>
                                        <p:tav tm="100000">
                                          <p:val>
                                            <p:strVal val="#ppt_x"/>
                                          </p:val>
                                        </p:tav>
                                      </p:tavLst>
                                    </p:anim>
                                    <p:anim calcmode="lin" valueType="num">
                                      <p:cBhvr additive="base">
                                        <p:cTn id="8" dur="500" fill="hold"/>
                                        <p:tgtEl>
                                          <p:spTgt spid="655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6"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6786563" y="720725"/>
            <a:ext cx="1465262" cy="165100"/>
          </a:xfrm>
          <a:noFill/>
          <a:ln>
            <a:noFill/>
          </a:ln>
        </p:spPr>
        <p:txBody>
          <a:bodyPr/>
          <a:p>
            <a:pPr eaLnBrk="1" hangingPunct="1"/>
            <a:r>
              <a:rPr lang="zh-CN" altLang="en-US" sz="800" dirty="0">
                <a:solidFill>
                  <a:schemeClr val="bg1"/>
                </a:solidFill>
                <a:latin typeface="Times New Roman" panose="02020603050405020304" pitchFamily="18" charset="0"/>
              </a:rPr>
              <a:t>锥齿轮传动的强度计算</a:t>
            </a:r>
            <a:r>
              <a:rPr lang="en-US" altLang="zh-CN" sz="800" dirty="0">
                <a:solidFill>
                  <a:schemeClr val="bg1"/>
                </a:solidFill>
                <a:latin typeface="Times New Roman" panose="02020603050405020304" pitchFamily="18" charset="0"/>
              </a:rPr>
              <a:t>1</a:t>
            </a:r>
            <a:endParaRPr lang="en-US" altLang="zh-CN" sz="800" dirty="0">
              <a:solidFill>
                <a:schemeClr val="bg1"/>
              </a:solidFill>
              <a:latin typeface="Times New Roman" panose="02020603050405020304" pitchFamily="18" charset="0"/>
            </a:endParaRPr>
          </a:p>
        </p:txBody>
      </p:sp>
      <p:sp>
        <p:nvSpPr>
          <p:cNvPr id="12291" name="Text Box 5"/>
          <p:cNvSpPr txBox="1"/>
          <p:nvPr/>
        </p:nvSpPr>
        <p:spPr>
          <a:xfrm>
            <a:off x="512763" y="133350"/>
            <a:ext cx="4792662" cy="396875"/>
          </a:xfrm>
          <a:prstGeom prst="rect">
            <a:avLst/>
          </a:prstGeom>
          <a:noFill/>
          <a:ln w="9525">
            <a:noFill/>
          </a:ln>
        </p:spPr>
        <p:txBody>
          <a:bodyPr tIns="36000" bIns="72000" anchor="ctr" anchorCtr="1"/>
          <a:p>
            <a:pPr eaLnBrk="1" hangingPunct="1"/>
            <a:r>
              <a:rPr lang="zh-CN" altLang="en-US" sz="3200" dirty="0">
                <a:solidFill>
                  <a:schemeClr val="bg1"/>
                </a:solidFill>
                <a:latin typeface="黑体" panose="02010609060101010101" pitchFamily="49" charset="-122"/>
                <a:ea typeface="黑体" panose="02010609060101010101" pitchFamily="49" charset="-122"/>
              </a:rPr>
              <a:t>直齿锥齿轮传动设计</a:t>
            </a:r>
            <a:endParaRPr lang="zh-CN" altLang="en-US" sz="3200" dirty="0">
              <a:solidFill>
                <a:schemeClr val="bg1"/>
              </a:solidFill>
              <a:latin typeface="黑体" panose="02010609060101010101" pitchFamily="49" charset="-122"/>
              <a:ea typeface="黑体" panose="02010609060101010101" pitchFamily="49" charset="-122"/>
            </a:endParaRPr>
          </a:p>
        </p:txBody>
      </p:sp>
      <p:pic>
        <p:nvPicPr>
          <p:cNvPr id="12292" name="Picture 11" descr="rewind">
            <a:hlinkClick r:id="" action="ppaction://hlinkshowjump?jump=firstslide"/>
          </p:cNvPr>
          <p:cNvPicPr>
            <a:picLocks noChangeAspect="1"/>
          </p:cNvPicPr>
          <p:nvPr/>
        </p:nvPicPr>
        <p:blipFill>
          <a:blip r:embed="rId1"/>
          <a:stretch>
            <a:fillRect/>
          </a:stretch>
        </p:blipFill>
        <p:spPr>
          <a:xfrm>
            <a:off x="8218488" y="6534150"/>
            <a:ext cx="287337" cy="287338"/>
          </a:xfrm>
          <a:prstGeom prst="rect">
            <a:avLst/>
          </a:prstGeom>
          <a:noFill/>
          <a:ln w="9525">
            <a:noFill/>
          </a:ln>
        </p:spPr>
      </p:pic>
      <p:sp>
        <p:nvSpPr>
          <p:cNvPr id="65556" name="Text Box 20"/>
          <p:cNvSpPr txBox="1"/>
          <p:nvPr/>
        </p:nvSpPr>
        <p:spPr>
          <a:xfrm>
            <a:off x="6608763" y="6221413"/>
            <a:ext cx="247650" cy="396875"/>
          </a:xfrm>
          <a:prstGeom prst="rect">
            <a:avLst/>
          </a:prstGeom>
          <a:noFill/>
          <a:ln w="9525">
            <a:noFill/>
          </a:ln>
        </p:spPr>
        <p:txBody>
          <a:bodyPr wrap="none">
            <a:spAutoFit/>
          </a:bodyPr>
          <a:p>
            <a:pPr eaLnBrk="1" hangingPunct="1"/>
            <a:r>
              <a:rPr lang="en-US" altLang="zh-CN" dirty="0">
                <a:solidFill>
                  <a:schemeClr val="tx1"/>
                </a:solidFill>
                <a:latin typeface="Times New Roman" panose="02020603050405020304" pitchFamily="18" charset="0"/>
              </a:rPr>
              <a:t> </a:t>
            </a:r>
            <a:endParaRPr lang="en-US" altLang="zh-CN" dirty="0">
              <a:solidFill>
                <a:schemeClr val="tx1"/>
              </a:solidFill>
              <a:latin typeface="Times New Roman" panose="02020603050405020304" pitchFamily="18" charset="0"/>
            </a:endParaRPr>
          </a:p>
        </p:txBody>
      </p:sp>
      <p:pic>
        <p:nvPicPr>
          <p:cNvPr id="12294" name="Picture 10" descr="back">
            <a:hlinkClick r:id="" action="ppaction://hlinkshowjump?jump=previousslide"/>
          </p:cNvPr>
          <p:cNvPicPr>
            <a:picLocks noChangeAspect="1"/>
          </p:cNvPicPr>
          <p:nvPr/>
        </p:nvPicPr>
        <p:blipFill>
          <a:blip r:embed="rId2"/>
          <a:stretch>
            <a:fillRect/>
          </a:stretch>
        </p:blipFill>
        <p:spPr>
          <a:xfrm>
            <a:off x="8574088" y="6521450"/>
            <a:ext cx="287337" cy="287338"/>
          </a:xfrm>
          <a:prstGeom prst="rect">
            <a:avLst/>
          </a:prstGeom>
          <a:noFill/>
          <a:ln w="9525">
            <a:noFill/>
          </a:ln>
        </p:spPr>
      </p:pic>
      <p:sp>
        <p:nvSpPr>
          <p:cNvPr id="5" name="文本框 4"/>
          <p:cNvSpPr txBox="1">
            <a:spLocks noRot="1" noChangeAspect="1" noMove="1" noResize="1" noEditPoints="1" noAdjustHandles="1" noChangeArrowheads="1" noChangeShapeType="1" noTextEdit="1"/>
          </p:cNvSpPr>
          <p:nvPr/>
        </p:nvSpPr>
        <p:spPr>
          <a:xfrm>
            <a:off x="4147198" y="5686683"/>
            <a:ext cx="4923130" cy="400111"/>
          </a:xfrm>
          <a:prstGeom prst="rect">
            <a:avLst/>
          </a:prstGeom>
          <a:blipFill>
            <a:blip r:embed="rId3"/>
            <a:stretch>
              <a:fillRect b="-16923"/>
            </a:stretch>
          </a:blipFill>
        </p:spPr>
        <p:txBody>
          <a:bodyPr/>
          <a:lstStyle/>
          <a:p>
            <a:pPr marR="0" defTabSz="914400">
              <a:buClrTx/>
              <a:buSzTx/>
              <a:buFontTx/>
              <a:buNone/>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12296" name="图片 2"/>
          <p:cNvPicPr>
            <a:picLocks noChangeAspect="1"/>
          </p:cNvPicPr>
          <p:nvPr/>
        </p:nvPicPr>
        <p:blipFill>
          <a:blip r:embed="rId4"/>
          <a:stretch>
            <a:fillRect/>
          </a:stretch>
        </p:blipFill>
        <p:spPr>
          <a:xfrm>
            <a:off x="4095750" y="1403350"/>
            <a:ext cx="4705350" cy="4230688"/>
          </a:xfrm>
          <a:prstGeom prst="rect">
            <a:avLst/>
          </a:prstGeom>
          <a:noFill/>
          <a:ln w="9525">
            <a:noFill/>
          </a:ln>
        </p:spPr>
      </p:pic>
      <p:pic>
        <p:nvPicPr>
          <p:cNvPr id="12297" name="图片 5"/>
          <p:cNvPicPr>
            <a:picLocks noChangeAspect="1"/>
          </p:cNvPicPr>
          <p:nvPr/>
        </p:nvPicPr>
        <p:blipFill>
          <a:blip r:embed="rId5"/>
          <a:stretch>
            <a:fillRect/>
          </a:stretch>
        </p:blipFill>
        <p:spPr>
          <a:xfrm>
            <a:off x="1130300" y="1477963"/>
            <a:ext cx="2505075" cy="43830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56"/>
                                        </p:tgtEl>
                                        <p:attrNameLst>
                                          <p:attrName>style.visibility</p:attrName>
                                        </p:attrNameLst>
                                      </p:cBhvr>
                                      <p:to>
                                        <p:strVal val="visible"/>
                                      </p:to>
                                    </p:set>
                                    <p:anim calcmode="lin" valueType="num">
                                      <p:cBhvr additive="base">
                                        <p:cTn id="7" dur="500" fill="hold"/>
                                        <p:tgtEl>
                                          <p:spTgt spid="65556"/>
                                        </p:tgtEl>
                                        <p:attrNameLst>
                                          <p:attrName>ppt_x</p:attrName>
                                        </p:attrNameLst>
                                      </p:cBhvr>
                                      <p:tavLst>
                                        <p:tav tm="0">
                                          <p:val>
                                            <p:strVal val="0-#ppt_w/2"/>
                                          </p:val>
                                        </p:tav>
                                        <p:tav tm="100000">
                                          <p:val>
                                            <p:strVal val="#ppt_x"/>
                                          </p:val>
                                        </p:tav>
                                      </p:tavLst>
                                    </p:anim>
                                    <p:anim calcmode="lin" valueType="num">
                                      <p:cBhvr additive="base">
                                        <p:cTn id="8" dur="500" fill="hold"/>
                                        <p:tgtEl>
                                          <p:spTgt spid="655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6"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p:nvPr/>
        </p:nvGrpSpPr>
        <p:grpSpPr bwMode="auto">
          <a:xfrm>
            <a:off x="334963" y="1255712"/>
            <a:ext cx="8564562" cy="3940175"/>
            <a:chOff x="211" y="791"/>
            <a:chExt cx="5395" cy="2482"/>
          </a:xfrm>
        </p:grpSpPr>
        <p:sp>
          <p:nvSpPr>
            <p:cNvPr id="3" name="Text Box 3"/>
            <p:cNvSpPr txBox="1">
              <a:spLocks noChangeArrowheads="1"/>
            </p:cNvSpPr>
            <p:nvPr/>
          </p:nvSpPr>
          <p:spPr bwMode="auto">
            <a:xfrm>
              <a:off x="1361" y="791"/>
              <a:ext cx="42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dirty="0">
                  <a:solidFill>
                    <a:srgbClr val="FF9900"/>
                  </a:solidFill>
                  <a:latin typeface="Times New Roman" panose="02020603050405020304" pitchFamily="18" charset="0"/>
                </a:rPr>
                <a:t>标准模数系列表（</a:t>
              </a:r>
              <a:r>
                <a:rPr kumimoji="1" lang="en-US" altLang="zh-CN" sz="2400" dirty="0">
                  <a:solidFill>
                    <a:srgbClr val="FF9900"/>
                  </a:solidFill>
                  <a:latin typeface="Times New Roman" panose="02020603050405020304" pitchFamily="18" charset="0"/>
                </a:rPr>
                <a:t>GB1357</a:t>
              </a:r>
              <a:r>
                <a:rPr kumimoji="1" lang="zh-CN" altLang="en-US" sz="2400" dirty="0">
                  <a:solidFill>
                    <a:srgbClr val="FF9900"/>
                  </a:solidFill>
                  <a:latin typeface="Times New Roman" panose="02020603050405020304" pitchFamily="18" charset="0"/>
                </a:rPr>
                <a:t>－</a:t>
              </a:r>
              <a:r>
                <a:rPr kumimoji="1" lang="en-US" altLang="zh-CN" sz="2400" dirty="0">
                  <a:solidFill>
                    <a:srgbClr val="FF9900"/>
                  </a:solidFill>
                  <a:latin typeface="Times New Roman" panose="02020603050405020304" pitchFamily="18" charset="0"/>
                </a:rPr>
                <a:t>87</a:t>
              </a:r>
              <a:r>
                <a:rPr kumimoji="1" lang="zh-CN" altLang="en-US" sz="2400" dirty="0">
                  <a:solidFill>
                    <a:srgbClr val="FF9900"/>
                  </a:solidFill>
                  <a:latin typeface="Times New Roman" panose="02020603050405020304" pitchFamily="18" charset="0"/>
                </a:rPr>
                <a:t>）</a:t>
              </a:r>
              <a:endParaRPr kumimoji="1" lang="zh-CN" altLang="en-US" sz="2400" dirty="0">
                <a:solidFill>
                  <a:srgbClr val="FF9900"/>
                </a:solidFill>
                <a:latin typeface="Times New Roman" panose="02020603050405020304" pitchFamily="18" charset="0"/>
              </a:endParaRPr>
            </a:p>
          </p:txBody>
        </p:sp>
        <p:sp>
          <p:nvSpPr>
            <p:cNvPr id="4" name="Text Box 4"/>
            <p:cNvSpPr txBox="1">
              <a:spLocks noChangeArrowheads="1"/>
            </p:cNvSpPr>
            <p:nvPr/>
          </p:nvSpPr>
          <p:spPr bwMode="auto">
            <a:xfrm>
              <a:off x="249" y="1161"/>
              <a:ext cx="5232" cy="978"/>
            </a:xfrm>
            <a:prstGeom prst="rect">
              <a:avLst/>
            </a:prstGeom>
            <a:noFill/>
            <a:ln w="12700">
              <a:noFill/>
              <a:miter lim="800000"/>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1" lang="en-US" altLang="zh-CN" sz="2000" dirty="0">
                  <a:solidFill>
                    <a:schemeClr val="folHlink"/>
                  </a:solidFill>
                  <a:latin typeface="Times New Roman" panose="02020603050405020304" pitchFamily="18" charset="0"/>
                </a:rPr>
                <a:t>                      </a:t>
              </a:r>
              <a:r>
                <a:rPr kumimoji="1" lang="en-US" altLang="zh-CN" sz="2400" dirty="0">
                  <a:solidFill>
                    <a:schemeClr val="folHlink"/>
                  </a:solidFill>
                  <a:latin typeface="Times New Roman" panose="02020603050405020304" pitchFamily="18" charset="0"/>
                </a:rPr>
                <a:t>0.1   0.12   0.15   0.2   0.25   0.5   0.4   0.5   0.6   0.8</a:t>
              </a:r>
              <a:endParaRPr kumimoji="1" lang="en-US" altLang="zh-CN" sz="2400" dirty="0">
                <a:solidFill>
                  <a:schemeClr val="folHlink"/>
                </a:solidFill>
                <a:latin typeface="Times New Roman" panose="02020603050405020304" pitchFamily="18" charset="0"/>
              </a:endParaRPr>
            </a:p>
            <a:p>
              <a:pPr algn="l">
                <a:spcBef>
                  <a:spcPct val="50000"/>
                </a:spcBef>
              </a:pPr>
              <a:r>
                <a:rPr kumimoji="1" lang="zh-CN" altLang="en-US" sz="2400" dirty="0">
                  <a:solidFill>
                    <a:schemeClr val="hlink"/>
                  </a:solidFill>
                  <a:latin typeface="Times New Roman" panose="02020603050405020304" pitchFamily="18" charset="0"/>
                </a:rPr>
                <a:t>第一系列</a:t>
              </a:r>
              <a:r>
                <a:rPr kumimoji="1" lang="zh-CN" altLang="en-US" sz="2400" dirty="0">
                  <a:solidFill>
                    <a:schemeClr val="folHlink"/>
                  </a:solidFill>
                  <a:latin typeface="Times New Roman" panose="02020603050405020304" pitchFamily="18" charset="0"/>
                </a:rPr>
                <a:t>    </a:t>
              </a:r>
              <a:r>
                <a:rPr kumimoji="1" lang="en-US" altLang="zh-CN" sz="2400" dirty="0">
                  <a:solidFill>
                    <a:schemeClr val="folHlink"/>
                  </a:solidFill>
                  <a:latin typeface="Times New Roman" panose="02020603050405020304" pitchFamily="18" charset="0"/>
                </a:rPr>
                <a:t>1    1.25     1.5     2      2.5     3      4      5       6      8  </a:t>
              </a:r>
              <a:endParaRPr kumimoji="1" lang="en-US" altLang="zh-CN" sz="2400" dirty="0">
                <a:solidFill>
                  <a:schemeClr val="folHlink"/>
                </a:solidFill>
                <a:latin typeface="Times New Roman" panose="02020603050405020304" pitchFamily="18" charset="0"/>
              </a:endParaRPr>
            </a:p>
            <a:p>
              <a:pPr algn="l">
                <a:spcBef>
                  <a:spcPct val="50000"/>
                </a:spcBef>
              </a:pPr>
              <a:r>
                <a:rPr kumimoji="1" lang="en-US" altLang="zh-CN" sz="2400" dirty="0">
                  <a:solidFill>
                    <a:schemeClr val="folHlink"/>
                  </a:solidFill>
                  <a:latin typeface="Times New Roman" panose="02020603050405020304" pitchFamily="18" charset="0"/>
                </a:rPr>
                <a:t>                    10    12       16    20      25     32    40    50</a:t>
              </a:r>
              <a:endParaRPr kumimoji="1" lang="en-US" altLang="zh-CN" sz="2400" dirty="0">
                <a:solidFill>
                  <a:schemeClr val="folHlink"/>
                </a:solidFill>
                <a:latin typeface="Times New Roman" panose="02020603050405020304" pitchFamily="18" charset="0"/>
              </a:endParaRPr>
            </a:p>
          </p:txBody>
        </p:sp>
        <p:grpSp>
          <p:nvGrpSpPr>
            <p:cNvPr id="5" name="Group 5"/>
            <p:cNvGrpSpPr/>
            <p:nvPr/>
          </p:nvGrpSpPr>
          <p:grpSpPr bwMode="auto">
            <a:xfrm>
              <a:off x="211" y="1142"/>
              <a:ext cx="5395" cy="2131"/>
              <a:chOff x="211" y="1142"/>
              <a:chExt cx="5395" cy="2131"/>
            </a:xfrm>
          </p:grpSpPr>
          <p:sp>
            <p:nvSpPr>
              <p:cNvPr id="7" name="Line 6"/>
              <p:cNvSpPr>
                <a:spLocks noChangeShapeType="1"/>
              </p:cNvSpPr>
              <p:nvPr/>
            </p:nvSpPr>
            <p:spPr bwMode="auto">
              <a:xfrm>
                <a:off x="1132" y="1142"/>
                <a:ext cx="0" cy="2131"/>
              </a:xfrm>
              <a:prstGeom prst="line">
                <a:avLst/>
              </a:prstGeom>
              <a:noFill/>
              <a:ln w="190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 name="Group 7"/>
              <p:cNvGrpSpPr/>
              <p:nvPr/>
            </p:nvGrpSpPr>
            <p:grpSpPr bwMode="auto">
              <a:xfrm>
                <a:off x="211" y="1142"/>
                <a:ext cx="5395" cy="2131"/>
                <a:chOff x="202" y="605"/>
                <a:chExt cx="5395" cy="2131"/>
              </a:xfrm>
            </p:grpSpPr>
            <p:sp>
              <p:nvSpPr>
                <p:cNvPr id="9" name="Rectangle 8"/>
                <p:cNvSpPr>
                  <a:spLocks noChangeArrowheads="1"/>
                </p:cNvSpPr>
                <p:nvPr/>
              </p:nvSpPr>
              <p:spPr bwMode="auto">
                <a:xfrm>
                  <a:off x="202" y="605"/>
                  <a:ext cx="5385" cy="2131"/>
                </a:xfrm>
                <a:prstGeom prst="rect">
                  <a:avLst/>
                </a:prstGeom>
                <a:noFill/>
                <a:ln w="19050">
                  <a:solidFill>
                    <a:srgbClr val="0070C0"/>
                  </a:solidFill>
                  <a:miter lim="800000"/>
                  <a:headEnd type="none" w="sm" len="lg"/>
                  <a:tailEnd type="none" w="sm"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 name="Line 9"/>
                <p:cNvSpPr>
                  <a:spLocks noChangeShapeType="1"/>
                </p:cNvSpPr>
                <p:nvPr/>
              </p:nvSpPr>
              <p:spPr bwMode="auto">
                <a:xfrm>
                  <a:off x="202" y="1640"/>
                  <a:ext cx="5395" cy="0"/>
                </a:xfrm>
                <a:prstGeom prst="line">
                  <a:avLst/>
                </a:prstGeom>
                <a:noFill/>
                <a:ln w="1905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grpSp>
      <p:sp>
        <p:nvSpPr>
          <p:cNvPr id="11" name="Text Box 2"/>
          <p:cNvSpPr txBox="1">
            <a:spLocks noChangeArrowheads="1"/>
          </p:cNvSpPr>
          <p:nvPr/>
        </p:nvSpPr>
        <p:spPr bwMode="auto">
          <a:xfrm>
            <a:off x="391266" y="3465513"/>
            <a:ext cx="8305800" cy="1552575"/>
          </a:xfrm>
          <a:prstGeom prst="rect">
            <a:avLst/>
          </a:prstGeom>
          <a:noFill/>
          <a:ln w="12700">
            <a:noFill/>
            <a:miter lim="800000"/>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1" lang="en-US" altLang="zh-CN" sz="2000" dirty="0">
                <a:solidFill>
                  <a:schemeClr val="folHlink"/>
                </a:solidFill>
                <a:latin typeface="Times New Roman" panose="02020603050405020304" pitchFamily="18" charset="0"/>
              </a:rPr>
              <a:t>                      </a:t>
            </a:r>
            <a:r>
              <a:rPr kumimoji="1" lang="en-US" altLang="zh-CN" sz="2400" dirty="0">
                <a:solidFill>
                  <a:schemeClr val="folHlink"/>
                </a:solidFill>
                <a:latin typeface="Times New Roman" panose="02020603050405020304" pitchFamily="18" charset="0"/>
              </a:rPr>
              <a:t>0.35   0.7   0.9   1.75   2.25   2.75   (3.25)   3.5   (3.75)   </a:t>
            </a:r>
            <a:endParaRPr kumimoji="1" lang="en-US" altLang="zh-CN" sz="2400" dirty="0">
              <a:solidFill>
                <a:schemeClr val="folHlink"/>
              </a:solidFill>
              <a:latin typeface="Times New Roman" panose="02020603050405020304" pitchFamily="18" charset="0"/>
            </a:endParaRPr>
          </a:p>
          <a:p>
            <a:pPr algn="l">
              <a:spcBef>
                <a:spcPct val="50000"/>
              </a:spcBef>
            </a:pPr>
            <a:r>
              <a:rPr kumimoji="1" lang="zh-CN" altLang="en-US" sz="2400" dirty="0">
                <a:solidFill>
                  <a:schemeClr val="hlink"/>
                </a:solidFill>
                <a:latin typeface="Times New Roman" panose="02020603050405020304" pitchFamily="18" charset="0"/>
              </a:rPr>
              <a:t>第二系列</a:t>
            </a:r>
            <a:r>
              <a:rPr kumimoji="1" lang="zh-CN" altLang="en-US" sz="2400" dirty="0">
                <a:solidFill>
                  <a:schemeClr val="folHlink"/>
                </a:solidFill>
                <a:latin typeface="Times New Roman" panose="02020603050405020304" pitchFamily="18" charset="0"/>
              </a:rPr>
              <a:t>  </a:t>
            </a:r>
            <a:r>
              <a:rPr kumimoji="1" lang="en-US" altLang="zh-CN" sz="2400" dirty="0">
                <a:solidFill>
                  <a:schemeClr val="folHlink"/>
                </a:solidFill>
                <a:latin typeface="Times New Roman" panose="02020603050405020304" pitchFamily="18" charset="0"/>
              </a:rPr>
              <a:t>4.5   5.5    (6.5)     7     9      (11)     14      18      22       </a:t>
            </a:r>
            <a:endParaRPr kumimoji="1" lang="en-US" altLang="zh-CN" sz="2400" dirty="0">
              <a:solidFill>
                <a:schemeClr val="folHlink"/>
              </a:solidFill>
              <a:latin typeface="Times New Roman" panose="02020603050405020304" pitchFamily="18" charset="0"/>
            </a:endParaRPr>
          </a:p>
          <a:p>
            <a:pPr algn="l">
              <a:spcBef>
                <a:spcPct val="50000"/>
              </a:spcBef>
            </a:pPr>
            <a:r>
              <a:rPr kumimoji="1" lang="en-US" altLang="zh-CN" sz="2400" dirty="0">
                <a:solidFill>
                  <a:schemeClr val="folHlink"/>
                </a:solidFill>
                <a:latin typeface="Times New Roman" panose="02020603050405020304" pitchFamily="18" charset="0"/>
              </a:rPr>
              <a:t>                   28   (30)    36    45</a:t>
            </a:r>
            <a:endParaRPr kumimoji="1" lang="en-US" altLang="zh-CN" sz="2400" dirty="0">
              <a:solidFill>
                <a:schemeClr val="folHlink"/>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sld>
</file>

<file path=ppt/tags/tag1.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2.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3.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4.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5.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6.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7.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8.xml><?xml version="1.0" encoding="utf-8"?>
<p:tagLst xmlns:p="http://schemas.openxmlformats.org/presentationml/2006/main">
  <p:tag name="KSO_WM_DIAGRAM_VIRTUALLY_FRAME" val="{&quot;height&quot;:343.77937007874004,&quot;left&quot;:55.850078740157485,&quot;top&quot;:171.6384251968504,&quot;width&quot;:617.9761417322835}"/>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UNIT_TABLE_BEAUTIFY" val="smartTable{62aa4c9c-2f49-4c12-ac50-c1bff88d8973}"/>
  <p:tag name="TABLE_ENDDRAG_ORIGIN_RECT" val="421*218"/>
  <p:tag name="TABLE_ENDDRAG_RECT" val="153*293*421*218"/>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UNIT_PLACING_PICTURE_USER_VIEWPORT" val="{&quot;height&quot;:7997.500787401575,&quot;width&quot;:8510}"/>
</p:tagLst>
</file>

<file path=ppt/tags/tag24.xml><?xml version="1.0" encoding="utf-8"?>
<p:tagLst xmlns:p="http://schemas.openxmlformats.org/presentationml/2006/main">
  <p:tag name="TABLE_ENDDRAG_ORIGIN_RECT" val="631*226"/>
  <p:tag name="TABLE_ENDDRAG_RECT" val="46*298*631*226"/>
</p:tagLst>
</file>

<file path=ppt/tags/tag25.xml><?xml version="1.0" encoding="utf-8"?>
<p:tagLst xmlns:p="http://schemas.openxmlformats.org/presentationml/2006/main">
  <p:tag name="KSO_WM_UNIT_TABLE_BEAUTIFY" val="smartTable{e95c94b5-92ba-4694-8198-10f6e08a18f3}"/>
</p:tagLst>
</file>

<file path=ppt/tags/tag26.xml><?xml version="1.0" encoding="utf-8"?>
<p:tagLst xmlns:p="http://schemas.openxmlformats.org/presentationml/2006/main">
  <p:tag name="KSO_WM_UNIT_TABLE_BEAUTIFY" val="smartTable{a513d37a-46ce-4d3f-b6b6-66c205fc91f2}"/>
</p:tagLst>
</file>

<file path=ppt/tags/tag27.xml><?xml version="1.0" encoding="utf-8"?>
<p:tagLst xmlns:p="http://schemas.openxmlformats.org/presentationml/2006/main">
  <p:tag name="KSO_WM_UNIT_TABLE_BEAUTIFY" val="smartTable{30c57c2e-4b00-4353-8751-cae37c945717}"/>
</p:tagLst>
</file>

<file path=ppt/tags/tag28.xml><?xml version="1.0" encoding="utf-8"?>
<p:tagLst xmlns:p="http://schemas.openxmlformats.org/presentationml/2006/main">
  <p:tag name="KSO_WM_UNIT_TABLE_BEAUTIFY" val="smartTable{811d3652-830a-4920-9c57-b00a25e2c110}"/>
</p:tagLst>
</file>

<file path=ppt/tags/tag29.xml><?xml version="1.0" encoding="utf-8"?>
<p:tagLst xmlns:p="http://schemas.openxmlformats.org/presentationml/2006/main">
  <p:tag name="KSO_WM_UNIT_TABLE_BEAUTIFY" val="smartTable{bbaeaf20-18ce-4f2b-bde5-851667b51f1e}"/>
</p:tagLst>
</file>

<file path=ppt/tags/tag30.xml><?xml version="1.0" encoding="utf-8"?>
<p:tagLst xmlns:p="http://schemas.openxmlformats.org/presentationml/2006/main">
  <p:tag name="KSO_WPP_MARK_KEY" val="525e6124-0078-4d23-b16b-1caf15d0b394"/>
  <p:tag name="COMMONDATA" val="eyJoZGlkIjoiZmYwY2UxNzI0ODdjMTkzYTM2NmQ4OTdkNGYwMzJlYmMifQ=="/>
  <p:tag name="commondata" val="eyJoZGlkIjoiZTJlNmM0NTk2Mjk3OWEyOWRkMTVhNzNmZGVjNzIwNDg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0000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21929</Words>
  <Application>WPS 演示</Application>
  <PresentationFormat>全屏显示(4:3)</PresentationFormat>
  <Paragraphs>3014</Paragraphs>
  <Slides>131</Slides>
  <Notes>43</Notes>
  <HiddenSlides>0</HiddenSlides>
  <MMClips>0</MMClips>
  <ScaleCrop>false</ScaleCrop>
  <HeadingPairs>
    <vt:vector size="8" baseType="variant">
      <vt:variant>
        <vt:lpstr>已用的字体</vt:lpstr>
      </vt:variant>
      <vt:variant>
        <vt:i4>27</vt:i4>
      </vt:variant>
      <vt:variant>
        <vt:lpstr>主题</vt:lpstr>
      </vt:variant>
      <vt:variant>
        <vt:i4>16</vt:i4>
      </vt:variant>
      <vt:variant>
        <vt:lpstr>嵌入 OLE 服务器</vt:lpstr>
      </vt:variant>
      <vt:variant>
        <vt:i4>141</vt:i4>
      </vt:variant>
      <vt:variant>
        <vt:lpstr>幻灯片标题</vt:lpstr>
      </vt:variant>
      <vt:variant>
        <vt:i4>131</vt:i4>
      </vt:variant>
    </vt:vector>
  </HeadingPairs>
  <TitlesOfParts>
    <vt:vector size="315" baseType="lpstr">
      <vt:lpstr>Arial</vt:lpstr>
      <vt:lpstr>宋体</vt:lpstr>
      <vt:lpstr>Wingdings</vt:lpstr>
      <vt:lpstr>Times New Roman</vt:lpstr>
      <vt:lpstr>华文中宋</vt:lpstr>
      <vt:lpstr>Tahoma</vt:lpstr>
      <vt:lpstr>黑体</vt:lpstr>
      <vt:lpstr>微软雅黑</vt:lpstr>
      <vt:lpstr>Arial Unicode MS</vt:lpstr>
      <vt:lpstr>隶书</vt:lpstr>
      <vt:lpstr>Symbol</vt:lpstr>
      <vt:lpstr>Cambria Math</vt:lpstr>
      <vt:lpstr>楷体_GB2312</vt:lpstr>
      <vt:lpstr>新宋体</vt:lpstr>
      <vt:lpstr>华文行楷</vt:lpstr>
      <vt:lpstr>华文隶书</vt:lpstr>
      <vt:lpstr>华文仿宋</vt:lpstr>
      <vt:lpstr>Calibri</vt:lpstr>
      <vt:lpstr>Symbol</vt:lpstr>
      <vt:lpstr>华文新魏</vt:lpstr>
      <vt:lpstr>Arial Narrow</vt:lpstr>
      <vt:lpstr>Calibri</vt:lpstr>
      <vt:lpstr>Times New Roman</vt:lpstr>
      <vt:lpstr>Wingdings</vt:lpstr>
      <vt:lpstr>PingFang SC</vt:lpstr>
      <vt:lpstr>AMGDT</vt:lpstr>
      <vt:lpstr>Arial</vt:lpstr>
      <vt:lpstr>Blueprint</vt:lpstr>
      <vt:lpstr>1_Blueprint</vt:lpstr>
      <vt:lpstr>3_Blueprint</vt:lpstr>
      <vt:lpstr>4_Blueprint</vt:lpstr>
      <vt:lpstr>5_Blueprint</vt:lpstr>
      <vt:lpstr>2_Blueprint</vt:lpstr>
      <vt:lpstr>6_Blueprint</vt:lpstr>
      <vt:lpstr>7_Blueprint</vt:lpstr>
      <vt:lpstr>8_Blueprint</vt:lpstr>
      <vt:lpstr>9_Blueprint</vt:lpstr>
      <vt:lpstr>10_Blueprint</vt:lpstr>
      <vt:lpstr>11_Blueprint</vt:lpstr>
      <vt:lpstr>12_Blueprint</vt:lpstr>
      <vt:lpstr>13_Blueprint</vt:lpstr>
      <vt:lpstr>14_Blueprint</vt:lpstr>
      <vt:lpstr>15_Blueprint</vt:lpstr>
      <vt:lpstr>Word.Document.8</vt:lpstr>
      <vt:lpstr>Word.Document.8</vt:lpstr>
      <vt:lpstr>Word.Document.8</vt:lpstr>
      <vt:lpstr>Word.Document.8</vt:lpstr>
      <vt:lpstr>Paint.Picture</vt:lpstr>
      <vt:lpstr>Equation.3</vt:lpstr>
      <vt:lpstr>Equation.3</vt:lpstr>
      <vt:lpstr>Equation.3</vt:lpstr>
      <vt:lpstr>Equation.3</vt:lpstr>
      <vt:lpstr>Equation.3</vt:lpstr>
      <vt:lpstr>Equation.3</vt:lpstr>
      <vt:lpstr>Equation.3</vt:lpstr>
      <vt:lpstr>Equation.KSEE3</vt:lpstr>
      <vt:lpstr>Equation.KSEE3</vt:lpstr>
      <vt:lpstr>Equation.3</vt:lpstr>
      <vt:lpstr>Equation.KSEE3</vt:lpstr>
      <vt:lpstr>Equation.3</vt:lpstr>
      <vt:lpstr>Equation.KSEE3</vt:lpstr>
      <vt:lpstr>Equation.KSEE3</vt:lpstr>
      <vt:lpstr>Equation.KSEE3</vt:lpstr>
      <vt:lpstr>Equation.KSEE3</vt:lpstr>
      <vt:lpstr>Equation.3</vt:lpstr>
      <vt:lpstr>Equation.3</vt:lpstr>
      <vt:lpstr>Equation.KSEE3</vt:lpstr>
      <vt:lpstr>Equation.KSEE3</vt:lpstr>
      <vt:lpstr>Equation.KSEE3</vt:lpstr>
      <vt:lpstr>Equation.KSEE3</vt:lpstr>
      <vt:lpstr>Equation.3</vt:lpstr>
      <vt:lpstr>Equation.KSEE3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Equation.KSEE3</vt:lpstr>
      <vt:lpstr>Equation.KSEE3</vt:lpstr>
      <vt:lpstr>Equation.3</vt:lpstr>
      <vt:lpstr>Equation.3</vt:lpstr>
      <vt:lpstr>Equation.KSEE3</vt:lpstr>
      <vt:lpstr>Equation.KSEE3</vt:lpstr>
      <vt:lpstr>Equation.3</vt:lpstr>
      <vt:lpstr>Equation.3</vt:lpstr>
      <vt:lpstr>Equation.3</vt:lpstr>
      <vt:lpstr>Equation.3</vt:lpstr>
      <vt:lpstr>Equation.3</vt:lpstr>
      <vt:lpstr>Equation.3</vt:lpstr>
      <vt:lpstr>Equation.3</vt:lpstr>
      <vt:lpstr>MSPhotoEd.3</vt:lpstr>
      <vt:lpstr>Equation.3</vt:lpstr>
      <vt:lpstr>MSPhotoEd.3</vt:lpstr>
      <vt:lpstr>Equation.3</vt:lpstr>
      <vt:lpstr>Equation.3</vt:lpstr>
      <vt:lpstr>Equation.3</vt:lpstr>
      <vt:lpstr>Equation.3</vt:lpstr>
      <vt:lpstr>Equation.KSEE3</vt:lpstr>
      <vt:lpstr>Equation.KSEE3</vt:lpstr>
      <vt:lpstr>Equation.KSEE3</vt:lpstr>
      <vt:lpstr>Equation.3</vt:lpstr>
      <vt:lpstr>Equation.3</vt:lpstr>
      <vt:lpstr>Equation.3</vt:lpstr>
      <vt:lpstr>Equation.KSEE3</vt:lpstr>
      <vt:lpstr>Equation.3</vt:lpstr>
      <vt:lpstr>Equation.3</vt:lpstr>
      <vt:lpstr>Equation.3</vt:lpstr>
      <vt:lpstr>Equation.3</vt:lpstr>
      <vt:lpstr>Equation.KSEE3</vt:lpstr>
      <vt:lpstr>Equation.3</vt:lpstr>
      <vt:lpstr>Equation.KSEE3</vt:lpstr>
      <vt:lpstr>Equation.3</vt:lpstr>
      <vt:lpstr>Equation.KSEE3</vt:lpstr>
      <vt:lpstr>Equation.KSEE3</vt:lpstr>
      <vt:lpstr>Equation.KSEE3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Equation.KSEE3</vt:lpstr>
      <vt:lpstr>Equation.KSEE3</vt:lpstr>
      <vt:lpstr>Equation.3</vt:lpstr>
      <vt:lpstr>Equation.KSEE3</vt:lpstr>
      <vt:lpstr>Equation.3</vt:lpstr>
      <vt:lpstr>Equation.KSEE3</vt:lpstr>
      <vt:lpstr>Equation.3</vt:lpstr>
      <vt:lpstr>Equation.KSEE3</vt:lpstr>
      <vt:lpstr>Equation.KSEE3</vt:lpstr>
      <vt:lpstr>Equation.KSEE3</vt:lpstr>
      <vt:lpstr>Equation.KSEE3</vt:lpstr>
      <vt:lpstr>Equation.KSEE3</vt:lpstr>
      <vt:lpstr>Equation.KSEE3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Equation.3</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Equation.3</vt:lpstr>
      <vt:lpstr>Equation.KSEE3</vt:lpstr>
      <vt:lpstr>Equation.3</vt:lpstr>
      <vt:lpstr>Flash.Movie</vt:lpstr>
      <vt:lpstr>Flash.Movie</vt:lpstr>
      <vt:lpstr>Flash.Movie</vt:lpstr>
      <vt:lpstr>Flash.Movie</vt:lpstr>
      <vt:lpstr>Flash.Movie</vt:lpstr>
      <vt:lpstr>Equation.3</vt:lpstr>
      <vt:lpstr>Equation.3</vt:lpstr>
      <vt:lpstr>Equation.3</vt:lpstr>
      <vt:lpstr>第3.4章 齿轮传动</vt:lpstr>
      <vt:lpstr>PowerPoint 演示文稿</vt:lpstr>
      <vt:lpstr>齿轮传动概述1</vt:lpstr>
      <vt:lpstr>PowerPoint 演示文稿</vt:lpstr>
      <vt:lpstr>PowerPoint 演示文稿</vt:lpstr>
      <vt:lpstr>齿轮传动概述2</vt:lpstr>
      <vt:lpstr>PowerPoint 演示文稿</vt:lpstr>
      <vt:lpstr>PowerPoint 演示文稿</vt:lpstr>
      <vt:lpstr>PowerPoint 演示文稿</vt:lpstr>
      <vt:lpstr>齿轮传动的失效形式及设计准则</vt:lpstr>
      <vt:lpstr>齿轮传动的失效形式及设计准则</vt:lpstr>
      <vt:lpstr>齿轮传动的失效形式及设计准则</vt:lpstr>
      <vt:lpstr>齿轮传动的失效形式及设计准则</vt:lpstr>
      <vt:lpstr>PowerPoint 演示文稿</vt:lpstr>
      <vt:lpstr>PowerPoint 演示文稿</vt:lpstr>
      <vt:lpstr>PowerPoint 演示文稿</vt:lpstr>
      <vt:lpstr>PowerPoint 演示文稿</vt:lpstr>
      <vt:lpstr>PowerPoint 演示文稿</vt:lpstr>
      <vt:lpstr>齿轮的材料及其选择原则</vt:lpstr>
      <vt:lpstr>PowerPoint 演示文稿</vt:lpstr>
      <vt:lpstr>PowerPoint 演示文稿</vt:lpstr>
      <vt:lpstr>齿轮的材料及其选择原则</vt:lpstr>
      <vt:lpstr>PowerPoint 演示文稿</vt:lpstr>
      <vt:lpstr>直齿圆柱齿轮强度计算1</vt:lpstr>
      <vt:lpstr>PowerPoint 演示文稿</vt:lpstr>
      <vt:lpstr>PowerPoint 演示文稿</vt:lpstr>
      <vt:lpstr>PowerPoint 演示文稿</vt:lpstr>
      <vt:lpstr>PowerPoint 演示文稿</vt:lpstr>
      <vt:lpstr>标准斜齿圆柱齿轮强度计算1</vt:lpstr>
      <vt:lpstr>标准斜齿圆柱齿轮强度计算1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齿轮传动的计算载荷</vt:lpstr>
      <vt:lpstr>齿轮传动的计算载荷</vt:lpstr>
      <vt:lpstr>直齿圆柱齿轮强度计算1</vt:lpstr>
      <vt:lpstr>直齿圆柱齿轮强度计算1</vt:lpstr>
      <vt:lpstr>齿轮传动的计算载荷</vt:lpstr>
      <vt:lpstr>直齿圆柱齿轮强度计算1</vt:lpstr>
      <vt:lpstr>直齿圆柱齿轮强度计算3</vt:lpstr>
      <vt:lpstr>PowerPoint 演示文稿</vt:lpstr>
      <vt:lpstr>直齿圆柱齿轮强度计算3</vt:lpstr>
      <vt:lpstr>直齿圆柱齿轮强度计算3</vt:lpstr>
      <vt:lpstr>直齿圆柱齿轮强度计算1</vt:lpstr>
      <vt:lpstr>直齿圆柱齿轮强度计算1</vt:lpstr>
      <vt:lpstr>直齿圆柱齿轮强度计算1</vt:lpstr>
      <vt:lpstr>直齿圆柱齿轮强度计算1</vt:lpstr>
      <vt:lpstr>直齿圆柱齿轮强度计算1</vt:lpstr>
      <vt:lpstr>直齿圆柱齿轮强度计算1</vt:lpstr>
      <vt:lpstr>PowerPoint 演示文稿</vt:lpstr>
      <vt:lpstr>直齿圆柱齿轮强度计算1</vt:lpstr>
      <vt:lpstr>直齿圆柱齿轮强度计算1</vt:lpstr>
      <vt:lpstr>直齿圆柱齿轮强度计算1</vt:lpstr>
      <vt:lpstr>直齿圆柱齿轮强度计算1</vt:lpstr>
      <vt:lpstr>直齿圆柱齿轮强度计算1</vt:lpstr>
      <vt:lpstr>直齿圆柱齿轮强度计算1</vt:lpstr>
      <vt:lpstr>直齿圆柱齿轮强度计算3</vt:lpstr>
      <vt:lpstr>PowerPoint 演示文稿</vt:lpstr>
      <vt:lpstr>PowerPoint 演示文稿</vt:lpstr>
      <vt:lpstr>直齿圆柱齿轮强度计算2</vt:lpstr>
      <vt:lpstr>齿轮传动的设计参数3</vt:lpstr>
      <vt:lpstr>齿轮传动的设计参数3</vt:lpstr>
      <vt:lpstr>齿轮传动的设计参数1</vt:lpstr>
      <vt:lpstr>PowerPoint 演示文稿</vt:lpstr>
      <vt:lpstr>PowerPoint 演示文稿</vt:lpstr>
      <vt:lpstr>齿轮传动的设计参数4</vt:lpstr>
      <vt:lpstr>齿轮的结构设计</vt:lpstr>
      <vt:lpstr>PowerPoint 演示文稿</vt:lpstr>
      <vt:lpstr>PowerPoint 演示文稿</vt:lpstr>
      <vt:lpstr>PowerPoint 演示文稿</vt:lpstr>
      <vt:lpstr>直齿圆柱齿轮强度计算1</vt:lpstr>
      <vt:lpstr>PowerPoint 演示文稿</vt:lpstr>
      <vt:lpstr>PowerPoint 演示文稿</vt:lpstr>
      <vt:lpstr>PowerPoint 演示文稿</vt:lpstr>
      <vt:lpstr>直齿圆柱齿轮强度计算1</vt:lpstr>
      <vt:lpstr>PowerPoint 演示文稿</vt:lpstr>
      <vt:lpstr>PowerPoint 演示文稿</vt:lpstr>
      <vt:lpstr>锥齿轮传动的强度计算1</vt:lpstr>
      <vt:lpstr>锥齿轮传动的强度计算1</vt:lpstr>
      <vt:lpstr>PowerPoint 演示文稿</vt:lpstr>
      <vt:lpstr>PowerPoint 演示文稿</vt:lpstr>
      <vt:lpstr>锥齿轮传动的强度计算1</vt:lpstr>
      <vt:lpstr>锥齿轮传动的强度计算2</vt:lpstr>
      <vt:lpstr>PowerPoint 演示文稿</vt:lpstr>
      <vt:lpstr>PowerPoint 演示文稿</vt:lpstr>
      <vt:lpstr>锥齿轮传动的强度计算4</vt:lpstr>
      <vt:lpstr>锥齿轮传动的强度计算4</vt:lpstr>
      <vt:lpstr>锥齿轮传动的强度计算3</vt:lpstr>
      <vt:lpstr>PowerPoint 演示文稿</vt:lpstr>
      <vt:lpstr>PowerPoint 演示文稿</vt:lpstr>
      <vt:lpstr>齿轮传动的润滑 </vt:lpstr>
      <vt:lpstr>PowerPoint 演示文稿</vt:lpstr>
      <vt:lpstr>齿轮传动的润滑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齿轮材料</vt:lpstr>
      <vt:lpstr>使用系数 </vt:lpstr>
      <vt:lpstr>动载系数 </vt:lpstr>
      <vt:lpstr>齿间载荷分配系数 </vt:lpstr>
      <vt:lpstr>直齿圆柱齿轮强度计算1</vt:lpstr>
      <vt:lpstr>直齿圆柱齿轮强度计算1</vt:lpstr>
      <vt:lpstr>齿形系数和应力修正系数 </vt:lpstr>
      <vt:lpstr>区域系数等 </vt:lpstr>
      <vt:lpstr>PowerPoint 演示文稿</vt:lpstr>
      <vt:lpstr>PowerPoint 演示文稿</vt:lpstr>
      <vt:lpstr>齿轮结构1</vt:lpstr>
      <vt:lpstr>PowerPoint 演示文稿</vt:lpstr>
      <vt:lpstr>PowerPoint 演示文稿</vt:lpstr>
      <vt:lpstr>齿轮结构2 </vt:lpstr>
      <vt:lpstr>PowerPoint 演示文稿</vt:lpstr>
      <vt:lpstr>PowerPoint 演示文稿</vt:lpstr>
      <vt:lpstr>齿轮结构3 </vt:lpstr>
      <vt:lpstr>PowerPoint 演示文稿</vt:lpstr>
      <vt:lpstr>PowerPoint 演示文稿</vt:lpstr>
      <vt:lpstr>PowerPoint 演示文稿</vt:lpstr>
      <vt:lpstr>锥齿轮传动的强度计算1</vt:lpstr>
      <vt:lpstr>锥齿轮传动的强度计算1</vt:lpstr>
      <vt:lpstr>锥齿轮传动的强度计算1</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22725</cp:lastModifiedBy>
  <cp:revision>868</cp:revision>
  <dcterms:created xsi:type="dcterms:W3CDTF">2002-03-15T12:39:00Z</dcterms:created>
  <dcterms:modified xsi:type="dcterms:W3CDTF">2025-10-20T11:51:57Z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B52D684A2A354E0B97E2AC2EB8CDDACA</vt:lpwstr>
  </property>
</Properties>
</file>