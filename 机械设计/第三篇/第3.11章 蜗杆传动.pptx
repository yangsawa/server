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  <p:sldMasterId id="2147483816" r:id="rId16"/>
    <p:sldMasterId id="2147483828" r:id="rId17"/>
    <p:sldMasterId id="2147483840" r:id="rId18"/>
    <p:sldMasterId id="2147483852" r:id="rId19"/>
    <p:sldMasterId id="2147483864" r:id="rId20"/>
    <p:sldMasterId id="2147483876" r:id="rId21"/>
    <p:sldMasterId id="2147483888" r:id="rId22"/>
    <p:sldMasterId id="2147483900" r:id="rId23"/>
    <p:sldMasterId id="2147483912" r:id="rId24"/>
    <p:sldMasterId id="2147483924" r:id="rId25"/>
    <p:sldMasterId id="2147483936" r:id="rId26"/>
    <p:sldMasterId id="2147483948" r:id="rId27"/>
    <p:sldMasterId id="2147483960" r:id="rId28"/>
    <p:sldMasterId id="2147483972" r:id="rId29"/>
    <p:sldMasterId id="2147483984" r:id="rId30"/>
    <p:sldMasterId id="2147483996" r:id="rId31"/>
    <p:sldMasterId id="2147484008" r:id="rId32"/>
    <p:sldMasterId id="2147484020" r:id="rId33"/>
    <p:sldMasterId id="2147484032" r:id="rId34"/>
    <p:sldMasterId id="2147484044" r:id="rId35"/>
    <p:sldMasterId id="2147484056" r:id="rId36"/>
    <p:sldMasterId id="2147484068" r:id="rId37"/>
    <p:sldMasterId id="2147484080" r:id="rId38"/>
  </p:sldMasterIdLst>
  <p:notesMasterIdLst>
    <p:notesMasterId r:id="rId40"/>
  </p:notesMasterIdLst>
  <p:sldIdLst>
    <p:sldId id="256" r:id="rId39"/>
    <p:sldId id="653" r:id="rId41"/>
    <p:sldId id="935" r:id="rId42"/>
    <p:sldId id="731" r:id="rId43"/>
    <p:sldId id="631" r:id="rId44"/>
    <p:sldId id="641" r:id="rId45"/>
    <p:sldId id="633" r:id="rId46"/>
    <p:sldId id="634" r:id="rId47"/>
    <p:sldId id="635" r:id="rId48"/>
    <p:sldId id="636" r:id="rId49"/>
    <p:sldId id="637" r:id="rId50"/>
    <p:sldId id="638" r:id="rId51"/>
    <p:sldId id="639" r:id="rId52"/>
    <p:sldId id="640" r:id="rId53"/>
    <p:sldId id="642" r:id="rId54"/>
    <p:sldId id="632" r:id="rId55"/>
    <p:sldId id="810" r:id="rId56"/>
    <p:sldId id="423" r:id="rId57"/>
    <p:sldId id="511" r:id="rId58"/>
    <p:sldId id="643" r:id="rId59"/>
    <p:sldId id="554" r:id="rId60"/>
    <p:sldId id="812" r:id="rId61"/>
    <p:sldId id="552" r:id="rId62"/>
    <p:sldId id="813" r:id="rId63"/>
    <p:sldId id="814" r:id="rId64"/>
    <p:sldId id="646" r:id="rId65"/>
    <p:sldId id="644" r:id="rId66"/>
    <p:sldId id="877" r:id="rId67"/>
    <p:sldId id="313" r:id="rId68"/>
    <p:sldId id="651" r:id="rId69"/>
    <p:sldId id="1021" r:id="rId70"/>
    <p:sldId id="650" r:id="rId71"/>
    <p:sldId id="1024" r:id="rId72"/>
    <p:sldId id="585" r:id="rId73"/>
    <p:sldId id="395" r:id="rId74"/>
    <p:sldId id="936" r:id="rId75"/>
    <p:sldId id="589" r:id="rId76"/>
    <p:sldId id="602" r:id="rId77"/>
    <p:sldId id="603" r:id="rId78"/>
    <p:sldId id="668" r:id="rId79"/>
    <p:sldId id="508" r:id="rId80"/>
    <p:sldId id="677" r:id="rId81"/>
    <p:sldId id="594" r:id="rId82"/>
    <p:sldId id="937" r:id="rId83"/>
    <p:sldId id="938" r:id="rId84"/>
    <p:sldId id="596" r:id="rId85"/>
    <p:sldId id="597" r:id="rId86"/>
    <p:sldId id="647" r:id="rId87"/>
    <p:sldId id="509" r:id="rId88"/>
    <p:sldId id="649" r:id="rId89"/>
    <p:sldId id="665" r:id="rId90"/>
    <p:sldId id="663" r:id="rId91"/>
    <p:sldId id="664" r:id="rId92"/>
    <p:sldId id="599" r:id="rId93"/>
    <p:sldId id="600" r:id="rId94"/>
    <p:sldId id="611" r:id="rId95"/>
    <p:sldId id="612" r:id="rId96"/>
    <p:sldId id="878" r:id="rId97"/>
    <p:sldId id="616" r:id="rId98"/>
    <p:sldId id="617" r:id="rId99"/>
    <p:sldId id="618" r:id="rId100"/>
    <p:sldId id="619" r:id="rId101"/>
    <p:sldId id="620" r:id="rId102"/>
    <p:sldId id="621" r:id="rId103"/>
    <p:sldId id="625" r:id="rId104"/>
    <p:sldId id="626" r:id="rId105"/>
    <p:sldId id="627" r:id="rId106"/>
    <p:sldId id="657" r:id="rId107"/>
    <p:sldId id="655" r:id="rId108"/>
    <p:sldId id="656" r:id="rId109"/>
    <p:sldId id="654" r:id="rId110"/>
    <p:sldId id="659" r:id="rId111"/>
    <p:sldId id="660" r:id="rId112"/>
    <p:sldId id="661" r:id="rId113"/>
    <p:sldId id="662" r:id="rId114"/>
    <p:sldId id="666" r:id="rId115"/>
    <p:sldId id="667" r:id="rId116"/>
    <p:sldId id="1086" r:id="rId117"/>
    <p:sldId id="1100" r:id="rId118"/>
    <p:sldId id="1099" r:id="rId119"/>
    <p:sldId id="679" r:id="rId120"/>
    <p:sldId id="680" r:id="rId121"/>
    <p:sldId id="1101" r:id="rId122"/>
    <p:sldId id="681" r:id="rId123"/>
    <p:sldId id="682" r:id="rId124"/>
    <p:sldId id="683" r:id="rId125"/>
    <p:sldId id="1082" r:id="rId126"/>
    <p:sldId id="1083" r:id="rId127"/>
    <p:sldId id="1084" r:id="rId128"/>
    <p:sldId id="1085" r:id="rId129"/>
    <p:sldId id="669" r:id="rId130"/>
    <p:sldId id="670" r:id="rId131"/>
    <p:sldId id="671" r:id="rId132"/>
  </p:sldIdLst>
  <p:sldSz cx="9144000" cy="6858000" type="screen4x3"/>
  <p:notesSz cx="6858000" cy="9144000"/>
  <p:custDataLst>
    <p:tags r:id="rId13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8" userDrawn="1">
          <p15:clr>
            <a:srgbClr val="A4A3A4"/>
          </p15:clr>
        </p15:guide>
        <p15:guide id="2" pos="25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00FF"/>
    <a:srgbClr val="ACE745"/>
    <a:srgbClr val="FF3300"/>
    <a:srgbClr val="20BB14"/>
    <a:srgbClr val="000099"/>
    <a:srgbClr val="CC3300"/>
    <a:srgbClr val="003399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4" autoAdjust="0"/>
    <p:restoredTop sz="93702" autoAdjust="0"/>
  </p:normalViewPr>
  <p:slideViewPr>
    <p:cSldViewPr showGuides="1">
      <p:cViewPr varScale="1">
        <p:scale>
          <a:sx n="66" d="100"/>
          <a:sy n="66" d="100"/>
        </p:scale>
        <p:origin x="736" y="32"/>
      </p:cViewPr>
      <p:guideLst>
        <p:guide orient="horz" pos="2108"/>
        <p:guide pos="2554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36000" cy="360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60.xml"/><Relationship Id="rId98" Type="http://schemas.openxmlformats.org/officeDocument/2006/relationships/slide" Target="slides/slide59.xml"/><Relationship Id="rId97" Type="http://schemas.openxmlformats.org/officeDocument/2006/relationships/slide" Target="slides/slide58.xml"/><Relationship Id="rId96" Type="http://schemas.openxmlformats.org/officeDocument/2006/relationships/slide" Target="slides/slide57.xml"/><Relationship Id="rId95" Type="http://schemas.openxmlformats.org/officeDocument/2006/relationships/slide" Target="slides/slide56.xml"/><Relationship Id="rId94" Type="http://schemas.openxmlformats.org/officeDocument/2006/relationships/slide" Target="slides/slide55.xml"/><Relationship Id="rId93" Type="http://schemas.openxmlformats.org/officeDocument/2006/relationships/slide" Target="slides/slide54.xml"/><Relationship Id="rId92" Type="http://schemas.openxmlformats.org/officeDocument/2006/relationships/slide" Target="slides/slide53.xml"/><Relationship Id="rId91" Type="http://schemas.openxmlformats.org/officeDocument/2006/relationships/slide" Target="slides/slide52.xml"/><Relationship Id="rId90" Type="http://schemas.openxmlformats.org/officeDocument/2006/relationships/slide" Target="slides/slide51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50.xml"/><Relationship Id="rId88" Type="http://schemas.openxmlformats.org/officeDocument/2006/relationships/slide" Target="slides/slide49.xml"/><Relationship Id="rId87" Type="http://schemas.openxmlformats.org/officeDocument/2006/relationships/slide" Target="slides/slide48.xml"/><Relationship Id="rId86" Type="http://schemas.openxmlformats.org/officeDocument/2006/relationships/slide" Target="slides/slide47.xml"/><Relationship Id="rId85" Type="http://schemas.openxmlformats.org/officeDocument/2006/relationships/slide" Target="slides/slide46.xml"/><Relationship Id="rId84" Type="http://schemas.openxmlformats.org/officeDocument/2006/relationships/slide" Target="slides/slide45.xml"/><Relationship Id="rId83" Type="http://schemas.openxmlformats.org/officeDocument/2006/relationships/slide" Target="slides/slide44.xml"/><Relationship Id="rId82" Type="http://schemas.openxmlformats.org/officeDocument/2006/relationships/slide" Target="slides/slide43.xml"/><Relationship Id="rId81" Type="http://schemas.openxmlformats.org/officeDocument/2006/relationships/slide" Target="slides/slide42.xml"/><Relationship Id="rId80" Type="http://schemas.openxmlformats.org/officeDocument/2006/relationships/slide" Target="slides/slide41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40.xml"/><Relationship Id="rId78" Type="http://schemas.openxmlformats.org/officeDocument/2006/relationships/slide" Target="slides/slide39.xml"/><Relationship Id="rId77" Type="http://schemas.openxmlformats.org/officeDocument/2006/relationships/slide" Target="slides/slide38.xml"/><Relationship Id="rId76" Type="http://schemas.openxmlformats.org/officeDocument/2006/relationships/slide" Target="slides/slide37.xml"/><Relationship Id="rId75" Type="http://schemas.openxmlformats.org/officeDocument/2006/relationships/slide" Target="slides/slide36.xml"/><Relationship Id="rId74" Type="http://schemas.openxmlformats.org/officeDocument/2006/relationships/slide" Target="slides/slide35.xml"/><Relationship Id="rId73" Type="http://schemas.openxmlformats.org/officeDocument/2006/relationships/slide" Target="slides/slide34.xml"/><Relationship Id="rId72" Type="http://schemas.openxmlformats.org/officeDocument/2006/relationships/slide" Target="slides/slide33.xml"/><Relationship Id="rId71" Type="http://schemas.openxmlformats.org/officeDocument/2006/relationships/slide" Target="slides/slide32.xml"/><Relationship Id="rId70" Type="http://schemas.openxmlformats.org/officeDocument/2006/relationships/slide" Target="slides/slide31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30.xml"/><Relationship Id="rId68" Type="http://schemas.openxmlformats.org/officeDocument/2006/relationships/slide" Target="slides/slide29.xml"/><Relationship Id="rId67" Type="http://schemas.openxmlformats.org/officeDocument/2006/relationships/slide" Target="slides/slide28.xml"/><Relationship Id="rId66" Type="http://schemas.openxmlformats.org/officeDocument/2006/relationships/slide" Target="slides/slide27.xml"/><Relationship Id="rId65" Type="http://schemas.openxmlformats.org/officeDocument/2006/relationships/slide" Target="slides/slide26.xml"/><Relationship Id="rId64" Type="http://schemas.openxmlformats.org/officeDocument/2006/relationships/slide" Target="slides/slide25.xml"/><Relationship Id="rId63" Type="http://schemas.openxmlformats.org/officeDocument/2006/relationships/slide" Target="slides/slide24.xml"/><Relationship Id="rId62" Type="http://schemas.openxmlformats.org/officeDocument/2006/relationships/slide" Target="slides/slide23.xml"/><Relationship Id="rId61" Type="http://schemas.openxmlformats.org/officeDocument/2006/relationships/slide" Target="slides/slide22.xml"/><Relationship Id="rId60" Type="http://schemas.openxmlformats.org/officeDocument/2006/relationships/slide" Target="slides/slide21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0.xml"/><Relationship Id="rId58" Type="http://schemas.openxmlformats.org/officeDocument/2006/relationships/slide" Target="slides/slide19.xml"/><Relationship Id="rId57" Type="http://schemas.openxmlformats.org/officeDocument/2006/relationships/slide" Target="slides/slide18.xml"/><Relationship Id="rId56" Type="http://schemas.openxmlformats.org/officeDocument/2006/relationships/slide" Target="slides/slide17.xml"/><Relationship Id="rId55" Type="http://schemas.openxmlformats.org/officeDocument/2006/relationships/slide" Target="slides/slide16.xml"/><Relationship Id="rId54" Type="http://schemas.openxmlformats.org/officeDocument/2006/relationships/slide" Target="slides/slide15.xml"/><Relationship Id="rId53" Type="http://schemas.openxmlformats.org/officeDocument/2006/relationships/slide" Target="slides/slide14.xml"/><Relationship Id="rId52" Type="http://schemas.openxmlformats.org/officeDocument/2006/relationships/slide" Target="slides/slide13.xml"/><Relationship Id="rId51" Type="http://schemas.openxmlformats.org/officeDocument/2006/relationships/slide" Target="slides/slide12.xml"/><Relationship Id="rId50" Type="http://schemas.openxmlformats.org/officeDocument/2006/relationships/slide" Target="slides/slide1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10.xml"/><Relationship Id="rId48" Type="http://schemas.openxmlformats.org/officeDocument/2006/relationships/slide" Target="slides/slide9.xml"/><Relationship Id="rId47" Type="http://schemas.openxmlformats.org/officeDocument/2006/relationships/slide" Target="slides/slide8.xml"/><Relationship Id="rId46" Type="http://schemas.openxmlformats.org/officeDocument/2006/relationships/slide" Target="slides/slide7.xml"/><Relationship Id="rId45" Type="http://schemas.openxmlformats.org/officeDocument/2006/relationships/slide" Target="slides/slide6.xml"/><Relationship Id="rId44" Type="http://schemas.openxmlformats.org/officeDocument/2006/relationships/slide" Target="slides/slide5.xml"/><Relationship Id="rId43" Type="http://schemas.openxmlformats.org/officeDocument/2006/relationships/slide" Target="slides/slide4.xml"/><Relationship Id="rId42" Type="http://schemas.openxmlformats.org/officeDocument/2006/relationships/slide" Target="slides/slide3.xml"/><Relationship Id="rId41" Type="http://schemas.openxmlformats.org/officeDocument/2006/relationships/slide" Target="slides/slide2.xml"/><Relationship Id="rId40" Type="http://schemas.openxmlformats.org/officeDocument/2006/relationships/notesMaster" Target="notesMasters/notesMaster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6" Type="http://schemas.openxmlformats.org/officeDocument/2006/relationships/tags" Target="tags/tag5.xml"/><Relationship Id="rId135" Type="http://schemas.openxmlformats.org/officeDocument/2006/relationships/tableStyles" Target="tableStyles.xml"/><Relationship Id="rId134" Type="http://schemas.openxmlformats.org/officeDocument/2006/relationships/viewProps" Target="viewProps.xml"/><Relationship Id="rId133" Type="http://schemas.openxmlformats.org/officeDocument/2006/relationships/presProps" Target="presProps.xml"/><Relationship Id="rId132" Type="http://schemas.openxmlformats.org/officeDocument/2006/relationships/slide" Target="slides/slide93.xml"/><Relationship Id="rId131" Type="http://schemas.openxmlformats.org/officeDocument/2006/relationships/slide" Target="slides/slide92.xml"/><Relationship Id="rId130" Type="http://schemas.openxmlformats.org/officeDocument/2006/relationships/slide" Target="slides/slide91.xml"/><Relationship Id="rId13" Type="http://schemas.openxmlformats.org/officeDocument/2006/relationships/slideMaster" Target="slideMasters/slideMaster12.xml"/><Relationship Id="rId129" Type="http://schemas.openxmlformats.org/officeDocument/2006/relationships/slide" Target="slides/slide90.xml"/><Relationship Id="rId128" Type="http://schemas.openxmlformats.org/officeDocument/2006/relationships/slide" Target="slides/slide89.xml"/><Relationship Id="rId127" Type="http://schemas.openxmlformats.org/officeDocument/2006/relationships/slide" Target="slides/slide88.xml"/><Relationship Id="rId126" Type="http://schemas.openxmlformats.org/officeDocument/2006/relationships/slide" Target="slides/slide87.xml"/><Relationship Id="rId125" Type="http://schemas.openxmlformats.org/officeDocument/2006/relationships/slide" Target="slides/slide86.xml"/><Relationship Id="rId124" Type="http://schemas.openxmlformats.org/officeDocument/2006/relationships/slide" Target="slides/slide85.xml"/><Relationship Id="rId123" Type="http://schemas.openxmlformats.org/officeDocument/2006/relationships/slide" Target="slides/slide84.xml"/><Relationship Id="rId122" Type="http://schemas.openxmlformats.org/officeDocument/2006/relationships/slide" Target="slides/slide83.xml"/><Relationship Id="rId121" Type="http://schemas.openxmlformats.org/officeDocument/2006/relationships/slide" Target="slides/slide82.xml"/><Relationship Id="rId120" Type="http://schemas.openxmlformats.org/officeDocument/2006/relationships/slide" Target="slides/slide81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80.xml"/><Relationship Id="rId118" Type="http://schemas.openxmlformats.org/officeDocument/2006/relationships/slide" Target="slides/slide79.xml"/><Relationship Id="rId117" Type="http://schemas.openxmlformats.org/officeDocument/2006/relationships/slide" Target="slides/slide78.xml"/><Relationship Id="rId116" Type="http://schemas.openxmlformats.org/officeDocument/2006/relationships/slide" Target="slides/slide77.xml"/><Relationship Id="rId115" Type="http://schemas.openxmlformats.org/officeDocument/2006/relationships/slide" Target="slides/slide76.xml"/><Relationship Id="rId114" Type="http://schemas.openxmlformats.org/officeDocument/2006/relationships/slide" Target="slides/slide75.xml"/><Relationship Id="rId113" Type="http://schemas.openxmlformats.org/officeDocument/2006/relationships/slide" Target="slides/slide74.xml"/><Relationship Id="rId112" Type="http://schemas.openxmlformats.org/officeDocument/2006/relationships/slide" Target="slides/slide73.xml"/><Relationship Id="rId111" Type="http://schemas.openxmlformats.org/officeDocument/2006/relationships/slide" Target="slides/slide72.xml"/><Relationship Id="rId110" Type="http://schemas.openxmlformats.org/officeDocument/2006/relationships/slide" Target="slides/slide71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70.xml"/><Relationship Id="rId108" Type="http://schemas.openxmlformats.org/officeDocument/2006/relationships/slide" Target="slides/slide69.xml"/><Relationship Id="rId107" Type="http://schemas.openxmlformats.org/officeDocument/2006/relationships/slide" Target="slides/slide68.xml"/><Relationship Id="rId106" Type="http://schemas.openxmlformats.org/officeDocument/2006/relationships/slide" Target="slides/slide67.xml"/><Relationship Id="rId105" Type="http://schemas.openxmlformats.org/officeDocument/2006/relationships/slide" Target="slides/slide66.xml"/><Relationship Id="rId104" Type="http://schemas.openxmlformats.org/officeDocument/2006/relationships/slide" Target="slides/slide65.xml"/><Relationship Id="rId103" Type="http://schemas.openxmlformats.org/officeDocument/2006/relationships/slide" Target="slides/slide64.xml"/><Relationship Id="rId102" Type="http://schemas.openxmlformats.org/officeDocument/2006/relationships/slide" Target="slides/slide63.xml"/><Relationship Id="rId101" Type="http://schemas.openxmlformats.org/officeDocument/2006/relationships/slide" Target="slides/slide62.xml"/><Relationship Id="rId100" Type="http://schemas.openxmlformats.org/officeDocument/2006/relationships/slide" Target="slides/slide6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32.wmf"/><Relationship Id="rId4" Type="http://schemas.openxmlformats.org/officeDocument/2006/relationships/image" Target="../media/image31.wmf"/><Relationship Id="rId3" Type="http://schemas.openxmlformats.org/officeDocument/2006/relationships/image" Target="../media/image25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55.wmf"/><Relationship Id="rId8" Type="http://schemas.openxmlformats.org/officeDocument/2006/relationships/image" Target="../media/image54.wmf"/><Relationship Id="rId7" Type="http://schemas.openxmlformats.org/officeDocument/2006/relationships/image" Target="../media/image53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1" Type="http://schemas.openxmlformats.org/officeDocument/2006/relationships/image" Target="../media/image57.wmf"/><Relationship Id="rId10" Type="http://schemas.openxmlformats.org/officeDocument/2006/relationships/image" Target="../media/image56.wmf"/><Relationship Id="rId1" Type="http://schemas.openxmlformats.org/officeDocument/2006/relationships/image" Target="../media/image47.wmf"/></Relationships>
</file>

<file path=ppt/drawings/_rels/vmlDrawing7.vml.rels><?xml version="1.0" encoding="UTF-8" standalone="yes"?>
<Relationships xmlns="http://schemas.openxmlformats.org/package/2006/relationships"><Relationship Id="rId7" Type="http://schemas.openxmlformats.org/officeDocument/2006/relationships/image" Target="../media/image65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1.wmf"/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7.w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7" Type="http://schemas.openxmlformats.org/officeDocument/2006/relationships/image" Target="../media/image98.wmf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drawings/_rels/vmlDrawing1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4.wmf"/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1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0.wmf"/><Relationship Id="rId8" Type="http://schemas.openxmlformats.org/officeDocument/2006/relationships/image" Target="../media/image129.wmf"/><Relationship Id="rId7" Type="http://schemas.openxmlformats.org/officeDocument/2006/relationships/image" Target="../media/image128.w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6" Type="http://schemas.openxmlformats.org/officeDocument/2006/relationships/image" Target="../media/image137.wmf"/><Relationship Id="rId15" Type="http://schemas.openxmlformats.org/officeDocument/2006/relationships/image" Target="../media/image136.wmf"/><Relationship Id="rId14" Type="http://schemas.openxmlformats.org/officeDocument/2006/relationships/image" Target="../media/image135.wmf"/><Relationship Id="rId13" Type="http://schemas.openxmlformats.org/officeDocument/2006/relationships/image" Target="../media/image134.wmf"/><Relationship Id="rId12" Type="http://schemas.openxmlformats.org/officeDocument/2006/relationships/image" Target="../media/image133.wmf"/><Relationship Id="rId11" Type="http://schemas.openxmlformats.org/officeDocument/2006/relationships/image" Target="../media/image132.wmf"/><Relationship Id="rId10" Type="http://schemas.openxmlformats.org/officeDocument/2006/relationships/image" Target="../media/image131.wmf"/><Relationship Id="rId1" Type="http://schemas.openxmlformats.org/officeDocument/2006/relationships/image" Target="../media/image122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8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0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0.wmf"/><Relationship Id="rId8" Type="http://schemas.openxmlformats.org/officeDocument/2006/relationships/image" Target="../media/image149.wmf"/><Relationship Id="rId7" Type="http://schemas.openxmlformats.org/officeDocument/2006/relationships/image" Target="../media/image148.wmf"/><Relationship Id="rId6" Type="http://schemas.openxmlformats.org/officeDocument/2006/relationships/image" Target="../media/image147.wmf"/><Relationship Id="rId5" Type="http://schemas.openxmlformats.org/officeDocument/2006/relationships/image" Target="../media/image146.wmf"/><Relationship Id="rId4" Type="http://schemas.openxmlformats.org/officeDocument/2006/relationships/image" Target="../media/image145.wmf"/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7" Type="http://schemas.openxmlformats.org/officeDocument/2006/relationships/image" Target="../media/image158.wmf"/><Relationship Id="rId16" Type="http://schemas.openxmlformats.org/officeDocument/2006/relationships/image" Target="../media/image157.wmf"/><Relationship Id="rId15" Type="http://schemas.openxmlformats.org/officeDocument/2006/relationships/image" Target="../media/image156.wmf"/><Relationship Id="rId14" Type="http://schemas.openxmlformats.org/officeDocument/2006/relationships/image" Target="../media/image155.wmf"/><Relationship Id="rId13" Type="http://schemas.openxmlformats.org/officeDocument/2006/relationships/image" Target="../media/image154.wmf"/><Relationship Id="rId12" Type="http://schemas.openxmlformats.org/officeDocument/2006/relationships/image" Target="../media/image153.wmf"/><Relationship Id="rId11" Type="http://schemas.openxmlformats.org/officeDocument/2006/relationships/image" Target="../media/image152.wmf"/><Relationship Id="rId10" Type="http://schemas.openxmlformats.org/officeDocument/2006/relationships/image" Target="../media/image151.wmf"/><Relationship Id="rId1" Type="http://schemas.openxmlformats.org/officeDocument/2006/relationships/image" Target="../media/image142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3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wmf"/><Relationship Id="rId1" Type="http://schemas.openxmlformats.org/officeDocument/2006/relationships/image" Target="../media/image164.wmf"/></Relationships>
</file>

<file path=ppt/drawings/_rels/vmlDrawing2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76.wmf"/><Relationship Id="rId5" Type="http://schemas.openxmlformats.org/officeDocument/2006/relationships/image" Target="../media/image175.wmf"/><Relationship Id="rId4" Type="http://schemas.openxmlformats.org/officeDocument/2006/relationships/image" Target="../media/image174.wmf"/><Relationship Id="rId3" Type="http://schemas.openxmlformats.org/officeDocument/2006/relationships/image" Target="../media/image169.wmf"/><Relationship Id="rId2" Type="http://schemas.openxmlformats.org/officeDocument/2006/relationships/image" Target="../media/image167.wmf"/><Relationship Id="rId1" Type="http://schemas.openxmlformats.org/officeDocument/2006/relationships/image" Target="../media/image166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wmf"/><Relationship Id="rId1" Type="http://schemas.openxmlformats.org/officeDocument/2006/relationships/image" Target="../media/image179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6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wmf"/><Relationship Id="rId1" Type="http://schemas.openxmlformats.org/officeDocument/2006/relationships/image" Target="../media/image19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kumimoji="1" sz="1200" b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Tx/>
              <a:buNone/>
              <a:defRPr kumimoji="1" sz="1200" b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373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1" sz="1200" b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1">
                <a:ea typeface="宋体" panose="02010600030101010101" pitchFamily="2" charset="-122"/>
              </a:defRPr>
            </a:lvl1pPr>
          </a:lstStyle>
          <a:p>
            <a:fld id="{FB7419DA-E4B7-4173-BF72-65B275283CF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74755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随着加工工艺技术的发展和新型蜗杆传动技术的不断出现，蜗杆传动的优点得到进一步的发扬，而其缺点得到较好地克服。因此蜗杆传动已普遍应用于各类运动与动力传动装置中。</a:t>
            </a:r>
            <a:endParaRPr lang="zh-CN" altLang="en-US" b="1" dirty="0" smtClean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58E98A-E30B-4E91-8A1D-A8922F47FA9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58E98A-E30B-4E91-8A1D-A8922F47FA9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58E98A-E30B-4E91-8A1D-A8922F47FA9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阿基米德</a:t>
            </a:r>
            <a:r>
              <a:rPr lang="zh-CN" altLang="en-US" dirty="0"/>
              <a:t>蜗杆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419DA-E4B7-4173-BF72-65B275283CF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4294967295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4294967295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4294967295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zh-CN" dirty="0">
                <a:solidFill>
                  <a:srgbClr val="000099"/>
                </a:solidFill>
                <a:sym typeface="+mn-ea"/>
              </a:rPr>
              <a:t>在蜗杆传动</a:t>
            </a:r>
            <a:r>
              <a:rPr lang="zh-CN" altLang="zh-CN" dirty="0" smtClean="0">
                <a:solidFill>
                  <a:srgbClr val="000099"/>
                </a:solidFill>
                <a:sym typeface="+mn-ea"/>
              </a:rPr>
              <a:t>中</a:t>
            </a:r>
            <a:r>
              <a:rPr lang="zh-CN" altLang="en-US" dirty="0" smtClean="0">
                <a:solidFill>
                  <a:srgbClr val="000099"/>
                </a:solidFill>
                <a:sym typeface="+mn-ea"/>
              </a:rPr>
              <a:t>，蜗轮齿廓必须与配对的蜗杆的齿廓一致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(4)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非标准滚刀和飞刀加工蜗轮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,</a:t>
            </a:r>
            <a:r>
              <a:rPr lang="en-US" altLang="zh-CN" i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d</a:t>
            </a:r>
            <a:r>
              <a:rPr lang="en-US" altLang="zh-CN" baseline="-25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1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不受限制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.</a:t>
            </a:r>
            <a:endParaRPr kumimoji="0" lang="en-US" altLang="zh-CN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4294967295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77827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78851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4294967295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419DA-E4B7-4173-BF72-65B275283CF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4294967295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79875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80899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419DA-E4B7-4173-BF72-65B275283CF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419DA-E4B7-4173-BF72-65B275283CF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419DA-E4B7-4173-BF72-65B275283CF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419DA-E4B7-4173-BF72-65B275283CF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419DA-E4B7-4173-BF72-65B275283CF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4294967295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1:</a:t>
            </a:r>
            <a:r>
              <a:rPr lang="zh-CN" altLang="en-US"/>
              <a:t>右旋；</a:t>
            </a:r>
            <a:r>
              <a:rPr lang="en-US" altLang="zh-CN"/>
              <a:t>2</a:t>
            </a:r>
            <a:r>
              <a:rPr lang="zh-CN" altLang="en-US"/>
              <a:t>、左旋；蜗杆：顺时针转动；蜗轮：逆时针转动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419DA-E4B7-4173-BF72-65B275283CF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419DA-E4B7-4173-BF72-65B275283CF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419DA-E4B7-4173-BF72-65B275283CF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419DA-E4B7-4173-BF72-65B275283CF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4294967295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419DA-E4B7-4173-BF72-65B275283CF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0" y="83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2" y="3323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74BDF189-0385-43FC-9E48-ADD287C1353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0" y="836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3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A455C336-7640-4D67-8861-F88574FA67E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0" y="836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3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D51B1676-5182-4EEB-980A-3272E2AC931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4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B9D34EF2-65FF-4A01-B593-617EA24A60A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4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7FC271F9-47CC-452A-AC9D-E029D333449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4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352F68EE-C9D0-4F28-BA59-77F76817DCB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6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3" y="3323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6E3F6E01-7205-4F2E-8D21-E1E86594492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61F634BA-B96F-4AF0-BBAC-D48B0223C8F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9FBFA327-9941-42BF-AD4C-8E9AB4F3A93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4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16E77B0C-1E76-4992-BA24-2E5BA8E4A66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2B74B638-C87C-4F0D-B35A-22874B72902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175BA4CE-7FFE-45BD-A5F1-4B891F666A6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FC7F3A6D-8C7F-486B-B31D-E12CEAC188A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65F7DCCA-832D-4A28-AE55-06E2763E945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4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0DE7400D-764B-4756-99D0-DE32D195B5B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4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BF00DAC0-86A0-4CB5-AF58-D757B6CE79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F0998C31-ABEE-4922-827C-D24762401CD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845C38A4-D8C3-4448-B0A5-72CC4CFF8C0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6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E032F9A6-081E-4DC4-8F6D-33984C89D8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6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6252D4A6-D6AC-46F9-8743-7D21FD1FE94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4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B4CAC335-B9B9-4B88-BD46-A8599C52F56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4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FAC030F2-5667-4199-B041-84DE63D94A2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5C9FE203-F407-48AB-AC6A-3593D04F67D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E9EC0967-B946-42C8-96D5-DF7F39BDEB1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1A5E0683-54E4-44AE-9482-D2B5F3D7EFB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3646B13E-497B-4E4C-BAA6-ADAFDA64DF7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9AA01F35-2DFD-4328-8E6B-2B3E48E8A3D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5B9A90E5-1898-4145-85E2-98D7C7ADDD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4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DB0132C0-6B89-4610-AA84-1C831AB52C7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0" y="836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3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D51B1676-5182-4EEB-980A-3272E2AC931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9FBFA327-9941-42BF-AD4C-8E9AB4F3A93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0" y="83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2" y="3323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74BDF189-0385-43FC-9E48-ADD287C1353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0" y="836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3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A455C336-7640-4D67-8861-F88574FA67E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175BA4CE-7FFE-45BD-A5F1-4B891F666A6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4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16E77B0C-1E76-4992-BA24-2E5BA8E4A66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4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DB0132C0-6B89-4610-AA84-1C831AB52C7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4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DB0132C0-6B89-4610-AA84-1C831AB52C7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3" Type="http://schemas.openxmlformats.org/officeDocument/2006/relationships/theme" Target="../theme/theme5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3" Type="http://schemas.openxmlformats.org/officeDocument/2006/relationships/theme" Target="../theme/theme6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3" Type="http://schemas.openxmlformats.org/officeDocument/2006/relationships/theme" Target="../theme/theme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3" Type="http://schemas.openxmlformats.org/officeDocument/2006/relationships/theme" Target="../theme/theme8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3" Type="http://schemas.openxmlformats.org/officeDocument/2006/relationships/theme" Target="../theme/theme9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3" Type="http://schemas.openxmlformats.org/officeDocument/2006/relationships/theme" Target="../theme/theme10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3" Type="http://schemas.openxmlformats.org/officeDocument/2006/relationships/theme" Target="../theme/theme1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3" Type="http://schemas.openxmlformats.org/officeDocument/2006/relationships/theme" Target="../theme/theme1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3" Type="http://schemas.openxmlformats.org/officeDocument/2006/relationships/theme" Target="../theme/theme1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3" Type="http://schemas.openxmlformats.org/officeDocument/2006/relationships/theme" Target="../theme/theme1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56.xml"/><Relationship Id="rId13" Type="http://schemas.openxmlformats.org/officeDocument/2006/relationships/theme" Target="../theme/theme15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55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7.xml"/><Relationship Id="rId13" Type="http://schemas.openxmlformats.org/officeDocument/2006/relationships/theme" Target="../theme/theme16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6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8.xml"/><Relationship Id="rId13" Type="http://schemas.openxmlformats.org/officeDocument/2006/relationships/theme" Target="../theme/theme1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9.xml"/><Relationship Id="rId13" Type="http://schemas.openxmlformats.org/officeDocument/2006/relationships/theme" Target="../theme/theme18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0.xml"/><Relationship Id="rId13" Type="http://schemas.openxmlformats.org/officeDocument/2006/relationships/theme" Target="../theme/theme19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19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11.xml"/><Relationship Id="rId13" Type="http://schemas.openxmlformats.org/officeDocument/2006/relationships/theme" Target="../theme/theme20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0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9.xml"/><Relationship Id="rId8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224.xml"/><Relationship Id="rId3" Type="http://schemas.openxmlformats.org/officeDocument/2006/relationships/slideLayout" Target="../slideLayouts/slideLayout223.xml"/><Relationship Id="rId2" Type="http://schemas.openxmlformats.org/officeDocument/2006/relationships/slideLayout" Target="../slideLayouts/slideLayout222.xml"/><Relationship Id="rId13" Type="http://schemas.openxmlformats.org/officeDocument/2006/relationships/theme" Target="../theme/theme2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2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0.xml"/><Relationship Id="rId8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35.xml"/><Relationship Id="rId3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33.xml"/><Relationship Id="rId13" Type="http://schemas.openxmlformats.org/officeDocument/2006/relationships/theme" Target="../theme/theme2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1.xml"/><Relationship Id="rId1" Type="http://schemas.openxmlformats.org/officeDocument/2006/relationships/slideLayout" Target="../slideLayouts/slideLayout232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1.xml"/><Relationship Id="rId8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49.xml"/><Relationship Id="rId6" Type="http://schemas.openxmlformats.org/officeDocument/2006/relationships/slideLayout" Target="../slideLayouts/slideLayout248.xml"/><Relationship Id="rId5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6.xml"/><Relationship Id="rId3" Type="http://schemas.openxmlformats.org/officeDocument/2006/relationships/slideLayout" Target="../slideLayouts/slideLayout245.xml"/><Relationship Id="rId2" Type="http://schemas.openxmlformats.org/officeDocument/2006/relationships/slideLayout" Target="../slideLayouts/slideLayout244.xml"/><Relationship Id="rId13" Type="http://schemas.openxmlformats.org/officeDocument/2006/relationships/theme" Target="../theme/theme2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53.xml"/><Relationship Id="rId10" Type="http://schemas.openxmlformats.org/officeDocument/2006/relationships/slideLayout" Target="../slideLayouts/slideLayout252.xml"/><Relationship Id="rId1" Type="http://schemas.openxmlformats.org/officeDocument/2006/relationships/slideLayout" Target="../slideLayouts/slideLayout243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5.xml"/><Relationship Id="rId13" Type="http://schemas.openxmlformats.org/officeDocument/2006/relationships/theme" Target="../theme/theme2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3.xml"/><Relationship Id="rId1" Type="http://schemas.openxmlformats.org/officeDocument/2006/relationships/slideLayout" Target="../slideLayouts/slideLayout254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3.xml"/><Relationship Id="rId8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71.xml"/><Relationship Id="rId6" Type="http://schemas.openxmlformats.org/officeDocument/2006/relationships/slideLayout" Target="../slideLayouts/slideLayout270.xml"/><Relationship Id="rId5" Type="http://schemas.openxmlformats.org/officeDocument/2006/relationships/slideLayout" Target="../slideLayouts/slideLayout269.xml"/><Relationship Id="rId4" Type="http://schemas.openxmlformats.org/officeDocument/2006/relationships/slideLayout" Target="../slideLayouts/slideLayout268.xml"/><Relationship Id="rId3" Type="http://schemas.openxmlformats.org/officeDocument/2006/relationships/slideLayout" Target="../slideLayouts/slideLayout267.xml"/><Relationship Id="rId2" Type="http://schemas.openxmlformats.org/officeDocument/2006/relationships/slideLayout" Target="../slideLayouts/slideLayout266.xml"/><Relationship Id="rId13" Type="http://schemas.openxmlformats.org/officeDocument/2006/relationships/theme" Target="../theme/theme25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75.xml"/><Relationship Id="rId10" Type="http://schemas.openxmlformats.org/officeDocument/2006/relationships/slideLayout" Target="../slideLayouts/slideLayout274.xml"/><Relationship Id="rId1" Type="http://schemas.openxmlformats.org/officeDocument/2006/relationships/slideLayout" Target="../slideLayouts/slideLayout265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4.xml"/><Relationship Id="rId8" Type="http://schemas.openxmlformats.org/officeDocument/2006/relationships/slideLayout" Target="../slideLayouts/slideLayout283.xml"/><Relationship Id="rId7" Type="http://schemas.openxmlformats.org/officeDocument/2006/relationships/slideLayout" Target="../slideLayouts/slideLayout282.xml"/><Relationship Id="rId6" Type="http://schemas.openxmlformats.org/officeDocument/2006/relationships/slideLayout" Target="../slideLayouts/slideLayout281.xml"/><Relationship Id="rId5" Type="http://schemas.openxmlformats.org/officeDocument/2006/relationships/slideLayout" Target="../slideLayouts/slideLayout280.xml"/><Relationship Id="rId4" Type="http://schemas.openxmlformats.org/officeDocument/2006/relationships/slideLayout" Target="../slideLayouts/slideLayout279.xml"/><Relationship Id="rId3" Type="http://schemas.openxmlformats.org/officeDocument/2006/relationships/slideLayout" Target="../slideLayouts/slideLayout278.xml"/><Relationship Id="rId2" Type="http://schemas.openxmlformats.org/officeDocument/2006/relationships/slideLayout" Target="../slideLayouts/slideLayout277.xml"/><Relationship Id="rId13" Type="http://schemas.openxmlformats.org/officeDocument/2006/relationships/theme" Target="../theme/theme26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86.xml"/><Relationship Id="rId10" Type="http://schemas.openxmlformats.org/officeDocument/2006/relationships/slideLayout" Target="../slideLayouts/slideLayout285.xml"/><Relationship Id="rId1" Type="http://schemas.openxmlformats.org/officeDocument/2006/relationships/slideLayout" Target="../slideLayouts/slideLayout276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5.xml"/><Relationship Id="rId8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3.xml"/><Relationship Id="rId6" Type="http://schemas.openxmlformats.org/officeDocument/2006/relationships/slideLayout" Target="../slideLayouts/slideLayout292.xml"/><Relationship Id="rId5" Type="http://schemas.openxmlformats.org/officeDocument/2006/relationships/slideLayout" Target="../slideLayouts/slideLayout291.xml"/><Relationship Id="rId4" Type="http://schemas.openxmlformats.org/officeDocument/2006/relationships/slideLayout" Target="../slideLayouts/slideLayout290.xml"/><Relationship Id="rId3" Type="http://schemas.openxmlformats.org/officeDocument/2006/relationships/slideLayout" Target="../slideLayouts/slideLayout289.xml"/><Relationship Id="rId2" Type="http://schemas.openxmlformats.org/officeDocument/2006/relationships/slideLayout" Target="../slideLayouts/slideLayout288.xml"/><Relationship Id="rId13" Type="http://schemas.openxmlformats.org/officeDocument/2006/relationships/theme" Target="../theme/theme2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97.xml"/><Relationship Id="rId10" Type="http://schemas.openxmlformats.org/officeDocument/2006/relationships/slideLayout" Target="../slideLayouts/slideLayout296.xml"/><Relationship Id="rId1" Type="http://schemas.openxmlformats.org/officeDocument/2006/relationships/slideLayout" Target="../slideLayouts/slideLayout287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6.xml"/><Relationship Id="rId8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4.xml"/><Relationship Id="rId6" Type="http://schemas.openxmlformats.org/officeDocument/2006/relationships/slideLayout" Target="../slideLayouts/slideLayout303.xml"/><Relationship Id="rId5" Type="http://schemas.openxmlformats.org/officeDocument/2006/relationships/slideLayout" Target="../slideLayouts/slideLayout302.xml"/><Relationship Id="rId4" Type="http://schemas.openxmlformats.org/officeDocument/2006/relationships/slideLayout" Target="../slideLayouts/slideLayout301.xml"/><Relationship Id="rId3" Type="http://schemas.openxmlformats.org/officeDocument/2006/relationships/slideLayout" Target="../slideLayouts/slideLayout300.xml"/><Relationship Id="rId2" Type="http://schemas.openxmlformats.org/officeDocument/2006/relationships/slideLayout" Target="../slideLayouts/slideLayout299.xml"/><Relationship Id="rId13" Type="http://schemas.openxmlformats.org/officeDocument/2006/relationships/theme" Target="../theme/theme28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08.xml"/><Relationship Id="rId10" Type="http://schemas.openxmlformats.org/officeDocument/2006/relationships/slideLayout" Target="../slideLayouts/slideLayout307.xml"/><Relationship Id="rId1" Type="http://schemas.openxmlformats.org/officeDocument/2006/relationships/slideLayout" Target="../slideLayouts/slideLayout298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7.xml"/><Relationship Id="rId8" Type="http://schemas.openxmlformats.org/officeDocument/2006/relationships/slideLayout" Target="../slideLayouts/slideLayout316.xml"/><Relationship Id="rId7" Type="http://schemas.openxmlformats.org/officeDocument/2006/relationships/slideLayout" Target="../slideLayouts/slideLayout315.xml"/><Relationship Id="rId6" Type="http://schemas.openxmlformats.org/officeDocument/2006/relationships/slideLayout" Target="../slideLayouts/slideLayout314.xml"/><Relationship Id="rId5" Type="http://schemas.openxmlformats.org/officeDocument/2006/relationships/slideLayout" Target="../slideLayouts/slideLayout313.xml"/><Relationship Id="rId4" Type="http://schemas.openxmlformats.org/officeDocument/2006/relationships/slideLayout" Target="../slideLayouts/slideLayout312.xml"/><Relationship Id="rId3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310.xml"/><Relationship Id="rId13" Type="http://schemas.openxmlformats.org/officeDocument/2006/relationships/theme" Target="../theme/theme29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19.xml"/><Relationship Id="rId10" Type="http://schemas.openxmlformats.org/officeDocument/2006/relationships/slideLayout" Target="../slideLayouts/slideLayout318.xml"/><Relationship Id="rId1" Type="http://schemas.openxmlformats.org/officeDocument/2006/relationships/slideLayout" Target="../slideLayouts/slideLayout309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8.xml"/><Relationship Id="rId8" Type="http://schemas.openxmlformats.org/officeDocument/2006/relationships/slideLayout" Target="../slideLayouts/slideLayout327.xml"/><Relationship Id="rId7" Type="http://schemas.openxmlformats.org/officeDocument/2006/relationships/slideLayout" Target="../slideLayouts/slideLayout326.xml"/><Relationship Id="rId6" Type="http://schemas.openxmlformats.org/officeDocument/2006/relationships/slideLayout" Target="../slideLayouts/slideLayout325.xml"/><Relationship Id="rId5" Type="http://schemas.openxmlformats.org/officeDocument/2006/relationships/slideLayout" Target="../slideLayouts/slideLayout324.xml"/><Relationship Id="rId4" Type="http://schemas.openxmlformats.org/officeDocument/2006/relationships/slideLayout" Target="../slideLayouts/slideLayout323.xml"/><Relationship Id="rId3" Type="http://schemas.openxmlformats.org/officeDocument/2006/relationships/slideLayout" Target="../slideLayouts/slideLayout322.xml"/><Relationship Id="rId2" Type="http://schemas.openxmlformats.org/officeDocument/2006/relationships/slideLayout" Target="../slideLayouts/slideLayout321.xml"/><Relationship Id="rId13" Type="http://schemas.openxmlformats.org/officeDocument/2006/relationships/theme" Target="../theme/theme30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0.xml"/><Relationship Id="rId10" Type="http://schemas.openxmlformats.org/officeDocument/2006/relationships/slideLayout" Target="../slideLayouts/slideLayout329.xml"/><Relationship Id="rId1" Type="http://schemas.openxmlformats.org/officeDocument/2006/relationships/slideLayout" Target="../slideLayouts/slideLayout320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9.xml"/><Relationship Id="rId8" Type="http://schemas.openxmlformats.org/officeDocument/2006/relationships/slideLayout" Target="../slideLayouts/slideLayout338.xml"/><Relationship Id="rId7" Type="http://schemas.openxmlformats.org/officeDocument/2006/relationships/slideLayout" Target="../slideLayouts/slideLayout337.xml"/><Relationship Id="rId6" Type="http://schemas.openxmlformats.org/officeDocument/2006/relationships/slideLayout" Target="../slideLayouts/slideLayout336.xml"/><Relationship Id="rId5" Type="http://schemas.openxmlformats.org/officeDocument/2006/relationships/slideLayout" Target="../slideLayouts/slideLayout335.xml"/><Relationship Id="rId4" Type="http://schemas.openxmlformats.org/officeDocument/2006/relationships/slideLayout" Target="../slideLayouts/slideLayout334.xml"/><Relationship Id="rId3" Type="http://schemas.openxmlformats.org/officeDocument/2006/relationships/slideLayout" Target="../slideLayouts/slideLayout333.xml"/><Relationship Id="rId2" Type="http://schemas.openxmlformats.org/officeDocument/2006/relationships/slideLayout" Target="../slideLayouts/slideLayout332.xml"/><Relationship Id="rId13" Type="http://schemas.openxmlformats.org/officeDocument/2006/relationships/theme" Target="../theme/theme3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41.xml"/><Relationship Id="rId10" Type="http://schemas.openxmlformats.org/officeDocument/2006/relationships/slideLayout" Target="../slideLayouts/slideLayout340.xml"/><Relationship Id="rId1" Type="http://schemas.openxmlformats.org/officeDocument/2006/relationships/slideLayout" Target="../slideLayouts/slideLayout331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0.xml"/><Relationship Id="rId8" Type="http://schemas.openxmlformats.org/officeDocument/2006/relationships/slideLayout" Target="../slideLayouts/slideLayout349.xml"/><Relationship Id="rId7" Type="http://schemas.openxmlformats.org/officeDocument/2006/relationships/slideLayout" Target="../slideLayouts/slideLayout348.xml"/><Relationship Id="rId6" Type="http://schemas.openxmlformats.org/officeDocument/2006/relationships/slideLayout" Target="../slideLayouts/slideLayout347.xml"/><Relationship Id="rId5" Type="http://schemas.openxmlformats.org/officeDocument/2006/relationships/slideLayout" Target="../slideLayouts/slideLayout346.xml"/><Relationship Id="rId4" Type="http://schemas.openxmlformats.org/officeDocument/2006/relationships/slideLayout" Target="../slideLayouts/slideLayout345.xml"/><Relationship Id="rId3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43.xml"/><Relationship Id="rId13" Type="http://schemas.openxmlformats.org/officeDocument/2006/relationships/theme" Target="../theme/theme3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52.xml"/><Relationship Id="rId10" Type="http://schemas.openxmlformats.org/officeDocument/2006/relationships/slideLayout" Target="../slideLayouts/slideLayout351.xml"/><Relationship Id="rId1" Type="http://schemas.openxmlformats.org/officeDocument/2006/relationships/slideLayout" Target="../slideLayouts/slideLayout342.xml"/></Relationships>
</file>

<file path=ppt/slideMasters/_rels/slideMaster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1.xml"/><Relationship Id="rId8" Type="http://schemas.openxmlformats.org/officeDocument/2006/relationships/slideLayout" Target="../slideLayouts/slideLayout360.xml"/><Relationship Id="rId7" Type="http://schemas.openxmlformats.org/officeDocument/2006/relationships/slideLayout" Target="../slideLayouts/slideLayout359.xml"/><Relationship Id="rId6" Type="http://schemas.openxmlformats.org/officeDocument/2006/relationships/slideLayout" Target="../slideLayouts/slideLayout358.xml"/><Relationship Id="rId5" Type="http://schemas.openxmlformats.org/officeDocument/2006/relationships/slideLayout" Target="../slideLayouts/slideLayout357.xml"/><Relationship Id="rId4" Type="http://schemas.openxmlformats.org/officeDocument/2006/relationships/slideLayout" Target="../slideLayouts/slideLayout356.xml"/><Relationship Id="rId3" Type="http://schemas.openxmlformats.org/officeDocument/2006/relationships/slideLayout" Target="../slideLayouts/slideLayout355.xml"/><Relationship Id="rId2" Type="http://schemas.openxmlformats.org/officeDocument/2006/relationships/slideLayout" Target="../slideLayouts/slideLayout354.xml"/><Relationship Id="rId13" Type="http://schemas.openxmlformats.org/officeDocument/2006/relationships/theme" Target="../theme/theme3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63.xml"/><Relationship Id="rId10" Type="http://schemas.openxmlformats.org/officeDocument/2006/relationships/slideLayout" Target="../slideLayouts/slideLayout362.xml"/><Relationship Id="rId1" Type="http://schemas.openxmlformats.org/officeDocument/2006/relationships/slideLayout" Target="../slideLayouts/slideLayout353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2.xml"/><Relationship Id="rId8" Type="http://schemas.openxmlformats.org/officeDocument/2006/relationships/slideLayout" Target="../slideLayouts/slideLayout371.xml"/><Relationship Id="rId7" Type="http://schemas.openxmlformats.org/officeDocument/2006/relationships/slideLayout" Target="../slideLayouts/slideLayout370.xml"/><Relationship Id="rId6" Type="http://schemas.openxmlformats.org/officeDocument/2006/relationships/slideLayout" Target="../slideLayouts/slideLayout369.xml"/><Relationship Id="rId5" Type="http://schemas.openxmlformats.org/officeDocument/2006/relationships/slideLayout" Target="../slideLayouts/slideLayout368.xml"/><Relationship Id="rId4" Type="http://schemas.openxmlformats.org/officeDocument/2006/relationships/slideLayout" Target="../slideLayouts/slideLayout367.xml"/><Relationship Id="rId3" Type="http://schemas.openxmlformats.org/officeDocument/2006/relationships/slideLayout" Target="../slideLayouts/slideLayout366.xml"/><Relationship Id="rId2" Type="http://schemas.openxmlformats.org/officeDocument/2006/relationships/slideLayout" Target="../slideLayouts/slideLayout365.xml"/><Relationship Id="rId13" Type="http://schemas.openxmlformats.org/officeDocument/2006/relationships/theme" Target="../theme/theme3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74.xml"/><Relationship Id="rId10" Type="http://schemas.openxmlformats.org/officeDocument/2006/relationships/slideLayout" Target="../slideLayouts/slideLayout373.xml"/><Relationship Id="rId1" Type="http://schemas.openxmlformats.org/officeDocument/2006/relationships/slideLayout" Target="../slideLayouts/slideLayout364.xml"/></Relationships>
</file>

<file path=ppt/slideMasters/_rels/slideMaster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3.xml"/><Relationship Id="rId8" Type="http://schemas.openxmlformats.org/officeDocument/2006/relationships/slideLayout" Target="../slideLayouts/slideLayout382.xml"/><Relationship Id="rId7" Type="http://schemas.openxmlformats.org/officeDocument/2006/relationships/slideLayout" Target="../slideLayouts/slideLayout381.xml"/><Relationship Id="rId6" Type="http://schemas.openxmlformats.org/officeDocument/2006/relationships/slideLayout" Target="../slideLayouts/slideLayout380.xml"/><Relationship Id="rId5" Type="http://schemas.openxmlformats.org/officeDocument/2006/relationships/slideLayout" Target="../slideLayouts/slideLayout379.xml"/><Relationship Id="rId4" Type="http://schemas.openxmlformats.org/officeDocument/2006/relationships/slideLayout" Target="../slideLayouts/slideLayout378.xml"/><Relationship Id="rId3" Type="http://schemas.openxmlformats.org/officeDocument/2006/relationships/slideLayout" Target="../slideLayouts/slideLayout377.xml"/><Relationship Id="rId2" Type="http://schemas.openxmlformats.org/officeDocument/2006/relationships/slideLayout" Target="../slideLayouts/slideLayout376.xml"/><Relationship Id="rId13" Type="http://schemas.openxmlformats.org/officeDocument/2006/relationships/theme" Target="../theme/theme35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85.xml"/><Relationship Id="rId10" Type="http://schemas.openxmlformats.org/officeDocument/2006/relationships/slideLayout" Target="../slideLayouts/slideLayout384.xml"/><Relationship Id="rId1" Type="http://schemas.openxmlformats.org/officeDocument/2006/relationships/slideLayout" Target="../slideLayouts/slideLayout375.xml"/></Relationships>
</file>

<file path=ppt/slideMasters/_rels/slideMaster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4.xml"/><Relationship Id="rId8" Type="http://schemas.openxmlformats.org/officeDocument/2006/relationships/slideLayout" Target="../slideLayouts/slideLayout393.xml"/><Relationship Id="rId7" Type="http://schemas.openxmlformats.org/officeDocument/2006/relationships/slideLayout" Target="../slideLayouts/slideLayout392.xml"/><Relationship Id="rId6" Type="http://schemas.openxmlformats.org/officeDocument/2006/relationships/slideLayout" Target="../slideLayouts/slideLayout391.xml"/><Relationship Id="rId5" Type="http://schemas.openxmlformats.org/officeDocument/2006/relationships/slideLayout" Target="../slideLayouts/slideLayout390.xml"/><Relationship Id="rId4" Type="http://schemas.openxmlformats.org/officeDocument/2006/relationships/slideLayout" Target="../slideLayouts/slideLayout389.xml"/><Relationship Id="rId3" Type="http://schemas.openxmlformats.org/officeDocument/2006/relationships/slideLayout" Target="../slideLayouts/slideLayout388.xml"/><Relationship Id="rId2" Type="http://schemas.openxmlformats.org/officeDocument/2006/relationships/slideLayout" Target="../slideLayouts/slideLayout387.xml"/><Relationship Id="rId13" Type="http://schemas.openxmlformats.org/officeDocument/2006/relationships/theme" Target="../theme/theme36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96.xml"/><Relationship Id="rId10" Type="http://schemas.openxmlformats.org/officeDocument/2006/relationships/slideLayout" Target="../slideLayouts/slideLayout395.xml"/><Relationship Id="rId1" Type="http://schemas.openxmlformats.org/officeDocument/2006/relationships/slideLayout" Target="../slideLayouts/slideLayout386.xml"/></Relationships>
</file>

<file path=ppt/slideMasters/_rels/slideMaster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5.xml"/><Relationship Id="rId8" Type="http://schemas.openxmlformats.org/officeDocument/2006/relationships/slideLayout" Target="../slideLayouts/slideLayout404.xml"/><Relationship Id="rId7" Type="http://schemas.openxmlformats.org/officeDocument/2006/relationships/slideLayout" Target="../slideLayouts/slideLayout403.xml"/><Relationship Id="rId6" Type="http://schemas.openxmlformats.org/officeDocument/2006/relationships/slideLayout" Target="../slideLayouts/slideLayout402.xml"/><Relationship Id="rId5" Type="http://schemas.openxmlformats.org/officeDocument/2006/relationships/slideLayout" Target="../slideLayouts/slideLayout401.xml"/><Relationship Id="rId4" Type="http://schemas.openxmlformats.org/officeDocument/2006/relationships/slideLayout" Target="../slideLayouts/slideLayout400.xml"/><Relationship Id="rId3" Type="http://schemas.openxmlformats.org/officeDocument/2006/relationships/slideLayout" Target="../slideLayouts/slideLayout399.xml"/><Relationship Id="rId2" Type="http://schemas.openxmlformats.org/officeDocument/2006/relationships/slideLayout" Target="../slideLayouts/slideLayout398.xml"/><Relationship Id="rId13" Type="http://schemas.openxmlformats.org/officeDocument/2006/relationships/theme" Target="../theme/theme3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07.xml"/><Relationship Id="rId10" Type="http://schemas.openxmlformats.org/officeDocument/2006/relationships/slideLayout" Target="../slideLayouts/slideLayout406.xml"/><Relationship Id="rId1" Type="http://schemas.openxmlformats.org/officeDocument/2006/relationships/slideLayout" Target="../slideLayouts/slideLayout3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.png"/><Relationship Id="rId7" Type="http://schemas.openxmlformats.org/officeDocument/2006/relationships/slide" Target="slide49.xml"/><Relationship Id="rId6" Type="http://schemas.openxmlformats.org/officeDocument/2006/relationships/slide" Target="slide41.xml"/><Relationship Id="rId5" Type="http://schemas.openxmlformats.org/officeDocument/2006/relationships/slide" Target="slide35.xml"/><Relationship Id="rId4" Type="http://schemas.openxmlformats.org/officeDocument/2006/relationships/slide" Target="slide29.xml"/><Relationship Id="rId3" Type="http://schemas.openxmlformats.org/officeDocument/2006/relationships/slide" Target="slide5.xml"/><Relationship Id="rId2" Type="http://schemas.openxmlformats.org/officeDocument/2006/relationships/slide" Target="slide1.xml"/><Relationship Id="rId10" Type="http://schemas.openxmlformats.org/officeDocument/2006/relationships/notesSlide" Target="../notesSlides/notesSlide1.xml"/><Relationship Id="rId1" Type="http://schemas.openxmlformats.org/officeDocument/2006/relationships/slide" Target="slide18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microsoft.com/office/2007/relationships/hdphoto" Target="../media/image7.wdp"/><Relationship Id="rId5" Type="http://schemas.openxmlformats.org/officeDocument/2006/relationships/image" Target="../media/image6.png"/><Relationship Id="rId4" Type="http://schemas.openxmlformats.org/officeDocument/2006/relationships/hyperlink" Target="file:///G:\2019&#32423;&#26426;&#26800;&#35774;&#35745;\&#34583;&#36718;&#34583;&#26438;.exe" TargetMode="Externa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8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" Target="slide15.xml"/><Relationship Id="rId8" Type="http://schemas.openxmlformats.org/officeDocument/2006/relationships/slide" Target="slide12.xml"/><Relationship Id="rId7" Type="http://schemas.openxmlformats.org/officeDocument/2006/relationships/slide" Target="slide14.xml"/><Relationship Id="rId6" Type="http://schemas.openxmlformats.org/officeDocument/2006/relationships/slide" Target="slide13.xml"/><Relationship Id="rId5" Type="http://schemas.openxmlformats.org/officeDocument/2006/relationships/slide" Target="slide11.xml"/><Relationship Id="rId4" Type="http://schemas.openxmlformats.org/officeDocument/2006/relationships/slide" Target="slide10.xml"/><Relationship Id="rId3" Type="http://schemas.openxmlformats.org/officeDocument/2006/relationships/hyperlink" Target="file:///C:\&#25945;&#23398;\&#26426;&#26800;&#35774;&#35745;\MDCAI\CH11\ANIMATOR\&#27861;&#21521;&#30452;&#24275;&#34583;&#26438;.swf" TargetMode="External"/><Relationship Id="rId2" Type="http://schemas.openxmlformats.org/officeDocument/2006/relationships/slide" Target="slide9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2.xml"/><Relationship Id="rId1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jpeg"/><Relationship Id="rId2" Type="http://schemas.openxmlformats.org/officeDocument/2006/relationships/slide" Target="slide7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7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7.xml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7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slide" Target="slide7.xml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jpeg"/><Relationship Id="rId2" Type="http://schemas.openxmlformats.org/officeDocument/2006/relationships/slide" Target="slide7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7.xm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71.xml"/><Relationship Id="rId1" Type="http://schemas.openxmlformats.org/officeDocument/2006/relationships/slide" Target="slide7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hyperlink" Target="/&#26426;&#26800;&#35774;&#35745;&#22522;&#30784;/&#34583;&#36718;&#34583;&#26438;.exe" TargetMode="Externa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.bin"/><Relationship Id="rId8" Type="http://schemas.openxmlformats.org/officeDocument/2006/relationships/image" Target="../media/image27.jpeg"/><Relationship Id="rId7" Type="http://schemas.openxmlformats.org/officeDocument/2006/relationships/image" Target="../media/image26.wmf"/><Relationship Id="rId6" Type="http://schemas.openxmlformats.org/officeDocument/2006/relationships/oleObject" Target="../embeddings/oleObject2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.bin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3" Type="http://schemas.openxmlformats.org/officeDocument/2006/relationships/notesSlide" Target="../notesSlides/notesSlide6.xml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321.xml"/><Relationship Id="rId10" Type="http://schemas.openxmlformats.org/officeDocument/2006/relationships/image" Target="../media/image28.wmf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wmf"/><Relationship Id="rId8" Type="http://schemas.openxmlformats.org/officeDocument/2006/relationships/oleObject" Target="../embeddings/oleObject6.bin"/><Relationship Id="rId7" Type="http://schemas.openxmlformats.org/officeDocument/2006/relationships/image" Target="../media/image30.wmf"/><Relationship Id="rId6" Type="http://schemas.openxmlformats.org/officeDocument/2006/relationships/oleObject" Target="../embeddings/oleObject5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6" Type="http://schemas.openxmlformats.org/officeDocument/2006/relationships/notesSlide" Target="../notesSlides/notesSlide7.xml"/><Relationship Id="rId15" Type="http://schemas.openxmlformats.org/officeDocument/2006/relationships/vmlDrawing" Target="../drawings/vmlDrawing2.vml"/><Relationship Id="rId14" Type="http://schemas.openxmlformats.org/officeDocument/2006/relationships/slideLayout" Target="../slideLayouts/slideLayout24.xml"/><Relationship Id="rId13" Type="http://schemas.openxmlformats.org/officeDocument/2006/relationships/image" Target="../media/image32.wmf"/><Relationship Id="rId12" Type="http://schemas.openxmlformats.org/officeDocument/2006/relationships/oleObject" Target="../embeddings/oleObject8.bin"/><Relationship Id="rId11" Type="http://schemas.openxmlformats.org/officeDocument/2006/relationships/image" Target="../media/image31.wmf"/><Relationship Id="rId10" Type="http://schemas.openxmlformats.org/officeDocument/2006/relationships/oleObject" Target="../embeddings/oleObject7.bin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57.xml"/><Relationship Id="rId6" Type="http://schemas.openxmlformats.org/officeDocument/2006/relationships/image" Target="../media/image34.png"/><Relationship Id="rId5" Type="http://schemas.openxmlformats.org/officeDocument/2006/relationships/slide" Target="slide56.xml"/><Relationship Id="rId4" Type="http://schemas.openxmlformats.org/officeDocument/2006/relationships/image" Target="../media/image9.png"/><Relationship Id="rId3" Type="http://schemas.openxmlformats.org/officeDocument/2006/relationships/slide" Target="slide1.xml"/><Relationship Id="rId2" Type="http://schemas.openxmlformats.org/officeDocument/2006/relationships/image" Target="../media/image33.png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7.xml"/><Relationship Id="rId6" Type="http://schemas.openxmlformats.org/officeDocument/2006/relationships/tags" Target="../tags/tag1.xml"/><Relationship Id="rId5" Type="http://schemas.openxmlformats.org/officeDocument/2006/relationships/image" Target="../media/image9.png"/><Relationship Id="rId4" Type="http://schemas.openxmlformats.org/officeDocument/2006/relationships/slide" Target="slide1.xml"/><Relationship Id="rId3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" Target="slide7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0.xml"/><Relationship Id="rId8" Type="http://schemas.openxmlformats.org/officeDocument/2006/relationships/image" Target="../media/image36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9.png"/><Relationship Id="rId3" Type="http://schemas.openxmlformats.org/officeDocument/2006/relationships/slide" Target="slide1.xml"/><Relationship Id="rId2" Type="http://schemas.openxmlformats.org/officeDocument/2006/relationships/image" Target="../media/image33.png"/><Relationship Id="rId10" Type="http://schemas.openxmlformats.org/officeDocument/2006/relationships/vmlDrawing" Target="../drawings/vmlDrawing3.v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332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9.png"/><Relationship Id="rId3" Type="http://schemas.openxmlformats.org/officeDocument/2006/relationships/slide" Target="slide1.xml"/><Relationship Id="rId2" Type="http://schemas.openxmlformats.org/officeDocument/2006/relationships/image" Target="../media/image33.png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9.xml"/><Relationship Id="rId5" Type="http://schemas.openxmlformats.org/officeDocument/2006/relationships/image" Target="../media/image38.png"/><Relationship Id="rId4" Type="http://schemas.openxmlformats.org/officeDocument/2006/relationships/slide" Target="slide57.xm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4.xml"/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42.wmf"/><Relationship Id="rId1" Type="http://schemas.openxmlformats.org/officeDocument/2006/relationships/oleObject" Target="../embeddings/oleObject12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3.xml"/><Relationship Id="rId1" Type="http://schemas.openxmlformats.org/officeDocument/2006/relationships/slide" Target="slide7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wmf"/><Relationship Id="rId8" Type="http://schemas.openxmlformats.org/officeDocument/2006/relationships/oleObject" Target="../embeddings/oleObject18.bin"/><Relationship Id="rId7" Type="http://schemas.openxmlformats.org/officeDocument/2006/relationships/image" Target="../media/image49.wmf"/><Relationship Id="rId6" Type="http://schemas.openxmlformats.org/officeDocument/2006/relationships/oleObject" Target="../embeddings/oleObject17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16.bin"/><Relationship Id="rId3" Type="http://schemas.openxmlformats.org/officeDocument/2006/relationships/image" Target="../media/image47.wmf"/><Relationship Id="rId28" Type="http://schemas.openxmlformats.org/officeDocument/2006/relationships/notesSlide" Target="../notesSlides/notesSlide9.xml"/><Relationship Id="rId27" Type="http://schemas.openxmlformats.org/officeDocument/2006/relationships/vmlDrawing" Target="../drawings/vmlDrawing6.vml"/><Relationship Id="rId26" Type="http://schemas.openxmlformats.org/officeDocument/2006/relationships/slideLayout" Target="../slideLayouts/slideLayout7.xml"/><Relationship Id="rId25" Type="http://schemas.openxmlformats.org/officeDocument/2006/relationships/slide" Target="slide58.xml"/><Relationship Id="rId24" Type="http://schemas.openxmlformats.org/officeDocument/2006/relationships/oleObject" Target="../embeddings/oleObject26.bin"/><Relationship Id="rId23" Type="http://schemas.openxmlformats.org/officeDocument/2006/relationships/image" Target="../media/image57.wmf"/><Relationship Id="rId22" Type="http://schemas.openxmlformats.org/officeDocument/2006/relationships/oleObject" Target="../embeddings/oleObject25.bin"/><Relationship Id="rId21" Type="http://schemas.openxmlformats.org/officeDocument/2006/relationships/image" Target="../media/image56.wmf"/><Relationship Id="rId20" Type="http://schemas.openxmlformats.org/officeDocument/2006/relationships/oleObject" Target="../embeddings/oleObject24.bin"/><Relationship Id="rId2" Type="http://schemas.openxmlformats.org/officeDocument/2006/relationships/oleObject" Target="../embeddings/oleObject15.bin"/><Relationship Id="rId19" Type="http://schemas.openxmlformats.org/officeDocument/2006/relationships/image" Target="../media/image55.wmf"/><Relationship Id="rId18" Type="http://schemas.openxmlformats.org/officeDocument/2006/relationships/oleObject" Target="../embeddings/oleObject23.bin"/><Relationship Id="rId17" Type="http://schemas.openxmlformats.org/officeDocument/2006/relationships/image" Target="../media/image54.wmf"/><Relationship Id="rId16" Type="http://schemas.openxmlformats.org/officeDocument/2006/relationships/oleObject" Target="../embeddings/oleObject22.bin"/><Relationship Id="rId15" Type="http://schemas.openxmlformats.org/officeDocument/2006/relationships/image" Target="../media/image53.wmf"/><Relationship Id="rId14" Type="http://schemas.openxmlformats.org/officeDocument/2006/relationships/oleObject" Target="../embeddings/oleObject21.bin"/><Relationship Id="rId13" Type="http://schemas.openxmlformats.org/officeDocument/2006/relationships/image" Target="../media/image52.wmf"/><Relationship Id="rId12" Type="http://schemas.openxmlformats.org/officeDocument/2006/relationships/oleObject" Target="../embeddings/oleObject20.bin"/><Relationship Id="rId11" Type="http://schemas.openxmlformats.org/officeDocument/2006/relationships/image" Target="../media/image51.wmf"/><Relationship Id="rId10" Type="http://schemas.openxmlformats.org/officeDocument/2006/relationships/oleObject" Target="../embeddings/oleObject19.bin"/><Relationship Id="rId1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wmf"/><Relationship Id="rId8" Type="http://schemas.openxmlformats.org/officeDocument/2006/relationships/oleObject" Target="../embeddings/oleObject29.bin"/><Relationship Id="rId7" Type="http://schemas.openxmlformats.org/officeDocument/2006/relationships/image" Target="../media/image59.wmf"/><Relationship Id="rId6" Type="http://schemas.openxmlformats.org/officeDocument/2006/relationships/oleObject" Target="../embeddings/oleObject28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27.bin"/><Relationship Id="rId3" Type="http://schemas.openxmlformats.org/officeDocument/2006/relationships/image" Target="../media/image9.png"/><Relationship Id="rId21" Type="http://schemas.openxmlformats.org/officeDocument/2006/relationships/notesSlide" Target="../notesSlides/notesSlide10.xml"/><Relationship Id="rId20" Type="http://schemas.openxmlformats.org/officeDocument/2006/relationships/vmlDrawing" Target="../drawings/vmlDrawing7.vml"/><Relationship Id="rId2" Type="http://schemas.openxmlformats.org/officeDocument/2006/relationships/slide" Target="slide1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65.wmf"/><Relationship Id="rId17" Type="http://schemas.openxmlformats.org/officeDocument/2006/relationships/oleObject" Target="../embeddings/oleObject33.bin"/><Relationship Id="rId16" Type="http://schemas.openxmlformats.org/officeDocument/2006/relationships/image" Target="../media/image64.wmf"/><Relationship Id="rId15" Type="http://schemas.openxmlformats.org/officeDocument/2006/relationships/oleObject" Target="../embeddings/oleObject32.bin"/><Relationship Id="rId14" Type="http://schemas.openxmlformats.org/officeDocument/2006/relationships/image" Target="../media/image63.wmf"/><Relationship Id="rId13" Type="http://schemas.openxmlformats.org/officeDocument/2006/relationships/oleObject" Target="../embeddings/oleObject31.bin"/><Relationship Id="rId12" Type="http://schemas.openxmlformats.org/officeDocument/2006/relationships/image" Target="../media/image62.png"/><Relationship Id="rId11" Type="http://schemas.openxmlformats.org/officeDocument/2006/relationships/image" Target="../media/image61.wmf"/><Relationship Id="rId10" Type="http://schemas.openxmlformats.org/officeDocument/2006/relationships/oleObject" Target="../embeddings/oleObject30.bin"/><Relationship Id="rId1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6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81.xml"/><Relationship Id="rId1" Type="http://schemas.openxmlformats.org/officeDocument/2006/relationships/image" Target="../media/image6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5.xml"/><Relationship Id="rId1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92.xml"/><Relationship Id="rId1" Type="http://schemas.openxmlformats.org/officeDocument/2006/relationships/image" Target="../media/image69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wmf"/><Relationship Id="rId8" Type="http://schemas.openxmlformats.org/officeDocument/2006/relationships/oleObject" Target="../embeddings/oleObject36.bin"/><Relationship Id="rId7" Type="http://schemas.openxmlformats.org/officeDocument/2006/relationships/image" Target="../media/image72.wmf"/><Relationship Id="rId6" Type="http://schemas.openxmlformats.org/officeDocument/2006/relationships/oleObject" Target="../embeddings/oleObject35.bin"/><Relationship Id="rId5" Type="http://schemas.openxmlformats.org/officeDocument/2006/relationships/slide" Target="slide71.xml"/><Relationship Id="rId4" Type="http://schemas.openxmlformats.org/officeDocument/2006/relationships/slide" Target="slide60.xml"/><Relationship Id="rId3" Type="http://schemas.openxmlformats.org/officeDocument/2006/relationships/image" Target="../media/image71.png"/><Relationship Id="rId2" Type="http://schemas.openxmlformats.org/officeDocument/2006/relationships/image" Target="../media/image70.wmf"/><Relationship Id="rId12" Type="http://schemas.openxmlformats.org/officeDocument/2006/relationships/notesSlide" Target="../notesSlides/notesSlide11.xml"/><Relationship Id="rId11" Type="http://schemas.openxmlformats.org/officeDocument/2006/relationships/vmlDrawing" Target="../drawings/vmlDrawing8.vml"/><Relationship Id="rId10" Type="http://schemas.openxmlformats.org/officeDocument/2006/relationships/slideLayout" Target="../slideLayouts/slideLayout101.xml"/><Relationship Id="rId1" Type="http://schemas.openxmlformats.org/officeDocument/2006/relationships/oleObject" Target="../embeddings/oleObject34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76.w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38.bin"/><Relationship Id="rId4" Type="http://schemas.openxmlformats.org/officeDocument/2006/relationships/slide" Target="slide62.xml"/><Relationship Id="rId3" Type="http://schemas.openxmlformats.org/officeDocument/2006/relationships/slide" Target="slide61.xml"/><Relationship Id="rId2" Type="http://schemas.openxmlformats.org/officeDocument/2006/relationships/image" Target="../media/image74.wmf"/><Relationship Id="rId10" Type="http://schemas.openxmlformats.org/officeDocument/2006/relationships/vmlDrawing" Target="../drawings/vmlDrawing9.vml"/><Relationship Id="rId1" Type="http://schemas.openxmlformats.org/officeDocument/2006/relationships/oleObject" Target="../embeddings/oleObject37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4.xml"/><Relationship Id="rId8" Type="http://schemas.openxmlformats.org/officeDocument/2006/relationships/image" Target="../media/image80.wmf"/><Relationship Id="rId7" Type="http://schemas.openxmlformats.org/officeDocument/2006/relationships/oleObject" Target="../embeddings/oleObject42.bin"/><Relationship Id="rId6" Type="http://schemas.openxmlformats.org/officeDocument/2006/relationships/image" Target="../media/image79.wmf"/><Relationship Id="rId5" Type="http://schemas.openxmlformats.org/officeDocument/2006/relationships/oleObject" Target="../embeddings/oleObject41.bin"/><Relationship Id="rId4" Type="http://schemas.openxmlformats.org/officeDocument/2006/relationships/slide" Target="slide56.xml"/><Relationship Id="rId3" Type="http://schemas.openxmlformats.org/officeDocument/2006/relationships/image" Target="../media/image78.png"/><Relationship Id="rId2" Type="http://schemas.openxmlformats.org/officeDocument/2006/relationships/image" Target="../media/image77.wmf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40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" Target="slide64.xml"/><Relationship Id="rId8" Type="http://schemas.openxmlformats.org/officeDocument/2006/relationships/image" Target="../media/image82.wmf"/><Relationship Id="rId7" Type="http://schemas.openxmlformats.org/officeDocument/2006/relationships/oleObject" Target="../embeddings/oleObject44.bin"/><Relationship Id="rId6" Type="http://schemas.openxmlformats.org/officeDocument/2006/relationships/image" Target="../media/image81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9.png"/><Relationship Id="rId3" Type="http://schemas.openxmlformats.org/officeDocument/2006/relationships/slide" Target="slide1.xml"/><Relationship Id="rId2" Type="http://schemas.openxmlformats.org/officeDocument/2006/relationships/image" Target="../media/image33.png"/><Relationship Id="rId19" Type="http://schemas.openxmlformats.org/officeDocument/2006/relationships/vmlDrawing" Target="../drawings/vmlDrawing11.vml"/><Relationship Id="rId18" Type="http://schemas.openxmlformats.org/officeDocument/2006/relationships/slideLayout" Target="../slideLayouts/slideLayout112.xml"/><Relationship Id="rId17" Type="http://schemas.openxmlformats.org/officeDocument/2006/relationships/image" Target="../media/image86.wmf"/><Relationship Id="rId16" Type="http://schemas.openxmlformats.org/officeDocument/2006/relationships/oleObject" Target="../embeddings/oleObject48.bin"/><Relationship Id="rId15" Type="http://schemas.openxmlformats.org/officeDocument/2006/relationships/image" Target="../media/image85.wmf"/><Relationship Id="rId14" Type="http://schemas.openxmlformats.org/officeDocument/2006/relationships/oleObject" Target="../embeddings/oleObject47.bin"/><Relationship Id="rId13" Type="http://schemas.openxmlformats.org/officeDocument/2006/relationships/image" Target="../media/image84.wmf"/><Relationship Id="rId12" Type="http://schemas.openxmlformats.org/officeDocument/2006/relationships/oleObject" Target="../embeddings/oleObject46.bin"/><Relationship Id="rId11" Type="http://schemas.openxmlformats.org/officeDocument/2006/relationships/image" Target="../media/image83.wmf"/><Relationship Id="rId10" Type="http://schemas.openxmlformats.org/officeDocument/2006/relationships/oleObject" Target="../embeddings/oleObject45.bin"/><Relationship Id="rId1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88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87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9.png"/><Relationship Id="rId3" Type="http://schemas.openxmlformats.org/officeDocument/2006/relationships/slide" Target="slide1.xml"/><Relationship Id="rId2" Type="http://schemas.openxmlformats.org/officeDocument/2006/relationships/image" Target="../media/image33.png"/><Relationship Id="rId12" Type="http://schemas.openxmlformats.org/officeDocument/2006/relationships/vmlDrawing" Target="../drawings/vmlDrawing12.vml"/><Relationship Id="rId11" Type="http://schemas.openxmlformats.org/officeDocument/2006/relationships/slideLayout" Target="../slideLayouts/slideLayout178.xml"/><Relationship Id="rId10" Type="http://schemas.openxmlformats.org/officeDocument/2006/relationships/image" Target="../media/image89.wmf"/><Relationship Id="rId1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9.xml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5.xml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5.wmf"/><Relationship Id="rId8" Type="http://schemas.openxmlformats.org/officeDocument/2006/relationships/oleObject" Target="../embeddings/oleObject55.bin"/><Relationship Id="rId7" Type="http://schemas.openxmlformats.org/officeDocument/2006/relationships/image" Target="../media/image94.wmf"/><Relationship Id="rId6" Type="http://schemas.openxmlformats.org/officeDocument/2006/relationships/oleObject" Target="../embeddings/oleObject54.bin"/><Relationship Id="rId5" Type="http://schemas.openxmlformats.org/officeDocument/2006/relationships/image" Target="../media/image93.wmf"/><Relationship Id="rId4" Type="http://schemas.openxmlformats.org/officeDocument/2006/relationships/oleObject" Target="../embeddings/oleObject53.bin"/><Relationship Id="rId3" Type="http://schemas.openxmlformats.org/officeDocument/2006/relationships/image" Target="../media/image92.wmf"/><Relationship Id="rId20" Type="http://schemas.openxmlformats.org/officeDocument/2006/relationships/notesSlide" Target="../notesSlides/notesSlide12.xml"/><Relationship Id="rId2" Type="http://schemas.openxmlformats.org/officeDocument/2006/relationships/oleObject" Target="../embeddings/oleObject52.bin"/><Relationship Id="rId19" Type="http://schemas.openxmlformats.org/officeDocument/2006/relationships/vmlDrawing" Target="../drawings/vmlDrawing13.vml"/><Relationship Id="rId18" Type="http://schemas.openxmlformats.org/officeDocument/2006/relationships/slideLayout" Target="../slideLayouts/slideLayout35.xml"/><Relationship Id="rId17" Type="http://schemas.openxmlformats.org/officeDocument/2006/relationships/image" Target="../media/image99.wmf"/><Relationship Id="rId16" Type="http://schemas.openxmlformats.org/officeDocument/2006/relationships/oleObject" Target="../embeddings/oleObject59.bin"/><Relationship Id="rId15" Type="http://schemas.openxmlformats.org/officeDocument/2006/relationships/image" Target="../media/image98.wmf"/><Relationship Id="rId14" Type="http://schemas.openxmlformats.org/officeDocument/2006/relationships/oleObject" Target="../embeddings/oleObject58.bin"/><Relationship Id="rId13" Type="http://schemas.openxmlformats.org/officeDocument/2006/relationships/image" Target="../media/image97.wmf"/><Relationship Id="rId12" Type="http://schemas.openxmlformats.org/officeDocument/2006/relationships/oleObject" Target="../embeddings/oleObject57.bin"/><Relationship Id="rId11" Type="http://schemas.openxmlformats.org/officeDocument/2006/relationships/image" Target="../media/image96.wmf"/><Relationship Id="rId10" Type="http://schemas.openxmlformats.org/officeDocument/2006/relationships/oleObject" Target="../embeddings/oleObject56.bin"/><Relationship Id="rId1" Type="http://schemas.openxmlformats.org/officeDocument/2006/relationships/slide" Target="slide65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107.wmf"/><Relationship Id="rId7" Type="http://schemas.openxmlformats.org/officeDocument/2006/relationships/image" Target="../media/image106.wmf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2" Type="http://schemas.openxmlformats.org/officeDocument/2006/relationships/vmlDrawing" Target="../drawings/vmlDrawing14.vml"/><Relationship Id="rId11" Type="http://schemas.openxmlformats.org/officeDocument/2006/relationships/slideLayout" Target="../slideLayouts/slideLayout40.xml"/><Relationship Id="rId10" Type="http://schemas.openxmlformats.org/officeDocument/2006/relationships/image" Target="../media/image93.wmf"/><Relationship Id="rId1" Type="http://schemas.openxmlformats.org/officeDocument/2006/relationships/image" Target="../media/image100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3.xml"/><Relationship Id="rId1" Type="http://schemas.openxmlformats.org/officeDocument/2006/relationships/slide" Target="slide6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65.xml"/><Relationship Id="rId1" Type="http://schemas.openxmlformats.org/officeDocument/2006/relationships/image" Target="../media/image10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0.xml"/><Relationship Id="rId2" Type="http://schemas.openxmlformats.org/officeDocument/2006/relationships/image" Target="../media/image110.png"/><Relationship Id="rId1" Type="http://schemas.openxmlformats.org/officeDocument/2006/relationships/image" Target="../media/image109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4.xml"/><Relationship Id="rId8" Type="http://schemas.openxmlformats.org/officeDocument/2006/relationships/image" Target="../media/image114.wmf"/><Relationship Id="rId7" Type="http://schemas.openxmlformats.org/officeDocument/2006/relationships/oleObject" Target="../embeddings/oleObject64.bin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112.wmf"/><Relationship Id="rId3" Type="http://schemas.openxmlformats.org/officeDocument/2006/relationships/oleObject" Target="../embeddings/oleObject62.bin"/><Relationship Id="rId2" Type="http://schemas.openxmlformats.org/officeDocument/2006/relationships/image" Target="../media/image111.wmf"/><Relationship Id="rId10" Type="http://schemas.openxmlformats.org/officeDocument/2006/relationships/vmlDrawing" Target="../drawings/vmlDrawing15.vml"/><Relationship Id="rId1" Type="http://schemas.openxmlformats.org/officeDocument/2006/relationships/oleObject" Target="../embeddings/oleObject61.bin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5.xml"/><Relationship Id="rId4" Type="http://schemas.openxmlformats.org/officeDocument/2006/relationships/image" Target="../media/image115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0.xml"/><Relationship Id="rId1" Type="http://schemas.openxmlformats.org/officeDocument/2006/relationships/image" Target="../media/image108.pn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6.xml"/><Relationship Id="rId4" Type="http://schemas.openxmlformats.org/officeDocument/2006/relationships/image" Target="../media/image116.png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50.xml"/><Relationship Id="rId1" Type="http://schemas.openxmlformats.org/officeDocument/2006/relationships/image" Target="../media/image11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0.xml"/><Relationship Id="rId1" Type="http://schemas.openxmlformats.org/officeDocument/2006/relationships/image" Target="../media/image11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0.xml"/><Relationship Id="rId1" Type="http://schemas.openxmlformats.org/officeDocument/2006/relationships/image" Target="../media/image119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6.xml"/><Relationship Id="rId1" Type="http://schemas.openxmlformats.org/officeDocument/2006/relationships/image" Target="../media/image12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167.xml"/><Relationship Id="rId6" Type="http://schemas.openxmlformats.org/officeDocument/2006/relationships/slide" Target="slide67.xml"/><Relationship Id="rId5" Type="http://schemas.openxmlformats.org/officeDocument/2006/relationships/image" Target="../media/image121.wmf"/><Relationship Id="rId4" Type="http://schemas.openxmlformats.org/officeDocument/2006/relationships/oleObject" Target="../embeddings/oleObject65.bin"/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image" Target="../media/image33.png"/></Relationships>
</file>

<file path=ppt/slides/_rels/slide5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00.xml"/><Relationship Id="rId5" Type="http://schemas.openxmlformats.org/officeDocument/2006/relationships/slide" Target="slide72.xml"/><Relationship Id="rId4" Type="http://schemas.openxmlformats.org/officeDocument/2006/relationships/slide" Target="slide21.xml"/><Relationship Id="rId3" Type="http://schemas.openxmlformats.org/officeDocument/2006/relationships/tags" Target="../tags/tag2.xml"/><Relationship Id="rId2" Type="http://schemas.openxmlformats.org/officeDocument/2006/relationships/image" Target="../media/image9.png"/><Relationship Id="rId1" Type="http://schemas.openxmlformats.org/officeDocument/2006/relationships/slide" Target="slide36.xml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9.bin"/><Relationship Id="rId8" Type="http://schemas.openxmlformats.org/officeDocument/2006/relationships/image" Target="../media/image124.wmf"/><Relationship Id="rId7" Type="http://schemas.openxmlformats.org/officeDocument/2006/relationships/oleObject" Target="../embeddings/oleObject68.bin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122.wmf"/><Relationship Id="rId37" Type="http://schemas.openxmlformats.org/officeDocument/2006/relationships/vmlDrawing" Target="../drawings/vmlDrawing17.vml"/><Relationship Id="rId36" Type="http://schemas.openxmlformats.org/officeDocument/2006/relationships/slideLayout" Target="../slideLayouts/slideLayout211.xml"/><Relationship Id="rId35" Type="http://schemas.openxmlformats.org/officeDocument/2006/relationships/slide" Target="slide23.xml"/><Relationship Id="rId34" Type="http://schemas.openxmlformats.org/officeDocument/2006/relationships/image" Target="../media/image137.wmf"/><Relationship Id="rId33" Type="http://schemas.openxmlformats.org/officeDocument/2006/relationships/oleObject" Target="../embeddings/oleObject81.bin"/><Relationship Id="rId32" Type="http://schemas.openxmlformats.org/officeDocument/2006/relationships/image" Target="../media/image136.wmf"/><Relationship Id="rId31" Type="http://schemas.openxmlformats.org/officeDocument/2006/relationships/oleObject" Target="../embeddings/oleObject80.bin"/><Relationship Id="rId30" Type="http://schemas.openxmlformats.org/officeDocument/2006/relationships/image" Target="../media/image135.wmf"/><Relationship Id="rId3" Type="http://schemas.openxmlformats.org/officeDocument/2006/relationships/oleObject" Target="../embeddings/oleObject66.bin"/><Relationship Id="rId29" Type="http://schemas.openxmlformats.org/officeDocument/2006/relationships/oleObject" Target="../embeddings/oleObject79.bin"/><Relationship Id="rId28" Type="http://schemas.openxmlformats.org/officeDocument/2006/relationships/image" Target="../media/image134.wmf"/><Relationship Id="rId27" Type="http://schemas.openxmlformats.org/officeDocument/2006/relationships/oleObject" Target="../embeddings/oleObject78.bin"/><Relationship Id="rId26" Type="http://schemas.openxmlformats.org/officeDocument/2006/relationships/image" Target="../media/image133.wmf"/><Relationship Id="rId25" Type="http://schemas.openxmlformats.org/officeDocument/2006/relationships/oleObject" Target="../embeddings/oleObject77.bin"/><Relationship Id="rId24" Type="http://schemas.openxmlformats.org/officeDocument/2006/relationships/image" Target="../media/image132.wmf"/><Relationship Id="rId23" Type="http://schemas.openxmlformats.org/officeDocument/2006/relationships/oleObject" Target="../embeddings/oleObject76.bin"/><Relationship Id="rId22" Type="http://schemas.openxmlformats.org/officeDocument/2006/relationships/image" Target="../media/image131.wmf"/><Relationship Id="rId21" Type="http://schemas.openxmlformats.org/officeDocument/2006/relationships/oleObject" Target="../embeddings/oleObject75.bin"/><Relationship Id="rId20" Type="http://schemas.openxmlformats.org/officeDocument/2006/relationships/image" Target="../media/image130.wmf"/><Relationship Id="rId2" Type="http://schemas.openxmlformats.org/officeDocument/2006/relationships/image" Target="../media/image9.png"/><Relationship Id="rId19" Type="http://schemas.openxmlformats.org/officeDocument/2006/relationships/oleObject" Target="../embeddings/oleObject74.bin"/><Relationship Id="rId18" Type="http://schemas.openxmlformats.org/officeDocument/2006/relationships/image" Target="../media/image129.wmf"/><Relationship Id="rId17" Type="http://schemas.openxmlformats.org/officeDocument/2006/relationships/oleObject" Target="../embeddings/oleObject73.bin"/><Relationship Id="rId16" Type="http://schemas.openxmlformats.org/officeDocument/2006/relationships/image" Target="../media/image128.wmf"/><Relationship Id="rId15" Type="http://schemas.openxmlformats.org/officeDocument/2006/relationships/oleObject" Target="../embeddings/oleObject72.bin"/><Relationship Id="rId14" Type="http://schemas.openxmlformats.org/officeDocument/2006/relationships/image" Target="../media/image127.wmf"/><Relationship Id="rId13" Type="http://schemas.openxmlformats.org/officeDocument/2006/relationships/oleObject" Target="../embeddings/oleObject71.bin"/><Relationship Id="rId12" Type="http://schemas.openxmlformats.org/officeDocument/2006/relationships/image" Target="../media/image126.wmf"/><Relationship Id="rId11" Type="http://schemas.openxmlformats.org/officeDocument/2006/relationships/oleObject" Target="../embeddings/oleObject70.bin"/><Relationship Id="rId10" Type="http://schemas.openxmlformats.org/officeDocument/2006/relationships/image" Target="../media/image125.wmf"/><Relationship Id="rId1" Type="http://schemas.openxmlformats.org/officeDocument/2006/relationships/slide" Target="slide1.xml"/></Relationships>
</file>

<file path=ppt/slides/_rels/slide5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vmlDrawing" Target="../drawings/vmlDrawing18.vml"/><Relationship Id="rId4" Type="http://schemas.openxmlformats.org/officeDocument/2006/relationships/slideLayout" Target="../slideLayouts/slideLayout227.xml"/><Relationship Id="rId3" Type="http://schemas.openxmlformats.org/officeDocument/2006/relationships/slide" Target="slide29.xml"/><Relationship Id="rId2" Type="http://schemas.openxmlformats.org/officeDocument/2006/relationships/image" Target="../media/image138.wmf"/><Relationship Id="rId1" Type="http://schemas.openxmlformats.org/officeDocument/2006/relationships/oleObject" Target="../embeddings/oleObject82.bin"/></Relationships>
</file>

<file path=ppt/slides/_rels/slide5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22.xml"/><Relationship Id="rId4" Type="http://schemas.openxmlformats.org/officeDocument/2006/relationships/slide" Target="slide29.xml"/><Relationship Id="rId3" Type="http://schemas.openxmlformats.org/officeDocument/2006/relationships/image" Target="../media/image139.png"/><Relationship Id="rId2" Type="http://schemas.openxmlformats.org/officeDocument/2006/relationships/image" Target="../media/image9.png"/><Relationship Id="rId1" Type="http://schemas.openxmlformats.org/officeDocument/2006/relationships/slide" Target="slide1.xml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33.xml"/><Relationship Id="rId3" Type="http://schemas.openxmlformats.org/officeDocument/2006/relationships/slide" Target="slide34.xml"/><Relationship Id="rId2" Type="http://schemas.openxmlformats.org/officeDocument/2006/relationships/image" Target="../media/image9.png"/><Relationship Id="rId1" Type="http://schemas.openxmlformats.org/officeDocument/2006/relationships/slide" Target="slide1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4.xml"/><Relationship Id="rId3" Type="http://schemas.openxmlformats.org/officeDocument/2006/relationships/slide" Target="slide35.xml"/><Relationship Id="rId2" Type="http://schemas.openxmlformats.org/officeDocument/2006/relationships/image" Target="../media/image9.png"/><Relationship Id="rId1" Type="http://schemas.openxmlformats.org/officeDocument/2006/relationships/slide" Target="slide1.xml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5.xml"/><Relationship Id="rId3" Type="http://schemas.openxmlformats.org/officeDocument/2006/relationships/slide" Target="slide35.xml"/><Relationship Id="rId2" Type="http://schemas.openxmlformats.org/officeDocument/2006/relationships/image" Target="../media/image9.png"/><Relationship Id="rId1" Type="http://schemas.openxmlformats.org/officeDocument/2006/relationships/slide" Target="slide1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9.vml"/><Relationship Id="rId7" Type="http://schemas.openxmlformats.org/officeDocument/2006/relationships/slideLayout" Target="../slideLayouts/slideLayout266.xml"/><Relationship Id="rId6" Type="http://schemas.openxmlformats.org/officeDocument/2006/relationships/image" Target="../media/image141.png"/><Relationship Id="rId5" Type="http://schemas.openxmlformats.org/officeDocument/2006/relationships/slide" Target="slide37.xml"/><Relationship Id="rId4" Type="http://schemas.openxmlformats.org/officeDocument/2006/relationships/image" Target="../media/image140.w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9.png"/><Relationship Id="rId1" Type="http://schemas.openxmlformats.org/officeDocument/2006/relationships/slide" Target="slide1.xml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77.xml"/><Relationship Id="rId3" Type="http://schemas.openxmlformats.org/officeDocument/2006/relationships/slide" Target="slide37.xml"/><Relationship Id="rId2" Type="http://schemas.openxmlformats.org/officeDocument/2006/relationships/image" Target="../media/image9.png"/><Relationship Id="rId1" Type="http://schemas.openxmlformats.org/officeDocument/2006/relationships/slide" Target="slide1.xml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88.xml"/><Relationship Id="rId3" Type="http://schemas.openxmlformats.org/officeDocument/2006/relationships/slide" Target="slide41.xml"/><Relationship Id="rId2" Type="http://schemas.openxmlformats.org/officeDocument/2006/relationships/image" Target="../media/image9.png"/><Relationship Id="rId1" Type="http://schemas.openxmlformats.org/officeDocument/2006/relationships/slide" Target="slide1.xml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99.xml"/><Relationship Id="rId4" Type="http://schemas.openxmlformats.org/officeDocument/2006/relationships/slide" Target="slide43.xml"/><Relationship Id="rId3" Type="http://schemas.openxmlformats.org/officeDocument/2006/relationships/tags" Target="../tags/tag3.xml"/><Relationship Id="rId2" Type="http://schemas.openxmlformats.org/officeDocument/2006/relationships/image" Target="../media/image9.png"/><Relationship Id="rId1" Type="http://schemas.openxmlformats.org/officeDocument/2006/relationships/slide" Target="slide1.xml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7.bin"/><Relationship Id="rId8" Type="http://schemas.openxmlformats.org/officeDocument/2006/relationships/image" Target="../media/image144.wmf"/><Relationship Id="rId7" Type="http://schemas.openxmlformats.org/officeDocument/2006/relationships/oleObject" Target="../embeddings/oleObject86.bin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142.wmf"/><Relationship Id="rId39" Type="http://schemas.openxmlformats.org/officeDocument/2006/relationships/vmlDrawing" Target="../drawings/vmlDrawing20.vml"/><Relationship Id="rId38" Type="http://schemas.openxmlformats.org/officeDocument/2006/relationships/slideLayout" Target="../slideLayouts/slideLayout310.xml"/><Relationship Id="rId37" Type="http://schemas.openxmlformats.org/officeDocument/2006/relationships/slide" Target="slide55.xml"/><Relationship Id="rId36" Type="http://schemas.openxmlformats.org/officeDocument/2006/relationships/image" Target="../media/image158.wmf"/><Relationship Id="rId35" Type="http://schemas.openxmlformats.org/officeDocument/2006/relationships/oleObject" Target="../embeddings/oleObject100.bin"/><Relationship Id="rId34" Type="http://schemas.openxmlformats.org/officeDocument/2006/relationships/image" Target="../media/image157.wmf"/><Relationship Id="rId33" Type="http://schemas.openxmlformats.org/officeDocument/2006/relationships/oleObject" Target="../embeddings/oleObject99.bin"/><Relationship Id="rId32" Type="http://schemas.openxmlformats.org/officeDocument/2006/relationships/image" Target="../media/image156.wmf"/><Relationship Id="rId31" Type="http://schemas.openxmlformats.org/officeDocument/2006/relationships/oleObject" Target="../embeddings/oleObject98.bin"/><Relationship Id="rId30" Type="http://schemas.openxmlformats.org/officeDocument/2006/relationships/image" Target="../media/image155.wmf"/><Relationship Id="rId3" Type="http://schemas.openxmlformats.org/officeDocument/2006/relationships/oleObject" Target="../embeddings/oleObject84.bin"/><Relationship Id="rId29" Type="http://schemas.openxmlformats.org/officeDocument/2006/relationships/oleObject" Target="../embeddings/oleObject97.bin"/><Relationship Id="rId28" Type="http://schemas.openxmlformats.org/officeDocument/2006/relationships/image" Target="../media/image154.wmf"/><Relationship Id="rId27" Type="http://schemas.openxmlformats.org/officeDocument/2006/relationships/oleObject" Target="../embeddings/oleObject96.bin"/><Relationship Id="rId26" Type="http://schemas.openxmlformats.org/officeDocument/2006/relationships/image" Target="../media/image153.wmf"/><Relationship Id="rId25" Type="http://schemas.openxmlformats.org/officeDocument/2006/relationships/oleObject" Target="../embeddings/oleObject95.bin"/><Relationship Id="rId24" Type="http://schemas.openxmlformats.org/officeDocument/2006/relationships/image" Target="../media/image152.wmf"/><Relationship Id="rId23" Type="http://schemas.openxmlformats.org/officeDocument/2006/relationships/oleObject" Target="../embeddings/oleObject94.bin"/><Relationship Id="rId22" Type="http://schemas.openxmlformats.org/officeDocument/2006/relationships/image" Target="../media/image151.wmf"/><Relationship Id="rId21" Type="http://schemas.openxmlformats.org/officeDocument/2006/relationships/oleObject" Target="../embeddings/oleObject93.bin"/><Relationship Id="rId20" Type="http://schemas.openxmlformats.org/officeDocument/2006/relationships/image" Target="../media/image150.wmf"/><Relationship Id="rId2" Type="http://schemas.openxmlformats.org/officeDocument/2006/relationships/image" Target="../media/image9.png"/><Relationship Id="rId19" Type="http://schemas.openxmlformats.org/officeDocument/2006/relationships/oleObject" Target="../embeddings/oleObject92.bin"/><Relationship Id="rId18" Type="http://schemas.openxmlformats.org/officeDocument/2006/relationships/image" Target="../media/image149.wmf"/><Relationship Id="rId17" Type="http://schemas.openxmlformats.org/officeDocument/2006/relationships/oleObject" Target="../embeddings/oleObject91.bin"/><Relationship Id="rId16" Type="http://schemas.openxmlformats.org/officeDocument/2006/relationships/image" Target="../media/image148.wmf"/><Relationship Id="rId15" Type="http://schemas.openxmlformats.org/officeDocument/2006/relationships/oleObject" Target="../embeddings/oleObject90.bin"/><Relationship Id="rId14" Type="http://schemas.openxmlformats.org/officeDocument/2006/relationships/image" Target="../media/image147.wmf"/><Relationship Id="rId13" Type="http://schemas.openxmlformats.org/officeDocument/2006/relationships/oleObject" Target="../embeddings/oleObject89.bin"/><Relationship Id="rId12" Type="http://schemas.openxmlformats.org/officeDocument/2006/relationships/image" Target="../media/image146.wmf"/><Relationship Id="rId11" Type="http://schemas.openxmlformats.org/officeDocument/2006/relationships/oleObject" Target="../embeddings/oleObject88.bin"/><Relationship Id="rId10" Type="http://schemas.openxmlformats.org/officeDocument/2006/relationships/image" Target="../media/image145.wmf"/><Relationship Id="rId1" Type="http://schemas.openxmlformats.org/officeDocument/2006/relationships/slide" Target="slide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15.xml"/><Relationship Id="rId1" Type="http://schemas.openxmlformats.org/officeDocument/2006/relationships/image" Target="../media/image159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0.xml"/><Relationship Id="rId2" Type="http://schemas.openxmlformats.org/officeDocument/2006/relationships/image" Target="../media/image161.png"/><Relationship Id="rId1" Type="http://schemas.openxmlformats.org/officeDocument/2006/relationships/image" Target="../media/image160.png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1.vml"/><Relationship Id="rId8" Type="http://schemas.openxmlformats.org/officeDocument/2006/relationships/slideLayout" Target="../slideLayouts/slideLayout315.xml"/><Relationship Id="rId7" Type="http://schemas.openxmlformats.org/officeDocument/2006/relationships/slide" Target="slide34.xml"/><Relationship Id="rId6" Type="http://schemas.openxmlformats.org/officeDocument/2006/relationships/image" Target="../media/image163.wmf"/><Relationship Id="rId5" Type="http://schemas.openxmlformats.org/officeDocument/2006/relationships/oleObject" Target="../embeddings/oleObject101.bin"/><Relationship Id="rId4" Type="http://schemas.openxmlformats.org/officeDocument/2006/relationships/slide" Target="slide26.xml"/><Relationship Id="rId3" Type="http://schemas.openxmlformats.org/officeDocument/2006/relationships/image" Target="../media/image162.png"/><Relationship Id="rId2" Type="http://schemas.openxmlformats.org/officeDocument/2006/relationships/slide" Target="slide20.xml"/><Relationship Id="rId10" Type="http://schemas.openxmlformats.org/officeDocument/2006/relationships/notesSlide" Target="../notesSlides/notesSlide19.xml"/><Relationship Id="rId1" Type="http://schemas.openxmlformats.org/officeDocument/2006/relationships/slide" Target="slide15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2.vml"/><Relationship Id="rId7" Type="http://schemas.openxmlformats.org/officeDocument/2006/relationships/slideLayout" Target="../slideLayouts/slideLayout315.xml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103.bin"/><Relationship Id="rId4" Type="http://schemas.openxmlformats.org/officeDocument/2006/relationships/slide" Target="slide57.xml"/><Relationship Id="rId3" Type="http://schemas.openxmlformats.org/officeDocument/2006/relationships/slide" Target="slide56.xml"/><Relationship Id="rId2" Type="http://schemas.openxmlformats.org/officeDocument/2006/relationships/image" Target="../media/image164.wmf"/><Relationship Id="rId1" Type="http://schemas.openxmlformats.org/officeDocument/2006/relationships/oleObject" Target="../embeddings/oleObject102.bin"/></Relationships>
</file>

<file path=ppt/slides/_rels/slide7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1.png"/><Relationship Id="rId8" Type="http://schemas.openxmlformats.org/officeDocument/2006/relationships/image" Target="../media/image170.png"/><Relationship Id="rId7" Type="http://schemas.openxmlformats.org/officeDocument/2006/relationships/image" Target="../media/image169.wmf"/><Relationship Id="rId6" Type="http://schemas.openxmlformats.org/officeDocument/2006/relationships/oleObject" Target="../embeddings/oleObject106.bin"/><Relationship Id="rId5" Type="http://schemas.openxmlformats.org/officeDocument/2006/relationships/image" Target="../media/image168.png"/><Relationship Id="rId4" Type="http://schemas.openxmlformats.org/officeDocument/2006/relationships/image" Target="../media/image167.wmf"/><Relationship Id="rId3" Type="http://schemas.openxmlformats.org/officeDocument/2006/relationships/oleObject" Target="../embeddings/oleObject105.bin"/><Relationship Id="rId20" Type="http://schemas.openxmlformats.org/officeDocument/2006/relationships/notesSlide" Target="../notesSlides/notesSlide20.xml"/><Relationship Id="rId2" Type="http://schemas.openxmlformats.org/officeDocument/2006/relationships/image" Target="../media/image166.wmf"/><Relationship Id="rId19" Type="http://schemas.openxmlformats.org/officeDocument/2006/relationships/vmlDrawing" Target="../drawings/vmlDrawing23.vml"/><Relationship Id="rId18" Type="http://schemas.openxmlformats.org/officeDocument/2006/relationships/slideLayout" Target="../slideLayouts/slideLayout315.xml"/><Relationship Id="rId17" Type="http://schemas.openxmlformats.org/officeDocument/2006/relationships/image" Target="../media/image176.wmf"/><Relationship Id="rId16" Type="http://schemas.openxmlformats.org/officeDocument/2006/relationships/oleObject" Target="../embeddings/oleObject109.bin"/><Relationship Id="rId15" Type="http://schemas.openxmlformats.org/officeDocument/2006/relationships/image" Target="../media/image175.wmf"/><Relationship Id="rId14" Type="http://schemas.openxmlformats.org/officeDocument/2006/relationships/oleObject" Target="../embeddings/oleObject108.bin"/><Relationship Id="rId13" Type="http://schemas.openxmlformats.org/officeDocument/2006/relationships/image" Target="../media/image174.wmf"/><Relationship Id="rId12" Type="http://schemas.openxmlformats.org/officeDocument/2006/relationships/oleObject" Target="../embeddings/oleObject107.bin"/><Relationship Id="rId11" Type="http://schemas.openxmlformats.org/officeDocument/2006/relationships/image" Target="../media/image173.png"/><Relationship Id="rId10" Type="http://schemas.openxmlformats.org/officeDocument/2006/relationships/image" Target="../media/image172.png"/><Relationship Id="rId1" Type="http://schemas.openxmlformats.org/officeDocument/2006/relationships/oleObject" Target="../embeddings/oleObject104.bin"/></Relationships>
</file>

<file path=ppt/slides/_rels/slide7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4.vml"/><Relationship Id="rId8" Type="http://schemas.openxmlformats.org/officeDocument/2006/relationships/slideLayout" Target="../slideLayouts/slideLayout315.xml"/><Relationship Id="rId7" Type="http://schemas.openxmlformats.org/officeDocument/2006/relationships/image" Target="../media/image180.wmf"/><Relationship Id="rId6" Type="http://schemas.openxmlformats.org/officeDocument/2006/relationships/oleObject" Target="../embeddings/oleObject111.bin"/><Relationship Id="rId5" Type="http://schemas.openxmlformats.org/officeDocument/2006/relationships/image" Target="../media/image179.wmf"/><Relationship Id="rId4" Type="http://schemas.openxmlformats.org/officeDocument/2006/relationships/oleObject" Target="../embeddings/oleObject110.bin"/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0" Type="http://schemas.openxmlformats.org/officeDocument/2006/relationships/notesSlide" Target="../notesSlides/notesSlide21.xml"/><Relationship Id="rId1" Type="http://schemas.openxmlformats.org/officeDocument/2006/relationships/image" Target="../media/image171.png"/></Relationships>
</file>

<file path=ppt/slides/_rels/slide7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315.xml"/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image" Target="../media/image181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15.xml"/><Relationship Id="rId1" Type="http://schemas.openxmlformats.org/officeDocument/2006/relationships/image" Target="../media/image184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5.xml"/></Relationships>
</file>

<file path=ppt/slides/_rels/slide8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5.vml"/><Relationship Id="rId5" Type="http://schemas.openxmlformats.org/officeDocument/2006/relationships/slideLayout" Target="../slideLayouts/slideLayout315.xml"/><Relationship Id="rId4" Type="http://schemas.openxmlformats.org/officeDocument/2006/relationships/image" Target="../media/image186.wmf"/><Relationship Id="rId3" Type="http://schemas.openxmlformats.org/officeDocument/2006/relationships/oleObject" Target="../embeddings/oleObject112.bin"/><Relationship Id="rId2" Type="http://schemas.openxmlformats.org/officeDocument/2006/relationships/image" Target="../media/image185.png"/><Relationship Id="rId1" Type="http://schemas.openxmlformats.org/officeDocument/2006/relationships/tags" Target="../tags/tag4.xml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315.xml"/><Relationship Id="rId2" Type="http://schemas.openxmlformats.org/officeDocument/2006/relationships/image" Target="../media/image188.png"/><Relationship Id="rId1" Type="http://schemas.openxmlformats.org/officeDocument/2006/relationships/image" Target="../media/image187.png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4.wmf"/><Relationship Id="rId8" Type="http://schemas.openxmlformats.org/officeDocument/2006/relationships/oleObject" Target="../embeddings/oleObject114.bin"/><Relationship Id="rId7" Type="http://schemas.openxmlformats.org/officeDocument/2006/relationships/image" Target="../media/image193.wmf"/><Relationship Id="rId6" Type="http://schemas.openxmlformats.org/officeDocument/2006/relationships/oleObject" Target="../embeddings/oleObject113.bin"/><Relationship Id="rId5" Type="http://schemas.openxmlformats.org/officeDocument/2006/relationships/image" Target="../media/image187.png"/><Relationship Id="rId4" Type="http://schemas.openxmlformats.org/officeDocument/2006/relationships/image" Target="../media/image192.png"/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2" Type="http://schemas.openxmlformats.org/officeDocument/2006/relationships/notesSlide" Target="../notesSlides/notesSlide25.xml"/><Relationship Id="rId11" Type="http://schemas.openxmlformats.org/officeDocument/2006/relationships/vmlDrawing" Target="../drawings/vmlDrawing26.vml"/><Relationship Id="rId10" Type="http://schemas.openxmlformats.org/officeDocument/2006/relationships/slideLayout" Target="../slideLayouts/slideLayout315.xml"/><Relationship Id="rId1" Type="http://schemas.openxmlformats.org/officeDocument/2006/relationships/image" Target="../media/image189.png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6.xml"/><Relationship Id="rId8" Type="http://schemas.openxmlformats.org/officeDocument/2006/relationships/slideLayout" Target="../slideLayouts/slideLayout403.xml"/><Relationship Id="rId7" Type="http://schemas.openxmlformats.org/officeDocument/2006/relationships/image" Target="../media/image187.png"/><Relationship Id="rId6" Type="http://schemas.openxmlformats.org/officeDocument/2006/relationships/image" Target="../media/image192.png"/><Relationship Id="rId5" Type="http://schemas.openxmlformats.org/officeDocument/2006/relationships/image" Target="../media/image191.png"/><Relationship Id="rId4" Type="http://schemas.openxmlformats.org/officeDocument/2006/relationships/image" Target="../media/image190.png"/><Relationship Id="rId3" Type="http://schemas.openxmlformats.org/officeDocument/2006/relationships/image" Target="../media/image196.png"/><Relationship Id="rId2" Type="http://schemas.openxmlformats.org/officeDocument/2006/relationships/image" Target="../media/image195.png"/><Relationship Id="rId1" Type="http://schemas.openxmlformats.org/officeDocument/2006/relationships/image" Target="../media/image189.png"/></Relationships>
</file>

<file path=ppt/slides/_rels/slide8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15.xml"/><Relationship Id="rId6" Type="http://schemas.openxmlformats.org/officeDocument/2006/relationships/image" Target="../media/image202.png"/><Relationship Id="rId5" Type="http://schemas.openxmlformats.org/officeDocument/2006/relationships/image" Target="../media/image201.png"/><Relationship Id="rId4" Type="http://schemas.openxmlformats.org/officeDocument/2006/relationships/image" Target="../media/image200.png"/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image" Target="../media/image197.png"/></Relationships>
</file>

<file path=ppt/slides/_rels/slide8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slideLayout" Target="../slideLayouts/slideLayout315.xml"/><Relationship Id="rId7" Type="http://schemas.openxmlformats.org/officeDocument/2006/relationships/image" Target="../media/image209.png"/><Relationship Id="rId6" Type="http://schemas.openxmlformats.org/officeDocument/2006/relationships/image" Target="../media/image208.png"/><Relationship Id="rId5" Type="http://schemas.openxmlformats.org/officeDocument/2006/relationships/image" Target="../media/image207.png"/><Relationship Id="rId4" Type="http://schemas.openxmlformats.org/officeDocument/2006/relationships/image" Target="../media/image206.png"/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image" Target="../media/image203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5.xml"/><Relationship Id="rId1" Type="http://schemas.openxmlformats.org/officeDocument/2006/relationships/image" Target="../media/image210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5.xml"/><Relationship Id="rId1" Type="http://schemas.openxmlformats.org/officeDocument/2006/relationships/image" Target="../media/image21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315.xml"/><Relationship Id="rId1" Type="http://schemas.openxmlformats.org/officeDocument/2006/relationships/image" Target="../media/image212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15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5.xml"/><Relationship Id="rId2" Type="http://schemas.openxmlformats.org/officeDocument/2006/relationships/image" Target="../media/image214.png"/><Relationship Id="rId1" Type="http://schemas.openxmlformats.org/officeDocument/2006/relationships/image" Target="../media/image213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5.xml"/><Relationship Id="rId1" Type="http://schemas.openxmlformats.org/officeDocument/2006/relationships/audio" Target="../media/audio1.wav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5.xml"/><Relationship Id="rId1" Type="http://schemas.openxmlformats.org/officeDocument/2006/relationships/audio" Target="../media/audio1.wav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5.xml"/><Relationship Id="rId2" Type="http://schemas.openxmlformats.org/officeDocument/2006/relationships/themeOverride" Target="../theme/themeOverride1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2"/>
          <p:cNvSpPr>
            <a:spLocks noChangeArrowheads="1"/>
          </p:cNvSpPr>
          <p:nvPr/>
        </p:nvSpPr>
        <p:spPr bwMode="auto">
          <a:xfrm>
            <a:off x="1069975" y="1749425"/>
            <a:ext cx="732155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3.11-2 </a:t>
            </a:r>
            <a:r>
              <a:rPr lang="zh-CN" altLang="en-US" sz="2400" u="sng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1" tooltip="材料的疲劳特性" action="ppaction://hlinksldjump"/>
              </a:rPr>
              <a:t>普通圆柱蜗杆传动的主要参数及几何尺寸计算</a:t>
            </a:r>
            <a:endParaRPr lang="zh-CN" altLang="en-US" sz="2400" u="sng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155" name="Rectangle 23"/>
          <p:cNvSpPr>
            <a:spLocks noChangeArrowheads="1"/>
          </p:cNvSpPr>
          <p:nvPr/>
        </p:nvSpPr>
        <p:spPr bwMode="auto">
          <a:xfrm>
            <a:off x="1069975" y="2327275"/>
            <a:ext cx="682625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3.11-3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2" tooltip="机械零件的疲劳强度计算" action="ppaction://hlinksldjump"/>
              </a:rPr>
              <a:t>蜗杆传动的失效形式、计算准则及常用材料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156" name="Rectangle 24"/>
          <p:cNvSpPr>
            <a:spLocks noChangeArrowheads="1"/>
          </p:cNvSpPr>
          <p:nvPr/>
        </p:nvSpPr>
        <p:spPr bwMode="auto">
          <a:xfrm>
            <a:off x="1151890" y="1134110"/>
            <a:ext cx="286385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3.11-1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3" tooltip="机械零件的抗断裂强度" action="ppaction://hlinksldjump"/>
              </a:rPr>
              <a:t>蜗杆传动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概述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157" name="Rectangle 26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411850" y="279330"/>
            <a:ext cx="6529388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3000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</a:t>
            </a:r>
            <a:r>
              <a:rPr lang="zh-CN" altLang="en-US" sz="3000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蜗杆传动</a:t>
            </a:r>
            <a:endParaRPr lang="zh-CN" altLang="en-US" sz="3000" dirty="0" smtClean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158" name="Rectangle 25"/>
          <p:cNvSpPr>
            <a:spLocks noChangeArrowheads="1"/>
          </p:cNvSpPr>
          <p:nvPr/>
        </p:nvSpPr>
        <p:spPr bwMode="auto">
          <a:xfrm>
            <a:off x="1069975" y="2905125"/>
            <a:ext cx="591185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3.11-4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4" tooltip="机械零件的接触疲劳强度" action="ppaction://hlinksldjump"/>
              </a:rPr>
              <a:t>圆柱蜗杆传动的受力分析和计算载荷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  <a:hlinkClick r:id="rId4" tooltip="机械零件的接触疲劳强度" action="ppaction://hlinksldjump"/>
            </a:endParaRPr>
          </a:p>
        </p:txBody>
      </p:sp>
      <p:sp>
        <p:nvSpPr>
          <p:cNvPr id="49159" name="Rectangle 25"/>
          <p:cNvSpPr>
            <a:spLocks noChangeArrowheads="1"/>
          </p:cNvSpPr>
          <p:nvPr/>
        </p:nvSpPr>
        <p:spPr bwMode="auto">
          <a:xfrm>
            <a:off x="1069975" y="3482975"/>
            <a:ext cx="438785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3.11-5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5" tooltip="机械零件的接触疲劳强度" action="ppaction://hlinksldjump"/>
              </a:rPr>
              <a:t>圆柱蜗杆传动的强度计算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  <a:hlinkClick r:id="rId5" tooltip="机械零件的接触疲劳强度" action="ppaction://hlinksldjump"/>
            </a:endParaRPr>
          </a:p>
        </p:txBody>
      </p:sp>
      <p:sp>
        <p:nvSpPr>
          <p:cNvPr id="49161" name="Rectangle 25"/>
          <p:cNvSpPr>
            <a:spLocks noChangeArrowheads="1"/>
          </p:cNvSpPr>
          <p:nvPr/>
        </p:nvSpPr>
        <p:spPr bwMode="auto">
          <a:xfrm>
            <a:off x="1069975" y="4060825"/>
            <a:ext cx="591185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3.11-6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6" tooltip="机械零件的接触疲劳强度" action="ppaction://hlinksldjump"/>
              </a:rPr>
              <a:t>蜗杆传动的效率、润滑及热平衡计算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  <a:hlinkClick r:id="rId6" tooltip="机械零件的接触疲劳强度" action="ppaction://hlinksldjump"/>
            </a:endParaRPr>
          </a:p>
        </p:txBody>
      </p:sp>
      <p:sp>
        <p:nvSpPr>
          <p:cNvPr id="49162" name="Rectangle 25"/>
          <p:cNvSpPr>
            <a:spLocks noChangeArrowheads="1"/>
          </p:cNvSpPr>
          <p:nvPr/>
        </p:nvSpPr>
        <p:spPr bwMode="auto">
          <a:xfrm>
            <a:off x="1069975" y="4638675"/>
            <a:ext cx="377825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3.11-7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7" tooltip="机械零件的接触疲劳强度" action="ppaction://hlinksldjump"/>
              </a:rPr>
              <a:t>蜗杆传动的结构设计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  <a:hlinkClick r:id="rId7" tooltip="机械零件的接触疲劳强度" action="ppaction://hlinksldjump"/>
            </a:endParaRPr>
          </a:p>
        </p:txBody>
      </p:sp>
      <p:sp>
        <p:nvSpPr>
          <p:cNvPr id="49166" name="直接连接符 6"/>
          <p:cNvSpPr>
            <a:spLocks noChangeShapeType="1"/>
          </p:cNvSpPr>
          <p:nvPr/>
        </p:nvSpPr>
        <p:spPr bwMode="auto">
          <a:xfrm>
            <a:off x="0" y="892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" name="组合 1"/>
          <p:cNvGrpSpPr/>
          <p:nvPr/>
        </p:nvGrpSpPr>
        <p:grpSpPr>
          <a:xfrm>
            <a:off x="6156110" y="5949175"/>
            <a:ext cx="2630487" cy="827087"/>
            <a:chOff x="10088" y="9497"/>
            <a:chExt cx="4141" cy="1302"/>
          </a:xfrm>
        </p:grpSpPr>
        <p:sp>
          <p:nvSpPr>
            <p:cNvPr id="13" name="文本框 1073742869"/>
            <p:cNvSpPr txBox="1">
              <a:spLocks noChangeAspect="1"/>
            </p:cNvSpPr>
            <p:nvPr/>
          </p:nvSpPr>
          <p:spPr>
            <a:xfrm>
              <a:off x="11247" y="9745"/>
              <a:ext cx="2983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China University of Mining &amp; Technology-Beijing</a:t>
              </a:r>
              <a:endParaRPr lang="zh-CN" altLang="en-US" sz="1200" dirty="0">
                <a:latin typeface="Times New Roman" panose="02020603050405020304" pitchFamily="18" charset="0"/>
              </a:endParaRPr>
            </a:p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pic>
          <p:nvPicPr>
            <p:cNvPr id="14" name="图片 1073742872" descr="44303071dc0a1f9688d599dbc999570副本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088" y="9497"/>
              <a:ext cx="1435" cy="1303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54" y="-99245"/>
            <a:ext cx="9106246" cy="3816265"/>
          </a:xfrm>
          <a:prstGeom prst="rect">
            <a:avLst/>
          </a:prstGeom>
        </p:spPr>
      </p:pic>
      <p:pic>
        <p:nvPicPr>
          <p:cNvPr id="3" name="Picture 257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2230" y="3428980"/>
            <a:ext cx="3440113" cy="123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60" descr="未标题-1 拷贝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155" y="3429000"/>
            <a:ext cx="2070100" cy="229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83" descr="1">
            <a:hlinkClick r:id="rId4" action="ppaction://program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27740" y="3273425"/>
            <a:ext cx="2366962" cy="358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Text Box 3"/>
          <p:cNvSpPr txBox="1"/>
          <p:nvPr/>
        </p:nvSpPr>
        <p:spPr>
          <a:xfrm>
            <a:off x="657225" y="1809115"/>
            <a:ext cx="3840480" cy="460375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none">
            <a:spAutoFit/>
          </a:bodyPr>
          <a:p>
            <a:pPr algn="l"/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一、蜗杆传动的功用、组成</a:t>
            </a:r>
            <a:endParaRPr lang="zh-CN" altLang="en-US" sz="2400" dirty="0">
              <a:solidFill>
                <a:schemeClr val="accent4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51" name="Picture 4" descr="蜗轮蜗杆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1988" y="2663825"/>
            <a:ext cx="2881312" cy="2290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3" name="Rectangle 6"/>
          <p:cNvSpPr/>
          <p:nvPr/>
        </p:nvSpPr>
        <p:spPr>
          <a:xfrm>
            <a:off x="6371908" y="2078673"/>
            <a:ext cx="7889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en-US" sz="1800" b="1" dirty="0">
                <a:solidFill>
                  <a:srgbClr val="010203"/>
                </a:solidFill>
                <a:latin typeface="Arial Narrow" panose="020B0606020202030204" pitchFamily="34" charset="0"/>
              </a:rPr>
              <a:t>蜗杆</a:t>
            </a:r>
            <a:endParaRPr lang="zh-CN" altLang="en-US" sz="1800" b="1" dirty="0">
              <a:solidFill>
                <a:srgbClr val="010203"/>
              </a:solidFill>
              <a:latin typeface="Arial Narrow" panose="020B0606020202030204" pitchFamily="34" charset="0"/>
            </a:endParaRPr>
          </a:p>
        </p:txBody>
      </p:sp>
      <p:sp>
        <p:nvSpPr>
          <p:cNvPr id="2054" name="Rectangle 7"/>
          <p:cNvSpPr/>
          <p:nvPr/>
        </p:nvSpPr>
        <p:spPr>
          <a:xfrm>
            <a:off x="6169025" y="4897438"/>
            <a:ext cx="93186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en-US" sz="1800" b="1" dirty="0">
                <a:solidFill>
                  <a:srgbClr val="010203"/>
                </a:solidFill>
                <a:latin typeface="Arial Narrow" panose="020B0606020202030204" pitchFamily="34" charset="0"/>
              </a:rPr>
              <a:t>蜗轮</a:t>
            </a:r>
            <a:endParaRPr lang="zh-CN" altLang="en-US" sz="1800" b="1" dirty="0">
              <a:solidFill>
                <a:srgbClr val="010203"/>
              </a:solidFill>
              <a:latin typeface="Arial Narrow" panose="020B0606020202030204" pitchFamily="34" charset="0"/>
            </a:endParaRPr>
          </a:p>
        </p:txBody>
      </p:sp>
      <p:sp>
        <p:nvSpPr>
          <p:cNvPr id="2055" name="Line 8"/>
          <p:cNvSpPr/>
          <p:nvPr/>
        </p:nvSpPr>
        <p:spPr>
          <a:xfrm>
            <a:off x="6946583" y="2439035"/>
            <a:ext cx="144462" cy="287338"/>
          </a:xfrm>
          <a:prstGeom prst="line">
            <a:avLst/>
          </a:prstGeom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6" name="Line 9"/>
          <p:cNvSpPr/>
          <p:nvPr/>
        </p:nvSpPr>
        <p:spPr>
          <a:xfrm flipH="1">
            <a:off x="6529388" y="4464050"/>
            <a:ext cx="576262" cy="433388"/>
          </a:xfrm>
          <a:prstGeom prst="line">
            <a:avLst/>
          </a:prstGeom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124" name="Rectangle 10"/>
          <p:cNvSpPr>
            <a:spLocks noChangeArrowheads="1"/>
          </p:cNvSpPr>
          <p:nvPr/>
        </p:nvSpPr>
        <p:spPr bwMode="auto">
          <a:xfrm>
            <a:off x="2546985" y="278765"/>
            <a:ext cx="635127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3C34E"/>
                    </a:gs>
                    <a:gs pos="50000">
                      <a:srgbClr val="FFFF66"/>
                    </a:gs>
                    <a:gs pos="100000">
                      <a:srgbClr val="C3C34E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000" anchor="ctr" anchorCtr="1"/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3.11-1   </a:t>
            </a:r>
            <a:r>
              <a:rPr lang="zh-CN" altLang="en-US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蜗杆传动概述</a:t>
            </a:r>
            <a:endParaRPr lang="zh-CN" altLang="en-US" sz="30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直接连接符 6"/>
          <p:cNvSpPr>
            <a:spLocks noChangeShapeType="1"/>
          </p:cNvSpPr>
          <p:nvPr/>
        </p:nvSpPr>
        <p:spPr bwMode="auto">
          <a:xfrm>
            <a:off x="0" y="99885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Text Box 3"/>
          <p:cNvSpPr txBox="1"/>
          <p:nvPr/>
        </p:nvSpPr>
        <p:spPr>
          <a:xfrm>
            <a:off x="612140" y="2663825"/>
            <a:ext cx="3535680" cy="460375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none">
            <a:spAutoFit/>
          </a:bodyPr>
          <a:p>
            <a:pPr algn="l"/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二、蜗杆传动的主要特点</a:t>
            </a:r>
            <a:endParaRPr lang="zh-CN" altLang="en-US" sz="2400" dirty="0">
              <a:solidFill>
                <a:schemeClr val="accent4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/>
          <p:nvPr/>
        </p:nvSpPr>
        <p:spPr>
          <a:xfrm>
            <a:off x="657225" y="3429000"/>
            <a:ext cx="2926080" cy="460375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none">
            <a:spAutoFit/>
          </a:bodyPr>
          <a:p>
            <a:pPr algn="l"/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三、蜗杆传动的类型</a:t>
            </a:r>
            <a:endParaRPr lang="zh-CN" altLang="en-US" sz="2400" dirty="0">
              <a:solidFill>
                <a:schemeClr val="accent4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57225" y="4283710"/>
            <a:ext cx="5106035" cy="460375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>
            <a:spAutoFit/>
          </a:bodyPr>
          <a:p>
            <a:pPr algn="l"/>
            <a:r>
              <a:rPr lang="zh-CN" altLang="en-US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lang="zh-CN" altLang="en-US" sz="2400" dirty="0">
                <a:solidFill>
                  <a:schemeClr val="accent4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、蜗杆传动类型的选择原则</a:t>
            </a:r>
            <a:endParaRPr lang="zh-CN" altLang="en-US" sz="2400" dirty="0">
              <a:solidFill>
                <a:schemeClr val="accent4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2" name="Text Box 5"/>
          <p:cNvSpPr txBox="1"/>
          <p:nvPr/>
        </p:nvSpPr>
        <p:spPr>
          <a:xfrm>
            <a:off x="342265" y="1898650"/>
            <a:ext cx="5217795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342900" indent="-342900" algn="l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charset="0"/>
              <a:buChar char="l"/>
            </a:pPr>
            <a:r>
              <a:rPr lang="en-US" altLang="zh-CN" sz="2400" b="1" dirty="0">
                <a:solidFill>
                  <a:srgbClr val="010203"/>
                </a:solidFill>
                <a:latin typeface="Arial Narrow" panose="020B0606020202030204" pitchFamily="34" charset="0"/>
              </a:rPr>
              <a:t> </a:t>
            </a:r>
            <a:r>
              <a:rPr lang="zh-CN" altLang="en-US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实现空间交错两轴之间运动和动力传动，通常两轴交角</a:t>
            </a:r>
            <a:r>
              <a:rPr kumimoji="1" lang="en-US" altLang="zh-CN" sz="2400" b="1" dirty="0">
                <a:solidFill>
                  <a:schemeClr val="hlink"/>
                </a:solidFill>
                <a:latin typeface="宋体" panose="02010600030101010101" pitchFamily="2" charset="-122"/>
                <a:sym typeface="+mn-ea"/>
              </a:rPr>
              <a:t>∑</a:t>
            </a:r>
            <a:r>
              <a:rPr kumimoji="1" lang="zh-CN" altLang="en-US" sz="2400" b="1" dirty="0">
                <a:solidFill>
                  <a:schemeClr val="hlink"/>
                </a:solidFill>
                <a:latin typeface="宋体" panose="02010600030101010101" pitchFamily="2" charset="-122"/>
                <a:sym typeface="+mn-ea"/>
              </a:rPr>
              <a:t>＝</a:t>
            </a:r>
            <a:r>
              <a:rPr kumimoji="1" lang="en-US" altLang="zh-CN" sz="2400" b="1" dirty="0">
                <a:solidFill>
                  <a:schemeClr val="hlink"/>
                </a:solidFill>
                <a:latin typeface="宋体" panose="02010600030101010101" pitchFamily="2" charset="-122"/>
                <a:sym typeface="+mn-ea"/>
              </a:rPr>
              <a:t>90°</a:t>
            </a:r>
            <a:r>
              <a:rPr lang="zh-CN" altLang="en-US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zh-CN" altLang="en-US" sz="2400" dirty="0">
              <a:solidFill>
                <a:srgbClr val="010203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342900" indent="-342900" algn="l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charset="0"/>
              <a:buChar char="l"/>
            </a:pPr>
            <a:r>
              <a:rPr lang="en-US" altLang="zh-CN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组成：蜗杆、蜗轮。</a:t>
            </a:r>
            <a:endParaRPr lang="zh-CN" altLang="en-US" sz="2400" dirty="0">
              <a:solidFill>
                <a:srgbClr val="010203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 algn="l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altLang="en-US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      蜗杆</a:t>
            </a:r>
            <a:r>
              <a:rPr lang="en-US" altLang="zh-CN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——(</a:t>
            </a:r>
            <a:r>
              <a:rPr lang="zh-CN" altLang="en-US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外</a:t>
            </a:r>
            <a:r>
              <a:rPr lang="en-US" altLang="zh-CN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)</a:t>
            </a:r>
            <a:r>
              <a:rPr lang="zh-CN" altLang="en-US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螺纹</a:t>
            </a:r>
            <a:r>
              <a:rPr lang="en-US" altLang="zh-CN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-</a:t>
            </a:r>
            <a:r>
              <a:rPr lang="zh-CN" altLang="en-US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螺杆</a:t>
            </a:r>
            <a:endParaRPr lang="zh-CN" altLang="en-US" sz="2400" dirty="0">
              <a:solidFill>
                <a:srgbClr val="010203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0" indent="0" algn="l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altLang="en-US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      蜗轮</a:t>
            </a:r>
            <a:r>
              <a:rPr lang="en-US" altLang="zh-CN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——</a:t>
            </a:r>
            <a:r>
              <a:rPr lang="zh-CN" altLang="en-US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形似</a:t>
            </a:r>
            <a:r>
              <a:rPr lang="en-US" altLang="zh-CN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斜</a:t>
            </a:r>
            <a:r>
              <a:rPr lang="en-US" altLang="zh-CN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)</a:t>
            </a:r>
            <a:r>
              <a:rPr lang="zh-CN" altLang="en-US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齿轮</a:t>
            </a:r>
            <a:endParaRPr lang="zh-CN" altLang="en-US" sz="2400" dirty="0">
              <a:solidFill>
                <a:srgbClr val="010203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342900" indent="-342900" algn="l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charset="0"/>
              <a:buChar char="l"/>
            </a:pPr>
            <a:r>
              <a:rPr lang="zh-CN" altLang="en-US" sz="2400" dirty="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兼有啮合传动、螺旋传动的特征。</a:t>
            </a:r>
            <a:endParaRPr lang="zh-CN" altLang="en-US" sz="2400" dirty="0">
              <a:solidFill>
                <a:srgbClr val="010203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050" name="Text Box 3"/>
          <p:cNvSpPr txBox="1"/>
          <p:nvPr/>
        </p:nvSpPr>
        <p:spPr>
          <a:xfrm>
            <a:off x="387350" y="1134110"/>
            <a:ext cx="3850640" cy="460375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none">
            <a:spAutoFit/>
          </a:bodyPr>
          <a:p>
            <a:pPr algn="l"/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一、蜗杆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传动的功用、组成</a:t>
            </a:r>
            <a:endParaRPr lang="zh-CN" altLang="en-US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51" name="Picture 4" descr="蜗轮蜗杆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1988" y="2663825"/>
            <a:ext cx="2881312" cy="2290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3" name="Rectangle 6"/>
          <p:cNvSpPr/>
          <p:nvPr/>
        </p:nvSpPr>
        <p:spPr>
          <a:xfrm>
            <a:off x="6371908" y="2078673"/>
            <a:ext cx="7889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en-US" sz="1800" b="1" dirty="0">
                <a:solidFill>
                  <a:srgbClr val="010203"/>
                </a:solidFill>
                <a:latin typeface="Arial Narrow" panose="020B0606020202030204" pitchFamily="34" charset="0"/>
              </a:rPr>
              <a:t>蜗杆</a:t>
            </a:r>
            <a:endParaRPr lang="zh-CN" altLang="en-US" sz="1800" b="1" dirty="0">
              <a:solidFill>
                <a:srgbClr val="010203"/>
              </a:solidFill>
              <a:latin typeface="Arial Narrow" panose="020B0606020202030204" pitchFamily="34" charset="0"/>
            </a:endParaRPr>
          </a:p>
        </p:txBody>
      </p:sp>
      <p:sp>
        <p:nvSpPr>
          <p:cNvPr id="2054" name="Rectangle 7"/>
          <p:cNvSpPr/>
          <p:nvPr/>
        </p:nvSpPr>
        <p:spPr>
          <a:xfrm>
            <a:off x="6169025" y="4897438"/>
            <a:ext cx="931863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en-US" sz="1800" b="1" dirty="0">
                <a:solidFill>
                  <a:srgbClr val="010203"/>
                </a:solidFill>
                <a:latin typeface="Arial Narrow" panose="020B0606020202030204" pitchFamily="34" charset="0"/>
              </a:rPr>
              <a:t>蜗轮</a:t>
            </a:r>
            <a:endParaRPr lang="zh-CN" altLang="en-US" sz="1800" b="1" dirty="0">
              <a:solidFill>
                <a:srgbClr val="010203"/>
              </a:solidFill>
              <a:latin typeface="Arial Narrow" panose="020B0606020202030204" pitchFamily="34" charset="0"/>
            </a:endParaRPr>
          </a:p>
        </p:txBody>
      </p:sp>
      <p:sp>
        <p:nvSpPr>
          <p:cNvPr id="2055" name="Line 8"/>
          <p:cNvSpPr/>
          <p:nvPr/>
        </p:nvSpPr>
        <p:spPr>
          <a:xfrm>
            <a:off x="6946583" y="2439035"/>
            <a:ext cx="144462" cy="287338"/>
          </a:xfrm>
          <a:prstGeom prst="line">
            <a:avLst/>
          </a:prstGeom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6" name="Line 9"/>
          <p:cNvSpPr/>
          <p:nvPr/>
        </p:nvSpPr>
        <p:spPr>
          <a:xfrm flipH="1">
            <a:off x="6529388" y="4464050"/>
            <a:ext cx="576262" cy="433388"/>
          </a:xfrm>
          <a:prstGeom prst="line">
            <a:avLst/>
          </a:prstGeom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124" name="Rectangle 10"/>
          <p:cNvSpPr>
            <a:spLocks noChangeArrowheads="1"/>
          </p:cNvSpPr>
          <p:nvPr/>
        </p:nvSpPr>
        <p:spPr bwMode="auto">
          <a:xfrm>
            <a:off x="2637155" y="144145"/>
            <a:ext cx="635127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3C34E"/>
                    </a:gs>
                    <a:gs pos="50000">
                      <a:srgbClr val="FFFF66"/>
                    </a:gs>
                    <a:gs pos="100000">
                      <a:srgbClr val="C3C34E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000" anchor="ctr" anchorCtr="1"/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3.11-1   </a:t>
            </a:r>
            <a:r>
              <a:rPr lang="zh-CN" altLang="en-US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蜗杆传动概述</a:t>
            </a:r>
            <a:endParaRPr lang="zh-CN" altLang="en-US" sz="30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" grpId="0"/>
      <p:bldP spid="2054" grpId="0"/>
      <p:bldP spid="205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724400" y="762000"/>
            <a:ext cx="2971800" cy="228600"/>
          </a:xfrm>
          <a:noFill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3C34E"/>
                    </a:gs>
                    <a:gs pos="50000">
                      <a:srgbClr val="FFFF66"/>
                    </a:gs>
                    <a:gs pos="100000">
                      <a:srgbClr val="C3C34E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8000" rIns="91440" bIns="45720" numCol="1" anchor="ctr" anchorCtr="1" compatLnSpc="1"/>
          <a:lstStyle/>
          <a:p>
            <a:pPr eaLnBrk="1" hangingPunct="1"/>
            <a:r>
              <a:rPr lang="zh-CN" altLang="en-US" sz="200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蜗杆传动概述</a:t>
            </a:r>
            <a:endParaRPr lang="zh-CN" altLang="en-US" sz="2000" smtClean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242" name="Text Box 26"/>
          <p:cNvSpPr txBox="1">
            <a:spLocks noChangeArrowheads="1"/>
          </p:cNvSpPr>
          <p:nvPr/>
        </p:nvSpPr>
        <p:spPr bwMode="auto">
          <a:xfrm>
            <a:off x="521970" y="1403985"/>
            <a:ext cx="8454390" cy="101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</a:rPr>
              <a:t>．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结构紧凑，传动比大，一般为</a:t>
            </a:r>
            <a:r>
              <a:rPr lang="en-US" altLang="zh-CN" i="1" dirty="0" err="1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i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=8~100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（常用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15~50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  <a:r>
              <a:rPr lang="zh-CN" altLang="en-US" b="1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</a:t>
            </a: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传递运动或分度</a:t>
            </a:r>
            <a:r>
              <a:rPr lang="en-US" altLang="zh-CN" i="1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i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=300~1000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。</a:t>
            </a:r>
            <a:endParaRPr lang="zh-CN" altLang="en-US" dirty="0">
              <a:solidFill>
                <a:schemeClr val="accent4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9243" name="Text Box 27"/>
          <p:cNvSpPr txBox="1">
            <a:spLocks noChangeArrowheads="1"/>
          </p:cNvSpPr>
          <p:nvPr/>
        </p:nvSpPr>
        <p:spPr bwMode="auto">
          <a:xfrm>
            <a:off x="521989" y="2303830"/>
            <a:ext cx="563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．重合度大，传动平稳，噪声低；</a:t>
            </a:r>
            <a:endParaRPr lang="zh-CN" altLang="en-US" dirty="0">
              <a:solidFill>
                <a:schemeClr val="accent4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9244" name="Text Box 28"/>
          <p:cNvSpPr txBox="1">
            <a:spLocks noChangeArrowheads="1"/>
          </p:cNvSpPr>
          <p:nvPr/>
        </p:nvSpPr>
        <p:spPr bwMode="auto">
          <a:xfrm>
            <a:off x="521970" y="2843880"/>
            <a:ext cx="6324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．摩擦磨损问题突出，磨损是主要的失效形式；</a:t>
            </a:r>
            <a:endParaRPr lang="zh-CN" altLang="en-US" dirty="0">
              <a:solidFill>
                <a:schemeClr val="accent4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9245" name="Text Box 29"/>
          <p:cNvSpPr txBox="1">
            <a:spLocks noChangeArrowheads="1"/>
          </p:cNvSpPr>
          <p:nvPr/>
        </p:nvSpPr>
        <p:spPr bwMode="auto">
          <a:xfrm>
            <a:off x="612140" y="3474085"/>
            <a:ext cx="7934325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4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．传动效率低，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一般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:70%~80%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，个别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90%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。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具有自锁性时，效率通常低于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50%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 </a:t>
            </a:r>
            <a:endParaRPr lang="en-US" altLang="zh-CN" dirty="0">
              <a:solidFill>
                <a:schemeClr val="accent4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pic>
        <p:nvPicPr>
          <p:cNvPr id="9260" name="Picture 44" descr="rewind1">
            <a:hlinkClick r:id="" tooltip="返回章目录" action="ppaction://hlinkshowjump?jump=firs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8713" y="6553200"/>
            <a:ext cx="287337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61" name="Text Box 45"/>
          <p:cNvSpPr txBox="1">
            <a:spLocks noChangeArrowheads="1"/>
          </p:cNvSpPr>
          <p:nvPr/>
        </p:nvSpPr>
        <p:spPr bwMode="auto">
          <a:xfrm>
            <a:off x="7805738" y="6221413"/>
            <a:ext cx="247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5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文本框 1"/>
          <p:cNvSpPr txBox="1">
            <a:spLocks noChangeArrowheads="1"/>
          </p:cNvSpPr>
          <p:nvPr/>
        </p:nvSpPr>
        <p:spPr bwMode="auto">
          <a:xfrm>
            <a:off x="235391" y="894454"/>
            <a:ext cx="297688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</a:t>
            </a:r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蜗杆传动主要特点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21805" y="4598975"/>
            <a:ext cx="8250867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</a:rPr>
              <a:t>5.</a:t>
            </a:r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zh-CN" altLang="en-US" sz="2000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蜗杆传动最大传动功率可达750kW，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通常用在50kW以下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zh-CN" altLang="en-US" sz="2000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最高滑动速度v</a:t>
            </a:r>
            <a:r>
              <a:rPr lang="zh-CN" altLang="en-US" sz="2000" baseline="-25000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s</a:t>
            </a:r>
            <a:r>
              <a:rPr lang="zh-CN" altLang="en-US" sz="2000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可达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35m/s</a:t>
            </a:r>
            <a:r>
              <a:rPr lang="zh-CN" altLang="en-US" sz="2000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，通常用在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15m/s</a:t>
            </a:r>
            <a:r>
              <a:rPr lang="zh-CN" altLang="en-US" sz="2000" dirty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以下。</a:t>
            </a:r>
            <a:endParaRPr lang="zh-CN" altLang="en-US" sz="2000" dirty="0">
              <a:solidFill>
                <a:schemeClr val="accent4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51910" y="1835150"/>
            <a:ext cx="493712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spcBef>
                <a:spcPct val="25000"/>
              </a:spcBef>
            </a:pPr>
            <a:r>
              <a:rPr lang="en-US" altLang="zh-CN" b="1" dirty="0">
                <a:ea typeface="黑体" panose="02010609060101010101" pitchFamily="49" charset="-122"/>
                <a:sym typeface="+mn-ea"/>
              </a:rPr>
              <a:t> </a:t>
            </a:r>
            <a:endParaRPr lang="zh-CN" altLang="en-US" sz="2000" dirty="0"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2140" y="5544185"/>
            <a:ext cx="7040880" cy="4914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lnSpc>
                <a:spcPct val="130000"/>
              </a:lnSpc>
              <a:spcBef>
                <a:spcPct val="35000"/>
              </a:spcBef>
            </a:pPr>
            <a:r>
              <a:rPr lang="zh-CN" alt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蜗杆传动在冶金、矿山、起重、机床等行业机械中应用广泛。</a:t>
            </a:r>
            <a:endParaRPr lang="zh-CN" altLang="en-US" sz="20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2637155" y="144145"/>
            <a:ext cx="635127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3C34E"/>
                    </a:gs>
                    <a:gs pos="50000">
                      <a:srgbClr val="FFFF66"/>
                    </a:gs>
                    <a:gs pos="100000">
                      <a:srgbClr val="C3C34E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000" anchor="ctr" anchorCtr="1"/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3.11-1   </a:t>
            </a:r>
            <a:r>
              <a:rPr lang="zh-CN" altLang="en-US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蜗杆传动概述</a:t>
            </a:r>
            <a:endParaRPr lang="zh-CN" altLang="en-US" sz="30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2" grpId="0" bldLvl="0" animBg="1" autoUpdateAnimBg="0"/>
      <p:bldP spid="9243" grpId="0" bldLvl="0" animBg="1" autoUpdateAnimBg="0"/>
      <p:bldP spid="9244" grpId="0" bldLvl="0" animBg="1" autoUpdateAnimBg="0"/>
      <p:bldP spid="9245" grpId="0" bldLvl="0" animBg="1" autoUpdateAnimBg="0"/>
      <p:bldP spid="9261" grpId="0" autoUpdateAnimBg="0"/>
      <p:bldP spid="16" grpId="0"/>
      <p:bldP spid="2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002_副本"/>
          <p:cNvPicPr>
            <a:picLocks noChangeAspect="1"/>
          </p:cNvPicPr>
          <p:nvPr/>
        </p:nvPicPr>
        <p:blipFill>
          <a:blip r:embed="rId1">
            <a:clrChange>
              <a:clrFrom>
                <a:srgbClr val="D4FCFC">
                  <a:alpha val="100000"/>
                </a:srgbClr>
              </a:clrFrom>
              <a:clrTo>
                <a:srgbClr val="D4FCF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91925" y="2636945"/>
            <a:ext cx="2456036" cy="2160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Picture 13" descr="003_副本"/>
          <p:cNvPicPr>
            <a:picLocks noChangeAspect="1"/>
          </p:cNvPicPr>
          <p:nvPr/>
        </p:nvPicPr>
        <p:blipFill>
          <a:blip r:embed="rId2">
            <a:clrChange>
              <a:clrFrom>
                <a:srgbClr val="D3F9FA">
                  <a:alpha val="100000"/>
                </a:srgbClr>
              </a:clrFrom>
              <a:clrTo>
                <a:srgbClr val="D3F9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12100" y="2852960"/>
            <a:ext cx="2778956" cy="19445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Picture 15" descr="001_副本"/>
          <p:cNvPicPr>
            <a:picLocks noChangeAspect="1"/>
          </p:cNvPicPr>
          <p:nvPr/>
        </p:nvPicPr>
        <p:blipFill>
          <a:blip r:embed="rId3">
            <a:clrChange>
              <a:clrFrom>
                <a:srgbClr val="D4FCFC">
                  <a:alpha val="100000"/>
                </a:srgbClr>
              </a:clrFrom>
              <a:clrTo>
                <a:srgbClr val="D4FCF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7715" y="2708950"/>
            <a:ext cx="2581964" cy="213495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文本框 1"/>
          <p:cNvSpPr txBox="1">
            <a:spLocks noChangeArrowheads="1"/>
          </p:cNvSpPr>
          <p:nvPr/>
        </p:nvSpPr>
        <p:spPr bwMode="auto">
          <a:xfrm>
            <a:off x="21632" y="980830"/>
            <a:ext cx="269748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蜗杆传动的类型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3"/>
          <p:cNvSpPr txBox="1"/>
          <p:nvPr/>
        </p:nvSpPr>
        <p:spPr>
          <a:xfrm>
            <a:off x="755735" y="1844890"/>
            <a:ext cx="7992555" cy="43088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200" dirty="0">
                <a:solidFill>
                  <a:srgbClr val="0000FF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按</a:t>
            </a:r>
            <a:r>
              <a:rPr lang="zh-CN" altLang="en-US" sz="22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蜗杆形状分：</a:t>
            </a:r>
            <a:r>
              <a:rPr lang="zh-CN" altLang="en-US" sz="2200" dirty="0">
                <a:solidFill>
                  <a:srgbClr val="010203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圆柱蜗杆传动，环面蜗杆传动，锥蜗杆传动</a:t>
            </a:r>
            <a:endParaRPr lang="zh-CN" altLang="en-US" sz="2200" dirty="0">
              <a:solidFill>
                <a:srgbClr val="010203"/>
              </a:solidFill>
              <a:latin typeface="Arial Narrow" panose="020B0606020202030204" pitchFamily="34" charset="0"/>
              <a:ea typeface="黑体" panose="02010609060101010101" pitchFamily="49" charset="-122"/>
            </a:endParaRPr>
          </a:p>
        </p:txBody>
      </p:sp>
      <p:sp>
        <p:nvSpPr>
          <p:cNvPr id="14" name="Rectangle 8"/>
          <p:cNvSpPr/>
          <p:nvPr/>
        </p:nvSpPr>
        <p:spPr>
          <a:xfrm>
            <a:off x="827740" y="5157120"/>
            <a:ext cx="799284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dirty="0">
                <a:solidFill>
                  <a:srgbClr val="010203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圆柱蜗杆传动               </a:t>
            </a:r>
            <a:r>
              <a:rPr lang="zh-CN" altLang="en-US" sz="2000" dirty="0" smtClean="0">
                <a:solidFill>
                  <a:srgbClr val="010203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     </a:t>
            </a:r>
            <a:r>
              <a:rPr lang="zh-CN" altLang="en-US" sz="2000" dirty="0">
                <a:solidFill>
                  <a:srgbClr val="010203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环面蜗杆传动         </a:t>
            </a:r>
            <a:r>
              <a:rPr lang="en-US" altLang="zh-CN" sz="2000" dirty="0">
                <a:solidFill>
                  <a:srgbClr val="010203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  </a:t>
            </a:r>
            <a:r>
              <a:rPr lang="zh-CN" altLang="en-US" sz="2000" dirty="0">
                <a:solidFill>
                  <a:srgbClr val="010203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  </a:t>
            </a:r>
            <a:r>
              <a:rPr lang="zh-CN" altLang="en-US" sz="2000" dirty="0" smtClean="0">
                <a:solidFill>
                  <a:srgbClr val="010203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      </a:t>
            </a:r>
            <a:r>
              <a:rPr lang="zh-CN" altLang="en-US" sz="2000" dirty="0">
                <a:solidFill>
                  <a:srgbClr val="010203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锥蜗杆传动</a:t>
            </a:r>
            <a:endParaRPr lang="zh-CN" altLang="en-US" sz="2000" dirty="0">
              <a:solidFill>
                <a:srgbClr val="010203"/>
              </a:solidFill>
              <a:latin typeface="Arial Narrow" panose="020B0606020202030204" pitchFamily="34" charset="0"/>
              <a:ea typeface="黑体" panose="02010609060101010101" pitchFamily="49" charset="-122"/>
            </a:endParaRPr>
          </a:p>
        </p:txBody>
      </p:sp>
      <p:sp>
        <p:nvSpPr>
          <p:cNvPr id="5124" name="Rectangle 10"/>
          <p:cNvSpPr>
            <a:spLocks noChangeArrowheads="1"/>
          </p:cNvSpPr>
          <p:nvPr/>
        </p:nvSpPr>
        <p:spPr bwMode="auto">
          <a:xfrm>
            <a:off x="2637155" y="144145"/>
            <a:ext cx="635127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3C34E"/>
                    </a:gs>
                    <a:gs pos="50000">
                      <a:srgbClr val="FFFF66"/>
                    </a:gs>
                    <a:gs pos="100000">
                      <a:srgbClr val="C3C34E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000" anchor="ctr" anchorCtr="1"/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3.11-1   </a:t>
            </a:r>
            <a:r>
              <a:rPr lang="zh-CN" altLang="en-US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蜗杆传动概述</a:t>
            </a:r>
            <a:endParaRPr lang="zh-CN" altLang="en-US" sz="30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3" name="Text Box 53"/>
          <p:cNvSpPr txBox="1">
            <a:spLocks noChangeArrowheads="1"/>
          </p:cNvSpPr>
          <p:nvPr/>
        </p:nvSpPr>
        <p:spPr bwMode="auto">
          <a:xfrm>
            <a:off x="4572000" y="941388"/>
            <a:ext cx="42481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>
                <a:latin typeface="Tahoma" panose="020B0604030504040204" pitchFamily="34" charset="0"/>
              </a:rPr>
              <a:t>其齿面一般是在车床上用直线刀刃的</a:t>
            </a:r>
            <a:endParaRPr lang="zh-CN" altLang="en-US">
              <a:latin typeface="Tahom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>
                <a:latin typeface="Tahoma" panose="020B0604030504040204" pitchFamily="34" charset="0"/>
              </a:rPr>
              <a:t>车刀切制而成，车刀安装位置不同，</a:t>
            </a:r>
            <a:endParaRPr lang="zh-CN" altLang="en-US">
              <a:latin typeface="Tahom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>
                <a:latin typeface="Tahoma" panose="020B0604030504040204" pitchFamily="34" charset="0"/>
              </a:rPr>
              <a:t>加工出的蜗杆齿面的齿廓形状不同。</a:t>
            </a:r>
            <a:endParaRPr lang="zh-CN" altLang="en-US">
              <a:latin typeface="Tahoma" panose="020B0604030504040204" pitchFamily="34" charset="0"/>
            </a:endParaRPr>
          </a:p>
        </p:txBody>
      </p:sp>
      <p:grpSp>
        <p:nvGrpSpPr>
          <p:cNvPr id="10294" name="Group 54"/>
          <p:cNvGrpSpPr/>
          <p:nvPr/>
        </p:nvGrpSpPr>
        <p:grpSpPr bwMode="auto">
          <a:xfrm>
            <a:off x="4495800" y="838200"/>
            <a:ext cx="4572000" cy="1524000"/>
            <a:chOff x="2064" y="2256"/>
            <a:chExt cx="2880" cy="960"/>
          </a:xfrm>
        </p:grpSpPr>
        <p:sp>
          <p:nvSpPr>
            <p:cNvPr id="6164" name="Text Box 43"/>
            <p:cNvSpPr txBox="1">
              <a:spLocks noChangeArrowheads="1"/>
            </p:cNvSpPr>
            <p:nvPr/>
          </p:nvSpPr>
          <p:spPr bwMode="auto">
            <a:xfrm>
              <a:off x="2160" y="2256"/>
              <a:ext cx="2784" cy="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0000FF"/>
                  </a:solidFill>
                  <a:hlinkClick r:id="rId1" action="ppaction://hlinksldjump"/>
                </a:rPr>
                <a:t>阿基米德蜗杆</a:t>
              </a:r>
              <a:r>
                <a:rPr lang="zh-CN" altLang="en-US" dirty="0">
                  <a:solidFill>
                    <a:srgbClr val="0000FF"/>
                  </a:solidFill>
                </a:rPr>
                <a:t>　　</a:t>
              </a:r>
              <a:r>
                <a:rPr lang="zh-CN" altLang="en-US" dirty="0">
                  <a:solidFill>
                    <a:srgbClr val="0000FF"/>
                  </a:solidFill>
                  <a:hlinkClick r:id="rId2" action="ppaction://hlinksldjump"/>
                </a:rPr>
                <a:t>渐开线蜗杆</a:t>
              </a:r>
              <a:endParaRPr lang="zh-CN" altLang="en-US" dirty="0">
                <a:solidFill>
                  <a:srgbClr val="0000FF"/>
                </a:solidFill>
              </a:endParaRPr>
            </a:p>
            <a:p>
              <a:pPr eaLnBrk="1" hangingPunct="1"/>
              <a:endParaRPr lang="zh-CN" altLang="en-US" dirty="0">
                <a:solidFill>
                  <a:srgbClr val="0000FF"/>
                </a:solidFill>
              </a:endParaRPr>
            </a:p>
            <a:p>
              <a:pPr eaLnBrk="1" hangingPunct="1"/>
              <a:endParaRPr lang="zh-CN" altLang="en-US" dirty="0">
                <a:solidFill>
                  <a:srgbClr val="0000FF"/>
                </a:solidFill>
                <a:hlinkClick r:id="rId3" action="ppaction://program"/>
              </a:endParaRPr>
            </a:p>
            <a:p>
              <a:pPr eaLnBrk="1" hangingPunct="1"/>
              <a:r>
                <a:rPr lang="zh-CN" altLang="en-US" dirty="0">
                  <a:solidFill>
                    <a:srgbClr val="0000FF"/>
                  </a:solidFill>
                  <a:hlinkClick r:id="rId4" action="ppaction://hlinksldjump"/>
                </a:rPr>
                <a:t>法向直廓蜗杆</a:t>
              </a:r>
              <a:r>
                <a:rPr lang="zh-CN" altLang="en-US" dirty="0">
                  <a:solidFill>
                    <a:srgbClr val="0000FF"/>
                  </a:solidFill>
                </a:rPr>
                <a:t>　　</a:t>
              </a:r>
              <a:r>
                <a:rPr lang="zh-CN" altLang="en-US" dirty="0">
                  <a:solidFill>
                    <a:srgbClr val="0000FF"/>
                  </a:solidFill>
                  <a:hlinkClick r:id="rId5" action="ppaction://hlinksldjump"/>
                </a:rPr>
                <a:t>锥面包络圆柱蜗杆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6165" name="AutoShape 48"/>
            <p:cNvSpPr/>
            <p:nvPr/>
          </p:nvSpPr>
          <p:spPr bwMode="auto">
            <a:xfrm>
              <a:off x="2064" y="2496"/>
              <a:ext cx="48" cy="528"/>
            </a:xfrm>
            <a:prstGeom prst="leftBrace">
              <a:avLst>
                <a:gd name="adj1" fmla="val 91667"/>
                <a:gd name="adj2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3200" y="762000"/>
            <a:ext cx="1600200" cy="76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80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蜗杆传动的类型</a:t>
            </a:r>
            <a:endParaRPr lang="zh-CN" altLang="en-US" sz="800" smtClean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0299" name="Group 59"/>
          <p:cNvGrpSpPr/>
          <p:nvPr/>
        </p:nvGrpSpPr>
        <p:grpSpPr bwMode="auto">
          <a:xfrm>
            <a:off x="425450" y="2011363"/>
            <a:ext cx="1860550" cy="3398837"/>
            <a:chOff x="268" y="1267"/>
            <a:chExt cx="1172" cy="2141"/>
          </a:xfrm>
        </p:grpSpPr>
        <p:sp>
          <p:nvSpPr>
            <p:cNvPr id="6160" name="Text Box 36"/>
            <p:cNvSpPr txBox="1">
              <a:spLocks noChangeArrowheads="1"/>
            </p:cNvSpPr>
            <p:nvPr/>
          </p:nvSpPr>
          <p:spPr bwMode="auto">
            <a:xfrm>
              <a:off x="374" y="1267"/>
              <a:ext cx="1008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/>
                <a:t>圆柱蜗杆传动</a:t>
              </a:r>
              <a:endParaRPr lang="zh-CN" altLang="en-US"/>
            </a:p>
          </p:txBody>
        </p:sp>
        <p:sp>
          <p:nvSpPr>
            <p:cNvPr id="6161" name="Text Box 38"/>
            <p:cNvSpPr txBox="1">
              <a:spLocks noChangeArrowheads="1"/>
            </p:cNvSpPr>
            <p:nvPr/>
          </p:nvSpPr>
          <p:spPr bwMode="auto">
            <a:xfrm>
              <a:off x="374" y="2227"/>
              <a:ext cx="10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0000FF"/>
                  </a:solidFill>
                  <a:hlinkClick r:id="rId6" action="ppaction://hlinksldjump"/>
                </a:rPr>
                <a:t>环面蜗杆传动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6162" name="Text Box 39"/>
            <p:cNvSpPr txBox="1">
              <a:spLocks noChangeArrowheads="1"/>
            </p:cNvSpPr>
            <p:nvPr/>
          </p:nvSpPr>
          <p:spPr bwMode="auto">
            <a:xfrm>
              <a:off x="374" y="3107"/>
              <a:ext cx="912" cy="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0000FF"/>
                  </a:solidFill>
                  <a:hlinkClick r:id="rId7" action="ppaction://hlinksldjump"/>
                </a:rPr>
                <a:t>锥蜗杆传动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6163" name="AutoShape 40"/>
            <p:cNvSpPr/>
            <p:nvPr/>
          </p:nvSpPr>
          <p:spPr bwMode="auto">
            <a:xfrm>
              <a:off x="268" y="1461"/>
              <a:ext cx="68" cy="1803"/>
            </a:xfrm>
            <a:prstGeom prst="leftBrace">
              <a:avLst>
                <a:gd name="adj1" fmla="val 22095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0292" name="Group 52"/>
          <p:cNvGrpSpPr/>
          <p:nvPr/>
        </p:nvGrpSpPr>
        <p:grpSpPr bwMode="auto">
          <a:xfrm>
            <a:off x="2209800" y="1401763"/>
            <a:ext cx="2514600" cy="1676400"/>
            <a:chOff x="1392" y="768"/>
            <a:chExt cx="1584" cy="1056"/>
          </a:xfrm>
        </p:grpSpPr>
        <p:sp>
          <p:nvSpPr>
            <p:cNvPr id="6157" name="Text Box 41"/>
            <p:cNvSpPr txBox="1">
              <a:spLocks noChangeArrowheads="1"/>
            </p:cNvSpPr>
            <p:nvPr/>
          </p:nvSpPr>
          <p:spPr bwMode="auto">
            <a:xfrm>
              <a:off x="1526" y="768"/>
              <a:ext cx="145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/>
                <a:t>普通圆柱蜗杆传动</a:t>
              </a:r>
              <a:endParaRPr lang="zh-CN" altLang="en-US" dirty="0"/>
            </a:p>
          </p:txBody>
        </p:sp>
        <p:sp>
          <p:nvSpPr>
            <p:cNvPr id="6158" name="Text Box 42"/>
            <p:cNvSpPr txBox="1">
              <a:spLocks noChangeArrowheads="1"/>
            </p:cNvSpPr>
            <p:nvPr/>
          </p:nvSpPr>
          <p:spPr bwMode="auto">
            <a:xfrm>
              <a:off x="1526" y="1459"/>
              <a:ext cx="140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0000FF"/>
                  </a:solidFill>
                  <a:hlinkClick r:id="rId8" action="ppaction://hlinksldjump"/>
                </a:rPr>
                <a:t>圆弧圆柱蜗杆传动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6159" name="AutoShape 47"/>
            <p:cNvSpPr/>
            <p:nvPr/>
          </p:nvSpPr>
          <p:spPr bwMode="auto">
            <a:xfrm>
              <a:off x="1392" y="912"/>
              <a:ext cx="96" cy="768"/>
            </a:xfrm>
            <a:prstGeom prst="lef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0295" name="Text Box 55"/>
          <p:cNvSpPr txBox="1">
            <a:spLocks noChangeArrowheads="1"/>
          </p:cNvSpPr>
          <p:nvPr/>
        </p:nvSpPr>
        <p:spPr bwMode="auto">
          <a:xfrm>
            <a:off x="4556125" y="2466975"/>
            <a:ext cx="424815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latin typeface="Tahoma" panose="020B0604030504040204" pitchFamily="34" charset="0"/>
              </a:rPr>
              <a:t>其蜗杆的螺旋面是用刃边为凸圆弧形</a:t>
            </a:r>
            <a:endParaRPr lang="zh-CN" altLang="en-US">
              <a:latin typeface="Tahoma" panose="020B060403050404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>
                <a:latin typeface="Tahoma" panose="020B0604030504040204" pitchFamily="34" charset="0"/>
              </a:rPr>
              <a:t>的车刀切制而成的。</a:t>
            </a:r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10296" name="Text Box 56"/>
          <p:cNvSpPr txBox="1">
            <a:spLocks noChangeArrowheads="1"/>
          </p:cNvSpPr>
          <p:nvPr/>
        </p:nvSpPr>
        <p:spPr bwMode="auto">
          <a:xfrm>
            <a:off x="2362200" y="3441700"/>
            <a:ext cx="65532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latin typeface="Tahoma" panose="020B0604030504040204" pitchFamily="34" charset="0"/>
              </a:rPr>
              <a:t>其蜗杆体在轴向的外形是以凹弧面为母线所形成的旋转曲面，这种蜗杆同时啮合齿数多，传动平稳；齿面利于润滑油膜形成，传动效率较高；</a:t>
            </a:r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10298" name="Text Box 58"/>
          <p:cNvSpPr txBox="1">
            <a:spLocks noChangeArrowheads="1"/>
          </p:cNvSpPr>
          <p:nvPr/>
        </p:nvSpPr>
        <p:spPr bwMode="auto">
          <a:xfrm>
            <a:off x="2346325" y="5013325"/>
            <a:ext cx="67976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Tahoma" panose="020B0604030504040204" pitchFamily="34" charset="0"/>
              </a:rPr>
              <a:t>同时啮合齿数多，重合度大；传动比范围大</a:t>
            </a:r>
            <a:r>
              <a:rPr lang="en-US" altLang="zh-CN"/>
              <a:t>(10~360)</a:t>
            </a:r>
            <a:r>
              <a:rPr lang="zh-CN" altLang="en-US">
                <a:latin typeface="Tahoma" panose="020B0604030504040204" pitchFamily="34" charset="0"/>
              </a:rPr>
              <a:t>；承载能力和效率较高；可节约有色金属。</a:t>
            </a:r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10310" name="Text Box 70"/>
          <p:cNvSpPr txBox="1">
            <a:spLocks noChangeArrowheads="1"/>
          </p:cNvSpPr>
          <p:nvPr/>
        </p:nvSpPr>
        <p:spPr bwMode="auto">
          <a:xfrm>
            <a:off x="7805738" y="6221413"/>
            <a:ext cx="247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2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文本框 1"/>
          <p:cNvSpPr txBox="1">
            <a:spLocks noChangeArrowheads="1"/>
          </p:cNvSpPr>
          <p:nvPr/>
        </p:nvSpPr>
        <p:spPr bwMode="auto">
          <a:xfrm>
            <a:off x="0" y="840134"/>
            <a:ext cx="269748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蜗杆传动的类型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动作按钮: 前进或下一项 1">
            <a:hlinkClick r:id="rId9" action="ppaction://hlinksldjump"/>
          </p:cNvPr>
          <p:cNvSpPr/>
          <p:nvPr/>
        </p:nvSpPr>
        <p:spPr>
          <a:xfrm>
            <a:off x="8351520" y="6353810"/>
            <a:ext cx="360045" cy="269875"/>
          </a:xfrm>
          <a:prstGeom prst="actionButtonForwardNext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5124" name="Rectangle 10"/>
          <p:cNvSpPr>
            <a:spLocks noChangeArrowheads="1"/>
          </p:cNvSpPr>
          <p:nvPr/>
        </p:nvSpPr>
        <p:spPr bwMode="auto">
          <a:xfrm>
            <a:off x="2637155" y="144145"/>
            <a:ext cx="635127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3C34E"/>
                    </a:gs>
                    <a:gs pos="50000">
                      <a:srgbClr val="FFFF66"/>
                    </a:gs>
                    <a:gs pos="100000">
                      <a:srgbClr val="C3C34E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000" anchor="ctr" anchorCtr="1"/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3.11-1   </a:t>
            </a:r>
            <a:r>
              <a:rPr lang="zh-CN" altLang="en-US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蜗杆传动概述</a:t>
            </a:r>
            <a:endParaRPr lang="zh-CN" altLang="en-US" sz="30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3" grpId="0" autoUpdateAnimBg="0"/>
      <p:bldP spid="10295" grpId="0" autoUpdateAnimBg="0"/>
      <p:bldP spid="10296" grpId="0" autoUpdateAnimBg="0"/>
      <p:bldP spid="10298" grpId="0" autoUpdateAnimBg="0"/>
      <p:bldP spid="10310" grpId="0" autoUpdateAnimBg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/>
          <p:cNvSpPr txBox="1">
            <a:spLocks noChangeArrowheads="1"/>
          </p:cNvSpPr>
          <p:nvPr/>
        </p:nvSpPr>
        <p:spPr bwMode="auto">
          <a:xfrm>
            <a:off x="179694" y="764815"/>
            <a:ext cx="61204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阿基米德蜗杆（</a:t>
            </a:r>
            <a:r>
              <a:rPr lang="en-US" altLang="zh-CN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ZA</a:t>
            </a:r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型）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57356"/>
          <p:cNvSpPr>
            <a:spLocks noChangeArrowheads="1"/>
          </p:cNvSpPr>
          <p:nvPr/>
        </p:nvSpPr>
        <p:spPr bwMode="auto">
          <a:xfrm>
            <a:off x="539720" y="1124840"/>
            <a:ext cx="8291090" cy="1745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这种蜗杆是用直线刀刃的梯形车刀在车床上切削而成的，刀刃通过蜗杆的轴平面。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蜗杆端面上的齿廓为阿基米德螺旋线，在中间平面上的齿形为直线，其齿形角</a:t>
            </a:r>
            <a:r>
              <a:rPr lang="zh-CN" altLang="en-US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zh-CN" altLang="en-US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20°</a:t>
            </a:r>
            <a:r>
              <a:rPr lang="zh-CN" altLang="en-US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dirty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95" y="2996970"/>
            <a:ext cx="4536315" cy="2901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直接连接符 6"/>
          <p:cNvSpPr>
            <a:spLocks noChangeShapeType="1"/>
          </p:cNvSpPr>
          <p:nvPr/>
        </p:nvSpPr>
        <p:spPr bwMode="auto">
          <a:xfrm>
            <a:off x="0" y="68405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动作按钮: 后退或前一项 1">
            <a:hlinkClick r:id="rId2" action="ppaction://hlinksldjump" highlightClick="1"/>
          </p:cNvPr>
          <p:cNvSpPr/>
          <p:nvPr/>
        </p:nvSpPr>
        <p:spPr bwMode="auto">
          <a:xfrm>
            <a:off x="8460270" y="6453210"/>
            <a:ext cx="288020" cy="216015"/>
          </a:xfrm>
          <a:prstGeom prst="actionButtonBackPrevious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10" name="Picture 12" descr="005_副本"/>
          <p:cNvPicPr>
            <a:picLocks noChangeAspect="1"/>
          </p:cNvPicPr>
          <p:nvPr/>
        </p:nvPicPr>
        <p:blipFill>
          <a:blip r:embed="rId3">
            <a:clrChange>
              <a:clrFrom>
                <a:srgbClr val="D4FCFC">
                  <a:alpha val="100000"/>
                </a:srgbClr>
              </a:clrFrom>
              <a:clrTo>
                <a:srgbClr val="D4FCF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95379" y="3284990"/>
            <a:ext cx="4348621" cy="23761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7020170" y="3140980"/>
            <a:ext cx="15240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端面内的齿形</a:t>
            </a:r>
            <a:endParaRPr lang="zh-CN" altLang="en-US" sz="1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Box 10"/>
          <p:cNvSpPr txBox="1"/>
          <p:nvPr/>
        </p:nvSpPr>
        <p:spPr>
          <a:xfrm>
            <a:off x="2843880" y="2924965"/>
            <a:ext cx="15240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端面内的齿形</a:t>
            </a:r>
            <a:endParaRPr lang="zh-CN" altLang="en-US" sz="1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765" y="5949175"/>
            <a:ext cx="2565532" cy="30481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080" y="5805165"/>
            <a:ext cx="2565532" cy="304816"/>
          </a:xfrm>
          <a:prstGeom prst="rect">
            <a:avLst/>
          </a:prstGeom>
        </p:spPr>
      </p:pic>
      <p:sp>
        <p:nvSpPr>
          <p:cNvPr id="5124" name="Rectangle 10"/>
          <p:cNvSpPr>
            <a:spLocks noChangeArrowheads="1"/>
          </p:cNvSpPr>
          <p:nvPr/>
        </p:nvSpPr>
        <p:spPr bwMode="auto">
          <a:xfrm>
            <a:off x="2637155" y="144145"/>
            <a:ext cx="635127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3C34E"/>
                    </a:gs>
                    <a:gs pos="50000">
                      <a:srgbClr val="FFFF66"/>
                    </a:gs>
                    <a:gs pos="100000">
                      <a:srgbClr val="C3C34E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000" anchor="ctr" anchorCtr="1"/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3.11-1   </a:t>
            </a:r>
            <a:r>
              <a:rPr lang="zh-CN" altLang="en-US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蜗杆传动概述</a:t>
            </a:r>
            <a:endParaRPr lang="zh-CN" altLang="en-US" sz="30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179695" y="908825"/>
            <a:ext cx="590441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99"/>
                </a:solidFill>
              </a:rPr>
              <a:t>（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渐开线蜗杆（</a:t>
            </a:r>
            <a:r>
              <a:rPr lang="en-US" altLang="zh-CN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ZI</a:t>
            </a:r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型）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57356"/>
          <p:cNvSpPr>
            <a:spLocks noChangeArrowheads="1"/>
          </p:cNvSpPr>
          <p:nvPr/>
        </p:nvSpPr>
        <p:spPr bwMode="auto">
          <a:xfrm>
            <a:off x="179695" y="1340855"/>
            <a:ext cx="8763148" cy="1586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加工这种蜗杆时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，用两把直线刀刃的车刀在车床上车削加工，刀刃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顶面与蜗杆的基圆柱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相切，一把高于蜗杆轴线，一把低于蜗杆轴线。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蜗杆端面齿形为渐开线，在中间平面和法平面上的齿形为凸廓，在与基圆柱相切平面上的齿廓一侧是直线，另一侧是曲线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845" y="3140980"/>
            <a:ext cx="5411522" cy="3370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动作按钮: 后退或前一项 7">
            <a:hlinkClick r:id="rId2" action="ppaction://hlinksldjump" highlightClick="1"/>
          </p:cNvPr>
          <p:cNvSpPr/>
          <p:nvPr/>
        </p:nvSpPr>
        <p:spPr bwMode="auto">
          <a:xfrm>
            <a:off x="8460270" y="6453210"/>
            <a:ext cx="288020" cy="216015"/>
          </a:xfrm>
          <a:prstGeom prst="actionButtonBackPrevious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5124" name="Rectangle 10"/>
          <p:cNvSpPr>
            <a:spLocks noChangeArrowheads="1"/>
          </p:cNvSpPr>
          <p:nvPr/>
        </p:nvSpPr>
        <p:spPr bwMode="auto">
          <a:xfrm>
            <a:off x="2637155" y="144145"/>
            <a:ext cx="635127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3C34E"/>
                    </a:gs>
                    <a:gs pos="50000">
                      <a:srgbClr val="FFFF66"/>
                    </a:gs>
                    <a:gs pos="100000">
                      <a:srgbClr val="C3C34E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000" anchor="ctr" anchorCtr="1"/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3.11-1   </a:t>
            </a:r>
            <a:r>
              <a:rPr lang="zh-CN" altLang="en-US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蜗杆传动概述</a:t>
            </a:r>
            <a:endParaRPr lang="zh-CN" altLang="en-US" sz="30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323705" y="908825"/>
            <a:ext cx="547238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法向直廓蜗杆（</a:t>
            </a:r>
            <a:r>
              <a:rPr lang="en-US" altLang="zh-CN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ZN</a:t>
            </a:r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型）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57356"/>
          <p:cNvSpPr>
            <a:spLocks noChangeArrowheads="1"/>
          </p:cNvSpPr>
          <p:nvPr/>
        </p:nvSpPr>
        <p:spPr bwMode="auto">
          <a:xfrm>
            <a:off x="432125" y="1313853"/>
            <a:ext cx="8088054" cy="1290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加工这种蜗杆时</a:t>
            </a: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，用单刀或双刀在车床上车削，将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直线刀刃放在垂直于齿槽（或齿厚）中点螺旋线的法平面内。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在蜗杆法平面内齿形是直线，在端面上是延伸渐开线</a:t>
            </a: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。（磨削困难）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1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785" y="3140980"/>
            <a:ext cx="5253480" cy="3220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动作按钮: 后退或前一项 6">
            <a:hlinkClick r:id="rId2" action="ppaction://hlinksldjump" highlightClick="1"/>
          </p:cNvPr>
          <p:cNvSpPr/>
          <p:nvPr/>
        </p:nvSpPr>
        <p:spPr bwMode="auto">
          <a:xfrm>
            <a:off x="8460270" y="6453210"/>
            <a:ext cx="288020" cy="216015"/>
          </a:xfrm>
          <a:prstGeom prst="actionButtonBackPrevious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5124" name="Rectangle 10"/>
          <p:cNvSpPr>
            <a:spLocks noChangeArrowheads="1"/>
          </p:cNvSpPr>
          <p:nvPr/>
        </p:nvSpPr>
        <p:spPr bwMode="auto">
          <a:xfrm>
            <a:off x="2637155" y="144145"/>
            <a:ext cx="635127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3C34E"/>
                    </a:gs>
                    <a:gs pos="50000">
                      <a:srgbClr val="FFFF66"/>
                    </a:gs>
                    <a:gs pos="100000">
                      <a:srgbClr val="C3C34E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000" anchor="ctr" anchorCtr="1"/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3.11-1   </a:t>
            </a:r>
            <a:r>
              <a:rPr lang="zh-CN" altLang="en-US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蜗杆传动概述</a:t>
            </a:r>
            <a:endParaRPr lang="zh-CN" altLang="en-US" sz="30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>
            <a:spLocks noChangeArrowheads="1"/>
          </p:cNvSpPr>
          <p:nvPr/>
        </p:nvSpPr>
        <p:spPr bwMode="auto">
          <a:xfrm>
            <a:off x="251700" y="1052835"/>
            <a:ext cx="633644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）锥面包络</a:t>
            </a:r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蜗杆（</a:t>
            </a:r>
            <a:r>
              <a:rPr lang="en-US" altLang="zh-CN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ZK</a:t>
            </a:r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型）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57356"/>
          <p:cNvSpPr>
            <a:spLocks noChangeArrowheads="1"/>
          </p:cNvSpPr>
          <p:nvPr/>
        </p:nvSpPr>
        <p:spPr bwMode="auto">
          <a:xfrm>
            <a:off x="275117" y="1484865"/>
            <a:ext cx="8868883" cy="1213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这种蜗杆只能在铣床和磨床上加工。加工时，梯形圆盘铣刀在蜗杆的法面内绕其轴线作回转运动，蜗杆作螺旋运动。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在任意截面内，蜗杆的齿形都是曲线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365" y="2890061"/>
            <a:ext cx="6333951" cy="3691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动作按钮: 后退或前一项 6">
            <a:hlinkClick r:id="rId2" action="ppaction://hlinksldjump" highlightClick="1"/>
          </p:cNvPr>
          <p:cNvSpPr/>
          <p:nvPr/>
        </p:nvSpPr>
        <p:spPr bwMode="auto">
          <a:xfrm>
            <a:off x="8460270" y="6453210"/>
            <a:ext cx="288020" cy="216015"/>
          </a:xfrm>
          <a:prstGeom prst="actionButtonBackPrevious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5124" name="Rectangle 10"/>
          <p:cNvSpPr>
            <a:spLocks noChangeArrowheads="1"/>
          </p:cNvSpPr>
          <p:nvPr/>
        </p:nvSpPr>
        <p:spPr bwMode="auto">
          <a:xfrm>
            <a:off x="2637155" y="144145"/>
            <a:ext cx="635127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3C34E"/>
                    </a:gs>
                    <a:gs pos="50000">
                      <a:srgbClr val="FFFF66"/>
                    </a:gs>
                    <a:gs pos="100000">
                      <a:srgbClr val="C3C34E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000" anchor="ctr" anchorCtr="1"/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3.11-1   </a:t>
            </a:r>
            <a:r>
              <a:rPr lang="zh-CN" altLang="en-US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蜗杆传动概述</a:t>
            </a:r>
            <a:endParaRPr lang="zh-CN" altLang="en-US" sz="30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3" name="矩形 57356"/>
          <p:cNvSpPr>
            <a:spLocks noChangeArrowheads="1"/>
          </p:cNvSpPr>
          <p:nvPr/>
        </p:nvSpPr>
        <p:spPr bwMode="auto">
          <a:xfrm>
            <a:off x="364830" y="632635"/>
            <a:ext cx="8432800" cy="1536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圆弧圆柱蜗杆(ZC蜗杆)是一种非直纹面圆柱蜗杆。在圆弧圆柱蜗杆传动中间平面上，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蜗杆齿廓为凹圆弧，与之相配的蜗轮齿廓为凸圆弧</a:t>
            </a:r>
            <a:r>
              <a:rPr lang="zh-CN" altLang="en-US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。与圆柱蜗杆传动相比，其承载能力大，传动效率高，使用寿命长。</a:t>
            </a:r>
            <a:endParaRPr lang="zh-CN" altLang="en-US" dirty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9336" name="矩形 57356"/>
          <p:cNvSpPr>
            <a:spLocks noChangeArrowheads="1"/>
          </p:cNvSpPr>
          <p:nvPr/>
        </p:nvSpPr>
        <p:spPr bwMode="auto">
          <a:xfrm>
            <a:off x="116840" y="4652645"/>
            <a:ext cx="1663065" cy="1057275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主要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特点：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7" name="矩形 57356"/>
          <p:cNvSpPr>
            <a:spLocks noChangeArrowheads="1"/>
          </p:cNvSpPr>
          <p:nvPr/>
        </p:nvSpPr>
        <p:spPr bwMode="auto">
          <a:xfrm>
            <a:off x="1786268" y="4618593"/>
            <a:ext cx="6975291" cy="2016125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marL="0" lvl="1"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1）传动比范围大，可实现1：100的大传动比传动；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1"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2）蜗杆与蜗轮的齿廓接触线与滑动速度方向间的夹角大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	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润滑油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膜的形成；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1"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3）当蜗杆主动时，啮合效率可达95%以上；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lvl="1"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4）中心距难以调整，对中心距误差的敏感性较强。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529" y="2075231"/>
            <a:ext cx="5934075" cy="24098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1507" y="255181"/>
            <a:ext cx="27219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圆弧圆柱蜗杆</a:t>
            </a:r>
            <a:endParaRPr lang="zh-CN" altLang="en-US" sz="22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动作按钮: 后退或前一项 8">
            <a:hlinkClick r:id="rId2" action="ppaction://hlinksldjump" highlightClick="1"/>
          </p:cNvPr>
          <p:cNvSpPr/>
          <p:nvPr/>
        </p:nvSpPr>
        <p:spPr bwMode="auto">
          <a:xfrm>
            <a:off x="8676285" y="6525215"/>
            <a:ext cx="288020" cy="216015"/>
          </a:xfrm>
          <a:prstGeom prst="actionButtonBackPrevious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3" grpId="0"/>
      <p:bldP spid="99336" grpId="0" bldLvl="0" animBg="1"/>
      <p:bldP spid="9933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14313" y="857250"/>
            <a:ext cx="230063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、环面蜗杆传动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57356"/>
          <p:cNvSpPr>
            <a:spLocks noChangeArrowheads="1"/>
          </p:cNvSpPr>
          <p:nvPr/>
        </p:nvSpPr>
        <p:spPr bwMode="auto">
          <a:xfrm>
            <a:off x="467715" y="1556870"/>
            <a:ext cx="3289779" cy="3413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marL="0" eaLnBrk="1" latinLnBrk="0" hangingPunct="1">
              <a:lnSpc>
                <a:spcPct val="150000"/>
              </a:lnSpc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环面蜗杆在轴向的外形是以凹圆弧为母线所形成的旋转曲面。在这种传动的啮合带内，蜗杆的节弧沿蜗轮的节圆包着蜗轮。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0" eaLnBrk="1" latinLnBrk="0" hangingPunct="1">
              <a:lnSpc>
                <a:spcPct val="150000"/>
              </a:lnSpc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其承载能力约为阿基米德蜗杆传动的2～4倍，效率达85%～90%。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1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75" y="908825"/>
            <a:ext cx="4409475" cy="3485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直接连接符 6"/>
          <p:cNvSpPr>
            <a:spLocks noChangeShapeType="1"/>
          </p:cNvSpPr>
          <p:nvPr/>
        </p:nvSpPr>
        <p:spPr bwMode="auto">
          <a:xfrm>
            <a:off x="0" y="76481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动作按钮: 后退或前一项 6">
            <a:hlinkClick r:id="rId2" action="ppaction://hlinksldjump" highlightClick="1"/>
          </p:cNvPr>
          <p:cNvSpPr/>
          <p:nvPr/>
        </p:nvSpPr>
        <p:spPr bwMode="auto">
          <a:xfrm>
            <a:off x="8460270" y="6453210"/>
            <a:ext cx="288020" cy="216015"/>
          </a:xfrm>
          <a:prstGeom prst="actionButtonBackPrevious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8" name="Picture 12" descr="002_副本"/>
          <p:cNvPicPr>
            <a:picLocks noChangeAspect="1"/>
          </p:cNvPicPr>
          <p:nvPr/>
        </p:nvPicPr>
        <p:blipFill>
          <a:blip r:embed="rId3">
            <a:clrChange>
              <a:clrFrom>
                <a:srgbClr val="D4FCFC">
                  <a:alpha val="100000"/>
                </a:srgbClr>
              </a:clrFrom>
              <a:clrTo>
                <a:srgbClr val="D4FCF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20045" y="4293060"/>
            <a:ext cx="2456036" cy="2160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Rectangle 10"/>
          <p:cNvSpPr>
            <a:spLocks noChangeArrowheads="1"/>
          </p:cNvSpPr>
          <p:nvPr/>
        </p:nvSpPr>
        <p:spPr bwMode="auto">
          <a:xfrm>
            <a:off x="2637155" y="144145"/>
            <a:ext cx="635127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3C34E"/>
                    </a:gs>
                    <a:gs pos="50000">
                      <a:srgbClr val="FFFF66"/>
                    </a:gs>
                    <a:gs pos="100000">
                      <a:srgbClr val="C3C34E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000" anchor="ctr" anchorCtr="1"/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3.11-1   </a:t>
            </a:r>
            <a:r>
              <a:rPr lang="zh-CN" altLang="en-US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蜗杆传动概述</a:t>
            </a:r>
            <a:endParaRPr lang="zh-CN" altLang="en-US" sz="30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>
            <a:spLocks noChangeArrowheads="1"/>
          </p:cNvSpPr>
          <p:nvPr/>
        </p:nvSpPr>
        <p:spPr bwMode="auto">
          <a:xfrm>
            <a:off x="416331" y="810400"/>
            <a:ext cx="201850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、锥蜗杆传动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57356"/>
          <p:cNvSpPr>
            <a:spLocks noChangeArrowheads="1"/>
          </p:cNvSpPr>
          <p:nvPr/>
        </p:nvSpPr>
        <p:spPr bwMode="auto">
          <a:xfrm>
            <a:off x="364829" y="1464192"/>
            <a:ext cx="3218343" cy="4670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锥蜗杆传动的两轴交错角通常为90°。蜗杆的螺旋在节锥上分布的导程角相同，而蜗轮在外观上就像一个曲线齿锥齿轮。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锥蜗杆传动的特点是：同时啮合的齿数多，重合度大；传动比范围大（一般为10～360）；承载能力和效率高等。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40" y="980830"/>
            <a:ext cx="4883220" cy="4988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直接连接符 6"/>
          <p:cNvSpPr>
            <a:spLocks noChangeShapeType="1"/>
          </p:cNvSpPr>
          <p:nvPr/>
        </p:nvSpPr>
        <p:spPr bwMode="auto">
          <a:xfrm>
            <a:off x="0" y="692810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动作按钮: 后退或前一项 6">
            <a:hlinkClick r:id="rId2" action="ppaction://hlinksldjump" highlightClick="1"/>
          </p:cNvPr>
          <p:cNvSpPr/>
          <p:nvPr/>
        </p:nvSpPr>
        <p:spPr bwMode="auto">
          <a:xfrm>
            <a:off x="8460270" y="6453210"/>
            <a:ext cx="288020" cy="216015"/>
          </a:xfrm>
          <a:prstGeom prst="actionButtonBackPrevious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5124" name="Rectangle 10"/>
          <p:cNvSpPr>
            <a:spLocks noChangeArrowheads="1"/>
          </p:cNvSpPr>
          <p:nvPr/>
        </p:nvSpPr>
        <p:spPr bwMode="auto">
          <a:xfrm>
            <a:off x="2637155" y="144145"/>
            <a:ext cx="635127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3C34E"/>
                    </a:gs>
                    <a:gs pos="50000">
                      <a:srgbClr val="FFFF66"/>
                    </a:gs>
                    <a:gs pos="100000">
                      <a:srgbClr val="C3C34E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000" anchor="ctr" anchorCtr="1"/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3.11-1   </a:t>
            </a:r>
            <a:r>
              <a:rPr lang="zh-CN" altLang="en-US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蜗杆传动概述</a:t>
            </a:r>
            <a:endParaRPr lang="zh-CN" altLang="en-US" sz="30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>
            <a:spLocks noChangeArrowheads="1"/>
          </p:cNvSpPr>
          <p:nvPr/>
        </p:nvSpPr>
        <p:spPr bwMode="auto">
          <a:xfrm>
            <a:off x="416331" y="810400"/>
            <a:ext cx="4515694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四、蜗杆传动类型选择原则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直接连接符 6"/>
          <p:cNvSpPr>
            <a:spLocks noChangeShapeType="1"/>
          </p:cNvSpPr>
          <p:nvPr/>
        </p:nvSpPr>
        <p:spPr bwMode="auto">
          <a:xfrm>
            <a:off x="0" y="692810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动作按钮: 后退或前一项 6">
            <a:hlinkClick r:id="rId1" action="ppaction://hlinksldjump" highlightClick="1"/>
          </p:cNvPr>
          <p:cNvSpPr/>
          <p:nvPr/>
        </p:nvSpPr>
        <p:spPr bwMode="auto">
          <a:xfrm>
            <a:off x="8460270" y="6453210"/>
            <a:ext cx="288020" cy="216015"/>
          </a:xfrm>
          <a:prstGeom prst="actionButtonBackPrevious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2265" y="1809115"/>
            <a:ext cx="4465955" cy="42989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阿基米德圆柱蜗杆（</a:t>
            </a:r>
            <a:r>
              <a:rPr lang="en-US" altLang="zh-CN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ZA</a:t>
            </a:r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</a:t>
            </a:r>
            <a:r>
              <a:rPr lang="zh-CN" altLang="en-US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）传动</a:t>
            </a:r>
            <a:endParaRPr lang="zh-CN" altLang="en-US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32275" y="1224400"/>
            <a:ext cx="3240225" cy="144526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FECF40"/>
                    </a:gs>
                    <a:gs pos="77000">
                      <a:srgbClr val="FFE720">
                        <a:alpha val="100000"/>
                      </a:srgbClr>
                    </a:gs>
                    <a:gs pos="100000">
                      <a:srgbClr val="FFFF00"/>
                    </a:gs>
                  </a:gsLst>
                  <a:lin ang="5400000" scaled="0"/>
                </a:gra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载荷小、速度较低、精度要求不高或不太重要的传动；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要求自锁、低速、轻载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5905" y="2809875"/>
            <a:ext cx="4585970" cy="1308735"/>
          </a:xfrm>
          <a:prstGeom prst="rect">
            <a:avLst/>
          </a:prstGeom>
          <a:noFill/>
          <a:ln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00B0F0">
                        <a:tint val="66000"/>
                        <a:satMod val="160000"/>
                      </a:srgbClr>
                    </a:gs>
                    <a:gs pos="50000">
                      <a:srgbClr val="00B0F0">
                        <a:tint val="44500"/>
                        <a:satMod val="160000"/>
                      </a:srgbClr>
                    </a:gs>
                    <a:gs pos="100000">
                      <a:srgbClr val="00B0F0">
                        <a:tint val="23500"/>
                        <a:satMod val="160000"/>
                      </a:srgbClr>
                    </a:gs>
                  </a:gsLst>
                  <a:lin ang="5400000" scaled="1"/>
                  <a:tileRect/>
                </a:gra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渐开线圆柱蜗杆（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ZI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</a:t>
            </a:r>
            <a:r>
              <a:rPr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）传动</a:t>
            </a:r>
            <a:endParaRPr lang="en-US" altLang="zh-CN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锥面包络蜗杆（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ZK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</a:t>
            </a:r>
            <a:r>
              <a:rPr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）传动</a:t>
            </a:r>
            <a:endParaRPr lang="en-US" altLang="zh-CN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法向直廓蜗杆（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ZN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</a:t>
            </a:r>
            <a:r>
              <a:rPr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）传动</a:t>
            </a:r>
            <a:endParaRPr lang="zh-CN" altLang="en-US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32140" y="2906665"/>
            <a:ext cx="3240225" cy="1106805"/>
          </a:xfrm>
          <a:prstGeom prst="rect">
            <a:avLst/>
          </a:prstGeom>
          <a:noFill/>
          <a:ln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FECF40"/>
                    </a:gs>
                    <a:gs pos="45000">
                      <a:srgbClr val="FFDB30">
                        <a:alpha val="100000"/>
                      </a:srgbClr>
                    </a:gs>
                    <a:gs pos="90000">
                      <a:srgbClr val="FFE720">
                        <a:alpha val="100000"/>
                      </a:srgbClr>
                    </a:gs>
                    <a:gs pos="100000">
                      <a:srgbClr val="FFFF00"/>
                    </a:gs>
                  </a:gsLst>
                  <a:lin ang="5400000" scaled="0"/>
                </a:gra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速度高、要求较精密、蜗杆头数较多，且加工工艺简单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2215" y="5748650"/>
            <a:ext cx="3240225" cy="430887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环面蜗杆传动</a:t>
            </a:r>
            <a:endParaRPr lang="zh-CN" altLang="en-US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003645" y="4463855"/>
            <a:ext cx="3240225" cy="76835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9EE256"/>
                    </a:gs>
                    <a:gs pos="86000">
                      <a:srgbClr val="ACE745"/>
                    </a:gs>
                    <a:gs pos="100000">
                      <a:srgbClr val="92D050"/>
                    </a:gs>
                  </a:gsLst>
                  <a:lin ang="5400000" scaled="0"/>
                </a:gra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重载、高速、效率高、精度高的重要传动；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1690" y="4718105"/>
            <a:ext cx="4320300" cy="430887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00B0F0">
                        <a:tint val="66000"/>
                        <a:satMod val="160000"/>
                      </a:srgbClr>
                    </a:gs>
                    <a:gs pos="50000">
                      <a:srgbClr val="00B0F0">
                        <a:tint val="44500"/>
                        <a:satMod val="160000"/>
                      </a:srgbClr>
                    </a:gs>
                    <a:gs pos="100000">
                      <a:srgbClr val="00B0F0">
                        <a:tint val="23500"/>
                        <a:satMod val="160000"/>
                      </a:srgbClr>
                    </a:gs>
                  </a:gsLst>
                  <a:lin ang="5400000" scaled="1"/>
                  <a:tileRect/>
                </a:gra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圆弧圆柱蜗杆（</a:t>
            </a:r>
            <a:r>
              <a:rPr lang="en-US" altLang="zh-CN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ZC</a:t>
            </a:r>
            <a:r>
              <a:rPr lang="zh-CN" altLang="en-US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蜗杆）传动</a:t>
            </a:r>
            <a:endParaRPr lang="zh-CN" altLang="en-US" dirty="0" smtClean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977360" y="5633850"/>
            <a:ext cx="3240225" cy="768350"/>
          </a:xfrm>
          <a:prstGeom prst="rect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20BB14">
                        <a:tint val="66000"/>
                        <a:satMod val="160000"/>
                      </a:srgbClr>
                    </a:gs>
                    <a:gs pos="50000">
                      <a:srgbClr val="20BB14">
                        <a:tint val="44500"/>
                        <a:satMod val="160000"/>
                      </a:srgbClr>
                    </a:gs>
                    <a:gs pos="100000">
                      <a:srgbClr val="20BB14">
                        <a:tint val="23500"/>
                        <a:satMod val="160000"/>
                      </a:srgbClr>
                    </a:gs>
                  </a:gsLst>
                  <a:lin ang="5400000" scaled="1"/>
                  <a:tileRect/>
                </a:gra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要求传动效率高、蜗杆不磨削的大功率传动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动作按钮: 前进或下一项 2">
            <a:hlinkClick r:id="rId2" action="ppaction://hlinksldjump" highlightClick="1"/>
          </p:cNvPr>
          <p:cNvSpPr/>
          <p:nvPr/>
        </p:nvSpPr>
        <p:spPr bwMode="auto">
          <a:xfrm>
            <a:off x="179696" y="6453210"/>
            <a:ext cx="288020" cy="216015"/>
          </a:xfrm>
          <a:prstGeom prst="actionButtonForwardNex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5124" name="Rectangle 10"/>
          <p:cNvSpPr>
            <a:spLocks noChangeArrowheads="1"/>
          </p:cNvSpPr>
          <p:nvPr/>
        </p:nvSpPr>
        <p:spPr bwMode="auto">
          <a:xfrm>
            <a:off x="2637155" y="144145"/>
            <a:ext cx="635127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3C34E"/>
                    </a:gs>
                    <a:gs pos="50000">
                      <a:srgbClr val="FFFF66"/>
                    </a:gs>
                    <a:gs pos="100000">
                      <a:srgbClr val="C3C34E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8000" anchor="ctr" anchorCtr="1"/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3.11-1   </a:t>
            </a:r>
            <a:r>
              <a:rPr lang="zh-CN" altLang="en-US" sz="30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蜗杆传动概述</a:t>
            </a:r>
            <a:endParaRPr lang="zh-CN" altLang="en-US" sz="30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01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40" name="文本框 2"/>
          <p:cNvSpPr txBox="1">
            <a:spLocks noChangeArrowheads="1"/>
          </p:cNvSpPr>
          <p:nvPr/>
        </p:nvSpPr>
        <p:spPr bwMode="auto">
          <a:xfrm>
            <a:off x="-17836" y="953709"/>
            <a:ext cx="9016421" cy="497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5080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中间平面</a:t>
            </a:r>
            <a:r>
              <a:rPr lang="en-US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主平面）：</a:t>
            </a:r>
            <a:r>
              <a:rPr lang="zh-CN" altLang="en-US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通过蜗杆轴线并与蜗轮轴线相垂直的平面</a:t>
            </a:r>
            <a:endParaRPr lang="zh-CN" altLang="en-US" dirty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194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Group 136"/>
          <p:cNvGrpSpPr/>
          <p:nvPr/>
        </p:nvGrpSpPr>
        <p:grpSpPr bwMode="auto">
          <a:xfrm>
            <a:off x="6832445" y="2860441"/>
            <a:ext cx="1757362" cy="3117850"/>
            <a:chOff x="3801" y="2232"/>
            <a:chExt cx="1107" cy="1964"/>
          </a:xfrm>
        </p:grpSpPr>
        <p:sp>
          <p:nvSpPr>
            <p:cNvPr id="20" name="Line 45"/>
            <p:cNvSpPr>
              <a:spLocks noChangeShapeType="1"/>
            </p:cNvSpPr>
            <p:nvPr/>
          </p:nvSpPr>
          <p:spPr bwMode="auto">
            <a:xfrm>
              <a:off x="3801" y="4176"/>
              <a:ext cx="1107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1" name="Group 111"/>
            <p:cNvGrpSpPr/>
            <p:nvPr/>
          </p:nvGrpSpPr>
          <p:grpSpPr bwMode="auto">
            <a:xfrm>
              <a:off x="3861" y="2232"/>
              <a:ext cx="1047" cy="930"/>
              <a:chOff x="3861" y="2004"/>
              <a:chExt cx="1047" cy="930"/>
            </a:xfrm>
          </p:grpSpPr>
          <p:sp>
            <p:nvSpPr>
              <p:cNvPr id="32" name="Oval 78"/>
              <p:cNvSpPr>
                <a:spLocks noChangeArrowheads="1"/>
              </p:cNvSpPr>
              <p:nvPr/>
            </p:nvSpPr>
            <p:spPr bwMode="auto">
              <a:xfrm>
                <a:off x="3915" y="2004"/>
                <a:ext cx="945" cy="930"/>
              </a:xfrm>
              <a:prstGeom prst="ellipse">
                <a:avLst/>
              </a:prstGeom>
              <a:noFill/>
              <a:ln w="28575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Oval 79"/>
              <p:cNvSpPr>
                <a:spLocks noChangeArrowheads="1"/>
              </p:cNvSpPr>
              <p:nvPr/>
            </p:nvSpPr>
            <p:spPr bwMode="auto">
              <a:xfrm>
                <a:off x="4140" y="2220"/>
                <a:ext cx="492" cy="492"/>
              </a:xfrm>
              <a:prstGeom prst="ellipse">
                <a:avLst/>
              </a:prstGeom>
              <a:noFill/>
              <a:ln w="28575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Oval 80"/>
              <p:cNvSpPr>
                <a:spLocks noChangeArrowheads="1"/>
              </p:cNvSpPr>
              <p:nvPr/>
            </p:nvSpPr>
            <p:spPr bwMode="auto">
              <a:xfrm>
                <a:off x="4026" y="2112"/>
                <a:ext cx="720" cy="708"/>
              </a:xfrm>
              <a:prstGeom prst="ellipse">
                <a:avLst/>
              </a:prstGeom>
              <a:noFill/>
              <a:ln w="12700">
                <a:solidFill>
                  <a:srgbClr val="0000FF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auto">
              <a:xfrm>
                <a:off x="3861" y="2469"/>
                <a:ext cx="1047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auto">
              <a:xfrm flipV="1">
                <a:off x="4143" y="2226"/>
                <a:ext cx="201" cy="186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auto">
              <a:xfrm flipV="1">
                <a:off x="4149" y="2232"/>
                <a:ext cx="300" cy="291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auto">
              <a:xfrm flipV="1">
                <a:off x="4191" y="2285"/>
                <a:ext cx="333" cy="324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auto">
              <a:xfrm flipV="1">
                <a:off x="4221" y="2313"/>
                <a:ext cx="342" cy="333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Line 86"/>
              <p:cNvSpPr>
                <a:spLocks noChangeShapeType="1"/>
              </p:cNvSpPr>
              <p:nvPr/>
            </p:nvSpPr>
            <p:spPr bwMode="auto">
              <a:xfrm flipV="1">
                <a:off x="4255" y="2359"/>
                <a:ext cx="327" cy="324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Line 87"/>
              <p:cNvSpPr>
                <a:spLocks noChangeShapeType="1"/>
              </p:cNvSpPr>
              <p:nvPr/>
            </p:nvSpPr>
            <p:spPr bwMode="auto">
              <a:xfrm flipV="1">
                <a:off x="4365" y="2451"/>
                <a:ext cx="258" cy="255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" name="Line 88"/>
              <p:cNvSpPr>
                <a:spLocks noChangeShapeType="1"/>
              </p:cNvSpPr>
              <p:nvPr/>
            </p:nvSpPr>
            <p:spPr bwMode="auto">
              <a:xfrm flipV="1">
                <a:off x="4455" y="2556"/>
                <a:ext cx="156" cy="147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2" name="Freeform 89" descr="浅色上对角线"/>
            <p:cNvSpPr/>
            <p:nvPr/>
          </p:nvSpPr>
          <p:spPr bwMode="auto">
            <a:xfrm>
              <a:off x="3952" y="2928"/>
              <a:ext cx="852" cy="488"/>
            </a:xfrm>
            <a:custGeom>
              <a:avLst/>
              <a:gdLst>
                <a:gd name="T0" fmla="*/ 0 w 852"/>
                <a:gd name="T1" fmla="*/ 488 h 488"/>
                <a:gd name="T2" fmla="*/ 1 w 852"/>
                <a:gd name="T3" fmla="*/ 29 h 488"/>
                <a:gd name="T4" fmla="*/ 7 w 852"/>
                <a:gd name="T5" fmla="*/ 0 h 488"/>
                <a:gd name="T6" fmla="*/ 24 w 852"/>
                <a:gd name="T7" fmla="*/ 60 h 488"/>
                <a:gd name="T8" fmla="*/ 56 w 852"/>
                <a:gd name="T9" fmla="*/ 100 h 488"/>
                <a:gd name="T10" fmla="*/ 96 w 852"/>
                <a:gd name="T11" fmla="*/ 140 h 488"/>
                <a:gd name="T12" fmla="*/ 136 w 852"/>
                <a:gd name="T13" fmla="*/ 168 h 488"/>
                <a:gd name="T14" fmla="*/ 168 w 852"/>
                <a:gd name="T15" fmla="*/ 188 h 488"/>
                <a:gd name="T16" fmla="*/ 208 w 852"/>
                <a:gd name="T17" fmla="*/ 212 h 488"/>
                <a:gd name="T18" fmla="*/ 256 w 852"/>
                <a:gd name="T19" fmla="*/ 236 h 488"/>
                <a:gd name="T20" fmla="*/ 312 w 852"/>
                <a:gd name="T21" fmla="*/ 252 h 488"/>
                <a:gd name="T22" fmla="*/ 388 w 852"/>
                <a:gd name="T23" fmla="*/ 264 h 488"/>
                <a:gd name="T24" fmla="*/ 448 w 852"/>
                <a:gd name="T25" fmla="*/ 264 h 488"/>
                <a:gd name="T26" fmla="*/ 516 w 852"/>
                <a:gd name="T27" fmla="*/ 260 h 488"/>
                <a:gd name="T28" fmla="*/ 596 w 852"/>
                <a:gd name="T29" fmla="*/ 240 h 488"/>
                <a:gd name="T30" fmla="*/ 668 w 852"/>
                <a:gd name="T31" fmla="*/ 212 h 488"/>
                <a:gd name="T32" fmla="*/ 720 w 852"/>
                <a:gd name="T33" fmla="*/ 180 h 488"/>
                <a:gd name="T34" fmla="*/ 776 w 852"/>
                <a:gd name="T35" fmla="*/ 132 h 488"/>
                <a:gd name="T36" fmla="*/ 816 w 852"/>
                <a:gd name="T37" fmla="*/ 92 h 488"/>
                <a:gd name="T38" fmla="*/ 852 w 852"/>
                <a:gd name="T39" fmla="*/ 48 h 488"/>
                <a:gd name="T40" fmla="*/ 840 w 852"/>
                <a:gd name="T41" fmla="*/ 24 h 488"/>
                <a:gd name="T42" fmla="*/ 848 w 852"/>
                <a:gd name="T43" fmla="*/ 48 h 488"/>
                <a:gd name="T44" fmla="*/ 848 w 852"/>
                <a:gd name="T45" fmla="*/ 480 h 488"/>
                <a:gd name="T46" fmla="*/ 0 w 852"/>
                <a:gd name="T47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52" h="488">
                  <a:moveTo>
                    <a:pt x="0" y="488"/>
                  </a:moveTo>
                  <a:lnTo>
                    <a:pt x="1" y="29"/>
                  </a:lnTo>
                  <a:lnTo>
                    <a:pt x="7" y="0"/>
                  </a:lnTo>
                  <a:lnTo>
                    <a:pt x="24" y="60"/>
                  </a:lnTo>
                  <a:lnTo>
                    <a:pt x="56" y="100"/>
                  </a:lnTo>
                  <a:lnTo>
                    <a:pt x="96" y="140"/>
                  </a:lnTo>
                  <a:lnTo>
                    <a:pt x="136" y="168"/>
                  </a:lnTo>
                  <a:lnTo>
                    <a:pt x="168" y="188"/>
                  </a:lnTo>
                  <a:lnTo>
                    <a:pt x="208" y="212"/>
                  </a:lnTo>
                  <a:lnTo>
                    <a:pt x="256" y="236"/>
                  </a:lnTo>
                  <a:lnTo>
                    <a:pt x="312" y="252"/>
                  </a:lnTo>
                  <a:lnTo>
                    <a:pt x="388" y="264"/>
                  </a:lnTo>
                  <a:lnTo>
                    <a:pt x="448" y="264"/>
                  </a:lnTo>
                  <a:lnTo>
                    <a:pt x="516" y="260"/>
                  </a:lnTo>
                  <a:lnTo>
                    <a:pt x="596" y="240"/>
                  </a:lnTo>
                  <a:lnTo>
                    <a:pt x="668" y="212"/>
                  </a:lnTo>
                  <a:lnTo>
                    <a:pt x="720" y="180"/>
                  </a:lnTo>
                  <a:lnTo>
                    <a:pt x="776" y="132"/>
                  </a:lnTo>
                  <a:lnTo>
                    <a:pt x="816" y="92"/>
                  </a:lnTo>
                  <a:lnTo>
                    <a:pt x="852" y="48"/>
                  </a:lnTo>
                  <a:lnTo>
                    <a:pt x="840" y="24"/>
                  </a:lnTo>
                  <a:lnTo>
                    <a:pt x="848" y="48"/>
                  </a:lnTo>
                  <a:lnTo>
                    <a:pt x="848" y="480"/>
                  </a:lnTo>
                  <a:lnTo>
                    <a:pt x="0" y="488"/>
                  </a:lnTo>
                  <a:close/>
                </a:path>
              </a:pathLst>
            </a:custGeom>
            <a:pattFill prst="wdDnDiag">
              <a:fgClr>
                <a:srgbClr val="008000"/>
              </a:fgClr>
              <a:bgClr>
                <a:srgbClr val="FFFFFF"/>
              </a:bgClr>
            </a:pattFill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95" descr="浅色下对角线"/>
            <p:cNvSpPr/>
            <p:nvPr/>
          </p:nvSpPr>
          <p:spPr bwMode="auto">
            <a:xfrm>
              <a:off x="3908" y="3412"/>
              <a:ext cx="920" cy="520"/>
            </a:xfrm>
            <a:custGeom>
              <a:avLst/>
              <a:gdLst>
                <a:gd name="T0" fmla="*/ 44 w 920"/>
                <a:gd name="T1" fmla="*/ 140 h 520"/>
                <a:gd name="T2" fmla="*/ 44 w 920"/>
                <a:gd name="T3" fmla="*/ 0 h 520"/>
                <a:gd name="T4" fmla="*/ 888 w 920"/>
                <a:gd name="T5" fmla="*/ 0 h 520"/>
                <a:gd name="T6" fmla="*/ 888 w 920"/>
                <a:gd name="T7" fmla="*/ 144 h 520"/>
                <a:gd name="T8" fmla="*/ 870 w 920"/>
                <a:gd name="T9" fmla="*/ 176 h 520"/>
                <a:gd name="T10" fmla="*/ 672 w 920"/>
                <a:gd name="T11" fmla="*/ 196 h 520"/>
                <a:gd name="T12" fmla="*/ 648 w 920"/>
                <a:gd name="T13" fmla="*/ 208 h 520"/>
                <a:gd name="T14" fmla="*/ 636 w 920"/>
                <a:gd name="T15" fmla="*/ 232 h 520"/>
                <a:gd name="T16" fmla="*/ 636 w 920"/>
                <a:gd name="T17" fmla="*/ 364 h 520"/>
                <a:gd name="T18" fmla="*/ 680 w 920"/>
                <a:gd name="T19" fmla="*/ 392 h 520"/>
                <a:gd name="T20" fmla="*/ 920 w 920"/>
                <a:gd name="T21" fmla="*/ 420 h 520"/>
                <a:gd name="T22" fmla="*/ 920 w 920"/>
                <a:gd name="T23" fmla="*/ 520 h 520"/>
                <a:gd name="T24" fmla="*/ 0 w 920"/>
                <a:gd name="T25" fmla="*/ 520 h 520"/>
                <a:gd name="T26" fmla="*/ 0 w 920"/>
                <a:gd name="T27" fmla="*/ 428 h 520"/>
                <a:gd name="T28" fmla="*/ 12 w 920"/>
                <a:gd name="T29" fmla="*/ 404 h 520"/>
                <a:gd name="T30" fmla="*/ 268 w 920"/>
                <a:gd name="T31" fmla="*/ 384 h 520"/>
                <a:gd name="T32" fmla="*/ 288 w 920"/>
                <a:gd name="T33" fmla="*/ 368 h 520"/>
                <a:gd name="T34" fmla="*/ 288 w 920"/>
                <a:gd name="T35" fmla="*/ 216 h 520"/>
                <a:gd name="T36" fmla="*/ 280 w 920"/>
                <a:gd name="T37" fmla="*/ 188 h 520"/>
                <a:gd name="T38" fmla="*/ 43 w 920"/>
                <a:gd name="T39" fmla="*/ 158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20" h="520">
                  <a:moveTo>
                    <a:pt x="44" y="140"/>
                  </a:moveTo>
                  <a:lnTo>
                    <a:pt x="44" y="0"/>
                  </a:lnTo>
                  <a:lnTo>
                    <a:pt x="888" y="0"/>
                  </a:lnTo>
                  <a:lnTo>
                    <a:pt x="888" y="144"/>
                  </a:lnTo>
                  <a:lnTo>
                    <a:pt x="870" y="176"/>
                  </a:lnTo>
                  <a:lnTo>
                    <a:pt x="672" y="196"/>
                  </a:lnTo>
                  <a:lnTo>
                    <a:pt x="648" y="208"/>
                  </a:lnTo>
                  <a:lnTo>
                    <a:pt x="636" y="232"/>
                  </a:lnTo>
                  <a:lnTo>
                    <a:pt x="636" y="364"/>
                  </a:lnTo>
                  <a:lnTo>
                    <a:pt x="680" y="392"/>
                  </a:lnTo>
                  <a:lnTo>
                    <a:pt x="920" y="420"/>
                  </a:lnTo>
                  <a:lnTo>
                    <a:pt x="920" y="520"/>
                  </a:lnTo>
                  <a:lnTo>
                    <a:pt x="0" y="520"/>
                  </a:lnTo>
                  <a:lnTo>
                    <a:pt x="0" y="428"/>
                  </a:lnTo>
                  <a:lnTo>
                    <a:pt x="12" y="404"/>
                  </a:lnTo>
                  <a:lnTo>
                    <a:pt x="268" y="384"/>
                  </a:lnTo>
                  <a:lnTo>
                    <a:pt x="288" y="368"/>
                  </a:lnTo>
                  <a:lnTo>
                    <a:pt x="288" y="216"/>
                  </a:lnTo>
                  <a:lnTo>
                    <a:pt x="280" y="188"/>
                  </a:lnTo>
                  <a:lnTo>
                    <a:pt x="43" y="158"/>
                  </a:lnTo>
                </a:path>
              </a:pathLst>
            </a:custGeom>
            <a:pattFill prst="wdUpDiag">
              <a:fgClr>
                <a:srgbClr val="FF0000"/>
              </a:fgClr>
              <a:bgClr>
                <a:srgbClr val="FFFFFF"/>
              </a:bgClr>
            </a:pattFill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96"/>
            <p:cNvSpPr/>
            <p:nvPr/>
          </p:nvSpPr>
          <p:spPr bwMode="auto">
            <a:xfrm>
              <a:off x="3908" y="3920"/>
              <a:ext cx="921" cy="276"/>
            </a:xfrm>
            <a:custGeom>
              <a:avLst/>
              <a:gdLst>
                <a:gd name="T0" fmla="*/ 0 w 925"/>
                <a:gd name="T1" fmla="*/ 276 h 276"/>
                <a:gd name="T2" fmla="*/ 0 w 925"/>
                <a:gd name="T3" fmla="*/ 0 h 276"/>
                <a:gd name="T4" fmla="*/ 0 w 925"/>
                <a:gd name="T5" fmla="*/ 36 h 276"/>
                <a:gd name="T6" fmla="*/ 925 w 925"/>
                <a:gd name="T7" fmla="*/ 36 h 276"/>
                <a:gd name="T8" fmla="*/ 925 w 925"/>
                <a:gd name="T9" fmla="*/ 16 h 276"/>
                <a:gd name="T10" fmla="*/ 924 w 925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5" h="276">
                  <a:moveTo>
                    <a:pt x="0" y="276"/>
                  </a:moveTo>
                  <a:lnTo>
                    <a:pt x="0" y="0"/>
                  </a:lnTo>
                  <a:lnTo>
                    <a:pt x="0" y="36"/>
                  </a:lnTo>
                  <a:lnTo>
                    <a:pt x="925" y="36"/>
                  </a:lnTo>
                  <a:lnTo>
                    <a:pt x="925" y="16"/>
                  </a:lnTo>
                  <a:lnTo>
                    <a:pt x="924" y="276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7078B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109"/>
            <p:cNvSpPr>
              <a:spLocks noChangeShapeType="1"/>
            </p:cNvSpPr>
            <p:nvPr/>
          </p:nvSpPr>
          <p:spPr bwMode="auto">
            <a:xfrm>
              <a:off x="3952" y="3528"/>
              <a:ext cx="0" cy="2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110"/>
            <p:cNvSpPr>
              <a:spLocks noChangeShapeType="1"/>
            </p:cNvSpPr>
            <p:nvPr/>
          </p:nvSpPr>
          <p:spPr bwMode="auto">
            <a:xfrm>
              <a:off x="4796" y="3540"/>
              <a:ext cx="0" cy="2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7" name="Group 94"/>
            <p:cNvGrpSpPr/>
            <p:nvPr/>
          </p:nvGrpSpPr>
          <p:grpSpPr bwMode="auto">
            <a:xfrm>
              <a:off x="3952" y="3352"/>
              <a:ext cx="200" cy="116"/>
              <a:chOff x="3952" y="3124"/>
              <a:chExt cx="200" cy="116"/>
            </a:xfrm>
          </p:grpSpPr>
          <p:sp>
            <p:nvSpPr>
              <p:cNvPr id="28" name="Freeform 90" descr="轮廓式菱形"/>
              <p:cNvSpPr/>
              <p:nvPr/>
            </p:nvSpPr>
            <p:spPr bwMode="auto">
              <a:xfrm>
                <a:off x="3952" y="3128"/>
                <a:ext cx="200" cy="112"/>
              </a:xfrm>
              <a:custGeom>
                <a:avLst/>
                <a:gdLst>
                  <a:gd name="T0" fmla="*/ 200 w 200"/>
                  <a:gd name="T1" fmla="*/ 52 h 112"/>
                  <a:gd name="T2" fmla="*/ 168 w 200"/>
                  <a:gd name="T3" fmla="*/ 0 h 112"/>
                  <a:gd name="T4" fmla="*/ 0 w 200"/>
                  <a:gd name="T5" fmla="*/ 0 h 112"/>
                  <a:gd name="T6" fmla="*/ 0 w 200"/>
                  <a:gd name="T7" fmla="*/ 112 h 112"/>
                  <a:gd name="T8" fmla="*/ 176 w 200"/>
                  <a:gd name="T9" fmla="*/ 112 h 112"/>
                  <a:gd name="T10" fmla="*/ 200 w 200"/>
                  <a:gd name="T11" fmla="*/ 52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0" h="112">
                    <a:moveTo>
                      <a:pt x="200" y="52"/>
                    </a:moveTo>
                    <a:lnTo>
                      <a:pt x="168" y="0"/>
                    </a:lnTo>
                    <a:lnTo>
                      <a:pt x="0" y="0"/>
                    </a:lnTo>
                    <a:lnTo>
                      <a:pt x="0" y="112"/>
                    </a:lnTo>
                    <a:lnTo>
                      <a:pt x="176" y="112"/>
                    </a:lnTo>
                    <a:lnTo>
                      <a:pt x="200" y="52"/>
                    </a:lnTo>
                    <a:close/>
                  </a:path>
                </a:pathLst>
              </a:custGeom>
              <a:pattFill prst="openDmnd">
                <a:fgClr>
                  <a:srgbClr val="008000"/>
                </a:fgClr>
                <a:bgClr>
                  <a:srgbClr val="FFFFFF"/>
                </a:bgClr>
              </a:pattFill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Line 91"/>
              <p:cNvSpPr>
                <a:spLocks noChangeShapeType="1"/>
              </p:cNvSpPr>
              <p:nvPr/>
            </p:nvSpPr>
            <p:spPr bwMode="auto">
              <a:xfrm flipV="1">
                <a:off x="4112" y="3124"/>
                <a:ext cx="0" cy="112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92"/>
              <p:cNvSpPr>
                <a:spLocks noChangeShapeType="1"/>
              </p:cNvSpPr>
              <p:nvPr/>
            </p:nvSpPr>
            <p:spPr bwMode="auto">
              <a:xfrm flipH="1">
                <a:off x="3952" y="3148"/>
                <a:ext cx="152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Line 93"/>
              <p:cNvSpPr>
                <a:spLocks noChangeShapeType="1"/>
              </p:cNvSpPr>
              <p:nvPr/>
            </p:nvSpPr>
            <p:spPr bwMode="auto">
              <a:xfrm flipH="1">
                <a:off x="3956" y="3220"/>
                <a:ext cx="152" cy="0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6732270" y="1718945"/>
            <a:ext cx="2018030" cy="4370070"/>
            <a:chOff x="10602" y="2707"/>
            <a:chExt cx="3178" cy="6882"/>
          </a:xfrm>
        </p:grpSpPr>
        <p:sp>
          <p:nvSpPr>
            <p:cNvPr id="44" name="AutoShape 14"/>
            <p:cNvSpPr>
              <a:spLocks noChangeArrowheads="1"/>
            </p:cNvSpPr>
            <p:nvPr/>
          </p:nvSpPr>
          <p:spPr bwMode="auto">
            <a:xfrm>
              <a:off x="10602" y="2707"/>
              <a:ext cx="3178" cy="887"/>
            </a:xfrm>
            <a:prstGeom prst="wedgeRoundRectCallout">
              <a:avLst>
                <a:gd name="adj1" fmla="val 31"/>
                <a:gd name="adj2" fmla="val 139740"/>
                <a:gd name="adj3" fmla="val 16667"/>
              </a:avLst>
            </a:prstGeom>
            <a:noFill/>
            <a:ln w="19050">
              <a:solidFill>
                <a:srgbClr val="000099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7078B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000066"/>
                  </a:solidFill>
                  <a:latin typeface="Times New Roman" panose="02020603050405020304" pitchFamily="18" charset="0"/>
                </a:rPr>
                <a:t>中间平面</a:t>
              </a:r>
              <a:endParaRPr kumimoji="1" lang="zh-CN" altLang="en-US" sz="2400" b="1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auto">
            <a:xfrm flipH="1">
              <a:off x="12161" y="4053"/>
              <a:ext cx="2" cy="553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47" name="Picture 83" descr="1">
            <a:hlinkClick r:id="rId4" action="ppaction://program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" y="1943837"/>
            <a:ext cx="2366962" cy="358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8" name="Group 119"/>
          <p:cNvGrpSpPr/>
          <p:nvPr/>
        </p:nvGrpSpPr>
        <p:grpSpPr bwMode="auto">
          <a:xfrm>
            <a:off x="2167012" y="2783070"/>
            <a:ext cx="3105150" cy="1498600"/>
            <a:chOff x="1008" y="1962"/>
            <a:chExt cx="1956" cy="944"/>
          </a:xfrm>
        </p:grpSpPr>
        <p:grpSp>
          <p:nvGrpSpPr>
            <p:cNvPr id="49" name="Group 16"/>
            <p:cNvGrpSpPr/>
            <p:nvPr/>
          </p:nvGrpSpPr>
          <p:grpSpPr bwMode="auto">
            <a:xfrm rot="-81735">
              <a:off x="1422" y="2505"/>
              <a:ext cx="1438" cy="401"/>
              <a:chOff x="1420" y="2501"/>
              <a:chExt cx="1438" cy="401"/>
            </a:xfrm>
          </p:grpSpPr>
          <p:sp>
            <p:nvSpPr>
              <p:cNvPr id="71" name="Freeform 17" descr="浅色下对角线"/>
              <p:cNvSpPr/>
              <p:nvPr/>
            </p:nvSpPr>
            <p:spPr bwMode="auto">
              <a:xfrm>
                <a:off x="1428" y="2653"/>
                <a:ext cx="1430" cy="249"/>
              </a:xfrm>
              <a:custGeom>
                <a:avLst/>
                <a:gdLst>
                  <a:gd name="T0" fmla="*/ 0 w 1430"/>
                  <a:gd name="T1" fmla="*/ 7 h 249"/>
                  <a:gd name="T2" fmla="*/ 166 w 1430"/>
                  <a:gd name="T3" fmla="*/ 6 h 249"/>
                  <a:gd name="T4" fmla="*/ 252 w 1430"/>
                  <a:gd name="T5" fmla="*/ 224 h 249"/>
                  <a:gd name="T6" fmla="*/ 335 w 1430"/>
                  <a:gd name="T7" fmla="*/ 224 h 249"/>
                  <a:gd name="T8" fmla="*/ 418 w 1430"/>
                  <a:gd name="T9" fmla="*/ 3 h 249"/>
                  <a:gd name="T10" fmla="*/ 492 w 1430"/>
                  <a:gd name="T11" fmla="*/ 3 h 249"/>
                  <a:gd name="T12" fmla="*/ 582 w 1430"/>
                  <a:gd name="T13" fmla="*/ 233 h 249"/>
                  <a:gd name="T14" fmla="*/ 654 w 1430"/>
                  <a:gd name="T15" fmla="*/ 233 h 249"/>
                  <a:gd name="T16" fmla="*/ 738 w 1430"/>
                  <a:gd name="T17" fmla="*/ 0 h 249"/>
                  <a:gd name="T18" fmla="*/ 818 w 1430"/>
                  <a:gd name="T19" fmla="*/ 0 h 249"/>
                  <a:gd name="T20" fmla="*/ 908 w 1430"/>
                  <a:gd name="T21" fmla="*/ 246 h 249"/>
                  <a:gd name="T22" fmla="*/ 974 w 1430"/>
                  <a:gd name="T23" fmla="*/ 247 h 249"/>
                  <a:gd name="T24" fmla="*/ 1074 w 1430"/>
                  <a:gd name="T25" fmla="*/ 13 h 249"/>
                  <a:gd name="T26" fmla="*/ 1145 w 1430"/>
                  <a:gd name="T27" fmla="*/ 13 h 249"/>
                  <a:gd name="T28" fmla="*/ 1228 w 1430"/>
                  <a:gd name="T29" fmla="*/ 249 h 249"/>
                  <a:gd name="T30" fmla="*/ 1311 w 1430"/>
                  <a:gd name="T31" fmla="*/ 249 h 249"/>
                  <a:gd name="T32" fmla="*/ 1401 w 1430"/>
                  <a:gd name="T33" fmla="*/ 22 h 249"/>
                  <a:gd name="T34" fmla="*/ 1430 w 1430"/>
                  <a:gd name="T35" fmla="*/ 19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430" h="249">
                    <a:moveTo>
                      <a:pt x="0" y="7"/>
                    </a:moveTo>
                    <a:lnTo>
                      <a:pt x="166" y="6"/>
                    </a:lnTo>
                    <a:lnTo>
                      <a:pt x="252" y="224"/>
                    </a:lnTo>
                    <a:lnTo>
                      <a:pt x="335" y="224"/>
                    </a:lnTo>
                    <a:lnTo>
                      <a:pt x="418" y="3"/>
                    </a:lnTo>
                    <a:lnTo>
                      <a:pt x="492" y="3"/>
                    </a:lnTo>
                    <a:lnTo>
                      <a:pt x="582" y="233"/>
                    </a:lnTo>
                    <a:lnTo>
                      <a:pt x="654" y="233"/>
                    </a:lnTo>
                    <a:lnTo>
                      <a:pt x="738" y="0"/>
                    </a:lnTo>
                    <a:lnTo>
                      <a:pt x="818" y="0"/>
                    </a:lnTo>
                    <a:lnTo>
                      <a:pt x="908" y="246"/>
                    </a:lnTo>
                    <a:lnTo>
                      <a:pt x="974" y="247"/>
                    </a:lnTo>
                    <a:lnTo>
                      <a:pt x="1074" y="13"/>
                    </a:lnTo>
                    <a:lnTo>
                      <a:pt x="1145" y="13"/>
                    </a:lnTo>
                    <a:lnTo>
                      <a:pt x="1228" y="249"/>
                    </a:lnTo>
                    <a:lnTo>
                      <a:pt x="1311" y="249"/>
                    </a:lnTo>
                    <a:lnTo>
                      <a:pt x="1401" y="22"/>
                    </a:lnTo>
                    <a:lnTo>
                      <a:pt x="1430" y="19"/>
                    </a:lnTo>
                  </a:path>
                </a:pathLst>
              </a:custGeom>
              <a:noFill/>
              <a:ln w="28575" cap="flat" cmpd="sng">
                <a:solidFill>
                  <a:srgbClr val="0000CC"/>
                </a:solidFill>
                <a:prstDash val="solid"/>
                <a:round/>
                <a:headEnd type="none" w="sm" len="lg"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" name="Freeform 18" descr="浅色下对角线"/>
              <p:cNvSpPr/>
              <p:nvPr/>
            </p:nvSpPr>
            <p:spPr bwMode="auto">
              <a:xfrm>
                <a:off x="1420" y="2501"/>
                <a:ext cx="1437" cy="390"/>
              </a:xfrm>
              <a:custGeom>
                <a:avLst/>
                <a:gdLst>
                  <a:gd name="T0" fmla="*/ 0 w 1437"/>
                  <a:gd name="T1" fmla="*/ 147 h 390"/>
                  <a:gd name="T2" fmla="*/ 0 w 1437"/>
                  <a:gd name="T3" fmla="*/ 57 h 390"/>
                  <a:gd name="T4" fmla="*/ 108 w 1437"/>
                  <a:gd name="T5" fmla="*/ 24 h 390"/>
                  <a:gd name="T6" fmla="*/ 219 w 1437"/>
                  <a:gd name="T7" fmla="*/ 3 h 390"/>
                  <a:gd name="T8" fmla="*/ 318 w 1437"/>
                  <a:gd name="T9" fmla="*/ 18 h 390"/>
                  <a:gd name="T10" fmla="*/ 393 w 1437"/>
                  <a:gd name="T11" fmla="*/ 3 h 390"/>
                  <a:gd name="T12" fmla="*/ 507 w 1437"/>
                  <a:gd name="T13" fmla="*/ 21 h 390"/>
                  <a:gd name="T14" fmla="*/ 594 w 1437"/>
                  <a:gd name="T15" fmla="*/ 12 h 390"/>
                  <a:gd name="T16" fmla="*/ 654 w 1437"/>
                  <a:gd name="T17" fmla="*/ 0 h 390"/>
                  <a:gd name="T18" fmla="*/ 690 w 1437"/>
                  <a:gd name="T19" fmla="*/ 15 h 390"/>
                  <a:gd name="T20" fmla="*/ 789 w 1437"/>
                  <a:gd name="T21" fmla="*/ 21 h 390"/>
                  <a:gd name="T22" fmla="*/ 861 w 1437"/>
                  <a:gd name="T23" fmla="*/ 27 h 390"/>
                  <a:gd name="T24" fmla="*/ 1041 w 1437"/>
                  <a:gd name="T25" fmla="*/ 27 h 390"/>
                  <a:gd name="T26" fmla="*/ 1185 w 1437"/>
                  <a:gd name="T27" fmla="*/ 27 h 390"/>
                  <a:gd name="T28" fmla="*/ 1281 w 1437"/>
                  <a:gd name="T29" fmla="*/ 63 h 390"/>
                  <a:gd name="T30" fmla="*/ 1380 w 1437"/>
                  <a:gd name="T31" fmla="*/ 75 h 390"/>
                  <a:gd name="T32" fmla="*/ 1437 w 1437"/>
                  <a:gd name="T33" fmla="*/ 93 h 390"/>
                  <a:gd name="T34" fmla="*/ 1437 w 1437"/>
                  <a:gd name="T35" fmla="*/ 162 h 390"/>
                  <a:gd name="T36" fmla="*/ 1403 w 1437"/>
                  <a:gd name="T37" fmla="*/ 161 h 390"/>
                  <a:gd name="T38" fmla="*/ 1311 w 1437"/>
                  <a:gd name="T39" fmla="*/ 390 h 390"/>
                  <a:gd name="T40" fmla="*/ 1241 w 1437"/>
                  <a:gd name="T41" fmla="*/ 390 h 390"/>
                  <a:gd name="T42" fmla="*/ 1158 w 1437"/>
                  <a:gd name="T43" fmla="*/ 153 h 390"/>
                  <a:gd name="T44" fmla="*/ 1076 w 1437"/>
                  <a:gd name="T45" fmla="*/ 152 h 390"/>
                  <a:gd name="T46" fmla="*/ 974 w 1437"/>
                  <a:gd name="T47" fmla="*/ 386 h 390"/>
                  <a:gd name="T48" fmla="*/ 918 w 1437"/>
                  <a:gd name="T49" fmla="*/ 386 h 390"/>
                  <a:gd name="T50" fmla="*/ 830 w 1437"/>
                  <a:gd name="T51" fmla="*/ 141 h 390"/>
                  <a:gd name="T52" fmla="*/ 740 w 1437"/>
                  <a:gd name="T53" fmla="*/ 141 h 390"/>
                  <a:gd name="T54" fmla="*/ 654 w 1437"/>
                  <a:gd name="T55" fmla="*/ 372 h 390"/>
                  <a:gd name="T56" fmla="*/ 594 w 1437"/>
                  <a:gd name="T57" fmla="*/ 372 h 390"/>
                  <a:gd name="T58" fmla="*/ 504 w 1437"/>
                  <a:gd name="T59" fmla="*/ 146 h 390"/>
                  <a:gd name="T60" fmla="*/ 419 w 1437"/>
                  <a:gd name="T61" fmla="*/ 146 h 390"/>
                  <a:gd name="T62" fmla="*/ 338 w 1437"/>
                  <a:gd name="T63" fmla="*/ 368 h 390"/>
                  <a:gd name="T64" fmla="*/ 266 w 1437"/>
                  <a:gd name="T65" fmla="*/ 368 h 390"/>
                  <a:gd name="T66" fmla="*/ 179 w 1437"/>
                  <a:gd name="T67" fmla="*/ 147 h 390"/>
                  <a:gd name="T68" fmla="*/ 0 w 1437"/>
                  <a:gd name="T69" fmla="*/ 147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37" h="390">
                    <a:moveTo>
                      <a:pt x="0" y="147"/>
                    </a:moveTo>
                    <a:lnTo>
                      <a:pt x="0" y="57"/>
                    </a:lnTo>
                    <a:lnTo>
                      <a:pt x="108" y="24"/>
                    </a:lnTo>
                    <a:lnTo>
                      <a:pt x="219" y="3"/>
                    </a:lnTo>
                    <a:lnTo>
                      <a:pt x="318" y="18"/>
                    </a:lnTo>
                    <a:lnTo>
                      <a:pt x="393" y="3"/>
                    </a:lnTo>
                    <a:lnTo>
                      <a:pt x="507" y="21"/>
                    </a:lnTo>
                    <a:lnTo>
                      <a:pt x="594" y="12"/>
                    </a:lnTo>
                    <a:lnTo>
                      <a:pt x="654" y="0"/>
                    </a:lnTo>
                    <a:lnTo>
                      <a:pt x="690" y="15"/>
                    </a:lnTo>
                    <a:lnTo>
                      <a:pt x="789" y="21"/>
                    </a:lnTo>
                    <a:lnTo>
                      <a:pt x="861" y="27"/>
                    </a:lnTo>
                    <a:lnTo>
                      <a:pt x="1041" y="27"/>
                    </a:lnTo>
                    <a:lnTo>
                      <a:pt x="1185" y="27"/>
                    </a:lnTo>
                    <a:lnTo>
                      <a:pt x="1281" y="63"/>
                    </a:lnTo>
                    <a:lnTo>
                      <a:pt x="1380" y="75"/>
                    </a:lnTo>
                    <a:lnTo>
                      <a:pt x="1437" y="93"/>
                    </a:lnTo>
                    <a:lnTo>
                      <a:pt x="1437" y="162"/>
                    </a:lnTo>
                    <a:lnTo>
                      <a:pt x="1403" y="161"/>
                    </a:lnTo>
                    <a:lnTo>
                      <a:pt x="1311" y="390"/>
                    </a:lnTo>
                    <a:lnTo>
                      <a:pt x="1241" y="390"/>
                    </a:lnTo>
                    <a:lnTo>
                      <a:pt x="1158" y="153"/>
                    </a:lnTo>
                    <a:lnTo>
                      <a:pt x="1076" y="152"/>
                    </a:lnTo>
                    <a:lnTo>
                      <a:pt x="974" y="386"/>
                    </a:lnTo>
                    <a:lnTo>
                      <a:pt x="918" y="386"/>
                    </a:lnTo>
                    <a:lnTo>
                      <a:pt x="830" y="141"/>
                    </a:lnTo>
                    <a:lnTo>
                      <a:pt x="740" y="141"/>
                    </a:lnTo>
                    <a:lnTo>
                      <a:pt x="654" y="372"/>
                    </a:lnTo>
                    <a:lnTo>
                      <a:pt x="594" y="372"/>
                    </a:lnTo>
                    <a:lnTo>
                      <a:pt x="504" y="146"/>
                    </a:lnTo>
                    <a:lnTo>
                      <a:pt x="419" y="146"/>
                    </a:lnTo>
                    <a:lnTo>
                      <a:pt x="338" y="368"/>
                    </a:lnTo>
                    <a:lnTo>
                      <a:pt x="266" y="368"/>
                    </a:lnTo>
                    <a:lnTo>
                      <a:pt x="179" y="147"/>
                    </a:lnTo>
                    <a:lnTo>
                      <a:pt x="0" y="147"/>
                    </a:lnTo>
                    <a:close/>
                  </a:path>
                </a:pathLst>
              </a:custGeom>
              <a:pattFill prst="wdDnDiag">
                <a:fgClr>
                  <a:srgbClr val="C00000"/>
                </a:fgClr>
                <a:bgClr>
                  <a:schemeClr val="bg1"/>
                </a:bgClr>
              </a:pattFill>
              <a:ln w="6350" cap="flat" cmpd="sng">
                <a:solidFill>
                  <a:srgbClr val="C00000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0" name="Group 118"/>
            <p:cNvGrpSpPr/>
            <p:nvPr/>
          </p:nvGrpSpPr>
          <p:grpSpPr bwMode="auto">
            <a:xfrm>
              <a:off x="1008" y="1962"/>
              <a:ext cx="1956" cy="714"/>
              <a:chOff x="1008" y="1962"/>
              <a:chExt cx="1956" cy="714"/>
            </a:xfrm>
          </p:grpSpPr>
          <p:sp>
            <p:nvSpPr>
              <p:cNvPr id="51" name="Freeform 71"/>
              <p:cNvSpPr/>
              <p:nvPr/>
            </p:nvSpPr>
            <p:spPr bwMode="auto">
              <a:xfrm>
                <a:off x="1373" y="2176"/>
                <a:ext cx="55" cy="500"/>
              </a:xfrm>
              <a:custGeom>
                <a:avLst/>
                <a:gdLst>
                  <a:gd name="T0" fmla="*/ 3 w 55"/>
                  <a:gd name="T1" fmla="*/ 0 h 500"/>
                  <a:gd name="T2" fmla="*/ 7 w 55"/>
                  <a:gd name="T3" fmla="*/ 204 h 500"/>
                  <a:gd name="T4" fmla="*/ 43 w 55"/>
                  <a:gd name="T5" fmla="*/ 344 h 500"/>
                  <a:gd name="T6" fmla="*/ 55 w 55"/>
                  <a:gd name="T7" fmla="*/ 50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5" h="500">
                    <a:moveTo>
                      <a:pt x="3" y="0"/>
                    </a:moveTo>
                    <a:cubicBezTo>
                      <a:pt x="4" y="34"/>
                      <a:pt x="0" y="147"/>
                      <a:pt x="7" y="204"/>
                    </a:cubicBezTo>
                    <a:cubicBezTo>
                      <a:pt x="14" y="261"/>
                      <a:pt x="35" y="295"/>
                      <a:pt x="43" y="344"/>
                    </a:cubicBezTo>
                    <a:cubicBezTo>
                      <a:pt x="51" y="393"/>
                      <a:pt x="53" y="468"/>
                      <a:pt x="55" y="500"/>
                    </a:cubicBezTo>
                  </a:path>
                </a:pathLst>
              </a:custGeom>
              <a:noFill/>
              <a:ln w="12700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Freeform 54"/>
              <p:cNvSpPr/>
              <p:nvPr/>
            </p:nvSpPr>
            <p:spPr bwMode="auto">
              <a:xfrm>
                <a:off x="1782" y="1964"/>
                <a:ext cx="174" cy="566"/>
              </a:xfrm>
              <a:custGeom>
                <a:avLst/>
                <a:gdLst>
                  <a:gd name="T0" fmla="*/ 106 w 174"/>
                  <a:gd name="T1" fmla="*/ 554 h 566"/>
                  <a:gd name="T2" fmla="*/ 0 w 174"/>
                  <a:gd name="T3" fmla="*/ 218 h 566"/>
                  <a:gd name="T4" fmla="*/ 84 w 174"/>
                  <a:gd name="T5" fmla="*/ 0 h 566"/>
                  <a:gd name="T6" fmla="*/ 174 w 174"/>
                  <a:gd name="T7" fmla="*/ 566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4" h="566">
                    <a:moveTo>
                      <a:pt x="106" y="554"/>
                    </a:moveTo>
                    <a:lnTo>
                      <a:pt x="0" y="218"/>
                    </a:lnTo>
                    <a:lnTo>
                      <a:pt x="84" y="0"/>
                    </a:lnTo>
                    <a:lnTo>
                      <a:pt x="174" y="566"/>
                    </a:lnTo>
                  </a:path>
                </a:pathLst>
              </a:custGeom>
              <a:noFill/>
              <a:ln w="2857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Freeform 53"/>
              <p:cNvSpPr/>
              <p:nvPr/>
            </p:nvSpPr>
            <p:spPr bwMode="auto">
              <a:xfrm>
                <a:off x="1452" y="1962"/>
                <a:ext cx="180" cy="582"/>
              </a:xfrm>
              <a:custGeom>
                <a:avLst/>
                <a:gdLst>
                  <a:gd name="T0" fmla="*/ 112 w 180"/>
                  <a:gd name="T1" fmla="*/ 582 h 582"/>
                  <a:gd name="T2" fmla="*/ 0 w 180"/>
                  <a:gd name="T3" fmla="*/ 218 h 582"/>
                  <a:gd name="T4" fmla="*/ 84 w 180"/>
                  <a:gd name="T5" fmla="*/ 0 h 582"/>
                  <a:gd name="T6" fmla="*/ 180 w 180"/>
                  <a:gd name="T7" fmla="*/ 566 h 5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0" h="582">
                    <a:moveTo>
                      <a:pt x="112" y="582"/>
                    </a:moveTo>
                    <a:lnTo>
                      <a:pt x="0" y="218"/>
                    </a:lnTo>
                    <a:lnTo>
                      <a:pt x="84" y="0"/>
                    </a:lnTo>
                    <a:lnTo>
                      <a:pt x="180" y="566"/>
                    </a:lnTo>
                  </a:path>
                </a:pathLst>
              </a:custGeom>
              <a:noFill/>
              <a:ln w="2857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Freeform 55"/>
              <p:cNvSpPr/>
              <p:nvPr/>
            </p:nvSpPr>
            <p:spPr bwMode="auto">
              <a:xfrm>
                <a:off x="2102" y="1964"/>
                <a:ext cx="176" cy="570"/>
              </a:xfrm>
              <a:custGeom>
                <a:avLst/>
                <a:gdLst>
                  <a:gd name="T0" fmla="*/ 104 w 176"/>
                  <a:gd name="T1" fmla="*/ 562 h 570"/>
                  <a:gd name="T2" fmla="*/ 0 w 176"/>
                  <a:gd name="T3" fmla="*/ 218 h 570"/>
                  <a:gd name="T4" fmla="*/ 84 w 176"/>
                  <a:gd name="T5" fmla="*/ 0 h 570"/>
                  <a:gd name="T6" fmla="*/ 176 w 176"/>
                  <a:gd name="T7" fmla="*/ 57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6" h="570">
                    <a:moveTo>
                      <a:pt x="104" y="562"/>
                    </a:moveTo>
                    <a:lnTo>
                      <a:pt x="0" y="218"/>
                    </a:lnTo>
                    <a:lnTo>
                      <a:pt x="84" y="0"/>
                    </a:lnTo>
                    <a:lnTo>
                      <a:pt x="176" y="570"/>
                    </a:lnTo>
                  </a:path>
                </a:pathLst>
              </a:custGeom>
              <a:noFill/>
              <a:ln w="2857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Freeform 56"/>
              <p:cNvSpPr/>
              <p:nvPr/>
            </p:nvSpPr>
            <p:spPr bwMode="auto">
              <a:xfrm>
                <a:off x="2422" y="1966"/>
                <a:ext cx="178" cy="570"/>
              </a:xfrm>
              <a:custGeom>
                <a:avLst/>
                <a:gdLst>
                  <a:gd name="T0" fmla="*/ 110 w 178"/>
                  <a:gd name="T1" fmla="*/ 570 h 570"/>
                  <a:gd name="T2" fmla="*/ 0 w 178"/>
                  <a:gd name="T3" fmla="*/ 218 h 570"/>
                  <a:gd name="T4" fmla="*/ 84 w 178"/>
                  <a:gd name="T5" fmla="*/ 0 h 570"/>
                  <a:gd name="T6" fmla="*/ 178 w 178"/>
                  <a:gd name="T7" fmla="*/ 566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8" h="570">
                    <a:moveTo>
                      <a:pt x="110" y="570"/>
                    </a:moveTo>
                    <a:lnTo>
                      <a:pt x="0" y="218"/>
                    </a:lnTo>
                    <a:lnTo>
                      <a:pt x="84" y="0"/>
                    </a:lnTo>
                    <a:lnTo>
                      <a:pt x="178" y="566"/>
                    </a:lnTo>
                  </a:path>
                </a:pathLst>
              </a:custGeom>
              <a:noFill/>
              <a:ln w="2857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Freeform 58"/>
              <p:cNvSpPr/>
              <p:nvPr/>
            </p:nvSpPr>
            <p:spPr bwMode="auto">
              <a:xfrm>
                <a:off x="1614" y="1964"/>
                <a:ext cx="198" cy="572"/>
              </a:xfrm>
              <a:custGeom>
                <a:avLst/>
                <a:gdLst>
                  <a:gd name="T0" fmla="*/ 94 w 198"/>
                  <a:gd name="T1" fmla="*/ 572 h 572"/>
                  <a:gd name="T2" fmla="*/ 0 w 198"/>
                  <a:gd name="T3" fmla="*/ 0 h 572"/>
                  <a:gd name="T4" fmla="*/ 198 w 198"/>
                  <a:gd name="T5" fmla="*/ 56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8" h="572">
                    <a:moveTo>
                      <a:pt x="94" y="572"/>
                    </a:moveTo>
                    <a:lnTo>
                      <a:pt x="0" y="0"/>
                    </a:lnTo>
                    <a:lnTo>
                      <a:pt x="198" y="560"/>
                    </a:lnTo>
                  </a:path>
                </a:pathLst>
              </a:custGeom>
              <a:noFill/>
              <a:ln w="2857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Freeform 59"/>
              <p:cNvSpPr/>
              <p:nvPr/>
            </p:nvSpPr>
            <p:spPr bwMode="auto">
              <a:xfrm>
                <a:off x="1942" y="1964"/>
                <a:ext cx="196" cy="558"/>
              </a:xfrm>
              <a:custGeom>
                <a:avLst/>
                <a:gdLst>
                  <a:gd name="T0" fmla="*/ 92 w 196"/>
                  <a:gd name="T1" fmla="*/ 558 h 558"/>
                  <a:gd name="T2" fmla="*/ 0 w 196"/>
                  <a:gd name="T3" fmla="*/ 0 h 558"/>
                  <a:gd name="T4" fmla="*/ 196 w 196"/>
                  <a:gd name="T5" fmla="*/ 548 h 5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6" h="558">
                    <a:moveTo>
                      <a:pt x="92" y="558"/>
                    </a:moveTo>
                    <a:lnTo>
                      <a:pt x="0" y="0"/>
                    </a:lnTo>
                    <a:lnTo>
                      <a:pt x="196" y="548"/>
                    </a:lnTo>
                  </a:path>
                </a:pathLst>
              </a:custGeom>
              <a:noFill/>
              <a:ln w="2857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Freeform 60"/>
              <p:cNvSpPr/>
              <p:nvPr/>
            </p:nvSpPr>
            <p:spPr bwMode="auto">
              <a:xfrm>
                <a:off x="2262" y="1964"/>
                <a:ext cx="194" cy="556"/>
              </a:xfrm>
              <a:custGeom>
                <a:avLst/>
                <a:gdLst>
                  <a:gd name="T0" fmla="*/ 90 w 194"/>
                  <a:gd name="T1" fmla="*/ 556 h 556"/>
                  <a:gd name="T2" fmla="*/ 0 w 194"/>
                  <a:gd name="T3" fmla="*/ 0 h 556"/>
                  <a:gd name="T4" fmla="*/ 194 w 194"/>
                  <a:gd name="T5" fmla="*/ 556 h 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4" h="556">
                    <a:moveTo>
                      <a:pt x="90" y="556"/>
                    </a:moveTo>
                    <a:lnTo>
                      <a:pt x="0" y="0"/>
                    </a:lnTo>
                    <a:lnTo>
                      <a:pt x="194" y="556"/>
                    </a:lnTo>
                  </a:path>
                </a:pathLst>
              </a:custGeom>
              <a:noFill/>
              <a:ln w="2857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Freeform 61"/>
              <p:cNvSpPr/>
              <p:nvPr/>
            </p:nvSpPr>
            <p:spPr bwMode="auto">
              <a:xfrm>
                <a:off x="2580" y="1966"/>
                <a:ext cx="208" cy="604"/>
              </a:xfrm>
              <a:custGeom>
                <a:avLst/>
                <a:gdLst>
                  <a:gd name="T0" fmla="*/ 100 w 208"/>
                  <a:gd name="T1" fmla="*/ 596 h 604"/>
                  <a:gd name="T2" fmla="*/ 0 w 208"/>
                  <a:gd name="T3" fmla="*/ 0 h 604"/>
                  <a:gd name="T4" fmla="*/ 208 w 208"/>
                  <a:gd name="T5" fmla="*/ 604 h 6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8" h="604">
                    <a:moveTo>
                      <a:pt x="100" y="596"/>
                    </a:moveTo>
                    <a:lnTo>
                      <a:pt x="0" y="0"/>
                    </a:lnTo>
                    <a:lnTo>
                      <a:pt x="208" y="604"/>
                    </a:lnTo>
                  </a:path>
                </a:pathLst>
              </a:custGeom>
              <a:noFill/>
              <a:ln w="2857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Line 62"/>
              <p:cNvSpPr>
                <a:spLocks noChangeShapeType="1"/>
              </p:cNvSpPr>
              <p:nvPr/>
            </p:nvSpPr>
            <p:spPr bwMode="auto">
              <a:xfrm>
                <a:off x="1700" y="2182"/>
                <a:ext cx="88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Line 63"/>
              <p:cNvSpPr>
                <a:spLocks noChangeShapeType="1"/>
              </p:cNvSpPr>
              <p:nvPr/>
            </p:nvSpPr>
            <p:spPr bwMode="auto">
              <a:xfrm>
                <a:off x="2020" y="2180"/>
                <a:ext cx="88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Line 64"/>
              <p:cNvSpPr>
                <a:spLocks noChangeShapeType="1"/>
              </p:cNvSpPr>
              <p:nvPr/>
            </p:nvSpPr>
            <p:spPr bwMode="auto">
              <a:xfrm>
                <a:off x="2340" y="2178"/>
                <a:ext cx="88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Line 65"/>
              <p:cNvSpPr>
                <a:spLocks noChangeShapeType="1"/>
              </p:cNvSpPr>
              <p:nvPr/>
            </p:nvSpPr>
            <p:spPr bwMode="auto">
              <a:xfrm>
                <a:off x="2662" y="2180"/>
                <a:ext cx="88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Line 66"/>
              <p:cNvSpPr>
                <a:spLocks noChangeShapeType="1"/>
              </p:cNvSpPr>
              <p:nvPr/>
            </p:nvSpPr>
            <p:spPr bwMode="auto">
              <a:xfrm>
                <a:off x="1862" y="1962"/>
                <a:ext cx="88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Line 67"/>
              <p:cNvSpPr>
                <a:spLocks noChangeShapeType="1"/>
              </p:cNvSpPr>
              <p:nvPr/>
            </p:nvSpPr>
            <p:spPr bwMode="auto">
              <a:xfrm>
                <a:off x="2182" y="1964"/>
                <a:ext cx="88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Line 68"/>
              <p:cNvSpPr>
                <a:spLocks noChangeShapeType="1"/>
              </p:cNvSpPr>
              <p:nvPr/>
            </p:nvSpPr>
            <p:spPr bwMode="auto">
              <a:xfrm>
                <a:off x="2500" y="1964"/>
                <a:ext cx="88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Line 69"/>
              <p:cNvSpPr>
                <a:spLocks noChangeShapeType="1"/>
              </p:cNvSpPr>
              <p:nvPr/>
            </p:nvSpPr>
            <p:spPr bwMode="auto">
              <a:xfrm>
                <a:off x="1534" y="1964"/>
                <a:ext cx="88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Line 70"/>
              <p:cNvSpPr>
                <a:spLocks noChangeShapeType="1"/>
              </p:cNvSpPr>
              <p:nvPr/>
            </p:nvSpPr>
            <p:spPr bwMode="auto">
              <a:xfrm>
                <a:off x="1370" y="2178"/>
                <a:ext cx="88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Line 72"/>
              <p:cNvSpPr>
                <a:spLocks noChangeShapeType="1"/>
              </p:cNvSpPr>
              <p:nvPr/>
            </p:nvSpPr>
            <p:spPr bwMode="auto">
              <a:xfrm>
                <a:off x="1008" y="2432"/>
                <a:ext cx="1956" cy="0"/>
              </a:xfrm>
              <a:prstGeom prst="line">
                <a:avLst/>
              </a:prstGeom>
              <a:noFill/>
              <a:ln w="12700">
                <a:solidFill>
                  <a:srgbClr val="0000CC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Freeform 73"/>
              <p:cNvSpPr/>
              <p:nvPr/>
            </p:nvSpPr>
            <p:spPr bwMode="auto">
              <a:xfrm>
                <a:off x="2748" y="2172"/>
                <a:ext cx="108" cy="468"/>
              </a:xfrm>
              <a:custGeom>
                <a:avLst/>
                <a:gdLst>
                  <a:gd name="T0" fmla="*/ 0 w 108"/>
                  <a:gd name="T1" fmla="*/ 0 h 468"/>
                  <a:gd name="T2" fmla="*/ 52 w 108"/>
                  <a:gd name="T3" fmla="*/ 72 h 468"/>
                  <a:gd name="T4" fmla="*/ 52 w 108"/>
                  <a:gd name="T5" fmla="*/ 208 h 468"/>
                  <a:gd name="T6" fmla="*/ 108 w 108"/>
                  <a:gd name="T7" fmla="*/ 468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8" h="468">
                    <a:moveTo>
                      <a:pt x="0" y="0"/>
                    </a:moveTo>
                    <a:cubicBezTo>
                      <a:pt x="21" y="18"/>
                      <a:pt x="43" y="37"/>
                      <a:pt x="52" y="72"/>
                    </a:cubicBezTo>
                    <a:cubicBezTo>
                      <a:pt x="61" y="107"/>
                      <a:pt x="43" y="142"/>
                      <a:pt x="52" y="208"/>
                    </a:cubicBezTo>
                    <a:cubicBezTo>
                      <a:pt x="61" y="274"/>
                      <a:pt x="84" y="371"/>
                      <a:pt x="108" y="468"/>
                    </a:cubicBezTo>
                  </a:path>
                </a:pathLst>
              </a:custGeom>
              <a:noFill/>
              <a:ln w="12700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73" name="Group 134"/>
          <p:cNvGrpSpPr/>
          <p:nvPr/>
        </p:nvGrpSpPr>
        <p:grpSpPr bwMode="auto">
          <a:xfrm>
            <a:off x="3506153" y="2046605"/>
            <a:ext cx="746125" cy="1108075"/>
            <a:chOff x="1857" y="1714"/>
            <a:chExt cx="470" cy="698"/>
          </a:xfrm>
        </p:grpSpPr>
        <p:sp>
          <p:nvSpPr>
            <p:cNvPr id="74" name="Rectangle 133"/>
            <p:cNvSpPr>
              <a:spLocks noChangeArrowheads="1"/>
            </p:cNvSpPr>
            <p:nvPr/>
          </p:nvSpPr>
          <p:spPr bwMode="auto">
            <a:xfrm>
              <a:off x="1874" y="1714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800" b="1">
                  <a:solidFill>
                    <a:schemeClr val="folHlink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2α</a:t>
              </a:r>
              <a:endParaRPr kumimoji="1" lang="en-US" altLang="zh-CN" sz="2800" b="1">
                <a:solidFill>
                  <a:schemeClr val="folHlink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5" name="Line 130"/>
            <p:cNvSpPr>
              <a:spLocks noChangeShapeType="1"/>
            </p:cNvSpPr>
            <p:nvPr/>
          </p:nvSpPr>
          <p:spPr bwMode="auto">
            <a:xfrm flipH="1" flipV="1">
              <a:off x="1857" y="1947"/>
              <a:ext cx="162" cy="46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131"/>
            <p:cNvSpPr>
              <a:spLocks noChangeShapeType="1"/>
            </p:cNvSpPr>
            <p:nvPr/>
          </p:nvSpPr>
          <p:spPr bwMode="auto">
            <a:xfrm flipV="1">
              <a:off x="2106" y="1959"/>
              <a:ext cx="168" cy="43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Freeform 132"/>
            <p:cNvSpPr/>
            <p:nvPr/>
          </p:nvSpPr>
          <p:spPr bwMode="auto">
            <a:xfrm>
              <a:off x="1887" y="1983"/>
              <a:ext cx="357" cy="51"/>
            </a:xfrm>
            <a:custGeom>
              <a:avLst/>
              <a:gdLst>
                <a:gd name="T0" fmla="*/ 0 w 357"/>
                <a:gd name="T1" fmla="*/ 33 h 36"/>
                <a:gd name="T2" fmla="*/ 51 w 357"/>
                <a:gd name="T3" fmla="*/ 18 h 36"/>
                <a:gd name="T4" fmla="*/ 117 w 357"/>
                <a:gd name="T5" fmla="*/ 6 h 36"/>
                <a:gd name="T6" fmla="*/ 189 w 357"/>
                <a:gd name="T7" fmla="*/ 0 h 36"/>
                <a:gd name="T8" fmla="*/ 243 w 357"/>
                <a:gd name="T9" fmla="*/ 6 h 36"/>
                <a:gd name="T10" fmla="*/ 291 w 357"/>
                <a:gd name="T11" fmla="*/ 15 h 36"/>
                <a:gd name="T12" fmla="*/ 357 w 357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7" h="36">
                  <a:moveTo>
                    <a:pt x="0" y="33"/>
                  </a:moveTo>
                  <a:cubicBezTo>
                    <a:pt x="16" y="27"/>
                    <a:pt x="32" y="22"/>
                    <a:pt x="51" y="18"/>
                  </a:cubicBezTo>
                  <a:cubicBezTo>
                    <a:pt x="70" y="14"/>
                    <a:pt x="94" y="9"/>
                    <a:pt x="117" y="6"/>
                  </a:cubicBezTo>
                  <a:cubicBezTo>
                    <a:pt x="140" y="3"/>
                    <a:pt x="168" y="0"/>
                    <a:pt x="189" y="0"/>
                  </a:cubicBezTo>
                  <a:cubicBezTo>
                    <a:pt x="210" y="0"/>
                    <a:pt x="226" y="4"/>
                    <a:pt x="243" y="6"/>
                  </a:cubicBezTo>
                  <a:cubicBezTo>
                    <a:pt x="260" y="8"/>
                    <a:pt x="272" y="10"/>
                    <a:pt x="291" y="15"/>
                  </a:cubicBezTo>
                  <a:cubicBezTo>
                    <a:pt x="310" y="20"/>
                    <a:pt x="333" y="28"/>
                    <a:pt x="357" y="36"/>
                  </a:cubicBez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8" name="Group 137"/>
          <p:cNvGrpSpPr/>
          <p:nvPr/>
        </p:nvGrpSpPr>
        <p:grpSpPr bwMode="auto">
          <a:xfrm>
            <a:off x="1658303" y="3478530"/>
            <a:ext cx="4652962" cy="2540000"/>
            <a:chOff x="693" y="2624"/>
            <a:chExt cx="2931" cy="1600"/>
          </a:xfrm>
        </p:grpSpPr>
        <p:grpSp>
          <p:nvGrpSpPr>
            <p:cNvPr id="79" name="Group 122"/>
            <p:cNvGrpSpPr/>
            <p:nvPr/>
          </p:nvGrpSpPr>
          <p:grpSpPr bwMode="auto">
            <a:xfrm>
              <a:off x="820" y="2624"/>
              <a:ext cx="2620" cy="1600"/>
              <a:chOff x="820" y="2624"/>
              <a:chExt cx="2620" cy="1600"/>
            </a:xfrm>
          </p:grpSpPr>
          <p:grpSp>
            <p:nvGrpSpPr>
              <p:cNvPr id="81" name="Group 120"/>
              <p:cNvGrpSpPr/>
              <p:nvPr/>
            </p:nvGrpSpPr>
            <p:grpSpPr bwMode="auto">
              <a:xfrm>
                <a:off x="820" y="2906"/>
                <a:ext cx="2620" cy="1275"/>
                <a:chOff x="820" y="2906"/>
                <a:chExt cx="2620" cy="1275"/>
              </a:xfrm>
            </p:grpSpPr>
            <p:grpSp>
              <p:nvGrpSpPr>
                <p:cNvPr id="106" name="Group 113"/>
                <p:cNvGrpSpPr/>
                <p:nvPr/>
              </p:nvGrpSpPr>
              <p:grpSpPr bwMode="auto">
                <a:xfrm>
                  <a:off x="1492" y="2906"/>
                  <a:ext cx="1430" cy="608"/>
                  <a:chOff x="1492" y="2678"/>
                  <a:chExt cx="1430" cy="608"/>
                </a:xfrm>
              </p:grpSpPr>
              <p:sp>
                <p:nvSpPr>
                  <p:cNvPr id="110" name="Freeform 20"/>
                  <p:cNvSpPr/>
                  <p:nvPr/>
                </p:nvSpPr>
                <p:spPr bwMode="auto">
                  <a:xfrm>
                    <a:off x="1508" y="2678"/>
                    <a:ext cx="1414" cy="388"/>
                  </a:xfrm>
                  <a:custGeom>
                    <a:avLst/>
                    <a:gdLst>
                      <a:gd name="T0" fmla="*/ 52 w 1414"/>
                      <a:gd name="T1" fmla="*/ 126 h 388"/>
                      <a:gd name="T2" fmla="*/ 96 w 1414"/>
                      <a:gd name="T3" fmla="*/ 152 h 388"/>
                      <a:gd name="T4" fmla="*/ 144 w 1414"/>
                      <a:gd name="T5" fmla="*/ 194 h 388"/>
                      <a:gd name="T6" fmla="*/ 182 w 1414"/>
                      <a:gd name="T7" fmla="*/ 244 h 388"/>
                      <a:gd name="T8" fmla="*/ 212 w 1414"/>
                      <a:gd name="T9" fmla="*/ 298 h 388"/>
                      <a:gd name="T10" fmla="*/ 234 w 1414"/>
                      <a:gd name="T11" fmla="*/ 316 h 388"/>
                      <a:gd name="T12" fmla="*/ 300 w 1414"/>
                      <a:gd name="T13" fmla="*/ 296 h 388"/>
                      <a:gd name="T14" fmla="*/ 310 w 1414"/>
                      <a:gd name="T15" fmla="*/ 260 h 388"/>
                      <a:gd name="T16" fmla="*/ 300 w 1414"/>
                      <a:gd name="T17" fmla="*/ 186 h 388"/>
                      <a:gd name="T18" fmla="*/ 312 w 1414"/>
                      <a:gd name="T19" fmla="*/ 96 h 388"/>
                      <a:gd name="T20" fmla="*/ 334 w 1414"/>
                      <a:gd name="T21" fmla="*/ 28 h 388"/>
                      <a:gd name="T22" fmla="*/ 402 w 1414"/>
                      <a:gd name="T23" fmla="*/ 26 h 388"/>
                      <a:gd name="T24" fmla="*/ 444 w 1414"/>
                      <a:gd name="T25" fmla="*/ 80 h 388"/>
                      <a:gd name="T26" fmla="*/ 478 w 1414"/>
                      <a:gd name="T27" fmla="*/ 150 h 388"/>
                      <a:gd name="T28" fmla="*/ 494 w 1414"/>
                      <a:gd name="T29" fmla="*/ 204 h 388"/>
                      <a:gd name="T30" fmla="*/ 502 w 1414"/>
                      <a:gd name="T31" fmla="*/ 242 h 388"/>
                      <a:gd name="T32" fmla="*/ 570 w 1414"/>
                      <a:gd name="T33" fmla="*/ 252 h 388"/>
                      <a:gd name="T34" fmla="*/ 590 w 1414"/>
                      <a:gd name="T35" fmla="*/ 234 h 388"/>
                      <a:gd name="T36" fmla="*/ 596 w 1414"/>
                      <a:gd name="T37" fmla="*/ 192 h 388"/>
                      <a:gd name="T38" fmla="*/ 614 w 1414"/>
                      <a:gd name="T39" fmla="*/ 120 h 388"/>
                      <a:gd name="T40" fmla="*/ 652 w 1414"/>
                      <a:gd name="T41" fmla="*/ 46 h 388"/>
                      <a:gd name="T42" fmla="*/ 684 w 1414"/>
                      <a:gd name="T43" fmla="*/ 0 h 388"/>
                      <a:gd name="T44" fmla="*/ 750 w 1414"/>
                      <a:gd name="T45" fmla="*/ 22 h 388"/>
                      <a:gd name="T46" fmla="*/ 768 w 1414"/>
                      <a:gd name="T47" fmla="*/ 70 h 388"/>
                      <a:gd name="T48" fmla="*/ 782 w 1414"/>
                      <a:gd name="T49" fmla="*/ 134 h 388"/>
                      <a:gd name="T50" fmla="*/ 786 w 1414"/>
                      <a:gd name="T51" fmla="*/ 226 h 388"/>
                      <a:gd name="T52" fmla="*/ 792 w 1414"/>
                      <a:gd name="T53" fmla="*/ 264 h 388"/>
                      <a:gd name="T54" fmla="*/ 866 w 1414"/>
                      <a:gd name="T55" fmla="*/ 280 h 388"/>
                      <a:gd name="T56" fmla="*/ 888 w 1414"/>
                      <a:gd name="T57" fmla="*/ 266 h 388"/>
                      <a:gd name="T58" fmla="*/ 902 w 1414"/>
                      <a:gd name="T59" fmla="*/ 230 h 388"/>
                      <a:gd name="T60" fmla="*/ 940 w 1414"/>
                      <a:gd name="T61" fmla="*/ 168 h 388"/>
                      <a:gd name="T62" fmla="*/ 1010 w 1414"/>
                      <a:gd name="T63" fmla="*/ 96 h 388"/>
                      <a:gd name="T64" fmla="*/ 1095 w 1414"/>
                      <a:gd name="T65" fmla="*/ 79 h 388"/>
                      <a:gd name="T66" fmla="*/ 1098 w 1414"/>
                      <a:gd name="T67" fmla="*/ 180 h 388"/>
                      <a:gd name="T68" fmla="*/ 1078 w 1414"/>
                      <a:gd name="T69" fmla="*/ 294 h 388"/>
                      <a:gd name="T70" fmla="*/ 1068 w 1414"/>
                      <a:gd name="T71" fmla="*/ 342 h 388"/>
                      <a:gd name="T72" fmla="*/ 1120 w 1414"/>
                      <a:gd name="T73" fmla="*/ 382 h 388"/>
                      <a:gd name="T74" fmla="*/ 1150 w 1414"/>
                      <a:gd name="T75" fmla="*/ 382 h 388"/>
                      <a:gd name="T76" fmla="*/ 1186 w 1414"/>
                      <a:gd name="T77" fmla="*/ 346 h 388"/>
                      <a:gd name="T78" fmla="*/ 1236 w 1414"/>
                      <a:gd name="T79" fmla="*/ 300 h 388"/>
                      <a:gd name="T80" fmla="*/ 1292 w 1414"/>
                      <a:gd name="T81" fmla="*/ 266 h 388"/>
                      <a:gd name="T82" fmla="*/ 1383 w 1414"/>
                      <a:gd name="T83" fmla="*/ 231 h 3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414" h="388">
                        <a:moveTo>
                          <a:pt x="0" y="152"/>
                        </a:moveTo>
                        <a:lnTo>
                          <a:pt x="52" y="126"/>
                        </a:lnTo>
                        <a:lnTo>
                          <a:pt x="74" y="136"/>
                        </a:lnTo>
                        <a:lnTo>
                          <a:pt x="96" y="152"/>
                        </a:lnTo>
                        <a:lnTo>
                          <a:pt x="120" y="172"/>
                        </a:lnTo>
                        <a:lnTo>
                          <a:pt x="144" y="194"/>
                        </a:lnTo>
                        <a:lnTo>
                          <a:pt x="164" y="216"/>
                        </a:lnTo>
                        <a:lnTo>
                          <a:pt x="182" y="244"/>
                        </a:lnTo>
                        <a:lnTo>
                          <a:pt x="202" y="276"/>
                        </a:lnTo>
                        <a:lnTo>
                          <a:pt x="212" y="298"/>
                        </a:lnTo>
                        <a:lnTo>
                          <a:pt x="222" y="310"/>
                        </a:lnTo>
                        <a:lnTo>
                          <a:pt x="234" y="316"/>
                        </a:lnTo>
                        <a:lnTo>
                          <a:pt x="250" y="316"/>
                        </a:lnTo>
                        <a:lnTo>
                          <a:pt x="300" y="296"/>
                        </a:lnTo>
                        <a:lnTo>
                          <a:pt x="312" y="280"/>
                        </a:lnTo>
                        <a:lnTo>
                          <a:pt x="310" y="260"/>
                        </a:lnTo>
                        <a:lnTo>
                          <a:pt x="304" y="226"/>
                        </a:lnTo>
                        <a:lnTo>
                          <a:pt x="300" y="186"/>
                        </a:lnTo>
                        <a:lnTo>
                          <a:pt x="304" y="142"/>
                        </a:lnTo>
                        <a:lnTo>
                          <a:pt x="312" y="96"/>
                        </a:lnTo>
                        <a:lnTo>
                          <a:pt x="322" y="64"/>
                        </a:lnTo>
                        <a:lnTo>
                          <a:pt x="334" y="28"/>
                        </a:lnTo>
                        <a:lnTo>
                          <a:pt x="388" y="16"/>
                        </a:lnTo>
                        <a:lnTo>
                          <a:pt x="402" y="26"/>
                        </a:lnTo>
                        <a:lnTo>
                          <a:pt x="424" y="54"/>
                        </a:lnTo>
                        <a:lnTo>
                          <a:pt x="444" y="80"/>
                        </a:lnTo>
                        <a:lnTo>
                          <a:pt x="464" y="116"/>
                        </a:lnTo>
                        <a:lnTo>
                          <a:pt x="478" y="150"/>
                        </a:lnTo>
                        <a:lnTo>
                          <a:pt x="488" y="180"/>
                        </a:lnTo>
                        <a:lnTo>
                          <a:pt x="494" y="204"/>
                        </a:lnTo>
                        <a:lnTo>
                          <a:pt x="494" y="226"/>
                        </a:lnTo>
                        <a:lnTo>
                          <a:pt x="502" y="242"/>
                        </a:lnTo>
                        <a:lnTo>
                          <a:pt x="516" y="252"/>
                        </a:lnTo>
                        <a:lnTo>
                          <a:pt x="570" y="252"/>
                        </a:lnTo>
                        <a:lnTo>
                          <a:pt x="580" y="244"/>
                        </a:lnTo>
                        <a:lnTo>
                          <a:pt x="590" y="234"/>
                        </a:lnTo>
                        <a:lnTo>
                          <a:pt x="594" y="216"/>
                        </a:lnTo>
                        <a:lnTo>
                          <a:pt x="596" y="192"/>
                        </a:lnTo>
                        <a:lnTo>
                          <a:pt x="602" y="154"/>
                        </a:lnTo>
                        <a:lnTo>
                          <a:pt x="614" y="120"/>
                        </a:lnTo>
                        <a:lnTo>
                          <a:pt x="638" y="72"/>
                        </a:lnTo>
                        <a:lnTo>
                          <a:pt x="652" y="46"/>
                        </a:lnTo>
                        <a:lnTo>
                          <a:pt x="672" y="14"/>
                        </a:lnTo>
                        <a:lnTo>
                          <a:pt x="684" y="0"/>
                        </a:lnTo>
                        <a:lnTo>
                          <a:pt x="736" y="2"/>
                        </a:lnTo>
                        <a:lnTo>
                          <a:pt x="750" y="22"/>
                        </a:lnTo>
                        <a:lnTo>
                          <a:pt x="758" y="44"/>
                        </a:lnTo>
                        <a:lnTo>
                          <a:pt x="768" y="70"/>
                        </a:lnTo>
                        <a:lnTo>
                          <a:pt x="776" y="104"/>
                        </a:lnTo>
                        <a:lnTo>
                          <a:pt x="782" y="134"/>
                        </a:lnTo>
                        <a:lnTo>
                          <a:pt x="786" y="184"/>
                        </a:lnTo>
                        <a:lnTo>
                          <a:pt x="786" y="226"/>
                        </a:lnTo>
                        <a:lnTo>
                          <a:pt x="786" y="252"/>
                        </a:lnTo>
                        <a:lnTo>
                          <a:pt x="792" y="264"/>
                        </a:lnTo>
                        <a:lnTo>
                          <a:pt x="810" y="268"/>
                        </a:lnTo>
                        <a:lnTo>
                          <a:pt x="866" y="280"/>
                        </a:lnTo>
                        <a:lnTo>
                          <a:pt x="878" y="276"/>
                        </a:lnTo>
                        <a:lnTo>
                          <a:pt x="888" y="266"/>
                        </a:lnTo>
                        <a:lnTo>
                          <a:pt x="894" y="256"/>
                        </a:lnTo>
                        <a:lnTo>
                          <a:pt x="902" y="230"/>
                        </a:lnTo>
                        <a:lnTo>
                          <a:pt x="914" y="208"/>
                        </a:lnTo>
                        <a:lnTo>
                          <a:pt x="940" y="168"/>
                        </a:lnTo>
                        <a:lnTo>
                          <a:pt x="968" y="136"/>
                        </a:lnTo>
                        <a:lnTo>
                          <a:pt x="1010" y="96"/>
                        </a:lnTo>
                        <a:lnTo>
                          <a:pt x="1053" y="64"/>
                        </a:lnTo>
                        <a:lnTo>
                          <a:pt x="1095" y="79"/>
                        </a:lnTo>
                        <a:lnTo>
                          <a:pt x="1094" y="126"/>
                        </a:lnTo>
                        <a:lnTo>
                          <a:pt x="1098" y="180"/>
                        </a:lnTo>
                        <a:lnTo>
                          <a:pt x="1090" y="250"/>
                        </a:lnTo>
                        <a:lnTo>
                          <a:pt x="1078" y="294"/>
                        </a:lnTo>
                        <a:lnTo>
                          <a:pt x="1068" y="326"/>
                        </a:lnTo>
                        <a:lnTo>
                          <a:pt x="1068" y="342"/>
                        </a:lnTo>
                        <a:lnTo>
                          <a:pt x="1074" y="358"/>
                        </a:lnTo>
                        <a:lnTo>
                          <a:pt x="1120" y="382"/>
                        </a:lnTo>
                        <a:lnTo>
                          <a:pt x="1136" y="388"/>
                        </a:lnTo>
                        <a:lnTo>
                          <a:pt x="1150" y="382"/>
                        </a:lnTo>
                        <a:lnTo>
                          <a:pt x="1164" y="370"/>
                        </a:lnTo>
                        <a:lnTo>
                          <a:pt x="1186" y="346"/>
                        </a:lnTo>
                        <a:lnTo>
                          <a:pt x="1204" y="328"/>
                        </a:lnTo>
                        <a:lnTo>
                          <a:pt x="1236" y="300"/>
                        </a:lnTo>
                        <a:lnTo>
                          <a:pt x="1268" y="280"/>
                        </a:lnTo>
                        <a:lnTo>
                          <a:pt x="1292" y="266"/>
                        </a:lnTo>
                        <a:lnTo>
                          <a:pt x="1338" y="244"/>
                        </a:lnTo>
                        <a:lnTo>
                          <a:pt x="1383" y="231"/>
                        </a:lnTo>
                        <a:lnTo>
                          <a:pt x="1414" y="261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17078B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" name="Freeform 21"/>
                  <p:cNvSpPr/>
                  <p:nvPr/>
                </p:nvSpPr>
                <p:spPr bwMode="auto">
                  <a:xfrm>
                    <a:off x="1492" y="2832"/>
                    <a:ext cx="1428" cy="454"/>
                  </a:xfrm>
                  <a:custGeom>
                    <a:avLst/>
                    <a:gdLst>
                      <a:gd name="T0" fmla="*/ 0 w 1428"/>
                      <a:gd name="T1" fmla="*/ 0 h 454"/>
                      <a:gd name="T2" fmla="*/ 56 w 1428"/>
                      <a:gd name="T3" fmla="*/ 66 h 454"/>
                      <a:gd name="T4" fmla="*/ 112 w 1428"/>
                      <a:gd name="T5" fmla="*/ 134 h 454"/>
                      <a:gd name="T6" fmla="*/ 196 w 1428"/>
                      <a:gd name="T7" fmla="*/ 214 h 454"/>
                      <a:gd name="T8" fmla="*/ 288 w 1428"/>
                      <a:gd name="T9" fmla="*/ 270 h 454"/>
                      <a:gd name="T10" fmla="*/ 414 w 1428"/>
                      <a:gd name="T11" fmla="*/ 350 h 454"/>
                      <a:gd name="T12" fmla="*/ 596 w 1428"/>
                      <a:gd name="T13" fmla="*/ 426 h 454"/>
                      <a:gd name="T14" fmla="*/ 816 w 1428"/>
                      <a:gd name="T15" fmla="*/ 450 h 454"/>
                      <a:gd name="T16" fmla="*/ 1086 w 1428"/>
                      <a:gd name="T17" fmla="*/ 446 h 454"/>
                      <a:gd name="T18" fmla="*/ 1210 w 1428"/>
                      <a:gd name="T19" fmla="*/ 400 h 454"/>
                      <a:gd name="T20" fmla="*/ 1326 w 1428"/>
                      <a:gd name="T21" fmla="*/ 302 h 454"/>
                      <a:gd name="T22" fmla="*/ 1392 w 1428"/>
                      <a:gd name="T23" fmla="*/ 204 h 454"/>
                      <a:gd name="T24" fmla="*/ 1408 w 1428"/>
                      <a:gd name="T25" fmla="*/ 144 h 454"/>
                      <a:gd name="T26" fmla="*/ 1428 w 1428"/>
                      <a:gd name="T27" fmla="*/ 112 h 4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428" h="454">
                        <a:moveTo>
                          <a:pt x="0" y="0"/>
                        </a:moveTo>
                        <a:cubicBezTo>
                          <a:pt x="9" y="11"/>
                          <a:pt x="37" y="44"/>
                          <a:pt x="56" y="66"/>
                        </a:cubicBezTo>
                        <a:cubicBezTo>
                          <a:pt x="75" y="88"/>
                          <a:pt x="89" y="109"/>
                          <a:pt x="112" y="134"/>
                        </a:cubicBezTo>
                        <a:cubicBezTo>
                          <a:pt x="135" y="159"/>
                          <a:pt x="167" y="191"/>
                          <a:pt x="196" y="214"/>
                        </a:cubicBezTo>
                        <a:cubicBezTo>
                          <a:pt x="225" y="237"/>
                          <a:pt x="252" y="247"/>
                          <a:pt x="288" y="270"/>
                        </a:cubicBezTo>
                        <a:cubicBezTo>
                          <a:pt x="324" y="293"/>
                          <a:pt x="363" y="324"/>
                          <a:pt x="414" y="350"/>
                        </a:cubicBezTo>
                        <a:cubicBezTo>
                          <a:pt x="465" y="376"/>
                          <a:pt x="529" y="409"/>
                          <a:pt x="596" y="426"/>
                        </a:cubicBezTo>
                        <a:cubicBezTo>
                          <a:pt x="663" y="443"/>
                          <a:pt x="734" y="447"/>
                          <a:pt x="816" y="450"/>
                        </a:cubicBezTo>
                        <a:cubicBezTo>
                          <a:pt x="898" y="453"/>
                          <a:pt x="1020" y="454"/>
                          <a:pt x="1086" y="446"/>
                        </a:cubicBezTo>
                        <a:cubicBezTo>
                          <a:pt x="1152" y="438"/>
                          <a:pt x="1170" y="424"/>
                          <a:pt x="1210" y="400"/>
                        </a:cubicBezTo>
                        <a:cubicBezTo>
                          <a:pt x="1250" y="376"/>
                          <a:pt x="1296" y="335"/>
                          <a:pt x="1326" y="302"/>
                        </a:cubicBezTo>
                        <a:cubicBezTo>
                          <a:pt x="1356" y="269"/>
                          <a:pt x="1378" y="230"/>
                          <a:pt x="1392" y="204"/>
                        </a:cubicBezTo>
                        <a:cubicBezTo>
                          <a:pt x="1406" y="178"/>
                          <a:pt x="1402" y="159"/>
                          <a:pt x="1408" y="144"/>
                        </a:cubicBezTo>
                        <a:cubicBezTo>
                          <a:pt x="1414" y="129"/>
                          <a:pt x="1424" y="119"/>
                          <a:pt x="1428" y="112"/>
                        </a:cubicBezTo>
                      </a:path>
                    </a:pathLst>
                  </a:custGeom>
                  <a:noFill/>
                  <a:ln w="12700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17078B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2820" y="2936"/>
                    <a:ext cx="78" cy="78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2762" y="2972"/>
                    <a:ext cx="88" cy="100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2702" y="3022"/>
                    <a:ext cx="108" cy="116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642" y="3072"/>
                    <a:ext cx="118" cy="122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2552" y="2748"/>
                    <a:ext cx="48" cy="58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7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2490" y="2802"/>
                    <a:ext cx="108" cy="118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8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2438" y="2864"/>
                    <a:ext cx="140" cy="136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9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2400" y="2936"/>
                    <a:ext cx="294" cy="306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0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2176" y="2698"/>
                    <a:ext cx="110" cy="112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1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2134" y="2770"/>
                    <a:ext cx="482" cy="500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2104" y="2860"/>
                    <a:ext cx="332" cy="332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2064" y="2934"/>
                    <a:ext cx="206" cy="216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4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1842" y="2712"/>
                    <a:ext cx="154" cy="154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5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1818" y="2806"/>
                    <a:ext cx="314" cy="326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6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1824" y="2952"/>
                    <a:ext cx="188" cy="196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7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1556" y="2808"/>
                    <a:ext cx="344" cy="366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7" name="Arc 50"/>
                <p:cNvSpPr/>
                <p:nvPr/>
              </p:nvSpPr>
              <p:spPr bwMode="auto">
                <a:xfrm>
                  <a:off x="953" y="3009"/>
                  <a:ext cx="2352" cy="1168"/>
                </a:xfrm>
                <a:custGeom>
                  <a:avLst/>
                  <a:gdLst>
                    <a:gd name="G0" fmla="+- 21598 0 0"/>
                    <a:gd name="G1" fmla="+- 21600 0 0"/>
                    <a:gd name="G2" fmla="+- 21600 0 0"/>
                    <a:gd name="T0" fmla="*/ 0 w 43198"/>
                    <a:gd name="T1" fmla="*/ 21289 h 21600"/>
                    <a:gd name="T2" fmla="*/ 43198 w 43198"/>
                    <a:gd name="T3" fmla="*/ 21600 h 21600"/>
                    <a:gd name="T4" fmla="*/ 21598 w 43198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98" h="21600" fill="none" extrusionOk="0">
                      <a:moveTo>
                        <a:pt x="0" y="21289"/>
                      </a:moveTo>
                      <a:cubicBezTo>
                        <a:pt x="170" y="9482"/>
                        <a:pt x="9789" y="-1"/>
                        <a:pt x="21598" y="0"/>
                      </a:cubicBezTo>
                      <a:cubicBezTo>
                        <a:pt x="33527" y="0"/>
                        <a:pt x="43198" y="9670"/>
                        <a:pt x="43198" y="21600"/>
                      </a:cubicBezTo>
                    </a:path>
                    <a:path w="43198" h="21600" stroke="0" extrusionOk="0">
                      <a:moveTo>
                        <a:pt x="0" y="21289"/>
                      </a:moveTo>
                      <a:cubicBezTo>
                        <a:pt x="170" y="9482"/>
                        <a:pt x="9789" y="-1"/>
                        <a:pt x="21598" y="0"/>
                      </a:cubicBezTo>
                      <a:cubicBezTo>
                        <a:pt x="33527" y="0"/>
                        <a:pt x="43198" y="9670"/>
                        <a:pt x="43198" y="21600"/>
                      </a:cubicBezTo>
                      <a:lnTo>
                        <a:pt x="21598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8000"/>
                  </a:solidFill>
                  <a:prstDash val="lgDash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7078B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" name="Arc 51"/>
                <p:cNvSpPr/>
                <p:nvPr/>
              </p:nvSpPr>
              <p:spPr bwMode="auto">
                <a:xfrm>
                  <a:off x="2120" y="3156"/>
                  <a:ext cx="1320" cy="1025"/>
                </a:xfrm>
                <a:custGeom>
                  <a:avLst/>
                  <a:gdLst>
                    <a:gd name="G0" fmla="+- 0 0 0"/>
                    <a:gd name="G1" fmla="+- 17248 0 0"/>
                    <a:gd name="G2" fmla="+- 21600 0 0"/>
                    <a:gd name="T0" fmla="*/ 13002 w 21600"/>
                    <a:gd name="T1" fmla="*/ 0 h 17248"/>
                    <a:gd name="T2" fmla="*/ 21600 w 21600"/>
                    <a:gd name="T3" fmla="*/ 17248 h 17248"/>
                    <a:gd name="T4" fmla="*/ 0 w 21600"/>
                    <a:gd name="T5" fmla="*/ 17248 h 172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17248" fill="none" extrusionOk="0">
                      <a:moveTo>
                        <a:pt x="13002" y="-1"/>
                      </a:moveTo>
                      <a:cubicBezTo>
                        <a:pt x="18416" y="4081"/>
                        <a:pt x="21600" y="10467"/>
                        <a:pt x="21600" y="17248"/>
                      </a:cubicBezTo>
                    </a:path>
                    <a:path w="21600" h="17248" stroke="0" extrusionOk="0">
                      <a:moveTo>
                        <a:pt x="13002" y="-1"/>
                      </a:moveTo>
                      <a:cubicBezTo>
                        <a:pt x="18416" y="4081"/>
                        <a:pt x="21600" y="10467"/>
                        <a:pt x="21600" y="17248"/>
                      </a:cubicBezTo>
                      <a:lnTo>
                        <a:pt x="0" y="17248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8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7078B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" name="Arc 52"/>
                <p:cNvSpPr/>
                <p:nvPr/>
              </p:nvSpPr>
              <p:spPr bwMode="auto">
                <a:xfrm flipH="1">
                  <a:off x="820" y="3047"/>
                  <a:ext cx="1316" cy="1133"/>
                </a:xfrm>
                <a:custGeom>
                  <a:avLst/>
                  <a:gdLst>
                    <a:gd name="G0" fmla="+- 0 0 0"/>
                    <a:gd name="G1" fmla="+- 19061 0 0"/>
                    <a:gd name="G2" fmla="+- 21600 0 0"/>
                    <a:gd name="T0" fmla="*/ 10161 w 21600"/>
                    <a:gd name="T1" fmla="*/ 0 h 19061"/>
                    <a:gd name="T2" fmla="*/ 21600 w 21600"/>
                    <a:gd name="T3" fmla="*/ 19061 h 19061"/>
                    <a:gd name="T4" fmla="*/ 0 w 21600"/>
                    <a:gd name="T5" fmla="*/ 19061 h 190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19061" fill="none" extrusionOk="0">
                      <a:moveTo>
                        <a:pt x="10160" y="0"/>
                      </a:moveTo>
                      <a:cubicBezTo>
                        <a:pt x="17201" y="3753"/>
                        <a:pt x="21600" y="11082"/>
                        <a:pt x="21600" y="19061"/>
                      </a:cubicBezTo>
                    </a:path>
                    <a:path w="21600" h="19061" stroke="0" extrusionOk="0">
                      <a:moveTo>
                        <a:pt x="10160" y="0"/>
                      </a:moveTo>
                      <a:cubicBezTo>
                        <a:pt x="17201" y="3753"/>
                        <a:pt x="21600" y="11082"/>
                        <a:pt x="21600" y="19061"/>
                      </a:cubicBezTo>
                      <a:lnTo>
                        <a:pt x="0" y="19061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8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7078B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2" name="Group 121"/>
              <p:cNvGrpSpPr/>
              <p:nvPr/>
            </p:nvGrpSpPr>
            <p:grpSpPr bwMode="auto">
              <a:xfrm>
                <a:off x="1312" y="2624"/>
                <a:ext cx="1626" cy="1600"/>
                <a:chOff x="1312" y="2624"/>
                <a:chExt cx="1626" cy="1600"/>
              </a:xfrm>
            </p:grpSpPr>
            <p:grpSp>
              <p:nvGrpSpPr>
                <p:cNvPr id="83" name="Group 112"/>
                <p:cNvGrpSpPr/>
                <p:nvPr/>
              </p:nvGrpSpPr>
              <p:grpSpPr bwMode="auto">
                <a:xfrm>
                  <a:off x="1960" y="3374"/>
                  <a:ext cx="528" cy="138"/>
                  <a:chOff x="1960" y="3146"/>
                  <a:chExt cx="528" cy="138"/>
                </a:xfrm>
              </p:grpSpPr>
              <p:sp>
                <p:nvSpPr>
                  <p:cNvPr id="99" name="Line 3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60" y="3150"/>
                    <a:ext cx="58" cy="60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" name="Line 3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024" y="3146"/>
                    <a:ext cx="88" cy="90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" name="Line 4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094" y="3150"/>
                    <a:ext cx="110" cy="104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" name="Line 4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76" y="3164"/>
                    <a:ext cx="108" cy="110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" name="Line 4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260" y="3180"/>
                    <a:ext cx="96" cy="98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" name="Line 4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54" y="3204"/>
                    <a:ext cx="74" cy="76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" name="Line 4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46" y="3238"/>
                    <a:ext cx="42" cy="46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4" name="Freeform 46"/>
                <p:cNvSpPr/>
                <p:nvPr/>
              </p:nvSpPr>
              <p:spPr bwMode="auto">
                <a:xfrm>
                  <a:off x="1875" y="3885"/>
                  <a:ext cx="504" cy="297"/>
                </a:xfrm>
                <a:custGeom>
                  <a:avLst/>
                  <a:gdLst>
                    <a:gd name="T0" fmla="*/ 0 w 504"/>
                    <a:gd name="T1" fmla="*/ 291 h 297"/>
                    <a:gd name="T2" fmla="*/ 6 w 504"/>
                    <a:gd name="T3" fmla="*/ 252 h 297"/>
                    <a:gd name="T4" fmla="*/ 12 w 504"/>
                    <a:gd name="T5" fmla="*/ 216 h 297"/>
                    <a:gd name="T6" fmla="*/ 33 w 504"/>
                    <a:gd name="T7" fmla="*/ 168 h 297"/>
                    <a:gd name="T8" fmla="*/ 75 w 504"/>
                    <a:gd name="T9" fmla="*/ 114 h 297"/>
                    <a:gd name="T10" fmla="*/ 102 w 504"/>
                    <a:gd name="T11" fmla="*/ 87 h 297"/>
                    <a:gd name="T12" fmla="*/ 153 w 504"/>
                    <a:gd name="T13" fmla="*/ 60 h 297"/>
                    <a:gd name="T14" fmla="*/ 177 w 504"/>
                    <a:gd name="T15" fmla="*/ 51 h 297"/>
                    <a:gd name="T16" fmla="*/ 180 w 504"/>
                    <a:gd name="T17" fmla="*/ 0 h 297"/>
                    <a:gd name="T18" fmla="*/ 318 w 504"/>
                    <a:gd name="T19" fmla="*/ 0 h 297"/>
                    <a:gd name="T20" fmla="*/ 318 w 504"/>
                    <a:gd name="T21" fmla="*/ 51 h 297"/>
                    <a:gd name="T22" fmla="*/ 342 w 504"/>
                    <a:gd name="T23" fmla="*/ 63 h 297"/>
                    <a:gd name="T24" fmla="*/ 384 w 504"/>
                    <a:gd name="T25" fmla="*/ 84 h 297"/>
                    <a:gd name="T26" fmla="*/ 429 w 504"/>
                    <a:gd name="T27" fmla="*/ 120 h 297"/>
                    <a:gd name="T28" fmla="*/ 453 w 504"/>
                    <a:gd name="T29" fmla="*/ 147 h 297"/>
                    <a:gd name="T30" fmla="*/ 486 w 504"/>
                    <a:gd name="T31" fmla="*/ 207 h 297"/>
                    <a:gd name="T32" fmla="*/ 495 w 504"/>
                    <a:gd name="T33" fmla="*/ 249 h 297"/>
                    <a:gd name="T34" fmla="*/ 504 w 504"/>
                    <a:gd name="T35" fmla="*/ 297 h 2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504" h="297">
                      <a:moveTo>
                        <a:pt x="0" y="291"/>
                      </a:moveTo>
                      <a:lnTo>
                        <a:pt x="6" y="252"/>
                      </a:lnTo>
                      <a:lnTo>
                        <a:pt x="12" y="216"/>
                      </a:lnTo>
                      <a:lnTo>
                        <a:pt x="33" y="168"/>
                      </a:lnTo>
                      <a:lnTo>
                        <a:pt x="75" y="114"/>
                      </a:lnTo>
                      <a:lnTo>
                        <a:pt x="102" y="87"/>
                      </a:lnTo>
                      <a:lnTo>
                        <a:pt x="153" y="60"/>
                      </a:lnTo>
                      <a:lnTo>
                        <a:pt x="177" y="51"/>
                      </a:lnTo>
                      <a:lnTo>
                        <a:pt x="180" y="0"/>
                      </a:lnTo>
                      <a:lnTo>
                        <a:pt x="318" y="0"/>
                      </a:lnTo>
                      <a:lnTo>
                        <a:pt x="318" y="51"/>
                      </a:lnTo>
                      <a:lnTo>
                        <a:pt x="342" y="63"/>
                      </a:lnTo>
                      <a:lnTo>
                        <a:pt x="384" y="84"/>
                      </a:lnTo>
                      <a:lnTo>
                        <a:pt x="429" y="120"/>
                      </a:lnTo>
                      <a:lnTo>
                        <a:pt x="453" y="147"/>
                      </a:lnTo>
                      <a:lnTo>
                        <a:pt x="486" y="207"/>
                      </a:lnTo>
                      <a:lnTo>
                        <a:pt x="495" y="249"/>
                      </a:lnTo>
                      <a:lnTo>
                        <a:pt x="504" y="297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7078B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5" name="Arc 47"/>
                <p:cNvSpPr/>
                <p:nvPr/>
              </p:nvSpPr>
              <p:spPr bwMode="auto">
                <a:xfrm>
                  <a:off x="1732" y="3787"/>
                  <a:ext cx="792" cy="396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0 w 43200"/>
                    <a:gd name="T1" fmla="*/ 21600 h 21600"/>
                    <a:gd name="T2" fmla="*/ 43200 w 43200"/>
                    <a:gd name="T3" fmla="*/ 21600 h 21600"/>
                    <a:gd name="T4" fmla="*/ 21600 w 432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21600" fill="none" extrusionOk="0">
                      <a:moveTo>
                        <a:pt x="0" y="21599"/>
                      </a:move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</a:path>
                    <a:path w="43200" h="21600" stroke="0" extrusionOk="0">
                      <a:moveTo>
                        <a:pt x="0" y="21599"/>
                      </a:move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fol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7078B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" name="Arc 48"/>
                <p:cNvSpPr/>
                <p:nvPr/>
              </p:nvSpPr>
              <p:spPr bwMode="auto">
                <a:xfrm>
                  <a:off x="1489" y="3541"/>
                  <a:ext cx="1266" cy="645"/>
                </a:xfrm>
                <a:custGeom>
                  <a:avLst/>
                  <a:gdLst>
                    <a:gd name="G0" fmla="+- 21597 0 0"/>
                    <a:gd name="G1" fmla="+- 21600 0 0"/>
                    <a:gd name="G2" fmla="+- 21600 0 0"/>
                    <a:gd name="T0" fmla="*/ 0 w 43197"/>
                    <a:gd name="T1" fmla="*/ 21260 h 21600"/>
                    <a:gd name="T2" fmla="*/ 43197 w 43197"/>
                    <a:gd name="T3" fmla="*/ 21600 h 21600"/>
                    <a:gd name="T4" fmla="*/ 21597 w 43197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97" h="21600" fill="none" extrusionOk="0">
                      <a:moveTo>
                        <a:pt x="-1" y="21259"/>
                      </a:moveTo>
                      <a:cubicBezTo>
                        <a:pt x="185" y="9464"/>
                        <a:pt x="9800" y="-1"/>
                        <a:pt x="21597" y="0"/>
                      </a:cubicBezTo>
                      <a:cubicBezTo>
                        <a:pt x="33526" y="0"/>
                        <a:pt x="43197" y="9670"/>
                        <a:pt x="43197" y="21600"/>
                      </a:cubicBezTo>
                    </a:path>
                    <a:path w="43197" h="21600" stroke="0" extrusionOk="0">
                      <a:moveTo>
                        <a:pt x="-1" y="21259"/>
                      </a:moveTo>
                      <a:cubicBezTo>
                        <a:pt x="185" y="9464"/>
                        <a:pt x="9800" y="-1"/>
                        <a:pt x="21597" y="0"/>
                      </a:cubicBezTo>
                      <a:cubicBezTo>
                        <a:pt x="33526" y="0"/>
                        <a:pt x="43197" y="9670"/>
                        <a:pt x="43197" y="21600"/>
                      </a:cubicBezTo>
                      <a:lnTo>
                        <a:pt x="21597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fol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7078B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Arc 49"/>
                <p:cNvSpPr/>
                <p:nvPr/>
              </p:nvSpPr>
              <p:spPr bwMode="auto">
                <a:xfrm>
                  <a:off x="1312" y="3367"/>
                  <a:ext cx="1626" cy="816"/>
                </a:xfrm>
                <a:custGeom>
                  <a:avLst/>
                  <a:gdLst>
                    <a:gd name="G0" fmla="+- 21596 0 0"/>
                    <a:gd name="G1" fmla="+- 21600 0 0"/>
                    <a:gd name="G2" fmla="+- 21600 0 0"/>
                    <a:gd name="T0" fmla="*/ 0 w 43196"/>
                    <a:gd name="T1" fmla="*/ 21163 h 21600"/>
                    <a:gd name="T2" fmla="*/ 43196 w 43196"/>
                    <a:gd name="T3" fmla="*/ 21600 h 21600"/>
                    <a:gd name="T4" fmla="*/ 21596 w 43196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196" h="21600" fill="none" extrusionOk="0">
                      <a:moveTo>
                        <a:pt x="0" y="21163"/>
                      </a:moveTo>
                      <a:cubicBezTo>
                        <a:pt x="238" y="9406"/>
                        <a:pt x="9836" y="-1"/>
                        <a:pt x="21596" y="0"/>
                      </a:cubicBezTo>
                      <a:cubicBezTo>
                        <a:pt x="33525" y="0"/>
                        <a:pt x="43196" y="9670"/>
                        <a:pt x="43196" y="21600"/>
                      </a:cubicBezTo>
                    </a:path>
                    <a:path w="43196" h="21600" stroke="0" extrusionOk="0">
                      <a:moveTo>
                        <a:pt x="0" y="21163"/>
                      </a:moveTo>
                      <a:cubicBezTo>
                        <a:pt x="238" y="9406"/>
                        <a:pt x="9836" y="-1"/>
                        <a:pt x="21596" y="0"/>
                      </a:cubicBezTo>
                      <a:cubicBezTo>
                        <a:pt x="33525" y="0"/>
                        <a:pt x="43196" y="9670"/>
                        <a:pt x="43196" y="21600"/>
                      </a:cubicBezTo>
                      <a:lnTo>
                        <a:pt x="21596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folHlink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7078B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88" name="Group 102"/>
                <p:cNvGrpSpPr/>
                <p:nvPr/>
              </p:nvGrpSpPr>
              <p:grpSpPr bwMode="auto">
                <a:xfrm>
                  <a:off x="1341" y="3668"/>
                  <a:ext cx="201" cy="234"/>
                  <a:chOff x="1341" y="3440"/>
                  <a:chExt cx="201" cy="234"/>
                </a:xfrm>
              </p:grpSpPr>
              <p:sp>
                <p:nvSpPr>
                  <p:cNvPr id="95" name="Oval 97"/>
                  <p:cNvSpPr>
                    <a:spLocks noChangeArrowheads="1"/>
                  </p:cNvSpPr>
                  <p:nvPr/>
                </p:nvSpPr>
                <p:spPr bwMode="auto">
                  <a:xfrm>
                    <a:off x="1381" y="3475"/>
                    <a:ext cx="135" cy="135"/>
                  </a:xfrm>
                  <a:prstGeom prst="ellipse">
                    <a:avLst/>
                  </a:prstGeom>
                  <a:solidFill>
                    <a:srgbClr val="17078B"/>
                  </a:solidFill>
                  <a:ln w="28575">
                    <a:solidFill>
                      <a:srgbClr val="008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6" name="Line 9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341" y="3476"/>
                    <a:ext cx="201" cy="125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prstDash val="lgDashDot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7" name="Freeform 99"/>
                  <p:cNvSpPr/>
                  <p:nvPr/>
                </p:nvSpPr>
                <p:spPr bwMode="auto">
                  <a:xfrm>
                    <a:off x="1388" y="3440"/>
                    <a:ext cx="139" cy="234"/>
                  </a:xfrm>
                  <a:custGeom>
                    <a:avLst/>
                    <a:gdLst>
                      <a:gd name="T0" fmla="*/ 139 w 139"/>
                      <a:gd name="T1" fmla="*/ 0 h 234"/>
                      <a:gd name="T2" fmla="*/ 106 w 139"/>
                      <a:gd name="T3" fmla="*/ 37 h 234"/>
                      <a:gd name="T4" fmla="*/ 81 w 139"/>
                      <a:gd name="T5" fmla="*/ 72 h 234"/>
                      <a:gd name="T6" fmla="*/ 55 w 139"/>
                      <a:gd name="T7" fmla="*/ 111 h 234"/>
                      <a:gd name="T8" fmla="*/ 31 w 139"/>
                      <a:gd name="T9" fmla="*/ 156 h 234"/>
                      <a:gd name="T10" fmla="*/ 16 w 139"/>
                      <a:gd name="T11" fmla="*/ 189 h 234"/>
                      <a:gd name="T12" fmla="*/ 0 w 139"/>
                      <a:gd name="T13" fmla="*/ 234 h 2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39" h="234">
                        <a:moveTo>
                          <a:pt x="139" y="0"/>
                        </a:moveTo>
                        <a:cubicBezTo>
                          <a:pt x="127" y="12"/>
                          <a:pt x="116" y="25"/>
                          <a:pt x="106" y="37"/>
                        </a:cubicBezTo>
                        <a:cubicBezTo>
                          <a:pt x="96" y="49"/>
                          <a:pt x="89" y="60"/>
                          <a:pt x="81" y="72"/>
                        </a:cubicBezTo>
                        <a:cubicBezTo>
                          <a:pt x="73" y="84"/>
                          <a:pt x="63" y="97"/>
                          <a:pt x="55" y="111"/>
                        </a:cubicBezTo>
                        <a:cubicBezTo>
                          <a:pt x="47" y="125"/>
                          <a:pt x="37" y="143"/>
                          <a:pt x="31" y="156"/>
                        </a:cubicBezTo>
                        <a:cubicBezTo>
                          <a:pt x="25" y="169"/>
                          <a:pt x="21" y="176"/>
                          <a:pt x="16" y="189"/>
                        </a:cubicBezTo>
                        <a:cubicBezTo>
                          <a:pt x="11" y="202"/>
                          <a:pt x="5" y="218"/>
                          <a:pt x="0" y="234"/>
                        </a:cubicBezTo>
                      </a:path>
                    </a:pathLst>
                  </a:custGeom>
                  <a:noFill/>
                  <a:ln w="12700" cap="flat" cmpd="sng">
                    <a:solidFill>
                      <a:srgbClr val="008000"/>
                    </a:solidFill>
                    <a:prstDash val="lgDashDot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17078B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8" name="Arc 101" descr="轮廓式菱形"/>
                  <p:cNvSpPr/>
                  <p:nvPr/>
                </p:nvSpPr>
                <p:spPr bwMode="auto">
                  <a:xfrm>
                    <a:off x="1399" y="3496"/>
                    <a:ext cx="101" cy="97"/>
                  </a:xfrm>
                  <a:custGeom>
                    <a:avLst/>
                    <a:gdLst>
                      <a:gd name="G0" fmla="+- 21600 0 0"/>
                      <a:gd name="G1" fmla="+- 21600 0 0"/>
                      <a:gd name="G2" fmla="+- 21600 0 0"/>
                      <a:gd name="T0" fmla="*/ 18014 w 43200"/>
                      <a:gd name="T1" fmla="*/ 300 h 43200"/>
                      <a:gd name="T2" fmla="*/ 0 w 43200"/>
                      <a:gd name="T3" fmla="*/ 21600 h 43200"/>
                      <a:gd name="T4" fmla="*/ 21600 w 43200"/>
                      <a:gd name="T5" fmla="*/ 21600 h 43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18013" y="299"/>
                        </a:moveTo>
                        <a:cubicBezTo>
                          <a:pt x="19198" y="100"/>
                          <a:pt x="20398" y="-1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</a:path>
                      <a:path w="43200" h="43200" stroke="0" extrusionOk="0">
                        <a:moveTo>
                          <a:pt x="18013" y="299"/>
                        </a:moveTo>
                        <a:cubicBezTo>
                          <a:pt x="19198" y="100"/>
                          <a:pt x="20398" y="-1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pattFill prst="openDmnd">
                    <a:fgClr>
                      <a:srgbClr val="008000"/>
                    </a:fgClr>
                    <a:bgClr>
                      <a:srgbClr val="FFFFFF"/>
                    </a:bgClr>
                  </a:pattFill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89" name="Group 108"/>
                <p:cNvGrpSpPr/>
                <p:nvPr/>
              </p:nvGrpSpPr>
              <p:grpSpPr bwMode="auto">
                <a:xfrm>
                  <a:off x="2721" y="3692"/>
                  <a:ext cx="201" cy="234"/>
                  <a:chOff x="2721" y="3464"/>
                  <a:chExt cx="201" cy="234"/>
                </a:xfrm>
              </p:grpSpPr>
              <p:sp>
                <p:nvSpPr>
                  <p:cNvPr id="91" name="Oval 104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2747" y="3499"/>
                    <a:ext cx="135" cy="135"/>
                  </a:xfrm>
                  <a:prstGeom prst="ellipse">
                    <a:avLst/>
                  </a:prstGeom>
                  <a:solidFill>
                    <a:srgbClr val="17078B"/>
                  </a:solidFill>
                  <a:ln w="28575">
                    <a:solidFill>
                      <a:srgbClr val="008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2" name="Line 10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21" y="3500"/>
                    <a:ext cx="201" cy="125"/>
                  </a:xfrm>
                  <a:prstGeom prst="line">
                    <a:avLst/>
                  </a:prstGeom>
                  <a:noFill/>
                  <a:ln w="12700">
                    <a:solidFill>
                      <a:srgbClr val="008000"/>
                    </a:solidFill>
                    <a:prstDash val="lgDashDot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3" name="Freeform 106"/>
                  <p:cNvSpPr/>
                  <p:nvPr/>
                </p:nvSpPr>
                <p:spPr bwMode="auto">
                  <a:xfrm flipH="1">
                    <a:off x="2736" y="3464"/>
                    <a:ext cx="139" cy="234"/>
                  </a:xfrm>
                  <a:custGeom>
                    <a:avLst/>
                    <a:gdLst>
                      <a:gd name="T0" fmla="*/ 139 w 139"/>
                      <a:gd name="T1" fmla="*/ 0 h 234"/>
                      <a:gd name="T2" fmla="*/ 106 w 139"/>
                      <a:gd name="T3" fmla="*/ 37 h 234"/>
                      <a:gd name="T4" fmla="*/ 81 w 139"/>
                      <a:gd name="T5" fmla="*/ 72 h 234"/>
                      <a:gd name="T6" fmla="*/ 55 w 139"/>
                      <a:gd name="T7" fmla="*/ 111 h 234"/>
                      <a:gd name="T8" fmla="*/ 31 w 139"/>
                      <a:gd name="T9" fmla="*/ 156 h 234"/>
                      <a:gd name="T10" fmla="*/ 16 w 139"/>
                      <a:gd name="T11" fmla="*/ 189 h 234"/>
                      <a:gd name="T12" fmla="*/ 0 w 139"/>
                      <a:gd name="T13" fmla="*/ 234 h 2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39" h="234">
                        <a:moveTo>
                          <a:pt x="139" y="0"/>
                        </a:moveTo>
                        <a:cubicBezTo>
                          <a:pt x="127" y="12"/>
                          <a:pt x="116" y="25"/>
                          <a:pt x="106" y="37"/>
                        </a:cubicBezTo>
                        <a:cubicBezTo>
                          <a:pt x="96" y="49"/>
                          <a:pt x="89" y="60"/>
                          <a:pt x="81" y="72"/>
                        </a:cubicBezTo>
                        <a:cubicBezTo>
                          <a:pt x="73" y="84"/>
                          <a:pt x="63" y="97"/>
                          <a:pt x="55" y="111"/>
                        </a:cubicBezTo>
                        <a:cubicBezTo>
                          <a:pt x="47" y="125"/>
                          <a:pt x="37" y="143"/>
                          <a:pt x="31" y="156"/>
                        </a:cubicBezTo>
                        <a:cubicBezTo>
                          <a:pt x="25" y="169"/>
                          <a:pt x="21" y="176"/>
                          <a:pt x="16" y="189"/>
                        </a:cubicBezTo>
                        <a:cubicBezTo>
                          <a:pt x="11" y="202"/>
                          <a:pt x="5" y="218"/>
                          <a:pt x="0" y="234"/>
                        </a:cubicBezTo>
                      </a:path>
                    </a:pathLst>
                  </a:custGeom>
                  <a:noFill/>
                  <a:ln w="12700" cap="flat" cmpd="sng">
                    <a:solidFill>
                      <a:srgbClr val="008000"/>
                    </a:solidFill>
                    <a:prstDash val="lgDashDot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17078B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4" name="Arc 107" descr="轮廓式菱形"/>
                  <p:cNvSpPr/>
                  <p:nvPr/>
                </p:nvSpPr>
                <p:spPr bwMode="auto">
                  <a:xfrm>
                    <a:off x="2763" y="3518"/>
                    <a:ext cx="101" cy="97"/>
                  </a:xfrm>
                  <a:custGeom>
                    <a:avLst/>
                    <a:gdLst>
                      <a:gd name="G0" fmla="+- 21600 0 0"/>
                      <a:gd name="G1" fmla="+- 21600 0 0"/>
                      <a:gd name="G2" fmla="+- 21600 0 0"/>
                      <a:gd name="T0" fmla="*/ 18014 w 43200"/>
                      <a:gd name="T1" fmla="*/ 300 h 43200"/>
                      <a:gd name="T2" fmla="*/ 0 w 43200"/>
                      <a:gd name="T3" fmla="*/ 21600 h 43200"/>
                      <a:gd name="T4" fmla="*/ 21600 w 43200"/>
                      <a:gd name="T5" fmla="*/ 21600 h 432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18013" y="299"/>
                        </a:moveTo>
                        <a:cubicBezTo>
                          <a:pt x="19198" y="100"/>
                          <a:pt x="20398" y="-1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</a:path>
                      <a:path w="43200" h="43200" stroke="0" extrusionOk="0">
                        <a:moveTo>
                          <a:pt x="18013" y="299"/>
                        </a:moveTo>
                        <a:cubicBezTo>
                          <a:pt x="19198" y="100"/>
                          <a:pt x="20398" y="-1"/>
                          <a:pt x="21600" y="0"/>
                        </a:cubicBezTo>
                        <a:cubicBezTo>
                          <a:pt x="33529" y="0"/>
                          <a:pt x="43200" y="9670"/>
                          <a:pt x="43200" y="21600"/>
                        </a:cubicBez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pattFill prst="openDmnd">
                    <a:fgClr>
                      <a:srgbClr val="008000"/>
                    </a:fgClr>
                    <a:bgClr>
                      <a:srgbClr val="FFFFFF"/>
                    </a:bgClr>
                  </a:pattFill>
                  <a:ln w="12700">
                    <a:solidFill>
                      <a:srgbClr val="008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90" name="Line 115"/>
                <p:cNvSpPr>
                  <a:spLocks noChangeShapeType="1"/>
                </p:cNvSpPr>
                <p:nvPr/>
              </p:nvSpPr>
              <p:spPr bwMode="auto">
                <a:xfrm flipV="1">
                  <a:off x="2124" y="2624"/>
                  <a:ext cx="0" cy="1600"/>
                </a:xfrm>
                <a:prstGeom prst="line">
                  <a:avLst/>
                </a:prstGeom>
                <a:noFill/>
                <a:ln w="12700">
                  <a:solidFill>
                    <a:srgbClr val="008000"/>
                  </a:solidFill>
                  <a:prstDash val="lgDash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80" name="Line 135"/>
            <p:cNvSpPr>
              <a:spLocks noChangeShapeType="1"/>
            </p:cNvSpPr>
            <p:nvPr/>
          </p:nvSpPr>
          <p:spPr bwMode="auto">
            <a:xfrm>
              <a:off x="693" y="4176"/>
              <a:ext cx="2931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72185" y="233680"/>
            <a:ext cx="7492365" cy="49022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3.11-2</a:t>
            </a:r>
            <a:r>
              <a:rPr kumimoji="1" lang="zh-CN" altLang="en-US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蜗杆传动的主要参数及几何尺寸计算</a:t>
            </a:r>
            <a:endParaRPr kumimoji="1" lang="zh-CN" altLang="en-US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26710" y="2933700"/>
            <a:ext cx="1031875" cy="76835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p>
            <a:r>
              <a:rPr lang="zh-CN" altLang="en-US"/>
              <a:t>齿廓为直线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61965" y="4104005"/>
            <a:ext cx="1270000" cy="76835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p>
            <a:r>
              <a:rPr lang="zh-CN" altLang="en-US"/>
              <a:t>齿廓为渐开线</a:t>
            </a:r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4992370" y="3563620"/>
            <a:ext cx="434340" cy="50673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6" name="直接箭头连接符 5"/>
          <p:cNvCxnSpPr>
            <a:stCxn id="110" idx="34"/>
            <a:endCxn id="4" idx="1"/>
          </p:cNvCxnSpPr>
          <p:nvPr/>
        </p:nvCxnSpPr>
        <p:spPr>
          <a:xfrm>
            <a:off x="4663440" y="4392930"/>
            <a:ext cx="898525" cy="9525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" name="文本框 7"/>
          <p:cNvSpPr txBox="1"/>
          <p:nvPr/>
        </p:nvSpPr>
        <p:spPr>
          <a:xfrm>
            <a:off x="1017270" y="6174105"/>
            <a:ext cx="655002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在中间平面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上，蜗杆传动就相当于齿轮齿条传动</a:t>
            </a:r>
            <a:endParaRPr lang="zh-CN" altLang="en-US">
              <a:solidFill>
                <a:schemeClr val="accent4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0" grpId="0"/>
      <p:bldP spid="4" grpId="0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01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6" name="文本框 1"/>
          <p:cNvSpPr txBox="1">
            <a:spLocks noChangeArrowheads="1"/>
          </p:cNvSpPr>
          <p:nvPr/>
        </p:nvSpPr>
        <p:spPr bwMode="auto">
          <a:xfrm>
            <a:off x="179695" y="1700880"/>
            <a:ext cx="441659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一、普通圆柱蜗杆传动的主要参数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4757" name="文本框 99"/>
          <p:cNvSpPr txBox="1">
            <a:spLocks noChangeArrowheads="1"/>
          </p:cNvSpPr>
          <p:nvPr/>
        </p:nvSpPr>
        <p:spPr bwMode="auto">
          <a:xfrm>
            <a:off x="251700" y="836820"/>
            <a:ext cx="86185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5080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华文中宋" panose="02010600040101010101" pitchFamily="2" charset="-122"/>
              </a:rPr>
              <a:t>在中间平面上，</a:t>
            </a:r>
            <a:r>
              <a:rPr lang="zh-CN" altLang="en-US" sz="2000" dirty="0">
                <a:solidFill>
                  <a:schemeClr val="accent4">
                    <a:lumMod val="50000"/>
                  </a:schemeClr>
                </a:solidFill>
                <a:latin typeface="华文中宋" panose="02010600040101010101" pitchFamily="2" charset="-122"/>
              </a:rPr>
              <a:t>普通圆柱蜗杆传动相当于齿轮与齿条的啮合传动，设计蜗杆传动时，按中间平面上的参数作为基准，并沿用齿轮传动的计算关系。</a:t>
            </a:r>
            <a:endParaRPr lang="zh-CN" altLang="en-US" sz="2000" dirty="0">
              <a:solidFill>
                <a:schemeClr val="accent4">
                  <a:lumMod val="50000"/>
                </a:schemeClr>
              </a:solidFill>
              <a:latin typeface="华文中宋" panose="02010600040101010101" pitchFamily="2" charset="-122"/>
            </a:endParaRPr>
          </a:p>
        </p:txBody>
      </p:sp>
      <p:sp>
        <p:nvSpPr>
          <p:cNvPr id="74759" name="文本框 4"/>
          <p:cNvSpPr txBox="1">
            <a:spLocks noChangeArrowheads="1"/>
          </p:cNvSpPr>
          <p:nvPr/>
        </p:nvSpPr>
        <p:spPr bwMode="auto">
          <a:xfrm>
            <a:off x="476740" y="2213380"/>
            <a:ext cx="136271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2D050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、模数</a:t>
            </a:r>
            <a:r>
              <a:rPr lang="zh-CN" altLang="en-US" i="1" dirty="0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endParaRPr lang="zh-CN" altLang="en-US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28" name="对象 7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4114800" y="3392488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" name="" r:id="rId4" imgW="914400" imgH="215900" progId="Equation.KSEE3">
                  <p:embed/>
                </p:oleObj>
              </mc:Choice>
              <mc:Fallback>
                <p:oleObj name="" r:id="rId4" imgW="914400" imgH="215900" progId="Equation.KSEE3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92488"/>
                        <a:ext cx="914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5" name="Object 13"/>
          <p:cNvGraphicFramePr>
            <a:graphicFrameLocks noChangeAspect="1"/>
          </p:cNvGraphicFramePr>
          <p:nvPr/>
        </p:nvGraphicFramePr>
        <p:xfrm>
          <a:off x="6403975" y="3834130"/>
          <a:ext cx="1825625" cy="467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" name="" r:id="rId6" imgW="889000" imgH="228600" progId="Equation.KSEE3">
                  <p:embed/>
                </p:oleObj>
              </mc:Choice>
              <mc:Fallback>
                <p:oleObj name="" r:id="rId6" imgW="889000" imgH="228600" progId="Equation.KSEE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3975" y="3834130"/>
                        <a:ext cx="1825625" cy="467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9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2" name="直接连接符 1"/>
          <p:cNvCxnSpPr/>
          <p:nvPr/>
        </p:nvCxnSpPr>
        <p:spPr>
          <a:xfrm>
            <a:off x="387350" y="2663825"/>
            <a:ext cx="1529715" cy="2540"/>
          </a:xfrm>
          <a:prstGeom prst="lin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58" name="Rectangle 11"/>
          <p:cNvSpPr>
            <a:spLocks noChangeArrowheads="1"/>
          </p:cNvSpPr>
          <p:nvPr/>
        </p:nvSpPr>
        <p:spPr bwMode="auto">
          <a:xfrm>
            <a:off x="4152265" y="2663825"/>
            <a:ext cx="459041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蜗杆轴向齿距</a:t>
            </a:r>
            <a:r>
              <a:rPr lang="en-US" altLang="zh-CN" sz="2000" i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p</a:t>
            </a:r>
            <a:r>
              <a:rPr lang="en-US" altLang="zh-CN" sz="2000" i="1" baseline="-25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x</a:t>
            </a:r>
            <a:r>
              <a:rPr lang="en-US" altLang="zh-CN"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螺距</a:t>
            </a:r>
            <a:r>
              <a:rPr lang="en-US" altLang="zh-CN"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)</a:t>
            </a:r>
            <a:r>
              <a:rPr lang="en-US" altLang="zh-CN"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sym typeface="+mn-ea"/>
              </a:rPr>
              <a:t>=</a:t>
            </a:r>
            <a:r>
              <a:rPr lang="zh-CN" altLang="en-US"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蜗轮端</a:t>
            </a:r>
            <a:r>
              <a:rPr lang="zh-CN" altLang="en-US"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面齿距</a:t>
            </a:r>
            <a:r>
              <a:rPr lang="en-US" altLang="zh-CN" sz="2000" i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p</a:t>
            </a:r>
            <a:r>
              <a:rPr lang="en-US" altLang="zh-CN" sz="2000" i="1" baseline="-25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t</a:t>
            </a:r>
            <a:endParaRPr lang="en-US" altLang="zh-CN" sz="2000" i="1" baseline="-25000">
              <a:solidFill>
                <a:schemeClr val="tx1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pic>
        <p:nvPicPr>
          <p:cNvPr id="2050" name="Picture 15" descr="0011_副本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D4FCFC">
                  <a:alpha val="100000"/>
                </a:srgbClr>
              </a:clrFrom>
              <a:clrTo>
                <a:srgbClr val="D4FC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68955"/>
            <a:ext cx="5767070" cy="299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59" name="Object 12"/>
          <p:cNvGraphicFramePr>
            <a:graphicFrameLocks noChangeAspect="1"/>
          </p:cNvGraphicFramePr>
          <p:nvPr/>
        </p:nvGraphicFramePr>
        <p:xfrm>
          <a:off x="5469890" y="3248660"/>
          <a:ext cx="3376930" cy="456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公式" r:id="rId9" imgW="1435100" imgH="228600" progId="Equation.3">
                  <p:embed/>
                </p:oleObj>
              </mc:Choice>
              <mc:Fallback>
                <p:oleObj name="公式" r:id="rId9" imgW="1435100" imgH="228600" progId="Equation.3">
                  <p:embed/>
                  <p:pic>
                    <p:nvPicPr>
                      <p:cNvPr id="0" name="图片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9890" y="3248660"/>
                        <a:ext cx="3376930" cy="4565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1" name="Rectangle 14"/>
          <p:cNvSpPr>
            <a:spLocks noChangeArrowheads="1"/>
          </p:cNvSpPr>
          <p:nvPr/>
        </p:nvSpPr>
        <p:spPr bwMode="auto">
          <a:xfrm>
            <a:off x="5787549" y="4688840"/>
            <a:ext cx="2944813" cy="101473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l" eaLnBrk="1" hangingPunct="1"/>
            <a:r>
              <a:rPr lang="zh-CN" altLang="en-US"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蜗杆轴向模数和蜗轮端向模数相等，取为</a:t>
            </a:r>
            <a:r>
              <a:rPr lang="en-US" altLang="zh-CN" sz="2000" b="1" i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m</a:t>
            </a:r>
            <a:r>
              <a:rPr lang="zh-CN" altLang="en-US" sz="20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，并标准化。</a:t>
            </a:r>
            <a:endParaRPr lang="zh-CN" altLang="en-US" sz="2000" b="1" i="1" baseline="-25000">
              <a:solidFill>
                <a:schemeClr val="tx1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1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72185" y="233680"/>
            <a:ext cx="7492365" cy="49022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eaLnBrk="1" hangingPunct="1"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3.11-2</a:t>
            </a:r>
            <a:r>
              <a:rPr kumimoji="1" lang="zh-CN" altLang="en-US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蜗杆传动的主要参数及几何尺寸计算</a:t>
            </a:r>
            <a:endParaRPr kumimoji="1" lang="zh-CN" altLang="en-US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/>
      <p:bldP spid="74757" grpId="0"/>
      <p:bldP spid="74759" grpId="0" bldLvl="0" animBg="1"/>
      <p:bldP spid="2058" grpId="0" bldLvl="0" animBg="1"/>
      <p:bldP spid="206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01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9" name="文本框 4"/>
          <p:cNvSpPr txBox="1">
            <a:spLocks noChangeArrowheads="1"/>
          </p:cNvSpPr>
          <p:nvPr/>
        </p:nvSpPr>
        <p:spPr bwMode="auto">
          <a:xfrm>
            <a:off x="342120" y="1043710"/>
            <a:ext cx="158686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2D050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、压力角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α</a:t>
            </a:r>
            <a:endParaRPr lang="en-US" altLang="zh-CN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4761" name="对象 6"/>
          <p:cNvGraphicFramePr>
            <a:graphicFrameLocks noChangeAspect="1"/>
          </p:cNvGraphicFramePr>
          <p:nvPr/>
        </p:nvGraphicFramePr>
        <p:xfrm>
          <a:off x="5697268" y="2168850"/>
          <a:ext cx="1447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" name="" r:id="rId4" imgW="838200" imgH="228600" progId="Equation.KSEE3">
                  <p:embed/>
                </p:oleObj>
              </mc:Choice>
              <mc:Fallback>
                <p:oleObj name="" r:id="rId4" imgW="838200" imgH="228600" progId="Equation.KSEE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7268" y="2168850"/>
                        <a:ext cx="1447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2" name="对象 8"/>
          <p:cNvGraphicFramePr>
            <a:graphicFrameLocks noChangeAspect="1"/>
          </p:cNvGraphicFramePr>
          <p:nvPr/>
        </p:nvGraphicFramePr>
        <p:xfrm>
          <a:off x="7047040" y="2573741"/>
          <a:ext cx="1600200" cy="713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" name="" r:id="rId6" imgW="939800" imgH="419100" progId="Equation.KSEE3">
                  <p:embed/>
                </p:oleObj>
              </mc:Choice>
              <mc:Fallback>
                <p:oleObj name="" r:id="rId6" imgW="939800" imgH="419100" progId="Equation.KSEE3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7040" y="2573741"/>
                        <a:ext cx="1600200" cy="713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对象 7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4114800" y="3392488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" name="" r:id="rId8" imgW="914400" imgH="215900" progId="Equation.KSEE3">
                  <p:embed/>
                </p:oleObj>
              </mc:Choice>
              <mc:Fallback>
                <p:oleObj name="" r:id="rId8" imgW="914400" imgH="215900" progId="Equation.KSEE3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92488"/>
                        <a:ext cx="914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9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2" name="直接连接符 1"/>
          <p:cNvCxnSpPr/>
          <p:nvPr/>
        </p:nvCxnSpPr>
        <p:spPr>
          <a:xfrm>
            <a:off x="116840" y="1538605"/>
            <a:ext cx="2025015" cy="3810"/>
          </a:xfrm>
          <a:prstGeom prst="lin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432435" y="1673543"/>
            <a:ext cx="4800600" cy="1322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l" eaLnBrk="1" hangingPunct="1"/>
            <a:r>
              <a:rPr lang="zh-CN" altLang="en-US" sz="200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标准规定：</a:t>
            </a:r>
            <a:endParaRPr lang="zh-CN" altLang="en-US" sz="2000">
              <a:solidFill>
                <a:srgbClr val="01020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 eaLnBrk="1" hangingPunct="1"/>
            <a:r>
              <a:rPr lang="zh-CN" altLang="en-US" sz="200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阿基米德蜗杆的轴向齿形角</a:t>
            </a:r>
            <a:r>
              <a:rPr lang="en-US" altLang="zh-CN" sz="2000">
                <a:solidFill>
                  <a:srgbClr val="01020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=20</a:t>
            </a:r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°</a:t>
            </a:r>
            <a:endParaRPr lang="en-US" altLang="zh-CN" sz="2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 eaLnBrk="1" hangingPunct="1"/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延伸渐开线蜗杆法向齿形角</a:t>
            </a:r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=20°</a:t>
            </a:r>
            <a:endParaRPr lang="en-US" altLang="zh-CN" sz="2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 eaLnBrk="1" hangingPunct="1"/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渐开线蜗杆法向齿形角</a:t>
            </a:r>
            <a:r>
              <a:rPr lang="en-US" altLang="zh-CN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=20°</a:t>
            </a:r>
            <a:endParaRPr lang="en-US" altLang="zh-CN" sz="2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0412" name="Text Box 12"/>
          <p:cNvSpPr txBox="1">
            <a:spLocks noChangeArrowheads="1"/>
          </p:cNvSpPr>
          <p:nvPr/>
        </p:nvSpPr>
        <p:spPr bwMode="auto">
          <a:xfrm>
            <a:off x="161925" y="3338830"/>
            <a:ext cx="837374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n-US" altLang="zh-CN"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3</a:t>
            </a:r>
            <a:r>
              <a:rPr lang="zh-CN" altLang="en-US"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、蜗杆分度圆导程角</a:t>
            </a:r>
            <a:r>
              <a:rPr lang="el-GR" altLang="zh-CN" sz="2000" i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γ</a:t>
            </a:r>
            <a:r>
              <a:rPr lang="en-US" altLang="el-GR" sz="2000" i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el-GR" sz="2000" i="1" baseline="-2500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螺纹升角</a:t>
            </a:r>
            <a:r>
              <a:rPr lang="en-US" altLang="zh-CN"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sym typeface="+mn-ea"/>
              </a:rPr>
              <a:t>和蜗轮分度圆螺旋角</a:t>
            </a:r>
            <a:r>
              <a:rPr lang="el-GR" altLang="zh-CN" sz="2000" i="1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  <a:sym typeface="+mn-ea"/>
              </a:rPr>
              <a:t>β</a:t>
            </a:r>
            <a:r>
              <a:rPr lang="en-US" altLang="el-GR" sz="2000" i="1" baseline="-2500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  <a:sym typeface="+mn-ea"/>
              </a:rPr>
              <a:t>2</a:t>
            </a:r>
            <a:endParaRPr lang="en-US" altLang="el-GR" sz="2000" i="1" baseline="-25000">
              <a:solidFill>
                <a:srgbClr val="FF0000"/>
              </a:solidFill>
              <a:latin typeface="Tahoma" panose="020B0604030504040204" pitchFamily="34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82260" y="1718945"/>
            <a:ext cx="199517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在中间平面上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476885" y="3789045"/>
            <a:ext cx="6974840" cy="13335"/>
          </a:xfrm>
          <a:prstGeom prst="lin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30414" name="Object 14"/>
          <p:cNvGraphicFramePr>
            <a:graphicFrameLocks noChangeAspect="1"/>
          </p:cNvGraphicFramePr>
          <p:nvPr/>
        </p:nvGraphicFramePr>
        <p:xfrm>
          <a:off x="2165350" y="3957320"/>
          <a:ext cx="974725" cy="380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公式" r:id="rId10" imgW="469900" imgH="215900" progId="Equation.3">
                  <p:embed/>
                </p:oleObj>
              </mc:Choice>
              <mc:Fallback>
                <p:oleObj name="公式" r:id="rId10" imgW="469900" imgH="215900" progId="Equation.3">
                  <p:embed/>
                  <p:pic>
                    <p:nvPicPr>
                      <p:cNvPr id="0" name="图片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350" y="3957320"/>
                        <a:ext cx="974725" cy="380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15" name="Text Box 15"/>
          <p:cNvSpPr txBox="1">
            <a:spLocks noChangeArrowheads="1"/>
          </p:cNvSpPr>
          <p:nvPr/>
        </p:nvSpPr>
        <p:spPr bwMode="auto">
          <a:xfrm>
            <a:off x="702310" y="3968908"/>
            <a:ext cx="12192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正确啮合：</a:t>
            </a:r>
            <a:endParaRPr kumimoji="0" lang="zh-CN" altLang="en-US" sz="200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30416" name="Text Box 16"/>
          <p:cNvSpPr txBox="1">
            <a:spLocks noChangeArrowheads="1"/>
          </p:cNvSpPr>
          <p:nvPr/>
        </p:nvSpPr>
        <p:spPr bwMode="auto">
          <a:xfrm>
            <a:off x="3528060" y="3961765"/>
            <a:ext cx="290576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0"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即蜗杆与</a:t>
            </a:r>
            <a:r>
              <a:rPr kumimoji="0"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蜗轮旋向相同，</a:t>
            </a:r>
            <a:endParaRPr kumimoji="0" lang="zh-CN" altLang="en-US" sz="200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30417" name="Text Box 17"/>
          <p:cNvSpPr txBox="1">
            <a:spLocks noChangeArrowheads="1"/>
          </p:cNvSpPr>
          <p:nvPr/>
        </p:nvSpPr>
        <p:spPr bwMode="auto">
          <a:xfrm>
            <a:off x="6567805" y="3961765"/>
            <a:ext cx="172974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0" lang="zh-CN" altLang="en-US" sz="1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通常为右旋。</a:t>
            </a:r>
            <a:endParaRPr kumimoji="0" lang="zh-CN" altLang="en-US" sz="1800" b="1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230418" name="Object 18"/>
          <p:cNvGraphicFramePr>
            <a:graphicFrameLocks noChangeAspect="1"/>
          </p:cNvGraphicFramePr>
          <p:nvPr/>
        </p:nvGraphicFramePr>
        <p:xfrm>
          <a:off x="1192213" y="4520565"/>
          <a:ext cx="3594735" cy="781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公式" r:id="rId12" imgW="1688465" imgH="431800" progId="Equation.3">
                  <p:embed/>
                </p:oleObj>
              </mc:Choice>
              <mc:Fallback>
                <p:oleObj name="公式" r:id="rId12" imgW="1688465" imgH="431800" progId="Equation.3">
                  <p:embed/>
                  <p:pic>
                    <p:nvPicPr>
                      <p:cNvPr id="0" name="图片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4520565"/>
                        <a:ext cx="3594735" cy="781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20" name="Text Box 20"/>
          <p:cNvSpPr txBox="1">
            <a:spLocks noChangeArrowheads="1"/>
          </p:cNvSpPr>
          <p:nvPr/>
        </p:nvSpPr>
        <p:spPr bwMode="auto">
          <a:xfrm>
            <a:off x="5112385" y="4553743"/>
            <a:ext cx="388620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25000"/>
              </a:spcBef>
            </a:pPr>
            <a:r>
              <a:rPr kumimoji="0" lang="en-US" altLang="zh-CN" sz="1600" b="1" i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d</a:t>
            </a:r>
            <a:r>
              <a:rPr kumimoji="0" lang="en-US" altLang="zh-CN" sz="1600" b="1" baseline="-25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1</a:t>
            </a:r>
            <a:r>
              <a:rPr kumimoji="0" lang="en-US" altLang="zh-CN" sz="16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-</a:t>
            </a:r>
            <a:r>
              <a:rPr kumimoji="0" lang="zh-CN" altLang="en-US" sz="16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蜗杆分度圆直径</a:t>
            </a:r>
            <a:r>
              <a:rPr kumimoji="0" lang="en-US" altLang="zh-CN" sz="16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(</a:t>
            </a:r>
            <a:r>
              <a:rPr kumimoji="0" lang="zh-CN" altLang="en-US" sz="16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相当与螺纹中径</a:t>
            </a:r>
            <a:r>
              <a:rPr kumimoji="0" lang="en-US" altLang="zh-CN" sz="16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)</a:t>
            </a:r>
            <a:endParaRPr kumimoji="0" lang="en-US" altLang="zh-CN" sz="1600" b="1">
              <a:solidFill>
                <a:schemeClr val="tx1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 algn="l" eaLnBrk="1" hangingPunct="1">
              <a:spcBef>
                <a:spcPct val="25000"/>
              </a:spcBef>
            </a:pPr>
            <a:r>
              <a:rPr kumimoji="0" lang="en-US" altLang="zh-CN" sz="1600" b="1" i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z</a:t>
            </a:r>
            <a:r>
              <a:rPr kumimoji="0" lang="en-US" altLang="zh-CN" sz="1600" b="1" baseline="-25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1</a:t>
            </a:r>
            <a:r>
              <a:rPr kumimoji="0" lang="en-US" altLang="zh-CN" sz="16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-</a:t>
            </a:r>
            <a:r>
              <a:rPr kumimoji="0" lang="zh-CN" altLang="en-US" sz="16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蜗杆头数</a:t>
            </a:r>
            <a:r>
              <a:rPr kumimoji="0" lang="en-US" altLang="zh-CN" sz="16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(</a:t>
            </a:r>
            <a:r>
              <a:rPr kumimoji="0" lang="zh-CN" altLang="en-US" sz="16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相当于螺纹线数</a:t>
            </a:r>
            <a:r>
              <a:rPr kumimoji="0" lang="en-US" altLang="zh-CN" sz="16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)</a:t>
            </a:r>
            <a:endParaRPr kumimoji="0" lang="en-US" altLang="zh-CN" sz="1600" b="1">
              <a:solidFill>
                <a:schemeClr val="tx1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2140" y="5499100"/>
            <a:ext cx="8011795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zh-CN" dirty="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γ角的范围为3.5°~33°，导程角大，传动效率高；导程角小，传动效率低。</a:t>
            </a:r>
            <a:r>
              <a:rPr lang="zh-CN" altLang="zh-CN" i="1" dirty="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γ</a:t>
            </a:r>
            <a:r>
              <a:rPr lang="zh-CN" altLang="zh-CN" dirty="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≤3°40′的蜗杆传动具有自锁性。</a:t>
            </a:r>
            <a:endParaRPr lang="zh-CN" altLang="en-US"/>
          </a:p>
        </p:txBody>
      </p:sp>
      <p:sp>
        <p:nvSpPr>
          <p:cNvPr id="1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72185" y="233680"/>
            <a:ext cx="7492365" cy="49022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3.11-2</a:t>
            </a:r>
            <a:r>
              <a:rPr kumimoji="1" lang="zh-CN" altLang="en-US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蜗杆传动的主要参数及几何尺寸计算</a:t>
            </a:r>
            <a:endParaRPr kumimoji="1" lang="zh-CN" altLang="en-US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30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3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3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0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30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3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9" grpId="0" bldLvl="0" animBg="1"/>
      <p:bldP spid="230412" grpId="0" bldLvl="0" animBg="1"/>
      <p:bldP spid="230415" grpId="0" bldLvl="0" animBg="1"/>
      <p:bldP spid="230416" grpId="0" bldLvl="0" animBg="1"/>
      <p:bldP spid="230417" grpId="0" bldLvl="0" animBg="1"/>
      <p:bldP spid="230420" grpId="0" bldLvl="0" animBg="1"/>
      <p:bldP spid="3075" grpId="0" animBg="1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9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0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1" name="文本框 4"/>
          <p:cNvSpPr txBox="1">
            <a:spLocks noChangeArrowheads="1"/>
          </p:cNvSpPr>
          <p:nvPr/>
        </p:nvSpPr>
        <p:spPr bwMode="auto">
          <a:xfrm>
            <a:off x="207010" y="998855"/>
            <a:ext cx="460438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chemeClr val="tx2">
                        <a:lumMod val="40000"/>
                        <a:lumOff val="60000"/>
                        <a:tint val="66000"/>
                        <a:satMod val="160000"/>
                      </a:schemeClr>
                    </a:gs>
                    <a:gs pos="50000">
                      <a:schemeClr val="tx2">
                        <a:lumMod val="40000"/>
                        <a:lumOff val="60000"/>
                        <a:tint val="44500"/>
                        <a:satMod val="160000"/>
                      </a:schemeClr>
                    </a:gs>
                    <a:gs pos="100000">
                      <a:schemeClr val="tx2">
                        <a:lumMod val="40000"/>
                        <a:lumOff val="60000"/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、</a:t>
            </a:r>
            <a:r>
              <a:rPr lang="zh-CN" altLang="zh-CN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蜗杆的分度圆直径</a:t>
            </a:r>
            <a:r>
              <a:rPr lang="zh-CN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和直径系数</a:t>
            </a:r>
            <a:r>
              <a:rPr lang="zh-CN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endParaRPr lang="zh-CN" altLang="zh-CN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33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2" name="直接连接符 1"/>
          <p:cNvCxnSpPr/>
          <p:nvPr/>
        </p:nvCxnSpPr>
        <p:spPr>
          <a:xfrm>
            <a:off x="432435" y="1449070"/>
            <a:ext cx="4454525" cy="8255"/>
          </a:xfrm>
          <a:prstGeom prst="lin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00" name="Text Box 6"/>
              <p:cNvSpPr txBox="1">
                <a:spLocks noChangeArrowheads="1"/>
              </p:cNvSpPr>
              <p:nvPr/>
            </p:nvSpPr>
            <p:spPr bwMode="auto">
              <a:xfrm>
                <a:off x="612140" y="1943735"/>
                <a:ext cx="8015605" cy="37306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32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32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32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32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umimoji="1" sz="32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32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32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32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32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342900" indent="-342900" algn="l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rgbClr val="A50021"/>
                  </a:buClr>
                  <a:buFont typeface="Wingdings" panose="05000000000000000000" charset="0"/>
                  <a:buChar char="l"/>
                </a:pPr>
                <a:r>
                  <a:rPr kumimoji="0" lang="zh-CN" altLang="en-US"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为保证正确啮合，用</a:t>
                </a:r>
                <a:r>
                  <a:rPr kumimoji="0" lang="zh-CN" altLang="en-US"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与蜗杆尺寸基本相同的滚刀来加工蜗轮。</a:t>
                </a:r>
                <a:endParaRPr kumimoji="0" lang="zh-CN" altLang="en-US"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pPr marL="342900" indent="-342900" algn="l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rgbClr val="A50021"/>
                  </a:buClr>
                  <a:buFont typeface="Wingdings" panose="05000000000000000000" charset="0"/>
                  <a:buChar char="l"/>
                </a:pPr>
                <a:r>
                  <a:rPr kumimoji="0" lang="zh-CN" altLang="en-US"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为减少滚刀的数量</a:t>
                </a:r>
                <a:r>
                  <a:rPr kumimoji="0" lang="zh-CN" altLang="en-US"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并使之标准化，国标对每个标准模数规定了一定数量的滚刀直径即蜗杆分度圆直径</a:t>
                </a:r>
                <a:r>
                  <a:rPr lang="zh-CN" altLang="zh-CN" sz="2000" i="1" dirty="0">
                    <a:solidFill>
                      <a:srgbClr val="000099"/>
                    </a:solidFill>
                    <a:sym typeface="+mn-ea"/>
                  </a:rPr>
                  <a:t>d</a:t>
                </a:r>
                <a:r>
                  <a:rPr lang="zh-CN" altLang="zh-CN" sz="2000" baseline="-25000" dirty="0">
                    <a:solidFill>
                      <a:srgbClr val="000099"/>
                    </a:solidFill>
                    <a:sym typeface="+mn-ea"/>
                  </a:rPr>
                  <a:t>1。</a:t>
                </a:r>
                <a:endParaRPr kumimoji="0" lang="en-US" altLang="zh-CN"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pPr marL="342900" indent="-342900" algn="l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rgbClr val="C00000"/>
                  </a:buClr>
                  <a:buFont typeface="Wingdings" panose="05000000000000000000" charset="0"/>
                  <a:buChar char="l"/>
                </a:pPr>
                <a:r>
                  <a:rPr kumimoji="0" lang="zh-CN" altLang="en-US"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蜗杆分度圆直径与模数</a:t>
                </a:r>
                <a:r>
                  <a:rPr kumimoji="0" lang="en-US" altLang="zh-CN"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m</a:t>
                </a:r>
                <a:r>
                  <a:rPr kumimoji="0" lang="zh-CN" altLang="en-US"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的比值称为</a:t>
                </a:r>
                <a:r>
                  <a:rPr kumimoji="0" lang="zh-CN" altLang="en-US" sz="20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蜗杆直径系数</a:t>
                </a:r>
                <a:r>
                  <a:rPr kumimoji="0" lang="zh-CN" altLang="en-US" sz="200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，即</a:t>
                </a:r>
                <a:endParaRPr kumimoji="0" lang="en-US" altLang="zh-CN"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pPr marL="342900" indent="-342900" algn="l" eaLnBrk="1" latinLnBrk="0" hangingPunct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pitchFamily="18" charset="0"/>
                        </a:rPr>
                        <m:t>𝑞</m:t>
                      </m:r>
                      <m:r>
                        <a:rPr kumimoji="0"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0"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0"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kumimoji="0" lang="en-US" altLang="zh-CN" sz="20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pPr marL="342900" indent="-342900" algn="l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rgbClr val="C00000"/>
                  </a:buClr>
                  <a:buFont typeface="Wingdings" panose="05000000000000000000" charset="0"/>
                  <a:buChar char="l"/>
                </a:pPr>
                <a:r>
                  <a:rPr lang="en-US" altLang="zh-CN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d</a:t>
                </a:r>
                <a:r>
                  <a:rPr lang="en-US" altLang="zh-CN" sz="2000" baseline="-25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1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和</a:t>
                </a:r>
                <a:r>
                  <a:rPr lang="en-US" altLang="zh-CN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q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已经有标准值，常用的标准模数</a:t>
                </a:r>
                <a:r>
                  <a:rPr lang="en-US" altLang="zh-CN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m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和蜗杆分度圆直径</a:t>
                </a:r>
                <a:r>
                  <a:rPr lang="en-US" altLang="zh-CN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d</a:t>
                </a:r>
                <a:r>
                  <a:rPr lang="en-US" altLang="zh-CN" sz="2000" baseline="-25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1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见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教材 </a:t>
                </a:r>
                <a:r>
                  <a:rPr lang="zh-CN" altLang="en-US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  <a:hlinkClick r:id="rId5" action="ppaction://hlinksldjump"/>
                  </a:rPr>
                  <a:t>表</a:t>
                </a:r>
                <a:r>
                  <a:rPr lang="en-US" altLang="zh-CN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  <a:hlinkClick r:id="rId5" action="ppaction://hlinksldjump"/>
                  </a:rPr>
                  <a:t>3.11-1</a:t>
                </a:r>
                <a:r>
                  <a:rPr lang="en-US" altLang="zh-CN" sz="2000" dirty="0" smtClean="0">
                    <a:solidFill>
                      <a:srgbClr val="00206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  <a:sym typeface="+mn-ea"/>
                  </a:rPr>
                  <a:t>.</a:t>
                </a:r>
                <a:endParaRPr kumimoji="0" lang="zh-CN" altLang="en-US" sz="2000" dirty="0">
                  <a:solidFill>
                    <a:srgbClr val="00206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100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2140" y="1943735"/>
                <a:ext cx="8015605" cy="373062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72185" y="233680"/>
            <a:ext cx="7492365" cy="49022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3.11-2</a:t>
            </a:r>
            <a:r>
              <a:rPr kumimoji="1" lang="zh-CN" altLang="en-US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蜗杆传动的主要参数及几何尺寸计算</a:t>
            </a:r>
            <a:endParaRPr kumimoji="1" lang="zh-CN" altLang="en-US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1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9" name="Picture 75" descr="NEXT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0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73" descr="rewind1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4"/>
          <p:cNvSpPr txBox="1">
            <a:spLocks noChangeArrowheads="1"/>
          </p:cNvSpPr>
          <p:nvPr/>
        </p:nvSpPr>
        <p:spPr bwMode="auto">
          <a:xfrm>
            <a:off x="179695" y="1052835"/>
            <a:ext cx="354584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chemeClr val="tx2">
                        <a:lumMod val="40000"/>
                        <a:lumOff val="60000"/>
                        <a:tint val="66000"/>
                        <a:satMod val="160000"/>
                      </a:schemeClr>
                    </a:gs>
                    <a:gs pos="50000">
                      <a:schemeClr val="tx2">
                        <a:lumMod val="40000"/>
                        <a:lumOff val="60000"/>
                        <a:tint val="44500"/>
                        <a:satMod val="160000"/>
                      </a:schemeClr>
                    </a:gs>
                    <a:gs pos="100000">
                      <a:schemeClr val="tx2">
                        <a:lumMod val="40000"/>
                        <a:lumOff val="60000"/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、</a:t>
            </a:r>
            <a:r>
              <a:rPr lang="zh-CN" altLang="zh-CN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蜗杆头数</a:t>
            </a: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z</a:t>
            </a:r>
            <a:r>
              <a:rPr lang="zh-CN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和蜗轮齿数</a:t>
            </a: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z</a:t>
            </a:r>
            <a:r>
              <a:rPr lang="zh-CN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lang="zh-CN" altLang="zh-CN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文本框 99"/>
          <p:cNvSpPr txBox="1">
            <a:spLocks noChangeArrowheads="1"/>
          </p:cNvSpPr>
          <p:nvPr/>
        </p:nvSpPr>
        <p:spPr bwMode="auto">
          <a:xfrm>
            <a:off x="207250" y="1583540"/>
            <a:ext cx="8618538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5080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000" dirty="0">
                <a:solidFill>
                  <a:srgbClr val="000099"/>
                </a:solidFill>
                <a:latin typeface="华文中宋" panose="02010600040101010101" pitchFamily="2" charset="-122"/>
              </a:rPr>
              <a:t>常用的蜗杆头数为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1、2、4、6</a:t>
            </a:r>
            <a:r>
              <a:rPr lang="zh-CN" altLang="zh-CN" sz="2000" dirty="0">
                <a:solidFill>
                  <a:srgbClr val="000099"/>
                </a:solidFill>
                <a:latin typeface="华文中宋" panose="02010600040101010101" pitchFamily="2" charset="-122"/>
              </a:rPr>
              <a:t>。重载传动不宜采用单头蜗杆</a:t>
            </a:r>
            <a:r>
              <a:rPr lang="zh-CN" altLang="zh-CN" sz="2000" dirty="0" smtClean="0">
                <a:solidFill>
                  <a:srgbClr val="000099"/>
                </a:solidFill>
                <a:latin typeface="华文中宋" panose="02010600040101010101" pitchFamily="2" charset="-122"/>
              </a:rPr>
              <a:t>。</a:t>
            </a:r>
            <a:endParaRPr lang="en-US" altLang="zh-CN" sz="2000" dirty="0" smtClean="0">
              <a:solidFill>
                <a:srgbClr val="000099"/>
              </a:solidFill>
              <a:latin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zh-CN" sz="2000" dirty="0" smtClean="0">
                <a:solidFill>
                  <a:srgbClr val="000099"/>
                </a:solidFill>
                <a:latin typeface="华文中宋" panose="02010600040101010101" pitchFamily="2" charset="-122"/>
              </a:rPr>
              <a:t>当</a:t>
            </a:r>
            <a:r>
              <a:rPr lang="zh-CN" altLang="zh-CN" sz="2000" dirty="0">
                <a:solidFill>
                  <a:srgbClr val="000099"/>
                </a:solidFill>
                <a:latin typeface="华文中宋" panose="02010600040101010101" pitchFamily="2" charset="-122"/>
              </a:rPr>
              <a:t>反</a:t>
            </a:r>
            <a:r>
              <a:rPr lang="zh-CN" altLang="zh-CN" sz="2000" dirty="0">
                <a:solidFill>
                  <a:srgbClr val="000099"/>
                </a:solidFill>
                <a:latin typeface="华文中宋" panose="02010600040101010101" pitchFamily="2" charset="-122"/>
              </a:rPr>
              <a:t>向行程自锁时，可取z</a:t>
            </a:r>
            <a:r>
              <a:rPr lang="zh-CN" altLang="zh-CN" sz="2000" baseline="-25000" dirty="0">
                <a:solidFill>
                  <a:srgbClr val="000099"/>
                </a:solidFill>
                <a:latin typeface="华文中宋" panose="02010600040101010101" pitchFamily="2" charset="-122"/>
              </a:rPr>
              <a:t>1</a:t>
            </a:r>
            <a:r>
              <a:rPr lang="zh-CN" altLang="zh-CN" sz="2000" dirty="0">
                <a:solidFill>
                  <a:srgbClr val="000099"/>
                </a:solidFill>
                <a:latin typeface="华文中宋" panose="02010600040101010101" pitchFamily="2" charset="-122"/>
              </a:rPr>
              <a:t>=1</a:t>
            </a:r>
            <a:r>
              <a:rPr lang="zh-CN" altLang="zh-CN" sz="2000" dirty="0" smtClean="0">
                <a:solidFill>
                  <a:srgbClr val="000099"/>
                </a:solidFill>
                <a:latin typeface="华文中宋" panose="02010600040101010101" pitchFamily="2" charset="-122"/>
              </a:rPr>
              <a:t>。</a:t>
            </a:r>
            <a:endParaRPr lang="en-US" altLang="zh-CN" sz="2000" dirty="0" smtClean="0">
              <a:solidFill>
                <a:srgbClr val="000099"/>
              </a:solidFill>
              <a:latin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zh-CN" sz="2000" dirty="0" smtClean="0">
                <a:solidFill>
                  <a:srgbClr val="000099"/>
                </a:solidFill>
                <a:latin typeface="华文中宋" panose="02010600040101010101" pitchFamily="2" charset="-122"/>
              </a:rPr>
              <a:t>蜗杆头数</a:t>
            </a:r>
            <a:r>
              <a:rPr lang="zh-CN" altLang="zh-CN" sz="2000" dirty="0">
                <a:solidFill>
                  <a:srgbClr val="000099"/>
                </a:solidFill>
                <a:latin typeface="华文中宋" panose="02010600040101010101" pitchFamily="2" charset="-122"/>
              </a:rPr>
              <a:t>多，效率高，但导程角大，加工困难。</a:t>
            </a:r>
            <a:endParaRPr lang="zh-CN" altLang="zh-CN" sz="2000" dirty="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4" name="文本框 99"/>
          <p:cNvSpPr txBox="1">
            <a:spLocks noChangeArrowheads="1"/>
          </p:cNvSpPr>
          <p:nvPr/>
        </p:nvSpPr>
        <p:spPr bwMode="auto">
          <a:xfrm>
            <a:off x="288145" y="2781455"/>
            <a:ext cx="8618538" cy="2399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5080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zh-CN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蜗轮齿数z</a:t>
            </a:r>
            <a:r>
              <a:rPr lang="zh-CN" altLang="zh-CN" sz="2000" baseline="-25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zh-CN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根据传动比和蜗杆头数决定。若z</a:t>
            </a:r>
            <a:r>
              <a:rPr lang="zh-CN" altLang="zh-CN" sz="2000" baseline="-25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zh-CN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≥</a:t>
            </a:r>
            <a:r>
              <a:rPr lang="en-US" altLang="zh-CN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30</a:t>
            </a:r>
            <a:r>
              <a:rPr lang="zh-CN" altLang="zh-CN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，可始终保持有两对以上的齿啮合，有利于传动趋于平稳，</a:t>
            </a:r>
            <a:r>
              <a:rPr lang="zh-CN" altLang="zh-CN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所以</a:t>
            </a:r>
            <a:r>
              <a:rPr lang="zh-CN" altLang="zh-CN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通常规定</a:t>
            </a:r>
            <a:r>
              <a:rPr lang="zh-CN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z</a:t>
            </a:r>
            <a:r>
              <a:rPr lang="zh-CN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&gt;</a:t>
            </a:r>
            <a:r>
              <a:rPr 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28</a:t>
            </a:r>
            <a:r>
              <a:rPr lang="zh-CN" altLang="zh-CN" sz="2000" dirty="0" smtClean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en-US" altLang="zh-CN" sz="2000" dirty="0" smtClean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齿数</a:t>
            </a:r>
            <a:r>
              <a:rPr lang="zh-CN" altLang="zh-CN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愈多，蜗轮尺寸愈大，蜗杆轴愈长而刚度愈小，z</a:t>
            </a:r>
            <a:r>
              <a:rPr lang="zh-CN" altLang="zh-CN" sz="2000" baseline="-25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zh-CN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不宜多于100。</a:t>
            </a:r>
            <a:r>
              <a:rPr lang="zh-CN" altLang="en-US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对于动力传动，</a:t>
            </a:r>
            <a:r>
              <a:rPr lang="zh-CN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z</a:t>
            </a:r>
            <a:r>
              <a:rPr lang="zh-CN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&lt;</a:t>
            </a:r>
            <a:r>
              <a:rPr 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80</a:t>
            </a:r>
            <a:r>
              <a:rPr lang="zh-CN" altLang="en-US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。</a:t>
            </a:r>
            <a:r>
              <a:rPr lang="zh-CN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一般取z</a:t>
            </a:r>
            <a:r>
              <a:rPr lang="zh-CN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zh-CN" sz="20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=</a:t>
            </a:r>
            <a:r>
              <a:rPr lang="en-US" altLang="zh-CN" sz="20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32</a:t>
            </a:r>
            <a:r>
              <a:rPr lang="zh-CN" altLang="zh-CN" sz="20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～80</a:t>
            </a:r>
            <a:r>
              <a:rPr lang="zh-CN" altLang="zh-CN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r>
              <a:rPr lang="en-US" altLang="zh-CN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z</a:t>
            </a:r>
            <a:r>
              <a:rPr lang="en-US" altLang="zh-CN" sz="2000" baseline="-25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zh-CN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和</a:t>
            </a:r>
            <a:r>
              <a:rPr lang="en-US" altLang="zh-CN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z</a:t>
            </a:r>
            <a:r>
              <a:rPr lang="en-US" altLang="zh-CN" sz="2000" baseline="-25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zh-CN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最好互质以利于均匀磨损。和数值可参考下表（</a:t>
            </a:r>
            <a:r>
              <a:rPr lang="zh-CN" altLang="zh-CN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教材</a:t>
            </a:r>
            <a:r>
              <a:rPr lang="en-US" altLang="zh-CN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P370</a:t>
            </a:r>
            <a:r>
              <a:rPr lang="zh-CN" altLang="zh-CN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表</a:t>
            </a:r>
            <a:r>
              <a:rPr lang="en-US" altLang="zh-CN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3.11-2</a:t>
            </a:r>
            <a:r>
              <a:rPr lang="zh-CN" altLang="en-US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  <a:r>
              <a:rPr lang="zh-CN" altLang="zh-CN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的推荐值选取。</a:t>
            </a:r>
            <a:endParaRPr lang="zh-CN" altLang="zh-CN" sz="2000" dirty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5" name="表格 -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043940" y="5337175"/>
          <a:ext cx="6221095" cy="1097280"/>
        </p:xfrm>
        <a:graphic>
          <a:graphicData uri="http://schemas.openxmlformats.org/drawingml/2006/table">
            <a:tbl>
              <a:tblPr/>
              <a:tblGrid>
                <a:gridCol w="1555115"/>
                <a:gridCol w="1557020"/>
                <a:gridCol w="1553845"/>
                <a:gridCol w="1555115"/>
              </a:tblGrid>
              <a:tr h="3657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=z</a:t>
                      </a:r>
                      <a:r>
                        <a:rPr kumimoji="0" lang="en-US" altLang="zh-CN" sz="24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/z</a:t>
                      </a:r>
                      <a:r>
                        <a:rPr kumimoji="0" lang="en-US" altLang="zh-CN" sz="24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=z</a:t>
                      </a:r>
                      <a:r>
                        <a:rPr kumimoji="0" lang="en-US" altLang="zh-CN" sz="24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/z</a:t>
                      </a:r>
                      <a:r>
                        <a:rPr kumimoji="0" lang="en-US" altLang="zh-CN" sz="24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z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5~8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32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7</a:t>
                      </a: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～</a:t>
                      </a: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16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4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30</a:t>
                      </a: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～</a:t>
                      </a: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80</a:t>
                      </a:r>
                      <a:endParaRPr kumimoji="0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1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533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207010" y="1487170"/>
            <a:ext cx="3555365" cy="6985"/>
          </a:xfrm>
          <a:prstGeom prst="lin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72185" y="233680"/>
            <a:ext cx="7492365" cy="49022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3.11-2</a:t>
            </a:r>
            <a:r>
              <a:rPr kumimoji="1" lang="zh-CN" altLang="en-US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蜗杆传动的主要参数及几何尺寸计算</a:t>
            </a:r>
            <a:endParaRPr kumimoji="1" lang="zh-CN" altLang="en-US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4"/>
          <p:cNvSpPr txBox="1">
            <a:spLocks noChangeArrowheads="1"/>
          </p:cNvSpPr>
          <p:nvPr/>
        </p:nvSpPr>
        <p:spPr bwMode="auto">
          <a:xfrm>
            <a:off x="342505" y="1043960"/>
            <a:ext cx="139636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chemeClr val="tx2">
                        <a:lumMod val="40000"/>
                        <a:lumOff val="60000"/>
                        <a:tint val="66000"/>
                        <a:satMod val="160000"/>
                      </a:schemeClr>
                    </a:gs>
                    <a:gs pos="50000">
                      <a:schemeClr val="tx2">
                        <a:lumMod val="40000"/>
                        <a:lumOff val="60000"/>
                        <a:tint val="44500"/>
                        <a:satMod val="160000"/>
                      </a:schemeClr>
                    </a:gs>
                    <a:gs pos="100000">
                      <a:schemeClr val="tx2">
                        <a:lumMod val="40000"/>
                        <a:lumOff val="60000"/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、</a:t>
            </a:r>
            <a:r>
              <a:rPr lang="zh-CN" altLang="zh-CN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传动比</a:t>
            </a:r>
            <a:r>
              <a:rPr lang="zh-CN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endParaRPr lang="zh-CN" altLang="zh-CN" sz="2000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文本框 4"/>
          <p:cNvSpPr txBox="1">
            <a:spLocks noChangeArrowheads="1"/>
          </p:cNvSpPr>
          <p:nvPr/>
        </p:nvSpPr>
        <p:spPr bwMode="auto">
          <a:xfrm>
            <a:off x="432435" y="3789045"/>
            <a:ext cx="1960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chemeClr val="tx2">
                        <a:lumMod val="40000"/>
                        <a:lumOff val="60000"/>
                        <a:tint val="66000"/>
                        <a:satMod val="160000"/>
                      </a:schemeClr>
                    </a:gs>
                    <a:gs pos="50000">
                      <a:schemeClr val="tx2">
                        <a:lumMod val="40000"/>
                        <a:lumOff val="60000"/>
                        <a:tint val="44500"/>
                        <a:satMod val="160000"/>
                      </a:schemeClr>
                    </a:gs>
                    <a:gs pos="100000">
                      <a:schemeClr val="tx2">
                        <a:lumMod val="40000"/>
                        <a:lumOff val="60000"/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、</a:t>
            </a:r>
            <a:r>
              <a:rPr lang="zh-CN" altLang="zh-CN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标准中心距</a:t>
            </a:r>
            <a:r>
              <a:rPr lang="zh-CN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endParaRPr lang="zh-CN" altLang="zh-CN" sz="2000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3194" name="对象 27"/>
          <p:cNvGraphicFramePr>
            <a:graphicFrameLocks noChangeAspect="1"/>
          </p:cNvGraphicFramePr>
          <p:nvPr/>
        </p:nvGraphicFramePr>
        <p:xfrm>
          <a:off x="2682344" y="2168954"/>
          <a:ext cx="2128520" cy="895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" name="" r:id="rId5" imgW="1028700" imgH="431800" progId="Equation.KSEE3">
                  <p:embed/>
                </p:oleObj>
              </mc:Choice>
              <mc:Fallback>
                <p:oleObj name="" r:id="rId5" imgW="1028700" imgH="431800" progId="Equation.KSEE3">
                  <p:embed/>
                  <p:pic>
                    <p:nvPicPr>
                      <p:cNvPr id="0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344" y="2168954"/>
                        <a:ext cx="2128520" cy="895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6" name="对象 30"/>
          <p:cNvGraphicFramePr>
            <a:graphicFrameLocks noChangeAspect="1"/>
          </p:cNvGraphicFramePr>
          <p:nvPr/>
        </p:nvGraphicFramePr>
        <p:xfrm>
          <a:off x="1557020" y="4463733"/>
          <a:ext cx="3003550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" name="" r:id="rId7" imgW="1765300" imgH="393700" progId="Equation.KSEE3">
                  <p:embed/>
                </p:oleObj>
              </mc:Choice>
              <mc:Fallback>
                <p:oleObj name="" r:id="rId7" imgW="1765300" imgH="393700" progId="Equation.KSEE3">
                  <p:embed/>
                  <p:pic>
                    <p:nvPicPr>
                      <p:cNvPr id="0" name="对象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020" y="4463733"/>
                        <a:ext cx="3003550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9"/>
          <p:cNvSpPr txBox="1">
            <a:spLocks noChangeArrowheads="1"/>
          </p:cNvSpPr>
          <p:nvPr/>
        </p:nvSpPr>
        <p:spPr bwMode="auto">
          <a:xfrm>
            <a:off x="791845" y="3114040"/>
            <a:ext cx="6791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81305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注意：蜗杆传动的传动比不等于蜗轮、蜗杆的直径比。</a:t>
            </a:r>
            <a:endParaRPr lang="zh-CN" altLang="zh-CN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64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387350" y="1494155"/>
            <a:ext cx="1439545" cy="0"/>
          </a:xfrm>
          <a:prstGeom prst="lin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直接连接符 4"/>
          <p:cNvCxnSpPr/>
          <p:nvPr/>
        </p:nvCxnSpPr>
        <p:spPr>
          <a:xfrm>
            <a:off x="476885" y="4238625"/>
            <a:ext cx="2025015" cy="3810"/>
          </a:xfrm>
          <a:prstGeom prst="lin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文本框 7"/>
          <p:cNvSpPr txBox="1"/>
          <p:nvPr/>
        </p:nvSpPr>
        <p:spPr>
          <a:xfrm>
            <a:off x="612140" y="1764030"/>
            <a:ext cx="4754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 eaLnBrk="1" hangingPunct="1">
              <a:spcBef>
                <a:spcPct val="50000"/>
              </a:spcBef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通常蜗杆传动以蜗杆为主动件，其传动比</a:t>
            </a:r>
            <a:endParaRPr lang="zh-CN" altLang="en-US" sz="2000"/>
          </a:p>
        </p:txBody>
      </p:sp>
      <p:sp>
        <p:nvSpPr>
          <p:cNvPr id="9" name="文本框 8"/>
          <p:cNvSpPr txBox="1"/>
          <p:nvPr/>
        </p:nvSpPr>
        <p:spPr>
          <a:xfrm>
            <a:off x="521970" y="5184140"/>
            <a:ext cx="837946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1" hangingPunct="1">
              <a:lnSpc>
                <a:spcPct val="120000"/>
              </a:lnSpc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标准中心距系列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：</a:t>
            </a:r>
            <a:endParaRPr lang="zh-CN" altLang="en-US" sz="2000" dirty="0">
              <a:latin typeface="Arial" panose="020B0604020202020204" pitchFamily="34" charset="0"/>
              <a:sym typeface="+mn-ea"/>
            </a:endParaRPr>
          </a:p>
          <a:p>
            <a:pPr algn="l" eaLnBrk="1" hangingPunct="1">
              <a:lnSpc>
                <a:spcPct val="120000"/>
              </a:lnSpc>
            </a:pP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    40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50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63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80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100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125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(180)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200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(225)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280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315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(355)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400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(450)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500</a:t>
            </a:r>
            <a:endParaRPr lang="zh-CN" altLang="en-US" sz="2000"/>
          </a:p>
        </p:txBody>
      </p:sp>
      <p:sp>
        <p:nvSpPr>
          <p:cNvPr id="1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72185" y="233680"/>
            <a:ext cx="7492365" cy="49022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3.11-2</a:t>
            </a:r>
            <a:r>
              <a:rPr kumimoji="1" lang="zh-CN" altLang="en-US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蜗杆传动的主要参数及几何尺寸计算</a:t>
            </a:r>
            <a:endParaRPr kumimoji="1" lang="zh-CN" altLang="en-US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" grpId="0"/>
      <p:bldP spid="9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4"/>
          <p:cNvSpPr txBox="1">
            <a:spLocks noChangeArrowheads="1"/>
          </p:cNvSpPr>
          <p:nvPr/>
        </p:nvSpPr>
        <p:spPr bwMode="auto">
          <a:xfrm>
            <a:off x="342505" y="1043960"/>
            <a:ext cx="277304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chemeClr val="tx2">
                        <a:lumMod val="40000"/>
                        <a:lumOff val="60000"/>
                        <a:tint val="66000"/>
                        <a:satMod val="160000"/>
                      </a:schemeClr>
                    </a:gs>
                    <a:gs pos="50000">
                      <a:schemeClr val="tx2">
                        <a:lumMod val="40000"/>
                        <a:lumOff val="60000"/>
                        <a:tint val="44500"/>
                        <a:satMod val="160000"/>
                      </a:schemeClr>
                    </a:gs>
                    <a:gs pos="100000">
                      <a:schemeClr val="tx2">
                        <a:lumMod val="40000"/>
                        <a:lumOff val="60000"/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、</a:t>
            </a:r>
            <a:r>
              <a:rPr lang="zh-CN" altLang="zh-CN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齿面间</a:t>
            </a:r>
            <a:r>
              <a:rPr lang="zh-CN" alt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的滑动速度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endParaRPr lang="en-US" altLang="zh-CN" sz="2000" i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3194" name="对象 27"/>
          <p:cNvGraphicFramePr>
            <a:graphicFrameLocks noChangeAspect="1"/>
          </p:cNvGraphicFramePr>
          <p:nvPr/>
        </p:nvGraphicFramePr>
        <p:xfrm>
          <a:off x="971972" y="3608499"/>
          <a:ext cx="3758565" cy="870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" name="" r:id="rId5" imgW="1816100" imgH="419100" progId="Equation.KSEE3">
                  <p:embed/>
                </p:oleObj>
              </mc:Choice>
              <mc:Fallback>
                <p:oleObj name="" r:id="rId5" imgW="1816100" imgH="419100" progId="Equation.KSEE3">
                  <p:embed/>
                  <p:pic>
                    <p:nvPicPr>
                      <p:cNvPr id="0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972" y="3608499"/>
                        <a:ext cx="3758565" cy="8705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4" name="直接连接符 6"/>
          <p:cNvSpPr>
            <a:spLocks noChangeShapeType="1"/>
          </p:cNvSpPr>
          <p:nvPr/>
        </p:nvSpPr>
        <p:spPr bwMode="auto">
          <a:xfrm>
            <a:off x="0" y="77406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387350" y="1494155"/>
            <a:ext cx="2745105" cy="5080"/>
          </a:xfrm>
          <a:prstGeom prst="lin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文本框 7"/>
          <p:cNvSpPr txBox="1"/>
          <p:nvPr/>
        </p:nvSpPr>
        <p:spPr>
          <a:xfrm>
            <a:off x="521970" y="1809115"/>
            <a:ext cx="425577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    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设</a:t>
            </a:r>
            <a:r>
              <a:rPr lang="en-US" altLang="zh-CN" sz="2000" i="1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000" i="1" baseline="-25000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代表蜗杆的圆周速度，</a:t>
            </a:r>
            <a:r>
              <a:rPr lang="en-US" altLang="zh-CN" sz="2000" i="1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v</a:t>
            </a:r>
            <a:r>
              <a:rPr lang="en-US" altLang="zh-CN" sz="2000" i="1" baseline="-25000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代表蜗轮的圆周速度，则其齿面啮合处的相对滑动速度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+mn-ea"/>
              </a:rPr>
              <a:t>为：</a:t>
            </a:r>
            <a:endParaRPr lang="zh-CN" altLang="en-US" sz="2000" dirty="0"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</p:txBody>
      </p:sp>
      <p:grpSp>
        <p:nvGrpSpPr>
          <p:cNvPr id="117006" name="Group 270"/>
          <p:cNvGrpSpPr/>
          <p:nvPr/>
        </p:nvGrpSpPr>
        <p:grpSpPr bwMode="auto">
          <a:xfrm>
            <a:off x="4793139" y="4086225"/>
            <a:ext cx="3811587" cy="1790700"/>
            <a:chOff x="3039" y="2232"/>
            <a:chExt cx="2401" cy="1128"/>
          </a:xfrm>
        </p:grpSpPr>
        <p:sp>
          <p:nvSpPr>
            <p:cNvPr id="117007" name="Rectangle 271"/>
            <p:cNvSpPr>
              <a:spLocks noChangeArrowheads="1"/>
            </p:cNvSpPr>
            <p:nvPr/>
          </p:nvSpPr>
          <p:spPr bwMode="auto">
            <a:xfrm>
              <a:off x="3601" y="2701"/>
              <a:ext cx="1355" cy="340"/>
            </a:xfrm>
            <a:prstGeom prst="rect">
              <a:avLst/>
            </a:prstGeom>
            <a:solidFill>
              <a:srgbClr val="F8F8F8"/>
            </a:solidFill>
            <a:ln w="38100">
              <a:solidFill>
                <a:srgbClr val="002060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008" name="Rectangle 272"/>
            <p:cNvSpPr>
              <a:spLocks noChangeArrowheads="1"/>
            </p:cNvSpPr>
            <p:nvPr/>
          </p:nvSpPr>
          <p:spPr bwMode="auto">
            <a:xfrm>
              <a:off x="4969" y="2753"/>
              <a:ext cx="411" cy="207"/>
            </a:xfrm>
            <a:prstGeom prst="rect">
              <a:avLst/>
            </a:prstGeom>
            <a:solidFill>
              <a:srgbClr val="F8F8F8"/>
            </a:solidFill>
            <a:ln w="38100">
              <a:solidFill>
                <a:srgbClr val="002060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009" name="Rectangle 273"/>
            <p:cNvSpPr>
              <a:spLocks noChangeArrowheads="1"/>
            </p:cNvSpPr>
            <p:nvPr/>
          </p:nvSpPr>
          <p:spPr bwMode="auto">
            <a:xfrm>
              <a:off x="3176" y="2758"/>
              <a:ext cx="410" cy="205"/>
            </a:xfrm>
            <a:prstGeom prst="rect">
              <a:avLst/>
            </a:prstGeom>
            <a:solidFill>
              <a:srgbClr val="F8F8F8"/>
            </a:solidFill>
            <a:ln w="38100">
              <a:solidFill>
                <a:srgbClr val="002060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010" name="Text Box 274"/>
            <p:cNvSpPr txBox="1">
              <a:spLocks noChangeArrowheads="1"/>
            </p:cNvSpPr>
            <p:nvPr/>
          </p:nvSpPr>
          <p:spPr bwMode="auto">
            <a:xfrm>
              <a:off x="5012" y="2439"/>
              <a:ext cx="24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505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solidFill>
                  <a:srgbClr val="0033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7011" name="Rectangle 275"/>
            <p:cNvSpPr>
              <a:spLocks noChangeArrowheads="1"/>
            </p:cNvSpPr>
            <p:nvPr/>
          </p:nvSpPr>
          <p:spPr bwMode="auto">
            <a:xfrm>
              <a:off x="3724" y="2597"/>
              <a:ext cx="1095" cy="519"/>
            </a:xfrm>
            <a:prstGeom prst="rect">
              <a:avLst/>
            </a:prstGeom>
            <a:solidFill>
              <a:srgbClr val="F8F8F8"/>
            </a:solidFill>
            <a:ln w="38100">
              <a:solidFill>
                <a:srgbClr val="006600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012" name="Line 276"/>
            <p:cNvSpPr>
              <a:spLocks noChangeShapeType="1"/>
            </p:cNvSpPr>
            <p:nvPr/>
          </p:nvSpPr>
          <p:spPr bwMode="auto">
            <a:xfrm>
              <a:off x="3723" y="2687"/>
              <a:ext cx="1108" cy="0"/>
            </a:xfrm>
            <a:prstGeom prst="line">
              <a:avLst/>
            </a:prstGeom>
            <a:noFill/>
            <a:ln w="19050">
              <a:solidFill>
                <a:srgbClr val="00206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013" name="Line 277"/>
            <p:cNvSpPr>
              <a:spLocks noChangeShapeType="1"/>
            </p:cNvSpPr>
            <p:nvPr/>
          </p:nvSpPr>
          <p:spPr bwMode="auto">
            <a:xfrm>
              <a:off x="3730" y="3027"/>
              <a:ext cx="1107" cy="0"/>
            </a:xfrm>
            <a:prstGeom prst="line">
              <a:avLst/>
            </a:prstGeom>
            <a:noFill/>
            <a:ln w="19050">
              <a:solidFill>
                <a:srgbClr val="00206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014" name="Line 278"/>
            <p:cNvSpPr>
              <a:spLocks noChangeShapeType="1"/>
            </p:cNvSpPr>
            <p:nvPr/>
          </p:nvSpPr>
          <p:spPr bwMode="auto">
            <a:xfrm>
              <a:off x="3039" y="2857"/>
              <a:ext cx="2401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Dot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015" name="Line 279"/>
            <p:cNvSpPr>
              <a:spLocks noChangeShapeType="1"/>
            </p:cNvSpPr>
            <p:nvPr/>
          </p:nvSpPr>
          <p:spPr bwMode="auto">
            <a:xfrm>
              <a:off x="4258" y="2376"/>
              <a:ext cx="0" cy="984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prstDash val="lgDashDot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17016" name="Group 280"/>
            <p:cNvGrpSpPr/>
            <p:nvPr/>
          </p:nvGrpSpPr>
          <p:grpSpPr bwMode="auto">
            <a:xfrm>
              <a:off x="4227" y="2618"/>
              <a:ext cx="298" cy="288"/>
              <a:chOff x="4514" y="923"/>
              <a:chExt cx="247" cy="224"/>
            </a:xfrm>
          </p:grpSpPr>
          <p:sp>
            <p:nvSpPr>
              <p:cNvPr id="117017" name="Oval 281"/>
              <p:cNvSpPr>
                <a:spLocks noChangeArrowheads="1"/>
              </p:cNvSpPr>
              <p:nvPr/>
            </p:nvSpPr>
            <p:spPr bwMode="auto">
              <a:xfrm>
                <a:off x="4514" y="1075"/>
                <a:ext cx="51" cy="56"/>
              </a:xfrm>
              <a:prstGeom prst="ellipse">
                <a:avLst/>
              </a:prstGeom>
              <a:solidFill>
                <a:srgbClr val="333399"/>
              </a:solidFill>
              <a:ln w="19050">
                <a:solidFill>
                  <a:schemeClr val="bg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7018" name="Text Box 282"/>
              <p:cNvSpPr txBox="1">
                <a:spLocks noChangeArrowheads="1"/>
              </p:cNvSpPr>
              <p:nvPr/>
            </p:nvSpPr>
            <p:spPr bwMode="auto">
              <a:xfrm>
                <a:off x="4594" y="923"/>
                <a:ext cx="167" cy="2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400" b="1">
                    <a:solidFill>
                      <a:srgbClr val="003399"/>
                    </a:solidFill>
                    <a:latin typeface="Times New Roman" panose="02020603050405020304" pitchFamily="18" charset="0"/>
                  </a:rPr>
                  <a:t>c</a:t>
                </a:r>
                <a:endPara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7019" name="Text Box 283"/>
            <p:cNvSpPr txBox="1">
              <a:spLocks noChangeArrowheads="1"/>
            </p:cNvSpPr>
            <p:nvPr/>
          </p:nvSpPr>
          <p:spPr bwMode="auto">
            <a:xfrm>
              <a:off x="4574" y="2232"/>
              <a:ext cx="2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505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3399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400" b="1">
                <a:solidFill>
                  <a:srgbClr val="003399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17029" name="Line 293"/>
          <p:cNvSpPr>
            <a:spLocks noChangeShapeType="1"/>
          </p:cNvSpPr>
          <p:nvPr/>
        </p:nvSpPr>
        <p:spPr bwMode="auto">
          <a:xfrm>
            <a:off x="6181566" y="5073015"/>
            <a:ext cx="550863" cy="90805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117024" name="Group 288"/>
          <p:cNvGrpSpPr/>
          <p:nvPr/>
        </p:nvGrpSpPr>
        <p:grpSpPr bwMode="auto">
          <a:xfrm>
            <a:off x="6168866" y="5053965"/>
            <a:ext cx="569913" cy="1122363"/>
            <a:chOff x="3898" y="2846"/>
            <a:chExt cx="359" cy="707"/>
          </a:xfrm>
        </p:grpSpPr>
        <p:sp>
          <p:nvSpPr>
            <p:cNvPr id="116821" name="Line 85"/>
            <p:cNvSpPr>
              <a:spLocks noChangeShapeType="1"/>
            </p:cNvSpPr>
            <p:nvPr/>
          </p:nvSpPr>
          <p:spPr bwMode="auto">
            <a:xfrm>
              <a:off x="3898" y="2846"/>
              <a:ext cx="359" cy="59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022" name="Rectangle 286"/>
            <p:cNvSpPr>
              <a:spLocks noChangeArrowheads="1"/>
            </p:cNvSpPr>
            <p:nvPr/>
          </p:nvSpPr>
          <p:spPr bwMode="auto">
            <a:xfrm>
              <a:off x="4059" y="3284"/>
              <a:ext cx="184" cy="26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kumimoji="1" lang="en-US" altLang="zh-CN" sz="28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800" b="1" i="1" baseline="-25000">
                  <a:solidFill>
                    <a:schemeClr val="hlink"/>
                  </a:solidFill>
                  <a:latin typeface="Times New Roman" panose="02020603050405020304" pitchFamily="18" charset="0"/>
                </a:rPr>
                <a:t>S</a:t>
              </a:r>
              <a:endParaRPr kumimoji="1" lang="en-US" altLang="zh-CN" sz="2800" b="1" i="1" baseline="-2500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16740" name="Text Box 4"/>
          <p:cNvSpPr txBox="1">
            <a:spLocks noChangeArrowheads="1"/>
          </p:cNvSpPr>
          <p:nvPr/>
        </p:nvSpPr>
        <p:spPr bwMode="auto">
          <a:xfrm>
            <a:off x="7837170" y="3939540"/>
            <a:ext cx="792480" cy="457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400" b="1" i="1">
                <a:solidFill>
                  <a:schemeClr val="folHlin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ω</a:t>
            </a:r>
            <a:r>
              <a:rPr kumimoji="1" lang="en-US" altLang="zh-CN" sz="2400" b="1" i="1" baseline="-25000">
                <a:solidFill>
                  <a:schemeClr val="folHlin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endParaRPr kumimoji="1" lang="en-US" altLang="zh-CN" sz="2400" b="1" i="1">
              <a:solidFill>
                <a:schemeClr val="folHlink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116969" name="Group 233"/>
          <p:cNvGrpSpPr/>
          <p:nvPr/>
        </p:nvGrpSpPr>
        <p:grpSpPr bwMode="auto">
          <a:xfrm>
            <a:off x="4836001" y="1042035"/>
            <a:ext cx="3843338" cy="2592388"/>
            <a:chOff x="3062" y="320"/>
            <a:chExt cx="2421" cy="1633"/>
          </a:xfrm>
        </p:grpSpPr>
        <p:sp>
          <p:nvSpPr>
            <p:cNvPr id="116970" name="Oval 234"/>
            <p:cNvSpPr>
              <a:spLocks noChangeArrowheads="1"/>
            </p:cNvSpPr>
            <p:nvPr/>
          </p:nvSpPr>
          <p:spPr bwMode="auto">
            <a:xfrm>
              <a:off x="3720" y="466"/>
              <a:ext cx="1039" cy="1094"/>
            </a:xfrm>
            <a:prstGeom prst="ellipse">
              <a:avLst/>
            </a:prstGeom>
            <a:noFill/>
            <a:ln w="28575">
              <a:solidFill>
                <a:srgbClr val="00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971" name="Line 235"/>
            <p:cNvSpPr>
              <a:spLocks noChangeShapeType="1"/>
            </p:cNvSpPr>
            <p:nvPr/>
          </p:nvSpPr>
          <p:spPr bwMode="auto">
            <a:xfrm>
              <a:off x="3599" y="991"/>
              <a:ext cx="1306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972" name="Line 236"/>
            <p:cNvSpPr>
              <a:spLocks noChangeShapeType="1"/>
            </p:cNvSpPr>
            <p:nvPr/>
          </p:nvSpPr>
          <p:spPr bwMode="auto">
            <a:xfrm>
              <a:off x="4235" y="320"/>
              <a:ext cx="0" cy="1333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973" name="Rectangle 237"/>
            <p:cNvSpPr>
              <a:spLocks noChangeArrowheads="1"/>
            </p:cNvSpPr>
            <p:nvPr/>
          </p:nvSpPr>
          <p:spPr bwMode="auto">
            <a:xfrm>
              <a:off x="3780" y="1570"/>
              <a:ext cx="963" cy="38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974" name="Rectangle 238"/>
            <p:cNvSpPr>
              <a:spLocks noChangeArrowheads="1"/>
            </p:cNvSpPr>
            <p:nvPr/>
          </p:nvSpPr>
          <p:spPr bwMode="auto">
            <a:xfrm>
              <a:off x="3203" y="1653"/>
              <a:ext cx="577" cy="224"/>
            </a:xfrm>
            <a:prstGeom prst="rect">
              <a:avLst/>
            </a:prstGeom>
            <a:noFill/>
            <a:ln w="28575">
              <a:solidFill>
                <a:srgbClr val="00206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975" name="Rectangle 239"/>
            <p:cNvSpPr>
              <a:spLocks noChangeArrowheads="1"/>
            </p:cNvSpPr>
            <p:nvPr/>
          </p:nvSpPr>
          <p:spPr bwMode="auto">
            <a:xfrm>
              <a:off x="4743" y="1653"/>
              <a:ext cx="576" cy="224"/>
            </a:xfrm>
            <a:prstGeom prst="rect">
              <a:avLst/>
            </a:prstGeom>
            <a:solidFill>
              <a:srgbClr val="F8F8F8"/>
            </a:solidFill>
            <a:ln w="28575">
              <a:solidFill>
                <a:srgbClr val="00206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976" name="Line 240"/>
            <p:cNvSpPr>
              <a:spLocks noChangeShapeType="1"/>
            </p:cNvSpPr>
            <p:nvPr/>
          </p:nvSpPr>
          <p:spPr bwMode="auto">
            <a:xfrm>
              <a:off x="3062" y="1775"/>
              <a:ext cx="2421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977" name="Oval 241"/>
            <p:cNvSpPr>
              <a:spLocks noChangeArrowheads="1"/>
            </p:cNvSpPr>
            <p:nvPr/>
          </p:nvSpPr>
          <p:spPr bwMode="auto">
            <a:xfrm>
              <a:off x="4209" y="1543"/>
              <a:ext cx="59" cy="59"/>
            </a:xfrm>
            <a:prstGeom prst="ellipse">
              <a:avLst/>
            </a:prstGeom>
            <a:solidFill>
              <a:srgbClr val="333399"/>
            </a:solidFill>
            <a:ln w="19050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978" name="Oval 242"/>
            <p:cNvSpPr>
              <a:spLocks noChangeArrowheads="1"/>
            </p:cNvSpPr>
            <p:nvPr/>
          </p:nvSpPr>
          <p:spPr bwMode="auto">
            <a:xfrm>
              <a:off x="4202" y="960"/>
              <a:ext cx="60" cy="59"/>
            </a:xfrm>
            <a:prstGeom prst="ellipse">
              <a:avLst/>
            </a:prstGeom>
            <a:solidFill>
              <a:srgbClr val="333399"/>
            </a:solidFill>
            <a:ln w="19050">
              <a:solidFill>
                <a:srgbClr val="66FF3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979" name="Text Box 243"/>
            <p:cNvSpPr txBox="1">
              <a:spLocks noChangeArrowheads="1"/>
            </p:cNvSpPr>
            <p:nvPr/>
          </p:nvSpPr>
          <p:spPr bwMode="auto">
            <a:xfrm>
              <a:off x="4455" y="1483"/>
              <a:ext cx="250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505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66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6980" name="Text Box 244"/>
            <p:cNvSpPr txBox="1">
              <a:spLocks noChangeArrowheads="1"/>
            </p:cNvSpPr>
            <p:nvPr/>
          </p:nvSpPr>
          <p:spPr bwMode="auto">
            <a:xfrm>
              <a:off x="4382" y="601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505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66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400" b="1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6981" name="Text Box 245"/>
            <p:cNvSpPr txBox="1">
              <a:spLocks noChangeArrowheads="1"/>
            </p:cNvSpPr>
            <p:nvPr/>
          </p:nvSpPr>
          <p:spPr bwMode="auto">
            <a:xfrm>
              <a:off x="4220" y="1204"/>
              <a:ext cx="2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66"/>
                  </a:solidFill>
                  <a:latin typeface="Times New Roman" panose="02020603050405020304" pitchFamily="18" charset="0"/>
                </a:rPr>
                <a:t>c</a:t>
              </a:r>
              <a:endParaRPr kumimoji="1" lang="en-US" altLang="zh-CN" sz="2400" b="1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16786" name="Line 50"/>
          <p:cNvSpPr>
            <a:spLocks noChangeShapeType="1"/>
          </p:cNvSpPr>
          <p:nvPr/>
        </p:nvSpPr>
        <p:spPr bwMode="auto">
          <a:xfrm flipV="1">
            <a:off x="6511766" y="4650740"/>
            <a:ext cx="476250" cy="811213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117027" name="Group 291"/>
          <p:cNvGrpSpPr/>
          <p:nvPr/>
        </p:nvGrpSpPr>
        <p:grpSpPr bwMode="auto">
          <a:xfrm>
            <a:off x="6180296" y="5067935"/>
            <a:ext cx="555625" cy="923925"/>
            <a:chOff x="3908" y="2856"/>
            <a:chExt cx="350" cy="582"/>
          </a:xfrm>
        </p:grpSpPr>
        <p:sp>
          <p:nvSpPr>
            <p:cNvPr id="116968" name="Freeform 232"/>
            <p:cNvSpPr/>
            <p:nvPr/>
          </p:nvSpPr>
          <p:spPr bwMode="auto">
            <a:xfrm>
              <a:off x="3908" y="2856"/>
              <a:ext cx="348" cy="582"/>
            </a:xfrm>
            <a:custGeom>
              <a:avLst/>
              <a:gdLst>
                <a:gd name="T0" fmla="*/ 0 w 348"/>
                <a:gd name="T1" fmla="*/ 0 h 582"/>
                <a:gd name="T2" fmla="*/ 348 w 348"/>
                <a:gd name="T3" fmla="*/ 0 h 582"/>
                <a:gd name="T4" fmla="*/ 348 w 348"/>
                <a:gd name="T5" fmla="*/ 582 h 582"/>
                <a:gd name="T6" fmla="*/ 0 w 348"/>
                <a:gd name="T7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8" h="582">
                  <a:moveTo>
                    <a:pt x="0" y="0"/>
                  </a:moveTo>
                  <a:lnTo>
                    <a:pt x="348" y="0"/>
                  </a:lnTo>
                  <a:lnTo>
                    <a:pt x="348" y="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33">
                <a:alpha val="50000"/>
              </a:srgbClr>
            </a:solidFill>
            <a:ln w="12700">
              <a:solidFill>
                <a:srgbClr val="FFC000">
                  <a:alpha val="0"/>
                </a:srgbClr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16934" name="Group 198"/>
            <p:cNvGrpSpPr/>
            <p:nvPr/>
          </p:nvGrpSpPr>
          <p:grpSpPr bwMode="auto">
            <a:xfrm>
              <a:off x="3935" y="3087"/>
              <a:ext cx="323" cy="269"/>
              <a:chOff x="3911" y="1779"/>
              <a:chExt cx="323" cy="269"/>
            </a:xfrm>
          </p:grpSpPr>
          <p:sp>
            <p:nvSpPr>
              <p:cNvPr id="116932" name="Rectangle 196"/>
              <p:cNvSpPr>
                <a:spLocks noChangeArrowheads="1"/>
              </p:cNvSpPr>
              <p:nvPr/>
            </p:nvSpPr>
            <p:spPr bwMode="auto">
              <a:xfrm>
                <a:off x="3911" y="1779"/>
                <a:ext cx="224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0000"/>
                    </a:solidFill>
                    <a:miter lim="800000"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kumimoji="1" lang="en-US" altLang="zh-CN" sz="2800" b="1">
                    <a:solidFill>
                      <a:srgbClr val="003399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γ</a:t>
                </a:r>
                <a:endParaRPr kumimoji="1" lang="en-US" altLang="zh-CN" sz="2800" b="1">
                  <a:solidFill>
                    <a:srgbClr val="003399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116933" name="Freeform 197"/>
              <p:cNvSpPr/>
              <p:nvPr/>
            </p:nvSpPr>
            <p:spPr bwMode="auto">
              <a:xfrm>
                <a:off x="4118" y="1904"/>
                <a:ext cx="116" cy="30"/>
              </a:xfrm>
              <a:custGeom>
                <a:avLst/>
                <a:gdLst>
                  <a:gd name="T0" fmla="*/ 0 w 116"/>
                  <a:gd name="T1" fmla="*/ 30 h 30"/>
                  <a:gd name="T2" fmla="*/ 30 w 116"/>
                  <a:gd name="T3" fmla="*/ 12 h 30"/>
                  <a:gd name="T4" fmla="*/ 64 w 116"/>
                  <a:gd name="T5" fmla="*/ 2 h 30"/>
                  <a:gd name="T6" fmla="*/ 116 w 116"/>
                  <a:gd name="T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6" h="30">
                    <a:moveTo>
                      <a:pt x="0" y="30"/>
                    </a:moveTo>
                    <a:cubicBezTo>
                      <a:pt x="9" y="23"/>
                      <a:pt x="19" y="17"/>
                      <a:pt x="30" y="12"/>
                    </a:cubicBezTo>
                    <a:cubicBezTo>
                      <a:pt x="41" y="7"/>
                      <a:pt x="50" y="4"/>
                      <a:pt x="64" y="2"/>
                    </a:cubicBezTo>
                    <a:cubicBezTo>
                      <a:pt x="78" y="0"/>
                      <a:pt x="97" y="0"/>
                      <a:pt x="116" y="0"/>
                    </a:cubicBezTo>
                  </a:path>
                </a:pathLst>
              </a:custGeom>
              <a:noFill/>
              <a:ln w="19050" cap="flat" cmpd="sng">
                <a:solidFill>
                  <a:schemeClr val="bg1"/>
                </a:solidFill>
                <a:prstDash val="solid"/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grpSp>
        <p:nvGrpSpPr>
          <p:cNvPr id="117028" name="Group 292"/>
          <p:cNvGrpSpPr/>
          <p:nvPr/>
        </p:nvGrpSpPr>
        <p:grpSpPr bwMode="auto">
          <a:xfrm>
            <a:off x="5657056" y="2557145"/>
            <a:ext cx="985838" cy="466725"/>
            <a:chOff x="3588" y="1276"/>
            <a:chExt cx="621" cy="294"/>
          </a:xfrm>
        </p:grpSpPr>
        <p:sp>
          <p:nvSpPr>
            <p:cNvPr id="116955" name="Line 219"/>
            <p:cNvSpPr>
              <a:spLocks noChangeShapeType="1"/>
            </p:cNvSpPr>
            <p:nvPr/>
          </p:nvSpPr>
          <p:spPr bwMode="auto">
            <a:xfrm flipH="1">
              <a:off x="3840" y="1570"/>
              <a:ext cx="36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956" name="Rectangle 220"/>
            <p:cNvSpPr>
              <a:spLocks noChangeArrowheads="1"/>
            </p:cNvSpPr>
            <p:nvPr/>
          </p:nvSpPr>
          <p:spPr bwMode="auto">
            <a:xfrm>
              <a:off x="3588" y="1276"/>
              <a:ext cx="265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kumimoji="1" lang="en-US" altLang="zh-CN" sz="2400" b="1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i="1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 baseline="-25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6961" name="Group 225"/>
          <p:cNvGrpSpPr/>
          <p:nvPr/>
        </p:nvGrpSpPr>
        <p:grpSpPr bwMode="auto">
          <a:xfrm>
            <a:off x="5967254" y="1855470"/>
            <a:ext cx="1222375" cy="2389188"/>
            <a:chOff x="3785" y="828"/>
            <a:chExt cx="770" cy="1505"/>
          </a:xfrm>
        </p:grpSpPr>
        <p:sp>
          <p:nvSpPr>
            <p:cNvPr id="116938" name="Text Box 202"/>
            <p:cNvSpPr txBox="1">
              <a:spLocks noChangeArrowheads="1"/>
            </p:cNvSpPr>
            <p:nvPr/>
          </p:nvSpPr>
          <p:spPr bwMode="auto">
            <a:xfrm>
              <a:off x="4180" y="2046"/>
              <a:ext cx="37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folHlink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ω</a:t>
              </a:r>
              <a:r>
                <a:rPr kumimoji="1" lang="en-US" altLang="zh-CN" sz="2400" b="1" i="1" baseline="-25000">
                  <a:solidFill>
                    <a:schemeClr val="folHlink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2</a:t>
              </a:r>
              <a:endParaRPr kumimoji="1" lang="en-US" altLang="zh-CN" sz="2400" b="1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16959" name="Group 223"/>
            <p:cNvGrpSpPr/>
            <p:nvPr/>
          </p:nvGrpSpPr>
          <p:grpSpPr bwMode="auto">
            <a:xfrm>
              <a:off x="3785" y="828"/>
              <a:ext cx="374" cy="408"/>
              <a:chOff x="3785" y="828"/>
              <a:chExt cx="374" cy="408"/>
            </a:xfrm>
          </p:grpSpPr>
          <p:sp>
            <p:nvSpPr>
              <p:cNvPr id="116954" name="Freeform 218"/>
              <p:cNvSpPr/>
              <p:nvPr/>
            </p:nvSpPr>
            <p:spPr bwMode="auto">
              <a:xfrm>
                <a:off x="3789" y="828"/>
                <a:ext cx="48" cy="408"/>
              </a:xfrm>
              <a:custGeom>
                <a:avLst/>
                <a:gdLst>
                  <a:gd name="T0" fmla="*/ 48 w 48"/>
                  <a:gd name="T1" fmla="*/ 408 h 408"/>
                  <a:gd name="T2" fmla="*/ 27 w 48"/>
                  <a:gd name="T3" fmla="*/ 348 h 408"/>
                  <a:gd name="T4" fmla="*/ 12 w 48"/>
                  <a:gd name="T5" fmla="*/ 288 h 408"/>
                  <a:gd name="T6" fmla="*/ 3 w 48"/>
                  <a:gd name="T7" fmla="*/ 213 h 408"/>
                  <a:gd name="T8" fmla="*/ 6 w 48"/>
                  <a:gd name="T9" fmla="*/ 120 h 408"/>
                  <a:gd name="T10" fmla="*/ 39 w 48"/>
                  <a:gd name="T11" fmla="*/ 0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" h="408">
                    <a:moveTo>
                      <a:pt x="48" y="408"/>
                    </a:moveTo>
                    <a:cubicBezTo>
                      <a:pt x="40" y="388"/>
                      <a:pt x="33" y="368"/>
                      <a:pt x="27" y="348"/>
                    </a:cubicBezTo>
                    <a:cubicBezTo>
                      <a:pt x="21" y="328"/>
                      <a:pt x="16" y="310"/>
                      <a:pt x="12" y="288"/>
                    </a:cubicBezTo>
                    <a:cubicBezTo>
                      <a:pt x="8" y="266"/>
                      <a:pt x="4" y="241"/>
                      <a:pt x="3" y="213"/>
                    </a:cubicBezTo>
                    <a:cubicBezTo>
                      <a:pt x="2" y="185"/>
                      <a:pt x="0" y="155"/>
                      <a:pt x="6" y="120"/>
                    </a:cubicBezTo>
                    <a:cubicBezTo>
                      <a:pt x="12" y="85"/>
                      <a:pt x="25" y="42"/>
                      <a:pt x="39" y="0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958" name="Rectangle 222"/>
              <p:cNvSpPr>
                <a:spLocks noChangeArrowheads="1"/>
              </p:cNvSpPr>
              <p:nvPr/>
            </p:nvSpPr>
            <p:spPr bwMode="auto">
              <a:xfrm>
                <a:off x="3785" y="912"/>
                <a:ext cx="37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0000"/>
                    </a:solidFill>
                    <a:miter lim="800000"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400" b="1" i="1">
                    <a:solidFill>
                      <a:srgbClr val="000099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ω</a:t>
                </a:r>
                <a:r>
                  <a:rPr kumimoji="1" lang="en-US" altLang="zh-CN" sz="2400" b="1" i="1" baseline="-25000">
                    <a:solidFill>
                      <a:srgbClr val="000066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2</a:t>
                </a:r>
                <a:endParaRPr kumimoji="1" lang="en-US" altLang="zh-CN" sz="2400" b="1" i="1" baseline="-25000">
                  <a:solidFill>
                    <a:srgbClr val="000066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</p:grpSp>
      <p:grpSp>
        <p:nvGrpSpPr>
          <p:cNvPr id="116997" name="Group 261"/>
          <p:cNvGrpSpPr/>
          <p:nvPr/>
        </p:nvGrpSpPr>
        <p:grpSpPr bwMode="auto">
          <a:xfrm>
            <a:off x="5725954" y="3701415"/>
            <a:ext cx="1987550" cy="2516188"/>
            <a:chOff x="3619" y="1994"/>
            <a:chExt cx="1252" cy="1585"/>
          </a:xfrm>
        </p:grpSpPr>
        <p:sp>
          <p:nvSpPr>
            <p:cNvPr id="116998" name="Rectangle 262"/>
            <p:cNvSpPr>
              <a:spLocks noChangeArrowheads="1"/>
            </p:cNvSpPr>
            <p:nvPr/>
          </p:nvSpPr>
          <p:spPr bwMode="auto">
            <a:xfrm rot="3680751">
              <a:off x="4168" y="2838"/>
              <a:ext cx="116" cy="74"/>
            </a:xfrm>
            <a:prstGeom prst="rect">
              <a:avLst/>
            </a:prstGeom>
            <a:solidFill>
              <a:schemeClr val="accent2"/>
            </a:solidFill>
            <a:ln w="3175">
              <a:solidFill>
                <a:srgbClr val="66FF33"/>
              </a:solidFill>
              <a:miter lim="800000"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16999" name="Group 263"/>
            <p:cNvGrpSpPr/>
            <p:nvPr/>
          </p:nvGrpSpPr>
          <p:grpSpPr bwMode="auto">
            <a:xfrm>
              <a:off x="3619" y="1994"/>
              <a:ext cx="1252" cy="1585"/>
              <a:chOff x="3619" y="1994"/>
              <a:chExt cx="1252" cy="1585"/>
            </a:xfrm>
          </p:grpSpPr>
          <p:sp>
            <p:nvSpPr>
              <p:cNvPr id="117000" name="Text Box 264"/>
              <p:cNvSpPr txBox="1">
                <a:spLocks noChangeArrowheads="1"/>
              </p:cNvSpPr>
              <p:nvPr/>
            </p:nvSpPr>
            <p:spPr bwMode="auto">
              <a:xfrm>
                <a:off x="3619" y="1994"/>
                <a:ext cx="18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400" b="1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endParaRPr kumimoji="1" lang="en-US" altLang="zh-CN" sz="2400" b="1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7001" name="Line 265"/>
              <p:cNvSpPr>
                <a:spLocks noChangeShapeType="1"/>
              </p:cNvSpPr>
              <p:nvPr/>
            </p:nvSpPr>
            <p:spPr bwMode="auto">
              <a:xfrm>
                <a:off x="3775" y="2032"/>
                <a:ext cx="915" cy="154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7002" name="Text Box 266"/>
              <p:cNvSpPr txBox="1">
                <a:spLocks noChangeArrowheads="1"/>
              </p:cNvSpPr>
              <p:nvPr/>
            </p:nvSpPr>
            <p:spPr bwMode="auto">
              <a:xfrm>
                <a:off x="4691" y="3282"/>
                <a:ext cx="18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zh-CN" sz="2400" b="1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endParaRPr kumimoji="1" lang="en-US" altLang="zh-CN" sz="2400" b="1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7003" name="Freeform 267"/>
              <p:cNvSpPr/>
              <p:nvPr/>
            </p:nvSpPr>
            <p:spPr bwMode="auto">
              <a:xfrm>
                <a:off x="4266" y="3162"/>
                <a:ext cx="166" cy="51"/>
              </a:xfrm>
              <a:custGeom>
                <a:avLst/>
                <a:gdLst>
                  <a:gd name="T0" fmla="*/ 0 w 138"/>
                  <a:gd name="T1" fmla="*/ 40 h 40"/>
                  <a:gd name="T2" fmla="*/ 48 w 138"/>
                  <a:gd name="T3" fmla="*/ 38 h 40"/>
                  <a:gd name="T4" fmla="*/ 94 w 138"/>
                  <a:gd name="T5" fmla="*/ 26 h 40"/>
                  <a:gd name="T6" fmla="*/ 138 w 138"/>
                  <a:gd name="T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" h="40">
                    <a:moveTo>
                      <a:pt x="0" y="40"/>
                    </a:moveTo>
                    <a:cubicBezTo>
                      <a:pt x="16" y="40"/>
                      <a:pt x="32" y="40"/>
                      <a:pt x="48" y="38"/>
                    </a:cubicBezTo>
                    <a:cubicBezTo>
                      <a:pt x="64" y="36"/>
                      <a:pt x="79" y="32"/>
                      <a:pt x="94" y="26"/>
                    </a:cubicBezTo>
                    <a:cubicBezTo>
                      <a:pt x="109" y="20"/>
                      <a:pt x="123" y="10"/>
                      <a:pt x="138" y="0"/>
                    </a:cubicBezTo>
                  </a:path>
                </a:pathLst>
              </a:custGeom>
              <a:noFill/>
              <a:ln w="19050" cap="flat" cmpd="sng">
                <a:solidFill>
                  <a:srgbClr val="66FF33"/>
                </a:solidFill>
                <a:prstDash val="solid"/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7004" name="Rectangle 268"/>
              <p:cNvSpPr>
                <a:spLocks noChangeArrowheads="1"/>
              </p:cNvSpPr>
              <p:nvPr/>
            </p:nvSpPr>
            <p:spPr bwMode="auto">
              <a:xfrm>
                <a:off x="4271" y="3121"/>
                <a:ext cx="224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0000"/>
                    </a:solidFill>
                    <a:miter lim="800000"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kumimoji="1" lang="en-US" altLang="zh-CN" sz="2800" b="1">
                    <a:solidFill>
                      <a:srgbClr val="003399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γ</a:t>
                </a:r>
                <a:endParaRPr kumimoji="1" lang="en-US" altLang="zh-CN" sz="2800" b="1">
                  <a:solidFill>
                    <a:srgbClr val="003399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</p:grpSp>
      <p:grpSp>
        <p:nvGrpSpPr>
          <p:cNvPr id="117025" name="Group 289"/>
          <p:cNvGrpSpPr/>
          <p:nvPr/>
        </p:nvGrpSpPr>
        <p:grpSpPr bwMode="auto">
          <a:xfrm>
            <a:off x="6740366" y="5074603"/>
            <a:ext cx="282575" cy="1169987"/>
            <a:chOff x="4258" y="2889"/>
            <a:chExt cx="178" cy="707"/>
          </a:xfrm>
        </p:grpSpPr>
        <p:sp>
          <p:nvSpPr>
            <p:cNvPr id="116826" name="Line 90"/>
            <p:cNvSpPr>
              <a:spLocks noChangeShapeType="1"/>
            </p:cNvSpPr>
            <p:nvPr/>
          </p:nvSpPr>
          <p:spPr bwMode="auto">
            <a:xfrm>
              <a:off x="4258" y="2889"/>
              <a:ext cx="0" cy="55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827" name="Text Box 91"/>
            <p:cNvSpPr txBox="1">
              <a:spLocks noChangeArrowheads="1"/>
            </p:cNvSpPr>
            <p:nvPr/>
          </p:nvSpPr>
          <p:spPr bwMode="auto">
            <a:xfrm>
              <a:off x="4287" y="3374"/>
              <a:ext cx="149" cy="222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i="1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7026" name="Group 290"/>
          <p:cNvGrpSpPr/>
          <p:nvPr/>
        </p:nvGrpSpPr>
        <p:grpSpPr bwMode="auto">
          <a:xfrm>
            <a:off x="6137116" y="4620578"/>
            <a:ext cx="601663" cy="449262"/>
            <a:chOff x="3878" y="2573"/>
            <a:chExt cx="379" cy="283"/>
          </a:xfrm>
        </p:grpSpPr>
        <p:sp>
          <p:nvSpPr>
            <p:cNvPr id="116829" name="Line 93"/>
            <p:cNvSpPr>
              <a:spLocks noChangeShapeType="1"/>
            </p:cNvSpPr>
            <p:nvPr/>
          </p:nvSpPr>
          <p:spPr bwMode="auto">
            <a:xfrm flipH="1">
              <a:off x="3901" y="2856"/>
              <a:ext cx="35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830" name="Text Box 94"/>
            <p:cNvSpPr txBox="1">
              <a:spLocks noChangeArrowheads="1"/>
            </p:cNvSpPr>
            <p:nvPr/>
          </p:nvSpPr>
          <p:spPr bwMode="auto">
            <a:xfrm>
              <a:off x="3878" y="2573"/>
              <a:ext cx="149" cy="23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rgbClr val="003399"/>
                  </a:solidFill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i="1" baseline="-25000">
                  <a:solidFill>
                    <a:srgbClr val="003399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400" b="1">
                <a:solidFill>
                  <a:srgbClr val="003399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17032" name="Line 296"/>
          <p:cNvSpPr>
            <a:spLocks noChangeShapeType="1"/>
          </p:cNvSpPr>
          <p:nvPr/>
        </p:nvSpPr>
        <p:spPr bwMode="auto">
          <a:xfrm>
            <a:off x="6483191" y="3025140"/>
            <a:ext cx="393700" cy="6096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72185" y="233680"/>
            <a:ext cx="7492365" cy="49022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3.11-2</a:t>
            </a:r>
            <a:r>
              <a:rPr kumimoji="1" lang="zh-CN" altLang="en-US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蜗杆传动的主要参数及几何尺寸计算</a:t>
            </a:r>
            <a:endParaRPr kumimoji="1" lang="zh-CN" altLang="en-US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6483350" y="4283710"/>
            <a:ext cx="584835" cy="179705"/>
          </a:xfrm>
          <a:prstGeom prst="rightArrow">
            <a:avLst/>
          </a:prstGeom>
          <a:solidFill>
            <a:schemeClr val="bg2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5" name="上箭头 4"/>
          <p:cNvSpPr/>
          <p:nvPr/>
        </p:nvSpPr>
        <p:spPr>
          <a:xfrm>
            <a:off x="8126730" y="4733925"/>
            <a:ext cx="183515" cy="764540"/>
          </a:xfrm>
          <a:prstGeom prst="up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3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4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01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3" name="文本框 1"/>
          <p:cNvSpPr txBox="1">
            <a:spLocks noChangeArrowheads="1"/>
          </p:cNvSpPr>
          <p:nvPr/>
        </p:nvSpPr>
        <p:spPr bwMode="auto">
          <a:xfrm>
            <a:off x="79375" y="866775"/>
            <a:ext cx="493268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二、普通圆柱蜗杆传动的几何尺寸计算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4"/>
          <p:cNvSpPr txBox="1">
            <a:spLocks noChangeArrowheads="1"/>
          </p:cNvSpPr>
          <p:nvPr/>
        </p:nvSpPr>
        <p:spPr bwMode="auto">
          <a:xfrm>
            <a:off x="3375025" y="5837238"/>
            <a:ext cx="55181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标准普通圆柱蜗杆传动</a:t>
            </a: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主要几何尺寸</a:t>
            </a: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  <a:hlinkClick r:id="rId4" action="ppaction://hlinksldjump"/>
              </a:rPr>
              <a:t>计算公式</a:t>
            </a:r>
            <a:r>
              <a:rPr lang="en-US" altLang="zh-CN" sz="2000">
                <a:solidFill>
                  <a:srgbClr val="000099"/>
                </a:solidFill>
                <a:latin typeface="华文中宋" panose="02010600040101010101" pitchFamily="2" charset="-122"/>
                <a:hlinkClick r:id="rId4" action="ppaction://hlinksldjump"/>
              </a:rPr>
              <a:t>→</a:t>
            </a:r>
            <a:endParaRPr lang="en-US" altLang="zh-CN" sz="20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pic>
        <p:nvPicPr>
          <p:cNvPr id="8" name="图片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1285875"/>
            <a:ext cx="6715125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8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72185" y="233680"/>
            <a:ext cx="7492365" cy="49022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3.11-2</a:t>
            </a:r>
            <a:r>
              <a:rPr kumimoji="1" lang="zh-CN" altLang="en-US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蜗杆传动的主要参数及几何尺寸计算</a:t>
            </a:r>
            <a:endParaRPr kumimoji="1" lang="zh-CN" altLang="en-US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3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170" name="Picture 14" descr="0010_副本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D4FCFE">
                  <a:alpha val="100000"/>
                </a:srgbClr>
              </a:clrFrom>
              <a:clrTo>
                <a:srgbClr val="D4FCFE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55" y="3478530"/>
            <a:ext cx="7757160" cy="2049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161925" y="819150"/>
            <a:ext cx="3347720" cy="39878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l" eaLnBrk="1" hangingPunct="1"/>
            <a:r>
              <a:rPr lang="zh-CN" altLang="en-US" sz="20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三、蜗杆传动的变位</a:t>
            </a:r>
            <a:endParaRPr lang="zh-CN" altLang="en-US" sz="2000" b="1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054" y="5903754"/>
            <a:ext cx="277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Rectangle 6"/>
          <p:cNvSpPr>
            <a:spLocks noChangeArrowheads="1"/>
          </p:cNvSpPr>
          <p:nvPr/>
        </p:nvSpPr>
        <p:spPr bwMode="auto">
          <a:xfrm>
            <a:off x="4931410" y="863600"/>
            <a:ext cx="4047490" cy="2194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l" eaLnBrk="1" hangingPunct="1">
              <a:spcBef>
                <a:spcPct val="15000"/>
              </a:spcBef>
            </a:pPr>
            <a:r>
              <a:rPr kumimoji="0" lang="en-US" altLang="zh-CN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(3)</a:t>
            </a:r>
            <a:r>
              <a:rPr kumimoji="0" lang="zh-CN" altLang="en-US" sz="1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不变位</a:t>
            </a:r>
            <a:r>
              <a:rPr kumimoji="0" lang="en-US" altLang="zh-CN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:</a:t>
            </a:r>
            <a:r>
              <a:rPr kumimoji="0" lang="zh-CN" altLang="en-US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蜗杆分度线与蜗轮分度圆相切；</a:t>
            </a:r>
            <a:endParaRPr kumimoji="0" lang="en-US" altLang="zh-CN" sz="18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Wingdings" panose="05000000000000000000" pitchFamily="2" charset="2"/>
            </a:endParaRPr>
          </a:p>
          <a:p>
            <a:pPr algn="l" eaLnBrk="1" hangingPunct="1">
              <a:spcBef>
                <a:spcPct val="15000"/>
              </a:spcBef>
            </a:pPr>
            <a:r>
              <a:rPr kumimoji="0" lang="en-US" altLang="zh-CN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kumimoji="0" lang="zh-CN" altLang="en-US" sz="1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变位</a:t>
            </a:r>
            <a:r>
              <a:rPr kumimoji="0" lang="en-US" altLang="zh-CN" sz="1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:</a:t>
            </a:r>
            <a:r>
              <a:rPr kumimoji="0" lang="zh-CN" altLang="en-US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蜗杆分度线与蜗轮分度圆分离</a:t>
            </a:r>
            <a:r>
              <a:rPr kumimoji="0" lang="en-US" altLang="zh-CN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;</a:t>
            </a:r>
            <a:endParaRPr kumimoji="0" lang="en-US" altLang="zh-CN" sz="18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Wingdings" panose="05000000000000000000" pitchFamily="2" charset="2"/>
            </a:endParaRPr>
          </a:p>
          <a:p>
            <a:pPr algn="l" eaLnBrk="1" hangingPunct="1">
              <a:spcBef>
                <a:spcPct val="15000"/>
              </a:spcBef>
            </a:pPr>
            <a:r>
              <a:rPr kumimoji="0" lang="en-US" altLang="zh-CN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   </a:t>
            </a:r>
            <a:r>
              <a:rPr kumimoji="0" lang="zh-CN" altLang="en-US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中心距较标准值改变</a:t>
            </a:r>
            <a:r>
              <a:rPr kumimoji="0" lang="en-US" altLang="zh-CN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;</a:t>
            </a:r>
            <a:endParaRPr kumimoji="0" lang="en-US" altLang="zh-CN" sz="18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Wingdings" panose="05000000000000000000" pitchFamily="2" charset="2"/>
            </a:endParaRPr>
          </a:p>
          <a:p>
            <a:pPr algn="l" eaLnBrk="1" hangingPunct="1">
              <a:spcBef>
                <a:spcPct val="15000"/>
              </a:spcBef>
            </a:pPr>
            <a:r>
              <a:rPr kumimoji="0" lang="en-US" altLang="zh-CN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kumimoji="0" lang="zh-CN" altLang="en-US" sz="1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正变位，增大；负变位，减小</a:t>
            </a:r>
            <a:r>
              <a:rPr kumimoji="0" lang="zh-CN" altLang="en-US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。</a:t>
            </a:r>
            <a:endParaRPr kumimoji="0" lang="en-US" altLang="zh-CN" sz="18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Wingdings" panose="05000000000000000000" pitchFamily="2" charset="2"/>
            </a:endParaRPr>
          </a:p>
          <a:p>
            <a:pPr algn="l" eaLnBrk="1" hangingPunct="1">
              <a:spcBef>
                <a:spcPct val="15000"/>
              </a:spcBef>
            </a:pPr>
            <a:r>
              <a:rPr kumimoji="0" lang="en-US" altLang="zh-CN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(4)</a:t>
            </a:r>
            <a:r>
              <a:rPr kumimoji="0" lang="zh-CN" altLang="en-US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变位后</a:t>
            </a:r>
            <a:r>
              <a:rPr kumimoji="0" lang="en-US" altLang="zh-CN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,</a:t>
            </a:r>
            <a:r>
              <a:rPr kumimoji="0" lang="zh-CN" altLang="en-US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蜗轮分度圆仍然与其节圆重合</a:t>
            </a:r>
            <a:r>
              <a:rPr kumimoji="0" lang="en-US" altLang="zh-CN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,</a:t>
            </a:r>
            <a:r>
              <a:rPr kumimoji="0" lang="zh-CN" altLang="en-US" sz="1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Wingdings" panose="05000000000000000000" pitchFamily="2" charset="2"/>
              </a:rPr>
              <a:t>但轮尺寸有变化。</a:t>
            </a:r>
            <a:endParaRPr kumimoji="0" lang="zh-CN" altLang="en-US" sz="18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7174" name="Text Box 7"/>
          <p:cNvSpPr txBox="1">
            <a:spLocks noChangeArrowheads="1"/>
          </p:cNvSpPr>
          <p:nvPr/>
        </p:nvSpPr>
        <p:spPr bwMode="auto">
          <a:xfrm>
            <a:off x="3852069" y="5409089"/>
            <a:ext cx="129540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0" lang="zh-CN" altLang="en-US" sz="1400" b="1">
                <a:solidFill>
                  <a:schemeClr val="tx1"/>
                </a:solidFill>
                <a:ea typeface="黑体" panose="02010609060101010101" pitchFamily="49" charset="-122"/>
              </a:rPr>
              <a:t>标准</a:t>
            </a:r>
            <a:r>
              <a:rPr kumimoji="0" lang="en-US" altLang="zh-CN" sz="1400" b="1" i="1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kumimoji="0" lang="en-US" altLang="zh-CN" sz="1400" b="1" baseline="-2500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kumimoji="0" lang="en-US" altLang="zh-CN" sz="1400" b="1">
                <a:solidFill>
                  <a:schemeClr val="tx1"/>
                </a:solidFill>
                <a:ea typeface="黑体" panose="02010609060101010101" pitchFamily="49" charset="-122"/>
              </a:rPr>
              <a:t>=0</a:t>
            </a:r>
            <a:endParaRPr kumimoji="0" lang="en-US" altLang="zh-CN" sz="1400" b="1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7175" name="Text Box 8"/>
          <p:cNvSpPr txBox="1">
            <a:spLocks noChangeArrowheads="1"/>
          </p:cNvSpPr>
          <p:nvPr/>
        </p:nvSpPr>
        <p:spPr bwMode="auto">
          <a:xfrm>
            <a:off x="1442244" y="5447189"/>
            <a:ext cx="152400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0" lang="zh-CN" altLang="en-US" sz="1400" b="1">
                <a:solidFill>
                  <a:schemeClr val="tx1"/>
                </a:solidFill>
                <a:ea typeface="黑体" panose="02010609060101010101" pitchFamily="49" charset="-122"/>
              </a:rPr>
              <a:t>负变位</a:t>
            </a:r>
            <a:r>
              <a:rPr kumimoji="0" lang="en-US" altLang="zh-CN" sz="1400" b="1" i="1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kumimoji="0" lang="en-US" altLang="zh-CN" sz="1400" b="1" baseline="-2500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kumimoji="0" lang="en-US" altLang="zh-CN" sz="1400" b="1">
                <a:solidFill>
                  <a:schemeClr val="tx1"/>
                </a:solidFill>
                <a:ea typeface="黑体" panose="02010609060101010101" pitchFamily="49" charset="-122"/>
              </a:rPr>
              <a:t>&lt;0</a:t>
            </a:r>
            <a:endParaRPr kumimoji="0" lang="en-US" altLang="zh-CN" sz="1400" b="1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7176" name="Text Box 9"/>
          <p:cNvSpPr txBox="1">
            <a:spLocks noChangeArrowheads="1"/>
          </p:cNvSpPr>
          <p:nvPr/>
        </p:nvSpPr>
        <p:spPr bwMode="auto">
          <a:xfrm>
            <a:off x="6641624" y="5193189"/>
            <a:ext cx="1228725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0" lang="zh-CN" altLang="en-US" sz="1400" b="1">
                <a:solidFill>
                  <a:srgbClr val="FF0000"/>
                </a:solidFill>
                <a:ea typeface="黑体" panose="02010609060101010101" pitchFamily="49" charset="-122"/>
              </a:rPr>
              <a:t>正变位</a:t>
            </a:r>
            <a:r>
              <a:rPr kumimoji="0" lang="en-US" altLang="zh-CN" sz="1400" b="1" i="1">
                <a:solidFill>
                  <a:srgbClr val="FF0000"/>
                </a:solidFill>
                <a:ea typeface="黑体" panose="02010609060101010101" pitchFamily="49" charset="-122"/>
              </a:rPr>
              <a:t>x</a:t>
            </a:r>
            <a:r>
              <a:rPr kumimoji="0" lang="en-US" altLang="zh-CN" sz="1400" b="1" baseline="-25000">
                <a:solidFill>
                  <a:srgbClr val="FF0000"/>
                </a:solidFill>
                <a:ea typeface="黑体" panose="02010609060101010101" pitchFamily="49" charset="-122"/>
              </a:rPr>
              <a:t>2</a:t>
            </a:r>
            <a:r>
              <a:rPr kumimoji="0" lang="en-US" altLang="zh-CN" sz="1400" b="1">
                <a:solidFill>
                  <a:srgbClr val="FF0000"/>
                </a:solidFill>
                <a:ea typeface="黑体" panose="02010609060101010101" pitchFamily="49" charset="-122"/>
              </a:rPr>
              <a:t>&gt;0</a:t>
            </a:r>
            <a:endParaRPr kumimoji="0" lang="en-US" altLang="zh-CN" sz="1400" b="1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464" y="5858669"/>
            <a:ext cx="10334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4507" name="Text Box 11"/>
          <p:cNvSpPr txBox="1">
            <a:spLocks noChangeArrowheads="1"/>
          </p:cNvSpPr>
          <p:nvPr/>
        </p:nvSpPr>
        <p:spPr bwMode="auto">
          <a:xfrm>
            <a:off x="477044" y="5948839"/>
            <a:ext cx="14478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l" eaLnBrk="1" hangingPunct="1">
              <a:spcBef>
                <a:spcPct val="10000"/>
              </a:spcBef>
            </a:pPr>
            <a:r>
              <a:rPr kumimoji="0" lang="en-US" altLang="zh-CN" sz="1600" b="1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kumimoji="0" lang="zh-CN" altLang="en-US" sz="1600" b="1">
                <a:solidFill>
                  <a:schemeClr val="tx1"/>
                </a:solidFill>
                <a:ea typeface="黑体" panose="02010609060101010101" pitchFamily="49" charset="-122"/>
              </a:rPr>
              <a:t>变位后的</a:t>
            </a:r>
            <a:r>
              <a:rPr kumimoji="0" lang="en-US" altLang="zh-CN" sz="1600" b="1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endParaRPr kumimoji="0" lang="en-US" altLang="zh-CN" sz="1600" b="1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algn="l" eaLnBrk="1" hangingPunct="1">
              <a:spcBef>
                <a:spcPct val="10000"/>
              </a:spcBef>
            </a:pPr>
            <a:r>
              <a:rPr kumimoji="0" lang="zh-CN" altLang="en-US" sz="1600" b="1">
                <a:solidFill>
                  <a:schemeClr val="tx1"/>
                </a:solidFill>
                <a:ea typeface="黑体" panose="02010609060101010101" pitchFamily="49" charset="-122"/>
              </a:rPr>
              <a:t>实际中心距：</a:t>
            </a:r>
            <a:endParaRPr kumimoji="0" lang="zh-CN" altLang="en-US" sz="1600" b="1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234508" name="Text Box 12"/>
          <p:cNvSpPr txBox="1">
            <a:spLocks noChangeArrowheads="1"/>
          </p:cNvSpPr>
          <p:nvPr/>
        </p:nvSpPr>
        <p:spPr bwMode="auto">
          <a:xfrm>
            <a:off x="4796949" y="5948839"/>
            <a:ext cx="1219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0" lang="zh-CN" altLang="en-US" sz="1600" b="1">
                <a:solidFill>
                  <a:schemeClr val="tx1"/>
                </a:solidFill>
                <a:ea typeface="黑体" panose="02010609060101010101" pitchFamily="49" charset="-122"/>
              </a:rPr>
              <a:t>变位系数：</a:t>
            </a:r>
            <a:endParaRPr kumimoji="0" lang="zh-CN" altLang="en-US" sz="1600" b="1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234509" name="Text Box 13"/>
          <p:cNvSpPr txBox="1">
            <a:spLocks noChangeArrowheads="1"/>
          </p:cNvSpPr>
          <p:nvPr/>
        </p:nvSpPr>
        <p:spPr bwMode="auto">
          <a:xfrm>
            <a:off x="6911975" y="5499735"/>
            <a:ext cx="2212975" cy="11684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0" lang="zh-CN" altLang="en-US" sz="14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变位系数过小，蜗轮根切；过大，齿顶变尖。</a:t>
            </a:r>
            <a:endParaRPr kumimoji="0" lang="zh-CN" altLang="en-US" sz="1400" b="1">
              <a:solidFill>
                <a:schemeClr val="tx1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 algn="l" eaLnBrk="1" hangingPunct="1">
              <a:spcBef>
                <a:spcPct val="50000"/>
              </a:spcBef>
            </a:pPr>
            <a:r>
              <a:rPr kumimoji="0" lang="zh-CN" altLang="en-US" sz="14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一般</a:t>
            </a:r>
            <a:r>
              <a:rPr kumimoji="0" lang="en-US" altLang="zh-CN" sz="14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x</a:t>
            </a:r>
            <a:r>
              <a:rPr kumimoji="0" lang="en-US" altLang="zh-CN" sz="1400" b="1" baseline="-25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2</a:t>
            </a:r>
            <a:r>
              <a:rPr kumimoji="0" lang="en-US" altLang="zh-CN" sz="14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=-1~+1</a:t>
            </a:r>
            <a:r>
              <a:rPr kumimoji="0" lang="zh-CN" altLang="en-US" sz="14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；</a:t>
            </a:r>
            <a:endParaRPr kumimoji="0" lang="zh-CN" altLang="en-US" sz="1400" b="1">
              <a:solidFill>
                <a:schemeClr val="tx1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 algn="l" eaLnBrk="1" hangingPunct="1">
              <a:spcBef>
                <a:spcPct val="50000"/>
              </a:spcBef>
            </a:pPr>
            <a:r>
              <a:rPr kumimoji="0" lang="zh-CN" altLang="en-US" sz="14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常用</a:t>
            </a:r>
            <a:r>
              <a:rPr kumimoji="0" lang="en-US" altLang="zh-CN" sz="14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x</a:t>
            </a:r>
            <a:r>
              <a:rPr kumimoji="0" lang="en-US" altLang="zh-CN" sz="1400" b="1" baseline="-25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2</a:t>
            </a:r>
            <a:r>
              <a:rPr kumimoji="0" lang="en-US" altLang="zh-CN" sz="1400" b="1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=-0.7~+0.7</a:t>
            </a:r>
            <a:endParaRPr kumimoji="0" lang="en-US" altLang="zh-CN" sz="1400" b="1">
              <a:solidFill>
                <a:schemeClr val="tx1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185" name="Text Box 5"/>
          <p:cNvSpPr txBox="1">
            <a:spLocks noChangeArrowheads="1"/>
          </p:cNvSpPr>
          <p:nvPr/>
        </p:nvSpPr>
        <p:spPr bwMode="auto">
          <a:xfrm>
            <a:off x="207010" y="1358900"/>
            <a:ext cx="4736465" cy="2140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l" eaLnBrk="1" hangingPunct="1">
              <a:spcBef>
                <a:spcPct val="10000"/>
              </a:spcBef>
            </a:pPr>
            <a:r>
              <a:rPr kumimoji="0" lang="zh-CN" altLang="zh-CN" sz="1500" b="1" dirty="0">
                <a:solidFill>
                  <a:schemeClr val="tx1"/>
                </a:solidFill>
                <a:latin typeface="Tahoma" panose="020B0604030504040204" pitchFamily="34" charset="0"/>
              </a:rPr>
              <a:t>●</a:t>
            </a:r>
            <a:r>
              <a:rPr kumimoji="0" lang="zh-CN" altLang="en-US" sz="18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与齿轮的变位相同，蜗轮变位是通过改变刀具与蜗轮轮坯的径向位置实现。</a:t>
            </a:r>
            <a:endParaRPr kumimoji="0" lang="en-US" altLang="zh-CN" sz="1800" dirty="0">
              <a:solidFill>
                <a:schemeClr val="tx1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 algn="l" eaLnBrk="1" hangingPunct="1">
              <a:spcBef>
                <a:spcPct val="10000"/>
              </a:spcBef>
            </a:pPr>
            <a:r>
              <a:rPr kumimoji="0" lang="en-US" altLang="zh-CN" sz="14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●</a:t>
            </a:r>
            <a:r>
              <a:rPr kumimoji="0" lang="zh-CN" altLang="en-US" sz="180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目的</a:t>
            </a:r>
            <a:r>
              <a:rPr kumimoji="0" lang="en-US" altLang="zh-CN" sz="18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: </a:t>
            </a:r>
            <a:r>
              <a:rPr kumimoji="0" lang="zh-CN" altLang="en-US" sz="18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凑中心距，</a:t>
            </a:r>
            <a:r>
              <a:rPr kumimoji="0" lang="zh-CN" altLang="en-US" sz="18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改善传动性能。</a:t>
            </a:r>
            <a:endParaRPr kumimoji="0" lang="zh-CN" altLang="en-US" sz="1800" dirty="0">
              <a:solidFill>
                <a:schemeClr val="tx1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 algn="l" eaLnBrk="1" hangingPunct="1">
              <a:spcBef>
                <a:spcPct val="10000"/>
              </a:spcBef>
            </a:pPr>
            <a:r>
              <a:rPr kumimoji="0" lang="en-US" altLang="zh-CN" sz="14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●</a:t>
            </a:r>
            <a:r>
              <a:rPr kumimoji="0" lang="zh-CN" altLang="en-US" sz="180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变位的特征</a:t>
            </a:r>
            <a:r>
              <a:rPr kumimoji="0" lang="en-US" altLang="zh-CN" sz="18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:</a:t>
            </a:r>
            <a:endParaRPr kumimoji="0" lang="en-US" altLang="zh-CN" sz="1800" dirty="0">
              <a:solidFill>
                <a:schemeClr val="tx1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 algn="l" eaLnBrk="1" hangingPunct="1">
              <a:spcBef>
                <a:spcPct val="10000"/>
              </a:spcBef>
            </a:pPr>
            <a:r>
              <a:rPr kumimoji="0" lang="en-US" altLang="zh-CN" sz="18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sym typeface="Wingdings" panose="05000000000000000000" pitchFamily="2" charset="2"/>
              </a:rPr>
              <a:t>(1)</a:t>
            </a:r>
            <a:r>
              <a:rPr kumimoji="0" lang="zh-CN" altLang="en-US" sz="18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sym typeface="Wingdings" panose="05000000000000000000" pitchFamily="2" charset="2"/>
              </a:rPr>
              <a:t>滚刀尺寸与蜗杆的基本相同；</a:t>
            </a:r>
            <a:endParaRPr kumimoji="0" lang="en-US" altLang="zh-CN" sz="1800" dirty="0">
              <a:solidFill>
                <a:schemeClr val="tx1"/>
              </a:solidFill>
              <a:latin typeface="Tahoma" panose="020B0604030504040204" pitchFamily="34" charset="0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algn="l" eaLnBrk="1" hangingPunct="1">
              <a:spcBef>
                <a:spcPct val="10000"/>
              </a:spcBef>
            </a:pPr>
            <a:r>
              <a:rPr kumimoji="0" lang="en-US" altLang="zh-CN" sz="18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sym typeface="Wingdings" panose="05000000000000000000" pitchFamily="2" charset="2"/>
              </a:rPr>
              <a:t>(2)</a:t>
            </a:r>
            <a:r>
              <a:rPr kumimoji="0" lang="zh-CN" altLang="en-US" sz="18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sym typeface="Wingdings" panose="05000000000000000000" pitchFamily="2" charset="2"/>
              </a:rPr>
              <a:t>蜗杆本身是刀具，故不变位，</a:t>
            </a:r>
            <a:r>
              <a:rPr kumimoji="0" lang="zh-CN" altLang="en-US" sz="1800" dirty="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  <a:sym typeface="Wingdings" panose="05000000000000000000" pitchFamily="2" charset="2"/>
              </a:rPr>
              <a:t>蜗杆尺寸不变；</a:t>
            </a:r>
            <a:r>
              <a:rPr kumimoji="0"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endParaRPr kumimoji="0"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2064" name="直接连接符 6"/>
          <p:cNvSpPr>
            <a:spLocks noChangeShapeType="1"/>
          </p:cNvSpPr>
          <p:nvPr/>
        </p:nvSpPr>
        <p:spPr bwMode="auto">
          <a:xfrm>
            <a:off x="0" y="77406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9" name="Rectangle 2"/>
          <p:cNvSpPr>
            <a:spLocks noGrp="1" noChangeArrowheads="1"/>
          </p:cNvSpPr>
          <p:nvPr/>
        </p:nvSpPr>
        <p:spPr bwMode="auto">
          <a:xfrm>
            <a:off x="972185" y="233680"/>
            <a:ext cx="7492365" cy="49022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3.11-2</a:t>
            </a:r>
            <a:r>
              <a:rPr kumimoji="1" lang="zh-CN" altLang="en-US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蜗杆传动的主要参数及几何尺寸计算</a:t>
            </a:r>
            <a:endParaRPr kumimoji="1" lang="zh-CN" altLang="en-US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4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3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5" grpId="0" animBg="1"/>
      <p:bldP spid="7174" grpId="0" animBg="1"/>
      <p:bldP spid="7176" grpId="0" animBg="1"/>
      <p:bldP spid="234507" grpId="0" animBg="1"/>
      <p:bldP spid="234508" grpId="0" animBg="1"/>
      <p:bldP spid="23450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4" name="Rectangle 30"/>
          <p:cNvSpPr>
            <a:spLocks noChangeArrowheads="1"/>
          </p:cNvSpPr>
          <p:nvPr/>
        </p:nvSpPr>
        <p:spPr bwMode="auto">
          <a:xfrm>
            <a:off x="914400" y="3027363"/>
            <a:ext cx="43973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闭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式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传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动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sp>
        <p:nvSpPr>
          <p:cNvPr id="21541" name="Rectangle 37"/>
          <p:cNvSpPr>
            <a:spLocks noChangeArrowheads="1"/>
          </p:cNvSpPr>
          <p:nvPr/>
        </p:nvSpPr>
        <p:spPr bwMode="auto">
          <a:xfrm>
            <a:off x="838200" y="4976813"/>
            <a:ext cx="6953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开式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传动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74"/>
          <p:cNvGrpSpPr/>
          <p:nvPr/>
        </p:nvGrpSpPr>
        <p:grpSpPr bwMode="auto">
          <a:xfrm>
            <a:off x="685800" y="1731963"/>
            <a:ext cx="7848600" cy="4114800"/>
            <a:chOff x="432" y="864"/>
            <a:chExt cx="4944" cy="2592"/>
          </a:xfrm>
        </p:grpSpPr>
        <p:sp>
          <p:nvSpPr>
            <p:cNvPr id="4120" name="Rectangle 3"/>
            <p:cNvSpPr>
              <a:spLocks noChangeArrowheads="1"/>
            </p:cNvSpPr>
            <p:nvPr/>
          </p:nvSpPr>
          <p:spPr bwMode="auto">
            <a:xfrm>
              <a:off x="480" y="912"/>
              <a:ext cx="1236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en-US" altLang="zh-CN" b="1" dirty="0">
                  <a:solidFill>
                    <a:srgbClr val="003399"/>
                  </a:solidFill>
                  <a:ea typeface="宋体" panose="02010600030101010101" pitchFamily="2" charset="-122"/>
                </a:rPr>
                <a:t>  </a:t>
              </a:r>
              <a:r>
                <a:rPr lang="zh-CN" altLang="en-US" b="1" dirty="0">
                  <a:solidFill>
                    <a:srgbClr val="003399"/>
                  </a:solidFill>
                  <a:ea typeface="宋体" panose="02010600030101010101" pitchFamily="2" charset="-122"/>
                </a:rPr>
                <a:t>失效形式</a:t>
              </a:r>
              <a:endParaRPr lang="zh-CN" altLang="en-US" b="1" dirty="0">
                <a:solidFill>
                  <a:srgbClr val="003399"/>
                </a:solidFill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2000" b="1" dirty="0">
                  <a:solidFill>
                    <a:srgbClr val="003399"/>
                  </a:solidFill>
                  <a:ea typeface="宋体" panose="02010600030101010101" pitchFamily="2" charset="-122"/>
                </a:rPr>
                <a:t>(</a:t>
              </a:r>
              <a:r>
                <a:rPr lang="zh-CN" altLang="en-US" sz="2000" b="1" dirty="0">
                  <a:solidFill>
                    <a:srgbClr val="003399"/>
                  </a:solidFill>
                  <a:ea typeface="宋体" panose="02010600030101010101" pitchFamily="2" charset="-122"/>
                </a:rPr>
                <a:t>发生在蜗轮上</a:t>
              </a:r>
              <a:r>
                <a:rPr lang="en-US" altLang="zh-CN" sz="2000" b="1" dirty="0">
                  <a:solidFill>
                    <a:srgbClr val="003399"/>
                  </a:solidFill>
                  <a:ea typeface="宋体" panose="02010600030101010101" pitchFamily="2" charset="-122"/>
                </a:rPr>
                <a:t>)</a:t>
              </a:r>
              <a:r>
                <a:rPr lang="en-US" altLang="zh-CN" b="1" dirty="0">
                  <a:solidFill>
                    <a:srgbClr val="003399"/>
                  </a:solidFill>
                  <a:ea typeface="宋体" panose="02010600030101010101" pitchFamily="2" charset="-122"/>
                </a:rPr>
                <a:t> </a:t>
              </a:r>
              <a:endParaRPr lang="en-US" altLang="zh-CN" b="1" dirty="0">
                <a:solidFill>
                  <a:srgbClr val="00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21" name="Rectangle 29"/>
            <p:cNvSpPr>
              <a:spLocks noChangeArrowheads="1"/>
            </p:cNvSpPr>
            <p:nvPr/>
          </p:nvSpPr>
          <p:spPr bwMode="auto">
            <a:xfrm>
              <a:off x="2928" y="960"/>
              <a:ext cx="8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003399"/>
                  </a:solidFill>
                  <a:ea typeface="宋体" panose="02010600030101010101" pitchFamily="2" charset="-122"/>
                </a:rPr>
                <a:t>设计准则</a:t>
              </a:r>
              <a:endParaRPr lang="zh-CN" altLang="en-US" b="1">
                <a:solidFill>
                  <a:srgbClr val="00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122" name="Line 40"/>
            <p:cNvSpPr>
              <a:spLocks noChangeShapeType="1"/>
            </p:cNvSpPr>
            <p:nvPr/>
          </p:nvSpPr>
          <p:spPr bwMode="auto">
            <a:xfrm>
              <a:off x="528" y="864"/>
              <a:ext cx="4848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3" name="Line 41"/>
            <p:cNvSpPr>
              <a:spLocks noChangeShapeType="1"/>
            </p:cNvSpPr>
            <p:nvPr/>
          </p:nvSpPr>
          <p:spPr bwMode="auto">
            <a:xfrm>
              <a:off x="528" y="1392"/>
              <a:ext cx="4848" cy="0"/>
            </a:xfrm>
            <a:prstGeom prst="line">
              <a:avLst/>
            </a:prstGeom>
            <a:noFill/>
            <a:ln w="1905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4" name="Line 42"/>
            <p:cNvSpPr>
              <a:spLocks noChangeShapeType="1"/>
            </p:cNvSpPr>
            <p:nvPr/>
          </p:nvSpPr>
          <p:spPr bwMode="auto">
            <a:xfrm>
              <a:off x="528" y="2784"/>
              <a:ext cx="4848" cy="0"/>
            </a:xfrm>
            <a:prstGeom prst="line">
              <a:avLst/>
            </a:prstGeom>
            <a:noFill/>
            <a:ln w="1905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5" name="Line 43"/>
            <p:cNvSpPr>
              <a:spLocks noChangeShapeType="1"/>
            </p:cNvSpPr>
            <p:nvPr/>
          </p:nvSpPr>
          <p:spPr bwMode="auto">
            <a:xfrm>
              <a:off x="432" y="3456"/>
              <a:ext cx="4848" cy="0"/>
            </a:xfrm>
            <a:prstGeom prst="line">
              <a:avLst/>
            </a:prstGeom>
            <a:noFill/>
            <a:ln w="28575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6" name="Line 44"/>
            <p:cNvSpPr>
              <a:spLocks noChangeShapeType="1"/>
            </p:cNvSpPr>
            <p:nvPr/>
          </p:nvSpPr>
          <p:spPr bwMode="auto">
            <a:xfrm flipH="1">
              <a:off x="1776" y="864"/>
              <a:ext cx="0" cy="2592"/>
            </a:xfrm>
            <a:prstGeom prst="line">
              <a:avLst/>
            </a:prstGeom>
            <a:noFill/>
            <a:ln w="1905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7" name="Line 45"/>
            <p:cNvSpPr>
              <a:spLocks noChangeShapeType="1"/>
            </p:cNvSpPr>
            <p:nvPr/>
          </p:nvSpPr>
          <p:spPr bwMode="auto">
            <a:xfrm>
              <a:off x="1008" y="1392"/>
              <a:ext cx="0" cy="2064"/>
            </a:xfrm>
            <a:prstGeom prst="line">
              <a:avLst/>
            </a:prstGeom>
            <a:noFill/>
            <a:ln w="1905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552" name="Rectangle 48"/>
          <p:cNvSpPr>
            <a:spLocks noChangeArrowheads="1"/>
          </p:cNvSpPr>
          <p:nvPr/>
        </p:nvSpPr>
        <p:spPr bwMode="auto">
          <a:xfrm>
            <a:off x="297180" y="998538"/>
            <a:ext cx="52120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C00000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一、蜗杆传动的失效形式和设计准则 </a:t>
            </a: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1559" name="Rectangle 55"/>
          <p:cNvSpPr>
            <a:spLocks noChangeArrowheads="1"/>
          </p:cNvSpPr>
          <p:nvPr/>
        </p:nvSpPr>
        <p:spPr bwMode="auto">
          <a:xfrm>
            <a:off x="1644015" y="2799080"/>
            <a:ext cx="1131570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轮齿</a:t>
            </a:r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  <a:sym typeface="+mn-ea"/>
              </a:rPr>
              <a:t>齿面点蚀、</a:t>
            </a:r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胶合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eaLnBrk="1" hangingPunct="1"/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eaLnBrk="1" hangingPunct="1"/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sp>
        <p:nvSpPr>
          <p:cNvPr id="21560" name="Rectangle 56"/>
          <p:cNvSpPr>
            <a:spLocks noChangeArrowheads="1"/>
          </p:cNvSpPr>
          <p:nvPr/>
        </p:nvSpPr>
        <p:spPr bwMode="auto">
          <a:xfrm>
            <a:off x="2971800" y="2774950"/>
            <a:ext cx="2228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控制点蚀和胶合：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sp>
        <p:nvSpPr>
          <p:cNvPr id="21562" name="Rectangle 58"/>
          <p:cNvSpPr>
            <a:spLocks noChangeArrowheads="1"/>
          </p:cNvSpPr>
          <p:nvPr/>
        </p:nvSpPr>
        <p:spPr bwMode="auto">
          <a:xfrm>
            <a:off x="2971800" y="3425825"/>
            <a:ext cx="23225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控制折断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(Z</a:t>
            </a:r>
            <a:r>
              <a:rPr lang="en-US" altLang="zh-CN" sz="2000" b="1" baseline="-25000">
                <a:solidFill>
                  <a:srgbClr val="003399"/>
                </a:solidFill>
                <a:ea typeface="宋体" panose="02010600030101010101" pitchFamily="2" charset="-122"/>
              </a:rPr>
              <a:t>2 </a:t>
            </a:r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&gt;80)</a:t>
            </a:r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：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grpSp>
        <p:nvGrpSpPr>
          <p:cNvPr id="3" name="Group 70"/>
          <p:cNvGrpSpPr/>
          <p:nvPr/>
        </p:nvGrpSpPr>
        <p:grpSpPr bwMode="auto">
          <a:xfrm>
            <a:off x="5105400" y="2774950"/>
            <a:ext cx="3400425" cy="404813"/>
            <a:chOff x="3216" y="1521"/>
            <a:chExt cx="2142" cy="255"/>
          </a:xfrm>
        </p:grpSpPr>
        <p:sp>
          <p:nvSpPr>
            <p:cNvPr id="4118" name="Rectangle 57"/>
            <p:cNvSpPr>
              <a:spLocks noChangeArrowheads="1"/>
            </p:cNvSpPr>
            <p:nvPr/>
          </p:nvSpPr>
          <p:spPr bwMode="auto">
            <a:xfrm>
              <a:off x="3216" y="1521"/>
              <a:ext cx="14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003399"/>
                  </a:solidFill>
                  <a:ea typeface="宋体" panose="02010600030101010101" pitchFamily="2" charset="-122"/>
                </a:rPr>
                <a:t>齿面接触强度条件</a:t>
              </a:r>
              <a:endParaRPr lang="zh-CN" altLang="en-US" sz="2000" b="1">
                <a:solidFill>
                  <a:srgbClr val="003399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4119" name="Object 60"/>
            <p:cNvGraphicFramePr>
              <a:graphicFrameLocks noChangeAspect="1"/>
            </p:cNvGraphicFramePr>
            <p:nvPr/>
          </p:nvGraphicFramePr>
          <p:xfrm>
            <a:off x="4579" y="1521"/>
            <a:ext cx="779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" r:id="rId1" imgW="673100" imgH="215900" progId="Equation.3">
                    <p:embed/>
                  </p:oleObj>
                </mc:Choice>
                <mc:Fallback>
                  <p:oleObj name="" r:id="rId1" imgW="673100" imgH="215900" progId="Equation.3">
                    <p:embed/>
                    <p:pic>
                      <p:nvPicPr>
                        <p:cNvPr id="0" name="图片 10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9" y="1521"/>
                          <a:ext cx="779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71"/>
          <p:cNvGrpSpPr/>
          <p:nvPr/>
        </p:nvGrpSpPr>
        <p:grpSpPr bwMode="auto">
          <a:xfrm>
            <a:off x="5105400" y="3408363"/>
            <a:ext cx="3321050" cy="396875"/>
            <a:chOff x="3216" y="1920"/>
            <a:chExt cx="2092" cy="250"/>
          </a:xfrm>
        </p:grpSpPr>
        <p:sp>
          <p:nvSpPr>
            <p:cNvPr id="4116" name="Rectangle 59"/>
            <p:cNvSpPr>
              <a:spLocks noChangeArrowheads="1"/>
            </p:cNvSpPr>
            <p:nvPr/>
          </p:nvSpPr>
          <p:spPr bwMode="auto">
            <a:xfrm>
              <a:off x="3216" y="1920"/>
              <a:ext cx="14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003399"/>
                  </a:solidFill>
                  <a:ea typeface="宋体" panose="02010600030101010101" pitchFamily="2" charset="-122"/>
                </a:rPr>
                <a:t>轮齿弯曲强度条件</a:t>
              </a:r>
              <a:endParaRPr lang="zh-CN" altLang="en-US" sz="2000" b="1">
                <a:solidFill>
                  <a:srgbClr val="003399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4117" name="Object 62"/>
            <p:cNvGraphicFramePr>
              <a:graphicFrameLocks noChangeAspect="1"/>
            </p:cNvGraphicFramePr>
            <p:nvPr/>
          </p:nvGraphicFramePr>
          <p:xfrm>
            <a:off x="4579" y="1920"/>
            <a:ext cx="729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" name="" r:id="rId3" imgW="647700" imgH="215900" progId="Equation.3">
                    <p:embed/>
                  </p:oleObj>
                </mc:Choice>
                <mc:Fallback>
                  <p:oleObj name="" r:id="rId3" imgW="647700" imgH="215900" progId="Equation.3">
                    <p:embed/>
                    <p:pic>
                      <p:nvPicPr>
                        <p:cNvPr id="0" name="图片 10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9" y="1920"/>
                          <a:ext cx="729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68" name="Rectangle 64"/>
          <p:cNvSpPr>
            <a:spLocks noChangeArrowheads="1"/>
          </p:cNvSpPr>
          <p:nvPr/>
        </p:nvSpPr>
        <p:spPr bwMode="auto">
          <a:xfrm>
            <a:off x="3131820" y="4033838"/>
            <a:ext cx="1462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控制温升：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sp>
        <p:nvSpPr>
          <p:cNvPr id="21569" name="Rectangle 65"/>
          <p:cNvSpPr>
            <a:spLocks noChangeArrowheads="1"/>
          </p:cNvSpPr>
          <p:nvPr/>
        </p:nvSpPr>
        <p:spPr bwMode="auto">
          <a:xfrm>
            <a:off x="5201603" y="4058603"/>
            <a:ext cx="1462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热平衡计算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sp>
        <p:nvSpPr>
          <p:cNvPr id="21570" name="Rectangle 66"/>
          <p:cNvSpPr>
            <a:spLocks noChangeArrowheads="1"/>
          </p:cNvSpPr>
          <p:nvPr/>
        </p:nvSpPr>
        <p:spPr bwMode="auto">
          <a:xfrm>
            <a:off x="1819275" y="4992688"/>
            <a:ext cx="6953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轮齿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折断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sp>
        <p:nvSpPr>
          <p:cNvPr id="21571" name="Rectangle 67"/>
          <p:cNvSpPr>
            <a:spLocks noChangeArrowheads="1"/>
          </p:cNvSpPr>
          <p:nvPr/>
        </p:nvSpPr>
        <p:spPr bwMode="auto">
          <a:xfrm>
            <a:off x="3131820" y="5114608"/>
            <a:ext cx="1462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控制折断：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grpSp>
        <p:nvGrpSpPr>
          <p:cNvPr id="5" name="Group 72"/>
          <p:cNvGrpSpPr/>
          <p:nvPr/>
        </p:nvGrpSpPr>
        <p:grpSpPr bwMode="auto">
          <a:xfrm>
            <a:off x="5066665" y="5129213"/>
            <a:ext cx="3321050" cy="396875"/>
            <a:chOff x="3120" y="3004"/>
            <a:chExt cx="2092" cy="250"/>
          </a:xfrm>
        </p:grpSpPr>
        <p:sp>
          <p:nvSpPr>
            <p:cNvPr id="4114" name="Rectangle 68"/>
            <p:cNvSpPr>
              <a:spLocks noChangeArrowheads="1"/>
            </p:cNvSpPr>
            <p:nvPr/>
          </p:nvSpPr>
          <p:spPr bwMode="auto">
            <a:xfrm>
              <a:off x="3120" y="3004"/>
              <a:ext cx="14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003399"/>
                  </a:solidFill>
                  <a:ea typeface="宋体" panose="02010600030101010101" pitchFamily="2" charset="-122"/>
                </a:rPr>
                <a:t>轮齿弯曲强度条件</a:t>
              </a:r>
              <a:endParaRPr lang="zh-CN" altLang="en-US" sz="2000" b="1">
                <a:solidFill>
                  <a:srgbClr val="003399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4115" name="Object 69"/>
            <p:cNvGraphicFramePr>
              <a:graphicFrameLocks noChangeAspect="1"/>
            </p:cNvGraphicFramePr>
            <p:nvPr/>
          </p:nvGraphicFramePr>
          <p:xfrm>
            <a:off x="4483" y="3004"/>
            <a:ext cx="729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" name="" r:id="rId5" imgW="647700" imgH="215900" progId="Equation.3">
                    <p:embed/>
                  </p:oleObj>
                </mc:Choice>
                <mc:Fallback>
                  <p:oleObj name="" r:id="rId5" imgW="647700" imgH="215900" progId="Equation.3">
                    <p:embed/>
                    <p:pic>
                      <p:nvPicPr>
                        <p:cNvPr id="0" name="图片 10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3" y="3004"/>
                          <a:ext cx="729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77" name="Rectangle 73"/>
          <p:cNvSpPr>
            <a:spLocks noChangeArrowheads="1"/>
          </p:cNvSpPr>
          <p:nvPr/>
        </p:nvSpPr>
        <p:spPr bwMode="auto">
          <a:xfrm>
            <a:off x="1107440" y="6038850"/>
            <a:ext cx="3482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C00000"/>
                </a:solidFill>
                <a:ea typeface="宋体" panose="02010600030101010101" pitchFamily="2" charset="-122"/>
              </a:rPr>
              <a:t>[</a:t>
            </a:r>
            <a:r>
              <a:rPr lang="zh-CN" altLang="en-US" sz="2000" b="1">
                <a:solidFill>
                  <a:srgbClr val="C00000"/>
                </a:solidFill>
                <a:ea typeface="宋体" panose="02010600030101010101" pitchFamily="2" charset="-122"/>
              </a:rPr>
              <a:t>注</a:t>
            </a:r>
            <a:r>
              <a:rPr lang="en-US" altLang="zh-CN" sz="2000" b="1">
                <a:solidFill>
                  <a:srgbClr val="C00000"/>
                </a:solidFill>
                <a:ea typeface="宋体" panose="02010600030101010101" pitchFamily="2" charset="-122"/>
              </a:rPr>
              <a:t>] </a:t>
            </a:r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蜗杆主要是控制轴的变形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sp>
        <p:nvSpPr>
          <p:cNvPr id="5735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61925" y="143828"/>
            <a:ext cx="8769350" cy="490537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3.11-3 蜗杆传动的失效形式、计算准则及常用材料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1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34" grpId="0" autoUpdateAnimBg="0"/>
      <p:bldP spid="21541" grpId="0" autoUpdateAnimBg="0"/>
      <p:bldP spid="21552" grpId="0" autoUpdateAnimBg="0"/>
      <p:bldP spid="21559" grpId="0" autoUpdateAnimBg="0"/>
      <p:bldP spid="21560" grpId="0" autoUpdateAnimBg="0"/>
      <p:bldP spid="21562" grpId="0" autoUpdateAnimBg="0"/>
      <p:bldP spid="21568" grpId="0" autoUpdateAnimBg="0"/>
      <p:bldP spid="21569" grpId="0" autoUpdateAnimBg="0"/>
      <p:bldP spid="21570" grpId="0" autoUpdateAnimBg="0"/>
      <p:bldP spid="21571" grpId="0" autoUpdateAnimBg="0"/>
      <p:bldP spid="2157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/>
          <p:nvPr/>
        </p:nvSpPr>
        <p:spPr>
          <a:xfrm>
            <a:off x="179695" y="1484865"/>
            <a:ext cx="4191000" cy="200054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</a:rPr>
              <a:t>1.</a:t>
            </a:r>
            <a:r>
              <a:rPr lang="zh-CN" altLang="en-US" sz="2000" dirty="0">
                <a:solidFill>
                  <a:srgbClr val="0000FF"/>
                </a:solidFill>
                <a:ea typeface="黑体" panose="02010609060101010101" pitchFamily="49" charset="-122"/>
              </a:rPr>
              <a:t>蜗杆</a:t>
            </a:r>
            <a:endParaRPr lang="zh-CN" altLang="en-US" sz="2000" dirty="0">
              <a:ea typeface="黑体" panose="02010609060101010101" pitchFamily="49" charset="-122"/>
            </a:endParaRPr>
          </a:p>
          <a:p>
            <a:pPr algn="l">
              <a:lnSpc>
                <a:spcPct val="120000"/>
              </a:lnSpc>
              <a:spcBef>
                <a:spcPct val="20000"/>
              </a:spcBef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蜗杆为轴类件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工作中除承受接触啮合力外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还承担弯曲和扭转载荷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因此使用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钢材。常用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碳素结构钢、合金结构钢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并经热处理提高性能。</a:t>
            </a:r>
            <a:endParaRPr lang="zh-CN" altLang="en-US" sz="2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5"/>
          <p:cNvSpPr txBox="1"/>
          <p:nvPr/>
        </p:nvSpPr>
        <p:spPr>
          <a:xfrm>
            <a:off x="4427855" y="1484630"/>
            <a:ext cx="4471670" cy="1891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10000"/>
              </a:spcBef>
            </a:pP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蜗杆常用材料：</a:t>
            </a:r>
            <a:endParaRPr lang="zh-CN" altLang="en-US" sz="180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l">
              <a:spcBef>
                <a:spcPct val="10000"/>
              </a:spcBef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高速重载传动：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15Cr, 20Cr, 20CrMoTi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等 </a:t>
            </a:r>
            <a:endParaRPr lang="zh-CN" altLang="en-US" sz="1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l">
              <a:spcBef>
                <a:spcPct val="10000"/>
              </a:spcBef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          渗碳淬火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,58~63HRC</a:t>
            </a:r>
            <a:endParaRPr lang="en-US" altLang="zh-CN" sz="1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l">
              <a:spcBef>
                <a:spcPct val="10000"/>
              </a:spcBef>
            </a:pP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          40, 45, 40Cr, 40CrNi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等</a:t>
            </a:r>
            <a:endParaRPr lang="zh-CN" altLang="en-US" sz="1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l">
              <a:spcBef>
                <a:spcPct val="10000"/>
              </a:spcBef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          表面淬火，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45~50HRC</a:t>
            </a:r>
            <a:endParaRPr lang="en-US" altLang="zh-CN" sz="1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l">
              <a:spcBef>
                <a:spcPct val="10000"/>
              </a:spcBef>
            </a:pP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一般传动：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40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45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，调质，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220~300HBW</a:t>
            </a:r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Text Box 7"/>
          <p:cNvSpPr txBox="1"/>
          <p:nvPr/>
        </p:nvSpPr>
        <p:spPr>
          <a:xfrm>
            <a:off x="116830" y="3923510"/>
            <a:ext cx="4191000" cy="24917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</a:rPr>
              <a:t>2.</a:t>
            </a:r>
            <a:r>
              <a:rPr lang="zh-CN" altLang="en-US" sz="2000" dirty="0">
                <a:solidFill>
                  <a:srgbClr val="0000FF"/>
                </a:solidFill>
                <a:ea typeface="黑体" panose="02010609060101010101" pitchFamily="49" charset="-122"/>
              </a:rPr>
              <a:t>蜗轮</a:t>
            </a:r>
            <a:endParaRPr lang="zh-CN" altLang="en-US" sz="2000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algn="l">
              <a:spcBef>
                <a:spcPct val="2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  蜗轮为盘类件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主要是轮齿受力。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spcBef>
                <a:spcPct val="2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  由于摩擦、磨损、生热严重，应使用减磨、耐磨、高导热系数的材料。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spcBef>
                <a:spcPct val="2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  铜合金，兼备减磨、耐磨、高导热系数，优先采用</a:t>
            </a:r>
            <a:r>
              <a:rPr lang="zh-CN" altLang="en-US" sz="2000" dirty="0">
                <a:latin typeface="Arial" panose="020B0604020202020204" pitchFamily="34" charset="0"/>
              </a:rPr>
              <a:t>。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7" name="Text Box 8"/>
          <p:cNvSpPr txBox="1"/>
          <p:nvPr/>
        </p:nvSpPr>
        <p:spPr>
          <a:xfrm>
            <a:off x="4427990" y="3933035"/>
            <a:ext cx="453631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10000"/>
              </a:spcBef>
            </a:pP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蜗轮常用材料：</a:t>
            </a:r>
            <a:endParaRPr lang="zh-CN" altLang="en-US" sz="18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" name="文本框 1"/>
          <p:cNvSpPr txBox="1">
            <a:spLocks noChangeArrowheads="1"/>
          </p:cNvSpPr>
          <p:nvPr/>
        </p:nvSpPr>
        <p:spPr bwMode="auto">
          <a:xfrm>
            <a:off x="107690" y="908825"/>
            <a:ext cx="185928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二、常用材料</a:t>
            </a:r>
            <a:endParaRPr lang="en-US" altLang="zh-CN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61925" y="143828"/>
            <a:ext cx="8769350" cy="490537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3.11-3 蜗杆传动的失效形式、计算准则及常用材料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8100245" y="4149050"/>
            <a:ext cx="914400" cy="9144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直接连接符 15"/>
          <p:cNvCxnSpPr/>
          <p:nvPr/>
        </p:nvCxnSpPr>
        <p:spPr bwMode="auto">
          <a:xfrm>
            <a:off x="107690" y="3645015"/>
            <a:ext cx="8892300" cy="0"/>
          </a:xfrm>
          <a:prstGeom prst="line">
            <a:avLst/>
          </a:prstGeom>
          <a:noFill/>
          <a:ln w="28575" cap="flat" cmpd="dbl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文本框 16"/>
          <p:cNvSpPr txBox="1"/>
          <p:nvPr/>
        </p:nvSpPr>
        <p:spPr>
          <a:xfrm>
            <a:off x="2123830" y="908825"/>
            <a:ext cx="43923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足够的强度、良好的磨合和耐磨性</a:t>
            </a:r>
            <a:endParaRPr lang="zh-CN" altLang="en-US" dirty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动作按钮: 前进或下一项 11">
            <a:hlinkClick r:id="rId1" action="ppaction://hlinksldjump" highlightClick="1"/>
          </p:cNvPr>
          <p:cNvSpPr/>
          <p:nvPr/>
        </p:nvSpPr>
        <p:spPr bwMode="auto">
          <a:xfrm>
            <a:off x="179695" y="6525214"/>
            <a:ext cx="288020" cy="216015"/>
          </a:xfrm>
          <a:prstGeom prst="actionButtonForwardNex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88141" name="Text Box 77"/>
          <p:cNvSpPr txBox="1">
            <a:spLocks noChangeArrowheads="1"/>
          </p:cNvSpPr>
          <p:nvPr/>
        </p:nvSpPr>
        <p:spPr bwMode="auto">
          <a:xfrm>
            <a:off x="4257040" y="4418965"/>
            <a:ext cx="5242560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kumimoji="1" lang="en-US" altLang="zh-CN" sz="2000" b="1" i="1">
                <a:solidFill>
                  <a:schemeClr val="hlink"/>
                </a:solidFill>
                <a:latin typeface="宋体" panose="02010600030101010101" pitchFamily="2" charset="-122"/>
              </a:rPr>
              <a:t>v</a:t>
            </a:r>
            <a:r>
              <a:rPr kumimoji="1" lang="en-US" altLang="zh-CN" sz="2000" b="1" i="1" baseline="-25000">
                <a:solidFill>
                  <a:schemeClr val="hlink"/>
                </a:solidFill>
                <a:latin typeface="宋体" panose="02010600030101010101" pitchFamily="2" charset="-122"/>
              </a:rPr>
              <a:t>s</a:t>
            </a:r>
            <a:r>
              <a:rPr kumimoji="1" lang="en-US" altLang="zh-CN" sz="2000" b="1">
                <a:solidFill>
                  <a:schemeClr val="hlink"/>
                </a:solidFill>
                <a:latin typeface="宋体" panose="02010600030101010101" pitchFamily="2" charset="-122"/>
              </a:rPr>
              <a:t>&gt;12</a:t>
            </a:r>
            <a:r>
              <a:rPr kumimoji="1" lang="en-US" altLang="zh-CN" sz="2000" b="1">
                <a:solidFill>
                  <a:schemeClr val="tx1"/>
                </a:solidFill>
                <a:latin typeface="宋体" panose="02010600030101010101" pitchFamily="2" charset="-122"/>
              </a:rPr>
              <a:t>m/s</a:t>
            </a:r>
            <a:r>
              <a:rPr kumimoji="1" lang="zh-CN" altLang="en-US" sz="2000" b="1">
                <a:solidFill>
                  <a:schemeClr val="tx1"/>
                </a:solidFill>
                <a:latin typeface="宋体" panose="02010600030101010101" pitchFamily="2" charset="-122"/>
              </a:rPr>
              <a:t>时→ </a:t>
            </a:r>
            <a:r>
              <a:rPr kumimoji="1" lang="en-US" altLang="zh-CN" sz="2000" b="1">
                <a:solidFill>
                  <a:schemeClr val="tx1"/>
                </a:solidFill>
                <a:latin typeface="宋体" panose="02010600030101010101" pitchFamily="2" charset="-122"/>
              </a:rPr>
              <a:t>ZCuSn10Pb1</a:t>
            </a:r>
            <a:r>
              <a:rPr kumimoji="1" lang="zh-CN" altLang="en-US" sz="2000" b="1">
                <a:solidFill>
                  <a:schemeClr val="tx1"/>
                </a:solidFill>
                <a:latin typeface="宋体" panose="02010600030101010101" pitchFamily="2" charset="-122"/>
              </a:rPr>
              <a:t>铸锡青铜制造。</a:t>
            </a:r>
            <a:endParaRPr kumimoji="1" lang="zh-CN" altLang="en-US" sz="20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88142" name="Text Box 78"/>
          <p:cNvSpPr txBox="1">
            <a:spLocks noChangeArrowheads="1"/>
          </p:cNvSpPr>
          <p:nvPr/>
        </p:nvSpPr>
        <p:spPr bwMode="auto">
          <a:xfrm>
            <a:off x="4257040" y="4869180"/>
            <a:ext cx="4986655" cy="30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kumimoji="1" lang="en-US" altLang="zh-CN" sz="2000" b="1" i="1">
                <a:solidFill>
                  <a:schemeClr val="hlink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000" b="1" baseline="-25000">
                <a:solidFill>
                  <a:schemeClr val="hlink"/>
                </a:solidFill>
                <a:latin typeface="宋体" panose="02010600030101010101" pitchFamily="2" charset="-122"/>
              </a:rPr>
              <a:t>S</a:t>
            </a:r>
            <a:r>
              <a:rPr kumimoji="1" lang="en-US" altLang="zh-CN" sz="2000" b="1">
                <a:solidFill>
                  <a:schemeClr val="hlink"/>
                </a:solidFill>
                <a:latin typeface="宋体" panose="02010600030101010101" pitchFamily="2" charset="-122"/>
              </a:rPr>
              <a:t> &lt;12</a:t>
            </a:r>
            <a:r>
              <a:rPr kumimoji="1" lang="en-US" altLang="zh-CN" sz="2000" b="1">
                <a:solidFill>
                  <a:schemeClr val="tx1"/>
                </a:solidFill>
                <a:latin typeface="宋体" panose="02010600030101010101" pitchFamily="2" charset="-122"/>
              </a:rPr>
              <a:t>m/s</a:t>
            </a:r>
            <a:r>
              <a:rPr kumimoji="1" lang="zh-CN" altLang="en-US" sz="2000" b="1">
                <a:solidFill>
                  <a:schemeClr val="tx1"/>
                </a:solidFill>
                <a:latin typeface="宋体" panose="02010600030101010101" pitchFamily="2" charset="-122"/>
              </a:rPr>
              <a:t>时→ </a:t>
            </a:r>
            <a:r>
              <a:rPr kumimoji="1" lang="en-US" altLang="zh-CN" sz="2000" b="1">
                <a:solidFill>
                  <a:schemeClr val="tx1"/>
                </a:solidFill>
                <a:latin typeface="宋体" panose="02010600030101010101" pitchFamily="2" charset="-122"/>
              </a:rPr>
              <a:t>ZCuSn5Pb5Zn5</a:t>
            </a:r>
            <a:r>
              <a:rPr kumimoji="1" lang="zh-CN" altLang="en-US" sz="2000" b="1">
                <a:solidFill>
                  <a:schemeClr val="tx1"/>
                </a:solidFill>
                <a:latin typeface="宋体" panose="02010600030101010101" pitchFamily="2" charset="-122"/>
              </a:rPr>
              <a:t>铸锡锌铅青铜</a:t>
            </a:r>
            <a:endParaRPr kumimoji="1" lang="zh-CN" altLang="en-US" sz="20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88143" name="Rectangle 79"/>
          <p:cNvSpPr>
            <a:spLocks noChangeArrowheads="1"/>
          </p:cNvSpPr>
          <p:nvPr/>
        </p:nvSpPr>
        <p:spPr bwMode="auto">
          <a:xfrm>
            <a:off x="4212590" y="5274310"/>
            <a:ext cx="490474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kumimoji="1" lang="en-US" altLang="zh-CN" sz="2000" b="1" i="1" dirty="0" err="1">
                <a:solidFill>
                  <a:schemeClr val="hlink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000" b="1" baseline="-25000" dirty="0" err="1">
                <a:solidFill>
                  <a:schemeClr val="hlink"/>
                </a:solidFill>
                <a:latin typeface="宋体" panose="02010600030101010101" pitchFamily="2" charset="-122"/>
              </a:rPr>
              <a:t>S</a:t>
            </a:r>
            <a:r>
              <a:rPr kumimoji="1" lang="en-US" altLang="zh-CN" sz="2000" b="1" dirty="0">
                <a:solidFill>
                  <a:schemeClr val="hlink"/>
                </a:solidFill>
                <a:latin typeface="宋体" panose="02010600030101010101" pitchFamily="2" charset="-122"/>
              </a:rPr>
              <a:t> ≤10</a:t>
            </a:r>
            <a:r>
              <a:rPr kumimoji="1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m/s</a:t>
            </a:r>
            <a:r>
              <a:rPr kumimoji="1"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时→ </a:t>
            </a:r>
            <a:r>
              <a:rPr kumimoji="1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ZCuAl9Mn2 </a:t>
            </a:r>
            <a:r>
              <a:rPr kumimoji="1"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铸铝青铜</a:t>
            </a:r>
            <a:r>
              <a:rPr kumimoji="1"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  <a:endParaRPr kumimoji="1" lang="zh-CN" altLang="en-US" sz="24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88144" name="Rectangle 80"/>
          <p:cNvSpPr>
            <a:spLocks noChangeArrowheads="1"/>
          </p:cNvSpPr>
          <p:nvPr/>
        </p:nvSpPr>
        <p:spPr bwMode="auto">
          <a:xfrm>
            <a:off x="4257040" y="5768975"/>
            <a:ext cx="428434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kumimoji="1" lang="en-US" altLang="zh-CN" sz="2000" b="1" i="1">
                <a:solidFill>
                  <a:schemeClr val="hlink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000" b="1" baseline="-25000">
                <a:solidFill>
                  <a:schemeClr val="hlink"/>
                </a:solidFill>
                <a:latin typeface="宋体" panose="02010600030101010101" pitchFamily="2" charset="-122"/>
              </a:rPr>
              <a:t>S</a:t>
            </a:r>
            <a:r>
              <a:rPr kumimoji="1" lang="en-US" altLang="zh-CN" sz="2000" b="1">
                <a:solidFill>
                  <a:schemeClr val="hlink"/>
                </a:solidFill>
                <a:latin typeface="宋体" panose="02010600030101010101" pitchFamily="2" charset="-122"/>
              </a:rPr>
              <a:t> &lt;2</a:t>
            </a:r>
            <a:r>
              <a:rPr kumimoji="1" lang="en-US" altLang="zh-CN" sz="2000" b="1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kumimoji="1" lang="en-US" altLang="zh-CN" sz="2000" b="1">
                <a:solidFill>
                  <a:schemeClr val="tx1"/>
                </a:solidFill>
                <a:latin typeface="宋体" panose="02010600030101010101" pitchFamily="2" charset="-122"/>
              </a:rPr>
              <a:t>m/s</a:t>
            </a:r>
            <a:r>
              <a:rPr kumimoji="1" lang="zh-CN" altLang="en-US" sz="2000" b="1">
                <a:solidFill>
                  <a:schemeClr val="tx1"/>
                </a:solidFill>
                <a:latin typeface="宋体" panose="02010600030101010101" pitchFamily="2" charset="-122"/>
              </a:rPr>
              <a:t>时→球墨铸铁、灰铸铁。</a:t>
            </a:r>
            <a:endParaRPr kumimoji="1" lang="zh-CN" altLang="en-US" sz="20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7" grpId="0"/>
      <p:bldP spid="88141" grpId="0" bldLvl="0" animBg="1"/>
      <p:bldP spid="88142" grpId="0" bldLvl="0" animBg="1"/>
      <p:bldP spid="88143" grpId="0" bldLvl="0" animBg="1"/>
      <p:bldP spid="88144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443" name="Group 19"/>
          <p:cNvGrpSpPr/>
          <p:nvPr/>
        </p:nvGrpSpPr>
        <p:grpSpPr bwMode="auto">
          <a:xfrm>
            <a:off x="7812395" y="5701510"/>
            <a:ext cx="882650" cy="993775"/>
            <a:chOff x="2276" y="3514"/>
            <a:chExt cx="556" cy="626"/>
          </a:xfrm>
        </p:grpSpPr>
        <p:sp>
          <p:nvSpPr>
            <p:cNvPr id="103444" name="AutoShape 20"/>
            <p:cNvSpPr>
              <a:spLocks noChangeArrowheads="1"/>
            </p:cNvSpPr>
            <p:nvPr/>
          </p:nvSpPr>
          <p:spPr bwMode="auto">
            <a:xfrm>
              <a:off x="2276" y="3740"/>
              <a:ext cx="331" cy="400"/>
            </a:xfrm>
            <a:prstGeom prst="curvedDownArrow">
              <a:avLst>
                <a:gd name="adj1" fmla="val 20000"/>
                <a:gd name="adj2" fmla="val 40000"/>
                <a:gd name="adj3" fmla="val 40282"/>
              </a:avLst>
            </a:prstGeom>
            <a:solidFill>
              <a:schemeClr val="accent1"/>
            </a:solidFill>
            <a:ln w="19050">
              <a:solidFill>
                <a:srgbClr val="FF505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5" name="Text Box 21"/>
            <p:cNvSpPr txBox="1">
              <a:spLocks noChangeArrowheads="1"/>
            </p:cNvSpPr>
            <p:nvPr/>
          </p:nvSpPr>
          <p:spPr bwMode="auto">
            <a:xfrm>
              <a:off x="2419" y="3514"/>
              <a:ext cx="4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rgbClr val="000066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ω</a:t>
              </a:r>
              <a:r>
                <a:rPr kumimoji="1" lang="en-US" altLang="zh-CN" sz="2400" b="1" i="1" baseline="-25000">
                  <a:solidFill>
                    <a:srgbClr val="000066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1</a:t>
              </a:r>
              <a:endParaRPr kumimoji="1" lang="en-US" altLang="zh-CN" sz="2400" b="1" i="1">
                <a:solidFill>
                  <a:srgbClr val="000066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3459" name="Group 35"/>
          <p:cNvGrpSpPr/>
          <p:nvPr/>
        </p:nvGrpSpPr>
        <p:grpSpPr bwMode="auto">
          <a:xfrm>
            <a:off x="3570595" y="5687222"/>
            <a:ext cx="882650" cy="993775"/>
            <a:chOff x="2276" y="3514"/>
            <a:chExt cx="556" cy="626"/>
          </a:xfrm>
        </p:grpSpPr>
        <p:sp>
          <p:nvSpPr>
            <p:cNvPr id="103460" name="AutoShape 36"/>
            <p:cNvSpPr>
              <a:spLocks noChangeArrowheads="1"/>
            </p:cNvSpPr>
            <p:nvPr/>
          </p:nvSpPr>
          <p:spPr bwMode="auto">
            <a:xfrm>
              <a:off x="2276" y="3740"/>
              <a:ext cx="331" cy="400"/>
            </a:xfrm>
            <a:prstGeom prst="curvedDownArrow">
              <a:avLst>
                <a:gd name="adj1" fmla="val 20000"/>
                <a:gd name="adj2" fmla="val 40000"/>
                <a:gd name="adj3" fmla="val 40282"/>
              </a:avLst>
            </a:prstGeom>
            <a:solidFill>
              <a:schemeClr val="accent1"/>
            </a:solidFill>
            <a:ln w="19050">
              <a:solidFill>
                <a:srgbClr val="FF505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61" name="Text Box 37"/>
            <p:cNvSpPr txBox="1">
              <a:spLocks noChangeArrowheads="1"/>
            </p:cNvSpPr>
            <p:nvPr/>
          </p:nvSpPr>
          <p:spPr bwMode="auto">
            <a:xfrm>
              <a:off x="2419" y="3514"/>
              <a:ext cx="4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rgbClr val="000066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ω</a:t>
              </a:r>
              <a:r>
                <a:rPr kumimoji="1" lang="en-US" altLang="zh-CN" sz="2400" b="1" i="1" baseline="-25000">
                  <a:solidFill>
                    <a:srgbClr val="000066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1</a:t>
              </a:r>
              <a:endParaRPr kumimoji="1" lang="en-US" altLang="zh-CN" sz="2400" b="1" i="1">
                <a:solidFill>
                  <a:srgbClr val="000066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3608" name="Group 184"/>
          <p:cNvGrpSpPr/>
          <p:nvPr/>
        </p:nvGrpSpPr>
        <p:grpSpPr bwMode="auto">
          <a:xfrm>
            <a:off x="5116820" y="4598197"/>
            <a:ext cx="3100388" cy="2049463"/>
            <a:chOff x="3278" y="1736"/>
            <a:chExt cx="1953" cy="1291"/>
          </a:xfrm>
        </p:grpSpPr>
        <p:sp>
          <p:nvSpPr>
            <p:cNvPr id="103609" name="Oval 185"/>
            <p:cNvSpPr>
              <a:spLocks noChangeArrowheads="1"/>
            </p:cNvSpPr>
            <p:nvPr/>
          </p:nvSpPr>
          <p:spPr bwMode="auto">
            <a:xfrm>
              <a:off x="3809" y="1852"/>
              <a:ext cx="838" cy="869"/>
            </a:xfrm>
            <a:prstGeom prst="ellipse">
              <a:avLst/>
            </a:prstGeom>
            <a:noFill/>
            <a:ln w="28575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10" name="Line 186"/>
            <p:cNvSpPr>
              <a:spLocks noChangeShapeType="1"/>
            </p:cNvSpPr>
            <p:nvPr/>
          </p:nvSpPr>
          <p:spPr bwMode="auto">
            <a:xfrm>
              <a:off x="3711" y="2269"/>
              <a:ext cx="105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11" name="Line 187"/>
            <p:cNvSpPr>
              <a:spLocks noChangeShapeType="1"/>
            </p:cNvSpPr>
            <p:nvPr/>
          </p:nvSpPr>
          <p:spPr bwMode="auto">
            <a:xfrm>
              <a:off x="4224" y="1736"/>
              <a:ext cx="0" cy="1059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12" name="Rectangle 188"/>
            <p:cNvSpPr>
              <a:spLocks noChangeArrowheads="1"/>
            </p:cNvSpPr>
            <p:nvPr/>
          </p:nvSpPr>
          <p:spPr bwMode="auto">
            <a:xfrm>
              <a:off x="3842" y="2723"/>
              <a:ext cx="777" cy="304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13" name="Rectangle 189"/>
            <p:cNvSpPr>
              <a:spLocks noChangeArrowheads="1"/>
            </p:cNvSpPr>
            <p:nvPr/>
          </p:nvSpPr>
          <p:spPr bwMode="auto">
            <a:xfrm>
              <a:off x="3364" y="2795"/>
              <a:ext cx="465" cy="178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14" name="Rectangle 190"/>
            <p:cNvSpPr>
              <a:spLocks noChangeArrowheads="1"/>
            </p:cNvSpPr>
            <p:nvPr/>
          </p:nvSpPr>
          <p:spPr bwMode="auto">
            <a:xfrm>
              <a:off x="4628" y="2795"/>
              <a:ext cx="465" cy="178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15" name="Line 191"/>
            <p:cNvSpPr>
              <a:spLocks noChangeShapeType="1"/>
            </p:cNvSpPr>
            <p:nvPr/>
          </p:nvSpPr>
          <p:spPr bwMode="auto">
            <a:xfrm>
              <a:off x="3278" y="2892"/>
              <a:ext cx="195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16" name="Oval 192"/>
            <p:cNvSpPr>
              <a:spLocks noChangeArrowheads="1"/>
            </p:cNvSpPr>
            <p:nvPr/>
          </p:nvSpPr>
          <p:spPr bwMode="auto">
            <a:xfrm>
              <a:off x="4203" y="2707"/>
              <a:ext cx="48" cy="47"/>
            </a:xfrm>
            <a:prstGeom prst="ellipse">
              <a:avLst/>
            </a:prstGeom>
            <a:solidFill>
              <a:srgbClr val="333399"/>
            </a:solidFill>
            <a:ln w="19050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17" name="Oval 193"/>
            <p:cNvSpPr>
              <a:spLocks noChangeArrowheads="1"/>
            </p:cNvSpPr>
            <p:nvPr/>
          </p:nvSpPr>
          <p:spPr bwMode="auto">
            <a:xfrm>
              <a:off x="4198" y="2244"/>
              <a:ext cx="48" cy="47"/>
            </a:xfrm>
            <a:prstGeom prst="ellipse">
              <a:avLst/>
            </a:prstGeom>
            <a:solidFill>
              <a:srgbClr val="C5D0E5"/>
            </a:solidFill>
            <a:ln w="19050">
              <a:solidFill>
                <a:schemeClr val="folHlink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18" name="Text Box 194"/>
            <p:cNvSpPr txBox="1">
              <a:spLocks noChangeArrowheads="1"/>
            </p:cNvSpPr>
            <p:nvPr/>
          </p:nvSpPr>
          <p:spPr bwMode="auto">
            <a:xfrm>
              <a:off x="4402" y="266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505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66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619" name="Text Box 195"/>
            <p:cNvSpPr txBox="1">
              <a:spLocks noChangeArrowheads="1"/>
            </p:cNvSpPr>
            <p:nvPr/>
          </p:nvSpPr>
          <p:spPr bwMode="auto">
            <a:xfrm>
              <a:off x="4343" y="1959"/>
              <a:ext cx="2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505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620" name="Text Box 196"/>
            <p:cNvSpPr txBox="1">
              <a:spLocks noChangeArrowheads="1"/>
            </p:cNvSpPr>
            <p:nvPr/>
          </p:nvSpPr>
          <p:spPr bwMode="auto">
            <a:xfrm>
              <a:off x="4212" y="2438"/>
              <a:ext cx="17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p</a:t>
              </a:r>
              <a:endParaRPr kumimoji="1"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3621" name="Group 197"/>
          <p:cNvGrpSpPr/>
          <p:nvPr/>
        </p:nvGrpSpPr>
        <p:grpSpPr bwMode="auto">
          <a:xfrm>
            <a:off x="1029008" y="4598197"/>
            <a:ext cx="3100388" cy="2058988"/>
            <a:chOff x="695" y="1736"/>
            <a:chExt cx="1953" cy="1297"/>
          </a:xfrm>
        </p:grpSpPr>
        <p:sp>
          <p:nvSpPr>
            <p:cNvPr id="103622" name="Oval 198"/>
            <p:cNvSpPr>
              <a:spLocks noChangeArrowheads="1"/>
            </p:cNvSpPr>
            <p:nvPr/>
          </p:nvSpPr>
          <p:spPr bwMode="auto">
            <a:xfrm>
              <a:off x="1193" y="1852"/>
              <a:ext cx="838" cy="869"/>
            </a:xfrm>
            <a:prstGeom prst="ellipse">
              <a:avLst/>
            </a:prstGeom>
            <a:noFill/>
            <a:ln w="28575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23" name="Line 199"/>
            <p:cNvSpPr>
              <a:spLocks noChangeShapeType="1"/>
            </p:cNvSpPr>
            <p:nvPr/>
          </p:nvSpPr>
          <p:spPr bwMode="auto">
            <a:xfrm>
              <a:off x="1095" y="2269"/>
              <a:ext cx="105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24" name="Line 200"/>
            <p:cNvSpPr>
              <a:spLocks noChangeShapeType="1"/>
            </p:cNvSpPr>
            <p:nvPr/>
          </p:nvSpPr>
          <p:spPr bwMode="auto">
            <a:xfrm>
              <a:off x="1608" y="1736"/>
              <a:ext cx="0" cy="1059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25" name="Rectangle 201"/>
            <p:cNvSpPr>
              <a:spLocks noChangeArrowheads="1"/>
            </p:cNvSpPr>
            <p:nvPr/>
          </p:nvSpPr>
          <p:spPr bwMode="auto">
            <a:xfrm>
              <a:off x="1241" y="2729"/>
              <a:ext cx="777" cy="304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26" name="Rectangle 202"/>
            <p:cNvSpPr>
              <a:spLocks noChangeArrowheads="1"/>
            </p:cNvSpPr>
            <p:nvPr/>
          </p:nvSpPr>
          <p:spPr bwMode="auto">
            <a:xfrm>
              <a:off x="776" y="2795"/>
              <a:ext cx="465" cy="178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27" name="Rectangle 203"/>
            <p:cNvSpPr>
              <a:spLocks noChangeArrowheads="1"/>
            </p:cNvSpPr>
            <p:nvPr/>
          </p:nvSpPr>
          <p:spPr bwMode="auto">
            <a:xfrm>
              <a:off x="2018" y="2795"/>
              <a:ext cx="465" cy="178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28" name="Line 204"/>
            <p:cNvSpPr>
              <a:spLocks noChangeShapeType="1"/>
            </p:cNvSpPr>
            <p:nvPr/>
          </p:nvSpPr>
          <p:spPr bwMode="auto">
            <a:xfrm>
              <a:off x="695" y="2886"/>
              <a:ext cx="195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29" name="Oval 205"/>
            <p:cNvSpPr>
              <a:spLocks noChangeArrowheads="1"/>
            </p:cNvSpPr>
            <p:nvPr/>
          </p:nvSpPr>
          <p:spPr bwMode="auto">
            <a:xfrm>
              <a:off x="1587" y="2707"/>
              <a:ext cx="48" cy="47"/>
            </a:xfrm>
            <a:prstGeom prst="ellipse">
              <a:avLst/>
            </a:prstGeom>
            <a:solidFill>
              <a:srgbClr val="333399"/>
            </a:solidFill>
            <a:ln w="19050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30" name="Oval 206"/>
            <p:cNvSpPr>
              <a:spLocks noChangeArrowheads="1"/>
            </p:cNvSpPr>
            <p:nvPr/>
          </p:nvSpPr>
          <p:spPr bwMode="auto">
            <a:xfrm>
              <a:off x="1582" y="2244"/>
              <a:ext cx="48" cy="47"/>
            </a:xfrm>
            <a:prstGeom prst="ellipse">
              <a:avLst/>
            </a:prstGeom>
            <a:noFill/>
            <a:ln w="19050">
              <a:solidFill>
                <a:srgbClr val="008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31" name="Text Box 207"/>
            <p:cNvSpPr txBox="1">
              <a:spLocks noChangeArrowheads="1"/>
            </p:cNvSpPr>
            <p:nvPr/>
          </p:nvSpPr>
          <p:spPr bwMode="auto">
            <a:xfrm>
              <a:off x="1786" y="266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505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66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 b="1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632" name="Text Box 208"/>
            <p:cNvSpPr txBox="1">
              <a:spLocks noChangeArrowheads="1"/>
            </p:cNvSpPr>
            <p:nvPr/>
          </p:nvSpPr>
          <p:spPr bwMode="auto">
            <a:xfrm>
              <a:off x="1727" y="1959"/>
              <a:ext cx="2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505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633" name="Text Box 209"/>
            <p:cNvSpPr txBox="1">
              <a:spLocks noChangeArrowheads="1"/>
            </p:cNvSpPr>
            <p:nvPr/>
          </p:nvSpPr>
          <p:spPr bwMode="auto">
            <a:xfrm>
              <a:off x="1596" y="2438"/>
              <a:ext cx="17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p</a:t>
              </a:r>
              <a:endParaRPr kumimoji="1"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03478" name="Text Box 54"/>
          <p:cNvSpPr txBox="1">
            <a:spLocks noChangeArrowheads="1"/>
          </p:cNvSpPr>
          <p:nvPr/>
        </p:nvSpPr>
        <p:spPr bwMode="auto">
          <a:xfrm>
            <a:off x="251700" y="3645761"/>
            <a:ext cx="8239125" cy="835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5050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>
              <a:spcBef>
                <a:spcPct val="20000"/>
              </a:spcBef>
            </a:pPr>
            <a:r>
              <a:rPr kumimoji="1" lang="zh-CN" altLang="en-US" dirty="0">
                <a:solidFill>
                  <a:schemeClr val="hlink"/>
                </a:solidFill>
                <a:latin typeface="Times New Roman" panose="02020603050405020304" pitchFamily="18" charset="0"/>
              </a:rPr>
              <a:t>右旋蜗杆：</a:t>
            </a:r>
            <a:r>
              <a:rPr kumimoji="1" lang="zh-CN" altLang="en-US" b="1" dirty="0">
                <a:solidFill>
                  <a:srgbClr val="002060"/>
                </a:solidFill>
                <a:latin typeface="Times New Roman" panose="02020603050405020304" pitchFamily="18" charset="0"/>
              </a:rPr>
              <a:t>伸出右手，四指顺蜗杆转向，则蜗轮的</a:t>
            </a:r>
            <a:endParaRPr kumimoji="1" lang="zh-CN" altLang="en-US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ct val="20000"/>
              </a:spcBef>
            </a:pPr>
            <a:r>
              <a:rPr kumimoji="1" lang="zh-CN" altLang="en-US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                   切向速 度</a:t>
            </a:r>
            <a:r>
              <a:rPr kumimoji="1" lang="en-US" altLang="zh-CN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b="1" i="1" baseline="-25000" dirty="0">
                <a:solidFill>
                  <a:srgbClr val="002060"/>
                </a:solidFill>
                <a:latin typeface="宋体" panose="02010600030101010101" pitchFamily="2" charset="-122"/>
              </a:rPr>
              <a:t>2</a:t>
            </a:r>
            <a:r>
              <a:rPr kumimoji="1" lang="zh-CN" altLang="en-US" b="1" dirty="0">
                <a:solidFill>
                  <a:srgbClr val="002060"/>
                </a:solidFill>
                <a:latin typeface="Times New Roman" panose="02020603050405020304" pitchFamily="18" charset="0"/>
              </a:rPr>
              <a:t>的方向与拇指指向相反。</a:t>
            </a:r>
            <a:endParaRPr kumimoji="1" lang="zh-CN" altLang="en-US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79" name="Text Box 55"/>
          <p:cNvSpPr txBox="1">
            <a:spLocks noChangeArrowheads="1"/>
          </p:cNvSpPr>
          <p:nvPr/>
        </p:nvSpPr>
        <p:spPr bwMode="auto">
          <a:xfrm>
            <a:off x="251700" y="2708950"/>
            <a:ext cx="468471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5050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kumimoji="1" lang="zh-CN" altLang="en-US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用手势确定蜗轮的转向：</a:t>
            </a:r>
            <a:endParaRPr kumimoji="1" lang="zh-CN" altLang="en-US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3480" name="Line 56"/>
          <p:cNvSpPr>
            <a:spLocks noChangeShapeType="1"/>
          </p:cNvSpPr>
          <p:nvPr/>
        </p:nvSpPr>
        <p:spPr bwMode="auto">
          <a:xfrm>
            <a:off x="2252970" y="6168235"/>
            <a:ext cx="355600" cy="500062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81" name="Line 57"/>
          <p:cNvSpPr>
            <a:spLocks noChangeShapeType="1"/>
          </p:cNvSpPr>
          <p:nvPr/>
        </p:nvSpPr>
        <p:spPr bwMode="auto">
          <a:xfrm flipH="1">
            <a:off x="6444130" y="6165190"/>
            <a:ext cx="352425" cy="48895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87" name="Text Box 63"/>
          <p:cNvSpPr txBox="1">
            <a:spLocks noChangeArrowheads="1"/>
          </p:cNvSpPr>
          <p:nvPr/>
        </p:nvSpPr>
        <p:spPr bwMode="auto">
          <a:xfrm>
            <a:off x="179695" y="3226141"/>
            <a:ext cx="667385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5050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kumimoji="1" lang="zh-CN" altLang="en-US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左旋蜗杆：</a:t>
            </a:r>
            <a:r>
              <a:rPr kumimoji="1"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用左手判断，方法一样。</a:t>
            </a:r>
            <a:endParaRPr kumimoji="1" lang="zh-CN" altLang="en-US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03488" name="Group 64"/>
          <p:cNvGrpSpPr/>
          <p:nvPr/>
        </p:nvGrpSpPr>
        <p:grpSpPr bwMode="auto">
          <a:xfrm>
            <a:off x="944870" y="4953797"/>
            <a:ext cx="1146175" cy="673100"/>
            <a:chOff x="470" y="2986"/>
            <a:chExt cx="722" cy="424"/>
          </a:xfrm>
        </p:grpSpPr>
        <p:grpSp>
          <p:nvGrpSpPr>
            <p:cNvPr id="103489" name="Group 65"/>
            <p:cNvGrpSpPr/>
            <p:nvPr/>
          </p:nvGrpSpPr>
          <p:grpSpPr bwMode="auto">
            <a:xfrm>
              <a:off x="806" y="3056"/>
              <a:ext cx="386" cy="354"/>
              <a:chOff x="2484" y="4844"/>
              <a:chExt cx="560" cy="477"/>
            </a:xfrm>
          </p:grpSpPr>
          <p:sp>
            <p:nvSpPr>
              <p:cNvPr id="103490" name="Freeform 66"/>
              <p:cNvSpPr/>
              <p:nvPr/>
            </p:nvSpPr>
            <p:spPr bwMode="auto">
              <a:xfrm>
                <a:off x="2584" y="4844"/>
                <a:ext cx="110" cy="160"/>
              </a:xfrm>
              <a:custGeom>
                <a:avLst/>
                <a:gdLst>
                  <a:gd name="T0" fmla="*/ 110 w 110"/>
                  <a:gd name="T1" fmla="*/ 0 h 160"/>
                  <a:gd name="T2" fmla="*/ 0 w 110"/>
                  <a:gd name="T3" fmla="*/ 140 h 160"/>
                  <a:gd name="T4" fmla="*/ 49 w 110"/>
                  <a:gd name="T5" fmla="*/ 160 h 160"/>
                  <a:gd name="T6" fmla="*/ 110 w 110"/>
                  <a:gd name="T7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160">
                    <a:moveTo>
                      <a:pt x="110" y="0"/>
                    </a:moveTo>
                    <a:lnTo>
                      <a:pt x="0" y="140"/>
                    </a:lnTo>
                    <a:lnTo>
                      <a:pt x="49" y="16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FF0000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91" name="Arc 67"/>
              <p:cNvSpPr/>
              <p:nvPr/>
            </p:nvSpPr>
            <p:spPr bwMode="auto">
              <a:xfrm rot="-7168102">
                <a:off x="2525" y="4803"/>
                <a:ext cx="477" cy="56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9794"/>
                  <a:gd name="T1" fmla="*/ 0 h 21600"/>
                  <a:gd name="T2" fmla="*/ 19794 w 19794"/>
                  <a:gd name="T3" fmla="*/ 12955 h 21600"/>
                  <a:gd name="T4" fmla="*/ 0 w 1979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94" h="21600" fill="none" extrusionOk="0">
                    <a:moveTo>
                      <a:pt x="0" y="0"/>
                    </a:moveTo>
                    <a:cubicBezTo>
                      <a:pt x="8586" y="0"/>
                      <a:pt x="16357" y="5085"/>
                      <a:pt x="19794" y="12954"/>
                    </a:cubicBezTo>
                  </a:path>
                  <a:path w="19794" h="21600" stroke="0" extrusionOk="0">
                    <a:moveTo>
                      <a:pt x="0" y="0"/>
                    </a:moveTo>
                    <a:cubicBezTo>
                      <a:pt x="8586" y="0"/>
                      <a:pt x="16357" y="5085"/>
                      <a:pt x="19794" y="1295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492" name="Text Box 68"/>
            <p:cNvSpPr txBox="1">
              <a:spLocks noChangeArrowheads="1"/>
            </p:cNvSpPr>
            <p:nvPr/>
          </p:nvSpPr>
          <p:spPr bwMode="auto">
            <a:xfrm>
              <a:off x="470" y="2986"/>
              <a:ext cx="4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folHlink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ω</a:t>
              </a:r>
              <a:r>
                <a:rPr kumimoji="1" lang="en-US" altLang="zh-CN" sz="2400" b="1" i="1" baseline="-25000">
                  <a:solidFill>
                    <a:schemeClr val="folHlink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2</a:t>
              </a:r>
              <a:endParaRPr kumimoji="1" lang="en-US" altLang="zh-CN" sz="2400" b="1" i="1">
                <a:solidFill>
                  <a:schemeClr val="folHlink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3493" name="Group 69"/>
          <p:cNvGrpSpPr/>
          <p:nvPr/>
        </p:nvGrpSpPr>
        <p:grpSpPr bwMode="auto">
          <a:xfrm>
            <a:off x="6904345" y="4693447"/>
            <a:ext cx="969963" cy="901700"/>
            <a:chOff x="4008" y="2822"/>
            <a:chExt cx="611" cy="568"/>
          </a:xfrm>
        </p:grpSpPr>
        <p:grpSp>
          <p:nvGrpSpPr>
            <p:cNvPr id="103494" name="Group 70"/>
            <p:cNvGrpSpPr/>
            <p:nvPr/>
          </p:nvGrpSpPr>
          <p:grpSpPr bwMode="auto">
            <a:xfrm flipH="1">
              <a:off x="4008" y="3036"/>
              <a:ext cx="387" cy="354"/>
              <a:chOff x="2484" y="4844"/>
              <a:chExt cx="560" cy="477"/>
            </a:xfrm>
          </p:grpSpPr>
          <p:sp>
            <p:nvSpPr>
              <p:cNvPr id="103495" name="Freeform 71"/>
              <p:cNvSpPr/>
              <p:nvPr/>
            </p:nvSpPr>
            <p:spPr bwMode="auto">
              <a:xfrm>
                <a:off x="2584" y="4844"/>
                <a:ext cx="110" cy="160"/>
              </a:xfrm>
              <a:custGeom>
                <a:avLst/>
                <a:gdLst>
                  <a:gd name="T0" fmla="*/ 110 w 110"/>
                  <a:gd name="T1" fmla="*/ 0 h 160"/>
                  <a:gd name="T2" fmla="*/ 0 w 110"/>
                  <a:gd name="T3" fmla="*/ 140 h 160"/>
                  <a:gd name="T4" fmla="*/ 49 w 110"/>
                  <a:gd name="T5" fmla="*/ 160 h 160"/>
                  <a:gd name="T6" fmla="*/ 110 w 110"/>
                  <a:gd name="T7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" h="160">
                    <a:moveTo>
                      <a:pt x="110" y="0"/>
                    </a:moveTo>
                    <a:lnTo>
                      <a:pt x="0" y="140"/>
                    </a:lnTo>
                    <a:lnTo>
                      <a:pt x="49" y="16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FF0000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96" name="Arc 72"/>
              <p:cNvSpPr/>
              <p:nvPr/>
            </p:nvSpPr>
            <p:spPr bwMode="auto">
              <a:xfrm rot="-7168102">
                <a:off x="2525" y="4803"/>
                <a:ext cx="477" cy="56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9794"/>
                  <a:gd name="T1" fmla="*/ 0 h 21600"/>
                  <a:gd name="T2" fmla="*/ 19794 w 19794"/>
                  <a:gd name="T3" fmla="*/ 12955 h 21600"/>
                  <a:gd name="T4" fmla="*/ 0 w 1979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94" h="21600" fill="none" extrusionOk="0">
                    <a:moveTo>
                      <a:pt x="0" y="0"/>
                    </a:moveTo>
                    <a:cubicBezTo>
                      <a:pt x="8586" y="0"/>
                      <a:pt x="16357" y="5085"/>
                      <a:pt x="19794" y="12954"/>
                    </a:cubicBezTo>
                  </a:path>
                  <a:path w="19794" h="21600" stroke="0" extrusionOk="0">
                    <a:moveTo>
                      <a:pt x="0" y="0"/>
                    </a:moveTo>
                    <a:cubicBezTo>
                      <a:pt x="8586" y="0"/>
                      <a:pt x="16357" y="5085"/>
                      <a:pt x="19794" y="1295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497" name="Text Box 73"/>
            <p:cNvSpPr txBox="1">
              <a:spLocks noChangeArrowheads="1"/>
            </p:cNvSpPr>
            <p:nvPr/>
          </p:nvSpPr>
          <p:spPr bwMode="auto">
            <a:xfrm>
              <a:off x="4206" y="2822"/>
              <a:ext cx="4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folHlink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ω</a:t>
              </a:r>
              <a:r>
                <a:rPr kumimoji="1" lang="en-US" altLang="zh-CN" sz="2400" b="1" i="1" baseline="-25000">
                  <a:solidFill>
                    <a:schemeClr val="folHlink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2</a:t>
              </a:r>
              <a:endParaRPr kumimoji="1" lang="en-US" altLang="zh-CN" sz="2400" b="1" i="1">
                <a:solidFill>
                  <a:schemeClr val="folHlink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3498" name="Group 74"/>
          <p:cNvGrpSpPr/>
          <p:nvPr/>
        </p:nvGrpSpPr>
        <p:grpSpPr bwMode="auto">
          <a:xfrm>
            <a:off x="1129020" y="5680872"/>
            <a:ext cx="1287463" cy="493713"/>
            <a:chOff x="526" y="3434"/>
            <a:chExt cx="811" cy="311"/>
          </a:xfrm>
        </p:grpSpPr>
        <p:sp>
          <p:nvSpPr>
            <p:cNvPr id="103499" name="Line 75"/>
            <p:cNvSpPr>
              <a:spLocks noChangeShapeType="1"/>
            </p:cNvSpPr>
            <p:nvPr/>
          </p:nvSpPr>
          <p:spPr bwMode="auto">
            <a:xfrm flipH="1">
              <a:off x="785" y="3745"/>
              <a:ext cx="55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0" name="Text Box 76"/>
            <p:cNvSpPr txBox="1">
              <a:spLocks noChangeArrowheads="1"/>
            </p:cNvSpPr>
            <p:nvPr/>
          </p:nvSpPr>
          <p:spPr bwMode="auto">
            <a:xfrm>
              <a:off x="526" y="3434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i="1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 baseline="-25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3501" name="Group 77"/>
          <p:cNvGrpSpPr/>
          <p:nvPr/>
        </p:nvGrpSpPr>
        <p:grpSpPr bwMode="auto">
          <a:xfrm>
            <a:off x="6634470" y="5685635"/>
            <a:ext cx="1438275" cy="484187"/>
            <a:chOff x="3808" y="3442"/>
            <a:chExt cx="906" cy="305"/>
          </a:xfrm>
        </p:grpSpPr>
        <p:sp>
          <p:nvSpPr>
            <p:cNvPr id="103502" name="Line 78"/>
            <p:cNvSpPr>
              <a:spLocks noChangeShapeType="1"/>
            </p:cNvSpPr>
            <p:nvPr/>
          </p:nvSpPr>
          <p:spPr bwMode="auto">
            <a:xfrm>
              <a:off x="3808" y="3745"/>
              <a:ext cx="649" cy="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3" name="Text Box 79"/>
            <p:cNvSpPr txBox="1">
              <a:spLocks noChangeArrowheads="1"/>
            </p:cNvSpPr>
            <p:nvPr/>
          </p:nvSpPr>
          <p:spPr bwMode="auto">
            <a:xfrm>
              <a:off x="4310" y="3442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i="1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400" b="1" i="1" baseline="-25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3634" name="Group 210"/>
          <p:cNvGrpSpPr/>
          <p:nvPr/>
        </p:nvGrpSpPr>
        <p:grpSpPr bwMode="auto">
          <a:xfrm>
            <a:off x="4475470" y="5430047"/>
            <a:ext cx="2035175" cy="1257300"/>
            <a:chOff x="2874" y="2260"/>
            <a:chExt cx="1282" cy="792"/>
          </a:xfrm>
        </p:grpSpPr>
        <p:grpSp>
          <p:nvGrpSpPr>
            <p:cNvPr id="103635" name="Group 211"/>
            <p:cNvGrpSpPr/>
            <p:nvPr/>
          </p:nvGrpSpPr>
          <p:grpSpPr bwMode="auto">
            <a:xfrm>
              <a:off x="3016" y="2260"/>
              <a:ext cx="1140" cy="792"/>
              <a:chOff x="3016" y="2260"/>
              <a:chExt cx="1140" cy="792"/>
            </a:xfrm>
          </p:grpSpPr>
          <p:sp>
            <p:nvSpPr>
              <p:cNvPr id="103636" name="Line 212"/>
              <p:cNvSpPr>
                <a:spLocks noChangeShapeType="1"/>
              </p:cNvSpPr>
              <p:nvPr/>
            </p:nvSpPr>
            <p:spPr bwMode="auto">
              <a:xfrm flipH="1">
                <a:off x="3016" y="2268"/>
                <a:ext cx="680" cy="0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637" name="Line 213"/>
              <p:cNvSpPr>
                <a:spLocks noChangeShapeType="1"/>
              </p:cNvSpPr>
              <p:nvPr/>
            </p:nvSpPr>
            <p:spPr bwMode="auto">
              <a:xfrm flipV="1">
                <a:off x="3304" y="2260"/>
                <a:ext cx="0" cy="444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638" name="Line 214"/>
              <p:cNvSpPr>
                <a:spLocks noChangeShapeType="1"/>
              </p:cNvSpPr>
              <p:nvPr/>
            </p:nvSpPr>
            <p:spPr bwMode="auto">
              <a:xfrm flipH="1">
                <a:off x="3264" y="2716"/>
                <a:ext cx="892" cy="0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639" name="Line 215"/>
              <p:cNvSpPr>
                <a:spLocks noChangeShapeType="1"/>
              </p:cNvSpPr>
              <p:nvPr/>
            </p:nvSpPr>
            <p:spPr bwMode="auto">
              <a:xfrm flipV="1">
                <a:off x="3308" y="2896"/>
                <a:ext cx="0" cy="156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640" name="Line 216"/>
              <p:cNvSpPr>
                <a:spLocks noChangeShapeType="1"/>
              </p:cNvSpPr>
              <p:nvPr/>
            </p:nvSpPr>
            <p:spPr bwMode="auto">
              <a:xfrm flipV="1">
                <a:off x="3308" y="2708"/>
                <a:ext cx="0" cy="192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641" name="Line 217"/>
              <p:cNvSpPr>
                <a:spLocks noChangeShapeType="1"/>
              </p:cNvSpPr>
              <p:nvPr/>
            </p:nvSpPr>
            <p:spPr bwMode="auto">
              <a:xfrm flipH="1">
                <a:off x="3040" y="2892"/>
                <a:ext cx="248" cy="0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642" name="Line 218"/>
              <p:cNvSpPr>
                <a:spLocks noChangeShapeType="1"/>
              </p:cNvSpPr>
              <p:nvPr/>
            </p:nvSpPr>
            <p:spPr bwMode="auto">
              <a:xfrm flipV="1">
                <a:off x="3084" y="2268"/>
                <a:ext cx="0" cy="624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3643" name="Rectangle 219"/>
            <p:cNvSpPr>
              <a:spLocks noChangeArrowheads="1"/>
            </p:cNvSpPr>
            <p:nvPr/>
          </p:nvSpPr>
          <p:spPr bwMode="auto">
            <a:xfrm>
              <a:off x="2874" y="2393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800" b="1" i="1">
                  <a:solidFill>
                    <a:srgbClr val="000066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800" b="1" i="1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644" name="Rectangle 220"/>
            <p:cNvSpPr>
              <a:spLocks noChangeArrowheads="1"/>
            </p:cNvSpPr>
            <p:nvPr/>
          </p:nvSpPr>
          <p:spPr bwMode="auto">
            <a:xfrm>
              <a:off x="3084" y="2605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0066"/>
                  </a:solidFill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400" b="1" baseline="-25000">
                  <a:solidFill>
                    <a:srgbClr val="000066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 b="1" baseline="-2500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645" name="Rectangle 221"/>
            <p:cNvSpPr>
              <a:spLocks noChangeArrowheads="1"/>
            </p:cNvSpPr>
            <p:nvPr/>
          </p:nvSpPr>
          <p:spPr bwMode="auto">
            <a:xfrm>
              <a:off x="3275" y="2285"/>
              <a:ext cx="2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800" b="1">
                  <a:solidFill>
                    <a:srgbClr val="000066"/>
                  </a:solidFill>
                  <a:latin typeface="Times New Roman" panose="02020603050405020304" pitchFamily="18" charset="0"/>
                </a:rPr>
                <a:t>r</a:t>
              </a:r>
              <a:r>
                <a:rPr kumimoji="1" lang="en-US" altLang="zh-CN" sz="2800" b="1" baseline="-25000">
                  <a:solidFill>
                    <a:srgbClr val="000066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800" b="1" baseline="-2500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" name="Group 129"/>
          <p:cNvGrpSpPr/>
          <p:nvPr/>
        </p:nvGrpSpPr>
        <p:grpSpPr bwMode="auto">
          <a:xfrm>
            <a:off x="7067550" y="1471390"/>
            <a:ext cx="1504950" cy="2019300"/>
            <a:chOff x="4452" y="564"/>
            <a:chExt cx="948" cy="1272"/>
          </a:xfrm>
        </p:grpSpPr>
        <p:sp>
          <p:nvSpPr>
            <p:cNvPr id="74" name="Line 124"/>
            <p:cNvSpPr>
              <a:spLocks noChangeShapeType="1"/>
            </p:cNvSpPr>
            <p:nvPr/>
          </p:nvSpPr>
          <p:spPr bwMode="auto">
            <a:xfrm>
              <a:off x="4452" y="1212"/>
              <a:ext cx="948" cy="0"/>
            </a:xfrm>
            <a:prstGeom prst="line">
              <a:avLst/>
            </a:prstGeom>
            <a:noFill/>
            <a:ln w="19050" cmpd="sng">
              <a:solidFill>
                <a:schemeClr val="tx1">
                  <a:lumMod val="50000"/>
                </a:schemeClr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99"/>
                </a:solidFill>
              </a:endParaRPr>
            </a:p>
          </p:txBody>
        </p:sp>
        <p:sp>
          <p:nvSpPr>
            <p:cNvPr id="75" name="Rectangle 122"/>
            <p:cNvSpPr>
              <a:spLocks noChangeArrowheads="1"/>
            </p:cNvSpPr>
            <p:nvPr/>
          </p:nvSpPr>
          <p:spPr bwMode="auto">
            <a:xfrm>
              <a:off x="4752" y="564"/>
              <a:ext cx="324" cy="1272"/>
            </a:xfrm>
            <a:prstGeom prst="rect">
              <a:avLst/>
            </a:prstGeom>
            <a:noFill/>
            <a:ln w="28575">
              <a:solidFill>
                <a:schemeClr val="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6038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99"/>
                </a:solidFill>
              </a:endParaRPr>
            </a:p>
          </p:txBody>
        </p:sp>
      </p:grpSp>
      <p:grpSp>
        <p:nvGrpSpPr>
          <p:cNvPr id="76" name="Group 156"/>
          <p:cNvGrpSpPr/>
          <p:nvPr/>
        </p:nvGrpSpPr>
        <p:grpSpPr bwMode="auto">
          <a:xfrm>
            <a:off x="6929438" y="1361853"/>
            <a:ext cx="855662" cy="733425"/>
            <a:chOff x="4362" y="495"/>
            <a:chExt cx="539" cy="462"/>
          </a:xfrm>
        </p:grpSpPr>
        <p:sp>
          <p:nvSpPr>
            <p:cNvPr id="77" name="Text Box 138"/>
            <p:cNvSpPr txBox="1">
              <a:spLocks noChangeArrowheads="1"/>
            </p:cNvSpPr>
            <p:nvPr/>
          </p:nvSpPr>
          <p:spPr bwMode="auto">
            <a:xfrm>
              <a:off x="4362" y="495"/>
              <a:ext cx="4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lg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000099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β</a:t>
              </a:r>
              <a:r>
                <a:rPr kumimoji="1" lang="en-US" altLang="zh-CN" sz="2400" b="1" baseline="-25000" dirty="0">
                  <a:solidFill>
                    <a:srgbClr val="000099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1</a:t>
              </a:r>
              <a:endParaRPr kumimoji="1" lang="en-US" altLang="zh-CN" sz="2400" b="1" baseline="-25000" dirty="0">
                <a:solidFill>
                  <a:srgbClr val="000099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78" name="Freeform 145"/>
            <p:cNvSpPr/>
            <p:nvPr/>
          </p:nvSpPr>
          <p:spPr bwMode="auto">
            <a:xfrm flipH="1">
              <a:off x="4511" y="750"/>
              <a:ext cx="390" cy="207"/>
            </a:xfrm>
            <a:custGeom>
              <a:avLst/>
              <a:gdLst>
                <a:gd name="T0" fmla="*/ 0 w 465"/>
                <a:gd name="T1" fmla="*/ 0 h 258"/>
                <a:gd name="T2" fmla="*/ 66 w 465"/>
                <a:gd name="T3" fmla="*/ 3 h 258"/>
                <a:gd name="T4" fmla="*/ 150 w 465"/>
                <a:gd name="T5" fmla="*/ 12 h 258"/>
                <a:gd name="T6" fmla="*/ 249 w 465"/>
                <a:gd name="T7" fmla="*/ 42 h 258"/>
                <a:gd name="T8" fmla="*/ 336 w 465"/>
                <a:gd name="T9" fmla="*/ 102 h 258"/>
                <a:gd name="T10" fmla="*/ 396 w 465"/>
                <a:gd name="T11" fmla="*/ 162 h 258"/>
                <a:gd name="T12" fmla="*/ 465 w 465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5" h="258">
                  <a:moveTo>
                    <a:pt x="0" y="0"/>
                  </a:moveTo>
                  <a:cubicBezTo>
                    <a:pt x="20" y="0"/>
                    <a:pt x="41" y="1"/>
                    <a:pt x="66" y="3"/>
                  </a:cubicBezTo>
                  <a:cubicBezTo>
                    <a:pt x="91" y="5"/>
                    <a:pt x="120" y="6"/>
                    <a:pt x="150" y="12"/>
                  </a:cubicBezTo>
                  <a:cubicBezTo>
                    <a:pt x="180" y="18"/>
                    <a:pt x="218" y="27"/>
                    <a:pt x="249" y="42"/>
                  </a:cubicBezTo>
                  <a:cubicBezTo>
                    <a:pt x="280" y="57"/>
                    <a:pt x="312" y="82"/>
                    <a:pt x="336" y="102"/>
                  </a:cubicBezTo>
                  <a:cubicBezTo>
                    <a:pt x="360" y="122"/>
                    <a:pt x="375" y="136"/>
                    <a:pt x="396" y="162"/>
                  </a:cubicBezTo>
                  <a:cubicBezTo>
                    <a:pt x="417" y="188"/>
                    <a:pt x="441" y="223"/>
                    <a:pt x="465" y="258"/>
                  </a:cubicBezTo>
                </a:path>
              </a:pathLst>
            </a:custGeom>
            <a:noFill/>
            <a:ln w="12700" cap="flat" cmpd="sng">
              <a:solidFill>
                <a:schemeClr val="folHlink"/>
              </a:solidFill>
              <a:prstDash val="solid"/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7078B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99"/>
                </a:solidFill>
              </a:endParaRPr>
            </a:p>
          </p:txBody>
        </p:sp>
      </p:grpSp>
      <p:grpSp>
        <p:nvGrpSpPr>
          <p:cNvPr id="81" name="Group 306"/>
          <p:cNvGrpSpPr/>
          <p:nvPr/>
        </p:nvGrpSpPr>
        <p:grpSpPr bwMode="auto">
          <a:xfrm>
            <a:off x="7843838" y="1361853"/>
            <a:ext cx="1136650" cy="1122362"/>
            <a:chOff x="4941" y="495"/>
            <a:chExt cx="716" cy="707"/>
          </a:xfrm>
        </p:grpSpPr>
        <p:grpSp>
          <p:nvGrpSpPr>
            <p:cNvPr id="82" name="Group 166"/>
            <p:cNvGrpSpPr/>
            <p:nvPr/>
          </p:nvGrpSpPr>
          <p:grpSpPr bwMode="auto">
            <a:xfrm flipH="1">
              <a:off x="4941" y="495"/>
              <a:ext cx="539" cy="462"/>
              <a:chOff x="4362" y="495"/>
              <a:chExt cx="539" cy="462"/>
            </a:xfrm>
          </p:grpSpPr>
          <p:sp>
            <p:nvSpPr>
              <p:cNvPr id="86" name="Text Box 167"/>
              <p:cNvSpPr txBox="1">
                <a:spLocks noChangeArrowheads="1"/>
              </p:cNvSpPr>
              <p:nvPr/>
            </p:nvSpPr>
            <p:spPr bwMode="auto">
              <a:xfrm>
                <a:off x="4362" y="495"/>
                <a:ext cx="41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2400" b="1" dirty="0">
                    <a:solidFill>
                      <a:srgbClr val="000099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β</a:t>
                </a:r>
                <a:r>
                  <a:rPr kumimoji="1" lang="en-US" altLang="zh-CN" sz="2400" b="1" baseline="-25000" dirty="0">
                    <a:solidFill>
                      <a:srgbClr val="000099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1</a:t>
                </a:r>
                <a:endParaRPr kumimoji="1" lang="en-US" altLang="zh-CN" sz="2400" b="1" baseline="-25000" dirty="0">
                  <a:solidFill>
                    <a:srgbClr val="000099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87" name="Freeform 168"/>
              <p:cNvSpPr/>
              <p:nvPr/>
            </p:nvSpPr>
            <p:spPr bwMode="auto">
              <a:xfrm flipH="1">
                <a:off x="4511" y="750"/>
                <a:ext cx="390" cy="207"/>
              </a:xfrm>
              <a:custGeom>
                <a:avLst/>
                <a:gdLst>
                  <a:gd name="T0" fmla="*/ 0 w 465"/>
                  <a:gd name="T1" fmla="*/ 0 h 258"/>
                  <a:gd name="T2" fmla="*/ 66 w 465"/>
                  <a:gd name="T3" fmla="*/ 3 h 258"/>
                  <a:gd name="T4" fmla="*/ 150 w 465"/>
                  <a:gd name="T5" fmla="*/ 12 h 258"/>
                  <a:gd name="T6" fmla="*/ 249 w 465"/>
                  <a:gd name="T7" fmla="*/ 42 h 258"/>
                  <a:gd name="T8" fmla="*/ 336 w 465"/>
                  <a:gd name="T9" fmla="*/ 102 h 258"/>
                  <a:gd name="T10" fmla="*/ 396 w 465"/>
                  <a:gd name="T11" fmla="*/ 162 h 258"/>
                  <a:gd name="T12" fmla="*/ 465 w 465"/>
                  <a:gd name="T13" fmla="*/ 258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5" h="258">
                    <a:moveTo>
                      <a:pt x="0" y="0"/>
                    </a:moveTo>
                    <a:cubicBezTo>
                      <a:pt x="20" y="0"/>
                      <a:pt x="41" y="1"/>
                      <a:pt x="66" y="3"/>
                    </a:cubicBezTo>
                    <a:cubicBezTo>
                      <a:pt x="91" y="5"/>
                      <a:pt x="120" y="6"/>
                      <a:pt x="150" y="12"/>
                    </a:cubicBezTo>
                    <a:cubicBezTo>
                      <a:pt x="180" y="18"/>
                      <a:pt x="218" y="27"/>
                      <a:pt x="249" y="42"/>
                    </a:cubicBezTo>
                    <a:cubicBezTo>
                      <a:pt x="280" y="57"/>
                      <a:pt x="312" y="82"/>
                      <a:pt x="336" y="102"/>
                    </a:cubicBezTo>
                    <a:cubicBezTo>
                      <a:pt x="360" y="122"/>
                      <a:pt x="375" y="136"/>
                      <a:pt x="396" y="162"/>
                    </a:cubicBezTo>
                    <a:cubicBezTo>
                      <a:pt x="417" y="188"/>
                      <a:pt x="441" y="223"/>
                      <a:pt x="465" y="258"/>
                    </a:cubicBezTo>
                  </a:path>
                </a:pathLst>
              </a:custGeom>
              <a:noFill/>
              <a:ln w="12700" cap="flat" cmpd="sng">
                <a:solidFill>
                  <a:schemeClr val="folHlink"/>
                </a:solidFill>
                <a:prstDash val="solid"/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99"/>
                  </a:solidFill>
                </a:endParaRPr>
              </a:p>
            </p:txBody>
          </p:sp>
        </p:grpSp>
        <p:grpSp>
          <p:nvGrpSpPr>
            <p:cNvPr id="83" name="Group 305"/>
            <p:cNvGrpSpPr/>
            <p:nvPr/>
          </p:nvGrpSpPr>
          <p:grpSpPr bwMode="auto">
            <a:xfrm>
              <a:off x="5328" y="909"/>
              <a:ext cx="329" cy="293"/>
              <a:chOff x="5328" y="909"/>
              <a:chExt cx="329" cy="293"/>
            </a:xfrm>
          </p:grpSpPr>
          <p:sp>
            <p:nvSpPr>
              <p:cNvPr id="84" name="Freeform 169"/>
              <p:cNvSpPr/>
              <p:nvPr/>
            </p:nvSpPr>
            <p:spPr bwMode="auto">
              <a:xfrm>
                <a:off x="5328" y="958"/>
                <a:ext cx="54" cy="244"/>
              </a:xfrm>
              <a:custGeom>
                <a:avLst/>
                <a:gdLst>
                  <a:gd name="T0" fmla="*/ 0 w 54"/>
                  <a:gd name="T1" fmla="*/ 0 h 244"/>
                  <a:gd name="T2" fmla="*/ 20 w 54"/>
                  <a:gd name="T3" fmla="*/ 32 h 244"/>
                  <a:gd name="T4" fmla="*/ 32 w 54"/>
                  <a:gd name="T5" fmla="*/ 64 h 244"/>
                  <a:gd name="T6" fmla="*/ 42 w 54"/>
                  <a:gd name="T7" fmla="*/ 104 h 244"/>
                  <a:gd name="T8" fmla="*/ 52 w 54"/>
                  <a:gd name="T9" fmla="*/ 166 h 244"/>
                  <a:gd name="T10" fmla="*/ 54 w 54"/>
                  <a:gd name="T11" fmla="*/ 244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" h="244">
                    <a:moveTo>
                      <a:pt x="0" y="0"/>
                    </a:moveTo>
                    <a:cubicBezTo>
                      <a:pt x="7" y="10"/>
                      <a:pt x="15" y="21"/>
                      <a:pt x="20" y="32"/>
                    </a:cubicBezTo>
                    <a:cubicBezTo>
                      <a:pt x="25" y="43"/>
                      <a:pt x="28" y="52"/>
                      <a:pt x="32" y="64"/>
                    </a:cubicBezTo>
                    <a:cubicBezTo>
                      <a:pt x="36" y="76"/>
                      <a:pt x="39" y="87"/>
                      <a:pt x="42" y="104"/>
                    </a:cubicBezTo>
                    <a:cubicBezTo>
                      <a:pt x="45" y="121"/>
                      <a:pt x="50" y="143"/>
                      <a:pt x="52" y="166"/>
                    </a:cubicBezTo>
                    <a:cubicBezTo>
                      <a:pt x="54" y="189"/>
                      <a:pt x="54" y="228"/>
                      <a:pt x="54" y="244"/>
                    </a:cubicBezTo>
                  </a:path>
                </a:pathLst>
              </a:custGeom>
              <a:noFill/>
              <a:ln w="12700" cap="flat" cmpd="sng">
                <a:solidFill>
                  <a:srgbClr val="FF0000"/>
                </a:solidFill>
                <a:prstDash val="solid"/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99"/>
                  </a:solidFill>
                </a:endParaRPr>
              </a:p>
            </p:txBody>
          </p:sp>
          <p:sp>
            <p:nvSpPr>
              <p:cNvPr id="85" name="Rectangle 170"/>
              <p:cNvSpPr>
                <a:spLocks noChangeArrowheads="1"/>
              </p:cNvSpPr>
              <p:nvPr/>
            </p:nvSpPr>
            <p:spPr bwMode="auto">
              <a:xfrm>
                <a:off x="5355" y="909"/>
                <a:ext cx="302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kumimoji="1" lang="en-US" altLang="zh-CN" sz="2800" b="1" dirty="0">
                    <a:solidFill>
                      <a:srgbClr val="000099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γ</a:t>
                </a:r>
                <a:r>
                  <a:rPr kumimoji="1" lang="en-US" altLang="zh-CN" sz="2800" b="1" baseline="-25000" dirty="0">
                    <a:solidFill>
                      <a:srgbClr val="000099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1</a:t>
                </a:r>
                <a:endParaRPr kumimoji="1" lang="en-US" altLang="zh-CN" sz="2800" b="1" baseline="-25000" dirty="0">
                  <a:solidFill>
                    <a:srgbClr val="000099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</p:grpSp>
      <p:grpSp>
        <p:nvGrpSpPr>
          <p:cNvPr id="88" name="Group 200"/>
          <p:cNvGrpSpPr/>
          <p:nvPr/>
        </p:nvGrpSpPr>
        <p:grpSpPr bwMode="auto">
          <a:xfrm>
            <a:off x="7467600" y="1299940"/>
            <a:ext cx="673100" cy="2438400"/>
            <a:chOff x="4704" y="456"/>
            <a:chExt cx="424" cy="1536"/>
          </a:xfrm>
        </p:grpSpPr>
        <p:grpSp>
          <p:nvGrpSpPr>
            <p:cNvPr id="89" name="Group 162"/>
            <p:cNvGrpSpPr/>
            <p:nvPr/>
          </p:nvGrpSpPr>
          <p:grpSpPr bwMode="auto">
            <a:xfrm>
              <a:off x="4704" y="456"/>
              <a:ext cx="424" cy="1536"/>
              <a:chOff x="4704" y="456"/>
              <a:chExt cx="424" cy="1536"/>
            </a:xfrm>
          </p:grpSpPr>
          <p:grpSp>
            <p:nvGrpSpPr>
              <p:cNvPr id="91" name="Group 130"/>
              <p:cNvGrpSpPr/>
              <p:nvPr/>
            </p:nvGrpSpPr>
            <p:grpSpPr bwMode="auto">
              <a:xfrm>
                <a:off x="4704" y="456"/>
                <a:ext cx="420" cy="1536"/>
                <a:chOff x="4704" y="456"/>
                <a:chExt cx="420" cy="1536"/>
              </a:xfrm>
            </p:grpSpPr>
            <p:sp>
              <p:nvSpPr>
                <p:cNvPr id="93" name="Line 125"/>
                <p:cNvSpPr>
                  <a:spLocks noChangeShapeType="1"/>
                </p:cNvSpPr>
                <p:nvPr/>
              </p:nvSpPr>
              <p:spPr bwMode="auto">
                <a:xfrm>
                  <a:off x="4920" y="456"/>
                  <a:ext cx="0" cy="1536"/>
                </a:xfrm>
                <a:prstGeom prst="line">
                  <a:avLst/>
                </a:prstGeom>
                <a:noFill/>
                <a:ln w="22225" cmpd="thickThin">
                  <a:solidFill>
                    <a:srgbClr val="0000FF"/>
                  </a:solidFill>
                  <a:prstDash val="lgDash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rgbClr val="000099"/>
                    </a:solidFill>
                  </a:endParaRPr>
                </a:p>
              </p:txBody>
            </p:sp>
            <p:sp>
              <p:nvSpPr>
                <p:cNvPr id="94" name="Rectangle 123"/>
                <p:cNvSpPr>
                  <a:spLocks noChangeArrowheads="1"/>
                </p:cNvSpPr>
                <p:nvPr/>
              </p:nvSpPr>
              <p:spPr bwMode="auto">
                <a:xfrm>
                  <a:off x="4704" y="864"/>
                  <a:ext cx="420" cy="720"/>
                </a:xfrm>
                <a:prstGeom prst="rect">
                  <a:avLst/>
                </a:prstGeom>
                <a:noFill/>
                <a:ln w="28575">
                  <a:solidFill>
                    <a:srgbClr val="00206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6038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rgbClr val="000099"/>
                    </a:solidFill>
                  </a:endParaRPr>
                </a:p>
              </p:txBody>
            </p:sp>
          </p:grpSp>
          <p:sp>
            <p:nvSpPr>
              <p:cNvPr id="92" name="Line 139"/>
              <p:cNvSpPr>
                <a:spLocks noChangeShapeType="1"/>
              </p:cNvSpPr>
              <p:nvPr/>
            </p:nvSpPr>
            <p:spPr bwMode="auto">
              <a:xfrm>
                <a:off x="4708" y="1082"/>
                <a:ext cx="420" cy="266"/>
              </a:xfrm>
              <a:prstGeom prst="line">
                <a:avLst/>
              </a:prstGeom>
              <a:noFill/>
              <a:ln w="12700">
                <a:solidFill>
                  <a:srgbClr val="002060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99"/>
                  </a:solidFill>
                </a:endParaRPr>
              </a:p>
            </p:txBody>
          </p:sp>
        </p:grpSp>
        <p:sp>
          <p:nvSpPr>
            <p:cNvPr id="90" name="Oval 126"/>
            <p:cNvSpPr>
              <a:spLocks noChangeArrowheads="1"/>
            </p:cNvSpPr>
            <p:nvPr/>
          </p:nvSpPr>
          <p:spPr bwMode="auto">
            <a:xfrm>
              <a:off x="4887" y="1185"/>
              <a:ext cx="56" cy="56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99"/>
                </a:solidFill>
              </a:endParaRPr>
            </a:p>
          </p:txBody>
        </p:sp>
      </p:grpSp>
      <p:sp>
        <p:nvSpPr>
          <p:cNvPr id="95" name="Line 142"/>
          <p:cNvSpPr>
            <a:spLocks noChangeShapeType="1"/>
          </p:cNvSpPr>
          <p:nvPr/>
        </p:nvSpPr>
        <p:spPr bwMode="auto">
          <a:xfrm flipH="1">
            <a:off x="6978650" y="1961928"/>
            <a:ext cx="1657350" cy="1057275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99"/>
              </a:solidFill>
            </a:endParaRPr>
          </a:p>
        </p:txBody>
      </p:sp>
      <p:grpSp>
        <p:nvGrpSpPr>
          <p:cNvPr id="96" name="Group 303"/>
          <p:cNvGrpSpPr/>
          <p:nvPr/>
        </p:nvGrpSpPr>
        <p:grpSpPr bwMode="auto">
          <a:xfrm>
            <a:off x="7243763" y="1868265"/>
            <a:ext cx="635000" cy="631825"/>
            <a:chOff x="4563" y="814"/>
            <a:chExt cx="400" cy="398"/>
          </a:xfrm>
        </p:grpSpPr>
        <p:sp>
          <p:nvSpPr>
            <p:cNvPr id="97" name="Arc 146"/>
            <p:cNvSpPr/>
            <p:nvPr/>
          </p:nvSpPr>
          <p:spPr bwMode="auto">
            <a:xfrm flipH="1">
              <a:off x="4563" y="814"/>
              <a:ext cx="361" cy="39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7078B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99"/>
                </a:solidFill>
              </a:endParaRPr>
            </a:p>
          </p:txBody>
        </p:sp>
        <p:sp>
          <p:nvSpPr>
            <p:cNvPr id="98" name="Rectangle 148"/>
            <p:cNvSpPr>
              <a:spLocks noChangeArrowheads="1"/>
            </p:cNvSpPr>
            <p:nvPr/>
          </p:nvSpPr>
          <p:spPr bwMode="auto">
            <a:xfrm flipH="1">
              <a:off x="4654" y="844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7078B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0099"/>
                  </a:solidFill>
                  <a:latin typeface="宋体" panose="02010600030101010101" pitchFamily="2" charset="-122"/>
                </a:rPr>
                <a:t>∑</a:t>
              </a:r>
              <a:endParaRPr kumimoji="1" lang="en-US" altLang="zh-CN" sz="2400" b="1">
                <a:solidFill>
                  <a:srgbClr val="000099"/>
                </a:solidFill>
                <a:latin typeface="宋体" panose="02010600030101010101" pitchFamily="2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 Box 311"/>
              <p:cNvSpPr txBox="1">
                <a:spLocks noChangeArrowheads="1"/>
              </p:cNvSpPr>
              <p:nvPr/>
            </p:nvSpPr>
            <p:spPr bwMode="auto">
              <a:xfrm>
                <a:off x="683730" y="2132910"/>
                <a:ext cx="3849687" cy="457200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chemeClr val="hlink"/>
                    </a:solidFill>
                  </a:rPr>
                  <a:t>当∑</a:t>
                </a:r>
                <a:r>
                  <a:rPr lang="en-US" altLang="zh-CN" sz="2400" b="1" dirty="0">
                    <a:solidFill>
                      <a:schemeClr val="hlink"/>
                    </a:solidFill>
                  </a:rPr>
                  <a:t>=90°</a:t>
                </a:r>
                <a:r>
                  <a:rPr lang="zh-CN" altLang="en-US" sz="2400" b="1" dirty="0">
                    <a:solidFill>
                      <a:schemeClr val="hlink"/>
                    </a:solidFill>
                  </a:rPr>
                  <a:t>时  ：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chemeClr val="hlink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400" b="1" baseline="-25000" dirty="0">
                    <a:solidFill>
                      <a:schemeClr val="hlink"/>
                    </a:solidFill>
                  </a:rPr>
                  <a:t>1</a:t>
                </a:r>
                <a:r>
                  <a:rPr lang="en-US" altLang="zh-CN" sz="2400" b="1" dirty="0">
                    <a:solidFill>
                      <a:schemeClr val="hlink"/>
                    </a:solidFill>
                  </a:rPr>
                  <a:t>=β</a:t>
                </a:r>
                <a:r>
                  <a:rPr lang="en-US" altLang="zh-CN" sz="2400" b="1" baseline="-25000" dirty="0">
                    <a:solidFill>
                      <a:schemeClr val="hlink"/>
                    </a:solidFill>
                  </a:rPr>
                  <a:t>2</a:t>
                </a:r>
                <a:endParaRPr lang="en-US" altLang="zh-CN" sz="2400" b="1" baseline="-25000" dirty="0">
                  <a:solidFill>
                    <a:schemeClr val="hlink"/>
                  </a:solidFill>
                </a:endParaRPr>
              </a:p>
            </p:txBody>
          </p:sp>
        </mc:Choice>
        <mc:Fallback>
          <p:sp>
            <p:nvSpPr>
              <p:cNvPr id="99" name="Text Box 3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3730" y="2132910"/>
                <a:ext cx="3849687" cy="457200"/>
              </a:xfrm>
              <a:prstGeom prst="rect">
                <a:avLst/>
              </a:prstGeom>
              <a:blipFill rotWithShape="1">
                <a:blip r:embed="rId1"/>
                <a:stretch>
                  <a:fillRect l="-12" t="-127" r="4" b="-3206"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Group 163"/>
          <p:cNvGrpSpPr/>
          <p:nvPr/>
        </p:nvGrpSpPr>
        <p:grpSpPr bwMode="auto">
          <a:xfrm>
            <a:off x="6424613" y="1384078"/>
            <a:ext cx="2471737" cy="1738312"/>
            <a:chOff x="4047" y="509"/>
            <a:chExt cx="1557" cy="1095"/>
          </a:xfrm>
        </p:grpSpPr>
        <p:grpSp>
          <p:nvGrpSpPr>
            <p:cNvPr id="101" name="Group 161"/>
            <p:cNvGrpSpPr/>
            <p:nvPr/>
          </p:nvGrpSpPr>
          <p:grpSpPr bwMode="auto">
            <a:xfrm>
              <a:off x="4189" y="509"/>
              <a:ext cx="1415" cy="1095"/>
              <a:chOff x="4189" y="509"/>
              <a:chExt cx="1415" cy="1095"/>
            </a:xfrm>
          </p:grpSpPr>
          <p:sp>
            <p:nvSpPr>
              <p:cNvPr id="105" name="Line 127"/>
              <p:cNvSpPr>
                <a:spLocks noChangeShapeType="1"/>
              </p:cNvSpPr>
              <p:nvPr/>
            </p:nvSpPr>
            <p:spPr bwMode="auto">
              <a:xfrm>
                <a:off x="4209" y="763"/>
                <a:ext cx="1236" cy="788"/>
              </a:xfrm>
              <a:prstGeom prst="line">
                <a:avLst/>
              </a:prstGeom>
              <a:noFill/>
              <a:ln w="12700">
                <a:solidFill>
                  <a:srgbClr val="00206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99"/>
                  </a:solidFill>
                </a:endParaRPr>
              </a:p>
            </p:txBody>
          </p:sp>
          <p:sp>
            <p:nvSpPr>
              <p:cNvPr id="106" name="Rectangle 131"/>
              <p:cNvSpPr>
                <a:spLocks noChangeArrowheads="1"/>
              </p:cNvSpPr>
              <p:nvPr/>
            </p:nvSpPr>
            <p:spPr bwMode="auto">
              <a:xfrm>
                <a:off x="4189" y="509"/>
                <a:ext cx="191" cy="327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en-US" altLang="zh-CN" sz="2800" b="1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t</a:t>
                </a:r>
                <a:endParaRPr kumimoji="1" lang="en-US" altLang="zh-CN" sz="2800" b="1">
                  <a:solidFill>
                    <a:srgbClr val="000099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7" name="Rectangle 132"/>
              <p:cNvSpPr>
                <a:spLocks noChangeArrowheads="1"/>
              </p:cNvSpPr>
              <p:nvPr/>
            </p:nvSpPr>
            <p:spPr bwMode="auto">
              <a:xfrm>
                <a:off x="5413" y="1277"/>
                <a:ext cx="191" cy="327"/>
              </a:xfrm>
              <a:prstGeom prst="rect">
                <a:avLst/>
              </a:prstGeom>
              <a:noFill/>
              <a:ln w="12700">
                <a:noFill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kumimoji="1" lang="en-US" altLang="zh-CN" sz="2800" b="1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t</a:t>
                </a:r>
                <a:endParaRPr kumimoji="1" lang="en-US" altLang="zh-CN" sz="2800" b="1" dirty="0">
                  <a:solidFill>
                    <a:srgbClr val="000099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02" name="Group 152"/>
            <p:cNvGrpSpPr/>
            <p:nvPr/>
          </p:nvGrpSpPr>
          <p:grpSpPr bwMode="auto">
            <a:xfrm>
              <a:off x="4047" y="885"/>
              <a:ext cx="465" cy="333"/>
              <a:chOff x="4047" y="885"/>
              <a:chExt cx="465" cy="333"/>
            </a:xfrm>
          </p:grpSpPr>
          <p:sp>
            <p:nvSpPr>
              <p:cNvPr id="103" name="Freeform 150"/>
              <p:cNvSpPr/>
              <p:nvPr/>
            </p:nvSpPr>
            <p:spPr bwMode="auto">
              <a:xfrm>
                <a:off x="4458" y="960"/>
                <a:ext cx="54" cy="258"/>
              </a:xfrm>
              <a:custGeom>
                <a:avLst/>
                <a:gdLst>
                  <a:gd name="T0" fmla="*/ 54 w 54"/>
                  <a:gd name="T1" fmla="*/ 0 h 258"/>
                  <a:gd name="T2" fmla="*/ 32 w 54"/>
                  <a:gd name="T3" fmla="*/ 36 h 258"/>
                  <a:gd name="T4" fmla="*/ 16 w 54"/>
                  <a:gd name="T5" fmla="*/ 80 h 258"/>
                  <a:gd name="T6" fmla="*/ 2 w 54"/>
                  <a:gd name="T7" fmla="*/ 154 h 258"/>
                  <a:gd name="T8" fmla="*/ 2 w 54"/>
                  <a:gd name="T9" fmla="*/ 208 h 258"/>
                  <a:gd name="T10" fmla="*/ 0 w 54"/>
                  <a:gd name="T11" fmla="*/ 258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" h="258">
                    <a:moveTo>
                      <a:pt x="54" y="0"/>
                    </a:moveTo>
                    <a:cubicBezTo>
                      <a:pt x="46" y="11"/>
                      <a:pt x="38" y="23"/>
                      <a:pt x="32" y="36"/>
                    </a:cubicBezTo>
                    <a:cubicBezTo>
                      <a:pt x="26" y="49"/>
                      <a:pt x="21" y="60"/>
                      <a:pt x="16" y="80"/>
                    </a:cubicBezTo>
                    <a:cubicBezTo>
                      <a:pt x="11" y="100"/>
                      <a:pt x="4" y="133"/>
                      <a:pt x="2" y="154"/>
                    </a:cubicBezTo>
                    <a:cubicBezTo>
                      <a:pt x="0" y="175"/>
                      <a:pt x="2" y="191"/>
                      <a:pt x="2" y="208"/>
                    </a:cubicBezTo>
                    <a:cubicBezTo>
                      <a:pt x="2" y="225"/>
                      <a:pt x="1" y="241"/>
                      <a:pt x="0" y="258"/>
                    </a:cubicBezTo>
                  </a:path>
                </a:pathLst>
              </a:custGeom>
              <a:noFill/>
              <a:ln w="12700" cap="flat" cmpd="sng">
                <a:solidFill>
                  <a:srgbClr val="002060"/>
                </a:solidFill>
                <a:prstDash val="solid"/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7078B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99"/>
                  </a:solidFill>
                </a:endParaRPr>
              </a:p>
            </p:txBody>
          </p:sp>
          <p:sp>
            <p:nvSpPr>
              <p:cNvPr id="104" name="Text Box 151"/>
              <p:cNvSpPr txBox="1">
                <a:spLocks noChangeArrowheads="1"/>
              </p:cNvSpPr>
              <p:nvPr/>
            </p:nvSpPr>
            <p:spPr bwMode="auto">
              <a:xfrm>
                <a:off x="4047" y="885"/>
                <a:ext cx="4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2400" b="1" dirty="0">
                    <a:solidFill>
                      <a:srgbClr val="000099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β</a:t>
                </a:r>
                <a:r>
                  <a:rPr kumimoji="1" lang="en-US" altLang="zh-CN" sz="2400" b="1" baseline="-25000" dirty="0">
                    <a:solidFill>
                      <a:srgbClr val="000099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2</a:t>
                </a:r>
                <a:endParaRPr kumimoji="1" lang="en-US" altLang="zh-CN" sz="2400" b="1" baseline="-25000" dirty="0">
                  <a:solidFill>
                    <a:srgbClr val="000099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</p:grpSp>
      <p:sp>
        <p:nvSpPr>
          <p:cNvPr id="108" name="Rectangle 2"/>
          <p:cNvSpPr txBox="1">
            <a:spLocks noChangeArrowheads="1"/>
          </p:cNvSpPr>
          <p:nvPr/>
        </p:nvSpPr>
        <p:spPr bwMode="auto">
          <a:xfrm>
            <a:off x="2097405" y="188595"/>
            <a:ext cx="5561330" cy="49085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3.11-4 圆柱蜗杆传动的</a:t>
            </a:r>
            <a:r>
              <a:rPr kumimoji="1" lang="zh-CN" altLang="en-US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载荷计算</a:t>
            </a:r>
            <a:endParaRPr kumimoji="1" lang="zh-CN" altLang="en-US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9" name="文本框 1"/>
          <p:cNvSpPr txBox="1">
            <a:spLocks noChangeArrowheads="1"/>
          </p:cNvSpPr>
          <p:nvPr/>
        </p:nvSpPr>
        <p:spPr bwMode="auto">
          <a:xfrm>
            <a:off x="72390" y="818515"/>
            <a:ext cx="404431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一、圆柱蜗杆传动的受力分析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0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23850" y="1196975"/>
            <a:ext cx="6189345" cy="902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一对啮合的蜗杆和蜗轮的旋向相同，蜗杆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传动有左旋和右旋两种，常采用右旋。</a:t>
            </a:r>
            <a:endParaRPr lang="zh-CN" altLang="en-US" dirty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3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3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3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03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10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78" grpId="0" bldLvl="0" animBg="1" autoUpdateAnimBg="0"/>
      <p:bldP spid="103479" grpId="0" autoUpdateAnimBg="0"/>
      <p:bldP spid="103480" grpId="0" animBg="1"/>
      <p:bldP spid="103481" grpId="0" animBg="1"/>
      <p:bldP spid="103487" grpId="0" autoUpdateAnimBg="0"/>
      <p:bldP spid="95" grpId="0" animBg="1"/>
      <p:bldP spid="9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1" name="Picture 121" descr="http://jpkc.bgy.org.cn:8080/2006/2006/jxjsh/kejian/jixieshejijichu/4/IMAGES/10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613" y="3873500"/>
            <a:ext cx="4497387" cy="298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522605" y="1403668"/>
            <a:ext cx="1706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FF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1. </a:t>
            </a:r>
            <a:r>
              <a:rPr lang="zh-CN" altLang="en-US" sz="2000">
                <a:solidFill>
                  <a:srgbClr val="0000FF"/>
                </a:solidFill>
                <a:latin typeface="黑体" panose="02010609060101010101" pitchFamily="49" charset="-122"/>
                <a:cs typeface="黑体" panose="02010609060101010101" pitchFamily="49" charset="-122"/>
              </a:rPr>
              <a:t>受力分析 </a:t>
            </a:r>
            <a:endParaRPr lang="zh-CN" altLang="en-US" sz="2000">
              <a:solidFill>
                <a:srgbClr val="0000FF"/>
              </a:solidFill>
              <a:latin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612140" y="1944370"/>
            <a:ext cx="1628775" cy="396875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(1) </a:t>
            </a:r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力的分解 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2322195" y="1403668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以蜗杆为对象 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432118" y="3609340"/>
            <a:ext cx="1555750" cy="396875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(3) </a:t>
            </a:r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力的方向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657225" y="2573655"/>
            <a:ext cx="177800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法向作用力： 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0494" name="Object 14"/>
          <p:cNvGraphicFramePr>
            <a:graphicFrameLocks noChangeAspect="1"/>
          </p:cNvGraphicFramePr>
          <p:nvPr/>
        </p:nvGraphicFramePr>
        <p:xfrm>
          <a:off x="2277110" y="2618740"/>
          <a:ext cx="349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2" imgW="190500" imgH="228600" progId="Equation.3">
                  <p:embed/>
                </p:oleObj>
              </mc:Choice>
              <mc:Fallback>
                <p:oleObj name="" r:id="rId2" imgW="190500" imgH="228600" progId="Equation.3">
                  <p:embed/>
                  <p:pic>
                    <p:nvPicPr>
                      <p:cNvPr id="0" name="图片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7110" y="2618740"/>
                        <a:ext cx="349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3" name="Rectangle 33"/>
          <p:cNvSpPr>
            <a:spLocks noChangeArrowheads="1"/>
          </p:cNvSpPr>
          <p:nvPr/>
        </p:nvSpPr>
        <p:spPr bwMode="auto">
          <a:xfrm>
            <a:off x="484188" y="4102100"/>
            <a:ext cx="941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C00000"/>
                </a:solidFill>
                <a:ea typeface="宋体" panose="02010600030101010101" pitchFamily="2" charset="-122"/>
              </a:rPr>
              <a:t>圆周力</a:t>
            </a:r>
            <a:endParaRPr lang="zh-CN" altLang="en-US" sz="2000" b="1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20514" name="Rectangle 34"/>
          <p:cNvSpPr>
            <a:spLocks noChangeArrowheads="1"/>
          </p:cNvSpPr>
          <p:nvPr/>
        </p:nvSpPr>
        <p:spPr bwMode="auto">
          <a:xfrm>
            <a:off x="484188" y="4864100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C00000"/>
                </a:solidFill>
                <a:ea typeface="宋体" panose="02010600030101010101" pitchFamily="2" charset="-122"/>
              </a:rPr>
              <a:t>径向力</a:t>
            </a:r>
            <a:endParaRPr lang="zh-CN" altLang="en-US" sz="2000" b="1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71"/>
          <p:cNvGrpSpPr/>
          <p:nvPr/>
        </p:nvGrpSpPr>
        <p:grpSpPr bwMode="auto">
          <a:xfrm>
            <a:off x="1475656" y="4149080"/>
            <a:ext cx="2651125" cy="838200"/>
            <a:chOff x="1459" y="2640"/>
            <a:chExt cx="1670" cy="528"/>
          </a:xfrm>
        </p:grpSpPr>
        <p:sp>
          <p:nvSpPr>
            <p:cNvPr id="8238" name="Rectangle 31"/>
            <p:cNvSpPr>
              <a:spLocks noChangeArrowheads="1"/>
            </p:cNvSpPr>
            <p:nvPr/>
          </p:nvSpPr>
          <p:spPr bwMode="auto">
            <a:xfrm>
              <a:off x="1459" y="2640"/>
              <a:ext cx="59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003399"/>
                  </a:solidFill>
                  <a:ea typeface="宋体" panose="02010600030101010101" pitchFamily="2" charset="-122"/>
                </a:rPr>
                <a:t>蜗杆上</a:t>
              </a:r>
              <a:endParaRPr lang="zh-CN" altLang="en-US" sz="2000" b="1">
                <a:solidFill>
                  <a:srgbClr val="00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39" name="Rectangle 32"/>
            <p:cNvSpPr>
              <a:spLocks noChangeArrowheads="1"/>
            </p:cNvSpPr>
            <p:nvPr/>
          </p:nvSpPr>
          <p:spPr bwMode="auto">
            <a:xfrm>
              <a:off x="2199" y="2640"/>
              <a:ext cx="9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003399"/>
                  </a:solidFill>
                  <a:ea typeface="宋体" panose="02010600030101010101" pitchFamily="2" charset="-122"/>
                </a:rPr>
                <a:t>与转向相反</a:t>
              </a:r>
              <a:endParaRPr lang="zh-CN" altLang="en-US" sz="2000" b="1">
                <a:solidFill>
                  <a:srgbClr val="00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40" name="Rectangle 35"/>
            <p:cNvSpPr>
              <a:spLocks noChangeArrowheads="1"/>
            </p:cNvSpPr>
            <p:nvPr/>
          </p:nvSpPr>
          <p:spPr bwMode="auto">
            <a:xfrm>
              <a:off x="1459" y="2880"/>
              <a:ext cx="5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003399"/>
                  </a:solidFill>
                  <a:ea typeface="宋体" panose="02010600030101010101" pitchFamily="2" charset="-122"/>
                </a:rPr>
                <a:t>蜗轮上</a:t>
              </a:r>
              <a:endParaRPr lang="zh-CN" altLang="en-US" sz="2000" b="1">
                <a:solidFill>
                  <a:srgbClr val="00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41" name="Rectangle 36"/>
            <p:cNvSpPr>
              <a:spLocks noChangeArrowheads="1"/>
            </p:cNvSpPr>
            <p:nvPr/>
          </p:nvSpPr>
          <p:spPr bwMode="auto">
            <a:xfrm>
              <a:off x="2208" y="2880"/>
              <a:ext cx="9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003399"/>
                  </a:solidFill>
                  <a:ea typeface="宋体" panose="02010600030101010101" pitchFamily="2" charset="-122"/>
                </a:rPr>
                <a:t>与转向相同</a:t>
              </a:r>
              <a:endParaRPr lang="zh-CN" altLang="en-US" sz="2000" b="1">
                <a:solidFill>
                  <a:srgbClr val="003399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8242" name="Object 39"/>
            <p:cNvGraphicFramePr>
              <a:graphicFrameLocks noChangeAspect="1"/>
            </p:cNvGraphicFramePr>
            <p:nvPr/>
          </p:nvGraphicFramePr>
          <p:xfrm>
            <a:off x="2016" y="2664"/>
            <a:ext cx="231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" name="" r:id="rId4" imgW="203200" imgH="228600" progId="Equation.3">
                    <p:embed/>
                  </p:oleObj>
                </mc:Choice>
                <mc:Fallback>
                  <p:oleObj name="" r:id="rId4" imgW="203200" imgH="228600" progId="Equation.3">
                    <p:embed/>
                    <p:pic>
                      <p:nvPicPr>
                        <p:cNvPr id="0" name="图片 10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664"/>
                          <a:ext cx="231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3" name="Object 41"/>
            <p:cNvGraphicFramePr>
              <a:graphicFrameLocks noChangeAspect="1"/>
            </p:cNvGraphicFramePr>
            <p:nvPr/>
          </p:nvGraphicFramePr>
          <p:xfrm>
            <a:off x="2016" y="2904"/>
            <a:ext cx="253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" name="" r:id="rId6" imgW="215900" imgH="228600" progId="Equation.3">
                    <p:embed/>
                  </p:oleObj>
                </mc:Choice>
                <mc:Fallback>
                  <p:oleObj name="" r:id="rId6" imgW="215900" imgH="228600" progId="Equation.3">
                    <p:embed/>
                    <p:pic>
                      <p:nvPicPr>
                        <p:cNvPr id="0" name="图片 10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904"/>
                          <a:ext cx="253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1"/>
          <p:cNvGrpSpPr/>
          <p:nvPr/>
        </p:nvGrpSpPr>
        <p:grpSpPr bwMode="auto">
          <a:xfrm>
            <a:off x="1474788" y="4906963"/>
            <a:ext cx="3111500" cy="430212"/>
            <a:chOff x="2832" y="3830"/>
            <a:chExt cx="1960" cy="271"/>
          </a:xfrm>
        </p:grpSpPr>
        <p:sp>
          <p:nvSpPr>
            <p:cNvPr id="8234" name="Rectangle 38"/>
            <p:cNvSpPr>
              <a:spLocks noChangeArrowheads="1"/>
            </p:cNvSpPr>
            <p:nvPr/>
          </p:nvSpPr>
          <p:spPr bwMode="auto">
            <a:xfrm>
              <a:off x="3072" y="3840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003399"/>
                  </a:solidFill>
                  <a:ea typeface="宋体" panose="02010600030101010101" pitchFamily="2" charset="-122"/>
                </a:rPr>
                <a:t>和</a:t>
              </a:r>
              <a:endParaRPr lang="zh-CN" altLang="en-US" sz="2000" b="1">
                <a:solidFill>
                  <a:srgbClr val="00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35" name="Rectangle 46"/>
            <p:cNvSpPr>
              <a:spLocks noChangeArrowheads="1"/>
            </p:cNvSpPr>
            <p:nvPr/>
          </p:nvSpPr>
          <p:spPr bwMode="auto">
            <a:xfrm>
              <a:off x="3552" y="3830"/>
              <a:ext cx="1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solidFill>
                    <a:srgbClr val="003399"/>
                  </a:solidFill>
                  <a:ea typeface="宋体" panose="02010600030101010101" pitchFamily="2" charset="-122"/>
                </a:rPr>
                <a:t>指向各自的轮心</a:t>
              </a:r>
              <a:endParaRPr lang="zh-CN" altLang="en-US" sz="2000" b="1" dirty="0">
                <a:solidFill>
                  <a:srgbClr val="003399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8236" name="Object 47"/>
            <p:cNvGraphicFramePr>
              <a:graphicFrameLocks noChangeAspect="1"/>
            </p:cNvGraphicFramePr>
            <p:nvPr/>
          </p:nvGraphicFramePr>
          <p:xfrm>
            <a:off x="2832" y="3840"/>
            <a:ext cx="261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" name="" r:id="rId8" imgW="215900" imgH="215900" progId="Equation.3">
                    <p:embed/>
                  </p:oleObj>
                </mc:Choice>
                <mc:Fallback>
                  <p:oleObj name="" r:id="rId8" imgW="215900" imgH="215900" progId="Equation.3">
                    <p:embed/>
                    <p:pic>
                      <p:nvPicPr>
                        <p:cNvPr id="0" name="图片 10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3840"/>
                          <a:ext cx="261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7" name="Object 49"/>
            <p:cNvGraphicFramePr>
              <a:graphicFrameLocks noChangeAspect="1"/>
            </p:cNvGraphicFramePr>
            <p:nvPr/>
          </p:nvGraphicFramePr>
          <p:xfrm>
            <a:off x="3312" y="3840"/>
            <a:ext cx="264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0" name="" r:id="rId10" imgW="228600" imgH="215900" progId="Equation.3">
                    <p:embed/>
                  </p:oleObj>
                </mc:Choice>
                <mc:Fallback>
                  <p:oleObj name="" r:id="rId10" imgW="228600" imgH="215900" progId="Equation.3">
                    <p:embed/>
                    <p:pic>
                      <p:nvPicPr>
                        <p:cNvPr id="0" name="图片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3840"/>
                          <a:ext cx="264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84"/>
          <p:cNvGrpSpPr/>
          <p:nvPr/>
        </p:nvGrpSpPr>
        <p:grpSpPr bwMode="auto">
          <a:xfrm>
            <a:off x="2895600" y="2181225"/>
            <a:ext cx="1319213" cy="396875"/>
            <a:chOff x="1824" y="1152"/>
            <a:chExt cx="831" cy="250"/>
          </a:xfrm>
        </p:grpSpPr>
        <p:sp>
          <p:nvSpPr>
            <p:cNvPr id="8232" name="Rectangle 7"/>
            <p:cNvSpPr>
              <a:spLocks noChangeArrowheads="1"/>
            </p:cNvSpPr>
            <p:nvPr/>
          </p:nvSpPr>
          <p:spPr bwMode="auto">
            <a:xfrm>
              <a:off x="2016" y="1152"/>
              <a:ext cx="6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003399"/>
                  </a:solidFill>
                  <a:ea typeface="宋体" panose="02010600030101010101" pitchFamily="2" charset="-122"/>
                </a:rPr>
                <a:t>径向力 </a:t>
              </a:r>
              <a:endParaRPr lang="zh-CN" altLang="en-US" sz="2000" b="1">
                <a:solidFill>
                  <a:srgbClr val="003399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8233" name="Object 57"/>
            <p:cNvGraphicFramePr>
              <a:graphicFrameLocks noChangeAspect="1"/>
            </p:cNvGraphicFramePr>
            <p:nvPr/>
          </p:nvGraphicFramePr>
          <p:xfrm>
            <a:off x="1824" y="1152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" name="" r:id="rId12" imgW="215900" imgH="215900" progId="Equation.3">
                    <p:embed/>
                  </p:oleObj>
                </mc:Choice>
                <mc:Fallback>
                  <p:oleObj name="" r:id="rId12" imgW="215900" imgH="215900" progId="Equation.3">
                    <p:embed/>
                    <p:pic>
                      <p:nvPicPr>
                        <p:cNvPr id="0" name="图片 10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152"/>
                          <a:ext cx="2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85"/>
          <p:cNvGrpSpPr/>
          <p:nvPr/>
        </p:nvGrpSpPr>
        <p:grpSpPr bwMode="auto">
          <a:xfrm>
            <a:off x="2907030" y="2753995"/>
            <a:ext cx="1319213" cy="457200"/>
            <a:chOff x="1824" y="1680"/>
            <a:chExt cx="831" cy="288"/>
          </a:xfrm>
        </p:grpSpPr>
        <p:sp>
          <p:nvSpPr>
            <p:cNvPr id="8230" name="Rectangle 54"/>
            <p:cNvSpPr>
              <a:spLocks noChangeArrowheads="1"/>
            </p:cNvSpPr>
            <p:nvPr/>
          </p:nvSpPr>
          <p:spPr bwMode="auto">
            <a:xfrm>
              <a:off x="2016" y="1680"/>
              <a:ext cx="6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003399"/>
                  </a:solidFill>
                  <a:ea typeface="宋体" panose="02010600030101010101" pitchFamily="2" charset="-122"/>
                </a:rPr>
                <a:t>圆周力 </a:t>
              </a:r>
              <a:endParaRPr lang="zh-CN" altLang="en-US" sz="2000" b="1">
                <a:solidFill>
                  <a:srgbClr val="003399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8231" name="Object 61"/>
            <p:cNvGraphicFramePr>
              <a:graphicFrameLocks noChangeAspect="1"/>
            </p:cNvGraphicFramePr>
            <p:nvPr/>
          </p:nvGraphicFramePr>
          <p:xfrm>
            <a:off x="1824" y="1680"/>
            <a:ext cx="25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" name="" r:id="rId14" imgW="203200" imgH="228600" progId="Equation.3">
                    <p:embed/>
                  </p:oleObj>
                </mc:Choice>
                <mc:Fallback>
                  <p:oleObj name="" r:id="rId14" imgW="203200" imgH="228600" progId="Equation.3">
                    <p:embed/>
                    <p:pic>
                      <p:nvPicPr>
                        <p:cNvPr id="0" name="图片 10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680"/>
                          <a:ext cx="252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86"/>
          <p:cNvGrpSpPr/>
          <p:nvPr/>
        </p:nvGrpSpPr>
        <p:grpSpPr bwMode="auto">
          <a:xfrm>
            <a:off x="2952115" y="3248660"/>
            <a:ext cx="1319213" cy="457200"/>
            <a:chOff x="1824" y="1968"/>
            <a:chExt cx="831" cy="288"/>
          </a:xfrm>
        </p:grpSpPr>
        <p:sp>
          <p:nvSpPr>
            <p:cNvPr id="8228" name="Rectangle 55"/>
            <p:cNvSpPr>
              <a:spLocks noChangeArrowheads="1"/>
            </p:cNvSpPr>
            <p:nvPr/>
          </p:nvSpPr>
          <p:spPr bwMode="auto">
            <a:xfrm>
              <a:off x="2016" y="1968"/>
              <a:ext cx="6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003399"/>
                  </a:solidFill>
                  <a:ea typeface="宋体" panose="02010600030101010101" pitchFamily="2" charset="-122"/>
                </a:rPr>
                <a:t>轴向力 </a:t>
              </a:r>
              <a:endParaRPr lang="zh-CN" altLang="en-US" sz="2000" b="1">
                <a:solidFill>
                  <a:srgbClr val="003399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8229" name="Object 63"/>
            <p:cNvGraphicFramePr>
              <a:graphicFrameLocks noChangeAspect="1"/>
            </p:cNvGraphicFramePr>
            <p:nvPr/>
          </p:nvGraphicFramePr>
          <p:xfrm>
            <a:off x="1824" y="1968"/>
            <a:ext cx="2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4" name="" r:id="rId16" imgW="215900" imgH="228600" progId="Equation.3">
                    <p:embed/>
                  </p:oleObj>
                </mc:Choice>
                <mc:Fallback>
                  <p:oleObj name="" r:id="rId16" imgW="215900" imgH="228600" progId="Equation.3">
                    <p:embed/>
                    <p:pic>
                      <p:nvPicPr>
                        <p:cNvPr id="0" name="图片 10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968"/>
                          <a:ext cx="2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546" name="Rectangle 66"/>
          <p:cNvSpPr>
            <a:spLocks noChangeArrowheads="1"/>
          </p:cNvSpPr>
          <p:nvPr/>
        </p:nvSpPr>
        <p:spPr bwMode="auto">
          <a:xfrm>
            <a:off x="5472430" y="1853883"/>
            <a:ext cx="1565275" cy="396875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(2) </a:t>
            </a:r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力的关系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0549" name="Object 69"/>
          <p:cNvGraphicFramePr>
            <a:graphicFrameLocks noChangeAspect="1"/>
          </p:cNvGraphicFramePr>
          <p:nvPr/>
        </p:nvGraphicFramePr>
        <p:xfrm>
          <a:off x="6057900" y="2325688"/>
          <a:ext cx="12192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" r:id="rId18" imgW="647700" imgH="228600" progId="Equation.3">
                  <p:embed/>
                </p:oleObj>
              </mc:Choice>
              <mc:Fallback>
                <p:oleObj name="" r:id="rId18" imgW="647700" imgH="228600" progId="Equation.3">
                  <p:embed/>
                  <p:pic>
                    <p:nvPicPr>
                      <p:cNvPr id="0" name="图片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0" y="2325688"/>
                        <a:ext cx="12192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8" name="Object 68"/>
          <p:cNvGraphicFramePr>
            <a:graphicFrameLocks noChangeAspect="1"/>
          </p:cNvGraphicFramePr>
          <p:nvPr/>
        </p:nvGraphicFramePr>
        <p:xfrm>
          <a:off x="6019800" y="2782888"/>
          <a:ext cx="12192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" r:id="rId20" imgW="647700" imgH="228600" progId="Equation.3">
                  <p:embed/>
                </p:oleObj>
              </mc:Choice>
              <mc:Fallback>
                <p:oleObj name="" r:id="rId20" imgW="647700" imgH="228600" progId="Equation.3">
                  <p:embed/>
                  <p:pic>
                    <p:nvPicPr>
                      <p:cNvPr id="0" name="图片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782888"/>
                        <a:ext cx="12192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7" name="Object 67"/>
          <p:cNvGraphicFramePr>
            <a:graphicFrameLocks noChangeAspect="1"/>
          </p:cNvGraphicFramePr>
          <p:nvPr/>
        </p:nvGraphicFramePr>
        <p:xfrm>
          <a:off x="6019800" y="3244850"/>
          <a:ext cx="11811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" r:id="rId22" imgW="647700" imgH="215900" progId="Equation.3">
                  <p:embed/>
                </p:oleObj>
              </mc:Choice>
              <mc:Fallback>
                <p:oleObj name="" r:id="rId22" imgW="647700" imgH="215900" progId="Equation.3">
                  <p:embed/>
                  <p:pic>
                    <p:nvPicPr>
                      <p:cNvPr id="0" name="图片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244850"/>
                        <a:ext cx="11811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2" name="Rectangle 72"/>
          <p:cNvSpPr>
            <a:spLocks noChangeArrowheads="1"/>
          </p:cNvSpPr>
          <p:nvPr/>
        </p:nvSpPr>
        <p:spPr bwMode="auto">
          <a:xfrm>
            <a:off x="4675188" y="4025900"/>
            <a:ext cx="6096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b="1" i="1">
                <a:solidFill>
                  <a:srgbClr val="003399"/>
                </a:solidFill>
                <a:ea typeface="宋体" panose="02010600030101010101" pitchFamily="2" charset="-122"/>
              </a:rPr>
              <a:t>同</a:t>
            </a:r>
            <a:endParaRPr lang="zh-CN" altLang="en-US" sz="2000" b="1" i="1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000" b="1" i="1">
                <a:solidFill>
                  <a:srgbClr val="003399"/>
                </a:solidFill>
                <a:ea typeface="宋体" panose="02010600030101010101" pitchFamily="2" charset="-122"/>
              </a:rPr>
              <a:t>直</a:t>
            </a:r>
            <a:endParaRPr lang="zh-CN" altLang="en-US" sz="2000" b="1" i="1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000" b="1" i="1">
                <a:solidFill>
                  <a:srgbClr val="003399"/>
                </a:solidFill>
                <a:ea typeface="宋体" panose="02010600030101010101" pitchFamily="2" charset="-122"/>
              </a:rPr>
              <a:t>齿</a:t>
            </a:r>
            <a:endParaRPr lang="zh-CN" altLang="en-US" sz="2000" b="1" i="1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000" b="1" i="1">
                <a:solidFill>
                  <a:srgbClr val="003399"/>
                </a:solidFill>
                <a:ea typeface="宋体" panose="02010600030101010101" pitchFamily="2" charset="-122"/>
              </a:rPr>
              <a:t>轮</a:t>
            </a:r>
            <a:endParaRPr lang="zh-CN" altLang="en-US" sz="2000" b="1" i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sp>
        <p:nvSpPr>
          <p:cNvPr id="20553" name="Rectangle 73"/>
          <p:cNvSpPr>
            <a:spLocks noChangeArrowheads="1"/>
          </p:cNvSpPr>
          <p:nvPr/>
        </p:nvSpPr>
        <p:spPr bwMode="auto">
          <a:xfrm>
            <a:off x="467544" y="5445224"/>
            <a:ext cx="12652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C00000"/>
                </a:solidFill>
                <a:ea typeface="宋体" panose="02010600030101010101" pitchFamily="2" charset="-122"/>
              </a:rPr>
              <a:t>轴向力：</a:t>
            </a:r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 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sp>
        <p:nvSpPr>
          <p:cNvPr id="20554" name="AutoShape 74"/>
          <p:cNvSpPr/>
          <p:nvPr/>
        </p:nvSpPr>
        <p:spPr bwMode="auto">
          <a:xfrm>
            <a:off x="4598988" y="4178300"/>
            <a:ext cx="76200" cy="1066800"/>
          </a:xfrm>
          <a:prstGeom prst="rightBrace">
            <a:avLst>
              <a:gd name="adj1" fmla="val 116667"/>
              <a:gd name="adj2" fmla="val 50000"/>
            </a:avLst>
          </a:prstGeom>
          <a:noFill/>
          <a:ln w="1905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55" name="Rectangle 75"/>
          <p:cNvSpPr>
            <a:spLocks noChangeArrowheads="1"/>
          </p:cNvSpPr>
          <p:nvPr/>
        </p:nvSpPr>
        <p:spPr bwMode="auto">
          <a:xfrm>
            <a:off x="1550988" y="5876925"/>
            <a:ext cx="2474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003399"/>
                </a:solidFill>
                <a:ea typeface="宋体" panose="02010600030101010101" pitchFamily="2" charset="-122"/>
              </a:rPr>
              <a:t>左旋蜗杆用左手法则</a:t>
            </a:r>
            <a:endParaRPr lang="zh-CN" altLang="en-US" sz="2000" b="1" dirty="0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sp>
        <p:nvSpPr>
          <p:cNvPr id="20556" name="Rectangle 76"/>
          <p:cNvSpPr>
            <a:spLocks noChangeArrowheads="1"/>
          </p:cNvSpPr>
          <p:nvPr/>
        </p:nvSpPr>
        <p:spPr bwMode="auto">
          <a:xfrm>
            <a:off x="1547813" y="6237288"/>
            <a:ext cx="2474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003399"/>
                </a:solidFill>
                <a:ea typeface="宋体" panose="02010600030101010101" pitchFamily="2" charset="-122"/>
              </a:rPr>
              <a:t>右旋蜗杆用右手法则</a:t>
            </a:r>
            <a:endParaRPr lang="zh-CN" altLang="en-US" sz="2000" b="1" dirty="0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grpSp>
        <p:nvGrpSpPr>
          <p:cNvPr id="7" name="Group 81"/>
          <p:cNvGrpSpPr/>
          <p:nvPr/>
        </p:nvGrpSpPr>
        <p:grpSpPr bwMode="auto">
          <a:xfrm>
            <a:off x="1550988" y="5473700"/>
            <a:ext cx="3524250" cy="457200"/>
            <a:chOff x="1392" y="3360"/>
            <a:chExt cx="2220" cy="288"/>
          </a:xfrm>
        </p:grpSpPr>
        <p:sp>
          <p:nvSpPr>
            <p:cNvPr id="8225" name="Rectangle 78"/>
            <p:cNvSpPr>
              <a:spLocks noChangeArrowheads="1"/>
            </p:cNvSpPr>
            <p:nvPr/>
          </p:nvSpPr>
          <p:spPr bwMode="auto">
            <a:xfrm>
              <a:off x="1392" y="3360"/>
              <a:ext cx="59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003399"/>
                  </a:solidFill>
                  <a:ea typeface="宋体" panose="02010600030101010101" pitchFamily="2" charset="-122"/>
                </a:rPr>
                <a:t>蜗杆上</a:t>
              </a:r>
              <a:endParaRPr lang="zh-CN" altLang="en-US" sz="2000" b="1">
                <a:solidFill>
                  <a:srgbClr val="0033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26" name="Rectangle 79"/>
            <p:cNvSpPr>
              <a:spLocks noChangeArrowheads="1"/>
            </p:cNvSpPr>
            <p:nvPr/>
          </p:nvSpPr>
          <p:spPr bwMode="auto">
            <a:xfrm>
              <a:off x="2208" y="3360"/>
              <a:ext cx="14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003399"/>
                  </a:solidFill>
                  <a:ea typeface="宋体" panose="02010600030101010101" pitchFamily="2" charset="-122"/>
                </a:rPr>
                <a:t>用左右手法则判定</a:t>
              </a:r>
              <a:endParaRPr lang="zh-CN" altLang="en-US" sz="2000" b="1">
                <a:solidFill>
                  <a:srgbClr val="003399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8227" name="Object 80"/>
            <p:cNvGraphicFramePr>
              <a:graphicFrameLocks noChangeAspect="1"/>
            </p:cNvGraphicFramePr>
            <p:nvPr/>
          </p:nvGraphicFramePr>
          <p:xfrm>
            <a:off x="1968" y="3384"/>
            <a:ext cx="253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9" name="" r:id="rId24" imgW="215900" imgH="228600" progId="Equation.3">
                    <p:embed/>
                  </p:oleObj>
                </mc:Choice>
                <mc:Fallback>
                  <p:oleObj name="" r:id="rId24" imgW="215900" imgH="228600" progId="Equation.3">
                    <p:embed/>
                    <p:pic>
                      <p:nvPicPr>
                        <p:cNvPr id="0" name="图片 10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3384"/>
                          <a:ext cx="253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562" name="AutoShape 82"/>
          <p:cNvSpPr/>
          <p:nvPr/>
        </p:nvSpPr>
        <p:spPr bwMode="auto">
          <a:xfrm>
            <a:off x="2727325" y="2439035"/>
            <a:ext cx="76200" cy="1079500"/>
          </a:xfrm>
          <a:prstGeom prst="leftBrace">
            <a:avLst>
              <a:gd name="adj1" fmla="val 58333"/>
              <a:gd name="adj2" fmla="val 50000"/>
            </a:avLst>
          </a:prstGeom>
          <a:noFill/>
          <a:ln w="1905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093" name="文本框 1"/>
          <p:cNvSpPr txBox="1">
            <a:spLocks noChangeArrowheads="1"/>
          </p:cNvSpPr>
          <p:nvPr/>
        </p:nvSpPr>
        <p:spPr bwMode="auto">
          <a:xfrm>
            <a:off x="72073" y="909320"/>
            <a:ext cx="385233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一、圆柱蜗杆传动的受力分析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0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4887150" y="1268770"/>
            <a:ext cx="2976563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99"/>
                </a:solidFill>
                <a:sym typeface="宋体" panose="02010600030101010101" pitchFamily="2" charset="-122"/>
                <a:hlinkClick r:id="rId25" action="ppaction://hlinksldjump"/>
              </a:rPr>
              <a:t>蜗杆传动受力方向判断</a:t>
            </a:r>
            <a:r>
              <a:rPr lang="en-US" altLang="zh-CN" sz="2000" dirty="0">
                <a:solidFill>
                  <a:srgbClr val="000099"/>
                </a:solidFill>
                <a:sym typeface="宋体" panose="02010600030101010101" pitchFamily="2" charset="-122"/>
                <a:hlinkClick r:id="rId25" action="ppaction://hlinksldjump"/>
              </a:rPr>
              <a:t>→</a:t>
            </a:r>
            <a:endParaRPr lang="en-US" altLang="zh-CN" sz="2000" dirty="0">
              <a:solidFill>
                <a:srgbClr val="000099"/>
              </a:solidFill>
              <a:sym typeface="宋体" panose="02010600030101010101" pitchFamily="2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097405" y="188595"/>
            <a:ext cx="5561330" cy="49085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3.11-4 圆柱蜗杆传动的</a:t>
            </a:r>
            <a:r>
              <a:rPr kumimoji="1" lang="zh-CN" altLang="en-US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载荷计算</a:t>
            </a:r>
            <a:endParaRPr kumimoji="1" lang="zh-CN" altLang="en-US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0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0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0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0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0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0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0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0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20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autoUpdateAnimBg="0"/>
      <p:bldP spid="20484" grpId="0" bldLvl="0" animBg="1" autoUpdateAnimBg="0"/>
      <p:bldP spid="20485" grpId="0" autoUpdateAnimBg="0"/>
      <p:bldP spid="20492" grpId="0" bldLvl="0" animBg="1" autoUpdateAnimBg="0"/>
      <p:bldP spid="20486" grpId="0" autoUpdateAnimBg="0"/>
      <p:bldP spid="20513" grpId="0" autoUpdateAnimBg="0"/>
      <p:bldP spid="20514" grpId="0" autoUpdateAnimBg="0"/>
      <p:bldP spid="20546" grpId="0" bldLvl="0" animBg="1" autoUpdateAnimBg="0"/>
      <p:bldP spid="20552" grpId="0" autoUpdateAnimBg="0"/>
      <p:bldP spid="20553" grpId="0" autoUpdateAnimBg="0"/>
      <p:bldP spid="20554" grpId="0" bldLvl="0" animBg="1"/>
      <p:bldP spid="20555" grpId="0" autoUpdateAnimBg="0"/>
      <p:bldP spid="20556" grpId="0" autoUpdateAnimBg="0"/>
      <p:bldP spid="20562" grpId="0" bldLvl="0" animBg="1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01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3" name="文本框 1"/>
          <p:cNvSpPr txBox="1">
            <a:spLocks noChangeArrowheads="1"/>
          </p:cNvSpPr>
          <p:nvPr/>
        </p:nvSpPr>
        <p:spPr bwMode="auto">
          <a:xfrm>
            <a:off x="72073" y="909320"/>
            <a:ext cx="385233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一、圆柱蜗杆传动的受力分析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对象 67"/>
          <p:cNvGraphicFramePr>
            <a:graphicFrameLocks noChangeAspect="1"/>
          </p:cNvGraphicFramePr>
          <p:nvPr/>
        </p:nvGraphicFramePr>
        <p:xfrm>
          <a:off x="1377495" y="1988975"/>
          <a:ext cx="152717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" name="" r:id="rId4" imgW="939165" imgH="431800" progId="Equation.KSEE3">
                  <p:embed/>
                </p:oleObj>
              </mc:Choice>
              <mc:Fallback>
                <p:oleObj name="" r:id="rId4" imgW="939165" imgH="431800" progId="Equation.KSEE3">
                  <p:embed/>
                  <p:pic>
                    <p:nvPicPr>
                      <p:cNvPr id="0" name="对象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495" y="1988975"/>
                        <a:ext cx="152717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68"/>
          <p:cNvGraphicFramePr>
            <a:graphicFrameLocks noChangeAspect="1"/>
          </p:cNvGraphicFramePr>
          <p:nvPr/>
        </p:nvGraphicFramePr>
        <p:xfrm>
          <a:off x="1377495" y="2799060"/>
          <a:ext cx="152717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" name="" r:id="rId6" imgW="951865" imgH="431800" progId="Equation.KSEE3">
                  <p:embed/>
                </p:oleObj>
              </mc:Choice>
              <mc:Fallback>
                <p:oleObj name="" r:id="rId6" imgW="951865" imgH="431800" progId="Equation.KSEE3">
                  <p:embed/>
                  <p:pic>
                    <p:nvPicPr>
                      <p:cNvPr id="0" name="对象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7495" y="2799060"/>
                        <a:ext cx="1527175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9"/>
          <p:cNvGraphicFramePr>
            <a:graphicFrameLocks noChangeAspect="1"/>
          </p:cNvGraphicFramePr>
          <p:nvPr/>
        </p:nvGraphicFramePr>
        <p:xfrm>
          <a:off x="1287075" y="3597965"/>
          <a:ext cx="231616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" name="" r:id="rId8" imgW="1193800" imgH="228600" progId="Equation.KSEE3">
                  <p:embed/>
                </p:oleObj>
              </mc:Choice>
              <mc:Fallback>
                <p:oleObj name="" r:id="rId8" imgW="1193800" imgH="228600" progId="Equation.KSEE3">
                  <p:embed/>
                  <p:pic>
                    <p:nvPicPr>
                      <p:cNvPr id="0" name="对象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075" y="3597965"/>
                        <a:ext cx="2316163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70"/>
          <p:cNvGraphicFramePr>
            <a:graphicFrameLocks noChangeAspect="1"/>
          </p:cNvGraphicFramePr>
          <p:nvPr/>
        </p:nvGraphicFramePr>
        <p:xfrm>
          <a:off x="832297" y="4143640"/>
          <a:ext cx="445833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" name="" r:id="rId10" imgW="2819400" imgH="431800" progId="Equation.KSEE3">
                  <p:embed/>
                </p:oleObj>
              </mc:Choice>
              <mc:Fallback>
                <p:oleObj name="" r:id="rId10" imgW="2819400" imgH="431800" progId="Equation.KSEE3">
                  <p:embed/>
                  <p:pic>
                    <p:nvPicPr>
                      <p:cNvPr id="0" name="对象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297" y="4143640"/>
                        <a:ext cx="445833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9341" name="Picture 1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335" y="999033"/>
            <a:ext cx="3207310" cy="3793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6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533718" y="1449070"/>
            <a:ext cx="156337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3399"/>
                </a:solidFill>
                <a:ea typeface="宋体" panose="02010600030101010101" pitchFamily="2" charset="-122"/>
              </a:rPr>
              <a:t>(3) </a:t>
            </a:r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力的大小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sp>
        <p:nvSpPr>
          <p:cNvPr id="108" name="Rectangle 2"/>
          <p:cNvSpPr txBox="1">
            <a:spLocks noChangeArrowheads="1"/>
          </p:cNvSpPr>
          <p:nvPr/>
        </p:nvSpPr>
        <p:spPr bwMode="auto">
          <a:xfrm>
            <a:off x="2097405" y="188595"/>
            <a:ext cx="5561330" cy="49085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3.11-4 圆柱蜗杆传动的</a:t>
            </a:r>
            <a:r>
              <a:rPr kumimoji="1" lang="zh-CN" altLang="en-US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载荷计算</a:t>
            </a:r>
            <a:endParaRPr kumimoji="1" lang="zh-CN" altLang="en-US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87145" y="5048885"/>
          <a:ext cx="3225165" cy="645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3" imgW="2286000" imgH="457200" progId="Equation.KSEE3">
                  <p:embed/>
                </p:oleObj>
              </mc:Choice>
              <mc:Fallback>
                <p:oleObj name="" r:id="rId13" imgW="2286000" imgH="457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87145" y="5048885"/>
                        <a:ext cx="3225165" cy="645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62150" y="5964555"/>
          <a:ext cx="1729105" cy="376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5" imgW="1054100" imgH="228600" progId="Equation.KSEE3">
                  <p:embed/>
                </p:oleObj>
              </mc:Choice>
              <mc:Fallback>
                <p:oleObj name="" r:id="rId15" imgW="10541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62150" y="5964555"/>
                        <a:ext cx="1729105" cy="376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0"/>
          <p:cNvGraphicFramePr>
            <a:graphicFrameLocks noChangeAspect="1"/>
          </p:cNvGraphicFramePr>
          <p:nvPr/>
        </p:nvGraphicFramePr>
        <p:xfrm>
          <a:off x="4571812" y="5814325"/>
          <a:ext cx="1947545" cy="70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7" imgW="1231265" imgH="444500" progId="Equation.KSEE3">
                  <p:embed/>
                </p:oleObj>
              </mc:Choice>
              <mc:Fallback>
                <p:oleObj name="" r:id="rId17" imgW="1231265" imgH="444500" progId="Equation.KSEE3">
                  <p:embed/>
                  <p:pic>
                    <p:nvPicPr>
                      <p:cNvPr id="0" name="对象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1812" y="5814325"/>
                        <a:ext cx="1947545" cy="702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3" grpId="0"/>
      <p:bldP spid="20492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/>
        </p:nvGrpSpPr>
        <p:grpSpPr>
          <a:xfrm>
            <a:off x="1835810" y="2852960"/>
            <a:ext cx="5518092" cy="3743158"/>
            <a:chOff x="1763805" y="2276920"/>
            <a:chExt cx="5518092" cy="3743158"/>
          </a:xfrm>
        </p:grpSpPr>
        <p:grpSp>
          <p:nvGrpSpPr>
            <p:cNvPr id="4" name="Group 4"/>
            <p:cNvGrpSpPr/>
            <p:nvPr/>
          </p:nvGrpSpPr>
          <p:grpSpPr bwMode="auto">
            <a:xfrm>
              <a:off x="1763805" y="2276920"/>
              <a:ext cx="5518092" cy="3743158"/>
              <a:chOff x="84" y="48"/>
              <a:chExt cx="3840" cy="2688"/>
            </a:xfrm>
          </p:grpSpPr>
          <p:sp>
            <p:nvSpPr>
              <p:cNvPr id="5" name="Oval 5"/>
              <p:cNvSpPr>
                <a:spLocks noChangeArrowheads="1"/>
              </p:cNvSpPr>
              <p:nvPr/>
            </p:nvSpPr>
            <p:spPr bwMode="auto">
              <a:xfrm>
                <a:off x="1992" y="240"/>
                <a:ext cx="1500" cy="1500"/>
              </a:xfrm>
              <a:prstGeom prst="ellipse">
                <a:avLst/>
              </a:prstGeom>
              <a:solidFill>
                <a:srgbClr val="FFFFFF"/>
              </a:solidFill>
              <a:ln w="19050" cmpd="sng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" name="Oval 6"/>
              <p:cNvSpPr>
                <a:spLocks noChangeArrowheads="1"/>
              </p:cNvSpPr>
              <p:nvPr/>
            </p:nvSpPr>
            <p:spPr bwMode="auto">
              <a:xfrm>
                <a:off x="540" y="732"/>
                <a:ext cx="672" cy="648"/>
              </a:xfrm>
              <a:prstGeom prst="ellipse">
                <a:avLst/>
              </a:prstGeom>
              <a:solidFill>
                <a:srgbClr val="FFFFFF"/>
              </a:solidFill>
              <a:ln w="19050" cmpd="sng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7" name="Line 7"/>
              <p:cNvSpPr>
                <a:spLocks noChangeShapeType="1"/>
              </p:cNvSpPr>
              <p:nvPr/>
            </p:nvSpPr>
            <p:spPr bwMode="auto">
              <a:xfrm>
                <a:off x="876" y="492"/>
                <a:ext cx="0" cy="216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Line 8"/>
              <p:cNvSpPr>
                <a:spLocks noChangeShapeType="1"/>
              </p:cNvSpPr>
              <p:nvPr/>
            </p:nvSpPr>
            <p:spPr bwMode="auto">
              <a:xfrm>
                <a:off x="228" y="1056"/>
                <a:ext cx="1296" cy="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Line 9"/>
              <p:cNvSpPr>
                <a:spLocks noChangeShapeType="1"/>
              </p:cNvSpPr>
              <p:nvPr/>
            </p:nvSpPr>
            <p:spPr bwMode="auto">
              <a:xfrm>
                <a:off x="84" y="1932"/>
                <a:ext cx="3816" cy="0"/>
              </a:xfrm>
              <a:prstGeom prst="line">
                <a:avLst/>
              </a:prstGeom>
              <a:noFill/>
              <a:ln w="12700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Line 10"/>
              <p:cNvSpPr>
                <a:spLocks noChangeShapeType="1"/>
              </p:cNvSpPr>
              <p:nvPr/>
            </p:nvSpPr>
            <p:spPr bwMode="auto">
              <a:xfrm>
                <a:off x="660" y="1308"/>
                <a:ext cx="0" cy="1248"/>
              </a:xfrm>
              <a:prstGeom prst="line">
                <a:avLst/>
              </a:prstGeom>
              <a:noFill/>
              <a:ln w="19050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Line 11"/>
              <p:cNvSpPr>
                <a:spLocks noChangeShapeType="1"/>
              </p:cNvSpPr>
              <p:nvPr/>
            </p:nvSpPr>
            <p:spPr bwMode="auto">
              <a:xfrm>
                <a:off x="1080" y="1308"/>
                <a:ext cx="0" cy="1248"/>
              </a:xfrm>
              <a:prstGeom prst="line">
                <a:avLst/>
              </a:prstGeom>
              <a:noFill/>
              <a:ln w="19050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660" y="2460"/>
                <a:ext cx="420" cy="84"/>
              </a:xfrm>
              <a:custGeom>
                <a:avLst/>
                <a:gdLst>
                  <a:gd name="T0" fmla="*/ 0 w 420"/>
                  <a:gd name="T1" fmla="*/ 108 h 108"/>
                  <a:gd name="T2" fmla="*/ 216 w 420"/>
                  <a:gd name="T3" fmla="*/ 0 h 108"/>
                  <a:gd name="T4" fmla="*/ 420 w 420"/>
                  <a:gd name="T5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0" h="108">
                    <a:moveTo>
                      <a:pt x="0" y="108"/>
                    </a:moveTo>
                    <a:cubicBezTo>
                      <a:pt x="73" y="54"/>
                      <a:pt x="146" y="0"/>
                      <a:pt x="216" y="0"/>
                    </a:cubicBezTo>
                    <a:cubicBezTo>
                      <a:pt x="286" y="0"/>
                      <a:pt x="386" y="90"/>
                      <a:pt x="420" y="108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2304" y="1740"/>
                <a:ext cx="876" cy="384"/>
              </a:xfrm>
              <a:prstGeom prst="rect">
                <a:avLst/>
              </a:prstGeom>
              <a:solidFill>
                <a:srgbClr val="FFFFFF"/>
              </a:solidFill>
              <a:ln w="19050" cmpd="sng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" name="Line 14"/>
              <p:cNvSpPr>
                <a:spLocks noChangeShapeType="1"/>
              </p:cNvSpPr>
              <p:nvPr/>
            </p:nvSpPr>
            <p:spPr bwMode="auto">
              <a:xfrm>
                <a:off x="2748" y="48"/>
                <a:ext cx="0" cy="2688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5"/>
              <p:cNvSpPr>
                <a:spLocks noChangeShapeType="1"/>
              </p:cNvSpPr>
              <p:nvPr/>
            </p:nvSpPr>
            <p:spPr bwMode="auto">
              <a:xfrm>
                <a:off x="1668" y="996"/>
                <a:ext cx="2256" cy="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6" name="Group 16"/>
              <p:cNvGrpSpPr/>
              <p:nvPr/>
            </p:nvGrpSpPr>
            <p:grpSpPr bwMode="auto">
              <a:xfrm>
                <a:off x="2700" y="1872"/>
                <a:ext cx="96" cy="108"/>
                <a:chOff x="0" y="0"/>
                <a:chExt cx="96" cy="108"/>
              </a:xfrm>
            </p:grpSpPr>
            <p:sp>
              <p:nvSpPr>
                <p:cNvPr id="30" name="Line 17"/>
                <p:cNvSpPr>
                  <a:spLocks noChangeShapeType="1"/>
                </p:cNvSpPr>
                <p:nvPr/>
              </p:nvSpPr>
              <p:spPr bwMode="auto">
                <a:xfrm>
                  <a:off x="12" y="0"/>
                  <a:ext cx="84" cy="108"/>
                </a:xfrm>
                <a:prstGeom prst="line">
                  <a:avLst/>
                </a:prstGeom>
                <a:noFill/>
                <a:ln w="9525" cmpd="sng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0" y="0"/>
                  <a:ext cx="84" cy="108"/>
                </a:xfrm>
                <a:prstGeom prst="line">
                  <a:avLst/>
                </a:prstGeom>
                <a:noFill/>
                <a:ln w="9525" cmpd="sng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Group 19"/>
              <p:cNvGrpSpPr/>
              <p:nvPr/>
            </p:nvGrpSpPr>
            <p:grpSpPr bwMode="auto">
              <a:xfrm>
                <a:off x="828" y="1872"/>
                <a:ext cx="96" cy="108"/>
                <a:chOff x="0" y="0"/>
                <a:chExt cx="96" cy="108"/>
              </a:xfrm>
            </p:grpSpPr>
            <p:sp>
              <p:nvSpPr>
                <p:cNvPr id="28" name="Line 20"/>
                <p:cNvSpPr>
                  <a:spLocks noChangeShapeType="1"/>
                </p:cNvSpPr>
                <p:nvPr/>
              </p:nvSpPr>
              <p:spPr bwMode="auto">
                <a:xfrm>
                  <a:off x="12" y="0"/>
                  <a:ext cx="84" cy="108"/>
                </a:xfrm>
                <a:prstGeom prst="line">
                  <a:avLst/>
                </a:prstGeom>
                <a:noFill/>
                <a:ln w="9525" cmpd="sng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0" y="0"/>
                  <a:ext cx="84" cy="108"/>
                </a:xfrm>
                <a:prstGeom prst="line">
                  <a:avLst/>
                </a:prstGeom>
                <a:noFill/>
                <a:ln w="9525" cmpd="sng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8" name="Line 22"/>
              <p:cNvSpPr>
                <a:spLocks noChangeShapeType="1"/>
              </p:cNvSpPr>
              <p:nvPr/>
            </p:nvSpPr>
            <p:spPr bwMode="auto">
              <a:xfrm>
                <a:off x="2748" y="1740"/>
                <a:ext cx="240" cy="384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23"/>
              <p:cNvSpPr>
                <a:spLocks noChangeShapeType="1"/>
              </p:cNvSpPr>
              <p:nvPr/>
            </p:nvSpPr>
            <p:spPr bwMode="auto">
              <a:xfrm>
                <a:off x="2820" y="1752"/>
                <a:ext cx="240" cy="384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24"/>
              <p:cNvSpPr>
                <a:spLocks noChangeShapeType="1"/>
              </p:cNvSpPr>
              <p:nvPr/>
            </p:nvSpPr>
            <p:spPr bwMode="auto">
              <a:xfrm>
                <a:off x="2892" y="1752"/>
                <a:ext cx="240" cy="384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Text Box 28"/>
              <p:cNvSpPr txBox="1">
                <a:spLocks noChangeArrowheads="1"/>
              </p:cNvSpPr>
              <p:nvPr/>
            </p:nvSpPr>
            <p:spPr bwMode="auto">
              <a:xfrm>
                <a:off x="792" y="2028"/>
                <a:ext cx="420" cy="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/>
                  <a:t>2</a:t>
                </a:r>
                <a:endParaRPr lang="en-US"/>
              </a:p>
            </p:txBody>
          </p:sp>
          <p:sp>
            <p:nvSpPr>
              <p:cNvPr id="25" name="Text Box 29"/>
              <p:cNvSpPr txBox="1">
                <a:spLocks noChangeArrowheads="1"/>
              </p:cNvSpPr>
              <p:nvPr/>
            </p:nvSpPr>
            <p:spPr bwMode="auto">
              <a:xfrm>
                <a:off x="2256" y="1704"/>
                <a:ext cx="420" cy="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/>
                  <a:t>3</a:t>
                </a:r>
                <a:endParaRPr lang="en-US"/>
              </a:p>
            </p:txBody>
          </p:sp>
          <p:sp>
            <p:nvSpPr>
              <p:cNvPr id="26" name="Text Box 30"/>
              <p:cNvSpPr txBox="1">
                <a:spLocks noChangeArrowheads="1"/>
              </p:cNvSpPr>
              <p:nvPr/>
            </p:nvSpPr>
            <p:spPr bwMode="auto">
              <a:xfrm>
                <a:off x="2220" y="1164"/>
                <a:ext cx="420" cy="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/>
                  <a:t>4</a:t>
                </a:r>
                <a:endParaRPr lang="en-US"/>
              </a:p>
            </p:txBody>
          </p:sp>
          <p:sp>
            <p:nvSpPr>
              <p:cNvPr id="27" name="Text Box 31"/>
              <p:cNvSpPr txBox="1">
                <a:spLocks noChangeArrowheads="1"/>
              </p:cNvSpPr>
              <p:nvPr/>
            </p:nvSpPr>
            <p:spPr bwMode="auto">
              <a:xfrm>
                <a:off x="816" y="936"/>
                <a:ext cx="420" cy="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dirty="0"/>
                  <a:t>1</a:t>
                </a:r>
                <a:endParaRPr lang="en-US" dirty="0"/>
              </a:p>
            </p:txBody>
          </p:sp>
        </p:grpSp>
        <p:sp>
          <p:nvSpPr>
            <p:cNvPr id="48" name="弧形 47"/>
            <p:cNvSpPr/>
            <p:nvPr/>
          </p:nvSpPr>
          <p:spPr bwMode="auto">
            <a:xfrm rot="1039682">
              <a:off x="5713588" y="3148239"/>
              <a:ext cx="684776" cy="1000921"/>
            </a:xfrm>
            <a:prstGeom prst="arc">
              <a:avLst>
                <a:gd name="adj1" fmla="val 17538491"/>
                <a:gd name="adj2" fmla="val 3418923"/>
              </a:avLst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square" lIns="90000" tIns="46800" rIns="90000" bIns="4680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539720" y="620805"/>
                <a:ext cx="8280575" cy="2393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000" dirty="0" smtClean="0"/>
                  <a:t>下图所示为二级蜗杆传动，已知蜗杆</a:t>
                </a:r>
                <a:r>
                  <a:rPr lang="en-US" altLang="zh-CN" sz="2000" dirty="0" smtClean="0"/>
                  <a:t>3</a:t>
                </a:r>
                <a:r>
                  <a:rPr lang="zh-CN" altLang="en-US" sz="2000" dirty="0" smtClean="0"/>
                  <a:t>和螺旋线方向如图所示，蜗轮</a:t>
                </a:r>
                <a:r>
                  <a:rPr lang="en-US" altLang="zh-CN" sz="2000" dirty="0" smtClean="0"/>
                  <a:t>4</a:t>
                </a:r>
                <a:r>
                  <a:rPr lang="zh-CN" altLang="en-US" sz="2000" dirty="0" smtClean="0"/>
                  <a:t>的转向如图所示，轴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Ⅰ</m:t>
                    </m:r>
                  </m:oMath>
                </a14:m>
                <a:r>
                  <a:rPr lang="zh-CN" altLang="en-US" sz="2000" dirty="0" smtClean="0"/>
                  <a:t>为输入轴，试求：</a:t>
                </a:r>
                <a:endParaRPr lang="en-US" altLang="zh-CN" sz="2000" dirty="0" smtClean="0"/>
              </a:p>
              <a:p>
                <a:pPr>
                  <a:lnSpc>
                    <a:spcPct val="120000"/>
                  </a:lnSpc>
                </a:pPr>
                <a:r>
                  <a:rPr lang="zh-CN" altLang="en-US" sz="2000" dirty="0" smtClean="0"/>
                  <a:t>（</a:t>
                </a:r>
                <a:r>
                  <a:rPr lang="en-US" altLang="zh-CN" sz="2000" dirty="0" smtClean="0"/>
                  <a:t>1</a:t>
                </a:r>
                <a:r>
                  <a:rPr lang="zh-CN" altLang="en-US" sz="2000" dirty="0" smtClean="0"/>
                  <a:t>）轴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Ⅰ</m:t>
                    </m:r>
                  </m:oMath>
                </a14:m>
                <a:r>
                  <a:rPr lang="zh-CN" altLang="en-US" sz="2000" smtClean="0"/>
                  <a:t>、轴</a:t>
                </a:r>
                <a:r>
                  <a:rPr lang="en-US" altLang="zh-CN" sz="2000" smtClean="0"/>
                  <a:t>Ⅱ</a:t>
                </a:r>
                <a:r>
                  <a:rPr lang="zh-CN" altLang="en-US" sz="2000" smtClean="0"/>
                  <a:t>的</a:t>
                </a:r>
                <a:r>
                  <a:rPr lang="zh-CN" altLang="en-US" sz="2000" dirty="0" smtClean="0"/>
                  <a:t>转向；</a:t>
                </a:r>
                <a:endParaRPr lang="en-US" altLang="zh-CN" sz="2000" dirty="0" smtClean="0"/>
              </a:p>
              <a:p>
                <a:pPr>
                  <a:lnSpc>
                    <a:spcPct val="120000"/>
                  </a:lnSpc>
                </a:pPr>
                <a:r>
                  <a:rPr lang="zh-CN" altLang="en-US" sz="2000" dirty="0" smtClean="0"/>
                  <a:t>（</a:t>
                </a:r>
                <a:r>
                  <a:rPr lang="en-US" altLang="zh-CN" sz="2000" dirty="0" smtClean="0"/>
                  <a:t>2</a:t>
                </a:r>
                <a:r>
                  <a:rPr lang="zh-CN" altLang="en-US" sz="2000" dirty="0" smtClean="0"/>
                  <a:t>）蜗杆、蜗轮的螺旋线方向（所有的）；</a:t>
                </a:r>
                <a:endParaRPr lang="en-US" altLang="zh-CN" sz="2000" dirty="0" smtClean="0"/>
              </a:p>
              <a:p>
                <a:pPr>
                  <a:lnSpc>
                    <a:spcPct val="120000"/>
                  </a:lnSpc>
                </a:pPr>
                <a:r>
                  <a:rPr lang="zh-CN" altLang="en-US" sz="2000" dirty="0" smtClean="0"/>
                  <a:t>（</a:t>
                </a:r>
                <a:r>
                  <a:rPr lang="en-US" altLang="zh-CN" sz="2000" dirty="0" smtClean="0"/>
                  <a:t>3</a:t>
                </a:r>
                <a:r>
                  <a:rPr lang="zh-CN" altLang="en-US" sz="2000" dirty="0" smtClean="0"/>
                  <a:t>）蜗轮</a:t>
                </a:r>
                <a:r>
                  <a:rPr lang="en-US" altLang="zh-CN" sz="2000" dirty="0" smtClean="0"/>
                  <a:t>2</a:t>
                </a:r>
                <a:r>
                  <a:rPr lang="zh-CN" altLang="en-US" sz="2000" dirty="0" smtClean="0"/>
                  <a:t>和蜗杆</a:t>
                </a:r>
                <a:r>
                  <a:rPr lang="en-US" altLang="zh-CN" sz="2000" dirty="0" smtClean="0"/>
                  <a:t>3</a:t>
                </a:r>
                <a:r>
                  <a:rPr lang="zh-CN" altLang="en-US" sz="2000" dirty="0" smtClean="0"/>
                  <a:t>所受的各力的方向（要求蜗轮</a:t>
                </a:r>
                <a:r>
                  <a:rPr lang="en-US" altLang="zh-CN" sz="2000" dirty="0" smtClean="0"/>
                  <a:t>2</a:t>
                </a:r>
                <a:r>
                  <a:rPr lang="zh-CN" altLang="en-US" sz="2000" dirty="0" smtClean="0"/>
                  <a:t>和蜗杆</a:t>
                </a:r>
                <a:r>
                  <a:rPr lang="en-US" altLang="zh-CN" sz="2000" dirty="0" smtClean="0"/>
                  <a:t>3</a:t>
                </a:r>
                <a:r>
                  <a:rPr lang="zh-CN" altLang="en-US" sz="2000" dirty="0" smtClean="0"/>
                  <a:t>的轴向力方向相反）</a:t>
                </a:r>
                <a:endParaRPr lang="zh-CN" altLang="en-US" sz="2000" dirty="0"/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20" y="620805"/>
                <a:ext cx="8280575" cy="2393315"/>
              </a:xfrm>
              <a:prstGeom prst="rect">
                <a:avLst/>
              </a:prstGeom>
              <a:blipFill rotWithShape="1">
                <a:blip r:embed="rId1"/>
                <a:stretch>
                  <a:fillRect l="-7" t="-17" r="2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本框 50"/>
          <p:cNvSpPr txBox="1"/>
          <p:nvPr/>
        </p:nvSpPr>
        <p:spPr>
          <a:xfrm>
            <a:off x="251700" y="188775"/>
            <a:ext cx="208814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例题</a:t>
            </a:r>
            <a:r>
              <a:rPr lang="en-US" altLang="zh-CN" dirty="0" smtClean="0">
                <a:solidFill>
                  <a:srgbClr val="FF0000"/>
                </a:solidFill>
              </a:rPr>
              <a:t>3.11-1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矩形 52"/>
              <p:cNvSpPr/>
              <p:nvPr/>
            </p:nvSpPr>
            <p:spPr>
              <a:xfrm>
                <a:off x="2411850" y="3933035"/>
                <a:ext cx="55496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Ⅰ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3" name="矩形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850" y="3933035"/>
                <a:ext cx="554960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22" t="-111" r="16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 53"/>
          <p:cNvSpPr/>
          <p:nvPr/>
        </p:nvSpPr>
        <p:spPr>
          <a:xfrm>
            <a:off x="1405306" y="5259845"/>
            <a:ext cx="38343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Ⅱ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直接连接符 69"/>
          <p:cNvCxnSpPr/>
          <p:nvPr/>
        </p:nvCxnSpPr>
        <p:spPr>
          <a:xfrm>
            <a:off x="2747010" y="1361440"/>
            <a:ext cx="782320" cy="0"/>
          </a:xfrm>
          <a:prstGeom prst="line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sm" len="lg"/>
          </a:ln>
        </p:spPr>
      </p:cxnSp>
      <p:grpSp>
        <p:nvGrpSpPr>
          <p:cNvPr id="50" name="组合 49"/>
          <p:cNvGrpSpPr/>
          <p:nvPr/>
        </p:nvGrpSpPr>
        <p:grpSpPr>
          <a:xfrm>
            <a:off x="1557045" y="1403890"/>
            <a:ext cx="5518092" cy="3840636"/>
            <a:chOff x="1763805" y="2276920"/>
            <a:chExt cx="5518092" cy="3840636"/>
          </a:xfrm>
        </p:grpSpPr>
        <p:grpSp>
          <p:nvGrpSpPr>
            <p:cNvPr id="4" name="Group 4"/>
            <p:cNvGrpSpPr/>
            <p:nvPr/>
          </p:nvGrpSpPr>
          <p:grpSpPr bwMode="auto">
            <a:xfrm>
              <a:off x="1763805" y="2276920"/>
              <a:ext cx="5518092" cy="3840636"/>
              <a:chOff x="84" y="48"/>
              <a:chExt cx="3840" cy="2758"/>
            </a:xfrm>
          </p:grpSpPr>
          <p:sp>
            <p:nvSpPr>
              <p:cNvPr id="5" name="Oval 5"/>
              <p:cNvSpPr>
                <a:spLocks noChangeArrowheads="1"/>
              </p:cNvSpPr>
              <p:nvPr/>
            </p:nvSpPr>
            <p:spPr bwMode="auto">
              <a:xfrm>
                <a:off x="1992" y="240"/>
                <a:ext cx="1500" cy="1500"/>
              </a:xfrm>
              <a:prstGeom prst="ellipse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" name="Oval 6"/>
              <p:cNvSpPr>
                <a:spLocks noChangeArrowheads="1"/>
              </p:cNvSpPr>
              <p:nvPr/>
            </p:nvSpPr>
            <p:spPr bwMode="auto">
              <a:xfrm>
                <a:off x="540" y="732"/>
                <a:ext cx="672" cy="648"/>
              </a:xfrm>
              <a:prstGeom prst="ellipse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dirty="0"/>
              </a:p>
            </p:txBody>
          </p:sp>
          <p:sp>
            <p:nvSpPr>
              <p:cNvPr id="7" name="Line 7"/>
              <p:cNvSpPr>
                <a:spLocks noChangeShapeType="1"/>
              </p:cNvSpPr>
              <p:nvPr/>
            </p:nvSpPr>
            <p:spPr bwMode="auto">
              <a:xfrm>
                <a:off x="876" y="492"/>
                <a:ext cx="0" cy="216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Line 8"/>
              <p:cNvSpPr>
                <a:spLocks noChangeShapeType="1"/>
              </p:cNvSpPr>
              <p:nvPr/>
            </p:nvSpPr>
            <p:spPr bwMode="auto">
              <a:xfrm>
                <a:off x="228" y="1056"/>
                <a:ext cx="1296" cy="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Line 9"/>
              <p:cNvSpPr>
                <a:spLocks noChangeShapeType="1"/>
              </p:cNvSpPr>
              <p:nvPr/>
            </p:nvSpPr>
            <p:spPr bwMode="auto">
              <a:xfrm>
                <a:off x="84" y="1932"/>
                <a:ext cx="3816" cy="0"/>
              </a:xfrm>
              <a:prstGeom prst="line">
                <a:avLst/>
              </a:prstGeom>
              <a:noFill/>
              <a:ln w="12700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Line 10"/>
              <p:cNvSpPr>
                <a:spLocks noChangeShapeType="1"/>
              </p:cNvSpPr>
              <p:nvPr/>
            </p:nvSpPr>
            <p:spPr bwMode="auto">
              <a:xfrm>
                <a:off x="660" y="1308"/>
                <a:ext cx="0" cy="1248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Line 11"/>
              <p:cNvSpPr>
                <a:spLocks noChangeShapeType="1"/>
              </p:cNvSpPr>
              <p:nvPr/>
            </p:nvSpPr>
            <p:spPr bwMode="auto">
              <a:xfrm>
                <a:off x="1080" y="1308"/>
                <a:ext cx="0" cy="1248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660" y="2460"/>
                <a:ext cx="420" cy="84"/>
              </a:xfrm>
              <a:custGeom>
                <a:avLst/>
                <a:gdLst>
                  <a:gd name="T0" fmla="*/ 0 w 420"/>
                  <a:gd name="T1" fmla="*/ 108 h 108"/>
                  <a:gd name="T2" fmla="*/ 216 w 420"/>
                  <a:gd name="T3" fmla="*/ 0 h 108"/>
                  <a:gd name="T4" fmla="*/ 420 w 420"/>
                  <a:gd name="T5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0" h="108">
                    <a:moveTo>
                      <a:pt x="0" y="108"/>
                    </a:moveTo>
                    <a:cubicBezTo>
                      <a:pt x="73" y="54"/>
                      <a:pt x="146" y="0"/>
                      <a:pt x="216" y="0"/>
                    </a:cubicBezTo>
                    <a:cubicBezTo>
                      <a:pt x="286" y="0"/>
                      <a:pt x="386" y="90"/>
                      <a:pt x="420" y="108"/>
                    </a:cubicBezTo>
                  </a:path>
                </a:pathLst>
              </a:custGeom>
              <a:noFill/>
              <a:ln w="9525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2304" y="1740"/>
                <a:ext cx="876" cy="384"/>
              </a:xfrm>
              <a:prstGeom prst="rect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" name="Line 14"/>
              <p:cNvSpPr>
                <a:spLocks noChangeShapeType="1"/>
              </p:cNvSpPr>
              <p:nvPr/>
            </p:nvSpPr>
            <p:spPr bwMode="auto">
              <a:xfrm>
                <a:off x="2748" y="48"/>
                <a:ext cx="0" cy="2688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5"/>
              <p:cNvSpPr>
                <a:spLocks noChangeShapeType="1"/>
              </p:cNvSpPr>
              <p:nvPr/>
            </p:nvSpPr>
            <p:spPr bwMode="auto">
              <a:xfrm>
                <a:off x="1668" y="996"/>
                <a:ext cx="2256" cy="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6" name="Group 16"/>
              <p:cNvGrpSpPr/>
              <p:nvPr/>
            </p:nvGrpSpPr>
            <p:grpSpPr bwMode="auto">
              <a:xfrm>
                <a:off x="2700" y="1872"/>
                <a:ext cx="96" cy="108"/>
                <a:chOff x="0" y="0"/>
                <a:chExt cx="96" cy="108"/>
              </a:xfrm>
            </p:grpSpPr>
            <p:sp>
              <p:nvSpPr>
                <p:cNvPr id="30" name="Line 17"/>
                <p:cNvSpPr>
                  <a:spLocks noChangeShapeType="1"/>
                </p:cNvSpPr>
                <p:nvPr/>
              </p:nvSpPr>
              <p:spPr bwMode="auto">
                <a:xfrm>
                  <a:off x="12" y="0"/>
                  <a:ext cx="84" cy="108"/>
                </a:xfrm>
                <a:prstGeom prst="line">
                  <a:avLst/>
                </a:prstGeom>
                <a:noFill/>
                <a:ln w="9525" cmpd="sng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0" y="0"/>
                  <a:ext cx="84" cy="108"/>
                </a:xfrm>
                <a:prstGeom prst="line">
                  <a:avLst/>
                </a:prstGeom>
                <a:noFill/>
                <a:ln w="9525" cmpd="sng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Group 19"/>
              <p:cNvGrpSpPr/>
              <p:nvPr/>
            </p:nvGrpSpPr>
            <p:grpSpPr bwMode="auto">
              <a:xfrm>
                <a:off x="828" y="1872"/>
                <a:ext cx="96" cy="108"/>
                <a:chOff x="0" y="0"/>
                <a:chExt cx="96" cy="108"/>
              </a:xfrm>
            </p:grpSpPr>
            <p:sp>
              <p:nvSpPr>
                <p:cNvPr id="28" name="Line 20"/>
                <p:cNvSpPr>
                  <a:spLocks noChangeShapeType="1"/>
                </p:cNvSpPr>
                <p:nvPr/>
              </p:nvSpPr>
              <p:spPr bwMode="auto">
                <a:xfrm>
                  <a:off x="12" y="0"/>
                  <a:ext cx="84" cy="108"/>
                </a:xfrm>
                <a:prstGeom prst="line">
                  <a:avLst/>
                </a:prstGeom>
                <a:noFill/>
                <a:ln w="9525" cmpd="sng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0" y="0"/>
                  <a:ext cx="84" cy="108"/>
                </a:xfrm>
                <a:prstGeom prst="line">
                  <a:avLst/>
                </a:prstGeom>
                <a:noFill/>
                <a:ln w="9525" cmpd="sng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8" name="Line 22"/>
              <p:cNvSpPr>
                <a:spLocks noChangeShapeType="1"/>
              </p:cNvSpPr>
              <p:nvPr/>
            </p:nvSpPr>
            <p:spPr bwMode="auto">
              <a:xfrm>
                <a:off x="2748" y="1740"/>
                <a:ext cx="240" cy="384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23"/>
              <p:cNvSpPr>
                <a:spLocks noChangeShapeType="1"/>
              </p:cNvSpPr>
              <p:nvPr/>
            </p:nvSpPr>
            <p:spPr bwMode="auto">
              <a:xfrm>
                <a:off x="2820" y="1752"/>
                <a:ext cx="240" cy="384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24"/>
              <p:cNvSpPr>
                <a:spLocks noChangeShapeType="1"/>
              </p:cNvSpPr>
              <p:nvPr/>
            </p:nvSpPr>
            <p:spPr bwMode="auto">
              <a:xfrm>
                <a:off x="2892" y="1752"/>
                <a:ext cx="240" cy="384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Text Box 28"/>
              <p:cNvSpPr txBox="1">
                <a:spLocks noChangeArrowheads="1"/>
              </p:cNvSpPr>
              <p:nvPr/>
            </p:nvSpPr>
            <p:spPr bwMode="auto">
              <a:xfrm>
                <a:off x="710" y="2278"/>
                <a:ext cx="420" cy="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/>
                  <a:t>2</a:t>
                </a:r>
                <a:endParaRPr lang="en-US"/>
              </a:p>
            </p:txBody>
          </p:sp>
          <p:sp>
            <p:nvSpPr>
              <p:cNvPr id="25" name="Text Box 29"/>
              <p:cNvSpPr txBox="1">
                <a:spLocks noChangeArrowheads="1"/>
              </p:cNvSpPr>
              <p:nvPr/>
            </p:nvSpPr>
            <p:spPr bwMode="auto">
              <a:xfrm>
                <a:off x="2256" y="1704"/>
                <a:ext cx="420" cy="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/>
                  <a:t>3</a:t>
                </a:r>
                <a:endParaRPr lang="en-US"/>
              </a:p>
            </p:txBody>
          </p:sp>
          <p:sp>
            <p:nvSpPr>
              <p:cNvPr id="26" name="Text Box 30"/>
              <p:cNvSpPr txBox="1">
                <a:spLocks noChangeArrowheads="1"/>
              </p:cNvSpPr>
              <p:nvPr/>
            </p:nvSpPr>
            <p:spPr bwMode="auto">
              <a:xfrm>
                <a:off x="2220" y="1164"/>
                <a:ext cx="420" cy="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/>
                  <a:t>4</a:t>
                </a:r>
                <a:endParaRPr lang="en-US"/>
              </a:p>
            </p:txBody>
          </p:sp>
          <p:sp>
            <p:nvSpPr>
              <p:cNvPr id="27" name="Text Box 31"/>
              <p:cNvSpPr txBox="1">
                <a:spLocks noChangeArrowheads="1"/>
              </p:cNvSpPr>
              <p:nvPr/>
            </p:nvSpPr>
            <p:spPr bwMode="auto">
              <a:xfrm>
                <a:off x="816" y="936"/>
                <a:ext cx="420" cy="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dirty="0"/>
                  <a:t>1</a:t>
                </a:r>
                <a:endParaRPr lang="en-US" dirty="0"/>
              </a:p>
            </p:txBody>
          </p:sp>
        </p:grpSp>
        <p:sp>
          <p:nvSpPr>
            <p:cNvPr id="48" name="弧形 47"/>
            <p:cNvSpPr/>
            <p:nvPr/>
          </p:nvSpPr>
          <p:spPr bwMode="auto">
            <a:xfrm rot="1039682">
              <a:off x="5713588" y="3148239"/>
              <a:ext cx="684776" cy="1000921"/>
            </a:xfrm>
            <a:prstGeom prst="arc">
              <a:avLst>
                <a:gd name="adj1" fmla="val 17538491"/>
                <a:gd name="adj2" fmla="val 3418923"/>
              </a:avLst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vert="horz" wrap="square" lIns="90000" tIns="46800" rIns="90000" bIns="4680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矩形 52"/>
              <p:cNvSpPr/>
              <p:nvPr/>
            </p:nvSpPr>
            <p:spPr>
              <a:xfrm>
                <a:off x="2133085" y="2483965"/>
                <a:ext cx="554960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Ⅰ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3" name="矩形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085" y="2483965"/>
                <a:ext cx="554960" cy="430887"/>
              </a:xfrm>
              <a:prstGeom prst="rect">
                <a:avLst/>
              </a:prstGeom>
              <a:blipFill rotWithShape="1">
                <a:blip r:embed="rId1"/>
                <a:stretch>
                  <a:fillRect l="-22" t="-111" r="16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矩形 53"/>
          <p:cNvSpPr/>
          <p:nvPr/>
        </p:nvSpPr>
        <p:spPr>
          <a:xfrm>
            <a:off x="1126541" y="3810775"/>
            <a:ext cx="38343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Ⅱ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H="1">
            <a:off x="4626610" y="3743960"/>
            <a:ext cx="760730" cy="0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" name="文本框 21"/>
          <p:cNvSpPr txBox="1"/>
          <p:nvPr/>
        </p:nvSpPr>
        <p:spPr>
          <a:xfrm>
            <a:off x="4211955" y="3258820"/>
            <a:ext cx="830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FF0000"/>
                </a:solidFill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</a:rPr>
              <a:t>t4</a:t>
            </a:r>
            <a:endParaRPr lang="en-US" altLang="zh-CN" sz="2000" baseline="-2500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01715" y="3429000"/>
            <a:ext cx="830580" cy="3670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rgbClr val="0000FF"/>
                </a:solidFill>
              </a:rPr>
              <a:t>F</a:t>
            </a:r>
            <a:r>
              <a:rPr lang="en-US" altLang="zh-CN" sz="2000" baseline="-25000">
                <a:solidFill>
                  <a:srgbClr val="0000FF"/>
                </a:solidFill>
              </a:rPr>
              <a:t>a3</a:t>
            </a:r>
            <a:endParaRPr lang="en-US" altLang="zh-CN" sz="2000" baseline="-25000">
              <a:solidFill>
                <a:srgbClr val="0000FF"/>
              </a:solidFill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5406390" y="3731260"/>
            <a:ext cx="782320" cy="0"/>
          </a:xfrm>
          <a:prstGeom prst="line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sm" len="lg"/>
          </a:ln>
        </p:spPr>
      </p:cxnSp>
      <p:cxnSp>
        <p:nvCxnSpPr>
          <p:cNvPr id="23" name="直接箭头连接符 22"/>
          <p:cNvCxnSpPr/>
          <p:nvPr/>
        </p:nvCxnSpPr>
        <p:spPr>
          <a:xfrm flipV="1">
            <a:off x="4060190" y="3676650"/>
            <a:ext cx="0" cy="617855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32" name="文本框 31"/>
          <p:cNvSpPr txBox="1"/>
          <p:nvPr/>
        </p:nvSpPr>
        <p:spPr>
          <a:xfrm>
            <a:off x="3676650" y="4258310"/>
            <a:ext cx="830580" cy="3670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rgbClr val="FF0000"/>
                </a:solidFill>
              </a:rPr>
              <a:t>n</a:t>
            </a:r>
            <a:r>
              <a:rPr lang="en-US" altLang="zh-CN" sz="2000" baseline="-25000">
                <a:solidFill>
                  <a:srgbClr val="FF0000"/>
                </a:solidFill>
              </a:rPr>
              <a:t>2</a:t>
            </a:r>
            <a:endParaRPr lang="en-US" altLang="zh-CN" sz="2000" baseline="-25000">
              <a:solidFill>
                <a:srgbClr val="FF0000"/>
              </a:solidFill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>
            <a:off x="5385435" y="3728085"/>
            <a:ext cx="0" cy="513715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sm" len="lg"/>
          </a:ln>
        </p:spPr>
      </p:cxnSp>
      <p:grpSp>
        <p:nvGrpSpPr>
          <p:cNvPr id="33" name="组合 32"/>
          <p:cNvGrpSpPr/>
          <p:nvPr/>
        </p:nvGrpSpPr>
        <p:grpSpPr>
          <a:xfrm>
            <a:off x="5278755" y="3618230"/>
            <a:ext cx="224790" cy="224790"/>
            <a:chOff x="9822" y="6321"/>
            <a:chExt cx="354" cy="354"/>
          </a:xfrm>
          <a:solidFill>
            <a:schemeClr val="bg1"/>
          </a:solidFill>
        </p:grpSpPr>
        <p:sp>
          <p:nvSpPr>
            <p:cNvPr id="34" name="椭圆 33"/>
            <p:cNvSpPr/>
            <p:nvPr/>
          </p:nvSpPr>
          <p:spPr>
            <a:xfrm>
              <a:off x="9822" y="6321"/>
              <a:ext cx="355" cy="355"/>
            </a:xfrm>
            <a:prstGeom prst="ellipse">
              <a:avLst/>
            </a:prstGeom>
            <a:grp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  <p:cxnSp>
          <p:nvCxnSpPr>
            <p:cNvPr id="35" name="直接连接符 34"/>
            <p:cNvCxnSpPr>
              <a:stCxn id="34" idx="3"/>
              <a:endCxn id="34" idx="7"/>
            </p:cNvCxnSpPr>
            <p:nvPr/>
          </p:nvCxnSpPr>
          <p:spPr>
            <a:xfrm flipV="1">
              <a:off x="9874" y="6373"/>
              <a:ext cx="251" cy="251"/>
            </a:xfrm>
            <a:prstGeom prst="line">
              <a:avLst/>
            </a:prstGeom>
            <a:grp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直接连接符 35"/>
            <p:cNvCxnSpPr>
              <a:stCxn id="34" idx="1"/>
              <a:endCxn id="34" idx="5"/>
            </p:cNvCxnSpPr>
            <p:nvPr/>
          </p:nvCxnSpPr>
          <p:spPr>
            <a:xfrm>
              <a:off x="9874" y="6373"/>
              <a:ext cx="251" cy="251"/>
            </a:xfrm>
            <a:prstGeom prst="line">
              <a:avLst/>
            </a:prstGeom>
            <a:grp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3" name="文本框 42"/>
          <p:cNvSpPr txBox="1"/>
          <p:nvPr/>
        </p:nvSpPr>
        <p:spPr>
          <a:xfrm>
            <a:off x="5373370" y="4058920"/>
            <a:ext cx="830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0000FF"/>
                </a:solidFill>
              </a:rPr>
              <a:t>F</a:t>
            </a:r>
            <a:r>
              <a:rPr lang="en-US" altLang="zh-CN" sz="2000" baseline="-25000">
                <a:solidFill>
                  <a:srgbClr val="0000FF"/>
                </a:solidFill>
              </a:rPr>
              <a:t>r3</a:t>
            </a:r>
            <a:endParaRPr lang="en-US" altLang="zh-CN" sz="2000" baseline="-25000">
              <a:solidFill>
                <a:srgbClr val="0000FF"/>
              </a:solidFill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 flipH="1">
            <a:off x="1934210" y="3258820"/>
            <a:ext cx="760730" cy="0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" name="文本框 51"/>
          <p:cNvSpPr txBox="1"/>
          <p:nvPr/>
        </p:nvSpPr>
        <p:spPr>
          <a:xfrm>
            <a:off x="1421765" y="2910840"/>
            <a:ext cx="830580" cy="3670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rgbClr val="FF0000"/>
                </a:solidFill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</a:rPr>
              <a:t>a2</a:t>
            </a:r>
            <a:endParaRPr lang="en-US" altLang="zh-CN" sz="2000" baseline="-25000">
              <a:solidFill>
                <a:srgbClr val="FF0000"/>
              </a:solidFill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2596515" y="3185160"/>
            <a:ext cx="180340" cy="180340"/>
            <a:chOff x="9822" y="9085"/>
            <a:chExt cx="284" cy="284"/>
          </a:xfrm>
          <a:solidFill>
            <a:schemeClr val="bg1"/>
          </a:solidFill>
        </p:grpSpPr>
        <p:sp>
          <p:nvSpPr>
            <p:cNvPr id="56" name="椭圆 55"/>
            <p:cNvSpPr/>
            <p:nvPr/>
          </p:nvSpPr>
          <p:spPr>
            <a:xfrm>
              <a:off x="9822" y="9085"/>
              <a:ext cx="284" cy="284"/>
            </a:xfrm>
            <a:prstGeom prst="ellipse">
              <a:avLst/>
            </a:prstGeom>
            <a:grp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9894" y="9156"/>
              <a:ext cx="119" cy="11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2795905" y="3266440"/>
            <a:ext cx="830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FF0000"/>
                </a:solidFill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</a:rPr>
              <a:t>t2</a:t>
            </a:r>
            <a:endParaRPr lang="en-US" altLang="zh-CN" sz="2000" baseline="-25000">
              <a:solidFill>
                <a:srgbClr val="FF0000"/>
              </a:solidFill>
            </a:endParaRPr>
          </a:p>
        </p:txBody>
      </p:sp>
      <p:cxnSp>
        <p:nvCxnSpPr>
          <p:cNvPr id="59" name="直接箭头连接符 58"/>
          <p:cNvCxnSpPr/>
          <p:nvPr/>
        </p:nvCxnSpPr>
        <p:spPr>
          <a:xfrm>
            <a:off x="2694940" y="3293745"/>
            <a:ext cx="0" cy="513715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sm" len="lg"/>
          </a:ln>
        </p:spPr>
      </p:cxnSp>
      <p:sp>
        <p:nvSpPr>
          <p:cNvPr id="60" name="文本框 59"/>
          <p:cNvSpPr txBox="1"/>
          <p:nvPr/>
        </p:nvSpPr>
        <p:spPr>
          <a:xfrm>
            <a:off x="2694940" y="3564255"/>
            <a:ext cx="830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FF0000"/>
                </a:solidFill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</a:rPr>
              <a:t>r2</a:t>
            </a:r>
            <a:endParaRPr lang="en-US" altLang="zh-CN" sz="2000" baseline="-25000">
              <a:solidFill>
                <a:srgbClr val="FF0000"/>
              </a:solidFill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071370" y="125730"/>
            <a:ext cx="1264920" cy="1529080"/>
            <a:chOff x="3262" y="198"/>
            <a:chExt cx="1992" cy="2408"/>
          </a:xfrm>
        </p:grpSpPr>
        <p:sp>
          <p:nvSpPr>
            <p:cNvPr id="61" name="Oval 6"/>
            <p:cNvSpPr>
              <a:spLocks noChangeArrowheads="1"/>
            </p:cNvSpPr>
            <p:nvPr/>
          </p:nvSpPr>
          <p:spPr bwMode="auto">
            <a:xfrm>
              <a:off x="3572" y="723"/>
              <a:ext cx="1372" cy="1421"/>
            </a:xfrm>
            <a:prstGeom prst="ellipse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62" name="Line 7"/>
            <p:cNvSpPr>
              <a:spLocks noChangeShapeType="1"/>
            </p:cNvSpPr>
            <p:nvPr/>
          </p:nvSpPr>
          <p:spPr bwMode="auto">
            <a:xfrm>
              <a:off x="4254" y="198"/>
              <a:ext cx="1" cy="2408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prstDash val="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8"/>
            <p:cNvSpPr>
              <a:spLocks noChangeShapeType="1"/>
            </p:cNvSpPr>
            <p:nvPr/>
          </p:nvSpPr>
          <p:spPr bwMode="auto">
            <a:xfrm>
              <a:off x="3262" y="1434"/>
              <a:ext cx="1992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prstDash val="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2593340" y="1235710"/>
            <a:ext cx="224790" cy="224790"/>
            <a:chOff x="9822" y="6321"/>
            <a:chExt cx="354" cy="354"/>
          </a:xfrm>
          <a:solidFill>
            <a:schemeClr val="bg1"/>
          </a:solidFill>
        </p:grpSpPr>
        <p:sp>
          <p:nvSpPr>
            <p:cNvPr id="65" name="椭圆 64"/>
            <p:cNvSpPr/>
            <p:nvPr/>
          </p:nvSpPr>
          <p:spPr>
            <a:xfrm>
              <a:off x="9822" y="6321"/>
              <a:ext cx="355" cy="355"/>
            </a:xfrm>
            <a:prstGeom prst="ellipse">
              <a:avLst/>
            </a:prstGeom>
            <a:grp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  <p:cxnSp>
          <p:nvCxnSpPr>
            <p:cNvPr id="66" name="直接连接符 65"/>
            <p:cNvCxnSpPr>
              <a:stCxn id="65" idx="3"/>
              <a:endCxn id="65" idx="7"/>
            </p:cNvCxnSpPr>
            <p:nvPr/>
          </p:nvCxnSpPr>
          <p:spPr>
            <a:xfrm flipV="1">
              <a:off x="9874" y="6373"/>
              <a:ext cx="251" cy="251"/>
            </a:xfrm>
            <a:prstGeom prst="line">
              <a:avLst/>
            </a:prstGeom>
            <a:grp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" name="直接连接符 66"/>
            <p:cNvCxnSpPr>
              <a:stCxn id="65" idx="1"/>
              <a:endCxn id="65" idx="5"/>
            </p:cNvCxnSpPr>
            <p:nvPr/>
          </p:nvCxnSpPr>
          <p:spPr>
            <a:xfrm>
              <a:off x="9874" y="6373"/>
              <a:ext cx="251" cy="251"/>
            </a:xfrm>
            <a:prstGeom prst="line">
              <a:avLst/>
            </a:prstGeom>
            <a:grp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9" name="文本框 68"/>
          <p:cNvSpPr txBox="1"/>
          <p:nvPr/>
        </p:nvSpPr>
        <p:spPr>
          <a:xfrm>
            <a:off x="2694940" y="1403985"/>
            <a:ext cx="830580" cy="3670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rgbClr val="0000FF"/>
                </a:solidFill>
              </a:rPr>
              <a:t>F</a:t>
            </a:r>
            <a:r>
              <a:rPr lang="en-US" altLang="zh-CN" sz="2000" baseline="-25000">
                <a:solidFill>
                  <a:srgbClr val="0000FF"/>
                </a:solidFill>
              </a:rPr>
              <a:t>a1</a:t>
            </a:r>
            <a:endParaRPr lang="en-US" altLang="zh-CN" sz="2000" baseline="-25000">
              <a:solidFill>
                <a:srgbClr val="0000FF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3267075" y="953770"/>
            <a:ext cx="830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0000FF"/>
                </a:solidFill>
              </a:rPr>
              <a:t>F</a:t>
            </a:r>
            <a:r>
              <a:rPr lang="en-US" altLang="zh-CN" sz="2000" baseline="-25000">
                <a:solidFill>
                  <a:srgbClr val="0000FF"/>
                </a:solidFill>
              </a:rPr>
              <a:t>t1</a:t>
            </a:r>
            <a:endParaRPr lang="en-US" altLang="zh-CN" sz="2000" baseline="-25000">
              <a:solidFill>
                <a:srgbClr val="0000FF"/>
              </a:solidFill>
            </a:endParaRPr>
          </a:p>
        </p:txBody>
      </p:sp>
      <p:sp>
        <p:nvSpPr>
          <p:cNvPr id="72" name="弧形 71"/>
          <p:cNvSpPr/>
          <p:nvPr/>
        </p:nvSpPr>
        <p:spPr bwMode="auto">
          <a:xfrm rot="20359682">
            <a:off x="2548890" y="275590"/>
            <a:ext cx="653415" cy="908050"/>
          </a:xfrm>
          <a:prstGeom prst="arc">
            <a:avLst>
              <a:gd name="adj1" fmla="val 17538491"/>
              <a:gd name="adj2" fmla="val 427600"/>
            </a:avLst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0000" tIns="46800" rIns="90000" bIns="4680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cxnSp>
        <p:nvCxnSpPr>
          <p:cNvPr id="75" name="直接箭头连接符 74"/>
          <p:cNvCxnSpPr/>
          <p:nvPr/>
        </p:nvCxnSpPr>
        <p:spPr>
          <a:xfrm>
            <a:off x="2701925" y="838835"/>
            <a:ext cx="0" cy="377190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triangle" w="med" len="med"/>
            <a:tailEnd type="none" w="sm" len="lg"/>
          </a:ln>
        </p:spPr>
      </p:cxnSp>
      <p:sp>
        <p:nvSpPr>
          <p:cNvPr id="73" name="文本框 72"/>
          <p:cNvSpPr txBox="1"/>
          <p:nvPr/>
        </p:nvSpPr>
        <p:spPr>
          <a:xfrm>
            <a:off x="3086735" y="53975"/>
            <a:ext cx="830580" cy="3670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rgbClr val="0000FF"/>
                </a:solidFill>
              </a:rPr>
              <a:t>n</a:t>
            </a:r>
            <a:r>
              <a:rPr lang="en-US" altLang="zh-CN" sz="2000" baseline="-25000">
                <a:solidFill>
                  <a:srgbClr val="0000FF"/>
                </a:solidFill>
              </a:rPr>
              <a:t>1</a:t>
            </a:r>
            <a:endParaRPr lang="en-US" altLang="zh-CN" sz="2000" baseline="-25000">
              <a:solidFill>
                <a:srgbClr val="0000FF"/>
              </a:solidFill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2626360" y="554990"/>
            <a:ext cx="830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0000FF"/>
                </a:solidFill>
              </a:rPr>
              <a:t>F</a:t>
            </a:r>
            <a:r>
              <a:rPr lang="en-US" altLang="zh-CN" sz="2000" baseline="-25000">
                <a:solidFill>
                  <a:srgbClr val="0000FF"/>
                </a:solidFill>
              </a:rPr>
              <a:t>r1</a:t>
            </a:r>
            <a:endParaRPr lang="en-US" altLang="zh-CN" sz="2000" baseline="-25000">
              <a:solidFill>
                <a:srgbClr val="0000FF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3688715" y="368935"/>
            <a:ext cx="16986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蜗杆</a:t>
            </a:r>
            <a:r>
              <a:rPr lang="en-US" altLang="zh-CN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右旋</a:t>
            </a:r>
            <a:endParaRPr lang="zh-CN" altLang="en-US" sz="20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cxnSp>
        <p:nvCxnSpPr>
          <p:cNvPr id="77" name="直接连接符 76"/>
          <p:cNvCxnSpPr/>
          <p:nvPr/>
        </p:nvCxnSpPr>
        <p:spPr>
          <a:xfrm>
            <a:off x="2385060" y="4147820"/>
            <a:ext cx="592455" cy="22098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直接连接符 77"/>
          <p:cNvCxnSpPr/>
          <p:nvPr/>
        </p:nvCxnSpPr>
        <p:spPr>
          <a:xfrm>
            <a:off x="2390775" y="4241800"/>
            <a:ext cx="592455" cy="22098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直接连接符 78"/>
          <p:cNvCxnSpPr/>
          <p:nvPr/>
        </p:nvCxnSpPr>
        <p:spPr>
          <a:xfrm>
            <a:off x="2390140" y="4328795"/>
            <a:ext cx="592455" cy="22098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" name="文本框 79"/>
          <p:cNvSpPr txBox="1"/>
          <p:nvPr/>
        </p:nvSpPr>
        <p:spPr>
          <a:xfrm>
            <a:off x="1962150" y="5048885"/>
            <a:ext cx="169862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蜗轮</a:t>
            </a:r>
            <a:r>
              <a:rPr lang="en-US" altLang="zh-CN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en-US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右旋</a:t>
            </a:r>
            <a:endParaRPr lang="zh-CN" altLang="en-US" sz="20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292090" y="3185160"/>
            <a:ext cx="830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0000FF"/>
                </a:solidFill>
              </a:rPr>
              <a:t>F</a:t>
            </a:r>
            <a:r>
              <a:rPr lang="en-US" altLang="zh-CN" sz="2000" baseline="-25000">
                <a:solidFill>
                  <a:srgbClr val="0000FF"/>
                </a:solidFill>
              </a:rPr>
              <a:t>t3</a:t>
            </a:r>
            <a:endParaRPr lang="en-US" altLang="zh-CN" sz="2000" baseline="-2500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" grpId="0" bldLvl="0" animBg="1"/>
      <p:bldP spid="32" grpId="0" bldLvl="0" animBg="1"/>
      <p:bldP spid="43" grpId="0"/>
      <p:bldP spid="52" grpId="0" bldLvl="0" animBg="1"/>
      <p:bldP spid="58" grpId="0"/>
      <p:bldP spid="60" grpId="0"/>
      <p:bldP spid="69" grpId="0" bldLvl="0" animBg="1"/>
      <p:bldP spid="71" grpId="0"/>
      <p:bldP spid="72" grpId="0" bldLvl="0" animBg="1"/>
      <p:bldP spid="73" grpId="0" bldLvl="0" animBg="1"/>
      <p:bldP spid="74" grpId="0"/>
      <p:bldP spid="3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7470" y="2933535"/>
            <a:ext cx="4776195" cy="33122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251700" y="188775"/>
            <a:ext cx="208814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例题</a:t>
            </a:r>
            <a:r>
              <a:rPr lang="en-US" altLang="zh-CN" dirty="0" smtClean="0">
                <a:solidFill>
                  <a:srgbClr val="FF0000"/>
                </a:solidFill>
              </a:rPr>
              <a:t>3.11-2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1630" y="414020"/>
            <a:ext cx="8667750" cy="2707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latinLnBrk="0" hangingPunct="1">
              <a:lnSpc>
                <a:spcPct val="150000"/>
              </a:lnSpc>
            </a:pPr>
            <a:r>
              <a:rPr lang="zh-CN" altLang="en-US" sz="2000"/>
              <a:t>图示蜗杆</a:t>
            </a:r>
            <a:r>
              <a:rPr lang="en-US" altLang="zh-CN" sz="2000"/>
              <a:t>-</a:t>
            </a:r>
            <a:r>
              <a:rPr lang="zh-CN" altLang="en-US" sz="2000"/>
              <a:t>锥齿轮传动，已知蜗杆</a:t>
            </a:r>
            <a:r>
              <a:rPr lang="en-US" altLang="zh-CN" sz="2000"/>
              <a:t>1</a:t>
            </a:r>
            <a:r>
              <a:rPr lang="zh-CN" altLang="en-US" sz="2000"/>
              <a:t>主动，轴</a:t>
            </a:r>
            <a:r>
              <a:rPr lang="en-US" altLang="zh-CN" sz="2000"/>
              <a:t>Ⅱ</a:t>
            </a:r>
            <a:r>
              <a:rPr lang="zh-CN" altLang="en-US" sz="2000"/>
              <a:t>转向如图所示，试：</a:t>
            </a:r>
            <a:endParaRPr lang="zh-CN" altLang="en-US" sz="2000"/>
          </a:p>
          <a:p>
            <a:pPr eaLnBrk="1" latinLnBrk="0" hangingPunct="1">
              <a:lnSpc>
                <a:spcPct val="150000"/>
              </a:lnSpc>
            </a:pPr>
            <a:r>
              <a:rPr lang="en-US" altLang="zh-CN" sz="2000"/>
              <a:t>  1</a:t>
            </a:r>
            <a:r>
              <a:rPr lang="zh-CN" altLang="en-US" sz="2000"/>
              <a:t>）画出轴</a:t>
            </a:r>
            <a:r>
              <a:rPr lang="en-US" altLang="zh-CN" sz="2000">
                <a:sym typeface="+mn-ea"/>
              </a:rPr>
              <a:t>Ⅲ</a:t>
            </a:r>
            <a:r>
              <a:rPr lang="zh-CN" altLang="en-US" sz="2000">
                <a:sym typeface="+mn-ea"/>
              </a:rPr>
              <a:t>的转向。</a:t>
            </a:r>
            <a:endParaRPr lang="zh-CN" altLang="en-US" sz="2000">
              <a:sym typeface="+mn-ea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en-US" altLang="zh-CN" sz="2000">
                <a:sym typeface="+mn-ea"/>
              </a:rPr>
              <a:t>  2</a:t>
            </a:r>
            <a:r>
              <a:rPr lang="zh-CN" altLang="en-US" sz="2000">
                <a:sym typeface="+mn-ea"/>
              </a:rPr>
              <a:t>）为使中间轴</a:t>
            </a:r>
            <a:r>
              <a:rPr lang="en-US" altLang="zh-CN" sz="2000">
                <a:sym typeface="+mn-ea"/>
              </a:rPr>
              <a:t>Ⅱ</a:t>
            </a:r>
            <a:r>
              <a:rPr lang="zh-CN" altLang="en-US" sz="2000">
                <a:sym typeface="+mn-ea"/>
              </a:rPr>
              <a:t>上的轴向力能互相抵消一部分，确定轴</a:t>
            </a:r>
            <a:r>
              <a:rPr lang="en-US" altLang="zh-CN" sz="2000">
                <a:sym typeface="+mn-ea"/>
              </a:rPr>
              <a:t>Ⅰ</a:t>
            </a:r>
            <a:r>
              <a:rPr lang="zh-CN" altLang="en-US" sz="2000">
                <a:sym typeface="+mn-ea"/>
              </a:rPr>
              <a:t>的转向。</a:t>
            </a:r>
            <a:endParaRPr lang="zh-CN" altLang="en-US" sz="2000">
              <a:sym typeface="+mn-ea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en-US" altLang="zh-CN" sz="2000">
                <a:sym typeface="+mn-ea"/>
              </a:rPr>
              <a:t> 3</a:t>
            </a:r>
            <a:r>
              <a:rPr lang="zh-CN" altLang="en-US" sz="2000">
                <a:sym typeface="+mn-ea"/>
              </a:rPr>
              <a:t>）画出轴</a:t>
            </a:r>
            <a:r>
              <a:rPr lang="en-US" altLang="zh-CN" sz="2000">
                <a:sym typeface="+mn-ea"/>
              </a:rPr>
              <a:t>Ⅱ</a:t>
            </a:r>
            <a:r>
              <a:rPr lang="zh-CN" altLang="en-US" sz="2000">
                <a:sym typeface="+mn-ea"/>
              </a:rPr>
              <a:t>上蜗轮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和锥齿轮</a:t>
            </a: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所受径向力</a:t>
            </a:r>
            <a:r>
              <a:rPr lang="en-US" altLang="zh-CN" sz="2000">
                <a:sym typeface="+mn-ea"/>
              </a:rPr>
              <a:t>F</a:t>
            </a:r>
            <a:r>
              <a:rPr lang="en-US" altLang="zh-CN" sz="2000" baseline="-25000">
                <a:sym typeface="+mn-ea"/>
              </a:rPr>
              <a:t>r</a:t>
            </a:r>
            <a:r>
              <a:rPr lang="zh-CN" altLang="en-US" sz="2000">
                <a:sym typeface="+mn-ea"/>
              </a:rPr>
              <a:t>、圆周力</a:t>
            </a:r>
            <a:r>
              <a:rPr lang="en-US" altLang="zh-CN" sz="2000">
                <a:sym typeface="+mn-ea"/>
              </a:rPr>
              <a:t>F</a:t>
            </a:r>
            <a:r>
              <a:rPr lang="en-US" altLang="zh-CN" sz="2000" baseline="-25000">
                <a:sym typeface="+mn-ea"/>
              </a:rPr>
              <a:t>t</a:t>
            </a:r>
            <a:r>
              <a:rPr lang="zh-CN" altLang="en-US" sz="2000">
                <a:sym typeface="+mn-ea"/>
              </a:rPr>
              <a:t>和轴向力</a:t>
            </a:r>
            <a:r>
              <a:rPr lang="en-US" altLang="zh-CN" sz="2000">
                <a:sym typeface="+mn-ea"/>
              </a:rPr>
              <a:t>F</a:t>
            </a:r>
            <a:r>
              <a:rPr lang="en-US" altLang="zh-CN" sz="2000" baseline="-25000">
                <a:sym typeface="+mn-ea"/>
              </a:rPr>
              <a:t>a </a:t>
            </a:r>
            <a:r>
              <a:rPr lang="zh-CN" altLang="en-US" sz="2000">
                <a:sym typeface="+mn-ea"/>
              </a:rPr>
              <a:t>的方向。</a:t>
            </a:r>
            <a:endParaRPr lang="zh-CN" altLang="en-US" sz="2000">
              <a:sym typeface="+mn-ea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en-US" altLang="zh-CN" sz="2000">
                <a:sym typeface="+mn-ea"/>
              </a:rPr>
              <a:t> 4) </a:t>
            </a:r>
            <a:r>
              <a:rPr lang="zh-CN" altLang="en-US" sz="2000">
                <a:sym typeface="+mn-ea"/>
              </a:rPr>
              <a:t>确定蜗杆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和蜗轮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的旋向。</a:t>
            </a:r>
            <a:endParaRPr lang="en-US" altLang="zh-CN" sz="2000"/>
          </a:p>
          <a:p>
            <a:endParaRPr lang="en-US" altLang="zh-CN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51700" y="188775"/>
            <a:ext cx="208814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例题</a:t>
            </a:r>
            <a:r>
              <a:rPr lang="en-US" altLang="zh-CN" dirty="0" smtClean="0">
                <a:solidFill>
                  <a:srgbClr val="FF0000"/>
                </a:solidFill>
              </a:rPr>
              <a:t>3.11-3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1640" y="503555"/>
            <a:ext cx="866775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latinLnBrk="0" hangingPunct="1">
              <a:lnSpc>
                <a:spcPct val="150000"/>
              </a:lnSpc>
            </a:pPr>
            <a:r>
              <a:rPr lang="zh-CN" altLang="en-US" sz="2000"/>
              <a:t>图示蜗杆</a:t>
            </a:r>
            <a:r>
              <a:rPr lang="en-US" altLang="zh-CN" sz="2000"/>
              <a:t>-</a:t>
            </a:r>
            <a:r>
              <a:rPr lang="zh-CN" altLang="en-US" sz="2000"/>
              <a:t>斜齿轮传动，已知右旋蜗杆</a:t>
            </a:r>
            <a:r>
              <a:rPr lang="en-US" altLang="zh-CN" sz="2000"/>
              <a:t>1</a:t>
            </a:r>
            <a:r>
              <a:rPr lang="zh-CN" altLang="en-US" sz="2000"/>
              <a:t>主动，斜齿轮</a:t>
            </a:r>
            <a:r>
              <a:rPr lang="en-US" altLang="zh-CN" sz="2000"/>
              <a:t>4</a:t>
            </a:r>
            <a:r>
              <a:rPr lang="zh-CN" altLang="en-US" sz="2000"/>
              <a:t>转动方向如图。为使</a:t>
            </a:r>
            <a:r>
              <a:rPr lang="zh-CN" sz="2000"/>
              <a:t>中间轴上的轴向力能互相抵消一部分</a:t>
            </a:r>
            <a:r>
              <a:rPr lang="zh-CN" altLang="en-US" sz="2000"/>
              <a:t>，试标出蜗杆</a:t>
            </a:r>
            <a:r>
              <a:rPr lang="en-US" altLang="zh-CN" sz="2000"/>
              <a:t>1</a:t>
            </a:r>
            <a:r>
              <a:rPr lang="zh-CN" altLang="en-US" sz="2000"/>
              <a:t>的转动方向和斜齿轮</a:t>
            </a:r>
            <a:r>
              <a:rPr lang="en-US" altLang="zh-CN" sz="2000"/>
              <a:t>3</a:t>
            </a:r>
            <a:r>
              <a:rPr lang="zh-CN" altLang="en-US" sz="2000"/>
              <a:t>、</a:t>
            </a:r>
            <a:r>
              <a:rPr lang="en-US" altLang="zh-CN" sz="2000"/>
              <a:t>4</a:t>
            </a:r>
            <a:r>
              <a:rPr lang="zh-CN" altLang="en-US" sz="2000"/>
              <a:t>的螺旋线方向。</a:t>
            </a:r>
            <a:endParaRPr lang="zh-CN" altLang="en-US" sz="2000"/>
          </a:p>
          <a:p>
            <a:pPr eaLnBrk="1" latinLnBrk="0" hangingPunct="1">
              <a:lnSpc>
                <a:spcPct val="150000"/>
              </a:lnSpc>
            </a:pPr>
            <a:r>
              <a:rPr lang="en-US" altLang="zh-CN" sz="2000"/>
              <a:t>  </a:t>
            </a:r>
            <a:endParaRPr lang="en-US" altLang="zh-CN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8691" r="9858"/>
          <a:stretch>
            <a:fillRect/>
          </a:stretch>
        </p:blipFill>
        <p:spPr>
          <a:xfrm>
            <a:off x="2487930" y="2214245"/>
            <a:ext cx="3963670" cy="3602990"/>
          </a:xfrm>
          <a:prstGeom prst="rect">
            <a:avLst/>
          </a:prstGeom>
        </p:spPr>
      </p:pic>
      <p:cxnSp>
        <p:nvCxnSpPr>
          <p:cNvPr id="23" name="直接箭头连接符 22"/>
          <p:cNvCxnSpPr/>
          <p:nvPr/>
        </p:nvCxnSpPr>
        <p:spPr>
          <a:xfrm flipV="1">
            <a:off x="6236970" y="3204210"/>
            <a:ext cx="0" cy="617855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grpSp>
        <p:nvGrpSpPr>
          <p:cNvPr id="68" name="组合 67"/>
          <p:cNvGrpSpPr/>
          <p:nvPr/>
        </p:nvGrpSpPr>
        <p:grpSpPr>
          <a:xfrm>
            <a:off x="1134745" y="4490720"/>
            <a:ext cx="1264920" cy="1529080"/>
            <a:chOff x="3262" y="198"/>
            <a:chExt cx="1992" cy="2408"/>
          </a:xfrm>
        </p:grpSpPr>
        <p:sp>
          <p:nvSpPr>
            <p:cNvPr id="61" name="Oval 6"/>
            <p:cNvSpPr>
              <a:spLocks noChangeArrowheads="1"/>
            </p:cNvSpPr>
            <p:nvPr/>
          </p:nvSpPr>
          <p:spPr bwMode="auto">
            <a:xfrm>
              <a:off x="3572" y="723"/>
              <a:ext cx="1372" cy="1421"/>
            </a:xfrm>
            <a:prstGeom prst="ellipse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62" name="Line 7"/>
            <p:cNvSpPr>
              <a:spLocks noChangeShapeType="1"/>
            </p:cNvSpPr>
            <p:nvPr/>
          </p:nvSpPr>
          <p:spPr bwMode="auto">
            <a:xfrm>
              <a:off x="4254" y="198"/>
              <a:ext cx="1" cy="2408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prstDash val="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8"/>
            <p:cNvSpPr>
              <a:spLocks noChangeShapeType="1"/>
            </p:cNvSpPr>
            <p:nvPr/>
          </p:nvSpPr>
          <p:spPr bwMode="auto">
            <a:xfrm>
              <a:off x="3262" y="1434"/>
              <a:ext cx="1992" cy="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prstDash val="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1674495" y="4734560"/>
            <a:ext cx="180340" cy="180340"/>
            <a:chOff x="9822" y="9085"/>
            <a:chExt cx="284" cy="284"/>
          </a:xfrm>
          <a:solidFill>
            <a:schemeClr val="bg1"/>
          </a:solidFill>
        </p:grpSpPr>
        <p:sp>
          <p:nvSpPr>
            <p:cNvPr id="56" name="椭圆 55"/>
            <p:cNvSpPr/>
            <p:nvPr/>
          </p:nvSpPr>
          <p:spPr>
            <a:xfrm>
              <a:off x="9822" y="9085"/>
              <a:ext cx="284" cy="284"/>
            </a:xfrm>
            <a:prstGeom prst="ellipse">
              <a:avLst/>
            </a:prstGeom>
            <a:grp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9894" y="9156"/>
              <a:ext cx="119" cy="11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72" name="弧形 71"/>
          <p:cNvSpPr/>
          <p:nvPr/>
        </p:nvSpPr>
        <p:spPr bwMode="auto">
          <a:xfrm rot="18880316" flipH="1">
            <a:off x="1249045" y="5058410"/>
            <a:ext cx="653415" cy="908050"/>
          </a:xfrm>
          <a:prstGeom prst="arc">
            <a:avLst>
              <a:gd name="adj1" fmla="val 17538491"/>
              <a:gd name="adj2" fmla="val 427600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0000" tIns="46800" rIns="90000" bIns="4680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451600" y="3204210"/>
            <a:ext cx="830580" cy="3670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rgbClr val="FF0000"/>
                </a:solidFill>
              </a:rPr>
              <a:t>n</a:t>
            </a:r>
            <a:r>
              <a:rPr lang="en-US" altLang="zh-CN" sz="2000" baseline="-25000">
                <a:solidFill>
                  <a:srgbClr val="FF0000"/>
                </a:solidFill>
              </a:rPr>
              <a:t>2</a:t>
            </a:r>
            <a:endParaRPr lang="en-US" altLang="zh-CN" sz="2000" baseline="-2500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27735" y="5589270"/>
            <a:ext cx="830580" cy="3670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rgbClr val="FF0000"/>
                </a:solidFill>
              </a:rPr>
              <a:t>n</a:t>
            </a:r>
            <a:r>
              <a:rPr lang="en-US" altLang="zh-CN" sz="2000" baseline="-25000">
                <a:solidFill>
                  <a:srgbClr val="FF0000"/>
                </a:solidFill>
              </a:rPr>
              <a:t>1</a:t>
            </a:r>
            <a:endParaRPr lang="en-US" altLang="zh-CN" sz="2000" baseline="-25000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446780" y="4091940"/>
            <a:ext cx="830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0000FF"/>
                </a:solidFill>
              </a:rPr>
              <a:t>F</a:t>
            </a:r>
            <a:r>
              <a:rPr lang="en-US" altLang="zh-CN" sz="2000" baseline="-25000">
                <a:solidFill>
                  <a:srgbClr val="0000FF"/>
                </a:solidFill>
              </a:rPr>
              <a:t>t2</a:t>
            </a:r>
            <a:endParaRPr lang="en-US" altLang="zh-CN" sz="2000" baseline="-25000">
              <a:solidFill>
                <a:srgbClr val="0000FF"/>
              </a:solidFill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134745" y="4346575"/>
            <a:ext cx="830580" cy="3670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rgbClr val="FF0000"/>
                </a:solidFill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</a:rPr>
              <a:t>a1</a:t>
            </a:r>
            <a:endParaRPr lang="en-US" altLang="zh-CN" sz="2000" baseline="-25000">
              <a:solidFill>
                <a:srgbClr val="FF0000"/>
              </a:solidFill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795780" y="4817110"/>
            <a:ext cx="78232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sm" len="lg"/>
          </a:ln>
        </p:spPr>
      </p:cxnSp>
      <p:cxnSp>
        <p:nvCxnSpPr>
          <p:cNvPr id="9" name="直接箭头连接符 8"/>
          <p:cNvCxnSpPr/>
          <p:nvPr/>
        </p:nvCxnSpPr>
        <p:spPr>
          <a:xfrm flipH="1">
            <a:off x="2952115" y="4643755"/>
            <a:ext cx="760730" cy="0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文本框 7"/>
          <p:cNvSpPr txBox="1"/>
          <p:nvPr/>
        </p:nvSpPr>
        <p:spPr>
          <a:xfrm>
            <a:off x="2052320" y="4379595"/>
            <a:ext cx="830580" cy="3670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rgbClr val="FF0000"/>
                </a:solidFill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</a:rPr>
              <a:t>t</a:t>
            </a:r>
            <a:r>
              <a:rPr lang="en-US" altLang="zh-CN" sz="2000" baseline="-25000">
                <a:solidFill>
                  <a:srgbClr val="FF0000"/>
                </a:solidFill>
              </a:rPr>
              <a:t>1</a:t>
            </a:r>
            <a:endParaRPr lang="en-US" altLang="zh-CN" sz="2000" baseline="-25000">
              <a:solidFill>
                <a:srgbClr val="FF0000"/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3594100" y="4521200"/>
            <a:ext cx="224790" cy="224790"/>
            <a:chOff x="9822" y="6321"/>
            <a:chExt cx="354" cy="354"/>
          </a:xfrm>
          <a:solidFill>
            <a:schemeClr val="bg1"/>
          </a:solidFill>
        </p:grpSpPr>
        <p:sp>
          <p:nvSpPr>
            <p:cNvPr id="34" name="椭圆 33"/>
            <p:cNvSpPr/>
            <p:nvPr/>
          </p:nvSpPr>
          <p:spPr>
            <a:xfrm>
              <a:off x="9822" y="6321"/>
              <a:ext cx="355" cy="355"/>
            </a:xfrm>
            <a:prstGeom prst="ellipse">
              <a:avLst/>
            </a:prstGeom>
            <a:grp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  <p:cxnSp>
          <p:nvCxnSpPr>
            <p:cNvPr id="35" name="直接连接符 34"/>
            <p:cNvCxnSpPr>
              <a:stCxn id="34" idx="3"/>
              <a:endCxn id="34" idx="7"/>
            </p:cNvCxnSpPr>
            <p:nvPr/>
          </p:nvCxnSpPr>
          <p:spPr>
            <a:xfrm flipV="1">
              <a:off x="9874" y="6373"/>
              <a:ext cx="251" cy="251"/>
            </a:xfrm>
            <a:prstGeom prst="line">
              <a:avLst/>
            </a:prstGeom>
            <a:grp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直接连接符 35"/>
            <p:cNvCxnSpPr>
              <a:stCxn id="34" idx="1"/>
              <a:endCxn id="34" idx="5"/>
            </p:cNvCxnSpPr>
            <p:nvPr/>
          </p:nvCxnSpPr>
          <p:spPr>
            <a:xfrm>
              <a:off x="9874" y="6373"/>
              <a:ext cx="251" cy="251"/>
            </a:xfrm>
            <a:prstGeom prst="line">
              <a:avLst/>
            </a:prstGeom>
            <a:grp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" name="文本框 9"/>
          <p:cNvSpPr txBox="1"/>
          <p:nvPr/>
        </p:nvSpPr>
        <p:spPr>
          <a:xfrm>
            <a:off x="2861945" y="4194175"/>
            <a:ext cx="830580" cy="3670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rgbClr val="0000FF"/>
                </a:solidFill>
              </a:rPr>
              <a:t>F</a:t>
            </a:r>
            <a:r>
              <a:rPr lang="en-US" altLang="zh-CN" sz="2000" baseline="-25000">
                <a:solidFill>
                  <a:srgbClr val="0000FF"/>
                </a:solidFill>
              </a:rPr>
              <a:t>a2</a:t>
            </a:r>
            <a:endParaRPr lang="en-US" altLang="zh-CN" sz="2000" baseline="-25000">
              <a:solidFill>
                <a:srgbClr val="0000FF"/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337175" y="3924300"/>
            <a:ext cx="78232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sm" len="lg"/>
          </a:ln>
        </p:spPr>
      </p:cxnSp>
      <p:sp>
        <p:nvSpPr>
          <p:cNvPr id="12" name="文本框 11"/>
          <p:cNvSpPr txBox="1"/>
          <p:nvPr/>
        </p:nvSpPr>
        <p:spPr>
          <a:xfrm>
            <a:off x="6101715" y="3822065"/>
            <a:ext cx="830580" cy="3670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rgbClr val="FF0000"/>
                </a:solidFill>
              </a:rPr>
              <a:t>F</a:t>
            </a:r>
            <a:r>
              <a:rPr lang="en-US" altLang="zh-CN" sz="2000" baseline="-25000">
                <a:solidFill>
                  <a:srgbClr val="FF0000"/>
                </a:solidFill>
              </a:rPr>
              <a:t>a3</a:t>
            </a:r>
            <a:endParaRPr lang="en-US" altLang="zh-CN" sz="2000" baseline="-25000">
              <a:solidFill>
                <a:srgbClr val="FF0000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156835" y="3389630"/>
            <a:ext cx="344170" cy="432435"/>
            <a:chOff x="8121" y="5338"/>
            <a:chExt cx="542" cy="681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8121" y="5471"/>
              <a:ext cx="543" cy="388"/>
            </a:xfrm>
            <a:prstGeom prst="line">
              <a:avLst/>
            </a:prstGeom>
            <a:noFill/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直接连接符 13"/>
            <p:cNvCxnSpPr/>
            <p:nvPr/>
          </p:nvCxnSpPr>
          <p:spPr>
            <a:xfrm>
              <a:off x="8121" y="5338"/>
              <a:ext cx="543" cy="388"/>
            </a:xfrm>
            <a:prstGeom prst="line">
              <a:avLst/>
            </a:prstGeom>
            <a:noFill/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直接连接符 14"/>
            <p:cNvCxnSpPr/>
            <p:nvPr/>
          </p:nvCxnSpPr>
          <p:spPr>
            <a:xfrm>
              <a:off x="8121" y="5631"/>
              <a:ext cx="543" cy="388"/>
            </a:xfrm>
            <a:prstGeom prst="line">
              <a:avLst/>
            </a:prstGeom>
            <a:noFill/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" name="组合 19"/>
          <p:cNvGrpSpPr/>
          <p:nvPr/>
        </p:nvGrpSpPr>
        <p:grpSpPr>
          <a:xfrm>
            <a:off x="5162550" y="4328795"/>
            <a:ext cx="320675" cy="405765"/>
            <a:chOff x="8130" y="6817"/>
            <a:chExt cx="505" cy="639"/>
          </a:xfrm>
        </p:grpSpPr>
        <p:cxnSp>
          <p:nvCxnSpPr>
            <p:cNvPr id="16" name="直接连接符 15"/>
            <p:cNvCxnSpPr/>
            <p:nvPr/>
          </p:nvCxnSpPr>
          <p:spPr>
            <a:xfrm flipV="1">
              <a:off x="8130" y="6817"/>
              <a:ext cx="487" cy="398"/>
            </a:xfrm>
            <a:prstGeom prst="line">
              <a:avLst/>
            </a:prstGeom>
            <a:noFill/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直接连接符 16"/>
            <p:cNvCxnSpPr/>
            <p:nvPr/>
          </p:nvCxnSpPr>
          <p:spPr>
            <a:xfrm flipV="1">
              <a:off x="8149" y="6915"/>
              <a:ext cx="487" cy="398"/>
            </a:xfrm>
            <a:prstGeom prst="line">
              <a:avLst/>
            </a:prstGeom>
            <a:noFill/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直接连接符 17"/>
            <p:cNvCxnSpPr/>
            <p:nvPr/>
          </p:nvCxnSpPr>
          <p:spPr>
            <a:xfrm flipV="1">
              <a:off x="8130" y="7058"/>
              <a:ext cx="487" cy="398"/>
            </a:xfrm>
            <a:prstGeom prst="line">
              <a:avLst/>
            </a:prstGeom>
            <a:noFill/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bldLvl="0" animBg="1"/>
      <p:bldP spid="32" grpId="0" bldLvl="0" animBg="1"/>
      <p:bldP spid="7" grpId="0" bldLvl="0" animBg="1"/>
      <p:bldP spid="22" grpId="0"/>
      <p:bldP spid="52" grpId="0" bldLvl="0" animBg="1"/>
      <p:bldP spid="8" grpId="0" bldLvl="0" animBg="1"/>
      <p:bldP spid="10" grpId="0" bldLvl="0" animBg="1"/>
      <p:bldP spid="12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3" name="文本框 1"/>
          <p:cNvSpPr txBox="1">
            <a:spLocks noChangeArrowheads="1"/>
          </p:cNvSpPr>
          <p:nvPr/>
        </p:nvSpPr>
        <p:spPr bwMode="auto">
          <a:xfrm>
            <a:off x="87313" y="762000"/>
            <a:ext cx="385233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二、圆柱蜗杆传动的计算载荷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7" name="文本框 106"/>
          <p:cNvSpPr txBox="1">
            <a:spLocks noChangeArrowheads="1"/>
          </p:cNvSpPr>
          <p:nvPr/>
        </p:nvSpPr>
        <p:spPr bwMode="auto">
          <a:xfrm>
            <a:off x="521940" y="1268600"/>
            <a:ext cx="794702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74955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与齿轮传动类似，蜗杆传动齿面上单位接触线长度的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计算载荷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uc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为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1382" name="对象 75"/>
          <p:cNvGraphicFramePr>
            <a:graphicFrameLocks noChangeAspect="1"/>
          </p:cNvGraphicFramePr>
          <p:nvPr/>
        </p:nvGraphicFramePr>
        <p:xfrm>
          <a:off x="2952063" y="1673575"/>
          <a:ext cx="126174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5" name="" r:id="rId1" imgW="723900" imgH="431800" progId="Equation.3">
                  <p:embed/>
                </p:oleObj>
              </mc:Choice>
              <mc:Fallback>
                <p:oleObj name="" r:id="rId1" imgW="723900" imgH="431800" progId="Equation.3">
                  <p:embed/>
                  <p:pic>
                    <p:nvPicPr>
                      <p:cNvPr id="0" name="对象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063" y="1673575"/>
                        <a:ext cx="126174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611188" y="2235200"/>
            <a:ext cx="927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式中：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>
                <a:spLocks noChangeArrowheads="1"/>
              </p:cNvSpPr>
              <p:nvPr/>
            </p:nvSpPr>
            <p:spPr bwMode="auto">
              <a:xfrm>
                <a:off x="791680" y="5228605"/>
                <a:ext cx="8080375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𝛴</m:t>
                        </m:r>
                        <m:r>
                          <a:rPr lang="en-US" altLang="zh-CN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为蜗轮齿面的接触线长度（</a:t>
                </a:r>
                <a:r>
                  <a:rPr lang="en-US" altLang="zh-CN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mm</a:t>
                </a:r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）</a:t>
                </a:r>
                <a:endPara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1680" y="5228605"/>
                <a:ext cx="8080375" cy="460375"/>
              </a:xfrm>
              <a:prstGeom prst="rect">
                <a:avLst/>
              </a:prstGeom>
              <a:blipFill rotWithShape="1">
                <a:blip r:embed="rId3"/>
                <a:stretch>
                  <a:fillRect l="-6" t="-3" r="6" b="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611188" y="4449763"/>
            <a:ext cx="8008937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 K</a:t>
            </a:r>
            <a:r>
              <a:rPr lang="en-US" altLang="zh-CN" sz="2000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为动载系数，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精确制造且蜗轮圆周速度 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≤3 m/ s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时，</a:t>
            </a:r>
            <a:r>
              <a:rPr lang="en-US" altLang="zh-CN" sz="2000" i="1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aseline="-250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≈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1.0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；当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&gt; 3 m/ s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时，</a:t>
            </a:r>
            <a:r>
              <a:rPr lang="en-US" altLang="zh-CN" sz="2000" i="1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aseline="-250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 = 1.1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～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1.2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；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611188" y="3627438"/>
            <a:ext cx="808037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 K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β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为齿向载荷分布系数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，当蜗杆传动的载荷平稳时，可取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=1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；当载荷是变化的，取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≈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 1.3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～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1.6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；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611188" y="3141663"/>
            <a:ext cx="392620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 K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为使用系数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                       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611188" y="2668588"/>
            <a:ext cx="298386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为载荷系数，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β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4216400" y="3128963"/>
            <a:ext cx="28114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  <a:hlinkClick r:id="rId4" action="ppaction://hlinksldjump"/>
              </a:rPr>
              <a:t>使用系数具体取值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  <a:hlinkClick r:id="rId4" action="ppaction://hlinksldjump"/>
              </a:rPr>
              <a:t>→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11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动作按钮: 前进或下一项 15">
            <a:hlinkClick r:id="rId5" action="ppaction://hlinksldjump" highlightClick="1"/>
          </p:cNvPr>
          <p:cNvSpPr/>
          <p:nvPr/>
        </p:nvSpPr>
        <p:spPr bwMode="auto">
          <a:xfrm>
            <a:off x="179696" y="6453210"/>
            <a:ext cx="288020" cy="216015"/>
          </a:xfrm>
          <a:prstGeom prst="actionButtonForwardNex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graphicFrame>
        <p:nvGraphicFramePr>
          <p:cNvPr id="3" name="对象 75"/>
          <p:cNvGraphicFramePr>
            <a:graphicFrameLocks noChangeAspect="1"/>
          </p:cNvGraphicFramePr>
          <p:nvPr/>
        </p:nvGraphicFramePr>
        <p:xfrm>
          <a:off x="1737308" y="5858860"/>
          <a:ext cx="2590165" cy="730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6" imgW="1485900" imgH="419100" progId="Equation.3">
                  <p:embed/>
                </p:oleObj>
              </mc:Choice>
              <mc:Fallback>
                <p:oleObj name="" r:id="rId6" imgW="1485900" imgH="419100" progId="Equation.3">
                  <p:embed/>
                  <p:pic>
                    <p:nvPicPr>
                      <p:cNvPr id="0" name="对象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308" y="5858860"/>
                        <a:ext cx="2590165" cy="730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75"/>
          <p:cNvGraphicFramePr>
            <a:graphicFrameLocks noChangeAspect="1"/>
          </p:cNvGraphicFramePr>
          <p:nvPr/>
        </p:nvGraphicFramePr>
        <p:xfrm>
          <a:off x="4526915" y="5814060"/>
          <a:ext cx="4293870" cy="770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8" imgW="2691765" imgH="482600" progId="Equation.3">
                  <p:embed/>
                </p:oleObj>
              </mc:Choice>
              <mc:Fallback>
                <p:oleObj name="" r:id="rId8" imgW="2691765" imgH="482600" progId="Equation.3">
                  <p:embed/>
                  <p:pic>
                    <p:nvPicPr>
                      <p:cNvPr id="0" name="对象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6915" y="5814060"/>
                        <a:ext cx="4293870" cy="770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Rectangle 2"/>
          <p:cNvSpPr txBox="1">
            <a:spLocks noChangeArrowheads="1"/>
          </p:cNvSpPr>
          <p:nvPr/>
        </p:nvSpPr>
        <p:spPr bwMode="auto">
          <a:xfrm>
            <a:off x="2097405" y="188595"/>
            <a:ext cx="5561330" cy="49085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3.11-4 圆柱蜗杆传动的</a:t>
            </a:r>
            <a:r>
              <a:rPr kumimoji="1" lang="zh-CN" altLang="en-US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载荷计算</a:t>
            </a:r>
            <a:endParaRPr kumimoji="1" lang="zh-CN" altLang="en-US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3" grpId="0"/>
      <p:bldP spid="107" grpId="0"/>
      <p:bldP spid="2" grpId="0"/>
      <p:bldP spid="6" grpId="0"/>
      <p:bldP spid="7" grpId="0"/>
      <p:bldP spid="8" grpId="0"/>
      <p:bldP spid="10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0" y="214313"/>
            <a:ext cx="678497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3.11-5 圆柱蜗杆传动的</a:t>
            </a:r>
            <a:r>
              <a:rPr kumimoji="1" lang="zh-CN" altLang="en-US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强度</a:t>
            </a: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3189" name="文本框 1"/>
          <p:cNvSpPr txBox="1">
            <a:spLocks noChangeArrowheads="1"/>
          </p:cNvSpPr>
          <p:nvPr/>
        </p:nvSpPr>
        <p:spPr bwMode="auto">
          <a:xfrm>
            <a:off x="72390" y="819150"/>
            <a:ext cx="413446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一、蜗轮齿面接触疲劳强度计算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9333" name="矩形 57356"/>
          <p:cNvSpPr>
            <a:spLocks noChangeArrowheads="1"/>
          </p:cNvSpPr>
          <p:nvPr/>
        </p:nvSpPr>
        <p:spPr bwMode="auto">
          <a:xfrm>
            <a:off x="125413" y="1230313"/>
            <a:ext cx="47577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2060"/>
                </a:solidFill>
                <a:latin typeface="Times New Roman" panose="02020603050405020304" pitchFamily="18" charset="0"/>
              </a:rPr>
              <a:t>蜗轮齿面接触疲劳强度的验算公式为</a:t>
            </a:r>
            <a:endParaRPr lang="zh-CN" altLang="en-US" sz="200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7" name="矩形 57356"/>
          <p:cNvSpPr>
            <a:spLocks noChangeArrowheads="1"/>
          </p:cNvSpPr>
          <p:nvPr/>
        </p:nvSpPr>
        <p:spPr bwMode="auto">
          <a:xfrm>
            <a:off x="521970" y="5139055"/>
            <a:ext cx="8458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rgbClr val="002060"/>
                </a:solidFill>
                <a:latin typeface="Times New Roman" panose="02020603050405020304" pitchFamily="18" charset="0"/>
              </a:rPr>
              <a:t>当蜗轮材料为铸铝铁青铜（抗拉强度</a:t>
            </a:r>
            <a:r>
              <a:rPr lang="zh-CN" altLang="en-US" sz="20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charset="0"/>
              </a:rPr>
              <a:t></a:t>
            </a:r>
            <a:r>
              <a:rPr lang="en-US" altLang="zh-CN" sz="20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≥300 MPa</a:t>
            </a:r>
            <a:r>
              <a:rPr lang="zh-CN" altLang="en-US" sz="2000">
                <a:solidFill>
                  <a:srgbClr val="002060"/>
                </a:solidFill>
                <a:latin typeface="Times New Roman" panose="02020603050405020304" pitchFamily="18" charset="0"/>
              </a:rPr>
              <a:t>）或灰铸铁时，蜗杆传动的主要失效形式是齿面胶合。许用接触应力[σ</a:t>
            </a:r>
            <a:r>
              <a:rPr lang="zh-CN" altLang="en-US" sz="2000" baseline="-25000">
                <a:solidFill>
                  <a:srgbClr val="002060"/>
                </a:solidFill>
                <a:latin typeface="Times New Roman" panose="02020603050405020304" pitchFamily="18" charset="0"/>
              </a:rPr>
              <a:t>H</a:t>
            </a:r>
            <a:r>
              <a:rPr lang="zh-CN" altLang="en-US" sz="2000">
                <a:solidFill>
                  <a:srgbClr val="002060"/>
                </a:solidFill>
                <a:latin typeface="Times New Roman" panose="02020603050405020304" pitchFamily="18" charset="0"/>
              </a:rPr>
              <a:t>]可直接查出。</a:t>
            </a:r>
            <a:endParaRPr lang="zh-CN" altLang="en-US" sz="200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3431" name="对象 290"/>
          <p:cNvGraphicFramePr>
            <a:graphicFrameLocks noChangeAspect="1"/>
          </p:cNvGraphicFramePr>
          <p:nvPr/>
        </p:nvGraphicFramePr>
        <p:xfrm>
          <a:off x="2907030" y="1718787"/>
          <a:ext cx="3227070" cy="798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6" name="" r:id="rId1" imgW="1955800" imgH="482600" progId="Equation.KSEE3">
                  <p:embed/>
                </p:oleObj>
              </mc:Choice>
              <mc:Fallback>
                <p:oleObj name="" r:id="rId1" imgW="1955800" imgH="482600" progId="Equation.KSEE3">
                  <p:embed/>
                  <p:pic>
                    <p:nvPicPr>
                      <p:cNvPr id="0" name="对象 2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7030" y="1718787"/>
                        <a:ext cx="3227070" cy="7988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文本框 106"/>
          <p:cNvSpPr txBox="1">
            <a:spLocks noChangeArrowheads="1"/>
          </p:cNvSpPr>
          <p:nvPr/>
        </p:nvSpPr>
        <p:spPr bwMode="auto">
          <a:xfrm>
            <a:off x="3626803" y="3789045"/>
            <a:ext cx="508000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铸锡青铜蜗轮的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hlinkClick r:id="rId3" action="ppaction://hlinksldjump"/>
              </a:rPr>
              <a:t>基本许用接触应力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  <a:hlinkClick r:id="rId3" action="ppaction://hlinksldjump"/>
              </a:rPr>
              <a:t>[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  <a:hlinkClick r:id="rId3" action="ppaction://hlinksldjump"/>
              </a:rPr>
              <a:t>σ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  <a:hlinkClick r:id="rId3" action="ppaction://hlinksldjump"/>
              </a:rPr>
              <a:t>H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  <a:hlinkClick r:id="rId3" action="ppaction://hlinksldjump"/>
              </a:rPr>
              <a:t>]′→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997200" y="6129020"/>
            <a:ext cx="5767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灰铸铁及铸铝铁青铜蜗轮的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hlinkClick r:id="rId4" action="ppaction://hlinksldjump"/>
              </a:rPr>
              <a:t>许用接触应力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hlinkClick r:id="rId4" action="ppaction://hlinksldjump"/>
              </a:rPr>
              <a:t>[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  <a:hlinkClick r:id="rId4" action="ppaction://hlinksldjump"/>
              </a:rPr>
              <a:t>σ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  <a:hlinkClick r:id="rId4" action="ppaction://hlinksldjump"/>
              </a:rPr>
              <a:t>H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hlinkClick r:id="rId4" action="ppaction://hlinksldjump"/>
              </a:rPr>
              <a:t>]→</a:t>
            </a:r>
            <a:endParaRPr lang="en-US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35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029450" y="1840865"/>
            <a:ext cx="15474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3.11-11</a:t>
            </a:r>
            <a:r>
              <a:rPr lang="zh-CN" altLang="en-US"/>
              <a:t>）</a:t>
            </a:r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567055" y="2753995"/>
            <a:ext cx="8301355" cy="944880"/>
            <a:chOff x="875" y="3823"/>
            <a:chExt cx="13073" cy="1488"/>
          </a:xfrm>
        </p:grpSpPr>
        <p:grpSp>
          <p:nvGrpSpPr>
            <p:cNvPr id="2" name="组合 4"/>
            <p:cNvGrpSpPr/>
            <p:nvPr/>
          </p:nvGrpSpPr>
          <p:grpSpPr bwMode="auto">
            <a:xfrm>
              <a:off x="875" y="3823"/>
              <a:ext cx="13073" cy="1488"/>
              <a:chOff x="650" y="4161"/>
              <a:chExt cx="13072" cy="1488"/>
            </a:xfrm>
          </p:grpSpPr>
          <p:sp>
            <p:nvSpPr>
              <p:cNvPr id="5136" name="矩形 57356"/>
              <p:cNvSpPr>
                <a:spLocks noChangeArrowheads="1"/>
              </p:cNvSpPr>
              <p:nvPr/>
            </p:nvSpPr>
            <p:spPr bwMode="auto">
              <a:xfrm>
                <a:off x="650" y="4161"/>
                <a:ext cx="13072" cy="1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4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00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当蜗轮材料为</a:t>
                </a:r>
                <a:r>
                  <a:rPr lang="en-US" altLang="zh-CN" sz="200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                            </a:t>
                </a:r>
                <a:r>
                  <a:rPr lang="zh-CN" altLang="en-US" sz="200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的</a:t>
                </a:r>
                <a:r>
                  <a:rPr lang="zh-CN" altLang="zh-CN" sz="200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铸锡青铜时，蜗杆传动主要因接触疲劳点蚀而失效，蜗轮的许用应力与应力循环次数有关</a:t>
                </a:r>
                <a:endParaRPr lang="zh-CN" altLang="zh-CN" sz="200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5124" name="对象 84"/>
              <p:cNvGraphicFramePr>
                <a:graphicFrameLocks noChangeAspect="1"/>
              </p:cNvGraphicFramePr>
              <p:nvPr/>
            </p:nvGraphicFramePr>
            <p:xfrm>
              <a:off x="10730" y="4888"/>
              <a:ext cx="2682" cy="7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97" name="" r:id="rId5" imgW="1028065" imgH="292100" progId="Equation.KSEE3">
                      <p:embed/>
                    </p:oleObj>
                  </mc:Choice>
                  <mc:Fallback>
                    <p:oleObj name="" r:id="rId5" imgW="1028065" imgH="292100" progId="Equation.KSEE3">
                      <p:embed/>
                      <p:pic>
                        <p:nvPicPr>
                          <p:cNvPr id="0" name="对象 8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730" y="4888"/>
                            <a:ext cx="2682" cy="7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" name="文本框 5"/>
            <p:cNvSpPr txBox="1"/>
            <p:nvPr/>
          </p:nvSpPr>
          <p:spPr>
            <a:xfrm rot="10800000" flipV="1">
              <a:off x="4011" y="3983"/>
              <a:ext cx="2904" cy="6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>
                  <a:solidFill>
                    <a:srgbClr val="FF0000"/>
                  </a:solidFill>
                  <a:sym typeface="Symbol" panose="05050102010706020507" charset="0"/>
                </a:rPr>
                <a:t></a:t>
              </a:r>
              <a:r>
                <a:rPr lang="en-US" altLang="zh-CN" sz="2000" baseline="-25000">
                  <a:solidFill>
                    <a:srgbClr val="FF0000"/>
                  </a:solidFill>
                  <a:sym typeface="Symbol" panose="05050102010706020507" charset="0"/>
                </a:rPr>
                <a:t>B</a:t>
              </a:r>
              <a:r>
                <a:rPr lang="en-US" altLang="zh-CN" sz="2000">
                  <a:solidFill>
                    <a:srgbClr val="FF0000"/>
                  </a:solidFill>
                  <a:sym typeface="Symbol" panose="05050102010706020507" charset="0"/>
                </a:rPr>
                <a:t>&lt;300 MPa</a:t>
              </a:r>
              <a:endParaRPr lang="en-US" altLang="zh-CN" sz="2000">
                <a:solidFill>
                  <a:srgbClr val="FF0000"/>
                </a:solidFill>
                <a:sym typeface="Symbol" panose="05050102010706020507" charset="0"/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1332230" y="2439035"/>
            <a:ext cx="2332990" cy="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文本框 15"/>
          <p:cNvSpPr txBox="1"/>
          <p:nvPr/>
        </p:nvSpPr>
        <p:spPr>
          <a:xfrm>
            <a:off x="1332230" y="212407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800">
                <a:solidFill>
                  <a:srgbClr val="FF0000"/>
                </a:solidFill>
              </a:rPr>
              <a:t>弹性系数</a:t>
            </a:r>
            <a:endParaRPr lang="zh-CN" altLang="en-US" sz="1800">
              <a:solidFill>
                <a:srgbClr val="FF0000"/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3645535" y="2279015"/>
            <a:ext cx="18415" cy="16002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7" name="对象 290"/>
          <p:cNvGraphicFramePr>
            <a:graphicFrameLocks noChangeAspect="1"/>
          </p:cNvGraphicFramePr>
          <p:nvPr/>
        </p:nvGraphicFramePr>
        <p:xfrm>
          <a:off x="1162050" y="4283552"/>
          <a:ext cx="4861560" cy="756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7" imgW="2946400" imgH="457200" progId="Equation.KSEE3">
                  <p:embed/>
                </p:oleObj>
              </mc:Choice>
              <mc:Fallback>
                <p:oleObj name="" r:id="rId7" imgW="2946400" imgH="457200" progId="Equation.KSEE3">
                  <p:embed/>
                  <p:pic>
                    <p:nvPicPr>
                      <p:cNvPr id="0" name="对象 2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4283552"/>
                        <a:ext cx="4861560" cy="7569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6282055" y="4418965"/>
            <a:ext cx="23475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i="1"/>
              <a:t>N</a:t>
            </a:r>
            <a:r>
              <a:rPr lang="en-US" altLang="zh-CN"/>
              <a:t>=60</a:t>
            </a:r>
            <a:r>
              <a:rPr lang="en-US" altLang="zh-CN" i="1"/>
              <a:t>jn</a:t>
            </a:r>
            <a:r>
              <a:rPr lang="en-US" altLang="zh-CN" i="1" baseline="-25000"/>
              <a:t>2</a:t>
            </a:r>
            <a:r>
              <a:rPr lang="en-US" altLang="zh-CN" i="1"/>
              <a:t>t</a:t>
            </a:r>
            <a:endParaRPr lang="en-US" altLang="zh-CN" i="1"/>
          </a:p>
        </p:txBody>
      </p:sp>
      <p:sp>
        <p:nvSpPr>
          <p:cNvPr id="9" name="文本框 8"/>
          <p:cNvSpPr txBox="1"/>
          <p:nvPr/>
        </p:nvSpPr>
        <p:spPr>
          <a:xfrm>
            <a:off x="1152525" y="2393950"/>
            <a:ext cx="2915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rgbClr val="0000FF"/>
                </a:solidFill>
              </a:rPr>
              <a:t>教材</a:t>
            </a:r>
            <a:r>
              <a:rPr lang="en-US" altLang="zh-CN" sz="1800">
                <a:solidFill>
                  <a:srgbClr val="0000FF"/>
                </a:solidFill>
              </a:rPr>
              <a:t>P374</a:t>
            </a:r>
            <a:r>
              <a:rPr lang="zh-CN" altLang="en-US" sz="1800">
                <a:solidFill>
                  <a:srgbClr val="0000FF"/>
                </a:solidFill>
              </a:rPr>
              <a:t>表</a:t>
            </a:r>
            <a:r>
              <a:rPr lang="en-US" altLang="zh-CN" sz="1800">
                <a:solidFill>
                  <a:srgbClr val="0000FF"/>
                </a:solidFill>
              </a:rPr>
              <a:t>3.11-5</a:t>
            </a:r>
            <a:endParaRPr lang="en-US" altLang="zh-CN" sz="180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7" grpId="0"/>
      <p:bldP spid="107" grpId="0"/>
      <p:bldP spid="3" grpId="0"/>
      <p:bldP spid="5" grpId="0"/>
      <p:bldP spid="99333" grpId="0"/>
      <p:bldP spid="16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0" y="214313"/>
            <a:ext cx="678497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3.11-5 圆柱蜗杆传动的</a:t>
            </a:r>
            <a:r>
              <a:rPr kumimoji="1" lang="zh-CN" altLang="en-US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强度</a:t>
            </a: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9338" name="矩形 57356"/>
          <p:cNvSpPr>
            <a:spLocks noChangeArrowheads="1"/>
          </p:cNvSpPr>
          <p:nvPr/>
        </p:nvSpPr>
        <p:spPr bwMode="auto">
          <a:xfrm>
            <a:off x="296863" y="1223645"/>
            <a:ext cx="56578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按蜗轮接触疲劳强度条件设计计算的公式为</a:t>
            </a:r>
            <a:endParaRPr lang="zh-CN" altLang="en-US" sz="20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3438" name="对象 95"/>
          <p:cNvGraphicFramePr>
            <a:graphicFrameLocks noChangeAspect="1"/>
          </p:cNvGraphicFramePr>
          <p:nvPr/>
        </p:nvGraphicFramePr>
        <p:xfrm>
          <a:off x="2097405" y="2078990"/>
          <a:ext cx="404368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8" name="" r:id="rId1" imgW="1905000" imgH="508000" progId="Equation.3">
                  <p:embed/>
                </p:oleObj>
              </mc:Choice>
              <mc:Fallback>
                <p:oleObj name="" r:id="rId1" imgW="1905000" imgH="508000" progId="Equation.3">
                  <p:embed/>
                  <p:pic>
                    <p:nvPicPr>
                      <p:cNvPr id="0" name="对象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405" y="2078990"/>
                        <a:ext cx="404368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5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3087370" y="2933700"/>
            <a:ext cx="1145540" cy="0"/>
          </a:xfrm>
          <a:prstGeom prst="line">
            <a:avLst/>
          </a:prstGeom>
          <a:noFill/>
          <a:ln w="28575" cap="flat" cmpd="thickThin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直接连接符 10"/>
          <p:cNvCxnSpPr/>
          <p:nvPr/>
        </p:nvCxnSpPr>
        <p:spPr>
          <a:xfrm>
            <a:off x="3672205" y="2933700"/>
            <a:ext cx="0" cy="69723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直接连接符 11"/>
          <p:cNvCxnSpPr/>
          <p:nvPr/>
        </p:nvCxnSpPr>
        <p:spPr>
          <a:xfrm>
            <a:off x="3672205" y="3609340"/>
            <a:ext cx="4187190" cy="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文本框 12"/>
          <p:cNvSpPr txBox="1"/>
          <p:nvPr/>
        </p:nvSpPr>
        <p:spPr>
          <a:xfrm>
            <a:off x="5967095" y="3204210"/>
            <a:ext cx="20993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见</a:t>
            </a:r>
            <a:r>
              <a:rPr lang="en-US" altLang="zh-CN" sz="2000"/>
              <a:t>P375</a:t>
            </a:r>
            <a:r>
              <a:rPr lang="zh-CN" altLang="en-US" sz="2000"/>
              <a:t>表</a:t>
            </a:r>
            <a:r>
              <a:rPr lang="en-US" altLang="zh-CN" sz="2000"/>
              <a:t>3.11-6</a:t>
            </a:r>
            <a:endParaRPr lang="en-US" altLang="zh-CN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287145" y="4464050"/>
                <a:ext cx="1430655" cy="438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145" y="4464050"/>
                <a:ext cx="1430655" cy="43878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2630170" y="4478655"/>
            <a:ext cx="464185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，由</a:t>
            </a:r>
            <a:r>
              <a:rPr lang="zh-CN" altLang="en-US">
                <a:hlinkClick r:id="rId4" action="ppaction://hlinksldjump"/>
              </a:rPr>
              <a:t>表</a:t>
            </a:r>
            <a:r>
              <a:rPr lang="en-US" altLang="zh-CN">
                <a:hlinkClick r:id="rId4" action="ppaction://hlinksldjump"/>
              </a:rPr>
              <a:t>3.11-1</a:t>
            </a:r>
            <a:r>
              <a:rPr lang="zh-CN" altLang="en-US"/>
              <a:t>确定</a:t>
            </a:r>
            <a:r>
              <a:rPr lang="en-US" altLang="zh-CN" i="1"/>
              <a:t>m</a:t>
            </a:r>
            <a:r>
              <a:rPr lang="zh-CN" altLang="en-US"/>
              <a:t>和</a:t>
            </a:r>
            <a:r>
              <a:rPr lang="en-US" altLang="zh-CN" i="1"/>
              <a:t>d</a:t>
            </a:r>
            <a:r>
              <a:rPr lang="en-US" altLang="zh-CN" i="1" baseline="-25000"/>
              <a:t>1</a:t>
            </a:r>
            <a:r>
              <a:rPr lang="zh-CN" altLang="en-US"/>
              <a:t>的标准值</a:t>
            </a:r>
            <a:endParaRPr lang="zh-CN" altLang="en-US"/>
          </a:p>
        </p:txBody>
      </p:sp>
      <p:graphicFrame>
        <p:nvGraphicFramePr>
          <p:cNvPr id="17" name="对象 95"/>
          <p:cNvGraphicFramePr>
            <a:graphicFrameLocks noChangeAspect="1"/>
          </p:cNvGraphicFramePr>
          <p:nvPr/>
        </p:nvGraphicFramePr>
        <p:xfrm>
          <a:off x="2591753" y="5273358"/>
          <a:ext cx="2668905" cy="48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5" imgW="1257300" imgH="228600" progId="Equation.3">
                  <p:embed/>
                </p:oleObj>
              </mc:Choice>
              <mc:Fallback>
                <p:oleObj name="" r:id="rId5" imgW="1257300" imgH="228600" progId="Equation.3">
                  <p:embed/>
                  <p:pic>
                    <p:nvPicPr>
                      <p:cNvPr id="0" name="对象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1753" y="5273358"/>
                        <a:ext cx="2668905" cy="483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1602105" y="5363845"/>
            <a:ext cx="72771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如：</a:t>
            </a:r>
            <a:endParaRPr lang="zh-CN" altLang="en-US"/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951798" y="5949315"/>
          <a:ext cx="1492250" cy="373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7" imgW="862965" imgH="215900" progId="Equation.KSEE3">
                  <p:embed/>
                </p:oleObj>
              </mc:Choice>
              <mc:Fallback>
                <p:oleObj name="" r:id="rId7" imgW="862965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51798" y="5949315"/>
                        <a:ext cx="1492250" cy="373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8" grpId="0"/>
      <p:bldP spid="13" grpId="0"/>
      <p:bldP spid="2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61590" y="214630"/>
            <a:ext cx="6582410" cy="49022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3.11-5 圆柱蜗杆传动的</a:t>
            </a:r>
            <a:r>
              <a:rPr kumimoji="1" lang="zh-CN" altLang="en-US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强度</a:t>
            </a: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150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89" name="文本框 1"/>
          <p:cNvSpPr txBox="1">
            <a:spLocks noChangeArrowheads="1"/>
          </p:cNvSpPr>
          <p:nvPr/>
        </p:nvSpPr>
        <p:spPr bwMode="auto">
          <a:xfrm>
            <a:off x="79375" y="835025"/>
            <a:ext cx="413446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二、蜗轮齿根弯曲疲劳强度计算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9333" name="矩形 57356"/>
          <p:cNvSpPr>
            <a:spLocks noChangeArrowheads="1"/>
          </p:cNvSpPr>
          <p:nvPr/>
        </p:nvSpPr>
        <p:spPr bwMode="auto">
          <a:xfrm>
            <a:off x="251778" y="1178878"/>
            <a:ext cx="47577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endParaRPr lang="zh-CN" altLang="en-US" sz="2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4455" name="对象 104"/>
          <p:cNvGraphicFramePr>
            <a:graphicFrameLocks noChangeAspect="1"/>
          </p:cNvGraphicFramePr>
          <p:nvPr/>
        </p:nvGraphicFramePr>
        <p:xfrm>
          <a:off x="2772093" y="1808798"/>
          <a:ext cx="290893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3" name="" r:id="rId5" imgW="1574800" imgH="431800" progId="Equation.3">
                  <p:embed/>
                </p:oleObj>
              </mc:Choice>
              <mc:Fallback>
                <p:oleObj name="" r:id="rId5" imgW="1574800" imgH="431800" progId="Equation.3">
                  <p:embed/>
                  <p:pic>
                    <p:nvPicPr>
                      <p:cNvPr id="0" name="对象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093" y="1808798"/>
                        <a:ext cx="290893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8" name="矩形 57356"/>
          <p:cNvSpPr>
            <a:spLocks noChangeArrowheads="1"/>
          </p:cNvSpPr>
          <p:nvPr/>
        </p:nvSpPr>
        <p:spPr bwMode="auto">
          <a:xfrm>
            <a:off x="107690" y="5373135"/>
            <a:ext cx="56578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</a:rPr>
              <a:t>按蜗轮弯曲疲劳强度条件设计计算的公式为</a:t>
            </a:r>
            <a:endParaRPr lang="zh-CN" altLang="en-US" sz="2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4457" name="对象 113"/>
          <p:cNvGraphicFramePr>
            <a:graphicFrameLocks noChangeAspect="1"/>
          </p:cNvGraphicFramePr>
          <p:nvPr/>
        </p:nvGraphicFramePr>
        <p:xfrm>
          <a:off x="3491648" y="5903499"/>
          <a:ext cx="2301875" cy="775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4" name="" r:id="rId7" imgW="1282700" imgH="431800" progId="Equation.3">
                  <p:embed/>
                </p:oleObj>
              </mc:Choice>
              <mc:Fallback>
                <p:oleObj name="" r:id="rId7" imgW="1282700" imgH="431800" progId="Equation.3">
                  <p:embed/>
                  <p:pic>
                    <p:nvPicPr>
                      <p:cNvPr id="0" name="对象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648" y="5903499"/>
                        <a:ext cx="2301875" cy="7759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文本框 106"/>
          <p:cNvSpPr txBox="1">
            <a:spLocks noChangeArrowheads="1"/>
          </p:cNvSpPr>
          <p:nvPr/>
        </p:nvSpPr>
        <p:spPr bwMode="auto">
          <a:xfrm>
            <a:off x="4932045" y="4418965"/>
            <a:ext cx="386397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/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hlinkClick r:id="rId9" action="ppaction://hlinksldjump"/>
              </a:rPr>
              <a:t>蜗轮的基本许用弯曲应力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hlinkClick r:id="rId9" action="ppaction://hlinksldjump"/>
              </a:rPr>
              <a:t>[</a:t>
            </a:r>
            <a:r>
              <a:rPr lang="en-US" altLang="zh-CN" sz="2000" dirty="0" err="1">
                <a:solidFill>
                  <a:srgbClr val="000099"/>
                </a:solidFill>
                <a:latin typeface="Times New Roman" panose="02020603050405020304" pitchFamily="18" charset="0"/>
                <a:hlinkClick r:id="rId9" action="ppaction://hlinksldjump"/>
              </a:rPr>
              <a:t>σ</a:t>
            </a:r>
            <a:r>
              <a:rPr lang="en-US" altLang="zh-CN" sz="2000" baseline="-25000" dirty="0" err="1">
                <a:solidFill>
                  <a:srgbClr val="000099"/>
                </a:solidFill>
                <a:latin typeface="Times New Roman" panose="02020603050405020304" pitchFamily="18" charset="0"/>
                <a:hlinkClick r:id="rId9" action="ppaction://hlinksldjump"/>
              </a:rPr>
              <a:t>F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hlinkClick r:id="rId9" action="ppaction://hlinksldjump"/>
              </a:rPr>
              <a:t>]′→</a:t>
            </a:r>
            <a:endParaRPr lang="en-US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7" name="矩形 57356"/>
          <p:cNvSpPr>
            <a:spLocks noChangeArrowheads="1"/>
          </p:cNvSpPr>
          <p:nvPr/>
        </p:nvSpPr>
        <p:spPr bwMode="auto">
          <a:xfrm>
            <a:off x="836930" y="2619375"/>
            <a:ext cx="71913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2000" i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为蜗轮齿形系数，可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由表</a:t>
            </a:r>
            <a:r>
              <a:rPr lang="en-US" altLang="zh-CN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3.11-9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查出</a:t>
            </a:r>
            <a:r>
              <a:rPr lang="en-US" altLang="zh-CN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(</a:t>
            </a:r>
            <a:r>
              <a:rPr lang="zh-CN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教材</a:t>
            </a:r>
            <a:r>
              <a:rPr lang="en-US" altLang="zh-CN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P376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）。</a:t>
            </a:r>
            <a:endParaRPr lang="zh-CN" altLang="en-US" sz="2000" dirty="0" smtClean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矩形 57356"/>
          <p:cNvSpPr>
            <a:spLocks noChangeArrowheads="1"/>
          </p:cNvSpPr>
          <p:nvPr/>
        </p:nvSpPr>
        <p:spPr bwMode="auto">
          <a:xfrm>
            <a:off x="611823" y="3204210"/>
            <a:ext cx="6138862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lvl="8"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组合 8"/>
          <p:cNvGrpSpPr/>
          <p:nvPr/>
        </p:nvGrpSpPr>
        <p:grpSpPr bwMode="auto">
          <a:xfrm>
            <a:off x="880965" y="3158990"/>
            <a:ext cx="4919662" cy="606425"/>
            <a:chOff x="902" y="5618"/>
            <a:chExt cx="7749" cy="955"/>
          </a:xfrm>
        </p:grpSpPr>
        <p:sp>
          <p:nvSpPr>
            <p:cNvPr id="6163" name="矩形 57356"/>
            <p:cNvSpPr>
              <a:spLocks noChangeArrowheads="1"/>
            </p:cNvSpPr>
            <p:nvPr/>
          </p:nvSpPr>
          <p:spPr bwMode="auto">
            <a:xfrm>
              <a:off x="902" y="5735"/>
              <a:ext cx="7749" cy="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2000">
                  <a:solidFill>
                    <a:srgbClr val="000099"/>
                  </a:solidFill>
                  <a:latin typeface="Times New Roman" panose="02020603050405020304" pitchFamily="18" charset="0"/>
                </a:rPr>
                <a:t>   </a:t>
              </a:r>
              <a:r>
                <a:rPr lang="zh-CN" altLang="en-US" sz="2000">
                  <a:solidFill>
                    <a:srgbClr val="000099"/>
                  </a:solidFill>
                  <a:latin typeface="Times New Roman" panose="02020603050405020304" pitchFamily="18" charset="0"/>
                </a:rPr>
                <a:t>为导程角系数，                     。</a:t>
              </a:r>
              <a:endPara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148" name="对象 103"/>
            <p:cNvGraphicFramePr>
              <a:graphicFrameLocks noChangeAspect="1"/>
            </p:cNvGraphicFramePr>
            <p:nvPr/>
          </p:nvGraphicFramePr>
          <p:xfrm>
            <a:off x="1541" y="5830"/>
            <a:ext cx="396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25" name="" r:id="rId10" imgW="165100" imgH="241300" progId="Equation.3">
                    <p:embed/>
                  </p:oleObj>
                </mc:Choice>
                <mc:Fallback>
                  <p:oleObj name="" r:id="rId10" imgW="165100" imgH="241300" progId="Equation.3">
                    <p:embed/>
                    <p:pic>
                      <p:nvPicPr>
                        <p:cNvPr id="0" name="对象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1" y="5830"/>
                          <a:ext cx="396" cy="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103"/>
            <p:cNvGraphicFramePr>
              <a:graphicFrameLocks noChangeAspect="1"/>
            </p:cNvGraphicFramePr>
            <p:nvPr/>
          </p:nvGraphicFramePr>
          <p:xfrm>
            <a:off x="4802" y="5618"/>
            <a:ext cx="1954" cy="9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2" imgW="812800" imgH="393700" progId="Equation.3">
                    <p:embed/>
                  </p:oleObj>
                </mc:Choice>
                <mc:Fallback>
                  <p:oleObj name="" r:id="rId12" imgW="812800" imgH="393700" progId="Equation.3">
                    <p:embed/>
                    <p:pic>
                      <p:nvPicPr>
                        <p:cNvPr id="0" name="对象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2" y="5618"/>
                          <a:ext cx="1954" cy="9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57356"/>
          <p:cNvSpPr>
            <a:spLocks noChangeArrowheads="1"/>
          </p:cNvSpPr>
          <p:nvPr/>
        </p:nvSpPr>
        <p:spPr bwMode="auto">
          <a:xfrm>
            <a:off x="971868" y="4328795"/>
            <a:ext cx="735171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[</a:t>
            </a:r>
            <a:r>
              <a:rPr lang="zh-CN" altLang="en-US" sz="2000" i="1">
                <a:solidFill>
                  <a:srgbClr val="000099"/>
                </a:solidFill>
                <a:latin typeface="Times New Roman" panose="02020603050405020304" pitchFamily="18" charset="0"/>
              </a:rPr>
              <a:t>σ</a:t>
            </a:r>
            <a:r>
              <a:rPr lang="zh-CN" altLang="en-US" sz="2000" i="1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]′为蜗轮的基本许用应力。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62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124" name="对象 84"/>
          <p:cNvGraphicFramePr>
            <a:graphicFrameLocks noChangeAspect="1"/>
          </p:cNvGraphicFramePr>
          <p:nvPr/>
        </p:nvGraphicFramePr>
        <p:xfrm>
          <a:off x="3807062" y="3789045"/>
          <a:ext cx="1599565" cy="48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7" name="" r:id="rId14" imgW="965200" imgH="292100" progId="Equation.KSEE3">
                  <p:embed/>
                </p:oleObj>
              </mc:Choice>
              <mc:Fallback>
                <p:oleObj name="" r:id="rId14" imgW="965200" imgH="292100" progId="Equation.KSEE3">
                  <p:embed/>
                  <p:pic>
                    <p:nvPicPr>
                      <p:cNvPr id="0" name="对象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7062" y="3789045"/>
                        <a:ext cx="1599565" cy="483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376680" y="3834130"/>
            <a:ext cx="2338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许用弯曲应力为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62355" y="1314450"/>
            <a:ext cx="424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2060"/>
                </a:solidFill>
                <a:latin typeface="Times New Roman" panose="02020603050405020304" pitchFamily="18" charset="0"/>
                <a:sym typeface="+mn-ea"/>
              </a:rPr>
              <a:t>蜗轮齿根弯曲疲劳强度的验算公式为</a:t>
            </a:r>
            <a:endParaRPr lang="zh-CN" altLang="en-US" sz="2000">
              <a:solidFill>
                <a:srgbClr val="002060"/>
              </a:solidFill>
              <a:latin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12" name="对象 290"/>
          <p:cNvGraphicFramePr>
            <a:graphicFrameLocks noChangeAspect="1"/>
          </p:cNvGraphicFramePr>
          <p:nvPr/>
        </p:nvGraphicFramePr>
        <p:xfrm>
          <a:off x="1241743" y="4688682"/>
          <a:ext cx="4798695" cy="756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6" imgW="2908300" imgH="457200" progId="Equation.KSEE3">
                  <p:embed/>
                </p:oleObj>
              </mc:Choice>
              <mc:Fallback>
                <p:oleObj name="" r:id="rId16" imgW="2908300" imgH="457200" progId="Equation.KSEE3">
                  <p:embed/>
                  <p:pic>
                    <p:nvPicPr>
                      <p:cNvPr id="0" name="对象 2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743" y="4688682"/>
                        <a:ext cx="4798695" cy="7569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99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9" grpId="0"/>
      <p:bldP spid="99338" grpId="0"/>
      <p:bldP spid="107" grpId="0"/>
      <p:bldP spid="99337" grpId="0"/>
      <p:bldP spid="5" grpId="0"/>
      <p:bldP spid="10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1900" y="214313"/>
            <a:ext cx="664210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3.11-5 圆柱蜗杆传动的</a:t>
            </a:r>
            <a:r>
              <a:rPr kumimoji="1" lang="zh-CN" altLang="en-US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强度</a:t>
            </a: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174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89" name="文本框 1"/>
          <p:cNvSpPr txBox="1">
            <a:spLocks noChangeArrowheads="1"/>
          </p:cNvSpPr>
          <p:nvPr/>
        </p:nvSpPr>
        <p:spPr bwMode="auto">
          <a:xfrm>
            <a:off x="179695" y="908825"/>
            <a:ext cx="272382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三、蜗杆的刚度计算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9333" name="矩形 57356"/>
          <p:cNvSpPr>
            <a:spLocks noChangeArrowheads="1"/>
          </p:cNvSpPr>
          <p:nvPr/>
        </p:nvSpPr>
        <p:spPr bwMode="auto">
          <a:xfrm>
            <a:off x="428625" y="1428750"/>
            <a:ext cx="843280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校核蜗杆的刚度时，通常是把蜗杆看作以蜗杆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齿根圆直径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为直径的轴段。引起挠曲变形的力主要是蜗杆的圆周力</a:t>
            </a:r>
            <a:r>
              <a:rPr lang="zh-CN" altLang="en-US" sz="2000" i="1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t1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和径向力</a:t>
            </a:r>
            <a:r>
              <a:rPr lang="zh-CN" altLang="en-US" sz="2000" i="1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r1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（轴向力</a:t>
            </a:r>
            <a:r>
              <a:rPr lang="zh-CN" altLang="en-US" sz="2000" i="1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忽略不计），假设蜗杆轴的支点为自由支承，则蜗杆的最大挠度应满足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7" name="矩形 57356"/>
          <p:cNvSpPr>
            <a:spLocks noChangeArrowheads="1"/>
          </p:cNvSpPr>
          <p:nvPr/>
        </p:nvSpPr>
        <p:spPr bwMode="auto">
          <a:xfrm>
            <a:off x="72390" y="3834130"/>
            <a:ext cx="8938895" cy="2684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式中</a:t>
            </a:r>
            <a:r>
              <a:rPr lang="zh-CN" altLang="en-US" sz="20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：</a:t>
            </a:r>
            <a:r>
              <a:rPr lang="zh-CN" altLang="en-US" sz="2000" i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E</a:t>
            </a:r>
            <a:r>
              <a:rPr lang="zh-CN" altLang="en-US" sz="20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为蜗杆材料的弹性模量，MPa；</a:t>
            </a:r>
            <a:endParaRPr lang="zh-CN" altLang="en-US" sz="200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i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I</a:t>
            </a:r>
            <a:r>
              <a:rPr lang="zh-CN" altLang="en-US" sz="20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为蜗杆危险截面的惯性矩，mm</a:t>
            </a:r>
            <a:r>
              <a:rPr lang="zh-CN" altLang="en-US" sz="2000" baseline="300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4</a:t>
            </a:r>
            <a:r>
              <a:rPr lang="zh-CN" altLang="en-US" sz="20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       ，其中</a:t>
            </a:r>
            <a:r>
              <a:rPr lang="zh-CN" altLang="en-US" sz="2000" i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d</a:t>
            </a:r>
            <a:r>
              <a:rPr lang="zh-CN" altLang="en-US" sz="2000" baseline="-250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f1</a:t>
            </a:r>
            <a:r>
              <a:rPr lang="zh-CN" altLang="en-US" sz="20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为蜗杆齿根圆直径，mm；</a:t>
            </a:r>
            <a:endParaRPr lang="zh-CN" altLang="en-US" sz="200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i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L</a:t>
            </a:r>
            <a:r>
              <a:rPr lang="zh-CN" altLang="en-US" sz="20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为蜗杆两端支承间的跨距，mm，初步计算时可取 </a:t>
            </a:r>
            <a:r>
              <a:rPr lang="zh-CN" altLang="en-US" sz="2000" i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L</a:t>
            </a:r>
            <a:r>
              <a:rPr lang="zh-CN" altLang="en-US" sz="20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≈0.9d2，</a:t>
            </a:r>
            <a:r>
              <a:rPr lang="zh-CN" altLang="en-US" sz="2000" i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d</a:t>
            </a:r>
            <a:r>
              <a:rPr lang="zh-CN" altLang="en-US" sz="2000" baseline="-250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en-US" sz="20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为蜗轮分度圆直径；</a:t>
            </a:r>
            <a:endParaRPr lang="zh-CN" altLang="en-US" sz="200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[</a:t>
            </a:r>
            <a:r>
              <a:rPr lang="zh-CN" altLang="en-US" sz="2000" i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y</a:t>
            </a:r>
            <a:r>
              <a:rPr lang="zh-CN" altLang="en-US" sz="20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] 为许用最大挠度，mm，        ，</a:t>
            </a:r>
            <a:r>
              <a:rPr lang="zh-CN" altLang="en-US" sz="2000" i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d</a:t>
            </a:r>
            <a:r>
              <a:rPr lang="zh-CN" altLang="en-US" sz="2000" baseline="-250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sz="200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为蜗杆分度圆直径，mm。</a:t>
            </a:r>
            <a:endParaRPr lang="zh-CN" altLang="en-US" sz="200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105480" name="对象 119"/>
          <p:cNvGraphicFramePr>
            <a:graphicFrameLocks noChangeAspect="1"/>
          </p:cNvGraphicFramePr>
          <p:nvPr/>
        </p:nvGraphicFramePr>
        <p:xfrm>
          <a:off x="2952115" y="2753837"/>
          <a:ext cx="2675890" cy="884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4" name="" r:id="rId5" imgW="1397000" imgH="457200" progId="Equation.3">
                  <p:embed/>
                </p:oleObj>
              </mc:Choice>
              <mc:Fallback>
                <p:oleObj name="" r:id="rId5" imgW="1397000" imgH="457200" progId="Equation.3">
                  <p:embed/>
                  <p:pic>
                    <p:nvPicPr>
                      <p:cNvPr id="0" name="对象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115" y="2753837"/>
                        <a:ext cx="2675890" cy="884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1" name="对象 120"/>
          <p:cNvGraphicFramePr>
            <a:graphicFrameLocks noChangeAspect="1"/>
          </p:cNvGraphicFramePr>
          <p:nvPr/>
        </p:nvGraphicFramePr>
        <p:xfrm>
          <a:off x="4437380" y="4284028"/>
          <a:ext cx="8350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5" name="" r:id="rId7" imgW="546100" imgH="419100" progId="Equation.3">
                  <p:embed/>
                </p:oleObj>
              </mc:Choice>
              <mc:Fallback>
                <p:oleObj name="" r:id="rId7" imgW="546100" imgH="419100" progId="Equation.3">
                  <p:embed/>
                  <p:pic>
                    <p:nvPicPr>
                      <p:cNvPr id="0" name="对象 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380" y="4284028"/>
                        <a:ext cx="83502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2" name="对象 121"/>
          <p:cNvGraphicFramePr>
            <a:graphicFrameLocks noChangeAspect="1"/>
          </p:cNvGraphicFramePr>
          <p:nvPr/>
        </p:nvGraphicFramePr>
        <p:xfrm>
          <a:off x="3627120" y="5768975"/>
          <a:ext cx="9382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6" name="" r:id="rId9" imgW="698500" imgH="393700" progId="Equation.3">
                  <p:embed/>
                </p:oleObj>
              </mc:Choice>
              <mc:Fallback>
                <p:oleObj name="" r:id="rId9" imgW="698500" imgH="393700" progId="Equation.3">
                  <p:embed/>
                  <p:pic>
                    <p:nvPicPr>
                      <p:cNvPr id="0" name="对象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120" y="5768975"/>
                        <a:ext cx="9382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0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9" grpId="0"/>
      <p:bldP spid="99333" grpId="0"/>
      <p:bldP spid="9933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28875" y="214313"/>
            <a:ext cx="649922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3.11-5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圆柱蜗杆传动的强度计算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9395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6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01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89" name="文本框 1"/>
          <p:cNvSpPr txBox="1">
            <a:spLocks noChangeArrowheads="1"/>
          </p:cNvSpPr>
          <p:nvPr/>
        </p:nvSpPr>
        <p:spPr bwMode="auto">
          <a:xfrm>
            <a:off x="79375" y="835025"/>
            <a:ext cx="441659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四、圆柱蜗杆传动的精度等级选择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9333" name="矩形 57356"/>
          <p:cNvSpPr>
            <a:spLocks noChangeArrowheads="1"/>
          </p:cNvSpPr>
          <p:nvPr/>
        </p:nvSpPr>
        <p:spPr bwMode="auto">
          <a:xfrm>
            <a:off x="323705" y="1412860"/>
            <a:ext cx="8432800" cy="439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GB/T10089—1988 对圆柱蜗杆传动规定了12个精度等级，其中1级精度最高，12级精度最低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endParaRPr lang="en-US" altLang="zh-CN" sz="2000" dirty="0" smtClean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对于动力传动，按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6~9级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精度等级制造；</a:t>
            </a:r>
            <a:endParaRPr lang="zh-CN" altLang="en-US" sz="2000" dirty="0" smtClean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级或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级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以上精度用于测量、分度等要求运动精度高的传动；</a:t>
            </a:r>
            <a:endParaRPr lang="en-US" altLang="zh-CN" sz="2000" dirty="0" smtClean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级精度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的传动可用于中等精度机床的分度机构、发动机调整器的传动，允许的蜗轮圆周速度</a:t>
            </a:r>
            <a:r>
              <a:rPr lang="zh-CN" altLang="en-US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&gt; 10 m/ s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；</a:t>
            </a:r>
            <a:endParaRPr lang="en-US" altLang="zh-CN" sz="2000" dirty="0" smtClean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级精度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常用于中等精度的运输机和一般工业中的中等速度(</a:t>
            </a:r>
            <a:r>
              <a:rPr lang="zh-CN" altLang="en-US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&lt; 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7.5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 m/ s)的动力传动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；</a:t>
            </a:r>
            <a:endParaRPr lang="en-US" altLang="zh-CN" sz="2000" dirty="0" smtClean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级精度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常用于圆周速度较低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(</a:t>
            </a:r>
            <a:r>
              <a:rPr lang="zh-CN" altLang="en-US" sz="2000" i="1" dirty="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v</a:t>
            </a:r>
            <a:r>
              <a:rPr lang="en-US" altLang="zh-CN" sz="2000" baseline="-25000" dirty="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2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&lt; 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3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sym typeface="+mn-ea"/>
              </a:rPr>
              <a:t> m/ s)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，每天工作时间很短的不重要传动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；</a:t>
            </a:r>
            <a:endParaRPr lang="en-US" altLang="zh-CN" sz="2000" dirty="0" smtClean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9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级精度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常用于不重要的低速或手动传动。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399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9" grpId="0"/>
      <p:bldP spid="9933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47000" y="594000"/>
            <a:ext cx="814500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 hangingPunct="1">
              <a:lnSpc>
                <a:spcPct val="120000"/>
              </a:lnSpc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下图所示为斜齿圆柱齿轮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蜗杆传动。小齿轮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由电动机驱动，蜗轮的转动方向及蜗杆的螺旋方向如图所示。试确定：</a:t>
            </a:r>
            <a:endParaRPr lang="en-US" altLang="zh-CN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ct val="120000"/>
              </a:lnSpc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）蜗轮轮齿的螺旋线方向（在图上标出或用文字说明均可）；</a:t>
            </a:r>
            <a:endParaRPr lang="en-US" altLang="zh-CN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ct val="120000"/>
              </a:lnSpc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（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）斜齿轮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的转动方向（在图上用箭头表示））；</a:t>
            </a:r>
            <a:endParaRPr lang="en-US" altLang="zh-CN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ct val="120000"/>
              </a:lnSpc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（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）若要使轴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Ⅱ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上的轴向力部分抵消，试确定两个斜齿轮轮齿的螺旋线方向；</a:t>
            </a:r>
            <a:endParaRPr lang="en-US" altLang="zh-CN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ct val="120000"/>
              </a:lnSpc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（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）画出斜齿轮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及蜗轮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所受的圆周力、轴向力、径向力的方向。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255" y="3510115"/>
            <a:ext cx="2943225" cy="24955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960" y="3429470"/>
            <a:ext cx="3105150" cy="26574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7000" y="144000"/>
            <a:ext cx="17100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[</a:t>
            </a:r>
            <a:r>
              <a:rPr lang="zh-CN" altLang="en-US" dirty="0" smtClean="0">
                <a:solidFill>
                  <a:srgbClr val="FF0000"/>
                </a:solidFill>
              </a:rPr>
              <a:t>例</a:t>
            </a:r>
            <a:r>
              <a:rPr lang="en-US" altLang="zh-CN" dirty="0" smtClean="0">
                <a:solidFill>
                  <a:srgbClr val="FF0000"/>
                </a:solidFill>
              </a:rPr>
              <a:t>11-5]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0338" y="214313"/>
            <a:ext cx="7713662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3.11-6 蜗杆传动的效率、润滑及热平衡计算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5237" name="文本框 1"/>
          <p:cNvSpPr txBox="1">
            <a:spLocks noChangeArrowheads="1"/>
          </p:cNvSpPr>
          <p:nvPr/>
        </p:nvSpPr>
        <p:spPr bwMode="auto">
          <a:xfrm>
            <a:off x="79375" y="835025"/>
            <a:ext cx="272382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一、蜗杆传动的效率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78" name="文本框 13377"/>
          <p:cNvSpPr txBox="1">
            <a:spLocks noChangeArrowheads="1"/>
          </p:cNvSpPr>
          <p:nvPr/>
        </p:nvSpPr>
        <p:spPr bwMode="auto">
          <a:xfrm>
            <a:off x="6897688" y="2487613"/>
            <a:ext cx="153733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en-US" altLang="zh-CN" sz="2000" i="1" dirty="0" err="1">
                <a:latin typeface="Times New Roman" panose="02020603050405020304" pitchFamily="18" charset="0"/>
                <a:hlinkClick r:id="rId1" action="ppaction://hlinksldjump"/>
              </a:rPr>
              <a:t>f</a:t>
            </a:r>
            <a:r>
              <a:rPr lang="en-US" altLang="zh-CN" sz="2000" i="1" baseline="-25000" dirty="0" err="1">
                <a:latin typeface="Times New Roman" panose="02020603050405020304" pitchFamily="18" charset="0"/>
                <a:hlinkClick r:id="rId1" action="ppaction://hlinksldjump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hlinkClick r:id="rId1" action="ppaction://hlinksldjump"/>
              </a:rPr>
              <a:t>和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1" action="ppaction://hlinksldjump"/>
              </a:rPr>
              <a:t>ρ</a:t>
            </a:r>
            <a:r>
              <a:rPr lang="en-US" altLang="zh-CN" sz="2000" i="1" baseline="-25000" dirty="0">
                <a:latin typeface="Times New Roman" panose="02020603050405020304" pitchFamily="18" charset="0"/>
                <a:hlinkClick r:id="rId1" action="ppaction://hlinksldjump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hlinkClick r:id="rId1" action="ppaction://hlinksldjump"/>
              </a:rPr>
              <a:t>取值</a:t>
            </a:r>
            <a:r>
              <a:rPr lang="en-US" altLang="zh-CN" sz="2000" dirty="0">
                <a:latin typeface="Times New Roman" panose="02020603050405020304" pitchFamily="18" charset="0"/>
                <a:hlinkClick r:id="rId1" action="ppaction://hlinksldjump"/>
              </a:rPr>
              <a:t>→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" name="对象 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3611563" y="1152525"/>
          <a:ext cx="192087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3" name="" r:id="rId2" imgW="914400" imgH="228600" progId="Equation.KSEE3">
                  <p:embed/>
                </p:oleObj>
              </mc:Choice>
              <mc:Fallback>
                <p:oleObj name="" r:id="rId2" imgW="914400" imgH="228600" progId="Equation.KSEE3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563" y="1152525"/>
                        <a:ext cx="1920875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6"/>
          <p:cNvGrpSpPr/>
          <p:nvPr/>
        </p:nvGrpSpPr>
        <p:grpSpPr bwMode="auto">
          <a:xfrm>
            <a:off x="827740" y="2420930"/>
            <a:ext cx="5522595" cy="701359"/>
            <a:chOff x="1328" y="3829"/>
            <a:chExt cx="8697" cy="1105"/>
          </a:xfrm>
        </p:grpSpPr>
        <p:graphicFrame>
          <p:nvGraphicFramePr>
            <p:cNvPr id="8202" name="对象 1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4095" y="3829"/>
            <a:ext cx="5930" cy="1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4" name="" r:id="rId4" imgW="2311400" imgH="431800" progId="Equation.KSEE3">
                    <p:embed/>
                  </p:oleObj>
                </mc:Choice>
                <mc:Fallback>
                  <p:oleObj name="" r:id="rId4" imgW="2311400" imgH="431800" progId="Equation.KSEE3">
                    <p:embed/>
                    <p:pic>
                      <p:nvPicPr>
                        <p:cNvPr id="0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5" y="3829"/>
                          <a:ext cx="5930" cy="1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7" name="矩形 57356"/>
            <p:cNvSpPr>
              <a:spLocks noChangeArrowheads="1"/>
            </p:cNvSpPr>
            <p:nvPr/>
          </p:nvSpPr>
          <p:spPr bwMode="auto">
            <a:xfrm>
              <a:off x="1328" y="3969"/>
              <a:ext cx="3840" cy="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当蜗杆主动时</a:t>
              </a:r>
              <a:endPara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组合 27"/>
          <p:cNvGrpSpPr/>
          <p:nvPr/>
        </p:nvGrpSpPr>
        <p:grpSpPr bwMode="auto">
          <a:xfrm>
            <a:off x="899745" y="3212985"/>
            <a:ext cx="3885226" cy="715011"/>
            <a:chOff x="1441" y="5096"/>
            <a:chExt cx="5491" cy="1125"/>
          </a:xfrm>
        </p:grpSpPr>
        <p:sp>
          <p:nvSpPr>
            <p:cNvPr id="8216" name="矩形 57356"/>
            <p:cNvSpPr>
              <a:spLocks noChangeArrowheads="1"/>
            </p:cNvSpPr>
            <p:nvPr/>
          </p:nvSpPr>
          <p:spPr bwMode="auto">
            <a:xfrm>
              <a:off x="1441" y="5204"/>
              <a:ext cx="3840" cy="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当蜗轮主动时</a:t>
              </a:r>
              <a:endPara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201" name="对象 145"/>
            <p:cNvGraphicFramePr>
              <a:graphicFrameLocks noChangeAspect="1"/>
            </p:cNvGraphicFramePr>
            <p:nvPr/>
          </p:nvGraphicFramePr>
          <p:xfrm>
            <a:off x="4243" y="5096"/>
            <a:ext cx="2689" cy="1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5" name="" r:id="rId6" imgW="1002665" imgH="419100" progId="Equation.3">
                    <p:embed/>
                  </p:oleObj>
                </mc:Choice>
                <mc:Fallback>
                  <p:oleObj name="" r:id="rId6" imgW="1002665" imgH="419100" progId="Equation.3">
                    <p:embed/>
                    <p:pic>
                      <p:nvPicPr>
                        <p:cNvPr id="0" name="对象 1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3" y="5096"/>
                          <a:ext cx="2689" cy="1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25"/>
          <p:cNvGrpSpPr/>
          <p:nvPr/>
        </p:nvGrpSpPr>
        <p:grpSpPr bwMode="auto">
          <a:xfrm>
            <a:off x="412750" y="1527175"/>
            <a:ext cx="8207375" cy="843886"/>
            <a:chOff x="650" y="2406"/>
            <a:chExt cx="12926" cy="1327"/>
          </a:xfrm>
        </p:grpSpPr>
        <p:sp>
          <p:nvSpPr>
            <p:cNvPr id="8215" name="矩形 57356"/>
            <p:cNvSpPr>
              <a:spLocks noChangeArrowheads="1"/>
            </p:cNvSpPr>
            <p:nvPr/>
          </p:nvSpPr>
          <p:spPr bwMode="auto">
            <a:xfrm>
              <a:off x="650" y="2406"/>
              <a:ext cx="12926" cy="1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indent="4572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其中</a:t>
              </a:r>
              <a:r>
                <a:rPr lang="zh-CN" altLang="en-US" sz="2000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η</a:t>
              </a:r>
              <a:r>
                <a:rPr lang="zh-CN" altLang="en-US" sz="2000" i="1" baseline="-25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为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传动啮合效率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η</a:t>
              </a:r>
              <a:r>
                <a:rPr lang="en-US" altLang="zh-CN" sz="2000" i="1" baseline="-25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为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+mn-ea"/>
                </a:rPr>
                <a:t>轴承效率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  <a:sym typeface="+mn-ea"/>
                </a:rPr>
                <a:t>，</a:t>
              </a:r>
              <a:r>
                <a:rPr lang="zh-CN" altLang="en-US" sz="2000" i="1" dirty="0">
                  <a:solidFill>
                    <a:srgbClr val="000099"/>
                  </a:solidFill>
                  <a:latin typeface="Times New Roman" panose="02020603050405020304" pitchFamily="18" charset="0"/>
                  <a:sym typeface="+mn-ea"/>
                </a:rPr>
                <a:t>η</a:t>
              </a:r>
              <a:r>
                <a:rPr lang="zh-CN" altLang="en-US" sz="2000" baseline="-25000" dirty="0">
                  <a:solidFill>
                    <a:srgbClr val="000099"/>
                  </a:solidFill>
                  <a:latin typeface="Times New Roman" panose="02020603050405020304" pitchFamily="18" charset="0"/>
                  <a:sym typeface="+mn-ea"/>
                </a:rPr>
                <a:t>3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  <a:sym typeface="+mn-ea"/>
                </a:rPr>
                <a:t>为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+mn-ea"/>
                </a:rPr>
                <a:t>溅油损耗时的效率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  <a:sym typeface="+mn-ea"/>
                </a:rPr>
                <a:t>（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浸入油池中的零件</a:t>
              </a:r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搅油损耗效率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），为一般取                                   。</a:t>
              </a:r>
              <a:endPara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200" name="对象 123"/>
            <p:cNvGraphicFramePr>
              <a:graphicFrameLocks noChangeAspect="1"/>
            </p:cNvGraphicFramePr>
            <p:nvPr/>
          </p:nvGraphicFramePr>
          <p:xfrm>
            <a:off x="8689" y="3133"/>
            <a:ext cx="3206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6" name="" r:id="rId8" imgW="1231265" imgH="228600" progId="Equation.3">
                    <p:embed/>
                  </p:oleObj>
                </mc:Choice>
                <mc:Fallback>
                  <p:oleObj name="" r:id="rId8" imgW="1231265" imgH="228600" progId="Equation.3">
                    <p:embed/>
                    <p:pic>
                      <p:nvPicPr>
                        <p:cNvPr id="0" name="对象 1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89" y="3133"/>
                          <a:ext cx="3206" cy="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12"/>
          <p:cNvGrpSpPr/>
          <p:nvPr/>
        </p:nvGrpSpPr>
        <p:grpSpPr bwMode="auto">
          <a:xfrm>
            <a:off x="432550" y="3879085"/>
            <a:ext cx="8432800" cy="1066800"/>
            <a:chOff x="650" y="1825"/>
            <a:chExt cx="13280" cy="1680"/>
          </a:xfrm>
        </p:grpSpPr>
        <p:sp>
          <p:nvSpPr>
            <p:cNvPr id="8214" name="矩形 57356"/>
            <p:cNvSpPr>
              <a:spLocks noChangeArrowheads="1"/>
            </p:cNvSpPr>
            <p:nvPr/>
          </p:nvSpPr>
          <p:spPr bwMode="auto">
            <a:xfrm>
              <a:off x="650" y="1825"/>
              <a:ext cx="13280" cy="1680"/>
            </a:xfrm>
            <a:prstGeom prst="rect">
              <a:avLst/>
            </a:prstGeom>
            <a:noFill/>
            <a:ln w="9525">
              <a:solidFill>
                <a:srgbClr val="20BB14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indent="4572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ts val="600"/>
                </a:spcBef>
              </a:pP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蜗轮主动时：当                时              ，蜗杆机构可以运动；当                时              ，则机构自锁。</a:t>
              </a:r>
              <a:endPara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195" name="对象 146"/>
            <p:cNvGraphicFramePr>
              <a:graphicFrameLocks noChangeAspect="1"/>
            </p:cNvGraphicFramePr>
            <p:nvPr/>
          </p:nvGraphicFramePr>
          <p:xfrm>
            <a:off x="4477" y="1967"/>
            <a:ext cx="1196" cy="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7" name="" r:id="rId10" imgW="405765" imgH="228600" progId="Equation.3">
                    <p:embed/>
                  </p:oleObj>
                </mc:Choice>
                <mc:Fallback>
                  <p:oleObj name="" r:id="rId10" imgW="405765" imgH="228600" progId="Equation.3">
                    <p:embed/>
                    <p:pic>
                      <p:nvPicPr>
                        <p:cNvPr id="0" name="对象 1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7" y="1967"/>
                          <a:ext cx="1196" cy="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6" name="对象 147"/>
            <p:cNvGraphicFramePr>
              <a:graphicFrameLocks noChangeAspect="1"/>
            </p:cNvGraphicFramePr>
            <p:nvPr/>
          </p:nvGraphicFramePr>
          <p:xfrm>
            <a:off x="6382" y="2026"/>
            <a:ext cx="1116" cy="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8" name="" r:id="rId12" imgW="393065" imgH="215900" progId="Equation.3">
                    <p:embed/>
                  </p:oleObj>
                </mc:Choice>
                <mc:Fallback>
                  <p:oleObj name="" r:id="rId12" imgW="393065" imgH="215900" progId="Equation.3">
                    <p:embed/>
                    <p:pic>
                      <p:nvPicPr>
                        <p:cNvPr id="0" name="对象 1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82" y="2026"/>
                          <a:ext cx="1116" cy="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7" name="对象 148"/>
            <p:cNvGraphicFramePr>
              <a:graphicFrameLocks noChangeAspect="1"/>
            </p:cNvGraphicFramePr>
            <p:nvPr/>
          </p:nvGraphicFramePr>
          <p:xfrm>
            <a:off x="12334" y="1938"/>
            <a:ext cx="1242" cy="7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19" name="" r:id="rId14" imgW="405765" imgH="228600" progId="Equation.3">
                    <p:embed/>
                  </p:oleObj>
                </mc:Choice>
                <mc:Fallback>
                  <p:oleObj name="" r:id="rId14" imgW="405765" imgH="228600" progId="Equation.3">
                    <p:embed/>
                    <p:pic>
                      <p:nvPicPr>
                        <p:cNvPr id="0" name="对象 1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34" y="1938"/>
                          <a:ext cx="1242" cy="7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9" name="对象 150"/>
            <p:cNvGraphicFramePr>
              <a:graphicFrameLocks noChangeAspect="1"/>
            </p:cNvGraphicFramePr>
            <p:nvPr/>
          </p:nvGraphicFramePr>
          <p:xfrm>
            <a:off x="1359" y="2746"/>
            <a:ext cx="1080" cy="6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21" name="" r:id="rId16" imgW="405765" imgH="228600" progId="Equation.3">
                    <p:embed/>
                  </p:oleObj>
                </mc:Choice>
                <mc:Fallback>
                  <p:oleObj name="" r:id="rId16" imgW="405765" imgH="228600" progId="Equation.3">
                    <p:embed/>
                    <p:pic>
                      <p:nvPicPr>
                        <p:cNvPr id="0" name="对象 1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9" y="2746"/>
                          <a:ext cx="1080" cy="6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文本框 24"/>
          <p:cNvSpPr txBox="1"/>
          <p:nvPr/>
        </p:nvSpPr>
        <p:spPr>
          <a:xfrm>
            <a:off x="395710" y="4869100"/>
            <a:ext cx="7342187" cy="17837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000" noProof="1" smtClean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noProof="1" smtClean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noProof="1" smtClean="0">
                <a:solidFill>
                  <a:srgbClr val="000099"/>
                </a:solidFill>
                <a:latin typeface="Times New Roman" panose="02020603050405020304" pitchFamily="18" charset="0"/>
              </a:rPr>
              <a:t>、效率</a:t>
            </a:r>
            <a:r>
              <a:rPr lang="zh-CN" altLang="en-US" sz="2000" noProof="1">
                <a:solidFill>
                  <a:srgbClr val="000099"/>
                </a:solidFill>
                <a:latin typeface="Times New Roman" panose="02020603050405020304" pitchFamily="18" charset="0"/>
              </a:rPr>
              <a:t>与蜗杆头数的大致关系为：</a:t>
            </a:r>
            <a:endParaRPr lang="zh-CN" altLang="en-US" sz="2000" noProof="1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defRPr/>
            </a:pPr>
            <a:r>
              <a:rPr lang="zh-CN" altLang="en-US" sz="2000" noProof="1">
                <a:solidFill>
                  <a:srgbClr val="000099"/>
                </a:solidFill>
                <a:latin typeface="Times New Roman" panose="02020603050405020304" pitchFamily="18" charset="0"/>
              </a:rPr>
              <a:t>蜗杆头数　　１　　　　２　　　　４　　　　６</a:t>
            </a:r>
            <a:endParaRPr lang="zh-CN" altLang="en-US" sz="2000" noProof="1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indent="457200">
              <a:lnSpc>
                <a:spcPct val="130000"/>
              </a:lnSpc>
              <a:defRPr/>
            </a:pPr>
            <a:r>
              <a:rPr lang="zh-CN" altLang="en-US" sz="2000" noProof="1">
                <a:solidFill>
                  <a:srgbClr val="000099"/>
                </a:solidFill>
                <a:latin typeface="Times New Roman" panose="02020603050405020304" pitchFamily="18" charset="0"/>
              </a:rPr>
              <a:t>总 效 率  </a:t>
            </a:r>
            <a:r>
              <a:rPr lang="en-US" altLang="zh-CN" sz="2000" noProof="1">
                <a:solidFill>
                  <a:srgbClr val="000099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000" noProof="1">
                <a:solidFill>
                  <a:srgbClr val="000099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000" noProof="1">
                <a:solidFill>
                  <a:srgbClr val="000099"/>
                </a:solidFill>
                <a:latin typeface="Times New Roman" panose="02020603050405020304" pitchFamily="18" charset="0"/>
              </a:rPr>
              <a:t>0.7              0.8                0.9              0.95</a:t>
            </a:r>
            <a:endParaRPr lang="en-US" altLang="zh-CN" sz="2000" noProof="1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indent="457200">
              <a:lnSpc>
                <a:spcPct val="120000"/>
              </a:lnSpc>
              <a:spcBef>
                <a:spcPts val="1200"/>
              </a:spcBef>
              <a:defRPr/>
            </a:pPr>
            <a:r>
              <a:rPr lang="en-US" altLang="zh-CN" sz="2000" noProof="1">
                <a:solidFill>
                  <a:srgbClr val="000099"/>
                </a:solidFill>
                <a:latin typeface="Times New Roman" panose="02020603050405020304" pitchFamily="18" charset="0"/>
              </a:rPr>
              <a:t>开式传动时，蜗杆传动z1=1、2，η=0.6~0.7。</a:t>
            </a:r>
            <a:endParaRPr lang="en-US" altLang="zh-CN" sz="2000" noProof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13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611725" y="5733160"/>
            <a:ext cx="6984485" cy="0"/>
          </a:xfrm>
          <a:prstGeom prst="lin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直接连接符 26"/>
          <p:cNvCxnSpPr/>
          <p:nvPr/>
        </p:nvCxnSpPr>
        <p:spPr bwMode="auto">
          <a:xfrm>
            <a:off x="683730" y="5301130"/>
            <a:ext cx="6984485" cy="0"/>
          </a:xfrm>
          <a:prstGeom prst="line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直接连接符 27"/>
          <p:cNvCxnSpPr/>
          <p:nvPr/>
        </p:nvCxnSpPr>
        <p:spPr bwMode="auto">
          <a:xfrm>
            <a:off x="611725" y="6165190"/>
            <a:ext cx="6984485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7" grpId="0"/>
      <p:bldP spid="13378" grpId="0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567000" y="1584000"/>
            <a:ext cx="259558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pPr eaLnBrk="1" hangingPunct="1"/>
            <a:r>
              <a:rPr lang="en-US" altLang="zh-CN" sz="2200" dirty="0" smtClean="0">
                <a:solidFill>
                  <a:srgbClr val="003399"/>
                </a:solidFill>
                <a:latin typeface="黑体" panose="02010609060101010101" pitchFamily="49" charset="-122"/>
              </a:rPr>
              <a:t>2</a:t>
            </a:r>
            <a:r>
              <a:rPr lang="zh-CN" altLang="en-US" sz="2200" dirty="0" smtClean="0">
                <a:solidFill>
                  <a:srgbClr val="003399"/>
                </a:solidFill>
                <a:latin typeface="黑体" panose="02010609060101010101" pitchFamily="49" charset="-122"/>
              </a:rPr>
              <a:t>、提高</a:t>
            </a:r>
            <a:r>
              <a:rPr lang="zh-CN" altLang="en-US" sz="2200" dirty="0">
                <a:solidFill>
                  <a:srgbClr val="003399"/>
                </a:solidFill>
                <a:latin typeface="黑体" panose="02010609060101010101" pitchFamily="49" charset="-122"/>
              </a:rPr>
              <a:t>效率的途径</a:t>
            </a:r>
            <a:endParaRPr lang="zh-CN" altLang="en-US" sz="2200" dirty="0">
              <a:solidFill>
                <a:srgbClr val="003399"/>
              </a:solidFill>
              <a:latin typeface="黑体" panose="02010609060101010101" pitchFamily="49" charset="-122"/>
            </a:endParaRP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3694843" y="2950335"/>
            <a:ext cx="17764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蜗杆制造困难 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grpSp>
        <p:nvGrpSpPr>
          <p:cNvPr id="6" name="Group 41"/>
          <p:cNvGrpSpPr/>
          <p:nvPr/>
        </p:nvGrpSpPr>
        <p:grpSpPr bwMode="auto">
          <a:xfrm>
            <a:off x="1051655" y="2569335"/>
            <a:ext cx="2133600" cy="863600"/>
            <a:chOff x="240" y="2912"/>
            <a:chExt cx="1344" cy="544"/>
          </a:xfrm>
        </p:grpSpPr>
        <p:pic>
          <p:nvPicPr>
            <p:cNvPr id="39" name="图片 38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" y="2912"/>
              <a:ext cx="1008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" name="图片 39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2976"/>
              <a:ext cx="192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Line 35"/>
            <p:cNvSpPr>
              <a:spLocks noChangeShapeType="1"/>
            </p:cNvSpPr>
            <p:nvPr/>
          </p:nvSpPr>
          <p:spPr bwMode="auto">
            <a:xfrm flipV="1">
              <a:off x="432" y="3024"/>
              <a:ext cx="144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7" name="Group 39"/>
          <p:cNvGrpSpPr/>
          <p:nvPr/>
        </p:nvGrpSpPr>
        <p:grpSpPr bwMode="auto">
          <a:xfrm>
            <a:off x="3642455" y="2416935"/>
            <a:ext cx="457200" cy="433388"/>
            <a:chOff x="1488" y="3072"/>
            <a:chExt cx="288" cy="273"/>
          </a:xfrm>
        </p:grpSpPr>
        <p:pic>
          <p:nvPicPr>
            <p:cNvPr id="37" name="图片 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3120"/>
              <a:ext cx="154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Line 36"/>
            <p:cNvSpPr>
              <a:spLocks noChangeShapeType="1"/>
            </p:cNvSpPr>
            <p:nvPr/>
          </p:nvSpPr>
          <p:spPr bwMode="auto">
            <a:xfrm flipV="1">
              <a:off x="1632" y="3072"/>
              <a:ext cx="144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8" name="Group 40"/>
          <p:cNvGrpSpPr/>
          <p:nvPr/>
        </p:nvGrpSpPr>
        <p:grpSpPr bwMode="auto">
          <a:xfrm>
            <a:off x="4633055" y="2416935"/>
            <a:ext cx="457200" cy="406400"/>
            <a:chOff x="1968" y="2880"/>
            <a:chExt cx="288" cy="256"/>
          </a:xfrm>
        </p:grpSpPr>
        <p:pic>
          <p:nvPicPr>
            <p:cNvPr id="35" name="图片 3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2928"/>
              <a:ext cx="160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Line 37"/>
            <p:cNvSpPr>
              <a:spLocks noChangeShapeType="1"/>
            </p:cNvSpPr>
            <p:nvPr/>
          </p:nvSpPr>
          <p:spPr bwMode="auto">
            <a:xfrm flipV="1">
              <a:off x="2112" y="2880"/>
              <a:ext cx="144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9" name="Group 46"/>
          <p:cNvGrpSpPr/>
          <p:nvPr/>
        </p:nvGrpSpPr>
        <p:grpSpPr bwMode="auto">
          <a:xfrm>
            <a:off x="1008475" y="3762500"/>
            <a:ext cx="514350" cy="411163"/>
            <a:chOff x="2844" y="2604"/>
            <a:chExt cx="324" cy="259"/>
          </a:xfrm>
        </p:grpSpPr>
        <p:pic>
          <p:nvPicPr>
            <p:cNvPr id="33" name="图片 3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4" y="2604"/>
              <a:ext cx="21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Line 45"/>
            <p:cNvSpPr>
              <a:spLocks noChangeShapeType="1"/>
            </p:cNvSpPr>
            <p:nvPr/>
          </p:nvSpPr>
          <p:spPr bwMode="auto">
            <a:xfrm>
              <a:off x="3024" y="2640"/>
              <a:ext cx="144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0" name="Group 48"/>
          <p:cNvGrpSpPr/>
          <p:nvPr/>
        </p:nvGrpSpPr>
        <p:grpSpPr bwMode="auto">
          <a:xfrm>
            <a:off x="2178145" y="3852684"/>
            <a:ext cx="381000" cy="304801"/>
            <a:chOff x="2448" y="2640"/>
            <a:chExt cx="240" cy="192"/>
          </a:xfrm>
        </p:grpSpPr>
        <p:pic>
          <p:nvPicPr>
            <p:cNvPr id="31" name="图片 3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8" y="2640"/>
              <a:ext cx="144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Line 47"/>
            <p:cNvSpPr>
              <a:spLocks noChangeShapeType="1"/>
            </p:cNvSpPr>
            <p:nvPr/>
          </p:nvSpPr>
          <p:spPr bwMode="auto">
            <a:xfrm flipV="1">
              <a:off x="2592" y="2640"/>
              <a:ext cx="96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1" name="Line 51"/>
          <p:cNvSpPr>
            <a:spLocks noChangeShapeType="1"/>
          </p:cNvSpPr>
          <p:nvPr/>
        </p:nvSpPr>
        <p:spPr bwMode="auto">
          <a:xfrm flipV="1">
            <a:off x="3185255" y="2645535"/>
            <a:ext cx="457200" cy="22860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Line 52"/>
          <p:cNvSpPr>
            <a:spLocks noChangeShapeType="1"/>
          </p:cNvSpPr>
          <p:nvPr/>
        </p:nvSpPr>
        <p:spPr bwMode="auto">
          <a:xfrm>
            <a:off x="3185255" y="2950335"/>
            <a:ext cx="533400" cy="22860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Line 53"/>
          <p:cNvSpPr>
            <a:spLocks noChangeShapeType="1"/>
          </p:cNvSpPr>
          <p:nvPr/>
        </p:nvSpPr>
        <p:spPr bwMode="auto">
          <a:xfrm>
            <a:off x="4099655" y="2645535"/>
            <a:ext cx="457200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4" name="Line 54"/>
          <p:cNvSpPr>
            <a:spLocks noChangeShapeType="1"/>
          </p:cNvSpPr>
          <p:nvPr/>
        </p:nvSpPr>
        <p:spPr bwMode="auto">
          <a:xfrm>
            <a:off x="1548225" y="3987925"/>
            <a:ext cx="609600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15" name="Group 56"/>
          <p:cNvGrpSpPr/>
          <p:nvPr/>
        </p:nvGrpSpPr>
        <p:grpSpPr bwMode="auto">
          <a:xfrm>
            <a:off x="5643340" y="2367723"/>
            <a:ext cx="922338" cy="792162"/>
            <a:chOff x="3456" y="2544"/>
            <a:chExt cx="581" cy="499"/>
          </a:xfrm>
        </p:grpSpPr>
        <p:pic>
          <p:nvPicPr>
            <p:cNvPr id="29" name="图片 28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4" y="2784"/>
              <a:ext cx="533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Rectangle 55"/>
            <p:cNvSpPr>
              <a:spLocks noChangeArrowheads="1"/>
            </p:cNvSpPr>
            <p:nvPr/>
          </p:nvSpPr>
          <p:spPr bwMode="auto">
            <a:xfrm>
              <a:off x="3456" y="2544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pPr eaLnBrk="1" hangingPunct="1"/>
              <a:r>
                <a:rPr lang="zh-CN" altLang="en-US" sz="2000" b="1">
                  <a:solidFill>
                    <a:srgbClr val="003399"/>
                  </a:solidFill>
                  <a:ea typeface="宋体" panose="02010600030101010101" pitchFamily="2" charset="-122"/>
                </a:rPr>
                <a:t>一般</a:t>
              </a:r>
              <a:endParaRPr lang="zh-CN" altLang="en-US" sz="2000" b="1">
                <a:solidFill>
                  <a:srgbClr val="003399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6" name="Rectangle 57"/>
          <p:cNvSpPr>
            <a:spLocks noChangeArrowheads="1"/>
          </p:cNvSpPr>
          <p:nvPr/>
        </p:nvSpPr>
        <p:spPr bwMode="auto">
          <a:xfrm>
            <a:off x="3032855" y="3620260"/>
            <a:ext cx="3506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采用减摩性好的材料，如青铜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sp>
        <p:nvSpPr>
          <p:cNvPr id="17" name="Rectangle 58"/>
          <p:cNvSpPr>
            <a:spLocks noChangeArrowheads="1"/>
          </p:cNvSpPr>
          <p:nvPr/>
        </p:nvSpPr>
        <p:spPr bwMode="auto">
          <a:xfrm>
            <a:off x="3032855" y="4077460"/>
            <a:ext cx="1973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003399"/>
                </a:solidFill>
                <a:ea typeface="宋体" panose="02010600030101010101" pitchFamily="2" charset="-122"/>
              </a:rPr>
              <a:t>蜗杆放在高速级</a:t>
            </a:r>
            <a:endParaRPr lang="zh-CN" altLang="en-US" sz="2000" b="1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  <p:grpSp>
        <p:nvGrpSpPr>
          <p:cNvPr id="18" name="Group 68"/>
          <p:cNvGrpSpPr/>
          <p:nvPr/>
        </p:nvGrpSpPr>
        <p:grpSpPr bwMode="auto">
          <a:xfrm>
            <a:off x="4937855" y="4077460"/>
            <a:ext cx="423863" cy="387350"/>
            <a:chOff x="453" y="3703"/>
            <a:chExt cx="267" cy="244"/>
          </a:xfrm>
        </p:grpSpPr>
        <p:pic>
          <p:nvPicPr>
            <p:cNvPr id="27" name="图片 2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3" y="3703"/>
              <a:ext cx="159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Line 63"/>
            <p:cNvSpPr>
              <a:spLocks noChangeShapeType="1"/>
            </p:cNvSpPr>
            <p:nvPr/>
          </p:nvSpPr>
          <p:spPr bwMode="auto">
            <a:xfrm flipV="1">
              <a:off x="624" y="3744"/>
              <a:ext cx="96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9" name="Group 69"/>
          <p:cNvGrpSpPr/>
          <p:nvPr/>
        </p:nvGrpSpPr>
        <p:grpSpPr bwMode="auto">
          <a:xfrm>
            <a:off x="6004655" y="4077460"/>
            <a:ext cx="446088" cy="411163"/>
            <a:chOff x="439" y="3936"/>
            <a:chExt cx="281" cy="259"/>
          </a:xfrm>
        </p:grpSpPr>
        <p:pic>
          <p:nvPicPr>
            <p:cNvPr id="25" name="图片 24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" y="3936"/>
              <a:ext cx="187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Line 64"/>
            <p:cNvSpPr>
              <a:spLocks noChangeShapeType="1"/>
            </p:cNvSpPr>
            <p:nvPr/>
          </p:nvSpPr>
          <p:spPr bwMode="auto">
            <a:xfrm flipV="1">
              <a:off x="624" y="3936"/>
              <a:ext cx="96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20" name="Group 65"/>
          <p:cNvGrpSpPr/>
          <p:nvPr/>
        </p:nvGrpSpPr>
        <p:grpSpPr bwMode="auto">
          <a:xfrm>
            <a:off x="7071455" y="4077460"/>
            <a:ext cx="514350" cy="411163"/>
            <a:chOff x="2844" y="2604"/>
            <a:chExt cx="324" cy="259"/>
          </a:xfrm>
        </p:grpSpPr>
        <p:pic>
          <p:nvPicPr>
            <p:cNvPr id="23" name="图片 2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4" y="2604"/>
              <a:ext cx="21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Line 67"/>
            <p:cNvSpPr>
              <a:spLocks noChangeShapeType="1"/>
            </p:cNvSpPr>
            <p:nvPr/>
          </p:nvSpPr>
          <p:spPr bwMode="auto">
            <a:xfrm>
              <a:off x="3024" y="2640"/>
              <a:ext cx="144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1" name="Line 70"/>
          <p:cNvSpPr>
            <a:spLocks noChangeShapeType="1"/>
          </p:cNvSpPr>
          <p:nvPr/>
        </p:nvSpPr>
        <p:spPr bwMode="auto">
          <a:xfrm>
            <a:off x="5471255" y="4306060"/>
            <a:ext cx="457200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2" name="Line 71"/>
          <p:cNvSpPr>
            <a:spLocks noChangeShapeType="1"/>
          </p:cNvSpPr>
          <p:nvPr/>
        </p:nvSpPr>
        <p:spPr bwMode="auto">
          <a:xfrm>
            <a:off x="6538055" y="4306060"/>
            <a:ext cx="457200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2" name="Rectangle 2"/>
          <p:cNvSpPr txBox="1">
            <a:spLocks noChangeArrowheads="1"/>
          </p:cNvSpPr>
          <p:nvPr/>
        </p:nvSpPr>
        <p:spPr bwMode="auto">
          <a:xfrm>
            <a:off x="1430338" y="214313"/>
            <a:ext cx="7713662" cy="490537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defRPr/>
            </a:pPr>
            <a:r>
              <a:rPr kumimoji="1" lang="en-US" altLang="zh-CN" sz="2800" kern="120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3.11-6 </a:t>
            </a:r>
            <a:r>
              <a:rPr kumimoji="1" lang="zh-CN" altLang="en-US" sz="2800" kern="120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蜗杆传动的效率、润滑及热平衡计算</a:t>
            </a:r>
            <a:endParaRPr kumimoji="1" lang="zh-CN" altLang="en-US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3" name="直接连接符 6"/>
          <p:cNvSpPr>
            <a:spLocks noChangeShapeType="1"/>
          </p:cNvSpPr>
          <p:nvPr/>
        </p:nvSpPr>
        <p:spPr bwMode="auto">
          <a:xfrm>
            <a:off x="0" y="999000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Line 52"/>
          <p:cNvSpPr>
            <a:spLocks noChangeShapeType="1"/>
          </p:cNvSpPr>
          <p:nvPr/>
        </p:nvSpPr>
        <p:spPr bwMode="auto">
          <a:xfrm>
            <a:off x="2583910" y="4033645"/>
            <a:ext cx="533400" cy="22860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" name="Line 51"/>
          <p:cNvSpPr>
            <a:spLocks noChangeShapeType="1"/>
          </p:cNvSpPr>
          <p:nvPr/>
        </p:nvSpPr>
        <p:spPr bwMode="auto">
          <a:xfrm flipV="1">
            <a:off x="2628995" y="3763135"/>
            <a:ext cx="457200" cy="22860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9pPr>
          </a:lstStyle>
          <a:p>
            <a:endParaRPr lang="zh-CN" altLang="en-US"/>
          </a:p>
        </p:txBody>
      </p:sp>
      <p:graphicFrame>
        <p:nvGraphicFramePr>
          <p:cNvPr id="8202" name="对象 1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3671905" y="1376355"/>
          <a:ext cx="3765550" cy="701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4" name="" r:id="rId9" imgW="2311400" imgH="431800" progId="Equation.KSEE3">
                  <p:embed/>
                </p:oleObj>
              </mc:Choice>
              <mc:Fallback>
                <p:oleObj name="" r:id="rId9" imgW="2311400" imgH="431800" progId="Equation.KSEE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905" y="1376355"/>
                        <a:ext cx="3765550" cy="701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1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01775" y="214313"/>
            <a:ext cx="764222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3.11-6 蜗杆传动的效率、润滑及热平衡计算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5237" name="文本框 1"/>
          <p:cNvSpPr txBox="1">
            <a:spLocks noChangeArrowheads="1"/>
          </p:cNvSpPr>
          <p:nvPr/>
        </p:nvSpPr>
        <p:spPr bwMode="auto">
          <a:xfrm>
            <a:off x="79375" y="793750"/>
            <a:ext cx="272382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二、蜗杆传动的润滑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9333" name="矩形 57356"/>
          <p:cNvSpPr>
            <a:spLocks noChangeArrowheads="1"/>
          </p:cNvSpPr>
          <p:nvPr/>
        </p:nvSpPr>
        <p:spPr bwMode="auto">
          <a:xfrm>
            <a:off x="432435" y="1313498"/>
            <a:ext cx="8432800" cy="84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由于蜗杆传动的齿面相对滑动速度大，良好的润滑对于防止齿面过早发生齿面磨损、胶合和点蚀，提高传动的承载能力具有重要意义。</a:t>
            </a:r>
            <a:endParaRPr lang="zh-CN" altLang="en-US" sz="2000" dirty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9336" name="矩形 57356"/>
          <p:cNvSpPr>
            <a:spLocks noChangeArrowheads="1"/>
          </p:cNvSpPr>
          <p:nvPr/>
        </p:nvSpPr>
        <p:spPr bwMode="auto">
          <a:xfrm>
            <a:off x="252085" y="2439115"/>
            <a:ext cx="849659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latinLnBrk="0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闭式蜗杆传动，主要是根据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相对滑动速度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和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载荷类型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选取。</a:t>
            </a:r>
            <a:endParaRPr lang="en-US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开式蜗杆传动，则采用黏度较高的齿轮油或润滑脂进行定期供油润滑。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7" name="文本框 106"/>
          <p:cNvSpPr txBox="1">
            <a:spLocks noChangeArrowheads="1"/>
          </p:cNvSpPr>
          <p:nvPr/>
        </p:nvSpPr>
        <p:spPr bwMode="auto">
          <a:xfrm>
            <a:off x="3087390" y="3879120"/>
            <a:ext cx="4664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99"/>
                </a:solidFill>
                <a:latin typeface="华文中宋" panose="02010600040101010101" pitchFamily="2" charset="-122"/>
              </a:rPr>
              <a:t>闭式蜗杆传动</a:t>
            </a:r>
            <a:r>
              <a:rPr lang="zh-CN" altLang="en-US" sz="2000" dirty="0">
                <a:solidFill>
                  <a:srgbClr val="000099"/>
                </a:solidFill>
                <a:latin typeface="华文中宋" panose="02010600040101010101" pitchFamily="2" charset="-122"/>
                <a:hlinkClick r:id="rId1" action="ppaction://hlinksldjump"/>
              </a:rPr>
              <a:t>润滑油黏度及润滑方式</a:t>
            </a:r>
            <a:r>
              <a:rPr lang="en-US" altLang="zh-CN" sz="2000" dirty="0">
                <a:solidFill>
                  <a:srgbClr val="000099"/>
                </a:solidFill>
                <a:latin typeface="华文中宋" panose="02010600040101010101" pitchFamily="2" charset="-122"/>
                <a:hlinkClick r:id="rId1" action="ppaction://hlinksldjump"/>
              </a:rPr>
              <a:t>→</a:t>
            </a:r>
            <a:endParaRPr lang="en-US" altLang="zh-CN" sz="2000" dirty="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6042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7" grpId="0"/>
      <p:bldP spid="99333" grpId="0"/>
      <p:bldP spid="99336" grpId="0"/>
      <p:bldP spid="10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01775" y="214313"/>
            <a:ext cx="764222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3.11-6 蜗杆传动的效率、润滑及热平衡计算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5237" name="文本框 1"/>
          <p:cNvSpPr txBox="1">
            <a:spLocks noChangeArrowheads="1"/>
          </p:cNvSpPr>
          <p:nvPr/>
        </p:nvSpPr>
        <p:spPr bwMode="auto">
          <a:xfrm>
            <a:off x="79375" y="793750"/>
            <a:ext cx="272382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二、蜗杆传动的润滑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9337" name="矩形 57356"/>
          <p:cNvSpPr>
            <a:spLocks noChangeArrowheads="1"/>
          </p:cNvSpPr>
          <p:nvPr/>
        </p:nvSpPr>
        <p:spPr bwMode="auto">
          <a:xfrm>
            <a:off x="206745" y="1223645"/>
            <a:ext cx="8420100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蜗杆传动有蜗杆上置和蜗杆下置两种。当采用浸油润滑时，蜗杆尽量下置；当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蜗杆分度圆速度大于4~5m/s时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采用蜗杆上置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如果采用浸油润滑，为利于散热，应保持适当的油量，一般浸油深度为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蜗杆的一个齿高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，但不能超过轴承最低滚动体的中心；当蜗杆上置式时，浸油深度约为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蜗轮外径的1/3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。一般情况下，考虑到沉淀油屑和冷却散热，油量大些比较好。速度高时，浸油量可少些。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如果采用喷油润滑，喷油嘴要对准蜗杆啮入端。蜗杆正反转时，两边都要装有喷油嘴，而且要控制一定的油压。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5533" r="20478" b="18714"/>
          <a:stretch>
            <a:fillRect/>
          </a:stretch>
        </p:blipFill>
        <p:spPr>
          <a:xfrm>
            <a:off x="4617085" y="4194175"/>
            <a:ext cx="4267835" cy="2527935"/>
          </a:xfrm>
          <a:prstGeom prst="rect">
            <a:avLst/>
          </a:prstGeom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3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" name="图片 99"/>
          <p:cNvPicPr/>
          <p:nvPr/>
        </p:nvPicPr>
        <p:blipFill>
          <a:blip r:embed="rId1"/>
          <a:srcRect l="8057" r="18283"/>
          <a:stretch>
            <a:fillRect/>
          </a:stretch>
        </p:blipFill>
        <p:spPr>
          <a:xfrm>
            <a:off x="116840" y="908685"/>
            <a:ext cx="4425950" cy="4641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2"/>
          <a:srcRect l="9341" r="9927"/>
          <a:stretch>
            <a:fillRect/>
          </a:stretch>
        </p:blipFill>
        <p:spPr>
          <a:xfrm>
            <a:off x="4662170" y="908685"/>
            <a:ext cx="3970655" cy="46628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58900" y="214313"/>
            <a:ext cx="778510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3.11-6 蜗杆传动的效率、润滑及热平衡计算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5237" name="文本框 1"/>
          <p:cNvSpPr txBox="1">
            <a:spLocks noChangeArrowheads="1"/>
          </p:cNvSpPr>
          <p:nvPr/>
        </p:nvSpPr>
        <p:spPr bwMode="auto">
          <a:xfrm>
            <a:off x="79375" y="793750"/>
            <a:ext cx="357020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三、蜗杆传动的热平衡计算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9333" name="矩形 57356"/>
          <p:cNvSpPr>
            <a:spLocks noChangeArrowheads="1"/>
          </p:cNvSpPr>
          <p:nvPr/>
        </p:nvSpPr>
        <p:spPr bwMode="auto">
          <a:xfrm>
            <a:off x="412750" y="1158875"/>
            <a:ext cx="8432800" cy="11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蜗杆传动由于效率低，工作时会产生较多的热量。所以，必须对闭式蜗杆传动进行热平衡计算，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以保证油温稳定地处于规定的范围内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因为润滑油温度过高会降低润滑效果，导致摩擦加剧，甚至发生胶合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。达到热平衡时，蜗杆传动单位时间内的发热量应等于同时间内的散热量。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4" name="矩形 57356"/>
          <p:cNvSpPr>
            <a:spLocks noChangeArrowheads="1"/>
          </p:cNvSpPr>
          <p:nvPr/>
        </p:nvSpPr>
        <p:spPr bwMode="auto">
          <a:xfrm>
            <a:off x="264795" y="2780983"/>
            <a:ext cx="84328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单位时间内，由损耗的功率产生的发热量为：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5" name="矩形 57356"/>
          <p:cNvSpPr>
            <a:spLocks noChangeArrowheads="1"/>
          </p:cNvSpPr>
          <p:nvPr/>
        </p:nvSpPr>
        <p:spPr bwMode="auto">
          <a:xfrm>
            <a:off x="396240" y="3304223"/>
            <a:ext cx="83010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单位时间内，自然冷却时从箱体外壁散发到空气中去的散热量为：</a:t>
            </a:r>
            <a:endParaRPr lang="zh-CN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6" name="矩形 57356"/>
          <p:cNvSpPr>
            <a:spLocks noChangeArrowheads="1"/>
          </p:cNvSpPr>
          <p:nvPr/>
        </p:nvSpPr>
        <p:spPr bwMode="auto">
          <a:xfrm>
            <a:off x="378565" y="4112740"/>
            <a:ext cx="8318500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由热平衡条件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H</a:t>
            </a:r>
            <a:r>
              <a:rPr lang="en-US" altLang="zh-CN" sz="2000" baseline="-25000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1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=H</a:t>
            </a:r>
            <a:r>
              <a:rPr lang="en-US" altLang="zh-CN" sz="2000" baseline="-25000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，可得在既定工作条件下的工作油温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7" name="矩形 57356"/>
          <p:cNvSpPr>
            <a:spLocks noChangeArrowheads="1"/>
          </p:cNvSpPr>
          <p:nvPr/>
        </p:nvSpPr>
        <p:spPr bwMode="auto">
          <a:xfrm>
            <a:off x="395710" y="5229125"/>
            <a:ext cx="8301038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采用散热片时，保持正常工作温度所需要的散热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面积：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9579" name="对象 177"/>
          <p:cNvGraphicFramePr>
            <a:graphicFrameLocks noChangeAspect="1"/>
          </p:cNvGraphicFramePr>
          <p:nvPr/>
        </p:nvGraphicFramePr>
        <p:xfrm>
          <a:off x="6120289" y="2816702"/>
          <a:ext cx="1982470" cy="392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3" name="" r:id="rId1" imgW="1091565" imgH="215900" progId="Equation.3">
                  <p:embed/>
                </p:oleObj>
              </mc:Choice>
              <mc:Fallback>
                <p:oleObj name="" r:id="rId1" imgW="1091565" imgH="215900" progId="Equation.3">
                  <p:embed/>
                  <p:pic>
                    <p:nvPicPr>
                      <p:cNvPr id="0" name="对象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0289" y="2816702"/>
                        <a:ext cx="1982470" cy="392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80" name="对象 180"/>
          <p:cNvGraphicFramePr>
            <a:graphicFrameLocks noChangeAspect="1"/>
          </p:cNvGraphicFramePr>
          <p:nvPr/>
        </p:nvGraphicFramePr>
        <p:xfrm>
          <a:off x="3671888" y="3684270"/>
          <a:ext cx="199199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4" name="" r:id="rId3" imgW="1016000" imgH="228600" progId="Equation.3">
                  <p:embed/>
                </p:oleObj>
              </mc:Choice>
              <mc:Fallback>
                <p:oleObj name="" r:id="rId3" imgW="1016000" imgH="228600" progId="Equation.3">
                  <p:embed/>
                  <p:pic>
                    <p:nvPicPr>
                      <p:cNvPr id="0" name="对象 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3684270"/>
                        <a:ext cx="199199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81" name="对象 186"/>
          <p:cNvGraphicFramePr>
            <a:graphicFrameLocks noChangeAspect="1"/>
          </p:cNvGraphicFramePr>
          <p:nvPr/>
        </p:nvGraphicFramePr>
        <p:xfrm>
          <a:off x="3599657" y="4545330"/>
          <a:ext cx="240220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5" name="" r:id="rId5" imgW="1308100" imgH="431800" progId="Equation.3">
                  <p:embed/>
                </p:oleObj>
              </mc:Choice>
              <mc:Fallback>
                <p:oleObj name="" r:id="rId5" imgW="1308100" imgH="431800" progId="Equation.3">
                  <p:embed/>
                  <p:pic>
                    <p:nvPicPr>
                      <p:cNvPr id="0" name="对象 1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9657" y="4545330"/>
                        <a:ext cx="240220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82" name="对象 187"/>
          <p:cNvGraphicFramePr>
            <a:graphicFrameLocks noChangeAspect="1"/>
          </p:cNvGraphicFramePr>
          <p:nvPr/>
        </p:nvGraphicFramePr>
        <p:xfrm>
          <a:off x="1835016" y="5877011"/>
          <a:ext cx="1984375" cy="792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6" name="" r:id="rId7" imgW="1079500" imgH="431800" progId="Equation.3">
                  <p:embed/>
                </p:oleObj>
              </mc:Choice>
              <mc:Fallback>
                <p:oleObj name="" r:id="rId7" imgW="1079500" imgH="431800" progId="Equation.3">
                  <p:embed/>
                  <p:pic>
                    <p:nvPicPr>
                      <p:cNvPr id="0" name="对象 1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016" y="5877011"/>
                        <a:ext cx="1984375" cy="792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2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320175" y="5805165"/>
            <a:ext cx="435662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000" b="1" dirty="0" smtClean="0">
                <a:solidFill>
                  <a:srgbClr val="000099"/>
                </a:solidFill>
                <a:latin typeface="华文中宋" panose="02010600040101010101" pitchFamily="2" charset="-122"/>
              </a:rPr>
              <a:t> S</a:t>
            </a:r>
            <a:r>
              <a:rPr kumimoji="1" lang="zh-CN" altLang="en-US" sz="2000" b="1" dirty="0" smtClean="0">
                <a:solidFill>
                  <a:srgbClr val="000099"/>
                </a:solidFill>
                <a:latin typeface="华文中宋" panose="02010600040101010101" pitchFamily="2" charset="-122"/>
              </a:rPr>
              <a:t>：</a:t>
            </a:r>
            <a:r>
              <a:rPr kumimoji="1" lang="zh-CN" altLang="en-US" sz="2000" dirty="0" smtClean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</a:t>
            </a:r>
            <a:r>
              <a:rPr kumimoji="1" lang="zh-CN" altLang="en-US" sz="200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箱体外壁与空气接触而内壁被油飞溅到的箱壳面积</a:t>
            </a:r>
            <a:r>
              <a:rPr kumimoji="1" lang="zh-CN" altLang="en-US" sz="2000" dirty="0" smtClean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kumimoji="1" lang="zh-CN" altLang="en-US" sz="2000" dirty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9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7" grpId="0"/>
      <p:bldP spid="99333" grpId="0"/>
      <p:bldP spid="99334" grpId="0"/>
      <p:bldP spid="99335" grpId="0"/>
      <p:bldP spid="99336" grpId="0"/>
      <p:bldP spid="99337" grpId="0"/>
      <p:bldP spid="1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6025" y="142875"/>
            <a:ext cx="7927975" cy="490538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3.11-6 蜗杆传动的效率、润滑及热平衡计算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1443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5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4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3575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3" name="矩形 57356"/>
          <p:cNvSpPr>
            <a:spLocks noChangeArrowheads="1"/>
          </p:cNvSpPr>
          <p:nvPr/>
        </p:nvSpPr>
        <p:spPr bwMode="auto">
          <a:xfrm>
            <a:off x="395710" y="908825"/>
            <a:ext cx="84328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在油温</a:t>
            </a:r>
            <a:r>
              <a:rPr lang="zh-CN" altLang="en-US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大于80℃或有效散热面积不足时，必须采取措施以提高散热能力。通常采取的散热措施有：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5" name="矩形 57356"/>
          <p:cNvSpPr>
            <a:spLocks noChangeArrowheads="1"/>
          </p:cNvSpPr>
          <p:nvPr/>
        </p:nvSpPr>
        <p:spPr bwMode="auto">
          <a:xfrm>
            <a:off x="476605" y="1899115"/>
            <a:ext cx="2448170" cy="432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1）加散热片，增加散热面积；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2）在蜗杆轴端加装风扇，加速空气的流通；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1200"/>
              </a:spcBef>
            </a:pP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3）加装循环冷却设施，如循环冷却水管或外冷却喷油润滑。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890" y="1988900"/>
            <a:ext cx="5727141" cy="4535825"/>
          </a:xfrm>
          <a:prstGeom prst="rect">
            <a:avLst/>
          </a:prstGeom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3" grpId="0"/>
      <p:bldP spid="9933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lum contrast="18000"/>
          </a:blip>
          <a:stretch>
            <a:fillRect/>
          </a:stretch>
        </p:blipFill>
        <p:spPr>
          <a:xfrm>
            <a:off x="395710" y="1124840"/>
            <a:ext cx="8515350" cy="459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30650" y="214313"/>
            <a:ext cx="521335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3.11-7 蜗杆传动的结构设计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62467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8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01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3" name="矩形 57356"/>
          <p:cNvSpPr>
            <a:spLocks noChangeArrowheads="1"/>
          </p:cNvSpPr>
          <p:nvPr/>
        </p:nvSpPr>
        <p:spPr bwMode="auto">
          <a:xfrm>
            <a:off x="467715" y="836820"/>
            <a:ext cx="8432800" cy="169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多数蜗杆因螺旋部分的直径不大，通常与轴做成一个整体，很少做成装配式的。常见的蜗杆结构形式如下图所示，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其中a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的结构无退刀槽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，只能铣制；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的结构有退刀槽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，可以车制，也可以铣制。铣制蜗杆轴的直径可大于蜗杆齿根圆直径，所以其刚度比车制蜗杆要大。</a:t>
            </a:r>
            <a:endParaRPr lang="en-US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4758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990" y="2619375"/>
            <a:ext cx="5214937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1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1"/>
          <p:cNvGrpSpPr/>
          <p:nvPr/>
        </p:nvGrpSpPr>
        <p:grpSpPr>
          <a:xfrm>
            <a:off x="539720" y="4293060"/>
            <a:ext cx="1201738" cy="1870075"/>
            <a:chOff x="288" y="1596"/>
            <a:chExt cx="757" cy="1178"/>
          </a:xfrm>
        </p:grpSpPr>
        <p:sp>
          <p:nvSpPr>
            <p:cNvPr id="3" name="Line 62"/>
            <p:cNvSpPr/>
            <p:nvPr/>
          </p:nvSpPr>
          <p:spPr>
            <a:xfrm>
              <a:off x="663" y="1706"/>
              <a:ext cx="0" cy="106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headEnd type="none" w="sm" len="lg"/>
              <a:tailEnd type="none" w="sm" len="lg"/>
            </a:ln>
          </p:spPr>
        </p:sp>
        <p:sp>
          <p:nvSpPr>
            <p:cNvPr id="4" name="Freeform 63"/>
            <p:cNvSpPr/>
            <p:nvPr/>
          </p:nvSpPr>
          <p:spPr>
            <a:xfrm>
              <a:off x="348" y="1666"/>
              <a:ext cx="625" cy="195"/>
            </a:xfrm>
            <a:custGeom>
              <a:avLst/>
              <a:gdLst/>
              <a:ahLst/>
              <a:cxnLst>
                <a:cxn ang="0">
                  <a:pos x="0" y="61"/>
                </a:cxn>
                <a:cxn ang="0">
                  <a:pos x="72" y="0"/>
                </a:cxn>
                <a:cxn ang="0">
                  <a:pos x="145" y="0"/>
                </a:cxn>
                <a:cxn ang="0">
                  <a:pos x="169" y="19"/>
                </a:cxn>
                <a:cxn ang="0">
                  <a:pos x="196" y="32"/>
                </a:cxn>
                <a:cxn ang="0">
                  <a:pos x="220" y="43"/>
                </a:cxn>
                <a:cxn ang="0">
                  <a:pos x="257" y="54"/>
                </a:cxn>
                <a:cxn ang="0">
                  <a:pos x="302" y="62"/>
                </a:cxn>
                <a:cxn ang="0">
                  <a:pos x="358" y="61"/>
                </a:cxn>
                <a:cxn ang="0">
                  <a:pos x="398" y="51"/>
                </a:cxn>
                <a:cxn ang="0">
                  <a:pos x="443" y="35"/>
                </a:cxn>
                <a:cxn ang="0">
                  <a:pos x="476" y="13"/>
                </a:cxn>
                <a:cxn ang="0">
                  <a:pos x="579" y="13"/>
                </a:cxn>
                <a:cxn ang="0">
                  <a:pos x="625" y="56"/>
                </a:cxn>
                <a:cxn ang="0">
                  <a:pos x="612" y="72"/>
                </a:cxn>
                <a:cxn ang="0">
                  <a:pos x="588" y="94"/>
                </a:cxn>
                <a:cxn ang="0">
                  <a:pos x="560" y="115"/>
                </a:cxn>
                <a:cxn ang="0">
                  <a:pos x="526" y="138"/>
                </a:cxn>
                <a:cxn ang="0">
                  <a:pos x="491" y="158"/>
                </a:cxn>
                <a:cxn ang="0">
                  <a:pos x="451" y="174"/>
                </a:cxn>
                <a:cxn ang="0">
                  <a:pos x="398" y="190"/>
                </a:cxn>
                <a:cxn ang="0">
                  <a:pos x="348" y="195"/>
                </a:cxn>
                <a:cxn ang="0">
                  <a:pos x="268" y="195"/>
                </a:cxn>
                <a:cxn ang="0">
                  <a:pos x="214" y="186"/>
                </a:cxn>
                <a:cxn ang="0">
                  <a:pos x="179" y="173"/>
                </a:cxn>
                <a:cxn ang="0">
                  <a:pos x="140" y="158"/>
                </a:cxn>
                <a:cxn ang="0">
                  <a:pos x="92" y="130"/>
                </a:cxn>
                <a:cxn ang="0">
                  <a:pos x="44" y="96"/>
                </a:cxn>
                <a:cxn ang="0">
                  <a:pos x="24" y="77"/>
                </a:cxn>
                <a:cxn ang="0">
                  <a:pos x="3" y="58"/>
                </a:cxn>
              </a:cxnLst>
              <a:rect l="0" t="0" r="0" b="0"/>
              <a:pathLst>
                <a:path w="625" h="195">
                  <a:moveTo>
                    <a:pt x="0" y="61"/>
                  </a:moveTo>
                  <a:lnTo>
                    <a:pt x="72" y="0"/>
                  </a:lnTo>
                  <a:lnTo>
                    <a:pt x="145" y="0"/>
                  </a:lnTo>
                  <a:lnTo>
                    <a:pt x="169" y="19"/>
                  </a:lnTo>
                  <a:lnTo>
                    <a:pt x="196" y="32"/>
                  </a:lnTo>
                  <a:lnTo>
                    <a:pt x="220" y="43"/>
                  </a:lnTo>
                  <a:lnTo>
                    <a:pt x="257" y="54"/>
                  </a:lnTo>
                  <a:lnTo>
                    <a:pt x="302" y="62"/>
                  </a:lnTo>
                  <a:lnTo>
                    <a:pt x="358" y="61"/>
                  </a:lnTo>
                  <a:lnTo>
                    <a:pt x="398" y="51"/>
                  </a:lnTo>
                  <a:lnTo>
                    <a:pt x="443" y="35"/>
                  </a:lnTo>
                  <a:lnTo>
                    <a:pt x="476" y="13"/>
                  </a:lnTo>
                  <a:lnTo>
                    <a:pt x="579" y="13"/>
                  </a:lnTo>
                  <a:lnTo>
                    <a:pt x="625" y="56"/>
                  </a:lnTo>
                  <a:lnTo>
                    <a:pt x="612" y="72"/>
                  </a:lnTo>
                  <a:lnTo>
                    <a:pt x="588" y="94"/>
                  </a:lnTo>
                  <a:lnTo>
                    <a:pt x="560" y="115"/>
                  </a:lnTo>
                  <a:lnTo>
                    <a:pt x="526" y="138"/>
                  </a:lnTo>
                  <a:lnTo>
                    <a:pt x="491" y="158"/>
                  </a:lnTo>
                  <a:lnTo>
                    <a:pt x="451" y="174"/>
                  </a:lnTo>
                  <a:lnTo>
                    <a:pt x="398" y="190"/>
                  </a:lnTo>
                  <a:lnTo>
                    <a:pt x="348" y="195"/>
                  </a:lnTo>
                  <a:lnTo>
                    <a:pt x="268" y="195"/>
                  </a:lnTo>
                  <a:lnTo>
                    <a:pt x="214" y="186"/>
                  </a:lnTo>
                  <a:lnTo>
                    <a:pt x="179" y="173"/>
                  </a:lnTo>
                  <a:lnTo>
                    <a:pt x="140" y="158"/>
                  </a:lnTo>
                  <a:lnTo>
                    <a:pt x="92" y="130"/>
                  </a:lnTo>
                  <a:lnTo>
                    <a:pt x="44" y="96"/>
                  </a:lnTo>
                  <a:lnTo>
                    <a:pt x="24" y="77"/>
                  </a:lnTo>
                  <a:lnTo>
                    <a:pt x="3" y="58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Freeform 64"/>
            <p:cNvSpPr/>
            <p:nvPr/>
          </p:nvSpPr>
          <p:spPr>
            <a:xfrm>
              <a:off x="357" y="1596"/>
              <a:ext cx="611" cy="190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55" y="73"/>
                </a:cxn>
                <a:cxn ang="0">
                  <a:pos x="87" y="107"/>
                </a:cxn>
                <a:cxn ang="0">
                  <a:pos x="133" y="140"/>
                </a:cxn>
                <a:cxn ang="0">
                  <a:pos x="184" y="166"/>
                </a:cxn>
                <a:cxn ang="0">
                  <a:pos x="245" y="187"/>
                </a:cxn>
                <a:cxn ang="0">
                  <a:pos x="269" y="190"/>
                </a:cxn>
                <a:cxn ang="0">
                  <a:pos x="357" y="190"/>
                </a:cxn>
                <a:cxn ang="0">
                  <a:pos x="397" y="182"/>
                </a:cxn>
                <a:cxn ang="0">
                  <a:pos x="456" y="160"/>
                </a:cxn>
                <a:cxn ang="0">
                  <a:pos x="514" y="123"/>
                </a:cxn>
                <a:cxn ang="0">
                  <a:pos x="554" y="84"/>
                </a:cxn>
                <a:cxn ang="0">
                  <a:pos x="586" y="43"/>
                </a:cxn>
                <a:cxn ang="0">
                  <a:pos x="611" y="0"/>
                </a:cxn>
              </a:cxnLst>
              <a:rect l="0" t="0" r="0" b="0"/>
              <a:pathLst>
                <a:path w="611" h="190">
                  <a:moveTo>
                    <a:pt x="0" y="6"/>
                  </a:moveTo>
                  <a:lnTo>
                    <a:pt x="55" y="73"/>
                  </a:lnTo>
                  <a:lnTo>
                    <a:pt x="87" y="107"/>
                  </a:lnTo>
                  <a:lnTo>
                    <a:pt x="133" y="140"/>
                  </a:lnTo>
                  <a:lnTo>
                    <a:pt x="184" y="166"/>
                  </a:lnTo>
                  <a:lnTo>
                    <a:pt x="245" y="187"/>
                  </a:lnTo>
                  <a:lnTo>
                    <a:pt x="269" y="190"/>
                  </a:lnTo>
                  <a:lnTo>
                    <a:pt x="357" y="190"/>
                  </a:lnTo>
                  <a:lnTo>
                    <a:pt x="397" y="182"/>
                  </a:lnTo>
                  <a:lnTo>
                    <a:pt x="456" y="160"/>
                  </a:lnTo>
                  <a:lnTo>
                    <a:pt x="514" y="123"/>
                  </a:lnTo>
                  <a:lnTo>
                    <a:pt x="554" y="84"/>
                  </a:lnTo>
                  <a:lnTo>
                    <a:pt x="586" y="43"/>
                  </a:lnTo>
                  <a:lnTo>
                    <a:pt x="611" y="0"/>
                  </a:lnTo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lgDashDot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65"/>
            <p:cNvSpPr/>
            <p:nvPr/>
          </p:nvSpPr>
          <p:spPr>
            <a:xfrm>
              <a:off x="290" y="1723"/>
              <a:ext cx="62" cy="242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0" y="55"/>
                </a:cxn>
                <a:cxn ang="0">
                  <a:pos x="0" y="242"/>
                </a:cxn>
              </a:cxnLst>
              <a:rect l="0" t="0" r="0" b="0"/>
              <a:pathLst>
                <a:path w="62" h="242">
                  <a:moveTo>
                    <a:pt x="62" y="0"/>
                  </a:moveTo>
                  <a:lnTo>
                    <a:pt x="0" y="55"/>
                  </a:lnTo>
                  <a:lnTo>
                    <a:pt x="0" y="24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66"/>
            <p:cNvSpPr/>
            <p:nvPr/>
          </p:nvSpPr>
          <p:spPr>
            <a:xfrm>
              <a:off x="974" y="1723"/>
              <a:ext cx="62" cy="29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2" y="55"/>
                </a:cxn>
                <a:cxn ang="0">
                  <a:pos x="62" y="293"/>
                </a:cxn>
              </a:cxnLst>
              <a:rect l="0" t="0" r="0" b="0"/>
              <a:pathLst>
                <a:path w="62" h="293">
                  <a:moveTo>
                    <a:pt x="0" y="0"/>
                  </a:moveTo>
                  <a:lnTo>
                    <a:pt x="62" y="55"/>
                  </a:lnTo>
                  <a:lnTo>
                    <a:pt x="62" y="293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67"/>
            <p:cNvSpPr/>
            <p:nvPr/>
          </p:nvSpPr>
          <p:spPr>
            <a:xfrm>
              <a:off x="288" y="2119"/>
              <a:ext cx="237" cy="64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9" y="72"/>
                </a:cxn>
                <a:cxn ang="0">
                  <a:pos x="172" y="72"/>
                </a:cxn>
                <a:cxn ang="0">
                  <a:pos x="196" y="79"/>
                </a:cxn>
                <a:cxn ang="0">
                  <a:pos x="218" y="93"/>
                </a:cxn>
                <a:cxn ang="0">
                  <a:pos x="232" y="110"/>
                </a:cxn>
                <a:cxn ang="0">
                  <a:pos x="237" y="134"/>
                </a:cxn>
                <a:cxn ang="0">
                  <a:pos x="237" y="163"/>
                </a:cxn>
                <a:cxn ang="0">
                  <a:pos x="237" y="643"/>
                </a:cxn>
              </a:cxnLst>
              <a:rect l="0" t="0" r="0" b="0"/>
              <a:pathLst>
                <a:path w="237" h="643">
                  <a:moveTo>
                    <a:pt x="0" y="0"/>
                  </a:moveTo>
                  <a:lnTo>
                    <a:pt x="69" y="72"/>
                  </a:lnTo>
                  <a:lnTo>
                    <a:pt x="172" y="72"/>
                  </a:lnTo>
                  <a:lnTo>
                    <a:pt x="196" y="79"/>
                  </a:lnTo>
                  <a:lnTo>
                    <a:pt x="218" y="93"/>
                  </a:lnTo>
                  <a:lnTo>
                    <a:pt x="232" y="110"/>
                  </a:lnTo>
                  <a:lnTo>
                    <a:pt x="237" y="134"/>
                  </a:lnTo>
                  <a:lnTo>
                    <a:pt x="237" y="163"/>
                  </a:lnTo>
                  <a:lnTo>
                    <a:pt x="237" y="643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68"/>
            <p:cNvSpPr/>
            <p:nvPr/>
          </p:nvSpPr>
          <p:spPr>
            <a:xfrm flipH="1">
              <a:off x="290" y="2193"/>
              <a:ext cx="67" cy="47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10" name="Freeform 69"/>
            <p:cNvSpPr/>
            <p:nvPr/>
          </p:nvSpPr>
          <p:spPr>
            <a:xfrm flipH="1">
              <a:off x="801" y="2119"/>
              <a:ext cx="237" cy="64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9" y="72"/>
                </a:cxn>
                <a:cxn ang="0">
                  <a:pos x="172" y="72"/>
                </a:cxn>
                <a:cxn ang="0">
                  <a:pos x="196" y="79"/>
                </a:cxn>
                <a:cxn ang="0">
                  <a:pos x="218" y="93"/>
                </a:cxn>
                <a:cxn ang="0">
                  <a:pos x="232" y="110"/>
                </a:cxn>
                <a:cxn ang="0">
                  <a:pos x="237" y="134"/>
                </a:cxn>
                <a:cxn ang="0">
                  <a:pos x="237" y="163"/>
                </a:cxn>
                <a:cxn ang="0">
                  <a:pos x="237" y="643"/>
                </a:cxn>
              </a:cxnLst>
              <a:rect l="0" t="0" r="0" b="0"/>
              <a:pathLst>
                <a:path w="237" h="643">
                  <a:moveTo>
                    <a:pt x="0" y="0"/>
                  </a:moveTo>
                  <a:lnTo>
                    <a:pt x="69" y="72"/>
                  </a:lnTo>
                  <a:lnTo>
                    <a:pt x="172" y="72"/>
                  </a:lnTo>
                  <a:lnTo>
                    <a:pt x="196" y="79"/>
                  </a:lnTo>
                  <a:lnTo>
                    <a:pt x="218" y="93"/>
                  </a:lnTo>
                  <a:lnTo>
                    <a:pt x="232" y="110"/>
                  </a:lnTo>
                  <a:lnTo>
                    <a:pt x="237" y="134"/>
                  </a:lnTo>
                  <a:lnTo>
                    <a:pt x="237" y="163"/>
                  </a:lnTo>
                  <a:lnTo>
                    <a:pt x="237" y="643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70"/>
            <p:cNvSpPr/>
            <p:nvPr/>
          </p:nvSpPr>
          <p:spPr>
            <a:xfrm>
              <a:off x="969" y="2193"/>
              <a:ext cx="67" cy="47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12" name="Line 71"/>
            <p:cNvSpPr/>
            <p:nvPr/>
          </p:nvSpPr>
          <p:spPr>
            <a:xfrm>
              <a:off x="525" y="2356"/>
              <a:ext cx="27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13" name="Line 72"/>
            <p:cNvSpPr/>
            <p:nvPr/>
          </p:nvSpPr>
          <p:spPr>
            <a:xfrm>
              <a:off x="1036" y="2020"/>
              <a:ext cx="0" cy="75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14" name="Line 73"/>
            <p:cNvSpPr/>
            <p:nvPr/>
          </p:nvSpPr>
          <p:spPr>
            <a:xfrm>
              <a:off x="290" y="1965"/>
              <a:ext cx="0" cy="79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15" name="Freeform 74"/>
            <p:cNvSpPr/>
            <p:nvPr/>
          </p:nvSpPr>
          <p:spPr>
            <a:xfrm>
              <a:off x="290" y="2726"/>
              <a:ext cx="746" cy="46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89" y="0"/>
                </a:cxn>
                <a:cxn ang="0">
                  <a:pos x="194" y="34"/>
                </a:cxn>
                <a:cxn ang="0">
                  <a:pos x="290" y="24"/>
                </a:cxn>
                <a:cxn ang="0">
                  <a:pos x="394" y="14"/>
                </a:cxn>
                <a:cxn ang="0">
                  <a:pos x="468" y="43"/>
                </a:cxn>
                <a:cxn ang="0">
                  <a:pos x="571" y="19"/>
                </a:cxn>
                <a:cxn ang="0">
                  <a:pos x="665" y="31"/>
                </a:cxn>
                <a:cxn ang="0">
                  <a:pos x="746" y="46"/>
                </a:cxn>
              </a:cxnLst>
              <a:rect l="0" t="0" r="0" b="0"/>
              <a:pathLst>
                <a:path w="746" h="46">
                  <a:moveTo>
                    <a:pt x="0" y="34"/>
                  </a:moveTo>
                  <a:cubicBezTo>
                    <a:pt x="28" y="17"/>
                    <a:pt x="57" y="0"/>
                    <a:pt x="89" y="0"/>
                  </a:cubicBezTo>
                  <a:cubicBezTo>
                    <a:pt x="121" y="0"/>
                    <a:pt x="161" y="30"/>
                    <a:pt x="194" y="34"/>
                  </a:cubicBezTo>
                  <a:cubicBezTo>
                    <a:pt x="227" y="38"/>
                    <a:pt x="257" y="27"/>
                    <a:pt x="290" y="24"/>
                  </a:cubicBezTo>
                  <a:cubicBezTo>
                    <a:pt x="323" y="21"/>
                    <a:pt x="364" y="11"/>
                    <a:pt x="394" y="14"/>
                  </a:cubicBezTo>
                  <a:cubicBezTo>
                    <a:pt x="424" y="17"/>
                    <a:pt x="439" y="42"/>
                    <a:pt x="468" y="43"/>
                  </a:cubicBezTo>
                  <a:cubicBezTo>
                    <a:pt x="497" y="44"/>
                    <a:pt x="538" y="21"/>
                    <a:pt x="571" y="19"/>
                  </a:cubicBezTo>
                  <a:cubicBezTo>
                    <a:pt x="604" y="17"/>
                    <a:pt x="636" y="27"/>
                    <a:pt x="665" y="31"/>
                  </a:cubicBezTo>
                  <a:cubicBezTo>
                    <a:pt x="694" y="35"/>
                    <a:pt x="720" y="40"/>
                    <a:pt x="746" y="46"/>
                  </a:cubicBezTo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75"/>
            <p:cNvSpPr/>
            <p:nvPr/>
          </p:nvSpPr>
          <p:spPr>
            <a:xfrm>
              <a:off x="534" y="2309"/>
              <a:ext cx="45" cy="4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grpSp>
          <p:nvGrpSpPr>
            <p:cNvPr id="17" name="Group 76"/>
            <p:cNvGrpSpPr/>
            <p:nvPr/>
          </p:nvGrpSpPr>
          <p:grpSpPr>
            <a:xfrm>
              <a:off x="299" y="1767"/>
              <a:ext cx="746" cy="593"/>
              <a:chOff x="714" y="2540"/>
              <a:chExt cx="746" cy="593"/>
            </a:xfrm>
          </p:grpSpPr>
          <p:sp>
            <p:nvSpPr>
              <p:cNvPr id="18" name="Line 77"/>
              <p:cNvSpPr/>
              <p:nvPr/>
            </p:nvSpPr>
            <p:spPr>
              <a:xfrm>
                <a:off x="1147" y="2638"/>
                <a:ext cx="288" cy="29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19" name="Line 78"/>
              <p:cNvSpPr/>
              <p:nvPr/>
            </p:nvSpPr>
            <p:spPr>
              <a:xfrm>
                <a:off x="1079" y="2648"/>
                <a:ext cx="317" cy="32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20" name="Line 79"/>
              <p:cNvSpPr/>
              <p:nvPr/>
            </p:nvSpPr>
            <p:spPr>
              <a:xfrm>
                <a:off x="1005" y="2645"/>
                <a:ext cx="310" cy="32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21" name="Line 80"/>
              <p:cNvSpPr/>
              <p:nvPr/>
            </p:nvSpPr>
            <p:spPr>
              <a:xfrm>
                <a:off x="721" y="2684"/>
                <a:ext cx="426" cy="44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22" name="Line 81"/>
              <p:cNvSpPr/>
              <p:nvPr/>
            </p:nvSpPr>
            <p:spPr>
              <a:xfrm>
                <a:off x="714" y="2603"/>
                <a:ext cx="502" cy="52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23" name="Line 82"/>
              <p:cNvSpPr/>
              <p:nvPr/>
            </p:nvSpPr>
            <p:spPr>
              <a:xfrm>
                <a:off x="736" y="2540"/>
                <a:ext cx="484" cy="5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24" name="Line 83"/>
              <p:cNvSpPr/>
              <p:nvPr/>
            </p:nvSpPr>
            <p:spPr>
              <a:xfrm>
                <a:off x="852" y="2574"/>
                <a:ext cx="396" cy="41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25" name="Line 84"/>
              <p:cNvSpPr/>
              <p:nvPr/>
            </p:nvSpPr>
            <p:spPr>
              <a:xfrm>
                <a:off x="726" y="2767"/>
                <a:ext cx="345" cy="36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26" name="Line 85"/>
              <p:cNvSpPr/>
              <p:nvPr/>
            </p:nvSpPr>
            <p:spPr>
              <a:xfrm>
                <a:off x="721" y="2844"/>
                <a:ext cx="116" cy="12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27" name="Line 86"/>
              <p:cNvSpPr/>
              <p:nvPr/>
            </p:nvSpPr>
            <p:spPr>
              <a:xfrm>
                <a:off x="1218" y="2624"/>
                <a:ext cx="241" cy="24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28" name="Line 87"/>
              <p:cNvSpPr/>
              <p:nvPr/>
            </p:nvSpPr>
            <p:spPr>
              <a:xfrm>
                <a:off x="1294" y="2600"/>
                <a:ext cx="164" cy="167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29" name="Line 88"/>
              <p:cNvSpPr/>
              <p:nvPr/>
            </p:nvSpPr>
            <p:spPr>
              <a:xfrm>
                <a:off x="1351" y="2551"/>
                <a:ext cx="109" cy="11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</p:grpSp>
      </p:grpSp>
      <p:grpSp>
        <p:nvGrpSpPr>
          <p:cNvPr id="30" name="Group 89"/>
          <p:cNvGrpSpPr/>
          <p:nvPr/>
        </p:nvGrpSpPr>
        <p:grpSpPr>
          <a:xfrm>
            <a:off x="5138645" y="4261779"/>
            <a:ext cx="1284288" cy="2071687"/>
            <a:chOff x="3202" y="1527"/>
            <a:chExt cx="809" cy="1305"/>
          </a:xfrm>
        </p:grpSpPr>
        <p:grpSp>
          <p:nvGrpSpPr>
            <p:cNvPr id="31" name="Group 90"/>
            <p:cNvGrpSpPr/>
            <p:nvPr/>
          </p:nvGrpSpPr>
          <p:grpSpPr>
            <a:xfrm>
              <a:off x="3270" y="1527"/>
              <a:ext cx="625" cy="265"/>
              <a:chOff x="2074" y="2386"/>
              <a:chExt cx="625" cy="265"/>
            </a:xfrm>
          </p:grpSpPr>
          <p:sp>
            <p:nvSpPr>
              <p:cNvPr id="104" name="Freeform 91"/>
              <p:cNvSpPr/>
              <p:nvPr/>
            </p:nvSpPr>
            <p:spPr>
              <a:xfrm>
                <a:off x="2074" y="2456"/>
                <a:ext cx="625" cy="195"/>
              </a:xfrm>
              <a:custGeom>
                <a:avLst/>
                <a:gdLst/>
                <a:ahLst/>
                <a:cxnLst>
                  <a:cxn ang="0">
                    <a:pos x="0" y="61"/>
                  </a:cxn>
                  <a:cxn ang="0">
                    <a:pos x="72" y="0"/>
                  </a:cxn>
                  <a:cxn ang="0">
                    <a:pos x="145" y="0"/>
                  </a:cxn>
                  <a:cxn ang="0">
                    <a:pos x="169" y="19"/>
                  </a:cxn>
                  <a:cxn ang="0">
                    <a:pos x="196" y="32"/>
                  </a:cxn>
                  <a:cxn ang="0">
                    <a:pos x="220" y="43"/>
                  </a:cxn>
                  <a:cxn ang="0">
                    <a:pos x="257" y="54"/>
                  </a:cxn>
                  <a:cxn ang="0">
                    <a:pos x="302" y="62"/>
                  </a:cxn>
                  <a:cxn ang="0">
                    <a:pos x="358" y="61"/>
                  </a:cxn>
                  <a:cxn ang="0">
                    <a:pos x="398" y="51"/>
                  </a:cxn>
                  <a:cxn ang="0">
                    <a:pos x="443" y="35"/>
                  </a:cxn>
                  <a:cxn ang="0">
                    <a:pos x="476" y="13"/>
                  </a:cxn>
                  <a:cxn ang="0">
                    <a:pos x="579" y="13"/>
                  </a:cxn>
                  <a:cxn ang="0">
                    <a:pos x="625" y="56"/>
                  </a:cxn>
                  <a:cxn ang="0">
                    <a:pos x="612" y="72"/>
                  </a:cxn>
                  <a:cxn ang="0">
                    <a:pos x="588" y="94"/>
                  </a:cxn>
                  <a:cxn ang="0">
                    <a:pos x="560" y="115"/>
                  </a:cxn>
                  <a:cxn ang="0">
                    <a:pos x="526" y="138"/>
                  </a:cxn>
                  <a:cxn ang="0">
                    <a:pos x="491" y="158"/>
                  </a:cxn>
                  <a:cxn ang="0">
                    <a:pos x="451" y="174"/>
                  </a:cxn>
                  <a:cxn ang="0">
                    <a:pos x="398" y="190"/>
                  </a:cxn>
                  <a:cxn ang="0">
                    <a:pos x="348" y="195"/>
                  </a:cxn>
                  <a:cxn ang="0">
                    <a:pos x="268" y="195"/>
                  </a:cxn>
                  <a:cxn ang="0">
                    <a:pos x="214" y="186"/>
                  </a:cxn>
                  <a:cxn ang="0">
                    <a:pos x="179" y="173"/>
                  </a:cxn>
                  <a:cxn ang="0">
                    <a:pos x="140" y="158"/>
                  </a:cxn>
                  <a:cxn ang="0">
                    <a:pos x="92" y="130"/>
                  </a:cxn>
                  <a:cxn ang="0">
                    <a:pos x="44" y="96"/>
                  </a:cxn>
                  <a:cxn ang="0">
                    <a:pos x="24" y="77"/>
                  </a:cxn>
                  <a:cxn ang="0">
                    <a:pos x="3" y="58"/>
                  </a:cxn>
                </a:cxnLst>
                <a:rect l="0" t="0" r="0" b="0"/>
                <a:pathLst>
                  <a:path w="625" h="195">
                    <a:moveTo>
                      <a:pt x="0" y="61"/>
                    </a:moveTo>
                    <a:lnTo>
                      <a:pt x="72" y="0"/>
                    </a:lnTo>
                    <a:lnTo>
                      <a:pt x="145" y="0"/>
                    </a:lnTo>
                    <a:lnTo>
                      <a:pt x="169" y="19"/>
                    </a:lnTo>
                    <a:lnTo>
                      <a:pt x="196" y="32"/>
                    </a:lnTo>
                    <a:lnTo>
                      <a:pt x="220" y="43"/>
                    </a:lnTo>
                    <a:lnTo>
                      <a:pt x="257" y="54"/>
                    </a:lnTo>
                    <a:lnTo>
                      <a:pt x="302" y="62"/>
                    </a:lnTo>
                    <a:lnTo>
                      <a:pt x="358" y="61"/>
                    </a:lnTo>
                    <a:lnTo>
                      <a:pt x="398" y="51"/>
                    </a:lnTo>
                    <a:lnTo>
                      <a:pt x="443" y="35"/>
                    </a:lnTo>
                    <a:lnTo>
                      <a:pt x="476" y="13"/>
                    </a:lnTo>
                    <a:lnTo>
                      <a:pt x="579" y="13"/>
                    </a:lnTo>
                    <a:lnTo>
                      <a:pt x="625" y="56"/>
                    </a:lnTo>
                    <a:lnTo>
                      <a:pt x="612" y="72"/>
                    </a:lnTo>
                    <a:lnTo>
                      <a:pt x="588" y="94"/>
                    </a:lnTo>
                    <a:lnTo>
                      <a:pt x="560" y="115"/>
                    </a:lnTo>
                    <a:lnTo>
                      <a:pt x="526" y="138"/>
                    </a:lnTo>
                    <a:lnTo>
                      <a:pt x="491" y="158"/>
                    </a:lnTo>
                    <a:lnTo>
                      <a:pt x="451" y="174"/>
                    </a:lnTo>
                    <a:lnTo>
                      <a:pt x="398" y="190"/>
                    </a:lnTo>
                    <a:lnTo>
                      <a:pt x="348" y="195"/>
                    </a:lnTo>
                    <a:lnTo>
                      <a:pt x="268" y="195"/>
                    </a:lnTo>
                    <a:lnTo>
                      <a:pt x="214" y="186"/>
                    </a:lnTo>
                    <a:lnTo>
                      <a:pt x="179" y="173"/>
                    </a:lnTo>
                    <a:lnTo>
                      <a:pt x="140" y="158"/>
                    </a:lnTo>
                    <a:lnTo>
                      <a:pt x="92" y="130"/>
                    </a:lnTo>
                    <a:lnTo>
                      <a:pt x="44" y="96"/>
                    </a:lnTo>
                    <a:lnTo>
                      <a:pt x="24" y="77"/>
                    </a:lnTo>
                    <a:lnTo>
                      <a:pt x="3" y="5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Freeform 92"/>
              <p:cNvSpPr/>
              <p:nvPr/>
            </p:nvSpPr>
            <p:spPr>
              <a:xfrm>
                <a:off x="2083" y="2386"/>
                <a:ext cx="611" cy="19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55" y="73"/>
                  </a:cxn>
                  <a:cxn ang="0">
                    <a:pos x="87" y="107"/>
                  </a:cxn>
                  <a:cxn ang="0">
                    <a:pos x="133" y="140"/>
                  </a:cxn>
                  <a:cxn ang="0">
                    <a:pos x="184" y="166"/>
                  </a:cxn>
                  <a:cxn ang="0">
                    <a:pos x="245" y="187"/>
                  </a:cxn>
                  <a:cxn ang="0">
                    <a:pos x="269" y="190"/>
                  </a:cxn>
                  <a:cxn ang="0">
                    <a:pos x="357" y="190"/>
                  </a:cxn>
                  <a:cxn ang="0">
                    <a:pos x="397" y="182"/>
                  </a:cxn>
                  <a:cxn ang="0">
                    <a:pos x="456" y="160"/>
                  </a:cxn>
                  <a:cxn ang="0">
                    <a:pos x="514" y="123"/>
                  </a:cxn>
                  <a:cxn ang="0">
                    <a:pos x="554" y="84"/>
                  </a:cxn>
                  <a:cxn ang="0">
                    <a:pos x="586" y="43"/>
                  </a:cxn>
                  <a:cxn ang="0">
                    <a:pos x="611" y="0"/>
                  </a:cxn>
                </a:cxnLst>
                <a:rect l="0" t="0" r="0" b="0"/>
                <a:pathLst>
                  <a:path w="611" h="190">
                    <a:moveTo>
                      <a:pt x="0" y="6"/>
                    </a:moveTo>
                    <a:lnTo>
                      <a:pt x="55" y="73"/>
                    </a:lnTo>
                    <a:lnTo>
                      <a:pt x="87" y="107"/>
                    </a:lnTo>
                    <a:lnTo>
                      <a:pt x="133" y="140"/>
                    </a:lnTo>
                    <a:lnTo>
                      <a:pt x="184" y="166"/>
                    </a:lnTo>
                    <a:lnTo>
                      <a:pt x="245" y="187"/>
                    </a:lnTo>
                    <a:lnTo>
                      <a:pt x="269" y="190"/>
                    </a:lnTo>
                    <a:lnTo>
                      <a:pt x="357" y="190"/>
                    </a:lnTo>
                    <a:lnTo>
                      <a:pt x="397" y="182"/>
                    </a:lnTo>
                    <a:lnTo>
                      <a:pt x="456" y="160"/>
                    </a:lnTo>
                    <a:lnTo>
                      <a:pt x="514" y="123"/>
                    </a:lnTo>
                    <a:lnTo>
                      <a:pt x="554" y="84"/>
                    </a:lnTo>
                    <a:lnTo>
                      <a:pt x="586" y="43"/>
                    </a:lnTo>
                    <a:lnTo>
                      <a:pt x="611" y="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lgDashDot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" name="Freeform 93"/>
            <p:cNvSpPr/>
            <p:nvPr/>
          </p:nvSpPr>
          <p:spPr>
            <a:xfrm>
              <a:off x="3202" y="1654"/>
              <a:ext cx="63" cy="1044"/>
            </a:xfrm>
            <a:custGeom>
              <a:avLst/>
              <a:gdLst/>
              <a:ahLst/>
              <a:cxnLst>
                <a:cxn ang="0">
                  <a:pos x="63" y="0"/>
                </a:cxn>
                <a:cxn ang="0">
                  <a:pos x="1" y="55"/>
                </a:cxn>
                <a:cxn ang="0">
                  <a:pos x="0" y="1044"/>
                </a:cxn>
              </a:cxnLst>
              <a:rect l="0" t="0" r="0" b="0"/>
              <a:pathLst>
                <a:path w="63" h="1044">
                  <a:moveTo>
                    <a:pt x="63" y="0"/>
                  </a:moveTo>
                  <a:lnTo>
                    <a:pt x="1" y="55"/>
                  </a:lnTo>
                  <a:lnTo>
                    <a:pt x="0" y="1044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94"/>
            <p:cNvSpPr/>
            <p:nvPr/>
          </p:nvSpPr>
          <p:spPr>
            <a:xfrm>
              <a:off x="3887" y="1649"/>
              <a:ext cx="64" cy="107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2" y="55"/>
                </a:cxn>
                <a:cxn ang="0">
                  <a:pos x="64" y="1073"/>
                </a:cxn>
              </a:cxnLst>
              <a:rect l="0" t="0" r="0" b="0"/>
              <a:pathLst>
                <a:path w="64" h="1073">
                  <a:moveTo>
                    <a:pt x="0" y="0"/>
                  </a:moveTo>
                  <a:lnTo>
                    <a:pt x="62" y="55"/>
                  </a:lnTo>
                  <a:lnTo>
                    <a:pt x="64" y="1073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95"/>
            <p:cNvSpPr/>
            <p:nvPr/>
          </p:nvSpPr>
          <p:spPr>
            <a:xfrm>
              <a:off x="3202" y="1820"/>
              <a:ext cx="221" cy="8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3" y="96"/>
                </a:cxn>
                <a:cxn ang="0">
                  <a:pos x="192" y="125"/>
                </a:cxn>
                <a:cxn ang="0">
                  <a:pos x="216" y="158"/>
                </a:cxn>
                <a:cxn ang="0">
                  <a:pos x="221" y="201"/>
                </a:cxn>
                <a:cxn ang="0">
                  <a:pos x="221" y="878"/>
                </a:cxn>
              </a:cxnLst>
              <a:rect l="0" t="0" r="0" b="0"/>
              <a:pathLst>
                <a:path w="221" h="878">
                  <a:moveTo>
                    <a:pt x="0" y="0"/>
                  </a:moveTo>
                  <a:lnTo>
                    <a:pt x="153" y="96"/>
                  </a:lnTo>
                  <a:lnTo>
                    <a:pt x="192" y="125"/>
                  </a:lnTo>
                  <a:lnTo>
                    <a:pt x="216" y="158"/>
                  </a:lnTo>
                  <a:lnTo>
                    <a:pt x="221" y="201"/>
                  </a:lnTo>
                  <a:lnTo>
                    <a:pt x="221" y="878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" name="Group 96"/>
            <p:cNvGrpSpPr/>
            <p:nvPr/>
          </p:nvGrpSpPr>
          <p:grpSpPr>
            <a:xfrm>
              <a:off x="3217" y="1663"/>
              <a:ext cx="749" cy="733"/>
              <a:chOff x="3444" y="2541"/>
              <a:chExt cx="749" cy="733"/>
            </a:xfrm>
          </p:grpSpPr>
          <p:sp>
            <p:nvSpPr>
              <p:cNvPr id="92" name="Line 97"/>
              <p:cNvSpPr/>
              <p:nvPr/>
            </p:nvSpPr>
            <p:spPr>
              <a:xfrm>
                <a:off x="3663" y="3274"/>
                <a:ext cx="1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93" name="Line 98"/>
              <p:cNvSpPr/>
              <p:nvPr/>
            </p:nvSpPr>
            <p:spPr>
              <a:xfrm flipV="1">
                <a:off x="3444" y="2560"/>
                <a:ext cx="96" cy="8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94" name="Line 99"/>
              <p:cNvSpPr/>
              <p:nvPr/>
            </p:nvSpPr>
            <p:spPr>
              <a:xfrm flipV="1">
                <a:off x="3448" y="2589"/>
                <a:ext cx="132" cy="12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95" name="Line 100"/>
              <p:cNvSpPr/>
              <p:nvPr/>
            </p:nvSpPr>
            <p:spPr>
              <a:xfrm flipV="1">
                <a:off x="3513" y="2621"/>
                <a:ext cx="112" cy="11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96" name="Line 101"/>
              <p:cNvSpPr/>
              <p:nvPr/>
            </p:nvSpPr>
            <p:spPr>
              <a:xfrm flipV="1">
                <a:off x="3552" y="2639"/>
                <a:ext cx="128" cy="12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97" name="Line 102"/>
              <p:cNvSpPr/>
              <p:nvPr/>
            </p:nvSpPr>
            <p:spPr>
              <a:xfrm flipV="1">
                <a:off x="3599" y="2663"/>
                <a:ext cx="132" cy="12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98" name="Line 103"/>
              <p:cNvSpPr/>
              <p:nvPr/>
            </p:nvSpPr>
            <p:spPr>
              <a:xfrm flipV="1">
                <a:off x="3643" y="2664"/>
                <a:ext cx="158" cy="15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99" name="Line 104"/>
              <p:cNvSpPr/>
              <p:nvPr/>
            </p:nvSpPr>
            <p:spPr>
              <a:xfrm flipV="1">
                <a:off x="3666" y="2656"/>
                <a:ext cx="219" cy="20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100" name="Line 105"/>
              <p:cNvSpPr/>
              <p:nvPr/>
            </p:nvSpPr>
            <p:spPr>
              <a:xfrm flipV="1">
                <a:off x="3670" y="2639"/>
                <a:ext cx="300" cy="29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101" name="Line 106"/>
              <p:cNvSpPr/>
              <p:nvPr/>
            </p:nvSpPr>
            <p:spPr>
              <a:xfrm flipV="1">
                <a:off x="3672" y="2541"/>
                <a:ext cx="467" cy="46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102" name="Line 107"/>
              <p:cNvSpPr/>
              <p:nvPr/>
            </p:nvSpPr>
            <p:spPr>
              <a:xfrm flipV="1">
                <a:off x="3879" y="2572"/>
                <a:ext cx="297" cy="28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103" name="Line 108"/>
              <p:cNvSpPr/>
              <p:nvPr/>
            </p:nvSpPr>
            <p:spPr>
              <a:xfrm flipV="1">
                <a:off x="3949" y="2627"/>
                <a:ext cx="244" cy="23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sp>
          <p:nvSpPr>
            <p:cNvPr id="36" name="Line 109"/>
            <p:cNvSpPr/>
            <p:nvPr/>
          </p:nvSpPr>
          <p:spPr>
            <a:xfrm flipV="1">
              <a:off x="3489" y="2060"/>
              <a:ext cx="94" cy="8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37" name="Line 110"/>
            <p:cNvSpPr/>
            <p:nvPr/>
          </p:nvSpPr>
          <p:spPr>
            <a:xfrm flipV="1">
              <a:off x="3436" y="2294"/>
              <a:ext cx="58" cy="5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38" name="Line 111"/>
            <p:cNvSpPr/>
            <p:nvPr/>
          </p:nvSpPr>
          <p:spPr>
            <a:xfrm flipV="1">
              <a:off x="3451" y="2293"/>
              <a:ext cx="107" cy="9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39" name="Line 112"/>
            <p:cNvSpPr/>
            <p:nvPr/>
          </p:nvSpPr>
          <p:spPr>
            <a:xfrm flipV="1">
              <a:off x="3516" y="2323"/>
              <a:ext cx="72" cy="6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40" name="Freeform 113"/>
            <p:cNvSpPr/>
            <p:nvPr/>
          </p:nvSpPr>
          <p:spPr>
            <a:xfrm>
              <a:off x="3210" y="2659"/>
              <a:ext cx="746" cy="46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89" y="0"/>
                </a:cxn>
                <a:cxn ang="0">
                  <a:pos x="194" y="34"/>
                </a:cxn>
                <a:cxn ang="0">
                  <a:pos x="290" y="24"/>
                </a:cxn>
                <a:cxn ang="0">
                  <a:pos x="394" y="14"/>
                </a:cxn>
                <a:cxn ang="0">
                  <a:pos x="468" y="43"/>
                </a:cxn>
                <a:cxn ang="0">
                  <a:pos x="571" y="19"/>
                </a:cxn>
                <a:cxn ang="0">
                  <a:pos x="665" y="31"/>
                </a:cxn>
                <a:cxn ang="0">
                  <a:pos x="746" y="46"/>
                </a:cxn>
              </a:cxnLst>
              <a:rect l="0" t="0" r="0" b="0"/>
              <a:pathLst>
                <a:path w="746" h="46">
                  <a:moveTo>
                    <a:pt x="0" y="34"/>
                  </a:moveTo>
                  <a:cubicBezTo>
                    <a:pt x="28" y="17"/>
                    <a:pt x="57" y="0"/>
                    <a:pt x="89" y="0"/>
                  </a:cubicBezTo>
                  <a:cubicBezTo>
                    <a:pt x="121" y="0"/>
                    <a:pt x="161" y="30"/>
                    <a:pt x="194" y="34"/>
                  </a:cubicBezTo>
                  <a:cubicBezTo>
                    <a:pt x="227" y="38"/>
                    <a:pt x="257" y="27"/>
                    <a:pt x="290" y="24"/>
                  </a:cubicBezTo>
                  <a:cubicBezTo>
                    <a:pt x="323" y="21"/>
                    <a:pt x="364" y="11"/>
                    <a:pt x="394" y="14"/>
                  </a:cubicBezTo>
                  <a:cubicBezTo>
                    <a:pt x="424" y="17"/>
                    <a:pt x="439" y="42"/>
                    <a:pt x="468" y="43"/>
                  </a:cubicBezTo>
                  <a:cubicBezTo>
                    <a:pt x="497" y="44"/>
                    <a:pt x="538" y="21"/>
                    <a:pt x="571" y="19"/>
                  </a:cubicBezTo>
                  <a:cubicBezTo>
                    <a:pt x="604" y="17"/>
                    <a:pt x="636" y="27"/>
                    <a:pt x="665" y="31"/>
                  </a:cubicBezTo>
                  <a:cubicBezTo>
                    <a:pt x="694" y="35"/>
                    <a:pt x="720" y="40"/>
                    <a:pt x="746" y="46"/>
                  </a:cubicBezTo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114"/>
            <p:cNvSpPr/>
            <p:nvPr/>
          </p:nvSpPr>
          <p:spPr>
            <a:xfrm>
              <a:off x="3421" y="2148"/>
              <a:ext cx="14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" name="Line 115"/>
            <p:cNvSpPr/>
            <p:nvPr/>
          </p:nvSpPr>
          <p:spPr>
            <a:xfrm>
              <a:off x="3425" y="2298"/>
              <a:ext cx="14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" name="Freeform 116"/>
            <p:cNvSpPr/>
            <p:nvPr/>
          </p:nvSpPr>
          <p:spPr>
            <a:xfrm>
              <a:off x="3731" y="1826"/>
              <a:ext cx="216" cy="155"/>
            </a:xfrm>
            <a:custGeom>
              <a:avLst/>
              <a:gdLst/>
              <a:ahLst/>
              <a:cxnLst>
                <a:cxn ang="0">
                  <a:pos x="0" y="155"/>
                </a:cxn>
                <a:cxn ang="0">
                  <a:pos x="40" y="114"/>
                </a:cxn>
                <a:cxn ang="0">
                  <a:pos x="75" y="88"/>
                </a:cxn>
                <a:cxn ang="0">
                  <a:pos x="128" y="59"/>
                </a:cxn>
                <a:cxn ang="0">
                  <a:pos x="216" y="0"/>
                </a:cxn>
              </a:cxnLst>
              <a:rect l="0" t="0" r="0" b="0"/>
              <a:pathLst>
                <a:path w="216" h="155">
                  <a:moveTo>
                    <a:pt x="0" y="155"/>
                  </a:moveTo>
                  <a:lnTo>
                    <a:pt x="40" y="114"/>
                  </a:lnTo>
                  <a:lnTo>
                    <a:pt x="75" y="88"/>
                  </a:lnTo>
                  <a:lnTo>
                    <a:pt x="128" y="59"/>
                  </a:lnTo>
                  <a:lnTo>
                    <a:pt x="216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117"/>
            <p:cNvSpPr/>
            <p:nvPr/>
          </p:nvSpPr>
          <p:spPr>
            <a:xfrm>
              <a:off x="3490" y="1988"/>
              <a:ext cx="240" cy="710"/>
            </a:xfrm>
            <a:custGeom>
              <a:avLst/>
              <a:gdLst/>
              <a:ahLst/>
              <a:cxnLst>
                <a:cxn ang="0">
                  <a:pos x="240" y="0"/>
                </a:cxn>
                <a:cxn ang="0">
                  <a:pos x="81" y="0"/>
                </a:cxn>
                <a:cxn ang="0">
                  <a:pos x="81" y="461"/>
                </a:cxn>
                <a:cxn ang="0">
                  <a:pos x="0" y="461"/>
                </a:cxn>
                <a:cxn ang="0">
                  <a:pos x="0" y="710"/>
                </a:cxn>
              </a:cxnLst>
              <a:rect l="0" t="0" r="0" b="0"/>
              <a:pathLst>
                <a:path w="240" h="710">
                  <a:moveTo>
                    <a:pt x="240" y="0"/>
                  </a:moveTo>
                  <a:lnTo>
                    <a:pt x="81" y="0"/>
                  </a:lnTo>
                  <a:lnTo>
                    <a:pt x="81" y="461"/>
                  </a:lnTo>
                  <a:lnTo>
                    <a:pt x="0" y="461"/>
                  </a:lnTo>
                  <a:lnTo>
                    <a:pt x="0" y="71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" name="Group 118"/>
            <p:cNvGrpSpPr/>
            <p:nvPr/>
          </p:nvGrpSpPr>
          <p:grpSpPr>
            <a:xfrm>
              <a:off x="3493" y="1988"/>
              <a:ext cx="230" cy="723"/>
              <a:chOff x="3733" y="2861"/>
              <a:chExt cx="230" cy="723"/>
            </a:xfrm>
          </p:grpSpPr>
          <p:sp>
            <p:nvSpPr>
              <p:cNvPr id="81" name="Line 119"/>
              <p:cNvSpPr/>
              <p:nvPr/>
            </p:nvSpPr>
            <p:spPr>
              <a:xfrm>
                <a:off x="3816" y="2938"/>
                <a:ext cx="84" cy="8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82" name="Line 120"/>
              <p:cNvSpPr/>
              <p:nvPr/>
            </p:nvSpPr>
            <p:spPr>
              <a:xfrm>
                <a:off x="3916" y="3171"/>
                <a:ext cx="47" cy="4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83" name="Line 121"/>
              <p:cNvSpPr/>
              <p:nvPr/>
            </p:nvSpPr>
            <p:spPr>
              <a:xfrm>
                <a:off x="3846" y="3173"/>
                <a:ext cx="116" cy="10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84" name="Line 122"/>
              <p:cNvSpPr/>
              <p:nvPr/>
            </p:nvSpPr>
            <p:spPr>
              <a:xfrm>
                <a:off x="3893" y="2861"/>
                <a:ext cx="67" cy="77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85" name="Line 123"/>
              <p:cNvSpPr/>
              <p:nvPr/>
            </p:nvSpPr>
            <p:spPr>
              <a:xfrm>
                <a:off x="3819" y="2869"/>
                <a:ext cx="141" cy="14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86" name="Line 124"/>
              <p:cNvSpPr/>
              <p:nvPr/>
            </p:nvSpPr>
            <p:spPr>
              <a:xfrm>
                <a:off x="3815" y="3205"/>
                <a:ext cx="147" cy="14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87" name="Line 125"/>
              <p:cNvSpPr/>
              <p:nvPr/>
            </p:nvSpPr>
            <p:spPr>
              <a:xfrm>
                <a:off x="3815" y="3275"/>
                <a:ext cx="147" cy="147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88" name="Line 126"/>
              <p:cNvSpPr/>
              <p:nvPr/>
            </p:nvSpPr>
            <p:spPr>
              <a:xfrm>
                <a:off x="3794" y="3328"/>
                <a:ext cx="169" cy="16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89" name="Line 127"/>
              <p:cNvSpPr/>
              <p:nvPr/>
            </p:nvSpPr>
            <p:spPr>
              <a:xfrm>
                <a:off x="3733" y="3333"/>
                <a:ext cx="230" cy="24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90" name="Line 128"/>
              <p:cNvSpPr/>
              <p:nvPr/>
            </p:nvSpPr>
            <p:spPr>
              <a:xfrm>
                <a:off x="3736" y="3405"/>
                <a:ext cx="170" cy="17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91" name="Line 129"/>
              <p:cNvSpPr/>
              <p:nvPr/>
            </p:nvSpPr>
            <p:spPr>
              <a:xfrm>
                <a:off x="3735" y="3483"/>
                <a:ext cx="92" cy="9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</p:grpSp>
        <p:sp>
          <p:nvSpPr>
            <p:cNvPr id="46" name="Line 130"/>
            <p:cNvSpPr/>
            <p:nvPr/>
          </p:nvSpPr>
          <p:spPr>
            <a:xfrm>
              <a:off x="3570" y="2298"/>
              <a:ext cx="15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" name="Line 131"/>
            <p:cNvSpPr/>
            <p:nvPr/>
          </p:nvSpPr>
          <p:spPr>
            <a:xfrm>
              <a:off x="3575" y="2147"/>
              <a:ext cx="14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" name="Freeform 132"/>
            <p:cNvSpPr/>
            <p:nvPr/>
          </p:nvSpPr>
          <p:spPr>
            <a:xfrm>
              <a:off x="3722" y="1985"/>
              <a:ext cx="4" cy="72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4" y="3"/>
                </a:cxn>
                <a:cxn ang="0">
                  <a:pos x="4" y="45"/>
                </a:cxn>
                <a:cxn ang="0">
                  <a:pos x="4" y="722"/>
                </a:cxn>
              </a:cxnLst>
              <a:rect l="0" t="0" r="0" b="0"/>
              <a:pathLst>
                <a:path w="4" h="722">
                  <a:moveTo>
                    <a:pt x="3" y="0"/>
                  </a:moveTo>
                  <a:lnTo>
                    <a:pt x="1" y="3"/>
                  </a:lnTo>
                  <a:lnTo>
                    <a:pt x="0" y="1"/>
                  </a:lnTo>
                  <a:lnTo>
                    <a:pt x="4" y="3"/>
                  </a:lnTo>
                  <a:lnTo>
                    <a:pt x="4" y="45"/>
                  </a:lnTo>
                  <a:lnTo>
                    <a:pt x="4" y="722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133"/>
            <p:cNvSpPr/>
            <p:nvPr/>
          </p:nvSpPr>
          <p:spPr>
            <a:xfrm>
              <a:off x="3595" y="1586"/>
              <a:ext cx="0" cy="124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headEnd type="none" w="sm" len="lg"/>
              <a:tailEnd type="none" w="sm" len="lg"/>
            </a:ln>
          </p:spPr>
        </p:sp>
        <p:sp>
          <p:nvSpPr>
            <p:cNvPr id="50" name="Freeform 134"/>
            <p:cNvSpPr/>
            <p:nvPr/>
          </p:nvSpPr>
          <p:spPr>
            <a:xfrm>
              <a:off x="3324" y="2088"/>
              <a:ext cx="578" cy="278"/>
            </a:xfrm>
            <a:custGeom>
              <a:avLst/>
              <a:gdLst/>
              <a:ahLst/>
              <a:cxnLst>
                <a:cxn ang="0">
                  <a:pos x="95" y="5"/>
                </a:cxn>
                <a:cxn ang="0">
                  <a:pos x="95" y="67"/>
                </a:cxn>
                <a:cxn ang="0">
                  <a:pos x="356" y="67"/>
                </a:cxn>
                <a:cxn ang="0">
                  <a:pos x="356" y="80"/>
                </a:cxn>
                <a:cxn ang="0">
                  <a:pos x="410" y="80"/>
                </a:cxn>
                <a:cxn ang="0">
                  <a:pos x="410" y="0"/>
                </a:cxn>
                <a:cxn ang="0">
                  <a:pos x="486" y="0"/>
                </a:cxn>
                <a:cxn ang="0">
                  <a:pos x="515" y="29"/>
                </a:cxn>
                <a:cxn ang="0">
                  <a:pos x="515" y="75"/>
                </a:cxn>
                <a:cxn ang="0">
                  <a:pos x="556" y="75"/>
                </a:cxn>
                <a:cxn ang="0">
                  <a:pos x="578" y="98"/>
                </a:cxn>
                <a:cxn ang="0">
                  <a:pos x="578" y="174"/>
                </a:cxn>
                <a:cxn ang="0">
                  <a:pos x="561" y="197"/>
                </a:cxn>
                <a:cxn ang="0">
                  <a:pos x="515" y="197"/>
                </a:cxn>
                <a:cxn ang="0">
                  <a:pos x="515" y="240"/>
                </a:cxn>
                <a:cxn ang="0">
                  <a:pos x="481" y="278"/>
                </a:cxn>
                <a:cxn ang="0">
                  <a:pos x="408" y="278"/>
                </a:cxn>
                <a:cxn ang="0">
                  <a:pos x="407" y="192"/>
                </a:cxn>
                <a:cxn ang="0">
                  <a:pos x="352" y="192"/>
                </a:cxn>
                <a:cxn ang="0">
                  <a:pos x="352" y="203"/>
                </a:cxn>
                <a:cxn ang="0">
                  <a:pos x="95" y="203"/>
                </a:cxn>
                <a:cxn ang="0">
                  <a:pos x="93" y="266"/>
                </a:cxn>
                <a:cxn ang="0">
                  <a:pos x="19" y="266"/>
                </a:cxn>
                <a:cxn ang="0">
                  <a:pos x="0" y="237"/>
                </a:cxn>
                <a:cxn ang="0">
                  <a:pos x="0" y="26"/>
                </a:cxn>
                <a:cxn ang="0">
                  <a:pos x="30" y="5"/>
                </a:cxn>
                <a:cxn ang="0">
                  <a:pos x="95" y="5"/>
                </a:cxn>
              </a:cxnLst>
              <a:rect l="0" t="0" r="0" b="0"/>
              <a:pathLst>
                <a:path w="572" h="278">
                  <a:moveTo>
                    <a:pt x="94" y="5"/>
                  </a:moveTo>
                  <a:lnTo>
                    <a:pt x="94" y="67"/>
                  </a:lnTo>
                  <a:lnTo>
                    <a:pt x="352" y="67"/>
                  </a:lnTo>
                  <a:lnTo>
                    <a:pt x="352" y="80"/>
                  </a:lnTo>
                  <a:lnTo>
                    <a:pt x="406" y="80"/>
                  </a:lnTo>
                  <a:lnTo>
                    <a:pt x="406" y="0"/>
                  </a:lnTo>
                  <a:lnTo>
                    <a:pt x="481" y="0"/>
                  </a:lnTo>
                  <a:lnTo>
                    <a:pt x="510" y="29"/>
                  </a:lnTo>
                  <a:lnTo>
                    <a:pt x="510" y="75"/>
                  </a:lnTo>
                  <a:lnTo>
                    <a:pt x="550" y="75"/>
                  </a:lnTo>
                  <a:lnTo>
                    <a:pt x="572" y="98"/>
                  </a:lnTo>
                  <a:lnTo>
                    <a:pt x="572" y="174"/>
                  </a:lnTo>
                  <a:lnTo>
                    <a:pt x="555" y="197"/>
                  </a:lnTo>
                  <a:lnTo>
                    <a:pt x="510" y="197"/>
                  </a:lnTo>
                  <a:lnTo>
                    <a:pt x="510" y="240"/>
                  </a:lnTo>
                  <a:lnTo>
                    <a:pt x="476" y="278"/>
                  </a:lnTo>
                  <a:lnTo>
                    <a:pt x="404" y="278"/>
                  </a:lnTo>
                  <a:lnTo>
                    <a:pt x="403" y="192"/>
                  </a:lnTo>
                  <a:lnTo>
                    <a:pt x="348" y="192"/>
                  </a:lnTo>
                  <a:lnTo>
                    <a:pt x="348" y="203"/>
                  </a:lnTo>
                  <a:lnTo>
                    <a:pt x="94" y="203"/>
                  </a:lnTo>
                  <a:lnTo>
                    <a:pt x="92" y="266"/>
                  </a:lnTo>
                  <a:lnTo>
                    <a:pt x="19" y="266"/>
                  </a:lnTo>
                  <a:lnTo>
                    <a:pt x="0" y="237"/>
                  </a:lnTo>
                  <a:lnTo>
                    <a:pt x="0" y="26"/>
                  </a:lnTo>
                  <a:lnTo>
                    <a:pt x="30" y="5"/>
                  </a:lnTo>
                  <a:lnTo>
                    <a:pt x="94" y="5"/>
                  </a:lnTo>
                  <a:close/>
                </a:path>
              </a:pathLst>
            </a:custGeom>
            <a:noFill/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1" name="Group 135"/>
            <p:cNvGrpSpPr/>
            <p:nvPr/>
          </p:nvGrpSpPr>
          <p:grpSpPr>
            <a:xfrm>
              <a:off x="3283" y="2092"/>
              <a:ext cx="728" cy="266"/>
              <a:chOff x="3523" y="2964"/>
              <a:chExt cx="721" cy="266"/>
            </a:xfrm>
          </p:grpSpPr>
          <p:sp>
            <p:nvSpPr>
              <p:cNvPr id="52" name="Line 136"/>
              <p:cNvSpPr/>
              <p:nvPr/>
            </p:nvSpPr>
            <p:spPr>
              <a:xfrm rot="5400000" flipV="1">
                <a:off x="3842" y="3095"/>
                <a:ext cx="13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" name="Line 137"/>
              <p:cNvSpPr/>
              <p:nvPr/>
            </p:nvSpPr>
            <p:spPr>
              <a:xfrm rot="5400000" flipV="1">
                <a:off x="3626" y="2943"/>
                <a:ext cx="0" cy="5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" name="Line 138"/>
              <p:cNvSpPr/>
              <p:nvPr/>
            </p:nvSpPr>
            <p:spPr>
              <a:xfrm rot="5400000" flipV="1">
                <a:off x="3621" y="3185"/>
                <a:ext cx="0" cy="6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" name="Line 139"/>
              <p:cNvSpPr/>
              <p:nvPr/>
            </p:nvSpPr>
            <p:spPr>
              <a:xfrm rot="5400000" flipV="1">
                <a:off x="3752" y="2998"/>
                <a:ext cx="0" cy="31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" name="Line 140"/>
              <p:cNvSpPr/>
              <p:nvPr/>
            </p:nvSpPr>
            <p:spPr>
              <a:xfrm rot="5400000" flipV="1">
                <a:off x="3751" y="2874"/>
                <a:ext cx="0" cy="31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" name="Line 141"/>
              <p:cNvSpPr/>
              <p:nvPr/>
            </p:nvSpPr>
            <p:spPr>
              <a:xfrm rot="5400000" flipV="1">
                <a:off x="3944" y="3009"/>
                <a:ext cx="0" cy="7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" name="Line 142"/>
              <p:cNvSpPr/>
              <p:nvPr/>
            </p:nvSpPr>
            <p:spPr>
              <a:xfrm rot="5400000" flipV="1">
                <a:off x="3942" y="3110"/>
                <a:ext cx="1" cy="7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" name="Line 143"/>
              <p:cNvSpPr/>
              <p:nvPr/>
            </p:nvSpPr>
            <p:spPr>
              <a:xfrm rot="5400000" flipV="1">
                <a:off x="3470" y="3095"/>
                <a:ext cx="20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" name="Freeform 144"/>
              <p:cNvSpPr/>
              <p:nvPr/>
            </p:nvSpPr>
            <p:spPr>
              <a:xfrm rot="5400000" flipV="1">
                <a:off x="3460" y="3081"/>
                <a:ext cx="247" cy="25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23" y="2"/>
                  </a:cxn>
                  <a:cxn ang="0">
                    <a:pos x="56" y="18"/>
                  </a:cxn>
                  <a:cxn ang="0">
                    <a:pos x="121" y="6"/>
                  </a:cxn>
                  <a:cxn ang="0">
                    <a:pos x="184" y="23"/>
                  </a:cxn>
                  <a:cxn ang="0">
                    <a:pos x="224" y="2"/>
                  </a:cxn>
                  <a:cxn ang="0">
                    <a:pos x="247" y="16"/>
                  </a:cxn>
                </a:cxnLst>
                <a:rect l="0" t="0" r="0" b="0"/>
                <a:pathLst>
                  <a:path w="318" h="32">
                    <a:moveTo>
                      <a:pt x="0" y="32"/>
                    </a:moveTo>
                    <a:cubicBezTo>
                      <a:pt x="9" y="18"/>
                      <a:pt x="18" y="4"/>
                      <a:pt x="30" y="2"/>
                    </a:cubicBezTo>
                    <a:cubicBezTo>
                      <a:pt x="42" y="0"/>
                      <a:pt x="51" y="22"/>
                      <a:pt x="72" y="23"/>
                    </a:cubicBezTo>
                    <a:cubicBezTo>
                      <a:pt x="93" y="24"/>
                      <a:pt x="129" y="7"/>
                      <a:pt x="156" y="8"/>
                    </a:cubicBezTo>
                    <a:cubicBezTo>
                      <a:pt x="183" y="9"/>
                      <a:pt x="215" y="30"/>
                      <a:pt x="237" y="29"/>
                    </a:cubicBezTo>
                    <a:cubicBezTo>
                      <a:pt x="259" y="28"/>
                      <a:pt x="275" y="3"/>
                      <a:pt x="288" y="2"/>
                    </a:cubicBezTo>
                    <a:cubicBezTo>
                      <a:pt x="301" y="1"/>
                      <a:pt x="309" y="10"/>
                      <a:pt x="318" y="20"/>
                    </a:cubicBez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Line 145"/>
              <p:cNvSpPr/>
              <p:nvPr/>
            </p:nvSpPr>
            <p:spPr>
              <a:xfrm rot="5400000" flipV="1">
                <a:off x="4092" y="3019"/>
                <a:ext cx="0" cy="4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" name="Line 146"/>
              <p:cNvSpPr/>
              <p:nvPr/>
            </p:nvSpPr>
            <p:spPr>
              <a:xfrm rot="5400000" flipH="1" flipV="1">
                <a:off x="4090" y="3123"/>
                <a:ext cx="1" cy="5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" name="Line 147"/>
              <p:cNvSpPr/>
              <p:nvPr/>
            </p:nvSpPr>
            <p:spPr>
              <a:xfrm rot="5400000" flipH="1" flipV="1">
                <a:off x="4113" y="3132"/>
                <a:ext cx="18" cy="1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4" name="Line 148"/>
              <p:cNvSpPr/>
              <p:nvPr/>
            </p:nvSpPr>
            <p:spPr>
              <a:xfrm rot="5400000" flipV="1">
                <a:off x="4094" y="3097"/>
                <a:ext cx="7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" name="Line 149"/>
              <p:cNvSpPr/>
              <p:nvPr/>
            </p:nvSpPr>
            <p:spPr>
              <a:xfrm rot="5400000" flipV="1">
                <a:off x="4111" y="3042"/>
                <a:ext cx="22" cy="1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6" name="Line 150"/>
              <p:cNvSpPr/>
              <p:nvPr/>
            </p:nvSpPr>
            <p:spPr>
              <a:xfrm rot="5400000" flipV="1">
                <a:off x="4065" y="3097"/>
                <a:ext cx="10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7" name="Line 151"/>
              <p:cNvSpPr/>
              <p:nvPr/>
            </p:nvSpPr>
            <p:spPr>
              <a:xfrm rot="5400000" flipH="1" flipV="1">
                <a:off x="4092" y="3031"/>
                <a:ext cx="0" cy="47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8" name="Line 152"/>
              <p:cNvSpPr/>
              <p:nvPr/>
            </p:nvSpPr>
            <p:spPr>
              <a:xfrm rot="5400000" flipV="1">
                <a:off x="4092" y="3113"/>
                <a:ext cx="1" cy="4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" name="Line 153"/>
              <p:cNvSpPr/>
              <p:nvPr/>
            </p:nvSpPr>
            <p:spPr>
              <a:xfrm rot="5400000" flipH="1" flipV="1">
                <a:off x="3944" y="3020"/>
                <a:ext cx="0" cy="7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0" name="Line 154"/>
              <p:cNvSpPr/>
              <p:nvPr/>
            </p:nvSpPr>
            <p:spPr>
              <a:xfrm rot="5400000" flipH="1" flipV="1">
                <a:off x="3944" y="3098"/>
                <a:ext cx="0" cy="7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1" name="Line 155"/>
              <p:cNvSpPr/>
              <p:nvPr/>
            </p:nvSpPr>
            <p:spPr>
              <a:xfrm rot="5400000" flipV="1">
                <a:off x="3529" y="3095"/>
                <a:ext cx="2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72" name="Line 156"/>
              <p:cNvSpPr/>
              <p:nvPr/>
            </p:nvSpPr>
            <p:spPr>
              <a:xfrm rot="5400000" flipV="1">
                <a:off x="3883" y="2736"/>
                <a:ext cx="0" cy="72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lgDashDot"/>
                <a:headEnd type="none" w="med" len="med"/>
                <a:tailEnd type="none" w="med" len="med"/>
              </a:ln>
            </p:spPr>
          </p:sp>
          <p:grpSp>
            <p:nvGrpSpPr>
              <p:cNvPr id="73" name="Group 157"/>
              <p:cNvGrpSpPr/>
              <p:nvPr/>
            </p:nvGrpSpPr>
            <p:grpSpPr>
              <a:xfrm>
                <a:off x="3974" y="2964"/>
                <a:ext cx="93" cy="266"/>
                <a:chOff x="4578" y="2128"/>
                <a:chExt cx="211" cy="674"/>
              </a:xfrm>
            </p:grpSpPr>
            <p:sp>
              <p:nvSpPr>
                <p:cNvPr id="74" name="Line 158"/>
                <p:cNvSpPr/>
                <p:nvPr/>
              </p:nvSpPr>
              <p:spPr>
                <a:xfrm rot="5400000" flipV="1">
                  <a:off x="4655" y="2726"/>
                  <a:ext cx="0" cy="15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5" name="Line 159"/>
                <p:cNvSpPr/>
                <p:nvPr/>
              </p:nvSpPr>
              <p:spPr>
                <a:xfrm rot="5400000" flipH="1" flipV="1">
                  <a:off x="4661" y="2054"/>
                  <a:ext cx="0" cy="159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6" name="Line 160"/>
                <p:cNvSpPr/>
                <p:nvPr/>
              </p:nvSpPr>
              <p:spPr>
                <a:xfrm rot="5400000" flipV="1">
                  <a:off x="4672" y="2226"/>
                  <a:ext cx="0" cy="181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7" name="Line 161"/>
                <p:cNvSpPr/>
                <p:nvPr/>
              </p:nvSpPr>
              <p:spPr>
                <a:xfrm rot="5400000" flipV="1">
                  <a:off x="4660" y="2544"/>
                  <a:ext cx="0" cy="15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8" name="Line 162"/>
                <p:cNvSpPr/>
                <p:nvPr/>
              </p:nvSpPr>
              <p:spPr>
                <a:xfrm rot="5400000" flipV="1">
                  <a:off x="4521" y="2469"/>
                  <a:ext cx="534" cy="1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9" name="Freeform 163"/>
                <p:cNvSpPr/>
                <p:nvPr/>
              </p:nvSpPr>
              <p:spPr>
                <a:xfrm rot="5400000" flipV="1">
                  <a:off x="4421" y="2434"/>
                  <a:ext cx="668" cy="67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77" y="63"/>
                    </a:cxn>
                    <a:cxn ang="0">
                      <a:pos x="183" y="32"/>
                    </a:cxn>
                    <a:cxn ang="0">
                      <a:pos x="355" y="53"/>
                    </a:cxn>
                    <a:cxn ang="0">
                      <a:pos x="497" y="21"/>
                    </a:cxn>
                    <a:cxn ang="0">
                      <a:pos x="597" y="53"/>
                    </a:cxn>
                    <a:cxn ang="0">
                      <a:pos x="668" y="0"/>
                    </a:cxn>
                  </a:cxnLst>
                  <a:rect l="0" t="0" r="0" b="0"/>
                  <a:pathLst>
                    <a:path w="339" h="38">
                      <a:moveTo>
                        <a:pt x="0" y="3"/>
                      </a:moveTo>
                      <a:cubicBezTo>
                        <a:pt x="12" y="18"/>
                        <a:pt x="24" y="34"/>
                        <a:pt x="39" y="36"/>
                      </a:cubicBezTo>
                      <a:cubicBezTo>
                        <a:pt x="54" y="38"/>
                        <a:pt x="70" y="19"/>
                        <a:pt x="93" y="18"/>
                      </a:cubicBezTo>
                      <a:cubicBezTo>
                        <a:pt x="116" y="17"/>
                        <a:pt x="154" y="31"/>
                        <a:pt x="180" y="30"/>
                      </a:cubicBezTo>
                      <a:cubicBezTo>
                        <a:pt x="206" y="29"/>
                        <a:pt x="232" y="12"/>
                        <a:pt x="252" y="12"/>
                      </a:cubicBezTo>
                      <a:cubicBezTo>
                        <a:pt x="272" y="12"/>
                        <a:pt x="289" y="32"/>
                        <a:pt x="303" y="30"/>
                      </a:cubicBezTo>
                      <a:cubicBezTo>
                        <a:pt x="317" y="28"/>
                        <a:pt x="328" y="14"/>
                        <a:pt x="339" y="0"/>
                      </a:cubicBezTo>
                    </a:path>
                  </a:pathLst>
                </a:custGeom>
                <a:noFill/>
                <a:ln w="1905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" name="Line 164"/>
                <p:cNvSpPr/>
                <p:nvPr/>
              </p:nvSpPr>
              <p:spPr>
                <a:xfrm rot="5400000" flipV="1">
                  <a:off x="4241" y="2464"/>
                  <a:ext cx="67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grpSp>
        <p:nvGrpSpPr>
          <p:cNvPr id="106" name="Group 214"/>
          <p:cNvGrpSpPr/>
          <p:nvPr/>
        </p:nvGrpSpPr>
        <p:grpSpPr>
          <a:xfrm>
            <a:off x="2766921" y="4326865"/>
            <a:ext cx="1355725" cy="1868488"/>
            <a:chOff x="1708" y="1568"/>
            <a:chExt cx="854" cy="1177"/>
          </a:xfrm>
        </p:grpSpPr>
        <p:grpSp>
          <p:nvGrpSpPr>
            <p:cNvPr id="107" name="Group 215"/>
            <p:cNvGrpSpPr/>
            <p:nvPr/>
          </p:nvGrpSpPr>
          <p:grpSpPr>
            <a:xfrm>
              <a:off x="1708" y="1641"/>
              <a:ext cx="763" cy="1104"/>
              <a:chOff x="1930" y="759"/>
              <a:chExt cx="763" cy="1104"/>
            </a:xfrm>
          </p:grpSpPr>
          <p:grpSp>
            <p:nvGrpSpPr>
              <p:cNvPr id="137" name="Group 216"/>
              <p:cNvGrpSpPr/>
              <p:nvPr/>
            </p:nvGrpSpPr>
            <p:grpSpPr>
              <a:xfrm>
                <a:off x="1930" y="1054"/>
                <a:ext cx="763" cy="809"/>
                <a:chOff x="2062" y="1054"/>
                <a:chExt cx="763" cy="809"/>
              </a:xfrm>
            </p:grpSpPr>
            <p:sp>
              <p:nvSpPr>
                <p:cNvPr id="139" name="Freeform 217"/>
                <p:cNvSpPr/>
                <p:nvPr/>
              </p:nvSpPr>
              <p:spPr>
                <a:xfrm>
                  <a:off x="2070" y="1815"/>
                  <a:ext cx="746" cy="46"/>
                </a:xfrm>
                <a:custGeom>
                  <a:avLst/>
                  <a:gdLst/>
                  <a:ahLst/>
                  <a:cxnLst>
                    <a:cxn ang="0">
                      <a:pos x="0" y="34"/>
                    </a:cxn>
                    <a:cxn ang="0">
                      <a:pos x="89" y="0"/>
                    </a:cxn>
                    <a:cxn ang="0">
                      <a:pos x="194" y="34"/>
                    </a:cxn>
                    <a:cxn ang="0">
                      <a:pos x="290" y="24"/>
                    </a:cxn>
                    <a:cxn ang="0">
                      <a:pos x="394" y="14"/>
                    </a:cxn>
                    <a:cxn ang="0">
                      <a:pos x="468" y="43"/>
                    </a:cxn>
                    <a:cxn ang="0">
                      <a:pos x="571" y="19"/>
                    </a:cxn>
                    <a:cxn ang="0">
                      <a:pos x="665" y="31"/>
                    </a:cxn>
                    <a:cxn ang="0">
                      <a:pos x="746" y="46"/>
                    </a:cxn>
                  </a:cxnLst>
                  <a:rect l="0" t="0" r="0" b="0"/>
                  <a:pathLst>
                    <a:path w="746" h="46">
                      <a:moveTo>
                        <a:pt x="0" y="34"/>
                      </a:moveTo>
                      <a:cubicBezTo>
                        <a:pt x="28" y="17"/>
                        <a:pt x="57" y="0"/>
                        <a:pt x="89" y="0"/>
                      </a:cubicBezTo>
                      <a:cubicBezTo>
                        <a:pt x="121" y="0"/>
                        <a:pt x="161" y="30"/>
                        <a:pt x="194" y="34"/>
                      </a:cubicBezTo>
                      <a:cubicBezTo>
                        <a:pt x="227" y="38"/>
                        <a:pt x="257" y="27"/>
                        <a:pt x="290" y="24"/>
                      </a:cubicBezTo>
                      <a:cubicBezTo>
                        <a:pt x="323" y="21"/>
                        <a:pt x="364" y="11"/>
                        <a:pt x="394" y="14"/>
                      </a:cubicBezTo>
                      <a:cubicBezTo>
                        <a:pt x="424" y="17"/>
                        <a:pt x="439" y="42"/>
                        <a:pt x="468" y="43"/>
                      </a:cubicBezTo>
                      <a:cubicBezTo>
                        <a:pt x="497" y="44"/>
                        <a:pt x="538" y="21"/>
                        <a:pt x="571" y="19"/>
                      </a:cubicBezTo>
                      <a:cubicBezTo>
                        <a:pt x="604" y="17"/>
                        <a:pt x="636" y="27"/>
                        <a:pt x="665" y="31"/>
                      </a:cubicBezTo>
                      <a:cubicBezTo>
                        <a:pt x="694" y="35"/>
                        <a:pt x="720" y="40"/>
                        <a:pt x="746" y="46"/>
                      </a:cubicBezTo>
                    </a:path>
                  </a:pathLst>
                </a:custGeom>
                <a:noFill/>
                <a:ln w="1270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sm" len="lg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40" name="Group 218"/>
                <p:cNvGrpSpPr/>
                <p:nvPr/>
              </p:nvGrpSpPr>
              <p:grpSpPr>
                <a:xfrm>
                  <a:off x="2062" y="1054"/>
                  <a:ext cx="763" cy="809"/>
                  <a:chOff x="2158" y="2755"/>
                  <a:chExt cx="763" cy="809"/>
                </a:xfrm>
              </p:grpSpPr>
              <p:sp>
                <p:nvSpPr>
                  <p:cNvPr id="141" name="Freeform 219"/>
                  <p:cNvSpPr/>
                  <p:nvPr/>
                </p:nvSpPr>
                <p:spPr>
                  <a:xfrm>
                    <a:off x="2158" y="2755"/>
                    <a:ext cx="763" cy="55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47" y="0"/>
                      </a:cxn>
                      <a:cxn ang="0">
                        <a:pos x="147" y="55"/>
                      </a:cxn>
                      <a:cxn ang="0">
                        <a:pos x="763" y="55"/>
                      </a:cxn>
                    </a:cxnLst>
                    <a:rect l="0" t="0" r="0" b="0"/>
                    <a:pathLst>
                      <a:path w="763" h="55">
                        <a:moveTo>
                          <a:pt x="0" y="0"/>
                        </a:moveTo>
                        <a:lnTo>
                          <a:pt x="147" y="0"/>
                        </a:lnTo>
                        <a:lnTo>
                          <a:pt x="147" y="55"/>
                        </a:lnTo>
                        <a:lnTo>
                          <a:pt x="763" y="55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sm" len="lg"/>
                    <a:tailEnd type="none" w="sm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42" name="Group 220"/>
                  <p:cNvGrpSpPr/>
                  <p:nvPr/>
                </p:nvGrpSpPr>
                <p:grpSpPr>
                  <a:xfrm>
                    <a:off x="2164" y="2755"/>
                    <a:ext cx="750" cy="809"/>
                    <a:chOff x="2164" y="2755"/>
                    <a:chExt cx="750" cy="809"/>
                  </a:xfrm>
                </p:grpSpPr>
                <p:grpSp>
                  <p:nvGrpSpPr>
                    <p:cNvPr id="143" name="Group 221"/>
                    <p:cNvGrpSpPr/>
                    <p:nvPr/>
                  </p:nvGrpSpPr>
                  <p:grpSpPr>
                    <a:xfrm>
                      <a:off x="2164" y="2755"/>
                      <a:ext cx="750" cy="809"/>
                      <a:chOff x="2014" y="2755"/>
                      <a:chExt cx="750" cy="809"/>
                    </a:xfrm>
                  </p:grpSpPr>
                  <p:sp>
                    <p:nvSpPr>
                      <p:cNvPr id="156" name="Freeform 222"/>
                      <p:cNvSpPr/>
                      <p:nvPr/>
                    </p:nvSpPr>
                    <p:spPr>
                      <a:xfrm>
                        <a:off x="2014" y="2909"/>
                        <a:ext cx="237" cy="64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69" y="72"/>
                          </a:cxn>
                          <a:cxn ang="0">
                            <a:pos x="172" y="72"/>
                          </a:cxn>
                          <a:cxn ang="0">
                            <a:pos x="196" y="79"/>
                          </a:cxn>
                          <a:cxn ang="0">
                            <a:pos x="218" y="93"/>
                          </a:cxn>
                          <a:cxn ang="0">
                            <a:pos x="232" y="110"/>
                          </a:cxn>
                          <a:cxn ang="0">
                            <a:pos x="237" y="134"/>
                          </a:cxn>
                          <a:cxn ang="0">
                            <a:pos x="237" y="163"/>
                          </a:cxn>
                          <a:cxn ang="0">
                            <a:pos x="237" y="643"/>
                          </a:cxn>
                        </a:cxnLst>
                        <a:rect l="0" t="0" r="0" b="0"/>
                        <a:pathLst>
                          <a:path w="237" h="643">
                            <a:moveTo>
                              <a:pt x="0" y="0"/>
                            </a:moveTo>
                            <a:lnTo>
                              <a:pt x="69" y="72"/>
                            </a:lnTo>
                            <a:lnTo>
                              <a:pt x="172" y="72"/>
                            </a:lnTo>
                            <a:lnTo>
                              <a:pt x="196" y="79"/>
                            </a:lnTo>
                            <a:lnTo>
                              <a:pt x="218" y="93"/>
                            </a:lnTo>
                            <a:lnTo>
                              <a:pt x="232" y="110"/>
                            </a:lnTo>
                            <a:lnTo>
                              <a:pt x="237" y="134"/>
                            </a:lnTo>
                            <a:lnTo>
                              <a:pt x="237" y="163"/>
                            </a:lnTo>
                            <a:lnTo>
                              <a:pt x="237" y="643"/>
                            </a:ln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round/>
                        <a:headEnd type="none" w="sm" len="lg"/>
                        <a:tailEnd type="none" w="sm" len="lg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57" name="Line 223"/>
                      <p:cNvSpPr/>
                      <p:nvPr/>
                    </p:nvSpPr>
                    <p:spPr>
                      <a:xfrm flipH="1">
                        <a:off x="2016" y="2983"/>
                        <a:ext cx="67" cy="478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headEnd type="none" w="sm" len="lg"/>
                        <a:tailEnd type="none" w="sm" len="lg"/>
                      </a:ln>
                    </p:spPr>
                  </p:sp>
                  <p:sp>
                    <p:nvSpPr>
                      <p:cNvPr id="158" name="Freeform 224"/>
                      <p:cNvSpPr/>
                      <p:nvPr/>
                    </p:nvSpPr>
                    <p:spPr>
                      <a:xfrm flipH="1">
                        <a:off x="2527" y="2909"/>
                        <a:ext cx="237" cy="64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69" y="72"/>
                          </a:cxn>
                          <a:cxn ang="0">
                            <a:pos x="172" y="72"/>
                          </a:cxn>
                          <a:cxn ang="0">
                            <a:pos x="196" y="79"/>
                          </a:cxn>
                          <a:cxn ang="0">
                            <a:pos x="218" y="93"/>
                          </a:cxn>
                          <a:cxn ang="0">
                            <a:pos x="232" y="110"/>
                          </a:cxn>
                          <a:cxn ang="0">
                            <a:pos x="237" y="134"/>
                          </a:cxn>
                          <a:cxn ang="0">
                            <a:pos x="237" y="163"/>
                          </a:cxn>
                          <a:cxn ang="0">
                            <a:pos x="237" y="643"/>
                          </a:cxn>
                        </a:cxnLst>
                        <a:rect l="0" t="0" r="0" b="0"/>
                        <a:pathLst>
                          <a:path w="237" h="643">
                            <a:moveTo>
                              <a:pt x="0" y="0"/>
                            </a:moveTo>
                            <a:lnTo>
                              <a:pt x="69" y="72"/>
                            </a:lnTo>
                            <a:lnTo>
                              <a:pt x="172" y="72"/>
                            </a:lnTo>
                            <a:lnTo>
                              <a:pt x="196" y="79"/>
                            </a:lnTo>
                            <a:lnTo>
                              <a:pt x="218" y="93"/>
                            </a:lnTo>
                            <a:lnTo>
                              <a:pt x="232" y="110"/>
                            </a:lnTo>
                            <a:lnTo>
                              <a:pt x="237" y="134"/>
                            </a:lnTo>
                            <a:lnTo>
                              <a:pt x="237" y="163"/>
                            </a:lnTo>
                            <a:lnTo>
                              <a:pt x="237" y="643"/>
                            </a:ln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round/>
                        <a:headEnd type="none" w="sm" len="lg"/>
                        <a:tailEnd type="none" w="sm" len="lg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59" name="Line 225"/>
                      <p:cNvSpPr/>
                      <p:nvPr/>
                    </p:nvSpPr>
                    <p:spPr>
                      <a:xfrm>
                        <a:off x="2695" y="2983"/>
                        <a:ext cx="67" cy="478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headEnd type="none" w="sm" len="lg"/>
                        <a:tailEnd type="none" w="sm" len="lg"/>
                      </a:ln>
                    </p:spPr>
                  </p:sp>
                  <p:sp>
                    <p:nvSpPr>
                      <p:cNvPr id="160" name="Line 226"/>
                      <p:cNvSpPr/>
                      <p:nvPr/>
                    </p:nvSpPr>
                    <p:spPr>
                      <a:xfrm>
                        <a:off x="2251" y="3146"/>
                        <a:ext cx="279" cy="0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headEnd type="none" w="sm" len="lg"/>
                        <a:tailEnd type="none" w="sm" len="lg"/>
                      </a:ln>
                    </p:spPr>
                  </p:sp>
                  <p:sp>
                    <p:nvSpPr>
                      <p:cNvPr id="161" name="Line 227"/>
                      <p:cNvSpPr/>
                      <p:nvPr/>
                    </p:nvSpPr>
                    <p:spPr>
                      <a:xfrm>
                        <a:off x="2762" y="2810"/>
                        <a:ext cx="0" cy="754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headEnd type="none" w="sm" len="lg"/>
                        <a:tailEnd type="none" w="sm" len="lg"/>
                      </a:ln>
                    </p:spPr>
                  </p:sp>
                  <p:sp>
                    <p:nvSpPr>
                      <p:cNvPr id="162" name="Line 228"/>
                      <p:cNvSpPr/>
                      <p:nvPr/>
                    </p:nvSpPr>
                    <p:spPr>
                      <a:xfrm>
                        <a:off x="2016" y="2755"/>
                        <a:ext cx="0" cy="797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headEnd type="none" w="sm" len="lg"/>
                        <a:tailEnd type="none" w="sm" len="lg"/>
                      </a:ln>
                    </p:spPr>
                  </p:sp>
                </p:grpSp>
                <p:grpSp>
                  <p:nvGrpSpPr>
                    <p:cNvPr id="144" name="Group 229"/>
                    <p:cNvGrpSpPr/>
                    <p:nvPr/>
                  </p:nvGrpSpPr>
                  <p:grpSpPr>
                    <a:xfrm>
                      <a:off x="2170" y="2764"/>
                      <a:ext cx="738" cy="380"/>
                      <a:chOff x="2020" y="2764"/>
                      <a:chExt cx="738" cy="380"/>
                    </a:xfrm>
                  </p:grpSpPr>
                  <p:sp>
                    <p:nvSpPr>
                      <p:cNvPr id="145" name="Line 230"/>
                      <p:cNvSpPr/>
                      <p:nvPr/>
                    </p:nvSpPr>
                    <p:spPr>
                      <a:xfrm>
                        <a:off x="2621" y="2820"/>
                        <a:ext cx="113" cy="118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sm" len="lg"/>
                        <a:tailEnd type="none" w="sm" len="lg"/>
                      </a:ln>
                    </p:spPr>
                  </p:sp>
                  <p:sp>
                    <p:nvSpPr>
                      <p:cNvPr id="146" name="Line 231"/>
                      <p:cNvSpPr/>
                      <p:nvPr/>
                    </p:nvSpPr>
                    <p:spPr>
                      <a:xfrm>
                        <a:off x="2536" y="2816"/>
                        <a:ext cx="159" cy="162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sm" len="lg"/>
                        <a:tailEnd type="none" w="sm" len="lg"/>
                      </a:ln>
                    </p:spPr>
                  </p:sp>
                  <p:sp>
                    <p:nvSpPr>
                      <p:cNvPr id="147" name="Line 232"/>
                      <p:cNvSpPr/>
                      <p:nvPr/>
                    </p:nvSpPr>
                    <p:spPr>
                      <a:xfrm>
                        <a:off x="2459" y="2816"/>
                        <a:ext cx="155" cy="160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sm" len="lg"/>
                        <a:tailEnd type="none" w="sm" len="lg"/>
                      </a:ln>
                    </p:spPr>
                  </p:sp>
                  <p:sp>
                    <p:nvSpPr>
                      <p:cNvPr id="148" name="Line 233"/>
                      <p:cNvSpPr/>
                      <p:nvPr/>
                    </p:nvSpPr>
                    <p:spPr>
                      <a:xfrm>
                        <a:off x="2084" y="2764"/>
                        <a:ext cx="362" cy="376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sm" len="lg"/>
                        <a:tailEnd type="none" w="sm" len="lg"/>
                      </a:ln>
                    </p:spPr>
                  </p:sp>
                  <p:sp>
                    <p:nvSpPr>
                      <p:cNvPr id="149" name="Line 234"/>
                      <p:cNvSpPr/>
                      <p:nvPr/>
                    </p:nvSpPr>
                    <p:spPr>
                      <a:xfrm>
                        <a:off x="2209" y="2816"/>
                        <a:ext cx="306" cy="316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sm" len="lg"/>
                        <a:tailEnd type="none" w="sm" len="lg"/>
                      </a:ln>
                    </p:spPr>
                  </p:sp>
                  <p:sp>
                    <p:nvSpPr>
                      <p:cNvPr id="150" name="Line 235"/>
                      <p:cNvSpPr/>
                      <p:nvPr/>
                    </p:nvSpPr>
                    <p:spPr>
                      <a:xfrm>
                        <a:off x="2296" y="2819"/>
                        <a:ext cx="223" cy="232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sm" len="lg"/>
                        <a:tailEnd type="none" w="sm" len="lg"/>
                      </a:ln>
                    </p:spPr>
                  </p:sp>
                  <p:sp>
                    <p:nvSpPr>
                      <p:cNvPr id="151" name="Line 236"/>
                      <p:cNvSpPr/>
                      <p:nvPr/>
                    </p:nvSpPr>
                    <p:spPr>
                      <a:xfrm>
                        <a:off x="2378" y="2819"/>
                        <a:ext cx="169" cy="177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sm" len="lg"/>
                        <a:tailEnd type="none" w="sm" len="lg"/>
                      </a:ln>
                    </p:spPr>
                  </p:sp>
                  <p:sp>
                    <p:nvSpPr>
                      <p:cNvPr id="152" name="Line 237"/>
                      <p:cNvSpPr/>
                      <p:nvPr/>
                    </p:nvSpPr>
                    <p:spPr>
                      <a:xfrm>
                        <a:off x="2025" y="2775"/>
                        <a:ext cx="345" cy="366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sm" len="lg"/>
                        <a:tailEnd type="none" w="sm" len="lg"/>
                      </a:ln>
                    </p:spPr>
                  </p:sp>
                  <p:sp>
                    <p:nvSpPr>
                      <p:cNvPr id="153" name="Line 238"/>
                      <p:cNvSpPr/>
                      <p:nvPr/>
                    </p:nvSpPr>
                    <p:spPr>
                      <a:xfrm>
                        <a:off x="2020" y="2852"/>
                        <a:ext cx="116" cy="120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sm" len="lg"/>
                        <a:tailEnd type="none" w="sm" len="lg"/>
                      </a:ln>
                    </p:spPr>
                  </p:sp>
                  <p:sp>
                    <p:nvSpPr>
                      <p:cNvPr id="154" name="Line 239"/>
                      <p:cNvSpPr/>
                      <p:nvPr/>
                    </p:nvSpPr>
                    <p:spPr>
                      <a:xfrm>
                        <a:off x="2260" y="3099"/>
                        <a:ext cx="45" cy="45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sm" len="lg"/>
                        <a:tailEnd type="none" w="sm" len="lg"/>
                      </a:ln>
                    </p:spPr>
                  </p:sp>
                  <p:sp>
                    <p:nvSpPr>
                      <p:cNvPr id="155" name="Line 240"/>
                      <p:cNvSpPr/>
                      <p:nvPr/>
                    </p:nvSpPr>
                    <p:spPr>
                      <a:xfrm>
                        <a:off x="2699" y="2819"/>
                        <a:ext cx="59" cy="6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sm" len="lg"/>
                        <a:tailEnd type="none" w="sm" len="lg"/>
                      </a:ln>
                    </p:spPr>
                  </p:sp>
                </p:grpSp>
              </p:grpSp>
            </p:grpSp>
          </p:grpSp>
          <p:sp>
            <p:nvSpPr>
              <p:cNvPr id="138" name="Line 241"/>
              <p:cNvSpPr/>
              <p:nvPr/>
            </p:nvSpPr>
            <p:spPr>
              <a:xfrm>
                <a:off x="2311" y="759"/>
                <a:ext cx="0" cy="1097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lgDashDot"/>
                <a:headEnd type="none" w="sm" len="lg"/>
                <a:tailEnd type="none" w="sm" len="lg"/>
              </a:ln>
            </p:spPr>
          </p:sp>
        </p:grpSp>
        <p:grpSp>
          <p:nvGrpSpPr>
            <p:cNvPr id="108" name="Group 242"/>
            <p:cNvGrpSpPr/>
            <p:nvPr/>
          </p:nvGrpSpPr>
          <p:grpSpPr>
            <a:xfrm>
              <a:off x="1717" y="1568"/>
              <a:ext cx="749" cy="423"/>
              <a:chOff x="2068" y="685"/>
              <a:chExt cx="749" cy="423"/>
            </a:xfrm>
          </p:grpSpPr>
          <p:grpSp>
            <p:nvGrpSpPr>
              <p:cNvPr id="119" name="Group 243"/>
              <p:cNvGrpSpPr/>
              <p:nvPr/>
            </p:nvGrpSpPr>
            <p:grpSpPr>
              <a:xfrm>
                <a:off x="2068" y="829"/>
                <a:ext cx="749" cy="279"/>
                <a:chOff x="2014" y="2530"/>
                <a:chExt cx="749" cy="279"/>
              </a:xfrm>
            </p:grpSpPr>
            <p:sp>
              <p:nvSpPr>
                <p:cNvPr id="125" name="Line 244"/>
                <p:cNvSpPr/>
                <p:nvPr/>
              </p:nvSpPr>
              <p:spPr>
                <a:xfrm flipV="1">
                  <a:off x="2014" y="2549"/>
                  <a:ext cx="96" cy="84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126" name="Line 245"/>
                <p:cNvSpPr/>
                <p:nvPr/>
              </p:nvSpPr>
              <p:spPr>
                <a:xfrm flipV="1">
                  <a:off x="2018" y="2578"/>
                  <a:ext cx="132" cy="12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127" name="Line 246"/>
                <p:cNvSpPr/>
                <p:nvPr/>
              </p:nvSpPr>
              <p:spPr>
                <a:xfrm flipV="1">
                  <a:off x="2083" y="2610"/>
                  <a:ext cx="112" cy="112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128" name="Line 247"/>
                <p:cNvSpPr/>
                <p:nvPr/>
              </p:nvSpPr>
              <p:spPr>
                <a:xfrm flipV="1">
                  <a:off x="2152" y="2628"/>
                  <a:ext cx="98" cy="9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129" name="Line 248"/>
                <p:cNvSpPr/>
                <p:nvPr/>
              </p:nvSpPr>
              <p:spPr>
                <a:xfrm flipV="1">
                  <a:off x="2169" y="2652"/>
                  <a:ext cx="132" cy="12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130" name="Line 249"/>
                <p:cNvSpPr/>
                <p:nvPr/>
              </p:nvSpPr>
              <p:spPr>
                <a:xfrm flipV="1">
                  <a:off x="2213" y="2653"/>
                  <a:ext cx="158" cy="15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131" name="Line 250"/>
                <p:cNvSpPr/>
                <p:nvPr/>
              </p:nvSpPr>
              <p:spPr>
                <a:xfrm flipV="1">
                  <a:off x="2291" y="2645"/>
                  <a:ext cx="164" cy="158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132" name="Line 251"/>
                <p:cNvSpPr/>
                <p:nvPr/>
              </p:nvSpPr>
              <p:spPr>
                <a:xfrm flipV="1">
                  <a:off x="2367" y="2628"/>
                  <a:ext cx="173" cy="172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133" name="Line 252"/>
                <p:cNvSpPr/>
                <p:nvPr/>
              </p:nvSpPr>
              <p:spPr>
                <a:xfrm flipV="1">
                  <a:off x="2437" y="2530"/>
                  <a:ext cx="272" cy="273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134" name="Line 253"/>
                <p:cNvSpPr/>
                <p:nvPr/>
              </p:nvSpPr>
              <p:spPr>
                <a:xfrm flipV="1">
                  <a:off x="2496" y="2561"/>
                  <a:ext cx="250" cy="245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135" name="Line 254"/>
                <p:cNvSpPr/>
                <p:nvPr/>
              </p:nvSpPr>
              <p:spPr>
                <a:xfrm flipV="1">
                  <a:off x="2557" y="2616"/>
                  <a:ext cx="206" cy="18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136" name="Line 255"/>
                <p:cNvSpPr/>
                <p:nvPr/>
              </p:nvSpPr>
              <p:spPr>
                <a:xfrm flipV="1">
                  <a:off x="2635" y="2690"/>
                  <a:ext cx="123" cy="115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</p:grpSp>
          <p:sp>
            <p:nvSpPr>
              <p:cNvPr id="120" name="Freeform 256"/>
              <p:cNvSpPr/>
              <p:nvPr/>
            </p:nvSpPr>
            <p:spPr>
              <a:xfrm>
                <a:off x="2128" y="755"/>
                <a:ext cx="625" cy="195"/>
              </a:xfrm>
              <a:custGeom>
                <a:avLst/>
                <a:gdLst/>
                <a:ahLst/>
                <a:cxnLst>
                  <a:cxn ang="0">
                    <a:pos x="0" y="61"/>
                  </a:cxn>
                  <a:cxn ang="0">
                    <a:pos x="72" y="0"/>
                  </a:cxn>
                  <a:cxn ang="0">
                    <a:pos x="145" y="0"/>
                  </a:cxn>
                  <a:cxn ang="0">
                    <a:pos x="169" y="19"/>
                  </a:cxn>
                  <a:cxn ang="0">
                    <a:pos x="196" y="32"/>
                  </a:cxn>
                  <a:cxn ang="0">
                    <a:pos x="220" y="43"/>
                  </a:cxn>
                  <a:cxn ang="0">
                    <a:pos x="257" y="54"/>
                  </a:cxn>
                  <a:cxn ang="0">
                    <a:pos x="302" y="62"/>
                  </a:cxn>
                  <a:cxn ang="0">
                    <a:pos x="358" y="61"/>
                  </a:cxn>
                  <a:cxn ang="0">
                    <a:pos x="398" y="51"/>
                  </a:cxn>
                  <a:cxn ang="0">
                    <a:pos x="443" y="35"/>
                  </a:cxn>
                  <a:cxn ang="0">
                    <a:pos x="476" y="13"/>
                  </a:cxn>
                  <a:cxn ang="0">
                    <a:pos x="579" y="13"/>
                  </a:cxn>
                  <a:cxn ang="0">
                    <a:pos x="625" y="56"/>
                  </a:cxn>
                  <a:cxn ang="0">
                    <a:pos x="612" y="72"/>
                  </a:cxn>
                  <a:cxn ang="0">
                    <a:pos x="588" y="94"/>
                  </a:cxn>
                  <a:cxn ang="0">
                    <a:pos x="560" y="115"/>
                  </a:cxn>
                  <a:cxn ang="0">
                    <a:pos x="526" y="138"/>
                  </a:cxn>
                  <a:cxn ang="0">
                    <a:pos x="491" y="158"/>
                  </a:cxn>
                  <a:cxn ang="0">
                    <a:pos x="451" y="174"/>
                  </a:cxn>
                  <a:cxn ang="0">
                    <a:pos x="398" y="190"/>
                  </a:cxn>
                  <a:cxn ang="0">
                    <a:pos x="348" y="195"/>
                  </a:cxn>
                  <a:cxn ang="0">
                    <a:pos x="268" y="195"/>
                  </a:cxn>
                  <a:cxn ang="0">
                    <a:pos x="214" y="186"/>
                  </a:cxn>
                  <a:cxn ang="0">
                    <a:pos x="179" y="173"/>
                  </a:cxn>
                  <a:cxn ang="0">
                    <a:pos x="140" y="158"/>
                  </a:cxn>
                  <a:cxn ang="0">
                    <a:pos x="92" y="130"/>
                  </a:cxn>
                  <a:cxn ang="0">
                    <a:pos x="44" y="96"/>
                  </a:cxn>
                  <a:cxn ang="0">
                    <a:pos x="24" y="77"/>
                  </a:cxn>
                  <a:cxn ang="0">
                    <a:pos x="3" y="58"/>
                  </a:cxn>
                </a:cxnLst>
                <a:rect l="0" t="0" r="0" b="0"/>
                <a:pathLst>
                  <a:path w="625" h="195">
                    <a:moveTo>
                      <a:pt x="0" y="61"/>
                    </a:moveTo>
                    <a:lnTo>
                      <a:pt x="72" y="0"/>
                    </a:lnTo>
                    <a:lnTo>
                      <a:pt x="145" y="0"/>
                    </a:lnTo>
                    <a:lnTo>
                      <a:pt x="169" y="19"/>
                    </a:lnTo>
                    <a:lnTo>
                      <a:pt x="196" y="32"/>
                    </a:lnTo>
                    <a:lnTo>
                      <a:pt x="220" y="43"/>
                    </a:lnTo>
                    <a:lnTo>
                      <a:pt x="257" y="54"/>
                    </a:lnTo>
                    <a:lnTo>
                      <a:pt x="302" y="62"/>
                    </a:lnTo>
                    <a:lnTo>
                      <a:pt x="358" y="61"/>
                    </a:lnTo>
                    <a:lnTo>
                      <a:pt x="398" y="51"/>
                    </a:lnTo>
                    <a:lnTo>
                      <a:pt x="443" y="35"/>
                    </a:lnTo>
                    <a:lnTo>
                      <a:pt x="476" y="13"/>
                    </a:lnTo>
                    <a:lnTo>
                      <a:pt x="579" y="13"/>
                    </a:lnTo>
                    <a:lnTo>
                      <a:pt x="625" y="56"/>
                    </a:lnTo>
                    <a:lnTo>
                      <a:pt x="612" y="72"/>
                    </a:lnTo>
                    <a:lnTo>
                      <a:pt x="588" y="94"/>
                    </a:lnTo>
                    <a:lnTo>
                      <a:pt x="560" y="115"/>
                    </a:lnTo>
                    <a:lnTo>
                      <a:pt x="526" y="138"/>
                    </a:lnTo>
                    <a:lnTo>
                      <a:pt x="491" y="158"/>
                    </a:lnTo>
                    <a:lnTo>
                      <a:pt x="451" y="174"/>
                    </a:lnTo>
                    <a:lnTo>
                      <a:pt x="398" y="190"/>
                    </a:lnTo>
                    <a:lnTo>
                      <a:pt x="348" y="195"/>
                    </a:lnTo>
                    <a:lnTo>
                      <a:pt x="268" y="195"/>
                    </a:lnTo>
                    <a:lnTo>
                      <a:pt x="214" y="186"/>
                    </a:lnTo>
                    <a:lnTo>
                      <a:pt x="179" y="173"/>
                    </a:lnTo>
                    <a:lnTo>
                      <a:pt x="140" y="158"/>
                    </a:lnTo>
                    <a:lnTo>
                      <a:pt x="92" y="130"/>
                    </a:lnTo>
                    <a:lnTo>
                      <a:pt x="44" y="96"/>
                    </a:lnTo>
                    <a:lnTo>
                      <a:pt x="24" y="77"/>
                    </a:lnTo>
                    <a:lnTo>
                      <a:pt x="3" y="5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Freeform 257"/>
              <p:cNvSpPr/>
              <p:nvPr/>
            </p:nvSpPr>
            <p:spPr>
              <a:xfrm>
                <a:off x="2070" y="812"/>
                <a:ext cx="62" cy="242"/>
              </a:xfrm>
              <a:custGeom>
                <a:avLst/>
                <a:gdLst/>
                <a:ahLst/>
                <a:cxnLst>
                  <a:cxn ang="0">
                    <a:pos x="62" y="0"/>
                  </a:cxn>
                  <a:cxn ang="0">
                    <a:pos x="0" y="55"/>
                  </a:cxn>
                  <a:cxn ang="0">
                    <a:pos x="0" y="242"/>
                  </a:cxn>
                </a:cxnLst>
                <a:rect l="0" t="0" r="0" b="0"/>
                <a:pathLst>
                  <a:path w="62" h="242">
                    <a:moveTo>
                      <a:pt x="62" y="0"/>
                    </a:moveTo>
                    <a:lnTo>
                      <a:pt x="0" y="55"/>
                    </a:lnTo>
                    <a:lnTo>
                      <a:pt x="0" y="242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Freeform 258"/>
              <p:cNvSpPr/>
              <p:nvPr/>
            </p:nvSpPr>
            <p:spPr>
              <a:xfrm>
                <a:off x="2754" y="812"/>
                <a:ext cx="62" cy="29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2" y="55"/>
                  </a:cxn>
                  <a:cxn ang="0">
                    <a:pos x="62" y="293"/>
                  </a:cxn>
                </a:cxnLst>
                <a:rect l="0" t="0" r="0" b="0"/>
                <a:pathLst>
                  <a:path w="62" h="293">
                    <a:moveTo>
                      <a:pt x="0" y="0"/>
                    </a:moveTo>
                    <a:lnTo>
                      <a:pt x="62" y="55"/>
                    </a:lnTo>
                    <a:lnTo>
                      <a:pt x="62" y="293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Freeform 259"/>
              <p:cNvSpPr/>
              <p:nvPr/>
            </p:nvSpPr>
            <p:spPr>
              <a:xfrm>
                <a:off x="2070" y="1025"/>
                <a:ext cx="142" cy="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2" y="0"/>
                  </a:cxn>
                  <a:cxn ang="0">
                    <a:pos x="142" y="63"/>
                  </a:cxn>
                </a:cxnLst>
                <a:rect l="0" t="0" r="0" b="0"/>
                <a:pathLst>
                  <a:path w="142" h="63">
                    <a:moveTo>
                      <a:pt x="0" y="0"/>
                    </a:moveTo>
                    <a:lnTo>
                      <a:pt x="142" y="0"/>
                    </a:lnTo>
                    <a:lnTo>
                      <a:pt x="142" y="63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Freeform 260"/>
              <p:cNvSpPr/>
              <p:nvPr/>
            </p:nvSpPr>
            <p:spPr>
              <a:xfrm>
                <a:off x="2137" y="685"/>
                <a:ext cx="611" cy="19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55" y="73"/>
                  </a:cxn>
                  <a:cxn ang="0">
                    <a:pos x="87" y="107"/>
                  </a:cxn>
                  <a:cxn ang="0">
                    <a:pos x="133" y="140"/>
                  </a:cxn>
                  <a:cxn ang="0">
                    <a:pos x="184" y="166"/>
                  </a:cxn>
                  <a:cxn ang="0">
                    <a:pos x="245" y="187"/>
                  </a:cxn>
                  <a:cxn ang="0">
                    <a:pos x="269" y="190"/>
                  </a:cxn>
                  <a:cxn ang="0">
                    <a:pos x="357" y="190"/>
                  </a:cxn>
                  <a:cxn ang="0">
                    <a:pos x="397" y="182"/>
                  </a:cxn>
                  <a:cxn ang="0">
                    <a:pos x="456" y="160"/>
                  </a:cxn>
                  <a:cxn ang="0">
                    <a:pos x="514" y="123"/>
                  </a:cxn>
                  <a:cxn ang="0">
                    <a:pos x="554" y="84"/>
                  </a:cxn>
                  <a:cxn ang="0">
                    <a:pos x="586" y="43"/>
                  </a:cxn>
                  <a:cxn ang="0">
                    <a:pos x="611" y="0"/>
                  </a:cxn>
                </a:cxnLst>
                <a:rect l="0" t="0" r="0" b="0"/>
                <a:pathLst>
                  <a:path w="611" h="190">
                    <a:moveTo>
                      <a:pt x="0" y="6"/>
                    </a:moveTo>
                    <a:lnTo>
                      <a:pt x="55" y="73"/>
                    </a:lnTo>
                    <a:lnTo>
                      <a:pt x="87" y="107"/>
                    </a:lnTo>
                    <a:lnTo>
                      <a:pt x="133" y="140"/>
                    </a:lnTo>
                    <a:lnTo>
                      <a:pt x="184" y="166"/>
                    </a:lnTo>
                    <a:lnTo>
                      <a:pt x="245" y="187"/>
                    </a:lnTo>
                    <a:lnTo>
                      <a:pt x="269" y="190"/>
                    </a:lnTo>
                    <a:lnTo>
                      <a:pt x="357" y="190"/>
                    </a:lnTo>
                    <a:lnTo>
                      <a:pt x="397" y="182"/>
                    </a:lnTo>
                    <a:lnTo>
                      <a:pt x="456" y="160"/>
                    </a:lnTo>
                    <a:lnTo>
                      <a:pt x="514" y="123"/>
                    </a:lnTo>
                    <a:lnTo>
                      <a:pt x="554" y="84"/>
                    </a:lnTo>
                    <a:lnTo>
                      <a:pt x="586" y="43"/>
                    </a:lnTo>
                    <a:lnTo>
                      <a:pt x="611" y="0"/>
                    </a:lnTo>
                  </a:path>
                </a:pathLst>
              </a:custGeom>
              <a:noFill/>
              <a:ln w="12700" cap="flat" cmpd="sng">
                <a:solidFill>
                  <a:schemeClr val="tx1">
                    <a:alpha val="100000"/>
                  </a:schemeClr>
                </a:solidFill>
                <a:prstDash val="lgDashDot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9" name="Group 261"/>
            <p:cNvGrpSpPr/>
            <p:nvPr/>
          </p:nvGrpSpPr>
          <p:grpSpPr>
            <a:xfrm>
              <a:off x="2141" y="1940"/>
              <a:ext cx="421" cy="146"/>
              <a:chOff x="1763" y="2622"/>
              <a:chExt cx="421" cy="146"/>
            </a:xfrm>
          </p:grpSpPr>
          <p:sp>
            <p:nvSpPr>
              <p:cNvPr id="110" name="Freeform 262"/>
              <p:cNvSpPr/>
              <p:nvPr/>
            </p:nvSpPr>
            <p:spPr>
              <a:xfrm>
                <a:off x="1806" y="2622"/>
                <a:ext cx="279" cy="146"/>
              </a:xfrm>
              <a:custGeom>
                <a:avLst/>
                <a:gdLst/>
                <a:ahLst/>
                <a:cxnLst>
                  <a:cxn ang="0">
                    <a:pos x="0" y="76"/>
                  </a:cxn>
                  <a:cxn ang="0">
                    <a:pos x="37" y="121"/>
                  </a:cxn>
                  <a:cxn ang="0">
                    <a:pos x="60" y="124"/>
                  </a:cxn>
                  <a:cxn ang="0">
                    <a:pos x="60" y="146"/>
                  </a:cxn>
                  <a:cxn ang="0">
                    <a:pos x="279" y="146"/>
                  </a:cxn>
                  <a:cxn ang="0">
                    <a:pos x="279" y="0"/>
                  </a:cxn>
                  <a:cxn ang="0">
                    <a:pos x="60" y="0"/>
                  </a:cxn>
                  <a:cxn ang="0">
                    <a:pos x="57" y="11"/>
                  </a:cxn>
                  <a:cxn ang="0">
                    <a:pos x="60" y="22"/>
                  </a:cxn>
                  <a:cxn ang="0">
                    <a:pos x="37" y="22"/>
                  </a:cxn>
                  <a:cxn ang="0">
                    <a:pos x="0" y="76"/>
                  </a:cxn>
                </a:cxnLst>
                <a:rect l="0" t="0" r="0" b="0"/>
                <a:pathLst>
                  <a:path w="279" h="146">
                    <a:moveTo>
                      <a:pt x="0" y="76"/>
                    </a:moveTo>
                    <a:lnTo>
                      <a:pt x="37" y="121"/>
                    </a:lnTo>
                    <a:lnTo>
                      <a:pt x="60" y="124"/>
                    </a:lnTo>
                    <a:lnTo>
                      <a:pt x="60" y="146"/>
                    </a:lnTo>
                    <a:lnTo>
                      <a:pt x="279" y="146"/>
                    </a:lnTo>
                    <a:lnTo>
                      <a:pt x="279" y="0"/>
                    </a:lnTo>
                    <a:lnTo>
                      <a:pt x="60" y="0"/>
                    </a:lnTo>
                    <a:lnTo>
                      <a:pt x="57" y="11"/>
                    </a:lnTo>
                    <a:lnTo>
                      <a:pt x="60" y="22"/>
                    </a:lnTo>
                    <a:lnTo>
                      <a:pt x="37" y="22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31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Rectangle 263"/>
              <p:cNvSpPr/>
              <p:nvPr/>
            </p:nvSpPr>
            <p:spPr>
              <a:xfrm>
                <a:off x="1872" y="2629"/>
                <a:ext cx="206" cy="132"/>
              </a:xfrm>
              <a:prstGeom prst="rect">
                <a:avLst/>
              </a:prstGeom>
              <a:solidFill>
                <a:srgbClr val="FFFFFF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" name="Line 264"/>
              <p:cNvSpPr/>
              <p:nvPr/>
            </p:nvSpPr>
            <p:spPr>
              <a:xfrm>
                <a:off x="1841" y="2648"/>
                <a:ext cx="23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113" name="Line 265"/>
              <p:cNvSpPr/>
              <p:nvPr/>
            </p:nvSpPr>
            <p:spPr>
              <a:xfrm>
                <a:off x="1845" y="2740"/>
                <a:ext cx="22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114" name="Line 266"/>
              <p:cNvSpPr/>
              <p:nvPr/>
            </p:nvSpPr>
            <p:spPr>
              <a:xfrm>
                <a:off x="1847" y="2653"/>
                <a:ext cx="0" cy="8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115" name="Freeform 267"/>
              <p:cNvSpPr/>
              <p:nvPr/>
            </p:nvSpPr>
            <p:spPr>
              <a:xfrm>
                <a:off x="1811" y="2650"/>
                <a:ext cx="36" cy="91"/>
              </a:xfrm>
              <a:custGeom>
                <a:avLst/>
                <a:gdLst/>
                <a:ahLst/>
                <a:cxnLst>
                  <a:cxn ang="0">
                    <a:pos x="34" y="0"/>
                  </a:cxn>
                  <a:cxn ang="0">
                    <a:pos x="0" y="46"/>
                  </a:cxn>
                  <a:cxn ang="0">
                    <a:pos x="36" y="91"/>
                  </a:cxn>
                </a:cxnLst>
                <a:rect l="0" t="0" r="0" b="0"/>
                <a:pathLst>
                  <a:path w="36" h="91">
                    <a:moveTo>
                      <a:pt x="34" y="0"/>
                    </a:moveTo>
                    <a:lnTo>
                      <a:pt x="0" y="46"/>
                    </a:lnTo>
                    <a:lnTo>
                      <a:pt x="36" y="91"/>
                    </a:lnTo>
                  </a:path>
                </a:pathLst>
              </a:custGeom>
              <a:solidFill>
                <a:srgbClr val="FFFFFF">
                  <a:alpha val="100000"/>
                </a:srgbClr>
              </a:solidFill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Rectangle 268"/>
              <p:cNvSpPr/>
              <p:nvPr/>
            </p:nvSpPr>
            <p:spPr>
              <a:xfrm>
                <a:off x="2036" y="2675"/>
                <a:ext cx="44" cy="33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7" name="Line 269"/>
              <p:cNvSpPr/>
              <p:nvPr/>
            </p:nvSpPr>
            <p:spPr>
              <a:xfrm>
                <a:off x="2065" y="2692"/>
                <a:ext cx="3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118" name="Line 270"/>
              <p:cNvSpPr/>
              <p:nvPr/>
            </p:nvSpPr>
            <p:spPr>
              <a:xfrm>
                <a:off x="1763" y="2694"/>
                <a:ext cx="421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lgDashDot"/>
                <a:headEnd type="none" w="sm" len="lg"/>
                <a:tailEnd type="none" w="sm" len="lg"/>
              </a:ln>
            </p:spPr>
          </p:sp>
        </p:grpSp>
      </p:grpSp>
      <p:sp>
        <p:nvSpPr>
          <p:cNvPr id="163" name="Text Box 272"/>
          <p:cNvSpPr txBox="1"/>
          <p:nvPr/>
        </p:nvSpPr>
        <p:spPr>
          <a:xfrm>
            <a:off x="683730" y="6165190"/>
            <a:ext cx="8382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6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整体式</a:t>
            </a:r>
            <a:endParaRPr lang="zh-CN" altLang="en-US" sz="16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4" name="Text Box 273"/>
          <p:cNvSpPr txBox="1"/>
          <p:nvPr/>
        </p:nvSpPr>
        <p:spPr>
          <a:xfrm>
            <a:off x="2771875" y="6237195"/>
            <a:ext cx="12954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6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过盈组合式</a:t>
            </a:r>
            <a:endParaRPr lang="zh-CN" altLang="en-US" sz="16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5" name="Text Box 274"/>
          <p:cNvSpPr txBox="1"/>
          <p:nvPr/>
        </p:nvSpPr>
        <p:spPr>
          <a:xfrm>
            <a:off x="5160870" y="6193765"/>
            <a:ext cx="12954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6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螺栓组合式</a:t>
            </a:r>
            <a:endParaRPr lang="zh-CN" altLang="en-US" sz="16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6" name="Text Box 275"/>
          <p:cNvSpPr txBox="1"/>
          <p:nvPr/>
        </p:nvSpPr>
        <p:spPr>
          <a:xfrm>
            <a:off x="7380195" y="6165190"/>
            <a:ext cx="12954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6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拼铸组合式</a:t>
            </a:r>
            <a:endParaRPr lang="zh-CN" altLang="en-US" sz="16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7" name="Text Box 276"/>
          <p:cNvSpPr txBox="1"/>
          <p:nvPr/>
        </p:nvSpPr>
        <p:spPr>
          <a:xfrm>
            <a:off x="2265270" y="4031590"/>
            <a:ext cx="9144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6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过盈面</a:t>
            </a:r>
            <a:endParaRPr lang="zh-CN" altLang="en-US" sz="16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8" name="Line 277"/>
          <p:cNvSpPr/>
          <p:nvPr/>
        </p:nvSpPr>
        <p:spPr>
          <a:xfrm>
            <a:off x="2646270" y="4317340"/>
            <a:ext cx="609600" cy="685800"/>
          </a:xfrm>
          <a:prstGeom prst="line">
            <a:avLst/>
          </a:prstGeom>
          <a:ln w="15875" cap="flat" cmpd="sng">
            <a:solidFill>
              <a:srgbClr val="0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9" name="Text Box 278"/>
          <p:cNvSpPr txBox="1"/>
          <p:nvPr/>
        </p:nvSpPr>
        <p:spPr>
          <a:xfrm>
            <a:off x="4179795" y="5107916"/>
            <a:ext cx="762000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6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骑缝螺钉</a:t>
            </a:r>
            <a:endParaRPr lang="zh-CN" altLang="en-US" sz="16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0" name="Line 279"/>
          <p:cNvSpPr/>
          <p:nvPr/>
        </p:nvSpPr>
        <p:spPr>
          <a:xfrm flipH="1" flipV="1">
            <a:off x="3865470" y="5022190"/>
            <a:ext cx="381000" cy="228600"/>
          </a:xfrm>
          <a:prstGeom prst="line">
            <a:avLst/>
          </a:prstGeom>
          <a:ln w="15875" cap="flat" cmpd="sng">
            <a:solidFill>
              <a:srgbClr val="0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1" name="Text Box 280"/>
          <p:cNvSpPr txBox="1"/>
          <p:nvPr/>
        </p:nvSpPr>
        <p:spPr>
          <a:xfrm>
            <a:off x="6380070" y="4564990"/>
            <a:ext cx="7620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6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螺拴</a:t>
            </a:r>
            <a:endParaRPr lang="zh-CN" altLang="en-US" sz="16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2" name="Line 281"/>
          <p:cNvSpPr/>
          <p:nvPr/>
        </p:nvSpPr>
        <p:spPr>
          <a:xfrm flipH="1">
            <a:off x="6189570" y="4869790"/>
            <a:ext cx="381000" cy="457200"/>
          </a:xfrm>
          <a:prstGeom prst="line">
            <a:avLst/>
          </a:prstGeom>
          <a:ln w="15875" cap="flat" cmpd="sng">
            <a:solidFill>
              <a:srgbClr val="0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3" name="Rectangle 282"/>
          <p:cNvSpPr/>
          <p:nvPr/>
        </p:nvSpPr>
        <p:spPr>
          <a:xfrm>
            <a:off x="5646646" y="5279366"/>
            <a:ext cx="104775" cy="1809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4" name="Text Box 283"/>
          <p:cNvSpPr txBox="1"/>
          <p:nvPr/>
        </p:nvSpPr>
        <p:spPr>
          <a:xfrm>
            <a:off x="6837270" y="5479390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轮芯</a:t>
            </a:r>
            <a:endParaRPr lang="zh-CN" altLang="en-US" sz="14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5" name="Line 284"/>
          <p:cNvSpPr/>
          <p:nvPr/>
        </p:nvSpPr>
        <p:spPr>
          <a:xfrm flipH="1">
            <a:off x="7218270" y="5069815"/>
            <a:ext cx="381000" cy="457200"/>
          </a:xfrm>
          <a:prstGeom prst="line">
            <a:avLst/>
          </a:prstGeom>
          <a:ln w="15875" cap="flat" cmpd="sng">
            <a:solidFill>
              <a:srgbClr val="0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6" name="Text Box 285"/>
          <p:cNvSpPr txBox="1"/>
          <p:nvPr/>
        </p:nvSpPr>
        <p:spPr>
          <a:xfrm>
            <a:off x="6580095" y="3917290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轮缘</a:t>
            </a:r>
            <a:endParaRPr lang="zh-CN" altLang="en-US" sz="14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7" name="Line 286"/>
          <p:cNvSpPr/>
          <p:nvPr/>
        </p:nvSpPr>
        <p:spPr>
          <a:xfrm flipH="1">
            <a:off x="6237196" y="4183990"/>
            <a:ext cx="447675" cy="457200"/>
          </a:xfrm>
          <a:prstGeom prst="line">
            <a:avLst/>
          </a:prstGeom>
          <a:ln w="15875" cap="flat" cmpd="sng">
            <a:solidFill>
              <a:srgbClr val="0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8" name="Line 287"/>
          <p:cNvSpPr/>
          <p:nvPr/>
        </p:nvSpPr>
        <p:spPr>
          <a:xfrm>
            <a:off x="7056346" y="4183990"/>
            <a:ext cx="542925" cy="457200"/>
          </a:xfrm>
          <a:prstGeom prst="line">
            <a:avLst/>
          </a:prstGeom>
          <a:ln w="15875" cap="flat" cmpd="sng">
            <a:solidFill>
              <a:srgbClr val="0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9" name="Text Box 288"/>
          <p:cNvSpPr txBox="1"/>
          <p:nvPr/>
        </p:nvSpPr>
        <p:spPr>
          <a:xfrm>
            <a:off x="4017870" y="4031590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轮缘</a:t>
            </a:r>
            <a:endParaRPr lang="zh-CN" altLang="en-US" sz="14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0" name="Line 289"/>
          <p:cNvSpPr/>
          <p:nvPr/>
        </p:nvSpPr>
        <p:spPr>
          <a:xfrm flipH="1">
            <a:off x="3713071" y="4336390"/>
            <a:ext cx="447675" cy="457200"/>
          </a:xfrm>
          <a:prstGeom prst="line">
            <a:avLst/>
          </a:prstGeom>
          <a:ln w="15875" cap="flat" cmpd="sng">
            <a:solidFill>
              <a:srgbClr val="0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1" name="Text Box 290"/>
          <p:cNvSpPr txBox="1"/>
          <p:nvPr/>
        </p:nvSpPr>
        <p:spPr>
          <a:xfrm>
            <a:off x="5513295" y="5784190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轮芯</a:t>
            </a:r>
            <a:endParaRPr lang="zh-CN" altLang="en-US" sz="14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2" name="Text Box 291"/>
          <p:cNvSpPr txBox="1"/>
          <p:nvPr/>
        </p:nvSpPr>
        <p:spPr>
          <a:xfrm>
            <a:off x="3103470" y="5184115"/>
            <a:ext cx="685800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4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轮芯</a:t>
            </a:r>
            <a:endParaRPr lang="zh-CN" altLang="en-US" sz="14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83" name="Group 165"/>
          <p:cNvGrpSpPr/>
          <p:nvPr/>
        </p:nvGrpSpPr>
        <p:grpSpPr>
          <a:xfrm>
            <a:off x="7363660" y="4091121"/>
            <a:ext cx="1216026" cy="2025651"/>
            <a:chOff x="4488" y="1457"/>
            <a:chExt cx="766" cy="1276"/>
          </a:xfrm>
        </p:grpSpPr>
        <p:grpSp>
          <p:nvGrpSpPr>
            <p:cNvPr id="184" name="Group 166"/>
            <p:cNvGrpSpPr/>
            <p:nvPr/>
          </p:nvGrpSpPr>
          <p:grpSpPr>
            <a:xfrm>
              <a:off x="4501" y="1457"/>
              <a:ext cx="749" cy="567"/>
              <a:chOff x="4702" y="2414"/>
              <a:chExt cx="749" cy="567"/>
            </a:xfrm>
          </p:grpSpPr>
          <p:grpSp>
            <p:nvGrpSpPr>
              <p:cNvPr id="213" name="Group 167"/>
              <p:cNvGrpSpPr/>
              <p:nvPr/>
            </p:nvGrpSpPr>
            <p:grpSpPr>
              <a:xfrm>
                <a:off x="4768" y="2414"/>
                <a:ext cx="625" cy="265"/>
                <a:chOff x="2074" y="2386"/>
                <a:chExt cx="625" cy="265"/>
              </a:xfrm>
            </p:grpSpPr>
            <p:sp>
              <p:nvSpPr>
                <p:cNvPr id="230" name="Freeform 168"/>
                <p:cNvSpPr/>
                <p:nvPr/>
              </p:nvSpPr>
              <p:spPr>
                <a:xfrm>
                  <a:off x="2074" y="2456"/>
                  <a:ext cx="625" cy="195"/>
                </a:xfrm>
                <a:custGeom>
                  <a:avLst/>
                  <a:gdLst/>
                  <a:ahLst/>
                  <a:cxnLst>
                    <a:cxn ang="0">
                      <a:pos x="0" y="61"/>
                    </a:cxn>
                    <a:cxn ang="0">
                      <a:pos x="72" y="0"/>
                    </a:cxn>
                    <a:cxn ang="0">
                      <a:pos x="145" y="0"/>
                    </a:cxn>
                    <a:cxn ang="0">
                      <a:pos x="169" y="19"/>
                    </a:cxn>
                    <a:cxn ang="0">
                      <a:pos x="196" y="32"/>
                    </a:cxn>
                    <a:cxn ang="0">
                      <a:pos x="220" y="43"/>
                    </a:cxn>
                    <a:cxn ang="0">
                      <a:pos x="257" y="54"/>
                    </a:cxn>
                    <a:cxn ang="0">
                      <a:pos x="302" y="62"/>
                    </a:cxn>
                    <a:cxn ang="0">
                      <a:pos x="358" y="61"/>
                    </a:cxn>
                    <a:cxn ang="0">
                      <a:pos x="398" y="51"/>
                    </a:cxn>
                    <a:cxn ang="0">
                      <a:pos x="443" y="35"/>
                    </a:cxn>
                    <a:cxn ang="0">
                      <a:pos x="476" y="13"/>
                    </a:cxn>
                    <a:cxn ang="0">
                      <a:pos x="579" y="13"/>
                    </a:cxn>
                    <a:cxn ang="0">
                      <a:pos x="625" y="56"/>
                    </a:cxn>
                    <a:cxn ang="0">
                      <a:pos x="612" y="72"/>
                    </a:cxn>
                    <a:cxn ang="0">
                      <a:pos x="588" y="94"/>
                    </a:cxn>
                    <a:cxn ang="0">
                      <a:pos x="560" y="115"/>
                    </a:cxn>
                    <a:cxn ang="0">
                      <a:pos x="526" y="138"/>
                    </a:cxn>
                    <a:cxn ang="0">
                      <a:pos x="491" y="158"/>
                    </a:cxn>
                    <a:cxn ang="0">
                      <a:pos x="451" y="174"/>
                    </a:cxn>
                    <a:cxn ang="0">
                      <a:pos x="398" y="190"/>
                    </a:cxn>
                    <a:cxn ang="0">
                      <a:pos x="348" y="195"/>
                    </a:cxn>
                    <a:cxn ang="0">
                      <a:pos x="268" y="195"/>
                    </a:cxn>
                    <a:cxn ang="0">
                      <a:pos x="214" y="186"/>
                    </a:cxn>
                    <a:cxn ang="0">
                      <a:pos x="179" y="173"/>
                    </a:cxn>
                    <a:cxn ang="0">
                      <a:pos x="140" y="158"/>
                    </a:cxn>
                    <a:cxn ang="0">
                      <a:pos x="92" y="130"/>
                    </a:cxn>
                    <a:cxn ang="0">
                      <a:pos x="44" y="96"/>
                    </a:cxn>
                    <a:cxn ang="0">
                      <a:pos x="24" y="77"/>
                    </a:cxn>
                    <a:cxn ang="0">
                      <a:pos x="3" y="58"/>
                    </a:cxn>
                  </a:cxnLst>
                  <a:rect l="0" t="0" r="0" b="0"/>
                  <a:pathLst>
                    <a:path w="625" h="195">
                      <a:moveTo>
                        <a:pt x="0" y="61"/>
                      </a:moveTo>
                      <a:lnTo>
                        <a:pt x="72" y="0"/>
                      </a:lnTo>
                      <a:lnTo>
                        <a:pt x="145" y="0"/>
                      </a:lnTo>
                      <a:lnTo>
                        <a:pt x="169" y="19"/>
                      </a:lnTo>
                      <a:lnTo>
                        <a:pt x="196" y="32"/>
                      </a:lnTo>
                      <a:lnTo>
                        <a:pt x="220" y="43"/>
                      </a:lnTo>
                      <a:lnTo>
                        <a:pt x="257" y="54"/>
                      </a:lnTo>
                      <a:lnTo>
                        <a:pt x="302" y="62"/>
                      </a:lnTo>
                      <a:lnTo>
                        <a:pt x="358" y="61"/>
                      </a:lnTo>
                      <a:lnTo>
                        <a:pt x="398" y="51"/>
                      </a:lnTo>
                      <a:lnTo>
                        <a:pt x="443" y="35"/>
                      </a:lnTo>
                      <a:lnTo>
                        <a:pt x="476" y="13"/>
                      </a:lnTo>
                      <a:lnTo>
                        <a:pt x="579" y="13"/>
                      </a:lnTo>
                      <a:lnTo>
                        <a:pt x="625" y="56"/>
                      </a:lnTo>
                      <a:lnTo>
                        <a:pt x="612" y="72"/>
                      </a:lnTo>
                      <a:lnTo>
                        <a:pt x="588" y="94"/>
                      </a:lnTo>
                      <a:lnTo>
                        <a:pt x="560" y="115"/>
                      </a:lnTo>
                      <a:lnTo>
                        <a:pt x="526" y="138"/>
                      </a:lnTo>
                      <a:lnTo>
                        <a:pt x="491" y="158"/>
                      </a:lnTo>
                      <a:lnTo>
                        <a:pt x="451" y="174"/>
                      </a:lnTo>
                      <a:lnTo>
                        <a:pt x="398" y="190"/>
                      </a:lnTo>
                      <a:lnTo>
                        <a:pt x="348" y="195"/>
                      </a:lnTo>
                      <a:lnTo>
                        <a:pt x="268" y="195"/>
                      </a:lnTo>
                      <a:lnTo>
                        <a:pt x="214" y="186"/>
                      </a:lnTo>
                      <a:lnTo>
                        <a:pt x="179" y="173"/>
                      </a:lnTo>
                      <a:lnTo>
                        <a:pt x="140" y="158"/>
                      </a:lnTo>
                      <a:lnTo>
                        <a:pt x="92" y="130"/>
                      </a:lnTo>
                      <a:lnTo>
                        <a:pt x="44" y="96"/>
                      </a:lnTo>
                      <a:lnTo>
                        <a:pt x="24" y="77"/>
                      </a:lnTo>
                      <a:lnTo>
                        <a:pt x="3" y="58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sm" len="lg"/>
                  <a:tailEnd type="none" w="sm" len="lg"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31" name="Freeform 169"/>
                <p:cNvSpPr/>
                <p:nvPr/>
              </p:nvSpPr>
              <p:spPr>
                <a:xfrm>
                  <a:off x="2083" y="2386"/>
                  <a:ext cx="611" cy="190"/>
                </a:xfrm>
                <a:custGeom>
                  <a:avLst/>
                  <a:gdLst/>
                  <a:ahLst/>
                  <a:cxnLst>
                    <a:cxn ang="0">
                      <a:pos x="0" y="6"/>
                    </a:cxn>
                    <a:cxn ang="0">
                      <a:pos x="55" y="73"/>
                    </a:cxn>
                    <a:cxn ang="0">
                      <a:pos x="87" y="107"/>
                    </a:cxn>
                    <a:cxn ang="0">
                      <a:pos x="133" y="140"/>
                    </a:cxn>
                    <a:cxn ang="0">
                      <a:pos x="184" y="166"/>
                    </a:cxn>
                    <a:cxn ang="0">
                      <a:pos x="245" y="187"/>
                    </a:cxn>
                    <a:cxn ang="0">
                      <a:pos x="269" y="190"/>
                    </a:cxn>
                    <a:cxn ang="0">
                      <a:pos x="357" y="190"/>
                    </a:cxn>
                    <a:cxn ang="0">
                      <a:pos x="397" y="182"/>
                    </a:cxn>
                    <a:cxn ang="0">
                      <a:pos x="456" y="160"/>
                    </a:cxn>
                    <a:cxn ang="0">
                      <a:pos x="514" y="123"/>
                    </a:cxn>
                    <a:cxn ang="0">
                      <a:pos x="554" y="84"/>
                    </a:cxn>
                    <a:cxn ang="0">
                      <a:pos x="586" y="43"/>
                    </a:cxn>
                    <a:cxn ang="0">
                      <a:pos x="611" y="0"/>
                    </a:cxn>
                  </a:cxnLst>
                  <a:rect l="0" t="0" r="0" b="0"/>
                  <a:pathLst>
                    <a:path w="611" h="190">
                      <a:moveTo>
                        <a:pt x="0" y="6"/>
                      </a:moveTo>
                      <a:lnTo>
                        <a:pt x="55" y="73"/>
                      </a:lnTo>
                      <a:lnTo>
                        <a:pt x="87" y="107"/>
                      </a:lnTo>
                      <a:lnTo>
                        <a:pt x="133" y="140"/>
                      </a:lnTo>
                      <a:lnTo>
                        <a:pt x="184" y="166"/>
                      </a:lnTo>
                      <a:lnTo>
                        <a:pt x="245" y="187"/>
                      </a:lnTo>
                      <a:lnTo>
                        <a:pt x="269" y="190"/>
                      </a:lnTo>
                      <a:lnTo>
                        <a:pt x="357" y="190"/>
                      </a:lnTo>
                      <a:lnTo>
                        <a:pt x="397" y="182"/>
                      </a:lnTo>
                      <a:lnTo>
                        <a:pt x="456" y="160"/>
                      </a:lnTo>
                      <a:lnTo>
                        <a:pt x="514" y="123"/>
                      </a:lnTo>
                      <a:lnTo>
                        <a:pt x="554" y="84"/>
                      </a:lnTo>
                      <a:lnTo>
                        <a:pt x="586" y="43"/>
                      </a:lnTo>
                      <a:lnTo>
                        <a:pt x="611" y="0"/>
                      </a:lnTo>
                    </a:path>
                  </a:pathLst>
                </a:custGeom>
                <a:noFill/>
                <a:ln w="12700" cap="flat" cmpd="sng">
                  <a:solidFill>
                    <a:schemeClr val="tx1">
                      <a:alpha val="100000"/>
                    </a:schemeClr>
                  </a:solidFill>
                  <a:prstDash val="lgDashDot"/>
                  <a:round/>
                  <a:headEnd type="none" w="sm" len="lg"/>
                  <a:tailEnd type="none" w="sm" len="lg"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14" name="Freeform 170"/>
              <p:cNvSpPr/>
              <p:nvPr/>
            </p:nvSpPr>
            <p:spPr>
              <a:xfrm>
                <a:off x="4703" y="2545"/>
                <a:ext cx="62" cy="305"/>
              </a:xfrm>
              <a:custGeom>
                <a:avLst/>
                <a:gdLst/>
                <a:ahLst/>
                <a:cxnLst>
                  <a:cxn ang="0">
                    <a:pos x="62" y="0"/>
                  </a:cxn>
                  <a:cxn ang="0">
                    <a:pos x="0" y="55"/>
                  </a:cxn>
                  <a:cxn ang="0">
                    <a:pos x="0" y="305"/>
                  </a:cxn>
                </a:cxnLst>
                <a:rect l="0" t="0" r="0" b="0"/>
                <a:pathLst>
                  <a:path w="62" h="305">
                    <a:moveTo>
                      <a:pt x="62" y="0"/>
                    </a:moveTo>
                    <a:lnTo>
                      <a:pt x="0" y="55"/>
                    </a:lnTo>
                    <a:lnTo>
                      <a:pt x="0" y="305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Freeform 171"/>
              <p:cNvSpPr/>
              <p:nvPr/>
            </p:nvSpPr>
            <p:spPr>
              <a:xfrm>
                <a:off x="5385" y="2536"/>
                <a:ext cx="62" cy="32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2" y="55"/>
                  </a:cxn>
                  <a:cxn ang="0">
                    <a:pos x="61" y="328"/>
                  </a:cxn>
                </a:cxnLst>
                <a:rect l="0" t="0" r="0" b="0"/>
                <a:pathLst>
                  <a:path w="62" h="328">
                    <a:moveTo>
                      <a:pt x="0" y="0"/>
                    </a:moveTo>
                    <a:lnTo>
                      <a:pt x="62" y="55"/>
                    </a:lnTo>
                    <a:lnTo>
                      <a:pt x="61" y="32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216" name="Group 172"/>
              <p:cNvGrpSpPr/>
              <p:nvPr/>
            </p:nvGrpSpPr>
            <p:grpSpPr>
              <a:xfrm>
                <a:off x="4702" y="2559"/>
                <a:ext cx="749" cy="422"/>
                <a:chOff x="4702" y="2559"/>
                <a:chExt cx="749" cy="422"/>
              </a:xfrm>
            </p:grpSpPr>
            <p:sp>
              <p:nvSpPr>
                <p:cNvPr id="217" name="Line 173"/>
                <p:cNvSpPr/>
                <p:nvPr/>
              </p:nvSpPr>
              <p:spPr>
                <a:xfrm flipV="1">
                  <a:off x="4702" y="2578"/>
                  <a:ext cx="96" cy="84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218" name="Line 174"/>
                <p:cNvSpPr/>
                <p:nvPr/>
              </p:nvSpPr>
              <p:spPr>
                <a:xfrm flipV="1">
                  <a:off x="4706" y="2607"/>
                  <a:ext cx="132" cy="12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219" name="Line 175"/>
                <p:cNvSpPr/>
                <p:nvPr/>
              </p:nvSpPr>
              <p:spPr>
                <a:xfrm flipV="1">
                  <a:off x="4708" y="2639"/>
                  <a:ext cx="175" cy="173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220" name="Line 176"/>
                <p:cNvSpPr/>
                <p:nvPr/>
              </p:nvSpPr>
              <p:spPr>
                <a:xfrm flipV="1">
                  <a:off x="4742" y="2657"/>
                  <a:ext cx="196" cy="192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221" name="Line 177"/>
                <p:cNvSpPr/>
                <p:nvPr/>
              </p:nvSpPr>
              <p:spPr>
                <a:xfrm flipV="1">
                  <a:off x="4813" y="2681"/>
                  <a:ext cx="176" cy="16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222" name="Line 178"/>
                <p:cNvSpPr/>
                <p:nvPr/>
              </p:nvSpPr>
              <p:spPr>
                <a:xfrm flipV="1">
                  <a:off x="4883" y="2682"/>
                  <a:ext cx="176" cy="174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223" name="Line 179"/>
                <p:cNvSpPr/>
                <p:nvPr/>
              </p:nvSpPr>
              <p:spPr>
                <a:xfrm flipV="1">
                  <a:off x="4953" y="2674"/>
                  <a:ext cx="190" cy="184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224" name="Line 180"/>
                <p:cNvSpPr/>
                <p:nvPr/>
              </p:nvSpPr>
              <p:spPr>
                <a:xfrm flipV="1">
                  <a:off x="4996" y="2657"/>
                  <a:ext cx="232" cy="22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225" name="Line 181"/>
                <p:cNvSpPr/>
                <p:nvPr/>
              </p:nvSpPr>
              <p:spPr>
                <a:xfrm flipV="1">
                  <a:off x="5004" y="2559"/>
                  <a:ext cx="393" cy="39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226" name="Line 182"/>
                <p:cNvSpPr/>
                <p:nvPr/>
              </p:nvSpPr>
              <p:spPr>
                <a:xfrm flipV="1">
                  <a:off x="5043" y="2590"/>
                  <a:ext cx="391" cy="391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227" name="Line 183"/>
                <p:cNvSpPr/>
                <p:nvPr/>
              </p:nvSpPr>
              <p:spPr>
                <a:xfrm flipV="1">
                  <a:off x="5238" y="2645"/>
                  <a:ext cx="213" cy="205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228" name="Line 184"/>
                <p:cNvSpPr/>
                <p:nvPr/>
              </p:nvSpPr>
              <p:spPr>
                <a:xfrm flipV="1">
                  <a:off x="5296" y="2719"/>
                  <a:ext cx="150" cy="137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229" name="Line 185"/>
                <p:cNvSpPr/>
                <p:nvPr/>
              </p:nvSpPr>
              <p:spPr>
                <a:xfrm flipV="1">
                  <a:off x="5368" y="2773"/>
                  <a:ext cx="83" cy="75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</p:grpSp>
        </p:grpSp>
        <p:grpSp>
          <p:nvGrpSpPr>
            <p:cNvPr id="185" name="Group 186"/>
            <p:cNvGrpSpPr/>
            <p:nvPr/>
          </p:nvGrpSpPr>
          <p:grpSpPr>
            <a:xfrm>
              <a:off x="4488" y="1523"/>
              <a:ext cx="766" cy="1210"/>
              <a:chOff x="4488" y="749"/>
              <a:chExt cx="766" cy="1210"/>
            </a:xfrm>
          </p:grpSpPr>
          <p:sp>
            <p:nvSpPr>
              <p:cNvPr id="186" name="Line 187"/>
              <p:cNvSpPr/>
              <p:nvPr/>
            </p:nvSpPr>
            <p:spPr>
              <a:xfrm>
                <a:off x="4879" y="749"/>
                <a:ext cx="0" cy="121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lgDashDot"/>
                <a:headEnd type="none" w="sm" len="lg"/>
                <a:tailEnd type="none" w="sm" len="lg"/>
              </a:ln>
            </p:spPr>
          </p:sp>
          <p:grpSp>
            <p:nvGrpSpPr>
              <p:cNvPr id="187" name="Group 188"/>
              <p:cNvGrpSpPr/>
              <p:nvPr/>
            </p:nvGrpSpPr>
            <p:grpSpPr>
              <a:xfrm>
                <a:off x="4488" y="1111"/>
                <a:ext cx="766" cy="786"/>
                <a:chOff x="4692" y="2848"/>
                <a:chExt cx="766" cy="786"/>
              </a:xfrm>
            </p:grpSpPr>
            <p:sp>
              <p:nvSpPr>
                <p:cNvPr id="188" name="Line 189"/>
                <p:cNvSpPr/>
                <p:nvPr/>
              </p:nvSpPr>
              <p:spPr>
                <a:xfrm>
                  <a:off x="5043" y="2982"/>
                  <a:ext cx="173" cy="18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189" name="Line 190"/>
                <p:cNvSpPr/>
                <p:nvPr/>
              </p:nvSpPr>
              <p:spPr>
                <a:xfrm>
                  <a:off x="4932" y="3184"/>
                  <a:ext cx="45" cy="45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190" name="Freeform 191"/>
                <p:cNvSpPr/>
                <p:nvPr/>
              </p:nvSpPr>
              <p:spPr>
                <a:xfrm>
                  <a:off x="4695" y="2856"/>
                  <a:ext cx="748" cy="1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12" y="0"/>
                    </a:cxn>
                    <a:cxn ang="0">
                      <a:pos x="312" y="125"/>
                    </a:cxn>
                    <a:cxn ang="0">
                      <a:pos x="470" y="125"/>
                    </a:cxn>
                    <a:cxn ang="0">
                      <a:pos x="470" y="0"/>
                    </a:cxn>
                    <a:cxn ang="0">
                      <a:pos x="748" y="0"/>
                    </a:cxn>
                  </a:cxnLst>
                  <a:rect l="0" t="0" r="0" b="0"/>
                  <a:pathLst>
                    <a:path w="748" h="125">
                      <a:moveTo>
                        <a:pt x="0" y="0"/>
                      </a:moveTo>
                      <a:lnTo>
                        <a:pt x="312" y="0"/>
                      </a:lnTo>
                      <a:lnTo>
                        <a:pt x="312" y="125"/>
                      </a:lnTo>
                      <a:lnTo>
                        <a:pt x="470" y="125"/>
                      </a:lnTo>
                      <a:lnTo>
                        <a:pt x="470" y="0"/>
                      </a:lnTo>
                      <a:lnTo>
                        <a:pt x="748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sm" len="lg"/>
                  <a:tailEnd type="none" w="sm" len="lg"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1" name="Freeform 192"/>
                <p:cNvSpPr/>
                <p:nvPr/>
              </p:nvSpPr>
              <p:spPr>
                <a:xfrm>
                  <a:off x="4695" y="3024"/>
                  <a:ext cx="384" cy="2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76" y="77"/>
                    </a:cxn>
                    <a:cxn ang="0">
                      <a:pos x="168" y="82"/>
                    </a:cxn>
                    <a:cxn ang="0">
                      <a:pos x="206" y="101"/>
                    </a:cxn>
                    <a:cxn ang="0">
                      <a:pos x="254" y="163"/>
                    </a:cxn>
                    <a:cxn ang="0">
                      <a:pos x="278" y="216"/>
                    </a:cxn>
                    <a:cxn ang="0">
                      <a:pos x="321" y="255"/>
                    </a:cxn>
                    <a:cxn ang="0">
                      <a:pos x="355" y="283"/>
                    </a:cxn>
                    <a:cxn ang="0">
                      <a:pos x="384" y="288"/>
                    </a:cxn>
                  </a:cxnLst>
                  <a:rect l="0" t="0" r="0" b="0"/>
                  <a:pathLst>
                    <a:path w="384" h="288">
                      <a:moveTo>
                        <a:pt x="0" y="0"/>
                      </a:moveTo>
                      <a:lnTo>
                        <a:pt x="76" y="77"/>
                      </a:lnTo>
                      <a:lnTo>
                        <a:pt x="168" y="82"/>
                      </a:lnTo>
                      <a:lnTo>
                        <a:pt x="206" y="101"/>
                      </a:lnTo>
                      <a:lnTo>
                        <a:pt x="254" y="163"/>
                      </a:lnTo>
                      <a:lnTo>
                        <a:pt x="278" y="216"/>
                      </a:lnTo>
                      <a:lnTo>
                        <a:pt x="321" y="255"/>
                      </a:lnTo>
                      <a:lnTo>
                        <a:pt x="355" y="283"/>
                      </a:lnTo>
                      <a:lnTo>
                        <a:pt x="384" y="288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sm" len="lg"/>
                  <a:tailEnd type="none" w="sm" len="lg"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2" name="Freeform 193"/>
                <p:cNvSpPr/>
                <p:nvPr/>
              </p:nvSpPr>
              <p:spPr>
                <a:xfrm flipH="1">
                  <a:off x="5074" y="3024"/>
                  <a:ext cx="384" cy="2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76" y="77"/>
                    </a:cxn>
                    <a:cxn ang="0">
                      <a:pos x="168" y="82"/>
                    </a:cxn>
                    <a:cxn ang="0">
                      <a:pos x="206" y="101"/>
                    </a:cxn>
                    <a:cxn ang="0">
                      <a:pos x="254" y="163"/>
                    </a:cxn>
                    <a:cxn ang="0">
                      <a:pos x="278" y="216"/>
                    </a:cxn>
                    <a:cxn ang="0">
                      <a:pos x="321" y="255"/>
                    </a:cxn>
                    <a:cxn ang="0">
                      <a:pos x="355" y="283"/>
                    </a:cxn>
                    <a:cxn ang="0">
                      <a:pos x="384" y="288"/>
                    </a:cxn>
                  </a:cxnLst>
                  <a:rect l="0" t="0" r="0" b="0"/>
                  <a:pathLst>
                    <a:path w="384" h="288">
                      <a:moveTo>
                        <a:pt x="0" y="0"/>
                      </a:moveTo>
                      <a:lnTo>
                        <a:pt x="76" y="77"/>
                      </a:lnTo>
                      <a:lnTo>
                        <a:pt x="168" y="82"/>
                      </a:lnTo>
                      <a:lnTo>
                        <a:pt x="206" y="101"/>
                      </a:lnTo>
                      <a:lnTo>
                        <a:pt x="254" y="163"/>
                      </a:lnTo>
                      <a:lnTo>
                        <a:pt x="278" y="216"/>
                      </a:lnTo>
                      <a:lnTo>
                        <a:pt x="321" y="255"/>
                      </a:lnTo>
                      <a:lnTo>
                        <a:pt x="355" y="283"/>
                      </a:lnTo>
                      <a:lnTo>
                        <a:pt x="384" y="288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sm" len="lg"/>
                  <a:tailEnd type="none" w="sm" len="lg"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93" name="Line 194"/>
                <p:cNvSpPr/>
                <p:nvPr/>
              </p:nvSpPr>
              <p:spPr>
                <a:xfrm>
                  <a:off x="4968" y="3230"/>
                  <a:ext cx="0" cy="39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194" name="Line 195"/>
                <p:cNvSpPr/>
                <p:nvPr/>
              </p:nvSpPr>
              <p:spPr>
                <a:xfrm flipH="1">
                  <a:off x="4699" y="3106"/>
                  <a:ext cx="68" cy="50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195" name="Line 196"/>
                <p:cNvSpPr/>
                <p:nvPr/>
              </p:nvSpPr>
              <p:spPr>
                <a:xfrm>
                  <a:off x="5386" y="3096"/>
                  <a:ext cx="62" cy="53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196" name="Line 197"/>
                <p:cNvSpPr/>
                <p:nvPr/>
              </p:nvSpPr>
              <p:spPr>
                <a:xfrm>
                  <a:off x="5175" y="3254"/>
                  <a:ext cx="0" cy="36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197" name="Freeform 198"/>
                <p:cNvSpPr/>
                <p:nvPr/>
              </p:nvSpPr>
              <p:spPr>
                <a:xfrm>
                  <a:off x="4706" y="3570"/>
                  <a:ext cx="746" cy="46"/>
                </a:xfrm>
                <a:custGeom>
                  <a:avLst/>
                  <a:gdLst/>
                  <a:ahLst/>
                  <a:cxnLst>
                    <a:cxn ang="0">
                      <a:pos x="0" y="34"/>
                    </a:cxn>
                    <a:cxn ang="0">
                      <a:pos x="89" y="0"/>
                    </a:cxn>
                    <a:cxn ang="0">
                      <a:pos x="194" y="34"/>
                    </a:cxn>
                    <a:cxn ang="0">
                      <a:pos x="290" y="24"/>
                    </a:cxn>
                    <a:cxn ang="0">
                      <a:pos x="394" y="14"/>
                    </a:cxn>
                    <a:cxn ang="0">
                      <a:pos x="468" y="43"/>
                    </a:cxn>
                    <a:cxn ang="0">
                      <a:pos x="571" y="19"/>
                    </a:cxn>
                    <a:cxn ang="0">
                      <a:pos x="665" y="31"/>
                    </a:cxn>
                    <a:cxn ang="0">
                      <a:pos x="746" y="46"/>
                    </a:cxn>
                  </a:cxnLst>
                  <a:rect l="0" t="0" r="0" b="0"/>
                  <a:pathLst>
                    <a:path w="746" h="46">
                      <a:moveTo>
                        <a:pt x="0" y="34"/>
                      </a:moveTo>
                      <a:cubicBezTo>
                        <a:pt x="28" y="17"/>
                        <a:pt x="57" y="0"/>
                        <a:pt x="89" y="0"/>
                      </a:cubicBezTo>
                      <a:cubicBezTo>
                        <a:pt x="121" y="0"/>
                        <a:pt x="161" y="30"/>
                        <a:pt x="194" y="34"/>
                      </a:cubicBezTo>
                      <a:cubicBezTo>
                        <a:pt x="227" y="38"/>
                        <a:pt x="257" y="27"/>
                        <a:pt x="290" y="24"/>
                      </a:cubicBezTo>
                      <a:cubicBezTo>
                        <a:pt x="323" y="21"/>
                        <a:pt x="364" y="11"/>
                        <a:pt x="394" y="14"/>
                      </a:cubicBezTo>
                      <a:cubicBezTo>
                        <a:pt x="424" y="17"/>
                        <a:pt x="439" y="42"/>
                        <a:pt x="468" y="43"/>
                      </a:cubicBezTo>
                      <a:cubicBezTo>
                        <a:pt x="497" y="44"/>
                        <a:pt x="538" y="21"/>
                        <a:pt x="571" y="19"/>
                      </a:cubicBezTo>
                      <a:cubicBezTo>
                        <a:pt x="604" y="17"/>
                        <a:pt x="636" y="27"/>
                        <a:pt x="665" y="31"/>
                      </a:cubicBezTo>
                      <a:cubicBezTo>
                        <a:pt x="694" y="35"/>
                        <a:pt x="720" y="40"/>
                        <a:pt x="746" y="46"/>
                      </a:cubicBezTo>
                    </a:path>
                  </a:pathLst>
                </a:custGeom>
                <a:noFill/>
                <a:ln w="1270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sm" len="lg"/>
                  <a:tailEnd type="none" w="sm" len="lg"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198" name="Group 199"/>
                <p:cNvGrpSpPr/>
                <p:nvPr/>
              </p:nvGrpSpPr>
              <p:grpSpPr>
                <a:xfrm>
                  <a:off x="4692" y="2849"/>
                  <a:ext cx="757" cy="448"/>
                  <a:chOff x="4692" y="2849"/>
                  <a:chExt cx="757" cy="448"/>
                </a:xfrm>
              </p:grpSpPr>
              <p:sp>
                <p:nvSpPr>
                  <p:cNvPr id="202" name="Line 200"/>
                  <p:cNvSpPr/>
                  <p:nvPr/>
                </p:nvSpPr>
                <p:spPr>
                  <a:xfrm>
                    <a:off x="4929" y="2865"/>
                    <a:ext cx="78" cy="79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lg"/>
                    <a:tailEnd type="none" w="sm" len="lg"/>
                  </a:ln>
                </p:spPr>
              </p:sp>
              <p:sp>
                <p:nvSpPr>
                  <p:cNvPr id="203" name="Line 201"/>
                  <p:cNvSpPr/>
                  <p:nvPr/>
                </p:nvSpPr>
                <p:spPr>
                  <a:xfrm>
                    <a:off x="5172" y="2867"/>
                    <a:ext cx="224" cy="223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lg"/>
                    <a:tailEnd type="none" w="sm" len="lg"/>
                  </a:ln>
                </p:spPr>
              </p:sp>
              <p:sp>
                <p:nvSpPr>
                  <p:cNvPr id="204" name="Line 202"/>
                  <p:cNvSpPr/>
                  <p:nvPr/>
                </p:nvSpPr>
                <p:spPr>
                  <a:xfrm>
                    <a:off x="5168" y="2937"/>
                    <a:ext cx="155" cy="160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lg"/>
                    <a:tailEnd type="none" w="sm" len="lg"/>
                  </a:ln>
                </p:spPr>
              </p:sp>
              <p:sp>
                <p:nvSpPr>
                  <p:cNvPr id="205" name="Line 203"/>
                  <p:cNvSpPr/>
                  <p:nvPr/>
                </p:nvSpPr>
                <p:spPr>
                  <a:xfrm>
                    <a:off x="4756" y="2849"/>
                    <a:ext cx="391" cy="408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lg"/>
                    <a:tailEnd type="none" w="sm" len="lg"/>
                  </a:ln>
                </p:spPr>
              </p:sp>
              <p:sp>
                <p:nvSpPr>
                  <p:cNvPr id="206" name="Line 204"/>
                  <p:cNvSpPr/>
                  <p:nvPr/>
                </p:nvSpPr>
                <p:spPr>
                  <a:xfrm>
                    <a:off x="4846" y="2860"/>
                    <a:ext cx="341" cy="357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lg"/>
                    <a:tailEnd type="none" w="sm" len="lg"/>
                  </a:ln>
                </p:spPr>
              </p:sp>
              <p:sp>
                <p:nvSpPr>
                  <p:cNvPr id="207" name="Line 205"/>
                  <p:cNvSpPr/>
                  <p:nvPr/>
                </p:nvSpPr>
                <p:spPr>
                  <a:xfrm>
                    <a:off x="5126" y="2982"/>
                    <a:ext cx="134" cy="142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lg"/>
                    <a:tailEnd type="none" w="sm" len="lg"/>
                  </a:ln>
                </p:spPr>
              </p:sp>
              <p:sp>
                <p:nvSpPr>
                  <p:cNvPr id="208" name="Line 206"/>
                  <p:cNvSpPr/>
                  <p:nvPr/>
                </p:nvSpPr>
                <p:spPr>
                  <a:xfrm>
                    <a:off x="4697" y="2860"/>
                    <a:ext cx="413" cy="437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lg"/>
                    <a:tailEnd type="none" w="sm" len="lg"/>
                  </a:ln>
                </p:spPr>
              </p:sp>
              <p:sp>
                <p:nvSpPr>
                  <p:cNvPr id="209" name="Line 207"/>
                  <p:cNvSpPr/>
                  <p:nvPr/>
                </p:nvSpPr>
                <p:spPr>
                  <a:xfrm>
                    <a:off x="4692" y="2937"/>
                    <a:ext cx="153" cy="161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lg"/>
                    <a:tailEnd type="none" w="sm" len="lg"/>
                  </a:ln>
                </p:spPr>
              </p:sp>
              <p:sp>
                <p:nvSpPr>
                  <p:cNvPr id="210" name="Line 208"/>
                  <p:cNvSpPr/>
                  <p:nvPr/>
                </p:nvSpPr>
                <p:spPr>
                  <a:xfrm>
                    <a:off x="5319" y="2862"/>
                    <a:ext cx="127" cy="124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lg"/>
                    <a:tailEnd type="none" w="sm" len="lg"/>
                  </a:ln>
                </p:spPr>
              </p:sp>
              <p:sp>
                <p:nvSpPr>
                  <p:cNvPr id="211" name="Line 209"/>
                  <p:cNvSpPr/>
                  <p:nvPr/>
                </p:nvSpPr>
                <p:spPr>
                  <a:xfrm>
                    <a:off x="5245" y="2860"/>
                    <a:ext cx="189" cy="186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lg"/>
                    <a:tailEnd type="none" w="sm" len="lg"/>
                  </a:ln>
                </p:spPr>
              </p:sp>
              <p:sp>
                <p:nvSpPr>
                  <p:cNvPr id="212" name="Line 210"/>
                  <p:cNvSpPr/>
                  <p:nvPr/>
                </p:nvSpPr>
                <p:spPr>
                  <a:xfrm>
                    <a:off x="5388" y="2862"/>
                    <a:ext cx="61" cy="58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sm" len="lg"/>
                    <a:tailEnd type="none" w="sm" len="lg"/>
                  </a:ln>
                </p:spPr>
              </p:sp>
            </p:grpSp>
            <p:sp>
              <p:nvSpPr>
                <p:cNvPr id="199" name="Line 211"/>
                <p:cNvSpPr/>
                <p:nvPr/>
              </p:nvSpPr>
              <p:spPr>
                <a:xfrm>
                  <a:off x="4702" y="2854"/>
                  <a:ext cx="0" cy="75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0" name="Line 212"/>
                <p:cNvSpPr/>
                <p:nvPr/>
              </p:nvSpPr>
              <p:spPr>
                <a:xfrm>
                  <a:off x="5319" y="2862"/>
                  <a:ext cx="127" cy="124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sm" len="lg"/>
                  <a:tailEnd type="none" w="sm" len="lg"/>
                </a:ln>
              </p:spPr>
            </p:sp>
            <p:sp>
              <p:nvSpPr>
                <p:cNvPr id="201" name="Line 213"/>
                <p:cNvSpPr/>
                <p:nvPr/>
              </p:nvSpPr>
              <p:spPr>
                <a:xfrm>
                  <a:off x="5451" y="2848"/>
                  <a:ext cx="0" cy="769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sp>
        <p:nvSpPr>
          <p:cNvPr id="232" name="文本框 231"/>
          <p:cNvSpPr txBox="1">
            <a:spLocks noChangeArrowheads="1"/>
          </p:cNvSpPr>
          <p:nvPr/>
        </p:nvSpPr>
        <p:spPr bwMode="auto">
          <a:xfrm>
            <a:off x="395710" y="2132910"/>
            <a:ext cx="8524875" cy="153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组合方式有</a:t>
            </a:r>
            <a:r>
              <a:rPr 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过盈配合式</a:t>
            </a:r>
            <a:r>
              <a:rPr 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、</a:t>
            </a:r>
            <a:r>
              <a:rPr 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螺栓连接式</a:t>
            </a:r>
            <a:r>
              <a:rPr 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、</a:t>
            </a:r>
            <a:r>
              <a:rPr 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拼铸式</a:t>
            </a:r>
            <a:r>
              <a:rPr 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。过盈配合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式</a:t>
            </a:r>
            <a:r>
              <a:rPr 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为了提高过盈配合的可靠性，沿接合缝应拧上螺钉。螺栓连接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式</a:t>
            </a:r>
            <a:r>
              <a:rPr 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最好用铰制孔螺栓连接，螺栓连接式蜗轮装拆比较方便，多用于尺寸较大或容易磨损的蜗轮。拼铸式只用于成批制造的蜗轮。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3" name="矩形 57356"/>
          <p:cNvSpPr>
            <a:spLocks noChangeArrowheads="1"/>
          </p:cNvSpPr>
          <p:nvPr/>
        </p:nvSpPr>
        <p:spPr bwMode="auto">
          <a:xfrm>
            <a:off x="467715" y="836820"/>
            <a:ext cx="84328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蜗轮根据尺寸大小可制成整体式或组合式的。</a:t>
            </a:r>
            <a:endParaRPr 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4" name="文本框 233"/>
          <p:cNvSpPr txBox="1">
            <a:spLocks noChangeArrowheads="1"/>
          </p:cNvSpPr>
          <p:nvPr/>
        </p:nvSpPr>
        <p:spPr bwMode="auto">
          <a:xfrm>
            <a:off x="467715" y="1269957"/>
            <a:ext cx="8432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整体式结构</a:t>
            </a:r>
            <a:r>
              <a:rPr 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用于铸铁蜗轮或尺寸较小的青铜蜗轮。直径较大的蜗轮常采用组合式，即齿圈用青铜，轮心用铸铁或铸钢。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" name="Rectangle 2"/>
          <p:cNvSpPr txBox="1">
            <a:spLocks noChangeArrowheads="1"/>
          </p:cNvSpPr>
          <p:nvPr/>
        </p:nvSpPr>
        <p:spPr bwMode="auto">
          <a:xfrm>
            <a:off x="3643313" y="142875"/>
            <a:ext cx="5500687" cy="49053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3.11-7 蜗杆传动的结构设计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6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/>
      <p:bldP spid="164" grpId="0"/>
      <p:bldP spid="165" grpId="0"/>
      <p:bldP spid="166" grpId="0"/>
      <p:bldP spid="167" grpId="0"/>
      <p:bldP spid="169" grpId="0"/>
      <p:bldP spid="171" grpId="0"/>
      <p:bldP spid="173" grpId="0" animBg="1"/>
      <p:bldP spid="174" grpId="0"/>
      <p:bldP spid="176" grpId="0"/>
      <p:bldP spid="179" grpId="0"/>
      <p:bldP spid="181" grpId="0"/>
      <p:bldP spid="182" grpId="0"/>
      <p:bldP spid="232" grpId="0"/>
      <p:bldP spid="233" grpId="0"/>
      <p:bldP spid="23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lum contrast="12000"/>
          </a:blip>
          <a:stretch>
            <a:fillRect/>
          </a:stretch>
        </p:blipFill>
        <p:spPr>
          <a:xfrm>
            <a:off x="395710" y="980830"/>
            <a:ext cx="8353425" cy="55626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860020" y="188775"/>
            <a:ext cx="3240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过盈组合式蜗轮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705" y="1052835"/>
            <a:ext cx="8658225" cy="55911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860020" y="188775"/>
            <a:ext cx="3240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螺栓组合式蜗轮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705" y="1268850"/>
            <a:ext cx="8591550" cy="51911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084105" y="404790"/>
            <a:ext cx="3240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拼铸式蜗轮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43313" y="142875"/>
            <a:ext cx="5500687" cy="490538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3.11-8 圆弧圆柱蜗杆传动简介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5237" name="文本框 1"/>
          <p:cNvSpPr txBox="1">
            <a:spLocks noChangeArrowheads="1"/>
          </p:cNvSpPr>
          <p:nvPr/>
        </p:nvSpPr>
        <p:spPr bwMode="auto">
          <a:xfrm>
            <a:off x="0" y="785813"/>
            <a:ext cx="131318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一、概述</a:t>
            </a:r>
            <a:endParaRPr lang="en-US" altLang="zh-CN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9333" name="矩形 57356"/>
          <p:cNvSpPr>
            <a:spLocks noChangeArrowheads="1"/>
          </p:cNvSpPr>
          <p:nvPr/>
        </p:nvSpPr>
        <p:spPr bwMode="auto">
          <a:xfrm>
            <a:off x="395710" y="1196845"/>
            <a:ext cx="84328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圆弧圆柱蜗杆(ZC蜗杆)是一种非直纹面圆柱蜗杆。在圆弧圆柱蜗杆传动中间平面上，蜗杆齿廓为凹圆弧，与之相配的蜗轮齿廓为凸圆弧。与圆柱蜗杆传动相比，其承载能力大，传动效率高，使用寿命长。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6" name="矩形 57356"/>
          <p:cNvSpPr>
            <a:spLocks noChangeArrowheads="1"/>
          </p:cNvSpPr>
          <p:nvPr/>
        </p:nvSpPr>
        <p:spPr bwMode="auto">
          <a:xfrm>
            <a:off x="395710" y="4365065"/>
            <a:ext cx="433863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圆弧圆柱蜗杆传动的主要特点是：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7" name="矩形 57356"/>
          <p:cNvSpPr>
            <a:spLocks noChangeArrowheads="1"/>
          </p:cNvSpPr>
          <p:nvPr/>
        </p:nvSpPr>
        <p:spPr bwMode="auto">
          <a:xfrm>
            <a:off x="251700" y="4725090"/>
            <a:ext cx="8301038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1）传动比范围大，可实现1：100的大传动比传动；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2）蜗杆与蜗轮的齿廓接触线与滑动速度方向间的夹角大，有利于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润</a:t>
            </a:r>
            <a:r>
              <a:rPr lang="en-US" altLang="zh-CN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	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滑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油膜的形成；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3）当蜗杆主动时，啮合效率可达95%以上；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4）中心距难以调整，对中心距误差的敏感性较强。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3673" name="Picture 9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46"/>
          <a:stretch>
            <a:fillRect/>
          </a:stretch>
        </p:blipFill>
        <p:spPr bwMode="auto">
          <a:xfrm>
            <a:off x="1928813" y="2322513"/>
            <a:ext cx="5500687" cy="212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22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7" grpId="0"/>
      <p:bldP spid="99333" grpId="0"/>
      <p:bldP spid="99336" grpId="0"/>
      <p:bldP spid="9933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29000" y="214313"/>
            <a:ext cx="534035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3.11-8 圆弧圆柱蜗杆传动简介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244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5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3575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7" name="文本框 1"/>
          <p:cNvSpPr txBox="1">
            <a:spLocks noChangeArrowheads="1"/>
          </p:cNvSpPr>
          <p:nvPr/>
        </p:nvSpPr>
        <p:spPr bwMode="auto">
          <a:xfrm>
            <a:off x="79375" y="793750"/>
            <a:ext cx="49942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二、圆弧圆柱蜗杆传动的参数及其选择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9334" name="矩形 57356"/>
          <p:cNvSpPr>
            <a:spLocks noChangeArrowheads="1"/>
          </p:cNvSpPr>
          <p:nvPr/>
        </p:nvSpPr>
        <p:spPr bwMode="auto">
          <a:xfrm>
            <a:off x="412750" y="1549400"/>
            <a:ext cx="84328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一般选取齿形角</a:t>
            </a:r>
            <a:r>
              <a:rPr lang="zh-CN" altLang="en-US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α</a:t>
            </a:r>
            <a:r>
              <a:rPr lang="zh-CN" altLang="en-US" sz="20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=23°±2°，推荐取23°。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5" name="矩形 57356"/>
          <p:cNvSpPr>
            <a:spLocks noChangeArrowheads="1"/>
          </p:cNvSpPr>
          <p:nvPr/>
        </p:nvSpPr>
        <p:spPr bwMode="auto">
          <a:xfrm>
            <a:off x="432000" y="2349000"/>
            <a:ext cx="8434250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一般推荐下</a:t>
            </a:r>
            <a:r>
              <a:rPr lang="zh-CN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x</a:t>
            </a:r>
            <a:r>
              <a:rPr lang="zh-CN" altLang="zh-CN" sz="20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=0.5～1.5。代替普通圆柱蜗杆传动时，一般选</a:t>
            </a:r>
            <a:r>
              <a:rPr lang="zh-CN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x</a:t>
            </a:r>
            <a:r>
              <a:rPr lang="zh-CN" altLang="zh-CN" sz="20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= 0.5～1。当传动的转速较高时，应尽量选取较大的蜗轮变位系数，推荐</a:t>
            </a:r>
            <a:r>
              <a:rPr lang="zh-CN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x</a:t>
            </a:r>
            <a:r>
              <a:rPr lang="zh-CN" altLang="zh-CN" sz="20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= 1～1.5。此外，当</a:t>
            </a:r>
            <a:r>
              <a:rPr lang="zh-CN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z</a:t>
            </a:r>
            <a:r>
              <a:rPr lang="zh-CN" altLang="zh-CN" sz="20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&gt;2 时，取=0.7～1.2；</a:t>
            </a:r>
            <a:r>
              <a:rPr lang="zh-CN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z</a:t>
            </a:r>
            <a:r>
              <a:rPr lang="zh-CN" altLang="zh-CN" sz="20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≤2时，取=1～1.5。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8" name="矩形 57356"/>
          <p:cNvSpPr>
            <a:spLocks noChangeArrowheads="1"/>
          </p:cNvSpPr>
          <p:nvPr/>
        </p:nvSpPr>
        <p:spPr bwMode="auto">
          <a:xfrm>
            <a:off x="395710" y="4869100"/>
            <a:ext cx="8450262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实际应用中，推荐</a:t>
            </a:r>
            <a:r>
              <a:rPr lang="zh-CN" altLang="zh-CN" sz="2000" i="1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ρ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=(5～5.5) m（m为模数）。当</a:t>
            </a:r>
            <a:r>
              <a:rPr lang="zh-CN" altLang="en-US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z</a:t>
            </a:r>
            <a:r>
              <a:rPr lang="zh-CN" altLang="en-US" sz="20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 = 1、2时，取</a:t>
            </a:r>
            <a:r>
              <a:rPr lang="zh-CN" altLang="zh-CN" sz="2000" i="1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ρ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=5m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；z</a:t>
            </a:r>
            <a:r>
              <a:rPr lang="zh-CN" altLang="en-US" sz="20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=3 时，</a:t>
            </a:r>
            <a:r>
              <a:rPr lang="zh-CN" altLang="zh-CN" sz="2000" i="1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ρ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=5.3m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；</a:t>
            </a:r>
            <a:r>
              <a:rPr lang="zh-CN" altLang="en-US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z</a:t>
            </a:r>
            <a:r>
              <a:rPr lang="zh-CN" altLang="en-US" sz="2000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=4时，</a:t>
            </a:r>
            <a:r>
              <a:rPr lang="zh-CN" altLang="zh-CN" sz="2000" i="1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ρ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=5.5m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31775" y="1222375"/>
            <a:ext cx="1709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、齿形角</a:t>
            </a:r>
            <a:r>
              <a:rPr lang="zh-CN" altLang="en-US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α</a:t>
            </a:r>
            <a:r>
              <a:rPr lang="zh-CN" altLang="en-US" sz="2000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0</a:t>
            </a:r>
            <a:endParaRPr lang="zh-CN" altLang="en-US" sz="2000" baseline="-25000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31775" y="2028825"/>
            <a:ext cx="25717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蜗轮变位系数</a:t>
            </a:r>
            <a:r>
              <a:rPr lang="zh-CN" altLang="zh-CN" sz="2000" i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zh-CN" sz="2000" baseline="-25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sz="20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252000" y="3699000"/>
            <a:ext cx="25717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zh-CN" sz="2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齿廓</a:t>
            </a:r>
            <a:r>
              <a:rPr lang="zh-CN" altLang="zh-CN" sz="200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曲率半径</a:t>
            </a:r>
            <a:r>
              <a:rPr lang="en-US" altLang="zh-CN" sz="200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</a:t>
            </a:r>
            <a:r>
              <a:rPr lang="zh-CN" altLang="zh-CN" sz="2000" i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ρ</a:t>
            </a:r>
            <a:endParaRPr lang="zh-CN" altLang="zh-CN" sz="2000" i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graphicFrame>
        <p:nvGraphicFramePr>
          <p:cNvPr id="114699" name="对象 242"/>
          <p:cNvGraphicFramePr>
            <a:graphicFrameLocks noChangeAspect="1"/>
          </p:cNvGraphicFramePr>
          <p:nvPr/>
        </p:nvGraphicFramePr>
        <p:xfrm>
          <a:off x="2682000" y="3969000"/>
          <a:ext cx="31591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7" name="" r:id="rId4" imgW="1752600" imgH="508000" progId="Equation.3">
                  <p:embed/>
                </p:oleObj>
              </mc:Choice>
              <mc:Fallback>
                <p:oleObj name="" r:id="rId4" imgW="1752600" imgH="508000" progId="Equation.3">
                  <p:embed/>
                  <p:pic>
                    <p:nvPicPr>
                      <p:cNvPr id="0" name="对象 2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000" y="3969000"/>
                        <a:ext cx="31591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4"/>
          <p:cNvSpPr txBox="1">
            <a:spLocks noChangeArrowheads="1"/>
          </p:cNvSpPr>
          <p:nvPr/>
        </p:nvSpPr>
        <p:spPr bwMode="auto">
          <a:xfrm>
            <a:off x="3707940" y="5805165"/>
            <a:ext cx="500856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圆弧</a:t>
            </a:r>
            <a:r>
              <a:rPr 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圆柱蜗杆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  <a:hlinkClick r:id="rId6" action="ppaction://hlinksldjump"/>
              </a:rPr>
              <a:t>齿型参数及几</a:t>
            </a:r>
            <a:r>
              <a:rPr lang="zh-CN" altLang="en-US" sz="2000" dirty="0">
                <a:solidFill>
                  <a:srgbClr val="000099"/>
                </a:solidFill>
                <a:latin typeface="华文中宋" panose="02010600040101010101" pitchFamily="2" charset="-122"/>
                <a:sym typeface="宋体" panose="02010600030101010101" pitchFamily="2" charset="-122"/>
                <a:hlinkClick r:id="rId6" action="ppaction://hlinksldjump"/>
              </a:rPr>
              <a:t>何尺寸计算</a:t>
            </a:r>
            <a:r>
              <a:rPr lang="en-US" altLang="zh-CN" sz="2000" dirty="0">
                <a:solidFill>
                  <a:srgbClr val="000099"/>
                </a:solidFill>
                <a:latin typeface="华文中宋" panose="02010600040101010101" pitchFamily="2" charset="-122"/>
                <a:sym typeface="宋体" panose="02010600030101010101" pitchFamily="2" charset="-122"/>
                <a:hlinkClick r:id="rId6" action="ppaction://hlinksldjump"/>
              </a:rPr>
              <a:t>→</a:t>
            </a:r>
            <a:endParaRPr lang="en-US" altLang="zh-CN" sz="2000" dirty="0">
              <a:solidFill>
                <a:srgbClr val="000099"/>
              </a:solidFill>
              <a:latin typeface="华文中宋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54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4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9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7" grpId="0"/>
      <p:bldP spid="99334" grpId="0"/>
      <p:bldP spid="99335" grpId="0"/>
      <p:bldP spid="99338" grpId="0"/>
      <p:bldP spid="2" grpId="0"/>
      <p:bldP spid="3" grpId="0"/>
      <p:bldP spid="5" grpId="0"/>
      <p:bldP spid="1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03325" y="195263"/>
            <a:ext cx="794067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zh-CN" altLang="en-US" sz="24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1" lang="en-US" altLang="zh-CN" sz="24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3.1111-1 </a:t>
            </a:r>
            <a:r>
              <a:rPr kumimoji="1" lang="zh-CN" altLang="en-US" sz="24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普通圆柱蜗杆传动的</a:t>
            </a:r>
            <a:r>
              <a:rPr kumimoji="1" lang="zh-CN" altLang="en-US" sz="24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基本参数</a:t>
            </a:r>
            <a:endParaRPr kumimoji="1" lang="zh-CN" altLang="en-US" sz="24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65539" name="Picture 73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1498" y="6533833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表格 -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9375" y="947738"/>
          <a:ext cx="8986838" cy="5510222"/>
        </p:xfrm>
        <a:graphic>
          <a:graphicData uri="http://schemas.openxmlformats.org/drawingml/2006/table">
            <a:tbl>
              <a:tblPr/>
              <a:tblGrid>
                <a:gridCol w="534988"/>
                <a:gridCol w="457200"/>
                <a:gridCol w="654050"/>
                <a:gridCol w="312737"/>
                <a:gridCol w="1089025"/>
                <a:gridCol w="403225"/>
                <a:gridCol w="457200"/>
                <a:gridCol w="746125"/>
                <a:gridCol w="246063"/>
                <a:gridCol w="1116012"/>
                <a:gridCol w="338138"/>
                <a:gridCol w="392112"/>
                <a:gridCol w="708025"/>
                <a:gridCol w="415925"/>
                <a:gridCol w="1116013"/>
              </a:tblGrid>
              <a:tr h="644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模数</a:t>
                      </a: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m/mm</a:t>
                      </a:r>
                      <a:endParaRPr kumimoji="0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分度圆直径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/mm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12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/mm</a:t>
                      </a:r>
                      <a:r>
                        <a:rPr kumimoji="0" lang="en-US" altLang="zh-CN" sz="12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200" b="0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蜗杆头数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altLang="zh-CN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2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导程角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γ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模数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m/mm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分度圆直径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/mm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12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/mm</a:t>
                      </a:r>
                      <a:r>
                        <a:rPr kumimoji="0" lang="en-US" altLang="zh-CN" sz="12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200" b="0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蜗杆头数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altLang="zh-CN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2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导程角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γ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模数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m/mm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分度圆直径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/mm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12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/mm</a:t>
                      </a:r>
                      <a:r>
                        <a:rPr kumimoji="0" lang="en-US" altLang="zh-CN" sz="12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200" b="0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蜗杆头数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altLang="zh-CN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2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导程角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γ</a:t>
                      </a:r>
                      <a:endParaRPr kumimoji="0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18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18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3°10′47″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3.15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35.5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352.25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10°03′48″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6.3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4445.3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+mn-ea"/>
                        </a:rPr>
                        <a:t>3°13′10″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1.25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31.25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3°34′35″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19°32′29″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5120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5°42′38″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22.4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3°11′38″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28°01′50″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11°18′36″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1.6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51.2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4°34′26″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56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555.26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3°13′10″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21°48′05″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9°05′25″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640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5°42′38″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30°57′50″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17°44′41″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11°18′36″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8960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3°16′14″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28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71.68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3°16′14″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21°48′05″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9000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6°20′25″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 rowSpan="5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22.4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89.6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5°06′08″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30°57′50″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12°31′44″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10°07′29″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1136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3°13′28″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23°57′45″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19°39′14″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1250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5°42′38″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33°41′24″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28°10′43″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11°18′36″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160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16000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3°34′35″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35.5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3°13′28″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21°48′05″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12.5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17500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6°22′06″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 rowSpan="5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2.5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28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175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5°06′08″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30°57′50″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12°34′59″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10°07′29″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2250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3°′10″47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24°03′26″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19°39′14″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6.3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63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2500.5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5°42′38″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200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31250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3°34′35″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28°10′43″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11°18′36″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16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140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35840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6°31′11″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281.25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3°10′47″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21°48′05″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12°52′30″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3.15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35.5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352.25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sym typeface="+mn-ea"/>
                        </a:rPr>
                        <a:t>5°04′15″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30°57′50″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24°34′02″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5792" name="文本框 101"/>
          <p:cNvSpPr txBox="1">
            <a:spLocks noChangeArrowheads="1"/>
          </p:cNvSpPr>
          <p:nvPr/>
        </p:nvSpPr>
        <p:spPr bwMode="auto">
          <a:xfrm>
            <a:off x="2032000" y="658813"/>
            <a:ext cx="5080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1600">
                <a:solidFill>
                  <a:srgbClr val="000099"/>
                </a:solidFill>
                <a:latin typeface="华文中宋" panose="02010600040101010101" pitchFamily="2" charset="-122"/>
              </a:rPr>
              <a:t>普通圆柱蜗杆基本参数（轴角</a:t>
            </a:r>
            <a:r>
              <a:rPr lang="en-US" altLang="zh-CN" sz="1600">
                <a:solidFill>
                  <a:srgbClr val="000099"/>
                </a:solidFill>
                <a:latin typeface="华文中宋" panose="02010600040101010101" pitchFamily="2" charset="-122"/>
              </a:rPr>
              <a:t>Σ=90°</a:t>
            </a:r>
            <a:r>
              <a:rPr lang="zh-CN" altLang="en-US" sz="1600">
                <a:solidFill>
                  <a:srgbClr val="000099"/>
                </a:solidFill>
                <a:latin typeface="华文中宋" panose="02010600040101010101" pitchFamily="2" charset="-122"/>
              </a:rPr>
              <a:t>）</a:t>
            </a:r>
            <a:endParaRPr lang="zh-CN" altLang="en-US" sz="16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65793" name="文本框 1"/>
          <p:cNvSpPr txBox="1">
            <a:spLocks noChangeArrowheads="1"/>
          </p:cNvSpPr>
          <p:nvPr/>
        </p:nvSpPr>
        <p:spPr bwMode="auto">
          <a:xfrm>
            <a:off x="6791325" y="6445250"/>
            <a:ext cx="69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hlinkClick r:id="rId4" action="ppaction://hlinksldjump"/>
              </a:rPr>
              <a:t>返回</a:t>
            </a:r>
            <a:endParaRPr lang="zh-CN" altLang="en-US" sz="2000"/>
          </a:p>
        </p:txBody>
      </p:sp>
      <p:sp>
        <p:nvSpPr>
          <p:cNvPr id="65794" name="直接连接符 6"/>
          <p:cNvSpPr>
            <a:spLocks noChangeShapeType="1"/>
          </p:cNvSpPr>
          <p:nvPr/>
        </p:nvSpPr>
        <p:spPr bwMode="auto">
          <a:xfrm>
            <a:off x="0" y="642938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动作按钮: 前进或下一项 2">
            <a:hlinkClick r:id="rId5" action="ppaction://hlinksldjump" highlightClick="1"/>
          </p:cNvPr>
          <p:cNvSpPr/>
          <p:nvPr/>
        </p:nvSpPr>
        <p:spPr bwMode="auto">
          <a:xfrm>
            <a:off x="179695" y="6525214"/>
            <a:ext cx="288020" cy="216015"/>
          </a:xfrm>
          <a:prstGeom prst="actionButtonForwardNex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15685" y="2303780"/>
            <a:ext cx="1426210" cy="76517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3730" y="116770"/>
            <a:ext cx="813656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3.11-3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普通圆柱蜗杆传动基本几何尺寸计算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1283" name="Picture 73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表格 -1"/>
          <p:cNvGraphicFramePr/>
          <p:nvPr/>
        </p:nvGraphicFramePr>
        <p:xfrm>
          <a:off x="212725" y="1298575"/>
          <a:ext cx="8674099" cy="48996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2980"/>
                <a:gridCol w="724535"/>
                <a:gridCol w="2742882"/>
                <a:gridCol w="2953702"/>
              </a:tblGrid>
              <a:tr h="304800"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 dirty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名称</a:t>
                      </a:r>
                      <a:endParaRPr lang="zh-CN" altLang="en-US" sz="2000" b="0" dirty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符号</a:t>
                      </a:r>
                      <a:endParaRPr lang="zh-CN" altLang="en-US" sz="20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计算公式</a:t>
                      </a:r>
                      <a:endParaRPr lang="zh-CN" altLang="en-US" sz="20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7335">
                <a:tc vMerge="1">
                  <a:tcPr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蜗杆</a:t>
                      </a:r>
                      <a:endParaRPr lang="zh-CN" altLang="en-US" sz="20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蜗轮</a:t>
                      </a:r>
                      <a:endParaRPr lang="zh-CN" altLang="en-US" sz="20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分度圆直径</a:t>
                      </a:r>
                      <a:endParaRPr lang="zh-CN" altLang="en-US" sz="20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 b="0" i="1" dirty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endParaRPr lang="en-US" altLang="zh-CN" sz="2000" b="0" i="1" dirty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节圆直径</a:t>
                      </a:r>
                      <a:endParaRPr lang="zh-CN" altLang="en-US" sz="20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 b="0" i="1" dirty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0" dirty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′</a:t>
                      </a:r>
                      <a:endParaRPr lang="en-US" altLang="zh-CN" sz="2000" b="0" dirty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齿顶圆直径</a:t>
                      </a:r>
                      <a:endParaRPr lang="zh-CN" altLang="en-US" sz="20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 b="0" i="1" dirty="0" err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0" baseline="-25000" dirty="0" err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en-US" altLang="zh-CN" sz="2000" b="0" baseline="-25000" dirty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齿根圆直径</a:t>
                      </a:r>
                      <a:endParaRPr lang="zh-CN" altLang="en-US" sz="20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 b="0" i="1" dirty="0" err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0" baseline="-25000" dirty="0" err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f</a:t>
                      </a:r>
                      <a:endParaRPr lang="en-US" altLang="zh-CN" sz="2000" b="0" baseline="-25000" dirty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中心距</a:t>
                      </a:r>
                      <a:endParaRPr lang="zh-CN" altLang="en-US" sz="20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 b="0" i="1" dirty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en-US" altLang="zh-CN" sz="2000" b="0" i="1" dirty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压力角</a:t>
                      </a:r>
                      <a:endParaRPr lang="zh-CN" altLang="en-US" sz="20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 b="0" i="1" dirty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α</a:t>
                      </a:r>
                      <a:endParaRPr lang="en-US" altLang="zh-CN" sz="2000" b="0" i="1" dirty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zh-CN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Calibri" panose="020F0502020204030204" charset="0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蜗杆分度圆导程角</a:t>
                      </a:r>
                      <a:endParaRPr lang="zh-CN" altLang="en-US" sz="20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 b="0" i="1" dirty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γ</a:t>
                      </a:r>
                      <a:endParaRPr lang="en-US" altLang="zh-CN" sz="2000" b="0" i="1" dirty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6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zh-CN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蜗杆基圆柱导程角</a:t>
                      </a:r>
                      <a:endParaRPr lang="zh-CN" altLang="en-US" sz="20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 b="0" i="1" dirty="0" err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Calibri" panose="020F0502020204030204" charset="0"/>
                        </a:rPr>
                        <a:t>γ</a:t>
                      </a:r>
                      <a:r>
                        <a:rPr lang="en-US" altLang="zh-CN" sz="2000" b="0" baseline="-25000" dirty="0" err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Calibri" panose="020F0502020204030204" charset="0"/>
                        </a:rPr>
                        <a:t>b</a:t>
                      </a:r>
                      <a:endParaRPr lang="en-US" altLang="zh-CN" sz="2000" b="0" baseline="-25000" dirty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Calibri" panose="020F0502020204030204" charset="0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b="0">
                        <a:solidFill>
                          <a:srgbClr val="000099"/>
                        </a:solidFill>
                        <a:highlight>
                          <a:srgbClr val="FF0000"/>
                        </a:highlight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6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zh-CN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蜗杆轴向齿距</a:t>
                      </a:r>
                      <a:endParaRPr lang="zh-CN" altLang="en-US" sz="20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 b="0" i="1" dirty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p</a:t>
                      </a:r>
                      <a:r>
                        <a:rPr lang="en-US" altLang="zh-CN" sz="2000" b="0" baseline="-25000" dirty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en-US" altLang="zh-CN" sz="2000" b="0" baseline="-25000" dirty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zh-CN" sz="16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zh-CN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蜗杆导程</a:t>
                      </a:r>
                      <a:endParaRPr lang="zh-CN" altLang="en-US" sz="20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 b="0" i="1" dirty="0" err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p</a:t>
                      </a:r>
                      <a:r>
                        <a:rPr lang="en-US" altLang="zh-CN" sz="2000" b="0" baseline="-25000" dirty="0" err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z</a:t>
                      </a:r>
                      <a:endParaRPr lang="en-US" altLang="zh-CN" sz="2000" b="0" baseline="-25000" dirty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6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zh-CN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蜗轮齿宽角</a:t>
                      </a:r>
                      <a:endParaRPr lang="zh-CN" altLang="en-US" sz="20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 i="1" dirty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θ</a:t>
                      </a:r>
                      <a:endParaRPr lang="zh-CN" altLang="en-US" sz="2000" b="0" i="1" dirty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6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zh-CN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0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蜗轮咽喉母圆半径</a:t>
                      </a:r>
                      <a:endParaRPr lang="zh-CN" altLang="en-US" sz="20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2000" b="0" i="1" dirty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lang="en-US" altLang="zh-CN" sz="2000" b="0" baseline="-25000" dirty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g2</a:t>
                      </a:r>
                      <a:endParaRPr lang="en-US" altLang="zh-CN" sz="2000" b="0" baseline="-25000" dirty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600" b="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zh-CN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b="0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1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1285" name="组合 47"/>
          <p:cNvGrpSpPr/>
          <p:nvPr/>
        </p:nvGrpSpPr>
        <p:grpSpPr bwMode="auto">
          <a:xfrm>
            <a:off x="3279775" y="1927225"/>
            <a:ext cx="5473700" cy="4267200"/>
            <a:chOff x="5165" y="3034"/>
            <a:chExt cx="8621" cy="6722"/>
          </a:xfrm>
        </p:grpSpPr>
        <p:graphicFrame>
          <p:nvGraphicFramePr>
            <p:cNvPr id="11266" name="对象 160"/>
            <p:cNvGraphicFramePr>
              <a:graphicFrameLocks noChangeAspect="1"/>
            </p:cNvGraphicFramePr>
            <p:nvPr/>
          </p:nvGraphicFramePr>
          <p:xfrm>
            <a:off x="6148" y="3034"/>
            <a:ext cx="1421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9" name="" r:id="rId3" imgW="521335" imgH="215900" progId="Equation.KSEE3">
                    <p:embed/>
                  </p:oleObj>
                </mc:Choice>
                <mc:Fallback>
                  <p:oleObj name="" r:id="rId3" imgW="521335" imgH="215900" progId="Equation.KSEE3">
                    <p:embed/>
                    <p:pic>
                      <p:nvPicPr>
                        <p:cNvPr id="0" name="对象 1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48" y="3034"/>
                          <a:ext cx="1421" cy="5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7" name="对象 175"/>
            <p:cNvGraphicFramePr>
              <a:graphicFrameLocks noChangeAspect="1"/>
            </p:cNvGraphicFramePr>
            <p:nvPr/>
          </p:nvGraphicFramePr>
          <p:xfrm>
            <a:off x="9584" y="3062"/>
            <a:ext cx="4191" cy="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0" name="" r:id="rId5" imgW="1612900" imgH="215900" progId="Equation.KSEE3">
                    <p:embed/>
                  </p:oleObj>
                </mc:Choice>
                <mc:Fallback>
                  <p:oleObj name="" r:id="rId5" imgW="1612900" imgH="215900" progId="Equation.KSEE3">
                    <p:embed/>
                    <p:pic>
                      <p:nvPicPr>
                        <p:cNvPr id="0" name="对象 1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84" y="3062"/>
                          <a:ext cx="4191" cy="5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8" name="对象 42"/>
            <p:cNvGraphicFramePr>
              <a:graphicFrameLocks noChangeAspect="1"/>
            </p:cNvGraphicFramePr>
            <p:nvPr/>
          </p:nvGraphicFramePr>
          <p:xfrm>
            <a:off x="5165" y="3596"/>
            <a:ext cx="4064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1" name="" r:id="rId7" imgW="1610995" imgH="215900" progId="Equation.3">
                    <p:embed/>
                  </p:oleObj>
                </mc:Choice>
                <mc:Fallback>
                  <p:oleObj name="" r:id="rId7" imgW="1610995" imgH="215900" progId="Equation.3">
                    <p:embed/>
                    <p:pic>
                      <p:nvPicPr>
                        <p:cNvPr id="0" name="对象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5" y="3596"/>
                          <a:ext cx="4064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9" name="对象 176"/>
            <p:cNvGraphicFramePr>
              <a:graphicFrameLocks noChangeAspect="1"/>
            </p:cNvGraphicFramePr>
            <p:nvPr/>
          </p:nvGraphicFramePr>
          <p:xfrm>
            <a:off x="11005" y="3596"/>
            <a:ext cx="1314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2" name="" r:id="rId9" imgW="483235" imgH="215900" progId="Equation.KSEE3">
                    <p:embed/>
                  </p:oleObj>
                </mc:Choice>
                <mc:Fallback>
                  <p:oleObj name="" r:id="rId9" imgW="483235" imgH="215900" progId="Equation.KSEE3">
                    <p:embed/>
                    <p:pic>
                      <p:nvPicPr>
                        <p:cNvPr id="0" name="对象 1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05" y="3596"/>
                          <a:ext cx="1314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0" name="对象 45"/>
            <p:cNvGraphicFramePr>
              <a:graphicFrameLocks noChangeAspect="1"/>
            </p:cNvGraphicFramePr>
            <p:nvPr/>
          </p:nvGraphicFramePr>
          <p:xfrm>
            <a:off x="5253" y="4143"/>
            <a:ext cx="3883" cy="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3" name="" r:id="rId11" imgW="1637665" imgH="241300" progId="Equation.KSEE3">
                    <p:embed/>
                  </p:oleObj>
                </mc:Choice>
                <mc:Fallback>
                  <p:oleObj name="" r:id="rId11" imgW="1637665" imgH="241300" progId="Equation.KSEE3">
                    <p:embed/>
                    <p:pic>
                      <p:nvPicPr>
                        <p:cNvPr id="0" name="对象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3" y="4143"/>
                          <a:ext cx="3883" cy="5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1" name="对象 46"/>
            <p:cNvGraphicFramePr>
              <a:graphicFrameLocks noChangeAspect="1"/>
            </p:cNvGraphicFramePr>
            <p:nvPr/>
          </p:nvGraphicFramePr>
          <p:xfrm>
            <a:off x="9983" y="4101"/>
            <a:ext cx="3359" cy="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4" name="" r:id="rId13" imgW="1409065" imgH="241300" progId="Equation.KSEE3">
                    <p:embed/>
                  </p:oleObj>
                </mc:Choice>
                <mc:Fallback>
                  <p:oleObj name="" r:id="rId13" imgW="1409065" imgH="241300" progId="Equation.KSEE3">
                    <p:embed/>
                    <p:pic>
                      <p:nvPicPr>
                        <p:cNvPr id="0" name="对象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3" y="4101"/>
                          <a:ext cx="3359" cy="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2" name="对象 48"/>
            <p:cNvGraphicFramePr>
              <a:graphicFrameLocks noChangeAspect="1"/>
            </p:cNvGraphicFramePr>
            <p:nvPr/>
          </p:nvGraphicFramePr>
          <p:xfrm>
            <a:off x="5493" y="4715"/>
            <a:ext cx="3407" cy="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5" name="" r:id="rId15" imgW="1358265" imgH="241300" progId="Equation.KSEE3">
                    <p:embed/>
                  </p:oleObj>
                </mc:Choice>
                <mc:Fallback>
                  <p:oleObj name="" r:id="rId15" imgW="1358265" imgH="241300" progId="Equation.KSEE3">
                    <p:embed/>
                    <p:pic>
                      <p:nvPicPr>
                        <p:cNvPr id="0" name="对象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3" y="4715"/>
                          <a:ext cx="3407" cy="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3" name="对象 49"/>
            <p:cNvGraphicFramePr>
              <a:graphicFrameLocks noChangeAspect="1"/>
            </p:cNvGraphicFramePr>
            <p:nvPr/>
          </p:nvGraphicFramePr>
          <p:xfrm>
            <a:off x="9347" y="4676"/>
            <a:ext cx="4439" cy="6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6" name="" r:id="rId17" imgW="1663065" imgH="241300" progId="Equation.KSEE3">
                    <p:embed/>
                  </p:oleObj>
                </mc:Choice>
                <mc:Fallback>
                  <p:oleObj name="" r:id="rId17" imgW="1663065" imgH="241300" progId="Equation.KSEE3">
                    <p:embed/>
                    <p:pic>
                      <p:nvPicPr>
                        <p:cNvPr id="0" name="对象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47" y="4676"/>
                          <a:ext cx="4439" cy="6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4" name="对象 169"/>
            <p:cNvGraphicFramePr>
              <a:graphicFrameLocks noChangeAspect="1"/>
            </p:cNvGraphicFramePr>
            <p:nvPr/>
          </p:nvGraphicFramePr>
          <p:xfrm>
            <a:off x="7617" y="5307"/>
            <a:ext cx="3240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7" name="" r:id="rId19" imgW="1308735" imgH="215900" progId="Equation.KSEE3">
                    <p:embed/>
                  </p:oleObj>
                </mc:Choice>
                <mc:Fallback>
                  <p:oleObj name="" r:id="rId19" imgW="1308735" imgH="215900" progId="Equation.KSEE3">
                    <p:embed/>
                    <p:pic>
                      <p:nvPicPr>
                        <p:cNvPr id="0" name="对象 1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7" y="5307"/>
                          <a:ext cx="3240" cy="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5" name="对象 -2147482373"/>
            <p:cNvGraphicFramePr>
              <a:graphicFrameLocks noChangeAspect="1"/>
            </p:cNvGraphicFramePr>
            <p:nvPr/>
          </p:nvGraphicFramePr>
          <p:xfrm>
            <a:off x="6083" y="5842"/>
            <a:ext cx="6307" cy="5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8" name="" r:id="rId21" imgW="2463800" imgH="228600" progId="Equation.KSEE3">
                    <p:embed/>
                  </p:oleObj>
                </mc:Choice>
                <mc:Fallback>
                  <p:oleObj name="" r:id="rId21" imgW="2463800" imgH="228600" progId="Equation.KSEE3">
                    <p:embed/>
                    <p:pic>
                      <p:nvPicPr>
                        <p:cNvPr id="0" name="对象 -21474823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3" y="5842"/>
                          <a:ext cx="6307" cy="5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6" name="对象 171"/>
            <p:cNvGraphicFramePr>
              <a:graphicFrameLocks noChangeAspect="1"/>
            </p:cNvGraphicFramePr>
            <p:nvPr/>
          </p:nvGraphicFramePr>
          <p:xfrm>
            <a:off x="5743" y="6314"/>
            <a:ext cx="2907" cy="6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9" name="" r:id="rId23" imgW="1042035" imgH="215900" progId="Equation.KSEE3">
                    <p:embed/>
                  </p:oleObj>
                </mc:Choice>
                <mc:Fallback>
                  <p:oleObj name="" r:id="rId23" imgW="1042035" imgH="215900" progId="Equation.KSEE3">
                    <p:embed/>
                    <p:pic>
                      <p:nvPicPr>
                        <p:cNvPr id="0" name="对象 1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43" y="6314"/>
                          <a:ext cx="2907" cy="6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7" name="对象 57"/>
            <p:cNvGraphicFramePr>
              <a:graphicFrameLocks noChangeAspect="1"/>
            </p:cNvGraphicFramePr>
            <p:nvPr/>
          </p:nvGraphicFramePr>
          <p:xfrm>
            <a:off x="5696" y="6917"/>
            <a:ext cx="3000" cy="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00" name="" r:id="rId25" imgW="1168400" imgH="228600" progId="Equation.KSEE3">
                    <p:embed/>
                  </p:oleObj>
                </mc:Choice>
                <mc:Fallback>
                  <p:oleObj name="" r:id="rId25" imgW="1168400" imgH="228600" progId="Equation.KSEE3">
                    <p:embed/>
                    <p:pic>
                      <p:nvPicPr>
                        <p:cNvPr id="0" name="对象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96" y="6917"/>
                          <a:ext cx="3000" cy="5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8" name="对象 59"/>
            <p:cNvGraphicFramePr>
              <a:graphicFrameLocks noChangeAspect="1"/>
            </p:cNvGraphicFramePr>
            <p:nvPr/>
          </p:nvGraphicFramePr>
          <p:xfrm>
            <a:off x="6447" y="7409"/>
            <a:ext cx="1497" cy="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01" name="" r:id="rId27" imgW="533400" imgH="228600" progId="Equation.KSEE3">
                    <p:embed/>
                  </p:oleObj>
                </mc:Choice>
                <mc:Fallback>
                  <p:oleObj name="" r:id="rId27" imgW="533400" imgH="228600" progId="Equation.KSEE3">
                    <p:embed/>
                    <p:pic>
                      <p:nvPicPr>
                        <p:cNvPr id="0" name="对象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7" y="7409"/>
                          <a:ext cx="1497" cy="6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9" name="对象 61"/>
            <p:cNvGraphicFramePr>
              <a:graphicFrameLocks noChangeAspect="1"/>
            </p:cNvGraphicFramePr>
            <p:nvPr/>
          </p:nvGraphicFramePr>
          <p:xfrm>
            <a:off x="5661" y="8051"/>
            <a:ext cx="3067" cy="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02" name="" r:id="rId29" imgW="1079500" imgH="228600" progId="Equation.KSEE3">
                    <p:embed/>
                  </p:oleObj>
                </mc:Choice>
                <mc:Fallback>
                  <p:oleObj name="" r:id="rId29" imgW="1079500" imgH="228600" progId="Equation.KSEE3">
                    <p:embed/>
                    <p:pic>
                      <p:nvPicPr>
                        <p:cNvPr id="0" name="对象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1" y="8051"/>
                          <a:ext cx="3067" cy="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0" name="对象 179"/>
            <p:cNvGraphicFramePr>
              <a:graphicFrameLocks noChangeAspect="1"/>
            </p:cNvGraphicFramePr>
            <p:nvPr/>
          </p:nvGraphicFramePr>
          <p:xfrm>
            <a:off x="9933" y="8569"/>
            <a:ext cx="3267" cy="5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03" name="" r:id="rId31" imgW="1194435" imgH="215900" progId="Equation.KSEE3">
                    <p:embed/>
                  </p:oleObj>
                </mc:Choice>
                <mc:Fallback>
                  <p:oleObj name="" r:id="rId31" imgW="1194435" imgH="215900" progId="Equation.KSEE3">
                    <p:embed/>
                    <p:pic>
                      <p:nvPicPr>
                        <p:cNvPr id="0" name="对象 1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33" y="8569"/>
                          <a:ext cx="3267" cy="5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1" name="对象 65"/>
            <p:cNvGraphicFramePr>
              <a:graphicFrameLocks noChangeAspect="1"/>
            </p:cNvGraphicFramePr>
            <p:nvPr/>
          </p:nvGraphicFramePr>
          <p:xfrm>
            <a:off x="10391" y="9160"/>
            <a:ext cx="2352" cy="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04" name="" r:id="rId33" imgW="951865" imgH="241300" progId="Equation.KSEE3">
                    <p:embed/>
                  </p:oleObj>
                </mc:Choice>
                <mc:Fallback>
                  <p:oleObj name="" r:id="rId33" imgW="951865" imgH="241300" progId="Equation.KSEE3">
                    <p:embed/>
                    <p:pic>
                      <p:nvPicPr>
                        <p:cNvPr id="0" name="对象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91" y="9160"/>
                          <a:ext cx="2352" cy="5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86" name="文本框 101"/>
          <p:cNvSpPr txBox="1">
            <a:spLocks noChangeArrowheads="1"/>
          </p:cNvSpPr>
          <p:nvPr/>
        </p:nvSpPr>
        <p:spPr bwMode="auto">
          <a:xfrm>
            <a:off x="2032000" y="803275"/>
            <a:ext cx="5080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1800">
                <a:solidFill>
                  <a:srgbClr val="000099"/>
                </a:solidFill>
                <a:latin typeface="华文中宋" panose="02010600040101010101" pitchFamily="2" charset="-122"/>
              </a:rPr>
              <a:t>普通圆柱蜗杆传动主要几何尺寸计算公式</a:t>
            </a:r>
            <a:endParaRPr lang="zh-CN" altLang="en-US" sz="18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11287" name="文本框 1"/>
          <p:cNvSpPr txBox="1">
            <a:spLocks noChangeArrowheads="1"/>
          </p:cNvSpPr>
          <p:nvPr/>
        </p:nvSpPr>
        <p:spPr bwMode="auto">
          <a:xfrm>
            <a:off x="6791325" y="6300788"/>
            <a:ext cx="69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hlinkClick r:id="rId35" action="ppaction://hlinksldjump"/>
              </a:rPr>
              <a:t>返回</a:t>
            </a:r>
            <a:endParaRPr lang="zh-CN" altLang="en-US" sz="2000"/>
          </a:p>
        </p:txBody>
      </p:sp>
      <p:sp>
        <p:nvSpPr>
          <p:cNvPr id="11288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702310" y="2663825"/>
            <a:ext cx="5826760" cy="3082290"/>
            <a:chOff x="1105" y="2637"/>
            <a:chExt cx="9176" cy="4854"/>
          </a:xfrm>
        </p:grpSpPr>
        <p:graphicFrame>
          <p:nvGraphicFramePr>
            <p:cNvPr id="4" name="对象 3"/>
            <p:cNvGraphicFramePr/>
            <p:nvPr/>
          </p:nvGraphicFramePr>
          <p:xfrm>
            <a:off x="1105" y="2637"/>
            <a:ext cx="9177" cy="48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1" imgW="5822950" imgH="3079750" progId="Paint.Picture">
                    <p:embed/>
                  </p:oleObj>
                </mc:Choice>
                <mc:Fallback>
                  <p:oleObj name="" r:id="rId1" imgW="5822950" imgH="3079750" progId="Paint.Picture">
                    <p:embed/>
                    <p:pic>
                      <p:nvPicPr>
                        <p:cNvPr id="0" name="图片 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105" y="2637"/>
                          <a:ext cx="9177" cy="485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/>
            <p:nvPr/>
          </p:nvSpPr>
          <p:spPr>
            <a:xfrm>
              <a:off x="5570" y="5967"/>
              <a:ext cx="3260" cy="992"/>
            </a:xfrm>
            <a:prstGeom prst="rect">
              <a:avLst/>
            </a:prstGeom>
            <a:noFill/>
            <a:ln w="381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H="1">
              <a:off x="6562" y="5982"/>
              <a:ext cx="768" cy="977"/>
            </a:xfrm>
            <a:prstGeom prst="line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" name="Rectangle 2"/>
          <p:cNvSpPr>
            <a:spLocks noGrp="1" noChangeArrowheads="1"/>
          </p:cNvSpPr>
          <p:nvPr/>
        </p:nvSpPr>
        <p:spPr bwMode="auto">
          <a:xfrm>
            <a:off x="2555875" y="200025"/>
            <a:ext cx="6570663" cy="49053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圆柱蜗杆传动的受力分析和计算载荷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6565" name="文本框 12"/>
          <p:cNvSpPr txBox="1">
            <a:spLocks noChangeArrowheads="1"/>
          </p:cNvSpPr>
          <p:nvPr/>
        </p:nvSpPr>
        <p:spPr bwMode="auto">
          <a:xfrm>
            <a:off x="206375" y="915988"/>
            <a:ext cx="2722563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sym typeface="宋体" panose="02010600030101010101" pitchFamily="2" charset="-122"/>
              </a:rPr>
              <a:t>蜗杆传动受力方向判断</a:t>
            </a:r>
            <a:endParaRPr lang="zh-CN" altLang="en-US" sz="2000">
              <a:solidFill>
                <a:srgbClr val="000099"/>
              </a:solidFill>
              <a:sym typeface="宋体" panose="02010600030101010101" pitchFamily="2" charset="-122"/>
            </a:endParaRPr>
          </a:p>
        </p:txBody>
      </p:sp>
      <p:sp>
        <p:nvSpPr>
          <p:cNvPr id="66566" name="文本框 13"/>
          <p:cNvSpPr txBox="1">
            <a:spLocks noChangeArrowheads="1"/>
          </p:cNvSpPr>
          <p:nvPr/>
        </p:nvSpPr>
        <p:spPr bwMode="auto">
          <a:xfrm>
            <a:off x="69850" y="1477963"/>
            <a:ext cx="88169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</a:rPr>
              <a:t>蜗杆的旋转方向和螺旋线方向如图所示，试判断蜗杆、蜗轮所受的径向力、周向力和轴向力的方向，以及蜗轮的旋转方向。</a:t>
            </a:r>
            <a:endParaRPr lang="zh-CN" altLang="en-US" sz="2000">
              <a:solidFill>
                <a:srgbClr val="000099"/>
              </a:solidFill>
            </a:endParaRPr>
          </a:p>
        </p:txBody>
      </p:sp>
      <p:sp>
        <p:nvSpPr>
          <p:cNvPr id="66569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3266440" y="4815840"/>
            <a:ext cx="0" cy="617855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直接连接符 10"/>
          <p:cNvCxnSpPr/>
          <p:nvPr/>
        </p:nvCxnSpPr>
        <p:spPr>
          <a:xfrm>
            <a:off x="4572000" y="4779010"/>
            <a:ext cx="78232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sm" len="lg"/>
          </a:ln>
        </p:spPr>
      </p:cxnSp>
      <p:sp>
        <p:nvSpPr>
          <p:cNvPr id="12" name="文本框 11"/>
          <p:cNvSpPr txBox="1"/>
          <p:nvPr/>
        </p:nvSpPr>
        <p:spPr>
          <a:xfrm>
            <a:off x="4707255" y="4149090"/>
            <a:ext cx="83058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00B050"/>
                </a:solidFill>
              </a:rPr>
              <a:t>F</a:t>
            </a:r>
            <a:r>
              <a:rPr lang="en-US" altLang="zh-CN" sz="2000" baseline="-25000">
                <a:solidFill>
                  <a:srgbClr val="00B050"/>
                </a:solidFill>
              </a:rPr>
              <a:t>a2</a:t>
            </a:r>
            <a:endParaRPr lang="en-US" altLang="zh-CN" sz="2000" baseline="-25000">
              <a:solidFill>
                <a:srgbClr val="00B05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4572000" y="4733925"/>
            <a:ext cx="0" cy="513715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sm" len="lg"/>
          </a:ln>
        </p:spPr>
      </p:cxnSp>
      <p:sp>
        <p:nvSpPr>
          <p:cNvPr id="14" name="文本框 13"/>
          <p:cNvSpPr txBox="1"/>
          <p:nvPr/>
        </p:nvSpPr>
        <p:spPr>
          <a:xfrm>
            <a:off x="4572000" y="4958715"/>
            <a:ext cx="830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C00000"/>
                </a:solidFill>
              </a:rPr>
              <a:t>F</a:t>
            </a:r>
            <a:r>
              <a:rPr lang="en-US" altLang="zh-CN" sz="2000" baseline="-25000">
                <a:solidFill>
                  <a:srgbClr val="C00000"/>
                </a:solidFill>
              </a:rPr>
              <a:t>r</a:t>
            </a:r>
            <a:r>
              <a:rPr lang="en-US" altLang="zh-CN" sz="2000" baseline="-25000">
                <a:solidFill>
                  <a:srgbClr val="C00000"/>
                </a:solidFill>
              </a:rPr>
              <a:t>1</a:t>
            </a:r>
            <a:endParaRPr lang="en-US" altLang="zh-CN" sz="2000" baseline="-25000">
              <a:solidFill>
                <a:srgbClr val="C00000"/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4346575" y="4554220"/>
            <a:ext cx="180340" cy="180340"/>
            <a:chOff x="9822" y="9085"/>
            <a:chExt cx="284" cy="284"/>
          </a:xfrm>
        </p:grpSpPr>
        <p:sp>
          <p:nvSpPr>
            <p:cNvPr id="15" name="椭圆 14"/>
            <p:cNvSpPr/>
            <p:nvPr/>
          </p:nvSpPr>
          <p:spPr>
            <a:xfrm>
              <a:off x="9822" y="9085"/>
              <a:ext cx="284" cy="284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9894" y="9156"/>
              <a:ext cx="119" cy="11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942080" y="4194175"/>
            <a:ext cx="830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C00000"/>
                </a:solidFill>
              </a:rPr>
              <a:t>F</a:t>
            </a:r>
            <a:r>
              <a:rPr lang="en-US" altLang="zh-CN" sz="2000" baseline="-25000">
                <a:solidFill>
                  <a:srgbClr val="C00000"/>
                </a:solidFill>
              </a:rPr>
              <a:t>t</a:t>
            </a:r>
            <a:r>
              <a:rPr lang="en-US" altLang="zh-CN" sz="2000" baseline="-25000">
                <a:solidFill>
                  <a:srgbClr val="C00000"/>
                </a:solidFill>
              </a:rPr>
              <a:t>1</a:t>
            </a:r>
            <a:endParaRPr lang="en-US" altLang="zh-CN" sz="2000" baseline="-25000">
              <a:solidFill>
                <a:srgbClr val="C00000"/>
              </a:solidFill>
            </a:endParaRPr>
          </a:p>
        </p:txBody>
      </p:sp>
      <p:sp>
        <p:nvSpPr>
          <p:cNvPr id="19" name="弧形 18"/>
          <p:cNvSpPr/>
          <p:nvPr/>
        </p:nvSpPr>
        <p:spPr>
          <a:xfrm rot="840000">
            <a:off x="4772025" y="3479165"/>
            <a:ext cx="534035" cy="972185"/>
          </a:xfrm>
          <a:prstGeom prst="arc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48225" y="3155950"/>
            <a:ext cx="537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/>
              <a:t>n</a:t>
            </a:r>
            <a:r>
              <a:rPr lang="en-US" altLang="zh-CN" sz="1800" baseline="-25000"/>
              <a:t>2</a:t>
            </a:r>
            <a:endParaRPr lang="en-US" altLang="zh-CN" sz="1800" baseline="-25000"/>
          </a:p>
        </p:txBody>
      </p:sp>
      <p:cxnSp>
        <p:nvCxnSpPr>
          <p:cNvPr id="21" name="直接连接符 20"/>
          <p:cNvCxnSpPr/>
          <p:nvPr/>
        </p:nvCxnSpPr>
        <p:spPr>
          <a:xfrm>
            <a:off x="3807460" y="4779010"/>
            <a:ext cx="782320" cy="0"/>
          </a:xfrm>
          <a:prstGeom prst="lin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triangle" w="med" len="med"/>
            <a:tailEnd type="none" w="sm" len="lg"/>
          </a:ln>
        </p:spPr>
      </p:cxnSp>
      <p:sp>
        <p:nvSpPr>
          <p:cNvPr id="22" name="文本框 21"/>
          <p:cNvSpPr txBox="1"/>
          <p:nvPr/>
        </p:nvSpPr>
        <p:spPr>
          <a:xfrm>
            <a:off x="3672205" y="4824095"/>
            <a:ext cx="830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F</a:t>
            </a:r>
            <a:r>
              <a:rPr lang="en-US" altLang="zh-CN" sz="2000" baseline="-2500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t2</a:t>
            </a:r>
            <a:endParaRPr lang="en-US" altLang="zh-CN" sz="2000" baseline="-25000">
              <a:gradFill>
                <a:gsLst>
                  <a:gs pos="0">
                    <a:srgbClr val="14CD68"/>
                  </a:gs>
                  <a:gs pos="100000">
                    <a:srgbClr val="0B6E38"/>
                  </a:gs>
                </a:gsLst>
                <a:lin scaled="0"/>
              </a:gradFill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4572000" y="4239260"/>
            <a:ext cx="0" cy="513715"/>
          </a:xfrm>
          <a:prstGeom prst="straightConnector1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triangle" w="med" len="med"/>
            <a:tailEnd type="none" w="sm" len="lg"/>
          </a:ln>
        </p:spPr>
      </p:cxnSp>
      <p:sp>
        <p:nvSpPr>
          <p:cNvPr id="24" name="文本框 23"/>
          <p:cNvSpPr txBox="1"/>
          <p:nvPr/>
        </p:nvSpPr>
        <p:spPr>
          <a:xfrm>
            <a:off x="4076700" y="3924300"/>
            <a:ext cx="830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00B050"/>
                </a:solidFill>
              </a:rPr>
              <a:t>F</a:t>
            </a:r>
            <a:r>
              <a:rPr lang="en-US" altLang="zh-CN" sz="2000" baseline="-25000">
                <a:solidFill>
                  <a:srgbClr val="00B050"/>
                </a:solidFill>
              </a:rPr>
              <a:t>r2</a:t>
            </a:r>
            <a:endParaRPr lang="en-US" altLang="zh-CN" sz="2000" baseline="-25000">
              <a:solidFill>
                <a:srgbClr val="00B050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4629150" y="4476115"/>
            <a:ext cx="224790" cy="224790"/>
            <a:chOff x="9822" y="6321"/>
            <a:chExt cx="354" cy="354"/>
          </a:xfrm>
        </p:grpSpPr>
        <p:sp>
          <p:nvSpPr>
            <p:cNvPr id="25" name="椭圆 24"/>
            <p:cNvSpPr/>
            <p:nvPr/>
          </p:nvSpPr>
          <p:spPr>
            <a:xfrm>
              <a:off x="9822" y="6321"/>
              <a:ext cx="355" cy="355"/>
            </a:xfrm>
            <a:prstGeom prst="ellipse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  <p:cxnSp>
          <p:nvCxnSpPr>
            <p:cNvPr id="26" name="直接连接符 25"/>
            <p:cNvCxnSpPr>
              <a:stCxn id="25" idx="3"/>
              <a:endCxn id="25" idx="7"/>
            </p:cNvCxnSpPr>
            <p:nvPr/>
          </p:nvCxnSpPr>
          <p:spPr>
            <a:xfrm flipV="1">
              <a:off x="9874" y="6373"/>
              <a:ext cx="251" cy="251"/>
            </a:xfrm>
            <a:prstGeom prst="line">
              <a:avLst/>
            </a:prstGeom>
            <a:noFill/>
            <a:ln w="190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直接连接符 26"/>
            <p:cNvCxnSpPr>
              <a:stCxn id="25" idx="1"/>
              <a:endCxn id="25" idx="5"/>
            </p:cNvCxnSpPr>
            <p:nvPr/>
          </p:nvCxnSpPr>
          <p:spPr>
            <a:xfrm>
              <a:off x="9874" y="6373"/>
              <a:ext cx="251" cy="251"/>
            </a:xfrm>
            <a:prstGeom prst="line">
              <a:avLst/>
            </a:prstGeom>
            <a:noFill/>
            <a:ln w="190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" name="文本框 28"/>
          <p:cNvSpPr txBox="1"/>
          <p:nvPr/>
        </p:nvSpPr>
        <p:spPr>
          <a:xfrm>
            <a:off x="4841875" y="4779010"/>
            <a:ext cx="83058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C00000"/>
                </a:solidFill>
              </a:rPr>
              <a:t>F</a:t>
            </a:r>
            <a:r>
              <a:rPr lang="en-US" altLang="zh-CN" sz="2000" baseline="-25000">
                <a:solidFill>
                  <a:srgbClr val="C00000"/>
                </a:solidFill>
              </a:rPr>
              <a:t>a1</a:t>
            </a:r>
            <a:endParaRPr lang="en-US" altLang="zh-CN" sz="2000" baseline="-25000">
              <a:solidFill>
                <a:srgbClr val="C00000"/>
              </a:solidFill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H="1">
            <a:off x="1871980" y="3460750"/>
            <a:ext cx="4445" cy="643255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" name="文本框 30"/>
          <p:cNvSpPr txBox="1"/>
          <p:nvPr/>
        </p:nvSpPr>
        <p:spPr>
          <a:xfrm>
            <a:off x="1871980" y="3159125"/>
            <a:ext cx="537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/>
              <a:t>n</a:t>
            </a:r>
            <a:r>
              <a:rPr lang="en-US" altLang="zh-CN" sz="1800" baseline="-25000"/>
              <a:t>2</a:t>
            </a:r>
            <a:endParaRPr lang="en-US" altLang="zh-CN" sz="1800" baseline="-25000"/>
          </a:p>
        </p:txBody>
      </p:sp>
      <p:sp>
        <p:nvSpPr>
          <p:cNvPr id="66567" name="文本框 14"/>
          <p:cNvSpPr txBox="1">
            <a:spLocks noChangeArrowheads="1"/>
          </p:cNvSpPr>
          <p:nvPr/>
        </p:nvSpPr>
        <p:spPr bwMode="auto">
          <a:xfrm>
            <a:off x="5940095" y="2852960"/>
            <a:ext cx="2722563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径向力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r1</a:t>
            </a:r>
            <a:r>
              <a:rPr lang="en-US" altLang="zh-CN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=-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径向力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r2</a:t>
            </a:r>
            <a:endParaRPr lang="en-US" altLang="zh-CN" sz="2000" i="1" baseline="-25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周向力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t1</a:t>
            </a:r>
            <a:r>
              <a:rPr lang="en-US" altLang="zh-CN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=-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轴向力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a2</a:t>
            </a:r>
            <a:endParaRPr lang="en-US" altLang="zh-CN" sz="2000" i="1" baseline="-25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周向力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t2</a:t>
            </a:r>
            <a:r>
              <a:rPr lang="en-US" altLang="zh-CN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=-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轴向力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a1</a:t>
            </a:r>
            <a:endParaRPr lang="en-US" altLang="zh-CN" sz="2000" i="1" baseline="-25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从动轮转向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i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endParaRPr lang="en-US" altLang="zh-CN" sz="2000" i="1" baseline="-25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8" name="文本框 1"/>
          <p:cNvSpPr txBox="1">
            <a:spLocks noChangeArrowheads="1"/>
          </p:cNvSpPr>
          <p:nvPr/>
        </p:nvSpPr>
        <p:spPr bwMode="auto">
          <a:xfrm>
            <a:off x="6791325" y="6229350"/>
            <a:ext cx="69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hlinkClick r:id="rId3" action="ppaction://hlinksldjump"/>
              </a:rPr>
              <a:t>返回</a:t>
            </a:r>
            <a:endParaRPr lang="zh-CN" altLang="en-US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4" grpId="0"/>
      <p:bldP spid="18" grpId="0"/>
      <p:bldP spid="19" grpId="0" animBg="1"/>
      <p:bldP spid="20" grpId="0"/>
      <p:bldP spid="22" grpId="0"/>
      <p:bldP spid="24" grpId="0"/>
      <p:bldP spid="29" grpId="0" bldLvl="0" animBg="1"/>
      <p:bldP spid="3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55875" y="200025"/>
            <a:ext cx="6570663" cy="490538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圆柱蜗杆传动的受力分析和计算载荷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6563" name="Picture 73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93" t="30173" r="32433" b="23619"/>
          <a:stretch>
            <a:fillRect/>
          </a:stretch>
        </p:blipFill>
        <p:spPr bwMode="auto">
          <a:xfrm>
            <a:off x="31827" y="2420930"/>
            <a:ext cx="5964238" cy="333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5" name="文本框 12"/>
          <p:cNvSpPr txBox="1">
            <a:spLocks noChangeArrowheads="1"/>
          </p:cNvSpPr>
          <p:nvPr/>
        </p:nvSpPr>
        <p:spPr bwMode="auto">
          <a:xfrm>
            <a:off x="206375" y="915988"/>
            <a:ext cx="2722563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sym typeface="宋体" panose="02010600030101010101" pitchFamily="2" charset="-122"/>
              </a:rPr>
              <a:t>蜗杆传动受力方向判断</a:t>
            </a:r>
            <a:endParaRPr lang="zh-CN" altLang="en-US" sz="2000">
              <a:solidFill>
                <a:srgbClr val="000099"/>
              </a:solidFill>
              <a:sym typeface="宋体" panose="02010600030101010101" pitchFamily="2" charset="-122"/>
            </a:endParaRPr>
          </a:p>
        </p:txBody>
      </p:sp>
      <p:sp>
        <p:nvSpPr>
          <p:cNvPr id="66566" name="文本框 13"/>
          <p:cNvSpPr txBox="1">
            <a:spLocks noChangeArrowheads="1"/>
          </p:cNvSpPr>
          <p:nvPr/>
        </p:nvSpPr>
        <p:spPr bwMode="auto">
          <a:xfrm>
            <a:off x="69850" y="1477963"/>
            <a:ext cx="88169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</a:rPr>
              <a:t>蜗杆的旋转方向和螺旋线方向如图所示，试判断蜗杆、蜗轮所受的径向力、周向力和轴向力的方向，以及蜗轮的旋转方向。</a:t>
            </a:r>
            <a:endParaRPr lang="zh-CN" altLang="en-US" sz="2000">
              <a:solidFill>
                <a:srgbClr val="000099"/>
              </a:solidFill>
            </a:endParaRPr>
          </a:p>
        </p:txBody>
      </p:sp>
      <p:sp>
        <p:nvSpPr>
          <p:cNvPr id="66567" name="文本框 14"/>
          <p:cNvSpPr txBox="1">
            <a:spLocks noChangeArrowheads="1"/>
          </p:cNvSpPr>
          <p:nvPr/>
        </p:nvSpPr>
        <p:spPr bwMode="auto">
          <a:xfrm>
            <a:off x="5940095" y="2852960"/>
            <a:ext cx="2722563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径向力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r1</a:t>
            </a:r>
            <a:r>
              <a:rPr lang="en-US" altLang="zh-CN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=-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径向力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r2</a:t>
            </a:r>
            <a:endParaRPr lang="en-US" altLang="zh-CN" sz="2000" i="1" baseline="-25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周向力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t1</a:t>
            </a:r>
            <a:r>
              <a:rPr lang="en-US" altLang="zh-CN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=-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轴向力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a2</a:t>
            </a:r>
            <a:endParaRPr lang="en-US" altLang="zh-CN" sz="2000" i="1" baseline="-25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周向力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t2</a:t>
            </a:r>
            <a:r>
              <a:rPr lang="en-US" altLang="zh-CN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=-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轴向力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a1</a:t>
            </a:r>
            <a:endParaRPr lang="en-US" altLang="zh-CN" sz="2000" i="1" baseline="-25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从动轮转向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000" i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endParaRPr lang="en-US" altLang="zh-CN" sz="2000" i="1" baseline="-25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8" name="文本框 1"/>
          <p:cNvSpPr txBox="1">
            <a:spLocks noChangeArrowheads="1"/>
          </p:cNvSpPr>
          <p:nvPr/>
        </p:nvSpPr>
        <p:spPr bwMode="auto">
          <a:xfrm>
            <a:off x="6791325" y="6229350"/>
            <a:ext cx="69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hlinkClick r:id="rId4" action="ppaction://hlinksldjump"/>
              </a:rPr>
              <a:t>返回</a:t>
            </a:r>
            <a:endParaRPr lang="zh-CN" altLang="en-US" sz="2000"/>
          </a:p>
        </p:txBody>
      </p:sp>
      <p:sp>
        <p:nvSpPr>
          <p:cNvPr id="66569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55875" y="200025"/>
            <a:ext cx="6570663" cy="490538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圆柱蜗杆颤动的受力分析和计算载荷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7587" name="Picture 73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5225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文本框 1"/>
          <p:cNvSpPr txBox="1">
            <a:spLocks noChangeArrowheads="1"/>
          </p:cNvSpPr>
          <p:nvPr/>
        </p:nvSpPr>
        <p:spPr bwMode="auto">
          <a:xfrm>
            <a:off x="6791325" y="6229350"/>
            <a:ext cx="69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hlinkClick r:id="rId3" action="ppaction://hlinksldjump"/>
              </a:rPr>
              <a:t>返回</a:t>
            </a:r>
            <a:endParaRPr lang="zh-CN" altLang="en-US" sz="2000"/>
          </a:p>
        </p:txBody>
      </p:sp>
      <p:graphicFrame>
        <p:nvGraphicFramePr>
          <p:cNvPr id="2" name="表格 -1"/>
          <p:cNvGraphicFramePr>
            <a:graphicFrameLocks noGrp="1"/>
          </p:cNvGraphicFramePr>
          <p:nvPr/>
        </p:nvGraphicFramePr>
        <p:xfrm>
          <a:off x="931863" y="1712913"/>
          <a:ext cx="7280275" cy="3144838"/>
        </p:xfrm>
        <a:graphic>
          <a:graphicData uri="http://schemas.openxmlformats.org/drawingml/2006/table">
            <a:tbl>
              <a:tblPr/>
              <a:tblGrid>
                <a:gridCol w="1987550"/>
                <a:gridCol w="1765300"/>
                <a:gridCol w="1763712"/>
                <a:gridCol w="1763713"/>
              </a:tblGrid>
              <a:tr h="568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工作类型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Ⅰ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Ⅱ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Ⅲ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26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载荷性质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均匀、无冲击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不均匀、小冲击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不均匀、大冲击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9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每小时起动次数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&lt;25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25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&gt;50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13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起动载荷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小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较大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大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56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000" b="0" i="1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1.15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1.2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621" name="文本框 106"/>
          <p:cNvSpPr txBox="1">
            <a:spLocks noChangeArrowheads="1"/>
          </p:cNvSpPr>
          <p:nvPr/>
        </p:nvSpPr>
        <p:spPr bwMode="auto">
          <a:xfrm>
            <a:off x="2032000" y="1108075"/>
            <a:ext cx="5080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使用系数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endParaRPr lang="en-US" altLang="zh-CN" sz="2000" baseline="-25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22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95725" y="214313"/>
            <a:ext cx="524827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圆柱蜗杆传动的承载能力计算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8611" name="Picture 73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2" name="文本框 106"/>
          <p:cNvSpPr txBox="1">
            <a:spLocks noChangeArrowheads="1"/>
          </p:cNvSpPr>
          <p:nvPr/>
        </p:nvSpPr>
        <p:spPr bwMode="auto">
          <a:xfrm>
            <a:off x="1928813" y="1143000"/>
            <a:ext cx="5080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铸造锡青铜蜗轮的基本许用接触应力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[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σ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H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]′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" name="表格 -1"/>
          <p:cNvGraphicFramePr>
            <a:graphicFrameLocks noGrp="1"/>
          </p:cNvGraphicFramePr>
          <p:nvPr/>
        </p:nvGraphicFramePr>
        <p:xfrm>
          <a:off x="825500" y="1736725"/>
          <a:ext cx="7493000" cy="3381378"/>
        </p:xfrm>
        <a:graphic>
          <a:graphicData uri="http://schemas.openxmlformats.org/drawingml/2006/table">
            <a:tbl>
              <a:tblPr/>
              <a:tblGrid>
                <a:gridCol w="1873250"/>
                <a:gridCol w="1871663"/>
                <a:gridCol w="1876425"/>
                <a:gridCol w="1871662"/>
              </a:tblGrid>
              <a:tr h="5635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蜗轮材料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铸造方法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蜗杆螺旋面的硬度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563563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≤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45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HRC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45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HRC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铸锡磷青铜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ZCuSn10P1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砂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型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铸造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150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180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金属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型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铸造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220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268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铸锡锌铅青铜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ZCuSn5P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5Zn5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砂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型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铸造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113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135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金属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型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铸造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128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140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8646" name="文本框 1"/>
          <p:cNvSpPr txBox="1">
            <a:spLocks noChangeArrowheads="1"/>
          </p:cNvSpPr>
          <p:nvPr/>
        </p:nvSpPr>
        <p:spPr bwMode="auto">
          <a:xfrm>
            <a:off x="6791325" y="6229350"/>
            <a:ext cx="69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hlinkClick r:id="rId3" action="ppaction://hlinksldjump"/>
              </a:rPr>
              <a:t>返回</a:t>
            </a:r>
            <a:endParaRPr lang="zh-CN" altLang="en-US" sz="2000"/>
          </a:p>
        </p:txBody>
      </p:sp>
      <p:sp>
        <p:nvSpPr>
          <p:cNvPr id="6864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95725" y="142875"/>
            <a:ext cx="5248275" cy="490538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圆柱蜗杆传动的承载能力计算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9635" name="Picture 73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6" name="文本框 106"/>
          <p:cNvSpPr txBox="1">
            <a:spLocks noChangeArrowheads="1"/>
          </p:cNvSpPr>
          <p:nvPr/>
        </p:nvSpPr>
        <p:spPr bwMode="auto">
          <a:xfrm>
            <a:off x="1714500" y="1285875"/>
            <a:ext cx="57658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灰铸铁及铸铝铁青铜蜗轮的许用接触应力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σ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]</a:t>
            </a:r>
            <a:endParaRPr lang="en-US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" name="表格 -1"/>
          <p:cNvGraphicFramePr>
            <a:graphicFrameLocks noGrp="1"/>
          </p:cNvGraphicFramePr>
          <p:nvPr/>
        </p:nvGraphicFramePr>
        <p:xfrm>
          <a:off x="542925" y="1901825"/>
          <a:ext cx="8058150" cy="3309938"/>
        </p:xfrm>
        <a:graphic>
          <a:graphicData uri="http://schemas.openxmlformats.org/drawingml/2006/table">
            <a:tbl>
              <a:tblPr/>
              <a:tblGrid>
                <a:gridCol w="1903413"/>
                <a:gridCol w="2028825"/>
                <a:gridCol w="722312"/>
                <a:gridCol w="611188"/>
                <a:gridCol w="625475"/>
                <a:gridCol w="512762"/>
                <a:gridCol w="542925"/>
                <a:gridCol w="541338"/>
                <a:gridCol w="569912"/>
              </a:tblGrid>
              <a:tr h="406400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材     料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7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滑动速度</a:t>
                      </a:r>
                      <a:r>
                        <a:rPr kumimoji="0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(m/s)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63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蜗杆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蜗轮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&lt;0.25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0.25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0.5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20Cr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渗碳、淬火、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45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钢淬火，齿面硬度大于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45HRC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灰铸铁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HT150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206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166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150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127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灰铸铁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HT200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250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202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182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154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115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437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铸铝铁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青铜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ZCuAl10Fe3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250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230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210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180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160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45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钢或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Q275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灰铸铁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HT150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172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139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106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79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灰铸铁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HT200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208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168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152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128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96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9710" name="文本框 1"/>
          <p:cNvSpPr txBox="1">
            <a:spLocks noChangeArrowheads="1"/>
          </p:cNvSpPr>
          <p:nvPr/>
        </p:nvSpPr>
        <p:spPr bwMode="auto">
          <a:xfrm>
            <a:off x="6791325" y="6229350"/>
            <a:ext cx="69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hlinkClick r:id="rId3" action="ppaction://hlinksldjump"/>
              </a:rPr>
              <a:t>返回</a:t>
            </a:r>
            <a:endParaRPr lang="zh-CN" altLang="en-US" sz="2000"/>
          </a:p>
        </p:txBody>
      </p:sp>
      <p:sp>
        <p:nvSpPr>
          <p:cNvPr id="69711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95725" y="214313"/>
            <a:ext cx="524827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圆柱蜗杆传动的承载能力计算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2292" name="Picture 73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293" name="组合 1"/>
          <p:cNvGrpSpPr/>
          <p:nvPr/>
        </p:nvGrpSpPr>
        <p:grpSpPr bwMode="auto">
          <a:xfrm>
            <a:off x="386924" y="954121"/>
            <a:ext cx="6299200" cy="399097"/>
            <a:chOff x="1569" y="1503"/>
            <a:chExt cx="9922" cy="629"/>
          </a:xfrm>
        </p:grpSpPr>
        <p:sp>
          <p:nvSpPr>
            <p:cNvPr id="12297" name="文本框 106"/>
            <p:cNvSpPr txBox="1">
              <a:spLocks noChangeArrowheads="1"/>
            </p:cNvSpPr>
            <p:nvPr/>
          </p:nvSpPr>
          <p:spPr bwMode="auto">
            <a:xfrm>
              <a:off x="1569" y="1504"/>
              <a:ext cx="9922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rgbClr val="000099"/>
                  </a:solidFill>
                  <a:latin typeface="华文中宋" panose="02010600040101010101" pitchFamily="2" charset="-122"/>
                </a:rPr>
                <a:t>蜗轮的齿形系数</a:t>
              </a:r>
              <a:r>
                <a:rPr lang="en-US" altLang="zh-CN" sz="2000" i="1">
                  <a:solidFill>
                    <a:srgbClr val="000099"/>
                  </a:solidFill>
                  <a:latin typeface="华文中宋" panose="02010600040101010101" pitchFamily="2" charset="-122"/>
                </a:rPr>
                <a:t>Y</a:t>
              </a:r>
              <a:r>
                <a:rPr lang="en-US" altLang="zh-CN" sz="2000" baseline="-25000">
                  <a:solidFill>
                    <a:srgbClr val="000099"/>
                  </a:solidFill>
                  <a:latin typeface="华文中宋" panose="02010600040101010101" pitchFamily="2" charset="-122"/>
                </a:rPr>
                <a:t>Fa2</a:t>
              </a:r>
              <a:r>
                <a:rPr lang="zh-CN" altLang="en-US" sz="2000">
                  <a:solidFill>
                    <a:srgbClr val="000099"/>
                  </a:solidFill>
                  <a:latin typeface="华文中宋" panose="02010600040101010101" pitchFamily="2" charset="-122"/>
                </a:rPr>
                <a:t>（ </a:t>
              </a:r>
              <a:r>
                <a:rPr lang="zh-CN" altLang="en-US" sz="2000">
                  <a:solidFill>
                    <a:srgbClr val="002060"/>
                  </a:solidFill>
                  <a:latin typeface="华文中宋" panose="02010600040101010101" pitchFamily="2" charset="-122"/>
                </a:rPr>
                <a:t>                                  </a:t>
              </a:r>
              <a:r>
                <a:rPr lang="zh-CN" altLang="en-US" sz="2000">
                  <a:solidFill>
                    <a:srgbClr val="000099"/>
                  </a:solidFill>
                  <a:latin typeface="华文中宋" panose="02010600040101010101" pitchFamily="2" charset="-122"/>
                </a:rPr>
                <a:t>）</a:t>
              </a:r>
              <a:endParaRPr lang="zh-CN" altLang="en-US" sz="2000" baseline="-25000">
                <a:solidFill>
                  <a:srgbClr val="000099"/>
                </a:solidFill>
                <a:latin typeface="华文中宋" panose="02010600040101010101" pitchFamily="2" charset="-122"/>
              </a:endParaRPr>
            </a:p>
          </p:txBody>
        </p:sp>
        <p:graphicFrame>
          <p:nvGraphicFramePr>
            <p:cNvPr id="12290" name="对象 115"/>
            <p:cNvGraphicFramePr>
              <a:graphicFrameLocks noChangeAspect="1"/>
            </p:cNvGraphicFramePr>
            <p:nvPr/>
          </p:nvGraphicFramePr>
          <p:xfrm>
            <a:off x="6176" y="1503"/>
            <a:ext cx="4378" cy="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49" name="" r:id="rId3" imgW="1675765" imgH="241300" progId="Equation.3">
                    <p:embed/>
                  </p:oleObj>
                </mc:Choice>
                <mc:Fallback>
                  <p:oleObj name="" r:id="rId3" imgW="1675765" imgH="241300" progId="Equation.3">
                    <p:embed/>
                    <p:pic>
                      <p:nvPicPr>
                        <p:cNvPr id="0" name="对象 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76" y="1503"/>
                          <a:ext cx="4378" cy="6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4" name="文本框 1"/>
          <p:cNvSpPr txBox="1">
            <a:spLocks noChangeArrowheads="1"/>
          </p:cNvSpPr>
          <p:nvPr/>
        </p:nvSpPr>
        <p:spPr bwMode="auto">
          <a:xfrm>
            <a:off x="7215188" y="6215063"/>
            <a:ext cx="69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hlinkClick r:id="rId5" action="ppaction://hlinksldjump"/>
              </a:rPr>
              <a:t>返回</a:t>
            </a:r>
            <a:endParaRPr lang="zh-CN" altLang="en-US" sz="2000"/>
          </a:p>
        </p:txBody>
      </p:sp>
      <p:pic>
        <p:nvPicPr>
          <p:cNvPr id="12295" name="Picture 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450" y="1674460"/>
            <a:ext cx="4581525" cy="492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6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557020" y="1358900"/>
            <a:ext cx="30048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教材</a:t>
            </a:r>
            <a:r>
              <a:rPr lang="en-US" altLang="zh-CN" sz="2000">
                <a:solidFill>
                  <a:srgbClr val="FF0000"/>
                </a:solidFill>
              </a:rPr>
              <a:t>P376 </a:t>
            </a:r>
            <a:r>
              <a:rPr lang="zh-CN" altLang="en-US" sz="2000">
                <a:solidFill>
                  <a:srgbClr val="FF0000"/>
                </a:solidFill>
              </a:rPr>
              <a:t>表</a:t>
            </a:r>
            <a:r>
              <a:rPr lang="en-US" altLang="zh-CN" sz="2000">
                <a:solidFill>
                  <a:srgbClr val="FF0000"/>
                </a:solidFill>
              </a:rPr>
              <a:t>3.11-10</a:t>
            </a:r>
            <a:endParaRPr lang="en-US" altLang="zh-CN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95725" y="142875"/>
            <a:ext cx="5248275" cy="490538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圆柱蜗杆传动的承载能力计算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0659" name="Picture 73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0" name="文本框 106"/>
          <p:cNvSpPr txBox="1">
            <a:spLocks noChangeArrowheads="1"/>
          </p:cNvSpPr>
          <p:nvPr/>
        </p:nvSpPr>
        <p:spPr bwMode="auto">
          <a:xfrm>
            <a:off x="2000250" y="1000125"/>
            <a:ext cx="5080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蜗轮的基本许用弯曲应力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σ</a:t>
            </a:r>
            <a:r>
              <a:rPr lang="en-US" altLang="zh-CN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]′</a:t>
            </a:r>
            <a:endParaRPr lang="en-US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" name="表格 -1"/>
          <p:cNvGraphicFramePr>
            <a:graphicFrameLocks noGrp="1"/>
          </p:cNvGraphicFramePr>
          <p:nvPr/>
        </p:nvGraphicFramePr>
        <p:xfrm>
          <a:off x="728663" y="1577975"/>
          <a:ext cx="7686675" cy="3943350"/>
        </p:xfrm>
        <a:graphic>
          <a:graphicData uri="http://schemas.openxmlformats.org/drawingml/2006/table">
            <a:tbl>
              <a:tblPr/>
              <a:tblGrid>
                <a:gridCol w="942975"/>
                <a:gridCol w="979487"/>
                <a:gridCol w="1920875"/>
                <a:gridCol w="1922463"/>
                <a:gridCol w="1920875"/>
              </a:tblGrid>
              <a:tr h="4381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蜗轮材料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铸造方法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单侧工作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[</a:t>
                      </a:r>
                      <a:r>
                        <a:rPr kumimoji="0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σ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0F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]′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双侧工作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[</a:t>
                      </a:r>
                      <a:r>
                        <a:rPr kumimoji="0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σ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-1F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+mn-ea"/>
                        </a:rPr>
                        <a:t>]′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sym typeface="+mn-ea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铸锡青铜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ZCuSn10P1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砂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型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铸造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29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金属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型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铸造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56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铸锡锌铅青铜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ZCuSn5Ph5Zn5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砂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型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铸造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26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金属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型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铸造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26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铸铝铁青铜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ZCuAl10Fe3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砂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型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铸造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80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57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金属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型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铸造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90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灰铸铁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HT150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砂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型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铸造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28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HT200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砂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型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铸造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48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34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713" name="文本框 1"/>
          <p:cNvSpPr txBox="1">
            <a:spLocks noChangeArrowheads="1"/>
          </p:cNvSpPr>
          <p:nvPr/>
        </p:nvSpPr>
        <p:spPr bwMode="auto">
          <a:xfrm>
            <a:off x="6791325" y="6229350"/>
            <a:ext cx="69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hlinkClick r:id="rId3" action="ppaction://hlinksldjump"/>
              </a:rPr>
              <a:t>返回</a:t>
            </a:r>
            <a:endParaRPr lang="zh-CN" altLang="en-US" sz="2000"/>
          </a:p>
        </p:txBody>
      </p:sp>
      <p:sp>
        <p:nvSpPr>
          <p:cNvPr id="70714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52738" y="214313"/>
            <a:ext cx="6291262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蜗杆传动的效率、润滑及热平衡计算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1683" name="Picture 73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表格 -1"/>
          <p:cNvGraphicFramePr>
            <a:graphicFrameLocks noGrp="1"/>
          </p:cNvGraphicFramePr>
          <p:nvPr/>
        </p:nvGraphicFramePr>
        <p:xfrm>
          <a:off x="222250" y="1119188"/>
          <a:ext cx="8697913" cy="5314959"/>
        </p:xfrm>
        <a:graphic>
          <a:graphicData uri="http://schemas.openxmlformats.org/drawingml/2006/table">
            <a:tbl>
              <a:tblPr/>
              <a:tblGrid>
                <a:gridCol w="1371600"/>
                <a:gridCol w="679450"/>
                <a:gridCol w="720725"/>
                <a:gridCol w="692150"/>
                <a:gridCol w="746125"/>
                <a:gridCol w="666750"/>
                <a:gridCol w="838200"/>
                <a:gridCol w="652463"/>
                <a:gridCol w="865187"/>
                <a:gridCol w="614363"/>
                <a:gridCol w="850900"/>
              </a:tblGrid>
              <a:tr h="3540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蜗轮齿圈材料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锡青铜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无锡青铜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灰铸铁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65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蜗杆齿面硬度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Arial" panose="020B0604020202020204" pitchFamily="34" charset="0"/>
                          <a:sym typeface="+mn-ea"/>
                        </a:rPr>
                        <a:t>≥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45HRC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其他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Arial" panose="020B0604020202020204" pitchFamily="34" charset="0"/>
                        </a:rPr>
                        <a:t>≥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45HRC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Arial" panose="020B0604020202020204" pitchFamily="34" charset="0"/>
                        </a:rPr>
                        <a:t>≥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45HRC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其他</a:t>
                      </a: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3825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滑动速度</a:t>
                      </a: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endParaRPr kumimoji="0" lang="en-US" altLang="zh-CN" sz="16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US" altLang="zh-CN" sz="16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ρ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US" altLang="zh-CN" sz="16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US" altLang="zh-CN" sz="16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ρ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US" altLang="zh-CN" sz="16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0" lang="en-US" altLang="zh-CN" sz="16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US" altLang="zh-CN" sz="1600" b="0" i="1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ρ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US" altLang="zh-CN" sz="16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US" altLang="zh-CN" sz="16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ρ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US" altLang="zh-CN" sz="16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US" altLang="zh-CN" sz="16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i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ρ</a:t>
                      </a:r>
                      <a:r>
                        <a:rPr kumimoji="0" lang="en-US" altLang="zh-CN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US" altLang="zh-CN" sz="16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0.110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6°17′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0.120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6°51′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0.180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10°12′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0.180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10°12′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0.190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10°45′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0.090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5°09′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5°43′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0.140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7°58′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0.140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7°58′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0.160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9°05′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0.080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4°34′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0.090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5°09′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0.130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7°24′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0.130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7°24′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0.140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7°58′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0.065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3°43′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0.075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4°17′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5°43′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5°43′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0.120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6°51′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0.055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3°09′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0.065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3°43′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0.090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5°09′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0.090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5°09′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0.100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5°43′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0.045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2°35′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0.055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3°09′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0.070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4°00′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0.070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4°00′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0.090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5°09′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0.040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2°35′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0.050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2°52′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0.065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3°43′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0.065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3°43′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0.080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4°34′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0.035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2°00′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0.045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2°35′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0.055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3°09′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0.055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3°09′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0.070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4°00′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0.030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1°43′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0.040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2°17′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0.050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2°52′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0.028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1°36′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0.035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2°00′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0.045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2°35′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0.024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1°22′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0.031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1°47′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0.040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2°17′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0.022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1°16′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0.029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1°40′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0.035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2°00′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0.018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1°02′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0.026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1°29′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0.030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1°43′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0.016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0°55′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0.024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1°22′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0.014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0°48′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0.020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1°09′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1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0.013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0°45′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1914" name="文本框 1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7007225" y="6445250"/>
            <a:ext cx="69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hlinkClick r:id="rId3" action="ppaction://hlinksldjump"/>
              </a:rPr>
              <a:t>返回</a:t>
            </a:r>
            <a:endParaRPr lang="zh-CN" altLang="en-US" sz="2000"/>
          </a:p>
        </p:txBody>
      </p:sp>
      <p:sp>
        <p:nvSpPr>
          <p:cNvPr id="71915" name="文本框 106"/>
          <p:cNvSpPr txBox="1">
            <a:spLocks noChangeArrowheads="1"/>
          </p:cNvSpPr>
          <p:nvPr/>
        </p:nvSpPr>
        <p:spPr bwMode="auto">
          <a:xfrm>
            <a:off x="1463675" y="750888"/>
            <a:ext cx="62150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1800">
                <a:solidFill>
                  <a:srgbClr val="000099"/>
                </a:solidFill>
                <a:latin typeface="Times New Roman" panose="02020603050405020304" pitchFamily="18" charset="0"/>
              </a:rPr>
              <a:t>普通圆柱蜗杆传动的当量摩擦系数</a:t>
            </a:r>
            <a:r>
              <a:rPr lang="en-US" altLang="zh-CN" sz="1800" i="1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18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1800">
                <a:solidFill>
                  <a:srgbClr val="000099"/>
                </a:solidFill>
                <a:latin typeface="Times New Roman" panose="02020603050405020304" pitchFamily="18" charset="0"/>
              </a:rPr>
              <a:t>和当量摩擦角</a:t>
            </a:r>
            <a:r>
              <a:rPr lang="en-US" altLang="zh-CN" sz="1800" i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altLang="zh-CN" sz="18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endParaRPr lang="en-US" altLang="zh-CN" sz="1800" baseline="-25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916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52738" y="214313"/>
            <a:ext cx="6291262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>
              <a:buClrTx/>
              <a:buSzTx/>
              <a:buFontTx/>
              <a:defRPr/>
            </a:pPr>
            <a:r>
              <a:rPr kumimoji="1" lang="en-US" altLang="zh-CN" sz="28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蜗杆传动的效率、润滑及热平衡计算</a:t>
            </a:r>
            <a:endParaRPr kumimoji="1" lang="en-US" altLang="zh-CN" sz="28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2707" name="Picture 73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9975" y="6494463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文本框 106"/>
          <p:cNvSpPr txBox="1">
            <a:spLocks noChangeArrowheads="1"/>
          </p:cNvSpPr>
          <p:nvPr/>
        </p:nvSpPr>
        <p:spPr bwMode="auto">
          <a:xfrm>
            <a:off x="2032000" y="915988"/>
            <a:ext cx="508000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蜗杆传动的润滑油黏度荐用值及给油方法</a:t>
            </a:r>
            <a:endParaRPr lang="zh-CN" altLang="en-US" sz="20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graphicFrame>
        <p:nvGraphicFramePr>
          <p:cNvPr id="2" name="表格 -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63575" y="1533525"/>
          <a:ext cx="7815263" cy="3462340"/>
        </p:xfrm>
        <a:graphic>
          <a:graphicData uri="http://schemas.openxmlformats.org/drawingml/2006/table">
            <a:tbl>
              <a:tblPr/>
              <a:tblGrid>
                <a:gridCol w="1806575"/>
                <a:gridCol w="755650"/>
                <a:gridCol w="793750"/>
                <a:gridCol w="746125"/>
                <a:gridCol w="865188"/>
                <a:gridCol w="952500"/>
                <a:gridCol w="963612"/>
                <a:gridCol w="931863"/>
              </a:tblGrid>
              <a:tr h="609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蜗杆传动的滑动速度</a:t>
                      </a:r>
                      <a:r>
                        <a:rPr kumimoji="0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/(m/s)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0~1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1~2.5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0~5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&gt;5~10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&gt;10~15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&gt;15~25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&gt;25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21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载荷类型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重载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重载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中载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（不限）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（不限）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（不限）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（不限）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运动粘度</a:t>
                      </a:r>
                      <a:r>
                        <a:rPr kumimoji="0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mm</a:t>
                      </a:r>
                      <a:r>
                        <a:rPr kumimoji="0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/s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1000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680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320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220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150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80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265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给油方法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油池润滑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cPr/>
                </a:tc>
                <a:tc rowSpan="2" hMerge="1">
                  <a:tcPr/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喷油润滑或油池润滑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喷油润滑时的喷油压力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/MPa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768350">
                <a:tc vMerge="1">
                  <a:tcPr/>
                </a:tc>
                <a:tc vMerge="1" gridSpan="3">
                  <a:tcPr/>
                </a:tc>
                <a:tc vMerge="1" hMerge="1">
                  <a:tcPr/>
                </a:tc>
                <a:tc vMerge="1" h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0.7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759" name="文本框 1"/>
          <p:cNvSpPr txBox="1">
            <a:spLocks noChangeArrowheads="1"/>
          </p:cNvSpPr>
          <p:nvPr/>
        </p:nvSpPr>
        <p:spPr bwMode="auto">
          <a:xfrm>
            <a:off x="6791325" y="6229350"/>
            <a:ext cx="69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hlinkClick r:id="rId4" action="ppaction://hlinksldjump"/>
              </a:rPr>
              <a:t>返回</a:t>
            </a:r>
            <a:endParaRPr lang="zh-CN" altLang="en-US" sz="2000"/>
          </a:p>
        </p:txBody>
      </p:sp>
      <p:sp>
        <p:nvSpPr>
          <p:cNvPr id="72760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00563" y="0"/>
            <a:ext cx="4054475" cy="490538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圆弧圆柱蜗杆传动简介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3332" name="Picture 73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5225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33" name="文本框 106"/>
          <p:cNvSpPr txBox="1">
            <a:spLocks noChangeArrowheads="1"/>
          </p:cNvSpPr>
          <p:nvPr/>
        </p:nvSpPr>
        <p:spPr bwMode="auto">
          <a:xfrm>
            <a:off x="2032000" y="619125"/>
            <a:ext cx="5080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圆弧圆柱蜗杆的齿形参数及几何尺寸计算</a:t>
            </a:r>
            <a:endParaRPr lang="zh-CN" altLang="en-US" sz="20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graphicFrame>
        <p:nvGraphicFramePr>
          <p:cNvPr id="2" name="表格 -1"/>
          <p:cNvGraphicFramePr>
            <a:graphicFrameLocks noGrp="1"/>
          </p:cNvGraphicFramePr>
          <p:nvPr/>
        </p:nvGraphicFramePr>
        <p:xfrm>
          <a:off x="401638" y="993775"/>
          <a:ext cx="8340725" cy="5421642"/>
        </p:xfrm>
        <a:graphic>
          <a:graphicData uri="http://schemas.openxmlformats.org/drawingml/2006/table">
            <a:tbl>
              <a:tblPr/>
              <a:tblGrid>
                <a:gridCol w="3913187"/>
                <a:gridCol w="719138"/>
                <a:gridCol w="3708400"/>
              </a:tblGrid>
              <a:tr h="173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名称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符号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计算公式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齿形角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α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06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蜗杆齿厚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endParaRPr kumimoji="0" lang="en-US" altLang="zh-CN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3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蜗杆齿槽宽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蜗杆轴向齿距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齿廓圆弧半径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ρ</a:t>
                      </a:r>
                      <a:endParaRPr kumimoji="0" lang="en-US" altLang="zh-CN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06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齿廓圆弧中心到蜗杆轴线的距离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′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齿廓圆弧中心到蜗杆齿对称线的距离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′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齿顶高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齿根高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全齿高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</a:t>
                      </a:r>
                      <a:endParaRPr kumimoji="0" lang="en-US" altLang="zh-CN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06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顶隙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蜗杆齿顶厚度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4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蜗杆齿根厚度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蜗杆分度圆柱导程角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γ</a:t>
                      </a:r>
                      <a:endParaRPr kumimoji="0" lang="en-US" altLang="zh-CN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3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法面模数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蜗杆法面齿厚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齿廓圆弧半径最小界限值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ρ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min</a:t>
                      </a:r>
                      <a:endParaRPr kumimoji="0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3412" name="组合 20"/>
          <p:cNvGrpSpPr/>
          <p:nvPr/>
        </p:nvGrpSpPr>
        <p:grpSpPr bwMode="auto">
          <a:xfrm>
            <a:off x="5257800" y="1296988"/>
            <a:ext cx="3214688" cy="5124450"/>
            <a:chOff x="8281" y="2291"/>
            <a:chExt cx="5062" cy="8070"/>
          </a:xfrm>
        </p:grpSpPr>
        <p:graphicFrame>
          <p:nvGraphicFramePr>
            <p:cNvPr id="13314" name="对象 248"/>
            <p:cNvGraphicFramePr>
              <a:graphicFrameLocks noChangeAspect="1"/>
            </p:cNvGraphicFramePr>
            <p:nvPr/>
          </p:nvGraphicFramePr>
          <p:xfrm>
            <a:off x="9967" y="2291"/>
            <a:ext cx="1930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65" name="" r:id="rId3" imgW="876300" imgH="228600" progId="Equation.3">
                    <p:embed/>
                  </p:oleObj>
                </mc:Choice>
                <mc:Fallback>
                  <p:oleObj name="" r:id="rId3" imgW="876300" imgH="228600" progId="Equation.3">
                    <p:embed/>
                    <p:pic>
                      <p:nvPicPr>
                        <p:cNvPr id="0" name="对象 2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67" y="2291"/>
                          <a:ext cx="1930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5" name="对象 250"/>
            <p:cNvGraphicFramePr>
              <a:graphicFrameLocks noChangeAspect="1"/>
            </p:cNvGraphicFramePr>
            <p:nvPr/>
          </p:nvGraphicFramePr>
          <p:xfrm>
            <a:off x="10295" y="2686"/>
            <a:ext cx="1601" cy="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66" name="" r:id="rId5" imgW="647700" imgH="177165" progId="Equation.3">
                    <p:embed/>
                  </p:oleObj>
                </mc:Choice>
                <mc:Fallback>
                  <p:oleObj name="" r:id="rId5" imgW="647700" imgH="177165" progId="Equation.3">
                    <p:embed/>
                    <p:pic>
                      <p:nvPicPr>
                        <p:cNvPr id="0" name="对象 2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95" y="2686"/>
                          <a:ext cx="1601" cy="4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6" name="对象 252"/>
            <p:cNvGraphicFramePr>
              <a:graphicFrameLocks noChangeAspect="1"/>
            </p:cNvGraphicFramePr>
            <p:nvPr/>
          </p:nvGraphicFramePr>
          <p:xfrm>
            <a:off x="10127" y="3021"/>
            <a:ext cx="1770" cy="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67" name="" r:id="rId7" imgW="647700" imgH="177165" progId="Equation.3">
                    <p:embed/>
                  </p:oleObj>
                </mc:Choice>
                <mc:Fallback>
                  <p:oleObj name="" r:id="rId7" imgW="647700" imgH="177165" progId="Equation.3">
                    <p:embed/>
                    <p:pic>
                      <p:nvPicPr>
                        <p:cNvPr id="0" name="对象 2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27" y="3021"/>
                          <a:ext cx="1770" cy="4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7" name="对象 254"/>
            <p:cNvGraphicFramePr>
              <a:graphicFrameLocks noChangeAspect="1"/>
            </p:cNvGraphicFramePr>
            <p:nvPr/>
          </p:nvGraphicFramePr>
          <p:xfrm>
            <a:off x="10295" y="3463"/>
            <a:ext cx="1327" cy="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68" name="" r:id="rId9" imgW="558800" imgH="228600" progId="Equation.3">
                    <p:embed/>
                  </p:oleObj>
                </mc:Choice>
                <mc:Fallback>
                  <p:oleObj name="" r:id="rId9" imgW="558800" imgH="228600" progId="Equation.3">
                    <p:embed/>
                    <p:pic>
                      <p:nvPicPr>
                        <p:cNvPr id="0" name="对象 2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95" y="3463"/>
                          <a:ext cx="1327" cy="5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8" name="对象 256"/>
            <p:cNvGraphicFramePr>
              <a:graphicFrameLocks noChangeAspect="1"/>
            </p:cNvGraphicFramePr>
            <p:nvPr/>
          </p:nvGraphicFramePr>
          <p:xfrm>
            <a:off x="10127" y="4003"/>
            <a:ext cx="1999" cy="4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69" name="" r:id="rId11" imgW="914400" imgH="215900" progId="Equation.3">
                    <p:embed/>
                  </p:oleObj>
                </mc:Choice>
                <mc:Fallback>
                  <p:oleObj name="" r:id="rId11" imgW="914400" imgH="215900" progId="Equation.3">
                    <p:embed/>
                    <p:pic>
                      <p:nvPicPr>
                        <p:cNvPr id="0" name="对象 2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27" y="4003"/>
                          <a:ext cx="1999" cy="4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9" name="对象 258"/>
            <p:cNvGraphicFramePr>
              <a:graphicFrameLocks noChangeAspect="1"/>
            </p:cNvGraphicFramePr>
            <p:nvPr/>
          </p:nvGraphicFramePr>
          <p:xfrm>
            <a:off x="9823" y="4367"/>
            <a:ext cx="2799" cy="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70" name="" r:id="rId13" imgW="1270000" imgH="228600" progId="Equation.3">
                    <p:embed/>
                  </p:oleObj>
                </mc:Choice>
                <mc:Fallback>
                  <p:oleObj name="" r:id="rId13" imgW="1270000" imgH="228600" progId="Equation.3">
                    <p:embed/>
                    <p:pic>
                      <p:nvPicPr>
                        <p:cNvPr id="0" name="对象 2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23" y="4367"/>
                          <a:ext cx="2799" cy="5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0" name="对象 260"/>
            <p:cNvGraphicFramePr>
              <a:graphicFrameLocks noChangeAspect="1"/>
            </p:cNvGraphicFramePr>
            <p:nvPr/>
          </p:nvGraphicFramePr>
          <p:xfrm>
            <a:off x="8281" y="4872"/>
            <a:ext cx="5062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71" name="" r:id="rId15" imgW="2298700" imgH="228600" progId="Equation.3">
                    <p:embed/>
                  </p:oleObj>
                </mc:Choice>
                <mc:Fallback>
                  <p:oleObj name="" r:id="rId15" imgW="2298700" imgH="228600" progId="Equation.3">
                    <p:embed/>
                    <p:pic>
                      <p:nvPicPr>
                        <p:cNvPr id="0" name="对象 2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81" y="4872"/>
                          <a:ext cx="5062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1" name="对象 262"/>
            <p:cNvGraphicFramePr>
              <a:graphicFrameLocks noChangeAspect="1"/>
            </p:cNvGraphicFramePr>
            <p:nvPr/>
          </p:nvGraphicFramePr>
          <p:xfrm>
            <a:off x="10255" y="5239"/>
            <a:ext cx="1075" cy="5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72" name="" r:id="rId17" imgW="444500" imgH="228600" progId="Equation.3">
                    <p:embed/>
                  </p:oleObj>
                </mc:Choice>
                <mc:Fallback>
                  <p:oleObj name="" r:id="rId17" imgW="444500" imgH="228600" progId="Equation.3">
                    <p:embed/>
                    <p:pic>
                      <p:nvPicPr>
                        <p:cNvPr id="0" name="对象 2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55" y="5239"/>
                          <a:ext cx="1075" cy="5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2" name="对象 264"/>
            <p:cNvGraphicFramePr>
              <a:graphicFrameLocks noChangeAspect="1"/>
            </p:cNvGraphicFramePr>
            <p:nvPr/>
          </p:nvGraphicFramePr>
          <p:xfrm>
            <a:off x="10255" y="5788"/>
            <a:ext cx="1353" cy="4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73" name="" r:id="rId19" imgW="622300" imgH="215900" progId="Equation.3">
                    <p:embed/>
                  </p:oleObj>
                </mc:Choice>
                <mc:Fallback>
                  <p:oleObj name="" r:id="rId19" imgW="622300" imgH="215900" progId="Equation.3">
                    <p:embed/>
                    <p:pic>
                      <p:nvPicPr>
                        <p:cNvPr id="0" name="对象 2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55" y="5788"/>
                          <a:ext cx="1353" cy="4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3" name="对象 266"/>
            <p:cNvGraphicFramePr>
              <a:graphicFrameLocks noChangeAspect="1"/>
            </p:cNvGraphicFramePr>
            <p:nvPr/>
          </p:nvGraphicFramePr>
          <p:xfrm>
            <a:off x="10155" y="6267"/>
            <a:ext cx="1452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74" name="" r:id="rId21" imgW="584200" imgH="177165" progId="Equation.3">
                    <p:embed/>
                  </p:oleObj>
                </mc:Choice>
                <mc:Fallback>
                  <p:oleObj name="" r:id="rId21" imgW="584200" imgH="177165" progId="Equation.3">
                    <p:embed/>
                    <p:pic>
                      <p:nvPicPr>
                        <p:cNvPr id="0" name="对象 2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55" y="6267"/>
                          <a:ext cx="1452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4" name="对象 268"/>
            <p:cNvGraphicFramePr>
              <a:graphicFrameLocks noChangeAspect="1"/>
            </p:cNvGraphicFramePr>
            <p:nvPr/>
          </p:nvGraphicFramePr>
          <p:xfrm>
            <a:off x="10295" y="6720"/>
            <a:ext cx="1312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75" name="" r:id="rId23" imgW="571500" imgH="177165" progId="Equation.3">
                    <p:embed/>
                  </p:oleObj>
                </mc:Choice>
                <mc:Fallback>
                  <p:oleObj name="" r:id="rId23" imgW="571500" imgH="177165" progId="Equation.3">
                    <p:embed/>
                    <p:pic>
                      <p:nvPicPr>
                        <p:cNvPr id="0" name="对象 2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95" y="6720"/>
                          <a:ext cx="1312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5" name="对象 270"/>
            <p:cNvGraphicFramePr>
              <a:graphicFrameLocks noChangeAspect="1"/>
            </p:cNvGraphicFramePr>
            <p:nvPr/>
          </p:nvGraphicFramePr>
          <p:xfrm>
            <a:off x="9308" y="7136"/>
            <a:ext cx="2968" cy="6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76" name="" r:id="rId25" imgW="1727200" imgH="381000" progId="Equation.3">
                    <p:embed/>
                  </p:oleObj>
                </mc:Choice>
                <mc:Fallback>
                  <p:oleObj name="" r:id="rId25" imgW="1727200" imgH="381000" progId="Equation.3">
                    <p:embed/>
                    <p:pic>
                      <p:nvPicPr>
                        <p:cNvPr id="0" name="对象 2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8" y="7136"/>
                          <a:ext cx="2968" cy="6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6" name="对象 272"/>
            <p:cNvGraphicFramePr>
              <a:graphicFrameLocks noChangeAspect="1"/>
            </p:cNvGraphicFramePr>
            <p:nvPr/>
          </p:nvGraphicFramePr>
          <p:xfrm>
            <a:off x="9400" y="7717"/>
            <a:ext cx="2824" cy="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77" name="" r:id="rId27" imgW="1714500" imgH="381000" progId="Equation.3">
                    <p:embed/>
                  </p:oleObj>
                </mc:Choice>
                <mc:Fallback>
                  <p:oleObj name="" r:id="rId27" imgW="1714500" imgH="381000" progId="Equation.3">
                    <p:embed/>
                    <p:pic>
                      <p:nvPicPr>
                        <p:cNvPr id="0" name="对象 2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00" y="7717"/>
                          <a:ext cx="2824" cy="6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7" name="对象 274"/>
            <p:cNvGraphicFramePr>
              <a:graphicFrameLocks noChangeAspect="1"/>
            </p:cNvGraphicFramePr>
            <p:nvPr/>
          </p:nvGraphicFramePr>
          <p:xfrm>
            <a:off x="9831" y="8345"/>
            <a:ext cx="2256" cy="4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78" name="" r:id="rId29" imgW="1027430" imgH="215900" progId="Equation.3">
                    <p:embed/>
                  </p:oleObj>
                </mc:Choice>
                <mc:Fallback>
                  <p:oleObj name="" r:id="rId29" imgW="1027430" imgH="215900" progId="Equation.3">
                    <p:embed/>
                    <p:pic>
                      <p:nvPicPr>
                        <p:cNvPr id="0" name="对象 2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31" y="8345"/>
                          <a:ext cx="2256" cy="4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8" name="对象 276"/>
            <p:cNvGraphicFramePr>
              <a:graphicFrameLocks noChangeAspect="1"/>
            </p:cNvGraphicFramePr>
            <p:nvPr/>
          </p:nvGraphicFramePr>
          <p:xfrm>
            <a:off x="10127" y="8711"/>
            <a:ext cx="1674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79" name="" r:id="rId31" imgW="812800" imgH="215900" progId="Equation.3">
                    <p:embed/>
                  </p:oleObj>
                </mc:Choice>
                <mc:Fallback>
                  <p:oleObj name="" r:id="rId31" imgW="812800" imgH="215900" progId="Equation.3">
                    <p:embed/>
                    <p:pic>
                      <p:nvPicPr>
                        <p:cNvPr id="0" name="对象 2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27" y="8711"/>
                          <a:ext cx="1674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9" name="对象 278"/>
            <p:cNvGraphicFramePr>
              <a:graphicFrameLocks noChangeAspect="1"/>
            </p:cNvGraphicFramePr>
            <p:nvPr/>
          </p:nvGraphicFramePr>
          <p:xfrm>
            <a:off x="10127" y="9198"/>
            <a:ext cx="1600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80" name="" r:id="rId33" imgW="723900" imgH="215900" progId="Equation.3">
                    <p:embed/>
                  </p:oleObj>
                </mc:Choice>
                <mc:Fallback>
                  <p:oleObj name="" r:id="rId33" imgW="723900" imgH="215900" progId="Equation.3">
                    <p:embed/>
                    <p:pic>
                      <p:nvPicPr>
                        <p:cNvPr id="0" name="对象 2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27" y="9198"/>
                          <a:ext cx="1600" cy="4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0" name="对象 280"/>
            <p:cNvGraphicFramePr>
              <a:graphicFrameLocks noChangeAspect="1"/>
            </p:cNvGraphicFramePr>
            <p:nvPr/>
          </p:nvGraphicFramePr>
          <p:xfrm>
            <a:off x="9932" y="9569"/>
            <a:ext cx="2327" cy="7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81" name="" r:id="rId35" imgW="1346200" imgH="457200" progId="Equation.3">
                    <p:embed/>
                  </p:oleObj>
                </mc:Choice>
                <mc:Fallback>
                  <p:oleObj name="" r:id="rId35" imgW="1346200" imgH="457200" progId="Equation.3">
                    <p:embed/>
                    <p:pic>
                      <p:nvPicPr>
                        <p:cNvPr id="0" name="对象 2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32" y="9569"/>
                          <a:ext cx="2327" cy="7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413" name="文本框 1"/>
          <p:cNvSpPr txBox="1">
            <a:spLocks noChangeArrowheads="1"/>
          </p:cNvSpPr>
          <p:nvPr/>
        </p:nvSpPr>
        <p:spPr bwMode="auto">
          <a:xfrm>
            <a:off x="8010525" y="6445250"/>
            <a:ext cx="69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hlinkClick r:id="rId37" action="ppaction://hlinksldjump"/>
              </a:rPr>
              <a:t>返回</a:t>
            </a:r>
            <a:endParaRPr lang="zh-CN" altLang="en-US" sz="2000"/>
          </a:p>
        </p:txBody>
      </p:sp>
      <p:sp>
        <p:nvSpPr>
          <p:cNvPr id="13414" name="直接连接符 6"/>
          <p:cNvSpPr>
            <a:spLocks noChangeShapeType="1"/>
          </p:cNvSpPr>
          <p:nvPr/>
        </p:nvSpPr>
        <p:spPr bwMode="auto">
          <a:xfrm>
            <a:off x="0" y="642938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022000" y="549000"/>
            <a:ext cx="34562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  <a:defRPr/>
            </a:pPr>
            <a:r>
              <a:rPr kumimoji="1" lang="en-US" altLang="zh-CN" sz="28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蜗杆参数及其选择</a:t>
            </a:r>
            <a:endParaRPr kumimoji="1" lang="en-US" altLang="zh-CN" sz="28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85" y="1160780"/>
            <a:ext cx="7582535" cy="523049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55735" y="476795"/>
            <a:ext cx="763253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例题</a:t>
            </a:r>
            <a:r>
              <a:rPr lang="en-US" altLang="zh-CN" dirty="0" smtClean="0">
                <a:solidFill>
                  <a:srgbClr val="FF0000"/>
                </a:solidFill>
              </a:rPr>
              <a:t>11-4</a:t>
            </a:r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zh-CN" altLang="en-US" dirty="0" smtClean="0">
                <a:solidFill>
                  <a:srgbClr val="FF0000"/>
                </a:solidFill>
              </a:rPr>
              <a:t>教材</a:t>
            </a:r>
            <a:r>
              <a:rPr lang="en-US" altLang="zh-CN" dirty="0" smtClean="0">
                <a:solidFill>
                  <a:srgbClr val="FF0000"/>
                </a:solidFill>
              </a:rPr>
              <a:t>P278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725" y="1268850"/>
            <a:ext cx="8084516" cy="2569806"/>
          </a:xfrm>
          <a:prstGeom prst="rect">
            <a:avLst/>
          </a:prstGeom>
          <a:noFill/>
          <a:ln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试设计一搅拌机用的闭式蜗杆减速器中的普通圆柱蜗杆传动，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已知：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输入功率</a:t>
            </a:r>
            <a:r>
              <a:rPr lang="en-US" altLang="zh-CN" dirty="0" smtClean="0">
                <a:solidFill>
                  <a:srgbClr val="FF0000"/>
                </a:solidFill>
              </a:rPr>
              <a:t>P=9kW</a:t>
            </a:r>
            <a:r>
              <a:rPr lang="zh-CN" altLang="en-US" dirty="0" smtClean="0"/>
              <a:t>，蜗杆转速</a:t>
            </a:r>
            <a:r>
              <a:rPr lang="en-US" altLang="zh-CN" dirty="0" smtClean="0">
                <a:solidFill>
                  <a:srgbClr val="FF0000"/>
                </a:solidFill>
              </a:rPr>
              <a:t>n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</a:rPr>
              <a:t>=1450r/min</a:t>
            </a:r>
            <a:r>
              <a:rPr lang="zh-CN" altLang="en-US" dirty="0" smtClean="0"/>
              <a:t>，传动比</a:t>
            </a:r>
            <a:r>
              <a:rPr lang="en-US" altLang="zh-CN" i="1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12</a:t>
            </a:r>
            <a:r>
              <a:rPr lang="en-US" altLang="zh-CN" dirty="0" smtClean="0">
                <a:solidFill>
                  <a:srgbClr val="FF0000"/>
                </a:solidFill>
              </a:rPr>
              <a:t>=20</a:t>
            </a:r>
            <a:r>
              <a:rPr lang="zh-CN" altLang="en-US" dirty="0" smtClean="0"/>
              <a:t>，搅拌机为大批量生产，传动不反向，工作载荷较稳定，但有不大的冲击，要求寿命</a:t>
            </a:r>
            <a:r>
              <a:rPr lang="en-US" altLang="zh-CN" dirty="0" err="1" smtClean="0">
                <a:solidFill>
                  <a:srgbClr val="FF0000"/>
                </a:solidFill>
              </a:rPr>
              <a:t>L</a:t>
            </a:r>
            <a:r>
              <a:rPr lang="en-US" altLang="zh-CN" baseline="-25000" dirty="0" err="1" smtClean="0">
                <a:solidFill>
                  <a:srgbClr val="FF0000"/>
                </a:solidFill>
              </a:rPr>
              <a:t>h</a:t>
            </a:r>
            <a:r>
              <a:rPr lang="en-US" altLang="zh-CN" dirty="0" smtClean="0">
                <a:solidFill>
                  <a:srgbClr val="FF0000"/>
                </a:solidFill>
              </a:rPr>
              <a:t>=12000h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42038" y="768350"/>
            <a:ext cx="1835150" cy="20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zh-CN" altLang="en-US" sz="800">
                <a:solidFill>
                  <a:schemeClr val="bg1"/>
                </a:solidFill>
                <a:latin typeface="Times New Roman" panose="02020603050405020304" pitchFamily="18" charset="0"/>
              </a:rPr>
              <a:t>齿轮传动的设计参数</a:t>
            </a:r>
            <a:r>
              <a:rPr lang="en-US" altLang="zh-CN" sz="800">
                <a:solidFill>
                  <a:schemeClr val="bg1"/>
                </a:solidFill>
                <a:latin typeface="Times New Roman" panose="02020603050405020304" pitchFamily="18" charset="0"/>
              </a:rPr>
              <a:t>4</a:t>
            </a:r>
            <a:endParaRPr lang="en-US" altLang="zh-CN" sz="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0" y="706438"/>
            <a:ext cx="342914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20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蜗杆传动设计</a:t>
            </a:r>
            <a:r>
              <a:rPr lang="zh-CN" altLang="en-US" sz="22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的大致过程 </a:t>
            </a:r>
            <a:endParaRPr lang="zh-CN" altLang="en-US" sz="22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472" name="Text Box 8"/>
          <p:cNvSpPr txBox="1">
            <a:spLocks noChangeArrowheads="1"/>
          </p:cNvSpPr>
          <p:nvPr/>
        </p:nvSpPr>
        <p:spPr bwMode="auto">
          <a:xfrm>
            <a:off x="971750" y="1556870"/>
            <a:ext cx="2441694" cy="430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000099"/>
                </a:solidFill>
              </a:rPr>
              <a:t>选择蜗杆传动类型</a:t>
            </a:r>
            <a:endParaRPr lang="zh-CN" altLang="en-US" dirty="0">
              <a:solidFill>
                <a:srgbClr val="000099"/>
              </a:solidFill>
            </a:endParaRPr>
          </a:p>
        </p:txBody>
      </p:sp>
      <p:sp>
        <p:nvSpPr>
          <p:cNvPr id="62473" name="Text Box 9"/>
          <p:cNvSpPr txBox="1">
            <a:spLocks noChangeArrowheads="1"/>
          </p:cNvSpPr>
          <p:nvPr/>
        </p:nvSpPr>
        <p:spPr bwMode="auto">
          <a:xfrm>
            <a:off x="685799" y="2513013"/>
            <a:ext cx="3094145" cy="769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000099"/>
                </a:solidFill>
              </a:rPr>
              <a:t>选择材料、热处理、表面硬度</a:t>
            </a:r>
            <a:endParaRPr lang="en-US" altLang="zh-CN" dirty="0">
              <a:solidFill>
                <a:srgbClr val="000099"/>
              </a:solidFill>
            </a:endParaRPr>
          </a:p>
        </p:txBody>
      </p:sp>
      <p:sp>
        <p:nvSpPr>
          <p:cNvPr id="62474" name="Text Box 10"/>
          <p:cNvSpPr txBox="1">
            <a:spLocks noChangeArrowheads="1"/>
          </p:cNvSpPr>
          <p:nvPr/>
        </p:nvSpPr>
        <p:spPr bwMode="auto">
          <a:xfrm>
            <a:off x="323705" y="3861030"/>
            <a:ext cx="3852337" cy="430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000099"/>
                </a:solidFill>
              </a:rPr>
              <a:t>按齿面接触疲劳强度进行设计</a:t>
            </a:r>
            <a:endParaRPr lang="en-US" altLang="zh-CN" baseline="-25000" dirty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476" name="Text Box 12"/>
          <p:cNvSpPr txBox="1">
            <a:spLocks noChangeArrowheads="1"/>
          </p:cNvSpPr>
          <p:nvPr/>
        </p:nvSpPr>
        <p:spPr bwMode="auto">
          <a:xfrm>
            <a:off x="431905" y="5049285"/>
            <a:ext cx="3570208" cy="430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000099"/>
                </a:solidFill>
              </a:rPr>
              <a:t>确定模数、蜗杆分度圆直径</a:t>
            </a:r>
            <a:endParaRPr lang="en-US" altLang="zh-CN" dirty="0">
              <a:solidFill>
                <a:srgbClr val="000099"/>
              </a:solidFill>
            </a:endParaRPr>
          </a:p>
        </p:txBody>
      </p:sp>
      <p:sp>
        <p:nvSpPr>
          <p:cNvPr id="62477" name="Text Box 13"/>
          <p:cNvSpPr txBox="1">
            <a:spLocks noChangeArrowheads="1"/>
          </p:cNvSpPr>
          <p:nvPr/>
        </p:nvSpPr>
        <p:spPr bwMode="auto">
          <a:xfrm>
            <a:off x="4705036" y="1772885"/>
            <a:ext cx="4416594" cy="430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000099"/>
                </a:solidFill>
              </a:rPr>
              <a:t>蜗杆与蜗轮的主要参数与几何尺寸</a:t>
            </a:r>
            <a:endParaRPr lang="en-US" altLang="zh-CN" baseline="-25000" dirty="0">
              <a:solidFill>
                <a:srgbClr val="000099"/>
              </a:solidFill>
            </a:endParaRPr>
          </a:p>
        </p:txBody>
      </p:sp>
      <p:sp>
        <p:nvSpPr>
          <p:cNvPr id="62478" name="Text Box 14"/>
          <p:cNvSpPr txBox="1">
            <a:spLocks noChangeArrowheads="1"/>
          </p:cNvSpPr>
          <p:nvPr/>
        </p:nvSpPr>
        <p:spPr bwMode="auto">
          <a:xfrm>
            <a:off x="5232400" y="2530478"/>
            <a:ext cx="3441700" cy="4302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 smtClean="0">
                <a:solidFill>
                  <a:srgbClr val="000099"/>
                </a:solidFill>
              </a:rPr>
              <a:t>校核齿根弯曲疲劳强度</a:t>
            </a:r>
            <a:endParaRPr lang="zh-CN" altLang="en-US" dirty="0">
              <a:solidFill>
                <a:srgbClr val="000099"/>
              </a:solidFill>
            </a:endParaRPr>
          </a:p>
        </p:txBody>
      </p:sp>
      <p:sp>
        <p:nvSpPr>
          <p:cNvPr id="62480" name="Text Box 16"/>
          <p:cNvSpPr txBox="1">
            <a:spLocks noChangeArrowheads="1"/>
          </p:cNvSpPr>
          <p:nvPr/>
        </p:nvSpPr>
        <p:spPr bwMode="auto">
          <a:xfrm>
            <a:off x="5181600" y="3330575"/>
            <a:ext cx="3543300" cy="430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dirty="0" smtClean="0">
                <a:solidFill>
                  <a:srgbClr val="000099"/>
                </a:solidFill>
              </a:rPr>
              <a:t>验算效率</a:t>
            </a:r>
            <a:endParaRPr lang="en-US" altLang="zh-CN" baseline="-25000" dirty="0">
              <a:solidFill>
                <a:srgbClr val="000099"/>
              </a:solidFill>
            </a:endParaRPr>
          </a:p>
        </p:txBody>
      </p:sp>
      <p:sp>
        <p:nvSpPr>
          <p:cNvPr id="62481" name="Text Box 17"/>
          <p:cNvSpPr txBox="1">
            <a:spLocks noChangeArrowheads="1"/>
          </p:cNvSpPr>
          <p:nvPr/>
        </p:nvSpPr>
        <p:spPr bwMode="auto">
          <a:xfrm>
            <a:off x="6156110" y="5085115"/>
            <a:ext cx="1595309" cy="430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000099"/>
                </a:solidFill>
              </a:rPr>
              <a:t>热平衡核算</a:t>
            </a:r>
            <a:endParaRPr lang="en-US" altLang="zh-CN" dirty="0">
              <a:solidFill>
                <a:srgbClr val="000099"/>
              </a:solidFill>
            </a:endParaRPr>
          </a:p>
        </p:txBody>
      </p:sp>
      <p:sp>
        <p:nvSpPr>
          <p:cNvPr id="62483" name="Line 19"/>
          <p:cNvSpPr>
            <a:spLocks noChangeShapeType="1"/>
          </p:cNvSpPr>
          <p:nvPr/>
        </p:nvSpPr>
        <p:spPr bwMode="auto">
          <a:xfrm>
            <a:off x="2171700" y="2004060"/>
            <a:ext cx="635" cy="51054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484" name="Line 20"/>
          <p:cNvSpPr>
            <a:spLocks noChangeShapeType="1"/>
          </p:cNvSpPr>
          <p:nvPr/>
        </p:nvSpPr>
        <p:spPr bwMode="auto">
          <a:xfrm>
            <a:off x="2195195" y="3256280"/>
            <a:ext cx="14605" cy="60452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485" name="Line 21"/>
          <p:cNvSpPr>
            <a:spLocks noChangeShapeType="1"/>
          </p:cNvSpPr>
          <p:nvPr/>
        </p:nvSpPr>
        <p:spPr bwMode="auto">
          <a:xfrm flipH="1">
            <a:off x="2195195" y="4257675"/>
            <a:ext cx="635" cy="7353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487" name="Line 23"/>
          <p:cNvSpPr>
            <a:spLocks noChangeShapeType="1"/>
          </p:cNvSpPr>
          <p:nvPr/>
        </p:nvSpPr>
        <p:spPr bwMode="auto">
          <a:xfrm>
            <a:off x="2159640" y="5507350"/>
            <a:ext cx="0" cy="342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488" name="Line 24"/>
          <p:cNvSpPr>
            <a:spLocks noChangeShapeType="1"/>
          </p:cNvSpPr>
          <p:nvPr/>
        </p:nvSpPr>
        <p:spPr bwMode="auto">
          <a:xfrm>
            <a:off x="2124710" y="5828030"/>
            <a:ext cx="2281555" cy="63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489" name="Line 25"/>
          <p:cNvSpPr>
            <a:spLocks noChangeShapeType="1"/>
          </p:cNvSpPr>
          <p:nvPr/>
        </p:nvSpPr>
        <p:spPr bwMode="auto">
          <a:xfrm flipH="1" flipV="1">
            <a:off x="4393565" y="1358900"/>
            <a:ext cx="635" cy="450469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490" name="Line 26"/>
          <p:cNvSpPr>
            <a:spLocks noChangeShapeType="1"/>
          </p:cNvSpPr>
          <p:nvPr/>
        </p:nvSpPr>
        <p:spPr bwMode="auto">
          <a:xfrm flipV="1">
            <a:off x="4378325" y="1371600"/>
            <a:ext cx="255587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492" name="Line 28"/>
          <p:cNvSpPr>
            <a:spLocks noChangeShapeType="1"/>
          </p:cNvSpPr>
          <p:nvPr/>
        </p:nvSpPr>
        <p:spPr bwMode="auto">
          <a:xfrm>
            <a:off x="6953250" y="2159000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493" name="Line 29"/>
          <p:cNvSpPr>
            <a:spLocks noChangeShapeType="1"/>
          </p:cNvSpPr>
          <p:nvPr/>
        </p:nvSpPr>
        <p:spPr bwMode="auto">
          <a:xfrm>
            <a:off x="6953250" y="2946400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494" name="Line 30"/>
          <p:cNvSpPr>
            <a:spLocks noChangeShapeType="1"/>
          </p:cNvSpPr>
          <p:nvPr/>
        </p:nvSpPr>
        <p:spPr bwMode="auto">
          <a:xfrm>
            <a:off x="6948165" y="4653085"/>
            <a:ext cx="0" cy="444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495" name="Line 31"/>
          <p:cNvSpPr>
            <a:spLocks noChangeShapeType="1"/>
          </p:cNvSpPr>
          <p:nvPr/>
        </p:nvSpPr>
        <p:spPr bwMode="auto">
          <a:xfrm>
            <a:off x="6940550" y="1384300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62498" name="Picture 34" descr="back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350" y="6523038"/>
            <a:ext cx="287338" cy="287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500" name="Picture 36" descr="rewind">
            <a:hlinkClick r:id="" action="ppaction://hlinkshowjump?jump=first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0250" y="6523038"/>
            <a:ext cx="287338" cy="287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502" name="Text Box 38"/>
          <p:cNvSpPr txBox="1">
            <a:spLocks noChangeArrowheads="1"/>
          </p:cNvSpPr>
          <p:nvPr/>
        </p:nvSpPr>
        <p:spPr bwMode="auto">
          <a:xfrm>
            <a:off x="6835775" y="6497738"/>
            <a:ext cx="682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  </a:t>
            </a:r>
            <a:endParaRPr lang="en-US" altLang="zh-CN"/>
          </a:p>
        </p:txBody>
      </p:sp>
      <p:sp>
        <p:nvSpPr>
          <p:cNvPr id="31" name="直接连接符 6"/>
          <p:cNvSpPr>
            <a:spLocks noChangeShapeType="1"/>
          </p:cNvSpPr>
          <p:nvPr/>
        </p:nvSpPr>
        <p:spPr bwMode="auto">
          <a:xfrm>
            <a:off x="0" y="669381"/>
            <a:ext cx="9144000" cy="0"/>
          </a:xfrm>
          <a:prstGeom prst="line">
            <a:avLst/>
          </a:prstGeom>
          <a:noFill/>
          <a:ln w="28575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Box 1032"/>
          <p:cNvSpPr txBox="1">
            <a:spLocks noChangeArrowheads="1"/>
          </p:cNvSpPr>
          <p:nvPr/>
        </p:nvSpPr>
        <p:spPr bwMode="auto">
          <a:xfrm>
            <a:off x="1698625" y="200025"/>
            <a:ext cx="7445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36000" bIns="72000" anchor="ctr" anchorCtr="1"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8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蜗杆传动</a:t>
            </a:r>
            <a:r>
              <a:rPr lang="zh-CN" altLang="en-US" sz="28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的设计参数和许用应力</a:t>
            </a:r>
            <a:endParaRPr lang="zh-CN" altLang="en-US" sz="2800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Text Box 16"/>
          <p:cNvSpPr txBox="1">
            <a:spLocks noChangeArrowheads="1"/>
          </p:cNvSpPr>
          <p:nvPr/>
        </p:nvSpPr>
        <p:spPr bwMode="auto">
          <a:xfrm>
            <a:off x="4932026" y="4149050"/>
            <a:ext cx="4211974" cy="430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000099"/>
                </a:solidFill>
              </a:rPr>
              <a:t>精度等级公差和表面粗糙度确定</a:t>
            </a:r>
            <a:endParaRPr lang="en-US" altLang="zh-CN" baseline="-25000" dirty="0">
              <a:solidFill>
                <a:srgbClr val="000099"/>
              </a:solidFill>
            </a:endParaRPr>
          </a:p>
        </p:txBody>
      </p:sp>
      <p:sp>
        <p:nvSpPr>
          <p:cNvPr id="34" name="Line 29"/>
          <p:cNvSpPr>
            <a:spLocks noChangeShapeType="1"/>
          </p:cNvSpPr>
          <p:nvPr/>
        </p:nvSpPr>
        <p:spPr bwMode="auto">
          <a:xfrm>
            <a:off x="6948165" y="3789025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" name="Text Box 17"/>
          <p:cNvSpPr txBox="1">
            <a:spLocks noChangeArrowheads="1"/>
          </p:cNvSpPr>
          <p:nvPr/>
        </p:nvSpPr>
        <p:spPr bwMode="auto">
          <a:xfrm>
            <a:off x="6084105" y="5949175"/>
            <a:ext cx="1877437" cy="430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000099"/>
                </a:solidFill>
              </a:rPr>
              <a:t>蜗轮结构设计</a:t>
            </a:r>
            <a:endParaRPr lang="en-US" altLang="zh-CN" dirty="0">
              <a:solidFill>
                <a:srgbClr val="000099"/>
              </a:solidFill>
            </a:endParaRPr>
          </a:p>
        </p:txBody>
      </p:sp>
      <p:sp>
        <p:nvSpPr>
          <p:cNvPr id="36" name="Line 30"/>
          <p:cNvSpPr>
            <a:spLocks noChangeShapeType="1"/>
          </p:cNvSpPr>
          <p:nvPr/>
        </p:nvSpPr>
        <p:spPr bwMode="auto">
          <a:xfrm>
            <a:off x="6948165" y="5517145"/>
            <a:ext cx="0" cy="444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2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2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62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2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6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62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2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2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62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2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0" grpId="0" autoUpdateAnimBg="0"/>
      <p:bldP spid="62472" grpId="0" animBg="1" autoUpdateAnimBg="0"/>
      <p:bldP spid="62473" grpId="0" animBg="1" autoUpdateAnimBg="0"/>
      <p:bldP spid="62474" grpId="0" animBg="1" autoUpdateAnimBg="0"/>
      <p:bldP spid="62476" grpId="0" bldLvl="0" animBg="1" autoUpdateAnimBg="0"/>
      <p:bldP spid="62477" grpId="0" animBg="1" autoUpdateAnimBg="0"/>
      <p:bldP spid="62478" grpId="0" animBg="1"/>
      <p:bldP spid="62480" grpId="0" animBg="1" autoUpdateAnimBg="0"/>
      <p:bldP spid="62481" grpId="0" animBg="1" autoUpdateAnimBg="0"/>
      <p:bldP spid="62483" grpId="0" bldLvl="0" animBg="1"/>
      <p:bldP spid="62484" grpId="0" bldLvl="0" animBg="1"/>
      <p:bldP spid="62485" grpId="0" bldLvl="0" animBg="1"/>
      <p:bldP spid="62487" grpId="0" bldLvl="0" animBg="1"/>
      <p:bldP spid="62488" grpId="0" bldLvl="0" animBg="1"/>
      <p:bldP spid="62489" grpId="0" bldLvl="0" animBg="1"/>
      <p:bldP spid="62490" grpId="0" animBg="1"/>
      <p:bldP spid="62492" grpId="0" animBg="1"/>
      <p:bldP spid="62493" grpId="0" animBg="1"/>
      <p:bldP spid="62494" grpId="0" animBg="1"/>
      <p:bldP spid="62495" grpId="0" animBg="1"/>
      <p:bldP spid="62502" grpId="0" autoUpdateAnimBg="0"/>
      <p:bldP spid="33" grpId="0" animBg="1" autoUpdateAnimBg="0"/>
      <p:bldP spid="34" grpId="0" animBg="1"/>
      <p:bldP spid="35" grpId="0" animBg="1" autoUpdateAnimBg="0"/>
      <p:bldP spid="3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720" y="620805"/>
            <a:ext cx="66964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、选择蜗杆传动类型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3730" y="2780955"/>
            <a:ext cx="66964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、选择材料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5735" y="4725090"/>
            <a:ext cx="66964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、按齿面接触疲劳强度进行设计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59770" y="1124840"/>
            <a:ext cx="73445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根据载荷、速度、精度、效率等功能要求进行</a:t>
            </a:r>
            <a:r>
              <a:rPr lang="zh-CN" altLang="en-US" dirty="0" smtClean="0">
                <a:hlinkClick r:id="rId1" action="ppaction://hlinksldjump"/>
              </a:rPr>
              <a:t>选型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62150" y="2169355"/>
            <a:ext cx="24481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hlinkClick r:id="rId2" action="ppaction://hlinksldjump"/>
              </a:rPr>
              <a:t>蜗杆头数选取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923955" y="1628875"/>
            <a:ext cx="3744260" cy="430887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渐开线圆柱蜗杆（</a:t>
            </a:r>
            <a:r>
              <a:rPr lang="en-US" altLang="zh-CN" dirty="0" smtClean="0"/>
              <a:t>ZI</a:t>
            </a:r>
            <a:r>
              <a:rPr lang="zh-CN" altLang="en-US" dirty="0" smtClean="0"/>
              <a:t>蜗杆）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3563620" y="2204720"/>
                <a:ext cx="4426585" cy="429895"/>
              </a:xfrm>
              <a:prstGeom prst="rect">
                <a:avLst/>
              </a:prstGeom>
              <a:gradFill flip="none" rotWithShape="1">
                <a:gsLst>
                  <a:gs pos="0">
                    <a:srgbClr val="00B0F0">
                      <a:tint val="66000"/>
                      <a:satMod val="160000"/>
                    </a:srgbClr>
                  </a:gs>
                  <a:gs pos="50000">
                    <a:srgbClr val="00B0F0">
                      <a:tint val="44500"/>
                      <a:satMod val="160000"/>
                    </a:srgbClr>
                  </a:gs>
                  <a:gs pos="100000">
                    <a:srgbClr val="00B0F0">
                      <a:tint val="23500"/>
                      <a:satMod val="160000"/>
                    </a:srgbClr>
                  </a:gs>
                </a:gsLst>
                <a:lin ang="5400000" scaled="1"/>
                <a:tileRect/>
              </a:gra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 smtClean="0"/>
                  <a:t>=2</a:t>
                </a:r>
                <a:r>
                  <a:rPr lang="zh-CN" altLang="en-US" dirty="0" smtClean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 smtClean="0"/>
                  <a:t>=20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40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620" y="2204720"/>
                <a:ext cx="4426585" cy="4298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1547790" y="3356995"/>
            <a:ext cx="15841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蜗杆</a:t>
            </a:r>
            <a:r>
              <a:rPr lang="zh-CN" altLang="en-US" dirty="0" smtClean="0">
                <a:hlinkClick r:id="rId4" action="ppaction://hlinksldjump"/>
              </a:rPr>
              <a:t>材料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547790" y="4005040"/>
            <a:ext cx="15841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蜗轮材料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987890" y="3284990"/>
            <a:ext cx="5400375" cy="430887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45</a:t>
            </a:r>
            <a:r>
              <a:rPr lang="zh-CN" altLang="en-US" dirty="0" smtClean="0"/>
              <a:t>钢，表面淬火，硬度为</a:t>
            </a:r>
            <a:r>
              <a:rPr lang="en-US" altLang="zh-CN" dirty="0" smtClean="0"/>
              <a:t>45~55HRC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2987890" y="3861030"/>
            <a:ext cx="5400375" cy="769441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齿圈：铸锡磷青铜</a:t>
            </a:r>
            <a:r>
              <a:rPr lang="en-US" altLang="zh-CN" dirty="0" smtClean="0"/>
              <a:t>ZCuSn10P1</a:t>
            </a:r>
            <a:r>
              <a:rPr lang="zh-CN" altLang="en-US" dirty="0" smtClean="0"/>
              <a:t>，金属模铸造，轮芯：</a:t>
            </a:r>
            <a:r>
              <a:rPr lang="en-US" altLang="zh-CN" dirty="0" smtClean="0"/>
              <a:t>HT100</a:t>
            </a:r>
            <a:endParaRPr lang="zh-CN" altLang="en-US" dirty="0"/>
          </a:p>
        </p:txBody>
      </p:sp>
      <p:graphicFrame>
        <p:nvGraphicFramePr>
          <p:cNvPr id="13" name="对象 95"/>
          <p:cNvGraphicFramePr>
            <a:graphicFrameLocks noChangeAspect="1"/>
          </p:cNvGraphicFramePr>
          <p:nvPr/>
        </p:nvGraphicFramePr>
        <p:xfrm>
          <a:off x="1187765" y="5301130"/>
          <a:ext cx="2956106" cy="108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7" name="" r:id="rId5" imgW="1384300" imgH="508000" progId="Equation.3">
                  <p:embed/>
                </p:oleObj>
              </mc:Choice>
              <mc:Fallback>
                <p:oleObj name="" r:id="rId5" imgW="1384300" imgH="508000" progId="Equation.3">
                  <p:embed/>
                  <p:pic>
                    <p:nvPicPr>
                      <p:cNvPr id="0" name="图片 143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765" y="5301130"/>
                        <a:ext cx="2956106" cy="1080075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rgbClr val="FFC000">
                              <a:tint val="66000"/>
                              <a:satMod val="160000"/>
                            </a:srgbClr>
                          </a:gs>
                          <a:gs pos="50000">
                            <a:srgbClr val="FFC000">
                              <a:tint val="44500"/>
                              <a:satMod val="160000"/>
                            </a:srgbClr>
                          </a:gs>
                          <a:gs pos="100000">
                            <a:srgbClr val="FFC000">
                              <a:tint val="23500"/>
                              <a:satMod val="160000"/>
                            </a:srgbClr>
                          </a:gs>
                        </a:gsLst>
                        <a:lin ang="5400000" scaled="1"/>
                        <a:tileRect/>
                      </a:gra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4500245" y="5229225"/>
            <a:ext cx="3907790" cy="429895"/>
          </a:xfrm>
          <a:prstGeom prst="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转矩</a:t>
            </a:r>
            <a:r>
              <a:rPr lang="en-US" altLang="zh-CN" dirty="0" smtClean="0"/>
              <a:t>T</a:t>
            </a:r>
            <a:r>
              <a:rPr lang="en-US" altLang="zh-CN" baseline="-25000" dirty="0" smtClean="0"/>
              <a:t>2</a:t>
            </a:r>
            <a:r>
              <a:rPr lang="zh-CN" altLang="en-US" dirty="0" smtClean="0"/>
              <a:t>计算</a:t>
            </a:r>
            <a:r>
              <a:rPr lang="en-US" altLang="zh-CN" dirty="0" smtClean="0"/>
              <a:t>  </a:t>
            </a:r>
            <a:r>
              <a:rPr lang="zh-CN" altLang="en-US" dirty="0" smtClean="0"/>
              <a:t>参见教材</a:t>
            </a:r>
            <a:r>
              <a:rPr lang="en-US" altLang="zh-CN" dirty="0" smtClean="0"/>
              <a:t>P382</a:t>
            </a:r>
            <a:endParaRPr lang="en-US" altLang="zh-CN" dirty="0" smtClean="0"/>
          </a:p>
        </p:txBody>
      </p:sp>
      <p:sp>
        <p:nvSpPr>
          <p:cNvPr id="15" name="文本框 14"/>
          <p:cNvSpPr txBox="1"/>
          <p:nvPr/>
        </p:nvSpPr>
        <p:spPr>
          <a:xfrm>
            <a:off x="4499995" y="5733160"/>
            <a:ext cx="3384235" cy="430887"/>
          </a:xfrm>
          <a:prstGeom prst="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载荷系数</a:t>
            </a:r>
            <a:r>
              <a:rPr lang="en-US" altLang="zh-CN" dirty="0" smtClean="0"/>
              <a:t>K</a:t>
            </a:r>
            <a:r>
              <a:rPr lang="zh-CN" altLang="en-US" dirty="0" smtClean="0">
                <a:hlinkClick r:id="rId7" action="ppaction://hlinksldjump"/>
              </a:rPr>
              <a:t>计算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4499995" y="6237195"/>
            <a:ext cx="3384235" cy="430887"/>
          </a:xfrm>
          <a:prstGeom prst="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许用接触用力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σ</a:t>
            </a:r>
            <a:r>
              <a:rPr lang="en-US" altLang="zh-CN" baseline="-25000" dirty="0" err="1" smtClean="0"/>
              <a:t>H</a:t>
            </a:r>
            <a:r>
              <a:rPr lang="en-US" altLang="zh-CN" dirty="0" smtClean="0"/>
              <a:t>]</a:t>
            </a:r>
            <a:r>
              <a:rPr lang="zh-CN" altLang="en-US" dirty="0" smtClean="0"/>
              <a:t>确定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bldLvl="0" animBg="1"/>
      <p:bldP spid="9" grpId="0"/>
      <p:bldP spid="10" grpId="0"/>
      <p:bldP spid="11" grpId="0" animBg="1"/>
      <p:bldP spid="12" grpId="0" animBg="1"/>
      <p:bldP spid="14" grpId="0" bldLvl="0" animBg="1"/>
      <p:bldP spid="15" grpId="0" animBg="1"/>
      <p:bldP spid="1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95"/>
          <p:cNvGraphicFramePr>
            <a:graphicFrameLocks noChangeAspect="1"/>
          </p:cNvGraphicFramePr>
          <p:nvPr/>
        </p:nvGraphicFramePr>
        <p:xfrm>
          <a:off x="1619795" y="476795"/>
          <a:ext cx="27940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0" name="公式" r:id="rId1" imgW="31394400" imgH="5791200" progId="Equation.3">
                  <p:embed/>
                </p:oleObj>
              </mc:Choice>
              <mc:Fallback>
                <p:oleObj name="公式" r:id="rId1" imgW="31394400" imgH="5791200" progId="Equation.3">
                  <p:embed/>
                  <p:pic>
                    <p:nvPicPr>
                      <p:cNvPr id="0" name="图片 153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795" y="476795"/>
                        <a:ext cx="2794000" cy="512762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rgbClr val="FFC000">
                              <a:tint val="66000"/>
                              <a:satMod val="160000"/>
                            </a:srgbClr>
                          </a:gs>
                          <a:gs pos="50000">
                            <a:srgbClr val="FFC000">
                              <a:tint val="44500"/>
                              <a:satMod val="160000"/>
                            </a:srgbClr>
                          </a:gs>
                          <a:gs pos="100000">
                            <a:srgbClr val="FFC000">
                              <a:tint val="23500"/>
                              <a:satMod val="160000"/>
                            </a:srgbClr>
                          </a:gs>
                        </a:gsLst>
                        <a:lin ang="5400000" scaled="1"/>
                        <a:tileRect/>
                      </a:gra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187765" y="1340855"/>
            <a:ext cx="2160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hlinkClick r:id="rId3" action="ppaction://hlinksldjump"/>
              </a:rPr>
              <a:t>查表</a:t>
            </a:r>
            <a:r>
              <a:rPr lang="en-US" altLang="zh-CN" dirty="0" smtClean="0">
                <a:hlinkClick r:id="rId3" action="ppaction://hlinksldjump"/>
              </a:rPr>
              <a:t>11-1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699870" y="1340855"/>
            <a:ext cx="5760400" cy="43088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取</a:t>
            </a:r>
            <a:r>
              <a:rPr lang="en-US" altLang="zh-CN" dirty="0" smtClean="0"/>
              <a:t>m=8</a:t>
            </a:r>
            <a:r>
              <a:rPr lang="zh-CN" altLang="en-US" dirty="0" smtClean="0"/>
              <a:t>，蜗杆分度圆直径</a:t>
            </a:r>
            <a:r>
              <a:rPr lang="en-US" altLang="zh-CN" dirty="0" smtClean="0"/>
              <a:t>d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=80mm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39720" y="2132910"/>
            <a:ext cx="66964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、蜗杆与蜗轮的主要参数与几何尺寸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87765" y="2708950"/>
            <a:ext cx="27361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中心距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87765" y="3212985"/>
            <a:ext cx="4032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4" action="ppaction://hlinksldjump"/>
              </a:rPr>
              <a:t>蜗杆</a:t>
            </a:r>
            <a:r>
              <a:rPr lang="zh-CN" altLang="en-US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的主要参数与几何尺寸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87765" y="3789025"/>
            <a:ext cx="40322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蜗轮的主要参数与几何尺寸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730" y="4509075"/>
            <a:ext cx="66964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、校核齿根弯曲疲劳强度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04030" y="2708950"/>
            <a:ext cx="3240225" cy="430887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教材</a:t>
            </a:r>
            <a:r>
              <a:rPr lang="en-US" altLang="zh-CN" dirty="0" smtClean="0"/>
              <a:t>P259-260 </a:t>
            </a:r>
            <a:r>
              <a:rPr lang="zh-CN" altLang="en-US" dirty="0" smtClean="0"/>
              <a:t>表</a:t>
            </a:r>
            <a:r>
              <a:rPr lang="en-US" altLang="zh-CN" dirty="0" smtClean="0"/>
              <a:t>11-3</a:t>
            </a:r>
            <a:endParaRPr lang="zh-CN" altLang="en-US" dirty="0"/>
          </a:p>
        </p:txBody>
      </p:sp>
      <p:graphicFrame>
        <p:nvGraphicFramePr>
          <p:cNvPr id="11" name="对象 104"/>
          <p:cNvGraphicFramePr>
            <a:graphicFrameLocks noChangeAspect="1"/>
          </p:cNvGraphicFramePr>
          <p:nvPr/>
        </p:nvGraphicFramePr>
        <p:xfrm>
          <a:off x="1403780" y="5157120"/>
          <a:ext cx="3742525" cy="970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1" name="" r:id="rId5" imgW="1650365" imgH="431800" progId="Equation.3">
                  <p:embed/>
                </p:oleObj>
              </mc:Choice>
              <mc:Fallback>
                <p:oleObj name="" r:id="rId5" imgW="1650365" imgH="431800" progId="Equation.3">
                  <p:embed/>
                  <p:pic>
                    <p:nvPicPr>
                      <p:cNvPr id="0" name="图片 154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780" y="5157120"/>
                        <a:ext cx="3742525" cy="970717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rgbClr val="FFC000">
                              <a:tint val="66000"/>
                              <a:satMod val="160000"/>
                            </a:srgbClr>
                          </a:gs>
                          <a:gs pos="50000">
                            <a:srgbClr val="FFC000">
                              <a:tint val="44500"/>
                              <a:satMod val="160000"/>
                            </a:srgbClr>
                          </a:gs>
                          <a:gs pos="100000">
                            <a:srgbClr val="FFC000">
                              <a:tint val="23500"/>
                              <a:satMod val="160000"/>
                            </a:srgbClr>
                          </a:gs>
                        </a:gsLst>
                        <a:lin ang="5400000" scaled="1"/>
                        <a:tileRect/>
                      </a:gra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/>
      <p:bldP spid="7" grpId="0"/>
      <p:bldP spid="8" grpId="0"/>
      <p:bldP spid="9" grpId="0"/>
      <p:bldP spid="1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04"/>
          <p:cNvGraphicFramePr>
            <a:graphicFrameLocks noChangeAspect="1"/>
          </p:cNvGraphicFramePr>
          <p:nvPr/>
        </p:nvGraphicFramePr>
        <p:xfrm>
          <a:off x="1367790" y="513080"/>
          <a:ext cx="5109845" cy="478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9" name="公式" r:id="rId1" imgW="2286000" imgH="215900" progId="Equation.3">
                  <p:embed/>
                </p:oleObj>
              </mc:Choice>
              <mc:Fallback>
                <p:oleObj name="公式" r:id="rId1" imgW="2286000" imgH="215900" progId="Equation.3">
                  <p:embed/>
                  <p:pic>
                    <p:nvPicPr>
                      <p:cNvPr id="0" name="图片 164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7790" y="513080"/>
                        <a:ext cx="5109845" cy="478790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rgbClr val="FFC000">
                              <a:tint val="66000"/>
                              <a:satMod val="160000"/>
                            </a:srgbClr>
                          </a:gs>
                          <a:gs pos="50000">
                            <a:srgbClr val="FFC000">
                              <a:tint val="44500"/>
                              <a:satMod val="160000"/>
                            </a:srgbClr>
                          </a:gs>
                          <a:gs pos="100000">
                            <a:srgbClr val="FFC000">
                              <a:tint val="23500"/>
                              <a:satMod val="160000"/>
                            </a:srgbClr>
                          </a:gs>
                        </a:gsLst>
                        <a:lin ang="5400000" scaled="1"/>
                        <a:tileRect/>
                      </a:gra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104"/>
          <p:cNvGraphicFramePr>
            <a:graphicFrameLocks noChangeAspect="1"/>
          </p:cNvGraphicFramePr>
          <p:nvPr/>
        </p:nvGraphicFramePr>
        <p:xfrm>
          <a:off x="3563930" y="5661155"/>
          <a:ext cx="279241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0" name="公式" r:id="rId3" imgW="29565600" imgH="5486400" progId="Equation.3">
                  <p:embed/>
                </p:oleObj>
              </mc:Choice>
              <mc:Fallback>
                <p:oleObj name="公式" r:id="rId3" imgW="29565600" imgH="5486400" progId="Equation.3">
                  <p:embed/>
                  <p:pic>
                    <p:nvPicPr>
                      <p:cNvPr id="0" name="图片 164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0" y="5661155"/>
                        <a:ext cx="2792412" cy="514350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rgbClr val="0070C0">
                              <a:tint val="66000"/>
                              <a:satMod val="160000"/>
                            </a:srgbClr>
                          </a:gs>
                          <a:gs pos="50000">
                            <a:srgbClr val="0070C0">
                              <a:tint val="44500"/>
                              <a:satMod val="160000"/>
                            </a:srgbClr>
                          </a:gs>
                          <a:gs pos="100000">
                            <a:srgbClr val="0070C0">
                              <a:tint val="23500"/>
                              <a:satMod val="160000"/>
                            </a:srgbClr>
                          </a:gs>
                        </a:gsLst>
                        <a:lin ang="5400000" scaled="1"/>
                        <a:tileRect/>
                      </a:gra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915885" y="5661155"/>
            <a:ext cx="648045" cy="461665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/>
              <a:t>&lt;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1475785" y="1124840"/>
            <a:ext cx="46803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弯曲疲劳强度满足。</a:t>
            </a:r>
            <a:endParaRPr lang="zh-CN" altLang="en-US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83730" y="1772885"/>
                <a:ext cx="669646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6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、验算效率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𝜂</m:t>
                    </m:r>
                  </m:oMath>
                </a14:m>
                <a:endParaRPr lang="zh-CN" altLang="en-US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30" y="1772885"/>
                <a:ext cx="6696465" cy="430887"/>
              </a:xfrm>
              <a:prstGeom prst="rect">
                <a:avLst/>
              </a:prstGeom>
              <a:blipFill rotWithShape="1">
                <a:blip r:embed="rId5"/>
                <a:stretch>
                  <a:fillRect l="-7" t="-139" r="3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1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1403985" y="2235200"/>
          <a:ext cx="5433695" cy="796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1" name="公式" r:id="rId6" imgW="3352800" imgH="481965" progId="Equation.3">
                  <p:embed/>
                </p:oleObj>
              </mc:Choice>
              <mc:Fallback>
                <p:oleObj name="公式" r:id="rId6" imgW="3352800" imgH="481965" progId="Equation.3">
                  <p:embed/>
                  <p:pic>
                    <p:nvPicPr>
                      <p:cNvPr id="0" name="图片 165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985" y="2235200"/>
                        <a:ext cx="5433695" cy="796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242375" y="4252805"/>
                <a:ext cx="4608320" cy="429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 smtClean="0"/>
                  <a:t>0.86</a:t>
                </a:r>
                <a:endParaRPr lang="zh-CN" altLang="en-US" dirty="0" smtClean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375" y="4252805"/>
                <a:ext cx="4608320" cy="429895"/>
              </a:xfrm>
              <a:prstGeom prst="rect">
                <a:avLst/>
              </a:prstGeom>
              <a:blipFill rotWithShape="1">
                <a:blip r:embed="rId8"/>
                <a:stretch>
                  <a:fillRect l="-7" t="-49" r="10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187765" y="2996970"/>
                <a:ext cx="6048420" cy="618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1000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𝑐𝑜𝑠</m:t>
                        </m:r>
                        <m:r>
                          <a:rPr lang="zh-CN" alt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194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765" y="2996970"/>
                <a:ext cx="6048420" cy="618118"/>
              </a:xfrm>
              <a:prstGeom prst="rect">
                <a:avLst/>
              </a:prstGeom>
              <a:blipFill rotWithShape="1">
                <a:blip r:embed="rId9"/>
                <a:stretch>
                  <a:fillRect l="-5" t="-66" r="6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1115760" y="3717020"/>
                <a:ext cx="5256365" cy="429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查表</a:t>
                </a:r>
                <a:r>
                  <a:rPr lang="en-US" altLang="zh-CN" dirty="0" smtClean="0"/>
                  <a:t>3.11-11  </a:t>
                </a:r>
                <a:r>
                  <a:rPr lang="zh-CN" altLang="en-US" dirty="0" smtClean="0"/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760" y="3717020"/>
                <a:ext cx="5256365" cy="429895"/>
              </a:xfrm>
              <a:prstGeom prst="rect">
                <a:avLst/>
              </a:prstGeom>
              <a:blipFill rotWithShape="1">
                <a:blip r:embed="rId10"/>
                <a:stretch>
                  <a:fillRect l="-1" t="-85" r="10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2682090" y="4238450"/>
                <a:ext cx="5832405" cy="430887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重算</a:t>
                </a:r>
                <a:r>
                  <a:rPr lang="zh-CN" altLang="en-US" dirty="0"/>
                  <a:t>转矩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得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1019530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𝑚𝑚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090" y="4238450"/>
                <a:ext cx="5832405" cy="430887"/>
              </a:xfrm>
              <a:prstGeom prst="rect">
                <a:avLst/>
              </a:prstGeom>
              <a:blipFill rotWithShape="1">
                <a:blip r:embed="rId11"/>
                <a:stretch>
                  <a:fillRect l="-8" t="-107" r="7" b="-2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对象 95"/>
          <p:cNvGraphicFramePr>
            <a:graphicFrameLocks noChangeAspect="1"/>
          </p:cNvGraphicFramePr>
          <p:nvPr/>
        </p:nvGraphicFramePr>
        <p:xfrm>
          <a:off x="755735" y="4941105"/>
          <a:ext cx="2664185" cy="4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2" name="公式" r:id="rId12" imgW="31394400" imgH="5791200" progId="Equation.3">
                  <p:embed/>
                </p:oleObj>
              </mc:Choice>
              <mc:Fallback>
                <p:oleObj name="公式" r:id="rId12" imgW="31394400" imgH="5791200" progId="Equation.3">
                  <p:embed/>
                  <p:pic>
                    <p:nvPicPr>
                      <p:cNvPr id="0" name="图片 165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735" y="4941105"/>
                        <a:ext cx="2664185" cy="48893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95"/>
          <p:cNvGraphicFramePr>
            <a:graphicFrameLocks noChangeAspect="1"/>
          </p:cNvGraphicFramePr>
          <p:nvPr/>
        </p:nvGraphicFramePr>
        <p:xfrm>
          <a:off x="4067965" y="4941105"/>
          <a:ext cx="219868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3" name="公式" r:id="rId14" imgW="25908000" imgH="5791200" progId="Equation.3">
                  <p:embed/>
                </p:oleObj>
              </mc:Choice>
              <mc:Fallback>
                <p:oleObj name="公式" r:id="rId14" imgW="25908000" imgH="5791200" progId="Equation.3">
                  <p:embed/>
                  <p:pic>
                    <p:nvPicPr>
                      <p:cNvPr id="0" name="图片 165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65" y="4941105"/>
                        <a:ext cx="2198687" cy="488950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rgbClr val="0070C0">
                              <a:tint val="66000"/>
                              <a:satMod val="160000"/>
                            </a:srgbClr>
                          </a:gs>
                          <a:gs pos="50000">
                            <a:srgbClr val="0070C0">
                              <a:tint val="44500"/>
                              <a:satMod val="160000"/>
                            </a:srgbClr>
                          </a:gs>
                          <a:gs pos="100000">
                            <a:srgbClr val="0070C0">
                              <a:tint val="23500"/>
                              <a:satMod val="160000"/>
                            </a:srgbClr>
                          </a:gs>
                        </a:gsLst>
                        <a:lin ang="5400000" scaled="1"/>
                        <a:tileRect/>
                      </a:gra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04"/>
          <p:cNvGraphicFramePr>
            <a:graphicFrameLocks noChangeAspect="1"/>
          </p:cNvGraphicFramePr>
          <p:nvPr/>
        </p:nvGraphicFramePr>
        <p:xfrm>
          <a:off x="467715" y="5661155"/>
          <a:ext cx="238918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4" name="公式" r:id="rId16" imgW="25298400" imgH="5486400" progId="Equation.3">
                  <p:embed/>
                </p:oleObj>
              </mc:Choice>
              <mc:Fallback>
                <p:oleObj name="公式" r:id="rId16" imgW="25298400" imgH="5486400" progId="Equation.3">
                  <p:embed/>
                  <p:pic>
                    <p:nvPicPr>
                      <p:cNvPr id="0" name="图片 165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715" y="5661155"/>
                        <a:ext cx="2389188" cy="514350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rgbClr val="FFC000">
                              <a:tint val="66000"/>
                              <a:satMod val="160000"/>
                            </a:srgbClr>
                          </a:gs>
                          <a:gs pos="50000">
                            <a:srgbClr val="FFC000">
                              <a:tint val="44500"/>
                              <a:satMod val="160000"/>
                            </a:srgbClr>
                          </a:gs>
                          <a:gs pos="100000">
                            <a:srgbClr val="FFC000">
                              <a:tint val="23500"/>
                              <a:satMod val="160000"/>
                            </a:srgbClr>
                          </a:gs>
                        </a:gsLst>
                        <a:lin ang="5400000" scaled="1"/>
                        <a:tileRect/>
                      </a:gra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6444130" y="4869100"/>
            <a:ext cx="25921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齿面接触强度满足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3347915" y="4941105"/>
            <a:ext cx="648045" cy="461665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/>
              <a:t>&lt;</a:t>
            </a:r>
            <a:endParaRPr lang="zh-CN" altLang="en-US" sz="2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6535554" y="5733160"/>
            <a:ext cx="25921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齿面弯曲强度满足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1" grpId="0"/>
      <p:bldP spid="12" grpId="0"/>
      <p:bldP spid="13" grpId="0"/>
      <p:bldP spid="14" grpId="0" bldLvl="0" animBg="1"/>
      <p:bldP spid="18" grpId="0"/>
      <p:bldP spid="19" grpId="0" animBg="1"/>
      <p:bldP spid="20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720" y="548800"/>
            <a:ext cx="66964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、精度等级和表面粗糙度确定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62170" y="1089280"/>
            <a:ext cx="67684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精度等级</a:t>
            </a:r>
            <a:r>
              <a:rPr lang="en-US" altLang="zh-CN" dirty="0" smtClean="0">
                <a:solidFill>
                  <a:srgbClr val="0000FF"/>
                </a:solidFill>
              </a:rPr>
              <a:t>7</a:t>
            </a:r>
            <a:r>
              <a:rPr lang="zh-CN" altLang="en-US" dirty="0" smtClean="0">
                <a:solidFill>
                  <a:srgbClr val="0000FF"/>
                </a:solidFill>
              </a:rPr>
              <a:t>级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7715" y="3429000"/>
            <a:ext cx="66964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、热平衡核算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9720" y="1700880"/>
            <a:ext cx="66964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、蜗杆传动润滑方式确定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403780" y="2276920"/>
                <a:ext cx="6048420" cy="618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1000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𝑐𝑜𝑠</m:t>
                        </m:r>
                        <m:r>
                          <a:rPr lang="zh-CN" alt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194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780" y="2276920"/>
                <a:ext cx="6048420" cy="618118"/>
              </a:xfrm>
              <a:prstGeom prst="rect">
                <a:avLst/>
              </a:prstGeom>
              <a:blipFill rotWithShape="1">
                <a:blip r:embed="rId1"/>
                <a:stretch>
                  <a:fillRect l="-7" t="-72" r="8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1016635" y="2889250"/>
            <a:ext cx="208661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查表</a:t>
            </a:r>
            <a:r>
              <a:rPr lang="en-US" altLang="zh-CN" dirty="0" smtClean="0"/>
              <a:t>3.11-12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699870" y="2924965"/>
            <a:ext cx="47523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采用喷油润滑或油池润滑</a:t>
            </a:r>
            <a:endParaRPr lang="zh-CN" altLang="en-US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836630" y="3969095"/>
                <a:ext cx="8064560" cy="44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取润滑油的最高工作温度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，</m:t>
                        </m:r>
                        <m:r>
                          <a:rPr lang="zh-CN" alt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周围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空气</m:t>
                        </m:r>
                        <m:r>
                          <a:rPr lang="zh-CN" alt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温度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630" y="3969095"/>
                <a:ext cx="8064560" cy="441325"/>
              </a:xfrm>
              <a:prstGeom prst="rect">
                <a:avLst/>
              </a:prstGeom>
              <a:blipFill rotWithShape="1">
                <a:blip r:embed="rId2"/>
                <a:stretch>
                  <a:fillRect l="-4" t="-78" r="5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881715" y="4509325"/>
                <a:ext cx="633644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箱体表面传热系数取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/(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∙℃)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15" y="4509325"/>
                <a:ext cx="6336440" cy="430887"/>
              </a:xfrm>
              <a:prstGeom prst="rect">
                <a:avLst/>
              </a:prstGeom>
              <a:blipFill rotWithShape="1">
                <a:blip r:embed="rId3"/>
                <a:stretch>
                  <a:fillRect l="-5" t="-44" r="2" b="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827740" y="5013110"/>
            <a:ext cx="47523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所</a:t>
            </a:r>
            <a:r>
              <a:rPr lang="zh-CN" altLang="en-US" dirty="0" smtClean="0"/>
              <a:t>需的散热面积为</a:t>
            </a:r>
            <a:endParaRPr lang="zh-CN" altLang="en-US" dirty="0"/>
          </a:p>
        </p:txBody>
      </p:sp>
      <p:graphicFrame>
        <p:nvGraphicFramePr>
          <p:cNvPr id="12" name="对象 187"/>
          <p:cNvGraphicFramePr>
            <a:graphicFrameLocks noChangeAspect="1"/>
          </p:cNvGraphicFramePr>
          <p:nvPr/>
        </p:nvGraphicFramePr>
        <p:xfrm>
          <a:off x="1114966" y="5589309"/>
          <a:ext cx="1984375" cy="791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8" name="" r:id="rId4" imgW="1079500" imgH="431800" progId="Equation.3">
                  <p:embed/>
                </p:oleObj>
              </mc:Choice>
              <mc:Fallback>
                <p:oleObj name="" r:id="rId4" imgW="1079500" imgH="431800" progId="Equation.3">
                  <p:embed/>
                  <p:pic>
                    <p:nvPicPr>
                      <p:cNvPr id="0" name="图片 174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966" y="5589309"/>
                        <a:ext cx="1984375" cy="791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87"/>
          <p:cNvGraphicFramePr>
            <a:graphicFrameLocks noChangeAspect="1"/>
          </p:cNvGraphicFramePr>
          <p:nvPr/>
        </p:nvGraphicFramePr>
        <p:xfrm>
          <a:off x="3275910" y="5589150"/>
          <a:ext cx="41275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9" name="公式" r:id="rId6" imgW="53949600" imgH="10058400" progId="Equation.3">
                  <p:embed/>
                </p:oleObj>
              </mc:Choice>
              <mc:Fallback>
                <p:oleObj name="公式" r:id="rId6" imgW="53949600" imgH="10058400" progId="Equation.3">
                  <p:embed/>
                  <p:pic>
                    <p:nvPicPr>
                      <p:cNvPr id="0" name="图片 174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910" y="5589150"/>
                        <a:ext cx="412750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720" y="404790"/>
            <a:ext cx="66964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、结构设计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5885" y="3861030"/>
            <a:ext cx="1800125" cy="24001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15" y="3362111"/>
            <a:ext cx="3312230" cy="346609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760" y="1556870"/>
            <a:ext cx="7305675" cy="12287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11725" y="980830"/>
            <a:ext cx="18721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蜗杆结构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7740" y="3429000"/>
            <a:ext cx="18721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蜗轮结构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7740" y="4365065"/>
            <a:ext cx="15841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大批量生产。采用拼铸式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304800"/>
            <a:ext cx="7772400" cy="6248400"/>
          </a:xfrm>
          <a:prstGeom prst="rect">
            <a:avLst/>
          </a:prstGeo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Tx/>
              <a:buNone/>
            </a:pPr>
            <a:r>
              <a:rPr lang="en-US" altLang="zh-CN" sz="22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2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2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11-5]</a:t>
            </a:r>
            <a:r>
              <a:rPr lang="zh-CN" altLang="en-US" sz="2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已知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二级传动，一级蜗杆传动，二级斜齿轮传动，试确定各个轮的旋向，接触点处所受的力，并且</a:t>
            </a:r>
            <a:r>
              <a:rPr 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Ⅱ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轴要受力合理。</a:t>
            </a:r>
            <a:endParaRPr lang="zh-CN" alt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728470" y="1404016"/>
            <a:ext cx="4876800" cy="4745324"/>
            <a:chOff x="2722" y="2211"/>
            <a:chExt cx="7680" cy="7473"/>
          </a:xfrm>
        </p:grpSpPr>
        <p:grpSp>
          <p:nvGrpSpPr>
            <p:cNvPr id="8" name="组合 7"/>
            <p:cNvGrpSpPr/>
            <p:nvPr/>
          </p:nvGrpSpPr>
          <p:grpSpPr>
            <a:xfrm>
              <a:off x="2722" y="2211"/>
              <a:ext cx="7680" cy="7473"/>
              <a:chOff x="1691800" y="1464185"/>
              <a:chExt cx="4876800" cy="4745080"/>
            </a:xfrm>
          </p:grpSpPr>
          <p:grpSp>
            <p:nvGrpSpPr>
              <p:cNvPr id="287748" name="Group 4"/>
              <p:cNvGrpSpPr/>
              <p:nvPr/>
            </p:nvGrpSpPr>
            <p:grpSpPr bwMode="auto">
              <a:xfrm>
                <a:off x="1691800" y="1464185"/>
                <a:ext cx="4876800" cy="4745080"/>
                <a:chOff x="0" y="-26"/>
                <a:chExt cx="5784" cy="5966"/>
              </a:xfrm>
            </p:grpSpPr>
            <p:grpSp>
              <p:nvGrpSpPr>
                <p:cNvPr id="287749" name="Group 5"/>
                <p:cNvGrpSpPr/>
                <p:nvPr/>
              </p:nvGrpSpPr>
              <p:grpSpPr bwMode="auto">
                <a:xfrm>
                  <a:off x="0" y="-26"/>
                  <a:ext cx="5784" cy="5966"/>
                  <a:chOff x="0" y="-26"/>
                  <a:chExt cx="5784" cy="5966"/>
                </a:xfrm>
              </p:grpSpPr>
              <p:grpSp>
                <p:nvGrpSpPr>
                  <p:cNvPr id="287750" name="Group 6"/>
                  <p:cNvGrpSpPr/>
                  <p:nvPr/>
                </p:nvGrpSpPr>
                <p:grpSpPr bwMode="auto">
                  <a:xfrm>
                    <a:off x="0" y="-26"/>
                    <a:ext cx="5784" cy="5918"/>
                    <a:chOff x="0" y="-26"/>
                    <a:chExt cx="5784" cy="5918"/>
                  </a:xfrm>
                </p:grpSpPr>
                <p:sp>
                  <p:nvSpPr>
                    <p:cNvPr id="6" name="Line 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11" y="-26"/>
                      <a:ext cx="777" cy="1714"/>
                    </a:xfrm>
                    <a:prstGeom prst="line">
                      <a:avLst/>
                    </a:prstGeom>
                    <a:noFill/>
                    <a:ln w="19050" cmpd="sng">
                      <a:solidFill>
                        <a:srgbClr val="FF0000"/>
                      </a:solidFill>
                      <a:prstDash val="dashDot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p>
                      <a:endParaRPr lang="zh-CN" altLang="en-US"/>
                    </a:p>
                  </p:txBody>
                </p:sp>
                <p:sp>
                  <p:nvSpPr>
                    <p:cNvPr id="287751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04" y="4812"/>
                      <a:ext cx="480" cy="67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mpd="sng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/>
                    </a:p>
                  </p:txBody>
                </p:sp>
                <p:sp>
                  <p:nvSpPr>
                    <p:cNvPr id="287752" name="Line 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31" y="31"/>
                      <a:ext cx="777" cy="1714"/>
                    </a:xfrm>
                    <a:prstGeom prst="line">
                      <a:avLst/>
                    </a:prstGeom>
                    <a:noFill/>
                    <a:ln w="19050" cmpd="sng">
                      <a:solidFill>
                        <a:srgbClr val="FF0000"/>
                      </a:solidFill>
                      <a:prstDash val="dashDot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753" name="Oval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80" y="1128"/>
                      <a:ext cx="804" cy="104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mpd="sng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/>
                    </a:p>
                  </p:txBody>
                </p:sp>
                <p:sp>
                  <p:nvSpPr>
                    <p:cNvPr id="287754" name="Oval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0" y="888"/>
                      <a:ext cx="1440" cy="1728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9525" cmpd="sng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/>
                    </a:p>
                  </p:txBody>
                </p:sp>
                <p:sp>
                  <p:nvSpPr>
                    <p:cNvPr id="287755" name="Line 1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0" y="1476"/>
                      <a:ext cx="4560" cy="456"/>
                    </a:xfrm>
                    <a:prstGeom prst="line">
                      <a:avLst/>
                    </a:prstGeom>
                    <a:noFill/>
                    <a:ln w="9525" cmpd="sng">
                      <a:solidFill>
                        <a:srgbClr val="000000"/>
                      </a:solidFill>
                      <a:prstDash val="dashDot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756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84" y="408"/>
                      <a:ext cx="0" cy="2508"/>
                    </a:xfrm>
                    <a:prstGeom prst="line">
                      <a:avLst/>
                    </a:prstGeom>
                    <a:noFill/>
                    <a:ln w="9525" cmpd="sng">
                      <a:solidFill>
                        <a:srgbClr val="000000"/>
                      </a:solidFill>
                      <a:prstDash val="dashDot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757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88" y="336"/>
                      <a:ext cx="0" cy="2508"/>
                    </a:xfrm>
                    <a:prstGeom prst="line">
                      <a:avLst/>
                    </a:prstGeom>
                    <a:noFill/>
                    <a:ln w="9525" cmpd="sng">
                      <a:solidFill>
                        <a:srgbClr val="000000"/>
                      </a:solidFill>
                      <a:prstDash val="dashDot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758" name="Freeform 14"/>
                    <p:cNvSpPr/>
                    <p:nvPr/>
                  </p:nvSpPr>
                  <p:spPr bwMode="auto">
                    <a:xfrm>
                      <a:off x="676" y="780"/>
                      <a:ext cx="908" cy="1894"/>
                    </a:xfrm>
                    <a:custGeom>
                      <a:avLst/>
                      <a:gdLst>
                        <a:gd name="T0" fmla="*/ 908 w 908"/>
                        <a:gd name="T1" fmla="*/ 108 h 1894"/>
                        <a:gd name="T2" fmla="*/ 620 w 908"/>
                        <a:gd name="T3" fmla="*/ 36 h 1894"/>
                        <a:gd name="T4" fmla="*/ 236 w 908"/>
                        <a:gd name="T5" fmla="*/ 324 h 1894"/>
                        <a:gd name="T6" fmla="*/ 20 w 908"/>
                        <a:gd name="T7" fmla="*/ 828 h 1894"/>
                        <a:gd name="T8" fmla="*/ 116 w 908"/>
                        <a:gd name="T9" fmla="*/ 1428 h 1894"/>
                        <a:gd name="T10" fmla="*/ 512 w 908"/>
                        <a:gd name="T11" fmla="*/ 1824 h 1894"/>
                        <a:gd name="T12" fmla="*/ 908 w 908"/>
                        <a:gd name="T13" fmla="*/ 1848 h 189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908" h="1894">
                          <a:moveTo>
                            <a:pt x="908" y="108"/>
                          </a:moveTo>
                          <a:cubicBezTo>
                            <a:pt x="820" y="54"/>
                            <a:pt x="732" y="0"/>
                            <a:pt x="620" y="36"/>
                          </a:cubicBezTo>
                          <a:cubicBezTo>
                            <a:pt x="508" y="72"/>
                            <a:pt x="336" y="192"/>
                            <a:pt x="236" y="324"/>
                          </a:cubicBezTo>
                          <a:cubicBezTo>
                            <a:pt x="136" y="456"/>
                            <a:pt x="40" y="644"/>
                            <a:pt x="20" y="828"/>
                          </a:cubicBezTo>
                          <a:cubicBezTo>
                            <a:pt x="0" y="1012"/>
                            <a:pt x="34" y="1262"/>
                            <a:pt x="116" y="1428"/>
                          </a:cubicBezTo>
                          <a:cubicBezTo>
                            <a:pt x="198" y="1594"/>
                            <a:pt x="380" y="1754"/>
                            <a:pt x="512" y="1824"/>
                          </a:cubicBezTo>
                          <a:cubicBezTo>
                            <a:pt x="644" y="1894"/>
                            <a:pt x="776" y="1871"/>
                            <a:pt x="908" y="1848"/>
                          </a:cubicBezTo>
                        </a:path>
                      </a:pathLst>
                    </a:custGeom>
                    <a:noFill/>
                    <a:ln w="9525" cmpd="sng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759" name="Freeform 15"/>
                    <p:cNvSpPr/>
                    <p:nvPr/>
                  </p:nvSpPr>
                  <p:spPr bwMode="auto">
                    <a:xfrm>
                      <a:off x="2220" y="1062"/>
                      <a:ext cx="468" cy="318"/>
                    </a:xfrm>
                    <a:custGeom>
                      <a:avLst/>
                      <a:gdLst>
                        <a:gd name="T0" fmla="*/ 468 w 468"/>
                        <a:gd name="T1" fmla="*/ 66 h 318"/>
                        <a:gd name="T2" fmla="*/ 192 w 468"/>
                        <a:gd name="T3" fmla="*/ 42 h 318"/>
                        <a:gd name="T4" fmla="*/ 0 w 468"/>
                        <a:gd name="T5" fmla="*/ 318 h 31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68" h="318">
                          <a:moveTo>
                            <a:pt x="468" y="66"/>
                          </a:moveTo>
                          <a:cubicBezTo>
                            <a:pt x="369" y="33"/>
                            <a:pt x="270" y="0"/>
                            <a:pt x="192" y="42"/>
                          </a:cubicBezTo>
                          <a:cubicBezTo>
                            <a:pt x="114" y="84"/>
                            <a:pt x="57" y="201"/>
                            <a:pt x="0" y="318"/>
                          </a:cubicBezTo>
                        </a:path>
                      </a:pathLst>
                    </a:custGeom>
                    <a:noFill/>
                    <a:ln w="9525" cmpd="sng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760" name="Line 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84" y="1764"/>
                      <a:ext cx="863" cy="1773"/>
                    </a:xfrm>
                    <a:prstGeom prst="line">
                      <a:avLst/>
                    </a:prstGeom>
                    <a:noFill/>
                    <a:ln w="19050" cmpd="sng">
                      <a:solidFill>
                        <a:srgbClr val="FF0000"/>
                      </a:solidFill>
                      <a:prstDash val="dashDot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761" name="Line 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74" y="1671"/>
                      <a:ext cx="1033" cy="2187"/>
                    </a:xfrm>
                    <a:prstGeom prst="line">
                      <a:avLst/>
                    </a:prstGeom>
                    <a:noFill/>
                    <a:ln w="19050" cmpd="sng">
                      <a:solidFill>
                        <a:srgbClr val="FF0000"/>
                      </a:solidFill>
                      <a:prstDash val="lgDashDot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762" name="Oval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76" y="2844"/>
                      <a:ext cx="1896" cy="213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mpd="sng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/>
                    </a:p>
                  </p:txBody>
                </p:sp>
                <p:sp>
                  <p:nvSpPr>
                    <p:cNvPr id="287763" name="Line 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36" y="2316"/>
                      <a:ext cx="0" cy="3072"/>
                    </a:xfrm>
                    <a:prstGeom prst="line">
                      <a:avLst/>
                    </a:prstGeom>
                    <a:noFill/>
                    <a:ln w="9525" cmpd="sng">
                      <a:solidFill>
                        <a:srgbClr val="000000"/>
                      </a:solidFill>
                      <a:prstDash val="dashDot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764" name="Line 2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600" y="3756"/>
                      <a:ext cx="4560" cy="456"/>
                    </a:xfrm>
                    <a:prstGeom prst="line">
                      <a:avLst/>
                    </a:prstGeom>
                    <a:noFill/>
                    <a:ln w="9525" cmpd="sng">
                      <a:solidFill>
                        <a:srgbClr val="000000"/>
                      </a:solidFill>
                      <a:prstDash val="dashDot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765" name="Freeform 21"/>
                    <p:cNvSpPr/>
                    <p:nvPr/>
                  </p:nvSpPr>
                  <p:spPr bwMode="auto">
                    <a:xfrm>
                      <a:off x="1956" y="4788"/>
                      <a:ext cx="3408" cy="1104"/>
                    </a:xfrm>
                    <a:custGeom>
                      <a:avLst/>
                      <a:gdLst>
                        <a:gd name="T0" fmla="*/ 0 w 3408"/>
                        <a:gd name="T1" fmla="*/ 384 h 1104"/>
                        <a:gd name="T2" fmla="*/ 3312 w 3408"/>
                        <a:gd name="T3" fmla="*/ 0 h 1104"/>
                        <a:gd name="T4" fmla="*/ 3408 w 3408"/>
                        <a:gd name="T5" fmla="*/ 720 h 1104"/>
                        <a:gd name="T6" fmla="*/ 24 w 3408"/>
                        <a:gd name="T7" fmla="*/ 1104 h 1104"/>
                        <a:gd name="T8" fmla="*/ 0 w 3408"/>
                        <a:gd name="T9" fmla="*/ 384 h 110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408" h="1104">
                          <a:moveTo>
                            <a:pt x="0" y="384"/>
                          </a:moveTo>
                          <a:lnTo>
                            <a:pt x="3312" y="0"/>
                          </a:lnTo>
                          <a:lnTo>
                            <a:pt x="3408" y="720"/>
                          </a:lnTo>
                          <a:lnTo>
                            <a:pt x="24" y="1104"/>
                          </a:lnTo>
                          <a:lnTo>
                            <a:pt x="0" y="38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mpd="sng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766" name="Oval 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16" y="5196"/>
                      <a:ext cx="480" cy="67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mpd="sng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>
                      <a:lvl1pP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endParaRPr lang="zh-CN" altLang="en-US"/>
                    </a:p>
                  </p:txBody>
                </p:sp>
                <p:sp>
                  <p:nvSpPr>
                    <p:cNvPr id="287767" name="Line 2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56" y="5172"/>
                      <a:ext cx="0" cy="720"/>
                    </a:xfrm>
                    <a:prstGeom prst="line">
                      <a:avLst/>
                    </a:prstGeom>
                    <a:noFill/>
                    <a:ln w="9525" cmpd="sng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768" name="Line 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292" y="4812"/>
                      <a:ext cx="72" cy="696"/>
                    </a:xfrm>
                    <a:prstGeom prst="line">
                      <a:avLst/>
                    </a:prstGeom>
                    <a:noFill/>
                    <a:ln w="28575" cmpd="sng">
                      <a:solidFill>
                        <a:srgbClr val="FFFFFF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769" name="Line 2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224" y="5124"/>
                      <a:ext cx="4560" cy="456"/>
                    </a:xfrm>
                    <a:prstGeom prst="line">
                      <a:avLst/>
                    </a:prstGeom>
                    <a:noFill/>
                    <a:ln w="9525" cmpd="sng">
                      <a:solidFill>
                        <a:srgbClr val="000000"/>
                      </a:solidFill>
                      <a:prstDash val="dashDot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87770" name="Freeform 26"/>
                  <p:cNvSpPr/>
                  <p:nvPr/>
                </p:nvSpPr>
                <p:spPr bwMode="auto">
                  <a:xfrm>
                    <a:off x="2492" y="2728"/>
                    <a:ext cx="1144" cy="2252"/>
                  </a:xfrm>
                  <a:custGeom>
                    <a:avLst/>
                    <a:gdLst>
                      <a:gd name="T0" fmla="*/ 1144 w 1144"/>
                      <a:gd name="T1" fmla="*/ 116 h 2252"/>
                      <a:gd name="T2" fmla="*/ 880 w 1144"/>
                      <a:gd name="T3" fmla="*/ 20 h 2252"/>
                      <a:gd name="T4" fmla="*/ 424 w 1144"/>
                      <a:gd name="T5" fmla="*/ 236 h 2252"/>
                      <a:gd name="T6" fmla="*/ 64 w 1144"/>
                      <a:gd name="T7" fmla="*/ 788 h 2252"/>
                      <a:gd name="T8" fmla="*/ 40 w 1144"/>
                      <a:gd name="T9" fmla="*/ 1508 h 2252"/>
                      <a:gd name="T10" fmla="*/ 280 w 1144"/>
                      <a:gd name="T11" fmla="*/ 1964 h 2252"/>
                      <a:gd name="T12" fmla="*/ 592 w 1144"/>
                      <a:gd name="T13" fmla="*/ 2204 h 2252"/>
                      <a:gd name="T14" fmla="*/ 1048 w 1144"/>
                      <a:gd name="T15" fmla="*/ 2252 h 22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144" h="2252">
                        <a:moveTo>
                          <a:pt x="1144" y="116"/>
                        </a:moveTo>
                        <a:cubicBezTo>
                          <a:pt x="1072" y="58"/>
                          <a:pt x="1000" y="0"/>
                          <a:pt x="880" y="20"/>
                        </a:cubicBezTo>
                        <a:cubicBezTo>
                          <a:pt x="760" y="40"/>
                          <a:pt x="560" y="108"/>
                          <a:pt x="424" y="236"/>
                        </a:cubicBezTo>
                        <a:cubicBezTo>
                          <a:pt x="288" y="364"/>
                          <a:pt x="128" y="576"/>
                          <a:pt x="64" y="788"/>
                        </a:cubicBezTo>
                        <a:cubicBezTo>
                          <a:pt x="0" y="1000"/>
                          <a:pt x="4" y="1312"/>
                          <a:pt x="40" y="1508"/>
                        </a:cubicBezTo>
                        <a:cubicBezTo>
                          <a:pt x="76" y="1704"/>
                          <a:pt x="188" y="1848"/>
                          <a:pt x="280" y="1964"/>
                        </a:cubicBezTo>
                        <a:cubicBezTo>
                          <a:pt x="372" y="2080"/>
                          <a:pt x="464" y="2156"/>
                          <a:pt x="592" y="2204"/>
                        </a:cubicBezTo>
                        <a:cubicBezTo>
                          <a:pt x="720" y="2252"/>
                          <a:pt x="884" y="2252"/>
                          <a:pt x="1048" y="2252"/>
                        </a:cubicBezTo>
                      </a:path>
                    </a:pathLst>
                  </a:custGeom>
                  <a:noFill/>
                  <a:ln w="9525" cmpd="sng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7771" name="Text Box 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36" y="4236"/>
                    <a:ext cx="456" cy="45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/>
                    <a:r>
                      <a:rPr lang="en-US" sz="2000"/>
                      <a:t>2</a:t>
                    </a:r>
                    <a:endParaRPr lang="en-US" sz="2000"/>
                  </a:p>
                </p:txBody>
              </p:sp>
              <p:sp>
                <p:nvSpPr>
                  <p:cNvPr id="287772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83" y="5423"/>
                    <a:ext cx="456" cy="45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/>
                    <a:r>
                      <a:rPr lang="en-US" sz="2000"/>
                      <a:t>1</a:t>
                    </a:r>
                    <a:endParaRPr lang="en-US" sz="2000"/>
                  </a:p>
                </p:txBody>
              </p:sp>
              <p:sp>
                <p:nvSpPr>
                  <p:cNvPr id="287773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63" y="1175"/>
                    <a:ext cx="456" cy="45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/>
                    <a:r>
                      <a:rPr lang="en-US" sz="2000"/>
                      <a:t>3</a:t>
                    </a:r>
                    <a:endParaRPr lang="en-US" sz="2000"/>
                  </a:p>
                </p:txBody>
              </p:sp>
              <p:sp>
                <p:nvSpPr>
                  <p:cNvPr id="287774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31" y="1151"/>
                    <a:ext cx="456" cy="45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/>
                    <a:r>
                      <a:rPr lang="en-US" sz="2000"/>
                      <a:t>4</a:t>
                    </a:r>
                    <a:endParaRPr lang="en-US" sz="2000"/>
                  </a:p>
                </p:txBody>
              </p:sp>
              <p:sp>
                <p:nvSpPr>
                  <p:cNvPr id="287775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88" y="3108"/>
                    <a:ext cx="576" cy="5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/>
                    <a:r>
                      <a:rPr lang="en-US" sz="2000"/>
                      <a:t>Ⅲ</a:t>
                    </a:r>
                    <a:endParaRPr lang="en-US" sz="2000"/>
                  </a:p>
                </p:txBody>
              </p:sp>
              <p:sp>
                <p:nvSpPr>
                  <p:cNvPr id="287776" name="Text Box 3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92" y="2124"/>
                    <a:ext cx="576" cy="5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/>
                    <a:r>
                      <a:rPr lang="en-US" sz="2000" dirty="0"/>
                      <a:t>Ⅱ</a:t>
                    </a:r>
                    <a:endParaRPr lang="en-US" sz="2000" dirty="0"/>
                  </a:p>
                </p:txBody>
              </p:sp>
              <p:sp>
                <p:nvSpPr>
                  <p:cNvPr id="287777" name="Text Box 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28" y="5364"/>
                    <a:ext cx="576" cy="5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/>
                    <a:r>
                      <a:rPr lang="en-US" sz="2000"/>
                      <a:t>Ⅰ</a:t>
                    </a:r>
                    <a:endParaRPr lang="en-US" sz="2000"/>
                  </a:p>
                </p:txBody>
              </p:sp>
            </p:grpSp>
            <p:sp>
              <p:nvSpPr>
                <p:cNvPr id="287778" name="AutoShape 34"/>
                <p:cNvSpPr>
                  <a:spLocks noChangeArrowheads="1"/>
                </p:cNvSpPr>
                <p:nvPr/>
              </p:nvSpPr>
              <p:spPr bwMode="auto">
                <a:xfrm>
                  <a:off x="1776" y="5532"/>
                  <a:ext cx="372" cy="240"/>
                </a:xfrm>
                <a:prstGeom prst="curvedUpArrow">
                  <a:avLst>
                    <a:gd name="adj1" fmla="val 31000"/>
                    <a:gd name="adj2" fmla="val 62000"/>
                    <a:gd name="adj3" fmla="val 33333"/>
                  </a:avLst>
                </a:prstGeom>
                <a:solidFill>
                  <a:srgbClr val="FF0000"/>
                </a:solidFill>
                <a:ln w="9525" cmpd="sng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7779" name="Freeform 35"/>
                <p:cNvSpPr/>
                <p:nvPr/>
              </p:nvSpPr>
              <p:spPr bwMode="auto">
                <a:xfrm>
                  <a:off x="2520" y="5122"/>
                  <a:ext cx="1248" cy="578"/>
                </a:xfrm>
                <a:custGeom>
                  <a:avLst/>
                  <a:gdLst>
                    <a:gd name="T0" fmla="*/ 0 w 516"/>
                    <a:gd name="T1" fmla="*/ 2 h 650"/>
                    <a:gd name="T2" fmla="*/ 120 w 516"/>
                    <a:gd name="T3" fmla="*/ 50 h 650"/>
                    <a:gd name="T4" fmla="*/ 240 w 516"/>
                    <a:gd name="T5" fmla="*/ 302 h 650"/>
                    <a:gd name="T6" fmla="*/ 312 w 516"/>
                    <a:gd name="T7" fmla="*/ 506 h 650"/>
                    <a:gd name="T8" fmla="*/ 516 w 516"/>
                    <a:gd name="T9" fmla="*/ 650 h 6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16" h="650">
                      <a:moveTo>
                        <a:pt x="0" y="2"/>
                      </a:moveTo>
                      <a:cubicBezTo>
                        <a:pt x="40" y="1"/>
                        <a:pt x="80" y="0"/>
                        <a:pt x="120" y="50"/>
                      </a:cubicBezTo>
                      <a:cubicBezTo>
                        <a:pt x="160" y="100"/>
                        <a:pt x="208" y="226"/>
                        <a:pt x="240" y="302"/>
                      </a:cubicBezTo>
                      <a:cubicBezTo>
                        <a:pt x="272" y="378"/>
                        <a:pt x="266" y="448"/>
                        <a:pt x="312" y="506"/>
                      </a:cubicBezTo>
                      <a:cubicBezTo>
                        <a:pt x="358" y="564"/>
                        <a:pt x="437" y="607"/>
                        <a:pt x="516" y="650"/>
                      </a:cubicBezTo>
                    </a:path>
                  </a:pathLst>
                </a:custGeom>
                <a:noFill/>
                <a:ln w="9525" cmpd="sng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780" name="Freeform 36"/>
                <p:cNvSpPr/>
                <p:nvPr/>
              </p:nvSpPr>
              <p:spPr bwMode="auto">
                <a:xfrm>
                  <a:off x="2640" y="5098"/>
                  <a:ext cx="1248" cy="578"/>
                </a:xfrm>
                <a:custGeom>
                  <a:avLst/>
                  <a:gdLst>
                    <a:gd name="T0" fmla="*/ 0 w 516"/>
                    <a:gd name="T1" fmla="*/ 2 h 650"/>
                    <a:gd name="T2" fmla="*/ 120 w 516"/>
                    <a:gd name="T3" fmla="*/ 50 h 650"/>
                    <a:gd name="T4" fmla="*/ 240 w 516"/>
                    <a:gd name="T5" fmla="*/ 302 h 650"/>
                    <a:gd name="T6" fmla="*/ 312 w 516"/>
                    <a:gd name="T7" fmla="*/ 506 h 650"/>
                    <a:gd name="T8" fmla="*/ 516 w 516"/>
                    <a:gd name="T9" fmla="*/ 650 h 6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16" h="650">
                      <a:moveTo>
                        <a:pt x="0" y="2"/>
                      </a:moveTo>
                      <a:cubicBezTo>
                        <a:pt x="40" y="1"/>
                        <a:pt x="80" y="0"/>
                        <a:pt x="120" y="50"/>
                      </a:cubicBezTo>
                      <a:cubicBezTo>
                        <a:pt x="160" y="100"/>
                        <a:pt x="208" y="226"/>
                        <a:pt x="240" y="302"/>
                      </a:cubicBezTo>
                      <a:cubicBezTo>
                        <a:pt x="272" y="378"/>
                        <a:pt x="266" y="448"/>
                        <a:pt x="312" y="506"/>
                      </a:cubicBezTo>
                      <a:cubicBezTo>
                        <a:pt x="358" y="564"/>
                        <a:pt x="437" y="607"/>
                        <a:pt x="516" y="650"/>
                      </a:cubicBezTo>
                    </a:path>
                  </a:pathLst>
                </a:custGeom>
                <a:noFill/>
                <a:ln w="9525" cmpd="sng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cxnSp>
            <p:nvCxnSpPr>
              <p:cNvPr id="3" name="直接连接符 2"/>
              <p:cNvCxnSpPr/>
              <p:nvPr/>
            </p:nvCxnSpPr>
            <p:spPr bwMode="auto">
              <a:xfrm>
                <a:off x="4805975" y="4614240"/>
                <a:ext cx="188595" cy="330200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lgDashDot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" name="直接连接符 1"/>
            <p:cNvCxnSpPr/>
            <p:nvPr/>
          </p:nvCxnSpPr>
          <p:spPr>
            <a:xfrm>
              <a:off x="7342" y="5684"/>
              <a:ext cx="425" cy="142"/>
            </a:xfrm>
            <a:prstGeom prst="line">
              <a:avLst/>
            </a:prstGeom>
            <a:noFill/>
            <a:ln w="9525" cap="flat" cmpd="sng" algn="ctr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" name="直接连接符 3"/>
            <p:cNvCxnSpPr/>
            <p:nvPr/>
          </p:nvCxnSpPr>
          <p:spPr>
            <a:xfrm flipH="1" flipV="1">
              <a:off x="5712" y="4763"/>
              <a:ext cx="315" cy="115"/>
            </a:xfrm>
            <a:prstGeom prst="line">
              <a:avLst/>
            </a:prstGeom>
            <a:noFill/>
            <a:ln w="9525" cap="flat" cmpd="sng" algn="ctr">
              <a:solidFill>
                <a:schemeClr val="accent4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7" grpId="0" autoUpdateAnimBg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57200"/>
            <a:ext cx="7772400" cy="5867400"/>
          </a:xfrm>
          <a:prstGeom prst="rect">
            <a:avLst/>
          </a:prstGeo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/>
              <a:t>  </a:t>
            </a:r>
            <a:endParaRPr lang="en-US"/>
          </a:p>
        </p:txBody>
      </p:sp>
      <p:grpSp>
        <p:nvGrpSpPr>
          <p:cNvPr id="288772" name="Group 4"/>
          <p:cNvGrpSpPr/>
          <p:nvPr/>
        </p:nvGrpSpPr>
        <p:grpSpPr bwMode="auto">
          <a:xfrm>
            <a:off x="1524000" y="533400"/>
            <a:ext cx="5943600" cy="5791200"/>
            <a:chOff x="0" y="0"/>
            <a:chExt cx="5784" cy="5940"/>
          </a:xfrm>
        </p:grpSpPr>
        <p:grpSp>
          <p:nvGrpSpPr>
            <p:cNvPr id="288773" name="Group 5"/>
            <p:cNvGrpSpPr/>
            <p:nvPr/>
          </p:nvGrpSpPr>
          <p:grpSpPr bwMode="auto">
            <a:xfrm>
              <a:off x="0" y="0"/>
              <a:ext cx="5784" cy="5940"/>
              <a:chOff x="0" y="0"/>
              <a:chExt cx="5784" cy="5940"/>
            </a:xfrm>
          </p:grpSpPr>
          <p:grpSp>
            <p:nvGrpSpPr>
              <p:cNvPr id="288774" name="Group 6"/>
              <p:cNvGrpSpPr/>
              <p:nvPr/>
            </p:nvGrpSpPr>
            <p:grpSpPr bwMode="auto">
              <a:xfrm>
                <a:off x="0" y="0"/>
                <a:ext cx="5784" cy="5940"/>
                <a:chOff x="0" y="0"/>
                <a:chExt cx="5784" cy="5940"/>
              </a:xfrm>
            </p:grpSpPr>
            <p:grpSp>
              <p:nvGrpSpPr>
                <p:cNvPr id="288775" name="Group 7"/>
                <p:cNvGrpSpPr/>
                <p:nvPr/>
              </p:nvGrpSpPr>
              <p:grpSpPr bwMode="auto">
                <a:xfrm>
                  <a:off x="0" y="0"/>
                  <a:ext cx="5784" cy="5892"/>
                  <a:chOff x="0" y="0"/>
                  <a:chExt cx="5784" cy="5892"/>
                </a:xfrm>
              </p:grpSpPr>
              <p:sp>
                <p:nvSpPr>
                  <p:cNvPr id="288776" name="Oval 8"/>
                  <p:cNvSpPr>
                    <a:spLocks noChangeArrowheads="1"/>
                  </p:cNvSpPr>
                  <p:nvPr/>
                </p:nvSpPr>
                <p:spPr bwMode="auto">
                  <a:xfrm>
                    <a:off x="5004" y="4812"/>
                    <a:ext cx="480" cy="67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mpd="sng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288777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864" y="0"/>
                    <a:ext cx="720" cy="1764"/>
                  </a:xfrm>
                  <a:prstGeom prst="line">
                    <a:avLst/>
                  </a:prstGeom>
                  <a:noFill/>
                  <a:ln w="9525" cmpd="sng">
                    <a:solidFill>
                      <a:srgbClr val="000000"/>
                    </a:solidFill>
                    <a:prstDash val="dashDot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8778" name="Oval 10"/>
                  <p:cNvSpPr>
                    <a:spLocks noChangeArrowheads="1"/>
                  </p:cNvSpPr>
                  <p:nvPr/>
                </p:nvSpPr>
                <p:spPr bwMode="auto">
                  <a:xfrm>
                    <a:off x="2280" y="1128"/>
                    <a:ext cx="804" cy="104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mpd="sng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288779" name="Oval 11"/>
                  <p:cNvSpPr>
                    <a:spLocks noChangeArrowheads="1"/>
                  </p:cNvSpPr>
                  <p:nvPr/>
                </p:nvSpPr>
                <p:spPr bwMode="auto">
                  <a:xfrm>
                    <a:off x="840" y="888"/>
                    <a:ext cx="1440" cy="172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mpd="sng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288780" name="Line 1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0" y="1476"/>
                    <a:ext cx="4560" cy="456"/>
                  </a:xfrm>
                  <a:prstGeom prst="line">
                    <a:avLst/>
                  </a:prstGeom>
                  <a:noFill/>
                  <a:ln w="9525" cmpd="sng">
                    <a:solidFill>
                      <a:srgbClr val="000000"/>
                    </a:solidFill>
                    <a:prstDash val="dashDot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8781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1584" y="408"/>
                    <a:ext cx="0" cy="2508"/>
                  </a:xfrm>
                  <a:prstGeom prst="line">
                    <a:avLst/>
                  </a:prstGeom>
                  <a:noFill/>
                  <a:ln w="9525" cmpd="sng">
                    <a:solidFill>
                      <a:srgbClr val="000000"/>
                    </a:solidFill>
                    <a:prstDash val="dashDot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8782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688" y="336"/>
                    <a:ext cx="0" cy="2508"/>
                  </a:xfrm>
                  <a:prstGeom prst="line">
                    <a:avLst/>
                  </a:prstGeom>
                  <a:noFill/>
                  <a:ln w="9525" cmpd="sng">
                    <a:solidFill>
                      <a:srgbClr val="000000"/>
                    </a:solidFill>
                    <a:prstDash val="dashDot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8783" name="Freeform 15"/>
                  <p:cNvSpPr/>
                  <p:nvPr/>
                </p:nvSpPr>
                <p:spPr bwMode="auto">
                  <a:xfrm>
                    <a:off x="676" y="780"/>
                    <a:ext cx="908" cy="1894"/>
                  </a:xfrm>
                  <a:custGeom>
                    <a:avLst/>
                    <a:gdLst>
                      <a:gd name="T0" fmla="*/ 908 w 908"/>
                      <a:gd name="T1" fmla="*/ 108 h 1894"/>
                      <a:gd name="T2" fmla="*/ 620 w 908"/>
                      <a:gd name="T3" fmla="*/ 36 h 1894"/>
                      <a:gd name="T4" fmla="*/ 236 w 908"/>
                      <a:gd name="T5" fmla="*/ 324 h 1894"/>
                      <a:gd name="T6" fmla="*/ 20 w 908"/>
                      <a:gd name="T7" fmla="*/ 828 h 1894"/>
                      <a:gd name="T8" fmla="*/ 116 w 908"/>
                      <a:gd name="T9" fmla="*/ 1428 h 1894"/>
                      <a:gd name="T10" fmla="*/ 512 w 908"/>
                      <a:gd name="T11" fmla="*/ 1824 h 1894"/>
                      <a:gd name="T12" fmla="*/ 908 w 908"/>
                      <a:gd name="T13" fmla="*/ 1848 h 18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908" h="1894">
                        <a:moveTo>
                          <a:pt x="908" y="108"/>
                        </a:moveTo>
                        <a:cubicBezTo>
                          <a:pt x="820" y="54"/>
                          <a:pt x="732" y="0"/>
                          <a:pt x="620" y="36"/>
                        </a:cubicBezTo>
                        <a:cubicBezTo>
                          <a:pt x="508" y="72"/>
                          <a:pt x="336" y="192"/>
                          <a:pt x="236" y="324"/>
                        </a:cubicBezTo>
                        <a:cubicBezTo>
                          <a:pt x="136" y="456"/>
                          <a:pt x="40" y="644"/>
                          <a:pt x="20" y="828"/>
                        </a:cubicBezTo>
                        <a:cubicBezTo>
                          <a:pt x="0" y="1012"/>
                          <a:pt x="34" y="1262"/>
                          <a:pt x="116" y="1428"/>
                        </a:cubicBezTo>
                        <a:cubicBezTo>
                          <a:pt x="198" y="1594"/>
                          <a:pt x="380" y="1754"/>
                          <a:pt x="512" y="1824"/>
                        </a:cubicBezTo>
                        <a:cubicBezTo>
                          <a:pt x="644" y="1894"/>
                          <a:pt x="776" y="1871"/>
                          <a:pt x="908" y="1848"/>
                        </a:cubicBezTo>
                      </a:path>
                    </a:pathLst>
                  </a:custGeom>
                  <a:noFill/>
                  <a:ln w="9525" cmpd="sng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8784" name="Freeform 16"/>
                  <p:cNvSpPr/>
                  <p:nvPr/>
                </p:nvSpPr>
                <p:spPr bwMode="auto">
                  <a:xfrm>
                    <a:off x="2220" y="1062"/>
                    <a:ext cx="468" cy="318"/>
                  </a:xfrm>
                  <a:custGeom>
                    <a:avLst/>
                    <a:gdLst>
                      <a:gd name="T0" fmla="*/ 468 w 468"/>
                      <a:gd name="T1" fmla="*/ 66 h 318"/>
                      <a:gd name="T2" fmla="*/ 192 w 468"/>
                      <a:gd name="T3" fmla="*/ 42 h 318"/>
                      <a:gd name="T4" fmla="*/ 0 w 468"/>
                      <a:gd name="T5" fmla="*/ 318 h 3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68" h="318">
                        <a:moveTo>
                          <a:pt x="468" y="66"/>
                        </a:moveTo>
                        <a:cubicBezTo>
                          <a:pt x="369" y="33"/>
                          <a:pt x="270" y="0"/>
                          <a:pt x="192" y="42"/>
                        </a:cubicBezTo>
                        <a:cubicBezTo>
                          <a:pt x="114" y="84"/>
                          <a:pt x="57" y="201"/>
                          <a:pt x="0" y="318"/>
                        </a:cubicBezTo>
                      </a:path>
                    </a:pathLst>
                  </a:custGeom>
                  <a:noFill/>
                  <a:ln w="9525" cmpd="sng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8785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1584" y="1764"/>
                    <a:ext cx="720" cy="1764"/>
                  </a:xfrm>
                  <a:prstGeom prst="line">
                    <a:avLst/>
                  </a:prstGeom>
                  <a:noFill/>
                  <a:ln w="9525" cmpd="sng">
                    <a:solidFill>
                      <a:srgbClr val="000000"/>
                    </a:solidFill>
                    <a:prstDash val="dashDot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8786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2688" y="1644"/>
                    <a:ext cx="720" cy="1764"/>
                  </a:xfrm>
                  <a:prstGeom prst="line">
                    <a:avLst/>
                  </a:prstGeom>
                  <a:noFill/>
                  <a:ln w="9525" cmpd="sng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8787" name="Oval 19"/>
                  <p:cNvSpPr>
                    <a:spLocks noChangeArrowheads="1"/>
                  </p:cNvSpPr>
                  <p:nvPr/>
                </p:nvSpPr>
                <p:spPr bwMode="auto">
                  <a:xfrm>
                    <a:off x="2676" y="2844"/>
                    <a:ext cx="1896" cy="2136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mpd="sng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288788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3636" y="2316"/>
                    <a:ext cx="0" cy="3072"/>
                  </a:xfrm>
                  <a:prstGeom prst="line">
                    <a:avLst/>
                  </a:prstGeom>
                  <a:noFill/>
                  <a:ln w="9525" cmpd="sng">
                    <a:solidFill>
                      <a:srgbClr val="000000"/>
                    </a:solidFill>
                    <a:prstDash val="dashDot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8789" name="Line 2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00" y="3756"/>
                    <a:ext cx="4560" cy="456"/>
                  </a:xfrm>
                  <a:prstGeom prst="line">
                    <a:avLst/>
                  </a:prstGeom>
                  <a:noFill/>
                  <a:ln w="9525" cmpd="sng">
                    <a:solidFill>
                      <a:srgbClr val="000000"/>
                    </a:solidFill>
                    <a:prstDash val="dashDot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8790" name="Freeform 22"/>
                  <p:cNvSpPr/>
                  <p:nvPr/>
                </p:nvSpPr>
                <p:spPr bwMode="auto">
                  <a:xfrm>
                    <a:off x="1956" y="4788"/>
                    <a:ext cx="3408" cy="1104"/>
                  </a:xfrm>
                  <a:custGeom>
                    <a:avLst/>
                    <a:gdLst>
                      <a:gd name="T0" fmla="*/ 0 w 3408"/>
                      <a:gd name="T1" fmla="*/ 384 h 1104"/>
                      <a:gd name="T2" fmla="*/ 3312 w 3408"/>
                      <a:gd name="T3" fmla="*/ 0 h 1104"/>
                      <a:gd name="T4" fmla="*/ 3408 w 3408"/>
                      <a:gd name="T5" fmla="*/ 720 h 1104"/>
                      <a:gd name="T6" fmla="*/ 24 w 3408"/>
                      <a:gd name="T7" fmla="*/ 1104 h 1104"/>
                      <a:gd name="T8" fmla="*/ 0 w 3408"/>
                      <a:gd name="T9" fmla="*/ 384 h 110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408" h="1104">
                        <a:moveTo>
                          <a:pt x="0" y="384"/>
                        </a:moveTo>
                        <a:lnTo>
                          <a:pt x="3312" y="0"/>
                        </a:lnTo>
                        <a:lnTo>
                          <a:pt x="3408" y="720"/>
                        </a:lnTo>
                        <a:lnTo>
                          <a:pt x="24" y="1104"/>
                        </a:lnTo>
                        <a:lnTo>
                          <a:pt x="0" y="38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mpd="sng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8791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1716" y="5196"/>
                    <a:ext cx="480" cy="67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mpd="sng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288792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1956" y="5172"/>
                    <a:ext cx="0" cy="720"/>
                  </a:xfrm>
                  <a:prstGeom prst="line">
                    <a:avLst/>
                  </a:prstGeom>
                  <a:noFill/>
                  <a:ln w="9525" cmpd="sng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8793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5292" y="4812"/>
                    <a:ext cx="72" cy="696"/>
                  </a:xfrm>
                  <a:prstGeom prst="line">
                    <a:avLst/>
                  </a:prstGeom>
                  <a:noFill/>
                  <a:ln w="28575" cmpd="sng">
                    <a:solidFill>
                      <a:srgbClr val="FFFFFF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8794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224" y="5124"/>
                    <a:ext cx="4560" cy="456"/>
                  </a:xfrm>
                  <a:prstGeom prst="line">
                    <a:avLst/>
                  </a:prstGeom>
                  <a:noFill/>
                  <a:ln w="9525" cmpd="sng">
                    <a:solidFill>
                      <a:srgbClr val="000000"/>
                    </a:solidFill>
                    <a:prstDash val="dashDot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88795" name="Freeform 27"/>
                <p:cNvSpPr/>
                <p:nvPr/>
              </p:nvSpPr>
              <p:spPr bwMode="auto">
                <a:xfrm>
                  <a:off x="2492" y="2728"/>
                  <a:ext cx="1144" cy="2252"/>
                </a:xfrm>
                <a:custGeom>
                  <a:avLst/>
                  <a:gdLst>
                    <a:gd name="T0" fmla="*/ 1144 w 1144"/>
                    <a:gd name="T1" fmla="*/ 116 h 2252"/>
                    <a:gd name="T2" fmla="*/ 880 w 1144"/>
                    <a:gd name="T3" fmla="*/ 20 h 2252"/>
                    <a:gd name="T4" fmla="*/ 424 w 1144"/>
                    <a:gd name="T5" fmla="*/ 236 h 2252"/>
                    <a:gd name="T6" fmla="*/ 64 w 1144"/>
                    <a:gd name="T7" fmla="*/ 788 h 2252"/>
                    <a:gd name="T8" fmla="*/ 40 w 1144"/>
                    <a:gd name="T9" fmla="*/ 1508 h 2252"/>
                    <a:gd name="T10" fmla="*/ 280 w 1144"/>
                    <a:gd name="T11" fmla="*/ 1964 h 2252"/>
                    <a:gd name="T12" fmla="*/ 592 w 1144"/>
                    <a:gd name="T13" fmla="*/ 2204 h 2252"/>
                    <a:gd name="T14" fmla="*/ 1048 w 1144"/>
                    <a:gd name="T15" fmla="*/ 2252 h 22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144" h="2252">
                      <a:moveTo>
                        <a:pt x="1144" y="116"/>
                      </a:moveTo>
                      <a:cubicBezTo>
                        <a:pt x="1072" y="58"/>
                        <a:pt x="1000" y="0"/>
                        <a:pt x="880" y="20"/>
                      </a:cubicBezTo>
                      <a:cubicBezTo>
                        <a:pt x="760" y="40"/>
                        <a:pt x="560" y="108"/>
                        <a:pt x="424" y="236"/>
                      </a:cubicBezTo>
                      <a:cubicBezTo>
                        <a:pt x="288" y="364"/>
                        <a:pt x="128" y="576"/>
                        <a:pt x="64" y="788"/>
                      </a:cubicBezTo>
                      <a:cubicBezTo>
                        <a:pt x="0" y="1000"/>
                        <a:pt x="4" y="1312"/>
                        <a:pt x="40" y="1508"/>
                      </a:cubicBezTo>
                      <a:cubicBezTo>
                        <a:pt x="76" y="1704"/>
                        <a:pt x="188" y="1848"/>
                        <a:pt x="280" y="1964"/>
                      </a:cubicBezTo>
                      <a:cubicBezTo>
                        <a:pt x="372" y="2080"/>
                        <a:pt x="464" y="2156"/>
                        <a:pt x="592" y="2204"/>
                      </a:cubicBezTo>
                      <a:cubicBezTo>
                        <a:pt x="720" y="2252"/>
                        <a:pt x="884" y="2252"/>
                        <a:pt x="1048" y="2252"/>
                      </a:cubicBezTo>
                    </a:path>
                  </a:pathLst>
                </a:custGeom>
                <a:noFill/>
                <a:ln w="9525" cmpd="sng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8796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3036" y="4236"/>
                  <a:ext cx="456" cy="4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sz="2000"/>
                    <a:t>2</a:t>
                  </a:r>
                  <a:endParaRPr lang="en-US" sz="2000"/>
                </a:p>
              </p:txBody>
            </p:sp>
            <p:sp>
              <p:nvSpPr>
                <p:cNvPr id="288797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183" y="5423"/>
                  <a:ext cx="456" cy="4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sz="2000"/>
                    <a:t>1</a:t>
                  </a:r>
                  <a:endParaRPr lang="en-US" sz="2000"/>
                </a:p>
              </p:txBody>
            </p:sp>
            <p:sp>
              <p:nvSpPr>
                <p:cNvPr id="288798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2663" y="1175"/>
                  <a:ext cx="456" cy="4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sz="2000"/>
                    <a:t>3</a:t>
                  </a:r>
                  <a:endParaRPr lang="en-US" sz="2000"/>
                </a:p>
              </p:txBody>
            </p:sp>
            <p:sp>
              <p:nvSpPr>
                <p:cNvPr id="288799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1631" y="1151"/>
                  <a:ext cx="456" cy="4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sz="2000"/>
                    <a:t>4</a:t>
                  </a:r>
                  <a:endParaRPr lang="en-US" sz="2000"/>
                </a:p>
              </p:txBody>
            </p:sp>
            <p:sp>
              <p:nvSpPr>
                <p:cNvPr id="288800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788" y="3108"/>
                  <a:ext cx="576" cy="5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sz="2000"/>
                    <a:t>Ⅲ</a:t>
                  </a:r>
                  <a:endParaRPr lang="en-US" sz="2000"/>
                </a:p>
              </p:txBody>
            </p:sp>
            <p:sp>
              <p:nvSpPr>
                <p:cNvPr id="288801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892" y="2124"/>
                  <a:ext cx="576" cy="5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sz="2000"/>
                    <a:t>Ⅱ</a:t>
                  </a:r>
                  <a:endParaRPr lang="en-US" sz="2000"/>
                </a:p>
              </p:txBody>
            </p:sp>
            <p:sp>
              <p:nvSpPr>
                <p:cNvPr id="288802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828" y="5364"/>
                  <a:ext cx="576" cy="5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sz="2000"/>
                    <a:t>Ⅰ</a:t>
                  </a:r>
                  <a:endParaRPr lang="en-US" sz="2000"/>
                </a:p>
              </p:txBody>
            </p:sp>
          </p:grpSp>
          <p:sp>
            <p:nvSpPr>
              <p:cNvPr id="288803" name="AutoShape 35"/>
              <p:cNvSpPr>
                <a:spLocks noChangeArrowheads="1"/>
              </p:cNvSpPr>
              <p:nvPr/>
            </p:nvSpPr>
            <p:spPr bwMode="auto">
              <a:xfrm>
                <a:off x="1776" y="5532"/>
                <a:ext cx="372" cy="240"/>
              </a:xfrm>
              <a:prstGeom prst="curvedUpArrow">
                <a:avLst>
                  <a:gd name="adj1" fmla="val 31000"/>
                  <a:gd name="adj2" fmla="val 62000"/>
                  <a:gd name="adj3" fmla="val 33333"/>
                </a:avLst>
              </a:prstGeom>
              <a:solidFill>
                <a:srgbClr val="FF0000"/>
              </a:solidFill>
              <a:ln w="9525" cmpd="sng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88804" name="Freeform 36"/>
              <p:cNvSpPr/>
              <p:nvPr/>
            </p:nvSpPr>
            <p:spPr bwMode="auto">
              <a:xfrm>
                <a:off x="2520" y="5122"/>
                <a:ext cx="1248" cy="578"/>
              </a:xfrm>
              <a:custGeom>
                <a:avLst/>
                <a:gdLst>
                  <a:gd name="T0" fmla="*/ 0 w 516"/>
                  <a:gd name="T1" fmla="*/ 2 h 650"/>
                  <a:gd name="T2" fmla="*/ 120 w 516"/>
                  <a:gd name="T3" fmla="*/ 50 h 650"/>
                  <a:gd name="T4" fmla="*/ 240 w 516"/>
                  <a:gd name="T5" fmla="*/ 302 h 650"/>
                  <a:gd name="T6" fmla="*/ 312 w 516"/>
                  <a:gd name="T7" fmla="*/ 506 h 650"/>
                  <a:gd name="T8" fmla="*/ 516 w 516"/>
                  <a:gd name="T9" fmla="*/ 650 h 6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6" h="650">
                    <a:moveTo>
                      <a:pt x="0" y="2"/>
                    </a:moveTo>
                    <a:cubicBezTo>
                      <a:pt x="40" y="1"/>
                      <a:pt x="80" y="0"/>
                      <a:pt x="120" y="50"/>
                    </a:cubicBezTo>
                    <a:cubicBezTo>
                      <a:pt x="160" y="100"/>
                      <a:pt x="208" y="226"/>
                      <a:pt x="240" y="302"/>
                    </a:cubicBezTo>
                    <a:cubicBezTo>
                      <a:pt x="272" y="378"/>
                      <a:pt x="266" y="448"/>
                      <a:pt x="312" y="506"/>
                    </a:cubicBezTo>
                    <a:cubicBezTo>
                      <a:pt x="358" y="564"/>
                      <a:pt x="437" y="607"/>
                      <a:pt x="516" y="650"/>
                    </a:cubicBezTo>
                  </a:path>
                </a:pathLst>
              </a:custGeom>
              <a:noFill/>
              <a:ln w="9525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805" name="Freeform 37"/>
              <p:cNvSpPr/>
              <p:nvPr/>
            </p:nvSpPr>
            <p:spPr bwMode="auto">
              <a:xfrm>
                <a:off x="2640" y="5098"/>
                <a:ext cx="1248" cy="578"/>
              </a:xfrm>
              <a:custGeom>
                <a:avLst/>
                <a:gdLst>
                  <a:gd name="T0" fmla="*/ 0 w 516"/>
                  <a:gd name="T1" fmla="*/ 2 h 650"/>
                  <a:gd name="T2" fmla="*/ 120 w 516"/>
                  <a:gd name="T3" fmla="*/ 50 h 650"/>
                  <a:gd name="T4" fmla="*/ 240 w 516"/>
                  <a:gd name="T5" fmla="*/ 302 h 650"/>
                  <a:gd name="T6" fmla="*/ 312 w 516"/>
                  <a:gd name="T7" fmla="*/ 506 h 650"/>
                  <a:gd name="T8" fmla="*/ 516 w 516"/>
                  <a:gd name="T9" fmla="*/ 650 h 6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6" h="650">
                    <a:moveTo>
                      <a:pt x="0" y="2"/>
                    </a:moveTo>
                    <a:cubicBezTo>
                      <a:pt x="40" y="1"/>
                      <a:pt x="80" y="0"/>
                      <a:pt x="120" y="50"/>
                    </a:cubicBezTo>
                    <a:cubicBezTo>
                      <a:pt x="160" y="100"/>
                      <a:pt x="208" y="226"/>
                      <a:pt x="240" y="302"/>
                    </a:cubicBezTo>
                    <a:cubicBezTo>
                      <a:pt x="272" y="378"/>
                      <a:pt x="266" y="448"/>
                      <a:pt x="312" y="506"/>
                    </a:cubicBezTo>
                    <a:cubicBezTo>
                      <a:pt x="358" y="564"/>
                      <a:pt x="437" y="607"/>
                      <a:pt x="516" y="650"/>
                    </a:cubicBezTo>
                  </a:path>
                </a:pathLst>
              </a:custGeom>
              <a:noFill/>
              <a:ln w="9525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8806" name="Group 38"/>
            <p:cNvGrpSpPr/>
            <p:nvPr/>
          </p:nvGrpSpPr>
          <p:grpSpPr bwMode="auto">
            <a:xfrm>
              <a:off x="3588" y="5016"/>
              <a:ext cx="108" cy="108"/>
              <a:chOff x="0" y="0"/>
              <a:chExt cx="108" cy="108"/>
            </a:xfrm>
          </p:grpSpPr>
          <p:sp>
            <p:nvSpPr>
              <p:cNvPr id="288807" name="Oval 3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08" cy="108"/>
              </a:xfrm>
              <a:prstGeom prst="ellipse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88808" name="Oval 40"/>
              <p:cNvSpPr>
                <a:spLocks noChangeArrowheads="1"/>
              </p:cNvSpPr>
              <p:nvPr/>
            </p:nvSpPr>
            <p:spPr bwMode="auto">
              <a:xfrm>
                <a:off x="36" y="48"/>
                <a:ext cx="36" cy="19"/>
              </a:xfrm>
              <a:prstGeom prst="ellipse">
                <a:avLst/>
              </a:prstGeom>
              <a:solidFill>
                <a:srgbClr val="000000"/>
              </a:solidFill>
              <a:ln w="9525" cmpd="sng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88809" name="Line 41"/>
            <p:cNvSpPr>
              <a:spLocks noChangeShapeType="1"/>
            </p:cNvSpPr>
            <p:nvPr/>
          </p:nvSpPr>
          <p:spPr bwMode="auto">
            <a:xfrm flipH="1">
              <a:off x="3276" y="5076"/>
              <a:ext cx="312" cy="48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tailEnd type="stealth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8810" name="Group 42"/>
            <p:cNvGrpSpPr/>
            <p:nvPr/>
          </p:nvGrpSpPr>
          <p:grpSpPr bwMode="auto">
            <a:xfrm>
              <a:off x="3588" y="4812"/>
              <a:ext cx="108" cy="108"/>
              <a:chOff x="0" y="0"/>
              <a:chExt cx="108" cy="108"/>
            </a:xfrm>
          </p:grpSpPr>
          <p:sp>
            <p:nvSpPr>
              <p:cNvPr id="288811" name="Oval 4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08" cy="108"/>
              </a:xfrm>
              <a:prstGeom prst="ellipse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88812" name="Line 44"/>
              <p:cNvSpPr>
                <a:spLocks noChangeShapeType="1"/>
              </p:cNvSpPr>
              <p:nvPr/>
            </p:nvSpPr>
            <p:spPr bwMode="auto">
              <a:xfrm>
                <a:off x="12" y="12"/>
                <a:ext cx="72" cy="84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813" name="Line 45"/>
              <p:cNvSpPr>
                <a:spLocks noChangeShapeType="1"/>
              </p:cNvSpPr>
              <p:nvPr/>
            </p:nvSpPr>
            <p:spPr bwMode="auto">
              <a:xfrm flipH="1">
                <a:off x="12" y="24"/>
                <a:ext cx="72" cy="84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8814" name="Line 46"/>
            <p:cNvSpPr>
              <a:spLocks noChangeShapeType="1"/>
            </p:cNvSpPr>
            <p:nvPr/>
          </p:nvSpPr>
          <p:spPr bwMode="auto">
            <a:xfrm rot="16200000" flipH="1">
              <a:off x="3540" y="5232"/>
              <a:ext cx="21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tailEnd type="stealth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8815" name="Group 47"/>
            <p:cNvGrpSpPr/>
            <p:nvPr/>
          </p:nvGrpSpPr>
          <p:grpSpPr bwMode="auto">
            <a:xfrm>
              <a:off x="2136" y="1668"/>
              <a:ext cx="108" cy="108"/>
              <a:chOff x="0" y="0"/>
              <a:chExt cx="108" cy="108"/>
            </a:xfrm>
          </p:grpSpPr>
          <p:sp>
            <p:nvSpPr>
              <p:cNvPr id="288816" name="Oval 4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08" cy="108"/>
              </a:xfrm>
              <a:prstGeom prst="ellipse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88817" name="Line 49"/>
              <p:cNvSpPr>
                <a:spLocks noChangeShapeType="1"/>
              </p:cNvSpPr>
              <p:nvPr/>
            </p:nvSpPr>
            <p:spPr bwMode="auto">
              <a:xfrm>
                <a:off x="12" y="12"/>
                <a:ext cx="72" cy="84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818" name="Line 50"/>
              <p:cNvSpPr>
                <a:spLocks noChangeShapeType="1"/>
              </p:cNvSpPr>
              <p:nvPr/>
            </p:nvSpPr>
            <p:spPr bwMode="auto">
              <a:xfrm flipH="1">
                <a:off x="12" y="24"/>
                <a:ext cx="72" cy="84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8819" name="Group 51"/>
            <p:cNvGrpSpPr/>
            <p:nvPr/>
          </p:nvGrpSpPr>
          <p:grpSpPr bwMode="auto">
            <a:xfrm>
              <a:off x="2316" y="1632"/>
              <a:ext cx="108" cy="108"/>
              <a:chOff x="0" y="0"/>
              <a:chExt cx="108" cy="108"/>
            </a:xfrm>
          </p:grpSpPr>
          <p:sp>
            <p:nvSpPr>
              <p:cNvPr id="288820" name="Oval 5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08" cy="108"/>
              </a:xfrm>
              <a:prstGeom prst="ellipse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88821" name="Oval 53"/>
              <p:cNvSpPr>
                <a:spLocks noChangeArrowheads="1"/>
              </p:cNvSpPr>
              <p:nvPr/>
            </p:nvSpPr>
            <p:spPr bwMode="auto">
              <a:xfrm>
                <a:off x="36" y="48"/>
                <a:ext cx="36" cy="19"/>
              </a:xfrm>
              <a:prstGeom prst="ellipse">
                <a:avLst/>
              </a:prstGeom>
              <a:solidFill>
                <a:srgbClr val="000000"/>
              </a:solidFill>
              <a:ln w="9525" cmpd="sng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88822" name="Line 54"/>
            <p:cNvSpPr>
              <a:spLocks noChangeShapeType="1"/>
            </p:cNvSpPr>
            <p:nvPr/>
          </p:nvSpPr>
          <p:spPr bwMode="auto">
            <a:xfrm flipH="1">
              <a:off x="1884" y="1716"/>
              <a:ext cx="252" cy="36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tailEnd type="stealth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823" name="Line 55"/>
            <p:cNvSpPr>
              <a:spLocks noChangeShapeType="1"/>
            </p:cNvSpPr>
            <p:nvPr/>
          </p:nvSpPr>
          <p:spPr bwMode="auto">
            <a:xfrm rot="16200000" flipH="1">
              <a:off x="2088" y="1884"/>
              <a:ext cx="21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tailEnd type="stealth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824" name="Line 56"/>
            <p:cNvSpPr>
              <a:spLocks noChangeShapeType="1"/>
            </p:cNvSpPr>
            <p:nvPr/>
          </p:nvSpPr>
          <p:spPr bwMode="auto">
            <a:xfrm rot="5400000" flipH="1" flipV="1">
              <a:off x="2268" y="1512"/>
              <a:ext cx="21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tailEnd type="stealth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825" name="Line 57"/>
            <p:cNvSpPr>
              <a:spLocks noChangeShapeType="1"/>
            </p:cNvSpPr>
            <p:nvPr/>
          </p:nvSpPr>
          <p:spPr bwMode="auto">
            <a:xfrm flipV="1">
              <a:off x="2436" y="1668"/>
              <a:ext cx="228" cy="12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tailEnd type="stealth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826" name="AutoShape 58"/>
            <p:cNvSpPr/>
            <p:nvPr/>
          </p:nvSpPr>
          <p:spPr bwMode="auto">
            <a:xfrm flipH="1">
              <a:off x="3240" y="3060"/>
              <a:ext cx="768" cy="492"/>
            </a:xfrm>
            <a:custGeom>
              <a:avLst/>
              <a:gdLst>
                <a:gd name="T0" fmla="*/ 16200 w 21600"/>
                <a:gd name="T1" fmla="*/ 10800 h 21600"/>
                <a:gd name="T2" fmla="*/ 10800 w 21600"/>
                <a:gd name="T3" fmla="*/ 5400 h 21600"/>
                <a:gd name="T4" fmla="*/ 5400 w 21600"/>
                <a:gd name="T5" fmla="*/ 10800 h 21600"/>
                <a:gd name="T6" fmla="*/ 0 w 21600"/>
                <a:gd name="T7" fmla="*/ 10800 h 21600"/>
                <a:gd name="T8" fmla="*/ 10800 w 21600"/>
                <a:gd name="T9" fmla="*/ 0 h 21600"/>
                <a:gd name="T10" fmla="*/ 21600 w 21600"/>
                <a:gd name="T11" fmla="*/ 10799 h 21600"/>
                <a:gd name="T12" fmla="*/ 21600 w 21600"/>
                <a:gd name="T13" fmla="*/ 10800 h 21600"/>
                <a:gd name="T14" fmla="*/ 24300 w 21600"/>
                <a:gd name="T15" fmla="*/ 10800 h 21600"/>
                <a:gd name="T16" fmla="*/ 18900 w 21600"/>
                <a:gd name="T17" fmla="*/ 16200 h 21600"/>
                <a:gd name="T18" fmla="*/ 13500 w 21600"/>
                <a:gd name="T19" fmla="*/ 10800 h 21600"/>
                <a:gd name="T20" fmla="*/ 16200 w 21600"/>
                <a:gd name="T21" fmla="*/ 10800 h 21600"/>
                <a:gd name="T22" fmla="*/ 3150 w 21600"/>
                <a:gd name="T23" fmla="*/ 3161 h 21600"/>
                <a:gd name="T24" fmla="*/ 18450 w 21600"/>
                <a:gd name="T25" fmla="*/ 18439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T22" t="T23" r="T24" b="T25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FF00FF"/>
            </a:solidFill>
            <a:ln w="9525" cmpd="sng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827" name="Text Box 59"/>
            <p:cNvSpPr txBox="1">
              <a:spLocks noChangeArrowheads="1"/>
            </p:cNvSpPr>
            <p:nvPr/>
          </p:nvSpPr>
          <p:spPr bwMode="auto">
            <a:xfrm>
              <a:off x="2916" y="4872"/>
              <a:ext cx="528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sz="2000"/>
                <a:t>F</a:t>
              </a:r>
              <a:r>
                <a:rPr lang="en-US" sz="2000" baseline="-25000"/>
                <a:t>t1</a:t>
              </a:r>
              <a:endParaRPr lang="en-US" sz="2000"/>
            </a:p>
          </p:txBody>
        </p:sp>
        <p:sp>
          <p:nvSpPr>
            <p:cNvPr id="288828" name="Text Box 60"/>
            <p:cNvSpPr txBox="1">
              <a:spLocks noChangeArrowheads="1"/>
            </p:cNvSpPr>
            <p:nvPr/>
          </p:nvSpPr>
          <p:spPr bwMode="auto">
            <a:xfrm>
              <a:off x="3192" y="4584"/>
              <a:ext cx="564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sz="2000"/>
                <a:t>F</a:t>
              </a:r>
              <a:r>
                <a:rPr lang="en-US" sz="2000" baseline="-25000"/>
                <a:t>a2</a:t>
              </a:r>
              <a:endParaRPr lang="en-US" sz="2000"/>
            </a:p>
          </p:txBody>
        </p:sp>
        <p:sp>
          <p:nvSpPr>
            <p:cNvPr id="288829" name="Text Box 61"/>
            <p:cNvSpPr txBox="1">
              <a:spLocks noChangeArrowheads="1"/>
            </p:cNvSpPr>
            <p:nvPr/>
          </p:nvSpPr>
          <p:spPr bwMode="auto">
            <a:xfrm>
              <a:off x="3888" y="4548"/>
              <a:ext cx="528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sz="2000"/>
                <a:t>F</a:t>
              </a:r>
              <a:r>
                <a:rPr lang="en-US" sz="2000" baseline="-25000"/>
                <a:t>t2</a:t>
              </a:r>
              <a:endParaRPr lang="en-US" sz="2000"/>
            </a:p>
          </p:txBody>
        </p:sp>
        <p:sp>
          <p:nvSpPr>
            <p:cNvPr id="288830" name="Text Box 62"/>
            <p:cNvSpPr txBox="1">
              <a:spLocks noChangeArrowheads="1"/>
            </p:cNvSpPr>
            <p:nvPr/>
          </p:nvSpPr>
          <p:spPr bwMode="auto">
            <a:xfrm>
              <a:off x="3576" y="4824"/>
              <a:ext cx="564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sz="2000"/>
                <a:t>F</a:t>
              </a:r>
              <a:r>
                <a:rPr lang="en-US" sz="2000" baseline="-25000"/>
                <a:t>a1</a:t>
              </a:r>
              <a:endParaRPr lang="en-US" sz="2000"/>
            </a:p>
          </p:txBody>
        </p:sp>
        <p:sp>
          <p:nvSpPr>
            <p:cNvPr id="288831" name="Text Box 63"/>
            <p:cNvSpPr txBox="1">
              <a:spLocks noChangeArrowheads="1"/>
            </p:cNvSpPr>
            <p:nvPr/>
          </p:nvSpPr>
          <p:spPr bwMode="auto">
            <a:xfrm>
              <a:off x="3408" y="5184"/>
              <a:ext cx="528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sz="2000"/>
                <a:t>F</a:t>
              </a:r>
              <a:r>
                <a:rPr lang="en-US" sz="2000" baseline="-25000"/>
                <a:t>r1</a:t>
              </a:r>
              <a:endParaRPr lang="en-US" sz="2000"/>
            </a:p>
          </p:txBody>
        </p:sp>
        <p:sp>
          <p:nvSpPr>
            <p:cNvPr id="288832" name="Text Box 64"/>
            <p:cNvSpPr txBox="1">
              <a:spLocks noChangeArrowheads="1"/>
            </p:cNvSpPr>
            <p:nvPr/>
          </p:nvSpPr>
          <p:spPr bwMode="auto">
            <a:xfrm>
              <a:off x="3384" y="4176"/>
              <a:ext cx="528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sz="2000"/>
                <a:t>F</a:t>
              </a:r>
              <a:r>
                <a:rPr lang="en-US" sz="2000" baseline="-25000"/>
                <a:t>r2</a:t>
              </a:r>
              <a:endParaRPr lang="en-US" sz="2000"/>
            </a:p>
          </p:txBody>
        </p:sp>
        <p:sp>
          <p:nvSpPr>
            <p:cNvPr id="288833" name="Text Box 65"/>
            <p:cNvSpPr txBox="1">
              <a:spLocks noChangeArrowheads="1"/>
            </p:cNvSpPr>
            <p:nvPr/>
          </p:nvSpPr>
          <p:spPr bwMode="auto">
            <a:xfrm>
              <a:off x="1620" y="1608"/>
              <a:ext cx="528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sz="2000"/>
                <a:t>F</a:t>
              </a:r>
              <a:r>
                <a:rPr lang="en-US" sz="2000" baseline="-25000"/>
                <a:t>r4</a:t>
              </a:r>
              <a:endParaRPr lang="en-US" sz="2000"/>
            </a:p>
          </p:txBody>
        </p:sp>
        <p:sp>
          <p:nvSpPr>
            <p:cNvPr id="288834" name="Text Box 66"/>
            <p:cNvSpPr txBox="1">
              <a:spLocks noChangeArrowheads="1"/>
            </p:cNvSpPr>
            <p:nvPr/>
          </p:nvSpPr>
          <p:spPr bwMode="auto">
            <a:xfrm>
              <a:off x="2076" y="1056"/>
              <a:ext cx="528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sz="2000"/>
                <a:t>F</a:t>
              </a:r>
              <a:r>
                <a:rPr lang="en-US" sz="2000" baseline="-25000"/>
                <a:t>t3</a:t>
              </a:r>
              <a:endParaRPr lang="en-US" sz="2000"/>
            </a:p>
          </p:txBody>
        </p:sp>
        <p:sp>
          <p:nvSpPr>
            <p:cNvPr id="288835" name="Text Box 67"/>
            <p:cNvSpPr txBox="1">
              <a:spLocks noChangeArrowheads="1"/>
            </p:cNvSpPr>
            <p:nvPr/>
          </p:nvSpPr>
          <p:spPr bwMode="auto">
            <a:xfrm>
              <a:off x="1920" y="1824"/>
              <a:ext cx="528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sz="2000"/>
                <a:t>F</a:t>
              </a:r>
              <a:r>
                <a:rPr lang="en-US" sz="2000" baseline="-25000"/>
                <a:t>t4</a:t>
              </a:r>
              <a:endParaRPr lang="en-US" sz="2000"/>
            </a:p>
          </p:txBody>
        </p:sp>
        <p:sp>
          <p:nvSpPr>
            <p:cNvPr id="288836" name="Text Box 68"/>
            <p:cNvSpPr txBox="1">
              <a:spLocks noChangeArrowheads="1"/>
            </p:cNvSpPr>
            <p:nvPr/>
          </p:nvSpPr>
          <p:spPr bwMode="auto">
            <a:xfrm>
              <a:off x="1872" y="1284"/>
              <a:ext cx="564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sz="2000"/>
                <a:t>F</a:t>
              </a:r>
              <a:r>
                <a:rPr lang="en-US" sz="2000" baseline="-25000"/>
                <a:t>a4</a:t>
              </a:r>
              <a:endParaRPr lang="en-US" sz="2000"/>
            </a:p>
          </p:txBody>
        </p:sp>
        <p:sp>
          <p:nvSpPr>
            <p:cNvPr id="288837" name="Text Box 69"/>
            <p:cNvSpPr txBox="1">
              <a:spLocks noChangeArrowheads="1"/>
            </p:cNvSpPr>
            <p:nvPr/>
          </p:nvSpPr>
          <p:spPr bwMode="auto">
            <a:xfrm>
              <a:off x="2196" y="1584"/>
              <a:ext cx="564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sz="2000"/>
                <a:t>F</a:t>
              </a:r>
              <a:r>
                <a:rPr lang="en-US" sz="2000" baseline="-25000"/>
                <a:t>a3</a:t>
              </a:r>
              <a:endParaRPr lang="en-US" sz="2000"/>
            </a:p>
          </p:txBody>
        </p:sp>
        <p:sp>
          <p:nvSpPr>
            <p:cNvPr id="288838" name="Text Box 70"/>
            <p:cNvSpPr txBox="1">
              <a:spLocks noChangeArrowheads="1"/>
            </p:cNvSpPr>
            <p:nvPr/>
          </p:nvSpPr>
          <p:spPr bwMode="auto">
            <a:xfrm>
              <a:off x="2544" y="1368"/>
              <a:ext cx="528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sz="2000"/>
                <a:t>F</a:t>
              </a:r>
              <a:r>
                <a:rPr lang="en-US" sz="2000" baseline="-25000"/>
                <a:t>r3</a:t>
              </a:r>
              <a:endParaRPr lang="en-US" sz="2000"/>
            </a:p>
          </p:txBody>
        </p:sp>
        <p:sp>
          <p:nvSpPr>
            <p:cNvPr id="288839" name="Line 71"/>
            <p:cNvSpPr>
              <a:spLocks noChangeShapeType="1"/>
            </p:cNvSpPr>
            <p:nvPr/>
          </p:nvSpPr>
          <p:spPr bwMode="auto">
            <a:xfrm flipV="1">
              <a:off x="3708" y="4812"/>
              <a:ext cx="312" cy="48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tailEnd type="stealth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840" name="Line 72"/>
            <p:cNvSpPr>
              <a:spLocks noChangeShapeType="1"/>
            </p:cNvSpPr>
            <p:nvPr/>
          </p:nvSpPr>
          <p:spPr bwMode="auto">
            <a:xfrm rot="5400000" flipH="1" flipV="1">
              <a:off x="3528" y="4704"/>
              <a:ext cx="21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tailEnd type="stealth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841" name="AutoShape 73"/>
            <p:cNvSpPr/>
            <p:nvPr/>
          </p:nvSpPr>
          <p:spPr bwMode="auto">
            <a:xfrm flipH="1">
              <a:off x="2508" y="1212"/>
              <a:ext cx="360" cy="228"/>
            </a:xfrm>
            <a:custGeom>
              <a:avLst/>
              <a:gdLst>
                <a:gd name="T0" fmla="*/ 16200 w 21600"/>
                <a:gd name="T1" fmla="*/ 10800 h 21600"/>
                <a:gd name="T2" fmla="*/ 10800 w 21600"/>
                <a:gd name="T3" fmla="*/ 5400 h 21600"/>
                <a:gd name="T4" fmla="*/ 5400 w 21600"/>
                <a:gd name="T5" fmla="*/ 10800 h 21600"/>
                <a:gd name="T6" fmla="*/ 0 w 21600"/>
                <a:gd name="T7" fmla="*/ 10800 h 21600"/>
                <a:gd name="T8" fmla="*/ 10800 w 21600"/>
                <a:gd name="T9" fmla="*/ 0 h 21600"/>
                <a:gd name="T10" fmla="*/ 21600 w 21600"/>
                <a:gd name="T11" fmla="*/ 10799 h 21600"/>
                <a:gd name="T12" fmla="*/ 21600 w 21600"/>
                <a:gd name="T13" fmla="*/ 10800 h 21600"/>
                <a:gd name="T14" fmla="*/ 24300 w 21600"/>
                <a:gd name="T15" fmla="*/ 10800 h 21600"/>
                <a:gd name="T16" fmla="*/ 18900 w 21600"/>
                <a:gd name="T17" fmla="*/ 16200 h 21600"/>
                <a:gd name="T18" fmla="*/ 13500 w 21600"/>
                <a:gd name="T19" fmla="*/ 10800 h 21600"/>
                <a:gd name="T20" fmla="*/ 16200 w 21600"/>
                <a:gd name="T21" fmla="*/ 10800 h 21600"/>
                <a:gd name="T22" fmla="*/ 3180 w 21600"/>
                <a:gd name="T23" fmla="*/ 3126 h 21600"/>
                <a:gd name="T24" fmla="*/ 18420 w 21600"/>
                <a:gd name="T25" fmla="*/ 1847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T22" t="T23" r="T24" b="T25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FFFF00"/>
            </a:solidFill>
            <a:ln w="9525" cmpd="sng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842" name="AutoShape 74"/>
            <p:cNvSpPr/>
            <p:nvPr/>
          </p:nvSpPr>
          <p:spPr bwMode="auto">
            <a:xfrm>
              <a:off x="1284" y="1032"/>
              <a:ext cx="624" cy="540"/>
            </a:xfrm>
            <a:custGeom>
              <a:avLst/>
              <a:gdLst>
                <a:gd name="T0" fmla="*/ 16200 w 21600"/>
                <a:gd name="T1" fmla="*/ 10800 h 21600"/>
                <a:gd name="T2" fmla="*/ 10800 w 21600"/>
                <a:gd name="T3" fmla="*/ 5400 h 21600"/>
                <a:gd name="T4" fmla="*/ 5400 w 21600"/>
                <a:gd name="T5" fmla="*/ 10800 h 21600"/>
                <a:gd name="T6" fmla="*/ 0 w 21600"/>
                <a:gd name="T7" fmla="*/ 10800 h 21600"/>
                <a:gd name="T8" fmla="*/ 10800 w 21600"/>
                <a:gd name="T9" fmla="*/ 0 h 21600"/>
                <a:gd name="T10" fmla="*/ 21600 w 21600"/>
                <a:gd name="T11" fmla="*/ 10799 h 21600"/>
                <a:gd name="T12" fmla="*/ 21600 w 21600"/>
                <a:gd name="T13" fmla="*/ 10800 h 21600"/>
                <a:gd name="T14" fmla="*/ 24300 w 21600"/>
                <a:gd name="T15" fmla="*/ 10800 h 21600"/>
                <a:gd name="T16" fmla="*/ 18900 w 21600"/>
                <a:gd name="T17" fmla="*/ 16200 h 21600"/>
                <a:gd name="T18" fmla="*/ 13500 w 21600"/>
                <a:gd name="T19" fmla="*/ 10800 h 21600"/>
                <a:gd name="T20" fmla="*/ 16200 w 21600"/>
                <a:gd name="T21" fmla="*/ 10800 h 21600"/>
                <a:gd name="T22" fmla="*/ 3150 w 21600"/>
                <a:gd name="T23" fmla="*/ 3160 h 21600"/>
                <a:gd name="T24" fmla="*/ 18450 w 21600"/>
                <a:gd name="T25" fmla="*/ 1844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T22" t="T23" r="T24" b="T25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00FF00"/>
            </a:solidFill>
            <a:ln w="9525" cmpd="sng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843" name="Line 75"/>
            <p:cNvSpPr>
              <a:spLocks noChangeShapeType="1"/>
            </p:cNvSpPr>
            <p:nvPr/>
          </p:nvSpPr>
          <p:spPr bwMode="auto">
            <a:xfrm>
              <a:off x="2928" y="2940"/>
              <a:ext cx="0" cy="24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844" name="Line 76"/>
            <p:cNvSpPr>
              <a:spLocks noChangeShapeType="1"/>
            </p:cNvSpPr>
            <p:nvPr/>
          </p:nvSpPr>
          <p:spPr bwMode="auto">
            <a:xfrm>
              <a:off x="2868" y="3012"/>
              <a:ext cx="0" cy="24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845" name="Line 77"/>
            <p:cNvSpPr>
              <a:spLocks noChangeShapeType="1"/>
            </p:cNvSpPr>
            <p:nvPr/>
          </p:nvSpPr>
          <p:spPr bwMode="auto">
            <a:xfrm flipH="1">
              <a:off x="2448" y="1080"/>
              <a:ext cx="60" cy="144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846" name="Line 78"/>
            <p:cNvSpPr>
              <a:spLocks noChangeShapeType="1"/>
            </p:cNvSpPr>
            <p:nvPr/>
          </p:nvSpPr>
          <p:spPr bwMode="auto">
            <a:xfrm flipH="1">
              <a:off x="2364" y="1080"/>
              <a:ext cx="96" cy="228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847" name="Line 79"/>
            <p:cNvSpPr>
              <a:spLocks noChangeShapeType="1"/>
            </p:cNvSpPr>
            <p:nvPr/>
          </p:nvSpPr>
          <p:spPr bwMode="auto">
            <a:xfrm flipV="1">
              <a:off x="720" y="1416"/>
              <a:ext cx="180" cy="84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848" name="Line 80"/>
            <p:cNvSpPr>
              <a:spLocks noChangeShapeType="1"/>
            </p:cNvSpPr>
            <p:nvPr/>
          </p:nvSpPr>
          <p:spPr bwMode="auto">
            <a:xfrm flipV="1">
              <a:off x="708" y="1464"/>
              <a:ext cx="180" cy="84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685" y="2348865"/>
            <a:ext cx="4095115" cy="39408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47000" y="594000"/>
            <a:ext cx="814500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[</a:t>
            </a:r>
            <a:r>
              <a:rPr lang="zh-CN" altLang="en-US" sz="20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例</a:t>
            </a:r>
            <a:r>
              <a:rPr lang="en-US" altLang="zh-CN" sz="20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11-6]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下图所示为传动系统。</a:t>
            </a:r>
            <a:endParaRPr lang="en-US" altLang="zh-CN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（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）为轴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Ⅱ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上的轴承所受轴向力最小，定出斜齿圆柱齿轮螺旋方向和蜗轮轮齿的旋向。</a:t>
            </a:r>
            <a:endParaRPr lang="en-US" altLang="zh-CN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（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）在图上标出各对齿轮</a:t>
            </a:r>
            <a:r>
              <a:rPr 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的转向和受力方向（用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圆周力、轴向力、径向力三个分力表示）。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1979930" y="1772920"/>
            <a:ext cx="1944370" cy="432435"/>
          </a:xfrm>
          <a:prstGeom prst="rect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82235" y="1772920"/>
            <a:ext cx="1298575" cy="432435"/>
          </a:xfrm>
          <a:prstGeom prst="rect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952115" y="974725"/>
            <a:ext cx="0" cy="788670"/>
          </a:xfrm>
          <a:prstGeom prst="line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直接连接符 4"/>
          <p:cNvCxnSpPr>
            <a:endCxn id="16" idx="0"/>
          </p:cNvCxnSpPr>
          <p:nvPr/>
        </p:nvCxnSpPr>
        <p:spPr>
          <a:xfrm>
            <a:off x="2952115" y="2205355"/>
            <a:ext cx="17780" cy="817880"/>
          </a:xfrm>
          <a:prstGeom prst="line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直接连接符 5"/>
          <p:cNvCxnSpPr/>
          <p:nvPr/>
        </p:nvCxnSpPr>
        <p:spPr>
          <a:xfrm>
            <a:off x="5831205" y="980440"/>
            <a:ext cx="0" cy="788670"/>
          </a:xfrm>
          <a:prstGeom prst="line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直接连接符 6"/>
          <p:cNvCxnSpPr/>
          <p:nvPr/>
        </p:nvCxnSpPr>
        <p:spPr>
          <a:xfrm>
            <a:off x="5831205" y="2205355"/>
            <a:ext cx="0" cy="788670"/>
          </a:xfrm>
          <a:prstGeom prst="line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" name="组合 9"/>
          <p:cNvGrpSpPr/>
          <p:nvPr/>
        </p:nvGrpSpPr>
        <p:grpSpPr>
          <a:xfrm>
            <a:off x="2879090" y="1917065"/>
            <a:ext cx="158750" cy="179070"/>
            <a:chOff x="2608" y="808"/>
            <a:chExt cx="250" cy="282"/>
          </a:xfrm>
        </p:grpSpPr>
        <p:cxnSp>
          <p:nvCxnSpPr>
            <p:cNvPr id="8" name="直接连接符 7"/>
            <p:cNvCxnSpPr/>
            <p:nvPr/>
          </p:nvCxnSpPr>
          <p:spPr>
            <a:xfrm flipH="1">
              <a:off x="2608" y="838"/>
              <a:ext cx="250" cy="253"/>
            </a:xfrm>
            <a:prstGeom prst="line">
              <a:avLst/>
            </a:prstGeom>
            <a:noFill/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直接连接符 8"/>
            <p:cNvCxnSpPr/>
            <p:nvPr/>
          </p:nvCxnSpPr>
          <p:spPr>
            <a:xfrm>
              <a:off x="2610" y="808"/>
              <a:ext cx="226" cy="283"/>
            </a:xfrm>
            <a:prstGeom prst="line">
              <a:avLst/>
            </a:prstGeom>
            <a:noFill/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" name="组合 10"/>
          <p:cNvGrpSpPr/>
          <p:nvPr/>
        </p:nvGrpSpPr>
        <p:grpSpPr>
          <a:xfrm>
            <a:off x="5758180" y="1880870"/>
            <a:ext cx="158750" cy="179070"/>
            <a:chOff x="2608" y="808"/>
            <a:chExt cx="250" cy="282"/>
          </a:xfrm>
        </p:grpSpPr>
        <p:cxnSp>
          <p:nvCxnSpPr>
            <p:cNvPr id="12" name="直接连接符 11"/>
            <p:cNvCxnSpPr/>
            <p:nvPr/>
          </p:nvCxnSpPr>
          <p:spPr>
            <a:xfrm flipH="1">
              <a:off x="2608" y="838"/>
              <a:ext cx="250" cy="253"/>
            </a:xfrm>
            <a:prstGeom prst="line">
              <a:avLst/>
            </a:prstGeom>
            <a:noFill/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直接连接符 12"/>
            <p:cNvCxnSpPr/>
            <p:nvPr/>
          </p:nvCxnSpPr>
          <p:spPr>
            <a:xfrm>
              <a:off x="2610" y="808"/>
              <a:ext cx="226" cy="283"/>
            </a:xfrm>
            <a:prstGeom prst="line">
              <a:avLst/>
            </a:prstGeom>
            <a:noFill/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4" name="直接箭头连接符 13"/>
          <p:cNvCxnSpPr/>
          <p:nvPr/>
        </p:nvCxnSpPr>
        <p:spPr>
          <a:xfrm>
            <a:off x="5441950" y="1301750"/>
            <a:ext cx="786130" cy="3175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5" name="直接箭头连接符 14"/>
          <p:cNvCxnSpPr/>
          <p:nvPr/>
        </p:nvCxnSpPr>
        <p:spPr>
          <a:xfrm>
            <a:off x="2565400" y="1269365"/>
            <a:ext cx="786130" cy="3175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7" name="流程图: 手动操作 16"/>
          <p:cNvSpPr/>
          <p:nvPr/>
        </p:nvSpPr>
        <p:spPr>
          <a:xfrm rot="5400000">
            <a:off x="3491230" y="4941570"/>
            <a:ext cx="2225675" cy="351790"/>
          </a:xfrm>
          <a:prstGeom prst="flowChartManualOperation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18" name="流程图: 手动操作 17"/>
          <p:cNvSpPr/>
          <p:nvPr/>
        </p:nvSpPr>
        <p:spPr>
          <a:xfrm>
            <a:off x="2141855" y="3023235"/>
            <a:ext cx="1619885" cy="323850"/>
          </a:xfrm>
          <a:prstGeom prst="flowChartManualOperation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615940" y="4796790"/>
            <a:ext cx="1871980" cy="576580"/>
          </a:xfrm>
          <a:prstGeom prst="rect">
            <a:avLst/>
          </a:prstGeom>
          <a:noFill/>
          <a:ln w="28575" cap="flat" cmpd="sng" algn="ctr">
            <a:gradFill>
              <a:gsLst>
                <a:gs pos="50410">
                  <a:srgbClr val="1F1F1F"/>
                </a:gs>
                <a:gs pos="0">
                  <a:srgbClr val="020202"/>
                </a:gs>
                <a:gs pos="100000">
                  <a:srgbClr val="424242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3883025" y="5083175"/>
            <a:ext cx="1732915" cy="1905"/>
          </a:xfrm>
          <a:prstGeom prst="line">
            <a:avLst/>
          </a:prstGeom>
          <a:noFill/>
          <a:ln w="9525" cap="flat" cmpd="sng" algn="ctr">
            <a:gradFill>
              <a:gsLst>
                <a:gs pos="50410">
                  <a:srgbClr val="1F1F1F"/>
                </a:gs>
                <a:gs pos="0">
                  <a:srgbClr val="020202"/>
                </a:gs>
                <a:gs pos="100000">
                  <a:srgbClr val="424242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直接连接符 20"/>
          <p:cNvCxnSpPr/>
          <p:nvPr/>
        </p:nvCxnSpPr>
        <p:spPr>
          <a:xfrm>
            <a:off x="7487920" y="5083175"/>
            <a:ext cx="1043940" cy="635"/>
          </a:xfrm>
          <a:prstGeom prst="line">
            <a:avLst/>
          </a:prstGeom>
          <a:noFill/>
          <a:ln w="9525" cap="flat" cmpd="sng" algn="ctr">
            <a:gradFill>
              <a:gsLst>
                <a:gs pos="50410">
                  <a:srgbClr val="1F1F1F"/>
                </a:gs>
                <a:gs pos="0">
                  <a:srgbClr val="020202"/>
                </a:gs>
                <a:gs pos="100000">
                  <a:srgbClr val="424242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" name="组合 21"/>
          <p:cNvGrpSpPr/>
          <p:nvPr/>
        </p:nvGrpSpPr>
        <p:grpSpPr>
          <a:xfrm>
            <a:off x="2893060" y="3068955"/>
            <a:ext cx="158750" cy="179070"/>
            <a:chOff x="2608" y="808"/>
            <a:chExt cx="250" cy="282"/>
          </a:xfrm>
        </p:grpSpPr>
        <p:cxnSp>
          <p:nvCxnSpPr>
            <p:cNvPr id="23" name="直接连接符 22"/>
            <p:cNvCxnSpPr/>
            <p:nvPr/>
          </p:nvCxnSpPr>
          <p:spPr>
            <a:xfrm flipH="1">
              <a:off x="2608" y="838"/>
              <a:ext cx="250" cy="253"/>
            </a:xfrm>
            <a:prstGeom prst="line">
              <a:avLst/>
            </a:prstGeom>
            <a:noFill/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直接连接符 23"/>
            <p:cNvCxnSpPr/>
            <p:nvPr/>
          </p:nvCxnSpPr>
          <p:spPr>
            <a:xfrm>
              <a:off x="2610" y="808"/>
              <a:ext cx="226" cy="283"/>
            </a:xfrm>
            <a:prstGeom prst="line">
              <a:avLst/>
            </a:prstGeom>
            <a:noFill/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" name="组合 25"/>
          <p:cNvGrpSpPr/>
          <p:nvPr/>
        </p:nvGrpSpPr>
        <p:grpSpPr>
          <a:xfrm>
            <a:off x="4531360" y="4977130"/>
            <a:ext cx="158750" cy="179070"/>
            <a:chOff x="2608" y="808"/>
            <a:chExt cx="250" cy="282"/>
          </a:xfrm>
        </p:grpSpPr>
        <p:cxnSp>
          <p:nvCxnSpPr>
            <p:cNvPr id="27" name="直接连接符 26"/>
            <p:cNvCxnSpPr/>
            <p:nvPr/>
          </p:nvCxnSpPr>
          <p:spPr>
            <a:xfrm flipH="1">
              <a:off x="2608" y="838"/>
              <a:ext cx="250" cy="253"/>
            </a:xfrm>
            <a:prstGeom prst="line">
              <a:avLst/>
            </a:prstGeom>
            <a:noFill/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直接连接符 27"/>
            <p:cNvCxnSpPr/>
            <p:nvPr/>
          </p:nvCxnSpPr>
          <p:spPr>
            <a:xfrm>
              <a:off x="2610" y="808"/>
              <a:ext cx="226" cy="283"/>
            </a:xfrm>
            <a:prstGeom prst="line">
              <a:avLst/>
            </a:prstGeom>
            <a:noFill/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9" name="组合 28"/>
          <p:cNvGrpSpPr/>
          <p:nvPr/>
        </p:nvGrpSpPr>
        <p:grpSpPr>
          <a:xfrm>
            <a:off x="6586855" y="4996180"/>
            <a:ext cx="158750" cy="179070"/>
            <a:chOff x="2608" y="808"/>
            <a:chExt cx="250" cy="282"/>
          </a:xfrm>
        </p:grpSpPr>
        <p:cxnSp>
          <p:nvCxnSpPr>
            <p:cNvPr id="30" name="直接连接符 29"/>
            <p:cNvCxnSpPr/>
            <p:nvPr/>
          </p:nvCxnSpPr>
          <p:spPr>
            <a:xfrm flipH="1">
              <a:off x="2608" y="838"/>
              <a:ext cx="250" cy="253"/>
            </a:xfrm>
            <a:prstGeom prst="line">
              <a:avLst/>
            </a:prstGeom>
            <a:noFill/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直接连接符 30"/>
            <p:cNvCxnSpPr/>
            <p:nvPr/>
          </p:nvCxnSpPr>
          <p:spPr>
            <a:xfrm>
              <a:off x="2610" y="808"/>
              <a:ext cx="226" cy="283"/>
            </a:xfrm>
            <a:prstGeom prst="line">
              <a:avLst/>
            </a:prstGeom>
            <a:noFill/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32" name="直接连接符 31"/>
          <p:cNvCxnSpPr/>
          <p:nvPr/>
        </p:nvCxnSpPr>
        <p:spPr>
          <a:xfrm flipH="1">
            <a:off x="5939790" y="4813300"/>
            <a:ext cx="288290" cy="560070"/>
          </a:xfrm>
          <a:prstGeom prst="line">
            <a:avLst/>
          </a:prstGeom>
          <a:noFill/>
          <a:ln w="9525" cap="flat" cmpd="sng" algn="ctr">
            <a:gradFill>
              <a:gsLst>
                <a:gs pos="50410">
                  <a:srgbClr val="1F1F1F"/>
                </a:gs>
                <a:gs pos="0">
                  <a:srgbClr val="020202"/>
                </a:gs>
                <a:gs pos="100000">
                  <a:srgbClr val="424242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直接连接符 32"/>
          <p:cNvCxnSpPr/>
          <p:nvPr/>
        </p:nvCxnSpPr>
        <p:spPr>
          <a:xfrm flipH="1">
            <a:off x="6048375" y="4813300"/>
            <a:ext cx="288290" cy="560070"/>
          </a:xfrm>
          <a:prstGeom prst="line">
            <a:avLst/>
          </a:prstGeom>
          <a:noFill/>
          <a:ln w="9525" cap="flat" cmpd="sng" algn="ctr">
            <a:gradFill>
              <a:gsLst>
                <a:gs pos="50410">
                  <a:srgbClr val="1F1F1F"/>
                </a:gs>
                <a:gs pos="0">
                  <a:srgbClr val="020202"/>
                </a:gs>
                <a:gs pos="100000">
                  <a:srgbClr val="424242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直接连接符 33"/>
          <p:cNvCxnSpPr/>
          <p:nvPr/>
        </p:nvCxnSpPr>
        <p:spPr>
          <a:xfrm flipH="1">
            <a:off x="5831205" y="4796790"/>
            <a:ext cx="288290" cy="560070"/>
          </a:xfrm>
          <a:prstGeom prst="line">
            <a:avLst/>
          </a:prstGeom>
          <a:noFill/>
          <a:ln w="9525" cap="flat" cmpd="sng" algn="ctr">
            <a:gradFill>
              <a:gsLst>
                <a:gs pos="50410">
                  <a:srgbClr val="1F1F1F"/>
                </a:gs>
                <a:gs pos="0">
                  <a:srgbClr val="020202"/>
                </a:gs>
                <a:gs pos="100000">
                  <a:srgbClr val="424242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直接箭头连接符 34"/>
          <p:cNvCxnSpPr/>
          <p:nvPr/>
        </p:nvCxnSpPr>
        <p:spPr>
          <a:xfrm flipV="1">
            <a:off x="3599815" y="2590800"/>
            <a:ext cx="0" cy="59436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" name="直接箭头连接符 35"/>
          <p:cNvCxnSpPr>
            <a:stCxn id="18" idx="3"/>
          </p:cNvCxnSpPr>
          <p:nvPr/>
        </p:nvCxnSpPr>
        <p:spPr>
          <a:xfrm flipH="1">
            <a:off x="3258185" y="3185160"/>
            <a:ext cx="341630" cy="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" name="文本框 36"/>
          <p:cNvSpPr txBox="1"/>
          <p:nvPr/>
        </p:nvSpPr>
        <p:spPr>
          <a:xfrm>
            <a:off x="3672205" y="2399665"/>
            <a:ext cx="6299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</a:t>
            </a:r>
            <a:r>
              <a:rPr lang="en-US" altLang="zh-CN" baseline="-25000"/>
              <a:t>a3</a:t>
            </a:r>
            <a:endParaRPr lang="en-US" altLang="zh-CN" baseline="-25000"/>
          </a:p>
        </p:txBody>
      </p:sp>
      <p:sp>
        <p:nvSpPr>
          <p:cNvPr id="38" name="文本框 37"/>
          <p:cNvSpPr txBox="1"/>
          <p:nvPr/>
        </p:nvSpPr>
        <p:spPr>
          <a:xfrm>
            <a:off x="3096260" y="3321050"/>
            <a:ext cx="6299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00FF"/>
                </a:solidFill>
              </a:rPr>
              <a:t>F</a:t>
            </a:r>
            <a:r>
              <a:rPr lang="en-US" altLang="zh-CN" baseline="-25000">
                <a:solidFill>
                  <a:srgbClr val="0000FF"/>
                </a:solidFill>
              </a:rPr>
              <a:t>r3</a:t>
            </a:r>
            <a:endParaRPr lang="en-US" altLang="zh-CN" baseline="-25000">
              <a:solidFill>
                <a:srgbClr val="0000FF"/>
              </a:solidFill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3639185" y="3128645"/>
            <a:ext cx="224790" cy="224790"/>
            <a:chOff x="9822" y="6321"/>
            <a:chExt cx="354" cy="354"/>
          </a:xfrm>
        </p:grpSpPr>
        <p:sp>
          <p:nvSpPr>
            <p:cNvPr id="40" name="椭圆 39"/>
            <p:cNvSpPr/>
            <p:nvPr/>
          </p:nvSpPr>
          <p:spPr>
            <a:xfrm>
              <a:off x="9822" y="6321"/>
              <a:ext cx="355" cy="355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  <p:cxnSp>
          <p:nvCxnSpPr>
            <p:cNvPr id="41" name="直接连接符 40"/>
            <p:cNvCxnSpPr>
              <a:stCxn id="40" idx="3"/>
              <a:endCxn id="40" idx="7"/>
            </p:cNvCxnSpPr>
            <p:nvPr/>
          </p:nvCxnSpPr>
          <p:spPr>
            <a:xfrm flipV="1">
              <a:off x="9874" y="6373"/>
              <a:ext cx="251" cy="251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直接连接符 41"/>
            <p:cNvCxnSpPr>
              <a:stCxn id="40" idx="1"/>
              <a:endCxn id="40" idx="5"/>
            </p:cNvCxnSpPr>
            <p:nvPr/>
          </p:nvCxnSpPr>
          <p:spPr>
            <a:xfrm>
              <a:off x="9874" y="6373"/>
              <a:ext cx="251" cy="251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3" name="文本框 42"/>
          <p:cNvSpPr txBox="1"/>
          <p:nvPr/>
        </p:nvSpPr>
        <p:spPr>
          <a:xfrm>
            <a:off x="3850005" y="3176905"/>
            <a:ext cx="6299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F</a:t>
            </a:r>
            <a:r>
              <a:rPr lang="en-US" altLang="zh-CN" baseline="-25000">
                <a:solidFill>
                  <a:srgbClr val="FF0000"/>
                </a:solidFill>
              </a:rPr>
              <a:t>t3</a:t>
            </a:r>
            <a:endParaRPr lang="en-US" altLang="zh-CN" baseline="-25000">
              <a:solidFill>
                <a:srgbClr val="FF0000"/>
              </a:solidFill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3924300" y="2061210"/>
            <a:ext cx="0" cy="412115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" name="文本框 44"/>
          <p:cNvSpPr txBox="1"/>
          <p:nvPr/>
        </p:nvSpPr>
        <p:spPr>
          <a:xfrm>
            <a:off x="3996055" y="1969770"/>
            <a:ext cx="629920" cy="422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F</a:t>
            </a:r>
            <a:r>
              <a:rPr lang="en-US" altLang="zh-CN" baseline="-25000"/>
              <a:t>a2</a:t>
            </a:r>
            <a:endParaRPr lang="en-US" altLang="zh-CN" baseline="-25000"/>
          </a:p>
        </p:txBody>
      </p:sp>
      <p:grpSp>
        <p:nvGrpSpPr>
          <p:cNvPr id="55" name="组合 54"/>
          <p:cNvGrpSpPr/>
          <p:nvPr/>
        </p:nvGrpSpPr>
        <p:grpSpPr>
          <a:xfrm>
            <a:off x="3837305" y="1849120"/>
            <a:ext cx="180340" cy="180340"/>
            <a:chOff x="9822" y="9085"/>
            <a:chExt cx="284" cy="284"/>
          </a:xfrm>
          <a:solidFill>
            <a:schemeClr val="bg1"/>
          </a:solidFill>
        </p:grpSpPr>
        <p:sp>
          <p:nvSpPr>
            <p:cNvPr id="56" name="椭圆 55"/>
            <p:cNvSpPr/>
            <p:nvPr/>
          </p:nvSpPr>
          <p:spPr>
            <a:xfrm>
              <a:off x="9822" y="9085"/>
              <a:ext cx="284" cy="284"/>
            </a:xfrm>
            <a:prstGeom prst="ellipse">
              <a:avLst/>
            </a:prstGeom>
            <a:grp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9894" y="9156"/>
              <a:ext cx="119" cy="11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3924300" y="1445260"/>
            <a:ext cx="6299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F</a:t>
            </a:r>
            <a:r>
              <a:rPr lang="en-US" altLang="zh-CN" baseline="-25000">
                <a:solidFill>
                  <a:srgbClr val="FF0000"/>
                </a:solidFill>
              </a:rPr>
              <a:t>t2</a:t>
            </a:r>
            <a:endParaRPr lang="en-US" altLang="zh-CN" baseline="-25000">
              <a:solidFill>
                <a:srgbClr val="FF0000"/>
              </a:solidFill>
            </a:endParaRPr>
          </a:p>
        </p:txBody>
      </p:sp>
      <p:cxnSp>
        <p:nvCxnSpPr>
          <p:cNvPr id="47" name="直接箭头连接符 46"/>
          <p:cNvCxnSpPr/>
          <p:nvPr/>
        </p:nvCxnSpPr>
        <p:spPr>
          <a:xfrm>
            <a:off x="3528060" y="1954530"/>
            <a:ext cx="325755" cy="1905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8" name="文本框 47"/>
          <p:cNvSpPr txBox="1"/>
          <p:nvPr/>
        </p:nvSpPr>
        <p:spPr>
          <a:xfrm>
            <a:off x="3096260" y="1377315"/>
            <a:ext cx="6299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00FF"/>
                </a:solidFill>
              </a:rPr>
              <a:t>F</a:t>
            </a:r>
            <a:r>
              <a:rPr lang="en-US" altLang="zh-CN" baseline="-25000">
                <a:solidFill>
                  <a:srgbClr val="0000FF"/>
                </a:solidFill>
              </a:rPr>
              <a:t>r2</a:t>
            </a:r>
            <a:endParaRPr lang="en-US" altLang="zh-CN" baseline="-25000">
              <a:solidFill>
                <a:srgbClr val="0000FF"/>
              </a:solidFill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043170" y="1868805"/>
            <a:ext cx="224790" cy="224790"/>
            <a:chOff x="9822" y="6321"/>
            <a:chExt cx="354" cy="354"/>
          </a:xfrm>
        </p:grpSpPr>
        <p:sp>
          <p:nvSpPr>
            <p:cNvPr id="50" name="椭圆 49"/>
            <p:cNvSpPr/>
            <p:nvPr/>
          </p:nvSpPr>
          <p:spPr>
            <a:xfrm>
              <a:off x="9822" y="6321"/>
              <a:ext cx="355" cy="355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  <p:cxnSp>
          <p:nvCxnSpPr>
            <p:cNvPr id="51" name="直接连接符 50"/>
            <p:cNvCxnSpPr>
              <a:stCxn id="50" idx="3"/>
              <a:endCxn id="50" idx="7"/>
            </p:cNvCxnSpPr>
            <p:nvPr/>
          </p:nvCxnSpPr>
          <p:spPr>
            <a:xfrm flipV="1">
              <a:off x="9874" y="6373"/>
              <a:ext cx="251" cy="251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" name="直接连接符 51"/>
            <p:cNvCxnSpPr>
              <a:stCxn id="50" idx="1"/>
              <a:endCxn id="50" idx="5"/>
            </p:cNvCxnSpPr>
            <p:nvPr/>
          </p:nvCxnSpPr>
          <p:spPr>
            <a:xfrm>
              <a:off x="9874" y="6373"/>
              <a:ext cx="251" cy="251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3" name="文本框 52"/>
          <p:cNvSpPr txBox="1"/>
          <p:nvPr/>
        </p:nvSpPr>
        <p:spPr>
          <a:xfrm>
            <a:off x="4812030" y="2132965"/>
            <a:ext cx="629920" cy="420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F</a:t>
            </a:r>
            <a:r>
              <a:rPr lang="en-US" altLang="zh-CN" baseline="-25000">
                <a:solidFill>
                  <a:srgbClr val="FF0000"/>
                </a:solidFill>
              </a:rPr>
              <a:t>t1</a:t>
            </a:r>
            <a:endParaRPr lang="en-US" altLang="zh-CN" baseline="-25000">
              <a:solidFill>
                <a:srgbClr val="FF0000"/>
              </a:solidFill>
            </a:endParaRPr>
          </a:p>
        </p:txBody>
      </p:sp>
      <p:cxnSp>
        <p:nvCxnSpPr>
          <p:cNvPr id="54" name="直接箭头连接符 53"/>
          <p:cNvCxnSpPr/>
          <p:nvPr/>
        </p:nvCxnSpPr>
        <p:spPr>
          <a:xfrm flipV="1">
            <a:off x="5182235" y="1360170"/>
            <a:ext cx="0" cy="59436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" name="文本框 57"/>
          <p:cNvSpPr txBox="1"/>
          <p:nvPr/>
        </p:nvSpPr>
        <p:spPr>
          <a:xfrm>
            <a:off x="4752340" y="871855"/>
            <a:ext cx="6299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</a:t>
            </a:r>
            <a:r>
              <a:rPr lang="en-US" altLang="zh-CN" baseline="-25000"/>
              <a:t>a1</a:t>
            </a:r>
            <a:endParaRPr lang="en-US" altLang="zh-CN" baseline="-25000"/>
          </a:p>
        </p:txBody>
      </p:sp>
      <p:cxnSp>
        <p:nvCxnSpPr>
          <p:cNvPr id="59" name="直接箭头连接符 58"/>
          <p:cNvCxnSpPr/>
          <p:nvPr/>
        </p:nvCxnSpPr>
        <p:spPr>
          <a:xfrm>
            <a:off x="5182235" y="1985645"/>
            <a:ext cx="499110" cy="1905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60" name="文本框 59"/>
          <p:cNvSpPr txBox="1"/>
          <p:nvPr/>
        </p:nvSpPr>
        <p:spPr>
          <a:xfrm>
            <a:off x="5382260" y="2043430"/>
            <a:ext cx="629920" cy="417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0000FF"/>
                </a:solidFill>
              </a:rPr>
              <a:t>F</a:t>
            </a:r>
            <a:r>
              <a:rPr lang="en-US" altLang="zh-CN" baseline="-25000">
                <a:solidFill>
                  <a:srgbClr val="0000FF"/>
                </a:solidFill>
              </a:rPr>
              <a:t>r1</a:t>
            </a:r>
            <a:endParaRPr lang="en-US" altLang="zh-CN" baseline="-25000">
              <a:solidFill>
                <a:srgbClr val="0000FF"/>
              </a:solidFill>
            </a:endParaRPr>
          </a:p>
        </p:txBody>
      </p:sp>
      <p:cxnSp>
        <p:nvCxnSpPr>
          <p:cNvPr id="61" name="直接箭头连接符 60"/>
          <p:cNvCxnSpPr/>
          <p:nvPr/>
        </p:nvCxnSpPr>
        <p:spPr>
          <a:xfrm flipV="1">
            <a:off x="4596130" y="4254500"/>
            <a:ext cx="551815" cy="254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62" name="文本框 61"/>
          <p:cNvSpPr txBox="1"/>
          <p:nvPr/>
        </p:nvSpPr>
        <p:spPr>
          <a:xfrm>
            <a:off x="4780280" y="3573145"/>
            <a:ext cx="6299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</a:t>
            </a:r>
            <a:r>
              <a:rPr lang="en-US" altLang="zh-CN" baseline="-25000"/>
              <a:t>a4</a:t>
            </a:r>
            <a:endParaRPr lang="en-US" altLang="zh-CN" baseline="-25000"/>
          </a:p>
        </p:txBody>
      </p:sp>
      <p:cxnSp>
        <p:nvCxnSpPr>
          <p:cNvPr id="63" name="直接箭头连接符 62"/>
          <p:cNvCxnSpPr/>
          <p:nvPr/>
        </p:nvCxnSpPr>
        <p:spPr>
          <a:xfrm flipH="1">
            <a:off x="4140200" y="4725035"/>
            <a:ext cx="24765" cy="668020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4" name="组合 63"/>
          <p:cNvGrpSpPr/>
          <p:nvPr/>
        </p:nvGrpSpPr>
        <p:grpSpPr>
          <a:xfrm>
            <a:off x="4415790" y="4149090"/>
            <a:ext cx="180340" cy="180340"/>
            <a:chOff x="9822" y="9085"/>
            <a:chExt cx="284" cy="284"/>
          </a:xfrm>
          <a:solidFill>
            <a:schemeClr val="bg1"/>
          </a:solidFill>
        </p:grpSpPr>
        <p:sp>
          <p:nvSpPr>
            <p:cNvPr id="65" name="椭圆 64"/>
            <p:cNvSpPr/>
            <p:nvPr/>
          </p:nvSpPr>
          <p:spPr>
            <a:xfrm>
              <a:off x="9822" y="9085"/>
              <a:ext cx="284" cy="284"/>
            </a:xfrm>
            <a:prstGeom prst="ellipse">
              <a:avLst/>
            </a:prstGeom>
            <a:grp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66" name="椭圆 65"/>
            <p:cNvSpPr/>
            <p:nvPr/>
          </p:nvSpPr>
          <p:spPr>
            <a:xfrm>
              <a:off x="9894" y="9156"/>
              <a:ext cx="119" cy="11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67" name="文本框 66"/>
          <p:cNvSpPr txBox="1"/>
          <p:nvPr/>
        </p:nvSpPr>
        <p:spPr>
          <a:xfrm>
            <a:off x="3907155" y="3717290"/>
            <a:ext cx="6299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F</a:t>
            </a:r>
            <a:r>
              <a:rPr lang="en-US" altLang="zh-CN" baseline="-25000">
                <a:solidFill>
                  <a:srgbClr val="FF0000"/>
                </a:solidFill>
              </a:rPr>
              <a:t>t4</a:t>
            </a:r>
            <a:endParaRPr lang="en-US" altLang="zh-CN" baseline="-25000">
              <a:solidFill>
                <a:srgbClr val="FF0000"/>
              </a:solidFill>
            </a:endParaRPr>
          </a:p>
        </p:txBody>
      </p:sp>
      <p:cxnSp>
        <p:nvCxnSpPr>
          <p:cNvPr id="68" name="直接箭头连接符 67"/>
          <p:cNvCxnSpPr/>
          <p:nvPr/>
        </p:nvCxnSpPr>
        <p:spPr>
          <a:xfrm>
            <a:off x="4554220" y="4312920"/>
            <a:ext cx="0" cy="412115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" name="文本框 68"/>
          <p:cNvSpPr txBox="1"/>
          <p:nvPr/>
        </p:nvSpPr>
        <p:spPr>
          <a:xfrm>
            <a:off x="4690110" y="4366895"/>
            <a:ext cx="6299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00FF"/>
                </a:solidFill>
              </a:rPr>
              <a:t>F</a:t>
            </a:r>
            <a:r>
              <a:rPr lang="en-US" altLang="zh-CN" baseline="-25000">
                <a:solidFill>
                  <a:srgbClr val="0000FF"/>
                </a:solidFill>
              </a:rPr>
              <a:t>r4</a:t>
            </a:r>
            <a:endParaRPr lang="en-US" altLang="zh-CN" baseline="-25000">
              <a:solidFill>
                <a:srgbClr val="0000FF"/>
              </a:solidFill>
            </a:endParaRPr>
          </a:p>
        </p:txBody>
      </p:sp>
      <p:cxnSp>
        <p:nvCxnSpPr>
          <p:cNvPr id="70" name="直接箭头连接符 69"/>
          <p:cNvCxnSpPr>
            <a:stCxn id="19" idx="0"/>
          </p:cNvCxnSpPr>
          <p:nvPr/>
        </p:nvCxnSpPr>
        <p:spPr>
          <a:xfrm flipH="1">
            <a:off x="5760085" y="4796790"/>
            <a:ext cx="791845" cy="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" name="文本框 70"/>
          <p:cNvSpPr txBox="1"/>
          <p:nvPr/>
        </p:nvSpPr>
        <p:spPr>
          <a:xfrm>
            <a:off x="5831840" y="4194175"/>
            <a:ext cx="6299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</a:t>
            </a:r>
            <a:r>
              <a:rPr lang="en-US" altLang="zh-CN" baseline="-25000"/>
              <a:t>a5</a:t>
            </a:r>
            <a:endParaRPr lang="en-US" altLang="zh-CN" baseline="-25000"/>
          </a:p>
        </p:txBody>
      </p:sp>
      <p:grpSp>
        <p:nvGrpSpPr>
          <p:cNvPr id="72" name="组合 71"/>
          <p:cNvGrpSpPr/>
          <p:nvPr/>
        </p:nvGrpSpPr>
        <p:grpSpPr>
          <a:xfrm>
            <a:off x="6483350" y="4655820"/>
            <a:ext cx="224790" cy="224790"/>
            <a:chOff x="9822" y="6321"/>
            <a:chExt cx="354" cy="354"/>
          </a:xfrm>
        </p:grpSpPr>
        <p:sp>
          <p:nvSpPr>
            <p:cNvPr id="73" name="椭圆 72"/>
            <p:cNvSpPr/>
            <p:nvPr/>
          </p:nvSpPr>
          <p:spPr>
            <a:xfrm>
              <a:off x="9822" y="6321"/>
              <a:ext cx="355" cy="355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  <p:cxnSp>
          <p:nvCxnSpPr>
            <p:cNvPr id="74" name="直接连接符 73"/>
            <p:cNvCxnSpPr>
              <a:stCxn id="73" idx="3"/>
              <a:endCxn id="73" idx="7"/>
            </p:cNvCxnSpPr>
            <p:nvPr/>
          </p:nvCxnSpPr>
          <p:spPr>
            <a:xfrm flipV="1">
              <a:off x="9874" y="6373"/>
              <a:ext cx="251" cy="251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直接连接符 74"/>
            <p:cNvCxnSpPr>
              <a:stCxn id="73" idx="1"/>
              <a:endCxn id="73" idx="5"/>
            </p:cNvCxnSpPr>
            <p:nvPr/>
          </p:nvCxnSpPr>
          <p:spPr>
            <a:xfrm>
              <a:off x="9874" y="6373"/>
              <a:ext cx="251" cy="251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6" name="文本框 75"/>
          <p:cNvSpPr txBox="1"/>
          <p:nvPr/>
        </p:nvSpPr>
        <p:spPr>
          <a:xfrm>
            <a:off x="6372225" y="4185285"/>
            <a:ext cx="6299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F</a:t>
            </a:r>
            <a:r>
              <a:rPr lang="en-US" altLang="zh-CN" baseline="-25000">
                <a:solidFill>
                  <a:srgbClr val="FF0000"/>
                </a:solidFill>
              </a:rPr>
              <a:t>t5</a:t>
            </a:r>
            <a:endParaRPr lang="en-US" altLang="zh-CN" baseline="-25000">
              <a:solidFill>
                <a:srgbClr val="FF0000"/>
              </a:solidFill>
            </a:endParaRPr>
          </a:p>
        </p:txBody>
      </p:sp>
      <p:cxnSp>
        <p:nvCxnSpPr>
          <p:cNvPr id="77" name="直接箭头连接符 76"/>
          <p:cNvCxnSpPr/>
          <p:nvPr/>
        </p:nvCxnSpPr>
        <p:spPr>
          <a:xfrm>
            <a:off x="6586855" y="4848225"/>
            <a:ext cx="1270" cy="344805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" name="文本框 77"/>
          <p:cNvSpPr txBox="1"/>
          <p:nvPr/>
        </p:nvSpPr>
        <p:spPr>
          <a:xfrm>
            <a:off x="6767830" y="4963160"/>
            <a:ext cx="6299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00FF"/>
                </a:solidFill>
              </a:rPr>
              <a:t>F</a:t>
            </a:r>
            <a:r>
              <a:rPr lang="en-US" altLang="zh-CN" baseline="-25000">
                <a:solidFill>
                  <a:srgbClr val="0000FF"/>
                </a:solidFill>
              </a:rPr>
              <a:t>r5</a:t>
            </a:r>
            <a:endParaRPr lang="en-US" altLang="zh-CN" baseline="-25000">
              <a:solidFill>
                <a:srgbClr val="0000FF"/>
              </a:solidFill>
            </a:endParaRPr>
          </a:p>
        </p:txBody>
      </p:sp>
      <p:sp>
        <p:nvSpPr>
          <p:cNvPr id="79" name="椭圆 78"/>
          <p:cNvSpPr/>
          <p:nvPr/>
        </p:nvSpPr>
        <p:spPr>
          <a:xfrm>
            <a:off x="6984365" y="2816860"/>
            <a:ext cx="1511935" cy="1368425"/>
          </a:xfrm>
          <a:prstGeom prst="ellipse">
            <a:avLst/>
          </a:prstGeom>
          <a:noFill/>
          <a:ln w="28575" cap="flat" cmpd="sng" algn="ctr">
            <a:gradFill>
              <a:gsLst>
                <a:gs pos="50410">
                  <a:srgbClr val="1F1F1F"/>
                </a:gs>
                <a:gs pos="0">
                  <a:srgbClr val="020202"/>
                </a:gs>
                <a:gs pos="100000">
                  <a:srgbClr val="424242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7668260" y="4077335"/>
            <a:ext cx="180340" cy="180340"/>
            <a:chOff x="9822" y="9085"/>
            <a:chExt cx="284" cy="284"/>
          </a:xfrm>
          <a:solidFill>
            <a:schemeClr val="bg1"/>
          </a:solidFill>
        </p:grpSpPr>
        <p:sp>
          <p:nvSpPr>
            <p:cNvPr id="81" name="椭圆 80"/>
            <p:cNvSpPr/>
            <p:nvPr/>
          </p:nvSpPr>
          <p:spPr>
            <a:xfrm>
              <a:off x="9822" y="9085"/>
              <a:ext cx="284" cy="284"/>
            </a:xfrm>
            <a:prstGeom prst="ellipse">
              <a:avLst/>
            </a:prstGeom>
            <a:grp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  <p:sp>
          <p:nvSpPr>
            <p:cNvPr id="82" name="椭圆 81"/>
            <p:cNvSpPr/>
            <p:nvPr/>
          </p:nvSpPr>
          <p:spPr>
            <a:xfrm>
              <a:off x="9894" y="9156"/>
              <a:ext cx="119" cy="11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0000" tIns="46800" rIns="90000" bIns="4680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83" name="文本框 82"/>
          <p:cNvSpPr txBox="1"/>
          <p:nvPr/>
        </p:nvSpPr>
        <p:spPr>
          <a:xfrm>
            <a:off x="7848600" y="4149090"/>
            <a:ext cx="6299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</a:t>
            </a:r>
            <a:r>
              <a:rPr lang="en-US" altLang="zh-CN" baseline="-25000"/>
              <a:t>a6</a:t>
            </a:r>
            <a:endParaRPr lang="en-US" altLang="zh-CN" baseline="-25000"/>
          </a:p>
        </p:txBody>
      </p:sp>
      <p:cxnSp>
        <p:nvCxnSpPr>
          <p:cNvPr id="84" name="直接箭头连接符 83"/>
          <p:cNvCxnSpPr/>
          <p:nvPr/>
        </p:nvCxnSpPr>
        <p:spPr>
          <a:xfrm flipV="1">
            <a:off x="7848600" y="4182745"/>
            <a:ext cx="551815" cy="254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85" name="文本框 84"/>
          <p:cNvSpPr txBox="1"/>
          <p:nvPr/>
        </p:nvSpPr>
        <p:spPr>
          <a:xfrm>
            <a:off x="8423910" y="3839845"/>
            <a:ext cx="6299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F</a:t>
            </a:r>
            <a:r>
              <a:rPr lang="en-US" altLang="zh-CN" baseline="-25000">
                <a:solidFill>
                  <a:srgbClr val="FF0000"/>
                </a:solidFill>
              </a:rPr>
              <a:t>t6</a:t>
            </a:r>
            <a:endParaRPr lang="en-US" altLang="zh-CN" baseline="-25000">
              <a:solidFill>
                <a:srgbClr val="FF0000"/>
              </a:solidFill>
            </a:endParaRPr>
          </a:p>
        </p:txBody>
      </p:sp>
      <p:sp>
        <p:nvSpPr>
          <p:cNvPr id="86" name="任意多边形 85"/>
          <p:cNvSpPr/>
          <p:nvPr/>
        </p:nvSpPr>
        <p:spPr>
          <a:xfrm rot="4980000">
            <a:off x="6953250" y="3317875"/>
            <a:ext cx="586740" cy="232410"/>
          </a:xfrm>
          <a:custGeom>
            <a:avLst/>
            <a:gdLst>
              <a:gd name="connisteX0" fmla="*/ 0 w 586740"/>
              <a:gd name="connsiteY0" fmla="*/ 0 h 232375"/>
              <a:gd name="connisteX1" fmla="*/ 154305 w 586740"/>
              <a:gd name="connsiteY1" fmla="*/ 163830 h 232375"/>
              <a:gd name="connisteX2" fmla="*/ 403860 w 586740"/>
              <a:gd name="connsiteY2" fmla="*/ 231140 h 232375"/>
              <a:gd name="connisteX3" fmla="*/ 586740 w 586740"/>
              <a:gd name="connsiteY3" fmla="*/ 201930 h 2323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86740" h="232375">
                <a:moveTo>
                  <a:pt x="0" y="0"/>
                </a:moveTo>
                <a:cubicBezTo>
                  <a:pt x="26035" y="31115"/>
                  <a:pt x="73660" y="117475"/>
                  <a:pt x="154305" y="163830"/>
                </a:cubicBezTo>
                <a:cubicBezTo>
                  <a:pt x="234950" y="210185"/>
                  <a:pt x="317500" y="223520"/>
                  <a:pt x="403860" y="231140"/>
                </a:cubicBezTo>
                <a:cubicBezTo>
                  <a:pt x="490220" y="238760"/>
                  <a:pt x="554990" y="208915"/>
                  <a:pt x="586740" y="201930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0000" tIns="46800" rIns="90000" bIns="4680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cxnSp>
        <p:nvCxnSpPr>
          <p:cNvPr id="87" name="直接箭头连接符 86"/>
          <p:cNvCxnSpPr/>
          <p:nvPr/>
        </p:nvCxnSpPr>
        <p:spPr>
          <a:xfrm flipV="1">
            <a:off x="7776210" y="3501390"/>
            <a:ext cx="0" cy="59436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文本框 87"/>
          <p:cNvSpPr txBox="1"/>
          <p:nvPr/>
        </p:nvSpPr>
        <p:spPr>
          <a:xfrm>
            <a:off x="7789545" y="3392805"/>
            <a:ext cx="6299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00FF"/>
                </a:solidFill>
              </a:rPr>
              <a:t>F</a:t>
            </a:r>
            <a:r>
              <a:rPr lang="en-US" altLang="zh-CN" baseline="-25000">
                <a:solidFill>
                  <a:srgbClr val="0000FF"/>
                </a:solidFill>
              </a:rPr>
              <a:t>r6</a:t>
            </a:r>
            <a:endParaRPr lang="en-US" altLang="zh-CN" baseline="-25000">
              <a:solidFill>
                <a:srgbClr val="0000FF"/>
              </a:solidFill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6083935" y="1763395"/>
            <a:ext cx="323215" cy="451485"/>
            <a:chOff x="9581" y="2777"/>
            <a:chExt cx="509" cy="711"/>
          </a:xfrm>
        </p:grpSpPr>
        <p:cxnSp>
          <p:nvCxnSpPr>
            <p:cNvPr id="89" name="直接连接符 88"/>
            <p:cNvCxnSpPr/>
            <p:nvPr/>
          </p:nvCxnSpPr>
          <p:spPr>
            <a:xfrm flipH="1">
              <a:off x="9718" y="2777"/>
              <a:ext cx="288" cy="695"/>
            </a:xfrm>
            <a:prstGeom prst="line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直接连接符 89"/>
            <p:cNvCxnSpPr/>
            <p:nvPr/>
          </p:nvCxnSpPr>
          <p:spPr>
            <a:xfrm flipH="1">
              <a:off x="9581" y="2792"/>
              <a:ext cx="287" cy="696"/>
            </a:xfrm>
            <a:prstGeom prst="line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" name="直接连接符 90"/>
            <p:cNvCxnSpPr/>
            <p:nvPr/>
          </p:nvCxnSpPr>
          <p:spPr>
            <a:xfrm flipH="1">
              <a:off x="9808" y="2808"/>
              <a:ext cx="282" cy="680"/>
            </a:xfrm>
            <a:prstGeom prst="line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3" name="组合 92"/>
          <p:cNvGrpSpPr/>
          <p:nvPr/>
        </p:nvGrpSpPr>
        <p:grpSpPr>
          <a:xfrm flipH="1">
            <a:off x="2145030" y="1763395"/>
            <a:ext cx="323215" cy="451485"/>
            <a:chOff x="9581" y="2777"/>
            <a:chExt cx="509" cy="711"/>
          </a:xfrm>
        </p:grpSpPr>
        <p:cxnSp>
          <p:nvCxnSpPr>
            <p:cNvPr id="94" name="直接连接符 93"/>
            <p:cNvCxnSpPr/>
            <p:nvPr/>
          </p:nvCxnSpPr>
          <p:spPr>
            <a:xfrm flipH="1">
              <a:off x="9718" y="2777"/>
              <a:ext cx="288" cy="695"/>
            </a:xfrm>
            <a:prstGeom prst="line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" name="直接连接符 94"/>
            <p:cNvCxnSpPr/>
            <p:nvPr/>
          </p:nvCxnSpPr>
          <p:spPr>
            <a:xfrm flipH="1">
              <a:off x="9581" y="2792"/>
              <a:ext cx="287" cy="696"/>
            </a:xfrm>
            <a:prstGeom prst="line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" name="直接连接符 95"/>
            <p:cNvCxnSpPr/>
            <p:nvPr/>
          </p:nvCxnSpPr>
          <p:spPr>
            <a:xfrm flipH="1">
              <a:off x="9808" y="2808"/>
              <a:ext cx="282" cy="680"/>
            </a:xfrm>
            <a:prstGeom prst="line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43" grpId="0"/>
      <p:bldP spid="45" grpId="0"/>
      <p:bldP spid="46" grpId="0"/>
      <p:bldP spid="48" grpId="0"/>
      <p:bldP spid="53" grpId="0"/>
      <p:bldP spid="58" grpId="0"/>
      <p:bldP spid="60" grpId="0"/>
      <p:bldP spid="62" grpId="0"/>
      <p:bldP spid="67" grpId="0"/>
      <p:bldP spid="69" grpId="0"/>
      <p:bldP spid="71" grpId="0"/>
      <p:bldP spid="76" grpId="0"/>
      <p:bldP spid="78" grpId="0"/>
      <p:bldP spid="83" grpId="0"/>
      <p:bldP spid="85" grpId="0"/>
      <p:bldP spid="86" grpId="0" bldLvl="0" animBg="1"/>
      <p:bldP spid="8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22400" y="1764030"/>
            <a:ext cx="5197475" cy="414718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3717290" y="1901825"/>
            <a:ext cx="502920" cy="0"/>
          </a:xfrm>
          <a:prstGeom prst="straightConnector1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stealth" w="lg" len="lg"/>
          </a:ln>
        </p:spPr>
      </p:cxn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17290" y="1538605"/>
          <a:ext cx="23939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177165" imgH="215900" progId="Equation.KSEE3">
                  <p:embed/>
                </p:oleObj>
              </mc:Choice>
              <mc:Fallback>
                <p:oleObj name="" r:id="rId3" imgW="177165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17290" y="1538605"/>
                        <a:ext cx="239395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717290" y="1133475"/>
            <a:ext cx="74485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22195" y="1133475"/>
            <a:ext cx="74485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Ⅱ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07480" y="4823460"/>
            <a:ext cx="74485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Ⅲ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41875" y="3563620"/>
            <a:ext cx="74485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Ⅳ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522000" y="2169085"/>
            <a:ext cx="43650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/>
              <a:t>（</a:t>
            </a:r>
            <a:r>
              <a:rPr lang="en-US" altLang="zh-CN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）欲使重物</a:t>
            </a:r>
            <a:r>
              <a:rPr lang="en-US" altLang="zh-CN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</a:t>
            </a: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上升</a:t>
            </a:r>
            <a:r>
              <a:rPr lang="en-US" altLang="zh-CN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1m</a:t>
            </a: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，手柄应转多少转？并在图上标出手柄的转动方向。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）该机械能否自锁？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）若重物重力</a:t>
            </a:r>
            <a:r>
              <a:rPr lang="en-US" altLang="zh-CN" sz="2000" dirty="0" err="1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Fw</a:t>
            </a:r>
            <a:r>
              <a:rPr lang="en-US" altLang="zh-CN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=5000N ,</a:t>
            </a: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手摇手柄时施加的力</a:t>
            </a:r>
            <a:r>
              <a:rPr lang="en-US" altLang="zh-CN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F=100N</a:t>
            </a: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，手柄转臂的长度</a:t>
            </a:r>
            <a:r>
              <a:rPr lang="en-US" altLang="zh-CN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</a:t>
            </a: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应是多少？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）按起重力</a:t>
            </a:r>
            <a:r>
              <a:rPr lang="en-US" altLang="zh-CN" sz="2000" dirty="0" err="1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Fw</a:t>
            </a:r>
            <a:r>
              <a:rPr lang="en-US" altLang="zh-CN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=5000N ,</a:t>
            </a: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确定在节点处啮合时各对分力的大小和方向。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000" dirty="0" smtClean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）假设蜗杆传动为不自锁，当重物匀速下落时，确定节点处各分力的方向。</a:t>
            </a:r>
            <a:endParaRPr lang="en-US" altLang="zh-CN" sz="2000" dirty="0" smtClean="0">
              <a:solidFill>
                <a:schemeClr val="tx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>
              <a:solidFill>
                <a:schemeClr val="tx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6830" y="2169420"/>
            <a:ext cx="3790950" cy="285750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387350" y="504190"/>
            <a:ext cx="845502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 hangingPunct="1">
              <a:lnSpc>
                <a:spcPct val="120000"/>
              </a:lnSpc>
            </a:pP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0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11-7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 </a:t>
            </a:r>
            <a:r>
              <a:rPr lang="zh-CN" altLang="en-US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如图所示的手摇起重绞车采用蜗杆传动。已知模数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m=8mm</a:t>
            </a:r>
            <a:r>
              <a:rPr lang="zh-CN" altLang="en-US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，蜗杆头数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en-US" altLang="zh-CN" sz="2000" baseline="-25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=1,</a:t>
            </a:r>
            <a:r>
              <a:rPr lang="zh-CN" altLang="en-US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蜗杆分度圆直径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2000" baseline="-25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=80mm</a:t>
            </a:r>
            <a:r>
              <a:rPr lang="zh-CN" altLang="en-US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。蜗轮齿数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en-US" altLang="zh-CN" sz="2000" baseline="-25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=40,</a:t>
            </a:r>
            <a:r>
              <a:rPr lang="zh-CN" altLang="en-US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卷筒直径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D=200mm</a:t>
            </a:r>
            <a:r>
              <a:rPr lang="zh-CN" altLang="en-US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，蜗杆与蜗轮间的当量摩擦因数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</a:t>
            </a:r>
            <a:r>
              <a:rPr lang="zh-CN" altLang="en-US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轴承和卷筒中的摩擦损失等于</a:t>
            </a:r>
            <a:r>
              <a:rPr lang="en-US" altLang="zh-CN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6%</a:t>
            </a:r>
            <a:r>
              <a:rPr lang="zh-CN" altLang="en-US" sz="2000" dirty="0" smtClean="0">
                <a:solidFill>
                  <a:schemeClr val="accent4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，问：</a:t>
            </a:r>
            <a:endParaRPr lang="zh-CN" altLang="en-US" sz="2000" dirty="0" smtClean="0">
              <a:solidFill>
                <a:schemeClr val="accent4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3447145" y="1224170"/>
                <a:ext cx="17100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zh-CN" dirty="0" smtClean="0"/>
                  <a:t>=0.18</a:t>
                </a:r>
                <a:r>
                  <a:rPr lang="zh-CN" altLang="en-US" dirty="0" smtClean="0"/>
                  <a:t>，</a:t>
                </a:r>
                <a:endParaRPr lang="zh-CN" altLang="en-US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145" y="1224170"/>
                <a:ext cx="1710000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21" t="-122" r="18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02000" y="189000"/>
            <a:ext cx="724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[</a:t>
            </a:r>
            <a:r>
              <a:rPr lang="zh-CN" altLang="en-US" dirty="0" smtClean="0"/>
              <a:t>解</a:t>
            </a:r>
            <a:r>
              <a:rPr lang="en-US" altLang="zh-CN" dirty="0" smtClean="0"/>
              <a:t>]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37000" y="774000"/>
            <a:ext cx="315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(1)</a:t>
            </a:r>
            <a:r>
              <a:rPr lang="zh-CN" altLang="en-US" dirty="0" smtClean="0">
                <a:solidFill>
                  <a:srgbClr val="C00000"/>
                </a:solidFill>
              </a:rPr>
              <a:t>传动比</a:t>
            </a:r>
            <a:endParaRPr lang="zh-CN" alt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377000" y="1314000"/>
                <a:ext cx="4230000" cy="628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altLang="zh-CN" sz="2400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000" y="1314000"/>
                <a:ext cx="4230000" cy="628057"/>
              </a:xfrm>
              <a:prstGeom prst="rect">
                <a:avLst/>
              </a:prstGeom>
              <a:blipFill rotWithShape="1">
                <a:blip r:embed="rId1"/>
                <a:stretch>
                  <a:fillRect l="-8" t="-29" r="14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612000" y="1854000"/>
            <a:ext cx="70200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设重物上升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1m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，卷筒转</a:t>
            </a:r>
            <a:r>
              <a:rPr lang="zh-CN" altLang="en-US" dirty="0" smtClean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的圈数为</a:t>
            </a:r>
            <a:r>
              <a:rPr lang="en-US" altLang="zh-CN" dirty="0" smtClean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 smtClean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dirty="0" smtClean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68025" y="3860880"/>
            <a:ext cx="61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(2)</a:t>
            </a:r>
            <a:r>
              <a:rPr lang="zh-CN" altLang="en-US" dirty="0" smtClean="0">
                <a:solidFill>
                  <a:srgbClr val="C00000"/>
                </a:solidFill>
              </a:rPr>
              <a:t>校核自锁性</a:t>
            </a:r>
            <a:endParaRPr lang="zh-CN" alt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702000" y="4509000"/>
                <a:ext cx="6795000" cy="5988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𝑎𝑟𝑐𝑡𝑎𝑛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𝑎𝑟𝑐𝑡𝑎𝑛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71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00" y="4509000"/>
                <a:ext cx="6795000" cy="598818"/>
              </a:xfrm>
              <a:prstGeom prst="rect">
                <a:avLst/>
              </a:prstGeom>
              <a:blipFill rotWithShape="1">
                <a:blip r:embed="rId2"/>
                <a:stretch>
                  <a:fillRect l="-5" t="-83" r="3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92000" y="5274000"/>
                <a:ext cx="4545000" cy="473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𝑎𝑟𝑐𝑡𝑎𝑛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𝑎𝑟𝑐𝑡𝑎𝑛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18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00" y="5274000"/>
                <a:ext cx="4545000" cy="473206"/>
              </a:xfrm>
              <a:prstGeom prst="rect">
                <a:avLst/>
              </a:prstGeom>
              <a:blipFill rotWithShape="1">
                <a:blip r:embed="rId3"/>
                <a:stretch>
                  <a:fillRect l="-3" t="-69" r="10" b="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612000" y="5904000"/>
                <a:ext cx="18900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00" y="5904000"/>
                <a:ext cx="1890000" cy="430887"/>
              </a:xfrm>
              <a:prstGeom prst="rect">
                <a:avLst/>
              </a:prstGeom>
              <a:blipFill rotWithShape="1">
                <a:blip r:embed="rId4"/>
                <a:stretch>
                  <a:fillRect l="-26" t="-94" r="5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2412000" y="5904000"/>
            <a:ext cx="382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所以该机构能自锁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1450" y="2889550"/>
            <a:ext cx="3790950" cy="2857500"/>
          </a:xfrm>
          <a:prstGeom prst="rect">
            <a:avLst/>
          </a:prstGeom>
        </p:spPr>
      </p:pic>
      <p:cxnSp>
        <p:nvCxnSpPr>
          <p:cNvPr id="16" name="直接箭头连接符 15"/>
          <p:cNvCxnSpPr/>
          <p:nvPr/>
        </p:nvCxnSpPr>
        <p:spPr bwMode="auto">
          <a:xfrm flipV="1">
            <a:off x="7362000" y="3069000"/>
            <a:ext cx="0" cy="54000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7" name="文本框 16"/>
          <p:cNvSpPr txBox="1"/>
          <p:nvPr/>
        </p:nvSpPr>
        <p:spPr>
          <a:xfrm>
            <a:off x="7452000" y="2754000"/>
            <a:ext cx="49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n</a:t>
            </a:r>
            <a:r>
              <a:rPr lang="en-US" altLang="zh-CN" baseline="-25000" dirty="0" smtClean="0">
                <a:solidFill>
                  <a:srgbClr val="C00000"/>
                </a:solidFill>
              </a:rPr>
              <a:t>1</a:t>
            </a:r>
            <a:endParaRPr lang="zh-CN" altLang="en-US" baseline="-25000" dirty="0">
              <a:solidFill>
                <a:srgbClr val="C0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37085" y="3320965"/>
            <a:ext cx="364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手柄转动方向如图所示。</a:t>
            </a:r>
            <a:endParaRPr lang="zh-CN" altLang="en-US" dirty="0"/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130483" y="1701165"/>
          <a:ext cx="2994025" cy="610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6" imgW="1930400" imgH="393700" progId="Equation.KSEE3">
                  <p:embed/>
                </p:oleObj>
              </mc:Choice>
              <mc:Fallback>
                <p:oleObj name="" r:id="rId6" imgW="1930400" imgH="3937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30483" y="1701165"/>
                        <a:ext cx="2994025" cy="610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647560" y="2304215"/>
            <a:ext cx="70200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手柄转</a:t>
            </a:r>
            <a:r>
              <a:rPr lang="zh-CN" altLang="en-US" dirty="0" smtClean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的圈数为</a:t>
            </a:r>
            <a:r>
              <a:rPr lang="en-US" altLang="zh-CN" dirty="0" smtClean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dirty="0" smtClean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3940" y="2816860"/>
          <a:ext cx="3340100" cy="370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8" imgW="1600200" imgH="177165" progId="Equation.KSEE3">
                  <p:embed/>
                </p:oleObj>
              </mc:Choice>
              <mc:Fallback>
                <p:oleObj name="" r:id="rId8" imgW="1600200" imgH="17716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43940" y="2816860"/>
                        <a:ext cx="3340100" cy="370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7" grpId="0"/>
      <p:bldP spid="18" grpId="0"/>
      <p:bldP spid="14" grpId="0"/>
      <p:bldP spid="1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02000" y="189000"/>
            <a:ext cx="724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[</a:t>
            </a:r>
            <a:r>
              <a:rPr lang="zh-CN" altLang="en-US" dirty="0" smtClean="0"/>
              <a:t>解</a:t>
            </a:r>
            <a:r>
              <a:rPr lang="en-US" altLang="zh-CN" dirty="0" smtClean="0"/>
              <a:t>]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37000" y="774000"/>
            <a:ext cx="315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(1)</a:t>
            </a:r>
            <a:r>
              <a:rPr lang="zh-CN" altLang="en-US" dirty="0" smtClean="0">
                <a:solidFill>
                  <a:srgbClr val="C00000"/>
                </a:solidFill>
              </a:rPr>
              <a:t>传动比</a:t>
            </a:r>
            <a:endParaRPr lang="zh-CN" alt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1377000" y="1314000"/>
                <a:ext cx="4230000" cy="628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altLang="zh-CN" sz="2400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000" y="1314000"/>
                <a:ext cx="4230000" cy="628057"/>
              </a:xfrm>
              <a:prstGeom prst="rect">
                <a:avLst/>
              </a:prstGeom>
              <a:blipFill rotWithShape="1">
                <a:blip r:embed="rId1"/>
                <a:stretch>
                  <a:fillRect l="-8" t="-29" r="14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612000" y="1854000"/>
            <a:ext cx="70200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设重物上升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1m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，手柄应转</a:t>
            </a:r>
            <a:r>
              <a:rPr lang="en-US" altLang="zh-CN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转，卷筒转</a:t>
            </a:r>
            <a:r>
              <a:rPr lang="en-US" altLang="zh-CN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 smtClean="0">
                <a:solidFill>
                  <a:srgbClr val="C00000"/>
                </a:solidFill>
              </a:rPr>
              <a:t>/</a:t>
            </a:r>
            <a:r>
              <a:rPr lang="en-US" altLang="zh-CN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i="1" dirty="0" smtClean="0">
                <a:solidFill>
                  <a:srgbClr val="C00000"/>
                </a:solidFill>
                <a:latin typeface="仿宋" panose="02010609060101010101" charset="-122"/>
                <a:ea typeface="仿宋" panose="02010609060101010101" charset="-122"/>
              </a:rPr>
              <a:t> </a:t>
            </a:r>
            <a:r>
              <a:rPr lang="zh-CN" altLang="en-US" dirty="0" smtClean="0"/>
              <a:t>转，则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377000" y="2259000"/>
                <a:ext cx="4950000" cy="545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D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altLang="zh-CN" dirty="0" smtClean="0"/>
                  <a:t>=1000mm</a:t>
                </a:r>
                <a:endParaRPr lang="zh-CN" altLang="en-US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000" y="2259000"/>
                <a:ext cx="4950000" cy="545342"/>
              </a:xfrm>
              <a:prstGeom prst="rect">
                <a:avLst/>
              </a:prstGeom>
              <a:blipFill rotWithShape="1">
                <a:blip r:embed="rId2"/>
                <a:stretch>
                  <a:fillRect l="-6" t="-56" r="10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152000" y="2754000"/>
                <a:ext cx="4950000" cy="572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200</m:t>
                        </m:r>
                      </m:den>
                    </m:f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40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63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000" y="2754000"/>
                <a:ext cx="4950000" cy="572977"/>
              </a:xfrm>
              <a:prstGeom prst="rect">
                <a:avLst/>
              </a:prstGeom>
              <a:blipFill rotWithShape="1">
                <a:blip r:embed="rId3"/>
                <a:stretch>
                  <a:fillRect l="-2" t="-1" r="6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522000" y="4059000"/>
            <a:ext cx="61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(2)</a:t>
            </a:r>
            <a:r>
              <a:rPr lang="zh-CN" altLang="en-US" dirty="0" smtClean="0">
                <a:solidFill>
                  <a:srgbClr val="C00000"/>
                </a:solidFill>
              </a:rPr>
              <a:t>校核自锁性</a:t>
            </a:r>
            <a:endParaRPr lang="zh-CN" alt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702000" y="4509000"/>
                <a:ext cx="6795000" cy="5988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𝑎𝑟𝑐𝑡𝑎𝑛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𝑎𝑟𝑐𝑡𝑎𝑛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71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00" y="4509000"/>
                <a:ext cx="6795000" cy="598818"/>
              </a:xfrm>
              <a:prstGeom prst="rect">
                <a:avLst/>
              </a:prstGeom>
              <a:blipFill rotWithShape="1">
                <a:blip r:embed="rId4"/>
                <a:stretch>
                  <a:fillRect l="-5" t="-83" r="3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92000" y="5274000"/>
                <a:ext cx="4545000" cy="473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𝑎𝑟𝑐𝑡𝑎𝑛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𝑎𝑟𝑐𝑡𝑎𝑛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18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00" y="5274000"/>
                <a:ext cx="4545000" cy="473206"/>
              </a:xfrm>
              <a:prstGeom prst="rect">
                <a:avLst/>
              </a:prstGeom>
              <a:blipFill rotWithShape="1">
                <a:blip r:embed="rId5"/>
                <a:stretch>
                  <a:fillRect l="-3" t="-69" r="10" b="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612000" y="5904000"/>
                <a:ext cx="18900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00" y="5904000"/>
                <a:ext cx="1890000" cy="430887"/>
              </a:xfrm>
              <a:prstGeom prst="rect">
                <a:avLst/>
              </a:prstGeom>
              <a:blipFill rotWithShape="1">
                <a:blip r:embed="rId6"/>
                <a:stretch>
                  <a:fillRect l="-26" t="-94" r="5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2412000" y="5904000"/>
            <a:ext cx="382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所以该机构能自锁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7000" y="2934000"/>
            <a:ext cx="3790950" cy="2857500"/>
          </a:xfrm>
          <a:prstGeom prst="rect">
            <a:avLst/>
          </a:prstGeom>
        </p:spPr>
      </p:pic>
      <p:cxnSp>
        <p:nvCxnSpPr>
          <p:cNvPr id="16" name="直接箭头连接符 15"/>
          <p:cNvCxnSpPr/>
          <p:nvPr/>
        </p:nvCxnSpPr>
        <p:spPr bwMode="auto">
          <a:xfrm flipV="1">
            <a:off x="7362000" y="3069000"/>
            <a:ext cx="0" cy="54000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7" name="文本框 16"/>
          <p:cNvSpPr txBox="1"/>
          <p:nvPr/>
        </p:nvSpPr>
        <p:spPr>
          <a:xfrm>
            <a:off x="7452000" y="2754000"/>
            <a:ext cx="49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n</a:t>
            </a:r>
            <a:r>
              <a:rPr lang="en-US" altLang="zh-CN" baseline="-25000" dirty="0" smtClean="0">
                <a:solidFill>
                  <a:srgbClr val="C00000"/>
                </a:solidFill>
              </a:rPr>
              <a:t>1</a:t>
            </a:r>
            <a:endParaRPr lang="zh-CN" altLang="en-US" baseline="-25000" dirty="0">
              <a:solidFill>
                <a:srgbClr val="C0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92000" y="3474000"/>
            <a:ext cx="364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手柄转动方向如图所示。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7" grpId="0"/>
      <p:bldP spid="18" grpId="0"/>
      <p:bldP spid="14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22000" y="324000"/>
            <a:ext cx="63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</a:rPr>
              <a:t>（</a:t>
            </a:r>
            <a:r>
              <a:rPr lang="en-US" altLang="zh-CN" dirty="0" smtClean="0">
                <a:solidFill>
                  <a:srgbClr val="C00000"/>
                </a:solidFill>
              </a:rPr>
              <a:t>3</a:t>
            </a:r>
            <a:r>
              <a:rPr lang="zh-CN" altLang="en-US" dirty="0" smtClean="0">
                <a:solidFill>
                  <a:srgbClr val="C00000"/>
                </a:solidFill>
              </a:rPr>
              <a:t>）求手柄长度</a:t>
            </a:r>
            <a:r>
              <a:rPr lang="en-US" altLang="zh-CN" dirty="0" smtClean="0">
                <a:solidFill>
                  <a:srgbClr val="C00000"/>
                </a:solidFill>
              </a:rPr>
              <a:t>L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72000" y="864000"/>
            <a:ext cx="634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传动总效率为</a:t>
            </a:r>
            <a:r>
              <a:rPr lang="en-US" altLang="zh-CN" dirty="0" smtClean="0"/>
              <a:t>: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927100" y="1224280"/>
                <a:ext cx="6770370" cy="149987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06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）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94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𝑡𝑎𝑛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tan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    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94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𝑡𝑎𝑛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17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tan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17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°)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329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00" y="1224280"/>
                <a:ext cx="6770370" cy="149987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196975" y="2799080"/>
                <a:ext cx="2924810" cy="566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f>
                      <m:fPr>
                        <m:type m:val="skw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975" y="2799080"/>
                <a:ext cx="2924810" cy="5664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332125" y="3879005"/>
                <a:ext cx="14400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𝐹𝐿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125" y="3879005"/>
                <a:ext cx="1440000" cy="430887"/>
              </a:xfrm>
              <a:prstGeom prst="rect">
                <a:avLst/>
              </a:prstGeom>
              <a:blipFill rotWithShape="1">
                <a:blip r:embed="rId3"/>
                <a:stretch>
                  <a:fillRect l="-37" t="-99" r="24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332210" y="3384675"/>
                <a:ext cx="14400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210" y="3384675"/>
                <a:ext cx="1440000" cy="430887"/>
              </a:xfrm>
              <a:prstGeom prst="rect">
                <a:avLst/>
              </a:prstGeom>
              <a:blipFill rotWithShape="1">
                <a:blip r:embed="rId4"/>
                <a:stretch>
                  <a:fillRect l="-43" t="-29" r="30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4032000" y="2754000"/>
            <a:ext cx="2565000" cy="63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3582000" y="3294000"/>
                <a:ext cx="27000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f>
                      <m:fPr>
                        <m:type m:val="skw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CN" altLang="en-US" b="0" i="1" dirty="0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𝐹𝐿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000" y="3294000"/>
                <a:ext cx="2700000" cy="430887"/>
              </a:xfrm>
              <a:prstGeom prst="rect">
                <a:avLst/>
              </a:prstGeom>
              <a:blipFill rotWithShape="1">
                <a:blip r:embed="rId5"/>
                <a:stretch>
                  <a:fillRect l="-22" t="-59" r="21" b="-19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1962000" y="4689255"/>
                <a:ext cx="4860000" cy="661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CN" sz="2400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2400" i="1" dirty="0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altLang="zh-CN" sz="2400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5000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200</m:t>
                        </m:r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40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329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altLang="zh-CN" sz="2400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380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𝑚𝑚</m:t>
                    </m:r>
                  </m:oMath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000" y="4689255"/>
                <a:ext cx="4860000" cy="661784"/>
              </a:xfrm>
              <a:prstGeom prst="rect">
                <a:avLst/>
              </a:prstGeom>
              <a:blipFill rotWithShape="1">
                <a:blip r:embed="rId6"/>
                <a:stretch>
                  <a:fillRect l="-10" t="-63" r="4" b="-22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右大括号 12"/>
          <p:cNvSpPr/>
          <p:nvPr/>
        </p:nvSpPr>
        <p:spPr bwMode="auto">
          <a:xfrm>
            <a:off x="2907085" y="3249510"/>
            <a:ext cx="405719" cy="990000"/>
          </a:xfrm>
          <a:prstGeom prst="rightBrace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22000" y="324000"/>
            <a:ext cx="63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</a:rPr>
              <a:t>（</a:t>
            </a:r>
            <a:r>
              <a:rPr lang="en-US" altLang="zh-CN" dirty="0" smtClean="0">
                <a:solidFill>
                  <a:srgbClr val="C00000"/>
                </a:solidFill>
              </a:rPr>
              <a:t>4</a:t>
            </a:r>
            <a:r>
              <a:rPr lang="zh-CN" altLang="en-US" dirty="0" smtClean="0">
                <a:solidFill>
                  <a:srgbClr val="C00000"/>
                </a:solidFill>
              </a:rPr>
              <a:t>）求节点处各对分力的大小：</a:t>
            </a:r>
            <a:endParaRPr lang="zh-CN" alt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57225" y="1089025"/>
                <a:ext cx="2028190" cy="566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f>
                      <m:fPr>
                        <m:type m:val="skw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5" y="1089025"/>
                <a:ext cx="2028190" cy="56642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187000" y="1044000"/>
                <a:ext cx="3735000" cy="571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5000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200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Nmm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000" y="1044000"/>
                <a:ext cx="3735000" cy="571118"/>
              </a:xfrm>
              <a:prstGeom prst="rect">
                <a:avLst/>
              </a:prstGeom>
              <a:blipFill rotWithShape="1">
                <a:blip r:embed="rId2"/>
                <a:stretch>
                  <a:fillRect l="-2" t="-11" r="17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57000" y="1719000"/>
                <a:ext cx="5760000" cy="676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b="0" i="1" dirty="0" smtClean="0">
                            <a:latin typeface="Cambria Math" panose="02040503050406030204" pitchFamily="18" charset="0"/>
                          </a:rPr>
                          <m:t>𝜂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329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CN" dirty="0" smtClean="0"/>
                  <a:t>Nmm</a:t>
                </a:r>
                <a:endParaRPr lang="zh-CN" altLang="en-US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00" y="1719000"/>
                <a:ext cx="5760000" cy="676275"/>
              </a:xfrm>
              <a:prstGeom prst="rect">
                <a:avLst/>
              </a:prstGeom>
              <a:blipFill rotWithShape="1">
                <a:blip r:embed="rId3"/>
                <a:stretch>
                  <a:fillRect l="-7" t="-8" r="6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702000" y="2529000"/>
                <a:ext cx="5760000" cy="617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altLang="zh-CN" dirty="0" smtClean="0"/>
                  <a:t>=950N</a:t>
                </a:r>
                <a:endParaRPr lang="zh-CN" altLang="en-US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00" y="2529000"/>
                <a:ext cx="5760000" cy="617285"/>
              </a:xfrm>
              <a:prstGeom prst="rect">
                <a:avLst/>
              </a:prstGeom>
              <a:blipFill rotWithShape="1">
                <a:blip r:embed="rId4"/>
                <a:stretch>
                  <a:fillRect l="-6" t="-70" r="4" b="-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747000" y="3294000"/>
                <a:ext cx="5760000" cy="624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r>
                  <a:rPr lang="en-US" altLang="zh-CN" dirty="0" smtClean="0"/>
                  <a:t>=3125N</a:t>
                </a:r>
                <a:endParaRPr lang="zh-CN" altLang="en-US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000" y="3294000"/>
                <a:ext cx="5760000" cy="624658"/>
              </a:xfrm>
              <a:prstGeom prst="rect">
                <a:avLst/>
              </a:prstGeom>
              <a:blipFill rotWithShape="1">
                <a:blip r:embed="rId5"/>
                <a:stretch>
                  <a:fillRect l="-4" t="-41" r="3" b="-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522000" y="4104000"/>
                <a:ext cx="6435000" cy="951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𝑡𝑎𝑛</m:t>
                        </m:r>
                        <m:r>
                          <a:rPr lang="zh-CN" altLang="en-US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i="1" dirty="0" smtClean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            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3125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𝑡𝑎𝑛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1137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0" y="4104000"/>
                <a:ext cx="6435000" cy="951864"/>
              </a:xfrm>
              <a:prstGeom prst="rect">
                <a:avLst/>
              </a:prstGeom>
              <a:blipFill rotWithShape="1">
                <a:blip r:embed="rId6"/>
                <a:stretch>
                  <a:fillRect t="-66" r="9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7"/>
          <a:srcRect l="11274" t="5446" r="8169"/>
          <a:stretch>
            <a:fillRect/>
          </a:stretch>
        </p:blipFill>
        <p:spPr>
          <a:xfrm>
            <a:off x="5067000" y="2664000"/>
            <a:ext cx="3735000" cy="364659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57000" y="5454000"/>
            <a:ext cx="328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各分力的方向如图所示。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7000" y="954000"/>
            <a:ext cx="8055000" cy="1235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latinLnBrk="0" hangingPunct="1">
              <a:lnSpc>
                <a:spcPct val="120000"/>
              </a:lnSpc>
            </a:pPr>
            <a:r>
              <a:rPr lang="zh-CN" altLang="en-US" dirty="0" smtClean="0"/>
              <a:t>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）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假设蜗杆传动为不自锁，当重物匀速下降时，蜗轮是主动轮，蜗轮和蜗杆的传动方向与重物匀速上升时正相反，故此时节点处分力的方向与重物上升相同。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7000" y="2574040"/>
            <a:ext cx="3657600" cy="3676650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 bwMode="auto">
          <a:xfrm>
            <a:off x="5067000" y="2934040"/>
            <a:ext cx="0" cy="45000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82035" y="368935"/>
            <a:ext cx="3291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5">
                    <a:lumMod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本章小结</a:t>
            </a:r>
            <a:endParaRPr lang="zh-CN" altLang="en-US" sz="2400">
              <a:solidFill>
                <a:schemeClr val="accent5">
                  <a:lumMod val="1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6115" y="998855"/>
            <a:ext cx="781177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本章重点：</a:t>
            </a:r>
            <a:endParaRPr lang="zh-CN" altLang="en-US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1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、蜗杆传动的轮齿受力分析是重点内容，要求熟练掌握。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2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、蜗轮的材料特性及其选用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3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、阿基米德蜗杆传动的设计。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7055" y="2888615"/>
            <a:ext cx="7811770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学习要点：</a:t>
            </a:r>
            <a:endParaRPr lang="zh-CN" altLang="en-US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1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、蜗杆分度圆直径及蜗杆传动的传动比。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60166"/>
          <a:stretch>
            <a:fillRect/>
          </a:stretch>
        </p:blipFill>
        <p:spPr>
          <a:xfrm>
            <a:off x="432435" y="3878345"/>
            <a:ext cx="8115300" cy="2375135"/>
          </a:xfrm>
          <a:prstGeom prst="rect">
            <a:avLst/>
          </a:prstGeom>
          <a:ln w="19050"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1970" y="504190"/>
            <a:ext cx="747903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latinLnBrk="0" hangingPunct="1">
              <a:lnSpc>
                <a:spcPct val="150000"/>
              </a:lnSpc>
            </a:pP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、蜗轮齿数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Z</a:t>
            </a: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的选择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</a:t>
            </a: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2140" y="3023870"/>
            <a:ext cx="747903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latinLnBrk="0" hangingPunct="1">
              <a:lnSpc>
                <a:spcPct val="150000"/>
              </a:lnSpc>
            </a:pP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3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、蜗</a:t>
            </a:r>
            <a:r>
              <a:rPr 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杆传动的受力分析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6632" b="41228"/>
          <a:stretch>
            <a:fillRect/>
          </a:stretch>
        </p:blipFill>
        <p:spPr>
          <a:xfrm>
            <a:off x="158750" y="3519170"/>
            <a:ext cx="8386445" cy="31677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88695" y="1072515"/>
            <a:ext cx="74803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latinLnBrk="0" hangingPunct="1">
              <a:lnSpc>
                <a:spcPct val="15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选择蜗轮齿数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</a:t>
            </a:r>
            <a:r>
              <a:rPr lang="en-US" altLang="zh-CN" sz="2000" baseline="-25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时，应注意避免在用蜗轮滚道切制蜗轮时产生根切，并满足传动比的要求。一般要求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</a:t>
            </a:r>
            <a:r>
              <a:rPr lang="en-US" altLang="zh-CN" sz="2000" baseline="-25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&gt;28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，齿数越多，蜗轮尺寸越大，蜗杆轴越长，刚度越小，因此蜗轮齿数不宜多余穷，</a:t>
            </a:r>
            <a:r>
              <a:rPr lang="zh-CN" altLang="en-US" sz="20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一般取</a:t>
            </a:r>
            <a:r>
              <a:rPr lang="en-US" altLang="zh-CN" sz="20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</a:t>
            </a:r>
            <a:r>
              <a:rPr lang="en-US" altLang="zh-CN" sz="2000" b="1" baseline="-250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20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=32~80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除用于分度机构外，一般采用表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3.11-2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中推荐的值。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3493770" y="4370070"/>
            <a:ext cx="3472815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" name="直接连接符 2"/>
          <p:cNvCxnSpPr/>
          <p:nvPr/>
        </p:nvCxnSpPr>
        <p:spPr>
          <a:xfrm>
            <a:off x="4415790" y="6308725"/>
            <a:ext cx="2908935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2310" y="774065"/>
            <a:ext cx="77292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latinLnBrk="0" hangingPunct="1">
              <a:lnSpc>
                <a:spcPct val="150000"/>
              </a:lnSpc>
            </a:pP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、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由于蜗杆螺旋部分从材质和齿形上，其强度总是高于蜗轮轮齿的强度，故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失效常发生在蜗轮轮齿上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。在进行齿面接触强度和齿根弯曲强度计算时，是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以蜗轮为主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；进行刚度计算时，因蜗杆轴较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pitchFamily="49" charset="-122"/>
              </a:rPr>
              <a:t>细，且支承间距较长，因此以蜗杆轴为主。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" y="1944000"/>
            <a:ext cx="8685000" cy="375734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31098"/>
          <a:stretch>
            <a:fillRect/>
          </a:stretch>
        </p:blipFill>
        <p:spPr>
          <a:xfrm>
            <a:off x="342265" y="1074230"/>
            <a:ext cx="8162925" cy="964755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 bwMode="auto">
          <a:xfrm>
            <a:off x="1107000" y="3024000"/>
            <a:ext cx="7200000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直接连接符 8"/>
          <p:cNvCxnSpPr/>
          <p:nvPr/>
        </p:nvCxnSpPr>
        <p:spPr bwMode="auto">
          <a:xfrm>
            <a:off x="522000" y="3474000"/>
            <a:ext cx="5535000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文本框 2"/>
          <p:cNvSpPr txBox="1"/>
          <p:nvPr/>
        </p:nvSpPr>
        <p:spPr>
          <a:xfrm>
            <a:off x="706120" y="506730"/>
            <a:ext cx="535114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r>
              <a:rPr lang="zh-CN" altLang="en-US"/>
              <a:t>、蜗杆传动的热平衡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22000" y="414000"/>
            <a:ext cx="7011000" cy="1866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eaLnBrk="1" hangingPunct="1">
              <a:lnSpc>
                <a:spcPct val="150000"/>
              </a:lnSpc>
              <a:buFontTx/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、当两轴线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时，可采用蜗杆传动。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50000"/>
              </a:lnSpc>
              <a:buFontTx/>
              <a:buNone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）平行；（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）相交；（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）垂直交错；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50000"/>
              </a:lnSpc>
              <a:buFontTx/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、在蜗杆传动中，通常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为主动件。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50000"/>
              </a:lnSpc>
              <a:buFontTx/>
              <a:buNone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）蜗杆；（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）蜗轮；（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）蜗杆或蜗轮都可以；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2592000" y="459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3</a:t>
            </a:r>
            <a:endParaRPr lang="en-US" dirty="0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3897000" y="1269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dirty="0" smtClean="0">
                <a:solidFill>
                  <a:srgbClr val="FF3300"/>
                </a:solidFill>
              </a:rPr>
              <a:t>1</a:t>
            </a:r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542312" y="2304000"/>
            <a:ext cx="862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、在蜗杆传动中，当需要自锁时，应使蜗杆导程角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u="sng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当量摩擦角。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）小于；（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）大于；（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）等于；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687000" y="2304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dirty="0" smtClean="0">
                <a:solidFill>
                  <a:srgbClr val="FF3300"/>
                </a:solidFill>
              </a:rPr>
              <a:t>1</a:t>
            </a:r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387000" y="5273745"/>
            <a:ext cx="85050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起吊重物用的手动蜗杆传动装置，应用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蜗杆。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）单头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大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导程角； 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）单头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、小导程角；</a:t>
            </a:r>
            <a:endParaRPr lang="en-US" altLang="zh-CN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）多头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、大导程角； 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）多头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、小导程角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742000" y="527383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dirty="0" smtClean="0">
                <a:solidFill>
                  <a:srgbClr val="FF3300"/>
                </a:solidFill>
              </a:rPr>
              <a:t>2</a:t>
            </a:r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432000" y="3068745"/>
            <a:ext cx="7920000" cy="2245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阿基米德蜗杆与蜗轮正确的啮合条件</a:t>
            </a:r>
            <a:r>
              <a:rPr lang="zh-CN" altLang="en-US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 </a:t>
            </a:r>
            <a:r>
              <a:rPr lang="zh-CN" altLang="en-US" sz="2000" u="sng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zh-CN" altLang="en-US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。</a:t>
            </a:r>
            <a:endParaRPr lang="en-US" altLang="zh-CN" sz="20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en-US" altLang="zh-CN" sz="2000" baseline="-25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=m</a:t>
            </a:r>
            <a:r>
              <a:rPr lang="en-US" altLang="zh-CN" sz="2000" baseline="-25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α</a:t>
            </a:r>
            <a:r>
              <a:rPr lang="en-US" altLang="zh-CN" sz="2000" baseline="-25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t1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=α</a:t>
            </a:r>
            <a:r>
              <a:rPr lang="en-US" altLang="zh-CN" sz="2000" baseline="-25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λ+β=90°</a:t>
            </a:r>
            <a:endParaRPr lang="en-US" altLang="zh-CN" sz="20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（</a:t>
            </a:r>
            <a:r>
              <a:rPr lang="en-US" altLang="zh-CN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en-US" altLang="zh-CN" sz="2000" baseline="-25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n1</a:t>
            </a:r>
            <a:r>
              <a:rPr lang="en-US" altLang="zh-CN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=m</a:t>
            </a:r>
            <a:r>
              <a:rPr lang="en-US" altLang="zh-CN" sz="2000" baseline="-25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n2  </a:t>
            </a:r>
            <a:r>
              <a:rPr lang="en-US" altLang="zh-CN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000" baseline="-25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n1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=α</a:t>
            </a:r>
            <a:r>
              <a:rPr lang="en-US" altLang="zh-CN" sz="2000" baseline="-25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n2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λ1=β2</a:t>
            </a:r>
            <a:endParaRPr lang="en-US" altLang="zh-CN" sz="20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en-US" altLang="zh-CN" sz="2000" baseline="-25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000" baseline="-25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=m</a:t>
            </a:r>
            <a:r>
              <a:rPr lang="en-US" altLang="zh-CN" sz="2000" baseline="-25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en-US" altLang="zh-CN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000" baseline="-25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000" baseline="-25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=α</a:t>
            </a:r>
            <a:r>
              <a:rPr lang="en-US" altLang="zh-CN" sz="2000" baseline="-25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t2 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λ+β=90°</a:t>
            </a:r>
            <a:endParaRPr lang="en-US" altLang="zh-CN" sz="20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en-US" altLang="zh-CN" sz="2000" baseline="-25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000" baseline="-25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=m</a:t>
            </a:r>
            <a:r>
              <a:rPr lang="en-US" altLang="zh-CN" sz="2000" baseline="-25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α</a:t>
            </a:r>
            <a:r>
              <a:rPr lang="en-US" altLang="zh-CN" sz="2000" baseline="-25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en-US" altLang="zh-CN" sz="2000" baseline="-25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=α</a:t>
            </a:r>
            <a:r>
              <a:rPr lang="en-US" altLang="zh-CN" sz="2000" baseline="-25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t2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0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λ1=β2</a:t>
            </a:r>
            <a:endParaRPr lang="en-US" altLang="zh-CN" sz="20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5967000" y="3159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dirty="0" smtClean="0">
                <a:solidFill>
                  <a:srgbClr val="FF3300"/>
                </a:solidFill>
              </a:rPr>
              <a:t>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/>
      <p:bldP spid="4" grpId="0" autoUpdateAnimBg="0" build="p"/>
      <p:bldP spid="6" grpId="0" autoUpdateAnimBg="0" build="p"/>
      <p:bldP spid="8" grpId="0" autoUpdateAnimBg="0" build="p"/>
      <p:bldP spid="10" grpId="0" autoUpdateAnimBg="0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7000" y="459000"/>
            <a:ext cx="8100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为了减少蜗轮滚刀型号，有利于刀具标准化，规定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为标准值。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）蜗轮齿数；（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）蜗轮分度圆直径；（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）蜗杆头数；（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）蜗杆分度圆直径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为了凑中心距或改变传动比，可采用变位蜗杆传动，这时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）仅对蜗杆进行变位；（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）仅对蜗轮进行变位；（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）同时对蜗杆、蜗轮进行变位；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7137000" y="41408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dirty="0" smtClean="0">
                <a:solidFill>
                  <a:srgbClr val="FF3300"/>
                </a:solidFill>
              </a:rPr>
              <a:t>4</a:t>
            </a:r>
            <a:endParaRPr lang="en-US" dirty="0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287000" y="2799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dirty="0" smtClean="0">
                <a:solidFill>
                  <a:srgbClr val="FF3300"/>
                </a:solidFill>
              </a:rPr>
              <a:t>2</a:t>
            </a:r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387000" y="4329000"/>
            <a:ext cx="8460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en-US" altLang="zh-CN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蜗杆传动的失效形式与齿轮传动相类似，其中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最易发生。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）点蚀与磨损；（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）胶合与磨损；（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）轮齿折断与塑性变形；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597000" y="4329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dirty="0" smtClean="0">
                <a:solidFill>
                  <a:srgbClr val="FF3300"/>
                </a:solidFill>
              </a:rPr>
              <a:t>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/>
      <p:bldP spid="4" grpId="0" autoUpdateAnimBg="0" build="p"/>
      <p:bldP spid="6" grpId="0" autoUpdateAnimBg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7000" y="233575"/>
            <a:ext cx="8458200" cy="5943600"/>
          </a:xfrm>
          <a:prstGeom prst="rect">
            <a:avLst/>
          </a:prstGeom>
        </p:spPr>
        <p:txBody>
          <a:bodyPr/>
          <a:lstStyle/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蜗杆传动中，轮齿承载能力的计算主要针对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来进行的。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）蜗杆齿面接触强度和蜗轮齿根抗弯强度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）蜗轮齿面接触强度和蜗杆齿根抗弯强度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）蜗杆齿面接触强度和齿根抗弯强度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）蜗轮齿面接触强度和齿根抗弯强度；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spcBef>
                <a:spcPts val="1200"/>
              </a:spcBef>
              <a:buFontTx/>
              <a:buNone/>
            </a:pPr>
            <a:r>
              <a:rPr 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对闭式蜗杆传动进行热平衡计算，其主要目的是为了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）防止润滑油受热膨胀后外溢，造成环境污染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）防止润滑油温度过高而使润滑条件恶化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导致发生胶合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）防止蜗轮材料在高温下力学性能下降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）防止蜗杆蜗轮发生热变形后，正确啮合受到破坏；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与齿轮传动相比，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不能作为蜗杆传动的优点。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）传动平稳，噪声小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   （</a:t>
            </a:r>
            <a:r>
              <a:rPr 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）传动比可以很大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）可以自锁</a:t>
            </a: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；           （</a:t>
            </a:r>
            <a:r>
              <a:rPr 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）传动效率高；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4677" name="Text Box 5"/>
          <p:cNvSpPr txBox="1">
            <a:spLocks noChangeArrowheads="1"/>
          </p:cNvSpPr>
          <p:nvPr/>
        </p:nvSpPr>
        <p:spPr bwMode="auto">
          <a:xfrm>
            <a:off x="6192085" y="23374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4</a:t>
            </a:r>
            <a:endParaRPr lang="en-US" dirty="0"/>
          </a:p>
        </p:txBody>
      </p:sp>
      <p:sp>
        <p:nvSpPr>
          <p:cNvPr id="284678" name="Text Box 6"/>
          <p:cNvSpPr txBox="1">
            <a:spLocks noChangeArrowheads="1"/>
          </p:cNvSpPr>
          <p:nvPr/>
        </p:nvSpPr>
        <p:spPr bwMode="auto">
          <a:xfrm>
            <a:off x="7362085" y="252857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2</a:t>
            </a:r>
            <a:endParaRPr lang="en-US" dirty="0"/>
          </a:p>
        </p:txBody>
      </p:sp>
      <p:sp>
        <p:nvSpPr>
          <p:cNvPr id="284679" name="Text Box 7"/>
          <p:cNvSpPr txBox="1">
            <a:spLocks noChangeArrowheads="1"/>
          </p:cNvSpPr>
          <p:nvPr/>
        </p:nvSpPr>
        <p:spPr bwMode="auto">
          <a:xfrm>
            <a:off x="3447635" y="491374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dirty="0">
                <a:solidFill>
                  <a:srgbClr val="FF3300"/>
                </a:solidFill>
              </a:rPr>
              <a:t>4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" fill="hold"/>
                                        <p:tgtEl>
                                          <p:spTgt spid="284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" fill="hold"/>
                                        <p:tgtEl>
                                          <p:spTgt spid="284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4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" fill="hold"/>
                                        <p:tgtEl>
                                          <p:spTgt spid="284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" fill="hold"/>
                                        <p:tgtEl>
                                          <p:spTgt spid="284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4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4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4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" fill="hold"/>
                                        <p:tgtEl>
                                          <p:spTgt spid="284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" fill="hold"/>
                                        <p:tgtEl>
                                          <p:spTgt spid="284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7" grpId="0" autoUpdateAnimBg="0" build="p"/>
      <p:bldP spid="284678" grpId="0" autoUpdateAnimBg="0" build="p"/>
      <p:bldP spid="284679" grpId="0" autoUpdateAnimBg="0" build="p"/>
    </p:bldLst>
  </p:timing>
</p:sld>
</file>

<file path=ppt/tags/tag1.xml><?xml version="1.0" encoding="utf-8"?>
<p:tagLst xmlns:p="http://schemas.openxmlformats.org/presentationml/2006/main">
  <p:tag name="KSO_WM_UNIT_TABLE_BEAUTIFY" val="smartTable{94c8ef8a-f719-4f71-a2ec-faeb3abd82cd}"/>
  <p:tag name="TABLE_ENDDRAG_ORIGIN_RECT" val="489*86"/>
  <p:tag name="TABLE_ENDDRAG_RECT" val="119*408*489*86"/>
</p:tagLst>
</file>

<file path=ppt/tags/tag2.xml><?xml version="1.0" encoding="utf-8"?>
<p:tagLst xmlns:p="http://schemas.openxmlformats.org/presentationml/2006/main">
  <p:tag name="KSO_WM_UNIT_TABLE_BEAUTIFY" val="smartTable{68a6fde6-98d0-4363-8e54-c245455db467}"/>
</p:tagLst>
</file>

<file path=ppt/tags/tag3.xml><?xml version="1.0" encoding="utf-8"?>
<p:tagLst xmlns:p="http://schemas.openxmlformats.org/presentationml/2006/main">
  <p:tag name="KSO_WM_UNIT_TABLE_BEAUTIFY" val="smartTable{cfc0532e-7d50-4afa-9e3b-f90ee07ce77f}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COMMONDATA" val="eyJoZGlkIjoiZmYwY2UxNzI0ODdjMTkzYTM2NmQ4OTdkNGYwMzJlYmMifQ=="/>
  <p:tag name="KSO_WPP_MARK_KEY" val="f01e2365-00c5-4a1d-85b7-0913e9e6f31a"/>
  <p:tag name="commondata" val="eyJoZGlkIjoiZTJlNmM0NTk2Mjk3OWEyOWRkMTVhNzNmZGVjNzIwNDgifQ=="/>
</p:tagLst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8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2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3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4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6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29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28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37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39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40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42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43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2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45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7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8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4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5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7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30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31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34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33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32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3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5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9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10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1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5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16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17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40458C"/>
    </a:dk1>
    <a:lt1>
      <a:srgbClr val="FFFFFF"/>
    </a:lt1>
    <a:dk2>
      <a:srgbClr val="660066"/>
    </a:dk2>
    <a:lt2>
      <a:srgbClr val="B7C1EB"/>
    </a:lt2>
    <a:accent1>
      <a:srgbClr val="ECD882"/>
    </a:accent1>
    <a:accent2>
      <a:srgbClr val="B2B2B2"/>
    </a:accent2>
    <a:accent3>
      <a:srgbClr val="FFFFFF"/>
    </a:accent3>
    <a:accent4>
      <a:srgbClr val="353A77"/>
    </a:accent4>
    <a:accent5>
      <a:srgbClr val="F4E9C1"/>
    </a:accent5>
    <a:accent6>
      <a:srgbClr val="A1A1A1"/>
    </a:accent6>
    <a:hlink>
      <a:srgbClr val="0000FF"/>
    </a:hlink>
    <a:folHlink>
      <a:srgbClr val="3333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0</TotalTime>
  <Words>16935</Words>
  <Application>WPS 演示</Application>
  <PresentationFormat>全屏显示(4:3)</PresentationFormat>
  <Paragraphs>2942</Paragraphs>
  <Slides>93</Slides>
  <Notes>21</Notes>
  <HiddenSlides>12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37</vt:i4>
      </vt:variant>
      <vt:variant>
        <vt:lpstr>嵌入 OLE 服务器</vt:lpstr>
      </vt:variant>
      <vt:variant>
        <vt:i4>114</vt:i4>
      </vt:variant>
      <vt:variant>
        <vt:lpstr>幻灯片标题</vt:lpstr>
      </vt:variant>
      <vt:variant>
        <vt:i4>93</vt:i4>
      </vt:variant>
    </vt:vector>
  </HeadingPairs>
  <TitlesOfParts>
    <vt:vector size="260" baseType="lpstr">
      <vt:lpstr>Arial</vt:lpstr>
      <vt:lpstr>宋体</vt:lpstr>
      <vt:lpstr>Wingdings</vt:lpstr>
      <vt:lpstr>Tahoma</vt:lpstr>
      <vt:lpstr>华文中宋</vt:lpstr>
      <vt:lpstr>Times New Roman</vt:lpstr>
      <vt:lpstr>黑体</vt:lpstr>
      <vt:lpstr>Arial Narrow</vt:lpstr>
      <vt:lpstr>Wingdings</vt:lpstr>
      <vt:lpstr>微软雅黑</vt:lpstr>
      <vt:lpstr>Arial Unicode MS</vt:lpstr>
      <vt:lpstr>隶书</vt:lpstr>
      <vt:lpstr>Cambria Math</vt:lpstr>
      <vt:lpstr>Symbol</vt:lpstr>
      <vt:lpstr>Calibri</vt:lpstr>
      <vt:lpstr>仿宋</vt:lpstr>
      <vt:lpstr>Blueprint</vt:lpstr>
      <vt:lpstr>1_Blueprint</vt:lpstr>
      <vt:lpstr>18_Blueprint</vt:lpstr>
      <vt:lpstr>12_Blueprint</vt:lpstr>
      <vt:lpstr>13_Blueprint</vt:lpstr>
      <vt:lpstr>4_Blueprint</vt:lpstr>
      <vt:lpstr>6_Blueprint</vt:lpstr>
      <vt:lpstr>24_Blueprint</vt:lpstr>
      <vt:lpstr>26_Blueprint</vt:lpstr>
      <vt:lpstr>29_Blueprint</vt:lpstr>
      <vt:lpstr>28_Blueprint</vt:lpstr>
      <vt:lpstr>37_Blueprint</vt:lpstr>
      <vt:lpstr>39_Blueprint</vt:lpstr>
      <vt:lpstr>40_Blueprint</vt:lpstr>
      <vt:lpstr>42_Blueprint</vt:lpstr>
      <vt:lpstr>43_Blueprint</vt:lpstr>
      <vt:lpstr>22_Blueprint</vt:lpstr>
      <vt:lpstr>45_Blueprint</vt:lpstr>
      <vt:lpstr>7_Blueprint</vt:lpstr>
      <vt:lpstr>8_Blueprint</vt:lpstr>
      <vt:lpstr>2_Blueprint</vt:lpstr>
      <vt:lpstr>14_Blueprint</vt:lpstr>
      <vt:lpstr>25_Blueprint</vt:lpstr>
      <vt:lpstr>27_Blueprint</vt:lpstr>
      <vt:lpstr>30_Blueprint</vt:lpstr>
      <vt:lpstr>31_Blueprint</vt:lpstr>
      <vt:lpstr>34_Blueprint</vt:lpstr>
      <vt:lpstr>33_Blueprint</vt:lpstr>
      <vt:lpstr>32_Blueprint</vt:lpstr>
      <vt:lpstr>3_Blueprint</vt:lpstr>
      <vt:lpstr>5_Blueprint</vt:lpstr>
      <vt:lpstr>9_Blueprint</vt:lpstr>
      <vt:lpstr>10_Blueprint</vt:lpstr>
      <vt:lpstr>11_Blueprint</vt:lpstr>
      <vt:lpstr>15_Blueprint</vt:lpstr>
      <vt:lpstr>16_Blueprint</vt:lpstr>
      <vt:lpstr>17_Blueprint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Equation.KSEE3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Equation.KSEE3</vt:lpstr>
      <vt:lpstr>Equation.KSEE3</vt:lpstr>
      <vt:lpstr>Equation.3</vt:lpstr>
      <vt:lpstr>Equation.KSEE3</vt:lpstr>
      <vt:lpstr>Equation.KSEE3</vt:lpstr>
      <vt:lpstr>Equation.KSEE3</vt:lpstr>
      <vt:lpstr>Equation.KSEE3</vt:lpstr>
      <vt:lpstr>Equation.3</vt:lpstr>
      <vt:lpstr>Equation.3</vt:lpstr>
      <vt:lpstr>Equation.3</vt:lpstr>
      <vt:lpstr>Equation.KSEE3</vt:lpstr>
      <vt:lpstr>Equation.KSEE3</vt:lpstr>
      <vt:lpstr>Equation.KSEE3</vt:lpstr>
      <vt:lpstr>Equation.KSEE3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Equation.KSEE3</vt:lpstr>
      <vt:lpstr>Equation.KSEE3</vt:lpstr>
      <vt:lpstr>Equation.3</vt:lpstr>
      <vt:lpstr>Equation.KSEE3</vt:lpstr>
      <vt:lpstr>Equation.3</vt:lpstr>
      <vt:lpstr>Equation.3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Equation.KSEE3</vt:lpstr>
      <vt:lpstr>Equation.KSEE3</vt:lpstr>
      <vt:lpstr>Equation.3</vt:lpstr>
      <vt:lpstr>Equation.KSEE3</vt:lpstr>
      <vt:lpstr>Equation.3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Equation.3</vt:lpstr>
      <vt:lpstr>Equation.KSEE3</vt:lpstr>
      <vt:lpstr>Equation.KSEE3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第3.11章 蜗杆传动</vt:lpstr>
      <vt:lpstr>PowerPoint 演示文稿</vt:lpstr>
      <vt:lpstr>PowerPoint 演示文稿</vt:lpstr>
      <vt:lpstr>PowerPoint 演示文稿</vt:lpstr>
      <vt:lpstr>蜗杆传动概述</vt:lpstr>
      <vt:lpstr>PowerPoint 演示文稿</vt:lpstr>
      <vt:lpstr>蜗杆传动的类型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3.11-2蜗杆传动的主要参数及几何尺寸计算</vt:lpstr>
      <vt:lpstr>3.11-2蜗杆传动的主要参数及几何尺寸计算</vt:lpstr>
      <vt:lpstr>3.11-2蜗杆传动的主要参数及几何尺寸计算</vt:lpstr>
      <vt:lpstr>3.11-2蜗杆传动的主要参数及几何尺寸计算</vt:lpstr>
      <vt:lpstr>3.11-2蜗杆传动的主要参数及几何尺寸计算</vt:lpstr>
      <vt:lpstr>3.11-2蜗杆传动的主要参数及几何尺寸计算</vt:lpstr>
      <vt:lpstr>3.11-2蜗杆传动的主要参数及几何尺寸计算</vt:lpstr>
      <vt:lpstr>3.11-2蜗杆传动的主要参数及几何尺寸计算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3.11-5 圆柱蜗杆传动的强度计算</vt:lpstr>
      <vt:lpstr>3.11-5 圆柱蜗杆传动的强度计算</vt:lpstr>
      <vt:lpstr>3.11-5 圆柱蜗杆传动的强度计算</vt:lpstr>
      <vt:lpstr>3.11-5 圆柱蜗杆传动的强度计算</vt:lpstr>
      <vt:lpstr>3.11-5 圆柱蜗杆传动的强度计算</vt:lpstr>
      <vt:lpstr>PowerPoint 演示文稿</vt:lpstr>
      <vt:lpstr>3.11-6 蜗杆传动的效率、润滑及热平衡计算</vt:lpstr>
      <vt:lpstr>PowerPoint 演示文稿</vt:lpstr>
      <vt:lpstr>3.11-6 蜗杆传动的效率、润滑及热平衡计算</vt:lpstr>
      <vt:lpstr>3.11-6 蜗杆传动的效率、润滑及热平衡计算</vt:lpstr>
      <vt:lpstr>PowerPoint 演示文稿</vt:lpstr>
      <vt:lpstr>3.11-6 蜗杆传动的效率、润滑及热平衡计算</vt:lpstr>
      <vt:lpstr>3.11-6 蜗杆传动的效率、润滑及热平衡计算</vt:lpstr>
      <vt:lpstr>PowerPoint 演示文稿</vt:lpstr>
      <vt:lpstr>3.11-7 蜗杆传动的结构设计</vt:lpstr>
      <vt:lpstr>PowerPoint 演示文稿</vt:lpstr>
      <vt:lpstr>PowerPoint 演示文稿</vt:lpstr>
      <vt:lpstr>PowerPoint 演示文稿</vt:lpstr>
      <vt:lpstr>PowerPoint 演示文稿</vt:lpstr>
      <vt:lpstr>3.11-8 圆弧圆柱蜗杆传动简介</vt:lpstr>
      <vt:lpstr>3.11-8 圆弧圆柱蜗杆传动简介</vt:lpstr>
      <vt:lpstr>表3.1111-1 普通圆柱蜗杆传动的基本参数</vt:lpstr>
      <vt:lpstr>表3.11-3 普通圆柱蜗杆传动基本几何尺寸计算</vt:lpstr>
      <vt:lpstr>PowerPoint 演示文稿</vt:lpstr>
      <vt:lpstr>圆柱蜗杆传动的受力分析和计算载荷</vt:lpstr>
      <vt:lpstr>圆柱蜗杆颤动的受力分析和计算载荷</vt:lpstr>
      <vt:lpstr>圆柱蜗杆传动的承载能力计算</vt:lpstr>
      <vt:lpstr>圆柱蜗杆传动的承载能力计算</vt:lpstr>
      <vt:lpstr>圆柱蜗杆传动的承载能力计算</vt:lpstr>
      <vt:lpstr>圆柱蜗杆传动的承载能力计算</vt:lpstr>
      <vt:lpstr>蜗杆传动的效率、润滑及热平衡计算</vt:lpstr>
      <vt:lpstr>蜗杆传动的效率、润滑及热平衡计算</vt:lpstr>
      <vt:lpstr>圆弧圆柱蜗杆传动简介</vt:lpstr>
      <vt:lpstr>PowerPoint 演示文稿</vt:lpstr>
      <vt:lpstr>PowerPoint 演示文稿</vt:lpstr>
      <vt:lpstr>齿轮传动的设计参数4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nwpu209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wuliyan</dc:creator>
  <cp:lastModifiedBy>DQH</cp:lastModifiedBy>
  <cp:revision>529</cp:revision>
  <dcterms:created xsi:type="dcterms:W3CDTF">2002-03-15T12:39:00Z</dcterms:created>
  <dcterms:modified xsi:type="dcterms:W3CDTF">2025-11-20T02:57:51Z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9F8ABE7F6D8044B98544BB0B44255801</vt:lpwstr>
  </property>
</Properties>
</file>