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ctiveX/activeX1.bin" ContentType="application/vnd.ms-office.activeX"/>
  <Override PartName="/ppt/activeX/activeX1.xml" ContentType="application/vnd.ms-office.activeX+xml"/>
  <Override PartName="/ppt/handoutMasters/handoutMaster1.xml" ContentType="application/vnd.openxmlformats-officedocument.presentationml.handout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handoutMasterIdLst>
    <p:handoutMasterId r:id="rId23"/>
  </p:handoutMasterIdLst>
  <p:sldIdLst>
    <p:sldId id="256" r:id="rId3"/>
    <p:sldId id="296" r:id="rId4"/>
    <p:sldId id="266" r:id="rId5"/>
    <p:sldId id="279" r:id="rId6"/>
    <p:sldId id="281" r:id="rId7"/>
    <p:sldId id="280" r:id="rId8"/>
    <p:sldId id="282" r:id="rId9"/>
    <p:sldId id="284" r:id="rId10"/>
    <p:sldId id="285" r:id="rId11"/>
    <p:sldId id="286" r:id="rId12"/>
    <p:sldId id="297" r:id="rId13"/>
    <p:sldId id="298" r:id="rId14"/>
    <p:sldId id="287" r:id="rId15"/>
    <p:sldId id="289" r:id="rId16"/>
    <p:sldId id="288" r:id="rId17"/>
    <p:sldId id="290" r:id="rId18"/>
    <p:sldId id="293" r:id="rId19"/>
    <p:sldId id="291" r:id="rId20"/>
    <p:sldId id="294" r:id="rId21"/>
    <p:sldId id="295" r:id="rId22"/>
  </p:sldIdLst>
  <p:sldSz cx="9144000" cy="6858000" type="screen4x3"/>
  <p:notesSz cx="6858000" cy="9144000"/>
  <p:custDataLst>
    <p:tags r:id="rId27"/>
  </p:custDataLst>
  <p:defaultTextStyle>
    <a:defPPr>
      <a:defRPr lang="zh-CN"/>
    </a:defPPr>
    <a:lvl1pPr marL="0" lvl="0" indent="0" algn="l" defTabSz="914400" rtl="0" eaLnBrk="1" fontAlgn="base" latinLnBrk="0" hangingPunct="1">
      <a:lnSpc>
        <a:spcPct val="100000"/>
      </a:lnSpc>
      <a:spcBef>
        <a:spcPct val="0"/>
      </a:spcBef>
      <a:spcAft>
        <a:spcPct val="0"/>
      </a:spcAft>
      <a:buNone/>
      <a:defRPr sz="2000" b="0" i="0" u="none" kern="1200" baseline="0">
        <a:solidFill>
          <a:srgbClr val="000099"/>
        </a:solidFill>
        <a:latin typeface="Times New Roman" panose="02020603050405020304" pitchFamily="18" charset="0"/>
        <a:ea typeface="华文中宋" panose="0201060004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2000" b="0" i="0" u="none" kern="1200" baseline="0">
        <a:solidFill>
          <a:srgbClr val="000099"/>
        </a:solidFill>
        <a:latin typeface="Times New Roman" panose="02020603050405020304" pitchFamily="18" charset="0"/>
        <a:ea typeface="华文中宋"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0" i="0" u="none" kern="1200" baseline="0">
        <a:solidFill>
          <a:srgbClr val="000099"/>
        </a:solidFill>
        <a:latin typeface="Times New Roman" panose="02020603050405020304" pitchFamily="18" charset="0"/>
        <a:ea typeface="华文中宋"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0" i="0" u="none" kern="1200" baseline="0">
        <a:solidFill>
          <a:srgbClr val="000099"/>
        </a:solidFill>
        <a:latin typeface="Times New Roman" panose="02020603050405020304" pitchFamily="18" charset="0"/>
        <a:ea typeface="华文中宋"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0" i="0" u="none" kern="1200" baseline="0">
        <a:solidFill>
          <a:srgbClr val="000099"/>
        </a:solidFill>
        <a:latin typeface="Times New Roman" panose="02020603050405020304" pitchFamily="18" charset="0"/>
        <a:ea typeface="华文中宋" panose="0201060004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000" b="0" i="0" u="none" kern="1200" baseline="0">
        <a:solidFill>
          <a:srgbClr val="000099"/>
        </a:solidFill>
        <a:latin typeface="Times New Roman" panose="02020603050405020304" pitchFamily="18" charset="0"/>
        <a:ea typeface="华文中宋" panose="0201060004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000" b="0" i="0" u="none" kern="1200" baseline="0">
        <a:solidFill>
          <a:srgbClr val="000099"/>
        </a:solidFill>
        <a:latin typeface="Times New Roman" panose="02020603050405020304" pitchFamily="18" charset="0"/>
        <a:ea typeface="华文中宋" panose="0201060004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000" b="0" i="0" u="none" kern="1200" baseline="0">
        <a:solidFill>
          <a:srgbClr val="000099"/>
        </a:solidFill>
        <a:latin typeface="Times New Roman" panose="02020603050405020304" pitchFamily="18" charset="0"/>
        <a:ea typeface="华文中宋" panose="0201060004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000" b="0" i="0" u="none" kern="1200" baseline="0">
        <a:solidFill>
          <a:srgbClr val="000099"/>
        </a:solidFill>
        <a:latin typeface="Times New Roman" panose="02020603050405020304" pitchFamily="18" charset="0"/>
        <a:ea typeface="华文中宋" panose="0201060004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2FDB2607-1784-4EEB-B798-7EB5836EED8A}">
        <p14:showMediaCtrls xmlns:p14="http://schemas.microsoft.com/office/powerpoint/2010/main" val="1"/>
      </p:ext>
    </p:extLst>
  </p:showPr>
  <p:clrMru>
    <a:srgbClr val="000099"/>
    <a:srgbClr val="CC6600"/>
    <a:srgbClr val="CC3300"/>
    <a:srgbClr val="A50021"/>
    <a:srgbClr val="FF3300"/>
    <a:srgbClr val="0000FF"/>
    <a:srgbClr val="EB6623"/>
    <a:srgbClr val="6600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6300"/>
    <p:restoredTop sz="94621"/>
  </p:normalViewPr>
  <p:slideViewPr>
    <p:cSldViewPr showGuides="1">
      <p:cViewPr varScale="1">
        <p:scale>
          <a:sx n="82" d="100"/>
          <a:sy n="82" d="100"/>
        </p:scale>
        <p:origin x="-1445" y="-86"/>
      </p:cViewPr>
      <p:guideLst>
        <p:guide orient="horz" pos="2160"/>
        <p:guide pos="2880"/>
      </p:guideLst>
    </p:cSldViewPr>
  </p:slideViewPr>
  <p:outlineViewPr>
    <p:cViewPr>
      <p:scale>
        <a:sx n="25" d="100"/>
        <a:sy n="25"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7" Type="http://schemas.openxmlformats.org/officeDocument/2006/relationships/tags" Target="tags/tag1.xml"/><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handoutMaster" Target="handoutMasters/handoutMaster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activeX/_rels/activeX1.xml.rels><?xml version="1.0" encoding="UTF-8" standalone="yes"?>
<Relationships xmlns="http://schemas.openxmlformats.org/package/2006/relationships"><Relationship Id="rId1" Type="http://schemas.microsoft.com/office/2006/relationships/activeXControlBinary" Target="activeX1.bin"/></Relationships>
</file>

<file path=ppt/activeX/activeX1.xml><?xml version="1.0" encoding="utf-8"?>
<ax:ocx xmlns:ax="http://schemas.microsoft.com/office/2006/activeX" xmlns:r="http://schemas.openxmlformats.org/officeDocument/2006/relationships" ax:classid="{D7053240-CE69-11CD-A777-00DD01143C57}" ax:persistence="persistStorage" r:id="rId1"/>
</file>

<file path=ppt/drawings/_rels/vmlDrawing1.v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image" Target="../media/image1.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200" b="0" i="0" u="none" strike="noStrike" kern="1200" cap="none" spc="0" normalizeH="0" baseline="0" noProof="0">
              <a:ln>
                <a:noFill/>
              </a:ln>
              <a:solidFill>
                <a:srgbClr val="000099"/>
              </a:solidFill>
              <a:effectLst/>
              <a:uLnTx/>
              <a:uFillTx/>
              <a:latin typeface="Times New Roman" panose="02020603050405020304" pitchFamily="18" charset="0"/>
              <a:ea typeface="华文中宋" panose="02010600040101010101" pitchFamily="2" charset="-122"/>
              <a:cs typeface="+mn-cs"/>
            </a:endParaRPr>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fld id="{9503B0F4-9BBD-4607-B55C-D6156921B078}" type="datetimeFigureOut">
              <a:rPr kumimoji="1" lang="zh-CN" altLang="en-US" sz="1200" b="0" i="0" u="none" strike="noStrike" kern="1200" cap="none" spc="0" normalizeH="0" baseline="0" noProof="0">
                <a:ln>
                  <a:noFill/>
                </a:ln>
                <a:solidFill>
                  <a:srgbClr val="000099"/>
                </a:solidFill>
                <a:effectLst/>
                <a:uLnTx/>
                <a:uFillTx/>
                <a:latin typeface="Times New Roman" panose="02020603050405020304" pitchFamily="18" charset="0"/>
                <a:ea typeface="华文中宋" panose="02010600040101010101" pitchFamily="2" charset="-122"/>
                <a:cs typeface="+mn-cs"/>
              </a:rPr>
            </a:fld>
            <a:endParaRPr kumimoji="1" lang="zh-CN" altLang="en-US" sz="1200" b="0" i="0" u="none" strike="noStrike" kern="1200" cap="none" spc="0" normalizeH="0" baseline="0" noProof="0">
              <a:ln>
                <a:noFill/>
              </a:ln>
              <a:solidFill>
                <a:srgbClr val="000099"/>
              </a:solidFill>
              <a:effectLst/>
              <a:uLnTx/>
              <a:uFillTx/>
              <a:latin typeface="Times New Roman" panose="02020603050405020304" pitchFamily="18" charset="0"/>
              <a:ea typeface="华文中宋" panose="02010600040101010101" pitchFamily="2" charset="-122"/>
              <a:cs typeface="+mn-cs"/>
            </a:endParaRPr>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200" b="0" i="0" u="none" strike="noStrike" kern="1200" cap="none" spc="0" normalizeH="0" baseline="0" noProof="0">
              <a:ln>
                <a:noFill/>
              </a:ln>
              <a:solidFill>
                <a:srgbClr val="000099"/>
              </a:solidFill>
              <a:effectLst/>
              <a:uLnTx/>
              <a:uFillTx/>
              <a:latin typeface="Times New Roman" panose="02020603050405020304" pitchFamily="18" charset="0"/>
              <a:ea typeface="华文中宋" panose="02010600040101010101" pitchFamily="2" charset="-122"/>
              <a:cs typeface="+mn-cs"/>
            </a:endParaRPr>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p>
            <a:pPr lvl="0" algn="r" eaLnBrk="1" hangingPunct="1">
              <a:buNone/>
            </a:pPr>
            <a:fld id="{9A0DB2DC-4C9A-4742-B13C-FB6460FD3503}" type="slidenum">
              <a:rPr lang="zh-CN" altLang="en-US" sz="1200" dirty="0"/>
            </a:fld>
            <a:endParaRPr lang="zh-CN" altLang="en-US" sz="1200" dirty="0"/>
          </a:p>
        </p:txBody>
      </p:sp>
    </p:spTree>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Pct val="110000"/>
              <a:buFont typeface="Wingdings" panose="05000000000000000000" pitchFamily="2" charset="2"/>
              <a:buNone/>
              <a:defRPr/>
            </a:pPr>
            <a:endParaRPr kumimoji="1"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vmlDrawing" Target="../drawings/vmlDrawing1.vml"/><Relationship Id="rId16" Type="http://schemas.openxmlformats.org/officeDocument/2006/relationships/image" Target="../media/image4.png"/><Relationship Id="rId15" Type="http://schemas.openxmlformats.org/officeDocument/2006/relationships/image" Target="../media/image3.png"/><Relationship Id="rId14" Type="http://schemas.openxmlformats.org/officeDocument/2006/relationships/oleObject" Target="../embeddings/oleObject2.bin"/><Relationship Id="rId13" Type="http://schemas.openxmlformats.org/officeDocument/2006/relationships/image" Target="../media/image2.jpeg"/><Relationship Id="rId12" Type="http://schemas.openxmlformats.org/officeDocument/2006/relationships/image" Target="../media/image1.png"/><Relationship Id="rId11" Type="http://schemas.openxmlformats.org/officeDocument/2006/relationships/oleObject" Target="../embeddings/oleObject1.bin"/><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graphicFrame>
        <p:nvGraphicFramePr>
          <p:cNvPr id="2050" name="Object 80"/>
          <p:cNvGraphicFramePr>
            <a:graphicFrameLocks noChangeAspect="1"/>
          </p:cNvGraphicFramePr>
          <p:nvPr userDrawn="1"/>
        </p:nvGraphicFramePr>
        <p:xfrm>
          <a:off x="-12700" y="7938"/>
          <a:ext cx="9144000" cy="612775"/>
        </p:xfrm>
        <a:graphic>
          <a:graphicData uri="http://schemas.openxmlformats.org/presentationml/2006/ole">
            <mc:AlternateContent xmlns:mc="http://schemas.openxmlformats.org/markup-compatibility/2006">
              <mc:Choice xmlns:v="urn:schemas-microsoft-com:vml" Requires="v">
                <p:oleObj spid="_x0000_s3077" name="" r:id="rId11" imgW="10160000" imgH="1574800" progId="">
                  <p:embed/>
                </p:oleObj>
              </mc:Choice>
              <mc:Fallback>
                <p:oleObj name="" r:id="rId11" imgW="10160000" imgH="1574800" progId="">
                  <p:embed/>
                  <p:pic>
                    <p:nvPicPr>
                      <p:cNvPr id="0" name="图片 3076"/>
                      <p:cNvPicPr/>
                      <p:nvPr/>
                    </p:nvPicPr>
                    <p:blipFill>
                      <a:blip r:embed="rId12"/>
                      <a:srcRect r="32674"/>
                      <a:stretch>
                        <a:fillRect/>
                      </a:stretch>
                    </p:blipFill>
                    <p:spPr>
                      <a:xfrm>
                        <a:off x="-12700" y="7938"/>
                        <a:ext cx="9144000" cy="612775"/>
                      </a:xfrm>
                      <a:prstGeom prst="rect">
                        <a:avLst/>
                      </a:prstGeom>
                      <a:solidFill>
                        <a:srgbClr val="3399FF">
                          <a:alpha val="54901"/>
                        </a:srgbClr>
                      </a:solidFill>
                      <a:ln w="38100">
                        <a:noFill/>
                        <a:miter/>
                      </a:ln>
                    </p:spPr>
                  </p:pic>
                </p:oleObj>
              </mc:Fallback>
            </mc:AlternateContent>
          </a:graphicData>
        </a:graphic>
      </p:graphicFrame>
      <p:pic>
        <p:nvPicPr>
          <p:cNvPr id="2051" name="图片 6"/>
          <p:cNvPicPr>
            <a:picLocks noChangeAspect="1"/>
          </p:cNvPicPr>
          <p:nvPr userDrawn="1"/>
        </p:nvPicPr>
        <p:blipFill>
          <a:blip r:embed="rId13">
            <a:clrChange>
              <a:clrFrom>
                <a:srgbClr val="2177CE"/>
              </a:clrFrom>
              <a:clrTo>
                <a:srgbClr val="2177CE">
                  <a:alpha val="0"/>
                </a:srgbClr>
              </a:clrTo>
            </a:clrChange>
          </a:blip>
          <a:stretch>
            <a:fillRect/>
          </a:stretch>
        </p:blipFill>
        <p:spPr>
          <a:xfrm>
            <a:off x="107950" y="3175"/>
            <a:ext cx="647700" cy="623888"/>
          </a:xfrm>
          <a:prstGeom prst="rect">
            <a:avLst/>
          </a:prstGeom>
          <a:noFill/>
          <a:ln w="9525">
            <a:noFill/>
          </a:ln>
        </p:spPr>
      </p:pic>
      <p:graphicFrame>
        <p:nvGraphicFramePr>
          <p:cNvPr id="2052" name="Object 10"/>
          <p:cNvGraphicFramePr>
            <a:graphicFrameLocks noChangeAspect="1"/>
          </p:cNvGraphicFramePr>
          <p:nvPr userDrawn="1"/>
        </p:nvGraphicFramePr>
        <p:xfrm>
          <a:off x="6461125" y="0"/>
          <a:ext cx="2670175" cy="766763"/>
        </p:xfrm>
        <a:graphic>
          <a:graphicData uri="http://schemas.openxmlformats.org/presentationml/2006/ole">
            <mc:AlternateContent xmlns:mc="http://schemas.openxmlformats.org/markup-compatibility/2006">
              <mc:Choice xmlns:v="urn:schemas-microsoft-com:vml" Requires="v">
                <p:oleObj spid="_x0000_s3076" name="" r:id="rId14" imgW="2962275" imgH="971550" progId="">
                  <p:embed/>
                </p:oleObj>
              </mc:Choice>
              <mc:Fallback>
                <p:oleObj name="" r:id="rId14" imgW="2962275" imgH="971550" progId="">
                  <p:embed/>
                  <p:pic>
                    <p:nvPicPr>
                      <p:cNvPr id="0" name="图片 3075"/>
                      <p:cNvPicPr/>
                      <p:nvPr/>
                    </p:nvPicPr>
                    <p:blipFill>
                      <a:blip r:embed="rId15"/>
                      <a:srcRect l="23897" b="-22844"/>
                      <a:stretch>
                        <a:fillRect/>
                      </a:stretch>
                    </p:blipFill>
                    <p:spPr>
                      <a:xfrm>
                        <a:off x="6461125" y="0"/>
                        <a:ext cx="2670175" cy="766763"/>
                      </a:xfrm>
                      <a:prstGeom prst="rect">
                        <a:avLst/>
                      </a:prstGeom>
                      <a:noFill/>
                      <a:ln w="38100">
                        <a:noFill/>
                        <a:miter/>
                      </a:ln>
                    </p:spPr>
                  </p:pic>
                </p:oleObj>
              </mc:Fallback>
            </mc:AlternateContent>
          </a:graphicData>
        </a:graphic>
      </p:graphicFrame>
      <p:sp>
        <p:nvSpPr>
          <p:cNvPr id="8" name="矩形 7"/>
          <p:cNvSpPr/>
          <p:nvPr/>
        </p:nvSpPr>
        <p:spPr bwMode="auto">
          <a:xfrm>
            <a:off x="0" y="6475413"/>
            <a:ext cx="9144000" cy="431800"/>
          </a:xfrm>
          <a:prstGeom prst="rect">
            <a:avLst/>
          </a:prstGeom>
          <a:gradFill flip="none" rotWithShape="1">
            <a:gsLst>
              <a:gs pos="0">
                <a:srgbClr val="003399"/>
              </a:gs>
              <a:gs pos="100000">
                <a:schemeClr val="accent3">
                  <a:lumMod val="97000"/>
                  <a:lumOff val="3000"/>
                </a:schemeClr>
              </a:gs>
              <a:gs pos="100000">
                <a:schemeClr val="bg1"/>
              </a:gs>
            </a:gsLst>
            <a:lin ang="16200000" scaled="1"/>
            <a:tileRect/>
          </a:gradFill>
          <a:ln w="9525" cap="flat" cmpd="sng" algn="ctr">
            <a:noFill/>
            <a:prstDash val="solid"/>
            <a:round/>
            <a:headEnd type="none" w="med" len="med"/>
            <a:tailEnd type="none" w="med" len="med"/>
          </a:ln>
          <a:effectLst/>
        </p:spPr>
        <p:txBody>
          <a:bodyPr wrap="none"/>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000" b="0" i="0" u="none" strike="noStrike" kern="1200" cap="none" spc="0" normalizeH="0" baseline="0" noProof="0">
              <a:ln>
                <a:noFill/>
              </a:ln>
              <a:solidFill>
                <a:srgbClr val="000099"/>
              </a:solidFill>
              <a:effectLst/>
              <a:uLnTx/>
              <a:uFillTx/>
              <a:latin typeface="Times New Roman" panose="02020603050405020304" pitchFamily="18" charset="0"/>
              <a:ea typeface="华文中宋" panose="0201060004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iming>
    <p:tnLst>
      <p:par>
        <p:cTn id="1" dur="indefinite" restart="never" nodeType="tmRoot"/>
      </p:par>
    </p:tnLst>
  </p:timing>
  <p:hf sldNum="0" hdr="0" ftr="0" dt="0"/>
  <p:txStyles>
    <p:title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16"/>
        </a:buBlip>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vmlDrawing" Target="../drawings/vmlDrawing2.vml"/><Relationship Id="rId8" Type="http://schemas.openxmlformats.org/officeDocument/2006/relationships/slideLayout" Target="../slideLayouts/slideLayout6.xml"/><Relationship Id="rId7" Type="http://schemas.openxmlformats.org/officeDocument/2006/relationships/image" Target="../media/image6.wmf"/><Relationship Id="rId6" Type="http://schemas.openxmlformats.org/officeDocument/2006/relationships/control" Target="../activeX/activeX1.xml"/><Relationship Id="rId5" Type="http://schemas.openxmlformats.org/officeDocument/2006/relationships/slide" Target="slide13.xml"/><Relationship Id="rId4" Type="http://schemas.openxmlformats.org/officeDocument/2006/relationships/image" Target="../media/image2.jpeg"/><Relationship Id="rId3" Type="http://schemas.openxmlformats.org/officeDocument/2006/relationships/slide" Target="slide16.xml"/><Relationship Id="rId2" Type="http://schemas.openxmlformats.org/officeDocument/2006/relationships/slide" Target="slide3.xml"/><Relationship Id="rId1" Type="http://schemas.openxmlformats.org/officeDocument/2006/relationships/image" Target="../media/image5.jpeg"/></Relationships>
</file>

<file path=ppt/slides/_rels/slide2.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 Id="rId3" Type="http://schemas.openxmlformats.org/officeDocument/2006/relationships/slide" Target="slide1.xml"/><Relationship Id="rId2" Type="http://schemas.openxmlformats.org/officeDocument/2006/relationships/image" Target="../media/image8.png"/><Relationship Id="rId1" Type="http://schemas.openxmlformats.org/officeDocument/2006/relationships/image" Target="../media/image7.jpeg"/></Relationships>
</file>

<file path=ppt/slides/_rels/slide3.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 Id="rId3" Type="http://schemas.openxmlformats.org/officeDocument/2006/relationships/slide" Target="slide1.xml"/><Relationship Id="rId2" Type="http://schemas.openxmlformats.org/officeDocument/2006/relationships/image" Target="../media/image8.png"/><Relationship Id="rId1" Type="http://schemas.openxmlformats.org/officeDocument/2006/relationships/image" Target="../media/image7.jpeg"/></Relationships>
</file>

<file path=ppt/slides/_rels/slide4.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0.png"/><Relationship Id="rId3" Type="http://schemas.openxmlformats.org/officeDocument/2006/relationships/image" Target="../media/image11.png"/><Relationship Id="rId2" Type="http://schemas.openxmlformats.org/officeDocument/2006/relationships/image" Target="../media/image9.png"/><Relationship Id="rId1" Type="http://schemas.openxmlformats.org/officeDocument/2006/relationships/slide" Target="slide1.xml"/></Relationships>
</file>

<file path=ppt/slides/_rels/slide5.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0.png"/><Relationship Id="rId3" Type="http://schemas.openxmlformats.org/officeDocument/2006/relationships/image" Target="../media/image11.png"/><Relationship Id="rId2" Type="http://schemas.openxmlformats.org/officeDocument/2006/relationships/image" Target="../media/image9.png"/><Relationship Id="rId1" Type="http://schemas.openxmlformats.org/officeDocument/2006/relationships/slide" Target="slide1.xml"/></Relationships>
</file>

<file path=ppt/slides/_rels/slide6.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hyperlink" Target="&#22270;&#34920;\&#34920;3.13-1.JPG" TargetMode="External"/><Relationship Id="rId4" Type="http://schemas.openxmlformats.org/officeDocument/2006/relationships/image" Target="../media/image10.png"/><Relationship Id="rId3" Type="http://schemas.openxmlformats.org/officeDocument/2006/relationships/image" Target="../media/image11.png"/><Relationship Id="rId2" Type="http://schemas.openxmlformats.org/officeDocument/2006/relationships/image" Target="../media/image9.png"/><Relationship Id="rId1" Type="http://schemas.openxmlformats.org/officeDocument/2006/relationships/slide" Target="slide1.xml"/></Relationships>
</file>

<file path=ppt/slides/_rels/slide7.xml.rels><?xml version="1.0" encoding="UTF-8" standalone="yes"?>
<Relationships xmlns="http://schemas.openxmlformats.org/package/2006/relationships"><Relationship Id="rId9" Type="http://schemas.openxmlformats.org/officeDocument/2006/relationships/image" Target="../media/image19.jpeg"/><Relationship Id="rId8" Type="http://schemas.openxmlformats.org/officeDocument/2006/relationships/image" Target="../media/image18.jpeg"/><Relationship Id="rId7" Type="http://schemas.openxmlformats.org/officeDocument/2006/relationships/image" Target="../media/image17.jpeg"/><Relationship Id="rId6" Type="http://schemas.openxmlformats.org/officeDocument/2006/relationships/image" Target="../media/image16.jpeg"/><Relationship Id="rId5" Type="http://schemas.openxmlformats.org/officeDocument/2006/relationships/image" Target="../media/image15.jpeg"/><Relationship Id="rId4" Type="http://schemas.openxmlformats.org/officeDocument/2006/relationships/image" Target="../media/image10.png"/><Relationship Id="rId3" Type="http://schemas.openxmlformats.org/officeDocument/2006/relationships/image" Target="../media/image11.png"/><Relationship Id="rId2" Type="http://schemas.openxmlformats.org/officeDocument/2006/relationships/image" Target="../media/image9.png"/><Relationship Id="rId14" Type="http://schemas.openxmlformats.org/officeDocument/2006/relationships/slideLayout" Target="../slideLayouts/slideLayout1.xml"/><Relationship Id="rId13" Type="http://schemas.openxmlformats.org/officeDocument/2006/relationships/image" Target="../media/image23.jpeg"/><Relationship Id="rId12" Type="http://schemas.openxmlformats.org/officeDocument/2006/relationships/image" Target="../media/image22.jpeg"/><Relationship Id="rId11" Type="http://schemas.openxmlformats.org/officeDocument/2006/relationships/image" Target="../media/image21.jpeg"/><Relationship Id="rId10" Type="http://schemas.openxmlformats.org/officeDocument/2006/relationships/image" Target="../media/image20.jpeg"/><Relationship Id="rId1" Type="http://schemas.openxmlformats.org/officeDocument/2006/relationships/slide" Target="slide1.xml"/></Relationships>
</file>

<file path=ppt/slides/_rels/slide8.xml.rels><?xml version="1.0" encoding="UTF-8" standalone="yes"?>
<Relationships xmlns="http://schemas.openxmlformats.org/package/2006/relationships"><Relationship Id="rId9" Type="http://schemas.openxmlformats.org/officeDocument/2006/relationships/image" Target="../media/image27.jpeg"/><Relationship Id="rId8" Type="http://schemas.openxmlformats.org/officeDocument/2006/relationships/image" Target="../media/image26.jpeg"/><Relationship Id="rId7" Type="http://schemas.openxmlformats.org/officeDocument/2006/relationships/image" Target="../media/image25.jpeg"/><Relationship Id="rId6" Type="http://schemas.openxmlformats.org/officeDocument/2006/relationships/image" Target="../media/image24.png"/><Relationship Id="rId5" Type="http://schemas.openxmlformats.org/officeDocument/2006/relationships/image" Target="../media/image14.png"/><Relationship Id="rId4" Type="http://schemas.openxmlformats.org/officeDocument/2006/relationships/image" Target="../media/image10.png"/><Relationship Id="rId3" Type="http://schemas.openxmlformats.org/officeDocument/2006/relationships/image" Target="../media/image11.png"/><Relationship Id="rId2" Type="http://schemas.openxmlformats.org/officeDocument/2006/relationships/image" Target="../media/image9.png"/><Relationship Id="rId10" Type="http://schemas.openxmlformats.org/officeDocument/2006/relationships/slideLayout" Target="../slideLayouts/slideLayout1.xml"/><Relationship Id="rId1" Type="http://schemas.openxmlformats.org/officeDocument/2006/relationships/slide" Target="slide1.xml"/></Relationships>
</file>

<file path=ppt/slides/_rels/slide9.xml.rels><?xml version="1.0" encoding="UTF-8" standalone="yes"?>
<Relationships xmlns="http://schemas.openxmlformats.org/package/2006/relationships"><Relationship Id="rId9" Type="http://schemas.openxmlformats.org/officeDocument/2006/relationships/image" Target="../media/image31.jpeg"/><Relationship Id="rId8" Type="http://schemas.openxmlformats.org/officeDocument/2006/relationships/image" Target="../media/image30.jpeg"/><Relationship Id="rId7" Type="http://schemas.openxmlformats.org/officeDocument/2006/relationships/image" Target="../media/image29.jpeg"/><Relationship Id="rId6" Type="http://schemas.openxmlformats.org/officeDocument/2006/relationships/image" Target="../media/image28.png"/><Relationship Id="rId5" Type="http://schemas.openxmlformats.org/officeDocument/2006/relationships/image" Target="../media/image14.png"/><Relationship Id="rId4" Type="http://schemas.openxmlformats.org/officeDocument/2006/relationships/image" Target="../media/image10.png"/><Relationship Id="rId3" Type="http://schemas.openxmlformats.org/officeDocument/2006/relationships/image" Target="../media/image11.png"/><Relationship Id="rId2" Type="http://schemas.openxmlformats.org/officeDocument/2006/relationships/image" Target="../media/image9.png"/><Relationship Id="rId10" Type="http://schemas.openxmlformats.org/officeDocument/2006/relationships/slideLayout" Target="../slideLayouts/slideLayout1.xml"/><Relationship Id="rId1" Type="http://schemas.openxmlformats.org/officeDocument/2006/relationships/slide" Target="slide1.xml"/></Relationships>
</file>

<file path=ppt/slides/_rels/slide10.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34.jpeg"/><Relationship Id="rId7" Type="http://schemas.openxmlformats.org/officeDocument/2006/relationships/image" Target="../media/image33.png"/><Relationship Id="rId6" Type="http://schemas.openxmlformats.org/officeDocument/2006/relationships/image" Target="../media/image32.png"/><Relationship Id="rId5" Type="http://schemas.openxmlformats.org/officeDocument/2006/relationships/image" Target="../media/image28.png"/><Relationship Id="rId4" Type="http://schemas.openxmlformats.org/officeDocument/2006/relationships/image" Target="../media/image10.png"/><Relationship Id="rId3" Type="http://schemas.openxmlformats.org/officeDocument/2006/relationships/image" Target="../media/image11.png"/><Relationship Id="rId2" Type="http://schemas.openxmlformats.org/officeDocument/2006/relationships/image" Target="../media/image9.png"/><Relationship Id="rId1" Type="http://schemas.openxmlformats.org/officeDocument/2006/relationships/slide" Target="slide1.xml"/></Relationships>
</file>

<file path=ppt/slides/_rels/slide11.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35.png"/><Relationship Id="rId4" Type="http://schemas.openxmlformats.org/officeDocument/2006/relationships/image" Target="../media/image28.png"/><Relationship Id="rId3" Type="http://schemas.openxmlformats.org/officeDocument/2006/relationships/image" Target="../media/image11.png"/><Relationship Id="rId2" Type="http://schemas.openxmlformats.org/officeDocument/2006/relationships/image" Target="../media/image9.png"/><Relationship Id="rId1" Type="http://schemas.openxmlformats.org/officeDocument/2006/relationships/slide" Target="slide1.xml"/></Relationships>
</file>

<file path=ppt/slides/_rels/slide12.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28.png"/><Relationship Id="rId3" Type="http://schemas.openxmlformats.org/officeDocument/2006/relationships/image" Target="../media/image11.png"/><Relationship Id="rId2" Type="http://schemas.openxmlformats.org/officeDocument/2006/relationships/image" Target="../media/image9.png"/><Relationship Id="rId1" Type="http://schemas.openxmlformats.org/officeDocument/2006/relationships/slide" Target="slide1.xml"/></Relationships>
</file>

<file path=ppt/slides/_rels/slide13.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38.png"/><Relationship Id="rId4" Type="http://schemas.openxmlformats.org/officeDocument/2006/relationships/image" Target="../media/image28.png"/><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 Target="slide1.xml"/></Relationships>
</file>

<file path=ppt/slides/_rels/slide14.xml.rels><?xml version="1.0" encoding="UTF-8" standalone="yes"?>
<Relationships xmlns="http://schemas.openxmlformats.org/package/2006/relationships"><Relationship Id="rId8" Type="http://schemas.openxmlformats.org/officeDocument/2006/relationships/slideLayout" Target="../slideLayouts/slideLayout1.xml"/><Relationship Id="rId7" Type="http://schemas.openxmlformats.org/officeDocument/2006/relationships/image" Target="../media/image40.png"/><Relationship Id="rId6" Type="http://schemas.openxmlformats.org/officeDocument/2006/relationships/image" Target="../media/image39.png"/><Relationship Id="rId5" Type="http://schemas.openxmlformats.org/officeDocument/2006/relationships/image" Target="../media/image28.png"/><Relationship Id="rId4" Type="http://schemas.openxmlformats.org/officeDocument/2006/relationships/image" Target="../media/image10.png"/><Relationship Id="rId3" Type="http://schemas.openxmlformats.org/officeDocument/2006/relationships/image" Target="../media/image11.png"/><Relationship Id="rId2" Type="http://schemas.openxmlformats.org/officeDocument/2006/relationships/image" Target="../media/image9.png"/><Relationship Id="rId1" Type="http://schemas.openxmlformats.org/officeDocument/2006/relationships/slide" Target="slide1.xml"/></Relationships>
</file>

<file path=ppt/slides/_rels/slide15.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41.png"/><Relationship Id="rId4" Type="http://schemas.openxmlformats.org/officeDocument/2006/relationships/image" Target="../media/image28.png"/><Relationship Id="rId3" Type="http://schemas.openxmlformats.org/officeDocument/2006/relationships/image" Target="../media/image11.png"/><Relationship Id="rId2" Type="http://schemas.openxmlformats.org/officeDocument/2006/relationships/image" Target="../media/image9.png"/><Relationship Id="rId1" Type="http://schemas.openxmlformats.org/officeDocument/2006/relationships/slide" Target="slide1.xml"/></Relationships>
</file>

<file path=ppt/slides/_rels/slide16.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42.png"/><Relationship Id="rId5" Type="http://schemas.openxmlformats.org/officeDocument/2006/relationships/image" Target="../media/image28.png"/><Relationship Id="rId4" Type="http://schemas.openxmlformats.org/officeDocument/2006/relationships/image" Target="../media/image10.png"/><Relationship Id="rId3" Type="http://schemas.openxmlformats.org/officeDocument/2006/relationships/image" Target="../media/image11.png"/><Relationship Id="rId2" Type="http://schemas.openxmlformats.org/officeDocument/2006/relationships/image" Target="../media/image9.png"/><Relationship Id="rId1" Type="http://schemas.openxmlformats.org/officeDocument/2006/relationships/slide" Target="slide1.xml"/></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0.png"/><Relationship Id="rId2" Type="http://schemas.openxmlformats.org/officeDocument/2006/relationships/image" Target="../media/image11.png"/><Relationship Id="rId1" Type="http://schemas.openxmlformats.org/officeDocument/2006/relationships/image" Target="../media/image9.png"/></Relationships>
</file>

<file path=ppt/slides/_rels/slide18.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43.png"/><Relationship Id="rId5" Type="http://schemas.openxmlformats.org/officeDocument/2006/relationships/image" Target="../media/image28.png"/><Relationship Id="rId4" Type="http://schemas.openxmlformats.org/officeDocument/2006/relationships/image" Target="../media/image10.png"/><Relationship Id="rId3" Type="http://schemas.openxmlformats.org/officeDocument/2006/relationships/image" Target="../media/image11.png"/><Relationship Id="rId2" Type="http://schemas.openxmlformats.org/officeDocument/2006/relationships/image" Target="../media/image9.png"/><Relationship Id="rId1" Type="http://schemas.openxmlformats.org/officeDocument/2006/relationships/slide" Target="slide1.xml"/></Relationships>
</file>

<file path=ppt/slides/_rels/slide19.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44.png"/><Relationship Id="rId5" Type="http://schemas.openxmlformats.org/officeDocument/2006/relationships/image" Target="../media/image28.png"/><Relationship Id="rId4" Type="http://schemas.openxmlformats.org/officeDocument/2006/relationships/image" Target="../media/image10.png"/><Relationship Id="rId3" Type="http://schemas.openxmlformats.org/officeDocument/2006/relationships/image" Target="../media/image11.png"/><Relationship Id="rId2" Type="http://schemas.openxmlformats.org/officeDocument/2006/relationships/image" Target="../media/image9.png"/><Relationship Id="rId1" Type="http://schemas.openxmlformats.org/officeDocument/2006/relationships/slide" Target="slide1.xml"/></Relationships>
</file>

<file path=ppt/slides/_rels/slide20.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28.png"/><Relationship Id="rId3" Type="http://schemas.openxmlformats.org/officeDocument/2006/relationships/image" Target="../media/image11.png"/><Relationship Id="rId2" Type="http://schemas.openxmlformats.org/officeDocument/2006/relationships/image" Target="../media/image9.png"/><Relationship Id="rId1" Type="http://schemas.openxmlformats.org/officeDocument/2006/relationships/slide" Target="slide1.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blipFill rotWithShape="0">
          <a:blip r:embed="rId1"/>
          <a:stretch>
            <a:fillRect/>
          </a:stretch>
        </a:blipFill>
        <a:effectLst/>
      </p:bgPr>
    </p:bg>
    <p:spTree>
      <p:nvGrpSpPr>
        <p:cNvPr id="1" name=""/>
        <p:cNvGrpSpPr/>
        <p:nvPr/>
      </p:nvGrpSpPr>
      <p:grpSpPr/>
      <p:sp>
        <p:nvSpPr>
          <p:cNvPr id="1028" name="Rectangle 2"/>
          <p:cNvSpPr>
            <a:spLocks noGrp="1"/>
          </p:cNvSpPr>
          <p:nvPr>
            <p:ph type="title" idx="4294967295"/>
          </p:nvPr>
        </p:nvSpPr>
        <p:spPr>
          <a:xfrm>
            <a:off x="1000125" y="357188"/>
            <a:ext cx="7924800" cy="457200"/>
          </a:xfrm>
          <a:prstGeom prst="rect">
            <a:avLst/>
          </a:prstGeom>
          <a:noFill/>
          <a:ln w="9525">
            <a:noFill/>
          </a:ln>
        </p:spPr>
        <p:txBody>
          <a:bodyPr/>
          <a:p>
            <a:pPr eaLnBrk="1" hangingPunct="1"/>
            <a:r>
              <a:rPr lang="zh-CN" altLang="en-US" sz="3000" dirty="0">
                <a:solidFill>
                  <a:srgbClr val="CC3300"/>
                </a:solidFill>
                <a:latin typeface="黑体" panose="02010609060101010101" pitchFamily="49" charset="-122"/>
                <a:ea typeface="黑体" panose="02010609060101010101" pitchFamily="49" charset="-122"/>
              </a:rPr>
              <a:t>第</a:t>
            </a:r>
            <a:r>
              <a:rPr lang="en-US" altLang="zh-CN" sz="3000" dirty="0">
                <a:solidFill>
                  <a:srgbClr val="CC3300"/>
                </a:solidFill>
                <a:latin typeface="黑体" panose="02010609060101010101" pitchFamily="49" charset="-122"/>
                <a:ea typeface="黑体" panose="02010609060101010101" pitchFamily="49" charset="-122"/>
              </a:rPr>
              <a:t>3.13</a:t>
            </a:r>
            <a:r>
              <a:rPr lang="zh-CN" altLang="en-US" sz="3000" dirty="0">
                <a:solidFill>
                  <a:srgbClr val="CC3300"/>
                </a:solidFill>
                <a:latin typeface="黑体" panose="02010609060101010101" pitchFamily="49" charset="-122"/>
                <a:ea typeface="黑体" panose="02010609060101010101" pitchFamily="49" charset="-122"/>
              </a:rPr>
              <a:t>章 焊接、铆接、胶接</a:t>
            </a:r>
            <a:endParaRPr lang="zh-CN" altLang="en-US" sz="3000" dirty="0">
              <a:solidFill>
                <a:srgbClr val="CC3300"/>
              </a:solidFill>
              <a:latin typeface="黑体" panose="02010609060101010101" pitchFamily="49" charset="-122"/>
              <a:ea typeface="黑体" panose="02010609060101010101" pitchFamily="49" charset="-122"/>
            </a:endParaRPr>
          </a:p>
        </p:txBody>
      </p:sp>
      <p:sp>
        <p:nvSpPr>
          <p:cNvPr id="1029" name="Text Box 3">
            <a:hlinkClick r:id="" action="ppaction://noaction"/>
          </p:cNvPr>
          <p:cNvSpPr txBox="1"/>
          <p:nvPr/>
        </p:nvSpPr>
        <p:spPr>
          <a:xfrm>
            <a:off x="1835785" y="2216150"/>
            <a:ext cx="2819400" cy="523875"/>
          </a:xfrm>
          <a:prstGeom prst="rect">
            <a:avLst/>
          </a:prstGeom>
          <a:noFill/>
          <a:ln w="9525">
            <a:noFill/>
          </a:ln>
        </p:spPr>
        <p:txBody>
          <a:bodyPr>
            <a:spAutoFit/>
          </a:bodyPr>
          <a:p>
            <a:pPr>
              <a:spcBef>
                <a:spcPct val="50000"/>
              </a:spcBef>
            </a:pPr>
            <a:r>
              <a:rPr lang="en-US" altLang="zh-CN" sz="2800" dirty="0">
                <a:latin typeface="Times New Roman" panose="02020603050405020304" pitchFamily="18" charset="0"/>
                <a:ea typeface="黑体" panose="02010609060101010101" pitchFamily="49" charset="-122"/>
              </a:rPr>
              <a:t>§3.13-1  </a:t>
            </a:r>
            <a:r>
              <a:rPr lang="zh-CN" altLang="en-US" sz="2800" dirty="0">
                <a:latin typeface="Times New Roman" panose="02020603050405020304" pitchFamily="18" charset="0"/>
                <a:ea typeface="黑体" panose="02010609060101010101" pitchFamily="49" charset="-122"/>
                <a:hlinkClick r:id="rId2" tooltip="螺纹的类型与特点" action="ppaction://hlinksldjump"/>
              </a:rPr>
              <a:t>焊　接</a:t>
            </a:r>
            <a:endParaRPr lang="zh-CN" altLang="en-US" sz="2800" dirty="0">
              <a:latin typeface="Times New Roman" panose="02020603050405020304" pitchFamily="18" charset="0"/>
              <a:ea typeface="黑体" panose="02010609060101010101" pitchFamily="49" charset="-122"/>
            </a:endParaRPr>
          </a:p>
        </p:txBody>
      </p:sp>
      <p:sp>
        <p:nvSpPr>
          <p:cNvPr id="1030" name="Text Box 5">
            <a:hlinkClick r:id="" action="ppaction://noaction"/>
          </p:cNvPr>
          <p:cNvSpPr txBox="1"/>
          <p:nvPr/>
        </p:nvSpPr>
        <p:spPr>
          <a:xfrm>
            <a:off x="1835785" y="3429000"/>
            <a:ext cx="3505200" cy="519113"/>
          </a:xfrm>
          <a:prstGeom prst="rect">
            <a:avLst/>
          </a:prstGeom>
          <a:noFill/>
          <a:ln w="9525">
            <a:noFill/>
          </a:ln>
        </p:spPr>
        <p:txBody>
          <a:bodyPr>
            <a:spAutoFit/>
          </a:bodyPr>
          <a:p>
            <a:r>
              <a:rPr lang="en-US" altLang="zh-CN" sz="2800" dirty="0">
                <a:latin typeface="Times New Roman" panose="02020603050405020304" pitchFamily="18" charset="0"/>
                <a:ea typeface="黑体" panose="02010609060101010101" pitchFamily="49" charset="-122"/>
              </a:rPr>
              <a:t>§3.13-3  </a:t>
            </a:r>
            <a:r>
              <a:rPr lang="zh-CN" altLang="en-US" sz="2800" dirty="0">
                <a:latin typeface="Times New Roman" panose="02020603050405020304" pitchFamily="18" charset="0"/>
                <a:ea typeface="黑体" panose="02010609060101010101" pitchFamily="49" charset="-122"/>
                <a:hlinkClick r:id="rId3" action="ppaction://hlinksldjump"/>
              </a:rPr>
              <a:t>胶　接</a:t>
            </a:r>
            <a:endParaRPr lang="zh-CN" altLang="en-US" sz="2800" dirty="0">
              <a:latin typeface="Times New Roman" panose="02020603050405020304" pitchFamily="18" charset="0"/>
              <a:ea typeface="黑体" panose="02010609060101010101" pitchFamily="49" charset="-122"/>
            </a:endParaRPr>
          </a:p>
        </p:txBody>
      </p:sp>
      <p:cxnSp>
        <p:nvCxnSpPr>
          <p:cNvPr id="1031" name="直接连接符 20"/>
          <p:cNvCxnSpPr/>
          <p:nvPr/>
        </p:nvCxnSpPr>
        <p:spPr>
          <a:xfrm>
            <a:off x="76200" y="1073150"/>
            <a:ext cx="5832475" cy="0"/>
          </a:xfrm>
          <a:prstGeom prst="line">
            <a:avLst/>
          </a:prstGeom>
          <a:ln w="12700" cap="flat" cmpd="sng">
            <a:solidFill>
              <a:srgbClr val="FF0000"/>
            </a:solidFill>
            <a:prstDash val="solid"/>
            <a:headEnd type="none" w="med" len="med"/>
            <a:tailEnd type="none" w="med" len="med"/>
          </a:ln>
        </p:spPr>
      </p:cxnSp>
      <p:cxnSp>
        <p:nvCxnSpPr>
          <p:cNvPr id="1032" name="直接连接符 21"/>
          <p:cNvCxnSpPr/>
          <p:nvPr/>
        </p:nvCxnSpPr>
        <p:spPr>
          <a:xfrm>
            <a:off x="539750" y="920750"/>
            <a:ext cx="0" cy="2233613"/>
          </a:xfrm>
          <a:prstGeom prst="line">
            <a:avLst/>
          </a:prstGeom>
          <a:ln w="12700" cap="flat" cmpd="sng">
            <a:solidFill>
              <a:srgbClr val="FF0000"/>
            </a:solidFill>
            <a:prstDash val="solid"/>
            <a:headEnd type="none" w="med" len="med"/>
            <a:tailEnd type="none" w="med" len="med"/>
          </a:ln>
        </p:spPr>
      </p:cxnSp>
      <p:sp>
        <p:nvSpPr>
          <p:cNvPr id="14" name="十字星 14"/>
          <p:cNvSpPr/>
          <p:nvPr/>
        </p:nvSpPr>
        <p:spPr bwMode="auto">
          <a:xfrm>
            <a:off x="361950" y="947738"/>
            <a:ext cx="355600" cy="249238"/>
          </a:xfrm>
          <a:prstGeom prst="star4">
            <a:avLst/>
          </a:prstGeom>
          <a:solidFill>
            <a:schemeClr val="accent1">
              <a:lumMod val="75000"/>
            </a:schemeClr>
          </a:solidFill>
          <a:ln>
            <a:noFill/>
          </a:ln>
          <a:effectLst/>
        </p:spPr>
        <p:txBody>
          <a:bodyPr lIns="90000" tIns="46800" rIns="90000" bIns="46800"/>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000" b="0" i="0" u="none" strike="noStrike" kern="1200" cap="none" spc="0" normalizeH="0" baseline="0" noProof="0">
              <a:ln>
                <a:noFill/>
              </a:ln>
              <a:solidFill>
                <a:srgbClr val="000099"/>
              </a:solidFill>
              <a:effectLst/>
              <a:uLnTx/>
              <a:uFillTx/>
              <a:latin typeface="Times New Roman" panose="02020603050405020304" pitchFamily="18" charset="0"/>
              <a:ea typeface="华文中宋" panose="02010600040101010101" pitchFamily="2" charset="-122"/>
              <a:cs typeface="+mn-cs"/>
            </a:endParaRPr>
          </a:p>
        </p:txBody>
      </p:sp>
      <p:pic>
        <p:nvPicPr>
          <p:cNvPr id="1034" name="图片 23"/>
          <p:cNvPicPr>
            <a:picLocks noChangeAspect="1"/>
          </p:cNvPicPr>
          <p:nvPr/>
        </p:nvPicPr>
        <p:blipFill>
          <a:blip r:embed="rId4">
            <a:clrChange>
              <a:clrFrom>
                <a:srgbClr val="2177CE"/>
              </a:clrFrom>
              <a:clrTo>
                <a:srgbClr val="2177CE">
                  <a:alpha val="0"/>
                </a:srgbClr>
              </a:clrTo>
            </a:clrChange>
          </a:blip>
          <a:stretch>
            <a:fillRect/>
          </a:stretch>
        </p:blipFill>
        <p:spPr>
          <a:xfrm>
            <a:off x="182563" y="293688"/>
            <a:ext cx="695325" cy="669925"/>
          </a:xfrm>
          <a:prstGeom prst="rect">
            <a:avLst/>
          </a:prstGeom>
          <a:noFill/>
          <a:ln w="9525">
            <a:noFill/>
          </a:ln>
        </p:spPr>
      </p:pic>
      <p:sp>
        <p:nvSpPr>
          <p:cNvPr id="1035" name="TextBox 2"/>
          <p:cNvSpPr txBox="1"/>
          <p:nvPr/>
        </p:nvSpPr>
        <p:spPr>
          <a:xfrm>
            <a:off x="1854835" y="2878138"/>
            <a:ext cx="3816350" cy="522287"/>
          </a:xfrm>
          <a:prstGeom prst="rect">
            <a:avLst/>
          </a:prstGeom>
          <a:noFill/>
          <a:ln w="9525">
            <a:noFill/>
          </a:ln>
        </p:spPr>
        <p:txBody>
          <a:bodyPr>
            <a:spAutoFit/>
          </a:bodyPr>
          <a:p>
            <a:r>
              <a:rPr lang="en-US" altLang="zh-CN" sz="2800" dirty="0">
                <a:latin typeface="Times New Roman" panose="02020603050405020304" pitchFamily="18" charset="0"/>
                <a:ea typeface="黑体" panose="02010609060101010101" pitchFamily="49" charset="-122"/>
              </a:rPr>
              <a:t>§3.13-2  </a:t>
            </a:r>
            <a:r>
              <a:rPr lang="zh-CN" altLang="en-US" sz="2800" dirty="0">
                <a:latin typeface="Times New Roman" panose="02020603050405020304" pitchFamily="18" charset="0"/>
                <a:ea typeface="黑体" panose="02010609060101010101" pitchFamily="49" charset="-122"/>
                <a:hlinkClick r:id="rId5" action="ppaction://hlinksldjump"/>
              </a:rPr>
              <a:t>铆    接</a:t>
            </a:r>
            <a:endParaRPr lang="zh-CN" altLang="en-US" sz="2800" dirty="0">
              <a:latin typeface="Times New Roman" panose="02020603050405020304" pitchFamily="18" charset="0"/>
            </a:endParaRPr>
          </a:p>
        </p:txBody>
      </p:sp>
      <p:sp>
        <p:nvSpPr>
          <p:cNvPr id="2" name="文本框 1"/>
          <p:cNvSpPr txBox="1"/>
          <p:nvPr/>
        </p:nvSpPr>
        <p:spPr>
          <a:xfrm>
            <a:off x="5507990" y="2891790"/>
            <a:ext cx="2855595" cy="508635"/>
          </a:xfrm>
          <a:prstGeom prst="rect">
            <a:avLst/>
          </a:prstGeom>
          <a:noFill/>
        </p:spPr>
        <p:txBody>
          <a:bodyPr wrap="square" rtlCol="0">
            <a:noAutofit/>
          </a:bodyPr>
          <a:p>
            <a:r>
              <a:rPr lang="zh-CN" altLang="en-US" sz="2800">
                <a:solidFill>
                  <a:srgbClr val="FF0000"/>
                </a:solidFill>
                <a:latin typeface="黑体" panose="02010609060101010101" pitchFamily="49" charset="-122"/>
                <a:ea typeface="黑体" panose="02010609060101010101" pitchFamily="49" charset="-122"/>
              </a:rPr>
              <a:t>不可拆连接</a:t>
            </a:r>
            <a:endParaRPr lang="zh-CN" altLang="en-US" sz="2800">
              <a:solidFill>
                <a:srgbClr val="FF0000"/>
              </a:solidFill>
              <a:latin typeface="黑体" panose="02010609060101010101" pitchFamily="49" charset="-122"/>
              <a:ea typeface="黑体" panose="02010609060101010101" pitchFamily="49" charset="-122"/>
            </a:endParaRPr>
          </a:p>
        </p:txBody>
      </p:sp>
      <p:sp>
        <p:nvSpPr>
          <p:cNvPr id="3" name="右大括号 2"/>
          <p:cNvSpPr/>
          <p:nvPr/>
        </p:nvSpPr>
        <p:spPr>
          <a:xfrm>
            <a:off x="4932045" y="2564765"/>
            <a:ext cx="432435" cy="1224280"/>
          </a:xfrm>
          <a:prstGeom prst="rightBrace">
            <a:avLst/>
          </a:prstGeom>
          <a:noFill/>
          <a:ln w="28575" cap="flat" cmpd="sng" algn="ctr">
            <a:solidFill>
              <a:srgbClr val="FF0000"/>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p:txBody>
      </p:sp>
    </p:spTree>
    <p:controls>
      <mc:AlternateContent xmlns:mc="http://schemas.openxmlformats.org/markup-compatibility/2006">
        <mc:Choice xmlns:v="urn:schemas-microsoft-com:vml" Requires="v">
          <p:control spid="1026" name="" r:id="rId6" imgW="425450" imgH="323850"/>
        </mc:Choice>
        <mc:Fallback>
          <p:control name="" r:id="rId6" imgW="425450" imgH="323850">
            <p:pic>
              <p:nvPicPr>
                <p:cNvPr id="0" name="Host Control  1025"/>
                <p:cNvPicPr/>
                <p:nvPr/>
              </p:nvPicPr>
              <p:blipFill>
                <a:blip r:embed="rId7"/>
                <a:stretch>
                  <a:fillRect/>
                </a:stretch>
              </p:blipFill>
              <p:spPr>
                <a:xfrm>
                  <a:off x="8712200" y="6540500"/>
                  <a:ext cx="425450" cy="323850"/>
                </a:xfrm>
                <a:prstGeom prst="rect">
                  <a:avLst/>
                </a:prstGeom>
              </p:spPr>
            </p:pic>
          </p:control>
        </mc:Fallback>
      </mc:AlternateContent>
    </p:controls>
  </p:cSld>
  <p:clrMapOvr>
    <a:masterClrMapping/>
  </p:clrMapOvr>
  <p:transition advClick="0">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0218" name="Picture 42" descr="T"/>
          <p:cNvPicPr>
            <a:picLocks noChangeAspect="1"/>
          </p:cNvPicPr>
          <p:nvPr/>
        </p:nvPicPr>
        <p:blipFill>
          <a:blip r:embed="rId1"/>
          <a:stretch>
            <a:fillRect/>
          </a:stretch>
        </p:blipFill>
        <p:spPr>
          <a:xfrm>
            <a:off x="5500688" y="2071688"/>
            <a:ext cx="3429000" cy="2590800"/>
          </a:xfrm>
          <a:prstGeom prst="rect">
            <a:avLst/>
          </a:prstGeom>
          <a:noFill/>
          <a:ln w="9525">
            <a:noFill/>
          </a:ln>
        </p:spPr>
      </p:pic>
      <p:sp>
        <p:nvSpPr>
          <p:cNvPr id="3075" name="Rectangle 4"/>
          <p:cNvSpPr>
            <a:spLocks noGrp="1"/>
          </p:cNvSpPr>
          <p:nvPr>
            <p:ph type="title"/>
          </p:nvPr>
        </p:nvSpPr>
        <p:spPr>
          <a:xfrm>
            <a:off x="5410200" y="838200"/>
            <a:ext cx="2133600" cy="152400"/>
          </a:xfrm>
          <a:noFill/>
          <a:ln>
            <a:noFill/>
          </a:ln>
        </p:spPr>
        <p:txBody>
          <a:bodyPr/>
          <a:p>
            <a:pPr eaLnBrk="1" hangingPunct="1"/>
            <a:r>
              <a:rPr lang="zh-CN" altLang="en-US" sz="2800" dirty="0">
                <a:solidFill>
                  <a:schemeClr val="bg1"/>
                </a:solidFill>
                <a:ea typeface="华文中宋" panose="02010600040101010101" pitchFamily="2" charset="-122"/>
              </a:rPr>
              <a:t>焊接</a:t>
            </a:r>
            <a:r>
              <a:rPr lang="en-US" altLang="zh-CN" sz="2800" dirty="0">
                <a:solidFill>
                  <a:schemeClr val="bg1"/>
                </a:solidFill>
                <a:ea typeface="华文中宋" panose="02010600040101010101" pitchFamily="2" charset="-122"/>
              </a:rPr>
              <a:t>1</a:t>
            </a:r>
            <a:endParaRPr lang="en-US" altLang="zh-CN" sz="2800" dirty="0">
              <a:solidFill>
                <a:schemeClr val="bg1"/>
              </a:solidFill>
              <a:ea typeface="华文中宋" panose="02010600040101010101" pitchFamily="2" charset="-122"/>
            </a:endParaRPr>
          </a:p>
        </p:txBody>
      </p:sp>
      <p:sp>
        <p:nvSpPr>
          <p:cNvPr id="3076" name="Rectangle 5"/>
          <p:cNvSpPr>
            <a:spLocks noGrp="1"/>
          </p:cNvSpPr>
          <p:nvPr/>
        </p:nvSpPr>
        <p:spPr>
          <a:xfrm>
            <a:off x="1071563" y="0"/>
            <a:ext cx="1219200" cy="533400"/>
          </a:xfrm>
          <a:prstGeom prst="rect">
            <a:avLst/>
          </a:prstGeom>
          <a:noFill/>
          <a:ln w="9525">
            <a:noFill/>
          </a:ln>
        </p:spPr>
        <p:txBody>
          <a:bodyPr/>
          <a:p>
            <a:pPr eaLnBrk="0" hangingPunct="0"/>
            <a:r>
              <a:rPr lang="zh-CN" altLang="en-US" sz="3000" dirty="0">
                <a:solidFill>
                  <a:schemeClr val="bg1"/>
                </a:solidFill>
                <a:latin typeface="黑体" panose="02010609060101010101" pitchFamily="49" charset="-122"/>
                <a:ea typeface="黑体" panose="02010609060101010101" pitchFamily="49" charset="-122"/>
              </a:rPr>
              <a:t>焊 接</a:t>
            </a:r>
            <a:endParaRPr lang="zh-CN" altLang="en-US" sz="3000" dirty="0">
              <a:solidFill>
                <a:schemeClr val="bg1"/>
              </a:solidFill>
              <a:latin typeface="黑体" panose="02010609060101010101" pitchFamily="49" charset="-122"/>
              <a:ea typeface="黑体" panose="02010609060101010101" pitchFamily="49" charset="-122"/>
            </a:endParaRPr>
          </a:p>
        </p:txBody>
      </p:sp>
      <p:sp>
        <p:nvSpPr>
          <p:cNvPr id="50183" name="Text Box 7"/>
          <p:cNvSpPr txBox="1"/>
          <p:nvPr/>
        </p:nvSpPr>
        <p:spPr>
          <a:xfrm>
            <a:off x="357188" y="928688"/>
            <a:ext cx="8564562" cy="1200150"/>
          </a:xfrm>
          <a:prstGeom prst="rect">
            <a:avLst/>
          </a:prstGeom>
          <a:noFill/>
          <a:ln w="9525">
            <a:noFill/>
          </a:ln>
        </p:spPr>
        <p:txBody>
          <a:bodyPr>
            <a:spAutoFit/>
          </a:bodyPr>
          <a:p>
            <a:pPr>
              <a:lnSpc>
                <a:spcPct val="120000"/>
              </a:lnSpc>
              <a:buClr>
                <a:schemeClr val="accent2"/>
              </a:buClr>
              <a:buSzPct val="75000"/>
            </a:pPr>
            <a:r>
              <a:rPr lang="zh-CN" altLang="en-US" dirty="0">
                <a:latin typeface="Times New Roman" panose="02020603050405020304" pitchFamily="18" charset="0"/>
              </a:rPr>
              <a:t>        借助加热（有时还需要加压）使两个以上的金属件在连接处形成原子或分子间的结合而构成的不可拆连接，称为焊连接，简称</a:t>
            </a:r>
            <a:r>
              <a:rPr lang="zh-CN" altLang="en-US" dirty="0">
                <a:solidFill>
                  <a:srgbClr val="FF0000"/>
                </a:solidFill>
                <a:latin typeface="Times New Roman" panose="02020603050405020304" pitchFamily="18" charset="0"/>
              </a:rPr>
              <a:t>焊接</a:t>
            </a:r>
            <a:r>
              <a:rPr lang="zh-CN" altLang="en-US" dirty="0">
                <a:latin typeface="Times New Roman" panose="02020603050405020304" pitchFamily="18" charset="0"/>
              </a:rPr>
              <a:t>。</a:t>
            </a:r>
            <a:endParaRPr lang="zh-CN" altLang="en-US" dirty="0">
              <a:latin typeface="Times New Roman" panose="02020603050405020304" pitchFamily="18" charset="0"/>
            </a:endParaRPr>
          </a:p>
          <a:p>
            <a:pPr>
              <a:lnSpc>
                <a:spcPct val="120000"/>
              </a:lnSpc>
              <a:buClr>
                <a:schemeClr val="accent2"/>
              </a:buClr>
              <a:buSzPct val="75000"/>
              <a:buFont typeface="Monotype Sorts" pitchFamily="2" charset="2"/>
            </a:pPr>
            <a:endParaRPr lang="zh-CN" altLang="en-US" dirty="0">
              <a:latin typeface="华文中宋" panose="02010600040101010101" pitchFamily="2" charset="-122"/>
            </a:endParaRPr>
          </a:p>
        </p:txBody>
      </p:sp>
      <p:sp>
        <p:nvSpPr>
          <p:cNvPr id="50187" name="Text Box 11"/>
          <p:cNvSpPr txBox="1"/>
          <p:nvPr/>
        </p:nvSpPr>
        <p:spPr>
          <a:xfrm>
            <a:off x="357188" y="3714750"/>
            <a:ext cx="5929312" cy="2336800"/>
          </a:xfrm>
          <a:prstGeom prst="rect">
            <a:avLst/>
          </a:prstGeom>
          <a:noFill/>
          <a:ln w="9525">
            <a:noFill/>
          </a:ln>
        </p:spPr>
        <p:txBody>
          <a:bodyPr>
            <a:spAutoFit/>
          </a:bodyPr>
          <a:p>
            <a:pPr>
              <a:lnSpc>
                <a:spcPts val="3500"/>
              </a:lnSpc>
              <a:buClr>
                <a:schemeClr val="accent2"/>
              </a:buClr>
              <a:buSzPct val="75000"/>
              <a:buFont typeface="Monotype Sorts" pitchFamily="2" charset="2"/>
            </a:pPr>
            <a:r>
              <a:rPr lang="en-US" altLang="zh-CN" dirty="0">
                <a:latin typeface="华文中宋" panose="02010600040101010101" pitchFamily="2" charset="-122"/>
              </a:rPr>
              <a:t>      </a:t>
            </a:r>
            <a:r>
              <a:rPr lang="zh-CN" altLang="en-US" dirty="0">
                <a:latin typeface="华文中宋" panose="02010600040101010101" pitchFamily="2" charset="-122"/>
              </a:rPr>
              <a:t>在机械制造中最常用的是</a:t>
            </a:r>
            <a:r>
              <a:rPr lang="zh-CN" altLang="en-US" dirty="0">
                <a:solidFill>
                  <a:srgbClr val="FF0000"/>
                </a:solidFill>
                <a:latin typeface="华文中宋" panose="02010600040101010101" pitchFamily="2" charset="-122"/>
              </a:rPr>
              <a:t>电弧焊</a:t>
            </a:r>
            <a:r>
              <a:rPr lang="zh-CN" altLang="en-US" dirty="0">
                <a:latin typeface="华文中宋" panose="02010600040101010101" pitchFamily="2" charset="-122"/>
              </a:rPr>
              <a:t>。电弧焊是</a:t>
            </a:r>
            <a:endParaRPr lang="zh-CN" altLang="en-US" dirty="0">
              <a:latin typeface="华文中宋" panose="02010600040101010101" pitchFamily="2" charset="-122"/>
            </a:endParaRPr>
          </a:p>
          <a:p>
            <a:pPr>
              <a:lnSpc>
                <a:spcPts val="3500"/>
              </a:lnSpc>
            </a:pPr>
            <a:r>
              <a:rPr lang="zh-CN" altLang="en-US" dirty="0">
                <a:latin typeface="华文中宋" panose="02010600040101010101" pitchFamily="2" charset="-122"/>
              </a:rPr>
              <a:t>利用</a:t>
            </a:r>
            <a:r>
              <a:rPr lang="zh-CN" altLang="en-US" dirty="0">
                <a:latin typeface="Times New Roman" panose="02020603050405020304" pitchFamily="18" charset="0"/>
              </a:rPr>
              <a:t>电焊机的低压电流，通过电</a:t>
            </a:r>
            <a:r>
              <a:rPr lang="zh-CN" altLang="en-US" dirty="0">
                <a:latin typeface="华文中宋" panose="02010600040101010101" pitchFamily="2" charset="-122"/>
              </a:rPr>
              <a:t>焊条（为一个电极）与被焊件（为另一个电极）间形成电路，</a:t>
            </a:r>
            <a:r>
              <a:rPr lang="zh-CN" altLang="en-US" dirty="0">
                <a:latin typeface="Times New Roman" panose="02020603050405020304" pitchFamily="18" charset="0"/>
              </a:rPr>
              <a:t>在两极间引起电弧，来熔融被焊接部分的金属和焊条，使熔融的金属混合并填充接缝而形成连接。</a:t>
            </a:r>
            <a:endParaRPr lang="zh-CN" altLang="en-US" dirty="0">
              <a:latin typeface="Times New Roman" panose="02020603050405020304" pitchFamily="18" charset="0"/>
            </a:endParaRPr>
          </a:p>
        </p:txBody>
      </p:sp>
      <p:sp>
        <p:nvSpPr>
          <p:cNvPr id="50188" name="Text Box 12"/>
          <p:cNvSpPr txBox="1"/>
          <p:nvPr/>
        </p:nvSpPr>
        <p:spPr>
          <a:xfrm>
            <a:off x="785813" y="1928813"/>
            <a:ext cx="1708150" cy="396875"/>
          </a:xfrm>
          <a:prstGeom prst="rect">
            <a:avLst/>
          </a:prstGeom>
          <a:noFill/>
          <a:ln w="9525">
            <a:noFill/>
          </a:ln>
        </p:spPr>
        <p:txBody>
          <a:bodyPr wrap="none">
            <a:spAutoFit/>
          </a:bodyPr>
          <a:p>
            <a:r>
              <a:rPr lang="zh-CN" altLang="en-US" dirty="0">
                <a:latin typeface="华文中宋" panose="02010600040101010101" pitchFamily="2" charset="-122"/>
              </a:rPr>
              <a:t>焊接可分为：</a:t>
            </a:r>
            <a:endParaRPr lang="zh-CN" altLang="en-US" dirty="0">
              <a:latin typeface="华文中宋" panose="02010600040101010101" pitchFamily="2" charset="-122"/>
            </a:endParaRPr>
          </a:p>
        </p:txBody>
      </p:sp>
      <p:grpSp>
        <p:nvGrpSpPr>
          <p:cNvPr id="2" name="Group 44"/>
          <p:cNvGrpSpPr/>
          <p:nvPr/>
        </p:nvGrpSpPr>
        <p:grpSpPr>
          <a:xfrm>
            <a:off x="762000" y="2422525"/>
            <a:ext cx="1420813" cy="1235075"/>
            <a:chOff x="480" y="1526"/>
            <a:chExt cx="895" cy="778"/>
          </a:xfrm>
        </p:grpSpPr>
        <p:sp>
          <p:nvSpPr>
            <p:cNvPr id="3088" name="Rectangle 15"/>
            <p:cNvSpPr/>
            <p:nvPr/>
          </p:nvSpPr>
          <p:spPr>
            <a:xfrm>
              <a:off x="480" y="1526"/>
              <a:ext cx="895" cy="250"/>
            </a:xfrm>
            <a:prstGeom prst="rect">
              <a:avLst/>
            </a:prstGeom>
            <a:noFill/>
            <a:ln w="9525">
              <a:noFill/>
            </a:ln>
          </p:spPr>
          <p:txBody>
            <a:bodyPr wrap="none">
              <a:spAutoFit/>
            </a:bodyPr>
            <a:p>
              <a:pPr>
                <a:buSzPct val="80000"/>
                <a:buBlip>
                  <a:blip r:embed="rId2"/>
                </a:buBlip>
              </a:pPr>
              <a:r>
                <a:rPr lang="en-US" altLang="zh-CN" dirty="0">
                  <a:latin typeface="华文中宋" panose="02010600040101010101" pitchFamily="2" charset="-122"/>
                </a:rPr>
                <a:t> </a:t>
              </a:r>
              <a:r>
                <a:rPr lang="zh-CN" altLang="en-US" dirty="0">
                  <a:latin typeface="华文中宋" panose="02010600040101010101" pitchFamily="2" charset="-122"/>
                </a:rPr>
                <a:t>熔化焊：</a:t>
              </a:r>
              <a:endParaRPr lang="zh-CN" altLang="en-US" dirty="0">
                <a:latin typeface="华文中宋" panose="02010600040101010101" pitchFamily="2" charset="-122"/>
              </a:endParaRPr>
            </a:p>
          </p:txBody>
        </p:sp>
        <p:sp>
          <p:nvSpPr>
            <p:cNvPr id="3089" name="Rectangle 16"/>
            <p:cNvSpPr/>
            <p:nvPr/>
          </p:nvSpPr>
          <p:spPr>
            <a:xfrm>
              <a:off x="480" y="1804"/>
              <a:ext cx="895" cy="250"/>
            </a:xfrm>
            <a:prstGeom prst="rect">
              <a:avLst/>
            </a:prstGeom>
            <a:noFill/>
            <a:ln w="9525">
              <a:noFill/>
            </a:ln>
          </p:spPr>
          <p:txBody>
            <a:bodyPr wrap="none">
              <a:spAutoFit/>
            </a:bodyPr>
            <a:p>
              <a:pPr>
                <a:buSzPct val="80000"/>
                <a:buBlip>
                  <a:blip r:embed="rId2"/>
                </a:buBlip>
              </a:pPr>
              <a:r>
                <a:rPr lang="en-US" altLang="zh-CN" dirty="0">
                  <a:latin typeface="华文中宋" panose="02010600040101010101" pitchFamily="2" charset="-122"/>
                </a:rPr>
                <a:t> </a:t>
              </a:r>
              <a:r>
                <a:rPr lang="zh-CN" altLang="en-US" dirty="0">
                  <a:latin typeface="华文中宋" panose="02010600040101010101" pitchFamily="2" charset="-122"/>
                </a:rPr>
                <a:t>压力焊：</a:t>
              </a:r>
              <a:endParaRPr lang="zh-CN" altLang="en-US" dirty="0">
                <a:latin typeface="华文中宋" panose="02010600040101010101" pitchFamily="2" charset="-122"/>
              </a:endParaRPr>
            </a:p>
          </p:txBody>
        </p:sp>
        <p:sp>
          <p:nvSpPr>
            <p:cNvPr id="3090" name="Rectangle 17"/>
            <p:cNvSpPr/>
            <p:nvPr/>
          </p:nvSpPr>
          <p:spPr>
            <a:xfrm>
              <a:off x="480" y="2054"/>
              <a:ext cx="895" cy="250"/>
            </a:xfrm>
            <a:prstGeom prst="rect">
              <a:avLst/>
            </a:prstGeom>
            <a:noFill/>
            <a:ln w="9525">
              <a:noFill/>
            </a:ln>
          </p:spPr>
          <p:txBody>
            <a:bodyPr wrap="none">
              <a:spAutoFit/>
            </a:bodyPr>
            <a:p>
              <a:pPr>
                <a:buSzPct val="80000"/>
                <a:buBlip>
                  <a:blip r:embed="rId2"/>
                </a:buBlip>
              </a:pPr>
              <a:r>
                <a:rPr lang="en-US" altLang="zh-CN" dirty="0">
                  <a:latin typeface="华文中宋" panose="02010600040101010101" pitchFamily="2" charset="-122"/>
                </a:rPr>
                <a:t> </a:t>
              </a:r>
              <a:r>
                <a:rPr lang="zh-CN" altLang="en-US" dirty="0">
                  <a:latin typeface="华文中宋" panose="02010600040101010101" pitchFamily="2" charset="-122"/>
                </a:rPr>
                <a:t>钎　焊：</a:t>
              </a:r>
              <a:endParaRPr lang="zh-CN" altLang="en-US" dirty="0">
                <a:latin typeface="华文中宋" panose="02010600040101010101" pitchFamily="2" charset="-122"/>
              </a:endParaRPr>
            </a:p>
          </p:txBody>
        </p:sp>
      </p:grpSp>
      <p:sp>
        <p:nvSpPr>
          <p:cNvPr id="50196" name="Text Box 20"/>
          <p:cNvSpPr txBox="1"/>
          <p:nvPr/>
        </p:nvSpPr>
        <p:spPr>
          <a:xfrm>
            <a:off x="1974850" y="2422525"/>
            <a:ext cx="2978150" cy="396875"/>
          </a:xfrm>
          <a:prstGeom prst="rect">
            <a:avLst/>
          </a:prstGeom>
          <a:noFill/>
          <a:ln w="9525">
            <a:noFill/>
          </a:ln>
        </p:spPr>
        <p:txBody>
          <a:bodyPr wrap="none">
            <a:spAutoFit/>
          </a:bodyPr>
          <a:p>
            <a:r>
              <a:rPr lang="zh-CN" altLang="en-US" dirty="0">
                <a:latin typeface="华文中宋" panose="02010600040101010101" pitchFamily="2" charset="-122"/>
              </a:rPr>
              <a:t>电弧焊、气焊、电渣焊。</a:t>
            </a:r>
            <a:endParaRPr lang="zh-CN" altLang="en-US" dirty="0">
              <a:latin typeface="华文中宋" panose="02010600040101010101" pitchFamily="2" charset="-122"/>
            </a:endParaRPr>
          </a:p>
        </p:txBody>
      </p:sp>
      <p:sp>
        <p:nvSpPr>
          <p:cNvPr id="50199" name="Rectangle 23"/>
          <p:cNvSpPr/>
          <p:nvPr/>
        </p:nvSpPr>
        <p:spPr>
          <a:xfrm>
            <a:off x="1974850" y="2879725"/>
            <a:ext cx="3232150" cy="396875"/>
          </a:xfrm>
          <a:prstGeom prst="rect">
            <a:avLst/>
          </a:prstGeom>
          <a:noFill/>
          <a:ln w="9525">
            <a:noFill/>
          </a:ln>
        </p:spPr>
        <p:txBody>
          <a:bodyPr wrap="none">
            <a:spAutoFit/>
          </a:bodyPr>
          <a:p>
            <a:r>
              <a:rPr lang="zh-CN" altLang="en-US" dirty="0">
                <a:latin typeface="华文中宋" panose="02010600040101010101" pitchFamily="2" charset="-122"/>
              </a:rPr>
              <a:t>电阻焊、摩擦焊、爆炸焊。</a:t>
            </a:r>
            <a:endParaRPr lang="zh-CN" altLang="en-US" dirty="0">
              <a:latin typeface="华文中宋" panose="02010600040101010101" pitchFamily="2" charset="-122"/>
            </a:endParaRPr>
          </a:p>
        </p:txBody>
      </p:sp>
      <p:sp>
        <p:nvSpPr>
          <p:cNvPr id="50200" name="Rectangle 24"/>
          <p:cNvSpPr/>
          <p:nvPr/>
        </p:nvSpPr>
        <p:spPr>
          <a:xfrm>
            <a:off x="1974850" y="3260725"/>
            <a:ext cx="1708150" cy="396875"/>
          </a:xfrm>
          <a:prstGeom prst="rect">
            <a:avLst/>
          </a:prstGeom>
          <a:noFill/>
          <a:ln w="9525">
            <a:noFill/>
          </a:ln>
        </p:spPr>
        <p:txBody>
          <a:bodyPr wrap="none">
            <a:spAutoFit/>
          </a:bodyPr>
          <a:p>
            <a:pPr>
              <a:spcBef>
                <a:spcPct val="20000"/>
              </a:spcBef>
              <a:buClr>
                <a:schemeClr val="accent2"/>
              </a:buClr>
              <a:buSzPct val="75000"/>
              <a:buFont typeface="Monotype Sorts" pitchFamily="2" charset="2"/>
            </a:pPr>
            <a:r>
              <a:rPr lang="zh-CN" altLang="en-US" dirty="0">
                <a:latin typeface="华文中宋" panose="02010600040101010101" pitchFamily="2" charset="-122"/>
              </a:rPr>
              <a:t>锡焊、铜焊。</a:t>
            </a:r>
            <a:endParaRPr lang="zh-CN" altLang="en-US" dirty="0">
              <a:latin typeface="华文中宋" panose="02010600040101010101" pitchFamily="2" charset="-122"/>
            </a:endParaRPr>
          </a:p>
        </p:txBody>
      </p:sp>
      <p:pic>
        <p:nvPicPr>
          <p:cNvPr id="50215" name="Picture 39" descr="rewind1">
            <a:hlinkClick r:id="rId3" action="ppaction://hlinksldjump"/>
          </p:cNvPr>
          <p:cNvPicPr>
            <a:picLocks noChangeAspect="1"/>
          </p:cNvPicPr>
          <p:nvPr/>
        </p:nvPicPr>
        <p:blipFill>
          <a:blip r:embed="rId4"/>
          <a:stretch>
            <a:fillRect/>
          </a:stretch>
        </p:blipFill>
        <p:spPr>
          <a:xfrm>
            <a:off x="8215313" y="6570663"/>
            <a:ext cx="287337" cy="287337"/>
          </a:xfrm>
          <a:prstGeom prst="rect">
            <a:avLst/>
          </a:prstGeom>
          <a:noFill/>
          <a:ln w="9525">
            <a:noFill/>
          </a:ln>
        </p:spPr>
      </p:pic>
      <p:pic>
        <p:nvPicPr>
          <p:cNvPr id="50217" name="Picture 41" descr="NEXT1">
            <a:hlinkClick r:id="" action="ppaction://hlinkshowjump?jump=nextslide"/>
          </p:cNvPr>
          <p:cNvPicPr>
            <a:picLocks noChangeAspect="1"/>
          </p:cNvPicPr>
          <p:nvPr/>
        </p:nvPicPr>
        <p:blipFill>
          <a:blip r:embed="rId5"/>
          <a:stretch>
            <a:fillRect/>
          </a:stretch>
        </p:blipFill>
        <p:spPr>
          <a:xfrm>
            <a:off x="8643938" y="6570663"/>
            <a:ext cx="287337" cy="287337"/>
          </a:xfrm>
          <a:prstGeom prst="rect">
            <a:avLst/>
          </a:prstGeom>
          <a:noFill/>
          <a:ln w="9525">
            <a:noFill/>
          </a:ln>
        </p:spPr>
      </p:pic>
      <p:sp>
        <p:nvSpPr>
          <p:cNvPr id="50219" name="Text Box 43"/>
          <p:cNvSpPr txBox="1"/>
          <p:nvPr/>
        </p:nvSpPr>
        <p:spPr>
          <a:xfrm>
            <a:off x="6613525" y="6238875"/>
            <a:ext cx="463550" cy="427038"/>
          </a:xfrm>
          <a:prstGeom prst="rect">
            <a:avLst/>
          </a:prstGeom>
          <a:noFill/>
          <a:ln w="9525">
            <a:noFill/>
          </a:ln>
        </p:spPr>
        <p:txBody>
          <a:bodyPr wrap="none">
            <a:spAutoFit/>
          </a:bodyPr>
          <a:p>
            <a:r>
              <a:rPr lang="zh-CN" altLang="en-US" sz="2200" dirty="0">
                <a:solidFill>
                  <a:schemeClr val="tx1"/>
                </a:solidFill>
                <a:latin typeface="Tahoma" panose="020B0604030504040204" pitchFamily="34" charset="0"/>
              </a:rPr>
              <a:t>　</a:t>
            </a:r>
            <a:endParaRPr lang="zh-CN" altLang="en-US" sz="2200" dirty="0">
              <a:solidFill>
                <a:schemeClr val="tx1"/>
              </a:solidFill>
              <a:latin typeface="Tahoma" panose="020B0604030504040204" pitchFamily="34" charset="0"/>
            </a:endParaRPr>
          </a:p>
        </p:txBody>
      </p:sp>
      <p:sp>
        <p:nvSpPr>
          <p:cNvPr id="3087" name="TextBox 32"/>
          <p:cNvSpPr txBox="1"/>
          <p:nvPr/>
        </p:nvSpPr>
        <p:spPr>
          <a:xfrm>
            <a:off x="2000250" y="6000750"/>
            <a:ext cx="5057775" cy="400050"/>
          </a:xfrm>
          <a:prstGeom prst="rect">
            <a:avLst/>
          </a:prstGeom>
          <a:noFill/>
          <a:ln w="9525">
            <a:noFill/>
          </a:ln>
        </p:spPr>
        <p:txBody>
          <a:bodyPr wrap="none">
            <a:spAutoFit/>
          </a:bodyPr>
          <a:p>
            <a:r>
              <a:rPr lang="zh-CN" altLang="en-US" dirty="0">
                <a:solidFill>
                  <a:srgbClr val="7030A0"/>
                </a:solidFill>
                <a:latin typeface="Times New Roman" panose="02020603050405020304" pitchFamily="18" charset="0"/>
              </a:rPr>
              <a:t>（本节只介绍电弧焊，以下简称“焊接”）</a:t>
            </a:r>
            <a:endParaRPr lang="zh-CN" altLang="en-US" dirty="0">
              <a:solidFill>
                <a:srgbClr val="7030A0"/>
              </a:solidFill>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0183"/>
                                        </p:tgtEl>
                                        <p:attrNameLst>
                                          <p:attrName>style.visibility</p:attrName>
                                        </p:attrNameLst>
                                      </p:cBhvr>
                                      <p:to>
                                        <p:strVal val="visible"/>
                                      </p:to>
                                    </p:set>
                                    <p:animEffect transition="in" filter="wipe(left)">
                                      <p:cBhvr>
                                        <p:cTn id="7" dur="500"/>
                                        <p:tgtEl>
                                          <p:spTgt spid="5018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0188"/>
                                        </p:tgtEl>
                                        <p:attrNameLst>
                                          <p:attrName>style.visibility</p:attrName>
                                        </p:attrNameLst>
                                      </p:cBhvr>
                                      <p:to>
                                        <p:strVal val="visible"/>
                                      </p:to>
                                    </p:set>
                                    <p:animEffect transition="in" filter="wipe(left)">
                                      <p:cBhvr>
                                        <p:cTn id="12" dur="500"/>
                                        <p:tgtEl>
                                          <p:spTgt spid="50188"/>
                                        </p:tgtEl>
                                      </p:cBhvr>
                                    </p:animEffect>
                                  </p:childTnLst>
                                </p:cTn>
                              </p:par>
                            </p:childTnLst>
                          </p:cTn>
                        </p:par>
                        <p:par>
                          <p:cTn id="13" fill="hold">
                            <p:stCondLst>
                              <p:cond delay="500"/>
                            </p:stCondLst>
                            <p:childTnLst>
                              <p:par>
                                <p:cTn id="14" presetID="22" presetClass="entr" presetSubtype="1" fill="hold" nodeType="after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wipe(up)">
                                      <p:cBhvr>
                                        <p:cTn id="16" dur="500"/>
                                        <p:tgtEl>
                                          <p:spTgt spid="2"/>
                                        </p:tgtEl>
                                      </p:cBhvr>
                                    </p:animEffect>
                                  </p:childTnLst>
                                </p:cTn>
                              </p:par>
                            </p:childTnLst>
                          </p:cTn>
                        </p:par>
                      </p:childTnLst>
                    </p:cTn>
                  </p:par>
                  <p:par>
                    <p:cTn id="17" fill="hold">
                      <p:stCondLst>
                        <p:cond delay="indefinite"/>
                      </p:stCondLst>
                      <p:childTnLst>
                        <p:par>
                          <p:cTn id="18" fill="hold">
                            <p:stCondLst>
                              <p:cond delay="0"/>
                            </p:stCondLst>
                            <p:childTnLst>
                              <p:par>
                                <p:cTn id="19" presetID="12" presetClass="entr" presetSubtype="8" fill="hold" grpId="0" nodeType="clickEffect">
                                  <p:stCondLst>
                                    <p:cond delay="0"/>
                                  </p:stCondLst>
                                  <p:childTnLst>
                                    <p:set>
                                      <p:cBhvr>
                                        <p:cTn id="20" dur="1" fill="hold">
                                          <p:stCondLst>
                                            <p:cond delay="0"/>
                                          </p:stCondLst>
                                        </p:cTn>
                                        <p:tgtEl>
                                          <p:spTgt spid="50196"/>
                                        </p:tgtEl>
                                        <p:attrNameLst>
                                          <p:attrName>style.visibility</p:attrName>
                                        </p:attrNameLst>
                                      </p:cBhvr>
                                      <p:to>
                                        <p:strVal val="visible"/>
                                      </p:to>
                                    </p:set>
                                    <p:animEffect transition="in" filter="slide(fromLeft)">
                                      <p:cBhvr>
                                        <p:cTn id="21" dur="500"/>
                                        <p:tgtEl>
                                          <p:spTgt spid="50196"/>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8" fill="hold" grpId="0" nodeType="clickEffect">
                                  <p:stCondLst>
                                    <p:cond delay="0"/>
                                  </p:stCondLst>
                                  <p:childTnLst>
                                    <p:set>
                                      <p:cBhvr>
                                        <p:cTn id="25" dur="1" fill="hold">
                                          <p:stCondLst>
                                            <p:cond delay="0"/>
                                          </p:stCondLst>
                                        </p:cTn>
                                        <p:tgtEl>
                                          <p:spTgt spid="50199"/>
                                        </p:tgtEl>
                                        <p:attrNameLst>
                                          <p:attrName>style.visibility</p:attrName>
                                        </p:attrNameLst>
                                      </p:cBhvr>
                                      <p:to>
                                        <p:strVal val="visible"/>
                                      </p:to>
                                    </p:set>
                                    <p:animEffect transition="in" filter="slide(fromLeft)">
                                      <p:cBhvr>
                                        <p:cTn id="26" dur="500"/>
                                        <p:tgtEl>
                                          <p:spTgt spid="50199"/>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8" fill="hold" grpId="0" nodeType="clickEffect">
                                  <p:stCondLst>
                                    <p:cond delay="0"/>
                                  </p:stCondLst>
                                  <p:childTnLst>
                                    <p:set>
                                      <p:cBhvr>
                                        <p:cTn id="30" dur="1" fill="hold">
                                          <p:stCondLst>
                                            <p:cond delay="0"/>
                                          </p:stCondLst>
                                        </p:cTn>
                                        <p:tgtEl>
                                          <p:spTgt spid="50200"/>
                                        </p:tgtEl>
                                        <p:attrNameLst>
                                          <p:attrName>style.visibility</p:attrName>
                                        </p:attrNameLst>
                                      </p:cBhvr>
                                      <p:to>
                                        <p:strVal val="visible"/>
                                      </p:to>
                                    </p:set>
                                    <p:animEffect transition="in" filter="slide(fromLeft)">
                                      <p:cBhvr>
                                        <p:cTn id="31" dur="500"/>
                                        <p:tgtEl>
                                          <p:spTgt spid="50200"/>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1" fill="hold" grpId="0" nodeType="clickEffect">
                                  <p:stCondLst>
                                    <p:cond delay="0"/>
                                  </p:stCondLst>
                                  <p:childTnLst>
                                    <p:set>
                                      <p:cBhvr>
                                        <p:cTn id="35" dur="1" fill="hold">
                                          <p:stCondLst>
                                            <p:cond delay="0"/>
                                          </p:stCondLst>
                                        </p:cTn>
                                        <p:tgtEl>
                                          <p:spTgt spid="50187"/>
                                        </p:tgtEl>
                                        <p:attrNameLst>
                                          <p:attrName>style.visibility</p:attrName>
                                        </p:attrNameLst>
                                      </p:cBhvr>
                                      <p:to>
                                        <p:strVal val="visible"/>
                                      </p:to>
                                    </p:set>
                                    <p:animEffect transition="in" filter="wipe(up)">
                                      <p:cBhvr>
                                        <p:cTn id="36" dur="500"/>
                                        <p:tgtEl>
                                          <p:spTgt spid="50187"/>
                                        </p:tgtEl>
                                      </p:cBhvr>
                                    </p:animEffect>
                                  </p:childTnLst>
                                </p:cTn>
                              </p:par>
                            </p:childTnLst>
                          </p:cTn>
                        </p:par>
                        <p:par>
                          <p:cTn id="37" fill="hold">
                            <p:stCondLst>
                              <p:cond delay="500"/>
                            </p:stCondLst>
                            <p:childTnLst>
                              <p:par>
                                <p:cTn id="38" presetID="22" presetClass="entr" presetSubtype="4" fill="hold" nodeType="afterEffect">
                                  <p:stCondLst>
                                    <p:cond delay="0"/>
                                  </p:stCondLst>
                                  <p:childTnLst>
                                    <p:set>
                                      <p:cBhvr>
                                        <p:cTn id="39" dur="1" fill="hold">
                                          <p:stCondLst>
                                            <p:cond delay="0"/>
                                          </p:stCondLst>
                                        </p:cTn>
                                        <p:tgtEl>
                                          <p:spTgt spid="50218"/>
                                        </p:tgtEl>
                                        <p:attrNameLst>
                                          <p:attrName>style.visibility</p:attrName>
                                        </p:attrNameLst>
                                      </p:cBhvr>
                                      <p:to>
                                        <p:strVal val="visible"/>
                                      </p:to>
                                    </p:set>
                                    <p:animEffect transition="in" filter="wipe(down)">
                                      <p:cBhvr>
                                        <p:cTn id="40" dur="500"/>
                                        <p:tgtEl>
                                          <p:spTgt spid="50218"/>
                                        </p:tgtEl>
                                      </p:cBhvr>
                                    </p:animEffect>
                                  </p:childTnLst>
                                </p:cTn>
                              </p:par>
                            </p:childTnLst>
                          </p:cTn>
                        </p:par>
                        <p:par>
                          <p:cTn id="41" fill="hold">
                            <p:stCondLst>
                              <p:cond delay="1000"/>
                            </p:stCondLst>
                            <p:childTnLst>
                              <p:par>
                                <p:cTn id="42" presetID="1" presetClass="entr" presetSubtype="0" fill="hold" nodeType="afterEffect">
                                  <p:stCondLst>
                                    <p:cond delay="0"/>
                                  </p:stCondLst>
                                  <p:childTnLst>
                                    <p:set>
                                      <p:cBhvr>
                                        <p:cTn id="43" dur="1" fill="hold">
                                          <p:stCondLst>
                                            <p:cond delay="499"/>
                                          </p:stCondLst>
                                        </p:cTn>
                                        <p:tgtEl>
                                          <p:spTgt spid="50217"/>
                                        </p:tgtEl>
                                        <p:attrNameLst>
                                          <p:attrName>style.visibility</p:attrName>
                                        </p:attrNameLst>
                                      </p:cBhvr>
                                      <p:to>
                                        <p:strVal val="visible"/>
                                      </p:to>
                                    </p:set>
                                  </p:childTnLst>
                                </p:cTn>
                              </p:par>
                            </p:childTnLst>
                          </p:cTn>
                        </p:par>
                        <p:par>
                          <p:cTn id="44" fill="hold">
                            <p:stCondLst>
                              <p:cond delay="1500"/>
                            </p:stCondLst>
                            <p:childTnLst>
                              <p:par>
                                <p:cTn id="45" presetID="2" presetClass="entr" presetSubtype="8" fill="hold" nodeType="afterEffect">
                                  <p:stCondLst>
                                    <p:cond delay="0"/>
                                  </p:stCondLst>
                                  <p:childTnLst>
                                    <p:set>
                                      <p:cBhvr>
                                        <p:cTn id="46" dur="1" fill="hold">
                                          <p:stCondLst>
                                            <p:cond delay="0"/>
                                          </p:stCondLst>
                                        </p:cTn>
                                        <p:tgtEl>
                                          <p:spTgt spid="50215"/>
                                        </p:tgtEl>
                                        <p:attrNameLst>
                                          <p:attrName>style.visibility</p:attrName>
                                        </p:attrNameLst>
                                      </p:cBhvr>
                                      <p:to>
                                        <p:strVal val="visible"/>
                                      </p:to>
                                    </p:set>
                                    <p:anim calcmode="lin" valueType="num">
                                      <p:cBhvr additive="base">
                                        <p:cTn id="47" dur="500" fill="hold"/>
                                        <p:tgtEl>
                                          <p:spTgt spid="50215"/>
                                        </p:tgtEl>
                                        <p:attrNameLst>
                                          <p:attrName>ppt_x</p:attrName>
                                        </p:attrNameLst>
                                      </p:cBhvr>
                                      <p:tavLst>
                                        <p:tav tm="0">
                                          <p:val>
                                            <p:strVal val="0-#ppt_w/2"/>
                                          </p:val>
                                        </p:tav>
                                        <p:tav tm="100000">
                                          <p:val>
                                            <p:strVal val="#ppt_x"/>
                                          </p:val>
                                        </p:tav>
                                      </p:tavLst>
                                    </p:anim>
                                    <p:anim calcmode="lin" valueType="num">
                                      <p:cBhvr additive="base">
                                        <p:cTn id="48" dur="500" fill="hold"/>
                                        <p:tgtEl>
                                          <p:spTgt spid="50215"/>
                                        </p:tgtEl>
                                        <p:attrNameLst>
                                          <p:attrName>ppt_y</p:attrName>
                                        </p:attrNameLst>
                                      </p:cBhvr>
                                      <p:tavLst>
                                        <p:tav tm="0">
                                          <p:val>
                                            <p:strVal val="#ppt_y"/>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8" fill="hold" grpId="0" nodeType="clickEffect">
                                  <p:stCondLst>
                                    <p:cond delay="0"/>
                                  </p:stCondLst>
                                  <p:childTnLst>
                                    <p:set>
                                      <p:cBhvr>
                                        <p:cTn id="52" dur="1" fill="hold">
                                          <p:stCondLst>
                                            <p:cond delay="0"/>
                                          </p:stCondLst>
                                        </p:cTn>
                                        <p:tgtEl>
                                          <p:spTgt spid="50219"/>
                                        </p:tgtEl>
                                        <p:attrNameLst>
                                          <p:attrName>style.visibility</p:attrName>
                                        </p:attrNameLst>
                                      </p:cBhvr>
                                      <p:to>
                                        <p:strVal val="visible"/>
                                      </p:to>
                                    </p:set>
                                    <p:anim calcmode="lin" valueType="num">
                                      <p:cBhvr additive="base">
                                        <p:cTn id="53" dur="500" fill="hold"/>
                                        <p:tgtEl>
                                          <p:spTgt spid="50219"/>
                                        </p:tgtEl>
                                        <p:attrNameLst>
                                          <p:attrName>ppt_x</p:attrName>
                                        </p:attrNameLst>
                                      </p:cBhvr>
                                      <p:tavLst>
                                        <p:tav tm="0">
                                          <p:val>
                                            <p:strVal val="0-#ppt_w/2"/>
                                          </p:val>
                                        </p:tav>
                                        <p:tav tm="100000">
                                          <p:val>
                                            <p:strVal val="#ppt_x"/>
                                          </p:val>
                                        </p:tav>
                                      </p:tavLst>
                                    </p:anim>
                                    <p:anim calcmode="lin" valueType="num">
                                      <p:cBhvr additive="base">
                                        <p:cTn id="54" dur="500" fill="hold"/>
                                        <p:tgtEl>
                                          <p:spTgt spid="5021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83" grpId="0"/>
      <p:bldP spid="50187" grpId="0"/>
      <p:bldP spid="50188" grpId="0"/>
      <p:bldP spid="50196" grpId="0"/>
      <p:bldP spid="50199" grpId="0"/>
      <p:bldP spid="50200" grpId="0"/>
      <p:bldP spid="5021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0218" name="Picture 42" descr="T"/>
          <p:cNvPicPr>
            <a:picLocks noChangeAspect="1"/>
          </p:cNvPicPr>
          <p:nvPr/>
        </p:nvPicPr>
        <p:blipFill>
          <a:blip r:embed="rId1"/>
          <a:stretch>
            <a:fillRect/>
          </a:stretch>
        </p:blipFill>
        <p:spPr>
          <a:xfrm>
            <a:off x="5500688" y="2071688"/>
            <a:ext cx="3429000" cy="2590800"/>
          </a:xfrm>
          <a:prstGeom prst="rect">
            <a:avLst/>
          </a:prstGeom>
          <a:noFill/>
          <a:ln w="9525">
            <a:noFill/>
          </a:ln>
        </p:spPr>
      </p:pic>
      <p:sp>
        <p:nvSpPr>
          <p:cNvPr id="4099" name="Rectangle 4"/>
          <p:cNvSpPr>
            <a:spLocks noGrp="1"/>
          </p:cNvSpPr>
          <p:nvPr>
            <p:ph type="title"/>
          </p:nvPr>
        </p:nvSpPr>
        <p:spPr>
          <a:xfrm>
            <a:off x="5410200" y="838200"/>
            <a:ext cx="2133600" cy="152400"/>
          </a:xfrm>
          <a:noFill/>
          <a:ln>
            <a:noFill/>
          </a:ln>
        </p:spPr>
        <p:txBody>
          <a:bodyPr/>
          <a:p>
            <a:pPr eaLnBrk="1" hangingPunct="1"/>
            <a:r>
              <a:rPr lang="zh-CN" altLang="en-US" sz="2800" dirty="0">
                <a:solidFill>
                  <a:schemeClr val="bg1"/>
                </a:solidFill>
                <a:ea typeface="华文中宋" panose="02010600040101010101" pitchFamily="2" charset="-122"/>
              </a:rPr>
              <a:t>焊接</a:t>
            </a:r>
            <a:r>
              <a:rPr lang="en-US" altLang="zh-CN" sz="2800" dirty="0">
                <a:solidFill>
                  <a:schemeClr val="bg1"/>
                </a:solidFill>
                <a:ea typeface="华文中宋" panose="02010600040101010101" pitchFamily="2" charset="-122"/>
              </a:rPr>
              <a:t>1</a:t>
            </a:r>
            <a:endParaRPr lang="en-US" altLang="zh-CN" sz="2800" dirty="0">
              <a:solidFill>
                <a:schemeClr val="bg1"/>
              </a:solidFill>
              <a:ea typeface="华文中宋" panose="02010600040101010101" pitchFamily="2" charset="-122"/>
            </a:endParaRPr>
          </a:p>
        </p:txBody>
      </p:sp>
      <p:sp>
        <p:nvSpPr>
          <p:cNvPr id="4100" name="Rectangle 5"/>
          <p:cNvSpPr>
            <a:spLocks noGrp="1"/>
          </p:cNvSpPr>
          <p:nvPr/>
        </p:nvSpPr>
        <p:spPr>
          <a:xfrm>
            <a:off x="1071563" y="0"/>
            <a:ext cx="1219200" cy="533400"/>
          </a:xfrm>
          <a:prstGeom prst="rect">
            <a:avLst/>
          </a:prstGeom>
          <a:noFill/>
          <a:ln w="9525">
            <a:noFill/>
          </a:ln>
        </p:spPr>
        <p:txBody>
          <a:bodyPr/>
          <a:p>
            <a:pPr eaLnBrk="0" hangingPunct="0"/>
            <a:r>
              <a:rPr lang="zh-CN" altLang="en-US" sz="3000" dirty="0">
                <a:solidFill>
                  <a:schemeClr val="bg1"/>
                </a:solidFill>
                <a:latin typeface="黑体" panose="02010609060101010101" pitchFamily="49" charset="-122"/>
                <a:ea typeface="黑体" panose="02010609060101010101" pitchFamily="49" charset="-122"/>
              </a:rPr>
              <a:t>焊 接</a:t>
            </a:r>
            <a:endParaRPr lang="zh-CN" altLang="en-US" sz="3000" dirty="0">
              <a:solidFill>
                <a:schemeClr val="bg1"/>
              </a:solidFill>
              <a:latin typeface="黑体" panose="02010609060101010101" pitchFamily="49" charset="-122"/>
              <a:ea typeface="黑体" panose="02010609060101010101" pitchFamily="49" charset="-122"/>
            </a:endParaRPr>
          </a:p>
        </p:txBody>
      </p:sp>
      <p:sp>
        <p:nvSpPr>
          <p:cNvPr id="50183" name="Text Box 7"/>
          <p:cNvSpPr txBox="1"/>
          <p:nvPr/>
        </p:nvSpPr>
        <p:spPr>
          <a:xfrm>
            <a:off x="357188" y="928688"/>
            <a:ext cx="8564562" cy="1200150"/>
          </a:xfrm>
          <a:prstGeom prst="rect">
            <a:avLst/>
          </a:prstGeom>
          <a:noFill/>
          <a:ln w="9525">
            <a:noFill/>
          </a:ln>
        </p:spPr>
        <p:txBody>
          <a:bodyPr>
            <a:spAutoFit/>
          </a:bodyPr>
          <a:p>
            <a:pPr>
              <a:lnSpc>
                <a:spcPct val="120000"/>
              </a:lnSpc>
              <a:buClr>
                <a:schemeClr val="accent2"/>
              </a:buClr>
              <a:buSzPct val="75000"/>
            </a:pPr>
            <a:r>
              <a:rPr lang="zh-CN" altLang="en-US" dirty="0">
                <a:latin typeface="Times New Roman" panose="02020603050405020304" pitchFamily="18" charset="0"/>
              </a:rPr>
              <a:t>        借助加热（有时还需要加压）使两个以上的金属件在连接处形成原子或分子间的结合而构成的不可拆连接，称为焊连接，简称</a:t>
            </a:r>
            <a:r>
              <a:rPr lang="zh-CN" altLang="en-US" dirty="0">
                <a:solidFill>
                  <a:srgbClr val="FF0000"/>
                </a:solidFill>
                <a:latin typeface="Times New Roman" panose="02020603050405020304" pitchFamily="18" charset="0"/>
              </a:rPr>
              <a:t>焊接</a:t>
            </a:r>
            <a:r>
              <a:rPr lang="zh-CN" altLang="en-US" dirty="0">
                <a:latin typeface="Times New Roman" panose="02020603050405020304" pitchFamily="18" charset="0"/>
              </a:rPr>
              <a:t>。</a:t>
            </a:r>
            <a:endParaRPr lang="zh-CN" altLang="en-US" dirty="0">
              <a:latin typeface="Times New Roman" panose="02020603050405020304" pitchFamily="18" charset="0"/>
            </a:endParaRPr>
          </a:p>
          <a:p>
            <a:pPr>
              <a:lnSpc>
                <a:spcPct val="120000"/>
              </a:lnSpc>
              <a:buClr>
                <a:schemeClr val="accent2"/>
              </a:buClr>
              <a:buSzPct val="75000"/>
              <a:buFont typeface="Monotype Sorts" pitchFamily="2" charset="2"/>
            </a:pPr>
            <a:endParaRPr lang="zh-CN" altLang="en-US" dirty="0">
              <a:latin typeface="华文中宋" panose="02010600040101010101" pitchFamily="2" charset="-122"/>
            </a:endParaRPr>
          </a:p>
        </p:txBody>
      </p:sp>
      <p:sp>
        <p:nvSpPr>
          <p:cNvPr id="50187" name="Text Box 11"/>
          <p:cNvSpPr txBox="1"/>
          <p:nvPr/>
        </p:nvSpPr>
        <p:spPr>
          <a:xfrm>
            <a:off x="357188" y="3714750"/>
            <a:ext cx="5929312" cy="2336800"/>
          </a:xfrm>
          <a:prstGeom prst="rect">
            <a:avLst/>
          </a:prstGeom>
          <a:noFill/>
          <a:ln w="9525">
            <a:noFill/>
          </a:ln>
        </p:spPr>
        <p:txBody>
          <a:bodyPr>
            <a:spAutoFit/>
          </a:bodyPr>
          <a:p>
            <a:pPr>
              <a:lnSpc>
                <a:spcPts val="3500"/>
              </a:lnSpc>
              <a:buClr>
                <a:schemeClr val="accent2"/>
              </a:buClr>
              <a:buSzPct val="75000"/>
              <a:buFont typeface="Monotype Sorts" pitchFamily="2" charset="2"/>
            </a:pPr>
            <a:r>
              <a:rPr lang="en-US" altLang="zh-CN" dirty="0">
                <a:latin typeface="华文中宋" panose="02010600040101010101" pitchFamily="2" charset="-122"/>
              </a:rPr>
              <a:t>      </a:t>
            </a:r>
            <a:r>
              <a:rPr lang="zh-CN" altLang="en-US" dirty="0">
                <a:latin typeface="华文中宋" panose="02010600040101010101" pitchFamily="2" charset="-122"/>
              </a:rPr>
              <a:t>在机械制造中最常用的是</a:t>
            </a:r>
            <a:r>
              <a:rPr lang="zh-CN" altLang="en-US" dirty="0">
                <a:solidFill>
                  <a:srgbClr val="FF0000"/>
                </a:solidFill>
                <a:latin typeface="华文中宋" panose="02010600040101010101" pitchFamily="2" charset="-122"/>
              </a:rPr>
              <a:t>电弧焊</a:t>
            </a:r>
            <a:r>
              <a:rPr lang="zh-CN" altLang="en-US" dirty="0">
                <a:latin typeface="华文中宋" panose="02010600040101010101" pitchFamily="2" charset="-122"/>
              </a:rPr>
              <a:t>。电弧焊是</a:t>
            </a:r>
            <a:endParaRPr lang="zh-CN" altLang="en-US" dirty="0">
              <a:latin typeface="华文中宋" panose="02010600040101010101" pitchFamily="2" charset="-122"/>
            </a:endParaRPr>
          </a:p>
          <a:p>
            <a:pPr>
              <a:lnSpc>
                <a:spcPts val="3500"/>
              </a:lnSpc>
            </a:pPr>
            <a:r>
              <a:rPr lang="zh-CN" altLang="en-US" dirty="0">
                <a:latin typeface="华文中宋" panose="02010600040101010101" pitchFamily="2" charset="-122"/>
              </a:rPr>
              <a:t>利用</a:t>
            </a:r>
            <a:r>
              <a:rPr lang="zh-CN" altLang="en-US" dirty="0">
                <a:latin typeface="Times New Roman" panose="02020603050405020304" pitchFamily="18" charset="0"/>
              </a:rPr>
              <a:t>电焊机的低压电流，通过电</a:t>
            </a:r>
            <a:r>
              <a:rPr lang="zh-CN" altLang="en-US" dirty="0">
                <a:latin typeface="华文中宋" panose="02010600040101010101" pitchFamily="2" charset="-122"/>
              </a:rPr>
              <a:t>焊条（为一个电极）与被焊件（为另一个电极）间形成电路，</a:t>
            </a:r>
            <a:r>
              <a:rPr lang="zh-CN" altLang="en-US" dirty="0">
                <a:latin typeface="Times New Roman" panose="02020603050405020304" pitchFamily="18" charset="0"/>
              </a:rPr>
              <a:t>在两极间引起电弧，来熔融被焊接部分的金属和焊条，使熔融的金属混合并填充接缝而形成连接。</a:t>
            </a:r>
            <a:endParaRPr lang="zh-CN" altLang="en-US" dirty="0">
              <a:latin typeface="Times New Roman" panose="02020603050405020304" pitchFamily="18" charset="0"/>
            </a:endParaRPr>
          </a:p>
        </p:txBody>
      </p:sp>
      <p:sp>
        <p:nvSpPr>
          <p:cNvPr id="50188" name="Text Box 12"/>
          <p:cNvSpPr txBox="1"/>
          <p:nvPr/>
        </p:nvSpPr>
        <p:spPr>
          <a:xfrm>
            <a:off x="785813" y="1928813"/>
            <a:ext cx="1708150" cy="396875"/>
          </a:xfrm>
          <a:prstGeom prst="rect">
            <a:avLst/>
          </a:prstGeom>
          <a:noFill/>
          <a:ln w="9525">
            <a:noFill/>
          </a:ln>
        </p:spPr>
        <p:txBody>
          <a:bodyPr wrap="none">
            <a:spAutoFit/>
          </a:bodyPr>
          <a:p>
            <a:r>
              <a:rPr lang="zh-CN" altLang="en-US" dirty="0">
                <a:latin typeface="华文中宋" panose="02010600040101010101" pitchFamily="2" charset="-122"/>
              </a:rPr>
              <a:t>焊接可分为：</a:t>
            </a:r>
            <a:endParaRPr lang="zh-CN" altLang="en-US" dirty="0">
              <a:latin typeface="华文中宋" panose="02010600040101010101" pitchFamily="2" charset="-122"/>
            </a:endParaRPr>
          </a:p>
        </p:txBody>
      </p:sp>
      <p:grpSp>
        <p:nvGrpSpPr>
          <p:cNvPr id="2" name="Group 44"/>
          <p:cNvGrpSpPr/>
          <p:nvPr/>
        </p:nvGrpSpPr>
        <p:grpSpPr>
          <a:xfrm>
            <a:off x="762000" y="2422525"/>
            <a:ext cx="1420813" cy="1235075"/>
            <a:chOff x="480" y="1526"/>
            <a:chExt cx="895" cy="778"/>
          </a:xfrm>
        </p:grpSpPr>
        <p:sp>
          <p:nvSpPr>
            <p:cNvPr id="4112" name="Rectangle 15"/>
            <p:cNvSpPr/>
            <p:nvPr/>
          </p:nvSpPr>
          <p:spPr>
            <a:xfrm>
              <a:off x="480" y="1526"/>
              <a:ext cx="895" cy="250"/>
            </a:xfrm>
            <a:prstGeom prst="rect">
              <a:avLst/>
            </a:prstGeom>
            <a:noFill/>
            <a:ln w="9525">
              <a:noFill/>
            </a:ln>
          </p:spPr>
          <p:txBody>
            <a:bodyPr wrap="none">
              <a:spAutoFit/>
            </a:bodyPr>
            <a:p>
              <a:pPr>
                <a:buSzPct val="80000"/>
                <a:buBlip>
                  <a:blip r:embed="rId2"/>
                </a:buBlip>
              </a:pPr>
              <a:r>
                <a:rPr lang="en-US" altLang="zh-CN" dirty="0">
                  <a:latin typeface="华文中宋" panose="02010600040101010101" pitchFamily="2" charset="-122"/>
                </a:rPr>
                <a:t> </a:t>
              </a:r>
              <a:r>
                <a:rPr lang="zh-CN" altLang="en-US" dirty="0">
                  <a:latin typeface="华文中宋" panose="02010600040101010101" pitchFamily="2" charset="-122"/>
                </a:rPr>
                <a:t>熔化焊：</a:t>
              </a:r>
              <a:endParaRPr lang="zh-CN" altLang="en-US" dirty="0">
                <a:latin typeface="华文中宋" panose="02010600040101010101" pitchFamily="2" charset="-122"/>
              </a:endParaRPr>
            </a:p>
          </p:txBody>
        </p:sp>
        <p:sp>
          <p:nvSpPr>
            <p:cNvPr id="4113" name="Rectangle 16"/>
            <p:cNvSpPr/>
            <p:nvPr/>
          </p:nvSpPr>
          <p:spPr>
            <a:xfrm>
              <a:off x="480" y="1804"/>
              <a:ext cx="895" cy="250"/>
            </a:xfrm>
            <a:prstGeom prst="rect">
              <a:avLst/>
            </a:prstGeom>
            <a:noFill/>
            <a:ln w="9525">
              <a:noFill/>
            </a:ln>
          </p:spPr>
          <p:txBody>
            <a:bodyPr wrap="none">
              <a:spAutoFit/>
            </a:bodyPr>
            <a:p>
              <a:pPr>
                <a:buSzPct val="80000"/>
                <a:buBlip>
                  <a:blip r:embed="rId2"/>
                </a:buBlip>
              </a:pPr>
              <a:r>
                <a:rPr lang="en-US" altLang="zh-CN" dirty="0">
                  <a:latin typeface="华文中宋" panose="02010600040101010101" pitchFamily="2" charset="-122"/>
                </a:rPr>
                <a:t> </a:t>
              </a:r>
              <a:r>
                <a:rPr lang="zh-CN" altLang="en-US" dirty="0">
                  <a:latin typeface="华文中宋" panose="02010600040101010101" pitchFamily="2" charset="-122"/>
                </a:rPr>
                <a:t>压力焊：</a:t>
              </a:r>
              <a:endParaRPr lang="zh-CN" altLang="en-US" dirty="0">
                <a:latin typeface="华文中宋" panose="02010600040101010101" pitchFamily="2" charset="-122"/>
              </a:endParaRPr>
            </a:p>
          </p:txBody>
        </p:sp>
        <p:sp>
          <p:nvSpPr>
            <p:cNvPr id="4114" name="Rectangle 17"/>
            <p:cNvSpPr/>
            <p:nvPr/>
          </p:nvSpPr>
          <p:spPr>
            <a:xfrm>
              <a:off x="480" y="2054"/>
              <a:ext cx="895" cy="250"/>
            </a:xfrm>
            <a:prstGeom prst="rect">
              <a:avLst/>
            </a:prstGeom>
            <a:noFill/>
            <a:ln w="9525">
              <a:noFill/>
            </a:ln>
          </p:spPr>
          <p:txBody>
            <a:bodyPr wrap="none">
              <a:spAutoFit/>
            </a:bodyPr>
            <a:p>
              <a:pPr>
                <a:buSzPct val="80000"/>
                <a:buBlip>
                  <a:blip r:embed="rId2"/>
                </a:buBlip>
              </a:pPr>
              <a:r>
                <a:rPr lang="en-US" altLang="zh-CN" dirty="0">
                  <a:latin typeface="华文中宋" panose="02010600040101010101" pitchFamily="2" charset="-122"/>
                </a:rPr>
                <a:t> </a:t>
              </a:r>
              <a:r>
                <a:rPr lang="zh-CN" altLang="en-US" dirty="0">
                  <a:latin typeface="华文中宋" panose="02010600040101010101" pitchFamily="2" charset="-122"/>
                </a:rPr>
                <a:t>钎　焊：</a:t>
              </a:r>
              <a:endParaRPr lang="zh-CN" altLang="en-US" dirty="0">
                <a:latin typeface="华文中宋" panose="02010600040101010101" pitchFamily="2" charset="-122"/>
              </a:endParaRPr>
            </a:p>
          </p:txBody>
        </p:sp>
      </p:grpSp>
      <p:sp>
        <p:nvSpPr>
          <p:cNvPr id="50196" name="Text Box 20"/>
          <p:cNvSpPr txBox="1"/>
          <p:nvPr/>
        </p:nvSpPr>
        <p:spPr>
          <a:xfrm>
            <a:off x="1974850" y="2422525"/>
            <a:ext cx="2978150" cy="396875"/>
          </a:xfrm>
          <a:prstGeom prst="rect">
            <a:avLst/>
          </a:prstGeom>
          <a:noFill/>
          <a:ln w="9525">
            <a:noFill/>
          </a:ln>
        </p:spPr>
        <p:txBody>
          <a:bodyPr wrap="none">
            <a:spAutoFit/>
          </a:bodyPr>
          <a:p>
            <a:r>
              <a:rPr lang="zh-CN" altLang="en-US" dirty="0">
                <a:latin typeface="华文中宋" panose="02010600040101010101" pitchFamily="2" charset="-122"/>
              </a:rPr>
              <a:t>电弧焊、气焊、电渣焊。</a:t>
            </a:r>
            <a:endParaRPr lang="zh-CN" altLang="en-US" dirty="0">
              <a:latin typeface="华文中宋" panose="02010600040101010101" pitchFamily="2" charset="-122"/>
            </a:endParaRPr>
          </a:p>
        </p:txBody>
      </p:sp>
      <p:sp>
        <p:nvSpPr>
          <p:cNvPr id="50199" name="Rectangle 23"/>
          <p:cNvSpPr/>
          <p:nvPr/>
        </p:nvSpPr>
        <p:spPr>
          <a:xfrm>
            <a:off x="1974850" y="2879725"/>
            <a:ext cx="3232150" cy="396875"/>
          </a:xfrm>
          <a:prstGeom prst="rect">
            <a:avLst/>
          </a:prstGeom>
          <a:noFill/>
          <a:ln w="9525">
            <a:noFill/>
          </a:ln>
        </p:spPr>
        <p:txBody>
          <a:bodyPr wrap="none">
            <a:spAutoFit/>
          </a:bodyPr>
          <a:p>
            <a:r>
              <a:rPr lang="zh-CN" altLang="en-US" dirty="0">
                <a:latin typeface="华文中宋" panose="02010600040101010101" pitchFamily="2" charset="-122"/>
              </a:rPr>
              <a:t>电阻焊、摩擦焊、爆炸焊。</a:t>
            </a:r>
            <a:endParaRPr lang="zh-CN" altLang="en-US" dirty="0">
              <a:latin typeface="华文中宋" panose="02010600040101010101" pitchFamily="2" charset="-122"/>
            </a:endParaRPr>
          </a:p>
        </p:txBody>
      </p:sp>
      <p:sp>
        <p:nvSpPr>
          <p:cNvPr id="50200" name="Rectangle 24"/>
          <p:cNvSpPr/>
          <p:nvPr/>
        </p:nvSpPr>
        <p:spPr>
          <a:xfrm>
            <a:off x="1974850" y="3260725"/>
            <a:ext cx="1708150" cy="396875"/>
          </a:xfrm>
          <a:prstGeom prst="rect">
            <a:avLst/>
          </a:prstGeom>
          <a:noFill/>
          <a:ln w="9525">
            <a:noFill/>
          </a:ln>
        </p:spPr>
        <p:txBody>
          <a:bodyPr wrap="none">
            <a:spAutoFit/>
          </a:bodyPr>
          <a:p>
            <a:pPr>
              <a:spcBef>
                <a:spcPct val="20000"/>
              </a:spcBef>
              <a:buClr>
                <a:schemeClr val="accent2"/>
              </a:buClr>
              <a:buSzPct val="75000"/>
              <a:buFont typeface="Monotype Sorts" pitchFamily="2" charset="2"/>
            </a:pPr>
            <a:r>
              <a:rPr lang="zh-CN" altLang="en-US" dirty="0">
                <a:latin typeface="华文中宋" panose="02010600040101010101" pitchFamily="2" charset="-122"/>
              </a:rPr>
              <a:t>锡焊、铜焊。</a:t>
            </a:r>
            <a:endParaRPr lang="zh-CN" altLang="en-US" dirty="0">
              <a:latin typeface="华文中宋" panose="02010600040101010101" pitchFamily="2" charset="-122"/>
            </a:endParaRPr>
          </a:p>
        </p:txBody>
      </p:sp>
      <p:pic>
        <p:nvPicPr>
          <p:cNvPr id="50215" name="Picture 39" descr="rewind1">
            <a:hlinkClick r:id="rId3" action="ppaction://hlinksldjump"/>
          </p:cNvPr>
          <p:cNvPicPr>
            <a:picLocks noChangeAspect="1"/>
          </p:cNvPicPr>
          <p:nvPr/>
        </p:nvPicPr>
        <p:blipFill>
          <a:blip r:embed="rId4"/>
          <a:stretch>
            <a:fillRect/>
          </a:stretch>
        </p:blipFill>
        <p:spPr>
          <a:xfrm>
            <a:off x="8215313" y="6570663"/>
            <a:ext cx="287337" cy="287337"/>
          </a:xfrm>
          <a:prstGeom prst="rect">
            <a:avLst/>
          </a:prstGeom>
          <a:noFill/>
          <a:ln w="9525">
            <a:noFill/>
          </a:ln>
        </p:spPr>
      </p:pic>
      <p:pic>
        <p:nvPicPr>
          <p:cNvPr id="50217" name="Picture 41" descr="NEXT1">
            <a:hlinkClick r:id="" action="ppaction://hlinkshowjump?jump=nextslide"/>
          </p:cNvPr>
          <p:cNvPicPr>
            <a:picLocks noChangeAspect="1"/>
          </p:cNvPicPr>
          <p:nvPr/>
        </p:nvPicPr>
        <p:blipFill>
          <a:blip r:embed="rId5"/>
          <a:stretch>
            <a:fillRect/>
          </a:stretch>
        </p:blipFill>
        <p:spPr>
          <a:xfrm>
            <a:off x="8643938" y="6570663"/>
            <a:ext cx="287337" cy="287337"/>
          </a:xfrm>
          <a:prstGeom prst="rect">
            <a:avLst/>
          </a:prstGeom>
          <a:noFill/>
          <a:ln w="9525">
            <a:noFill/>
          </a:ln>
        </p:spPr>
      </p:pic>
      <p:sp>
        <p:nvSpPr>
          <p:cNvPr id="50219" name="Text Box 43"/>
          <p:cNvSpPr txBox="1"/>
          <p:nvPr/>
        </p:nvSpPr>
        <p:spPr>
          <a:xfrm>
            <a:off x="6613525" y="6238875"/>
            <a:ext cx="463550" cy="427038"/>
          </a:xfrm>
          <a:prstGeom prst="rect">
            <a:avLst/>
          </a:prstGeom>
          <a:noFill/>
          <a:ln w="9525">
            <a:noFill/>
          </a:ln>
        </p:spPr>
        <p:txBody>
          <a:bodyPr wrap="none">
            <a:spAutoFit/>
          </a:bodyPr>
          <a:p>
            <a:r>
              <a:rPr lang="zh-CN" altLang="en-US" sz="2200" dirty="0">
                <a:solidFill>
                  <a:schemeClr val="tx1"/>
                </a:solidFill>
                <a:latin typeface="Tahoma" panose="020B0604030504040204" pitchFamily="34" charset="0"/>
              </a:rPr>
              <a:t>　</a:t>
            </a:r>
            <a:endParaRPr lang="zh-CN" altLang="en-US" sz="2200" dirty="0">
              <a:solidFill>
                <a:schemeClr val="tx1"/>
              </a:solidFill>
              <a:latin typeface="Tahoma" panose="020B0604030504040204" pitchFamily="34" charset="0"/>
            </a:endParaRPr>
          </a:p>
        </p:txBody>
      </p:sp>
      <p:sp>
        <p:nvSpPr>
          <p:cNvPr id="4111" name="TextBox 32"/>
          <p:cNvSpPr txBox="1"/>
          <p:nvPr/>
        </p:nvSpPr>
        <p:spPr>
          <a:xfrm>
            <a:off x="2000250" y="6000750"/>
            <a:ext cx="5057775" cy="400050"/>
          </a:xfrm>
          <a:prstGeom prst="rect">
            <a:avLst/>
          </a:prstGeom>
          <a:noFill/>
          <a:ln w="9525">
            <a:noFill/>
          </a:ln>
        </p:spPr>
        <p:txBody>
          <a:bodyPr wrap="none">
            <a:spAutoFit/>
          </a:bodyPr>
          <a:p>
            <a:r>
              <a:rPr lang="zh-CN" altLang="en-US" dirty="0">
                <a:solidFill>
                  <a:srgbClr val="7030A0"/>
                </a:solidFill>
                <a:latin typeface="Times New Roman" panose="02020603050405020304" pitchFamily="18" charset="0"/>
              </a:rPr>
              <a:t>（本节只介绍电弧焊，以下简称“焊接”）</a:t>
            </a:r>
            <a:endParaRPr lang="zh-CN" altLang="en-US" dirty="0">
              <a:solidFill>
                <a:srgbClr val="7030A0"/>
              </a:solidFill>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0183"/>
                                        </p:tgtEl>
                                        <p:attrNameLst>
                                          <p:attrName>style.visibility</p:attrName>
                                        </p:attrNameLst>
                                      </p:cBhvr>
                                      <p:to>
                                        <p:strVal val="visible"/>
                                      </p:to>
                                    </p:set>
                                    <p:animEffect transition="in" filter="wipe(left)">
                                      <p:cBhvr>
                                        <p:cTn id="7" dur="500"/>
                                        <p:tgtEl>
                                          <p:spTgt spid="5018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0188"/>
                                        </p:tgtEl>
                                        <p:attrNameLst>
                                          <p:attrName>style.visibility</p:attrName>
                                        </p:attrNameLst>
                                      </p:cBhvr>
                                      <p:to>
                                        <p:strVal val="visible"/>
                                      </p:to>
                                    </p:set>
                                    <p:animEffect transition="in" filter="wipe(left)">
                                      <p:cBhvr>
                                        <p:cTn id="12" dur="500"/>
                                        <p:tgtEl>
                                          <p:spTgt spid="50188"/>
                                        </p:tgtEl>
                                      </p:cBhvr>
                                    </p:animEffect>
                                  </p:childTnLst>
                                </p:cTn>
                              </p:par>
                            </p:childTnLst>
                          </p:cTn>
                        </p:par>
                        <p:par>
                          <p:cTn id="13" fill="hold">
                            <p:stCondLst>
                              <p:cond delay="500"/>
                            </p:stCondLst>
                            <p:childTnLst>
                              <p:par>
                                <p:cTn id="14" presetID="22" presetClass="entr" presetSubtype="1" fill="hold" nodeType="after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wipe(up)">
                                      <p:cBhvr>
                                        <p:cTn id="16" dur="500"/>
                                        <p:tgtEl>
                                          <p:spTgt spid="2"/>
                                        </p:tgtEl>
                                      </p:cBhvr>
                                    </p:animEffect>
                                  </p:childTnLst>
                                </p:cTn>
                              </p:par>
                            </p:childTnLst>
                          </p:cTn>
                        </p:par>
                      </p:childTnLst>
                    </p:cTn>
                  </p:par>
                  <p:par>
                    <p:cTn id="17" fill="hold">
                      <p:stCondLst>
                        <p:cond delay="indefinite"/>
                      </p:stCondLst>
                      <p:childTnLst>
                        <p:par>
                          <p:cTn id="18" fill="hold">
                            <p:stCondLst>
                              <p:cond delay="0"/>
                            </p:stCondLst>
                            <p:childTnLst>
                              <p:par>
                                <p:cTn id="19" presetID="12" presetClass="entr" presetSubtype="8" fill="hold" grpId="0" nodeType="clickEffect">
                                  <p:stCondLst>
                                    <p:cond delay="0"/>
                                  </p:stCondLst>
                                  <p:childTnLst>
                                    <p:set>
                                      <p:cBhvr>
                                        <p:cTn id="20" dur="1" fill="hold">
                                          <p:stCondLst>
                                            <p:cond delay="0"/>
                                          </p:stCondLst>
                                        </p:cTn>
                                        <p:tgtEl>
                                          <p:spTgt spid="50196"/>
                                        </p:tgtEl>
                                        <p:attrNameLst>
                                          <p:attrName>style.visibility</p:attrName>
                                        </p:attrNameLst>
                                      </p:cBhvr>
                                      <p:to>
                                        <p:strVal val="visible"/>
                                      </p:to>
                                    </p:set>
                                    <p:animEffect transition="in" filter="slide(fromLeft)">
                                      <p:cBhvr>
                                        <p:cTn id="21" dur="500"/>
                                        <p:tgtEl>
                                          <p:spTgt spid="50196"/>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8" fill="hold" grpId="0" nodeType="clickEffect">
                                  <p:stCondLst>
                                    <p:cond delay="0"/>
                                  </p:stCondLst>
                                  <p:childTnLst>
                                    <p:set>
                                      <p:cBhvr>
                                        <p:cTn id="25" dur="1" fill="hold">
                                          <p:stCondLst>
                                            <p:cond delay="0"/>
                                          </p:stCondLst>
                                        </p:cTn>
                                        <p:tgtEl>
                                          <p:spTgt spid="50199"/>
                                        </p:tgtEl>
                                        <p:attrNameLst>
                                          <p:attrName>style.visibility</p:attrName>
                                        </p:attrNameLst>
                                      </p:cBhvr>
                                      <p:to>
                                        <p:strVal val="visible"/>
                                      </p:to>
                                    </p:set>
                                    <p:animEffect transition="in" filter="slide(fromLeft)">
                                      <p:cBhvr>
                                        <p:cTn id="26" dur="500"/>
                                        <p:tgtEl>
                                          <p:spTgt spid="50199"/>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8" fill="hold" grpId="0" nodeType="clickEffect">
                                  <p:stCondLst>
                                    <p:cond delay="0"/>
                                  </p:stCondLst>
                                  <p:childTnLst>
                                    <p:set>
                                      <p:cBhvr>
                                        <p:cTn id="30" dur="1" fill="hold">
                                          <p:stCondLst>
                                            <p:cond delay="0"/>
                                          </p:stCondLst>
                                        </p:cTn>
                                        <p:tgtEl>
                                          <p:spTgt spid="50200"/>
                                        </p:tgtEl>
                                        <p:attrNameLst>
                                          <p:attrName>style.visibility</p:attrName>
                                        </p:attrNameLst>
                                      </p:cBhvr>
                                      <p:to>
                                        <p:strVal val="visible"/>
                                      </p:to>
                                    </p:set>
                                    <p:animEffect transition="in" filter="slide(fromLeft)">
                                      <p:cBhvr>
                                        <p:cTn id="31" dur="500"/>
                                        <p:tgtEl>
                                          <p:spTgt spid="50200"/>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1" fill="hold" grpId="0" nodeType="clickEffect">
                                  <p:stCondLst>
                                    <p:cond delay="0"/>
                                  </p:stCondLst>
                                  <p:childTnLst>
                                    <p:set>
                                      <p:cBhvr>
                                        <p:cTn id="35" dur="1" fill="hold">
                                          <p:stCondLst>
                                            <p:cond delay="0"/>
                                          </p:stCondLst>
                                        </p:cTn>
                                        <p:tgtEl>
                                          <p:spTgt spid="50187"/>
                                        </p:tgtEl>
                                        <p:attrNameLst>
                                          <p:attrName>style.visibility</p:attrName>
                                        </p:attrNameLst>
                                      </p:cBhvr>
                                      <p:to>
                                        <p:strVal val="visible"/>
                                      </p:to>
                                    </p:set>
                                    <p:animEffect transition="in" filter="wipe(up)">
                                      <p:cBhvr>
                                        <p:cTn id="36" dur="500"/>
                                        <p:tgtEl>
                                          <p:spTgt spid="50187"/>
                                        </p:tgtEl>
                                      </p:cBhvr>
                                    </p:animEffect>
                                  </p:childTnLst>
                                </p:cTn>
                              </p:par>
                            </p:childTnLst>
                          </p:cTn>
                        </p:par>
                        <p:par>
                          <p:cTn id="37" fill="hold">
                            <p:stCondLst>
                              <p:cond delay="500"/>
                            </p:stCondLst>
                            <p:childTnLst>
                              <p:par>
                                <p:cTn id="38" presetID="22" presetClass="entr" presetSubtype="4" fill="hold" nodeType="afterEffect">
                                  <p:stCondLst>
                                    <p:cond delay="0"/>
                                  </p:stCondLst>
                                  <p:childTnLst>
                                    <p:set>
                                      <p:cBhvr>
                                        <p:cTn id="39" dur="1" fill="hold">
                                          <p:stCondLst>
                                            <p:cond delay="0"/>
                                          </p:stCondLst>
                                        </p:cTn>
                                        <p:tgtEl>
                                          <p:spTgt spid="50218"/>
                                        </p:tgtEl>
                                        <p:attrNameLst>
                                          <p:attrName>style.visibility</p:attrName>
                                        </p:attrNameLst>
                                      </p:cBhvr>
                                      <p:to>
                                        <p:strVal val="visible"/>
                                      </p:to>
                                    </p:set>
                                    <p:animEffect transition="in" filter="wipe(down)">
                                      <p:cBhvr>
                                        <p:cTn id="40" dur="500"/>
                                        <p:tgtEl>
                                          <p:spTgt spid="50218"/>
                                        </p:tgtEl>
                                      </p:cBhvr>
                                    </p:animEffect>
                                  </p:childTnLst>
                                </p:cTn>
                              </p:par>
                            </p:childTnLst>
                          </p:cTn>
                        </p:par>
                      </p:childTnLst>
                    </p:cTn>
                  </p:par>
                  <p:par>
                    <p:cTn id="41" fill="hold">
                      <p:stCondLst>
                        <p:cond delay="indefinite"/>
                      </p:stCondLst>
                      <p:childTnLst>
                        <p:par>
                          <p:cTn id="42" fill="hold">
                            <p:stCondLst>
                              <p:cond delay="0"/>
                            </p:stCondLst>
                            <p:childTnLst>
                              <p:par>
                                <p:cTn id="43" presetID="2" presetClass="entr" presetSubtype="8" fill="hold" grpId="0" nodeType="clickEffect">
                                  <p:stCondLst>
                                    <p:cond delay="0"/>
                                  </p:stCondLst>
                                  <p:childTnLst>
                                    <p:set>
                                      <p:cBhvr>
                                        <p:cTn id="44" dur="1" fill="hold">
                                          <p:stCondLst>
                                            <p:cond delay="0"/>
                                          </p:stCondLst>
                                        </p:cTn>
                                        <p:tgtEl>
                                          <p:spTgt spid="50219"/>
                                        </p:tgtEl>
                                        <p:attrNameLst>
                                          <p:attrName>style.visibility</p:attrName>
                                        </p:attrNameLst>
                                      </p:cBhvr>
                                      <p:to>
                                        <p:strVal val="visible"/>
                                      </p:to>
                                    </p:set>
                                    <p:anim calcmode="lin" valueType="num">
                                      <p:cBhvr additive="base">
                                        <p:cTn id="45" dur="500" fill="hold"/>
                                        <p:tgtEl>
                                          <p:spTgt spid="50219"/>
                                        </p:tgtEl>
                                        <p:attrNameLst>
                                          <p:attrName>ppt_x</p:attrName>
                                        </p:attrNameLst>
                                      </p:cBhvr>
                                      <p:tavLst>
                                        <p:tav tm="0">
                                          <p:val>
                                            <p:strVal val="0-#ppt_w/2"/>
                                          </p:val>
                                        </p:tav>
                                        <p:tav tm="100000">
                                          <p:val>
                                            <p:strVal val="#ppt_x"/>
                                          </p:val>
                                        </p:tav>
                                      </p:tavLst>
                                    </p:anim>
                                    <p:anim calcmode="lin" valueType="num">
                                      <p:cBhvr additive="base">
                                        <p:cTn id="46" dur="500" fill="hold"/>
                                        <p:tgtEl>
                                          <p:spTgt spid="50219"/>
                                        </p:tgtEl>
                                        <p:attrNameLst>
                                          <p:attrName>ppt_y</p:attrName>
                                        </p:attrNameLst>
                                      </p:cBhvr>
                                      <p:tavLst>
                                        <p:tav tm="0">
                                          <p:val>
                                            <p:strVal val="#ppt_y"/>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4111"/>
                                        </p:tgtEl>
                                        <p:attrNameLst>
                                          <p:attrName>style.visibility</p:attrName>
                                        </p:attrNameLst>
                                      </p:cBhvr>
                                      <p:to>
                                        <p:strVal val="visible"/>
                                      </p:to>
                                    </p:set>
                                    <p:animEffect transition="in" filter="wipe(left)">
                                      <p:cBhvr>
                                        <p:cTn id="51" dur="500"/>
                                        <p:tgtEl>
                                          <p:spTgt spid="4111"/>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nodeType="clickEffect">
                                  <p:stCondLst>
                                    <p:cond delay="0"/>
                                  </p:stCondLst>
                                  <p:childTnLst>
                                    <p:set>
                                      <p:cBhvr>
                                        <p:cTn id="55" dur="1" fill="hold">
                                          <p:stCondLst>
                                            <p:cond delay="0"/>
                                          </p:stCondLst>
                                        </p:cTn>
                                        <p:tgtEl>
                                          <p:spTgt spid="50217"/>
                                        </p:tgtEl>
                                        <p:attrNameLst>
                                          <p:attrName>style.visibility</p:attrName>
                                        </p:attrNameLst>
                                      </p:cBhvr>
                                      <p:to>
                                        <p:strVal val="visible"/>
                                      </p:to>
                                    </p:set>
                                    <p:animEffect transition="in" filter="wipe(left)">
                                      <p:cBhvr>
                                        <p:cTn id="56" dur="500"/>
                                        <p:tgtEl>
                                          <p:spTgt spid="50217"/>
                                        </p:tgtEl>
                                      </p:cBhvr>
                                    </p:animEffect>
                                  </p:childTnLst>
                                </p:cTn>
                              </p:par>
                            </p:childTnLst>
                          </p:cTn>
                        </p:par>
                        <p:par>
                          <p:cTn id="57" fill="hold">
                            <p:stCondLst>
                              <p:cond delay="500"/>
                            </p:stCondLst>
                            <p:childTnLst>
                              <p:par>
                                <p:cTn id="58" presetID="2" presetClass="entr" presetSubtype="8" fill="hold" nodeType="afterEffect">
                                  <p:stCondLst>
                                    <p:cond delay="0"/>
                                  </p:stCondLst>
                                  <p:childTnLst>
                                    <p:set>
                                      <p:cBhvr>
                                        <p:cTn id="59" dur="1" fill="hold">
                                          <p:stCondLst>
                                            <p:cond delay="0"/>
                                          </p:stCondLst>
                                        </p:cTn>
                                        <p:tgtEl>
                                          <p:spTgt spid="50215"/>
                                        </p:tgtEl>
                                        <p:attrNameLst>
                                          <p:attrName>style.visibility</p:attrName>
                                        </p:attrNameLst>
                                      </p:cBhvr>
                                      <p:to>
                                        <p:strVal val="visible"/>
                                      </p:to>
                                    </p:set>
                                    <p:anim calcmode="lin" valueType="num">
                                      <p:cBhvr additive="base">
                                        <p:cTn id="60" dur="500" fill="hold"/>
                                        <p:tgtEl>
                                          <p:spTgt spid="50215"/>
                                        </p:tgtEl>
                                        <p:attrNameLst>
                                          <p:attrName>ppt_x</p:attrName>
                                        </p:attrNameLst>
                                      </p:cBhvr>
                                      <p:tavLst>
                                        <p:tav tm="0">
                                          <p:val>
                                            <p:strVal val="0-#ppt_w/2"/>
                                          </p:val>
                                        </p:tav>
                                        <p:tav tm="100000">
                                          <p:val>
                                            <p:strVal val="#ppt_x"/>
                                          </p:val>
                                        </p:tav>
                                      </p:tavLst>
                                    </p:anim>
                                    <p:anim calcmode="lin" valueType="num">
                                      <p:cBhvr additive="base">
                                        <p:cTn id="61" dur="500" fill="hold"/>
                                        <p:tgtEl>
                                          <p:spTgt spid="5021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83" grpId="0"/>
      <p:bldP spid="50187" grpId="0"/>
      <p:bldP spid="50188" grpId="0"/>
      <p:bldP spid="50196" grpId="0"/>
      <p:bldP spid="50199" grpId="0"/>
      <p:bldP spid="50200" grpId="0"/>
      <p:bldP spid="50219" grpId="0"/>
      <p:bldP spid="4111"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Rectangle 4"/>
          <p:cNvSpPr>
            <a:spLocks noGrp="1"/>
          </p:cNvSpPr>
          <p:nvPr>
            <p:ph type="title"/>
          </p:nvPr>
        </p:nvSpPr>
        <p:spPr>
          <a:xfrm>
            <a:off x="5932488" y="838200"/>
            <a:ext cx="2133600" cy="152400"/>
          </a:xfrm>
          <a:noFill/>
          <a:ln>
            <a:noFill/>
          </a:ln>
        </p:spPr>
        <p:txBody>
          <a:bodyPr/>
          <a:p>
            <a:pPr eaLnBrk="1" hangingPunct="1"/>
            <a:r>
              <a:rPr lang="zh-CN" altLang="en-US" sz="2800" dirty="0">
                <a:solidFill>
                  <a:schemeClr val="bg1"/>
                </a:solidFill>
                <a:ea typeface="华文中宋" panose="02010600040101010101" pitchFamily="2" charset="-122"/>
              </a:rPr>
              <a:t>焊接</a:t>
            </a:r>
            <a:r>
              <a:rPr lang="en-US" altLang="zh-CN" sz="2800" dirty="0">
                <a:solidFill>
                  <a:schemeClr val="bg1"/>
                </a:solidFill>
                <a:ea typeface="华文中宋" panose="02010600040101010101" pitchFamily="2" charset="-122"/>
              </a:rPr>
              <a:t>2</a:t>
            </a:r>
            <a:endParaRPr lang="en-US" altLang="zh-CN" sz="2800" dirty="0">
              <a:solidFill>
                <a:schemeClr val="bg1"/>
              </a:solidFill>
              <a:ea typeface="华文中宋" panose="02010600040101010101" pitchFamily="2" charset="-122"/>
            </a:endParaRPr>
          </a:p>
        </p:txBody>
      </p:sp>
      <p:sp>
        <p:nvSpPr>
          <p:cNvPr id="5123" name="Rectangle 5"/>
          <p:cNvSpPr>
            <a:spLocks noGrp="1"/>
          </p:cNvSpPr>
          <p:nvPr/>
        </p:nvSpPr>
        <p:spPr>
          <a:xfrm>
            <a:off x="1071563" y="0"/>
            <a:ext cx="1219200" cy="533400"/>
          </a:xfrm>
          <a:prstGeom prst="rect">
            <a:avLst/>
          </a:prstGeom>
          <a:noFill/>
          <a:ln w="9525">
            <a:noFill/>
          </a:ln>
        </p:spPr>
        <p:txBody>
          <a:bodyPr/>
          <a:p>
            <a:pPr eaLnBrk="0" hangingPunct="0"/>
            <a:r>
              <a:rPr lang="zh-CN" altLang="en-US" sz="3000" dirty="0">
                <a:solidFill>
                  <a:schemeClr val="bg1"/>
                </a:solidFill>
                <a:latin typeface="黑体" panose="02010609060101010101" pitchFamily="49" charset="-122"/>
                <a:ea typeface="黑体" panose="02010609060101010101" pitchFamily="49" charset="-122"/>
              </a:rPr>
              <a:t>焊 接</a:t>
            </a:r>
            <a:endParaRPr lang="zh-CN" altLang="en-US" sz="3000" dirty="0">
              <a:solidFill>
                <a:schemeClr val="bg1"/>
              </a:solidFill>
              <a:latin typeface="黑体" panose="02010609060101010101" pitchFamily="49" charset="-122"/>
              <a:ea typeface="黑体" panose="02010609060101010101" pitchFamily="49" charset="-122"/>
            </a:endParaRPr>
          </a:p>
        </p:txBody>
      </p:sp>
      <p:sp>
        <p:nvSpPr>
          <p:cNvPr id="51207" name="Text Box 7"/>
          <p:cNvSpPr txBox="1"/>
          <p:nvPr/>
        </p:nvSpPr>
        <p:spPr>
          <a:xfrm>
            <a:off x="928688" y="857250"/>
            <a:ext cx="3262312" cy="400050"/>
          </a:xfrm>
          <a:prstGeom prst="rect">
            <a:avLst/>
          </a:prstGeom>
          <a:noFill/>
          <a:ln w="9525">
            <a:noFill/>
          </a:ln>
        </p:spPr>
        <p:txBody>
          <a:bodyPr wrap="none">
            <a:spAutoFit/>
          </a:bodyPr>
          <a:p>
            <a:r>
              <a:rPr lang="zh-CN" altLang="en-US" dirty="0">
                <a:latin typeface="Tahoma" panose="020B0604030504040204" pitchFamily="34" charset="0"/>
              </a:rPr>
              <a:t>（一）电弧焊缝的基本形式</a:t>
            </a:r>
            <a:endParaRPr lang="zh-CN" altLang="en-US" dirty="0">
              <a:latin typeface="Tahoma" panose="020B0604030504040204" pitchFamily="34" charset="0"/>
            </a:endParaRPr>
          </a:p>
        </p:txBody>
      </p:sp>
      <p:sp>
        <p:nvSpPr>
          <p:cNvPr id="51208" name="Text Box 8"/>
          <p:cNvSpPr txBox="1"/>
          <p:nvPr/>
        </p:nvSpPr>
        <p:spPr>
          <a:xfrm>
            <a:off x="381000" y="1285875"/>
            <a:ext cx="8477250" cy="990600"/>
          </a:xfrm>
          <a:prstGeom prst="rect">
            <a:avLst/>
          </a:prstGeom>
          <a:noFill/>
          <a:ln w="9525">
            <a:noFill/>
          </a:ln>
        </p:spPr>
        <p:txBody>
          <a:bodyPr>
            <a:spAutoFit/>
          </a:bodyPr>
          <a:p>
            <a:pPr>
              <a:lnSpc>
                <a:spcPts val="3500"/>
              </a:lnSpc>
            </a:pPr>
            <a:r>
              <a:rPr lang="en-US" altLang="zh-CN" dirty="0">
                <a:latin typeface="Tahoma" panose="020B0604030504040204" pitchFamily="34" charset="0"/>
              </a:rPr>
              <a:t>      </a:t>
            </a:r>
            <a:r>
              <a:rPr lang="zh-CN" altLang="en-US" dirty="0">
                <a:latin typeface="Tahoma" panose="020B0604030504040204" pitchFamily="34" charset="0"/>
              </a:rPr>
              <a:t>焊接件经焊接后形成的结合部分称为</a:t>
            </a:r>
            <a:r>
              <a:rPr lang="zh-CN" altLang="en-US" dirty="0">
                <a:solidFill>
                  <a:srgbClr val="FF0000"/>
                </a:solidFill>
                <a:latin typeface="Tahoma" panose="020B0604030504040204" pitchFamily="34" charset="0"/>
              </a:rPr>
              <a:t>焊缝</a:t>
            </a:r>
            <a:r>
              <a:rPr lang="zh-CN" altLang="en-US" dirty="0">
                <a:latin typeface="Tahoma" panose="020B0604030504040204" pitchFamily="34" charset="0"/>
              </a:rPr>
              <a:t>。下图中除</a:t>
            </a:r>
            <a:r>
              <a:rPr lang="en-US" altLang="zh-CN" dirty="0">
                <a:latin typeface="Tahoma" panose="020B0604030504040204" pitchFamily="34" charset="0"/>
              </a:rPr>
              <a:t>e</a:t>
            </a:r>
            <a:r>
              <a:rPr lang="zh-CN" altLang="en-US" dirty="0">
                <a:latin typeface="Tahoma" panose="020B0604030504040204" pitchFamily="34" charset="0"/>
              </a:rPr>
              <a:t>图所示的</a:t>
            </a:r>
            <a:r>
              <a:rPr lang="zh-CN" altLang="en-US" dirty="0">
                <a:solidFill>
                  <a:srgbClr val="FF0000"/>
                </a:solidFill>
                <a:latin typeface="Tahoma" panose="020B0604030504040204" pitchFamily="34" charset="0"/>
              </a:rPr>
              <a:t>塞焊缝</a:t>
            </a:r>
            <a:r>
              <a:rPr lang="zh-CN" altLang="en-US" dirty="0">
                <a:latin typeface="Tahoma" panose="020B0604030504040204" pitchFamily="34" charset="0"/>
              </a:rPr>
              <a:t>外，其它焊缝大体分为</a:t>
            </a:r>
            <a:r>
              <a:rPr lang="zh-CN" altLang="en-US" dirty="0">
                <a:solidFill>
                  <a:srgbClr val="FF0000"/>
                </a:solidFill>
                <a:latin typeface="华文中宋" panose="02010600040101010101" pitchFamily="2" charset="-122"/>
              </a:rPr>
              <a:t>对接焊缝</a:t>
            </a:r>
            <a:r>
              <a:rPr lang="zh-CN" altLang="en-US" dirty="0">
                <a:latin typeface="华文中宋" panose="02010600040101010101" pitchFamily="2" charset="-122"/>
              </a:rPr>
              <a:t>和</a:t>
            </a:r>
            <a:r>
              <a:rPr lang="zh-CN" altLang="en-US" dirty="0">
                <a:solidFill>
                  <a:srgbClr val="FF0000"/>
                </a:solidFill>
                <a:latin typeface="华文中宋" panose="02010600040101010101" pitchFamily="2" charset="-122"/>
              </a:rPr>
              <a:t>角焊缝</a:t>
            </a:r>
            <a:r>
              <a:rPr lang="zh-CN" altLang="en-US" dirty="0">
                <a:latin typeface="华文中宋" panose="02010600040101010101" pitchFamily="2" charset="-122"/>
              </a:rPr>
              <a:t>两类。</a:t>
            </a:r>
            <a:endParaRPr lang="zh-CN" altLang="en-US" dirty="0">
              <a:latin typeface="华文中宋" panose="02010600040101010101" pitchFamily="2" charset="-122"/>
            </a:endParaRPr>
          </a:p>
        </p:txBody>
      </p:sp>
      <p:pic>
        <p:nvPicPr>
          <p:cNvPr id="51224" name="Picture 24" descr="rewind1">
            <a:hlinkClick r:id="rId1" action="ppaction://hlinksldjump"/>
          </p:cNvPr>
          <p:cNvPicPr>
            <a:picLocks noChangeAspect="1"/>
          </p:cNvPicPr>
          <p:nvPr/>
        </p:nvPicPr>
        <p:blipFill>
          <a:blip r:embed="rId2"/>
          <a:stretch>
            <a:fillRect/>
          </a:stretch>
        </p:blipFill>
        <p:spPr>
          <a:xfrm>
            <a:off x="8001000" y="6570663"/>
            <a:ext cx="287338" cy="287337"/>
          </a:xfrm>
          <a:prstGeom prst="rect">
            <a:avLst/>
          </a:prstGeom>
          <a:noFill/>
          <a:ln w="9525">
            <a:noFill/>
          </a:ln>
        </p:spPr>
      </p:pic>
      <p:pic>
        <p:nvPicPr>
          <p:cNvPr id="51225" name="Picture 25" descr="back1">
            <a:hlinkClick r:id="" action="ppaction://hlinkshowjump?jump=previousslide"/>
          </p:cNvPr>
          <p:cNvPicPr>
            <a:picLocks noChangeAspect="1"/>
          </p:cNvPicPr>
          <p:nvPr/>
        </p:nvPicPr>
        <p:blipFill>
          <a:blip r:embed="rId3"/>
          <a:stretch>
            <a:fillRect/>
          </a:stretch>
        </p:blipFill>
        <p:spPr>
          <a:xfrm>
            <a:off x="8358188" y="6570663"/>
            <a:ext cx="287337" cy="287337"/>
          </a:xfrm>
          <a:prstGeom prst="rect">
            <a:avLst/>
          </a:prstGeom>
          <a:noFill/>
          <a:ln w="9525">
            <a:noFill/>
          </a:ln>
        </p:spPr>
      </p:pic>
      <p:pic>
        <p:nvPicPr>
          <p:cNvPr id="51226" name="Picture 26" descr="NEXT1">
            <a:hlinkClick r:id="" action="ppaction://hlinkshowjump?jump=nextslide"/>
          </p:cNvPr>
          <p:cNvPicPr>
            <a:picLocks noChangeAspect="1"/>
          </p:cNvPicPr>
          <p:nvPr/>
        </p:nvPicPr>
        <p:blipFill>
          <a:blip r:embed="rId4"/>
          <a:stretch>
            <a:fillRect/>
          </a:stretch>
        </p:blipFill>
        <p:spPr>
          <a:xfrm>
            <a:off x="8715375" y="6570663"/>
            <a:ext cx="287338" cy="287337"/>
          </a:xfrm>
          <a:prstGeom prst="rect">
            <a:avLst/>
          </a:prstGeom>
          <a:noFill/>
          <a:ln w="9525">
            <a:noFill/>
          </a:ln>
        </p:spPr>
      </p:pic>
      <p:sp>
        <p:nvSpPr>
          <p:cNvPr id="5129" name="Text Box 40"/>
          <p:cNvSpPr txBox="1"/>
          <p:nvPr/>
        </p:nvSpPr>
        <p:spPr>
          <a:xfrm>
            <a:off x="6384925" y="6538913"/>
            <a:ext cx="271463" cy="427037"/>
          </a:xfrm>
          <a:prstGeom prst="rect">
            <a:avLst/>
          </a:prstGeom>
          <a:noFill/>
          <a:ln w="9525">
            <a:noFill/>
          </a:ln>
        </p:spPr>
        <p:txBody>
          <a:bodyPr wrap="none">
            <a:spAutoFit/>
          </a:bodyPr>
          <a:p>
            <a:r>
              <a:rPr lang="en-US" altLang="zh-CN" sz="2200" dirty="0">
                <a:solidFill>
                  <a:schemeClr val="tx1"/>
                </a:solidFill>
                <a:latin typeface="Tahoma" panose="020B0604030504040204" pitchFamily="34" charset="0"/>
              </a:rPr>
              <a:t> </a:t>
            </a:r>
            <a:endParaRPr lang="en-US" altLang="zh-CN" sz="2200" dirty="0">
              <a:solidFill>
                <a:schemeClr val="tx1"/>
              </a:solidFill>
              <a:latin typeface="Tahoma" panose="020B0604030504040204" pitchFamily="34" charset="0"/>
            </a:endParaRPr>
          </a:p>
        </p:txBody>
      </p:sp>
      <p:pic>
        <p:nvPicPr>
          <p:cNvPr id="5130" name="图片 28" descr="3-13-2 [转换].tif"/>
          <p:cNvPicPr>
            <a:picLocks noChangeAspect="1"/>
          </p:cNvPicPr>
          <p:nvPr/>
        </p:nvPicPr>
        <p:blipFill>
          <a:blip r:embed="rId5"/>
          <a:stretch>
            <a:fillRect/>
          </a:stretch>
        </p:blipFill>
        <p:spPr>
          <a:xfrm>
            <a:off x="1357313" y="2500313"/>
            <a:ext cx="6645275" cy="2857500"/>
          </a:xfrm>
          <a:prstGeom prst="rect">
            <a:avLst/>
          </a:prstGeom>
          <a:noFill/>
          <a:ln w="9525">
            <a:noFill/>
          </a:ln>
        </p:spPr>
      </p:pic>
      <p:sp>
        <p:nvSpPr>
          <p:cNvPr id="5131" name="TextBox 29"/>
          <p:cNvSpPr txBox="1"/>
          <p:nvPr/>
        </p:nvSpPr>
        <p:spPr>
          <a:xfrm>
            <a:off x="500063" y="5572125"/>
            <a:ext cx="8215312" cy="862013"/>
          </a:xfrm>
          <a:prstGeom prst="rect">
            <a:avLst/>
          </a:prstGeom>
          <a:noFill/>
          <a:ln w="9525">
            <a:noFill/>
          </a:ln>
        </p:spPr>
        <p:txBody>
          <a:bodyPr>
            <a:spAutoFit/>
          </a:bodyPr>
          <a:p>
            <a:pPr>
              <a:lnSpc>
                <a:spcPts val="3000"/>
              </a:lnSpc>
            </a:pPr>
            <a:r>
              <a:rPr lang="zh-CN" altLang="en-US" dirty="0">
                <a:latin typeface="Times New Roman" panose="02020603050405020304" pitchFamily="18" charset="0"/>
              </a:rPr>
              <a:t>        对于</a:t>
            </a:r>
            <a:r>
              <a:rPr lang="zh-CN" altLang="en-US" dirty="0">
                <a:solidFill>
                  <a:srgbClr val="FF0000"/>
                </a:solidFill>
                <a:latin typeface="Times New Roman" panose="02020603050405020304" pitchFamily="18" charset="0"/>
              </a:rPr>
              <a:t>对接焊缝</a:t>
            </a:r>
            <a:r>
              <a:rPr lang="zh-CN" altLang="en-US" dirty="0">
                <a:latin typeface="Times New Roman" panose="02020603050405020304" pitchFamily="18" charset="0"/>
              </a:rPr>
              <a:t>，当被焊接件较厚时，为了保证焊透，在焊接处要预制出坡口。</a:t>
            </a:r>
            <a:endParaRPr lang="zh-CN" altLang="en-US"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1207"/>
                                        </p:tgtEl>
                                        <p:attrNameLst>
                                          <p:attrName>style.visibility</p:attrName>
                                        </p:attrNameLst>
                                      </p:cBhvr>
                                      <p:to>
                                        <p:strVal val="visible"/>
                                      </p:to>
                                    </p:set>
                                    <p:animEffect transition="in" filter="wipe(left)">
                                      <p:cBhvr>
                                        <p:cTn id="7" dur="500"/>
                                        <p:tgtEl>
                                          <p:spTgt spid="5120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1224"/>
                                        </p:tgtEl>
                                        <p:attrNameLst>
                                          <p:attrName>style.visibility</p:attrName>
                                        </p:attrNameLst>
                                      </p:cBhvr>
                                      <p:to>
                                        <p:strVal val="visible"/>
                                      </p:to>
                                    </p:set>
                                    <p:animEffect transition="in" filter="wipe(left)">
                                      <p:cBhvr>
                                        <p:cTn id="12" dur="500"/>
                                        <p:tgtEl>
                                          <p:spTgt spid="51224"/>
                                        </p:tgtEl>
                                      </p:cBhvr>
                                    </p:animEffect>
                                  </p:childTnLst>
                                </p:cTn>
                              </p:par>
                              <p:par>
                                <p:cTn id="13" presetID="22" presetClass="entr" presetSubtype="8" fill="hold" nodeType="withEffect">
                                  <p:stCondLst>
                                    <p:cond delay="0"/>
                                  </p:stCondLst>
                                  <p:childTnLst>
                                    <p:set>
                                      <p:cBhvr>
                                        <p:cTn id="14" dur="1" fill="hold">
                                          <p:stCondLst>
                                            <p:cond delay="0"/>
                                          </p:stCondLst>
                                        </p:cTn>
                                        <p:tgtEl>
                                          <p:spTgt spid="51226"/>
                                        </p:tgtEl>
                                        <p:attrNameLst>
                                          <p:attrName>style.visibility</p:attrName>
                                        </p:attrNameLst>
                                      </p:cBhvr>
                                      <p:to>
                                        <p:strVal val="visible"/>
                                      </p:to>
                                    </p:set>
                                    <p:animEffect transition="in" filter="wipe(left)">
                                      <p:cBhvr>
                                        <p:cTn id="15" dur="500"/>
                                        <p:tgtEl>
                                          <p:spTgt spid="51226"/>
                                        </p:tgtEl>
                                      </p:cBhvr>
                                    </p:animEffect>
                                  </p:childTnLst>
                                </p:cTn>
                              </p:par>
                              <p:par>
                                <p:cTn id="16" presetID="22" presetClass="entr" presetSubtype="8" fill="hold" nodeType="withEffect">
                                  <p:stCondLst>
                                    <p:cond delay="0"/>
                                  </p:stCondLst>
                                  <p:childTnLst>
                                    <p:set>
                                      <p:cBhvr>
                                        <p:cTn id="17" dur="1" fill="hold">
                                          <p:stCondLst>
                                            <p:cond delay="0"/>
                                          </p:stCondLst>
                                        </p:cTn>
                                        <p:tgtEl>
                                          <p:spTgt spid="51225"/>
                                        </p:tgtEl>
                                        <p:attrNameLst>
                                          <p:attrName>style.visibility</p:attrName>
                                        </p:attrNameLst>
                                      </p:cBhvr>
                                      <p:to>
                                        <p:strVal val="visible"/>
                                      </p:to>
                                    </p:set>
                                    <p:animEffect transition="in" filter="wipe(left)">
                                      <p:cBhvr>
                                        <p:cTn id="18" dur="500"/>
                                        <p:tgtEl>
                                          <p:spTgt spid="51225"/>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51208">
                                            <p:txEl>
                                              <p:charRg st="0" end="59"/>
                                            </p:txEl>
                                          </p:spTgt>
                                        </p:tgtEl>
                                        <p:attrNameLst>
                                          <p:attrName>style.visibility</p:attrName>
                                        </p:attrNameLst>
                                      </p:cBhvr>
                                      <p:to>
                                        <p:strVal val="visible"/>
                                      </p:to>
                                    </p:set>
                                    <p:animEffect transition="in" filter="wipe(left)">
                                      <p:cBhvr>
                                        <p:cTn id="23" dur="500"/>
                                        <p:tgtEl>
                                          <p:spTgt spid="51208">
                                            <p:txEl>
                                              <p:charRg st="0" end="59"/>
                                            </p:txEl>
                                          </p:spTgt>
                                        </p:tgtEl>
                                      </p:cBhvr>
                                    </p:animEffect>
                                  </p:childTnLst>
                                </p:cTn>
                              </p:par>
                              <p:par>
                                <p:cTn id="24" presetID="22" presetClass="entr" presetSubtype="8" fill="hold" nodeType="withEffect">
                                  <p:stCondLst>
                                    <p:cond delay="0"/>
                                  </p:stCondLst>
                                  <p:childTnLst>
                                    <p:set>
                                      <p:cBhvr>
                                        <p:cTn id="25" dur="1" fill="hold">
                                          <p:stCondLst>
                                            <p:cond delay="0"/>
                                          </p:stCondLst>
                                        </p:cTn>
                                        <p:tgtEl>
                                          <p:spTgt spid="5130"/>
                                        </p:tgtEl>
                                        <p:attrNameLst>
                                          <p:attrName>style.visibility</p:attrName>
                                        </p:attrNameLst>
                                      </p:cBhvr>
                                      <p:to>
                                        <p:strVal val="visible"/>
                                      </p:to>
                                    </p:set>
                                    <p:animEffect transition="in" filter="wipe(left)">
                                      <p:cBhvr>
                                        <p:cTn id="26" dur="500"/>
                                        <p:tgtEl>
                                          <p:spTgt spid="5130"/>
                                        </p:tgtEl>
                                      </p:cBhvr>
                                    </p:animEffect>
                                  </p:childTnLst>
                                </p:cTn>
                              </p:par>
                              <p:par>
                                <p:cTn id="27" presetID="22" presetClass="entr" presetSubtype="8" fill="hold" grpId="0" nodeType="withEffect">
                                  <p:stCondLst>
                                    <p:cond delay="0"/>
                                  </p:stCondLst>
                                  <p:childTnLst>
                                    <p:set>
                                      <p:cBhvr>
                                        <p:cTn id="28" dur="1" fill="hold">
                                          <p:stCondLst>
                                            <p:cond delay="0"/>
                                          </p:stCondLst>
                                        </p:cTn>
                                        <p:tgtEl>
                                          <p:spTgt spid="5131"/>
                                        </p:tgtEl>
                                        <p:attrNameLst>
                                          <p:attrName>style.visibility</p:attrName>
                                        </p:attrNameLst>
                                      </p:cBhvr>
                                      <p:to>
                                        <p:strVal val="visible"/>
                                      </p:to>
                                    </p:set>
                                    <p:animEffect transition="in" filter="wipe(left)">
                                      <p:cBhvr>
                                        <p:cTn id="29" dur="500"/>
                                        <p:tgtEl>
                                          <p:spTgt spid="51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7" grpId="0"/>
      <p:bldP spid="513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Rectangle 4"/>
          <p:cNvSpPr>
            <a:spLocks noGrp="1"/>
          </p:cNvSpPr>
          <p:nvPr>
            <p:ph type="title"/>
          </p:nvPr>
        </p:nvSpPr>
        <p:spPr>
          <a:xfrm>
            <a:off x="5932488" y="838200"/>
            <a:ext cx="2133600" cy="152400"/>
          </a:xfrm>
          <a:noFill/>
          <a:ln>
            <a:noFill/>
          </a:ln>
        </p:spPr>
        <p:txBody>
          <a:bodyPr/>
          <a:p>
            <a:pPr eaLnBrk="1" hangingPunct="1"/>
            <a:r>
              <a:rPr lang="zh-CN" altLang="en-US" sz="2800" dirty="0">
                <a:solidFill>
                  <a:schemeClr val="bg1"/>
                </a:solidFill>
                <a:ea typeface="华文中宋" panose="02010600040101010101" pitchFamily="2" charset="-122"/>
              </a:rPr>
              <a:t>焊接</a:t>
            </a:r>
            <a:r>
              <a:rPr lang="en-US" altLang="zh-CN" sz="2800" dirty="0">
                <a:solidFill>
                  <a:schemeClr val="bg1"/>
                </a:solidFill>
                <a:ea typeface="华文中宋" panose="02010600040101010101" pitchFamily="2" charset="-122"/>
              </a:rPr>
              <a:t>2</a:t>
            </a:r>
            <a:endParaRPr lang="en-US" altLang="zh-CN" sz="2800" dirty="0">
              <a:solidFill>
                <a:schemeClr val="bg1"/>
              </a:solidFill>
              <a:ea typeface="华文中宋" panose="02010600040101010101" pitchFamily="2" charset="-122"/>
            </a:endParaRPr>
          </a:p>
        </p:txBody>
      </p:sp>
      <p:sp>
        <p:nvSpPr>
          <p:cNvPr id="6147" name="Rectangle 5"/>
          <p:cNvSpPr>
            <a:spLocks noGrp="1"/>
          </p:cNvSpPr>
          <p:nvPr/>
        </p:nvSpPr>
        <p:spPr>
          <a:xfrm>
            <a:off x="1071563" y="0"/>
            <a:ext cx="1219200" cy="533400"/>
          </a:xfrm>
          <a:prstGeom prst="rect">
            <a:avLst/>
          </a:prstGeom>
          <a:noFill/>
          <a:ln w="9525">
            <a:noFill/>
          </a:ln>
        </p:spPr>
        <p:txBody>
          <a:bodyPr/>
          <a:p>
            <a:pPr eaLnBrk="0" hangingPunct="0"/>
            <a:r>
              <a:rPr lang="zh-CN" altLang="en-US" sz="3000" dirty="0">
                <a:solidFill>
                  <a:schemeClr val="bg1"/>
                </a:solidFill>
                <a:latin typeface="黑体" panose="02010609060101010101" pitchFamily="49" charset="-122"/>
                <a:ea typeface="黑体" panose="02010609060101010101" pitchFamily="49" charset="-122"/>
              </a:rPr>
              <a:t>焊 接</a:t>
            </a:r>
            <a:endParaRPr lang="zh-CN" altLang="en-US" sz="3000" dirty="0">
              <a:solidFill>
                <a:schemeClr val="bg1"/>
              </a:solidFill>
              <a:latin typeface="黑体" panose="02010609060101010101" pitchFamily="49" charset="-122"/>
              <a:ea typeface="黑体" panose="02010609060101010101" pitchFamily="49" charset="-122"/>
            </a:endParaRPr>
          </a:p>
        </p:txBody>
      </p:sp>
      <p:pic>
        <p:nvPicPr>
          <p:cNvPr id="51224" name="Picture 24" descr="rewind1">
            <a:hlinkClick r:id="rId1" action="ppaction://hlinksldjump"/>
          </p:cNvPr>
          <p:cNvPicPr>
            <a:picLocks noChangeAspect="1"/>
          </p:cNvPicPr>
          <p:nvPr/>
        </p:nvPicPr>
        <p:blipFill>
          <a:blip r:embed="rId2"/>
          <a:stretch>
            <a:fillRect/>
          </a:stretch>
        </p:blipFill>
        <p:spPr>
          <a:xfrm>
            <a:off x="8001000" y="6570663"/>
            <a:ext cx="287338" cy="287337"/>
          </a:xfrm>
          <a:prstGeom prst="rect">
            <a:avLst/>
          </a:prstGeom>
          <a:noFill/>
          <a:ln w="9525">
            <a:noFill/>
          </a:ln>
        </p:spPr>
      </p:pic>
      <p:pic>
        <p:nvPicPr>
          <p:cNvPr id="51225" name="Picture 25" descr="back1">
            <a:hlinkClick r:id="" action="ppaction://hlinkshowjump?jump=previousslide"/>
          </p:cNvPr>
          <p:cNvPicPr>
            <a:picLocks noChangeAspect="1"/>
          </p:cNvPicPr>
          <p:nvPr/>
        </p:nvPicPr>
        <p:blipFill>
          <a:blip r:embed="rId3"/>
          <a:stretch>
            <a:fillRect/>
          </a:stretch>
        </p:blipFill>
        <p:spPr>
          <a:xfrm>
            <a:off x="8358188" y="6570663"/>
            <a:ext cx="287337" cy="287337"/>
          </a:xfrm>
          <a:prstGeom prst="rect">
            <a:avLst/>
          </a:prstGeom>
          <a:noFill/>
          <a:ln w="9525">
            <a:noFill/>
          </a:ln>
        </p:spPr>
      </p:pic>
      <p:pic>
        <p:nvPicPr>
          <p:cNvPr id="51226" name="Picture 26" descr="NEXT1">
            <a:hlinkClick r:id="" action="ppaction://hlinkshowjump?jump=nextslide"/>
          </p:cNvPr>
          <p:cNvPicPr>
            <a:picLocks noChangeAspect="1"/>
          </p:cNvPicPr>
          <p:nvPr/>
        </p:nvPicPr>
        <p:blipFill>
          <a:blip r:embed="rId4"/>
          <a:stretch>
            <a:fillRect/>
          </a:stretch>
        </p:blipFill>
        <p:spPr>
          <a:xfrm>
            <a:off x="8715375" y="6570663"/>
            <a:ext cx="287338" cy="287337"/>
          </a:xfrm>
          <a:prstGeom prst="rect">
            <a:avLst/>
          </a:prstGeom>
          <a:noFill/>
          <a:ln w="9525">
            <a:noFill/>
          </a:ln>
        </p:spPr>
      </p:pic>
      <p:sp>
        <p:nvSpPr>
          <p:cNvPr id="6151" name="Text Box 40"/>
          <p:cNvSpPr txBox="1"/>
          <p:nvPr/>
        </p:nvSpPr>
        <p:spPr>
          <a:xfrm>
            <a:off x="6384925" y="6538913"/>
            <a:ext cx="271463" cy="427037"/>
          </a:xfrm>
          <a:prstGeom prst="rect">
            <a:avLst/>
          </a:prstGeom>
          <a:noFill/>
          <a:ln w="9525">
            <a:noFill/>
          </a:ln>
        </p:spPr>
        <p:txBody>
          <a:bodyPr wrap="none">
            <a:spAutoFit/>
          </a:bodyPr>
          <a:p>
            <a:r>
              <a:rPr lang="en-US" altLang="zh-CN" sz="2200" dirty="0">
                <a:solidFill>
                  <a:schemeClr val="tx1"/>
                </a:solidFill>
                <a:latin typeface="Tahoma" panose="020B0604030504040204" pitchFamily="34" charset="0"/>
              </a:rPr>
              <a:t> </a:t>
            </a:r>
            <a:endParaRPr lang="en-US" altLang="zh-CN" sz="2200" dirty="0">
              <a:solidFill>
                <a:schemeClr val="tx1"/>
              </a:solidFill>
              <a:latin typeface="Tahoma" panose="020B0604030504040204" pitchFamily="34" charset="0"/>
            </a:endParaRPr>
          </a:p>
        </p:txBody>
      </p:sp>
      <p:sp>
        <p:nvSpPr>
          <p:cNvPr id="6152" name="TextBox 29"/>
          <p:cNvSpPr txBox="1"/>
          <p:nvPr/>
        </p:nvSpPr>
        <p:spPr>
          <a:xfrm>
            <a:off x="500063" y="785813"/>
            <a:ext cx="8215312" cy="476250"/>
          </a:xfrm>
          <a:prstGeom prst="rect">
            <a:avLst/>
          </a:prstGeom>
          <a:noFill/>
          <a:ln w="9525">
            <a:noFill/>
          </a:ln>
        </p:spPr>
        <p:txBody>
          <a:bodyPr>
            <a:spAutoFit/>
          </a:bodyPr>
          <a:p>
            <a:pPr>
              <a:lnSpc>
                <a:spcPts val="3000"/>
              </a:lnSpc>
            </a:pPr>
            <a:r>
              <a:rPr lang="zh-CN" altLang="en-US" dirty="0">
                <a:latin typeface="Times New Roman" panose="02020603050405020304" pitchFamily="18" charset="0"/>
              </a:rPr>
              <a:t>        对于</a:t>
            </a:r>
            <a:r>
              <a:rPr lang="zh-CN" altLang="en-US" dirty="0">
                <a:solidFill>
                  <a:srgbClr val="FF0000"/>
                </a:solidFill>
                <a:latin typeface="Times New Roman" panose="02020603050405020304" pitchFamily="18" charset="0"/>
              </a:rPr>
              <a:t>角焊缝</a:t>
            </a:r>
            <a:r>
              <a:rPr lang="zh-CN" altLang="en-US" dirty="0">
                <a:latin typeface="Times New Roman" panose="02020603050405020304" pitchFamily="18" charset="0"/>
              </a:rPr>
              <a:t>，形式上有以下几种：</a:t>
            </a:r>
            <a:endParaRPr lang="zh-CN" altLang="en-US" dirty="0">
              <a:latin typeface="Times New Roman" panose="02020603050405020304" pitchFamily="18" charset="0"/>
            </a:endParaRPr>
          </a:p>
        </p:txBody>
      </p:sp>
      <p:pic>
        <p:nvPicPr>
          <p:cNvPr id="6153" name="图片 11" descr="3-13-3 [转换].tif"/>
          <p:cNvPicPr>
            <a:picLocks noChangeAspect="1"/>
          </p:cNvPicPr>
          <p:nvPr/>
        </p:nvPicPr>
        <p:blipFill>
          <a:blip r:embed="rId5"/>
          <a:stretch>
            <a:fillRect/>
          </a:stretch>
        </p:blipFill>
        <p:spPr>
          <a:xfrm>
            <a:off x="1285875" y="1357313"/>
            <a:ext cx="6715125" cy="3492500"/>
          </a:xfrm>
          <a:prstGeom prst="rect">
            <a:avLst/>
          </a:prstGeom>
          <a:noFill/>
          <a:ln w="9525">
            <a:noFill/>
          </a:ln>
        </p:spPr>
      </p:pic>
      <p:sp>
        <p:nvSpPr>
          <p:cNvPr id="6154" name="TextBox 12"/>
          <p:cNvSpPr txBox="1"/>
          <p:nvPr/>
        </p:nvSpPr>
        <p:spPr>
          <a:xfrm>
            <a:off x="642938" y="5000625"/>
            <a:ext cx="7929562" cy="1746250"/>
          </a:xfrm>
          <a:prstGeom prst="rect">
            <a:avLst/>
          </a:prstGeom>
          <a:noFill/>
          <a:ln w="9525">
            <a:noFill/>
          </a:ln>
        </p:spPr>
        <p:txBody>
          <a:bodyPr>
            <a:spAutoFit/>
          </a:bodyPr>
          <a:p>
            <a:pPr>
              <a:lnSpc>
                <a:spcPts val="3500"/>
              </a:lnSpc>
            </a:pPr>
            <a:r>
              <a:rPr lang="zh-CN" altLang="en-US" dirty="0">
                <a:latin typeface="Times New Roman" panose="02020603050405020304" pitchFamily="18" charset="0"/>
              </a:rPr>
              <a:t>        角焊缝的截面形状（如端焊缝）通常为等腰三角形，其腰长 </a:t>
            </a:r>
            <a:r>
              <a:rPr lang="en-US" altLang="zh-CN" dirty="0">
                <a:latin typeface="Times New Roman" panose="02020603050405020304" pitchFamily="18" charset="0"/>
              </a:rPr>
              <a:t>k </a:t>
            </a:r>
            <a:r>
              <a:rPr lang="zh-CN" altLang="en-US" dirty="0">
                <a:latin typeface="Times New Roman" panose="02020603050405020304" pitchFamily="18" charset="0"/>
              </a:rPr>
              <a:t>称为</a:t>
            </a:r>
            <a:r>
              <a:rPr lang="zh-CN" altLang="en-US" dirty="0">
                <a:solidFill>
                  <a:srgbClr val="FF0000"/>
                </a:solidFill>
                <a:latin typeface="Times New Roman" panose="02020603050405020304" pitchFamily="18" charset="0"/>
              </a:rPr>
              <a:t>焊脚或焊脚厚度</a:t>
            </a:r>
            <a:r>
              <a:rPr lang="zh-CN" altLang="en-US" dirty="0">
                <a:latin typeface="Times New Roman" panose="02020603050405020304" pitchFamily="18" charset="0"/>
              </a:rPr>
              <a:t>。在大多数情况下，</a:t>
            </a:r>
            <a:r>
              <a:rPr lang="en-US" altLang="zh-CN" dirty="0">
                <a:latin typeface="Times New Roman" panose="02020603050405020304" pitchFamily="18" charset="0"/>
              </a:rPr>
              <a:t>k</a:t>
            </a:r>
            <a:r>
              <a:rPr lang="zh-CN" altLang="en-US" dirty="0">
                <a:latin typeface="Times New Roman" panose="02020603050405020304" pitchFamily="18" charset="0"/>
              </a:rPr>
              <a:t>等于被焊件厚度</a:t>
            </a:r>
            <a:r>
              <a:rPr lang="en-US" altLang="zh-CN" dirty="0">
                <a:latin typeface="Times New Roman" panose="02020603050405020304" pitchFamily="18" charset="0"/>
              </a:rPr>
              <a:t>s</a:t>
            </a:r>
            <a:r>
              <a:rPr lang="zh-CN" altLang="en-US" dirty="0">
                <a:latin typeface="Times New Roman" panose="02020603050405020304" pitchFamily="18" charset="0"/>
              </a:rPr>
              <a:t>，但也可略小于</a:t>
            </a:r>
            <a:r>
              <a:rPr lang="en-US" altLang="zh-CN" dirty="0">
                <a:latin typeface="Times New Roman" panose="02020603050405020304" pitchFamily="18" charset="0"/>
              </a:rPr>
              <a:t>s</a:t>
            </a:r>
            <a:r>
              <a:rPr lang="zh-CN" altLang="en-US" dirty="0">
                <a:latin typeface="Times New Roman" panose="02020603050405020304" pitchFamily="18" charset="0"/>
              </a:rPr>
              <a:t>。对于传力的焊缝，</a:t>
            </a:r>
            <a:r>
              <a:rPr lang="en-US" altLang="zh-CN" dirty="0">
                <a:latin typeface="Times New Roman" panose="02020603050405020304" pitchFamily="18" charset="0"/>
              </a:rPr>
              <a:t>k</a:t>
            </a:r>
            <a:r>
              <a:rPr lang="zh-CN" altLang="en-US" dirty="0">
                <a:latin typeface="Times New Roman" panose="02020603050405020304" pitchFamily="18" charset="0"/>
              </a:rPr>
              <a:t>的最小值是</a:t>
            </a:r>
            <a:r>
              <a:rPr lang="en-US" altLang="zh-CN" dirty="0">
                <a:latin typeface="Times New Roman" panose="02020603050405020304" pitchFamily="18" charset="0"/>
              </a:rPr>
              <a:t>3mm</a:t>
            </a:r>
            <a:r>
              <a:rPr lang="zh-CN" altLang="en-US" dirty="0">
                <a:latin typeface="Times New Roman" panose="02020603050405020304" pitchFamily="18" charset="0"/>
              </a:rPr>
              <a:t>。</a:t>
            </a:r>
            <a:endParaRPr lang="en-US" altLang="zh-CN" dirty="0">
              <a:latin typeface="Times New Roman" panose="02020603050405020304" pitchFamily="18" charset="0"/>
            </a:endParaRPr>
          </a:p>
          <a:p>
            <a:endParaRPr lang="zh-CN" altLang="en-US"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152"/>
                                        </p:tgtEl>
                                        <p:attrNameLst>
                                          <p:attrName>style.visibility</p:attrName>
                                        </p:attrNameLst>
                                      </p:cBhvr>
                                      <p:to>
                                        <p:strVal val="visible"/>
                                      </p:to>
                                    </p:set>
                                    <p:animEffect transition="in" filter="wipe(left)">
                                      <p:cBhvr>
                                        <p:cTn id="7" dur="500"/>
                                        <p:tgtEl>
                                          <p:spTgt spid="615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153"/>
                                        </p:tgtEl>
                                        <p:attrNameLst>
                                          <p:attrName>style.visibility</p:attrName>
                                        </p:attrNameLst>
                                      </p:cBhvr>
                                      <p:to>
                                        <p:strVal val="visible"/>
                                      </p:to>
                                    </p:set>
                                    <p:animEffect transition="in" filter="wipe(left)">
                                      <p:cBhvr>
                                        <p:cTn id="12" dur="500"/>
                                        <p:tgtEl>
                                          <p:spTgt spid="615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154"/>
                                        </p:tgtEl>
                                        <p:attrNameLst>
                                          <p:attrName>style.visibility</p:attrName>
                                        </p:attrNameLst>
                                      </p:cBhvr>
                                      <p:to>
                                        <p:strVal val="visible"/>
                                      </p:to>
                                    </p:set>
                                    <p:animEffect transition="in" filter="wipe(left)">
                                      <p:cBhvr>
                                        <p:cTn id="17" dur="500"/>
                                        <p:tgtEl>
                                          <p:spTgt spid="615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1225"/>
                                        </p:tgtEl>
                                        <p:attrNameLst>
                                          <p:attrName>style.visibility</p:attrName>
                                        </p:attrNameLst>
                                      </p:cBhvr>
                                      <p:to>
                                        <p:strVal val="visible"/>
                                      </p:to>
                                    </p:set>
                                    <p:animEffect transition="in" filter="wipe(left)">
                                      <p:cBhvr>
                                        <p:cTn id="22" dur="500"/>
                                        <p:tgtEl>
                                          <p:spTgt spid="51225"/>
                                        </p:tgtEl>
                                      </p:cBhvr>
                                    </p:animEffect>
                                  </p:childTnLst>
                                </p:cTn>
                              </p:par>
                              <p:par>
                                <p:cTn id="23" presetID="22" presetClass="entr" presetSubtype="4" fill="hold" nodeType="withEffect">
                                  <p:stCondLst>
                                    <p:cond delay="0"/>
                                  </p:stCondLst>
                                  <p:childTnLst>
                                    <p:set>
                                      <p:cBhvr>
                                        <p:cTn id="24" dur="1" fill="hold">
                                          <p:stCondLst>
                                            <p:cond delay="0"/>
                                          </p:stCondLst>
                                        </p:cTn>
                                        <p:tgtEl>
                                          <p:spTgt spid="51226"/>
                                        </p:tgtEl>
                                        <p:attrNameLst>
                                          <p:attrName>style.visibility</p:attrName>
                                        </p:attrNameLst>
                                      </p:cBhvr>
                                      <p:to>
                                        <p:strVal val="visible"/>
                                      </p:to>
                                    </p:set>
                                    <p:animEffect transition="in" filter="wipe(down)">
                                      <p:cBhvr>
                                        <p:cTn id="25" dur="500"/>
                                        <p:tgtEl>
                                          <p:spTgt spid="51226"/>
                                        </p:tgtEl>
                                      </p:cBhvr>
                                    </p:animEffect>
                                  </p:childTnLst>
                                </p:cTn>
                              </p:par>
                            </p:childTnLst>
                          </p:cTn>
                        </p:par>
                        <p:par>
                          <p:cTn id="26" fill="hold">
                            <p:stCondLst>
                              <p:cond delay="500"/>
                            </p:stCondLst>
                            <p:childTnLst>
                              <p:par>
                                <p:cTn id="27" presetID="22" presetClass="entr" presetSubtype="8" fill="hold" nodeType="afterEffect">
                                  <p:stCondLst>
                                    <p:cond delay="0"/>
                                  </p:stCondLst>
                                  <p:childTnLst>
                                    <p:set>
                                      <p:cBhvr>
                                        <p:cTn id="28" dur="1" fill="hold">
                                          <p:stCondLst>
                                            <p:cond delay="0"/>
                                          </p:stCondLst>
                                        </p:cTn>
                                        <p:tgtEl>
                                          <p:spTgt spid="51224"/>
                                        </p:tgtEl>
                                        <p:attrNameLst>
                                          <p:attrName>style.visibility</p:attrName>
                                        </p:attrNameLst>
                                      </p:cBhvr>
                                      <p:to>
                                        <p:strVal val="visible"/>
                                      </p:to>
                                    </p:set>
                                    <p:animEffect transition="in" filter="wipe(left)">
                                      <p:cBhvr>
                                        <p:cTn id="29" dur="500"/>
                                        <p:tgtEl>
                                          <p:spTgt spid="512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2" grpId="0"/>
      <p:bldP spid="615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Rectangle 4"/>
          <p:cNvSpPr>
            <a:spLocks noGrp="1"/>
          </p:cNvSpPr>
          <p:nvPr>
            <p:ph type="title"/>
          </p:nvPr>
        </p:nvSpPr>
        <p:spPr>
          <a:xfrm>
            <a:off x="5932488" y="838200"/>
            <a:ext cx="2133600" cy="152400"/>
          </a:xfrm>
          <a:noFill/>
          <a:ln>
            <a:noFill/>
          </a:ln>
        </p:spPr>
        <p:txBody>
          <a:bodyPr/>
          <a:p>
            <a:pPr eaLnBrk="1" hangingPunct="1"/>
            <a:r>
              <a:rPr lang="zh-CN" altLang="en-US" sz="2800" dirty="0">
                <a:solidFill>
                  <a:schemeClr val="bg1"/>
                </a:solidFill>
                <a:ea typeface="华文中宋" panose="02010600040101010101" pitchFamily="2" charset="-122"/>
              </a:rPr>
              <a:t>焊接</a:t>
            </a:r>
            <a:r>
              <a:rPr lang="en-US" altLang="zh-CN" sz="2800" dirty="0">
                <a:solidFill>
                  <a:schemeClr val="bg1"/>
                </a:solidFill>
                <a:ea typeface="华文中宋" panose="02010600040101010101" pitchFamily="2" charset="-122"/>
              </a:rPr>
              <a:t>2</a:t>
            </a:r>
            <a:endParaRPr lang="en-US" altLang="zh-CN" sz="2800" dirty="0">
              <a:solidFill>
                <a:schemeClr val="bg1"/>
              </a:solidFill>
              <a:ea typeface="华文中宋" panose="02010600040101010101" pitchFamily="2" charset="-122"/>
            </a:endParaRPr>
          </a:p>
        </p:txBody>
      </p:sp>
      <p:sp>
        <p:nvSpPr>
          <p:cNvPr id="7171" name="Rectangle 5"/>
          <p:cNvSpPr>
            <a:spLocks noGrp="1"/>
          </p:cNvSpPr>
          <p:nvPr/>
        </p:nvSpPr>
        <p:spPr>
          <a:xfrm>
            <a:off x="1071563" y="0"/>
            <a:ext cx="1219200" cy="533400"/>
          </a:xfrm>
          <a:prstGeom prst="rect">
            <a:avLst/>
          </a:prstGeom>
          <a:noFill/>
          <a:ln w="9525">
            <a:noFill/>
          </a:ln>
        </p:spPr>
        <p:txBody>
          <a:bodyPr/>
          <a:p>
            <a:pPr eaLnBrk="0" hangingPunct="0"/>
            <a:r>
              <a:rPr lang="zh-CN" altLang="en-US" sz="3000" dirty="0">
                <a:solidFill>
                  <a:schemeClr val="bg1"/>
                </a:solidFill>
                <a:latin typeface="黑体" panose="02010609060101010101" pitchFamily="49" charset="-122"/>
                <a:ea typeface="黑体" panose="02010609060101010101" pitchFamily="49" charset="-122"/>
              </a:rPr>
              <a:t>焊 接</a:t>
            </a:r>
            <a:endParaRPr lang="zh-CN" altLang="en-US" sz="3000" dirty="0">
              <a:solidFill>
                <a:schemeClr val="bg1"/>
              </a:solidFill>
              <a:latin typeface="黑体" panose="02010609060101010101" pitchFamily="49" charset="-122"/>
              <a:ea typeface="黑体" panose="02010609060101010101" pitchFamily="49" charset="-122"/>
            </a:endParaRPr>
          </a:p>
        </p:txBody>
      </p:sp>
      <p:sp>
        <p:nvSpPr>
          <p:cNvPr id="51207" name="Text Box 7"/>
          <p:cNvSpPr txBox="1"/>
          <p:nvPr/>
        </p:nvSpPr>
        <p:spPr>
          <a:xfrm>
            <a:off x="785813" y="714375"/>
            <a:ext cx="2749550" cy="400050"/>
          </a:xfrm>
          <a:prstGeom prst="rect">
            <a:avLst/>
          </a:prstGeom>
          <a:noFill/>
          <a:ln w="9525">
            <a:noFill/>
          </a:ln>
        </p:spPr>
        <p:txBody>
          <a:bodyPr wrap="none">
            <a:spAutoFit/>
          </a:bodyPr>
          <a:p>
            <a:r>
              <a:rPr lang="zh-CN" altLang="en-US" dirty="0">
                <a:latin typeface="Tahoma" panose="020B0604030504040204" pitchFamily="34" charset="0"/>
              </a:rPr>
              <a:t>（二）焊缝符号及标注</a:t>
            </a:r>
            <a:endParaRPr lang="zh-CN" altLang="en-US" dirty="0">
              <a:latin typeface="Tahoma" panose="020B0604030504040204" pitchFamily="34" charset="0"/>
            </a:endParaRPr>
          </a:p>
        </p:txBody>
      </p:sp>
      <p:pic>
        <p:nvPicPr>
          <p:cNvPr id="51224" name="Picture 24" descr="rewind1">
            <a:hlinkClick r:id="rId1" action="ppaction://hlinksldjump"/>
          </p:cNvPr>
          <p:cNvPicPr>
            <a:picLocks noChangeAspect="1"/>
          </p:cNvPicPr>
          <p:nvPr/>
        </p:nvPicPr>
        <p:blipFill>
          <a:blip r:embed="rId2"/>
          <a:stretch>
            <a:fillRect/>
          </a:stretch>
        </p:blipFill>
        <p:spPr>
          <a:xfrm>
            <a:off x="8001000" y="6570663"/>
            <a:ext cx="287338" cy="287337"/>
          </a:xfrm>
          <a:prstGeom prst="rect">
            <a:avLst/>
          </a:prstGeom>
          <a:noFill/>
          <a:ln w="9525">
            <a:noFill/>
          </a:ln>
        </p:spPr>
      </p:pic>
      <p:pic>
        <p:nvPicPr>
          <p:cNvPr id="51225" name="Picture 25" descr="back1">
            <a:hlinkClick r:id="" action="ppaction://hlinkshowjump?jump=previousslide"/>
          </p:cNvPr>
          <p:cNvPicPr>
            <a:picLocks noChangeAspect="1"/>
          </p:cNvPicPr>
          <p:nvPr/>
        </p:nvPicPr>
        <p:blipFill>
          <a:blip r:embed="rId3"/>
          <a:stretch>
            <a:fillRect/>
          </a:stretch>
        </p:blipFill>
        <p:spPr>
          <a:xfrm>
            <a:off x="8358188" y="6570663"/>
            <a:ext cx="287337" cy="287337"/>
          </a:xfrm>
          <a:prstGeom prst="rect">
            <a:avLst/>
          </a:prstGeom>
          <a:noFill/>
          <a:ln w="9525">
            <a:noFill/>
          </a:ln>
        </p:spPr>
      </p:pic>
      <p:pic>
        <p:nvPicPr>
          <p:cNvPr id="51226" name="Picture 26" descr="NEXT1">
            <a:hlinkClick r:id="" action="ppaction://hlinkshowjump?jump=nextslide"/>
          </p:cNvPr>
          <p:cNvPicPr>
            <a:picLocks noChangeAspect="1"/>
          </p:cNvPicPr>
          <p:nvPr/>
        </p:nvPicPr>
        <p:blipFill>
          <a:blip r:embed="rId4"/>
          <a:stretch>
            <a:fillRect/>
          </a:stretch>
        </p:blipFill>
        <p:spPr>
          <a:xfrm>
            <a:off x="8715375" y="6570663"/>
            <a:ext cx="287338" cy="287337"/>
          </a:xfrm>
          <a:prstGeom prst="rect">
            <a:avLst/>
          </a:prstGeom>
          <a:noFill/>
          <a:ln w="9525">
            <a:noFill/>
          </a:ln>
        </p:spPr>
      </p:pic>
      <p:sp>
        <p:nvSpPr>
          <p:cNvPr id="7176" name="Text Box 40"/>
          <p:cNvSpPr txBox="1"/>
          <p:nvPr/>
        </p:nvSpPr>
        <p:spPr>
          <a:xfrm>
            <a:off x="6384925" y="6538913"/>
            <a:ext cx="271463" cy="427037"/>
          </a:xfrm>
          <a:prstGeom prst="rect">
            <a:avLst/>
          </a:prstGeom>
          <a:noFill/>
          <a:ln w="9525">
            <a:noFill/>
          </a:ln>
        </p:spPr>
        <p:txBody>
          <a:bodyPr wrap="none">
            <a:spAutoFit/>
          </a:bodyPr>
          <a:p>
            <a:r>
              <a:rPr lang="en-US" altLang="zh-CN" sz="2200" dirty="0">
                <a:solidFill>
                  <a:schemeClr val="tx1"/>
                </a:solidFill>
                <a:latin typeface="Tahoma" panose="020B0604030504040204" pitchFamily="34" charset="0"/>
              </a:rPr>
              <a:t> </a:t>
            </a:r>
            <a:endParaRPr lang="en-US" altLang="zh-CN" sz="2200" dirty="0">
              <a:solidFill>
                <a:schemeClr val="tx1"/>
              </a:solidFill>
              <a:latin typeface="Tahoma" panose="020B0604030504040204" pitchFamily="34" charset="0"/>
            </a:endParaRPr>
          </a:p>
        </p:txBody>
      </p:sp>
      <p:sp>
        <p:nvSpPr>
          <p:cNvPr id="7177" name="Rectangle 2"/>
          <p:cNvSpPr/>
          <p:nvPr/>
        </p:nvSpPr>
        <p:spPr>
          <a:xfrm>
            <a:off x="428625" y="1500188"/>
            <a:ext cx="8397875" cy="990600"/>
          </a:xfrm>
          <a:prstGeom prst="rect">
            <a:avLst/>
          </a:prstGeom>
          <a:noFill/>
          <a:ln w="9525">
            <a:noFill/>
          </a:ln>
        </p:spPr>
        <p:txBody>
          <a:bodyPr wrap="none" anchor="ctr" anchorCtr="0">
            <a:spAutoFit/>
          </a:bodyPr>
          <a:p>
            <a:pPr eaLnBrk="0" hangingPunct="0">
              <a:lnSpc>
                <a:spcPts val="3500"/>
              </a:lnSpc>
            </a:pPr>
            <a:r>
              <a:rPr lang="en-US" altLang="zh-CN" dirty="0">
                <a:latin typeface="Calibri" panose="020F0502020204030204" pitchFamily="34" charset="0"/>
                <a:cs typeface="Times New Roman" panose="02020603050405020304" pitchFamily="18" charset="0"/>
              </a:rPr>
              <a:t>         </a:t>
            </a:r>
            <a:r>
              <a:rPr lang="zh-CN" altLang="en-US" dirty="0">
                <a:latin typeface="Calibri" panose="020F0502020204030204" pitchFamily="34" charset="0"/>
                <a:cs typeface="Times New Roman" panose="02020603050405020304" pitchFamily="18" charset="0"/>
              </a:rPr>
              <a:t>在技术图样或文件上需要表示焊缝或接头时，推荐采用焊缝符号。最</a:t>
            </a:r>
            <a:endParaRPr lang="en-US" altLang="zh-CN" dirty="0">
              <a:latin typeface="Calibri" panose="020F0502020204030204" pitchFamily="34" charset="0"/>
              <a:cs typeface="Times New Roman" panose="02020603050405020304" pitchFamily="18" charset="0"/>
            </a:endParaRPr>
          </a:p>
          <a:p>
            <a:pPr eaLnBrk="0" hangingPunct="0">
              <a:lnSpc>
                <a:spcPts val="3500"/>
              </a:lnSpc>
            </a:pPr>
            <a:r>
              <a:rPr lang="zh-CN" altLang="en-US" dirty="0">
                <a:latin typeface="Calibri" panose="020F0502020204030204" pitchFamily="34" charset="0"/>
                <a:cs typeface="Times New Roman" panose="02020603050405020304" pitchFamily="18" charset="0"/>
              </a:rPr>
              <a:t>常用的焊缝符号，见</a:t>
            </a:r>
            <a:r>
              <a:rPr lang="zh-CN" altLang="en-US" dirty="0">
                <a:solidFill>
                  <a:srgbClr val="FF0000"/>
                </a:solidFill>
                <a:latin typeface="Calibri" panose="020F0502020204030204" pitchFamily="34" charset="0"/>
                <a:cs typeface="Times New Roman" panose="02020603050405020304" pitchFamily="18" charset="0"/>
                <a:hlinkClick r:id="rId5" action="ppaction://hlinkfile"/>
              </a:rPr>
              <a:t>表</a:t>
            </a:r>
            <a:r>
              <a:rPr lang="en-US" altLang="zh-CN" dirty="0">
                <a:solidFill>
                  <a:srgbClr val="FF0000"/>
                </a:solidFill>
                <a:latin typeface="Calibri" panose="020F0502020204030204" pitchFamily="34" charset="0"/>
                <a:cs typeface="Times New Roman" panose="02020603050405020304" pitchFamily="18" charset="0"/>
                <a:hlinkClick r:id="rId5" action="ppaction://hlinkfile"/>
              </a:rPr>
              <a:t>3.13-1</a:t>
            </a:r>
            <a:r>
              <a:rPr lang="zh-CN" altLang="en-US" dirty="0">
                <a:latin typeface="Calibri" panose="020F0502020204030204" pitchFamily="34" charset="0"/>
                <a:cs typeface="Times New Roman" panose="02020603050405020304" pitchFamily="18" charset="0"/>
              </a:rPr>
              <a:t>所示。</a:t>
            </a:r>
            <a:endParaRPr lang="zh-CN" altLang="en-US" dirty="0">
              <a:latin typeface="Times New Roman" panose="02020603050405020304" pitchFamily="18" charset="0"/>
            </a:endParaRPr>
          </a:p>
        </p:txBody>
      </p:sp>
      <p:sp>
        <p:nvSpPr>
          <p:cNvPr id="7178" name="TextBox 13"/>
          <p:cNvSpPr txBox="1"/>
          <p:nvPr/>
        </p:nvSpPr>
        <p:spPr>
          <a:xfrm>
            <a:off x="1000125" y="1214438"/>
            <a:ext cx="1403350" cy="400050"/>
          </a:xfrm>
          <a:prstGeom prst="rect">
            <a:avLst/>
          </a:prstGeom>
          <a:noFill/>
          <a:ln w="9525">
            <a:noFill/>
          </a:ln>
        </p:spPr>
        <p:txBody>
          <a:bodyPr wrap="none">
            <a:spAutoFit/>
          </a:bodyPr>
          <a:p>
            <a:r>
              <a:rPr lang="en-US" altLang="zh-CN" dirty="0">
                <a:latin typeface="Times New Roman" panose="02020603050405020304" pitchFamily="18" charset="0"/>
              </a:rPr>
              <a:t>1.</a:t>
            </a:r>
            <a:r>
              <a:rPr lang="zh-CN" altLang="en-US" dirty="0">
                <a:latin typeface="Times New Roman" panose="02020603050405020304" pitchFamily="18" charset="0"/>
              </a:rPr>
              <a:t>焊缝符号</a:t>
            </a:r>
            <a:endParaRPr lang="zh-CN" altLang="en-US" dirty="0">
              <a:latin typeface="Times New Roman" panose="02020603050405020304" pitchFamily="18" charset="0"/>
            </a:endParaRPr>
          </a:p>
        </p:txBody>
      </p:sp>
      <p:sp>
        <p:nvSpPr>
          <p:cNvPr id="7179" name="TextBox 14"/>
          <p:cNvSpPr txBox="1"/>
          <p:nvPr/>
        </p:nvSpPr>
        <p:spPr>
          <a:xfrm>
            <a:off x="1071563" y="2500313"/>
            <a:ext cx="1979612" cy="400050"/>
          </a:xfrm>
          <a:prstGeom prst="rect">
            <a:avLst/>
          </a:prstGeom>
          <a:noFill/>
          <a:ln w="9525">
            <a:noFill/>
          </a:ln>
        </p:spPr>
        <p:txBody>
          <a:bodyPr wrap="none">
            <a:spAutoFit/>
          </a:bodyPr>
          <a:p>
            <a:r>
              <a:rPr lang="en-US" altLang="zh-CN" dirty="0">
                <a:latin typeface="Times New Roman" panose="02020603050405020304" pitchFamily="18" charset="0"/>
              </a:rPr>
              <a:t>2. </a:t>
            </a:r>
            <a:r>
              <a:rPr lang="zh-CN" altLang="en-US" dirty="0">
                <a:latin typeface="Times New Roman" panose="02020603050405020304" pitchFamily="18" charset="0"/>
              </a:rPr>
              <a:t>焊缝尺寸标注</a:t>
            </a:r>
            <a:endParaRPr lang="zh-CN" altLang="en-US" dirty="0">
              <a:latin typeface="Times New Roman" panose="02020603050405020304" pitchFamily="18" charset="0"/>
            </a:endParaRPr>
          </a:p>
        </p:txBody>
      </p:sp>
      <p:pic>
        <p:nvPicPr>
          <p:cNvPr id="7180" name="图片 15" descr="3-13-5 [转换].tif"/>
          <p:cNvPicPr>
            <a:picLocks noChangeAspect="1"/>
          </p:cNvPicPr>
          <p:nvPr/>
        </p:nvPicPr>
        <p:blipFill>
          <a:blip r:embed="rId6"/>
          <a:stretch>
            <a:fillRect/>
          </a:stretch>
        </p:blipFill>
        <p:spPr>
          <a:xfrm>
            <a:off x="2428875" y="3929063"/>
            <a:ext cx="4448175" cy="2286000"/>
          </a:xfrm>
          <a:prstGeom prst="rect">
            <a:avLst/>
          </a:prstGeom>
          <a:noFill/>
          <a:ln w="9525">
            <a:noFill/>
          </a:ln>
        </p:spPr>
      </p:pic>
      <p:sp>
        <p:nvSpPr>
          <p:cNvPr id="7181" name="TextBox 12"/>
          <p:cNvSpPr txBox="1"/>
          <p:nvPr/>
        </p:nvSpPr>
        <p:spPr>
          <a:xfrm>
            <a:off x="428625" y="2928938"/>
            <a:ext cx="8215313" cy="1169987"/>
          </a:xfrm>
          <a:prstGeom prst="rect">
            <a:avLst/>
          </a:prstGeom>
          <a:noFill/>
          <a:ln w="9525">
            <a:noFill/>
          </a:ln>
        </p:spPr>
        <p:txBody>
          <a:bodyPr>
            <a:spAutoFit/>
          </a:bodyPr>
          <a:p>
            <a:pPr>
              <a:lnSpc>
                <a:spcPts val="3000"/>
              </a:lnSpc>
            </a:pPr>
            <a:r>
              <a:rPr lang="zh-CN" altLang="en-US" dirty="0">
                <a:latin typeface="Times New Roman" panose="02020603050405020304" pitchFamily="18" charset="0"/>
              </a:rPr>
              <a:t>        焊缝尺寸标注的主体是</a:t>
            </a:r>
            <a:r>
              <a:rPr lang="zh-CN" altLang="en-US" dirty="0">
                <a:solidFill>
                  <a:srgbClr val="FF0000"/>
                </a:solidFill>
                <a:latin typeface="Times New Roman" panose="02020603050405020304" pitchFamily="18" charset="0"/>
              </a:rPr>
              <a:t>一条指引线</a:t>
            </a:r>
            <a:r>
              <a:rPr lang="zh-CN" altLang="en-US" dirty="0">
                <a:latin typeface="Times New Roman" panose="02020603050405020304" pitchFamily="18" charset="0"/>
              </a:rPr>
              <a:t>，指引线一般由</a:t>
            </a:r>
            <a:r>
              <a:rPr lang="zh-CN" altLang="en-US" dirty="0">
                <a:solidFill>
                  <a:srgbClr val="FF0000"/>
                </a:solidFill>
                <a:latin typeface="Times New Roman" panose="02020603050405020304" pitchFamily="18" charset="0"/>
              </a:rPr>
              <a:t>箭头线</a:t>
            </a:r>
            <a:r>
              <a:rPr lang="zh-CN" altLang="en-US" dirty="0">
                <a:latin typeface="Times New Roman" panose="02020603050405020304" pitchFamily="18" charset="0"/>
              </a:rPr>
              <a:t>和</a:t>
            </a:r>
            <a:r>
              <a:rPr lang="zh-CN" altLang="en-US" dirty="0">
                <a:solidFill>
                  <a:srgbClr val="FF0000"/>
                </a:solidFill>
                <a:latin typeface="Times New Roman" panose="02020603050405020304" pitchFamily="18" charset="0"/>
              </a:rPr>
              <a:t>两条基准线</a:t>
            </a:r>
            <a:r>
              <a:rPr lang="zh-CN" altLang="en-US" dirty="0">
                <a:latin typeface="Times New Roman" panose="02020603050405020304" pitchFamily="18" charset="0"/>
              </a:rPr>
              <a:t>（一条为实线，另一条为虚线，虚线在上、在下均可）组成。</a:t>
            </a:r>
            <a:endParaRPr lang="zh-CN" altLang="en-US" dirty="0">
              <a:latin typeface="Times New Roman" panose="02020603050405020304" pitchFamily="18" charset="0"/>
            </a:endParaRPr>
          </a:p>
          <a:p>
            <a:endParaRPr lang="zh-CN" altLang="en-US" dirty="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1207"/>
                                        </p:tgtEl>
                                        <p:attrNameLst>
                                          <p:attrName>style.visibility</p:attrName>
                                        </p:attrNameLst>
                                      </p:cBhvr>
                                      <p:to>
                                        <p:strVal val="visible"/>
                                      </p:to>
                                    </p:set>
                                    <p:animEffect transition="in" filter="wipe(left)">
                                      <p:cBhvr>
                                        <p:cTn id="7" dur="500"/>
                                        <p:tgtEl>
                                          <p:spTgt spid="5120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178"/>
                                        </p:tgtEl>
                                        <p:attrNameLst>
                                          <p:attrName>style.visibility</p:attrName>
                                        </p:attrNameLst>
                                      </p:cBhvr>
                                      <p:to>
                                        <p:strVal val="visible"/>
                                      </p:to>
                                    </p:set>
                                    <p:animEffect transition="in" filter="wipe(left)">
                                      <p:cBhvr>
                                        <p:cTn id="12" dur="500"/>
                                        <p:tgtEl>
                                          <p:spTgt spid="717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177"/>
                                        </p:tgtEl>
                                        <p:attrNameLst>
                                          <p:attrName>style.visibility</p:attrName>
                                        </p:attrNameLst>
                                      </p:cBhvr>
                                      <p:to>
                                        <p:strVal val="visible"/>
                                      </p:to>
                                    </p:set>
                                    <p:animEffect transition="in" filter="wipe(left)">
                                      <p:cBhvr>
                                        <p:cTn id="17" dur="500"/>
                                        <p:tgtEl>
                                          <p:spTgt spid="717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179"/>
                                        </p:tgtEl>
                                        <p:attrNameLst>
                                          <p:attrName>style.visibility</p:attrName>
                                        </p:attrNameLst>
                                      </p:cBhvr>
                                      <p:to>
                                        <p:strVal val="visible"/>
                                      </p:to>
                                    </p:set>
                                    <p:animEffect transition="in" filter="wipe(left)">
                                      <p:cBhvr>
                                        <p:cTn id="22" dur="500"/>
                                        <p:tgtEl>
                                          <p:spTgt spid="717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7181"/>
                                        </p:tgtEl>
                                        <p:attrNameLst>
                                          <p:attrName>style.visibility</p:attrName>
                                        </p:attrNameLst>
                                      </p:cBhvr>
                                      <p:to>
                                        <p:strVal val="visible"/>
                                      </p:to>
                                    </p:set>
                                    <p:animEffect transition="in" filter="wipe(left)">
                                      <p:cBhvr>
                                        <p:cTn id="27" dur="500"/>
                                        <p:tgtEl>
                                          <p:spTgt spid="718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7180"/>
                                        </p:tgtEl>
                                        <p:attrNameLst>
                                          <p:attrName>style.visibility</p:attrName>
                                        </p:attrNameLst>
                                      </p:cBhvr>
                                      <p:to>
                                        <p:strVal val="visible"/>
                                      </p:to>
                                    </p:set>
                                    <p:animEffect transition="in" filter="wipe(left)">
                                      <p:cBhvr>
                                        <p:cTn id="32" dur="500"/>
                                        <p:tgtEl>
                                          <p:spTgt spid="718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51226"/>
                                        </p:tgtEl>
                                        <p:attrNameLst>
                                          <p:attrName>style.visibility</p:attrName>
                                        </p:attrNameLst>
                                      </p:cBhvr>
                                      <p:to>
                                        <p:strVal val="visible"/>
                                      </p:to>
                                    </p:set>
                                    <p:animEffect transition="in" filter="wipe(down)">
                                      <p:cBhvr>
                                        <p:cTn id="37" dur="500"/>
                                        <p:tgtEl>
                                          <p:spTgt spid="51226"/>
                                        </p:tgtEl>
                                      </p:cBhvr>
                                    </p:animEffect>
                                  </p:childTnLst>
                                </p:cTn>
                              </p:par>
                            </p:childTnLst>
                          </p:cTn>
                        </p:par>
                        <p:par>
                          <p:cTn id="38" fill="hold">
                            <p:stCondLst>
                              <p:cond delay="500"/>
                            </p:stCondLst>
                            <p:childTnLst>
                              <p:par>
                                <p:cTn id="39" presetID="22" presetClass="entr" presetSubtype="8" fill="hold" nodeType="afterEffect">
                                  <p:stCondLst>
                                    <p:cond delay="0"/>
                                  </p:stCondLst>
                                  <p:childTnLst>
                                    <p:set>
                                      <p:cBhvr>
                                        <p:cTn id="40" dur="1" fill="hold">
                                          <p:stCondLst>
                                            <p:cond delay="0"/>
                                          </p:stCondLst>
                                        </p:cTn>
                                        <p:tgtEl>
                                          <p:spTgt spid="51225"/>
                                        </p:tgtEl>
                                        <p:attrNameLst>
                                          <p:attrName>style.visibility</p:attrName>
                                        </p:attrNameLst>
                                      </p:cBhvr>
                                      <p:to>
                                        <p:strVal val="visible"/>
                                      </p:to>
                                    </p:set>
                                    <p:animEffect transition="in" filter="wipe(left)">
                                      <p:cBhvr>
                                        <p:cTn id="41" dur="500"/>
                                        <p:tgtEl>
                                          <p:spTgt spid="51225"/>
                                        </p:tgtEl>
                                      </p:cBhvr>
                                    </p:animEffect>
                                  </p:childTnLst>
                                </p:cTn>
                              </p:par>
                            </p:childTnLst>
                          </p:cTn>
                        </p:par>
                        <p:par>
                          <p:cTn id="42" fill="hold">
                            <p:stCondLst>
                              <p:cond delay="1000"/>
                            </p:stCondLst>
                            <p:childTnLst>
                              <p:par>
                                <p:cTn id="43" presetID="22" presetClass="entr" presetSubtype="8" fill="hold" nodeType="afterEffect">
                                  <p:stCondLst>
                                    <p:cond delay="0"/>
                                  </p:stCondLst>
                                  <p:childTnLst>
                                    <p:set>
                                      <p:cBhvr>
                                        <p:cTn id="44" dur="1" fill="hold">
                                          <p:stCondLst>
                                            <p:cond delay="0"/>
                                          </p:stCondLst>
                                        </p:cTn>
                                        <p:tgtEl>
                                          <p:spTgt spid="51224"/>
                                        </p:tgtEl>
                                        <p:attrNameLst>
                                          <p:attrName>style.visibility</p:attrName>
                                        </p:attrNameLst>
                                      </p:cBhvr>
                                      <p:to>
                                        <p:strVal val="visible"/>
                                      </p:to>
                                    </p:set>
                                    <p:animEffect transition="in" filter="wipe(left)">
                                      <p:cBhvr>
                                        <p:cTn id="45" dur="500"/>
                                        <p:tgtEl>
                                          <p:spTgt spid="512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7" grpId="0"/>
      <p:bldP spid="7177" grpId="0"/>
      <p:bldP spid="7178" grpId="0"/>
      <p:bldP spid="7179" grpId="0"/>
      <p:bldP spid="718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Rectangle 4"/>
          <p:cNvSpPr>
            <a:spLocks noGrp="1"/>
          </p:cNvSpPr>
          <p:nvPr>
            <p:ph type="title"/>
          </p:nvPr>
        </p:nvSpPr>
        <p:spPr>
          <a:xfrm>
            <a:off x="5932488" y="838200"/>
            <a:ext cx="2133600" cy="152400"/>
          </a:xfrm>
          <a:noFill/>
          <a:ln>
            <a:noFill/>
          </a:ln>
        </p:spPr>
        <p:txBody>
          <a:bodyPr/>
          <a:p>
            <a:pPr eaLnBrk="1" hangingPunct="1"/>
            <a:r>
              <a:rPr lang="zh-CN" altLang="en-US" sz="2800" dirty="0">
                <a:solidFill>
                  <a:schemeClr val="bg1"/>
                </a:solidFill>
                <a:ea typeface="华文中宋" panose="02010600040101010101" pitchFamily="2" charset="-122"/>
              </a:rPr>
              <a:t>焊接</a:t>
            </a:r>
            <a:r>
              <a:rPr lang="en-US" altLang="zh-CN" sz="2800" dirty="0">
                <a:solidFill>
                  <a:schemeClr val="bg1"/>
                </a:solidFill>
                <a:ea typeface="华文中宋" panose="02010600040101010101" pitchFamily="2" charset="-122"/>
              </a:rPr>
              <a:t>2</a:t>
            </a:r>
            <a:endParaRPr lang="en-US" altLang="zh-CN" sz="2800" dirty="0">
              <a:solidFill>
                <a:schemeClr val="bg1"/>
              </a:solidFill>
              <a:ea typeface="华文中宋" panose="02010600040101010101" pitchFamily="2" charset="-122"/>
            </a:endParaRPr>
          </a:p>
        </p:txBody>
      </p:sp>
      <p:sp>
        <p:nvSpPr>
          <p:cNvPr id="8195" name="Rectangle 5"/>
          <p:cNvSpPr>
            <a:spLocks noGrp="1"/>
          </p:cNvSpPr>
          <p:nvPr/>
        </p:nvSpPr>
        <p:spPr>
          <a:xfrm>
            <a:off x="1071563" y="0"/>
            <a:ext cx="1219200" cy="533400"/>
          </a:xfrm>
          <a:prstGeom prst="rect">
            <a:avLst/>
          </a:prstGeom>
          <a:noFill/>
          <a:ln w="9525">
            <a:noFill/>
          </a:ln>
        </p:spPr>
        <p:txBody>
          <a:bodyPr/>
          <a:p>
            <a:pPr eaLnBrk="0" hangingPunct="0"/>
            <a:r>
              <a:rPr lang="zh-CN" altLang="en-US" sz="3000" dirty="0">
                <a:solidFill>
                  <a:schemeClr val="bg1"/>
                </a:solidFill>
                <a:latin typeface="黑体" panose="02010609060101010101" pitchFamily="49" charset="-122"/>
                <a:ea typeface="黑体" panose="02010609060101010101" pitchFamily="49" charset="-122"/>
              </a:rPr>
              <a:t>焊 接</a:t>
            </a:r>
            <a:endParaRPr lang="zh-CN" altLang="en-US" sz="3000" dirty="0">
              <a:solidFill>
                <a:schemeClr val="bg1"/>
              </a:solidFill>
              <a:latin typeface="黑体" panose="02010609060101010101" pitchFamily="49" charset="-122"/>
              <a:ea typeface="黑体" panose="02010609060101010101" pitchFamily="49" charset="-122"/>
            </a:endParaRPr>
          </a:p>
        </p:txBody>
      </p:sp>
      <p:pic>
        <p:nvPicPr>
          <p:cNvPr id="51224" name="Picture 24" descr="rewind1">
            <a:hlinkClick r:id="rId1" action="ppaction://hlinksldjump"/>
          </p:cNvPr>
          <p:cNvPicPr>
            <a:picLocks noChangeAspect="1"/>
          </p:cNvPicPr>
          <p:nvPr/>
        </p:nvPicPr>
        <p:blipFill>
          <a:blip r:embed="rId2"/>
          <a:stretch>
            <a:fillRect/>
          </a:stretch>
        </p:blipFill>
        <p:spPr>
          <a:xfrm>
            <a:off x="8001000" y="6570663"/>
            <a:ext cx="287338" cy="287337"/>
          </a:xfrm>
          <a:prstGeom prst="rect">
            <a:avLst/>
          </a:prstGeom>
          <a:noFill/>
          <a:ln w="9525">
            <a:noFill/>
          </a:ln>
        </p:spPr>
      </p:pic>
      <p:pic>
        <p:nvPicPr>
          <p:cNvPr id="51225" name="Picture 25" descr="back1">
            <a:hlinkClick r:id="" action="ppaction://hlinkshowjump?jump=previousslide"/>
          </p:cNvPr>
          <p:cNvPicPr>
            <a:picLocks noChangeAspect="1"/>
          </p:cNvPicPr>
          <p:nvPr/>
        </p:nvPicPr>
        <p:blipFill>
          <a:blip r:embed="rId3"/>
          <a:stretch>
            <a:fillRect/>
          </a:stretch>
        </p:blipFill>
        <p:spPr>
          <a:xfrm>
            <a:off x="8358188" y="6570663"/>
            <a:ext cx="287337" cy="287337"/>
          </a:xfrm>
          <a:prstGeom prst="rect">
            <a:avLst/>
          </a:prstGeom>
          <a:noFill/>
          <a:ln w="9525">
            <a:noFill/>
          </a:ln>
        </p:spPr>
      </p:pic>
      <p:pic>
        <p:nvPicPr>
          <p:cNvPr id="51226" name="Picture 26" descr="NEXT1">
            <a:hlinkClick r:id="" action="ppaction://hlinkshowjump?jump=nextslide"/>
          </p:cNvPr>
          <p:cNvPicPr>
            <a:picLocks noChangeAspect="1"/>
          </p:cNvPicPr>
          <p:nvPr/>
        </p:nvPicPr>
        <p:blipFill>
          <a:blip r:embed="rId4"/>
          <a:stretch>
            <a:fillRect/>
          </a:stretch>
        </p:blipFill>
        <p:spPr>
          <a:xfrm>
            <a:off x="8715375" y="6570663"/>
            <a:ext cx="287338" cy="287337"/>
          </a:xfrm>
          <a:prstGeom prst="rect">
            <a:avLst/>
          </a:prstGeom>
          <a:noFill/>
          <a:ln w="9525">
            <a:noFill/>
          </a:ln>
        </p:spPr>
      </p:pic>
      <p:sp>
        <p:nvSpPr>
          <p:cNvPr id="51240" name="Text Box 40"/>
          <p:cNvSpPr txBox="1"/>
          <p:nvPr/>
        </p:nvSpPr>
        <p:spPr>
          <a:xfrm>
            <a:off x="6384925" y="6538913"/>
            <a:ext cx="271463" cy="427037"/>
          </a:xfrm>
          <a:prstGeom prst="rect">
            <a:avLst/>
          </a:prstGeom>
          <a:noFill/>
          <a:ln w="9525">
            <a:noFill/>
          </a:ln>
        </p:spPr>
        <p:txBody>
          <a:bodyPr wrap="none">
            <a:spAutoFit/>
          </a:bodyPr>
          <a:p>
            <a:r>
              <a:rPr lang="en-US" altLang="zh-CN" sz="2200" dirty="0">
                <a:solidFill>
                  <a:schemeClr val="tx1"/>
                </a:solidFill>
                <a:latin typeface="Tahoma" panose="020B0604030504040204" pitchFamily="34" charset="0"/>
              </a:rPr>
              <a:t> </a:t>
            </a:r>
            <a:endParaRPr lang="en-US" altLang="zh-CN" sz="2200" dirty="0">
              <a:solidFill>
                <a:schemeClr val="tx1"/>
              </a:solidFill>
              <a:latin typeface="Tahoma" panose="020B0604030504040204" pitchFamily="34" charset="0"/>
            </a:endParaRPr>
          </a:p>
        </p:txBody>
      </p:sp>
      <p:sp>
        <p:nvSpPr>
          <p:cNvPr id="8200" name="TextBox 13"/>
          <p:cNvSpPr txBox="1"/>
          <p:nvPr/>
        </p:nvSpPr>
        <p:spPr>
          <a:xfrm>
            <a:off x="571500" y="785813"/>
            <a:ext cx="8001000" cy="1887537"/>
          </a:xfrm>
          <a:prstGeom prst="rect">
            <a:avLst/>
          </a:prstGeom>
          <a:noFill/>
          <a:ln w="9525">
            <a:noFill/>
          </a:ln>
        </p:spPr>
        <p:txBody>
          <a:bodyPr>
            <a:spAutoFit/>
          </a:bodyPr>
          <a:p>
            <a:pPr>
              <a:lnSpc>
                <a:spcPts val="3500"/>
              </a:lnSpc>
            </a:pPr>
            <a:r>
              <a:rPr lang="zh-CN" altLang="en-US" dirty="0">
                <a:latin typeface="Times New Roman" panose="02020603050405020304" pitchFamily="18" charset="0"/>
              </a:rPr>
              <a:t>        标注的核心首先是</a:t>
            </a:r>
            <a:r>
              <a:rPr lang="zh-CN" altLang="en-US" dirty="0">
                <a:solidFill>
                  <a:srgbClr val="FF0000"/>
                </a:solidFill>
                <a:latin typeface="Times New Roman" panose="02020603050405020304" pitchFamily="18" charset="0"/>
              </a:rPr>
              <a:t>基本符号</a:t>
            </a:r>
            <a:r>
              <a:rPr lang="zh-CN" altLang="en-US" dirty="0">
                <a:latin typeface="Times New Roman" panose="02020603050405020304" pitchFamily="18" charset="0"/>
              </a:rPr>
              <a:t>。如果焊缝在接头的箭头一侧，则将基本符号标在基准线的</a:t>
            </a:r>
            <a:r>
              <a:rPr lang="zh-CN" altLang="en-US" dirty="0">
                <a:solidFill>
                  <a:srgbClr val="00B050"/>
                </a:solidFill>
                <a:latin typeface="Times New Roman" panose="02020603050405020304" pitchFamily="18" charset="0"/>
              </a:rPr>
              <a:t>实线侧</a:t>
            </a:r>
            <a:r>
              <a:rPr lang="zh-CN" altLang="en-US" dirty="0">
                <a:latin typeface="Times New Roman" panose="02020603050405020304" pitchFamily="18" charset="0"/>
              </a:rPr>
              <a:t>；如果焊缝在接头的非箭头一侧，则将基本符号标在基准线的</a:t>
            </a:r>
            <a:r>
              <a:rPr lang="zh-CN" altLang="en-US" dirty="0">
                <a:solidFill>
                  <a:srgbClr val="00B050"/>
                </a:solidFill>
                <a:latin typeface="Times New Roman" panose="02020603050405020304" pitchFamily="18" charset="0"/>
              </a:rPr>
              <a:t>虚线侧</a:t>
            </a:r>
            <a:r>
              <a:rPr lang="zh-CN" altLang="en-US" dirty="0">
                <a:latin typeface="Times New Roman" panose="02020603050405020304" pitchFamily="18" charset="0"/>
              </a:rPr>
              <a:t>；标注双面焊缝及对称焊缝时，可不加虚线。</a:t>
            </a:r>
            <a:endParaRPr lang="zh-CN" altLang="en-US" dirty="0">
              <a:latin typeface="Times New Roman" panose="02020603050405020304" pitchFamily="18" charset="0"/>
            </a:endParaRPr>
          </a:p>
        </p:txBody>
      </p:sp>
      <p:pic>
        <p:nvPicPr>
          <p:cNvPr id="8201" name="图片 17" descr="捕获1.JPG"/>
          <p:cNvPicPr>
            <a:picLocks noChangeAspect="1"/>
          </p:cNvPicPr>
          <p:nvPr/>
        </p:nvPicPr>
        <p:blipFill>
          <a:blip r:embed="rId5"/>
          <a:stretch>
            <a:fillRect/>
          </a:stretch>
        </p:blipFill>
        <p:spPr>
          <a:xfrm>
            <a:off x="1928813" y="2428875"/>
            <a:ext cx="857250" cy="1162050"/>
          </a:xfrm>
          <a:prstGeom prst="rect">
            <a:avLst/>
          </a:prstGeom>
          <a:noFill/>
          <a:ln w="9525">
            <a:noFill/>
          </a:ln>
        </p:spPr>
      </p:pic>
      <p:pic>
        <p:nvPicPr>
          <p:cNvPr id="8202" name="图片 18" descr="捕获2.JPG"/>
          <p:cNvPicPr>
            <a:picLocks noChangeAspect="1"/>
          </p:cNvPicPr>
          <p:nvPr/>
        </p:nvPicPr>
        <p:blipFill>
          <a:blip r:embed="rId6"/>
          <a:stretch>
            <a:fillRect/>
          </a:stretch>
        </p:blipFill>
        <p:spPr>
          <a:xfrm>
            <a:off x="3214688" y="2500313"/>
            <a:ext cx="2143125" cy="1114425"/>
          </a:xfrm>
          <a:prstGeom prst="rect">
            <a:avLst/>
          </a:prstGeom>
          <a:noFill/>
          <a:ln w="9525">
            <a:noFill/>
          </a:ln>
        </p:spPr>
      </p:pic>
      <p:pic>
        <p:nvPicPr>
          <p:cNvPr id="8203" name="图片 19" descr="捕获3.JPG"/>
          <p:cNvPicPr>
            <a:picLocks noChangeAspect="1"/>
          </p:cNvPicPr>
          <p:nvPr/>
        </p:nvPicPr>
        <p:blipFill>
          <a:blip r:embed="rId7"/>
          <a:stretch>
            <a:fillRect/>
          </a:stretch>
        </p:blipFill>
        <p:spPr>
          <a:xfrm>
            <a:off x="5715000" y="2428875"/>
            <a:ext cx="2238375" cy="1214438"/>
          </a:xfrm>
          <a:prstGeom prst="rect">
            <a:avLst/>
          </a:prstGeom>
          <a:noFill/>
          <a:ln w="9525">
            <a:noFill/>
          </a:ln>
        </p:spPr>
      </p:pic>
      <p:pic>
        <p:nvPicPr>
          <p:cNvPr id="8204" name="图片 20" descr="捕获4.JPG"/>
          <p:cNvPicPr>
            <a:picLocks noChangeAspect="1"/>
          </p:cNvPicPr>
          <p:nvPr/>
        </p:nvPicPr>
        <p:blipFill>
          <a:blip r:embed="rId8"/>
          <a:stretch>
            <a:fillRect/>
          </a:stretch>
        </p:blipFill>
        <p:spPr>
          <a:xfrm>
            <a:off x="1857375" y="3857625"/>
            <a:ext cx="1182688" cy="1143000"/>
          </a:xfrm>
          <a:prstGeom prst="rect">
            <a:avLst/>
          </a:prstGeom>
          <a:noFill/>
          <a:ln w="9525">
            <a:noFill/>
          </a:ln>
        </p:spPr>
      </p:pic>
      <p:pic>
        <p:nvPicPr>
          <p:cNvPr id="8205" name="图片 21" descr="捕获5.JPG"/>
          <p:cNvPicPr>
            <a:picLocks noChangeAspect="1"/>
          </p:cNvPicPr>
          <p:nvPr/>
        </p:nvPicPr>
        <p:blipFill>
          <a:blip r:embed="rId9"/>
          <a:stretch>
            <a:fillRect/>
          </a:stretch>
        </p:blipFill>
        <p:spPr>
          <a:xfrm>
            <a:off x="3214688" y="3857625"/>
            <a:ext cx="2119312" cy="1357313"/>
          </a:xfrm>
          <a:prstGeom prst="rect">
            <a:avLst/>
          </a:prstGeom>
          <a:noFill/>
          <a:ln w="9525">
            <a:noFill/>
          </a:ln>
        </p:spPr>
      </p:pic>
      <p:pic>
        <p:nvPicPr>
          <p:cNvPr id="8206" name="图片 22" descr="捕获6.JPG"/>
          <p:cNvPicPr>
            <a:picLocks noChangeAspect="1"/>
          </p:cNvPicPr>
          <p:nvPr/>
        </p:nvPicPr>
        <p:blipFill>
          <a:blip r:embed="rId10"/>
          <a:stretch>
            <a:fillRect/>
          </a:stretch>
        </p:blipFill>
        <p:spPr>
          <a:xfrm>
            <a:off x="5715000" y="3857625"/>
            <a:ext cx="2214563" cy="1285875"/>
          </a:xfrm>
          <a:prstGeom prst="rect">
            <a:avLst/>
          </a:prstGeom>
          <a:noFill/>
          <a:ln w="9525">
            <a:noFill/>
          </a:ln>
        </p:spPr>
      </p:pic>
      <p:pic>
        <p:nvPicPr>
          <p:cNvPr id="8207" name="图片 23" descr="捕获7.JPG"/>
          <p:cNvPicPr>
            <a:picLocks noChangeAspect="1"/>
          </p:cNvPicPr>
          <p:nvPr/>
        </p:nvPicPr>
        <p:blipFill>
          <a:blip r:embed="rId11"/>
          <a:stretch>
            <a:fillRect/>
          </a:stretch>
        </p:blipFill>
        <p:spPr>
          <a:xfrm>
            <a:off x="1857375" y="5143500"/>
            <a:ext cx="1143000" cy="1193800"/>
          </a:xfrm>
          <a:prstGeom prst="rect">
            <a:avLst/>
          </a:prstGeom>
          <a:noFill/>
          <a:ln w="9525">
            <a:noFill/>
          </a:ln>
        </p:spPr>
      </p:pic>
      <p:pic>
        <p:nvPicPr>
          <p:cNvPr id="8208" name="图片 24" descr="捕获8.JPG"/>
          <p:cNvPicPr>
            <a:picLocks noChangeAspect="1"/>
          </p:cNvPicPr>
          <p:nvPr/>
        </p:nvPicPr>
        <p:blipFill>
          <a:blip r:embed="rId12"/>
          <a:stretch>
            <a:fillRect/>
          </a:stretch>
        </p:blipFill>
        <p:spPr>
          <a:xfrm>
            <a:off x="3857625" y="5286375"/>
            <a:ext cx="1285875" cy="1119188"/>
          </a:xfrm>
          <a:prstGeom prst="rect">
            <a:avLst/>
          </a:prstGeom>
          <a:noFill/>
          <a:ln w="9525">
            <a:noFill/>
          </a:ln>
        </p:spPr>
      </p:pic>
      <p:pic>
        <p:nvPicPr>
          <p:cNvPr id="8209" name="图片 25" descr="捕获9.JPG"/>
          <p:cNvPicPr>
            <a:picLocks noChangeAspect="1"/>
          </p:cNvPicPr>
          <p:nvPr/>
        </p:nvPicPr>
        <p:blipFill>
          <a:blip r:embed="rId13"/>
          <a:stretch>
            <a:fillRect/>
          </a:stretch>
        </p:blipFill>
        <p:spPr>
          <a:xfrm>
            <a:off x="6215063" y="5286375"/>
            <a:ext cx="1214437" cy="1081088"/>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499"/>
                                          </p:stCondLst>
                                        </p:cTn>
                                        <p:tgtEl>
                                          <p:spTgt spid="51226"/>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nodeType="afterEffect">
                                  <p:stCondLst>
                                    <p:cond delay="0"/>
                                  </p:stCondLst>
                                  <p:childTnLst>
                                    <p:set>
                                      <p:cBhvr>
                                        <p:cTn id="9" dur="1" fill="hold">
                                          <p:stCondLst>
                                            <p:cond delay="499"/>
                                          </p:stCondLst>
                                        </p:cTn>
                                        <p:tgtEl>
                                          <p:spTgt spid="51225"/>
                                        </p:tgtEl>
                                        <p:attrNameLst>
                                          <p:attrName>style.visibility</p:attrName>
                                        </p:attrNameLst>
                                      </p:cBhvr>
                                      <p:to>
                                        <p:strVal val="visible"/>
                                      </p:to>
                                    </p:set>
                                  </p:childTnLst>
                                </p:cTn>
                              </p:par>
                            </p:childTnLst>
                          </p:cTn>
                        </p:par>
                        <p:par>
                          <p:cTn id="10" fill="hold">
                            <p:stCondLst>
                              <p:cond delay="1000"/>
                            </p:stCondLst>
                            <p:childTnLst>
                              <p:par>
                                <p:cTn id="11" presetID="2" presetClass="entr" presetSubtype="8" fill="hold" nodeType="afterEffect">
                                  <p:stCondLst>
                                    <p:cond delay="0"/>
                                  </p:stCondLst>
                                  <p:childTnLst>
                                    <p:set>
                                      <p:cBhvr>
                                        <p:cTn id="12" dur="1" fill="hold">
                                          <p:stCondLst>
                                            <p:cond delay="0"/>
                                          </p:stCondLst>
                                        </p:cTn>
                                        <p:tgtEl>
                                          <p:spTgt spid="51224"/>
                                        </p:tgtEl>
                                        <p:attrNameLst>
                                          <p:attrName>style.visibility</p:attrName>
                                        </p:attrNameLst>
                                      </p:cBhvr>
                                      <p:to>
                                        <p:strVal val="visible"/>
                                      </p:to>
                                    </p:set>
                                    <p:anim calcmode="lin" valueType="num">
                                      <p:cBhvr additive="base">
                                        <p:cTn id="13" dur="500" fill="hold"/>
                                        <p:tgtEl>
                                          <p:spTgt spid="51224"/>
                                        </p:tgtEl>
                                        <p:attrNameLst>
                                          <p:attrName>ppt_x</p:attrName>
                                        </p:attrNameLst>
                                      </p:cBhvr>
                                      <p:tavLst>
                                        <p:tav tm="0">
                                          <p:val>
                                            <p:strVal val="0-#ppt_w/2"/>
                                          </p:val>
                                        </p:tav>
                                        <p:tav tm="100000">
                                          <p:val>
                                            <p:strVal val="#ppt_x"/>
                                          </p:val>
                                        </p:tav>
                                      </p:tavLst>
                                    </p:anim>
                                    <p:anim calcmode="lin" valueType="num">
                                      <p:cBhvr additive="base">
                                        <p:cTn id="14" dur="500" fill="hold"/>
                                        <p:tgtEl>
                                          <p:spTgt spid="51224"/>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51240"/>
                                        </p:tgtEl>
                                        <p:attrNameLst>
                                          <p:attrName>style.visibility</p:attrName>
                                        </p:attrNameLst>
                                      </p:cBhvr>
                                      <p:to>
                                        <p:strVal val="visible"/>
                                      </p:to>
                                    </p:set>
                                    <p:anim calcmode="lin" valueType="num">
                                      <p:cBhvr additive="base">
                                        <p:cTn id="19" dur="500" fill="hold"/>
                                        <p:tgtEl>
                                          <p:spTgt spid="51240"/>
                                        </p:tgtEl>
                                        <p:attrNameLst>
                                          <p:attrName>ppt_x</p:attrName>
                                        </p:attrNameLst>
                                      </p:cBhvr>
                                      <p:tavLst>
                                        <p:tav tm="0">
                                          <p:val>
                                            <p:strVal val="0-#ppt_w/2"/>
                                          </p:val>
                                        </p:tav>
                                        <p:tav tm="100000">
                                          <p:val>
                                            <p:strVal val="#ppt_x"/>
                                          </p:val>
                                        </p:tav>
                                      </p:tavLst>
                                    </p:anim>
                                    <p:anim calcmode="lin" valueType="num">
                                      <p:cBhvr additive="base">
                                        <p:cTn id="20" dur="500" fill="hold"/>
                                        <p:tgtEl>
                                          <p:spTgt spid="5124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4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Rectangle 4"/>
          <p:cNvSpPr>
            <a:spLocks noGrp="1"/>
          </p:cNvSpPr>
          <p:nvPr>
            <p:ph type="title"/>
          </p:nvPr>
        </p:nvSpPr>
        <p:spPr>
          <a:xfrm>
            <a:off x="5932488" y="838200"/>
            <a:ext cx="2133600" cy="152400"/>
          </a:xfrm>
          <a:noFill/>
          <a:ln>
            <a:noFill/>
          </a:ln>
        </p:spPr>
        <p:txBody>
          <a:bodyPr/>
          <a:p>
            <a:pPr eaLnBrk="1" hangingPunct="1"/>
            <a:r>
              <a:rPr lang="zh-CN" altLang="en-US" sz="2800" dirty="0">
                <a:solidFill>
                  <a:schemeClr val="bg1"/>
                </a:solidFill>
                <a:ea typeface="华文中宋" panose="02010600040101010101" pitchFamily="2" charset="-122"/>
              </a:rPr>
              <a:t>焊接</a:t>
            </a:r>
            <a:r>
              <a:rPr lang="en-US" altLang="zh-CN" sz="2800" dirty="0">
                <a:solidFill>
                  <a:schemeClr val="bg1"/>
                </a:solidFill>
                <a:ea typeface="华文中宋" panose="02010600040101010101" pitchFamily="2" charset="-122"/>
              </a:rPr>
              <a:t>2</a:t>
            </a:r>
            <a:endParaRPr lang="en-US" altLang="zh-CN" sz="2800" dirty="0">
              <a:solidFill>
                <a:schemeClr val="bg1"/>
              </a:solidFill>
              <a:ea typeface="华文中宋" panose="02010600040101010101" pitchFamily="2" charset="-122"/>
            </a:endParaRPr>
          </a:p>
        </p:txBody>
      </p:sp>
      <p:sp>
        <p:nvSpPr>
          <p:cNvPr id="9219" name="Rectangle 5"/>
          <p:cNvSpPr>
            <a:spLocks noGrp="1"/>
          </p:cNvSpPr>
          <p:nvPr/>
        </p:nvSpPr>
        <p:spPr>
          <a:xfrm>
            <a:off x="1000125" y="0"/>
            <a:ext cx="1219200" cy="533400"/>
          </a:xfrm>
          <a:prstGeom prst="rect">
            <a:avLst/>
          </a:prstGeom>
          <a:noFill/>
          <a:ln w="9525">
            <a:noFill/>
          </a:ln>
        </p:spPr>
        <p:txBody>
          <a:bodyPr/>
          <a:p>
            <a:pPr eaLnBrk="0" hangingPunct="0"/>
            <a:r>
              <a:rPr lang="zh-CN" altLang="en-US" sz="3000" dirty="0">
                <a:solidFill>
                  <a:schemeClr val="bg1"/>
                </a:solidFill>
                <a:latin typeface="黑体" panose="02010609060101010101" pitchFamily="49" charset="-122"/>
                <a:ea typeface="黑体" panose="02010609060101010101" pitchFamily="49" charset="-122"/>
              </a:rPr>
              <a:t>焊 接</a:t>
            </a:r>
            <a:endParaRPr lang="zh-CN" altLang="en-US" sz="3000" dirty="0">
              <a:solidFill>
                <a:schemeClr val="bg1"/>
              </a:solidFill>
              <a:latin typeface="黑体" panose="02010609060101010101" pitchFamily="49" charset="-122"/>
              <a:ea typeface="黑体" panose="02010609060101010101" pitchFamily="49" charset="-122"/>
            </a:endParaRPr>
          </a:p>
        </p:txBody>
      </p:sp>
      <p:pic>
        <p:nvPicPr>
          <p:cNvPr id="51224" name="Picture 24" descr="rewind1">
            <a:hlinkClick r:id="rId1" action="ppaction://hlinksldjump"/>
          </p:cNvPr>
          <p:cNvPicPr>
            <a:picLocks noChangeAspect="1"/>
          </p:cNvPicPr>
          <p:nvPr/>
        </p:nvPicPr>
        <p:blipFill>
          <a:blip r:embed="rId2"/>
          <a:stretch>
            <a:fillRect/>
          </a:stretch>
        </p:blipFill>
        <p:spPr>
          <a:xfrm>
            <a:off x="8001000" y="6570663"/>
            <a:ext cx="287338" cy="287337"/>
          </a:xfrm>
          <a:prstGeom prst="rect">
            <a:avLst/>
          </a:prstGeom>
          <a:noFill/>
          <a:ln w="9525">
            <a:noFill/>
          </a:ln>
        </p:spPr>
      </p:pic>
      <p:pic>
        <p:nvPicPr>
          <p:cNvPr id="51225" name="Picture 25" descr="back1">
            <a:hlinkClick r:id="" action="ppaction://hlinkshowjump?jump=previousslide"/>
          </p:cNvPr>
          <p:cNvPicPr>
            <a:picLocks noChangeAspect="1"/>
          </p:cNvPicPr>
          <p:nvPr/>
        </p:nvPicPr>
        <p:blipFill>
          <a:blip r:embed="rId3"/>
          <a:stretch>
            <a:fillRect/>
          </a:stretch>
        </p:blipFill>
        <p:spPr>
          <a:xfrm>
            <a:off x="8358188" y="6570663"/>
            <a:ext cx="287337" cy="287337"/>
          </a:xfrm>
          <a:prstGeom prst="rect">
            <a:avLst/>
          </a:prstGeom>
          <a:noFill/>
          <a:ln w="9525">
            <a:noFill/>
          </a:ln>
        </p:spPr>
      </p:pic>
      <p:pic>
        <p:nvPicPr>
          <p:cNvPr id="51226" name="Picture 26" descr="NEXT1">
            <a:hlinkClick r:id="" action="ppaction://hlinkshowjump?jump=nextslide"/>
          </p:cNvPr>
          <p:cNvPicPr>
            <a:picLocks noChangeAspect="1"/>
          </p:cNvPicPr>
          <p:nvPr/>
        </p:nvPicPr>
        <p:blipFill>
          <a:blip r:embed="rId4"/>
          <a:stretch>
            <a:fillRect/>
          </a:stretch>
        </p:blipFill>
        <p:spPr>
          <a:xfrm>
            <a:off x="8715375" y="6570663"/>
            <a:ext cx="287338" cy="287337"/>
          </a:xfrm>
          <a:prstGeom prst="rect">
            <a:avLst/>
          </a:prstGeom>
          <a:noFill/>
          <a:ln w="9525">
            <a:noFill/>
          </a:ln>
        </p:spPr>
      </p:pic>
      <p:sp>
        <p:nvSpPr>
          <p:cNvPr id="51240" name="Text Box 40"/>
          <p:cNvSpPr txBox="1"/>
          <p:nvPr/>
        </p:nvSpPr>
        <p:spPr>
          <a:xfrm>
            <a:off x="6384925" y="6538913"/>
            <a:ext cx="271463" cy="427037"/>
          </a:xfrm>
          <a:prstGeom prst="rect">
            <a:avLst/>
          </a:prstGeom>
          <a:noFill/>
          <a:ln w="9525">
            <a:noFill/>
          </a:ln>
        </p:spPr>
        <p:txBody>
          <a:bodyPr wrap="none">
            <a:spAutoFit/>
          </a:bodyPr>
          <a:p>
            <a:r>
              <a:rPr lang="en-US" altLang="zh-CN" sz="2200" dirty="0">
                <a:solidFill>
                  <a:schemeClr val="tx1"/>
                </a:solidFill>
                <a:latin typeface="Tahoma" panose="020B0604030504040204" pitchFamily="34" charset="0"/>
              </a:rPr>
              <a:t> </a:t>
            </a:r>
            <a:endParaRPr lang="en-US" altLang="zh-CN" sz="2200" dirty="0">
              <a:solidFill>
                <a:schemeClr val="tx1"/>
              </a:solidFill>
              <a:latin typeface="Tahoma" panose="020B0604030504040204" pitchFamily="34" charset="0"/>
            </a:endParaRPr>
          </a:p>
        </p:txBody>
      </p:sp>
      <p:sp>
        <p:nvSpPr>
          <p:cNvPr id="9224" name="TextBox 13"/>
          <p:cNvSpPr txBox="1"/>
          <p:nvPr/>
        </p:nvSpPr>
        <p:spPr>
          <a:xfrm>
            <a:off x="571500" y="3857625"/>
            <a:ext cx="8001000" cy="1438275"/>
          </a:xfrm>
          <a:prstGeom prst="rect">
            <a:avLst/>
          </a:prstGeom>
          <a:noFill/>
          <a:ln w="9525">
            <a:noFill/>
          </a:ln>
        </p:spPr>
        <p:txBody>
          <a:bodyPr>
            <a:spAutoFit/>
          </a:bodyPr>
          <a:p>
            <a:pPr>
              <a:lnSpc>
                <a:spcPts val="3500"/>
              </a:lnSpc>
            </a:pPr>
            <a:r>
              <a:rPr lang="zh-CN" altLang="en-US" dirty="0">
                <a:latin typeface="Times New Roman" panose="02020603050405020304" pitchFamily="18" charset="0"/>
              </a:rPr>
              <a:t>        在基本符号</a:t>
            </a:r>
            <a:r>
              <a:rPr lang="zh-CN" altLang="en-US" dirty="0">
                <a:solidFill>
                  <a:srgbClr val="FF0000"/>
                </a:solidFill>
                <a:latin typeface="Times New Roman" panose="02020603050405020304" pitchFamily="18" charset="0"/>
              </a:rPr>
              <a:t>右侧</a:t>
            </a:r>
            <a:r>
              <a:rPr lang="zh-CN" altLang="en-US" dirty="0">
                <a:latin typeface="Times New Roman" panose="02020603050405020304" pitchFamily="18" charset="0"/>
              </a:rPr>
              <a:t>标注焊缝长度方向的尺寸，如焊缝长度</a:t>
            </a:r>
            <a:r>
              <a:rPr lang="en-US" altLang="zh-CN" dirty="0">
                <a:latin typeface="Times New Roman" panose="02020603050405020304" pitchFamily="18" charset="0"/>
              </a:rPr>
              <a:t> l</a:t>
            </a:r>
            <a:r>
              <a:rPr lang="zh-CN" altLang="en-US" dirty="0">
                <a:latin typeface="Times New Roman" panose="02020603050405020304" pitchFamily="18" charset="0"/>
              </a:rPr>
              <a:t>、焊缝段数 </a:t>
            </a:r>
            <a:r>
              <a:rPr lang="en-US" altLang="zh-CN" dirty="0">
                <a:latin typeface="Times New Roman" panose="02020603050405020304" pitchFamily="18" charset="0"/>
              </a:rPr>
              <a:t>n </a:t>
            </a:r>
            <a:r>
              <a:rPr lang="zh-CN" altLang="en-US" dirty="0">
                <a:latin typeface="Times New Roman" panose="02020603050405020304" pitchFamily="18" charset="0"/>
              </a:rPr>
              <a:t>以及焊缝间距 </a:t>
            </a:r>
            <a:r>
              <a:rPr lang="en-US" altLang="zh-CN" dirty="0">
                <a:latin typeface="Times New Roman" panose="02020603050405020304" pitchFamily="18" charset="0"/>
              </a:rPr>
              <a:t>e</a:t>
            </a:r>
            <a:r>
              <a:rPr lang="zh-CN" altLang="en-US" dirty="0">
                <a:latin typeface="Times New Roman" panose="02020603050405020304" pitchFamily="18" charset="0"/>
              </a:rPr>
              <a:t>；</a:t>
            </a:r>
            <a:r>
              <a:rPr lang="en-US" altLang="zh-CN" dirty="0">
                <a:latin typeface="Times New Roman" panose="02020603050405020304" pitchFamily="18" charset="0"/>
              </a:rPr>
              <a:t>     </a:t>
            </a:r>
            <a:endParaRPr lang="en-US" altLang="zh-CN" dirty="0">
              <a:latin typeface="Times New Roman" panose="02020603050405020304" pitchFamily="18" charset="0"/>
            </a:endParaRPr>
          </a:p>
          <a:p>
            <a:pPr>
              <a:lnSpc>
                <a:spcPts val="3500"/>
              </a:lnSpc>
            </a:pPr>
            <a:endParaRPr lang="zh-CN" altLang="en-US" dirty="0">
              <a:latin typeface="Times New Roman" panose="02020603050405020304" pitchFamily="18" charset="0"/>
            </a:endParaRPr>
          </a:p>
        </p:txBody>
      </p:sp>
      <p:pic>
        <p:nvPicPr>
          <p:cNvPr id="9225" name="图片 15" descr="3-13-5 [转换].tif"/>
          <p:cNvPicPr>
            <a:picLocks noChangeAspect="1"/>
          </p:cNvPicPr>
          <p:nvPr/>
        </p:nvPicPr>
        <p:blipFill>
          <a:blip r:embed="rId5"/>
          <a:stretch>
            <a:fillRect/>
          </a:stretch>
        </p:blipFill>
        <p:spPr>
          <a:xfrm>
            <a:off x="5214938" y="1928813"/>
            <a:ext cx="3519487" cy="1808162"/>
          </a:xfrm>
          <a:prstGeom prst="rect">
            <a:avLst/>
          </a:prstGeom>
          <a:noFill/>
          <a:ln w="9525">
            <a:noFill/>
          </a:ln>
        </p:spPr>
      </p:pic>
      <p:pic>
        <p:nvPicPr>
          <p:cNvPr id="9226" name="Picture 2" descr="D:\2.科研项目\《机械设计》\高教社杜惠萍\书页扫描\第3.12章和第3.13章\3-13-4 [转换].tif"/>
          <p:cNvPicPr>
            <a:picLocks noChangeAspect="1"/>
          </p:cNvPicPr>
          <p:nvPr/>
        </p:nvPicPr>
        <p:blipFill>
          <a:blip r:embed="rId6"/>
          <a:stretch>
            <a:fillRect/>
          </a:stretch>
        </p:blipFill>
        <p:spPr>
          <a:xfrm>
            <a:off x="714375" y="2357438"/>
            <a:ext cx="3857625" cy="1171575"/>
          </a:xfrm>
          <a:prstGeom prst="rect">
            <a:avLst/>
          </a:prstGeom>
          <a:noFill/>
          <a:ln w="9525">
            <a:noFill/>
          </a:ln>
        </p:spPr>
      </p:pic>
      <p:sp>
        <p:nvSpPr>
          <p:cNvPr id="9227" name="TextBox 19"/>
          <p:cNvSpPr txBox="1"/>
          <p:nvPr/>
        </p:nvSpPr>
        <p:spPr>
          <a:xfrm>
            <a:off x="571500" y="857250"/>
            <a:ext cx="7929563" cy="990600"/>
          </a:xfrm>
          <a:prstGeom prst="rect">
            <a:avLst/>
          </a:prstGeom>
          <a:noFill/>
          <a:ln w="9525">
            <a:noFill/>
          </a:ln>
        </p:spPr>
        <p:txBody>
          <a:bodyPr>
            <a:spAutoFit/>
          </a:bodyPr>
          <a:p>
            <a:pPr>
              <a:lnSpc>
                <a:spcPts val="3500"/>
              </a:lnSpc>
            </a:pPr>
            <a:r>
              <a:rPr lang="zh-CN" altLang="en-US" dirty="0">
                <a:latin typeface="Times New Roman" panose="02020603050405020304" pitchFamily="18" charset="0"/>
              </a:rPr>
              <a:t>        在基本符号的</a:t>
            </a:r>
            <a:r>
              <a:rPr lang="zh-CN" altLang="en-US" dirty="0">
                <a:solidFill>
                  <a:srgbClr val="FF0000"/>
                </a:solidFill>
                <a:latin typeface="Times New Roman" panose="02020603050405020304" pitchFamily="18" charset="0"/>
              </a:rPr>
              <a:t>左侧</a:t>
            </a:r>
            <a:r>
              <a:rPr lang="zh-CN" altLang="en-US" dirty="0">
                <a:latin typeface="Times New Roman" panose="02020603050405020304" pitchFamily="18" charset="0"/>
              </a:rPr>
              <a:t>标注焊缝横截面上的尺寸，如钝边尺寸</a:t>
            </a:r>
            <a:r>
              <a:rPr lang="en-US" altLang="zh-CN" dirty="0">
                <a:latin typeface="Times New Roman" panose="02020603050405020304" pitchFamily="18" charset="0"/>
              </a:rPr>
              <a:t>p</a:t>
            </a:r>
            <a:r>
              <a:rPr lang="zh-CN" altLang="en-US" dirty="0">
                <a:latin typeface="Times New Roman" panose="02020603050405020304" pitchFamily="18" charset="0"/>
              </a:rPr>
              <a:t>、坡口深度</a:t>
            </a:r>
            <a:r>
              <a:rPr lang="en-US" altLang="zh-CN" dirty="0">
                <a:latin typeface="Times New Roman" panose="02020603050405020304" pitchFamily="18" charset="0"/>
              </a:rPr>
              <a:t>H</a:t>
            </a:r>
            <a:r>
              <a:rPr lang="zh-CN" altLang="en-US" dirty="0">
                <a:latin typeface="Times New Roman" panose="02020603050405020304" pitchFamily="18" charset="0"/>
              </a:rPr>
              <a:t>、焊脚尺寸</a:t>
            </a:r>
            <a:r>
              <a:rPr lang="en-US" altLang="zh-CN" dirty="0">
                <a:latin typeface="Times New Roman" panose="02020603050405020304" pitchFamily="18" charset="0"/>
              </a:rPr>
              <a:t>K</a:t>
            </a:r>
            <a:r>
              <a:rPr lang="zh-CN" altLang="en-US" dirty="0">
                <a:latin typeface="Times New Roman" panose="02020603050405020304" pitchFamily="18" charset="0"/>
              </a:rPr>
              <a:t>（下图）等 </a:t>
            </a:r>
            <a:r>
              <a:rPr lang="en-US" altLang="zh-CN" dirty="0">
                <a:latin typeface="Times New Roman" panose="02020603050405020304" pitchFamily="18" charset="0"/>
              </a:rPr>
              <a:t>(</a:t>
            </a:r>
            <a:r>
              <a:rPr lang="zh-CN" altLang="en-US" dirty="0">
                <a:latin typeface="Times New Roman" panose="02020603050405020304" pitchFamily="18" charset="0"/>
              </a:rPr>
              <a:t>其它尺寸符号请自查手册</a:t>
            </a:r>
            <a:r>
              <a:rPr lang="en-US" altLang="zh-CN" dirty="0">
                <a:latin typeface="Times New Roman" panose="02020603050405020304" pitchFamily="18" charset="0"/>
              </a:rPr>
              <a:t>)</a:t>
            </a:r>
            <a:r>
              <a:rPr lang="zh-CN" altLang="en-US" dirty="0">
                <a:latin typeface="Times New Roman" panose="02020603050405020304" pitchFamily="18" charset="0"/>
              </a:rPr>
              <a:t>。</a:t>
            </a:r>
            <a:endParaRPr lang="zh-CN" altLang="en-US" dirty="0">
              <a:latin typeface="Times New Roman" panose="02020603050405020304" pitchFamily="18" charset="0"/>
            </a:endParaRPr>
          </a:p>
        </p:txBody>
      </p:sp>
      <p:pic>
        <p:nvPicPr>
          <p:cNvPr id="9228" name="图片 14" descr="捕获10.JPG"/>
          <p:cNvPicPr>
            <a:picLocks noChangeAspect="1"/>
          </p:cNvPicPr>
          <p:nvPr/>
        </p:nvPicPr>
        <p:blipFill>
          <a:blip r:embed="rId7"/>
          <a:stretch>
            <a:fillRect/>
          </a:stretch>
        </p:blipFill>
        <p:spPr>
          <a:xfrm>
            <a:off x="1428750" y="5000625"/>
            <a:ext cx="1684338" cy="1071563"/>
          </a:xfrm>
          <a:prstGeom prst="rect">
            <a:avLst/>
          </a:prstGeom>
          <a:noFill/>
          <a:ln w="9525">
            <a:noFill/>
          </a:ln>
        </p:spPr>
      </p:pic>
      <p:pic>
        <p:nvPicPr>
          <p:cNvPr id="9229" name="图片 15" descr="捕获11.JPG"/>
          <p:cNvPicPr>
            <a:picLocks noChangeAspect="1"/>
          </p:cNvPicPr>
          <p:nvPr/>
        </p:nvPicPr>
        <p:blipFill>
          <a:blip r:embed="rId8"/>
          <a:stretch>
            <a:fillRect/>
          </a:stretch>
        </p:blipFill>
        <p:spPr>
          <a:xfrm>
            <a:off x="3786188" y="5000625"/>
            <a:ext cx="1730375" cy="1071563"/>
          </a:xfrm>
          <a:prstGeom prst="rect">
            <a:avLst/>
          </a:prstGeom>
          <a:noFill/>
          <a:ln w="9525">
            <a:noFill/>
          </a:ln>
        </p:spPr>
      </p:pic>
      <p:pic>
        <p:nvPicPr>
          <p:cNvPr id="9230" name="图片 16" descr="捕获12.JPG"/>
          <p:cNvPicPr>
            <a:picLocks noChangeAspect="1"/>
          </p:cNvPicPr>
          <p:nvPr/>
        </p:nvPicPr>
        <p:blipFill>
          <a:blip r:embed="rId9"/>
          <a:stretch>
            <a:fillRect/>
          </a:stretch>
        </p:blipFill>
        <p:spPr>
          <a:xfrm>
            <a:off x="6072188" y="4929188"/>
            <a:ext cx="1765300" cy="1033462"/>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499"/>
                                          </p:stCondLst>
                                        </p:cTn>
                                        <p:tgtEl>
                                          <p:spTgt spid="51226"/>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nodeType="afterEffect">
                                  <p:stCondLst>
                                    <p:cond delay="0"/>
                                  </p:stCondLst>
                                  <p:childTnLst>
                                    <p:set>
                                      <p:cBhvr>
                                        <p:cTn id="9" dur="1" fill="hold">
                                          <p:stCondLst>
                                            <p:cond delay="499"/>
                                          </p:stCondLst>
                                        </p:cTn>
                                        <p:tgtEl>
                                          <p:spTgt spid="51225"/>
                                        </p:tgtEl>
                                        <p:attrNameLst>
                                          <p:attrName>style.visibility</p:attrName>
                                        </p:attrNameLst>
                                      </p:cBhvr>
                                      <p:to>
                                        <p:strVal val="visible"/>
                                      </p:to>
                                    </p:set>
                                  </p:childTnLst>
                                </p:cTn>
                              </p:par>
                            </p:childTnLst>
                          </p:cTn>
                        </p:par>
                        <p:par>
                          <p:cTn id="10" fill="hold">
                            <p:stCondLst>
                              <p:cond delay="1000"/>
                            </p:stCondLst>
                            <p:childTnLst>
                              <p:par>
                                <p:cTn id="11" presetID="2" presetClass="entr" presetSubtype="8" fill="hold" nodeType="afterEffect">
                                  <p:stCondLst>
                                    <p:cond delay="0"/>
                                  </p:stCondLst>
                                  <p:childTnLst>
                                    <p:set>
                                      <p:cBhvr>
                                        <p:cTn id="12" dur="1" fill="hold">
                                          <p:stCondLst>
                                            <p:cond delay="0"/>
                                          </p:stCondLst>
                                        </p:cTn>
                                        <p:tgtEl>
                                          <p:spTgt spid="51224"/>
                                        </p:tgtEl>
                                        <p:attrNameLst>
                                          <p:attrName>style.visibility</p:attrName>
                                        </p:attrNameLst>
                                      </p:cBhvr>
                                      <p:to>
                                        <p:strVal val="visible"/>
                                      </p:to>
                                    </p:set>
                                    <p:anim calcmode="lin" valueType="num">
                                      <p:cBhvr additive="base">
                                        <p:cTn id="13" dur="500" fill="hold"/>
                                        <p:tgtEl>
                                          <p:spTgt spid="51224"/>
                                        </p:tgtEl>
                                        <p:attrNameLst>
                                          <p:attrName>ppt_x</p:attrName>
                                        </p:attrNameLst>
                                      </p:cBhvr>
                                      <p:tavLst>
                                        <p:tav tm="0">
                                          <p:val>
                                            <p:strVal val="0-#ppt_w/2"/>
                                          </p:val>
                                        </p:tav>
                                        <p:tav tm="100000">
                                          <p:val>
                                            <p:strVal val="#ppt_x"/>
                                          </p:val>
                                        </p:tav>
                                      </p:tavLst>
                                    </p:anim>
                                    <p:anim calcmode="lin" valueType="num">
                                      <p:cBhvr additive="base">
                                        <p:cTn id="14" dur="500" fill="hold"/>
                                        <p:tgtEl>
                                          <p:spTgt spid="51224"/>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51240"/>
                                        </p:tgtEl>
                                        <p:attrNameLst>
                                          <p:attrName>style.visibility</p:attrName>
                                        </p:attrNameLst>
                                      </p:cBhvr>
                                      <p:to>
                                        <p:strVal val="visible"/>
                                      </p:to>
                                    </p:set>
                                    <p:anim calcmode="lin" valueType="num">
                                      <p:cBhvr additive="base">
                                        <p:cTn id="19" dur="500" fill="hold"/>
                                        <p:tgtEl>
                                          <p:spTgt spid="51240"/>
                                        </p:tgtEl>
                                        <p:attrNameLst>
                                          <p:attrName>ppt_x</p:attrName>
                                        </p:attrNameLst>
                                      </p:cBhvr>
                                      <p:tavLst>
                                        <p:tav tm="0">
                                          <p:val>
                                            <p:strVal val="0-#ppt_w/2"/>
                                          </p:val>
                                        </p:tav>
                                        <p:tav tm="100000">
                                          <p:val>
                                            <p:strVal val="#ppt_x"/>
                                          </p:val>
                                        </p:tav>
                                      </p:tavLst>
                                    </p:anim>
                                    <p:anim calcmode="lin" valueType="num">
                                      <p:cBhvr additive="base">
                                        <p:cTn id="20" dur="500" fill="hold"/>
                                        <p:tgtEl>
                                          <p:spTgt spid="5124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4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Rectangle 4"/>
          <p:cNvSpPr>
            <a:spLocks noGrp="1"/>
          </p:cNvSpPr>
          <p:nvPr>
            <p:ph type="title"/>
          </p:nvPr>
        </p:nvSpPr>
        <p:spPr>
          <a:xfrm>
            <a:off x="5932488" y="838200"/>
            <a:ext cx="2133600" cy="152400"/>
          </a:xfrm>
          <a:noFill/>
          <a:ln>
            <a:noFill/>
          </a:ln>
        </p:spPr>
        <p:txBody>
          <a:bodyPr/>
          <a:p>
            <a:pPr eaLnBrk="1" hangingPunct="1"/>
            <a:r>
              <a:rPr lang="zh-CN" altLang="en-US" sz="2800" dirty="0">
                <a:solidFill>
                  <a:schemeClr val="bg1"/>
                </a:solidFill>
                <a:ea typeface="华文中宋" panose="02010600040101010101" pitchFamily="2" charset="-122"/>
              </a:rPr>
              <a:t>焊接</a:t>
            </a:r>
            <a:r>
              <a:rPr lang="en-US" altLang="zh-CN" sz="2800" dirty="0">
                <a:solidFill>
                  <a:schemeClr val="bg1"/>
                </a:solidFill>
                <a:ea typeface="华文中宋" panose="02010600040101010101" pitchFamily="2" charset="-122"/>
              </a:rPr>
              <a:t>2</a:t>
            </a:r>
            <a:endParaRPr lang="en-US" altLang="zh-CN" sz="2800" dirty="0">
              <a:solidFill>
                <a:schemeClr val="bg1"/>
              </a:solidFill>
              <a:ea typeface="华文中宋" panose="02010600040101010101" pitchFamily="2" charset="-122"/>
            </a:endParaRPr>
          </a:p>
        </p:txBody>
      </p:sp>
      <p:sp>
        <p:nvSpPr>
          <p:cNvPr id="10243" name="Rectangle 5"/>
          <p:cNvSpPr>
            <a:spLocks noGrp="1"/>
          </p:cNvSpPr>
          <p:nvPr/>
        </p:nvSpPr>
        <p:spPr>
          <a:xfrm>
            <a:off x="1000125" y="0"/>
            <a:ext cx="1219200" cy="533400"/>
          </a:xfrm>
          <a:prstGeom prst="rect">
            <a:avLst/>
          </a:prstGeom>
          <a:noFill/>
          <a:ln w="9525">
            <a:noFill/>
          </a:ln>
        </p:spPr>
        <p:txBody>
          <a:bodyPr/>
          <a:p>
            <a:pPr eaLnBrk="0" hangingPunct="0"/>
            <a:r>
              <a:rPr lang="zh-CN" altLang="en-US" sz="3000" dirty="0">
                <a:solidFill>
                  <a:schemeClr val="bg1"/>
                </a:solidFill>
                <a:latin typeface="黑体" panose="02010609060101010101" pitchFamily="49" charset="-122"/>
                <a:ea typeface="黑体" panose="02010609060101010101" pitchFamily="49" charset="-122"/>
              </a:rPr>
              <a:t>焊 接</a:t>
            </a:r>
            <a:endParaRPr lang="zh-CN" altLang="en-US" sz="3000" dirty="0">
              <a:solidFill>
                <a:schemeClr val="bg1"/>
              </a:solidFill>
              <a:latin typeface="黑体" panose="02010609060101010101" pitchFamily="49" charset="-122"/>
              <a:ea typeface="黑体" panose="02010609060101010101" pitchFamily="49" charset="-122"/>
            </a:endParaRPr>
          </a:p>
        </p:txBody>
      </p:sp>
      <p:pic>
        <p:nvPicPr>
          <p:cNvPr id="51224" name="Picture 24" descr="rewind1">
            <a:hlinkClick r:id="rId1" action="ppaction://hlinksldjump"/>
          </p:cNvPr>
          <p:cNvPicPr>
            <a:picLocks noChangeAspect="1"/>
          </p:cNvPicPr>
          <p:nvPr/>
        </p:nvPicPr>
        <p:blipFill>
          <a:blip r:embed="rId2"/>
          <a:stretch>
            <a:fillRect/>
          </a:stretch>
        </p:blipFill>
        <p:spPr>
          <a:xfrm>
            <a:off x="8001000" y="6570663"/>
            <a:ext cx="287338" cy="287337"/>
          </a:xfrm>
          <a:prstGeom prst="rect">
            <a:avLst/>
          </a:prstGeom>
          <a:noFill/>
          <a:ln w="9525">
            <a:noFill/>
          </a:ln>
        </p:spPr>
      </p:pic>
      <p:pic>
        <p:nvPicPr>
          <p:cNvPr id="51225" name="Picture 25" descr="back1">
            <a:hlinkClick r:id="" action="ppaction://hlinkshowjump?jump=previousslide"/>
          </p:cNvPr>
          <p:cNvPicPr>
            <a:picLocks noChangeAspect="1"/>
          </p:cNvPicPr>
          <p:nvPr/>
        </p:nvPicPr>
        <p:blipFill>
          <a:blip r:embed="rId3"/>
          <a:stretch>
            <a:fillRect/>
          </a:stretch>
        </p:blipFill>
        <p:spPr>
          <a:xfrm>
            <a:off x="8358188" y="6570663"/>
            <a:ext cx="287337" cy="287337"/>
          </a:xfrm>
          <a:prstGeom prst="rect">
            <a:avLst/>
          </a:prstGeom>
          <a:noFill/>
          <a:ln w="9525">
            <a:noFill/>
          </a:ln>
        </p:spPr>
      </p:pic>
      <p:pic>
        <p:nvPicPr>
          <p:cNvPr id="51226" name="Picture 26" descr="NEXT1">
            <a:hlinkClick r:id="" action="ppaction://hlinkshowjump?jump=nextslide"/>
          </p:cNvPr>
          <p:cNvPicPr>
            <a:picLocks noChangeAspect="1"/>
          </p:cNvPicPr>
          <p:nvPr/>
        </p:nvPicPr>
        <p:blipFill>
          <a:blip r:embed="rId4"/>
          <a:stretch>
            <a:fillRect/>
          </a:stretch>
        </p:blipFill>
        <p:spPr>
          <a:xfrm>
            <a:off x="8715375" y="6570663"/>
            <a:ext cx="287338" cy="287337"/>
          </a:xfrm>
          <a:prstGeom prst="rect">
            <a:avLst/>
          </a:prstGeom>
          <a:noFill/>
          <a:ln w="9525">
            <a:noFill/>
          </a:ln>
        </p:spPr>
      </p:pic>
      <p:sp>
        <p:nvSpPr>
          <p:cNvPr id="51240" name="Text Box 40"/>
          <p:cNvSpPr txBox="1"/>
          <p:nvPr/>
        </p:nvSpPr>
        <p:spPr>
          <a:xfrm>
            <a:off x="6384925" y="6538913"/>
            <a:ext cx="271463" cy="427037"/>
          </a:xfrm>
          <a:prstGeom prst="rect">
            <a:avLst/>
          </a:prstGeom>
          <a:noFill/>
          <a:ln w="9525">
            <a:noFill/>
          </a:ln>
        </p:spPr>
        <p:txBody>
          <a:bodyPr wrap="none">
            <a:spAutoFit/>
          </a:bodyPr>
          <a:p>
            <a:r>
              <a:rPr lang="en-US" altLang="zh-CN" sz="2200" dirty="0">
                <a:solidFill>
                  <a:schemeClr val="tx1"/>
                </a:solidFill>
                <a:latin typeface="Tahoma" panose="020B0604030504040204" pitchFamily="34" charset="0"/>
              </a:rPr>
              <a:t> </a:t>
            </a:r>
            <a:endParaRPr lang="en-US" altLang="zh-CN" sz="2200" dirty="0">
              <a:solidFill>
                <a:schemeClr val="tx1"/>
              </a:solidFill>
              <a:latin typeface="Tahoma" panose="020B0604030504040204" pitchFamily="34" charset="0"/>
            </a:endParaRPr>
          </a:p>
        </p:txBody>
      </p:sp>
      <p:sp>
        <p:nvSpPr>
          <p:cNvPr id="10248" name="TextBox 13"/>
          <p:cNvSpPr txBox="1"/>
          <p:nvPr/>
        </p:nvSpPr>
        <p:spPr>
          <a:xfrm>
            <a:off x="642938" y="785813"/>
            <a:ext cx="8001000" cy="938212"/>
          </a:xfrm>
          <a:prstGeom prst="rect">
            <a:avLst/>
          </a:prstGeom>
          <a:noFill/>
          <a:ln w="9525">
            <a:noFill/>
          </a:ln>
        </p:spPr>
        <p:txBody>
          <a:bodyPr>
            <a:spAutoFit/>
          </a:bodyPr>
          <a:p>
            <a:pPr>
              <a:lnSpc>
                <a:spcPts val="3500"/>
              </a:lnSpc>
            </a:pPr>
            <a:r>
              <a:rPr lang="en-US" altLang="zh-CN" dirty="0">
                <a:latin typeface="Times New Roman" panose="02020603050405020304" pitchFamily="18" charset="0"/>
              </a:rPr>
              <a:t>        </a:t>
            </a:r>
            <a:r>
              <a:rPr lang="zh-CN" altLang="en-US" dirty="0">
                <a:latin typeface="Times New Roman" panose="02020603050405020304" pitchFamily="18" charset="0"/>
              </a:rPr>
              <a:t>而在基本符号</a:t>
            </a:r>
            <a:r>
              <a:rPr lang="zh-CN" altLang="en-US" dirty="0">
                <a:solidFill>
                  <a:srgbClr val="FF0000"/>
                </a:solidFill>
                <a:latin typeface="Times New Roman" panose="02020603050405020304" pitchFamily="18" charset="0"/>
              </a:rPr>
              <a:t>上侧</a:t>
            </a:r>
            <a:r>
              <a:rPr lang="zh-CN" altLang="en-US" dirty="0">
                <a:latin typeface="Times New Roman" panose="02020603050405020304" pitchFamily="18" charset="0"/>
              </a:rPr>
              <a:t>或</a:t>
            </a:r>
            <a:r>
              <a:rPr lang="zh-CN" altLang="en-US" dirty="0">
                <a:solidFill>
                  <a:srgbClr val="FF0000"/>
                </a:solidFill>
                <a:latin typeface="Times New Roman" panose="02020603050405020304" pitchFamily="18" charset="0"/>
              </a:rPr>
              <a:t>下侧</a:t>
            </a:r>
            <a:r>
              <a:rPr lang="zh-CN" altLang="en-US" dirty="0">
                <a:latin typeface="Times New Roman" panose="02020603050405020304" pitchFamily="18" charset="0"/>
              </a:rPr>
              <a:t>标注坡口角度、坡口面角度、根部间隙</a:t>
            </a:r>
            <a:r>
              <a:rPr lang="en-US" altLang="zh-CN" dirty="0">
                <a:latin typeface="Times New Roman" panose="02020603050405020304" pitchFamily="18" charset="0"/>
              </a:rPr>
              <a:t>b</a:t>
            </a:r>
            <a:r>
              <a:rPr lang="zh-CN" altLang="en-US" dirty="0">
                <a:latin typeface="Times New Roman" panose="02020603050405020304" pitchFamily="18" charset="0"/>
              </a:rPr>
              <a:t>等尺寸。</a:t>
            </a:r>
            <a:endParaRPr lang="zh-CN" altLang="en-US" dirty="0">
              <a:latin typeface="Times New Roman" panose="02020603050405020304" pitchFamily="18" charset="0"/>
            </a:endParaRPr>
          </a:p>
        </p:txBody>
      </p:sp>
      <p:pic>
        <p:nvPicPr>
          <p:cNvPr id="10249" name="图片 15" descr="3-13-5 [转换].tif"/>
          <p:cNvPicPr>
            <a:picLocks noChangeAspect="1"/>
          </p:cNvPicPr>
          <p:nvPr/>
        </p:nvPicPr>
        <p:blipFill>
          <a:blip r:embed="rId5"/>
          <a:stretch>
            <a:fillRect/>
          </a:stretch>
        </p:blipFill>
        <p:spPr>
          <a:xfrm>
            <a:off x="5000625" y="1357313"/>
            <a:ext cx="3519488" cy="1808162"/>
          </a:xfrm>
          <a:prstGeom prst="rect">
            <a:avLst/>
          </a:prstGeom>
          <a:noFill/>
          <a:ln w="9525">
            <a:noFill/>
          </a:ln>
        </p:spPr>
      </p:pic>
      <p:sp>
        <p:nvSpPr>
          <p:cNvPr id="10250" name="TextBox 24"/>
          <p:cNvSpPr txBox="1"/>
          <p:nvPr/>
        </p:nvSpPr>
        <p:spPr>
          <a:xfrm>
            <a:off x="714375" y="3357563"/>
            <a:ext cx="5900738" cy="400050"/>
          </a:xfrm>
          <a:prstGeom prst="rect">
            <a:avLst/>
          </a:prstGeom>
          <a:noFill/>
          <a:ln w="9525">
            <a:noFill/>
          </a:ln>
        </p:spPr>
        <p:txBody>
          <a:bodyPr wrap="none">
            <a:spAutoFit/>
          </a:bodyPr>
          <a:p>
            <a:r>
              <a:rPr lang="zh-CN" altLang="en-US" dirty="0">
                <a:latin typeface="Times New Roman" panose="02020603050405020304" pitchFamily="18" charset="0"/>
              </a:rPr>
              <a:t>        相同焊缝数量</a:t>
            </a:r>
            <a:r>
              <a:rPr lang="en-US" altLang="zh-CN" dirty="0">
                <a:latin typeface="Times New Roman" panose="02020603050405020304" pitchFamily="18" charset="0"/>
              </a:rPr>
              <a:t>N</a:t>
            </a:r>
            <a:r>
              <a:rPr lang="zh-CN" altLang="en-US" dirty="0">
                <a:latin typeface="Times New Roman" panose="02020603050405020304" pitchFamily="18" charset="0"/>
              </a:rPr>
              <a:t>的值标在尾部符号（</a:t>
            </a:r>
            <a:r>
              <a:rPr lang="en-US" altLang="zh-CN" dirty="0">
                <a:latin typeface="Times New Roman" panose="02020603050405020304" pitchFamily="18" charset="0"/>
              </a:rPr>
              <a:t>&lt;</a:t>
            </a:r>
            <a:r>
              <a:rPr lang="zh-CN" altLang="en-US" dirty="0">
                <a:latin typeface="Times New Roman" panose="02020603050405020304" pitchFamily="18" charset="0"/>
              </a:rPr>
              <a:t>）之后。</a:t>
            </a:r>
            <a:endParaRPr lang="zh-CN" altLang="en-US" dirty="0">
              <a:latin typeface="Times New Roman" panose="02020603050405020304" pitchFamily="18" charset="0"/>
            </a:endParaRPr>
          </a:p>
        </p:txBody>
      </p:sp>
      <p:sp>
        <p:nvSpPr>
          <p:cNvPr id="10251" name="Rectangle 8"/>
          <p:cNvSpPr/>
          <p:nvPr/>
        </p:nvSpPr>
        <p:spPr>
          <a:xfrm>
            <a:off x="0" y="0"/>
            <a:ext cx="9144000" cy="0"/>
          </a:xfrm>
          <a:prstGeom prst="rect">
            <a:avLst/>
          </a:prstGeom>
          <a:noFill/>
          <a:ln w="9525">
            <a:noFill/>
          </a:ln>
        </p:spPr>
        <p:txBody>
          <a:bodyPr wrap="none" anchor="ctr" anchorCtr="0">
            <a:spAutoFit/>
          </a:bodyPr>
          <a:p>
            <a:endParaRPr lang="zh-CN" altLang="en-US" dirty="0">
              <a:latin typeface="Times New Roman" panose="02020603050405020304" pitchFamily="18" charset="0"/>
            </a:endParaRPr>
          </a:p>
        </p:txBody>
      </p:sp>
      <p:pic>
        <p:nvPicPr>
          <p:cNvPr id="10252" name="Picture 7"/>
          <p:cNvPicPr>
            <a:picLocks noChangeAspect="1"/>
          </p:cNvPicPr>
          <p:nvPr/>
        </p:nvPicPr>
        <p:blipFill>
          <a:blip r:embed="rId6">
            <a:clrChange>
              <a:clrFrom>
                <a:srgbClr val="FFFFFF"/>
              </a:clrFrom>
              <a:clrTo>
                <a:srgbClr val="FFFFFF">
                  <a:alpha val="0"/>
                </a:srgbClr>
              </a:clrTo>
            </a:clrChange>
          </a:blip>
          <a:stretch>
            <a:fillRect/>
          </a:stretch>
        </p:blipFill>
        <p:spPr>
          <a:xfrm>
            <a:off x="0" y="0"/>
            <a:ext cx="114300" cy="174625"/>
          </a:xfrm>
          <a:prstGeom prst="rect">
            <a:avLst/>
          </a:prstGeom>
          <a:noFill/>
          <a:ln w="9525">
            <a:noFill/>
          </a:ln>
        </p:spPr>
      </p:pic>
      <p:sp>
        <p:nvSpPr>
          <p:cNvPr id="10253" name="Rectangle 10"/>
          <p:cNvSpPr/>
          <p:nvPr/>
        </p:nvSpPr>
        <p:spPr>
          <a:xfrm>
            <a:off x="0" y="0"/>
            <a:ext cx="9144000" cy="0"/>
          </a:xfrm>
          <a:prstGeom prst="rect">
            <a:avLst/>
          </a:prstGeom>
          <a:noFill/>
          <a:ln w="9525">
            <a:noFill/>
          </a:ln>
        </p:spPr>
        <p:txBody>
          <a:bodyPr wrap="none" anchor="ctr" anchorCtr="0">
            <a:spAutoFit/>
          </a:bodyPr>
          <a:p>
            <a:endParaRPr lang="zh-CN" altLang="en-US" dirty="0">
              <a:latin typeface="Times New Roman" panose="02020603050405020304" pitchFamily="18" charset="0"/>
            </a:endParaRPr>
          </a:p>
        </p:txBody>
      </p:sp>
      <p:pic>
        <p:nvPicPr>
          <p:cNvPr id="10254" name="Picture 9"/>
          <p:cNvPicPr>
            <a:picLocks noChangeAspect="1"/>
          </p:cNvPicPr>
          <p:nvPr/>
        </p:nvPicPr>
        <p:blipFill>
          <a:blip r:embed="rId6">
            <a:clrChange>
              <a:clrFrom>
                <a:srgbClr val="FFFFFF"/>
              </a:clrFrom>
              <a:clrTo>
                <a:srgbClr val="FFFFFF">
                  <a:alpha val="0"/>
                </a:srgbClr>
              </a:clrTo>
            </a:clrChange>
          </a:blip>
          <a:stretch>
            <a:fillRect/>
          </a:stretch>
        </p:blipFill>
        <p:spPr>
          <a:xfrm>
            <a:off x="0" y="0"/>
            <a:ext cx="114300" cy="174625"/>
          </a:xfrm>
          <a:prstGeom prst="rect">
            <a:avLst/>
          </a:prstGeom>
          <a:noFill/>
          <a:ln w="9525">
            <a:noFill/>
          </a:ln>
        </p:spPr>
      </p:pic>
      <p:sp>
        <p:nvSpPr>
          <p:cNvPr id="10255" name="TextBox 29"/>
          <p:cNvSpPr txBox="1"/>
          <p:nvPr/>
        </p:nvSpPr>
        <p:spPr>
          <a:xfrm>
            <a:off x="714375" y="3857625"/>
            <a:ext cx="7858125" cy="2644775"/>
          </a:xfrm>
          <a:prstGeom prst="rect">
            <a:avLst/>
          </a:prstGeom>
          <a:noFill/>
          <a:ln w="9525">
            <a:noFill/>
          </a:ln>
        </p:spPr>
        <p:txBody>
          <a:bodyPr>
            <a:spAutoFit/>
          </a:bodyPr>
          <a:p>
            <a:pPr>
              <a:lnSpc>
                <a:spcPts val="3500"/>
              </a:lnSpc>
            </a:pPr>
            <a:r>
              <a:rPr lang="zh-CN" altLang="en-US" dirty="0">
                <a:latin typeface="Times New Roman" panose="02020603050405020304" pitchFamily="18" charset="0"/>
              </a:rPr>
              <a:t>        关于其它尺寸的规定：</a:t>
            </a:r>
            <a:r>
              <a:rPr lang="en-US" altLang="zh-CN" dirty="0">
                <a:solidFill>
                  <a:srgbClr val="FF0000"/>
                </a:solidFill>
                <a:latin typeface="Times New Roman" panose="02020603050405020304" pitchFamily="18" charset="0"/>
              </a:rPr>
              <a:t>1)</a:t>
            </a:r>
            <a:r>
              <a:rPr lang="en-US" altLang="zh-CN" dirty="0">
                <a:latin typeface="Times New Roman" panose="02020603050405020304" pitchFamily="18" charset="0"/>
              </a:rPr>
              <a:t> </a:t>
            </a:r>
            <a:r>
              <a:rPr lang="zh-CN" altLang="en-US" dirty="0">
                <a:latin typeface="Times New Roman" panose="02020603050405020304" pitchFamily="18" charset="0"/>
              </a:rPr>
              <a:t>确定焊缝位置的尺寸不在焊缝符号中标注，应将其标注在图样上。</a:t>
            </a:r>
            <a:r>
              <a:rPr lang="en-US" altLang="zh-CN" dirty="0">
                <a:solidFill>
                  <a:srgbClr val="FF0000"/>
                </a:solidFill>
                <a:latin typeface="Times New Roman" panose="02020603050405020304" pitchFamily="18" charset="0"/>
              </a:rPr>
              <a:t>2)</a:t>
            </a:r>
            <a:r>
              <a:rPr lang="zh-CN" altLang="en-US" dirty="0">
                <a:latin typeface="Times New Roman" panose="02020603050405020304" pitchFamily="18" charset="0"/>
              </a:rPr>
              <a:t>在基本符号的右侧无任何尺寸标注又无其它说明时，意味着焊缝在工件的整个长度方向上是连续的。</a:t>
            </a:r>
            <a:r>
              <a:rPr lang="en-US" altLang="zh-CN" dirty="0">
                <a:solidFill>
                  <a:srgbClr val="FF0000"/>
                </a:solidFill>
                <a:latin typeface="Times New Roman" panose="02020603050405020304" pitchFamily="18" charset="0"/>
              </a:rPr>
              <a:t>3)</a:t>
            </a:r>
            <a:r>
              <a:rPr lang="zh-CN" altLang="en-US" dirty="0">
                <a:latin typeface="Times New Roman" panose="02020603050405020304" pitchFamily="18" charset="0"/>
              </a:rPr>
              <a:t>在基本符号左侧无任何尺寸标注又无其它说明时，意味着对接焊缝应完全焊透。</a:t>
            </a:r>
            <a:r>
              <a:rPr lang="en-US" altLang="zh-CN" dirty="0">
                <a:solidFill>
                  <a:srgbClr val="FF0000"/>
                </a:solidFill>
                <a:latin typeface="Times New Roman" panose="02020603050405020304" pitchFamily="18" charset="0"/>
              </a:rPr>
              <a:t>4)</a:t>
            </a:r>
            <a:r>
              <a:rPr lang="en-US" altLang="zh-CN" dirty="0">
                <a:latin typeface="Times New Roman" panose="02020603050405020304" pitchFamily="18" charset="0"/>
              </a:rPr>
              <a:t> </a:t>
            </a:r>
            <a:r>
              <a:rPr lang="zh-CN" altLang="en-US" dirty="0">
                <a:latin typeface="Times New Roman" panose="02020603050405020304" pitchFamily="18" charset="0"/>
              </a:rPr>
              <a:t>塞焊缝、槽焊缝带有斜边时，应标注其底部的尺寸。</a:t>
            </a:r>
            <a:endParaRPr lang="zh-CN" altLang="en-US" dirty="0">
              <a:latin typeface="Times New Roman" panose="02020603050405020304" pitchFamily="18" charset="0"/>
            </a:endParaRPr>
          </a:p>
          <a:p>
            <a:endParaRPr lang="zh-CN" altLang="en-US" dirty="0">
              <a:latin typeface="Times New Roman" panose="02020603050405020304" pitchFamily="18" charset="0"/>
            </a:endParaRPr>
          </a:p>
        </p:txBody>
      </p:sp>
      <p:pic>
        <p:nvPicPr>
          <p:cNvPr id="10256" name="图片 30" descr="捕获13.JPG"/>
          <p:cNvPicPr>
            <a:picLocks noChangeAspect="1"/>
          </p:cNvPicPr>
          <p:nvPr/>
        </p:nvPicPr>
        <p:blipFill>
          <a:blip r:embed="rId7"/>
          <a:stretch>
            <a:fillRect/>
          </a:stretch>
        </p:blipFill>
        <p:spPr>
          <a:xfrm>
            <a:off x="571500" y="2000250"/>
            <a:ext cx="1285875" cy="884238"/>
          </a:xfrm>
          <a:prstGeom prst="rect">
            <a:avLst/>
          </a:prstGeom>
          <a:noFill/>
          <a:ln w="9525">
            <a:noFill/>
          </a:ln>
        </p:spPr>
      </p:pic>
      <p:pic>
        <p:nvPicPr>
          <p:cNvPr id="10257" name="图片 31" descr="捕获14.JPG"/>
          <p:cNvPicPr>
            <a:picLocks noChangeAspect="1"/>
          </p:cNvPicPr>
          <p:nvPr/>
        </p:nvPicPr>
        <p:blipFill>
          <a:blip r:embed="rId8"/>
          <a:stretch>
            <a:fillRect/>
          </a:stretch>
        </p:blipFill>
        <p:spPr>
          <a:xfrm>
            <a:off x="1928813" y="1928813"/>
            <a:ext cx="1285875" cy="936625"/>
          </a:xfrm>
          <a:prstGeom prst="rect">
            <a:avLst/>
          </a:prstGeom>
          <a:noFill/>
          <a:ln w="9525">
            <a:noFill/>
          </a:ln>
        </p:spPr>
      </p:pic>
      <p:pic>
        <p:nvPicPr>
          <p:cNvPr id="10258" name="图片 32" descr="捕获15.JPG"/>
          <p:cNvPicPr>
            <a:picLocks noChangeAspect="1"/>
          </p:cNvPicPr>
          <p:nvPr/>
        </p:nvPicPr>
        <p:blipFill>
          <a:blip r:embed="rId9"/>
          <a:stretch>
            <a:fillRect/>
          </a:stretch>
        </p:blipFill>
        <p:spPr>
          <a:xfrm>
            <a:off x="3286125" y="1928813"/>
            <a:ext cx="1398588" cy="950912"/>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499"/>
                                          </p:stCondLst>
                                        </p:cTn>
                                        <p:tgtEl>
                                          <p:spTgt spid="51226"/>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nodeType="afterEffect">
                                  <p:stCondLst>
                                    <p:cond delay="0"/>
                                  </p:stCondLst>
                                  <p:childTnLst>
                                    <p:set>
                                      <p:cBhvr>
                                        <p:cTn id="9" dur="1" fill="hold">
                                          <p:stCondLst>
                                            <p:cond delay="499"/>
                                          </p:stCondLst>
                                        </p:cTn>
                                        <p:tgtEl>
                                          <p:spTgt spid="51225"/>
                                        </p:tgtEl>
                                        <p:attrNameLst>
                                          <p:attrName>style.visibility</p:attrName>
                                        </p:attrNameLst>
                                      </p:cBhvr>
                                      <p:to>
                                        <p:strVal val="visible"/>
                                      </p:to>
                                    </p:set>
                                  </p:childTnLst>
                                </p:cTn>
                              </p:par>
                            </p:childTnLst>
                          </p:cTn>
                        </p:par>
                        <p:par>
                          <p:cTn id="10" fill="hold">
                            <p:stCondLst>
                              <p:cond delay="1000"/>
                            </p:stCondLst>
                            <p:childTnLst>
                              <p:par>
                                <p:cTn id="11" presetID="2" presetClass="entr" presetSubtype="8" fill="hold" nodeType="afterEffect">
                                  <p:stCondLst>
                                    <p:cond delay="0"/>
                                  </p:stCondLst>
                                  <p:childTnLst>
                                    <p:set>
                                      <p:cBhvr>
                                        <p:cTn id="12" dur="1" fill="hold">
                                          <p:stCondLst>
                                            <p:cond delay="0"/>
                                          </p:stCondLst>
                                        </p:cTn>
                                        <p:tgtEl>
                                          <p:spTgt spid="51224"/>
                                        </p:tgtEl>
                                        <p:attrNameLst>
                                          <p:attrName>style.visibility</p:attrName>
                                        </p:attrNameLst>
                                      </p:cBhvr>
                                      <p:to>
                                        <p:strVal val="visible"/>
                                      </p:to>
                                    </p:set>
                                    <p:anim calcmode="lin" valueType="num">
                                      <p:cBhvr additive="base">
                                        <p:cTn id="13" dur="500" fill="hold"/>
                                        <p:tgtEl>
                                          <p:spTgt spid="51224"/>
                                        </p:tgtEl>
                                        <p:attrNameLst>
                                          <p:attrName>ppt_x</p:attrName>
                                        </p:attrNameLst>
                                      </p:cBhvr>
                                      <p:tavLst>
                                        <p:tav tm="0">
                                          <p:val>
                                            <p:strVal val="0-#ppt_w/2"/>
                                          </p:val>
                                        </p:tav>
                                        <p:tav tm="100000">
                                          <p:val>
                                            <p:strVal val="#ppt_x"/>
                                          </p:val>
                                        </p:tav>
                                      </p:tavLst>
                                    </p:anim>
                                    <p:anim calcmode="lin" valueType="num">
                                      <p:cBhvr additive="base">
                                        <p:cTn id="14" dur="500" fill="hold"/>
                                        <p:tgtEl>
                                          <p:spTgt spid="51224"/>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51240"/>
                                        </p:tgtEl>
                                        <p:attrNameLst>
                                          <p:attrName>style.visibility</p:attrName>
                                        </p:attrNameLst>
                                      </p:cBhvr>
                                      <p:to>
                                        <p:strVal val="visible"/>
                                      </p:to>
                                    </p:set>
                                    <p:anim calcmode="lin" valueType="num">
                                      <p:cBhvr additive="base">
                                        <p:cTn id="19" dur="500" fill="hold"/>
                                        <p:tgtEl>
                                          <p:spTgt spid="51240"/>
                                        </p:tgtEl>
                                        <p:attrNameLst>
                                          <p:attrName>ppt_x</p:attrName>
                                        </p:attrNameLst>
                                      </p:cBhvr>
                                      <p:tavLst>
                                        <p:tav tm="0">
                                          <p:val>
                                            <p:strVal val="0-#ppt_w/2"/>
                                          </p:val>
                                        </p:tav>
                                        <p:tav tm="100000">
                                          <p:val>
                                            <p:strVal val="#ppt_x"/>
                                          </p:val>
                                        </p:tav>
                                      </p:tavLst>
                                    </p:anim>
                                    <p:anim calcmode="lin" valueType="num">
                                      <p:cBhvr additive="base">
                                        <p:cTn id="20" dur="500" fill="hold"/>
                                        <p:tgtEl>
                                          <p:spTgt spid="5124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4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Rectangle 4"/>
          <p:cNvSpPr>
            <a:spLocks noGrp="1"/>
          </p:cNvSpPr>
          <p:nvPr>
            <p:ph type="title"/>
          </p:nvPr>
        </p:nvSpPr>
        <p:spPr>
          <a:xfrm>
            <a:off x="5932488" y="838200"/>
            <a:ext cx="2133600" cy="152400"/>
          </a:xfrm>
          <a:noFill/>
          <a:ln>
            <a:noFill/>
          </a:ln>
        </p:spPr>
        <p:txBody>
          <a:bodyPr/>
          <a:p>
            <a:pPr eaLnBrk="1" hangingPunct="1"/>
            <a:r>
              <a:rPr lang="zh-CN" altLang="en-US" sz="2800" dirty="0">
                <a:solidFill>
                  <a:schemeClr val="bg1"/>
                </a:solidFill>
                <a:ea typeface="华文中宋" panose="02010600040101010101" pitchFamily="2" charset="-122"/>
              </a:rPr>
              <a:t>焊接</a:t>
            </a:r>
            <a:r>
              <a:rPr lang="en-US" altLang="zh-CN" sz="2800" dirty="0">
                <a:solidFill>
                  <a:schemeClr val="bg1"/>
                </a:solidFill>
                <a:ea typeface="华文中宋" panose="02010600040101010101" pitchFamily="2" charset="-122"/>
              </a:rPr>
              <a:t>2</a:t>
            </a:r>
            <a:endParaRPr lang="en-US" altLang="zh-CN" sz="2800" dirty="0">
              <a:solidFill>
                <a:schemeClr val="bg1"/>
              </a:solidFill>
              <a:ea typeface="华文中宋" panose="02010600040101010101" pitchFamily="2" charset="-122"/>
            </a:endParaRPr>
          </a:p>
        </p:txBody>
      </p:sp>
      <p:sp>
        <p:nvSpPr>
          <p:cNvPr id="11267" name="Rectangle 5"/>
          <p:cNvSpPr>
            <a:spLocks noGrp="1"/>
          </p:cNvSpPr>
          <p:nvPr/>
        </p:nvSpPr>
        <p:spPr>
          <a:xfrm>
            <a:off x="1000125" y="0"/>
            <a:ext cx="1219200" cy="533400"/>
          </a:xfrm>
          <a:prstGeom prst="rect">
            <a:avLst/>
          </a:prstGeom>
          <a:noFill/>
          <a:ln w="9525">
            <a:noFill/>
          </a:ln>
        </p:spPr>
        <p:txBody>
          <a:bodyPr/>
          <a:p>
            <a:pPr eaLnBrk="0" hangingPunct="0"/>
            <a:r>
              <a:rPr lang="zh-CN" altLang="en-US" sz="3000" dirty="0">
                <a:solidFill>
                  <a:schemeClr val="bg1"/>
                </a:solidFill>
                <a:latin typeface="黑体" panose="02010609060101010101" pitchFamily="49" charset="-122"/>
                <a:ea typeface="黑体" panose="02010609060101010101" pitchFamily="49" charset="-122"/>
              </a:rPr>
              <a:t>焊 接</a:t>
            </a:r>
            <a:endParaRPr lang="zh-CN" altLang="en-US" sz="3000" dirty="0">
              <a:solidFill>
                <a:schemeClr val="bg1"/>
              </a:solidFill>
              <a:latin typeface="黑体" panose="02010609060101010101" pitchFamily="49" charset="-122"/>
              <a:ea typeface="黑体" panose="02010609060101010101" pitchFamily="49" charset="-122"/>
            </a:endParaRPr>
          </a:p>
        </p:txBody>
      </p:sp>
      <p:pic>
        <p:nvPicPr>
          <p:cNvPr id="51224" name="Picture 24" descr="rewind1">
            <a:hlinkClick r:id="rId1" action="ppaction://hlinksldjump"/>
          </p:cNvPr>
          <p:cNvPicPr>
            <a:picLocks noChangeAspect="1"/>
          </p:cNvPicPr>
          <p:nvPr/>
        </p:nvPicPr>
        <p:blipFill>
          <a:blip r:embed="rId2"/>
          <a:stretch>
            <a:fillRect/>
          </a:stretch>
        </p:blipFill>
        <p:spPr>
          <a:xfrm>
            <a:off x="8001000" y="6570663"/>
            <a:ext cx="287338" cy="287337"/>
          </a:xfrm>
          <a:prstGeom prst="rect">
            <a:avLst/>
          </a:prstGeom>
          <a:noFill/>
          <a:ln w="9525">
            <a:noFill/>
          </a:ln>
        </p:spPr>
      </p:pic>
      <p:pic>
        <p:nvPicPr>
          <p:cNvPr id="51225" name="Picture 25" descr="back1">
            <a:hlinkClick r:id="" action="ppaction://hlinkshowjump?jump=previousslide"/>
          </p:cNvPr>
          <p:cNvPicPr>
            <a:picLocks noChangeAspect="1"/>
          </p:cNvPicPr>
          <p:nvPr/>
        </p:nvPicPr>
        <p:blipFill>
          <a:blip r:embed="rId3"/>
          <a:stretch>
            <a:fillRect/>
          </a:stretch>
        </p:blipFill>
        <p:spPr>
          <a:xfrm>
            <a:off x="8358188" y="6570663"/>
            <a:ext cx="287337" cy="287337"/>
          </a:xfrm>
          <a:prstGeom prst="rect">
            <a:avLst/>
          </a:prstGeom>
          <a:noFill/>
          <a:ln w="9525">
            <a:noFill/>
          </a:ln>
        </p:spPr>
      </p:pic>
      <p:pic>
        <p:nvPicPr>
          <p:cNvPr id="51226" name="Picture 26" descr="NEXT1">
            <a:hlinkClick r:id="" action="ppaction://hlinkshowjump?jump=nextslide"/>
          </p:cNvPr>
          <p:cNvPicPr>
            <a:picLocks noChangeAspect="1"/>
          </p:cNvPicPr>
          <p:nvPr/>
        </p:nvPicPr>
        <p:blipFill>
          <a:blip r:embed="rId4"/>
          <a:stretch>
            <a:fillRect/>
          </a:stretch>
        </p:blipFill>
        <p:spPr>
          <a:xfrm>
            <a:off x="8715375" y="6570663"/>
            <a:ext cx="287338" cy="287337"/>
          </a:xfrm>
          <a:prstGeom prst="rect">
            <a:avLst/>
          </a:prstGeom>
          <a:noFill/>
          <a:ln w="9525">
            <a:noFill/>
          </a:ln>
        </p:spPr>
      </p:pic>
      <p:sp>
        <p:nvSpPr>
          <p:cNvPr id="51240" name="Text Box 40"/>
          <p:cNvSpPr txBox="1"/>
          <p:nvPr/>
        </p:nvSpPr>
        <p:spPr>
          <a:xfrm>
            <a:off x="6384925" y="6538913"/>
            <a:ext cx="271463" cy="427037"/>
          </a:xfrm>
          <a:prstGeom prst="rect">
            <a:avLst/>
          </a:prstGeom>
          <a:noFill/>
          <a:ln w="9525">
            <a:noFill/>
          </a:ln>
        </p:spPr>
        <p:txBody>
          <a:bodyPr wrap="none">
            <a:spAutoFit/>
          </a:bodyPr>
          <a:p>
            <a:r>
              <a:rPr lang="en-US" altLang="zh-CN" sz="2200" dirty="0">
                <a:solidFill>
                  <a:schemeClr val="tx1"/>
                </a:solidFill>
                <a:latin typeface="Tahoma" panose="020B0604030504040204" pitchFamily="34" charset="0"/>
              </a:rPr>
              <a:t> </a:t>
            </a:r>
            <a:endParaRPr lang="en-US" altLang="zh-CN" sz="2200" dirty="0">
              <a:solidFill>
                <a:schemeClr val="tx1"/>
              </a:solidFill>
              <a:latin typeface="Tahoma" panose="020B0604030504040204" pitchFamily="34" charset="0"/>
            </a:endParaRPr>
          </a:p>
        </p:txBody>
      </p:sp>
      <p:sp>
        <p:nvSpPr>
          <p:cNvPr id="11272" name="Rectangle 8"/>
          <p:cNvSpPr/>
          <p:nvPr/>
        </p:nvSpPr>
        <p:spPr>
          <a:xfrm>
            <a:off x="0" y="0"/>
            <a:ext cx="9144000" cy="0"/>
          </a:xfrm>
          <a:prstGeom prst="rect">
            <a:avLst/>
          </a:prstGeom>
          <a:noFill/>
          <a:ln w="9525">
            <a:noFill/>
          </a:ln>
        </p:spPr>
        <p:txBody>
          <a:bodyPr wrap="none" anchor="ctr" anchorCtr="0">
            <a:spAutoFit/>
          </a:bodyPr>
          <a:p>
            <a:endParaRPr lang="zh-CN" altLang="en-US" dirty="0">
              <a:latin typeface="Times New Roman" panose="02020603050405020304" pitchFamily="18" charset="0"/>
            </a:endParaRPr>
          </a:p>
        </p:txBody>
      </p:sp>
      <p:pic>
        <p:nvPicPr>
          <p:cNvPr id="11273" name="Picture 7"/>
          <p:cNvPicPr>
            <a:picLocks noChangeAspect="1"/>
          </p:cNvPicPr>
          <p:nvPr/>
        </p:nvPicPr>
        <p:blipFill>
          <a:blip r:embed="rId5">
            <a:clrChange>
              <a:clrFrom>
                <a:srgbClr val="FFFFFF"/>
              </a:clrFrom>
              <a:clrTo>
                <a:srgbClr val="FFFFFF">
                  <a:alpha val="0"/>
                </a:srgbClr>
              </a:clrTo>
            </a:clrChange>
          </a:blip>
          <a:stretch>
            <a:fillRect/>
          </a:stretch>
        </p:blipFill>
        <p:spPr>
          <a:xfrm>
            <a:off x="0" y="0"/>
            <a:ext cx="114300" cy="174625"/>
          </a:xfrm>
          <a:prstGeom prst="rect">
            <a:avLst/>
          </a:prstGeom>
          <a:noFill/>
          <a:ln w="9525">
            <a:noFill/>
          </a:ln>
        </p:spPr>
      </p:pic>
      <p:sp>
        <p:nvSpPr>
          <p:cNvPr id="11274" name="Rectangle 10"/>
          <p:cNvSpPr/>
          <p:nvPr/>
        </p:nvSpPr>
        <p:spPr>
          <a:xfrm>
            <a:off x="0" y="0"/>
            <a:ext cx="9144000" cy="0"/>
          </a:xfrm>
          <a:prstGeom prst="rect">
            <a:avLst/>
          </a:prstGeom>
          <a:noFill/>
          <a:ln w="9525">
            <a:noFill/>
          </a:ln>
        </p:spPr>
        <p:txBody>
          <a:bodyPr wrap="none" anchor="ctr" anchorCtr="0">
            <a:spAutoFit/>
          </a:bodyPr>
          <a:p>
            <a:endParaRPr lang="zh-CN" altLang="en-US" dirty="0">
              <a:latin typeface="Times New Roman" panose="02020603050405020304" pitchFamily="18" charset="0"/>
            </a:endParaRPr>
          </a:p>
        </p:txBody>
      </p:sp>
      <p:pic>
        <p:nvPicPr>
          <p:cNvPr id="11275" name="Picture 9"/>
          <p:cNvPicPr>
            <a:picLocks noChangeAspect="1"/>
          </p:cNvPicPr>
          <p:nvPr/>
        </p:nvPicPr>
        <p:blipFill>
          <a:blip r:embed="rId5">
            <a:clrChange>
              <a:clrFrom>
                <a:srgbClr val="FFFFFF"/>
              </a:clrFrom>
              <a:clrTo>
                <a:srgbClr val="FFFFFF">
                  <a:alpha val="0"/>
                </a:srgbClr>
              </a:clrTo>
            </a:clrChange>
          </a:blip>
          <a:stretch>
            <a:fillRect/>
          </a:stretch>
        </p:blipFill>
        <p:spPr>
          <a:xfrm>
            <a:off x="0" y="0"/>
            <a:ext cx="114300" cy="174625"/>
          </a:xfrm>
          <a:prstGeom prst="rect">
            <a:avLst/>
          </a:prstGeom>
          <a:noFill/>
          <a:ln w="9525">
            <a:noFill/>
          </a:ln>
        </p:spPr>
      </p:pic>
      <p:sp>
        <p:nvSpPr>
          <p:cNvPr id="11276" name="TextBox 18"/>
          <p:cNvSpPr txBox="1"/>
          <p:nvPr/>
        </p:nvSpPr>
        <p:spPr>
          <a:xfrm>
            <a:off x="1000125" y="857250"/>
            <a:ext cx="954088" cy="400050"/>
          </a:xfrm>
          <a:prstGeom prst="rect">
            <a:avLst/>
          </a:prstGeom>
          <a:noFill/>
          <a:ln w="9525">
            <a:noFill/>
          </a:ln>
        </p:spPr>
        <p:txBody>
          <a:bodyPr wrap="none">
            <a:spAutoFit/>
          </a:bodyPr>
          <a:p>
            <a:r>
              <a:rPr lang="zh-CN" altLang="en-US" dirty="0">
                <a:latin typeface="Times New Roman" panose="02020603050405020304" pitchFamily="18" charset="0"/>
              </a:rPr>
              <a:t>举例：</a:t>
            </a:r>
            <a:endParaRPr lang="zh-CN" altLang="en-US" dirty="0">
              <a:latin typeface="Times New Roman" panose="02020603050405020304" pitchFamily="18" charset="0"/>
            </a:endParaRPr>
          </a:p>
        </p:txBody>
      </p:sp>
      <p:pic>
        <p:nvPicPr>
          <p:cNvPr id="11277" name="Picture 3" descr="D:\2.科研项目\《机械设计》\高教社杜惠萍\书页扫描\第3.12章和第3.13章\3-13-6 [转换].tif"/>
          <p:cNvPicPr>
            <a:picLocks noChangeAspect="1"/>
          </p:cNvPicPr>
          <p:nvPr/>
        </p:nvPicPr>
        <p:blipFill>
          <a:blip r:embed="rId6"/>
          <a:stretch>
            <a:fillRect/>
          </a:stretch>
        </p:blipFill>
        <p:spPr>
          <a:xfrm>
            <a:off x="1928813" y="1428750"/>
            <a:ext cx="1912937" cy="892175"/>
          </a:xfrm>
          <a:prstGeom prst="rect">
            <a:avLst/>
          </a:prstGeom>
          <a:noFill/>
          <a:ln w="9525">
            <a:noFill/>
          </a:ln>
        </p:spPr>
      </p:pic>
      <p:pic>
        <p:nvPicPr>
          <p:cNvPr id="11278" name="Picture 4" descr="D:\2.科研项目\《机械设计》\高教社杜惠萍\书页扫描\第3.12章和第3.13章\3-13-7 [转换].tif"/>
          <p:cNvPicPr>
            <a:picLocks noChangeAspect="1"/>
          </p:cNvPicPr>
          <p:nvPr/>
        </p:nvPicPr>
        <p:blipFill>
          <a:blip r:embed="rId7"/>
          <a:stretch>
            <a:fillRect/>
          </a:stretch>
        </p:blipFill>
        <p:spPr>
          <a:xfrm>
            <a:off x="5715000" y="1071563"/>
            <a:ext cx="1714500" cy="1231900"/>
          </a:xfrm>
          <a:prstGeom prst="rect">
            <a:avLst/>
          </a:prstGeom>
          <a:noFill/>
          <a:ln w="9525">
            <a:noFill/>
          </a:ln>
        </p:spPr>
      </p:pic>
      <p:sp>
        <p:nvSpPr>
          <p:cNvPr id="11279" name="TextBox 22"/>
          <p:cNvSpPr txBox="1"/>
          <p:nvPr/>
        </p:nvSpPr>
        <p:spPr>
          <a:xfrm>
            <a:off x="2143125" y="2428875"/>
            <a:ext cx="1825625" cy="338138"/>
          </a:xfrm>
          <a:prstGeom prst="rect">
            <a:avLst/>
          </a:prstGeom>
          <a:noFill/>
          <a:ln w="9525">
            <a:noFill/>
          </a:ln>
        </p:spPr>
        <p:txBody>
          <a:bodyPr wrap="none">
            <a:spAutoFit/>
          </a:bodyPr>
          <a:p>
            <a:r>
              <a:rPr lang="zh-CN" altLang="en-US" sz="1600" dirty="0">
                <a:latin typeface="Times New Roman" panose="02020603050405020304" pitchFamily="18" charset="0"/>
              </a:rPr>
              <a:t>工件三面带角焊缝</a:t>
            </a:r>
            <a:endParaRPr lang="zh-CN" altLang="en-US" sz="1600" dirty="0">
              <a:latin typeface="Times New Roman" panose="02020603050405020304" pitchFamily="18" charset="0"/>
            </a:endParaRPr>
          </a:p>
        </p:txBody>
      </p:sp>
      <p:sp>
        <p:nvSpPr>
          <p:cNvPr id="11280" name="TextBox 23"/>
          <p:cNvSpPr txBox="1"/>
          <p:nvPr/>
        </p:nvSpPr>
        <p:spPr>
          <a:xfrm>
            <a:off x="5214938" y="2428875"/>
            <a:ext cx="3286125" cy="338138"/>
          </a:xfrm>
          <a:prstGeom prst="rect">
            <a:avLst/>
          </a:prstGeom>
          <a:noFill/>
          <a:ln w="9525">
            <a:noFill/>
          </a:ln>
        </p:spPr>
        <p:txBody>
          <a:bodyPr>
            <a:spAutoFit/>
          </a:bodyPr>
          <a:p>
            <a:r>
              <a:rPr lang="zh-CN" altLang="en-US" sz="1600" dirty="0">
                <a:latin typeface="Times New Roman" panose="02020603050405020304" pitchFamily="18" charset="0"/>
              </a:rPr>
              <a:t>在现场沿工件一圈施角焊缝</a:t>
            </a:r>
            <a:endParaRPr lang="zh-CN" altLang="en-US" sz="1600" dirty="0">
              <a:latin typeface="Times New Roman" panose="02020603050405020304" pitchFamily="18" charset="0"/>
            </a:endParaRPr>
          </a:p>
        </p:txBody>
      </p:sp>
      <p:sp>
        <p:nvSpPr>
          <p:cNvPr id="11281" name="TextBox 25"/>
          <p:cNvSpPr txBox="1"/>
          <p:nvPr/>
        </p:nvSpPr>
        <p:spPr>
          <a:xfrm>
            <a:off x="3929063" y="6000750"/>
            <a:ext cx="1620837" cy="338138"/>
          </a:xfrm>
          <a:prstGeom prst="rect">
            <a:avLst/>
          </a:prstGeom>
          <a:noFill/>
          <a:ln w="9525">
            <a:noFill/>
          </a:ln>
        </p:spPr>
        <p:txBody>
          <a:bodyPr wrap="none">
            <a:spAutoFit/>
          </a:bodyPr>
          <a:p>
            <a:r>
              <a:rPr lang="zh-CN" altLang="en-US" sz="1600" dirty="0">
                <a:latin typeface="Times New Roman" panose="02020603050405020304" pitchFamily="18" charset="0"/>
              </a:rPr>
              <a:t>标注图例及简化</a:t>
            </a:r>
            <a:endParaRPr lang="zh-CN" altLang="en-US" sz="1600" dirty="0">
              <a:latin typeface="Times New Roman" panose="02020603050405020304" pitchFamily="18" charset="0"/>
            </a:endParaRPr>
          </a:p>
        </p:txBody>
      </p:sp>
      <p:pic>
        <p:nvPicPr>
          <p:cNvPr id="11282" name="图片 6"/>
          <p:cNvPicPr>
            <a:picLocks noChangeAspect="1"/>
          </p:cNvPicPr>
          <p:nvPr/>
        </p:nvPicPr>
        <p:blipFill>
          <a:blip r:embed="rId8"/>
          <a:stretch>
            <a:fillRect/>
          </a:stretch>
        </p:blipFill>
        <p:spPr>
          <a:xfrm>
            <a:off x="1403350" y="3050540"/>
            <a:ext cx="6685280" cy="282638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499"/>
                                          </p:stCondLst>
                                        </p:cTn>
                                        <p:tgtEl>
                                          <p:spTgt spid="51226"/>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nodeType="afterEffect">
                                  <p:stCondLst>
                                    <p:cond delay="0"/>
                                  </p:stCondLst>
                                  <p:childTnLst>
                                    <p:set>
                                      <p:cBhvr>
                                        <p:cTn id="9" dur="1" fill="hold">
                                          <p:stCondLst>
                                            <p:cond delay="499"/>
                                          </p:stCondLst>
                                        </p:cTn>
                                        <p:tgtEl>
                                          <p:spTgt spid="51225"/>
                                        </p:tgtEl>
                                        <p:attrNameLst>
                                          <p:attrName>style.visibility</p:attrName>
                                        </p:attrNameLst>
                                      </p:cBhvr>
                                      <p:to>
                                        <p:strVal val="visible"/>
                                      </p:to>
                                    </p:set>
                                  </p:childTnLst>
                                </p:cTn>
                              </p:par>
                            </p:childTnLst>
                          </p:cTn>
                        </p:par>
                        <p:par>
                          <p:cTn id="10" fill="hold">
                            <p:stCondLst>
                              <p:cond delay="1000"/>
                            </p:stCondLst>
                            <p:childTnLst>
                              <p:par>
                                <p:cTn id="11" presetID="2" presetClass="entr" presetSubtype="8" fill="hold" nodeType="afterEffect">
                                  <p:stCondLst>
                                    <p:cond delay="0"/>
                                  </p:stCondLst>
                                  <p:childTnLst>
                                    <p:set>
                                      <p:cBhvr>
                                        <p:cTn id="12" dur="1" fill="hold">
                                          <p:stCondLst>
                                            <p:cond delay="0"/>
                                          </p:stCondLst>
                                        </p:cTn>
                                        <p:tgtEl>
                                          <p:spTgt spid="51224"/>
                                        </p:tgtEl>
                                        <p:attrNameLst>
                                          <p:attrName>style.visibility</p:attrName>
                                        </p:attrNameLst>
                                      </p:cBhvr>
                                      <p:to>
                                        <p:strVal val="visible"/>
                                      </p:to>
                                    </p:set>
                                    <p:anim calcmode="lin" valueType="num">
                                      <p:cBhvr additive="base">
                                        <p:cTn id="13" dur="500" fill="hold"/>
                                        <p:tgtEl>
                                          <p:spTgt spid="51224"/>
                                        </p:tgtEl>
                                        <p:attrNameLst>
                                          <p:attrName>ppt_x</p:attrName>
                                        </p:attrNameLst>
                                      </p:cBhvr>
                                      <p:tavLst>
                                        <p:tav tm="0">
                                          <p:val>
                                            <p:strVal val="0-#ppt_w/2"/>
                                          </p:val>
                                        </p:tav>
                                        <p:tav tm="100000">
                                          <p:val>
                                            <p:strVal val="#ppt_x"/>
                                          </p:val>
                                        </p:tav>
                                      </p:tavLst>
                                    </p:anim>
                                    <p:anim calcmode="lin" valueType="num">
                                      <p:cBhvr additive="base">
                                        <p:cTn id="14" dur="500" fill="hold"/>
                                        <p:tgtEl>
                                          <p:spTgt spid="51224"/>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51240"/>
                                        </p:tgtEl>
                                        <p:attrNameLst>
                                          <p:attrName>style.visibility</p:attrName>
                                        </p:attrNameLst>
                                      </p:cBhvr>
                                      <p:to>
                                        <p:strVal val="visible"/>
                                      </p:to>
                                    </p:set>
                                    <p:anim calcmode="lin" valueType="num">
                                      <p:cBhvr additive="base">
                                        <p:cTn id="19" dur="500" fill="hold"/>
                                        <p:tgtEl>
                                          <p:spTgt spid="51240"/>
                                        </p:tgtEl>
                                        <p:attrNameLst>
                                          <p:attrName>ppt_x</p:attrName>
                                        </p:attrNameLst>
                                      </p:cBhvr>
                                      <p:tavLst>
                                        <p:tav tm="0">
                                          <p:val>
                                            <p:strVal val="0-#ppt_w/2"/>
                                          </p:val>
                                        </p:tav>
                                        <p:tav tm="100000">
                                          <p:val>
                                            <p:strVal val="#ppt_x"/>
                                          </p:val>
                                        </p:tav>
                                      </p:tavLst>
                                    </p:anim>
                                    <p:anim calcmode="lin" valueType="num">
                                      <p:cBhvr additive="base">
                                        <p:cTn id="20" dur="500" fill="hold"/>
                                        <p:tgtEl>
                                          <p:spTgt spid="5124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4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Rectangle 4"/>
          <p:cNvSpPr>
            <a:spLocks noGrp="1"/>
          </p:cNvSpPr>
          <p:nvPr>
            <p:ph type="title"/>
          </p:nvPr>
        </p:nvSpPr>
        <p:spPr>
          <a:xfrm>
            <a:off x="5932488" y="838200"/>
            <a:ext cx="2133600" cy="152400"/>
          </a:xfrm>
          <a:noFill/>
          <a:ln>
            <a:noFill/>
          </a:ln>
        </p:spPr>
        <p:txBody>
          <a:bodyPr/>
          <a:p>
            <a:pPr eaLnBrk="1" hangingPunct="1"/>
            <a:r>
              <a:rPr lang="zh-CN" altLang="en-US" sz="2800" dirty="0">
                <a:solidFill>
                  <a:schemeClr val="bg1"/>
                </a:solidFill>
                <a:ea typeface="华文中宋" panose="02010600040101010101" pitchFamily="2" charset="-122"/>
              </a:rPr>
              <a:t>焊接</a:t>
            </a:r>
            <a:r>
              <a:rPr lang="en-US" altLang="zh-CN" sz="2800" dirty="0">
                <a:solidFill>
                  <a:schemeClr val="bg1"/>
                </a:solidFill>
                <a:ea typeface="华文中宋" panose="02010600040101010101" pitchFamily="2" charset="-122"/>
              </a:rPr>
              <a:t>2</a:t>
            </a:r>
            <a:endParaRPr lang="en-US" altLang="zh-CN" sz="2800" dirty="0">
              <a:solidFill>
                <a:schemeClr val="bg1"/>
              </a:solidFill>
              <a:ea typeface="华文中宋" panose="02010600040101010101" pitchFamily="2" charset="-122"/>
            </a:endParaRPr>
          </a:p>
        </p:txBody>
      </p:sp>
      <p:sp>
        <p:nvSpPr>
          <p:cNvPr id="12291" name="Rectangle 5"/>
          <p:cNvSpPr>
            <a:spLocks noGrp="1"/>
          </p:cNvSpPr>
          <p:nvPr/>
        </p:nvSpPr>
        <p:spPr>
          <a:xfrm>
            <a:off x="1000125" y="0"/>
            <a:ext cx="1219200" cy="533400"/>
          </a:xfrm>
          <a:prstGeom prst="rect">
            <a:avLst/>
          </a:prstGeom>
          <a:noFill/>
          <a:ln w="9525">
            <a:noFill/>
          </a:ln>
        </p:spPr>
        <p:txBody>
          <a:bodyPr/>
          <a:p>
            <a:pPr eaLnBrk="0" hangingPunct="0"/>
            <a:r>
              <a:rPr lang="zh-CN" altLang="en-US" sz="3000" dirty="0">
                <a:solidFill>
                  <a:schemeClr val="bg1"/>
                </a:solidFill>
                <a:latin typeface="黑体" panose="02010609060101010101" pitchFamily="49" charset="-122"/>
                <a:ea typeface="黑体" panose="02010609060101010101" pitchFamily="49" charset="-122"/>
              </a:rPr>
              <a:t>焊 接</a:t>
            </a:r>
            <a:endParaRPr lang="zh-CN" altLang="en-US" sz="3000" dirty="0">
              <a:solidFill>
                <a:schemeClr val="bg1"/>
              </a:solidFill>
              <a:latin typeface="黑体" panose="02010609060101010101" pitchFamily="49" charset="-122"/>
              <a:ea typeface="黑体" panose="02010609060101010101" pitchFamily="49" charset="-122"/>
            </a:endParaRPr>
          </a:p>
        </p:txBody>
      </p:sp>
      <p:pic>
        <p:nvPicPr>
          <p:cNvPr id="12292" name="Picture 24" descr="rewind1">
            <a:hlinkClick r:id="rId1" action="ppaction://hlinksldjump"/>
          </p:cNvPr>
          <p:cNvPicPr>
            <a:picLocks noChangeAspect="1"/>
          </p:cNvPicPr>
          <p:nvPr/>
        </p:nvPicPr>
        <p:blipFill>
          <a:blip r:embed="rId2"/>
          <a:stretch>
            <a:fillRect/>
          </a:stretch>
        </p:blipFill>
        <p:spPr>
          <a:xfrm>
            <a:off x="7912100" y="6586538"/>
            <a:ext cx="287338" cy="287337"/>
          </a:xfrm>
          <a:prstGeom prst="rect">
            <a:avLst/>
          </a:prstGeom>
          <a:noFill/>
          <a:ln w="9525">
            <a:noFill/>
          </a:ln>
        </p:spPr>
      </p:pic>
      <p:pic>
        <p:nvPicPr>
          <p:cNvPr id="12293" name="Picture 25" descr="back1">
            <a:hlinkClick r:id="" action="ppaction://hlinkshowjump?jump=previousslide"/>
          </p:cNvPr>
          <p:cNvPicPr>
            <a:picLocks noChangeAspect="1"/>
          </p:cNvPicPr>
          <p:nvPr/>
        </p:nvPicPr>
        <p:blipFill>
          <a:blip r:embed="rId3"/>
          <a:stretch>
            <a:fillRect/>
          </a:stretch>
        </p:blipFill>
        <p:spPr>
          <a:xfrm>
            <a:off x="8326438" y="6570663"/>
            <a:ext cx="287337" cy="287337"/>
          </a:xfrm>
          <a:prstGeom prst="rect">
            <a:avLst/>
          </a:prstGeom>
          <a:noFill/>
          <a:ln w="9525">
            <a:noFill/>
          </a:ln>
        </p:spPr>
      </p:pic>
      <p:sp>
        <p:nvSpPr>
          <p:cNvPr id="51240" name="Text Box 40"/>
          <p:cNvSpPr txBox="1"/>
          <p:nvPr/>
        </p:nvSpPr>
        <p:spPr>
          <a:xfrm>
            <a:off x="6384925" y="6538913"/>
            <a:ext cx="271463" cy="427037"/>
          </a:xfrm>
          <a:prstGeom prst="rect">
            <a:avLst/>
          </a:prstGeom>
          <a:noFill/>
          <a:ln w="9525">
            <a:noFill/>
          </a:ln>
        </p:spPr>
        <p:txBody>
          <a:bodyPr wrap="none">
            <a:spAutoFit/>
          </a:bodyPr>
          <a:p>
            <a:r>
              <a:rPr lang="en-US" altLang="zh-CN" sz="2200" dirty="0">
                <a:solidFill>
                  <a:schemeClr val="tx1"/>
                </a:solidFill>
                <a:latin typeface="Tahoma" panose="020B0604030504040204" pitchFamily="34" charset="0"/>
              </a:rPr>
              <a:t> </a:t>
            </a:r>
            <a:endParaRPr lang="en-US" altLang="zh-CN" sz="2200" dirty="0">
              <a:solidFill>
                <a:schemeClr val="tx1"/>
              </a:solidFill>
              <a:latin typeface="Tahoma" panose="020B0604030504040204" pitchFamily="34" charset="0"/>
            </a:endParaRPr>
          </a:p>
        </p:txBody>
      </p:sp>
      <p:sp>
        <p:nvSpPr>
          <p:cNvPr id="12295" name="Rectangle 8"/>
          <p:cNvSpPr/>
          <p:nvPr/>
        </p:nvSpPr>
        <p:spPr>
          <a:xfrm>
            <a:off x="0" y="0"/>
            <a:ext cx="9144000" cy="0"/>
          </a:xfrm>
          <a:prstGeom prst="rect">
            <a:avLst/>
          </a:prstGeom>
          <a:noFill/>
          <a:ln w="9525">
            <a:noFill/>
          </a:ln>
        </p:spPr>
        <p:txBody>
          <a:bodyPr wrap="none" anchor="ctr" anchorCtr="0">
            <a:spAutoFit/>
          </a:bodyPr>
          <a:p>
            <a:endParaRPr lang="zh-CN" altLang="en-US" dirty="0">
              <a:latin typeface="Times New Roman" panose="02020603050405020304" pitchFamily="18" charset="0"/>
            </a:endParaRPr>
          </a:p>
        </p:txBody>
      </p:sp>
      <p:pic>
        <p:nvPicPr>
          <p:cNvPr id="12296" name="Picture 7"/>
          <p:cNvPicPr>
            <a:picLocks noChangeAspect="1"/>
          </p:cNvPicPr>
          <p:nvPr/>
        </p:nvPicPr>
        <p:blipFill>
          <a:blip r:embed="rId4">
            <a:clrChange>
              <a:clrFrom>
                <a:srgbClr val="FFFFFF"/>
              </a:clrFrom>
              <a:clrTo>
                <a:srgbClr val="FFFFFF">
                  <a:alpha val="0"/>
                </a:srgbClr>
              </a:clrTo>
            </a:clrChange>
          </a:blip>
          <a:stretch>
            <a:fillRect/>
          </a:stretch>
        </p:blipFill>
        <p:spPr>
          <a:xfrm>
            <a:off x="0" y="0"/>
            <a:ext cx="114300" cy="174625"/>
          </a:xfrm>
          <a:prstGeom prst="rect">
            <a:avLst/>
          </a:prstGeom>
          <a:noFill/>
          <a:ln w="9525">
            <a:noFill/>
          </a:ln>
        </p:spPr>
      </p:pic>
      <p:sp>
        <p:nvSpPr>
          <p:cNvPr id="12297" name="Rectangle 10"/>
          <p:cNvSpPr/>
          <p:nvPr/>
        </p:nvSpPr>
        <p:spPr>
          <a:xfrm>
            <a:off x="0" y="0"/>
            <a:ext cx="9144000" cy="0"/>
          </a:xfrm>
          <a:prstGeom prst="rect">
            <a:avLst/>
          </a:prstGeom>
          <a:noFill/>
          <a:ln w="9525">
            <a:noFill/>
          </a:ln>
        </p:spPr>
        <p:txBody>
          <a:bodyPr wrap="none" anchor="ctr" anchorCtr="0">
            <a:spAutoFit/>
          </a:bodyPr>
          <a:p>
            <a:endParaRPr lang="zh-CN" altLang="en-US" dirty="0">
              <a:latin typeface="Times New Roman" panose="02020603050405020304" pitchFamily="18" charset="0"/>
            </a:endParaRPr>
          </a:p>
        </p:txBody>
      </p:sp>
      <p:pic>
        <p:nvPicPr>
          <p:cNvPr id="12298" name="Picture 9"/>
          <p:cNvPicPr>
            <a:picLocks noChangeAspect="1"/>
          </p:cNvPicPr>
          <p:nvPr/>
        </p:nvPicPr>
        <p:blipFill>
          <a:blip r:embed="rId4">
            <a:clrChange>
              <a:clrFrom>
                <a:srgbClr val="FFFFFF"/>
              </a:clrFrom>
              <a:clrTo>
                <a:srgbClr val="FFFFFF">
                  <a:alpha val="0"/>
                </a:srgbClr>
              </a:clrTo>
            </a:clrChange>
          </a:blip>
          <a:stretch>
            <a:fillRect/>
          </a:stretch>
        </p:blipFill>
        <p:spPr>
          <a:xfrm>
            <a:off x="0" y="0"/>
            <a:ext cx="114300" cy="174625"/>
          </a:xfrm>
          <a:prstGeom prst="rect">
            <a:avLst/>
          </a:prstGeom>
          <a:noFill/>
          <a:ln w="9525">
            <a:noFill/>
          </a:ln>
        </p:spPr>
      </p:pic>
      <p:sp>
        <p:nvSpPr>
          <p:cNvPr id="11276" name="TextBox 18"/>
          <p:cNvSpPr txBox="1"/>
          <p:nvPr/>
        </p:nvSpPr>
        <p:spPr>
          <a:xfrm>
            <a:off x="973138" y="838200"/>
            <a:ext cx="2749550" cy="400050"/>
          </a:xfrm>
          <a:prstGeom prst="rect">
            <a:avLst/>
          </a:prstGeom>
          <a:noFill/>
          <a:ln w="9525">
            <a:noFill/>
          </a:ln>
        </p:spPr>
        <p:txBody>
          <a:bodyPr wrap="none">
            <a:spAutoFit/>
          </a:bodyPr>
          <a:p>
            <a:r>
              <a:rPr lang="zh-CN" altLang="en-US" dirty="0">
                <a:latin typeface="Times New Roman" panose="02020603050405020304" pitchFamily="18" charset="0"/>
              </a:rPr>
              <a:t>（三）焊缝的强度计算</a:t>
            </a:r>
            <a:endParaRPr lang="zh-CN" altLang="en-US" dirty="0">
              <a:latin typeface="Times New Roman" panose="02020603050405020304" pitchFamily="18" charset="0"/>
            </a:endParaRPr>
          </a:p>
        </p:txBody>
      </p:sp>
      <p:sp>
        <p:nvSpPr>
          <p:cNvPr id="2" name="TextBox 1"/>
          <p:cNvSpPr txBox="1"/>
          <p:nvPr/>
        </p:nvSpPr>
        <p:spPr>
          <a:xfrm>
            <a:off x="973138" y="1357313"/>
            <a:ext cx="3284537" cy="400050"/>
          </a:xfrm>
          <a:prstGeom prst="rect">
            <a:avLst/>
          </a:prstGeom>
          <a:noFill/>
          <a:ln w="9525">
            <a:noFill/>
          </a:ln>
        </p:spPr>
        <p:txBody>
          <a:bodyPr>
            <a:spAutoFit/>
          </a:bodyPr>
          <a:p>
            <a:r>
              <a:rPr lang="zh-CN" altLang="en-US" dirty="0">
                <a:latin typeface="Times New Roman" panose="02020603050405020304" pitchFamily="18" charset="0"/>
              </a:rPr>
              <a:t>（四）焊接材料和许用应力</a:t>
            </a:r>
            <a:endParaRPr lang="zh-CN" altLang="en-US" dirty="0">
              <a:latin typeface="Times New Roman" panose="02020603050405020304" pitchFamily="18" charset="0"/>
            </a:endParaRPr>
          </a:p>
        </p:txBody>
      </p:sp>
      <p:sp>
        <p:nvSpPr>
          <p:cNvPr id="3" name="TextBox 2"/>
          <p:cNvSpPr txBox="1"/>
          <p:nvPr/>
        </p:nvSpPr>
        <p:spPr>
          <a:xfrm>
            <a:off x="935038" y="1844675"/>
            <a:ext cx="3519487" cy="400050"/>
          </a:xfrm>
          <a:prstGeom prst="rect">
            <a:avLst/>
          </a:prstGeom>
          <a:noFill/>
          <a:ln w="9525">
            <a:noFill/>
          </a:ln>
        </p:spPr>
        <p:txBody>
          <a:bodyPr wrap="none">
            <a:spAutoFit/>
          </a:bodyPr>
          <a:p>
            <a:r>
              <a:rPr lang="zh-CN" altLang="en-US" dirty="0">
                <a:latin typeface="Times New Roman" panose="02020603050405020304" pitchFamily="18" charset="0"/>
              </a:rPr>
              <a:t>（五）焊接件的工艺及设计点</a:t>
            </a:r>
            <a:endParaRPr lang="zh-CN" altLang="en-US" dirty="0">
              <a:latin typeface="Times New Roman" panose="02020603050405020304" pitchFamily="18" charset="0"/>
            </a:endParaRPr>
          </a:p>
        </p:txBody>
      </p:sp>
      <p:pic>
        <p:nvPicPr>
          <p:cNvPr id="4" name="图片 3"/>
          <p:cNvPicPr>
            <a:picLocks noChangeAspect="1"/>
          </p:cNvPicPr>
          <p:nvPr/>
        </p:nvPicPr>
        <p:blipFill>
          <a:blip r:embed="rId5"/>
          <a:stretch>
            <a:fillRect/>
          </a:stretch>
        </p:blipFill>
        <p:spPr>
          <a:xfrm>
            <a:off x="1562100" y="3768725"/>
            <a:ext cx="6188075" cy="2030413"/>
          </a:xfrm>
          <a:prstGeom prst="rect">
            <a:avLst/>
          </a:prstGeom>
          <a:noFill/>
          <a:ln w="9525">
            <a:noFill/>
          </a:ln>
        </p:spPr>
      </p:pic>
      <p:sp>
        <p:nvSpPr>
          <p:cNvPr id="8" name="右大括号 7"/>
          <p:cNvSpPr/>
          <p:nvPr/>
        </p:nvSpPr>
        <p:spPr>
          <a:xfrm>
            <a:off x="4308475" y="922338"/>
            <a:ext cx="292100" cy="719137"/>
          </a:xfrm>
          <a:prstGeom prst="rightBrace">
            <a:avLst>
              <a:gd name="adj1" fmla="val 8320"/>
              <a:gd name="adj2" fmla="val 50000"/>
            </a:avLst>
          </a:prstGeom>
          <a:noFill/>
          <a:ln w="9525" cap="flat" cmpd="sng">
            <a:solidFill>
              <a:schemeClr val="tx1"/>
            </a:solidFill>
            <a:prstDash val="solid"/>
            <a:headEnd type="none" w="med" len="med"/>
            <a:tailEnd type="none" w="med" len="med"/>
          </a:ln>
        </p:spPr>
        <p:txBody>
          <a:bodyPr wrap="none"/>
          <a:p>
            <a:endParaRPr lang="zh-CN" altLang="en-US" dirty="0">
              <a:latin typeface="Times New Roman" panose="02020603050405020304" pitchFamily="18" charset="0"/>
            </a:endParaRPr>
          </a:p>
        </p:txBody>
      </p:sp>
      <p:sp>
        <p:nvSpPr>
          <p:cNvPr id="9" name="TextBox 8"/>
          <p:cNvSpPr txBox="1"/>
          <p:nvPr/>
        </p:nvSpPr>
        <p:spPr>
          <a:xfrm>
            <a:off x="4556125" y="1081088"/>
            <a:ext cx="1722438" cy="400050"/>
          </a:xfrm>
          <a:prstGeom prst="rect">
            <a:avLst/>
          </a:prstGeom>
          <a:noFill/>
          <a:ln w="9525">
            <a:noFill/>
          </a:ln>
        </p:spPr>
        <p:txBody>
          <a:bodyPr wrap="none">
            <a:spAutoFit/>
          </a:bodyPr>
          <a:p>
            <a:r>
              <a:rPr lang="zh-CN" altLang="en-US" dirty="0">
                <a:latin typeface="Times New Roman" panose="02020603050405020304" pitchFamily="18" charset="0"/>
              </a:rPr>
              <a:t>（看书自学）</a:t>
            </a:r>
            <a:endParaRPr lang="zh-CN" altLang="en-US" dirty="0">
              <a:latin typeface="Times New Roman" panose="02020603050405020304" pitchFamily="18" charset="0"/>
            </a:endParaRPr>
          </a:p>
        </p:txBody>
      </p:sp>
      <p:sp>
        <p:nvSpPr>
          <p:cNvPr id="10" name="TextBox 9"/>
          <p:cNvSpPr txBox="1"/>
          <p:nvPr/>
        </p:nvSpPr>
        <p:spPr>
          <a:xfrm>
            <a:off x="666750" y="2279650"/>
            <a:ext cx="7978775" cy="1438275"/>
          </a:xfrm>
          <a:prstGeom prst="rect">
            <a:avLst/>
          </a:prstGeom>
          <a:noFill/>
          <a:ln w="9525">
            <a:noFill/>
          </a:ln>
        </p:spPr>
        <p:txBody>
          <a:bodyPr>
            <a:spAutoFit/>
          </a:bodyPr>
          <a:p>
            <a:pPr>
              <a:lnSpc>
                <a:spcPts val="3500"/>
              </a:lnSpc>
            </a:pPr>
            <a:r>
              <a:rPr lang="zh-CN" altLang="zh-CN" b="1" dirty="0">
                <a:latin typeface="Times New Roman" panose="02020603050405020304" pitchFamily="18" charset="0"/>
              </a:rPr>
              <a:t> </a:t>
            </a:r>
            <a:r>
              <a:rPr lang="en-US" altLang="zh-CN" b="1" dirty="0">
                <a:latin typeface="Times New Roman" panose="02020603050405020304" pitchFamily="18" charset="0"/>
              </a:rPr>
              <a:t>      </a:t>
            </a:r>
            <a:r>
              <a:rPr lang="zh-CN" altLang="zh-CN" dirty="0">
                <a:latin typeface="Times New Roman" panose="02020603050405020304" pitchFamily="18" charset="0"/>
              </a:rPr>
              <a:t>为了保证焊接的质量，避免缺焊或者未焊透的现象发生，焊缝应</a:t>
            </a:r>
            <a:r>
              <a:rPr lang="zh-CN" altLang="zh-CN" dirty="0">
                <a:solidFill>
                  <a:schemeClr val="tx1"/>
                </a:solidFill>
                <a:latin typeface="Times New Roman" panose="02020603050405020304" pitchFamily="18" charset="0"/>
              </a:rPr>
              <a:t>按被焊件的厚度</a:t>
            </a:r>
            <a:r>
              <a:rPr lang="zh-CN" altLang="zh-CN" dirty="0">
                <a:solidFill>
                  <a:srgbClr val="C00000"/>
                </a:solidFill>
                <a:latin typeface="Times New Roman" panose="02020603050405020304" pitchFamily="18" charset="0"/>
              </a:rPr>
              <a:t>制成</a:t>
            </a:r>
            <a:r>
              <a:rPr lang="zh-CN" altLang="zh-CN" dirty="0">
                <a:latin typeface="Times New Roman" panose="02020603050405020304" pitchFamily="18" charset="0"/>
              </a:rPr>
              <a:t>如图</a:t>
            </a:r>
            <a:r>
              <a:rPr lang="en-US" altLang="zh-CN" dirty="0">
                <a:latin typeface="Times New Roman" panose="02020603050405020304" pitchFamily="18" charset="0"/>
              </a:rPr>
              <a:t>3.13-11</a:t>
            </a:r>
            <a:r>
              <a:rPr lang="zh-CN" altLang="zh-CN" dirty="0">
                <a:latin typeface="Times New Roman" panose="02020603050405020304" pitchFamily="18" charset="0"/>
              </a:rPr>
              <a:t>所示的相应</a:t>
            </a:r>
            <a:r>
              <a:rPr lang="zh-CN" altLang="zh-CN" dirty="0">
                <a:solidFill>
                  <a:srgbClr val="00B050"/>
                </a:solidFill>
                <a:latin typeface="Times New Roman" panose="02020603050405020304" pitchFamily="18" charset="0"/>
              </a:rPr>
              <a:t>坡口形式</a:t>
            </a:r>
            <a:r>
              <a:rPr lang="zh-CN" altLang="zh-CN" dirty="0">
                <a:latin typeface="Times New Roman" panose="02020603050405020304" pitchFamily="18" charset="0"/>
              </a:rPr>
              <a:t>，或进行一般的倒棱修边的工艺。焊接前，应对坡口进行清理。</a:t>
            </a:r>
            <a:endParaRPr lang="zh-CN" altLang="zh-CN" dirty="0">
              <a:latin typeface="Times New Roman" panose="02020603050405020304" pitchFamily="18" charset="0"/>
            </a:endParaRPr>
          </a:p>
        </p:txBody>
      </p:sp>
      <p:sp>
        <p:nvSpPr>
          <p:cNvPr id="11" name="TextBox 10"/>
          <p:cNvSpPr txBox="1"/>
          <p:nvPr/>
        </p:nvSpPr>
        <p:spPr>
          <a:xfrm>
            <a:off x="2484438" y="5975350"/>
            <a:ext cx="5156200" cy="338138"/>
          </a:xfrm>
          <a:prstGeom prst="rect">
            <a:avLst/>
          </a:prstGeom>
          <a:noFill/>
          <a:ln w="9525">
            <a:noFill/>
          </a:ln>
        </p:spPr>
        <p:txBody>
          <a:bodyPr>
            <a:spAutoFit/>
          </a:bodyPr>
          <a:p>
            <a:r>
              <a:rPr lang="zh-CN" altLang="zh-CN" sz="1600" dirty="0">
                <a:latin typeface="Times New Roman" panose="02020603050405020304" pitchFamily="18" charset="0"/>
              </a:rPr>
              <a:t>图</a:t>
            </a:r>
            <a:r>
              <a:rPr lang="en-US" altLang="zh-CN" sz="1600" dirty="0">
                <a:latin typeface="Times New Roman" panose="02020603050405020304" pitchFamily="18" charset="0"/>
              </a:rPr>
              <a:t>3.13-11 </a:t>
            </a:r>
            <a:r>
              <a:rPr lang="zh-CN" altLang="zh-CN" sz="1600" dirty="0">
                <a:latin typeface="Times New Roman" panose="02020603050405020304" pitchFamily="18" charset="0"/>
              </a:rPr>
              <a:t>坡口形式及其适用的焊接件厚度</a:t>
            </a:r>
            <a:endParaRPr lang="zh-CN" altLang="zh-CN" sz="1600" dirty="0">
              <a:latin typeface="Times New Roman" panose="02020603050405020304" pitchFamily="18" charset="0"/>
            </a:endParaRPr>
          </a:p>
        </p:txBody>
      </p:sp>
      <p:pic>
        <p:nvPicPr>
          <p:cNvPr id="12307" name="Picture 26" descr="NEXT1">
            <a:hlinkClick r:id="" action="ppaction://hlinkshowjump?jump=nextslide"/>
          </p:cNvPr>
          <p:cNvPicPr>
            <a:picLocks noChangeAspect="1"/>
          </p:cNvPicPr>
          <p:nvPr/>
        </p:nvPicPr>
        <p:blipFill>
          <a:blip r:embed="rId6"/>
          <a:stretch>
            <a:fillRect/>
          </a:stretch>
        </p:blipFill>
        <p:spPr>
          <a:xfrm>
            <a:off x="8691563" y="6570663"/>
            <a:ext cx="287337" cy="287337"/>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1240"/>
                                        </p:tgtEl>
                                        <p:attrNameLst>
                                          <p:attrName>style.visibility</p:attrName>
                                        </p:attrNameLst>
                                      </p:cBhvr>
                                      <p:to>
                                        <p:strVal val="visible"/>
                                      </p:to>
                                    </p:set>
                                    <p:anim calcmode="lin" valueType="num">
                                      <p:cBhvr additive="base">
                                        <p:cTn id="7" dur="500" fill="hold"/>
                                        <p:tgtEl>
                                          <p:spTgt spid="51240"/>
                                        </p:tgtEl>
                                        <p:attrNameLst>
                                          <p:attrName>ppt_x</p:attrName>
                                        </p:attrNameLst>
                                      </p:cBhvr>
                                      <p:tavLst>
                                        <p:tav tm="0">
                                          <p:val>
                                            <p:strVal val="0-#ppt_w/2"/>
                                          </p:val>
                                        </p:tav>
                                        <p:tav tm="100000">
                                          <p:val>
                                            <p:strVal val="#ppt_x"/>
                                          </p:val>
                                        </p:tav>
                                      </p:tavLst>
                                    </p:anim>
                                    <p:anim calcmode="lin" valueType="num">
                                      <p:cBhvr additive="base">
                                        <p:cTn id="8" dur="500" fill="hold"/>
                                        <p:tgtEl>
                                          <p:spTgt spid="5124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276"/>
                                        </p:tgtEl>
                                        <p:attrNameLst>
                                          <p:attrName>style.visibility</p:attrName>
                                        </p:attrNameLst>
                                      </p:cBhvr>
                                      <p:to>
                                        <p:strVal val="visible"/>
                                      </p:to>
                                    </p:set>
                                    <p:animEffect transition="in" filter="wipe(left)">
                                      <p:cBhvr>
                                        <p:cTn id="13" dur="500"/>
                                        <p:tgtEl>
                                          <p:spTgt spid="11276"/>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wipe(left)">
                                      <p:cBhvr>
                                        <p:cTn id="18" dur="500"/>
                                        <p:tgtEl>
                                          <p:spTgt spid="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wipe(left)">
                                      <p:cBhvr>
                                        <p:cTn id="23" dur="500"/>
                                        <p:tgtEl>
                                          <p:spTgt spid="8"/>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wipe(left)">
                                      <p:cBhvr>
                                        <p:cTn id="28" dur="500"/>
                                        <p:tgtEl>
                                          <p:spTgt spid="9"/>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3"/>
                                        </p:tgtEl>
                                        <p:attrNameLst>
                                          <p:attrName>style.visibility</p:attrName>
                                        </p:attrNameLst>
                                      </p:cBhvr>
                                      <p:to>
                                        <p:strVal val="visible"/>
                                      </p:to>
                                    </p:set>
                                    <p:animEffect transition="in" filter="wipe(left)">
                                      <p:cBhvr>
                                        <p:cTn id="33" dur="500"/>
                                        <p:tgtEl>
                                          <p:spTgt spid="3"/>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wipe(left)">
                                      <p:cBhvr>
                                        <p:cTn id="38" dur="500"/>
                                        <p:tgtEl>
                                          <p:spTgt spid="10"/>
                                        </p:tgtEl>
                                      </p:cBhvr>
                                    </p:animEffect>
                                  </p:childTnLst>
                                </p:cTn>
                              </p:par>
                              <p:par>
                                <p:cTn id="39" presetID="22" presetClass="entr" presetSubtype="8" fill="hold" nodeType="withEffect">
                                  <p:stCondLst>
                                    <p:cond delay="0"/>
                                  </p:stCondLst>
                                  <p:childTnLst>
                                    <p:set>
                                      <p:cBhvr>
                                        <p:cTn id="40" dur="1" fill="hold">
                                          <p:stCondLst>
                                            <p:cond delay="0"/>
                                          </p:stCondLst>
                                        </p:cTn>
                                        <p:tgtEl>
                                          <p:spTgt spid="4"/>
                                        </p:tgtEl>
                                        <p:attrNameLst>
                                          <p:attrName>style.visibility</p:attrName>
                                        </p:attrNameLst>
                                      </p:cBhvr>
                                      <p:to>
                                        <p:strVal val="visible"/>
                                      </p:to>
                                    </p:set>
                                    <p:animEffect transition="in" filter="wipe(left)">
                                      <p:cBhvr>
                                        <p:cTn id="41" dur="500"/>
                                        <p:tgtEl>
                                          <p:spTgt spid="4"/>
                                        </p:tgtEl>
                                      </p:cBhvr>
                                    </p:animEffect>
                                  </p:childTnLst>
                                </p:cTn>
                              </p:par>
                              <p:par>
                                <p:cTn id="42" presetID="22" presetClass="entr" presetSubtype="8" fill="hold" grpId="0" nodeType="withEffect">
                                  <p:stCondLst>
                                    <p:cond delay="0"/>
                                  </p:stCondLst>
                                  <p:childTnLst>
                                    <p:set>
                                      <p:cBhvr>
                                        <p:cTn id="43" dur="1" fill="hold">
                                          <p:stCondLst>
                                            <p:cond delay="0"/>
                                          </p:stCondLst>
                                        </p:cTn>
                                        <p:tgtEl>
                                          <p:spTgt spid="11"/>
                                        </p:tgtEl>
                                        <p:attrNameLst>
                                          <p:attrName>style.visibility</p:attrName>
                                        </p:attrNameLst>
                                      </p:cBhvr>
                                      <p:to>
                                        <p:strVal val="visible"/>
                                      </p:to>
                                    </p:set>
                                    <p:animEffect transition="in" filter="wipe(left)">
                                      <p:cBhvr>
                                        <p:cTn id="44"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40" grpId="0"/>
      <p:bldP spid="11276" grpId="0"/>
      <p:bldP spid="2" grpId="0"/>
      <p:bldP spid="3" grpId="0"/>
      <p:bldP spid="8" grpId="0" animBg="1"/>
      <p:bldP spid="9" grpId="0"/>
      <p:bldP spid="10" grpId="0"/>
      <p:bldP spid="1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Rectangle 4"/>
          <p:cNvSpPr>
            <a:spLocks noGrp="1"/>
          </p:cNvSpPr>
          <p:nvPr>
            <p:ph type="title"/>
          </p:nvPr>
        </p:nvSpPr>
        <p:spPr>
          <a:xfrm>
            <a:off x="5932488" y="838200"/>
            <a:ext cx="2133600" cy="152400"/>
          </a:xfrm>
          <a:noFill/>
          <a:ln>
            <a:noFill/>
          </a:ln>
        </p:spPr>
        <p:txBody>
          <a:bodyPr/>
          <a:p>
            <a:pPr eaLnBrk="1" hangingPunct="1"/>
            <a:r>
              <a:rPr lang="zh-CN" altLang="en-US" sz="2800" dirty="0">
                <a:solidFill>
                  <a:schemeClr val="bg1"/>
                </a:solidFill>
                <a:ea typeface="华文中宋" panose="02010600040101010101" pitchFamily="2" charset="-122"/>
              </a:rPr>
              <a:t>焊接</a:t>
            </a:r>
            <a:r>
              <a:rPr lang="en-US" altLang="zh-CN" sz="2800" dirty="0">
                <a:solidFill>
                  <a:schemeClr val="bg1"/>
                </a:solidFill>
                <a:ea typeface="华文中宋" panose="02010600040101010101" pitchFamily="2" charset="-122"/>
              </a:rPr>
              <a:t>2</a:t>
            </a:r>
            <a:endParaRPr lang="en-US" altLang="zh-CN" sz="2800" dirty="0">
              <a:solidFill>
                <a:schemeClr val="bg1"/>
              </a:solidFill>
              <a:ea typeface="华文中宋" panose="02010600040101010101" pitchFamily="2" charset="-122"/>
            </a:endParaRPr>
          </a:p>
        </p:txBody>
      </p:sp>
      <p:sp>
        <p:nvSpPr>
          <p:cNvPr id="13315" name="Rectangle 5"/>
          <p:cNvSpPr>
            <a:spLocks noGrp="1"/>
          </p:cNvSpPr>
          <p:nvPr/>
        </p:nvSpPr>
        <p:spPr>
          <a:xfrm>
            <a:off x="1000125" y="0"/>
            <a:ext cx="1219200" cy="533400"/>
          </a:xfrm>
          <a:prstGeom prst="rect">
            <a:avLst/>
          </a:prstGeom>
          <a:noFill/>
          <a:ln w="9525">
            <a:noFill/>
          </a:ln>
        </p:spPr>
        <p:txBody>
          <a:bodyPr/>
          <a:p>
            <a:pPr eaLnBrk="0" hangingPunct="0"/>
            <a:r>
              <a:rPr lang="zh-CN" altLang="en-US" sz="3000" dirty="0">
                <a:solidFill>
                  <a:schemeClr val="bg1"/>
                </a:solidFill>
                <a:latin typeface="黑体" panose="02010609060101010101" pitchFamily="49" charset="-122"/>
                <a:ea typeface="黑体" panose="02010609060101010101" pitchFamily="49" charset="-122"/>
              </a:rPr>
              <a:t>焊 接</a:t>
            </a:r>
            <a:endParaRPr lang="zh-CN" altLang="en-US" sz="3000" dirty="0">
              <a:solidFill>
                <a:schemeClr val="bg1"/>
              </a:solidFill>
              <a:latin typeface="黑体" panose="02010609060101010101" pitchFamily="49" charset="-122"/>
              <a:ea typeface="黑体" panose="02010609060101010101" pitchFamily="49" charset="-122"/>
            </a:endParaRPr>
          </a:p>
        </p:txBody>
      </p:sp>
      <p:pic>
        <p:nvPicPr>
          <p:cNvPr id="13316" name="Picture 24" descr="rewind1">
            <a:hlinkClick r:id="rId1" action="ppaction://hlinksldjump"/>
          </p:cNvPr>
          <p:cNvPicPr>
            <a:picLocks noChangeAspect="1"/>
          </p:cNvPicPr>
          <p:nvPr/>
        </p:nvPicPr>
        <p:blipFill>
          <a:blip r:embed="rId2"/>
          <a:stretch>
            <a:fillRect/>
          </a:stretch>
        </p:blipFill>
        <p:spPr>
          <a:xfrm>
            <a:off x="8145463" y="6570663"/>
            <a:ext cx="287337" cy="287337"/>
          </a:xfrm>
          <a:prstGeom prst="rect">
            <a:avLst/>
          </a:prstGeom>
          <a:noFill/>
          <a:ln w="9525">
            <a:noFill/>
          </a:ln>
        </p:spPr>
      </p:pic>
      <p:pic>
        <p:nvPicPr>
          <p:cNvPr id="13317" name="Picture 25" descr="back1">
            <a:hlinkClick r:id="" action="ppaction://hlinkshowjump?jump=previousslide"/>
          </p:cNvPr>
          <p:cNvPicPr>
            <a:picLocks noChangeAspect="1"/>
          </p:cNvPicPr>
          <p:nvPr/>
        </p:nvPicPr>
        <p:blipFill>
          <a:blip r:embed="rId3"/>
          <a:stretch>
            <a:fillRect/>
          </a:stretch>
        </p:blipFill>
        <p:spPr>
          <a:xfrm>
            <a:off x="8501063" y="6570663"/>
            <a:ext cx="287337" cy="287337"/>
          </a:xfrm>
          <a:prstGeom prst="rect">
            <a:avLst/>
          </a:prstGeom>
          <a:noFill/>
          <a:ln w="9525">
            <a:noFill/>
          </a:ln>
        </p:spPr>
      </p:pic>
      <p:sp>
        <p:nvSpPr>
          <p:cNvPr id="51240" name="Text Box 40"/>
          <p:cNvSpPr txBox="1"/>
          <p:nvPr/>
        </p:nvSpPr>
        <p:spPr>
          <a:xfrm>
            <a:off x="6384925" y="6538913"/>
            <a:ext cx="271463" cy="427037"/>
          </a:xfrm>
          <a:prstGeom prst="rect">
            <a:avLst/>
          </a:prstGeom>
          <a:noFill/>
          <a:ln w="9525">
            <a:noFill/>
          </a:ln>
        </p:spPr>
        <p:txBody>
          <a:bodyPr wrap="none">
            <a:spAutoFit/>
          </a:bodyPr>
          <a:p>
            <a:r>
              <a:rPr lang="en-US" altLang="zh-CN" sz="2200" dirty="0">
                <a:solidFill>
                  <a:schemeClr val="tx1"/>
                </a:solidFill>
                <a:latin typeface="Tahoma" panose="020B0604030504040204" pitchFamily="34" charset="0"/>
              </a:rPr>
              <a:t> </a:t>
            </a:r>
            <a:endParaRPr lang="en-US" altLang="zh-CN" sz="2200" dirty="0">
              <a:solidFill>
                <a:schemeClr val="tx1"/>
              </a:solidFill>
              <a:latin typeface="Tahoma" panose="020B0604030504040204" pitchFamily="34" charset="0"/>
            </a:endParaRPr>
          </a:p>
        </p:txBody>
      </p:sp>
      <p:sp>
        <p:nvSpPr>
          <p:cNvPr id="13319" name="Rectangle 8"/>
          <p:cNvSpPr/>
          <p:nvPr/>
        </p:nvSpPr>
        <p:spPr>
          <a:xfrm>
            <a:off x="0" y="0"/>
            <a:ext cx="9144000" cy="0"/>
          </a:xfrm>
          <a:prstGeom prst="rect">
            <a:avLst/>
          </a:prstGeom>
          <a:noFill/>
          <a:ln w="9525">
            <a:noFill/>
          </a:ln>
        </p:spPr>
        <p:txBody>
          <a:bodyPr wrap="none" anchor="ctr" anchorCtr="0">
            <a:spAutoFit/>
          </a:bodyPr>
          <a:p>
            <a:endParaRPr lang="zh-CN" altLang="en-US" dirty="0">
              <a:latin typeface="Times New Roman" panose="02020603050405020304" pitchFamily="18" charset="0"/>
            </a:endParaRPr>
          </a:p>
        </p:txBody>
      </p:sp>
      <p:pic>
        <p:nvPicPr>
          <p:cNvPr id="13320" name="Picture 7"/>
          <p:cNvPicPr>
            <a:picLocks noChangeAspect="1"/>
          </p:cNvPicPr>
          <p:nvPr/>
        </p:nvPicPr>
        <p:blipFill>
          <a:blip r:embed="rId4">
            <a:clrChange>
              <a:clrFrom>
                <a:srgbClr val="FFFFFF"/>
              </a:clrFrom>
              <a:clrTo>
                <a:srgbClr val="FFFFFF">
                  <a:alpha val="0"/>
                </a:srgbClr>
              </a:clrTo>
            </a:clrChange>
          </a:blip>
          <a:stretch>
            <a:fillRect/>
          </a:stretch>
        </p:blipFill>
        <p:spPr>
          <a:xfrm>
            <a:off x="0" y="0"/>
            <a:ext cx="114300" cy="174625"/>
          </a:xfrm>
          <a:prstGeom prst="rect">
            <a:avLst/>
          </a:prstGeom>
          <a:noFill/>
          <a:ln w="9525">
            <a:noFill/>
          </a:ln>
        </p:spPr>
      </p:pic>
      <p:sp>
        <p:nvSpPr>
          <p:cNvPr id="13321" name="Rectangle 10"/>
          <p:cNvSpPr/>
          <p:nvPr/>
        </p:nvSpPr>
        <p:spPr>
          <a:xfrm>
            <a:off x="0" y="0"/>
            <a:ext cx="9144000" cy="0"/>
          </a:xfrm>
          <a:prstGeom prst="rect">
            <a:avLst/>
          </a:prstGeom>
          <a:noFill/>
          <a:ln w="9525">
            <a:noFill/>
          </a:ln>
        </p:spPr>
        <p:txBody>
          <a:bodyPr wrap="none" anchor="ctr" anchorCtr="0">
            <a:spAutoFit/>
          </a:bodyPr>
          <a:p>
            <a:endParaRPr lang="zh-CN" altLang="en-US" dirty="0">
              <a:latin typeface="Times New Roman" panose="02020603050405020304" pitchFamily="18" charset="0"/>
            </a:endParaRPr>
          </a:p>
        </p:txBody>
      </p:sp>
      <p:pic>
        <p:nvPicPr>
          <p:cNvPr id="13322" name="Picture 9"/>
          <p:cNvPicPr>
            <a:picLocks noChangeAspect="1"/>
          </p:cNvPicPr>
          <p:nvPr/>
        </p:nvPicPr>
        <p:blipFill>
          <a:blip r:embed="rId4">
            <a:clrChange>
              <a:clrFrom>
                <a:srgbClr val="FFFFFF"/>
              </a:clrFrom>
              <a:clrTo>
                <a:srgbClr val="FFFFFF">
                  <a:alpha val="0"/>
                </a:srgbClr>
              </a:clrTo>
            </a:clrChange>
          </a:blip>
          <a:stretch>
            <a:fillRect/>
          </a:stretch>
        </p:blipFill>
        <p:spPr>
          <a:xfrm>
            <a:off x="0" y="0"/>
            <a:ext cx="114300" cy="174625"/>
          </a:xfrm>
          <a:prstGeom prst="rect">
            <a:avLst/>
          </a:prstGeom>
          <a:noFill/>
          <a:ln w="9525">
            <a:noFill/>
          </a:ln>
        </p:spPr>
      </p:pic>
      <p:pic>
        <p:nvPicPr>
          <p:cNvPr id="6" name="图片 5"/>
          <p:cNvPicPr>
            <a:picLocks noChangeAspect="1"/>
          </p:cNvPicPr>
          <p:nvPr/>
        </p:nvPicPr>
        <p:blipFill>
          <a:blip r:embed="rId5"/>
          <a:stretch>
            <a:fillRect/>
          </a:stretch>
        </p:blipFill>
        <p:spPr>
          <a:xfrm>
            <a:off x="3040063" y="1900238"/>
            <a:ext cx="2293937" cy="1260475"/>
          </a:xfrm>
          <a:prstGeom prst="rect">
            <a:avLst/>
          </a:prstGeom>
          <a:noFill/>
          <a:ln w="9525">
            <a:noFill/>
          </a:ln>
        </p:spPr>
      </p:pic>
      <p:pic>
        <p:nvPicPr>
          <p:cNvPr id="7" name="图片 6"/>
          <p:cNvPicPr>
            <a:picLocks noChangeAspect="1"/>
          </p:cNvPicPr>
          <p:nvPr/>
        </p:nvPicPr>
        <p:blipFill>
          <a:blip r:embed="rId6"/>
          <a:stretch>
            <a:fillRect/>
          </a:stretch>
        </p:blipFill>
        <p:spPr>
          <a:xfrm>
            <a:off x="3125788" y="4437063"/>
            <a:ext cx="2382837" cy="1641475"/>
          </a:xfrm>
          <a:prstGeom prst="rect">
            <a:avLst/>
          </a:prstGeom>
          <a:noFill/>
          <a:ln w="9525">
            <a:noFill/>
          </a:ln>
        </p:spPr>
      </p:pic>
      <p:sp>
        <p:nvSpPr>
          <p:cNvPr id="12" name="TextBox 11"/>
          <p:cNvSpPr txBox="1"/>
          <p:nvPr/>
        </p:nvSpPr>
        <p:spPr>
          <a:xfrm>
            <a:off x="527050" y="765175"/>
            <a:ext cx="7704138" cy="989013"/>
          </a:xfrm>
          <a:prstGeom prst="rect">
            <a:avLst/>
          </a:prstGeom>
          <a:noFill/>
          <a:ln w="9525">
            <a:noFill/>
          </a:ln>
        </p:spPr>
        <p:txBody>
          <a:bodyPr>
            <a:spAutoFit/>
          </a:bodyPr>
          <a:p>
            <a:pPr>
              <a:lnSpc>
                <a:spcPts val="3500"/>
              </a:lnSpc>
            </a:pPr>
            <a:r>
              <a:rPr lang="en-US" altLang="zh-CN" dirty="0">
                <a:latin typeface="Times New Roman" panose="02020603050405020304" pitchFamily="18" charset="0"/>
              </a:rPr>
              <a:t>        </a:t>
            </a:r>
            <a:r>
              <a:rPr lang="zh-CN" altLang="zh-CN" dirty="0">
                <a:latin typeface="Times New Roman" panose="02020603050405020304" pitchFamily="18" charset="0"/>
              </a:rPr>
              <a:t>当焊缝受弯曲时，要把强度较弱的焊缝底面放在受压力的一面，如</a:t>
            </a:r>
            <a:r>
              <a:rPr lang="zh-CN" altLang="en-US" dirty="0">
                <a:latin typeface="Times New Roman" panose="02020603050405020304" pitchFamily="18" charset="0"/>
              </a:rPr>
              <a:t>下</a:t>
            </a:r>
            <a:r>
              <a:rPr lang="zh-CN" altLang="zh-CN" dirty="0">
                <a:latin typeface="Times New Roman" panose="02020603050405020304" pitchFamily="18" charset="0"/>
              </a:rPr>
              <a:t>图实线受力情况。</a:t>
            </a:r>
            <a:endParaRPr lang="zh-CN" altLang="zh-CN" dirty="0">
              <a:latin typeface="Times New Roman" panose="02020603050405020304" pitchFamily="18" charset="0"/>
            </a:endParaRPr>
          </a:p>
        </p:txBody>
      </p:sp>
      <p:sp>
        <p:nvSpPr>
          <p:cNvPr id="13" name="TextBox 12"/>
          <p:cNvSpPr txBox="1"/>
          <p:nvPr/>
        </p:nvSpPr>
        <p:spPr>
          <a:xfrm>
            <a:off x="1044575" y="3644900"/>
            <a:ext cx="7621588" cy="400050"/>
          </a:xfrm>
          <a:prstGeom prst="rect">
            <a:avLst/>
          </a:prstGeom>
          <a:noFill/>
          <a:ln w="9525">
            <a:noFill/>
          </a:ln>
        </p:spPr>
        <p:txBody>
          <a:bodyPr wrap="none">
            <a:spAutoFit/>
          </a:bodyPr>
          <a:p>
            <a:r>
              <a:rPr lang="zh-CN" altLang="zh-CN" dirty="0">
                <a:latin typeface="Times New Roman" panose="02020603050405020304" pitchFamily="18" charset="0"/>
              </a:rPr>
              <a:t>为了减小在焊缝交叉处的焊接应力，切去了加强肋交叉处的一角。</a:t>
            </a:r>
            <a:endParaRPr lang="zh-CN" altLang="zh-CN"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1240"/>
                                        </p:tgtEl>
                                        <p:attrNameLst>
                                          <p:attrName>style.visibility</p:attrName>
                                        </p:attrNameLst>
                                      </p:cBhvr>
                                      <p:to>
                                        <p:strVal val="visible"/>
                                      </p:to>
                                    </p:set>
                                    <p:anim calcmode="lin" valueType="num">
                                      <p:cBhvr additive="base">
                                        <p:cTn id="7" dur="500" fill="hold"/>
                                        <p:tgtEl>
                                          <p:spTgt spid="51240"/>
                                        </p:tgtEl>
                                        <p:attrNameLst>
                                          <p:attrName>ppt_x</p:attrName>
                                        </p:attrNameLst>
                                      </p:cBhvr>
                                      <p:tavLst>
                                        <p:tav tm="0">
                                          <p:val>
                                            <p:strVal val="0-#ppt_w/2"/>
                                          </p:val>
                                        </p:tav>
                                        <p:tav tm="100000">
                                          <p:val>
                                            <p:strVal val="#ppt_x"/>
                                          </p:val>
                                        </p:tav>
                                      </p:tavLst>
                                    </p:anim>
                                    <p:anim calcmode="lin" valueType="num">
                                      <p:cBhvr additive="base">
                                        <p:cTn id="8" dur="500" fill="hold"/>
                                        <p:tgtEl>
                                          <p:spTgt spid="5124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wipe(left)">
                                      <p:cBhvr>
                                        <p:cTn id="13" dur="500"/>
                                        <p:tgtEl>
                                          <p:spTgt spid="12"/>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wipe(left)">
                                      <p:cBhvr>
                                        <p:cTn id="18" dur="5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wipe(left)">
                                      <p:cBhvr>
                                        <p:cTn id="23" dur="500"/>
                                        <p:tgtEl>
                                          <p:spTgt spid="13"/>
                                        </p:tgtEl>
                                      </p:cBhvr>
                                    </p:animEffect>
                                  </p:childTnLst>
                                </p:cTn>
                              </p:par>
                              <p:par>
                                <p:cTn id="24" presetID="22" presetClass="entr" presetSubtype="4" fill="hold" nodeType="with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wipe(down)">
                                      <p:cBhvr>
                                        <p:cTn id="2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40" grpId="0"/>
      <p:bldP spid="12" grpId="0"/>
      <p:bldP spid="1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Rectangle 4"/>
          <p:cNvSpPr>
            <a:spLocks noGrp="1"/>
          </p:cNvSpPr>
          <p:nvPr>
            <p:ph type="title"/>
          </p:nvPr>
        </p:nvSpPr>
        <p:spPr>
          <a:xfrm>
            <a:off x="5932488" y="838200"/>
            <a:ext cx="2133600" cy="152400"/>
          </a:xfrm>
          <a:noFill/>
          <a:ln>
            <a:noFill/>
          </a:ln>
        </p:spPr>
        <p:txBody>
          <a:bodyPr/>
          <a:p>
            <a:pPr eaLnBrk="1" hangingPunct="1"/>
            <a:r>
              <a:rPr lang="zh-CN" altLang="en-US" sz="2800" dirty="0">
                <a:solidFill>
                  <a:schemeClr val="bg1"/>
                </a:solidFill>
                <a:ea typeface="华文中宋" panose="02010600040101010101" pitchFamily="2" charset="-122"/>
              </a:rPr>
              <a:t>焊接</a:t>
            </a:r>
            <a:r>
              <a:rPr lang="en-US" altLang="zh-CN" sz="2800" dirty="0">
                <a:solidFill>
                  <a:schemeClr val="bg1"/>
                </a:solidFill>
                <a:ea typeface="华文中宋" panose="02010600040101010101" pitchFamily="2" charset="-122"/>
              </a:rPr>
              <a:t>2</a:t>
            </a:r>
            <a:endParaRPr lang="en-US" altLang="zh-CN" sz="2800" dirty="0">
              <a:solidFill>
                <a:schemeClr val="bg1"/>
              </a:solidFill>
              <a:ea typeface="华文中宋" panose="02010600040101010101" pitchFamily="2" charset="-122"/>
            </a:endParaRPr>
          </a:p>
        </p:txBody>
      </p:sp>
      <p:sp>
        <p:nvSpPr>
          <p:cNvPr id="14339" name="Rectangle 5"/>
          <p:cNvSpPr>
            <a:spLocks noGrp="1"/>
          </p:cNvSpPr>
          <p:nvPr/>
        </p:nvSpPr>
        <p:spPr>
          <a:xfrm>
            <a:off x="1000125" y="0"/>
            <a:ext cx="1219200" cy="533400"/>
          </a:xfrm>
          <a:prstGeom prst="rect">
            <a:avLst/>
          </a:prstGeom>
          <a:noFill/>
          <a:ln w="9525">
            <a:noFill/>
          </a:ln>
        </p:spPr>
        <p:txBody>
          <a:bodyPr/>
          <a:p>
            <a:pPr eaLnBrk="0" hangingPunct="0"/>
            <a:r>
              <a:rPr lang="zh-CN" altLang="en-US" sz="3000" dirty="0">
                <a:solidFill>
                  <a:schemeClr val="bg1"/>
                </a:solidFill>
                <a:latin typeface="黑体" panose="02010609060101010101" pitchFamily="49" charset="-122"/>
                <a:ea typeface="黑体" panose="02010609060101010101" pitchFamily="49" charset="-122"/>
              </a:rPr>
              <a:t>铆 接</a:t>
            </a:r>
            <a:endParaRPr lang="zh-CN" altLang="en-US" sz="3000" dirty="0">
              <a:solidFill>
                <a:schemeClr val="bg1"/>
              </a:solidFill>
              <a:latin typeface="黑体" panose="02010609060101010101" pitchFamily="49" charset="-122"/>
              <a:ea typeface="黑体" panose="02010609060101010101" pitchFamily="49" charset="-122"/>
            </a:endParaRPr>
          </a:p>
        </p:txBody>
      </p:sp>
      <p:pic>
        <p:nvPicPr>
          <p:cNvPr id="51224" name="Picture 24" descr="rewind1">
            <a:hlinkClick r:id="rId1" action="ppaction://hlinksldjump"/>
          </p:cNvPr>
          <p:cNvPicPr>
            <a:picLocks noChangeAspect="1"/>
          </p:cNvPicPr>
          <p:nvPr/>
        </p:nvPicPr>
        <p:blipFill>
          <a:blip r:embed="rId2"/>
          <a:stretch>
            <a:fillRect/>
          </a:stretch>
        </p:blipFill>
        <p:spPr>
          <a:xfrm>
            <a:off x="8231188" y="6570663"/>
            <a:ext cx="287337" cy="287337"/>
          </a:xfrm>
          <a:prstGeom prst="rect">
            <a:avLst/>
          </a:prstGeom>
          <a:noFill/>
          <a:ln w="9525">
            <a:noFill/>
          </a:ln>
        </p:spPr>
      </p:pic>
      <p:pic>
        <p:nvPicPr>
          <p:cNvPr id="51226" name="Picture 26" descr="NEXT1">
            <a:hlinkClick r:id="" action="ppaction://hlinkshowjump?jump=nextslide"/>
          </p:cNvPr>
          <p:cNvPicPr>
            <a:picLocks noChangeAspect="1"/>
          </p:cNvPicPr>
          <p:nvPr/>
        </p:nvPicPr>
        <p:blipFill>
          <a:blip r:embed="rId3"/>
          <a:stretch>
            <a:fillRect/>
          </a:stretch>
        </p:blipFill>
        <p:spPr>
          <a:xfrm>
            <a:off x="8643938" y="6570663"/>
            <a:ext cx="287337" cy="287337"/>
          </a:xfrm>
          <a:prstGeom prst="rect">
            <a:avLst/>
          </a:prstGeom>
          <a:noFill/>
          <a:ln w="9525">
            <a:noFill/>
          </a:ln>
        </p:spPr>
      </p:pic>
      <p:sp>
        <p:nvSpPr>
          <p:cNvPr id="51240" name="Text Box 40"/>
          <p:cNvSpPr txBox="1"/>
          <p:nvPr/>
        </p:nvSpPr>
        <p:spPr>
          <a:xfrm>
            <a:off x="6384925" y="6538913"/>
            <a:ext cx="271463" cy="427037"/>
          </a:xfrm>
          <a:prstGeom prst="rect">
            <a:avLst/>
          </a:prstGeom>
          <a:noFill/>
          <a:ln w="9525">
            <a:noFill/>
          </a:ln>
        </p:spPr>
        <p:txBody>
          <a:bodyPr wrap="none">
            <a:spAutoFit/>
          </a:bodyPr>
          <a:p>
            <a:r>
              <a:rPr lang="en-US" altLang="zh-CN" sz="2200" dirty="0">
                <a:solidFill>
                  <a:schemeClr val="tx1"/>
                </a:solidFill>
                <a:latin typeface="Tahoma" panose="020B0604030504040204" pitchFamily="34" charset="0"/>
              </a:rPr>
              <a:t> </a:t>
            </a:r>
            <a:endParaRPr lang="en-US" altLang="zh-CN" sz="2200" dirty="0">
              <a:solidFill>
                <a:schemeClr val="tx1"/>
              </a:solidFill>
              <a:latin typeface="Tahoma" panose="020B0604030504040204" pitchFamily="34" charset="0"/>
            </a:endParaRPr>
          </a:p>
        </p:txBody>
      </p:sp>
      <p:sp>
        <p:nvSpPr>
          <p:cNvPr id="14343" name="Rectangle 8"/>
          <p:cNvSpPr/>
          <p:nvPr/>
        </p:nvSpPr>
        <p:spPr>
          <a:xfrm>
            <a:off x="0" y="0"/>
            <a:ext cx="9144000" cy="0"/>
          </a:xfrm>
          <a:prstGeom prst="rect">
            <a:avLst/>
          </a:prstGeom>
          <a:noFill/>
          <a:ln w="9525">
            <a:noFill/>
          </a:ln>
        </p:spPr>
        <p:txBody>
          <a:bodyPr wrap="none" anchor="ctr" anchorCtr="0">
            <a:spAutoFit/>
          </a:bodyPr>
          <a:p>
            <a:endParaRPr lang="zh-CN" altLang="en-US" dirty="0">
              <a:latin typeface="Times New Roman" panose="02020603050405020304" pitchFamily="18" charset="0"/>
            </a:endParaRPr>
          </a:p>
        </p:txBody>
      </p:sp>
      <p:pic>
        <p:nvPicPr>
          <p:cNvPr id="14344" name="Picture 7"/>
          <p:cNvPicPr>
            <a:picLocks noChangeAspect="1"/>
          </p:cNvPicPr>
          <p:nvPr/>
        </p:nvPicPr>
        <p:blipFill>
          <a:blip r:embed="rId4">
            <a:clrChange>
              <a:clrFrom>
                <a:srgbClr val="FFFFFF"/>
              </a:clrFrom>
              <a:clrTo>
                <a:srgbClr val="FFFFFF">
                  <a:alpha val="0"/>
                </a:srgbClr>
              </a:clrTo>
            </a:clrChange>
          </a:blip>
          <a:stretch>
            <a:fillRect/>
          </a:stretch>
        </p:blipFill>
        <p:spPr>
          <a:xfrm>
            <a:off x="0" y="0"/>
            <a:ext cx="114300" cy="174625"/>
          </a:xfrm>
          <a:prstGeom prst="rect">
            <a:avLst/>
          </a:prstGeom>
          <a:noFill/>
          <a:ln w="9525">
            <a:noFill/>
          </a:ln>
        </p:spPr>
      </p:pic>
      <p:sp>
        <p:nvSpPr>
          <p:cNvPr id="14345" name="Rectangle 10"/>
          <p:cNvSpPr/>
          <p:nvPr/>
        </p:nvSpPr>
        <p:spPr>
          <a:xfrm>
            <a:off x="0" y="0"/>
            <a:ext cx="9144000" cy="0"/>
          </a:xfrm>
          <a:prstGeom prst="rect">
            <a:avLst/>
          </a:prstGeom>
          <a:noFill/>
          <a:ln w="9525">
            <a:noFill/>
          </a:ln>
        </p:spPr>
        <p:txBody>
          <a:bodyPr wrap="none" anchor="ctr" anchorCtr="0">
            <a:spAutoFit/>
          </a:bodyPr>
          <a:p>
            <a:endParaRPr lang="zh-CN" altLang="en-US" dirty="0">
              <a:latin typeface="Times New Roman" panose="02020603050405020304" pitchFamily="18" charset="0"/>
            </a:endParaRPr>
          </a:p>
        </p:txBody>
      </p:sp>
      <p:pic>
        <p:nvPicPr>
          <p:cNvPr id="14346" name="Picture 9"/>
          <p:cNvPicPr>
            <a:picLocks noChangeAspect="1"/>
          </p:cNvPicPr>
          <p:nvPr/>
        </p:nvPicPr>
        <p:blipFill>
          <a:blip r:embed="rId4">
            <a:clrChange>
              <a:clrFrom>
                <a:srgbClr val="FFFFFF"/>
              </a:clrFrom>
              <a:clrTo>
                <a:srgbClr val="FFFFFF">
                  <a:alpha val="0"/>
                </a:srgbClr>
              </a:clrTo>
            </a:clrChange>
          </a:blip>
          <a:stretch>
            <a:fillRect/>
          </a:stretch>
        </p:blipFill>
        <p:spPr>
          <a:xfrm>
            <a:off x="0" y="0"/>
            <a:ext cx="114300" cy="174625"/>
          </a:xfrm>
          <a:prstGeom prst="rect">
            <a:avLst/>
          </a:prstGeom>
          <a:noFill/>
          <a:ln w="9525">
            <a:noFill/>
          </a:ln>
        </p:spPr>
      </p:pic>
      <p:sp>
        <p:nvSpPr>
          <p:cNvPr id="13324" name="TextBox 18"/>
          <p:cNvSpPr txBox="1"/>
          <p:nvPr/>
        </p:nvSpPr>
        <p:spPr>
          <a:xfrm>
            <a:off x="571500" y="785813"/>
            <a:ext cx="8072438" cy="938212"/>
          </a:xfrm>
          <a:prstGeom prst="rect">
            <a:avLst/>
          </a:prstGeom>
          <a:noFill/>
          <a:ln w="9525">
            <a:noFill/>
          </a:ln>
        </p:spPr>
        <p:txBody>
          <a:bodyPr>
            <a:spAutoFit/>
          </a:bodyPr>
          <a:p>
            <a:pPr>
              <a:lnSpc>
                <a:spcPts val="3500"/>
              </a:lnSpc>
            </a:pPr>
            <a:r>
              <a:rPr lang="zh-CN" altLang="en-US" dirty="0">
                <a:latin typeface="Times New Roman" panose="02020603050405020304" pitchFamily="18" charset="0"/>
              </a:rPr>
              <a:t>       </a:t>
            </a:r>
            <a:r>
              <a:rPr lang="zh-CN" altLang="en-US" dirty="0">
                <a:solidFill>
                  <a:srgbClr val="C00000"/>
                </a:solidFill>
                <a:latin typeface="Times New Roman" panose="02020603050405020304" pitchFamily="18" charset="0"/>
              </a:rPr>
              <a:t>铆接</a:t>
            </a:r>
            <a:r>
              <a:rPr lang="zh-CN" altLang="en-US" dirty="0">
                <a:latin typeface="Times New Roman" panose="02020603050405020304" pitchFamily="18" charset="0"/>
              </a:rPr>
              <a:t>是利用铆钉将两个或两个以上的元件（一般为板材或型材）连接在一起的一种不可拆的连接，其典型结构如下图。</a:t>
            </a:r>
            <a:endParaRPr lang="zh-CN" altLang="en-US" dirty="0">
              <a:latin typeface="Times New Roman" panose="02020603050405020304" pitchFamily="18" charset="0"/>
            </a:endParaRPr>
          </a:p>
        </p:txBody>
      </p:sp>
      <p:pic>
        <p:nvPicPr>
          <p:cNvPr id="13325" name="Picture 2" descr="D:\2.科研项目\《机械设计》\高教社杜惠萍\书页扫描\第3.12章和第3.13章\3-13-15 [转换].tif"/>
          <p:cNvPicPr>
            <a:picLocks noChangeAspect="1"/>
          </p:cNvPicPr>
          <p:nvPr/>
        </p:nvPicPr>
        <p:blipFill>
          <a:blip r:embed="rId5"/>
          <a:stretch>
            <a:fillRect/>
          </a:stretch>
        </p:blipFill>
        <p:spPr>
          <a:xfrm>
            <a:off x="1071563" y="2000250"/>
            <a:ext cx="7064375" cy="2928938"/>
          </a:xfrm>
          <a:prstGeom prst="rect">
            <a:avLst/>
          </a:prstGeom>
          <a:noFill/>
          <a:ln w="9525">
            <a:noFill/>
          </a:ln>
        </p:spPr>
      </p:pic>
      <p:sp>
        <p:nvSpPr>
          <p:cNvPr id="13326" name="TextBox 19"/>
          <p:cNvSpPr txBox="1"/>
          <p:nvPr/>
        </p:nvSpPr>
        <p:spPr>
          <a:xfrm>
            <a:off x="500063" y="5214938"/>
            <a:ext cx="8215312" cy="1298575"/>
          </a:xfrm>
          <a:prstGeom prst="rect">
            <a:avLst/>
          </a:prstGeom>
          <a:noFill/>
          <a:ln w="9525">
            <a:noFill/>
          </a:ln>
        </p:spPr>
        <p:txBody>
          <a:bodyPr>
            <a:spAutoFit/>
          </a:bodyPr>
          <a:p>
            <a:pPr>
              <a:lnSpc>
                <a:spcPts val="3500"/>
              </a:lnSpc>
            </a:pPr>
            <a:r>
              <a:rPr lang="zh-CN" altLang="en-US" dirty="0">
                <a:latin typeface="Times New Roman" panose="02020603050405020304" pitchFamily="18" charset="0"/>
              </a:rPr>
              <a:t>        它们主要是由连接件</a:t>
            </a:r>
            <a:r>
              <a:rPr lang="en-US" altLang="zh-CN" dirty="0">
                <a:latin typeface="Times New Roman" panose="02020603050405020304" pitchFamily="18" charset="0"/>
              </a:rPr>
              <a:t>1</a:t>
            </a:r>
            <a:r>
              <a:rPr lang="zh-CN" altLang="en-US" dirty="0">
                <a:latin typeface="Times New Roman" panose="02020603050405020304" pitchFamily="18" charset="0"/>
              </a:rPr>
              <a:t>和被连接件</a:t>
            </a:r>
            <a:r>
              <a:rPr lang="en-US" altLang="zh-CN" dirty="0">
                <a:latin typeface="Times New Roman" panose="02020603050405020304" pitchFamily="18" charset="0"/>
              </a:rPr>
              <a:t>2</a:t>
            </a:r>
            <a:r>
              <a:rPr lang="zh-CN" altLang="en-US" dirty="0">
                <a:latin typeface="Times New Roman" panose="02020603050405020304" pitchFamily="18" charset="0"/>
              </a:rPr>
              <a:t>、</a:t>
            </a:r>
            <a:r>
              <a:rPr lang="en-US" altLang="zh-CN" dirty="0">
                <a:latin typeface="Times New Roman" panose="02020603050405020304" pitchFamily="18" charset="0"/>
              </a:rPr>
              <a:t>3</a:t>
            </a:r>
            <a:r>
              <a:rPr lang="zh-CN" altLang="en-US" dirty="0">
                <a:latin typeface="Times New Roman" panose="02020603050405020304" pitchFamily="18" charset="0"/>
              </a:rPr>
              <a:t>所组成，有的还有辅助连接件搭板</a:t>
            </a:r>
            <a:r>
              <a:rPr lang="en-US" altLang="zh-CN" dirty="0">
                <a:latin typeface="Times New Roman" panose="02020603050405020304" pitchFamily="18" charset="0"/>
              </a:rPr>
              <a:t>4</a:t>
            </a:r>
            <a:r>
              <a:rPr lang="zh-CN" altLang="en-US" dirty="0">
                <a:latin typeface="Times New Roman" panose="02020603050405020304" pitchFamily="18" charset="0"/>
              </a:rPr>
              <a:t>。这些基本元件在构造物上所形成的部分称为铆接缝，简称</a:t>
            </a:r>
            <a:r>
              <a:rPr lang="zh-CN" altLang="en-US" dirty="0">
                <a:solidFill>
                  <a:srgbClr val="C00000"/>
                </a:solidFill>
                <a:latin typeface="Times New Roman" panose="02020603050405020304" pitchFamily="18" charset="0"/>
              </a:rPr>
              <a:t>铆缝。</a:t>
            </a:r>
            <a:endParaRPr lang="zh-CN" altLang="en-US" dirty="0">
              <a:solidFill>
                <a:srgbClr val="C00000"/>
              </a:solidFill>
              <a:latin typeface="Times New Roman" panose="02020603050405020304" pitchFamily="18" charset="0"/>
            </a:endParaRPr>
          </a:p>
          <a:p>
            <a:endParaRPr lang="zh-CN" altLang="en-US"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499"/>
                                          </p:stCondLst>
                                        </p:cTn>
                                        <p:tgtEl>
                                          <p:spTgt spid="51226"/>
                                        </p:tgtEl>
                                        <p:attrNameLst>
                                          <p:attrName>style.visibility</p:attrName>
                                        </p:attrNameLst>
                                      </p:cBhvr>
                                      <p:to>
                                        <p:strVal val="visible"/>
                                      </p:to>
                                    </p:set>
                                  </p:childTnLst>
                                </p:cTn>
                              </p:par>
                            </p:childTnLst>
                          </p:cTn>
                        </p:par>
                        <p:par>
                          <p:cTn id="7" fill="hold">
                            <p:stCondLst>
                              <p:cond delay="500"/>
                            </p:stCondLst>
                            <p:childTnLst>
                              <p:par>
                                <p:cTn id="8" presetID="2" presetClass="entr" presetSubtype="8" fill="hold" nodeType="afterEffect">
                                  <p:stCondLst>
                                    <p:cond delay="0"/>
                                  </p:stCondLst>
                                  <p:childTnLst>
                                    <p:set>
                                      <p:cBhvr>
                                        <p:cTn id="9" dur="1" fill="hold">
                                          <p:stCondLst>
                                            <p:cond delay="0"/>
                                          </p:stCondLst>
                                        </p:cTn>
                                        <p:tgtEl>
                                          <p:spTgt spid="51224"/>
                                        </p:tgtEl>
                                        <p:attrNameLst>
                                          <p:attrName>style.visibility</p:attrName>
                                        </p:attrNameLst>
                                      </p:cBhvr>
                                      <p:to>
                                        <p:strVal val="visible"/>
                                      </p:to>
                                    </p:set>
                                    <p:anim calcmode="lin" valueType="num">
                                      <p:cBhvr additive="base">
                                        <p:cTn id="10" dur="500" fill="hold"/>
                                        <p:tgtEl>
                                          <p:spTgt spid="51224"/>
                                        </p:tgtEl>
                                        <p:attrNameLst>
                                          <p:attrName>ppt_x</p:attrName>
                                        </p:attrNameLst>
                                      </p:cBhvr>
                                      <p:tavLst>
                                        <p:tav tm="0">
                                          <p:val>
                                            <p:strVal val="0-#ppt_w/2"/>
                                          </p:val>
                                        </p:tav>
                                        <p:tav tm="100000">
                                          <p:val>
                                            <p:strVal val="#ppt_x"/>
                                          </p:val>
                                        </p:tav>
                                      </p:tavLst>
                                    </p:anim>
                                    <p:anim calcmode="lin" valueType="num">
                                      <p:cBhvr additive="base">
                                        <p:cTn id="11" dur="500" fill="hold"/>
                                        <p:tgtEl>
                                          <p:spTgt spid="51224"/>
                                        </p:tgtEl>
                                        <p:attrNameLst>
                                          <p:attrName>ppt_y</p:attrName>
                                        </p:attrNameLst>
                                      </p:cBhvr>
                                      <p:tavLst>
                                        <p:tav tm="0">
                                          <p:val>
                                            <p:strVal val="#ppt_y"/>
                                          </p:val>
                                        </p:tav>
                                        <p:tav tm="100000">
                                          <p:val>
                                            <p:strVal val="#ppt_y"/>
                                          </p:val>
                                        </p:tav>
                                      </p:tavLst>
                                    </p:anim>
                                  </p:childTnLst>
                                </p:cTn>
                              </p:par>
                            </p:childTnLst>
                          </p:cTn>
                        </p:par>
                      </p:childTnLst>
                    </p:cTn>
                  </p:par>
                  <p:par>
                    <p:cTn id="12" fill="hold">
                      <p:stCondLst>
                        <p:cond delay="indefinite"/>
                      </p:stCondLst>
                      <p:childTnLst>
                        <p:par>
                          <p:cTn id="13" fill="hold">
                            <p:stCondLst>
                              <p:cond delay="0"/>
                            </p:stCondLst>
                            <p:childTnLst>
                              <p:par>
                                <p:cTn id="14" presetID="2" presetClass="entr" presetSubtype="8" fill="hold" grpId="0" nodeType="clickEffect">
                                  <p:stCondLst>
                                    <p:cond delay="0"/>
                                  </p:stCondLst>
                                  <p:childTnLst>
                                    <p:set>
                                      <p:cBhvr>
                                        <p:cTn id="15" dur="1" fill="hold">
                                          <p:stCondLst>
                                            <p:cond delay="0"/>
                                          </p:stCondLst>
                                        </p:cTn>
                                        <p:tgtEl>
                                          <p:spTgt spid="51240"/>
                                        </p:tgtEl>
                                        <p:attrNameLst>
                                          <p:attrName>style.visibility</p:attrName>
                                        </p:attrNameLst>
                                      </p:cBhvr>
                                      <p:to>
                                        <p:strVal val="visible"/>
                                      </p:to>
                                    </p:set>
                                    <p:anim calcmode="lin" valueType="num">
                                      <p:cBhvr additive="base">
                                        <p:cTn id="16" dur="500" fill="hold"/>
                                        <p:tgtEl>
                                          <p:spTgt spid="51240"/>
                                        </p:tgtEl>
                                        <p:attrNameLst>
                                          <p:attrName>ppt_x</p:attrName>
                                        </p:attrNameLst>
                                      </p:cBhvr>
                                      <p:tavLst>
                                        <p:tav tm="0">
                                          <p:val>
                                            <p:strVal val="0-#ppt_w/2"/>
                                          </p:val>
                                        </p:tav>
                                        <p:tav tm="100000">
                                          <p:val>
                                            <p:strVal val="#ppt_x"/>
                                          </p:val>
                                        </p:tav>
                                      </p:tavLst>
                                    </p:anim>
                                    <p:anim calcmode="lin" valueType="num">
                                      <p:cBhvr additive="base">
                                        <p:cTn id="17" dur="500" fill="hold"/>
                                        <p:tgtEl>
                                          <p:spTgt spid="51240"/>
                                        </p:tgtEl>
                                        <p:attrNameLst>
                                          <p:attrName>ppt_y</p:attrName>
                                        </p:attrNameLst>
                                      </p:cBhvr>
                                      <p:tavLst>
                                        <p:tav tm="0">
                                          <p:val>
                                            <p:strVal val="#ppt_y"/>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3324"/>
                                        </p:tgtEl>
                                        <p:attrNameLst>
                                          <p:attrName>style.visibility</p:attrName>
                                        </p:attrNameLst>
                                      </p:cBhvr>
                                      <p:to>
                                        <p:strVal val="visible"/>
                                      </p:to>
                                    </p:set>
                                    <p:animEffect transition="in" filter="wipe(left)">
                                      <p:cBhvr>
                                        <p:cTn id="22" dur="500"/>
                                        <p:tgtEl>
                                          <p:spTgt spid="1332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3325"/>
                                        </p:tgtEl>
                                        <p:attrNameLst>
                                          <p:attrName>style.visibility</p:attrName>
                                        </p:attrNameLst>
                                      </p:cBhvr>
                                      <p:to>
                                        <p:strVal val="visible"/>
                                      </p:to>
                                    </p:set>
                                    <p:animEffect transition="in" filter="wipe(left)">
                                      <p:cBhvr>
                                        <p:cTn id="27" dur="500"/>
                                        <p:tgtEl>
                                          <p:spTgt spid="1332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3326"/>
                                        </p:tgtEl>
                                        <p:attrNameLst>
                                          <p:attrName>style.visibility</p:attrName>
                                        </p:attrNameLst>
                                      </p:cBhvr>
                                      <p:to>
                                        <p:strVal val="visible"/>
                                      </p:to>
                                    </p:set>
                                    <p:animEffect transition="in" filter="wipe(left)">
                                      <p:cBhvr>
                                        <p:cTn id="32" dur="500"/>
                                        <p:tgtEl>
                                          <p:spTgt spid="133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40" grpId="0"/>
      <p:bldP spid="13324" grpId="0"/>
      <p:bldP spid="1332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Rectangle 4"/>
          <p:cNvSpPr>
            <a:spLocks noGrp="1"/>
          </p:cNvSpPr>
          <p:nvPr>
            <p:ph type="title"/>
          </p:nvPr>
        </p:nvSpPr>
        <p:spPr>
          <a:xfrm>
            <a:off x="5932488" y="838200"/>
            <a:ext cx="2133600" cy="152400"/>
          </a:xfrm>
          <a:noFill/>
          <a:ln>
            <a:noFill/>
          </a:ln>
        </p:spPr>
        <p:txBody>
          <a:bodyPr/>
          <a:p>
            <a:pPr eaLnBrk="1" hangingPunct="1"/>
            <a:r>
              <a:rPr lang="zh-CN" altLang="en-US" sz="2800" dirty="0">
                <a:solidFill>
                  <a:schemeClr val="bg1"/>
                </a:solidFill>
                <a:ea typeface="华文中宋" panose="02010600040101010101" pitchFamily="2" charset="-122"/>
              </a:rPr>
              <a:t>焊接</a:t>
            </a:r>
            <a:r>
              <a:rPr lang="en-US" altLang="zh-CN" sz="2800" dirty="0">
                <a:solidFill>
                  <a:schemeClr val="bg1"/>
                </a:solidFill>
                <a:ea typeface="华文中宋" panose="02010600040101010101" pitchFamily="2" charset="-122"/>
              </a:rPr>
              <a:t>2</a:t>
            </a:r>
            <a:endParaRPr lang="en-US" altLang="zh-CN" sz="2800" dirty="0">
              <a:solidFill>
                <a:schemeClr val="bg1"/>
              </a:solidFill>
              <a:ea typeface="华文中宋" panose="02010600040101010101" pitchFamily="2" charset="-122"/>
            </a:endParaRPr>
          </a:p>
        </p:txBody>
      </p:sp>
      <p:sp>
        <p:nvSpPr>
          <p:cNvPr id="15363" name="Rectangle 5"/>
          <p:cNvSpPr>
            <a:spLocks noGrp="1"/>
          </p:cNvSpPr>
          <p:nvPr/>
        </p:nvSpPr>
        <p:spPr>
          <a:xfrm>
            <a:off x="1000125" y="0"/>
            <a:ext cx="1219200" cy="533400"/>
          </a:xfrm>
          <a:prstGeom prst="rect">
            <a:avLst/>
          </a:prstGeom>
          <a:noFill/>
          <a:ln w="9525">
            <a:noFill/>
          </a:ln>
        </p:spPr>
        <p:txBody>
          <a:bodyPr/>
          <a:p>
            <a:pPr eaLnBrk="0" hangingPunct="0"/>
            <a:r>
              <a:rPr lang="zh-CN" altLang="en-US" sz="3000" dirty="0">
                <a:solidFill>
                  <a:schemeClr val="bg1"/>
                </a:solidFill>
                <a:latin typeface="黑体" panose="02010609060101010101" pitchFamily="49" charset="-122"/>
                <a:ea typeface="黑体" panose="02010609060101010101" pitchFamily="49" charset="-122"/>
              </a:rPr>
              <a:t>铆 接</a:t>
            </a:r>
            <a:endParaRPr lang="zh-CN" altLang="en-US" sz="3000" dirty="0">
              <a:solidFill>
                <a:schemeClr val="bg1"/>
              </a:solidFill>
              <a:latin typeface="黑体" panose="02010609060101010101" pitchFamily="49" charset="-122"/>
              <a:ea typeface="黑体" panose="02010609060101010101" pitchFamily="49" charset="-122"/>
            </a:endParaRPr>
          </a:p>
        </p:txBody>
      </p:sp>
      <p:pic>
        <p:nvPicPr>
          <p:cNvPr id="51224" name="Picture 24" descr="rewind1">
            <a:hlinkClick r:id="rId1" action="ppaction://hlinksldjump"/>
          </p:cNvPr>
          <p:cNvPicPr>
            <a:picLocks noChangeAspect="1"/>
          </p:cNvPicPr>
          <p:nvPr/>
        </p:nvPicPr>
        <p:blipFill>
          <a:blip r:embed="rId2"/>
          <a:stretch>
            <a:fillRect/>
          </a:stretch>
        </p:blipFill>
        <p:spPr>
          <a:xfrm>
            <a:off x="8001000" y="6570663"/>
            <a:ext cx="287338" cy="287337"/>
          </a:xfrm>
          <a:prstGeom prst="rect">
            <a:avLst/>
          </a:prstGeom>
          <a:noFill/>
          <a:ln w="9525">
            <a:noFill/>
          </a:ln>
        </p:spPr>
      </p:pic>
      <p:pic>
        <p:nvPicPr>
          <p:cNvPr id="51225" name="Picture 25" descr="back1">
            <a:hlinkClick r:id="" action="ppaction://hlinkshowjump?jump=previousslide"/>
          </p:cNvPr>
          <p:cNvPicPr>
            <a:picLocks noChangeAspect="1"/>
          </p:cNvPicPr>
          <p:nvPr/>
        </p:nvPicPr>
        <p:blipFill>
          <a:blip r:embed="rId3"/>
          <a:stretch>
            <a:fillRect/>
          </a:stretch>
        </p:blipFill>
        <p:spPr>
          <a:xfrm>
            <a:off x="8358188" y="6570663"/>
            <a:ext cx="287337" cy="287337"/>
          </a:xfrm>
          <a:prstGeom prst="rect">
            <a:avLst/>
          </a:prstGeom>
          <a:noFill/>
          <a:ln w="9525">
            <a:noFill/>
          </a:ln>
        </p:spPr>
      </p:pic>
      <p:pic>
        <p:nvPicPr>
          <p:cNvPr id="51226" name="Picture 26" descr="NEXT1">
            <a:hlinkClick r:id="" action="ppaction://hlinkshowjump?jump=nextslide"/>
          </p:cNvPr>
          <p:cNvPicPr>
            <a:picLocks noChangeAspect="1"/>
          </p:cNvPicPr>
          <p:nvPr/>
        </p:nvPicPr>
        <p:blipFill>
          <a:blip r:embed="rId4"/>
          <a:stretch>
            <a:fillRect/>
          </a:stretch>
        </p:blipFill>
        <p:spPr>
          <a:xfrm>
            <a:off x="8715375" y="6570663"/>
            <a:ext cx="287338" cy="287337"/>
          </a:xfrm>
          <a:prstGeom prst="rect">
            <a:avLst/>
          </a:prstGeom>
          <a:noFill/>
          <a:ln w="9525">
            <a:noFill/>
          </a:ln>
        </p:spPr>
      </p:pic>
      <p:sp>
        <p:nvSpPr>
          <p:cNvPr id="51240" name="Text Box 40"/>
          <p:cNvSpPr txBox="1"/>
          <p:nvPr/>
        </p:nvSpPr>
        <p:spPr>
          <a:xfrm>
            <a:off x="6384925" y="6538913"/>
            <a:ext cx="271463" cy="427037"/>
          </a:xfrm>
          <a:prstGeom prst="rect">
            <a:avLst/>
          </a:prstGeom>
          <a:noFill/>
          <a:ln w="9525">
            <a:noFill/>
          </a:ln>
        </p:spPr>
        <p:txBody>
          <a:bodyPr wrap="none">
            <a:spAutoFit/>
          </a:bodyPr>
          <a:p>
            <a:r>
              <a:rPr lang="en-US" altLang="zh-CN" sz="2200" dirty="0">
                <a:solidFill>
                  <a:schemeClr val="tx1"/>
                </a:solidFill>
                <a:latin typeface="Tahoma" panose="020B0604030504040204" pitchFamily="34" charset="0"/>
              </a:rPr>
              <a:t> </a:t>
            </a:r>
            <a:endParaRPr lang="en-US" altLang="zh-CN" sz="2200" dirty="0">
              <a:solidFill>
                <a:schemeClr val="tx1"/>
              </a:solidFill>
              <a:latin typeface="Tahoma" panose="020B0604030504040204" pitchFamily="34" charset="0"/>
            </a:endParaRPr>
          </a:p>
        </p:txBody>
      </p:sp>
      <p:sp>
        <p:nvSpPr>
          <p:cNvPr id="15368" name="Rectangle 8"/>
          <p:cNvSpPr/>
          <p:nvPr/>
        </p:nvSpPr>
        <p:spPr>
          <a:xfrm>
            <a:off x="0" y="0"/>
            <a:ext cx="9144000" cy="0"/>
          </a:xfrm>
          <a:prstGeom prst="rect">
            <a:avLst/>
          </a:prstGeom>
          <a:noFill/>
          <a:ln w="9525">
            <a:noFill/>
          </a:ln>
        </p:spPr>
        <p:txBody>
          <a:bodyPr wrap="none" anchor="ctr" anchorCtr="0">
            <a:spAutoFit/>
          </a:bodyPr>
          <a:p>
            <a:endParaRPr lang="zh-CN" altLang="en-US" dirty="0">
              <a:latin typeface="Times New Roman" panose="02020603050405020304" pitchFamily="18" charset="0"/>
            </a:endParaRPr>
          </a:p>
        </p:txBody>
      </p:sp>
      <p:pic>
        <p:nvPicPr>
          <p:cNvPr id="15369" name="Picture 7"/>
          <p:cNvPicPr>
            <a:picLocks noChangeAspect="1"/>
          </p:cNvPicPr>
          <p:nvPr/>
        </p:nvPicPr>
        <p:blipFill>
          <a:blip r:embed="rId5">
            <a:clrChange>
              <a:clrFrom>
                <a:srgbClr val="FFFFFF"/>
              </a:clrFrom>
              <a:clrTo>
                <a:srgbClr val="FFFFFF">
                  <a:alpha val="0"/>
                </a:srgbClr>
              </a:clrTo>
            </a:clrChange>
          </a:blip>
          <a:stretch>
            <a:fillRect/>
          </a:stretch>
        </p:blipFill>
        <p:spPr>
          <a:xfrm>
            <a:off x="0" y="0"/>
            <a:ext cx="114300" cy="174625"/>
          </a:xfrm>
          <a:prstGeom prst="rect">
            <a:avLst/>
          </a:prstGeom>
          <a:noFill/>
          <a:ln w="9525">
            <a:noFill/>
          </a:ln>
        </p:spPr>
      </p:pic>
      <p:sp>
        <p:nvSpPr>
          <p:cNvPr id="15370" name="Rectangle 10"/>
          <p:cNvSpPr/>
          <p:nvPr/>
        </p:nvSpPr>
        <p:spPr>
          <a:xfrm>
            <a:off x="0" y="0"/>
            <a:ext cx="9144000" cy="0"/>
          </a:xfrm>
          <a:prstGeom prst="rect">
            <a:avLst/>
          </a:prstGeom>
          <a:noFill/>
          <a:ln w="9525">
            <a:noFill/>
          </a:ln>
        </p:spPr>
        <p:txBody>
          <a:bodyPr wrap="none" anchor="ctr" anchorCtr="0">
            <a:spAutoFit/>
          </a:bodyPr>
          <a:p>
            <a:endParaRPr lang="zh-CN" altLang="en-US" dirty="0">
              <a:latin typeface="Times New Roman" panose="02020603050405020304" pitchFamily="18" charset="0"/>
            </a:endParaRPr>
          </a:p>
        </p:txBody>
      </p:sp>
      <p:pic>
        <p:nvPicPr>
          <p:cNvPr id="15371" name="Picture 9"/>
          <p:cNvPicPr>
            <a:picLocks noChangeAspect="1"/>
          </p:cNvPicPr>
          <p:nvPr/>
        </p:nvPicPr>
        <p:blipFill>
          <a:blip r:embed="rId5">
            <a:clrChange>
              <a:clrFrom>
                <a:srgbClr val="FFFFFF"/>
              </a:clrFrom>
              <a:clrTo>
                <a:srgbClr val="FFFFFF">
                  <a:alpha val="0"/>
                </a:srgbClr>
              </a:clrTo>
            </a:clrChange>
          </a:blip>
          <a:stretch>
            <a:fillRect/>
          </a:stretch>
        </p:blipFill>
        <p:spPr>
          <a:xfrm>
            <a:off x="0" y="0"/>
            <a:ext cx="114300" cy="174625"/>
          </a:xfrm>
          <a:prstGeom prst="rect">
            <a:avLst/>
          </a:prstGeom>
          <a:noFill/>
          <a:ln w="9525">
            <a:noFill/>
          </a:ln>
        </p:spPr>
      </p:pic>
      <p:sp>
        <p:nvSpPr>
          <p:cNvPr id="15372" name="TextBox 18"/>
          <p:cNvSpPr txBox="1"/>
          <p:nvPr/>
        </p:nvSpPr>
        <p:spPr>
          <a:xfrm>
            <a:off x="571500" y="785813"/>
            <a:ext cx="8072438" cy="2786062"/>
          </a:xfrm>
          <a:prstGeom prst="rect">
            <a:avLst/>
          </a:prstGeom>
          <a:noFill/>
          <a:ln w="9525">
            <a:noFill/>
          </a:ln>
        </p:spPr>
        <p:txBody>
          <a:bodyPr>
            <a:spAutoFit/>
          </a:bodyPr>
          <a:p>
            <a:pPr>
              <a:lnSpc>
                <a:spcPts val="3500"/>
              </a:lnSpc>
            </a:pPr>
            <a:r>
              <a:rPr lang="zh-CN" altLang="en-US" dirty="0">
                <a:latin typeface="Times New Roman" panose="02020603050405020304" pitchFamily="18" charset="0"/>
              </a:rPr>
              <a:t>        </a:t>
            </a:r>
            <a:r>
              <a:rPr lang="zh-CN" altLang="en-US" dirty="0">
                <a:solidFill>
                  <a:srgbClr val="C00000"/>
                </a:solidFill>
                <a:latin typeface="Times New Roman" panose="02020603050405020304" pitchFamily="18" charset="0"/>
              </a:rPr>
              <a:t>铆钉</a:t>
            </a:r>
            <a:r>
              <a:rPr lang="zh-CN" altLang="en-US" dirty="0">
                <a:latin typeface="Times New Roman" panose="02020603050405020304" pitchFamily="18" charset="0"/>
              </a:rPr>
              <a:t>用棒料在锻压机上制成，一端有预制头。把铆钉插入被铆件的重叠孔内，利用端模再制出另一端的铆成头，这个过程称为铆合。铆合可用人力，气力或液力（用气铆枪或铆钉机）。钢铆钉</a:t>
            </a:r>
            <a:r>
              <a:rPr lang="zh-CN" altLang="en-US" dirty="0">
                <a:solidFill>
                  <a:schemeClr val="tx1"/>
                </a:solidFill>
                <a:latin typeface="Times New Roman" panose="02020603050405020304" pitchFamily="18" charset="0"/>
              </a:rPr>
              <a:t>直径小于</a:t>
            </a:r>
            <a:r>
              <a:rPr lang="en-US" altLang="zh-CN" dirty="0">
                <a:solidFill>
                  <a:schemeClr val="tx1"/>
                </a:solidFill>
                <a:latin typeface="Times New Roman" panose="02020603050405020304" pitchFamily="18" charset="0"/>
              </a:rPr>
              <a:t>12 mm</a:t>
            </a:r>
            <a:r>
              <a:rPr lang="zh-CN" altLang="en-US" dirty="0">
                <a:latin typeface="Times New Roman" panose="02020603050405020304" pitchFamily="18" charset="0"/>
              </a:rPr>
              <a:t>，铆合时可不加热，称为</a:t>
            </a:r>
            <a:r>
              <a:rPr lang="zh-CN" altLang="en-US" dirty="0">
                <a:solidFill>
                  <a:srgbClr val="00B050"/>
                </a:solidFill>
                <a:latin typeface="Times New Roman" panose="02020603050405020304" pitchFamily="18" charset="0"/>
              </a:rPr>
              <a:t>冷铆</a:t>
            </a:r>
            <a:r>
              <a:rPr lang="zh-CN" altLang="en-US" dirty="0">
                <a:latin typeface="Times New Roman" panose="02020603050405020304" pitchFamily="18" charset="0"/>
              </a:rPr>
              <a:t>；直径大于</a:t>
            </a:r>
            <a:r>
              <a:rPr lang="en-US" altLang="zh-CN" dirty="0">
                <a:latin typeface="Times New Roman" panose="02020603050405020304" pitchFamily="18" charset="0"/>
              </a:rPr>
              <a:t>12 mm</a:t>
            </a:r>
            <a:r>
              <a:rPr lang="zh-CN" altLang="en-US" dirty="0">
                <a:latin typeface="Times New Roman" panose="02020603050405020304" pitchFamily="18" charset="0"/>
              </a:rPr>
              <a:t>，铆合时通常要把铆钉全部或局部加热，称为</a:t>
            </a:r>
            <a:r>
              <a:rPr lang="zh-CN" altLang="en-US" dirty="0">
                <a:solidFill>
                  <a:srgbClr val="00B050"/>
                </a:solidFill>
                <a:latin typeface="Times New Roman" panose="02020603050405020304" pitchFamily="18" charset="0"/>
              </a:rPr>
              <a:t>热铆</a:t>
            </a:r>
            <a:r>
              <a:rPr lang="zh-CN" altLang="en-US" dirty="0">
                <a:latin typeface="Times New Roman" panose="02020603050405020304" pitchFamily="18" charset="0"/>
              </a:rPr>
              <a:t>。铝合金铆钉均用冷铆。</a:t>
            </a:r>
            <a:endParaRPr lang="zh-CN" altLang="en-US" dirty="0">
              <a:latin typeface="Times New Roman" panose="02020603050405020304" pitchFamily="18" charset="0"/>
            </a:endParaRPr>
          </a:p>
          <a:p>
            <a:pPr>
              <a:lnSpc>
                <a:spcPts val="3500"/>
              </a:lnSpc>
            </a:pPr>
            <a:endParaRPr lang="zh-CN" altLang="en-US" dirty="0">
              <a:latin typeface="Times New Roman" panose="02020603050405020304" pitchFamily="18" charset="0"/>
            </a:endParaRPr>
          </a:p>
        </p:txBody>
      </p:sp>
      <p:pic>
        <p:nvPicPr>
          <p:cNvPr id="15373" name="图片 14" descr="3-13-16 [转换].tif"/>
          <p:cNvPicPr>
            <a:picLocks noChangeAspect="1"/>
          </p:cNvPicPr>
          <p:nvPr/>
        </p:nvPicPr>
        <p:blipFill>
          <a:blip r:embed="rId6"/>
          <a:stretch>
            <a:fillRect/>
          </a:stretch>
        </p:blipFill>
        <p:spPr>
          <a:xfrm>
            <a:off x="857250" y="3643313"/>
            <a:ext cx="3178175" cy="2143125"/>
          </a:xfrm>
          <a:prstGeom prst="rect">
            <a:avLst/>
          </a:prstGeom>
          <a:noFill/>
          <a:ln w="9525">
            <a:noFill/>
          </a:ln>
        </p:spPr>
      </p:pic>
      <p:sp>
        <p:nvSpPr>
          <p:cNvPr id="15374" name="TextBox 16"/>
          <p:cNvSpPr txBox="1"/>
          <p:nvPr/>
        </p:nvSpPr>
        <p:spPr>
          <a:xfrm>
            <a:off x="1071563" y="3214688"/>
            <a:ext cx="1466850" cy="400050"/>
          </a:xfrm>
          <a:prstGeom prst="rect">
            <a:avLst/>
          </a:prstGeom>
          <a:noFill/>
          <a:ln w="9525">
            <a:noFill/>
          </a:ln>
        </p:spPr>
        <p:txBody>
          <a:bodyPr wrap="none">
            <a:spAutoFit/>
          </a:bodyPr>
          <a:p>
            <a:r>
              <a:rPr lang="zh-CN" altLang="en-US" dirty="0">
                <a:latin typeface="Times New Roman" panose="02020603050405020304" pitchFamily="18" charset="0"/>
              </a:rPr>
              <a:t>应用举例：</a:t>
            </a:r>
            <a:endParaRPr lang="zh-CN" altLang="en-US" dirty="0">
              <a:latin typeface="Times New Roman" panose="02020603050405020304" pitchFamily="18" charset="0"/>
            </a:endParaRPr>
          </a:p>
        </p:txBody>
      </p:sp>
      <p:sp>
        <p:nvSpPr>
          <p:cNvPr id="15375" name="TextBox 17"/>
          <p:cNvSpPr txBox="1"/>
          <p:nvPr/>
        </p:nvSpPr>
        <p:spPr>
          <a:xfrm>
            <a:off x="1714500" y="5929313"/>
            <a:ext cx="1620838" cy="338137"/>
          </a:xfrm>
          <a:prstGeom prst="rect">
            <a:avLst/>
          </a:prstGeom>
          <a:noFill/>
          <a:ln w="9525">
            <a:noFill/>
          </a:ln>
        </p:spPr>
        <p:txBody>
          <a:bodyPr wrap="none">
            <a:spAutoFit/>
          </a:bodyPr>
          <a:p>
            <a:r>
              <a:rPr lang="zh-CN" altLang="en-US" sz="1600" dirty="0">
                <a:latin typeface="Times New Roman" panose="02020603050405020304" pitchFamily="18" charset="0"/>
              </a:rPr>
              <a:t>机器零件的铆接</a:t>
            </a:r>
            <a:endParaRPr lang="zh-CN" altLang="en-US" sz="1600" dirty="0">
              <a:latin typeface="Times New Roman" panose="02020603050405020304" pitchFamily="18" charset="0"/>
            </a:endParaRPr>
          </a:p>
        </p:txBody>
      </p:sp>
      <p:pic>
        <p:nvPicPr>
          <p:cNvPr id="15376" name="图片 15" descr="3-13-17 [转换].tif"/>
          <p:cNvPicPr>
            <a:picLocks noChangeAspect="1"/>
          </p:cNvPicPr>
          <p:nvPr/>
        </p:nvPicPr>
        <p:blipFill>
          <a:blip r:embed="rId7"/>
          <a:stretch>
            <a:fillRect/>
          </a:stretch>
        </p:blipFill>
        <p:spPr>
          <a:xfrm>
            <a:off x="5000625" y="3571875"/>
            <a:ext cx="3143250" cy="2109788"/>
          </a:xfrm>
          <a:prstGeom prst="rect">
            <a:avLst/>
          </a:prstGeom>
          <a:noFill/>
          <a:ln w="9525">
            <a:noFill/>
          </a:ln>
        </p:spPr>
      </p:pic>
      <p:sp>
        <p:nvSpPr>
          <p:cNvPr id="15377" name="TextBox 19"/>
          <p:cNvSpPr txBox="1"/>
          <p:nvPr/>
        </p:nvSpPr>
        <p:spPr>
          <a:xfrm>
            <a:off x="6143625" y="5929313"/>
            <a:ext cx="1211263" cy="338137"/>
          </a:xfrm>
          <a:prstGeom prst="rect">
            <a:avLst/>
          </a:prstGeom>
          <a:noFill/>
          <a:ln w="9525">
            <a:noFill/>
          </a:ln>
        </p:spPr>
        <p:txBody>
          <a:bodyPr wrap="none">
            <a:spAutoFit/>
          </a:bodyPr>
          <a:p>
            <a:r>
              <a:rPr lang="zh-CN" altLang="en-US" sz="1600" dirty="0">
                <a:latin typeface="Times New Roman" panose="02020603050405020304" pitchFamily="18" charset="0"/>
              </a:rPr>
              <a:t>屋架的节点</a:t>
            </a:r>
            <a:endParaRPr lang="zh-CN" altLang="en-US" sz="1600"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499"/>
                                          </p:stCondLst>
                                        </p:cTn>
                                        <p:tgtEl>
                                          <p:spTgt spid="51226"/>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nodeType="afterEffect">
                                  <p:stCondLst>
                                    <p:cond delay="0"/>
                                  </p:stCondLst>
                                  <p:childTnLst>
                                    <p:set>
                                      <p:cBhvr>
                                        <p:cTn id="9" dur="1" fill="hold">
                                          <p:stCondLst>
                                            <p:cond delay="499"/>
                                          </p:stCondLst>
                                        </p:cTn>
                                        <p:tgtEl>
                                          <p:spTgt spid="51225"/>
                                        </p:tgtEl>
                                        <p:attrNameLst>
                                          <p:attrName>style.visibility</p:attrName>
                                        </p:attrNameLst>
                                      </p:cBhvr>
                                      <p:to>
                                        <p:strVal val="visible"/>
                                      </p:to>
                                    </p:set>
                                  </p:childTnLst>
                                </p:cTn>
                              </p:par>
                            </p:childTnLst>
                          </p:cTn>
                        </p:par>
                        <p:par>
                          <p:cTn id="10" fill="hold">
                            <p:stCondLst>
                              <p:cond delay="1000"/>
                            </p:stCondLst>
                            <p:childTnLst>
                              <p:par>
                                <p:cTn id="11" presetID="2" presetClass="entr" presetSubtype="8" fill="hold" nodeType="afterEffect">
                                  <p:stCondLst>
                                    <p:cond delay="0"/>
                                  </p:stCondLst>
                                  <p:childTnLst>
                                    <p:set>
                                      <p:cBhvr>
                                        <p:cTn id="12" dur="1" fill="hold">
                                          <p:stCondLst>
                                            <p:cond delay="0"/>
                                          </p:stCondLst>
                                        </p:cTn>
                                        <p:tgtEl>
                                          <p:spTgt spid="51224"/>
                                        </p:tgtEl>
                                        <p:attrNameLst>
                                          <p:attrName>style.visibility</p:attrName>
                                        </p:attrNameLst>
                                      </p:cBhvr>
                                      <p:to>
                                        <p:strVal val="visible"/>
                                      </p:to>
                                    </p:set>
                                    <p:anim calcmode="lin" valueType="num">
                                      <p:cBhvr additive="base">
                                        <p:cTn id="13" dur="500" fill="hold"/>
                                        <p:tgtEl>
                                          <p:spTgt spid="51224"/>
                                        </p:tgtEl>
                                        <p:attrNameLst>
                                          <p:attrName>ppt_x</p:attrName>
                                        </p:attrNameLst>
                                      </p:cBhvr>
                                      <p:tavLst>
                                        <p:tav tm="0">
                                          <p:val>
                                            <p:strVal val="0-#ppt_w/2"/>
                                          </p:val>
                                        </p:tav>
                                        <p:tav tm="100000">
                                          <p:val>
                                            <p:strVal val="#ppt_x"/>
                                          </p:val>
                                        </p:tav>
                                      </p:tavLst>
                                    </p:anim>
                                    <p:anim calcmode="lin" valueType="num">
                                      <p:cBhvr additive="base">
                                        <p:cTn id="14" dur="500" fill="hold"/>
                                        <p:tgtEl>
                                          <p:spTgt spid="51224"/>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51240"/>
                                        </p:tgtEl>
                                        <p:attrNameLst>
                                          <p:attrName>style.visibility</p:attrName>
                                        </p:attrNameLst>
                                      </p:cBhvr>
                                      <p:to>
                                        <p:strVal val="visible"/>
                                      </p:to>
                                    </p:set>
                                    <p:anim calcmode="lin" valueType="num">
                                      <p:cBhvr additive="base">
                                        <p:cTn id="19" dur="500" fill="hold"/>
                                        <p:tgtEl>
                                          <p:spTgt spid="51240"/>
                                        </p:tgtEl>
                                        <p:attrNameLst>
                                          <p:attrName>ppt_x</p:attrName>
                                        </p:attrNameLst>
                                      </p:cBhvr>
                                      <p:tavLst>
                                        <p:tav tm="0">
                                          <p:val>
                                            <p:strVal val="0-#ppt_w/2"/>
                                          </p:val>
                                        </p:tav>
                                        <p:tav tm="100000">
                                          <p:val>
                                            <p:strVal val="#ppt_x"/>
                                          </p:val>
                                        </p:tav>
                                      </p:tavLst>
                                    </p:anim>
                                    <p:anim calcmode="lin" valueType="num">
                                      <p:cBhvr additive="base">
                                        <p:cTn id="20" dur="500" fill="hold"/>
                                        <p:tgtEl>
                                          <p:spTgt spid="5124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4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Rectangle 4"/>
          <p:cNvSpPr>
            <a:spLocks noGrp="1"/>
          </p:cNvSpPr>
          <p:nvPr>
            <p:ph type="title"/>
          </p:nvPr>
        </p:nvSpPr>
        <p:spPr>
          <a:xfrm>
            <a:off x="5932488" y="838200"/>
            <a:ext cx="2133600" cy="152400"/>
          </a:xfrm>
          <a:noFill/>
          <a:ln>
            <a:noFill/>
          </a:ln>
        </p:spPr>
        <p:txBody>
          <a:bodyPr/>
          <a:p>
            <a:pPr eaLnBrk="1" hangingPunct="1"/>
            <a:r>
              <a:rPr lang="zh-CN" altLang="en-US" sz="2800" dirty="0">
                <a:solidFill>
                  <a:schemeClr val="bg1"/>
                </a:solidFill>
                <a:ea typeface="华文中宋" panose="02010600040101010101" pitchFamily="2" charset="-122"/>
              </a:rPr>
              <a:t>焊接</a:t>
            </a:r>
            <a:r>
              <a:rPr lang="en-US" altLang="zh-CN" sz="2800" dirty="0">
                <a:solidFill>
                  <a:schemeClr val="bg1"/>
                </a:solidFill>
                <a:ea typeface="华文中宋" panose="02010600040101010101" pitchFamily="2" charset="-122"/>
              </a:rPr>
              <a:t>2</a:t>
            </a:r>
            <a:endParaRPr lang="en-US" altLang="zh-CN" sz="2800" dirty="0">
              <a:solidFill>
                <a:schemeClr val="bg1"/>
              </a:solidFill>
              <a:ea typeface="华文中宋" panose="02010600040101010101" pitchFamily="2" charset="-122"/>
            </a:endParaRPr>
          </a:p>
        </p:txBody>
      </p:sp>
      <p:sp>
        <p:nvSpPr>
          <p:cNvPr id="16387" name="Rectangle 5"/>
          <p:cNvSpPr>
            <a:spLocks noGrp="1"/>
          </p:cNvSpPr>
          <p:nvPr/>
        </p:nvSpPr>
        <p:spPr>
          <a:xfrm>
            <a:off x="1000125" y="0"/>
            <a:ext cx="1219200" cy="533400"/>
          </a:xfrm>
          <a:prstGeom prst="rect">
            <a:avLst/>
          </a:prstGeom>
          <a:noFill/>
          <a:ln w="9525">
            <a:noFill/>
          </a:ln>
        </p:spPr>
        <p:txBody>
          <a:bodyPr/>
          <a:p>
            <a:pPr eaLnBrk="0" hangingPunct="0"/>
            <a:r>
              <a:rPr lang="zh-CN" altLang="en-US" sz="3000" dirty="0">
                <a:solidFill>
                  <a:schemeClr val="bg1"/>
                </a:solidFill>
                <a:latin typeface="黑体" panose="02010609060101010101" pitchFamily="49" charset="-122"/>
                <a:ea typeface="黑体" panose="02010609060101010101" pitchFamily="49" charset="-122"/>
              </a:rPr>
              <a:t>铆 接</a:t>
            </a:r>
            <a:endParaRPr lang="zh-CN" altLang="en-US" sz="3000" dirty="0">
              <a:solidFill>
                <a:schemeClr val="bg1"/>
              </a:solidFill>
              <a:latin typeface="黑体" panose="02010609060101010101" pitchFamily="49" charset="-122"/>
              <a:ea typeface="黑体" panose="02010609060101010101" pitchFamily="49" charset="-122"/>
            </a:endParaRPr>
          </a:p>
        </p:txBody>
      </p:sp>
      <p:pic>
        <p:nvPicPr>
          <p:cNvPr id="51224" name="Picture 24" descr="rewind1">
            <a:hlinkClick r:id="rId1" action="ppaction://hlinksldjump"/>
          </p:cNvPr>
          <p:cNvPicPr>
            <a:picLocks noChangeAspect="1"/>
          </p:cNvPicPr>
          <p:nvPr/>
        </p:nvPicPr>
        <p:blipFill>
          <a:blip r:embed="rId2"/>
          <a:stretch>
            <a:fillRect/>
          </a:stretch>
        </p:blipFill>
        <p:spPr>
          <a:xfrm>
            <a:off x="8105775" y="6570663"/>
            <a:ext cx="287338" cy="287337"/>
          </a:xfrm>
          <a:prstGeom prst="rect">
            <a:avLst/>
          </a:prstGeom>
          <a:noFill/>
          <a:ln w="9525">
            <a:noFill/>
          </a:ln>
        </p:spPr>
      </p:pic>
      <p:pic>
        <p:nvPicPr>
          <p:cNvPr id="51225" name="Picture 25" descr="back1">
            <a:hlinkClick r:id="" action="ppaction://hlinkshowjump?jump=previousslide"/>
          </p:cNvPr>
          <p:cNvPicPr>
            <a:picLocks noChangeAspect="1"/>
          </p:cNvPicPr>
          <p:nvPr/>
        </p:nvPicPr>
        <p:blipFill>
          <a:blip r:embed="rId3"/>
          <a:stretch>
            <a:fillRect/>
          </a:stretch>
        </p:blipFill>
        <p:spPr>
          <a:xfrm>
            <a:off x="8501063" y="6570663"/>
            <a:ext cx="287337" cy="287337"/>
          </a:xfrm>
          <a:prstGeom prst="rect">
            <a:avLst/>
          </a:prstGeom>
          <a:noFill/>
          <a:ln w="9525">
            <a:noFill/>
          </a:ln>
        </p:spPr>
      </p:pic>
      <p:sp>
        <p:nvSpPr>
          <p:cNvPr id="51240" name="Text Box 40"/>
          <p:cNvSpPr txBox="1"/>
          <p:nvPr/>
        </p:nvSpPr>
        <p:spPr>
          <a:xfrm>
            <a:off x="6384925" y="6538913"/>
            <a:ext cx="271463" cy="427037"/>
          </a:xfrm>
          <a:prstGeom prst="rect">
            <a:avLst/>
          </a:prstGeom>
          <a:noFill/>
          <a:ln w="9525">
            <a:noFill/>
          </a:ln>
        </p:spPr>
        <p:txBody>
          <a:bodyPr wrap="none">
            <a:spAutoFit/>
          </a:bodyPr>
          <a:p>
            <a:r>
              <a:rPr lang="en-US" altLang="zh-CN" sz="2200" dirty="0">
                <a:solidFill>
                  <a:schemeClr val="tx1"/>
                </a:solidFill>
                <a:latin typeface="Tahoma" panose="020B0604030504040204" pitchFamily="34" charset="0"/>
              </a:rPr>
              <a:t> </a:t>
            </a:r>
            <a:endParaRPr lang="en-US" altLang="zh-CN" sz="2200" dirty="0">
              <a:solidFill>
                <a:schemeClr val="tx1"/>
              </a:solidFill>
              <a:latin typeface="Tahoma" panose="020B0604030504040204" pitchFamily="34" charset="0"/>
            </a:endParaRPr>
          </a:p>
        </p:txBody>
      </p:sp>
      <p:sp>
        <p:nvSpPr>
          <p:cNvPr id="16391" name="Rectangle 8"/>
          <p:cNvSpPr/>
          <p:nvPr/>
        </p:nvSpPr>
        <p:spPr>
          <a:xfrm>
            <a:off x="0" y="0"/>
            <a:ext cx="9144000" cy="0"/>
          </a:xfrm>
          <a:prstGeom prst="rect">
            <a:avLst/>
          </a:prstGeom>
          <a:noFill/>
          <a:ln w="9525">
            <a:noFill/>
          </a:ln>
        </p:spPr>
        <p:txBody>
          <a:bodyPr wrap="none" anchor="ctr" anchorCtr="0">
            <a:spAutoFit/>
          </a:bodyPr>
          <a:p>
            <a:endParaRPr lang="zh-CN" altLang="en-US" dirty="0">
              <a:latin typeface="Times New Roman" panose="02020603050405020304" pitchFamily="18" charset="0"/>
            </a:endParaRPr>
          </a:p>
        </p:txBody>
      </p:sp>
      <p:pic>
        <p:nvPicPr>
          <p:cNvPr id="16392" name="Picture 7"/>
          <p:cNvPicPr>
            <a:picLocks noChangeAspect="1"/>
          </p:cNvPicPr>
          <p:nvPr/>
        </p:nvPicPr>
        <p:blipFill>
          <a:blip r:embed="rId4">
            <a:clrChange>
              <a:clrFrom>
                <a:srgbClr val="FFFFFF"/>
              </a:clrFrom>
              <a:clrTo>
                <a:srgbClr val="FFFFFF">
                  <a:alpha val="0"/>
                </a:srgbClr>
              </a:clrTo>
            </a:clrChange>
          </a:blip>
          <a:stretch>
            <a:fillRect/>
          </a:stretch>
        </p:blipFill>
        <p:spPr>
          <a:xfrm>
            <a:off x="0" y="0"/>
            <a:ext cx="114300" cy="174625"/>
          </a:xfrm>
          <a:prstGeom prst="rect">
            <a:avLst/>
          </a:prstGeom>
          <a:noFill/>
          <a:ln w="9525">
            <a:noFill/>
          </a:ln>
        </p:spPr>
      </p:pic>
      <p:sp>
        <p:nvSpPr>
          <p:cNvPr id="16393" name="Rectangle 10"/>
          <p:cNvSpPr/>
          <p:nvPr/>
        </p:nvSpPr>
        <p:spPr>
          <a:xfrm>
            <a:off x="0" y="0"/>
            <a:ext cx="9144000" cy="0"/>
          </a:xfrm>
          <a:prstGeom prst="rect">
            <a:avLst/>
          </a:prstGeom>
          <a:noFill/>
          <a:ln w="9525">
            <a:noFill/>
          </a:ln>
        </p:spPr>
        <p:txBody>
          <a:bodyPr wrap="none" anchor="ctr" anchorCtr="0">
            <a:spAutoFit/>
          </a:bodyPr>
          <a:p>
            <a:endParaRPr lang="zh-CN" altLang="en-US" dirty="0">
              <a:latin typeface="Times New Roman" panose="02020603050405020304" pitchFamily="18" charset="0"/>
            </a:endParaRPr>
          </a:p>
        </p:txBody>
      </p:sp>
      <p:pic>
        <p:nvPicPr>
          <p:cNvPr id="16394" name="Picture 9"/>
          <p:cNvPicPr>
            <a:picLocks noChangeAspect="1"/>
          </p:cNvPicPr>
          <p:nvPr/>
        </p:nvPicPr>
        <p:blipFill>
          <a:blip r:embed="rId4">
            <a:clrChange>
              <a:clrFrom>
                <a:srgbClr val="FFFFFF"/>
              </a:clrFrom>
              <a:clrTo>
                <a:srgbClr val="FFFFFF">
                  <a:alpha val="0"/>
                </a:srgbClr>
              </a:clrTo>
            </a:clrChange>
          </a:blip>
          <a:stretch>
            <a:fillRect/>
          </a:stretch>
        </p:blipFill>
        <p:spPr>
          <a:xfrm>
            <a:off x="0" y="0"/>
            <a:ext cx="114300" cy="174625"/>
          </a:xfrm>
          <a:prstGeom prst="rect">
            <a:avLst/>
          </a:prstGeom>
          <a:noFill/>
          <a:ln w="9525">
            <a:noFill/>
          </a:ln>
        </p:spPr>
      </p:pic>
      <p:sp>
        <p:nvSpPr>
          <p:cNvPr id="16395" name="TextBox 16"/>
          <p:cNvSpPr txBox="1"/>
          <p:nvPr/>
        </p:nvSpPr>
        <p:spPr>
          <a:xfrm>
            <a:off x="1071563" y="785813"/>
            <a:ext cx="2236787" cy="400050"/>
          </a:xfrm>
          <a:prstGeom prst="rect">
            <a:avLst/>
          </a:prstGeom>
          <a:noFill/>
          <a:ln w="9525">
            <a:noFill/>
          </a:ln>
        </p:spPr>
        <p:txBody>
          <a:bodyPr wrap="none">
            <a:spAutoFit/>
          </a:bodyPr>
          <a:p>
            <a:r>
              <a:rPr lang="zh-CN" altLang="en-US" dirty="0">
                <a:latin typeface="Times New Roman" panose="02020603050405020304" pitchFamily="18" charset="0"/>
              </a:rPr>
              <a:t>铆钉的主要类型：</a:t>
            </a:r>
            <a:endParaRPr lang="zh-CN" altLang="en-US" dirty="0">
              <a:latin typeface="Times New Roman" panose="02020603050405020304" pitchFamily="18" charset="0"/>
            </a:endParaRPr>
          </a:p>
        </p:txBody>
      </p:sp>
      <p:sp>
        <p:nvSpPr>
          <p:cNvPr id="16396" name="TextBox 17"/>
          <p:cNvSpPr txBox="1"/>
          <p:nvPr/>
        </p:nvSpPr>
        <p:spPr>
          <a:xfrm>
            <a:off x="500063" y="1214438"/>
            <a:ext cx="8072437" cy="3541712"/>
          </a:xfrm>
          <a:prstGeom prst="rect">
            <a:avLst/>
          </a:prstGeom>
          <a:noFill/>
          <a:ln w="9525">
            <a:noFill/>
          </a:ln>
        </p:spPr>
        <p:txBody>
          <a:bodyPr>
            <a:spAutoFit/>
          </a:bodyPr>
          <a:p>
            <a:pPr>
              <a:lnSpc>
                <a:spcPts val="3500"/>
              </a:lnSpc>
            </a:pPr>
            <a:r>
              <a:rPr lang="zh-CN" altLang="en-US" dirty="0">
                <a:latin typeface="Times New Roman" panose="02020603050405020304" pitchFamily="18" charset="0"/>
              </a:rPr>
              <a:t>         铆钉分实心和空心两种。空心铆钉用于受力较小的薄板或非金属零件的连接，而实心铆钉多用于受力大的金属零件的连接。</a:t>
            </a:r>
            <a:endParaRPr lang="zh-CN" altLang="en-US" dirty="0">
              <a:latin typeface="Times New Roman" panose="02020603050405020304" pitchFamily="18" charset="0"/>
            </a:endParaRPr>
          </a:p>
          <a:p>
            <a:pPr>
              <a:lnSpc>
                <a:spcPts val="3500"/>
              </a:lnSpc>
            </a:pPr>
            <a:r>
              <a:rPr lang="zh-CN" altLang="en-US" dirty="0">
                <a:latin typeface="Times New Roman" panose="02020603050405020304" pitchFamily="18" charset="0"/>
              </a:rPr>
              <a:t>         按钉头形状不同可分为：半圆头、小半圆头、平锥头、平头、扁平头、沉头和半沉头铆钉等。下图所示为机械中常用的铆钉在铆接后的形式。其中钢实心铆钉中，半圆头铆钉用的最多，要求连接表面平滑时用沉头铆钉，要求耐腐蚀时用平锥头铆钉。</a:t>
            </a:r>
            <a:endParaRPr lang="zh-CN" altLang="en-US" dirty="0">
              <a:latin typeface="Times New Roman" panose="02020603050405020304" pitchFamily="18" charset="0"/>
            </a:endParaRPr>
          </a:p>
          <a:p>
            <a:pPr>
              <a:lnSpc>
                <a:spcPts val="3500"/>
              </a:lnSpc>
            </a:pPr>
            <a:r>
              <a:rPr lang="zh-CN" altLang="en-US" dirty="0">
                <a:latin typeface="Times New Roman" panose="02020603050405020304" pitchFamily="18" charset="0"/>
              </a:rPr>
              <a:t>           铆钉已经标准化，设计时可到手册中查用。</a:t>
            </a:r>
            <a:endParaRPr lang="zh-CN" altLang="en-US" dirty="0">
              <a:latin typeface="Times New Roman" panose="02020603050405020304" pitchFamily="18" charset="0"/>
            </a:endParaRPr>
          </a:p>
          <a:p>
            <a:endParaRPr lang="zh-CN" altLang="en-US" dirty="0">
              <a:latin typeface="Times New Roman" panose="02020603050405020304" pitchFamily="18" charset="0"/>
            </a:endParaRPr>
          </a:p>
        </p:txBody>
      </p:sp>
      <p:pic>
        <p:nvPicPr>
          <p:cNvPr id="16397" name="图片 20" descr="3-13-18 [转换].tif"/>
          <p:cNvPicPr>
            <a:picLocks noChangeAspect="1"/>
          </p:cNvPicPr>
          <p:nvPr/>
        </p:nvPicPr>
        <p:blipFill>
          <a:blip r:embed="rId5"/>
          <a:stretch>
            <a:fillRect/>
          </a:stretch>
        </p:blipFill>
        <p:spPr>
          <a:xfrm>
            <a:off x="1571625" y="4643438"/>
            <a:ext cx="6143625" cy="974725"/>
          </a:xfrm>
          <a:prstGeom prst="rect">
            <a:avLst/>
          </a:prstGeom>
          <a:noFill/>
          <a:ln w="9525">
            <a:noFill/>
          </a:ln>
        </p:spPr>
      </p:pic>
      <p:sp>
        <p:nvSpPr>
          <p:cNvPr id="16398" name="TextBox 21"/>
          <p:cNvSpPr txBox="1"/>
          <p:nvPr/>
        </p:nvSpPr>
        <p:spPr>
          <a:xfrm>
            <a:off x="3286125" y="5786438"/>
            <a:ext cx="2646363" cy="338137"/>
          </a:xfrm>
          <a:prstGeom prst="rect">
            <a:avLst/>
          </a:prstGeom>
          <a:noFill/>
          <a:ln w="9525">
            <a:noFill/>
          </a:ln>
        </p:spPr>
        <p:txBody>
          <a:bodyPr wrap="none">
            <a:spAutoFit/>
          </a:bodyPr>
          <a:p>
            <a:r>
              <a:rPr lang="zh-CN" altLang="en-US" sz="1600" dirty="0">
                <a:latin typeface="Times New Roman" panose="02020603050405020304" pitchFamily="18" charset="0"/>
              </a:rPr>
              <a:t>常用的铆钉在铆接后的形式</a:t>
            </a:r>
            <a:endParaRPr lang="zh-CN" altLang="en-US" sz="1600"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499"/>
                                          </p:stCondLst>
                                        </p:cTn>
                                        <p:tgtEl>
                                          <p:spTgt spid="51225"/>
                                        </p:tgtEl>
                                        <p:attrNameLst>
                                          <p:attrName>style.visibility</p:attrName>
                                        </p:attrNameLst>
                                      </p:cBhvr>
                                      <p:to>
                                        <p:strVal val="visible"/>
                                      </p:to>
                                    </p:set>
                                  </p:childTnLst>
                                </p:cTn>
                              </p:par>
                            </p:childTnLst>
                          </p:cTn>
                        </p:par>
                        <p:par>
                          <p:cTn id="7" fill="hold">
                            <p:stCondLst>
                              <p:cond delay="500"/>
                            </p:stCondLst>
                            <p:childTnLst>
                              <p:par>
                                <p:cTn id="8" presetID="2" presetClass="entr" presetSubtype="8" fill="hold" nodeType="afterEffect">
                                  <p:stCondLst>
                                    <p:cond delay="0"/>
                                  </p:stCondLst>
                                  <p:childTnLst>
                                    <p:set>
                                      <p:cBhvr>
                                        <p:cTn id="9" dur="1" fill="hold">
                                          <p:stCondLst>
                                            <p:cond delay="0"/>
                                          </p:stCondLst>
                                        </p:cTn>
                                        <p:tgtEl>
                                          <p:spTgt spid="51224"/>
                                        </p:tgtEl>
                                        <p:attrNameLst>
                                          <p:attrName>style.visibility</p:attrName>
                                        </p:attrNameLst>
                                      </p:cBhvr>
                                      <p:to>
                                        <p:strVal val="visible"/>
                                      </p:to>
                                    </p:set>
                                    <p:anim calcmode="lin" valueType="num">
                                      <p:cBhvr additive="base">
                                        <p:cTn id="10" dur="500" fill="hold"/>
                                        <p:tgtEl>
                                          <p:spTgt spid="51224"/>
                                        </p:tgtEl>
                                        <p:attrNameLst>
                                          <p:attrName>ppt_x</p:attrName>
                                        </p:attrNameLst>
                                      </p:cBhvr>
                                      <p:tavLst>
                                        <p:tav tm="0">
                                          <p:val>
                                            <p:strVal val="0-#ppt_w/2"/>
                                          </p:val>
                                        </p:tav>
                                        <p:tav tm="100000">
                                          <p:val>
                                            <p:strVal val="#ppt_x"/>
                                          </p:val>
                                        </p:tav>
                                      </p:tavLst>
                                    </p:anim>
                                    <p:anim calcmode="lin" valueType="num">
                                      <p:cBhvr additive="base">
                                        <p:cTn id="11" dur="500" fill="hold"/>
                                        <p:tgtEl>
                                          <p:spTgt spid="51224"/>
                                        </p:tgtEl>
                                        <p:attrNameLst>
                                          <p:attrName>ppt_y</p:attrName>
                                        </p:attrNameLst>
                                      </p:cBhvr>
                                      <p:tavLst>
                                        <p:tav tm="0">
                                          <p:val>
                                            <p:strVal val="#ppt_y"/>
                                          </p:val>
                                        </p:tav>
                                        <p:tav tm="100000">
                                          <p:val>
                                            <p:strVal val="#ppt_y"/>
                                          </p:val>
                                        </p:tav>
                                      </p:tavLst>
                                    </p:anim>
                                  </p:childTnLst>
                                </p:cTn>
                              </p:par>
                            </p:childTnLst>
                          </p:cTn>
                        </p:par>
                      </p:childTnLst>
                    </p:cTn>
                  </p:par>
                  <p:par>
                    <p:cTn id="12" fill="hold">
                      <p:stCondLst>
                        <p:cond delay="indefinite"/>
                      </p:stCondLst>
                      <p:childTnLst>
                        <p:par>
                          <p:cTn id="13" fill="hold">
                            <p:stCondLst>
                              <p:cond delay="0"/>
                            </p:stCondLst>
                            <p:childTnLst>
                              <p:par>
                                <p:cTn id="14" presetID="2" presetClass="entr" presetSubtype="8" fill="hold" grpId="0" nodeType="clickEffect">
                                  <p:stCondLst>
                                    <p:cond delay="0"/>
                                  </p:stCondLst>
                                  <p:childTnLst>
                                    <p:set>
                                      <p:cBhvr>
                                        <p:cTn id="15" dur="1" fill="hold">
                                          <p:stCondLst>
                                            <p:cond delay="0"/>
                                          </p:stCondLst>
                                        </p:cTn>
                                        <p:tgtEl>
                                          <p:spTgt spid="51240"/>
                                        </p:tgtEl>
                                        <p:attrNameLst>
                                          <p:attrName>style.visibility</p:attrName>
                                        </p:attrNameLst>
                                      </p:cBhvr>
                                      <p:to>
                                        <p:strVal val="visible"/>
                                      </p:to>
                                    </p:set>
                                    <p:anim calcmode="lin" valueType="num">
                                      <p:cBhvr additive="base">
                                        <p:cTn id="16" dur="500" fill="hold"/>
                                        <p:tgtEl>
                                          <p:spTgt spid="51240"/>
                                        </p:tgtEl>
                                        <p:attrNameLst>
                                          <p:attrName>ppt_x</p:attrName>
                                        </p:attrNameLst>
                                      </p:cBhvr>
                                      <p:tavLst>
                                        <p:tav tm="0">
                                          <p:val>
                                            <p:strVal val="0-#ppt_w/2"/>
                                          </p:val>
                                        </p:tav>
                                        <p:tav tm="100000">
                                          <p:val>
                                            <p:strVal val="#ppt_x"/>
                                          </p:val>
                                        </p:tav>
                                      </p:tavLst>
                                    </p:anim>
                                    <p:anim calcmode="lin" valueType="num">
                                      <p:cBhvr additive="base">
                                        <p:cTn id="17" dur="500" fill="hold"/>
                                        <p:tgtEl>
                                          <p:spTgt spid="5124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40"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Rectangle 4"/>
          <p:cNvSpPr>
            <a:spLocks noGrp="1"/>
          </p:cNvSpPr>
          <p:nvPr>
            <p:ph type="title"/>
          </p:nvPr>
        </p:nvSpPr>
        <p:spPr>
          <a:xfrm>
            <a:off x="5932488" y="838200"/>
            <a:ext cx="2133600" cy="152400"/>
          </a:xfrm>
          <a:noFill/>
          <a:ln>
            <a:noFill/>
          </a:ln>
        </p:spPr>
        <p:txBody>
          <a:bodyPr/>
          <a:p>
            <a:pPr eaLnBrk="1" hangingPunct="1"/>
            <a:r>
              <a:rPr lang="zh-CN" altLang="en-US" sz="2800" dirty="0">
                <a:solidFill>
                  <a:schemeClr val="bg1"/>
                </a:solidFill>
                <a:ea typeface="华文中宋" panose="02010600040101010101" pitchFamily="2" charset="-122"/>
              </a:rPr>
              <a:t>焊接</a:t>
            </a:r>
            <a:r>
              <a:rPr lang="en-US" altLang="zh-CN" sz="2800" dirty="0">
                <a:solidFill>
                  <a:schemeClr val="bg1"/>
                </a:solidFill>
                <a:ea typeface="华文中宋" panose="02010600040101010101" pitchFamily="2" charset="-122"/>
              </a:rPr>
              <a:t>2</a:t>
            </a:r>
            <a:endParaRPr lang="en-US" altLang="zh-CN" sz="2800" dirty="0">
              <a:solidFill>
                <a:schemeClr val="bg1"/>
              </a:solidFill>
              <a:ea typeface="华文中宋" panose="02010600040101010101" pitchFamily="2" charset="-122"/>
            </a:endParaRPr>
          </a:p>
        </p:txBody>
      </p:sp>
      <p:sp>
        <p:nvSpPr>
          <p:cNvPr id="17411" name="Rectangle 5"/>
          <p:cNvSpPr>
            <a:spLocks noGrp="1"/>
          </p:cNvSpPr>
          <p:nvPr/>
        </p:nvSpPr>
        <p:spPr>
          <a:xfrm>
            <a:off x="1000125" y="0"/>
            <a:ext cx="1219200" cy="533400"/>
          </a:xfrm>
          <a:prstGeom prst="rect">
            <a:avLst/>
          </a:prstGeom>
          <a:noFill/>
          <a:ln w="9525">
            <a:noFill/>
          </a:ln>
        </p:spPr>
        <p:txBody>
          <a:bodyPr/>
          <a:p>
            <a:pPr eaLnBrk="0" hangingPunct="0"/>
            <a:r>
              <a:rPr lang="zh-CN" altLang="en-US" sz="3000" dirty="0">
                <a:solidFill>
                  <a:schemeClr val="bg1"/>
                </a:solidFill>
                <a:latin typeface="黑体" panose="02010609060101010101" pitchFamily="49" charset="-122"/>
                <a:ea typeface="黑体" panose="02010609060101010101" pitchFamily="49" charset="-122"/>
              </a:rPr>
              <a:t>胶 接</a:t>
            </a:r>
            <a:endParaRPr lang="zh-CN" altLang="en-US" sz="3000" dirty="0">
              <a:solidFill>
                <a:schemeClr val="bg1"/>
              </a:solidFill>
              <a:latin typeface="黑体" panose="02010609060101010101" pitchFamily="49" charset="-122"/>
              <a:ea typeface="黑体" panose="02010609060101010101" pitchFamily="49" charset="-122"/>
            </a:endParaRPr>
          </a:p>
        </p:txBody>
      </p:sp>
      <p:pic>
        <p:nvPicPr>
          <p:cNvPr id="51224" name="Picture 24" descr="rewind1">
            <a:hlinkClick r:id="rId1" action="ppaction://hlinksldjump"/>
          </p:cNvPr>
          <p:cNvPicPr>
            <a:picLocks noChangeAspect="1"/>
          </p:cNvPicPr>
          <p:nvPr/>
        </p:nvPicPr>
        <p:blipFill>
          <a:blip r:embed="rId2"/>
          <a:stretch>
            <a:fillRect/>
          </a:stretch>
        </p:blipFill>
        <p:spPr>
          <a:xfrm>
            <a:off x="8001000" y="6570663"/>
            <a:ext cx="287338" cy="287337"/>
          </a:xfrm>
          <a:prstGeom prst="rect">
            <a:avLst/>
          </a:prstGeom>
          <a:noFill/>
          <a:ln w="9525">
            <a:noFill/>
          </a:ln>
        </p:spPr>
      </p:pic>
      <p:pic>
        <p:nvPicPr>
          <p:cNvPr id="51225" name="Picture 25" descr="back1">
            <a:hlinkClick r:id="" action="ppaction://hlinkshowjump?jump=previousslide"/>
          </p:cNvPr>
          <p:cNvPicPr>
            <a:picLocks noChangeAspect="1"/>
          </p:cNvPicPr>
          <p:nvPr/>
        </p:nvPicPr>
        <p:blipFill>
          <a:blip r:embed="rId3"/>
          <a:stretch>
            <a:fillRect/>
          </a:stretch>
        </p:blipFill>
        <p:spPr>
          <a:xfrm>
            <a:off x="8358188" y="6570663"/>
            <a:ext cx="287337" cy="287337"/>
          </a:xfrm>
          <a:prstGeom prst="rect">
            <a:avLst/>
          </a:prstGeom>
          <a:noFill/>
          <a:ln w="9525">
            <a:noFill/>
          </a:ln>
        </p:spPr>
      </p:pic>
      <p:pic>
        <p:nvPicPr>
          <p:cNvPr id="51226" name="Picture 26" descr="NEXT1">
            <a:hlinkClick r:id="" action="ppaction://hlinkshowjump?jump=nextslide"/>
          </p:cNvPr>
          <p:cNvPicPr>
            <a:picLocks noChangeAspect="1"/>
          </p:cNvPicPr>
          <p:nvPr/>
        </p:nvPicPr>
        <p:blipFill>
          <a:blip r:embed="rId4"/>
          <a:stretch>
            <a:fillRect/>
          </a:stretch>
        </p:blipFill>
        <p:spPr>
          <a:xfrm>
            <a:off x="8715375" y="6570663"/>
            <a:ext cx="287338" cy="287337"/>
          </a:xfrm>
          <a:prstGeom prst="rect">
            <a:avLst/>
          </a:prstGeom>
          <a:noFill/>
          <a:ln w="9525">
            <a:noFill/>
          </a:ln>
        </p:spPr>
      </p:pic>
      <p:sp>
        <p:nvSpPr>
          <p:cNvPr id="51240" name="Text Box 40"/>
          <p:cNvSpPr txBox="1"/>
          <p:nvPr/>
        </p:nvSpPr>
        <p:spPr>
          <a:xfrm>
            <a:off x="6384925" y="6538913"/>
            <a:ext cx="271463" cy="427037"/>
          </a:xfrm>
          <a:prstGeom prst="rect">
            <a:avLst/>
          </a:prstGeom>
          <a:noFill/>
          <a:ln w="9525">
            <a:noFill/>
          </a:ln>
        </p:spPr>
        <p:txBody>
          <a:bodyPr wrap="none">
            <a:spAutoFit/>
          </a:bodyPr>
          <a:p>
            <a:r>
              <a:rPr lang="en-US" altLang="zh-CN" sz="2200" dirty="0">
                <a:solidFill>
                  <a:schemeClr val="tx1"/>
                </a:solidFill>
                <a:latin typeface="Tahoma" panose="020B0604030504040204" pitchFamily="34" charset="0"/>
              </a:rPr>
              <a:t> </a:t>
            </a:r>
            <a:endParaRPr lang="en-US" altLang="zh-CN" sz="2200" dirty="0">
              <a:solidFill>
                <a:schemeClr val="tx1"/>
              </a:solidFill>
              <a:latin typeface="Tahoma" panose="020B0604030504040204" pitchFamily="34" charset="0"/>
            </a:endParaRPr>
          </a:p>
        </p:txBody>
      </p:sp>
      <p:sp>
        <p:nvSpPr>
          <p:cNvPr id="17416" name="Rectangle 8"/>
          <p:cNvSpPr/>
          <p:nvPr/>
        </p:nvSpPr>
        <p:spPr>
          <a:xfrm>
            <a:off x="0" y="0"/>
            <a:ext cx="9144000" cy="0"/>
          </a:xfrm>
          <a:prstGeom prst="rect">
            <a:avLst/>
          </a:prstGeom>
          <a:noFill/>
          <a:ln w="9525">
            <a:noFill/>
          </a:ln>
        </p:spPr>
        <p:txBody>
          <a:bodyPr wrap="none" anchor="ctr" anchorCtr="0">
            <a:spAutoFit/>
          </a:bodyPr>
          <a:p>
            <a:endParaRPr lang="zh-CN" altLang="en-US" dirty="0">
              <a:latin typeface="Times New Roman" panose="02020603050405020304" pitchFamily="18" charset="0"/>
            </a:endParaRPr>
          </a:p>
        </p:txBody>
      </p:sp>
      <p:pic>
        <p:nvPicPr>
          <p:cNvPr id="17417" name="Picture 7"/>
          <p:cNvPicPr>
            <a:picLocks noChangeAspect="1"/>
          </p:cNvPicPr>
          <p:nvPr/>
        </p:nvPicPr>
        <p:blipFill>
          <a:blip r:embed="rId5">
            <a:clrChange>
              <a:clrFrom>
                <a:srgbClr val="FFFFFF"/>
              </a:clrFrom>
              <a:clrTo>
                <a:srgbClr val="FFFFFF">
                  <a:alpha val="0"/>
                </a:srgbClr>
              </a:clrTo>
            </a:clrChange>
          </a:blip>
          <a:stretch>
            <a:fillRect/>
          </a:stretch>
        </p:blipFill>
        <p:spPr>
          <a:xfrm>
            <a:off x="0" y="0"/>
            <a:ext cx="114300" cy="174625"/>
          </a:xfrm>
          <a:prstGeom prst="rect">
            <a:avLst/>
          </a:prstGeom>
          <a:noFill/>
          <a:ln w="9525">
            <a:noFill/>
          </a:ln>
        </p:spPr>
      </p:pic>
      <p:sp>
        <p:nvSpPr>
          <p:cNvPr id="17418" name="Rectangle 10"/>
          <p:cNvSpPr/>
          <p:nvPr/>
        </p:nvSpPr>
        <p:spPr>
          <a:xfrm>
            <a:off x="0" y="0"/>
            <a:ext cx="9144000" cy="0"/>
          </a:xfrm>
          <a:prstGeom prst="rect">
            <a:avLst/>
          </a:prstGeom>
          <a:noFill/>
          <a:ln w="9525">
            <a:noFill/>
          </a:ln>
        </p:spPr>
        <p:txBody>
          <a:bodyPr wrap="none" anchor="ctr" anchorCtr="0">
            <a:spAutoFit/>
          </a:bodyPr>
          <a:p>
            <a:endParaRPr lang="zh-CN" altLang="en-US" dirty="0">
              <a:latin typeface="Times New Roman" panose="02020603050405020304" pitchFamily="18" charset="0"/>
            </a:endParaRPr>
          </a:p>
        </p:txBody>
      </p:sp>
      <p:pic>
        <p:nvPicPr>
          <p:cNvPr id="17419" name="Picture 9"/>
          <p:cNvPicPr>
            <a:picLocks noChangeAspect="1"/>
          </p:cNvPicPr>
          <p:nvPr/>
        </p:nvPicPr>
        <p:blipFill>
          <a:blip r:embed="rId5">
            <a:clrChange>
              <a:clrFrom>
                <a:srgbClr val="FFFFFF"/>
              </a:clrFrom>
              <a:clrTo>
                <a:srgbClr val="FFFFFF">
                  <a:alpha val="0"/>
                </a:srgbClr>
              </a:clrTo>
            </a:clrChange>
          </a:blip>
          <a:stretch>
            <a:fillRect/>
          </a:stretch>
        </p:blipFill>
        <p:spPr>
          <a:xfrm>
            <a:off x="0" y="0"/>
            <a:ext cx="114300" cy="174625"/>
          </a:xfrm>
          <a:prstGeom prst="rect">
            <a:avLst/>
          </a:prstGeom>
          <a:noFill/>
          <a:ln w="9525">
            <a:noFill/>
          </a:ln>
        </p:spPr>
      </p:pic>
      <p:sp>
        <p:nvSpPr>
          <p:cNvPr id="17420" name="TextBox 16"/>
          <p:cNvSpPr txBox="1"/>
          <p:nvPr/>
        </p:nvSpPr>
        <p:spPr>
          <a:xfrm>
            <a:off x="785813" y="928688"/>
            <a:ext cx="2492375" cy="400050"/>
          </a:xfrm>
          <a:prstGeom prst="rect">
            <a:avLst/>
          </a:prstGeom>
          <a:noFill/>
          <a:ln w="9525">
            <a:noFill/>
          </a:ln>
        </p:spPr>
        <p:txBody>
          <a:bodyPr wrap="none">
            <a:spAutoFit/>
          </a:bodyPr>
          <a:p>
            <a:r>
              <a:rPr lang="zh-CN" altLang="en-US" dirty="0">
                <a:solidFill>
                  <a:srgbClr val="C00000"/>
                </a:solidFill>
                <a:latin typeface="Times New Roman" panose="02020603050405020304" pitchFamily="18" charset="0"/>
              </a:rPr>
              <a:t>（一）胶接及其应用</a:t>
            </a:r>
            <a:endParaRPr lang="zh-CN" altLang="en-US" dirty="0">
              <a:solidFill>
                <a:srgbClr val="C00000"/>
              </a:solidFill>
              <a:latin typeface="Times New Roman" panose="02020603050405020304" pitchFamily="18" charset="0"/>
            </a:endParaRPr>
          </a:p>
        </p:txBody>
      </p:sp>
      <p:sp>
        <p:nvSpPr>
          <p:cNvPr id="17421" name="TextBox 18"/>
          <p:cNvSpPr txBox="1"/>
          <p:nvPr/>
        </p:nvSpPr>
        <p:spPr>
          <a:xfrm>
            <a:off x="428625" y="1357313"/>
            <a:ext cx="8215313" cy="938212"/>
          </a:xfrm>
          <a:prstGeom prst="rect">
            <a:avLst/>
          </a:prstGeom>
          <a:noFill/>
          <a:ln w="9525">
            <a:noFill/>
          </a:ln>
        </p:spPr>
        <p:txBody>
          <a:bodyPr>
            <a:spAutoFit/>
          </a:bodyPr>
          <a:p>
            <a:pPr>
              <a:lnSpc>
                <a:spcPts val="3500"/>
              </a:lnSpc>
            </a:pPr>
            <a:r>
              <a:rPr lang="zh-CN" altLang="en-US" dirty="0">
                <a:latin typeface="Times New Roman" panose="02020603050405020304" pitchFamily="18" charset="0"/>
              </a:rPr>
              <a:t>        </a:t>
            </a:r>
            <a:r>
              <a:rPr lang="zh-CN" altLang="en-US" dirty="0">
                <a:solidFill>
                  <a:srgbClr val="C00000"/>
                </a:solidFill>
                <a:latin typeface="Times New Roman" panose="02020603050405020304" pitchFamily="18" charset="0"/>
              </a:rPr>
              <a:t>胶接</a:t>
            </a:r>
            <a:r>
              <a:rPr lang="zh-CN" altLang="en-US" dirty="0">
                <a:latin typeface="Times New Roman" panose="02020603050405020304" pitchFamily="18" charset="0"/>
              </a:rPr>
              <a:t>是利用</a:t>
            </a:r>
            <a:r>
              <a:rPr lang="zh-CN" altLang="en-US" dirty="0">
                <a:solidFill>
                  <a:srgbClr val="00B050"/>
                </a:solidFill>
                <a:latin typeface="Times New Roman" panose="02020603050405020304" pitchFamily="18" charset="0"/>
              </a:rPr>
              <a:t>胶黏剂</a:t>
            </a:r>
            <a:r>
              <a:rPr lang="zh-CN" altLang="en-US" dirty="0">
                <a:latin typeface="Times New Roman" panose="02020603050405020304" pitchFamily="18" charset="0"/>
              </a:rPr>
              <a:t>在一定条件下把两个或两个以上预制元件（如下图中</a:t>
            </a:r>
            <a:r>
              <a:rPr lang="en-US" altLang="zh-CN" dirty="0">
                <a:latin typeface="Times New Roman" panose="02020603050405020304" pitchFamily="18" charset="0"/>
              </a:rPr>
              <a:t>c</a:t>
            </a:r>
            <a:r>
              <a:rPr lang="zh-CN" altLang="en-US" dirty="0">
                <a:latin typeface="Times New Roman" panose="02020603050405020304" pitchFamily="18" charset="0"/>
              </a:rPr>
              <a:t>的管子与法兰）连接在一起，并具有一定连接强度的连接方式。</a:t>
            </a:r>
            <a:endParaRPr lang="zh-CN" altLang="en-US" dirty="0">
              <a:latin typeface="Times New Roman" panose="02020603050405020304" pitchFamily="18" charset="0"/>
            </a:endParaRPr>
          </a:p>
        </p:txBody>
      </p:sp>
      <p:pic>
        <p:nvPicPr>
          <p:cNvPr id="17422" name="图片 19" descr="3-13-19 [转换].tif"/>
          <p:cNvPicPr>
            <a:picLocks noChangeAspect="1"/>
          </p:cNvPicPr>
          <p:nvPr/>
        </p:nvPicPr>
        <p:blipFill>
          <a:blip r:embed="rId6"/>
          <a:stretch>
            <a:fillRect/>
          </a:stretch>
        </p:blipFill>
        <p:spPr>
          <a:xfrm>
            <a:off x="1071563" y="2571750"/>
            <a:ext cx="6643687" cy="2471738"/>
          </a:xfrm>
          <a:prstGeom prst="rect">
            <a:avLst/>
          </a:prstGeom>
          <a:noFill/>
          <a:ln w="9525">
            <a:noFill/>
          </a:ln>
        </p:spPr>
      </p:pic>
      <p:sp>
        <p:nvSpPr>
          <p:cNvPr id="17423" name="TextBox 24"/>
          <p:cNvSpPr txBox="1"/>
          <p:nvPr/>
        </p:nvSpPr>
        <p:spPr>
          <a:xfrm>
            <a:off x="3857625" y="5286375"/>
            <a:ext cx="1416050" cy="338138"/>
          </a:xfrm>
          <a:prstGeom prst="rect">
            <a:avLst/>
          </a:prstGeom>
          <a:noFill/>
          <a:ln w="9525">
            <a:noFill/>
          </a:ln>
        </p:spPr>
        <p:txBody>
          <a:bodyPr wrap="none">
            <a:spAutoFit/>
          </a:bodyPr>
          <a:p>
            <a:r>
              <a:rPr lang="zh-CN" altLang="en-US" sz="1600" dirty="0">
                <a:latin typeface="Times New Roman" panose="02020603050405020304" pitchFamily="18" charset="0"/>
              </a:rPr>
              <a:t>胶接应用实例</a:t>
            </a:r>
            <a:endParaRPr lang="zh-CN" altLang="en-US" sz="1600" dirty="0">
              <a:latin typeface="Times New Roman" panose="02020603050405020304" pitchFamily="18" charset="0"/>
            </a:endParaRPr>
          </a:p>
        </p:txBody>
      </p:sp>
      <p:sp>
        <p:nvSpPr>
          <p:cNvPr id="17424" name="TextBox 25"/>
          <p:cNvSpPr txBox="1"/>
          <p:nvPr/>
        </p:nvSpPr>
        <p:spPr>
          <a:xfrm>
            <a:off x="1071563" y="5857875"/>
            <a:ext cx="4800600" cy="400050"/>
          </a:xfrm>
          <a:prstGeom prst="rect">
            <a:avLst/>
          </a:prstGeom>
          <a:noFill/>
          <a:ln w="9525">
            <a:noFill/>
          </a:ln>
        </p:spPr>
        <p:txBody>
          <a:bodyPr wrap="none">
            <a:spAutoFit/>
          </a:bodyPr>
          <a:p>
            <a:r>
              <a:rPr lang="zh-CN" altLang="en-US" dirty="0">
                <a:latin typeface="Times New Roman" panose="02020603050405020304" pitchFamily="18" charset="0"/>
              </a:rPr>
              <a:t>胶接技术近些年来发展很快，应用广泛。</a:t>
            </a:r>
            <a:endParaRPr lang="zh-CN" altLang="en-US"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499"/>
                                          </p:stCondLst>
                                        </p:cTn>
                                        <p:tgtEl>
                                          <p:spTgt spid="51226"/>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nodeType="afterEffect">
                                  <p:stCondLst>
                                    <p:cond delay="0"/>
                                  </p:stCondLst>
                                  <p:childTnLst>
                                    <p:set>
                                      <p:cBhvr>
                                        <p:cTn id="9" dur="1" fill="hold">
                                          <p:stCondLst>
                                            <p:cond delay="499"/>
                                          </p:stCondLst>
                                        </p:cTn>
                                        <p:tgtEl>
                                          <p:spTgt spid="51225"/>
                                        </p:tgtEl>
                                        <p:attrNameLst>
                                          <p:attrName>style.visibility</p:attrName>
                                        </p:attrNameLst>
                                      </p:cBhvr>
                                      <p:to>
                                        <p:strVal val="visible"/>
                                      </p:to>
                                    </p:set>
                                  </p:childTnLst>
                                </p:cTn>
                              </p:par>
                            </p:childTnLst>
                          </p:cTn>
                        </p:par>
                        <p:par>
                          <p:cTn id="10" fill="hold">
                            <p:stCondLst>
                              <p:cond delay="1000"/>
                            </p:stCondLst>
                            <p:childTnLst>
                              <p:par>
                                <p:cTn id="11" presetID="2" presetClass="entr" presetSubtype="8" fill="hold" nodeType="afterEffect">
                                  <p:stCondLst>
                                    <p:cond delay="0"/>
                                  </p:stCondLst>
                                  <p:childTnLst>
                                    <p:set>
                                      <p:cBhvr>
                                        <p:cTn id="12" dur="1" fill="hold">
                                          <p:stCondLst>
                                            <p:cond delay="0"/>
                                          </p:stCondLst>
                                        </p:cTn>
                                        <p:tgtEl>
                                          <p:spTgt spid="51224"/>
                                        </p:tgtEl>
                                        <p:attrNameLst>
                                          <p:attrName>style.visibility</p:attrName>
                                        </p:attrNameLst>
                                      </p:cBhvr>
                                      <p:to>
                                        <p:strVal val="visible"/>
                                      </p:to>
                                    </p:set>
                                    <p:anim calcmode="lin" valueType="num">
                                      <p:cBhvr additive="base">
                                        <p:cTn id="13" dur="500" fill="hold"/>
                                        <p:tgtEl>
                                          <p:spTgt spid="51224"/>
                                        </p:tgtEl>
                                        <p:attrNameLst>
                                          <p:attrName>ppt_x</p:attrName>
                                        </p:attrNameLst>
                                      </p:cBhvr>
                                      <p:tavLst>
                                        <p:tav tm="0">
                                          <p:val>
                                            <p:strVal val="0-#ppt_w/2"/>
                                          </p:val>
                                        </p:tav>
                                        <p:tav tm="100000">
                                          <p:val>
                                            <p:strVal val="#ppt_x"/>
                                          </p:val>
                                        </p:tav>
                                      </p:tavLst>
                                    </p:anim>
                                    <p:anim calcmode="lin" valueType="num">
                                      <p:cBhvr additive="base">
                                        <p:cTn id="14" dur="500" fill="hold"/>
                                        <p:tgtEl>
                                          <p:spTgt spid="51224"/>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51240"/>
                                        </p:tgtEl>
                                        <p:attrNameLst>
                                          <p:attrName>style.visibility</p:attrName>
                                        </p:attrNameLst>
                                      </p:cBhvr>
                                      <p:to>
                                        <p:strVal val="visible"/>
                                      </p:to>
                                    </p:set>
                                    <p:anim calcmode="lin" valueType="num">
                                      <p:cBhvr additive="base">
                                        <p:cTn id="19" dur="500" fill="hold"/>
                                        <p:tgtEl>
                                          <p:spTgt spid="51240"/>
                                        </p:tgtEl>
                                        <p:attrNameLst>
                                          <p:attrName>ppt_x</p:attrName>
                                        </p:attrNameLst>
                                      </p:cBhvr>
                                      <p:tavLst>
                                        <p:tav tm="0">
                                          <p:val>
                                            <p:strVal val="0-#ppt_w/2"/>
                                          </p:val>
                                        </p:tav>
                                        <p:tav tm="100000">
                                          <p:val>
                                            <p:strVal val="#ppt_x"/>
                                          </p:val>
                                        </p:tav>
                                      </p:tavLst>
                                    </p:anim>
                                    <p:anim calcmode="lin" valueType="num">
                                      <p:cBhvr additive="base">
                                        <p:cTn id="20" dur="500" fill="hold"/>
                                        <p:tgtEl>
                                          <p:spTgt spid="5124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40"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Rectangle 4"/>
          <p:cNvSpPr>
            <a:spLocks noGrp="1"/>
          </p:cNvSpPr>
          <p:nvPr>
            <p:ph type="title"/>
          </p:nvPr>
        </p:nvSpPr>
        <p:spPr>
          <a:xfrm>
            <a:off x="5410200" y="838200"/>
            <a:ext cx="2133600" cy="152400"/>
          </a:xfrm>
          <a:noFill/>
          <a:ln>
            <a:noFill/>
          </a:ln>
        </p:spPr>
        <p:txBody>
          <a:bodyPr/>
          <a:p>
            <a:pPr eaLnBrk="1" hangingPunct="1"/>
            <a:r>
              <a:rPr lang="zh-CN" altLang="en-US" sz="2800" dirty="0">
                <a:solidFill>
                  <a:schemeClr val="bg1"/>
                </a:solidFill>
                <a:ea typeface="华文中宋" panose="02010600040101010101" pitchFamily="2" charset="-122"/>
              </a:rPr>
              <a:t>胶接</a:t>
            </a:r>
            <a:r>
              <a:rPr lang="en-US" altLang="zh-CN" sz="2800" dirty="0">
                <a:solidFill>
                  <a:schemeClr val="bg1"/>
                </a:solidFill>
                <a:ea typeface="华文中宋" panose="02010600040101010101" pitchFamily="2" charset="-122"/>
              </a:rPr>
              <a:t>2</a:t>
            </a:r>
            <a:endParaRPr lang="en-US" altLang="zh-CN" sz="2800" dirty="0">
              <a:solidFill>
                <a:schemeClr val="bg1"/>
              </a:solidFill>
              <a:ea typeface="华文中宋" panose="02010600040101010101" pitchFamily="2" charset="-122"/>
            </a:endParaRPr>
          </a:p>
        </p:txBody>
      </p:sp>
      <p:sp>
        <p:nvSpPr>
          <p:cNvPr id="18435" name="Rectangle 5"/>
          <p:cNvSpPr>
            <a:spLocks noGrp="1"/>
          </p:cNvSpPr>
          <p:nvPr/>
        </p:nvSpPr>
        <p:spPr>
          <a:xfrm>
            <a:off x="1071563" y="0"/>
            <a:ext cx="1219200" cy="533400"/>
          </a:xfrm>
          <a:prstGeom prst="rect">
            <a:avLst/>
          </a:prstGeom>
          <a:noFill/>
          <a:ln w="9525">
            <a:noFill/>
          </a:ln>
        </p:spPr>
        <p:txBody>
          <a:bodyPr/>
          <a:p>
            <a:pPr eaLnBrk="0" hangingPunct="0"/>
            <a:r>
              <a:rPr lang="zh-CN" altLang="en-US" sz="3000" dirty="0">
                <a:solidFill>
                  <a:schemeClr val="bg1"/>
                </a:solidFill>
                <a:latin typeface="黑体" panose="02010609060101010101" pitchFamily="49" charset="-122"/>
                <a:ea typeface="黑体" panose="02010609060101010101" pitchFamily="49" charset="-122"/>
              </a:rPr>
              <a:t>胶 接</a:t>
            </a:r>
            <a:endParaRPr lang="zh-CN" altLang="en-US" sz="3000" dirty="0">
              <a:solidFill>
                <a:schemeClr val="bg1"/>
              </a:solidFill>
              <a:latin typeface="黑体" panose="02010609060101010101" pitchFamily="49" charset="-122"/>
              <a:ea typeface="黑体" panose="02010609060101010101" pitchFamily="49" charset="-122"/>
            </a:endParaRPr>
          </a:p>
        </p:txBody>
      </p:sp>
      <p:sp>
        <p:nvSpPr>
          <p:cNvPr id="55303" name="Rectangle 7"/>
          <p:cNvSpPr/>
          <p:nvPr/>
        </p:nvSpPr>
        <p:spPr>
          <a:xfrm>
            <a:off x="1246188" y="5835650"/>
            <a:ext cx="3667125" cy="396875"/>
          </a:xfrm>
          <a:prstGeom prst="rect">
            <a:avLst/>
          </a:prstGeom>
          <a:noFill/>
          <a:ln w="9525">
            <a:noFill/>
          </a:ln>
        </p:spPr>
        <p:txBody>
          <a:bodyPr wrap="none">
            <a:spAutoFit/>
          </a:bodyPr>
          <a:p>
            <a:pPr>
              <a:buClr>
                <a:srgbClr val="660033"/>
              </a:buClr>
              <a:buSzPct val="80000"/>
              <a:buFont typeface="Wingdings" panose="05000000000000000000" pitchFamily="2" charset="2"/>
              <a:buChar char="v"/>
            </a:pPr>
            <a:r>
              <a:rPr lang="zh-CN" altLang="en-US" dirty="0">
                <a:latin typeface="华文中宋" panose="02010600040101010101" pitchFamily="2" charset="-122"/>
              </a:rPr>
              <a:t>胶接件的缺陷有时不易发现。</a:t>
            </a:r>
            <a:endParaRPr lang="zh-CN" altLang="en-US" dirty="0">
              <a:latin typeface="华文中宋" panose="02010600040101010101" pitchFamily="2" charset="-122"/>
            </a:endParaRPr>
          </a:p>
        </p:txBody>
      </p:sp>
      <p:sp>
        <p:nvSpPr>
          <p:cNvPr id="55304" name="Text Box 8"/>
          <p:cNvSpPr txBox="1"/>
          <p:nvPr/>
        </p:nvSpPr>
        <p:spPr>
          <a:xfrm>
            <a:off x="1246188" y="3535363"/>
            <a:ext cx="4429125" cy="396875"/>
          </a:xfrm>
          <a:prstGeom prst="rect">
            <a:avLst/>
          </a:prstGeom>
          <a:noFill/>
          <a:ln w="9525">
            <a:noFill/>
          </a:ln>
        </p:spPr>
        <p:txBody>
          <a:bodyPr wrap="none">
            <a:spAutoFit/>
          </a:bodyPr>
          <a:p>
            <a:pPr>
              <a:buClr>
                <a:srgbClr val="EB6623"/>
              </a:buClr>
              <a:buSzPct val="80000"/>
              <a:buFont typeface="Wingdings" panose="05000000000000000000" pitchFamily="2" charset="2"/>
              <a:buChar char="v"/>
            </a:pPr>
            <a:r>
              <a:rPr lang="zh-CN" altLang="en-US" dirty="0">
                <a:latin typeface="华文中宋" panose="02010600040101010101" pitchFamily="2" charset="-122"/>
              </a:rPr>
              <a:t>有良好的密封性、绝缘性和防腐性。</a:t>
            </a:r>
            <a:endParaRPr lang="zh-CN" altLang="en-US" dirty="0">
              <a:latin typeface="华文中宋" panose="02010600040101010101" pitchFamily="2" charset="-122"/>
            </a:endParaRPr>
          </a:p>
        </p:txBody>
      </p:sp>
      <p:sp>
        <p:nvSpPr>
          <p:cNvPr id="18438" name="Text Box 10"/>
          <p:cNvSpPr txBox="1"/>
          <p:nvPr/>
        </p:nvSpPr>
        <p:spPr>
          <a:xfrm>
            <a:off x="928688" y="714375"/>
            <a:ext cx="1466850" cy="400050"/>
          </a:xfrm>
          <a:prstGeom prst="rect">
            <a:avLst/>
          </a:prstGeom>
          <a:noFill/>
          <a:ln w="9525">
            <a:noFill/>
          </a:ln>
        </p:spPr>
        <p:txBody>
          <a:bodyPr wrap="none">
            <a:spAutoFit/>
          </a:bodyPr>
          <a:p>
            <a:r>
              <a:rPr lang="zh-CN" altLang="en-US" dirty="0">
                <a:latin typeface="华文中宋" panose="02010600040101010101" pitchFamily="2" charset="-122"/>
              </a:rPr>
              <a:t>胶接的特点</a:t>
            </a:r>
            <a:endParaRPr lang="zh-CN" altLang="en-US" dirty="0">
              <a:latin typeface="华文中宋" panose="02010600040101010101" pitchFamily="2" charset="-122"/>
            </a:endParaRPr>
          </a:p>
        </p:txBody>
      </p:sp>
      <p:sp>
        <p:nvSpPr>
          <p:cNvPr id="55307" name="Text Box 11"/>
          <p:cNvSpPr txBox="1"/>
          <p:nvPr/>
        </p:nvSpPr>
        <p:spPr>
          <a:xfrm>
            <a:off x="930275" y="1235075"/>
            <a:ext cx="4502150" cy="396875"/>
          </a:xfrm>
          <a:prstGeom prst="rect">
            <a:avLst/>
          </a:prstGeom>
          <a:noFill/>
          <a:ln w="9525">
            <a:noFill/>
          </a:ln>
        </p:spPr>
        <p:txBody>
          <a:bodyPr wrap="none">
            <a:spAutoFit/>
          </a:bodyPr>
          <a:p>
            <a:r>
              <a:rPr lang="zh-CN" altLang="en-US" dirty="0">
                <a:latin typeface="华文中宋" panose="02010600040101010101" pitchFamily="2" charset="-122"/>
              </a:rPr>
              <a:t>与铆接、焊接相比，胶接的</a:t>
            </a:r>
            <a:r>
              <a:rPr lang="zh-CN" altLang="en-US" dirty="0">
                <a:solidFill>
                  <a:schemeClr val="tx1"/>
                </a:solidFill>
                <a:latin typeface="华文中宋" panose="02010600040101010101" pitchFamily="2" charset="-122"/>
              </a:rPr>
              <a:t>主要</a:t>
            </a:r>
            <a:r>
              <a:rPr lang="zh-CN" altLang="en-US" dirty="0">
                <a:solidFill>
                  <a:srgbClr val="C00000"/>
                </a:solidFill>
                <a:latin typeface="华文中宋" panose="02010600040101010101" pitchFamily="2" charset="-122"/>
              </a:rPr>
              <a:t>优点</a:t>
            </a:r>
            <a:r>
              <a:rPr lang="zh-CN" altLang="en-US" dirty="0">
                <a:latin typeface="华文中宋" panose="02010600040101010101" pitchFamily="2" charset="-122"/>
              </a:rPr>
              <a:t>：</a:t>
            </a:r>
            <a:endParaRPr lang="zh-CN" altLang="en-US" dirty="0">
              <a:latin typeface="华文中宋" panose="02010600040101010101" pitchFamily="2" charset="-122"/>
            </a:endParaRPr>
          </a:p>
        </p:txBody>
      </p:sp>
      <p:sp>
        <p:nvSpPr>
          <p:cNvPr id="55308" name="Text Box 12"/>
          <p:cNvSpPr txBox="1"/>
          <p:nvPr/>
        </p:nvSpPr>
        <p:spPr>
          <a:xfrm>
            <a:off x="930275" y="3995738"/>
            <a:ext cx="1454150" cy="396875"/>
          </a:xfrm>
          <a:prstGeom prst="rect">
            <a:avLst/>
          </a:prstGeom>
          <a:noFill/>
          <a:ln w="9525">
            <a:noFill/>
          </a:ln>
        </p:spPr>
        <p:txBody>
          <a:bodyPr wrap="none">
            <a:spAutoFit/>
          </a:bodyPr>
          <a:p>
            <a:r>
              <a:rPr lang="zh-CN" altLang="en-US" dirty="0">
                <a:latin typeface="华文中宋" panose="02010600040101010101" pitchFamily="2" charset="-122"/>
              </a:rPr>
              <a:t>主要</a:t>
            </a:r>
            <a:r>
              <a:rPr lang="zh-CN" altLang="en-US" dirty="0">
                <a:solidFill>
                  <a:srgbClr val="C00000"/>
                </a:solidFill>
                <a:latin typeface="华文中宋" panose="02010600040101010101" pitchFamily="2" charset="-122"/>
              </a:rPr>
              <a:t>缺点</a:t>
            </a:r>
            <a:r>
              <a:rPr lang="zh-CN" altLang="en-US" dirty="0">
                <a:latin typeface="华文中宋" panose="02010600040101010101" pitchFamily="2" charset="-122"/>
              </a:rPr>
              <a:t>：</a:t>
            </a:r>
            <a:endParaRPr lang="zh-CN" altLang="en-US" dirty="0">
              <a:latin typeface="华文中宋" panose="02010600040101010101" pitchFamily="2" charset="-122"/>
            </a:endParaRPr>
          </a:p>
        </p:txBody>
      </p:sp>
      <p:pic>
        <p:nvPicPr>
          <p:cNvPr id="18441" name="Picture 16" descr="rewind1">
            <a:hlinkClick r:id="" action="ppaction://hlinkshowjump?jump=firstslide"/>
          </p:cNvPr>
          <p:cNvPicPr>
            <a:picLocks noChangeAspect="1"/>
          </p:cNvPicPr>
          <p:nvPr/>
        </p:nvPicPr>
        <p:blipFill>
          <a:blip r:embed="rId1"/>
          <a:stretch>
            <a:fillRect/>
          </a:stretch>
        </p:blipFill>
        <p:spPr>
          <a:xfrm>
            <a:off x="8001000" y="6570663"/>
            <a:ext cx="287338" cy="287337"/>
          </a:xfrm>
          <a:prstGeom prst="rect">
            <a:avLst/>
          </a:prstGeom>
          <a:noFill/>
          <a:ln w="9525">
            <a:noFill/>
          </a:ln>
        </p:spPr>
      </p:pic>
      <p:pic>
        <p:nvPicPr>
          <p:cNvPr id="18442" name="Picture 17" descr="back1">
            <a:hlinkClick r:id="" action="ppaction://hlinkshowjump?jump=previousslide"/>
          </p:cNvPr>
          <p:cNvPicPr>
            <a:picLocks noChangeAspect="1"/>
          </p:cNvPicPr>
          <p:nvPr/>
        </p:nvPicPr>
        <p:blipFill>
          <a:blip r:embed="rId2"/>
          <a:stretch>
            <a:fillRect/>
          </a:stretch>
        </p:blipFill>
        <p:spPr>
          <a:xfrm>
            <a:off x="8358188" y="6570663"/>
            <a:ext cx="287337" cy="287337"/>
          </a:xfrm>
          <a:prstGeom prst="rect">
            <a:avLst/>
          </a:prstGeom>
          <a:noFill/>
          <a:ln w="9525">
            <a:noFill/>
          </a:ln>
        </p:spPr>
      </p:pic>
      <p:sp>
        <p:nvSpPr>
          <p:cNvPr id="55315" name="Text Box 19"/>
          <p:cNvSpPr txBox="1"/>
          <p:nvPr/>
        </p:nvSpPr>
        <p:spPr>
          <a:xfrm>
            <a:off x="1246188" y="1695450"/>
            <a:ext cx="3159125" cy="396875"/>
          </a:xfrm>
          <a:prstGeom prst="rect">
            <a:avLst/>
          </a:prstGeom>
          <a:noFill/>
          <a:ln w="9525">
            <a:noFill/>
          </a:ln>
        </p:spPr>
        <p:txBody>
          <a:bodyPr wrap="none">
            <a:spAutoFit/>
          </a:bodyPr>
          <a:p>
            <a:pPr>
              <a:buClr>
                <a:srgbClr val="EB6623"/>
              </a:buClr>
              <a:buSzPct val="80000"/>
              <a:buFont typeface="Wingdings" panose="05000000000000000000" pitchFamily="2" charset="2"/>
              <a:buChar char="v"/>
            </a:pPr>
            <a:r>
              <a:rPr lang="zh-CN" altLang="en-US" dirty="0">
                <a:latin typeface="华文中宋" panose="02010600040101010101" pitchFamily="2" charset="-122"/>
              </a:rPr>
              <a:t>连接件的材料范围宽广；</a:t>
            </a:r>
            <a:endParaRPr lang="zh-CN" altLang="en-US" dirty="0">
              <a:latin typeface="华文中宋" panose="02010600040101010101" pitchFamily="2" charset="-122"/>
            </a:endParaRPr>
          </a:p>
        </p:txBody>
      </p:sp>
      <p:sp>
        <p:nvSpPr>
          <p:cNvPr id="55316" name="Text Box 20"/>
          <p:cNvSpPr txBox="1"/>
          <p:nvPr/>
        </p:nvSpPr>
        <p:spPr>
          <a:xfrm>
            <a:off x="1246188" y="2155825"/>
            <a:ext cx="4429125" cy="396875"/>
          </a:xfrm>
          <a:prstGeom prst="rect">
            <a:avLst/>
          </a:prstGeom>
          <a:noFill/>
          <a:ln w="9525">
            <a:noFill/>
          </a:ln>
        </p:spPr>
        <p:txBody>
          <a:bodyPr wrap="none">
            <a:spAutoFit/>
          </a:bodyPr>
          <a:p>
            <a:pPr>
              <a:buClr>
                <a:srgbClr val="EB6623"/>
              </a:buClr>
              <a:buSzPct val="80000"/>
              <a:buFont typeface="Wingdings" panose="05000000000000000000" pitchFamily="2" charset="2"/>
              <a:buChar char="v"/>
            </a:pPr>
            <a:r>
              <a:rPr lang="zh-CN" altLang="en-US" dirty="0">
                <a:latin typeface="华文中宋" panose="02010600040101010101" pitchFamily="2" charset="-122"/>
              </a:rPr>
              <a:t>连接后的重量轻，材料的利用率高；</a:t>
            </a:r>
            <a:endParaRPr lang="zh-CN" altLang="en-US" dirty="0">
              <a:latin typeface="华文中宋" panose="02010600040101010101" pitchFamily="2" charset="-122"/>
            </a:endParaRPr>
          </a:p>
        </p:txBody>
      </p:sp>
      <p:sp>
        <p:nvSpPr>
          <p:cNvPr id="55317" name="Text Box 21"/>
          <p:cNvSpPr txBox="1"/>
          <p:nvPr/>
        </p:nvSpPr>
        <p:spPr>
          <a:xfrm>
            <a:off x="1246188" y="2614613"/>
            <a:ext cx="1381125" cy="396875"/>
          </a:xfrm>
          <a:prstGeom prst="rect">
            <a:avLst/>
          </a:prstGeom>
          <a:noFill/>
          <a:ln w="9525">
            <a:noFill/>
          </a:ln>
        </p:spPr>
        <p:txBody>
          <a:bodyPr wrap="none">
            <a:spAutoFit/>
          </a:bodyPr>
          <a:p>
            <a:pPr>
              <a:buClr>
                <a:srgbClr val="EB6623"/>
              </a:buClr>
              <a:buSzPct val="80000"/>
              <a:buFont typeface="Wingdings" panose="05000000000000000000" pitchFamily="2" charset="2"/>
              <a:buChar char="v"/>
            </a:pPr>
            <a:r>
              <a:rPr lang="zh-CN" altLang="en-US" dirty="0">
                <a:latin typeface="华文中宋" panose="02010600040101010101" pitchFamily="2" charset="-122"/>
              </a:rPr>
              <a:t>成本低；</a:t>
            </a:r>
            <a:endParaRPr lang="zh-CN" altLang="en-US" dirty="0">
              <a:latin typeface="华文中宋" panose="02010600040101010101" pitchFamily="2" charset="-122"/>
            </a:endParaRPr>
          </a:p>
        </p:txBody>
      </p:sp>
      <p:sp>
        <p:nvSpPr>
          <p:cNvPr id="55318" name="Text Box 22"/>
          <p:cNvSpPr txBox="1"/>
          <p:nvPr/>
        </p:nvSpPr>
        <p:spPr>
          <a:xfrm>
            <a:off x="1246188" y="3074988"/>
            <a:ext cx="5699125" cy="396875"/>
          </a:xfrm>
          <a:prstGeom prst="rect">
            <a:avLst/>
          </a:prstGeom>
          <a:noFill/>
          <a:ln w="9525">
            <a:noFill/>
          </a:ln>
        </p:spPr>
        <p:txBody>
          <a:bodyPr wrap="none">
            <a:spAutoFit/>
          </a:bodyPr>
          <a:p>
            <a:pPr>
              <a:buClr>
                <a:srgbClr val="EB6623"/>
              </a:buClr>
              <a:buSzPct val="80000"/>
              <a:buFont typeface="Wingdings" panose="05000000000000000000" pitchFamily="2" charset="2"/>
              <a:buChar char="v"/>
            </a:pPr>
            <a:r>
              <a:rPr lang="zh-CN" altLang="en-US" dirty="0">
                <a:latin typeface="华文中宋" panose="02010600040101010101" pitchFamily="2" charset="-122"/>
              </a:rPr>
              <a:t>在全部胶接面上应力集中小，故耐疲劳性能好；</a:t>
            </a:r>
            <a:endParaRPr lang="zh-CN" altLang="en-US" dirty="0">
              <a:latin typeface="华文中宋" panose="02010600040101010101" pitchFamily="2" charset="-122"/>
            </a:endParaRPr>
          </a:p>
        </p:txBody>
      </p:sp>
      <p:sp>
        <p:nvSpPr>
          <p:cNvPr id="55319" name="Text Box 23"/>
          <p:cNvSpPr txBox="1"/>
          <p:nvPr/>
        </p:nvSpPr>
        <p:spPr>
          <a:xfrm>
            <a:off x="1246188" y="4454525"/>
            <a:ext cx="4683125" cy="396875"/>
          </a:xfrm>
          <a:prstGeom prst="rect">
            <a:avLst/>
          </a:prstGeom>
          <a:noFill/>
          <a:ln w="9525">
            <a:noFill/>
          </a:ln>
        </p:spPr>
        <p:txBody>
          <a:bodyPr wrap="none">
            <a:spAutoFit/>
          </a:bodyPr>
          <a:p>
            <a:pPr>
              <a:buClr>
                <a:srgbClr val="660033"/>
              </a:buClr>
              <a:buSzPct val="80000"/>
              <a:buFont typeface="Wingdings" panose="05000000000000000000" pitchFamily="2" charset="2"/>
              <a:buChar char="v"/>
            </a:pPr>
            <a:r>
              <a:rPr lang="zh-CN" altLang="en-US" dirty="0">
                <a:latin typeface="华文中宋" panose="02010600040101010101" pitchFamily="2" charset="-122"/>
              </a:rPr>
              <a:t>抗剥离、抗弯曲及抗冲击振动性能差；</a:t>
            </a:r>
            <a:endParaRPr lang="zh-CN" altLang="en-US" dirty="0">
              <a:solidFill>
                <a:schemeClr val="tx1"/>
              </a:solidFill>
              <a:latin typeface="Tahoma" panose="020B0604030504040204" pitchFamily="34" charset="0"/>
            </a:endParaRPr>
          </a:p>
        </p:txBody>
      </p:sp>
      <p:sp>
        <p:nvSpPr>
          <p:cNvPr id="55320" name="Text Box 24"/>
          <p:cNvSpPr txBox="1"/>
          <p:nvPr/>
        </p:nvSpPr>
        <p:spPr>
          <a:xfrm>
            <a:off x="1246188" y="4914900"/>
            <a:ext cx="4581525" cy="396875"/>
          </a:xfrm>
          <a:prstGeom prst="rect">
            <a:avLst/>
          </a:prstGeom>
          <a:noFill/>
          <a:ln w="9525">
            <a:noFill/>
          </a:ln>
        </p:spPr>
        <p:txBody>
          <a:bodyPr wrap="none">
            <a:spAutoFit/>
          </a:bodyPr>
          <a:p>
            <a:pPr>
              <a:buClr>
                <a:srgbClr val="660033"/>
              </a:buClr>
              <a:buSzPct val="80000"/>
              <a:buFont typeface="Wingdings" panose="05000000000000000000" pitchFamily="2" charset="2"/>
              <a:buChar char="v"/>
            </a:pPr>
            <a:r>
              <a:rPr lang="zh-CN" altLang="en-US" dirty="0">
                <a:latin typeface="华文中宋" panose="02010600040101010101" pitchFamily="2" charset="-122"/>
              </a:rPr>
              <a:t>耐老化及耐介质</a:t>
            </a:r>
            <a:r>
              <a:rPr lang="en-US" altLang="zh-CN" dirty="0">
                <a:latin typeface="华文中宋" panose="02010600040101010101" pitchFamily="2" charset="-122"/>
              </a:rPr>
              <a:t>(</a:t>
            </a:r>
            <a:r>
              <a:rPr lang="zh-CN" altLang="en-US" dirty="0">
                <a:latin typeface="华文中宋" panose="02010600040101010101" pitchFamily="2" charset="-122"/>
              </a:rPr>
              <a:t>如酸、碱等</a:t>
            </a:r>
            <a:r>
              <a:rPr lang="en-US" altLang="zh-CN" dirty="0">
                <a:latin typeface="华文中宋" panose="02010600040101010101" pitchFamily="2" charset="-122"/>
              </a:rPr>
              <a:t>)</a:t>
            </a:r>
            <a:r>
              <a:rPr lang="zh-CN" altLang="en-US" dirty="0">
                <a:latin typeface="华文中宋" panose="02010600040101010101" pitchFamily="2" charset="-122"/>
              </a:rPr>
              <a:t>性能差；</a:t>
            </a:r>
            <a:endParaRPr lang="zh-CN" altLang="en-US" dirty="0">
              <a:latin typeface="华文中宋" panose="02010600040101010101" pitchFamily="2" charset="-122"/>
            </a:endParaRPr>
          </a:p>
        </p:txBody>
      </p:sp>
      <p:sp>
        <p:nvSpPr>
          <p:cNvPr id="55321" name="Text Box 25"/>
          <p:cNvSpPr txBox="1"/>
          <p:nvPr/>
        </p:nvSpPr>
        <p:spPr>
          <a:xfrm>
            <a:off x="1246188" y="5375275"/>
            <a:ext cx="4984750" cy="400050"/>
          </a:xfrm>
          <a:prstGeom prst="rect">
            <a:avLst/>
          </a:prstGeom>
          <a:noFill/>
          <a:ln w="9525">
            <a:noFill/>
          </a:ln>
        </p:spPr>
        <p:txBody>
          <a:bodyPr wrap="none">
            <a:spAutoFit/>
          </a:bodyPr>
          <a:p>
            <a:pPr>
              <a:buClr>
                <a:srgbClr val="660033"/>
              </a:buClr>
              <a:buSzPct val="80000"/>
              <a:buFont typeface="Wingdings" panose="05000000000000000000" pitchFamily="2" charset="2"/>
              <a:buChar char="v"/>
            </a:pPr>
            <a:r>
              <a:rPr lang="zh-CN" altLang="en-US" dirty="0">
                <a:latin typeface="华文中宋" panose="02010600040101010101" pitchFamily="2" charset="-122"/>
              </a:rPr>
              <a:t>胶黏剂对温度变化敏感，影响胶接强度；</a:t>
            </a:r>
            <a:endParaRPr lang="zh-CN" altLang="en-US" dirty="0">
              <a:latin typeface="华文中宋" panose="02010600040101010101" pitchFamily="2" charset="-122"/>
            </a:endParaRPr>
          </a:p>
        </p:txBody>
      </p:sp>
      <p:sp>
        <p:nvSpPr>
          <p:cNvPr id="55322" name="Text Box 26"/>
          <p:cNvSpPr txBox="1"/>
          <p:nvPr/>
        </p:nvSpPr>
        <p:spPr>
          <a:xfrm>
            <a:off x="6994525" y="6157913"/>
            <a:ext cx="271463" cy="427037"/>
          </a:xfrm>
          <a:prstGeom prst="rect">
            <a:avLst/>
          </a:prstGeom>
          <a:noFill/>
          <a:ln w="9525">
            <a:noFill/>
          </a:ln>
        </p:spPr>
        <p:txBody>
          <a:bodyPr wrap="none">
            <a:spAutoFit/>
          </a:bodyPr>
          <a:p>
            <a:r>
              <a:rPr lang="en-US" altLang="zh-CN" sz="2200" dirty="0">
                <a:solidFill>
                  <a:schemeClr val="tx1"/>
                </a:solidFill>
                <a:latin typeface="Tahoma" panose="020B0604030504040204" pitchFamily="34" charset="0"/>
              </a:rPr>
              <a:t> </a:t>
            </a:r>
            <a:endParaRPr lang="en-US" altLang="zh-CN" sz="2200" dirty="0">
              <a:solidFill>
                <a:schemeClr val="tx1"/>
              </a:solidFill>
              <a:latin typeface="Tahoma" panose="020B0604030504040204" pitchFamily="34" charset="0"/>
            </a:endParaRPr>
          </a:p>
        </p:txBody>
      </p:sp>
      <p:pic>
        <p:nvPicPr>
          <p:cNvPr id="18451" name="Picture 26" descr="NEXT1">
            <a:hlinkClick r:id="" action="ppaction://hlinkshowjump?jump=nextslide"/>
          </p:cNvPr>
          <p:cNvPicPr>
            <a:picLocks noChangeAspect="1"/>
          </p:cNvPicPr>
          <p:nvPr/>
        </p:nvPicPr>
        <p:blipFill>
          <a:blip r:embed="rId3"/>
          <a:stretch>
            <a:fillRect/>
          </a:stretch>
        </p:blipFill>
        <p:spPr>
          <a:xfrm>
            <a:off x="8715375" y="6570663"/>
            <a:ext cx="287338" cy="287337"/>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5307"/>
                                        </p:tgtEl>
                                        <p:attrNameLst>
                                          <p:attrName>style.visibility</p:attrName>
                                        </p:attrNameLst>
                                      </p:cBhvr>
                                      <p:to>
                                        <p:strVal val="visible"/>
                                      </p:to>
                                    </p:set>
                                    <p:animEffect transition="in" filter="wipe(left)">
                                      <p:cBhvr>
                                        <p:cTn id="7" dur="500"/>
                                        <p:tgtEl>
                                          <p:spTgt spid="5530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5315"/>
                                        </p:tgtEl>
                                        <p:attrNameLst>
                                          <p:attrName>style.visibility</p:attrName>
                                        </p:attrNameLst>
                                      </p:cBhvr>
                                      <p:to>
                                        <p:strVal val="visible"/>
                                      </p:to>
                                    </p:set>
                                    <p:animEffect transition="in" filter="wipe(left)">
                                      <p:cBhvr>
                                        <p:cTn id="12" dur="500"/>
                                        <p:tgtEl>
                                          <p:spTgt spid="5531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5316"/>
                                        </p:tgtEl>
                                        <p:attrNameLst>
                                          <p:attrName>style.visibility</p:attrName>
                                        </p:attrNameLst>
                                      </p:cBhvr>
                                      <p:to>
                                        <p:strVal val="visible"/>
                                      </p:to>
                                    </p:set>
                                    <p:animEffect transition="in" filter="wipe(left)">
                                      <p:cBhvr>
                                        <p:cTn id="17" dur="500"/>
                                        <p:tgtEl>
                                          <p:spTgt spid="5531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5317"/>
                                        </p:tgtEl>
                                        <p:attrNameLst>
                                          <p:attrName>style.visibility</p:attrName>
                                        </p:attrNameLst>
                                      </p:cBhvr>
                                      <p:to>
                                        <p:strVal val="visible"/>
                                      </p:to>
                                    </p:set>
                                    <p:animEffect transition="in" filter="wipe(left)">
                                      <p:cBhvr>
                                        <p:cTn id="22" dur="500"/>
                                        <p:tgtEl>
                                          <p:spTgt spid="5531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5318"/>
                                        </p:tgtEl>
                                        <p:attrNameLst>
                                          <p:attrName>style.visibility</p:attrName>
                                        </p:attrNameLst>
                                      </p:cBhvr>
                                      <p:to>
                                        <p:strVal val="visible"/>
                                      </p:to>
                                    </p:set>
                                    <p:animEffect transition="in" filter="wipe(left)">
                                      <p:cBhvr>
                                        <p:cTn id="27" dur="500"/>
                                        <p:tgtEl>
                                          <p:spTgt spid="5531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55304"/>
                                        </p:tgtEl>
                                        <p:attrNameLst>
                                          <p:attrName>style.visibility</p:attrName>
                                        </p:attrNameLst>
                                      </p:cBhvr>
                                      <p:to>
                                        <p:strVal val="visible"/>
                                      </p:to>
                                    </p:set>
                                    <p:animEffect transition="in" filter="wipe(left)">
                                      <p:cBhvr>
                                        <p:cTn id="32" dur="500"/>
                                        <p:tgtEl>
                                          <p:spTgt spid="5530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55308"/>
                                        </p:tgtEl>
                                        <p:attrNameLst>
                                          <p:attrName>style.visibility</p:attrName>
                                        </p:attrNameLst>
                                      </p:cBhvr>
                                      <p:to>
                                        <p:strVal val="visible"/>
                                      </p:to>
                                    </p:set>
                                    <p:animEffect transition="in" filter="wipe(left)">
                                      <p:cBhvr>
                                        <p:cTn id="37" dur="500"/>
                                        <p:tgtEl>
                                          <p:spTgt spid="55308"/>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55319"/>
                                        </p:tgtEl>
                                        <p:attrNameLst>
                                          <p:attrName>style.visibility</p:attrName>
                                        </p:attrNameLst>
                                      </p:cBhvr>
                                      <p:to>
                                        <p:strVal val="visible"/>
                                      </p:to>
                                    </p:set>
                                    <p:animEffect transition="in" filter="wipe(left)">
                                      <p:cBhvr>
                                        <p:cTn id="42" dur="500"/>
                                        <p:tgtEl>
                                          <p:spTgt spid="55319"/>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55320"/>
                                        </p:tgtEl>
                                        <p:attrNameLst>
                                          <p:attrName>style.visibility</p:attrName>
                                        </p:attrNameLst>
                                      </p:cBhvr>
                                      <p:to>
                                        <p:strVal val="visible"/>
                                      </p:to>
                                    </p:set>
                                    <p:animEffect transition="in" filter="wipe(left)">
                                      <p:cBhvr>
                                        <p:cTn id="47" dur="500"/>
                                        <p:tgtEl>
                                          <p:spTgt spid="55320"/>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55321"/>
                                        </p:tgtEl>
                                        <p:attrNameLst>
                                          <p:attrName>style.visibility</p:attrName>
                                        </p:attrNameLst>
                                      </p:cBhvr>
                                      <p:to>
                                        <p:strVal val="visible"/>
                                      </p:to>
                                    </p:set>
                                    <p:animEffect transition="in" filter="wipe(left)">
                                      <p:cBhvr>
                                        <p:cTn id="52" dur="500"/>
                                        <p:tgtEl>
                                          <p:spTgt spid="55321"/>
                                        </p:tgtEl>
                                      </p:cBhvr>
                                    </p:animEffect>
                                  </p:childTnLst>
                                </p:cTn>
                              </p:par>
                            </p:childTnLst>
                          </p:cTn>
                        </p:par>
                      </p:childTnLst>
                    </p:cTn>
                  </p:par>
                  <p:par>
                    <p:cTn id="53" fill="hold">
                      <p:stCondLst>
                        <p:cond delay="indefinite"/>
                      </p:stCondLst>
                      <p:childTnLst>
                        <p:par>
                          <p:cTn id="54" fill="hold">
                            <p:stCondLst>
                              <p:cond delay="0"/>
                            </p:stCondLst>
                            <p:childTnLst>
                              <p:par>
                                <p:cTn id="55" presetID="12" presetClass="entr" presetSubtype="4" fill="hold" grpId="0" nodeType="clickEffect">
                                  <p:stCondLst>
                                    <p:cond delay="0"/>
                                  </p:stCondLst>
                                  <p:childTnLst>
                                    <p:set>
                                      <p:cBhvr>
                                        <p:cTn id="56" dur="1" fill="hold">
                                          <p:stCondLst>
                                            <p:cond delay="0"/>
                                          </p:stCondLst>
                                        </p:cTn>
                                        <p:tgtEl>
                                          <p:spTgt spid="55303"/>
                                        </p:tgtEl>
                                        <p:attrNameLst>
                                          <p:attrName>style.visibility</p:attrName>
                                        </p:attrNameLst>
                                      </p:cBhvr>
                                      <p:to>
                                        <p:strVal val="visible"/>
                                      </p:to>
                                    </p:set>
                                    <p:animEffect transition="in" filter="slide(fromBottom)">
                                      <p:cBhvr>
                                        <p:cTn id="57" dur="500"/>
                                        <p:tgtEl>
                                          <p:spTgt spid="55303"/>
                                        </p:tgtEl>
                                      </p:cBhvr>
                                    </p:animEffect>
                                  </p:childTnLst>
                                </p:cTn>
                              </p:par>
                            </p:childTnLst>
                          </p:cTn>
                        </p:par>
                      </p:childTnLst>
                    </p:cTn>
                  </p:par>
                  <p:par>
                    <p:cTn id="58" fill="hold">
                      <p:stCondLst>
                        <p:cond delay="indefinite"/>
                      </p:stCondLst>
                      <p:childTnLst>
                        <p:par>
                          <p:cTn id="59" fill="hold">
                            <p:stCondLst>
                              <p:cond delay="0"/>
                            </p:stCondLst>
                            <p:childTnLst>
                              <p:par>
                                <p:cTn id="60" presetID="2" presetClass="entr" presetSubtype="8" fill="hold" grpId="0" nodeType="clickEffect">
                                  <p:stCondLst>
                                    <p:cond delay="0"/>
                                  </p:stCondLst>
                                  <p:childTnLst>
                                    <p:set>
                                      <p:cBhvr>
                                        <p:cTn id="61" dur="1" fill="hold">
                                          <p:stCondLst>
                                            <p:cond delay="0"/>
                                          </p:stCondLst>
                                        </p:cTn>
                                        <p:tgtEl>
                                          <p:spTgt spid="55322"/>
                                        </p:tgtEl>
                                        <p:attrNameLst>
                                          <p:attrName>style.visibility</p:attrName>
                                        </p:attrNameLst>
                                      </p:cBhvr>
                                      <p:to>
                                        <p:strVal val="visible"/>
                                      </p:to>
                                    </p:set>
                                    <p:anim calcmode="lin" valueType="num">
                                      <p:cBhvr additive="base">
                                        <p:cTn id="62" dur="500" fill="hold"/>
                                        <p:tgtEl>
                                          <p:spTgt spid="55322"/>
                                        </p:tgtEl>
                                        <p:attrNameLst>
                                          <p:attrName>ppt_x</p:attrName>
                                        </p:attrNameLst>
                                      </p:cBhvr>
                                      <p:tavLst>
                                        <p:tav tm="0">
                                          <p:val>
                                            <p:strVal val="0-#ppt_w/2"/>
                                          </p:val>
                                        </p:tav>
                                        <p:tav tm="100000">
                                          <p:val>
                                            <p:strVal val="#ppt_x"/>
                                          </p:val>
                                        </p:tav>
                                      </p:tavLst>
                                    </p:anim>
                                    <p:anim calcmode="lin" valueType="num">
                                      <p:cBhvr additive="base">
                                        <p:cTn id="63" dur="500" fill="hold"/>
                                        <p:tgtEl>
                                          <p:spTgt spid="5532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303" grpId="0"/>
      <p:bldP spid="55304" grpId="0"/>
      <p:bldP spid="55307" grpId="0"/>
      <p:bldP spid="55308" grpId="0"/>
      <p:bldP spid="55315" grpId="0"/>
      <p:bldP spid="55316" grpId="0"/>
      <p:bldP spid="55317" grpId="0"/>
      <p:bldP spid="55318" grpId="0"/>
      <p:bldP spid="55319" grpId="0"/>
      <p:bldP spid="55320" grpId="0"/>
      <p:bldP spid="55321" grpId="0"/>
      <p:bldP spid="5532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Rectangle 4"/>
          <p:cNvSpPr>
            <a:spLocks noGrp="1"/>
          </p:cNvSpPr>
          <p:nvPr>
            <p:ph type="title"/>
          </p:nvPr>
        </p:nvSpPr>
        <p:spPr>
          <a:xfrm>
            <a:off x="5932488" y="838200"/>
            <a:ext cx="2133600" cy="152400"/>
          </a:xfrm>
          <a:noFill/>
          <a:ln>
            <a:noFill/>
          </a:ln>
        </p:spPr>
        <p:txBody>
          <a:bodyPr/>
          <a:p>
            <a:pPr eaLnBrk="1" hangingPunct="1"/>
            <a:r>
              <a:rPr lang="zh-CN" altLang="en-US" sz="2800" dirty="0">
                <a:solidFill>
                  <a:schemeClr val="bg1"/>
                </a:solidFill>
                <a:ea typeface="华文中宋" panose="02010600040101010101" pitchFamily="2" charset="-122"/>
              </a:rPr>
              <a:t>焊接</a:t>
            </a:r>
            <a:r>
              <a:rPr lang="en-US" altLang="zh-CN" sz="2800" dirty="0">
                <a:solidFill>
                  <a:schemeClr val="bg1"/>
                </a:solidFill>
                <a:ea typeface="华文中宋" panose="02010600040101010101" pitchFamily="2" charset="-122"/>
              </a:rPr>
              <a:t>2</a:t>
            </a:r>
            <a:endParaRPr lang="en-US" altLang="zh-CN" sz="2800" dirty="0">
              <a:solidFill>
                <a:schemeClr val="bg1"/>
              </a:solidFill>
              <a:ea typeface="华文中宋" panose="02010600040101010101" pitchFamily="2" charset="-122"/>
            </a:endParaRPr>
          </a:p>
        </p:txBody>
      </p:sp>
      <p:sp>
        <p:nvSpPr>
          <p:cNvPr id="19459" name="Rectangle 5"/>
          <p:cNvSpPr>
            <a:spLocks noGrp="1"/>
          </p:cNvSpPr>
          <p:nvPr/>
        </p:nvSpPr>
        <p:spPr>
          <a:xfrm>
            <a:off x="1000125" y="0"/>
            <a:ext cx="1219200" cy="533400"/>
          </a:xfrm>
          <a:prstGeom prst="rect">
            <a:avLst/>
          </a:prstGeom>
          <a:noFill/>
          <a:ln w="9525">
            <a:noFill/>
          </a:ln>
        </p:spPr>
        <p:txBody>
          <a:bodyPr/>
          <a:p>
            <a:pPr eaLnBrk="0" hangingPunct="0"/>
            <a:r>
              <a:rPr lang="zh-CN" altLang="en-US" sz="3000" dirty="0">
                <a:solidFill>
                  <a:schemeClr val="bg1"/>
                </a:solidFill>
                <a:latin typeface="黑体" panose="02010609060101010101" pitchFamily="49" charset="-122"/>
                <a:ea typeface="黑体" panose="02010609060101010101" pitchFamily="49" charset="-122"/>
              </a:rPr>
              <a:t>胶 接</a:t>
            </a:r>
            <a:endParaRPr lang="zh-CN" altLang="en-US" sz="3000" dirty="0">
              <a:solidFill>
                <a:schemeClr val="bg1"/>
              </a:solidFill>
              <a:latin typeface="黑体" panose="02010609060101010101" pitchFamily="49" charset="-122"/>
              <a:ea typeface="黑体" panose="02010609060101010101" pitchFamily="49" charset="-122"/>
            </a:endParaRPr>
          </a:p>
        </p:txBody>
      </p:sp>
      <p:pic>
        <p:nvPicPr>
          <p:cNvPr id="51224" name="Picture 24" descr="rewind1">
            <a:hlinkClick r:id="rId1" action="ppaction://hlinksldjump"/>
          </p:cNvPr>
          <p:cNvPicPr>
            <a:picLocks noChangeAspect="1"/>
          </p:cNvPicPr>
          <p:nvPr/>
        </p:nvPicPr>
        <p:blipFill>
          <a:blip r:embed="rId2"/>
          <a:stretch>
            <a:fillRect/>
          </a:stretch>
        </p:blipFill>
        <p:spPr>
          <a:xfrm>
            <a:off x="8001000" y="6570663"/>
            <a:ext cx="287338" cy="287337"/>
          </a:xfrm>
          <a:prstGeom prst="rect">
            <a:avLst/>
          </a:prstGeom>
          <a:noFill/>
          <a:ln w="9525">
            <a:noFill/>
          </a:ln>
        </p:spPr>
      </p:pic>
      <p:pic>
        <p:nvPicPr>
          <p:cNvPr id="51225" name="Picture 25" descr="back1">
            <a:hlinkClick r:id="" action="ppaction://hlinkshowjump?jump=previousslide"/>
          </p:cNvPr>
          <p:cNvPicPr>
            <a:picLocks noChangeAspect="1"/>
          </p:cNvPicPr>
          <p:nvPr/>
        </p:nvPicPr>
        <p:blipFill>
          <a:blip r:embed="rId3"/>
          <a:stretch>
            <a:fillRect/>
          </a:stretch>
        </p:blipFill>
        <p:spPr>
          <a:xfrm>
            <a:off x="8358188" y="6570663"/>
            <a:ext cx="287337" cy="287337"/>
          </a:xfrm>
          <a:prstGeom prst="rect">
            <a:avLst/>
          </a:prstGeom>
          <a:noFill/>
          <a:ln w="9525">
            <a:noFill/>
          </a:ln>
        </p:spPr>
      </p:pic>
      <p:pic>
        <p:nvPicPr>
          <p:cNvPr id="51226" name="Picture 26" descr="NEXT1">
            <a:hlinkClick r:id="" action="ppaction://hlinkshowjump?jump=nextslide"/>
          </p:cNvPr>
          <p:cNvPicPr>
            <a:picLocks noChangeAspect="1"/>
          </p:cNvPicPr>
          <p:nvPr/>
        </p:nvPicPr>
        <p:blipFill>
          <a:blip r:embed="rId4"/>
          <a:stretch>
            <a:fillRect/>
          </a:stretch>
        </p:blipFill>
        <p:spPr>
          <a:xfrm>
            <a:off x="8715375" y="6570663"/>
            <a:ext cx="287338" cy="287337"/>
          </a:xfrm>
          <a:prstGeom prst="rect">
            <a:avLst/>
          </a:prstGeom>
          <a:noFill/>
          <a:ln w="9525">
            <a:noFill/>
          </a:ln>
        </p:spPr>
      </p:pic>
      <p:sp>
        <p:nvSpPr>
          <p:cNvPr id="51240" name="Text Box 40"/>
          <p:cNvSpPr txBox="1"/>
          <p:nvPr/>
        </p:nvSpPr>
        <p:spPr>
          <a:xfrm>
            <a:off x="6384925" y="6538913"/>
            <a:ext cx="271463" cy="427037"/>
          </a:xfrm>
          <a:prstGeom prst="rect">
            <a:avLst/>
          </a:prstGeom>
          <a:noFill/>
          <a:ln w="9525">
            <a:noFill/>
          </a:ln>
        </p:spPr>
        <p:txBody>
          <a:bodyPr wrap="none">
            <a:spAutoFit/>
          </a:bodyPr>
          <a:p>
            <a:r>
              <a:rPr lang="en-US" altLang="zh-CN" sz="2200" dirty="0">
                <a:solidFill>
                  <a:schemeClr val="tx1"/>
                </a:solidFill>
                <a:latin typeface="Tahoma" panose="020B0604030504040204" pitchFamily="34" charset="0"/>
              </a:rPr>
              <a:t> </a:t>
            </a:r>
            <a:endParaRPr lang="en-US" altLang="zh-CN" sz="2200" dirty="0">
              <a:solidFill>
                <a:schemeClr val="tx1"/>
              </a:solidFill>
              <a:latin typeface="Tahoma" panose="020B0604030504040204" pitchFamily="34" charset="0"/>
            </a:endParaRPr>
          </a:p>
        </p:txBody>
      </p:sp>
      <p:sp>
        <p:nvSpPr>
          <p:cNvPr id="19464" name="Rectangle 8"/>
          <p:cNvSpPr/>
          <p:nvPr/>
        </p:nvSpPr>
        <p:spPr>
          <a:xfrm>
            <a:off x="0" y="0"/>
            <a:ext cx="9144000" cy="0"/>
          </a:xfrm>
          <a:prstGeom prst="rect">
            <a:avLst/>
          </a:prstGeom>
          <a:noFill/>
          <a:ln w="9525">
            <a:noFill/>
          </a:ln>
        </p:spPr>
        <p:txBody>
          <a:bodyPr wrap="none" anchor="ctr" anchorCtr="0">
            <a:spAutoFit/>
          </a:bodyPr>
          <a:p>
            <a:endParaRPr lang="zh-CN" altLang="en-US" dirty="0">
              <a:latin typeface="Times New Roman" panose="02020603050405020304" pitchFamily="18" charset="0"/>
            </a:endParaRPr>
          </a:p>
        </p:txBody>
      </p:sp>
      <p:pic>
        <p:nvPicPr>
          <p:cNvPr id="19465" name="Picture 7"/>
          <p:cNvPicPr>
            <a:picLocks noChangeAspect="1"/>
          </p:cNvPicPr>
          <p:nvPr/>
        </p:nvPicPr>
        <p:blipFill>
          <a:blip r:embed="rId5">
            <a:clrChange>
              <a:clrFrom>
                <a:srgbClr val="FFFFFF"/>
              </a:clrFrom>
              <a:clrTo>
                <a:srgbClr val="FFFFFF">
                  <a:alpha val="0"/>
                </a:srgbClr>
              </a:clrTo>
            </a:clrChange>
          </a:blip>
          <a:stretch>
            <a:fillRect/>
          </a:stretch>
        </p:blipFill>
        <p:spPr>
          <a:xfrm>
            <a:off x="0" y="0"/>
            <a:ext cx="114300" cy="174625"/>
          </a:xfrm>
          <a:prstGeom prst="rect">
            <a:avLst/>
          </a:prstGeom>
          <a:noFill/>
          <a:ln w="9525">
            <a:noFill/>
          </a:ln>
        </p:spPr>
      </p:pic>
      <p:sp>
        <p:nvSpPr>
          <p:cNvPr id="19466" name="Rectangle 10"/>
          <p:cNvSpPr/>
          <p:nvPr/>
        </p:nvSpPr>
        <p:spPr>
          <a:xfrm>
            <a:off x="0" y="0"/>
            <a:ext cx="9144000" cy="0"/>
          </a:xfrm>
          <a:prstGeom prst="rect">
            <a:avLst/>
          </a:prstGeom>
          <a:noFill/>
          <a:ln w="9525">
            <a:noFill/>
          </a:ln>
        </p:spPr>
        <p:txBody>
          <a:bodyPr wrap="none" anchor="ctr" anchorCtr="0">
            <a:spAutoFit/>
          </a:bodyPr>
          <a:p>
            <a:endParaRPr lang="zh-CN" altLang="en-US" dirty="0">
              <a:latin typeface="Times New Roman" panose="02020603050405020304" pitchFamily="18" charset="0"/>
            </a:endParaRPr>
          </a:p>
        </p:txBody>
      </p:sp>
      <p:pic>
        <p:nvPicPr>
          <p:cNvPr id="19467" name="Picture 9"/>
          <p:cNvPicPr>
            <a:picLocks noChangeAspect="1"/>
          </p:cNvPicPr>
          <p:nvPr/>
        </p:nvPicPr>
        <p:blipFill>
          <a:blip r:embed="rId5">
            <a:clrChange>
              <a:clrFrom>
                <a:srgbClr val="FFFFFF"/>
              </a:clrFrom>
              <a:clrTo>
                <a:srgbClr val="FFFFFF">
                  <a:alpha val="0"/>
                </a:srgbClr>
              </a:clrTo>
            </a:clrChange>
          </a:blip>
          <a:stretch>
            <a:fillRect/>
          </a:stretch>
        </p:blipFill>
        <p:spPr>
          <a:xfrm>
            <a:off x="0" y="0"/>
            <a:ext cx="114300" cy="174625"/>
          </a:xfrm>
          <a:prstGeom prst="rect">
            <a:avLst/>
          </a:prstGeom>
          <a:noFill/>
          <a:ln w="9525">
            <a:noFill/>
          </a:ln>
        </p:spPr>
      </p:pic>
      <p:sp>
        <p:nvSpPr>
          <p:cNvPr id="19468" name="TextBox 22"/>
          <p:cNvSpPr txBox="1"/>
          <p:nvPr/>
        </p:nvSpPr>
        <p:spPr>
          <a:xfrm>
            <a:off x="357188" y="714375"/>
            <a:ext cx="8358187" cy="488950"/>
          </a:xfrm>
          <a:prstGeom prst="rect">
            <a:avLst/>
          </a:prstGeom>
          <a:noFill/>
          <a:ln w="9525">
            <a:noFill/>
          </a:ln>
        </p:spPr>
        <p:txBody>
          <a:bodyPr>
            <a:spAutoFit/>
          </a:bodyPr>
          <a:p>
            <a:pPr>
              <a:lnSpc>
                <a:spcPts val="3500"/>
              </a:lnSpc>
            </a:pPr>
            <a:r>
              <a:rPr lang="zh-CN" altLang="en-US" dirty="0">
                <a:latin typeface="Times New Roman" panose="02020603050405020304" pitchFamily="18" charset="0"/>
              </a:rPr>
              <a:t>        </a:t>
            </a:r>
            <a:r>
              <a:rPr lang="zh-CN" altLang="en-US" dirty="0">
                <a:solidFill>
                  <a:srgbClr val="C00000"/>
                </a:solidFill>
                <a:latin typeface="Times New Roman" panose="02020603050405020304" pitchFamily="18" charset="0"/>
              </a:rPr>
              <a:t>（二）胶接接头</a:t>
            </a:r>
            <a:endParaRPr lang="zh-CN" altLang="en-US" dirty="0">
              <a:solidFill>
                <a:srgbClr val="C00000"/>
              </a:solidFill>
              <a:latin typeface="Times New Roman" panose="02020603050405020304" pitchFamily="18" charset="0"/>
            </a:endParaRPr>
          </a:p>
        </p:txBody>
      </p:sp>
      <p:sp>
        <p:nvSpPr>
          <p:cNvPr id="19469" name="TextBox 20"/>
          <p:cNvSpPr txBox="1"/>
          <p:nvPr/>
        </p:nvSpPr>
        <p:spPr>
          <a:xfrm>
            <a:off x="500063" y="1214438"/>
            <a:ext cx="8215312" cy="938212"/>
          </a:xfrm>
          <a:prstGeom prst="rect">
            <a:avLst/>
          </a:prstGeom>
          <a:noFill/>
          <a:ln w="9525">
            <a:noFill/>
          </a:ln>
        </p:spPr>
        <p:txBody>
          <a:bodyPr>
            <a:spAutoFit/>
          </a:bodyPr>
          <a:p>
            <a:pPr>
              <a:lnSpc>
                <a:spcPts val="3500"/>
              </a:lnSpc>
            </a:pPr>
            <a:r>
              <a:rPr lang="zh-CN" altLang="en-US" dirty="0">
                <a:latin typeface="Times New Roman" panose="02020603050405020304" pitchFamily="18" charset="0"/>
              </a:rPr>
              <a:t>        胶接接头的基本形式是</a:t>
            </a:r>
            <a:r>
              <a:rPr lang="zh-CN" altLang="en-US" dirty="0">
                <a:solidFill>
                  <a:srgbClr val="C00000"/>
                </a:solidFill>
                <a:latin typeface="Times New Roman" panose="02020603050405020304" pitchFamily="18" charset="0"/>
              </a:rPr>
              <a:t>对接</a:t>
            </a:r>
            <a:r>
              <a:rPr lang="zh-CN" altLang="en-US" dirty="0">
                <a:latin typeface="Times New Roman" panose="02020603050405020304" pitchFamily="18" charset="0"/>
              </a:rPr>
              <a:t>、</a:t>
            </a:r>
            <a:r>
              <a:rPr lang="zh-CN" altLang="en-US" dirty="0">
                <a:solidFill>
                  <a:srgbClr val="C00000"/>
                </a:solidFill>
                <a:latin typeface="Times New Roman" panose="02020603050405020304" pitchFamily="18" charset="0"/>
              </a:rPr>
              <a:t>搭接</a:t>
            </a:r>
            <a:r>
              <a:rPr lang="zh-CN" altLang="en-US" dirty="0">
                <a:latin typeface="Times New Roman" panose="02020603050405020304" pitchFamily="18" charset="0"/>
              </a:rPr>
              <a:t>和</a:t>
            </a:r>
            <a:r>
              <a:rPr lang="zh-CN" altLang="en-US" dirty="0">
                <a:solidFill>
                  <a:srgbClr val="C00000"/>
                </a:solidFill>
                <a:latin typeface="Times New Roman" panose="02020603050405020304" pitchFamily="18" charset="0"/>
              </a:rPr>
              <a:t>正交</a:t>
            </a:r>
            <a:r>
              <a:rPr lang="zh-CN" altLang="en-US" dirty="0">
                <a:latin typeface="Times New Roman" panose="02020603050405020304" pitchFamily="18" charset="0"/>
              </a:rPr>
              <a:t>，其典型结构见下图，其选用与被胶件的结构形式及载荷情况有关。</a:t>
            </a:r>
            <a:endParaRPr lang="zh-CN" altLang="en-US" dirty="0">
              <a:latin typeface="Times New Roman" panose="02020603050405020304" pitchFamily="18" charset="0"/>
            </a:endParaRPr>
          </a:p>
        </p:txBody>
      </p:sp>
      <p:pic>
        <p:nvPicPr>
          <p:cNvPr id="19470" name="图片 21" descr="3-13-20 [转换].tif"/>
          <p:cNvPicPr>
            <a:picLocks noChangeAspect="1"/>
          </p:cNvPicPr>
          <p:nvPr/>
        </p:nvPicPr>
        <p:blipFill>
          <a:blip r:embed="rId6"/>
          <a:stretch>
            <a:fillRect/>
          </a:stretch>
        </p:blipFill>
        <p:spPr>
          <a:xfrm>
            <a:off x="2143125" y="2428875"/>
            <a:ext cx="5089525" cy="3259138"/>
          </a:xfrm>
          <a:prstGeom prst="rect">
            <a:avLst/>
          </a:prstGeom>
          <a:noFill/>
          <a:ln w="9525">
            <a:noFill/>
          </a:ln>
        </p:spPr>
      </p:pic>
      <p:sp>
        <p:nvSpPr>
          <p:cNvPr id="19471" name="TextBox 24"/>
          <p:cNvSpPr txBox="1"/>
          <p:nvPr/>
        </p:nvSpPr>
        <p:spPr>
          <a:xfrm>
            <a:off x="3571875" y="5929313"/>
            <a:ext cx="2786063" cy="338137"/>
          </a:xfrm>
          <a:prstGeom prst="rect">
            <a:avLst/>
          </a:prstGeom>
          <a:noFill/>
          <a:ln w="9525">
            <a:noFill/>
          </a:ln>
        </p:spPr>
        <p:txBody>
          <a:bodyPr>
            <a:spAutoFit/>
          </a:bodyPr>
          <a:p>
            <a:r>
              <a:rPr lang="zh-CN" altLang="en-US" sz="1600" dirty="0">
                <a:solidFill>
                  <a:srgbClr val="00B0F0"/>
                </a:solidFill>
                <a:latin typeface="Times New Roman" panose="02020603050405020304" pitchFamily="18" charset="0"/>
              </a:rPr>
              <a:t>胶接接头的基本形式</a:t>
            </a:r>
            <a:endParaRPr lang="zh-CN" altLang="en-US" sz="1600" dirty="0">
              <a:solidFill>
                <a:srgbClr val="00B0F0"/>
              </a:solidFill>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499"/>
                                          </p:stCondLst>
                                        </p:cTn>
                                        <p:tgtEl>
                                          <p:spTgt spid="51226"/>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nodeType="afterEffect">
                                  <p:stCondLst>
                                    <p:cond delay="0"/>
                                  </p:stCondLst>
                                  <p:childTnLst>
                                    <p:set>
                                      <p:cBhvr>
                                        <p:cTn id="9" dur="1" fill="hold">
                                          <p:stCondLst>
                                            <p:cond delay="499"/>
                                          </p:stCondLst>
                                        </p:cTn>
                                        <p:tgtEl>
                                          <p:spTgt spid="51225"/>
                                        </p:tgtEl>
                                        <p:attrNameLst>
                                          <p:attrName>style.visibility</p:attrName>
                                        </p:attrNameLst>
                                      </p:cBhvr>
                                      <p:to>
                                        <p:strVal val="visible"/>
                                      </p:to>
                                    </p:set>
                                  </p:childTnLst>
                                </p:cTn>
                              </p:par>
                            </p:childTnLst>
                          </p:cTn>
                        </p:par>
                        <p:par>
                          <p:cTn id="10" fill="hold">
                            <p:stCondLst>
                              <p:cond delay="1000"/>
                            </p:stCondLst>
                            <p:childTnLst>
                              <p:par>
                                <p:cTn id="11" presetID="2" presetClass="entr" presetSubtype="8" fill="hold" nodeType="afterEffect">
                                  <p:stCondLst>
                                    <p:cond delay="0"/>
                                  </p:stCondLst>
                                  <p:childTnLst>
                                    <p:set>
                                      <p:cBhvr>
                                        <p:cTn id="12" dur="1" fill="hold">
                                          <p:stCondLst>
                                            <p:cond delay="0"/>
                                          </p:stCondLst>
                                        </p:cTn>
                                        <p:tgtEl>
                                          <p:spTgt spid="51224"/>
                                        </p:tgtEl>
                                        <p:attrNameLst>
                                          <p:attrName>style.visibility</p:attrName>
                                        </p:attrNameLst>
                                      </p:cBhvr>
                                      <p:to>
                                        <p:strVal val="visible"/>
                                      </p:to>
                                    </p:set>
                                    <p:anim calcmode="lin" valueType="num">
                                      <p:cBhvr additive="base">
                                        <p:cTn id="13" dur="500" fill="hold"/>
                                        <p:tgtEl>
                                          <p:spTgt spid="51224"/>
                                        </p:tgtEl>
                                        <p:attrNameLst>
                                          <p:attrName>ppt_x</p:attrName>
                                        </p:attrNameLst>
                                      </p:cBhvr>
                                      <p:tavLst>
                                        <p:tav tm="0">
                                          <p:val>
                                            <p:strVal val="0-#ppt_w/2"/>
                                          </p:val>
                                        </p:tav>
                                        <p:tav tm="100000">
                                          <p:val>
                                            <p:strVal val="#ppt_x"/>
                                          </p:val>
                                        </p:tav>
                                      </p:tavLst>
                                    </p:anim>
                                    <p:anim calcmode="lin" valueType="num">
                                      <p:cBhvr additive="base">
                                        <p:cTn id="14" dur="500" fill="hold"/>
                                        <p:tgtEl>
                                          <p:spTgt spid="51224"/>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51240"/>
                                        </p:tgtEl>
                                        <p:attrNameLst>
                                          <p:attrName>style.visibility</p:attrName>
                                        </p:attrNameLst>
                                      </p:cBhvr>
                                      <p:to>
                                        <p:strVal val="visible"/>
                                      </p:to>
                                    </p:set>
                                    <p:anim calcmode="lin" valueType="num">
                                      <p:cBhvr additive="base">
                                        <p:cTn id="19" dur="500" fill="hold"/>
                                        <p:tgtEl>
                                          <p:spTgt spid="51240"/>
                                        </p:tgtEl>
                                        <p:attrNameLst>
                                          <p:attrName>ppt_x</p:attrName>
                                        </p:attrNameLst>
                                      </p:cBhvr>
                                      <p:tavLst>
                                        <p:tav tm="0">
                                          <p:val>
                                            <p:strVal val="0-#ppt_w/2"/>
                                          </p:val>
                                        </p:tav>
                                        <p:tav tm="100000">
                                          <p:val>
                                            <p:strVal val="#ppt_x"/>
                                          </p:val>
                                        </p:tav>
                                      </p:tavLst>
                                    </p:anim>
                                    <p:anim calcmode="lin" valueType="num">
                                      <p:cBhvr additive="base">
                                        <p:cTn id="20" dur="500" fill="hold"/>
                                        <p:tgtEl>
                                          <p:spTgt spid="5124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40"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Rectangle 4"/>
          <p:cNvSpPr>
            <a:spLocks noGrp="1"/>
          </p:cNvSpPr>
          <p:nvPr>
            <p:ph type="title"/>
          </p:nvPr>
        </p:nvSpPr>
        <p:spPr>
          <a:xfrm>
            <a:off x="5932488" y="838200"/>
            <a:ext cx="2133600" cy="152400"/>
          </a:xfrm>
          <a:noFill/>
          <a:ln>
            <a:noFill/>
          </a:ln>
        </p:spPr>
        <p:txBody>
          <a:bodyPr/>
          <a:p>
            <a:pPr eaLnBrk="1" hangingPunct="1"/>
            <a:r>
              <a:rPr lang="zh-CN" altLang="en-US" sz="2800" dirty="0">
                <a:solidFill>
                  <a:schemeClr val="bg1"/>
                </a:solidFill>
                <a:ea typeface="华文中宋" panose="02010600040101010101" pitchFamily="2" charset="-122"/>
              </a:rPr>
              <a:t>焊接</a:t>
            </a:r>
            <a:r>
              <a:rPr lang="en-US" altLang="zh-CN" sz="2800" dirty="0">
                <a:solidFill>
                  <a:schemeClr val="bg1"/>
                </a:solidFill>
                <a:ea typeface="华文中宋" panose="02010600040101010101" pitchFamily="2" charset="-122"/>
              </a:rPr>
              <a:t>2</a:t>
            </a:r>
            <a:endParaRPr lang="en-US" altLang="zh-CN" sz="2800" dirty="0">
              <a:solidFill>
                <a:schemeClr val="bg1"/>
              </a:solidFill>
              <a:ea typeface="华文中宋" panose="02010600040101010101" pitchFamily="2" charset="-122"/>
            </a:endParaRPr>
          </a:p>
        </p:txBody>
      </p:sp>
      <p:sp>
        <p:nvSpPr>
          <p:cNvPr id="20483" name="Rectangle 5"/>
          <p:cNvSpPr>
            <a:spLocks noGrp="1"/>
          </p:cNvSpPr>
          <p:nvPr/>
        </p:nvSpPr>
        <p:spPr>
          <a:xfrm>
            <a:off x="1000125" y="0"/>
            <a:ext cx="1219200" cy="533400"/>
          </a:xfrm>
          <a:prstGeom prst="rect">
            <a:avLst/>
          </a:prstGeom>
          <a:noFill/>
          <a:ln w="9525">
            <a:noFill/>
          </a:ln>
        </p:spPr>
        <p:txBody>
          <a:bodyPr/>
          <a:p>
            <a:pPr eaLnBrk="0" hangingPunct="0"/>
            <a:r>
              <a:rPr lang="zh-CN" altLang="en-US" sz="3000" dirty="0">
                <a:solidFill>
                  <a:schemeClr val="bg1"/>
                </a:solidFill>
                <a:latin typeface="黑体" panose="02010609060101010101" pitchFamily="49" charset="-122"/>
                <a:ea typeface="黑体" panose="02010609060101010101" pitchFamily="49" charset="-122"/>
              </a:rPr>
              <a:t>胶 接</a:t>
            </a:r>
            <a:endParaRPr lang="zh-CN" altLang="en-US" sz="3000" dirty="0">
              <a:solidFill>
                <a:schemeClr val="bg1"/>
              </a:solidFill>
              <a:latin typeface="黑体" panose="02010609060101010101" pitchFamily="49" charset="-122"/>
              <a:ea typeface="黑体" panose="02010609060101010101" pitchFamily="49" charset="-122"/>
            </a:endParaRPr>
          </a:p>
        </p:txBody>
      </p:sp>
      <p:pic>
        <p:nvPicPr>
          <p:cNvPr id="51224" name="Picture 24" descr="rewind1">
            <a:hlinkClick r:id="rId1" action="ppaction://hlinksldjump"/>
          </p:cNvPr>
          <p:cNvPicPr>
            <a:picLocks noChangeAspect="1"/>
          </p:cNvPicPr>
          <p:nvPr/>
        </p:nvPicPr>
        <p:blipFill>
          <a:blip r:embed="rId2"/>
          <a:stretch>
            <a:fillRect/>
          </a:stretch>
        </p:blipFill>
        <p:spPr>
          <a:xfrm>
            <a:off x="8001000" y="6570663"/>
            <a:ext cx="287338" cy="287337"/>
          </a:xfrm>
          <a:prstGeom prst="rect">
            <a:avLst/>
          </a:prstGeom>
          <a:noFill/>
          <a:ln w="9525">
            <a:noFill/>
          </a:ln>
        </p:spPr>
      </p:pic>
      <p:pic>
        <p:nvPicPr>
          <p:cNvPr id="51225" name="Picture 25" descr="back1">
            <a:hlinkClick r:id="" action="ppaction://hlinkshowjump?jump=previousslide"/>
          </p:cNvPr>
          <p:cNvPicPr>
            <a:picLocks noChangeAspect="1"/>
          </p:cNvPicPr>
          <p:nvPr/>
        </p:nvPicPr>
        <p:blipFill>
          <a:blip r:embed="rId3"/>
          <a:stretch>
            <a:fillRect/>
          </a:stretch>
        </p:blipFill>
        <p:spPr>
          <a:xfrm>
            <a:off x="8358188" y="6570663"/>
            <a:ext cx="287337" cy="287337"/>
          </a:xfrm>
          <a:prstGeom prst="rect">
            <a:avLst/>
          </a:prstGeom>
          <a:noFill/>
          <a:ln w="9525">
            <a:noFill/>
          </a:ln>
        </p:spPr>
      </p:pic>
      <p:pic>
        <p:nvPicPr>
          <p:cNvPr id="51226" name="Picture 26" descr="NEXT1">
            <a:hlinkClick r:id="" action="ppaction://hlinkshowjump?jump=nextslide"/>
          </p:cNvPr>
          <p:cNvPicPr>
            <a:picLocks noChangeAspect="1"/>
          </p:cNvPicPr>
          <p:nvPr/>
        </p:nvPicPr>
        <p:blipFill>
          <a:blip r:embed="rId4"/>
          <a:stretch>
            <a:fillRect/>
          </a:stretch>
        </p:blipFill>
        <p:spPr>
          <a:xfrm>
            <a:off x="8715375" y="6570663"/>
            <a:ext cx="287338" cy="287337"/>
          </a:xfrm>
          <a:prstGeom prst="rect">
            <a:avLst/>
          </a:prstGeom>
          <a:noFill/>
          <a:ln w="9525">
            <a:noFill/>
          </a:ln>
        </p:spPr>
      </p:pic>
      <p:sp>
        <p:nvSpPr>
          <p:cNvPr id="20487" name="Text Box 40"/>
          <p:cNvSpPr txBox="1"/>
          <p:nvPr/>
        </p:nvSpPr>
        <p:spPr>
          <a:xfrm>
            <a:off x="6384925" y="6538913"/>
            <a:ext cx="271463" cy="427037"/>
          </a:xfrm>
          <a:prstGeom prst="rect">
            <a:avLst/>
          </a:prstGeom>
          <a:noFill/>
          <a:ln w="9525">
            <a:noFill/>
          </a:ln>
        </p:spPr>
        <p:txBody>
          <a:bodyPr wrap="none">
            <a:spAutoFit/>
          </a:bodyPr>
          <a:p>
            <a:r>
              <a:rPr lang="en-US" altLang="zh-CN" sz="2200" dirty="0">
                <a:solidFill>
                  <a:schemeClr val="tx1"/>
                </a:solidFill>
                <a:latin typeface="Tahoma" panose="020B0604030504040204" pitchFamily="34" charset="0"/>
              </a:rPr>
              <a:t> </a:t>
            </a:r>
            <a:endParaRPr lang="en-US" altLang="zh-CN" sz="2200" dirty="0">
              <a:solidFill>
                <a:schemeClr val="tx1"/>
              </a:solidFill>
              <a:latin typeface="Tahoma" panose="020B0604030504040204" pitchFamily="34" charset="0"/>
            </a:endParaRPr>
          </a:p>
        </p:txBody>
      </p:sp>
      <p:sp>
        <p:nvSpPr>
          <p:cNvPr id="20488" name="Rectangle 8"/>
          <p:cNvSpPr/>
          <p:nvPr/>
        </p:nvSpPr>
        <p:spPr>
          <a:xfrm>
            <a:off x="0" y="0"/>
            <a:ext cx="9144000" cy="0"/>
          </a:xfrm>
          <a:prstGeom prst="rect">
            <a:avLst/>
          </a:prstGeom>
          <a:noFill/>
          <a:ln w="9525">
            <a:noFill/>
          </a:ln>
        </p:spPr>
        <p:txBody>
          <a:bodyPr wrap="none" anchor="ctr" anchorCtr="0">
            <a:spAutoFit/>
          </a:bodyPr>
          <a:p>
            <a:endParaRPr lang="zh-CN" altLang="en-US" dirty="0">
              <a:latin typeface="Times New Roman" panose="02020603050405020304" pitchFamily="18" charset="0"/>
            </a:endParaRPr>
          </a:p>
        </p:txBody>
      </p:sp>
      <p:pic>
        <p:nvPicPr>
          <p:cNvPr id="20489" name="Picture 7"/>
          <p:cNvPicPr>
            <a:picLocks noChangeAspect="1"/>
          </p:cNvPicPr>
          <p:nvPr/>
        </p:nvPicPr>
        <p:blipFill>
          <a:blip r:embed="rId5">
            <a:clrChange>
              <a:clrFrom>
                <a:srgbClr val="FFFFFF"/>
              </a:clrFrom>
              <a:clrTo>
                <a:srgbClr val="FFFFFF">
                  <a:alpha val="0"/>
                </a:srgbClr>
              </a:clrTo>
            </a:clrChange>
          </a:blip>
          <a:stretch>
            <a:fillRect/>
          </a:stretch>
        </p:blipFill>
        <p:spPr>
          <a:xfrm>
            <a:off x="0" y="0"/>
            <a:ext cx="114300" cy="174625"/>
          </a:xfrm>
          <a:prstGeom prst="rect">
            <a:avLst/>
          </a:prstGeom>
          <a:noFill/>
          <a:ln w="9525">
            <a:noFill/>
          </a:ln>
        </p:spPr>
      </p:pic>
      <p:sp>
        <p:nvSpPr>
          <p:cNvPr id="20490" name="Rectangle 10"/>
          <p:cNvSpPr/>
          <p:nvPr/>
        </p:nvSpPr>
        <p:spPr>
          <a:xfrm>
            <a:off x="0" y="0"/>
            <a:ext cx="9144000" cy="0"/>
          </a:xfrm>
          <a:prstGeom prst="rect">
            <a:avLst/>
          </a:prstGeom>
          <a:noFill/>
          <a:ln w="9525">
            <a:noFill/>
          </a:ln>
        </p:spPr>
        <p:txBody>
          <a:bodyPr wrap="none" anchor="ctr" anchorCtr="0">
            <a:spAutoFit/>
          </a:bodyPr>
          <a:p>
            <a:endParaRPr lang="zh-CN" altLang="en-US" dirty="0">
              <a:latin typeface="Times New Roman" panose="02020603050405020304" pitchFamily="18" charset="0"/>
            </a:endParaRPr>
          </a:p>
        </p:txBody>
      </p:sp>
      <p:pic>
        <p:nvPicPr>
          <p:cNvPr id="20491" name="Picture 9"/>
          <p:cNvPicPr>
            <a:picLocks noChangeAspect="1"/>
          </p:cNvPicPr>
          <p:nvPr/>
        </p:nvPicPr>
        <p:blipFill>
          <a:blip r:embed="rId5">
            <a:clrChange>
              <a:clrFrom>
                <a:srgbClr val="FFFFFF"/>
              </a:clrFrom>
              <a:clrTo>
                <a:srgbClr val="FFFFFF">
                  <a:alpha val="0"/>
                </a:srgbClr>
              </a:clrTo>
            </a:clrChange>
          </a:blip>
          <a:stretch>
            <a:fillRect/>
          </a:stretch>
        </p:blipFill>
        <p:spPr>
          <a:xfrm>
            <a:off x="0" y="0"/>
            <a:ext cx="114300" cy="174625"/>
          </a:xfrm>
          <a:prstGeom prst="rect">
            <a:avLst/>
          </a:prstGeom>
          <a:noFill/>
          <a:ln w="9525">
            <a:noFill/>
          </a:ln>
        </p:spPr>
      </p:pic>
      <p:sp>
        <p:nvSpPr>
          <p:cNvPr id="19468" name="TextBox 20"/>
          <p:cNvSpPr txBox="1"/>
          <p:nvPr/>
        </p:nvSpPr>
        <p:spPr>
          <a:xfrm>
            <a:off x="536575" y="5516563"/>
            <a:ext cx="8332788" cy="541337"/>
          </a:xfrm>
          <a:prstGeom prst="rect">
            <a:avLst/>
          </a:prstGeom>
          <a:noFill/>
          <a:ln w="9525">
            <a:noFill/>
          </a:ln>
        </p:spPr>
        <p:txBody>
          <a:bodyPr>
            <a:spAutoFit/>
          </a:bodyPr>
          <a:p>
            <a:pPr>
              <a:lnSpc>
                <a:spcPts val="3500"/>
              </a:lnSpc>
            </a:pPr>
            <a:r>
              <a:rPr lang="en-US" altLang="zh-CN" dirty="0">
                <a:latin typeface="Times New Roman" panose="02020603050405020304" pitchFamily="18" charset="0"/>
              </a:rPr>
              <a:t>6</a:t>
            </a:r>
            <a:r>
              <a:rPr lang="zh-CN" altLang="en-US" dirty="0">
                <a:latin typeface="Times New Roman" panose="02020603050405020304" pitchFamily="18" charset="0"/>
              </a:rPr>
              <a:t>）当有较大冲击、振动时，应在胶接面间增加玻璃布层等缓冲减振材料。</a:t>
            </a:r>
            <a:endParaRPr lang="zh-CN" altLang="en-US" dirty="0">
              <a:latin typeface="Times New Roman" panose="02020603050405020304" pitchFamily="18" charset="0"/>
            </a:endParaRPr>
          </a:p>
        </p:txBody>
      </p:sp>
      <p:sp>
        <p:nvSpPr>
          <p:cNvPr id="19469" name="TextBox 15"/>
          <p:cNvSpPr txBox="1"/>
          <p:nvPr/>
        </p:nvSpPr>
        <p:spPr>
          <a:xfrm>
            <a:off x="1000125" y="714375"/>
            <a:ext cx="4032250" cy="400050"/>
          </a:xfrm>
          <a:prstGeom prst="rect">
            <a:avLst/>
          </a:prstGeom>
          <a:noFill/>
          <a:ln w="9525">
            <a:noFill/>
          </a:ln>
        </p:spPr>
        <p:txBody>
          <a:bodyPr wrap="none">
            <a:spAutoFit/>
          </a:bodyPr>
          <a:p>
            <a:r>
              <a:rPr lang="zh-CN" altLang="en-US" dirty="0">
                <a:latin typeface="Times New Roman" panose="02020603050405020304" pitchFamily="18" charset="0"/>
              </a:rPr>
              <a:t>设计胶接接头时应注意以下几点：</a:t>
            </a:r>
            <a:endParaRPr lang="zh-CN" altLang="en-US" dirty="0">
              <a:latin typeface="Times New Roman" panose="02020603050405020304" pitchFamily="18" charset="0"/>
            </a:endParaRPr>
          </a:p>
        </p:txBody>
      </p:sp>
      <p:pic>
        <p:nvPicPr>
          <p:cNvPr id="19470" name="图片 16" descr="3-13-21 [转换].tif"/>
          <p:cNvPicPr>
            <a:picLocks noChangeAspect="1"/>
          </p:cNvPicPr>
          <p:nvPr/>
        </p:nvPicPr>
        <p:blipFill>
          <a:blip r:embed="rId6"/>
          <a:stretch>
            <a:fillRect/>
          </a:stretch>
        </p:blipFill>
        <p:spPr>
          <a:xfrm>
            <a:off x="4857750" y="1881188"/>
            <a:ext cx="3895725" cy="2214562"/>
          </a:xfrm>
          <a:prstGeom prst="rect">
            <a:avLst/>
          </a:prstGeom>
          <a:noFill/>
          <a:ln w="9525">
            <a:noFill/>
          </a:ln>
        </p:spPr>
      </p:pic>
      <p:sp>
        <p:nvSpPr>
          <p:cNvPr id="19471" name="TextBox 17"/>
          <p:cNvSpPr txBox="1"/>
          <p:nvPr/>
        </p:nvSpPr>
        <p:spPr>
          <a:xfrm>
            <a:off x="5484813" y="4375150"/>
            <a:ext cx="3057525" cy="338138"/>
          </a:xfrm>
          <a:prstGeom prst="rect">
            <a:avLst/>
          </a:prstGeom>
          <a:noFill/>
          <a:ln w="9525">
            <a:noFill/>
          </a:ln>
        </p:spPr>
        <p:txBody>
          <a:bodyPr wrap="none">
            <a:spAutoFit/>
          </a:bodyPr>
          <a:p>
            <a:r>
              <a:rPr lang="zh-CN" altLang="en-US" sz="1600" dirty="0">
                <a:solidFill>
                  <a:srgbClr val="00B0F0"/>
                </a:solidFill>
                <a:latin typeface="Times New Roman" panose="02020603050405020304" pitchFamily="18" charset="0"/>
              </a:rPr>
              <a:t>胶接层应避免的受力及保护措施</a:t>
            </a:r>
            <a:endParaRPr lang="zh-CN" altLang="en-US" sz="1600" dirty="0">
              <a:solidFill>
                <a:srgbClr val="00B0F0"/>
              </a:solidFill>
              <a:latin typeface="Times New Roman" panose="02020603050405020304" pitchFamily="18" charset="0"/>
            </a:endParaRPr>
          </a:p>
        </p:txBody>
      </p:sp>
      <p:sp>
        <p:nvSpPr>
          <p:cNvPr id="2" name="TextBox 1"/>
          <p:cNvSpPr txBox="1"/>
          <p:nvPr/>
        </p:nvSpPr>
        <p:spPr>
          <a:xfrm>
            <a:off x="496888" y="1169988"/>
            <a:ext cx="4303712" cy="990600"/>
          </a:xfrm>
          <a:prstGeom prst="rect">
            <a:avLst/>
          </a:prstGeom>
          <a:noFill/>
          <a:ln w="9525">
            <a:noFill/>
          </a:ln>
        </p:spPr>
        <p:txBody>
          <a:bodyPr>
            <a:spAutoFit/>
          </a:bodyPr>
          <a:p>
            <a:pPr>
              <a:lnSpc>
                <a:spcPts val="3500"/>
              </a:lnSpc>
              <a:buNone/>
            </a:pPr>
            <a:r>
              <a:rPr lang="en-US" altLang="zh-CN" dirty="0">
                <a:latin typeface="Times New Roman" panose="02020603050405020304" pitchFamily="18" charset="0"/>
              </a:rPr>
              <a:t>1</a:t>
            </a:r>
            <a:r>
              <a:rPr lang="zh-CN" altLang="en-US" dirty="0">
                <a:latin typeface="Times New Roman" panose="02020603050405020304" pitchFamily="18" charset="0"/>
              </a:rPr>
              <a:t>）针对胶接件的工作要求正确选择胶黏剂；</a:t>
            </a:r>
            <a:endParaRPr lang="en-US" altLang="zh-CN" dirty="0">
              <a:latin typeface="Times New Roman" panose="02020603050405020304" pitchFamily="18" charset="0"/>
            </a:endParaRPr>
          </a:p>
        </p:txBody>
      </p:sp>
      <p:sp>
        <p:nvSpPr>
          <p:cNvPr id="3" name="TextBox 2"/>
          <p:cNvSpPr txBox="1"/>
          <p:nvPr/>
        </p:nvSpPr>
        <p:spPr>
          <a:xfrm>
            <a:off x="496888" y="2060575"/>
            <a:ext cx="3671887" cy="490538"/>
          </a:xfrm>
          <a:prstGeom prst="rect">
            <a:avLst/>
          </a:prstGeom>
          <a:noFill/>
          <a:ln w="9525">
            <a:noFill/>
          </a:ln>
        </p:spPr>
        <p:txBody>
          <a:bodyPr>
            <a:spAutoFit/>
          </a:bodyPr>
          <a:p>
            <a:pPr>
              <a:lnSpc>
                <a:spcPts val="3500"/>
              </a:lnSpc>
              <a:buNone/>
            </a:pPr>
            <a:r>
              <a:rPr lang="en-US" altLang="zh-CN" dirty="0">
                <a:latin typeface="Times New Roman" panose="02020603050405020304" pitchFamily="18" charset="0"/>
              </a:rPr>
              <a:t>2</a:t>
            </a:r>
            <a:r>
              <a:rPr lang="zh-CN" altLang="en-US" dirty="0">
                <a:latin typeface="Times New Roman" panose="02020603050405020304" pitchFamily="18" charset="0"/>
              </a:rPr>
              <a:t>）合理选择接头型式；</a:t>
            </a:r>
            <a:endParaRPr lang="en-US" altLang="zh-CN" dirty="0">
              <a:latin typeface="Times New Roman" panose="02020603050405020304" pitchFamily="18" charset="0"/>
            </a:endParaRPr>
          </a:p>
        </p:txBody>
      </p:sp>
      <p:sp>
        <p:nvSpPr>
          <p:cNvPr id="4" name="TextBox 3"/>
          <p:cNvSpPr txBox="1"/>
          <p:nvPr/>
        </p:nvSpPr>
        <p:spPr>
          <a:xfrm>
            <a:off x="503238" y="2566988"/>
            <a:ext cx="4135437" cy="989012"/>
          </a:xfrm>
          <a:prstGeom prst="rect">
            <a:avLst/>
          </a:prstGeom>
          <a:noFill/>
          <a:ln w="9525">
            <a:noFill/>
          </a:ln>
        </p:spPr>
        <p:txBody>
          <a:bodyPr>
            <a:spAutoFit/>
          </a:bodyPr>
          <a:p>
            <a:pPr>
              <a:lnSpc>
                <a:spcPts val="3500"/>
              </a:lnSpc>
              <a:buNone/>
            </a:pPr>
            <a:r>
              <a:rPr lang="en-US" altLang="zh-CN" dirty="0">
                <a:latin typeface="Times New Roman" panose="02020603050405020304" pitchFamily="18" charset="0"/>
              </a:rPr>
              <a:t>3</a:t>
            </a:r>
            <a:r>
              <a:rPr lang="zh-CN" altLang="en-US" dirty="0">
                <a:latin typeface="Times New Roman" panose="02020603050405020304" pitchFamily="18" charset="0"/>
              </a:rPr>
              <a:t>）充分利用胶接缝的承载特性，尽 可能使胶接缝承受剪切或受压；</a:t>
            </a:r>
            <a:endParaRPr lang="en-US" altLang="zh-CN" dirty="0">
              <a:latin typeface="Times New Roman" panose="02020603050405020304" pitchFamily="18" charset="0"/>
            </a:endParaRPr>
          </a:p>
        </p:txBody>
      </p:sp>
      <p:sp>
        <p:nvSpPr>
          <p:cNvPr id="5" name="TextBox 4"/>
          <p:cNvSpPr txBox="1"/>
          <p:nvPr/>
        </p:nvSpPr>
        <p:spPr>
          <a:xfrm>
            <a:off x="503238" y="3571875"/>
            <a:ext cx="4057650" cy="1439863"/>
          </a:xfrm>
          <a:prstGeom prst="rect">
            <a:avLst/>
          </a:prstGeom>
          <a:noFill/>
          <a:ln w="9525">
            <a:noFill/>
          </a:ln>
        </p:spPr>
        <p:txBody>
          <a:bodyPr>
            <a:spAutoFit/>
          </a:bodyPr>
          <a:p>
            <a:pPr>
              <a:lnSpc>
                <a:spcPts val="3500"/>
              </a:lnSpc>
            </a:pPr>
            <a:r>
              <a:rPr lang="en-US" altLang="zh-CN" dirty="0">
                <a:latin typeface="Times New Roman" panose="02020603050405020304" pitchFamily="18" charset="0"/>
              </a:rPr>
              <a:t>4</a:t>
            </a:r>
            <a:r>
              <a:rPr lang="zh-CN" altLang="en-US" dirty="0">
                <a:latin typeface="Times New Roman" panose="02020603050405020304" pitchFamily="18" charset="0"/>
              </a:rPr>
              <a:t>）受拉易于发生扯开或剥离破坏， </a:t>
            </a:r>
            <a:endParaRPr lang="en-US" altLang="zh-CN" dirty="0">
              <a:latin typeface="Times New Roman" panose="02020603050405020304" pitchFamily="18" charset="0"/>
            </a:endParaRPr>
          </a:p>
          <a:p>
            <a:pPr>
              <a:lnSpc>
                <a:spcPts val="3500"/>
              </a:lnSpc>
            </a:pPr>
            <a:r>
              <a:rPr lang="zh-CN" altLang="en-US" dirty="0">
                <a:latin typeface="Times New Roman" panose="02020603050405020304" pitchFamily="18" charset="0"/>
              </a:rPr>
              <a:t>必要时应采取保护措施，如右图所示。</a:t>
            </a:r>
            <a:endParaRPr lang="en-US" altLang="zh-CN" dirty="0">
              <a:latin typeface="Times New Roman" panose="02020603050405020304" pitchFamily="18" charset="0"/>
            </a:endParaRPr>
          </a:p>
        </p:txBody>
      </p:sp>
      <p:sp>
        <p:nvSpPr>
          <p:cNvPr id="6" name="TextBox 5"/>
          <p:cNvSpPr txBox="1"/>
          <p:nvPr/>
        </p:nvSpPr>
        <p:spPr>
          <a:xfrm>
            <a:off x="498475" y="5011738"/>
            <a:ext cx="8347075" cy="400050"/>
          </a:xfrm>
          <a:prstGeom prst="rect">
            <a:avLst/>
          </a:prstGeom>
          <a:noFill/>
          <a:ln w="9525">
            <a:noFill/>
          </a:ln>
        </p:spPr>
        <p:txBody>
          <a:bodyPr>
            <a:spAutoFit/>
          </a:bodyPr>
          <a:p>
            <a:r>
              <a:rPr lang="en-US" altLang="zh-CN" dirty="0">
                <a:latin typeface="Times New Roman" panose="02020603050405020304" pitchFamily="18" charset="0"/>
              </a:rPr>
              <a:t>5</a:t>
            </a:r>
            <a:r>
              <a:rPr lang="zh-CN" altLang="en-US" dirty="0">
                <a:latin typeface="Times New Roman" panose="02020603050405020304" pitchFamily="18" charset="0"/>
              </a:rPr>
              <a:t>）胶层厚度为</a:t>
            </a:r>
            <a:r>
              <a:rPr lang="en-US" altLang="zh-CN" dirty="0">
                <a:latin typeface="Times New Roman" panose="02020603050405020304" pitchFamily="18" charset="0"/>
              </a:rPr>
              <a:t>0.1 mm</a:t>
            </a:r>
            <a:r>
              <a:rPr lang="zh-CN" altLang="en-US" dirty="0">
                <a:latin typeface="Times New Roman" panose="02020603050405020304" pitchFamily="18" charset="0"/>
              </a:rPr>
              <a:t>时，胶层强度最高。轴与毂的连接则只需</a:t>
            </a:r>
            <a:r>
              <a:rPr lang="en-US" altLang="zh-CN" dirty="0">
                <a:latin typeface="Times New Roman" panose="02020603050405020304" pitchFamily="18" charset="0"/>
              </a:rPr>
              <a:t>0.03 mm</a:t>
            </a:r>
            <a:r>
              <a:rPr lang="zh-CN" altLang="en-US" dirty="0">
                <a:latin typeface="Times New Roman" panose="02020603050405020304" pitchFamily="18" charset="0"/>
              </a:rPr>
              <a:t>。</a:t>
            </a:r>
            <a:endParaRPr lang="zh-CN" altLang="en-US"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499"/>
                                          </p:stCondLst>
                                        </p:cTn>
                                        <p:tgtEl>
                                          <p:spTgt spid="51226"/>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nodeType="afterEffect">
                                  <p:stCondLst>
                                    <p:cond delay="0"/>
                                  </p:stCondLst>
                                  <p:childTnLst>
                                    <p:set>
                                      <p:cBhvr>
                                        <p:cTn id="9" dur="1" fill="hold">
                                          <p:stCondLst>
                                            <p:cond delay="499"/>
                                          </p:stCondLst>
                                        </p:cTn>
                                        <p:tgtEl>
                                          <p:spTgt spid="51225"/>
                                        </p:tgtEl>
                                        <p:attrNameLst>
                                          <p:attrName>style.visibility</p:attrName>
                                        </p:attrNameLst>
                                      </p:cBhvr>
                                      <p:to>
                                        <p:strVal val="visible"/>
                                      </p:to>
                                    </p:set>
                                  </p:childTnLst>
                                </p:cTn>
                              </p:par>
                            </p:childTnLst>
                          </p:cTn>
                        </p:par>
                        <p:par>
                          <p:cTn id="10" fill="hold">
                            <p:stCondLst>
                              <p:cond delay="1000"/>
                            </p:stCondLst>
                            <p:childTnLst>
                              <p:par>
                                <p:cTn id="11" presetID="2" presetClass="entr" presetSubtype="8" fill="hold" nodeType="afterEffect">
                                  <p:stCondLst>
                                    <p:cond delay="0"/>
                                  </p:stCondLst>
                                  <p:childTnLst>
                                    <p:set>
                                      <p:cBhvr>
                                        <p:cTn id="12" dur="1" fill="hold">
                                          <p:stCondLst>
                                            <p:cond delay="0"/>
                                          </p:stCondLst>
                                        </p:cTn>
                                        <p:tgtEl>
                                          <p:spTgt spid="51224"/>
                                        </p:tgtEl>
                                        <p:attrNameLst>
                                          <p:attrName>style.visibility</p:attrName>
                                        </p:attrNameLst>
                                      </p:cBhvr>
                                      <p:to>
                                        <p:strVal val="visible"/>
                                      </p:to>
                                    </p:set>
                                    <p:anim calcmode="lin" valueType="num">
                                      <p:cBhvr additive="base">
                                        <p:cTn id="13" dur="500" fill="hold"/>
                                        <p:tgtEl>
                                          <p:spTgt spid="51224"/>
                                        </p:tgtEl>
                                        <p:attrNameLst>
                                          <p:attrName>ppt_x</p:attrName>
                                        </p:attrNameLst>
                                      </p:cBhvr>
                                      <p:tavLst>
                                        <p:tav tm="0">
                                          <p:val>
                                            <p:strVal val="0-#ppt_w/2"/>
                                          </p:val>
                                        </p:tav>
                                        <p:tav tm="100000">
                                          <p:val>
                                            <p:strVal val="#ppt_x"/>
                                          </p:val>
                                        </p:tav>
                                      </p:tavLst>
                                    </p:anim>
                                    <p:anim calcmode="lin" valueType="num">
                                      <p:cBhvr additive="base">
                                        <p:cTn id="14" dur="500" fill="hold"/>
                                        <p:tgtEl>
                                          <p:spTgt spid="51224"/>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19469"/>
                                        </p:tgtEl>
                                        <p:attrNameLst>
                                          <p:attrName>style.visibility</p:attrName>
                                        </p:attrNameLst>
                                      </p:cBhvr>
                                      <p:to>
                                        <p:strVal val="visible"/>
                                      </p:to>
                                    </p:set>
                                    <p:animEffect transition="in" filter="wipe(down)">
                                      <p:cBhvr>
                                        <p:cTn id="19" dur="500"/>
                                        <p:tgtEl>
                                          <p:spTgt spid="19469"/>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wipe(left)">
                                      <p:cBhvr>
                                        <p:cTn id="24" dur="500"/>
                                        <p:tgtEl>
                                          <p:spTgt spid="2"/>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3"/>
                                        </p:tgtEl>
                                        <p:attrNameLst>
                                          <p:attrName>style.visibility</p:attrName>
                                        </p:attrNameLst>
                                      </p:cBhvr>
                                      <p:to>
                                        <p:strVal val="visible"/>
                                      </p:to>
                                    </p:set>
                                    <p:animEffect transition="in" filter="wipe(left)">
                                      <p:cBhvr>
                                        <p:cTn id="29" dur="500"/>
                                        <p:tgtEl>
                                          <p:spTgt spid="3"/>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4"/>
                                        </p:tgtEl>
                                        <p:attrNameLst>
                                          <p:attrName>style.visibility</p:attrName>
                                        </p:attrNameLst>
                                      </p:cBhvr>
                                      <p:to>
                                        <p:strVal val="visible"/>
                                      </p:to>
                                    </p:set>
                                    <p:animEffect transition="in" filter="wipe(left)">
                                      <p:cBhvr>
                                        <p:cTn id="34" dur="500"/>
                                        <p:tgtEl>
                                          <p:spTgt spid="4"/>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5"/>
                                        </p:tgtEl>
                                        <p:attrNameLst>
                                          <p:attrName>style.visibility</p:attrName>
                                        </p:attrNameLst>
                                      </p:cBhvr>
                                      <p:to>
                                        <p:strVal val="visible"/>
                                      </p:to>
                                    </p:set>
                                    <p:animEffect transition="in" filter="wipe(left)">
                                      <p:cBhvr>
                                        <p:cTn id="39" dur="500"/>
                                        <p:tgtEl>
                                          <p:spTgt spid="5"/>
                                        </p:tgtEl>
                                      </p:cBhvr>
                                    </p:animEffect>
                                  </p:childTnLst>
                                </p:cTn>
                              </p:par>
                              <p:par>
                                <p:cTn id="40" presetID="22" presetClass="entr" presetSubtype="8" fill="hold" nodeType="withEffect">
                                  <p:stCondLst>
                                    <p:cond delay="0"/>
                                  </p:stCondLst>
                                  <p:childTnLst>
                                    <p:set>
                                      <p:cBhvr>
                                        <p:cTn id="41" dur="1" fill="hold">
                                          <p:stCondLst>
                                            <p:cond delay="0"/>
                                          </p:stCondLst>
                                        </p:cTn>
                                        <p:tgtEl>
                                          <p:spTgt spid="19470"/>
                                        </p:tgtEl>
                                        <p:attrNameLst>
                                          <p:attrName>style.visibility</p:attrName>
                                        </p:attrNameLst>
                                      </p:cBhvr>
                                      <p:to>
                                        <p:strVal val="visible"/>
                                      </p:to>
                                    </p:set>
                                    <p:animEffect transition="in" filter="wipe(left)">
                                      <p:cBhvr>
                                        <p:cTn id="42" dur="500"/>
                                        <p:tgtEl>
                                          <p:spTgt spid="19470"/>
                                        </p:tgtEl>
                                      </p:cBhvr>
                                    </p:animEffect>
                                  </p:childTnLst>
                                </p:cTn>
                              </p:par>
                              <p:par>
                                <p:cTn id="43" presetID="22" presetClass="entr" presetSubtype="8" fill="hold" grpId="0" nodeType="withEffect">
                                  <p:stCondLst>
                                    <p:cond delay="0"/>
                                  </p:stCondLst>
                                  <p:childTnLst>
                                    <p:set>
                                      <p:cBhvr>
                                        <p:cTn id="44" dur="1" fill="hold">
                                          <p:stCondLst>
                                            <p:cond delay="0"/>
                                          </p:stCondLst>
                                        </p:cTn>
                                        <p:tgtEl>
                                          <p:spTgt spid="19471"/>
                                        </p:tgtEl>
                                        <p:attrNameLst>
                                          <p:attrName>style.visibility</p:attrName>
                                        </p:attrNameLst>
                                      </p:cBhvr>
                                      <p:to>
                                        <p:strVal val="visible"/>
                                      </p:to>
                                    </p:set>
                                    <p:animEffect transition="in" filter="wipe(left)">
                                      <p:cBhvr>
                                        <p:cTn id="45" dur="500"/>
                                        <p:tgtEl>
                                          <p:spTgt spid="19471"/>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6"/>
                                        </p:tgtEl>
                                        <p:attrNameLst>
                                          <p:attrName>style.visibility</p:attrName>
                                        </p:attrNameLst>
                                      </p:cBhvr>
                                      <p:to>
                                        <p:strVal val="visible"/>
                                      </p:to>
                                    </p:set>
                                    <p:animEffect transition="in" filter="wipe(left)">
                                      <p:cBhvr>
                                        <p:cTn id="50" dur="500"/>
                                        <p:tgtEl>
                                          <p:spTgt spid="6"/>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19468"/>
                                        </p:tgtEl>
                                        <p:attrNameLst>
                                          <p:attrName>style.visibility</p:attrName>
                                        </p:attrNameLst>
                                      </p:cBhvr>
                                      <p:to>
                                        <p:strVal val="visible"/>
                                      </p:to>
                                    </p:set>
                                    <p:animEffect transition="in" filter="wipe(left)">
                                      <p:cBhvr>
                                        <p:cTn id="55" dur="500"/>
                                        <p:tgtEl>
                                          <p:spTgt spid="194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8" grpId="0"/>
      <p:bldP spid="19469" grpId="0"/>
      <p:bldP spid="19471" grpId="0"/>
      <p:bldP spid="2" grpId="0"/>
      <p:bldP spid="3" grpId="0"/>
      <p:bldP spid="4" grpId="0"/>
      <p:bldP spid="5" grpId="0"/>
      <p:bldP spid="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Rectangle 4"/>
          <p:cNvSpPr>
            <a:spLocks noGrp="1"/>
          </p:cNvSpPr>
          <p:nvPr>
            <p:ph type="title"/>
          </p:nvPr>
        </p:nvSpPr>
        <p:spPr>
          <a:xfrm>
            <a:off x="5932488" y="838200"/>
            <a:ext cx="2133600" cy="152400"/>
          </a:xfrm>
          <a:noFill/>
          <a:ln>
            <a:noFill/>
          </a:ln>
        </p:spPr>
        <p:txBody>
          <a:bodyPr/>
          <a:p>
            <a:pPr eaLnBrk="1" hangingPunct="1"/>
            <a:r>
              <a:rPr lang="zh-CN" altLang="en-US" sz="2800" dirty="0">
                <a:solidFill>
                  <a:schemeClr val="bg1"/>
                </a:solidFill>
                <a:ea typeface="华文中宋" panose="02010600040101010101" pitchFamily="2" charset="-122"/>
              </a:rPr>
              <a:t>焊接</a:t>
            </a:r>
            <a:r>
              <a:rPr lang="en-US" altLang="zh-CN" sz="2800" dirty="0">
                <a:solidFill>
                  <a:schemeClr val="bg1"/>
                </a:solidFill>
                <a:ea typeface="华文中宋" panose="02010600040101010101" pitchFamily="2" charset="-122"/>
              </a:rPr>
              <a:t>2</a:t>
            </a:r>
            <a:endParaRPr lang="en-US" altLang="zh-CN" sz="2800" dirty="0">
              <a:solidFill>
                <a:schemeClr val="bg1"/>
              </a:solidFill>
              <a:ea typeface="华文中宋" panose="02010600040101010101" pitchFamily="2" charset="-122"/>
            </a:endParaRPr>
          </a:p>
        </p:txBody>
      </p:sp>
      <p:sp>
        <p:nvSpPr>
          <p:cNvPr id="21507" name="Rectangle 5"/>
          <p:cNvSpPr>
            <a:spLocks noGrp="1"/>
          </p:cNvSpPr>
          <p:nvPr/>
        </p:nvSpPr>
        <p:spPr>
          <a:xfrm>
            <a:off x="1000125" y="0"/>
            <a:ext cx="1219200" cy="533400"/>
          </a:xfrm>
          <a:prstGeom prst="rect">
            <a:avLst/>
          </a:prstGeom>
          <a:noFill/>
          <a:ln w="9525">
            <a:noFill/>
          </a:ln>
        </p:spPr>
        <p:txBody>
          <a:bodyPr/>
          <a:p>
            <a:pPr eaLnBrk="0" hangingPunct="0"/>
            <a:r>
              <a:rPr lang="zh-CN" altLang="en-US" sz="3000" dirty="0">
                <a:solidFill>
                  <a:schemeClr val="bg1"/>
                </a:solidFill>
                <a:latin typeface="黑体" panose="02010609060101010101" pitchFamily="49" charset="-122"/>
                <a:ea typeface="黑体" panose="02010609060101010101" pitchFamily="49" charset="-122"/>
              </a:rPr>
              <a:t>胶 接</a:t>
            </a:r>
            <a:endParaRPr lang="zh-CN" altLang="en-US" sz="3000" dirty="0">
              <a:solidFill>
                <a:schemeClr val="bg1"/>
              </a:solidFill>
              <a:latin typeface="黑体" panose="02010609060101010101" pitchFamily="49" charset="-122"/>
              <a:ea typeface="黑体" panose="02010609060101010101" pitchFamily="49" charset="-122"/>
            </a:endParaRPr>
          </a:p>
        </p:txBody>
      </p:sp>
      <p:pic>
        <p:nvPicPr>
          <p:cNvPr id="21508" name="Picture 24" descr="rewind1">
            <a:hlinkClick r:id="rId1" action="ppaction://hlinksldjump"/>
          </p:cNvPr>
          <p:cNvPicPr>
            <a:picLocks noChangeAspect="1"/>
          </p:cNvPicPr>
          <p:nvPr/>
        </p:nvPicPr>
        <p:blipFill>
          <a:blip r:embed="rId2"/>
          <a:stretch>
            <a:fillRect/>
          </a:stretch>
        </p:blipFill>
        <p:spPr>
          <a:xfrm>
            <a:off x="8221663" y="6570663"/>
            <a:ext cx="287337" cy="287337"/>
          </a:xfrm>
          <a:prstGeom prst="rect">
            <a:avLst/>
          </a:prstGeom>
          <a:noFill/>
          <a:ln w="9525">
            <a:noFill/>
          </a:ln>
        </p:spPr>
      </p:pic>
      <p:pic>
        <p:nvPicPr>
          <p:cNvPr id="21509" name="Picture 25" descr="back1">
            <a:hlinkClick r:id="" action="ppaction://hlinkshowjump?jump=previousslide"/>
          </p:cNvPr>
          <p:cNvPicPr>
            <a:picLocks noChangeAspect="1"/>
          </p:cNvPicPr>
          <p:nvPr/>
        </p:nvPicPr>
        <p:blipFill>
          <a:blip r:embed="rId3"/>
          <a:stretch>
            <a:fillRect/>
          </a:stretch>
        </p:blipFill>
        <p:spPr>
          <a:xfrm>
            <a:off x="8632825" y="6570663"/>
            <a:ext cx="287338" cy="287337"/>
          </a:xfrm>
          <a:prstGeom prst="rect">
            <a:avLst/>
          </a:prstGeom>
          <a:noFill/>
          <a:ln w="9525">
            <a:noFill/>
          </a:ln>
        </p:spPr>
      </p:pic>
      <p:sp>
        <p:nvSpPr>
          <p:cNvPr id="51240" name="Text Box 40"/>
          <p:cNvSpPr txBox="1"/>
          <p:nvPr/>
        </p:nvSpPr>
        <p:spPr>
          <a:xfrm>
            <a:off x="6384925" y="6538913"/>
            <a:ext cx="271463" cy="427037"/>
          </a:xfrm>
          <a:prstGeom prst="rect">
            <a:avLst/>
          </a:prstGeom>
          <a:noFill/>
          <a:ln w="9525">
            <a:noFill/>
          </a:ln>
        </p:spPr>
        <p:txBody>
          <a:bodyPr wrap="none">
            <a:spAutoFit/>
          </a:bodyPr>
          <a:p>
            <a:r>
              <a:rPr lang="en-US" altLang="zh-CN" sz="2200" dirty="0">
                <a:solidFill>
                  <a:schemeClr val="tx1"/>
                </a:solidFill>
                <a:latin typeface="Tahoma" panose="020B0604030504040204" pitchFamily="34" charset="0"/>
              </a:rPr>
              <a:t> </a:t>
            </a:r>
            <a:endParaRPr lang="en-US" altLang="zh-CN" sz="2200" dirty="0">
              <a:solidFill>
                <a:schemeClr val="tx1"/>
              </a:solidFill>
              <a:latin typeface="Tahoma" panose="020B0604030504040204" pitchFamily="34" charset="0"/>
            </a:endParaRPr>
          </a:p>
        </p:txBody>
      </p:sp>
      <p:sp>
        <p:nvSpPr>
          <p:cNvPr id="21511" name="Rectangle 8"/>
          <p:cNvSpPr/>
          <p:nvPr/>
        </p:nvSpPr>
        <p:spPr>
          <a:xfrm>
            <a:off x="0" y="0"/>
            <a:ext cx="9144000" cy="0"/>
          </a:xfrm>
          <a:prstGeom prst="rect">
            <a:avLst/>
          </a:prstGeom>
          <a:noFill/>
          <a:ln w="9525">
            <a:noFill/>
          </a:ln>
        </p:spPr>
        <p:txBody>
          <a:bodyPr wrap="none" anchor="ctr" anchorCtr="0">
            <a:spAutoFit/>
          </a:bodyPr>
          <a:p>
            <a:endParaRPr lang="zh-CN" altLang="en-US" dirty="0">
              <a:latin typeface="Times New Roman" panose="02020603050405020304" pitchFamily="18" charset="0"/>
            </a:endParaRPr>
          </a:p>
        </p:txBody>
      </p:sp>
      <p:pic>
        <p:nvPicPr>
          <p:cNvPr id="21512" name="Picture 7"/>
          <p:cNvPicPr>
            <a:picLocks noChangeAspect="1"/>
          </p:cNvPicPr>
          <p:nvPr/>
        </p:nvPicPr>
        <p:blipFill>
          <a:blip r:embed="rId4">
            <a:clrChange>
              <a:clrFrom>
                <a:srgbClr val="FFFFFF"/>
              </a:clrFrom>
              <a:clrTo>
                <a:srgbClr val="FFFFFF">
                  <a:alpha val="0"/>
                </a:srgbClr>
              </a:clrTo>
            </a:clrChange>
          </a:blip>
          <a:stretch>
            <a:fillRect/>
          </a:stretch>
        </p:blipFill>
        <p:spPr>
          <a:xfrm>
            <a:off x="0" y="0"/>
            <a:ext cx="114300" cy="174625"/>
          </a:xfrm>
          <a:prstGeom prst="rect">
            <a:avLst/>
          </a:prstGeom>
          <a:noFill/>
          <a:ln w="9525">
            <a:noFill/>
          </a:ln>
        </p:spPr>
      </p:pic>
      <p:sp>
        <p:nvSpPr>
          <p:cNvPr id="21513" name="Rectangle 10"/>
          <p:cNvSpPr/>
          <p:nvPr/>
        </p:nvSpPr>
        <p:spPr>
          <a:xfrm>
            <a:off x="0" y="0"/>
            <a:ext cx="9144000" cy="0"/>
          </a:xfrm>
          <a:prstGeom prst="rect">
            <a:avLst/>
          </a:prstGeom>
          <a:noFill/>
          <a:ln w="9525">
            <a:noFill/>
          </a:ln>
        </p:spPr>
        <p:txBody>
          <a:bodyPr wrap="none" anchor="ctr" anchorCtr="0">
            <a:spAutoFit/>
          </a:bodyPr>
          <a:p>
            <a:endParaRPr lang="zh-CN" altLang="en-US" dirty="0">
              <a:latin typeface="Times New Roman" panose="02020603050405020304" pitchFamily="18" charset="0"/>
            </a:endParaRPr>
          </a:p>
        </p:txBody>
      </p:sp>
      <p:pic>
        <p:nvPicPr>
          <p:cNvPr id="21514" name="Picture 9"/>
          <p:cNvPicPr>
            <a:picLocks noChangeAspect="1"/>
          </p:cNvPicPr>
          <p:nvPr/>
        </p:nvPicPr>
        <p:blipFill>
          <a:blip r:embed="rId4">
            <a:clrChange>
              <a:clrFrom>
                <a:srgbClr val="FFFFFF"/>
              </a:clrFrom>
              <a:clrTo>
                <a:srgbClr val="FFFFFF">
                  <a:alpha val="0"/>
                </a:srgbClr>
              </a:clrTo>
            </a:clrChange>
          </a:blip>
          <a:stretch>
            <a:fillRect/>
          </a:stretch>
        </p:blipFill>
        <p:spPr>
          <a:xfrm>
            <a:off x="0" y="0"/>
            <a:ext cx="114300" cy="174625"/>
          </a:xfrm>
          <a:prstGeom prst="rect">
            <a:avLst/>
          </a:prstGeom>
          <a:noFill/>
          <a:ln w="9525">
            <a:noFill/>
          </a:ln>
        </p:spPr>
      </p:pic>
      <p:sp>
        <p:nvSpPr>
          <p:cNvPr id="20491" name="TextBox 22"/>
          <p:cNvSpPr txBox="1"/>
          <p:nvPr/>
        </p:nvSpPr>
        <p:spPr>
          <a:xfrm>
            <a:off x="357188" y="642938"/>
            <a:ext cx="8358187" cy="488950"/>
          </a:xfrm>
          <a:prstGeom prst="rect">
            <a:avLst/>
          </a:prstGeom>
          <a:noFill/>
          <a:ln w="9525">
            <a:noFill/>
          </a:ln>
        </p:spPr>
        <p:txBody>
          <a:bodyPr>
            <a:spAutoFit/>
          </a:bodyPr>
          <a:p>
            <a:pPr>
              <a:lnSpc>
                <a:spcPts val="3500"/>
              </a:lnSpc>
            </a:pPr>
            <a:r>
              <a:rPr lang="zh-CN" altLang="en-US" dirty="0">
                <a:latin typeface="Times New Roman" panose="02020603050405020304" pitchFamily="18" charset="0"/>
              </a:rPr>
              <a:t>        </a:t>
            </a:r>
            <a:r>
              <a:rPr lang="zh-CN" altLang="en-US" dirty="0">
                <a:solidFill>
                  <a:srgbClr val="C00000"/>
                </a:solidFill>
                <a:latin typeface="Times New Roman" panose="02020603050405020304" pitchFamily="18" charset="0"/>
              </a:rPr>
              <a:t>（三）胶黏剂</a:t>
            </a:r>
            <a:endParaRPr lang="zh-CN" altLang="en-US" dirty="0">
              <a:solidFill>
                <a:srgbClr val="C00000"/>
              </a:solidFill>
              <a:latin typeface="Times New Roman" panose="02020603050405020304" pitchFamily="18" charset="0"/>
            </a:endParaRPr>
          </a:p>
        </p:txBody>
      </p:sp>
      <p:sp>
        <p:nvSpPr>
          <p:cNvPr id="20492" name="TextBox 20"/>
          <p:cNvSpPr txBox="1"/>
          <p:nvPr/>
        </p:nvSpPr>
        <p:spPr>
          <a:xfrm>
            <a:off x="500063" y="1071563"/>
            <a:ext cx="8215312" cy="990600"/>
          </a:xfrm>
          <a:prstGeom prst="rect">
            <a:avLst/>
          </a:prstGeom>
          <a:noFill/>
          <a:ln w="9525">
            <a:noFill/>
          </a:ln>
        </p:spPr>
        <p:txBody>
          <a:bodyPr>
            <a:spAutoFit/>
          </a:bodyPr>
          <a:p>
            <a:pPr>
              <a:lnSpc>
                <a:spcPts val="3500"/>
              </a:lnSpc>
            </a:pPr>
            <a:r>
              <a:rPr lang="zh-CN" altLang="en-US" dirty="0">
                <a:latin typeface="Times New Roman" panose="02020603050405020304" pitchFamily="18" charset="0"/>
              </a:rPr>
              <a:t>        胶黏剂的品种繁多，从不同角度产生的分类也很多，若仅按应用对象或使用目的来分，则可分为</a:t>
            </a:r>
            <a:r>
              <a:rPr lang="zh-CN" altLang="en-US" dirty="0">
                <a:solidFill>
                  <a:srgbClr val="C00000"/>
                </a:solidFill>
                <a:latin typeface="Times New Roman" panose="02020603050405020304" pitchFamily="18" charset="0"/>
              </a:rPr>
              <a:t>结构胶</a:t>
            </a:r>
            <a:r>
              <a:rPr lang="zh-CN" altLang="en-US" dirty="0">
                <a:latin typeface="Times New Roman" panose="02020603050405020304" pitchFamily="18" charset="0"/>
              </a:rPr>
              <a:t>、</a:t>
            </a:r>
            <a:r>
              <a:rPr lang="zh-CN" altLang="en-US" dirty="0">
                <a:solidFill>
                  <a:srgbClr val="C00000"/>
                </a:solidFill>
                <a:latin typeface="Times New Roman" panose="02020603050405020304" pitchFamily="18" charset="0"/>
              </a:rPr>
              <a:t>非结构胶</a:t>
            </a:r>
            <a:r>
              <a:rPr lang="zh-CN" altLang="en-US" dirty="0">
                <a:latin typeface="Times New Roman" panose="02020603050405020304" pitchFamily="18" charset="0"/>
              </a:rPr>
              <a:t>和</a:t>
            </a:r>
            <a:r>
              <a:rPr lang="zh-CN" altLang="en-US" dirty="0">
                <a:solidFill>
                  <a:srgbClr val="C00000"/>
                </a:solidFill>
                <a:latin typeface="Times New Roman" panose="02020603050405020304" pitchFamily="18" charset="0"/>
              </a:rPr>
              <a:t>特种胶</a:t>
            </a:r>
            <a:r>
              <a:rPr lang="zh-CN" altLang="en-US" dirty="0">
                <a:latin typeface="Times New Roman" panose="02020603050405020304" pitchFamily="18" charset="0"/>
              </a:rPr>
              <a:t>三类。</a:t>
            </a:r>
            <a:endParaRPr lang="zh-CN" altLang="en-US" dirty="0">
              <a:latin typeface="Times New Roman" panose="02020603050405020304" pitchFamily="18" charset="0"/>
            </a:endParaRPr>
          </a:p>
        </p:txBody>
      </p:sp>
      <p:sp>
        <p:nvSpPr>
          <p:cNvPr id="20493" name="TextBox 15"/>
          <p:cNvSpPr txBox="1"/>
          <p:nvPr/>
        </p:nvSpPr>
        <p:spPr>
          <a:xfrm>
            <a:off x="500063" y="2000250"/>
            <a:ext cx="8072437" cy="938213"/>
          </a:xfrm>
          <a:prstGeom prst="rect">
            <a:avLst/>
          </a:prstGeom>
          <a:noFill/>
          <a:ln w="9525">
            <a:noFill/>
          </a:ln>
        </p:spPr>
        <p:txBody>
          <a:bodyPr>
            <a:spAutoFit/>
          </a:bodyPr>
          <a:p>
            <a:pPr>
              <a:lnSpc>
                <a:spcPts val="3500"/>
              </a:lnSpc>
              <a:buClr>
                <a:schemeClr val="accent2"/>
              </a:buClr>
              <a:buSzPct val="75000"/>
              <a:buFont typeface="Monotype Sorts" pitchFamily="2" charset="2"/>
            </a:pPr>
            <a:r>
              <a:rPr lang="zh-CN" altLang="en-US" dirty="0">
                <a:latin typeface="华文中宋" panose="02010600040101010101" pitchFamily="2" charset="-122"/>
              </a:rPr>
              <a:t>      在机械制造中常用的是结构胶黏剂中的</a:t>
            </a:r>
            <a:r>
              <a:rPr lang="zh-CN" altLang="en-US" dirty="0">
                <a:solidFill>
                  <a:srgbClr val="00B050"/>
                </a:solidFill>
                <a:latin typeface="华文中宋" panose="02010600040101010101" pitchFamily="2" charset="-122"/>
              </a:rPr>
              <a:t>环氧树脂胶黏剂</a:t>
            </a:r>
            <a:r>
              <a:rPr lang="zh-CN" altLang="en-US" dirty="0">
                <a:latin typeface="华文中宋" panose="02010600040101010101" pitchFamily="2" charset="-122"/>
              </a:rPr>
              <a:t>、</a:t>
            </a:r>
            <a:r>
              <a:rPr lang="zh-CN" altLang="en-US" dirty="0">
                <a:solidFill>
                  <a:srgbClr val="00B050"/>
                </a:solidFill>
                <a:latin typeface="华文中宋" panose="02010600040101010101" pitchFamily="2" charset="-122"/>
              </a:rPr>
              <a:t>酚醛树脂胶黏剂等。</a:t>
            </a:r>
            <a:endParaRPr lang="zh-CN" altLang="en-US" dirty="0">
              <a:solidFill>
                <a:srgbClr val="00B050"/>
              </a:solidFill>
              <a:latin typeface="Times New Roman" panose="02020603050405020304" pitchFamily="18" charset="0"/>
            </a:endParaRPr>
          </a:p>
        </p:txBody>
      </p:sp>
      <p:sp>
        <p:nvSpPr>
          <p:cNvPr id="20494" name="TextBox 16"/>
          <p:cNvSpPr txBox="1"/>
          <p:nvPr/>
        </p:nvSpPr>
        <p:spPr>
          <a:xfrm>
            <a:off x="928688" y="2928938"/>
            <a:ext cx="7704137" cy="400050"/>
          </a:xfrm>
          <a:prstGeom prst="rect">
            <a:avLst/>
          </a:prstGeom>
          <a:noFill/>
          <a:ln w="9525">
            <a:noFill/>
          </a:ln>
        </p:spPr>
        <p:txBody>
          <a:bodyPr wrap="none">
            <a:spAutoFit/>
          </a:bodyPr>
          <a:p>
            <a:r>
              <a:rPr lang="zh-CN" altLang="en-US" dirty="0">
                <a:latin typeface="华文中宋" panose="02010600040101010101" pitchFamily="2" charset="-122"/>
              </a:rPr>
              <a:t> 根据胶接件的使用要求及环境条件等选择综合性能良好的胶黏剂。</a:t>
            </a:r>
            <a:endParaRPr lang="zh-CN" altLang="en-US" dirty="0">
              <a:latin typeface="Times New Roman" panose="02020603050405020304" pitchFamily="18" charset="0"/>
            </a:endParaRPr>
          </a:p>
        </p:txBody>
      </p:sp>
      <p:sp>
        <p:nvSpPr>
          <p:cNvPr id="20495" name="TextBox 17"/>
          <p:cNvSpPr txBox="1"/>
          <p:nvPr/>
        </p:nvSpPr>
        <p:spPr>
          <a:xfrm>
            <a:off x="857250" y="3500438"/>
            <a:ext cx="3775075" cy="400050"/>
          </a:xfrm>
          <a:prstGeom prst="rect">
            <a:avLst/>
          </a:prstGeom>
          <a:noFill/>
          <a:ln w="9525">
            <a:noFill/>
          </a:ln>
        </p:spPr>
        <p:txBody>
          <a:bodyPr wrap="none">
            <a:spAutoFit/>
          </a:bodyPr>
          <a:p>
            <a:r>
              <a:rPr lang="zh-CN" altLang="en-US" dirty="0">
                <a:solidFill>
                  <a:srgbClr val="C00000"/>
                </a:solidFill>
                <a:latin typeface="Times New Roman" panose="02020603050405020304" pitchFamily="18" charset="0"/>
              </a:rPr>
              <a:t>（四）胶接工艺中应注意的事项</a:t>
            </a:r>
            <a:endParaRPr lang="zh-CN" altLang="en-US" dirty="0">
              <a:solidFill>
                <a:srgbClr val="C00000"/>
              </a:solidFill>
              <a:latin typeface="Times New Roman" panose="02020603050405020304" pitchFamily="18" charset="0"/>
            </a:endParaRPr>
          </a:p>
        </p:txBody>
      </p:sp>
      <p:sp>
        <p:nvSpPr>
          <p:cNvPr id="20496" name="TextBox 28"/>
          <p:cNvSpPr txBox="1"/>
          <p:nvPr/>
        </p:nvSpPr>
        <p:spPr>
          <a:xfrm>
            <a:off x="571500" y="3929063"/>
            <a:ext cx="8001000" cy="2400300"/>
          </a:xfrm>
          <a:prstGeom prst="rect">
            <a:avLst/>
          </a:prstGeom>
          <a:noFill/>
          <a:ln w="9525">
            <a:noFill/>
          </a:ln>
        </p:spPr>
        <p:txBody>
          <a:bodyPr>
            <a:spAutoFit/>
          </a:bodyPr>
          <a:p>
            <a:pPr>
              <a:lnSpc>
                <a:spcPts val="3000"/>
              </a:lnSpc>
            </a:pPr>
            <a:r>
              <a:rPr lang="zh-CN" altLang="en-US" dirty="0">
                <a:latin typeface="Times New Roman" panose="02020603050405020304" pitchFamily="18" charset="0"/>
              </a:rPr>
              <a:t>        胶接前应对表面进行热处理，做到没有脂、油、氧化皮或其它残留物。机械处理方法有刮削、车削、纱布打磨、喷砂等；化学处理方法有：用有机溶剂脱脂、酸洗、浸蚀等。表面粗糙的、经阳极氧化处理的（轻金属）胶接件，胶接强度更高。如胶接件为钢，经酸洗处理的比用蒸汽脱脂的可提高强度约</a:t>
            </a:r>
            <a:r>
              <a:rPr lang="en-US" altLang="zh-CN" dirty="0">
                <a:latin typeface="Times New Roman" panose="02020603050405020304" pitchFamily="18" charset="0"/>
              </a:rPr>
              <a:t>50%</a:t>
            </a:r>
            <a:r>
              <a:rPr lang="zh-CN" altLang="en-US" dirty="0">
                <a:latin typeface="Times New Roman" panose="02020603050405020304" pitchFamily="18" charset="0"/>
              </a:rPr>
              <a:t>。胶接接头的强度还与固化温度、压力和时间有关。</a:t>
            </a:r>
            <a:endParaRPr lang="zh-CN" altLang="en-US"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1240"/>
                                        </p:tgtEl>
                                        <p:attrNameLst>
                                          <p:attrName>style.visibility</p:attrName>
                                        </p:attrNameLst>
                                      </p:cBhvr>
                                      <p:to>
                                        <p:strVal val="visible"/>
                                      </p:to>
                                    </p:set>
                                    <p:anim calcmode="lin" valueType="num">
                                      <p:cBhvr additive="base">
                                        <p:cTn id="7" dur="500" fill="hold"/>
                                        <p:tgtEl>
                                          <p:spTgt spid="51240"/>
                                        </p:tgtEl>
                                        <p:attrNameLst>
                                          <p:attrName>ppt_x</p:attrName>
                                        </p:attrNameLst>
                                      </p:cBhvr>
                                      <p:tavLst>
                                        <p:tav tm="0">
                                          <p:val>
                                            <p:strVal val="0-#ppt_w/2"/>
                                          </p:val>
                                        </p:tav>
                                        <p:tav tm="100000">
                                          <p:val>
                                            <p:strVal val="#ppt_x"/>
                                          </p:val>
                                        </p:tav>
                                      </p:tavLst>
                                    </p:anim>
                                    <p:anim calcmode="lin" valueType="num">
                                      <p:cBhvr additive="base">
                                        <p:cTn id="8" dur="500" fill="hold"/>
                                        <p:tgtEl>
                                          <p:spTgt spid="5124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20491"/>
                                        </p:tgtEl>
                                        <p:attrNameLst>
                                          <p:attrName>style.visibility</p:attrName>
                                        </p:attrNameLst>
                                      </p:cBhvr>
                                      <p:to>
                                        <p:strVal val="visible"/>
                                      </p:to>
                                    </p:set>
                                    <p:animEffect transition="in" filter="wipe(left)">
                                      <p:cBhvr>
                                        <p:cTn id="13" dur="500"/>
                                        <p:tgtEl>
                                          <p:spTgt spid="2049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20492"/>
                                        </p:tgtEl>
                                        <p:attrNameLst>
                                          <p:attrName>style.visibility</p:attrName>
                                        </p:attrNameLst>
                                      </p:cBhvr>
                                      <p:to>
                                        <p:strVal val="visible"/>
                                      </p:to>
                                    </p:set>
                                    <p:animEffect transition="in" filter="wipe(left)">
                                      <p:cBhvr>
                                        <p:cTn id="18" dur="500"/>
                                        <p:tgtEl>
                                          <p:spTgt spid="2049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20493"/>
                                        </p:tgtEl>
                                        <p:attrNameLst>
                                          <p:attrName>style.visibility</p:attrName>
                                        </p:attrNameLst>
                                      </p:cBhvr>
                                      <p:to>
                                        <p:strVal val="visible"/>
                                      </p:to>
                                    </p:set>
                                    <p:animEffect transition="in" filter="wipe(left)">
                                      <p:cBhvr>
                                        <p:cTn id="23" dur="500"/>
                                        <p:tgtEl>
                                          <p:spTgt spid="20493"/>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20494"/>
                                        </p:tgtEl>
                                        <p:attrNameLst>
                                          <p:attrName>style.visibility</p:attrName>
                                        </p:attrNameLst>
                                      </p:cBhvr>
                                      <p:to>
                                        <p:strVal val="visible"/>
                                      </p:to>
                                    </p:set>
                                    <p:animEffect transition="in" filter="wipe(left)">
                                      <p:cBhvr>
                                        <p:cTn id="26" dur="500"/>
                                        <p:tgtEl>
                                          <p:spTgt spid="20494"/>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20495"/>
                                        </p:tgtEl>
                                        <p:attrNameLst>
                                          <p:attrName>style.visibility</p:attrName>
                                        </p:attrNameLst>
                                      </p:cBhvr>
                                      <p:to>
                                        <p:strVal val="visible"/>
                                      </p:to>
                                    </p:set>
                                    <p:animEffect transition="in" filter="wipe(left)">
                                      <p:cBhvr>
                                        <p:cTn id="31" dur="500"/>
                                        <p:tgtEl>
                                          <p:spTgt spid="20495"/>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20496"/>
                                        </p:tgtEl>
                                        <p:attrNameLst>
                                          <p:attrName>style.visibility</p:attrName>
                                        </p:attrNameLst>
                                      </p:cBhvr>
                                      <p:to>
                                        <p:strVal val="visible"/>
                                      </p:to>
                                    </p:set>
                                    <p:animEffect transition="in" filter="wipe(left)">
                                      <p:cBhvr>
                                        <p:cTn id="36" dur="500"/>
                                        <p:tgtEl>
                                          <p:spTgt spid="204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40" grpId="0"/>
      <p:bldP spid="20491" grpId="0"/>
      <p:bldP spid="20492" grpId="0"/>
      <p:bldP spid="20493" grpId="0"/>
      <p:bldP spid="20494" grpId="0"/>
      <p:bldP spid="20495" grpId="0"/>
      <p:bldP spid="20496" grpId="0"/>
    </p:bldLst>
  </p:timing>
</p:sld>
</file>

<file path=ppt/tags/tag1.xml><?xml version="1.0" encoding="utf-8"?>
<p:tagLst xmlns:p="http://schemas.openxmlformats.org/presentationml/2006/main">
  <p:tag name="KSO_WPP_MARK_KEY" val="de519880-0d9a-4294-a458-21ac63cdf00e"/>
  <p:tag name="COMMONDATA" val="eyJoZGlkIjoiZmYwY2UxNzI0ODdjMTkzYTM2NmQ4OTdkNGYwMzJlYmMifQ=="/>
</p:tagLst>
</file>

<file path=ppt/theme/theme1.xml><?xml version="1.0" encoding="utf-8"?>
<a:theme xmlns:a="http://schemas.openxmlformats.org/drawingml/2006/main" name="Blueprint">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0000FF"/>
      </a:hlink>
      <a:folHlink>
        <a:srgbClr val="3333FF"/>
      </a:folHlink>
    </a:clrScheme>
    <a:fontScheme name="Blueprint">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Designs\Blueprint.pot</Template>
  <TotalTime>0</TotalTime>
  <Words>3167</Words>
  <Application>WPS 演示</Application>
  <PresentationFormat>全屏显示(4:3)</PresentationFormat>
  <Paragraphs>319</Paragraphs>
  <Slides>20</Slides>
  <Notes>0</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0</vt:i4>
      </vt:variant>
      <vt:variant>
        <vt:lpstr>幻灯片标题</vt:lpstr>
      </vt:variant>
      <vt:variant>
        <vt:i4>20</vt:i4>
      </vt:variant>
    </vt:vector>
  </HeadingPairs>
  <TitlesOfParts>
    <vt:vector size="35" baseType="lpstr">
      <vt:lpstr>Arial</vt:lpstr>
      <vt:lpstr>宋体</vt:lpstr>
      <vt:lpstr>Wingdings</vt:lpstr>
      <vt:lpstr>Times New Roman</vt:lpstr>
      <vt:lpstr>华文中宋</vt:lpstr>
      <vt:lpstr>Tahoma</vt:lpstr>
      <vt:lpstr>黑体</vt:lpstr>
      <vt:lpstr>Monotype Sorts</vt:lpstr>
      <vt:lpstr>Wingdings</vt:lpstr>
      <vt:lpstr>Calibri</vt:lpstr>
      <vt:lpstr>微软雅黑</vt:lpstr>
      <vt:lpstr>Arial Unicode MS</vt:lpstr>
      <vt:lpstr>华光超粗黑_CNKI</vt:lpstr>
      <vt:lpstr>华光广告_CNKI</vt:lpstr>
      <vt:lpstr>Blueprint</vt:lpstr>
      <vt:lpstr>第3.13章 焊接、铆接、胶接</vt:lpstr>
      <vt:lpstr>焊接1</vt:lpstr>
      <vt:lpstr>焊接1</vt:lpstr>
      <vt:lpstr>焊接2</vt:lpstr>
      <vt:lpstr>焊接2</vt:lpstr>
      <vt:lpstr>焊接2</vt:lpstr>
      <vt:lpstr>焊接2</vt:lpstr>
      <vt:lpstr>焊接2</vt:lpstr>
      <vt:lpstr>焊接2</vt:lpstr>
      <vt:lpstr>焊接2</vt:lpstr>
      <vt:lpstr>焊接2</vt:lpstr>
      <vt:lpstr>焊接2</vt:lpstr>
      <vt:lpstr>焊接2</vt:lpstr>
      <vt:lpstr>焊接2</vt:lpstr>
      <vt:lpstr>焊接2</vt:lpstr>
      <vt:lpstr>焊接2</vt:lpstr>
      <vt:lpstr>胶接2</vt:lpstr>
      <vt:lpstr>焊接2</vt:lpstr>
      <vt:lpstr>焊接2</vt:lpstr>
      <vt:lpstr>焊接2</vt:lpstr>
    </vt:vector>
  </TitlesOfParts>
  <Company>nwpu209</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wuliyan</dc:creator>
  <cp:lastModifiedBy>21092</cp:lastModifiedBy>
  <cp:revision>365</cp:revision>
  <dcterms:created xsi:type="dcterms:W3CDTF">2002-03-15T12:39:00Z</dcterms:created>
  <dcterms:modified xsi:type="dcterms:W3CDTF">2022-11-14T12:49:22Z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31B4B16368264C9EBDEA322D25209673</vt:lpwstr>
  </property>
  <property fmtid="{D5CDD505-2E9C-101B-9397-08002B2CF9AE}" pid="3" name="KSOProductBuildVer">
    <vt:lpwstr>2052-11.1.0.12763</vt:lpwstr>
  </property>
</Properties>
</file>