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av" ContentType="audio/x-wav"/>
  <Default Extension="png" ContentType="image/png"/>
  <Default Extension="wmf" ContentType="image/x-wmf"/>
  <Default Extension="emf" ContentType="image/x-emf"/>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sldIdLst>
    <p:sldId id="500" r:id="rId3"/>
    <p:sldId id="256" r:id="rId4"/>
    <p:sldId id="303" r:id="rId5"/>
    <p:sldId id="304" r:id="rId6"/>
    <p:sldId id="305" r:id="rId7"/>
    <p:sldId id="306" r:id="rId8"/>
    <p:sldId id="409" r:id="rId9"/>
    <p:sldId id="307" r:id="rId10"/>
    <p:sldId id="309" r:id="rId12"/>
    <p:sldId id="310" r:id="rId13"/>
    <p:sldId id="311" r:id="rId14"/>
    <p:sldId id="272" r:id="rId15"/>
    <p:sldId id="312" r:id="rId16"/>
    <p:sldId id="313" r:id="rId17"/>
    <p:sldId id="683" r:id="rId18"/>
    <p:sldId id="684" r:id="rId19"/>
    <p:sldId id="314" r:id="rId20"/>
    <p:sldId id="315" r:id="rId21"/>
    <p:sldId id="259" r:id="rId22"/>
    <p:sldId id="317" r:id="rId23"/>
    <p:sldId id="318" r:id="rId24"/>
    <p:sldId id="319" r:id="rId25"/>
    <p:sldId id="323" r:id="rId26"/>
    <p:sldId id="321" r:id="rId27"/>
    <p:sldId id="322" r:id="rId28"/>
    <p:sldId id="324" r:id="rId29"/>
    <p:sldId id="325" r:id="rId30"/>
    <p:sldId id="326" r:id="rId31"/>
    <p:sldId id="331" r:id="rId32"/>
    <p:sldId id="327" r:id="rId33"/>
    <p:sldId id="328" r:id="rId34"/>
    <p:sldId id="329" r:id="rId35"/>
    <p:sldId id="340" r:id="rId36"/>
    <p:sldId id="334" r:id="rId37"/>
    <p:sldId id="335" r:id="rId38"/>
    <p:sldId id="336" r:id="rId39"/>
    <p:sldId id="262" r:id="rId40"/>
    <p:sldId id="287" r:id="rId41"/>
    <p:sldId id="344" r:id="rId42"/>
    <p:sldId id="602" r:id="rId43"/>
    <p:sldId id="288" r:id="rId44"/>
    <p:sldId id="362" r:id="rId45"/>
    <p:sldId id="333" r:id="rId46"/>
    <p:sldId id="405" r:id="rId47"/>
    <p:sldId id="406" r:id="rId48"/>
    <p:sldId id="407" r:id="rId49"/>
    <p:sldId id="337" r:id="rId50"/>
    <p:sldId id="338" r:id="rId51"/>
    <p:sldId id="610" r:id="rId52"/>
    <p:sldId id="345" r:id="rId53"/>
    <p:sldId id="346" r:id="rId54"/>
    <p:sldId id="365" r:id="rId55"/>
    <p:sldId id="366" r:id="rId56"/>
    <p:sldId id="367" r:id="rId57"/>
    <p:sldId id="368" r:id="rId58"/>
    <p:sldId id="348" r:id="rId59"/>
    <p:sldId id="349" r:id="rId60"/>
    <p:sldId id="266" r:id="rId61"/>
    <p:sldId id="347" r:id="rId62"/>
    <p:sldId id="604" r:id="rId63"/>
    <p:sldId id="352" r:id="rId64"/>
    <p:sldId id="353" r:id="rId65"/>
    <p:sldId id="354" r:id="rId66"/>
    <p:sldId id="355" r:id="rId67"/>
    <p:sldId id="356" r:id="rId68"/>
    <p:sldId id="268" r:id="rId69"/>
    <p:sldId id="612" r:id="rId70"/>
    <p:sldId id="351" r:id="rId71"/>
    <p:sldId id="359" r:id="rId72"/>
    <p:sldId id="269" r:id="rId73"/>
    <p:sldId id="605" r:id="rId74"/>
    <p:sldId id="606" r:id="rId75"/>
    <p:sldId id="607" r:id="rId76"/>
    <p:sldId id="270" r:id="rId77"/>
    <p:sldId id="275" r:id="rId78"/>
    <p:sldId id="276" r:id="rId79"/>
    <p:sldId id="284" r:id="rId80"/>
    <p:sldId id="285" r:id="rId81"/>
    <p:sldId id="274" r:id="rId82"/>
    <p:sldId id="672" r:id="rId83"/>
    <p:sldId id="410" r:id="rId84"/>
    <p:sldId id="411" r:id="rId85"/>
    <p:sldId id="412" r:id="rId86"/>
    <p:sldId id="774" r:id="rId87"/>
    <p:sldId id="797" r:id="rId88"/>
    <p:sldId id="822" r:id="rId89"/>
    <p:sldId id="823" r:id="rId90"/>
    <p:sldId id="824" r:id="rId91"/>
    <p:sldId id="821" r:id="rId92"/>
    <p:sldId id="825" r:id="rId93"/>
    <p:sldId id="826" r:id="rId94"/>
    <p:sldId id="413" r:id="rId95"/>
    <p:sldId id="414" r:id="rId96"/>
    <p:sldId id="415" r:id="rId97"/>
    <p:sldId id="773" r:id="rId98"/>
    <p:sldId id="416" r:id="rId99"/>
    <p:sldId id="417" r:id="rId100"/>
    <p:sldId id="418" r:id="rId101"/>
    <p:sldId id="419" r:id="rId102"/>
    <p:sldId id="784" r:id="rId103"/>
    <p:sldId id="785" r:id="rId104"/>
    <p:sldId id="786" r:id="rId105"/>
    <p:sldId id="787" r:id="rId106"/>
    <p:sldId id="788" r:id="rId107"/>
    <p:sldId id="789" r:id="rId108"/>
    <p:sldId id="790" r:id="rId109"/>
    <p:sldId id="791" r:id="rId110"/>
    <p:sldId id="792" r:id="rId111"/>
    <p:sldId id="793" r:id="rId112"/>
    <p:sldId id="794" r:id="rId113"/>
    <p:sldId id="795" r:id="rId114"/>
    <p:sldId id="796" r:id="rId115"/>
  </p:sldIdLst>
  <p:sldSz cx="9144000" cy="6858000" type="screen4x3"/>
  <p:notesSz cx="6858000" cy="9144000"/>
  <p:custDataLst>
    <p:tags r:id="rId119"/>
  </p:custDataLst>
  <p:defaultTextStyle>
    <a:defPPr>
      <a:defRPr lang="zh-CN"/>
    </a:defPPr>
    <a:lvl1pPr algn="l" rtl="0" fontAlgn="base">
      <a:spcBef>
        <a:spcPct val="0"/>
      </a:spcBef>
      <a:spcAft>
        <a:spcPct val="0"/>
      </a:spcAft>
      <a:defRPr kumimoji="1" sz="2000" kern="1200">
        <a:solidFill>
          <a:srgbClr val="000099"/>
        </a:solidFill>
        <a:latin typeface="Times New Roman" panose="02020603050405020304" pitchFamily="18" charset="0"/>
        <a:ea typeface="华文中宋" panose="02010600040101010101" pitchFamily="2" charset="-122"/>
        <a:cs typeface="+mn-cs"/>
      </a:defRPr>
    </a:lvl1pPr>
    <a:lvl2pPr marL="457200" algn="l" rtl="0" fontAlgn="base">
      <a:spcBef>
        <a:spcPct val="0"/>
      </a:spcBef>
      <a:spcAft>
        <a:spcPct val="0"/>
      </a:spcAft>
      <a:defRPr kumimoji="1" sz="2000" kern="1200">
        <a:solidFill>
          <a:srgbClr val="000099"/>
        </a:solidFill>
        <a:latin typeface="Times New Roman" panose="02020603050405020304" pitchFamily="18" charset="0"/>
        <a:ea typeface="华文中宋" panose="02010600040101010101" pitchFamily="2" charset="-122"/>
        <a:cs typeface="+mn-cs"/>
      </a:defRPr>
    </a:lvl2pPr>
    <a:lvl3pPr marL="914400" algn="l" rtl="0" fontAlgn="base">
      <a:spcBef>
        <a:spcPct val="0"/>
      </a:spcBef>
      <a:spcAft>
        <a:spcPct val="0"/>
      </a:spcAft>
      <a:defRPr kumimoji="1" sz="2000" kern="1200">
        <a:solidFill>
          <a:srgbClr val="000099"/>
        </a:solidFill>
        <a:latin typeface="Times New Roman" panose="02020603050405020304" pitchFamily="18" charset="0"/>
        <a:ea typeface="华文中宋" panose="02010600040101010101" pitchFamily="2" charset="-122"/>
        <a:cs typeface="+mn-cs"/>
      </a:defRPr>
    </a:lvl3pPr>
    <a:lvl4pPr marL="1371600" algn="l" rtl="0" fontAlgn="base">
      <a:spcBef>
        <a:spcPct val="0"/>
      </a:spcBef>
      <a:spcAft>
        <a:spcPct val="0"/>
      </a:spcAft>
      <a:defRPr kumimoji="1" sz="2000" kern="1200">
        <a:solidFill>
          <a:srgbClr val="000099"/>
        </a:solidFill>
        <a:latin typeface="Times New Roman" panose="02020603050405020304" pitchFamily="18" charset="0"/>
        <a:ea typeface="华文中宋" panose="02010600040101010101" pitchFamily="2" charset="-122"/>
        <a:cs typeface="+mn-cs"/>
      </a:defRPr>
    </a:lvl4pPr>
    <a:lvl5pPr marL="1828800" algn="l" rtl="0" fontAlgn="base">
      <a:spcBef>
        <a:spcPct val="0"/>
      </a:spcBef>
      <a:spcAft>
        <a:spcPct val="0"/>
      </a:spcAft>
      <a:defRPr kumimoji="1" sz="2000" kern="1200">
        <a:solidFill>
          <a:srgbClr val="000099"/>
        </a:solidFill>
        <a:latin typeface="Times New Roman" panose="02020603050405020304" pitchFamily="18" charset="0"/>
        <a:ea typeface="华文中宋" panose="02010600040101010101" pitchFamily="2" charset="-122"/>
        <a:cs typeface="+mn-cs"/>
      </a:defRPr>
    </a:lvl5pPr>
    <a:lvl6pPr marL="2286000" algn="l" defTabSz="914400" rtl="0" eaLnBrk="1" latinLnBrk="0" hangingPunct="1">
      <a:defRPr kumimoji="1" sz="2000" kern="1200">
        <a:solidFill>
          <a:srgbClr val="000099"/>
        </a:solidFill>
        <a:latin typeface="Times New Roman" panose="02020603050405020304" pitchFamily="18" charset="0"/>
        <a:ea typeface="华文中宋" panose="02010600040101010101" pitchFamily="2" charset="-122"/>
        <a:cs typeface="+mn-cs"/>
      </a:defRPr>
    </a:lvl6pPr>
    <a:lvl7pPr marL="2743200" algn="l" defTabSz="914400" rtl="0" eaLnBrk="1" latinLnBrk="0" hangingPunct="1">
      <a:defRPr kumimoji="1" sz="2000" kern="1200">
        <a:solidFill>
          <a:srgbClr val="000099"/>
        </a:solidFill>
        <a:latin typeface="Times New Roman" panose="02020603050405020304" pitchFamily="18" charset="0"/>
        <a:ea typeface="华文中宋" panose="02010600040101010101" pitchFamily="2" charset="-122"/>
        <a:cs typeface="+mn-cs"/>
      </a:defRPr>
    </a:lvl7pPr>
    <a:lvl8pPr marL="3200400" algn="l" defTabSz="914400" rtl="0" eaLnBrk="1" latinLnBrk="0" hangingPunct="1">
      <a:defRPr kumimoji="1" sz="2000" kern="1200">
        <a:solidFill>
          <a:srgbClr val="000099"/>
        </a:solidFill>
        <a:latin typeface="Times New Roman" panose="02020603050405020304" pitchFamily="18" charset="0"/>
        <a:ea typeface="华文中宋" panose="02010600040101010101" pitchFamily="2" charset="-122"/>
        <a:cs typeface="+mn-cs"/>
      </a:defRPr>
    </a:lvl8pPr>
    <a:lvl9pPr marL="3657600" algn="l" defTabSz="914400" rtl="0" eaLnBrk="1" latinLnBrk="0" hangingPunct="1">
      <a:defRPr kumimoji="1" sz="2000" kern="1200">
        <a:solidFill>
          <a:srgbClr val="000099"/>
        </a:solidFill>
        <a:latin typeface="Times New Roman" panose="02020603050405020304" pitchFamily="18" charset="0"/>
        <a:ea typeface="华文中宋" panose="02010600040101010101" pitchFamily="2" charset="-122"/>
        <a:cs typeface="+mn-cs"/>
      </a:defRPr>
    </a:lvl9pPr>
  </p:defaultTextStyle>
  <p:extLst>
    <p:ext uri="{521415D9-36F7-43E2-AB2F-B90AF26B5E84}">
      <p14:sectionLst xmlns:p14="http://schemas.microsoft.com/office/powerpoint/2010/main">
        <p14:section name="默认节" id="{8191E755-327F-492C-9679-A0D42F2DCD7A}">
          <p14:sldIdLst>
            <p14:sldId id="500"/>
            <p14:sldId id="256"/>
            <p14:sldId id="303"/>
            <p14:sldId id="304"/>
            <p14:sldId id="305"/>
            <p14:sldId id="306"/>
            <p14:sldId id="409"/>
            <p14:sldId id="307"/>
            <p14:sldId id="309"/>
            <p14:sldId id="310"/>
            <p14:sldId id="311"/>
            <p14:sldId id="272"/>
            <p14:sldId id="312"/>
            <p14:sldId id="313"/>
            <p14:sldId id="683"/>
            <p14:sldId id="684"/>
            <p14:sldId id="314"/>
            <p14:sldId id="315"/>
            <p14:sldId id="259"/>
            <p14:sldId id="317"/>
            <p14:sldId id="318"/>
            <p14:sldId id="319"/>
            <p14:sldId id="323"/>
            <p14:sldId id="321"/>
            <p14:sldId id="322"/>
            <p14:sldId id="324"/>
            <p14:sldId id="325"/>
            <p14:sldId id="326"/>
            <p14:sldId id="331"/>
            <p14:sldId id="327"/>
            <p14:sldId id="328"/>
            <p14:sldId id="329"/>
            <p14:sldId id="340"/>
            <p14:sldId id="334"/>
            <p14:sldId id="335"/>
            <p14:sldId id="336"/>
            <p14:sldId id="262"/>
            <p14:sldId id="287"/>
            <p14:sldId id="344"/>
            <p14:sldId id="602"/>
            <p14:sldId id="288"/>
            <p14:sldId id="362"/>
            <p14:sldId id="333"/>
            <p14:sldId id="405"/>
            <p14:sldId id="406"/>
            <p14:sldId id="407"/>
            <p14:sldId id="337"/>
            <p14:sldId id="338"/>
            <p14:sldId id="610"/>
            <p14:sldId id="345"/>
            <p14:sldId id="346"/>
            <p14:sldId id="365"/>
            <p14:sldId id="366"/>
            <p14:sldId id="367"/>
            <p14:sldId id="368"/>
            <p14:sldId id="348"/>
            <p14:sldId id="349"/>
            <p14:sldId id="266"/>
            <p14:sldId id="347"/>
            <p14:sldId id="604"/>
            <p14:sldId id="352"/>
            <p14:sldId id="353"/>
            <p14:sldId id="354"/>
            <p14:sldId id="355"/>
            <p14:sldId id="356"/>
          </p14:sldIdLst>
        </p14:section>
        <p14:section name="无标题节" id="{4A4ADF92-8F0B-4C4E-A8C8-E99A4F566435}">
          <p14:sldIdLst>
            <p14:sldId id="268"/>
            <p14:sldId id="612"/>
            <p14:sldId id="351"/>
            <p14:sldId id="359"/>
            <p14:sldId id="269"/>
            <p14:sldId id="605"/>
            <p14:sldId id="606"/>
            <p14:sldId id="607"/>
            <p14:sldId id="270"/>
            <p14:sldId id="275"/>
            <p14:sldId id="276"/>
            <p14:sldId id="284"/>
            <p14:sldId id="285"/>
            <p14:sldId id="274"/>
            <p14:sldId id="672"/>
            <p14:sldId id="410"/>
            <p14:sldId id="411"/>
            <p14:sldId id="412"/>
            <p14:sldId id="774"/>
            <p14:sldId id="797"/>
            <p14:sldId id="822"/>
            <p14:sldId id="823"/>
            <p14:sldId id="824"/>
            <p14:sldId id="821"/>
            <p14:sldId id="825"/>
            <p14:sldId id="826"/>
            <p14:sldId id="413"/>
            <p14:sldId id="414"/>
            <p14:sldId id="415"/>
            <p14:sldId id="773"/>
            <p14:sldId id="416"/>
            <p14:sldId id="417"/>
            <p14:sldId id="418"/>
            <p14:sldId id="419"/>
            <p14:sldId id="784"/>
            <p14:sldId id="785"/>
            <p14:sldId id="786"/>
            <p14:sldId id="787"/>
            <p14:sldId id="788"/>
            <p14:sldId id="789"/>
            <p14:sldId id="790"/>
            <p14:sldId id="791"/>
            <p14:sldId id="792"/>
            <p14:sldId id="793"/>
            <p14:sldId id="794"/>
            <p14:sldId id="795"/>
            <p14:sldId id="796"/>
          </p14:sldIdLst>
        </p14:section>
      </p14:sectionLst>
    </p:ext>
    <p:ext uri="{EFAFB233-063F-42B5-8137-9DF3F51BA10A}">
      <p15:sldGuideLst xmlns:p15="http://schemas.microsoft.com/office/powerpoint/2012/main">
        <p15:guide id="1" orient="horz" pos="2200" userDrawn="1">
          <p15:clr>
            <a:srgbClr val="A4A3A4"/>
          </p15:clr>
        </p15:guide>
        <p15:guide id="2" pos="282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0099"/>
    <a:srgbClr val="CC3300"/>
    <a:srgbClr val="FF0066"/>
    <a:srgbClr val="FF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7774" autoAdjust="0"/>
  </p:normalViewPr>
  <p:slideViewPr>
    <p:cSldViewPr snapToGrid="0" showGuides="1">
      <p:cViewPr varScale="1">
        <p:scale>
          <a:sx n="70" d="100"/>
          <a:sy n="70" d="100"/>
        </p:scale>
        <p:origin x="524" y="56"/>
      </p:cViewPr>
      <p:guideLst>
        <p:guide orient="horz" pos="2200"/>
        <p:guide pos="2825"/>
      </p:guideLst>
    </p:cSldViewPr>
  </p:slideViewPr>
  <p:outlineViewPr>
    <p:cViewPr>
      <p:scale>
        <a:sx n="25" d="100"/>
        <a:sy n="25"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7.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6.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5.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9" Type="http://schemas.openxmlformats.org/officeDocument/2006/relationships/tags" Target="tags/tag4.xml"/><Relationship Id="rId118" Type="http://schemas.openxmlformats.org/officeDocument/2006/relationships/tableStyles" Target="tableStyles.xml"/><Relationship Id="rId117" Type="http://schemas.openxmlformats.org/officeDocument/2006/relationships/viewProps" Target="viewProps.xml"/><Relationship Id="rId116" Type="http://schemas.openxmlformats.org/officeDocument/2006/relationships/presProps" Target="presProps.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notesMaster" Target="notesMasters/notesMaster1.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image" Target="../media/image16.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0.png"/></Relationships>
</file>

<file path=ppt/drawings/_rels/vmlDrawing5.vml.rels><?xml version="1.0" encoding="UTF-8" standalone="yes"?>
<Relationships xmlns="http://schemas.openxmlformats.org/package/2006/relationships"><Relationship Id="rId2" Type="http://schemas.openxmlformats.org/officeDocument/2006/relationships/image" Target="../media/image43.emf"/><Relationship Id="rId1" Type="http://schemas.openxmlformats.org/officeDocument/2006/relationships/image" Target="../media/image42.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55.png"/></Relationships>
</file>

<file path=ppt/drawings/_rels/vmlDrawing7.vml.rels><?xml version="1.0" encoding="UTF-8" standalone="yes"?>
<Relationships xmlns="http://schemas.openxmlformats.org/package/2006/relationships"><Relationship Id="rId1" Type="http://schemas.openxmlformats.org/officeDocument/2006/relationships/image" Target="../media/image55.png"/></Relationships>
</file>

<file path=ppt/drawings/_rels/vmlDrawing8.vml.rels><?xml version="1.0" encoding="UTF-8" standalone="yes"?>
<Relationships xmlns="http://schemas.openxmlformats.org/package/2006/relationships"><Relationship Id="rId1" Type="http://schemas.openxmlformats.org/officeDocument/2006/relationships/image" Target="../media/image55.png"/></Relationships>
</file>

<file path=ppt/drawings/_rels/vmlDrawing9.vml.rels><?xml version="1.0" encoding="UTF-8" standalone="yes"?>
<Relationships xmlns="http://schemas.openxmlformats.org/package/2006/relationships"><Relationship Id="rId1" Type="http://schemas.openxmlformats.org/officeDocument/2006/relationships/image" Target="../media/image59.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78.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86.wmf"/><Relationship Id="rId1" Type="http://schemas.openxmlformats.org/officeDocument/2006/relationships/image" Target="../media/image85.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88.emf"/><Relationship Id="rId1" Type="http://schemas.openxmlformats.org/officeDocument/2006/relationships/image" Target="../media/image87.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89.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96.w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101.wmf"/><Relationship Id="rId1" Type="http://schemas.openxmlformats.org/officeDocument/2006/relationships/image" Target="../media/image100.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106.wmf"/><Relationship Id="rId2" Type="http://schemas.openxmlformats.org/officeDocument/2006/relationships/image" Target="../media/image105.wmf"/><Relationship Id="rId1" Type="http://schemas.openxmlformats.org/officeDocument/2006/relationships/image" Target="../media/image104.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109.wmf"/><Relationship Id="rId2" Type="http://schemas.openxmlformats.org/officeDocument/2006/relationships/image" Target="../media/image108.wmf"/><Relationship Id="rId1" Type="http://schemas.openxmlformats.org/officeDocument/2006/relationships/image" Target="../media/image107.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112.wmf"/><Relationship Id="rId2" Type="http://schemas.openxmlformats.org/officeDocument/2006/relationships/image" Target="../media/image111.wmf"/><Relationship Id="rId1" Type="http://schemas.openxmlformats.org/officeDocument/2006/relationships/image" Target="../media/image110.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115.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126.emf"/></Relationships>
</file>

<file path=ppt/drawings/_rels/vmlDrawing21.vml.rels><?xml version="1.0" encoding="UTF-8" standalone="yes"?>
<Relationships xmlns="http://schemas.openxmlformats.org/package/2006/relationships"><Relationship Id="rId4" Type="http://schemas.openxmlformats.org/officeDocument/2006/relationships/image" Target="../media/image132.wmf"/><Relationship Id="rId3" Type="http://schemas.openxmlformats.org/officeDocument/2006/relationships/image" Target="../media/image131.wmf"/><Relationship Id="rId2" Type="http://schemas.openxmlformats.org/officeDocument/2006/relationships/image" Target="../media/image130.wmf"/><Relationship Id="rId1" Type="http://schemas.openxmlformats.org/officeDocument/2006/relationships/image" Target="../media/image129.wmf"/></Relationships>
</file>

<file path=ppt/drawings/_rels/vmlDrawing22.vml.rels><?xml version="1.0" encoding="UTF-8" standalone="yes"?>
<Relationships xmlns="http://schemas.openxmlformats.org/package/2006/relationships"><Relationship Id="rId2" Type="http://schemas.openxmlformats.org/officeDocument/2006/relationships/image" Target="../media/image139.wmf"/><Relationship Id="rId1" Type="http://schemas.openxmlformats.org/officeDocument/2006/relationships/image" Target="../media/image138.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167.w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18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53E5C71A-F0D9-4F6F-9A76-85B897B0F81A}" type="datetimeFigureOut">
              <a:rPr lang="zh-CN" altLang="en-US"/>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smtClean="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noProof="0" smtClean="0"/>
              <a:t>单击此处编辑母版文本样式</a:t>
            </a:r>
            <a:endParaRPr lang="zh-CN" altLang="en-US" noProof="0" smtClean="0"/>
          </a:p>
          <a:p>
            <a:pPr lvl="1"/>
            <a:r>
              <a:rPr lang="zh-CN" altLang="en-US" noProof="0" smtClean="0"/>
              <a:t>第二级</a:t>
            </a:r>
            <a:endParaRPr lang="zh-CN" altLang="en-US" noProof="0" smtClean="0"/>
          </a:p>
          <a:p>
            <a:pPr lvl="2"/>
            <a:r>
              <a:rPr lang="zh-CN" altLang="en-US" noProof="0" smtClean="0"/>
              <a:t>第三级</a:t>
            </a:r>
            <a:endParaRPr lang="zh-CN" altLang="en-US" noProof="0" smtClean="0"/>
          </a:p>
          <a:p>
            <a:pPr lvl="3"/>
            <a:r>
              <a:rPr lang="zh-CN" altLang="en-US" noProof="0" smtClean="0"/>
              <a:t>第四级</a:t>
            </a:r>
            <a:endParaRPr lang="zh-CN" altLang="en-US" noProof="0" smtClean="0"/>
          </a:p>
          <a:p>
            <a:pPr lvl="4"/>
            <a:r>
              <a:rPr lang="zh-CN" altLang="en-US" noProof="0" smtClean="0"/>
              <a:t>第五级</a:t>
            </a:r>
            <a:endParaRPr lang="zh-CN" altLang="en-US" noProof="0" smtClean="0"/>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lstStyle>
            <a:lvl1pPr algn="r">
              <a:defRPr sz="1200"/>
            </a:lvl1pPr>
          </a:lstStyle>
          <a:p>
            <a:fld id="{86AE872A-996F-4FA7-A7AF-C80125948194}" type="slidenum">
              <a:rPr lang="zh-CN" altLang="en-US"/>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6AE872A-996F-4FA7-A7AF-C80125948194}"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fld id="{25FC4D5F-F551-4976-A0AB-53AF56726450}" type="slidenum">
              <a:rPr lang="en-US" altLang="zh-CN" sz="1200"/>
            </a:fld>
            <a:endParaRPr lang="en-US" altLang="zh-CN" sz="1200"/>
          </a:p>
        </p:txBody>
      </p:sp>
      <p:sp>
        <p:nvSpPr>
          <p:cNvPr id="41987" name="Rectangle 2"/>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198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endParaRPr lang="zh-CN" alt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fld id="{A1A87724-EE9F-4ACC-A5BC-7F697AD1F229}" type="slidenum">
              <a:rPr lang="en-US" altLang="zh-CN" sz="1200"/>
            </a:fld>
            <a:endParaRPr lang="en-US" altLang="zh-CN" sz="1200"/>
          </a:p>
        </p:txBody>
      </p:sp>
      <p:sp>
        <p:nvSpPr>
          <p:cNvPr id="43011" name="Rectangle 2"/>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301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endParaRPr lang="zh-CN" alt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fld id="{CAE4AED2-C787-473E-8AAA-3E8A90C0C61C}" type="slidenum">
              <a:rPr lang="en-US" altLang="zh-CN" sz="1200"/>
            </a:fld>
            <a:endParaRPr lang="en-US" altLang="zh-CN" sz="1200"/>
          </a:p>
        </p:txBody>
      </p:sp>
      <p:sp>
        <p:nvSpPr>
          <p:cNvPr id="44035" name="Rectangle 2"/>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403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endParaRPr kumimoji="1" lang="zh-CN" altLang="zh-CN" smtClean="0">
              <a:solidFill>
                <a:schemeClr val="accent2"/>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fld id="{687F7F46-F7A6-45BE-970B-1C1C049A3E73}" type="slidenum">
              <a:rPr lang="en-US" altLang="zh-CN" sz="1200"/>
            </a:fld>
            <a:endParaRPr lang="en-US" altLang="zh-CN" sz="1200"/>
          </a:p>
        </p:txBody>
      </p:sp>
      <p:sp>
        <p:nvSpPr>
          <p:cNvPr id="45059" name="Rectangle 2"/>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78851" name="Rectangle 3"/>
          <p:cNvSpPr>
            <a:spLocks noGrp="1" noChangeArrowheads="1"/>
          </p:cNvSpPr>
          <p:nvPr>
            <p:ph type="body" idx="1"/>
          </p:nvPr>
        </p:nvSpPr>
        <p:spPr/>
        <p:txBody>
          <a:bodyPr/>
          <a:lstStyle/>
          <a:p>
            <a:pPr eaLnBrk="1" hangingPunct="1">
              <a:defRPr/>
            </a:pPr>
            <a:r>
              <a:rPr kumimoji="1" lang="zh-CN" altLang="en-US" dirty="0" smtClean="0">
                <a:solidFill>
                  <a:schemeClr val="tx2"/>
                </a:solidFill>
              </a:rPr>
              <a:t>一般工作温度下（低于</a:t>
            </a:r>
            <a:r>
              <a:rPr kumimoji="1" lang="en-US" altLang="zh-CN" dirty="0" smtClean="0">
                <a:solidFill>
                  <a:schemeClr val="tx2"/>
                </a:solidFill>
              </a:rPr>
              <a:t>200℃</a:t>
            </a:r>
            <a:r>
              <a:rPr kumimoji="1" lang="zh-CN" altLang="en-US" dirty="0" smtClean="0">
                <a:solidFill>
                  <a:schemeClr val="tx2"/>
                </a:solidFill>
              </a:rPr>
              <a:t>），各种碳钢、</a:t>
            </a:r>
            <a:r>
              <a:rPr kumimoji="1" lang="zh-CN" altLang="en-US" dirty="0" smtClean="0">
                <a:solidFill>
                  <a:schemeClr val="accent2"/>
                </a:solidFill>
                <a:effectLst>
                  <a:outerShdw blurRad="38100" dist="38100" dir="2700000" algn="tl">
                    <a:srgbClr val="C0C0C0"/>
                  </a:outerShdw>
                </a:effectLst>
              </a:rPr>
              <a:t>合金钢</a:t>
            </a:r>
            <a:r>
              <a:rPr kumimoji="1" lang="zh-CN" altLang="en-US" dirty="0" smtClean="0">
                <a:solidFill>
                  <a:schemeClr val="tx2"/>
                </a:solidFill>
              </a:rPr>
              <a:t>弹性模量相差不多，因此在选择钢的种类和决定热处理方式时，根据强度与耐磨性，而非轴的扭转或弯曲刚度。</a:t>
            </a:r>
            <a:endParaRPr kumimoji="1" lang="zh-CN" altLang="en-US" dirty="0" smtClean="0">
              <a:solidFill>
                <a:srgbClr val="FF0000"/>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6AE872A-996F-4FA7-A7AF-C80125948194}"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710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smtClean="0"/>
          </a:p>
        </p:txBody>
      </p:sp>
      <p:sp>
        <p:nvSpPr>
          <p:cNvPr id="4710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fld id="{EF6C1A89-FB08-42EC-9BE0-4475F09FBE95}" type="slidenum">
              <a:rPr lang="zh-CN" altLang="en-US" sz="1200"/>
            </a:fld>
            <a:endParaRPr lang="zh-CN" alt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6AE872A-996F-4FA7-A7AF-C80125948194}"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8704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8704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fld id="{997BFCCF-04D9-449F-85CD-2369D9498934}" type="slidenum">
              <a:rPr lang="zh-CN" altLang="en-US" sz="1200"/>
            </a:fld>
            <a:endParaRPr lang="zh-CN" altLang="en-US"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过渡圆角或倒角查手册</a:t>
            </a:r>
            <a:r>
              <a:rPr lang="en-US" altLang="zh-CN"/>
              <a:t>P16</a:t>
            </a:r>
            <a:r>
              <a:rPr lang="zh-CN" altLang="en-US"/>
              <a:t>表</a:t>
            </a:r>
            <a:r>
              <a:rPr lang="en-US" altLang="zh-CN"/>
              <a:t>1-25</a:t>
            </a:r>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8" Type="http://schemas.openxmlformats.org/officeDocument/2006/relationships/slideLayout" Target="../slideLayouts/slideLayout1.xml"/><Relationship Id="rId7" Type="http://schemas.openxmlformats.org/officeDocument/2006/relationships/slide" Target="slide81.xml"/><Relationship Id="rId6" Type="http://schemas.openxmlformats.org/officeDocument/2006/relationships/image" Target="../media/image1.png"/><Relationship Id="rId5" Type="http://schemas.openxmlformats.org/officeDocument/2006/relationships/slide" Target="slide58.xml"/><Relationship Id="rId4" Type="http://schemas.openxmlformats.org/officeDocument/2006/relationships/slide" Target="slide37.xml"/><Relationship Id="rId3" Type="http://schemas.openxmlformats.org/officeDocument/2006/relationships/slide" Target="slide19.xml"/><Relationship Id="rId2" Type="http://schemas.openxmlformats.org/officeDocument/2006/relationships/slide" Target="slide6.xml"/><Relationship Id="rId1" Type="http://schemas.openxmlformats.org/officeDocument/2006/relationships/slide" Target="slide3.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5" Type="http://schemas.openxmlformats.org/officeDocument/2006/relationships/vmlDrawing" Target="../drawings/vmlDrawing1.vml"/><Relationship Id="rId4" Type="http://schemas.openxmlformats.org/officeDocument/2006/relationships/slideLayout" Target="../slideLayouts/slideLayout7.xml"/><Relationship Id="rId3" Type="http://schemas.openxmlformats.org/officeDocument/2006/relationships/image" Target="../media/image6.png"/><Relationship Id="rId2" Type="http://schemas.openxmlformats.org/officeDocument/2006/relationships/oleObject" Target="../embeddings/oleObject1.bin"/><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6.xml.rels><?xml version="1.0" encoding="UTF-8" standalone="yes"?>
<Relationships xmlns="http://schemas.openxmlformats.org/package/2006/relationships"><Relationship Id="rId8" Type="http://schemas.openxmlformats.org/officeDocument/2006/relationships/vmlDrawing" Target="../drawings/vmlDrawing2.vml"/><Relationship Id="rId7" Type="http://schemas.openxmlformats.org/officeDocument/2006/relationships/slideLayout" Target="../slideLayouts/slideLayout7.xml"/><Relationship Id="rId6" Type="http://schemas.openxmlformats.org/officeDocument/2006/relationships/image" Target="../media/image12.jpeg"/><Relationship Id="rId5" Type="http://schemas.openxmlformats.org/officeDocument/2006/relationships/image" Target="../media/image11.jpeg"/><Relationship Id="rId4" Type="http://schemas.openxmlformats.org/officeDocument/2006/relationships/image" Target="../media/image10.jpeg"/><Relationship Id="rId3" Type="http://schemas.openxmlformats.org/officeDocument/2006/relationships/image" Target="../media/image9.wmf"/><Relationship Id="rId2" Type="http://schemas.openxmlformats.org/officeDocument/2006/relationships/oleObject" Target="../embeddings/oleObject2.bin"/><Relationship Id="rId1"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image" Target="../media/image13.png"/></Relationships>
</file>

<file path=ppt/slides/_rels/slide9.xml.rels><?xml version="1.0" encoding="UTF-8" standalone="yes"?>
<Relationships xmlns="http://schemas.openxmlformats.org/package/2006/relationships"><Relationship Id="rId9" Type="http://schemas.openxmlformats.org/officeDocument/2006/relationships/notesSlide" Target="../notesSlides/notesSlide2.xml"/><Relationship Id="rId8" Type="http://schemas.openxmlformats.org/officeDocument/2006/relationships/vmlDrawing" Target="../drawings/vmlDrawing3.vml"/><Relationship Id="rId7"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oleObject" Target="../embeddings/oleObject4.bin"/><Relationship Id="rId4" Type="http://schemas.openxmlformats.org/officeDocument/2006/relationships/image" Target="../media/image16.wmf"/><Relationship Id="rId3" Type="http://schemas.openxmlformats.org/officeDocument/2006/relationships/oleObject" Target="../embeddings/oleObject3.bin"/><Relationship Id="rId2" Type="http://schemas.openxmlformats.org/officeDocument/2006/relationships/image" Target="../media/image15.png"/><Relationship Id="rId1" Type="http://schemas.openxmlformats.org/officeDocument/2006/relationships/image" Target="../media/image14.png"/></Relationships>
</file>

<file path=ppt/slides/_rels/slide10.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22.jpeg"/><Relationship Id="rId4" Type="http://schemas.openxmlformats.org/officeDocument/2006/relationships/image" Target="../media/image21.png"/><Relationship Id="rId3" Type="http://schemas.openxmlformats.org/officeDocument/2006/relationships/image" Target="../media/image20.png"/><Relationship Id="rId2" Type="http://schemas.openxmlformats.org/officeDocument/2006/relationships/image" Target="../media/image19.jpeg"/><Relationship Id="rId1" Type="http://schemas.openxmlformats.org/officeDocument/2006/relationships/image" Target="../media/image18.jpe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7.xml"/><Relationship Id="rId2" Type="http://schemas.openxmlformats.org/officeDocument/2006/relationships/image" Target="../media/image24.png"/><Relationship Id="rId1" Type="http://schemas.openxmlformats.org/officeDocument/2006/relationships/image" Target="../media/image23.png"/></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image" Target="../media/image25.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audio" Target="../media/audio1.wav"/></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audio" Target="../media/audio1.wav"/></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2.xml"/><Relationship Id="rId2" Type="http://schemas.openxmlformats.org/officeDocument/2006/relationships/image" Target="../media/image27.png"/><Relationship Id="rId1" Type="http://schemas.openxmlformats.org/officeDocument/2006/relationships/image" Target="../media/image26.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image" Target="../media/image28.jpe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slide" Target="slide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7" Type="http://schemas.openxmlformats.org/officeDocument/2006/relationships/vmlDrawing" Target="../drawings/vmlDrawing4.vml"/><Relationship Id="rId6"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oleObject" Target="../embeddings/oleObject5.bin"/><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image" Target="../media/image29.GI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35.png"/><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image" Target="../media/image32.png"/></Relationships>
</file>

<file path=ppt/slides/_rels/slide28.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image" Target="../media/image36.png"/></Relationships>
</file>

<file path=ppt/slides/_rels/slide29.xml.rels><?xml version="1.0" encoding="UTF-8" standalone="yes"?>
<Relationships xmlns="http://schemas.openxmlformats.org/package/2006/relationships"><Relationship Id="rId9" Type="http://schemas.openxmlformats.org/officeDocument/2006/relationships/slideLayout" Target="../slideLayouts/slideLayout6.xml"/><Relationship Id="rId8" Type="http://schemas.openxmlformats.org/officeDocument/2006/relationships/image" Target="../media/image45.png"/><Relationship Id="rId7" Type="http://schemas.openxmlformats.org/officeDocument/2006/relationships/image" Target="../media/image44.png"/><Relationship Id="rId6" Type="http://schemas.openxmlformats.org/officeDocument/2006/relationships/image" Target="../media/image43.emf"/><Relationship Id="rId5" Type="http://schemas.openxmlformats.org/officeDocument/2006/relationships/oleObject" Target="../embeddings/oleObject7.bin"/><Relationship Id="rId4" Type="http://schemas.openxmlformats.org/officeDocument/2006/relationships/hyperlink" Target="../2008/6-&#36724;&#35774;&#35745;/yuanchi.avi" TargetMode="External"/><Relationship Id="rId3" Type="http://schemas.openxmlformats.org/officeDocument/2006/relationships/image" Target="../media/image42.emf"/><Relationship Id="rId2" Type="http://schemas.openxmlformats.org/officeDocument/2006/relationships/oleObject" Target="../embeddings/oleObject6.bin"/><Relationship Id="rId10" Type="http://schemas.openxmlformats.org/officeDocument/2006/relationships/vmlDrawing" Target="../drawings/vmlDrawing5.vml"/><Relationship Id="rId1" Type="http://schemas.openxmlformats.org/officeDocument/2006/relationships/hyperlink" Target="../2008/6-&#36724;&#35774;&#35745;/&#24377;&#24615;&#25377;&#22280;.exe" TargetMode="External"/></Relationships>
</file>

<file path=ppt/slides/_rels/slide30.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7.xml"/><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image" Target="../media/image46.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8.jpeg"/></Relationships>
</file>

<file path=ppt/slides/_rels/slide32.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image" Target="../media/image49.png"/></Relationships>
</file>

<file path=ppt/slides/_rels/slide3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7.png"/><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 Target="slide78.xml"/></Relationships>
</file>

<file path=ppt/slides/_rels/slide34.xml.rels><?xml version="1.0" encoding="UTF-8" standalone="yes"?>
<Relationships xmlns="http://schemas.openxmlformats.org/package/2006/relationships"><Relationship Id="rId5" Type="http://schemas.openxmlformats.org/officeDocument/2006/relationships/vmlDrawing" Target="../drawings/vmlDrawing6.vml"/><Relationship Id="rId4" Type="http://schemas.openxmlformats.org/officeDocument/2006/relationships/slideLayout" Target="../slideLayouts/slideLayout7.xml"/><Relationship Id="rId3" Type="http://schemas.openxmlformats.org/officeDocument/2006/relationships/image" Target="../media/image55.png"/><Relationship Id="rId2" Type="http://schemas.openxmlformats.org/officeDocument/2006/relationships/oleObject" Target="../embeddings/oleObject8.bin"/><Relationship Id="rId1" Type="http://schemas.openxmlformats.org/officeDocument/2006/relationships/image" Target="../media/image31.png"/></Relationships>
</file>

<file path=ppt/slides/_rels/slide35.xml.rels><?xml version="1.0" encoding="UTF-8" standalone="yes"?>
<Relationships xmlns="http://schemas.openxmlformats.org/package/2006/relationships"><Relationship Id="rId5" Type="http://schemas.openxmlformats.org/officeDocument/2006/relationships/vmlDrawing" Target="../drawings/vmlDrawing7.vml"/><Relationship Id="rId4" Type="http://schemas.openxmlformats.org/officeDocument/2006/relationships/slideLayout" Target="../slideLayouts/slideLayout7.xml"/><Relationship Id="rId3" Type="http://schemas.openxmlformats.org/officeDocument/2006/relationships/image" Target="../media/image55.png"/><Relationship Id="rId2" Type="http://schemas.openxmlformats.org/officeDocument/2006/relationships/oleObject" Target="../embeddings/oleObject9.bin"/><Relationship Id="rId1" Type="http://schemas.openxmlformats.org/officeDocument/2006/relationships/image" Target="../media/image56.png"/></Relationships>
</file>

<file path=ppt/slides/_rels/slide36.xml.rels><?xml version="1.0" encoding="UTF-8" standalone="yes"?>
<Relationships xmlns="http://schemas.openxmlformats.org/package/2006/relationships"><Relationship Id="rId5" Type="http://schemas.openxmlformats.org/officeDocument/2006/relationships/vmlDrawing" Target="../drawings/vmlDrawing8.vml"/><Relationship Id="rId4" Type="http://schemas.openxmlformats.org/officeDocument/2006/relationships/slideLayout" Target="../slideLayouts/slideLayout7.xml"/><Relationship Id="rId3" Type="http://schemas.openxmlformats.org/officeDocument/2006/relationships/image" Target="../media/image55.png"/><Relationship Id="rId2" Type="http://schemas.openxmlformats.org/officeDocument/2006/relationships/oleObject" Target="../embeddings/oleObject10.bin"/><Relationship Id="rId1" Type="http://schemas.openxmlformats.org/officeDocument/2006/relationships/image" Target="../media/image57.png"/></Relationships>
</file>

<file path=ppt/slides/_rels/slide37.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slide" Target="slide43.xml"/><Relationship Id="rId3" Type="http://schemas.openxmlformats.org/officeDocument/2006/relationships/slide" Target="slide41.xml"/><Relationship Id="rId2" Type="http://schemas.openxmlformats.org/officeDocument/2006/relationships/slide" Target="slide39.xml"/><Relationship Id="rId1" Type="http://schemas.openxmlformats.org/officeDocument/2006/relationships/slide" Target="slide38.xml"/></Relationships>
</file>

<file path=ppt/slides/_rels/slide38.xml.rels><?xml version="1.0" encoding="UTF-8" standalone="yes"?>
<Relationships xmlns="http://schemas.openxmlformats.org/package/2006/relationships"><Relationship Id="rId7" Type="http://schemas.openxmlformats.org/officeDocument/2006/relationships/vmlDrawing" Target="../drawings/vmlDrawing9.vml"/><Relationship Id="rId6" Type="http://schemas.openxmlformats.org/officeDocument/2006/relationships/slideLayout" Target="../slideLayouts/slideLayout2.xml"/><Relationship Id="rId5" Type="http://schemas.openxmlformats.org/officeDocument/2006/relationships/image" Target="../media/image60.png"/><Relationship Id="rId4" Type="http://schemas.openxmlformats.org/officeDocument/2006/relationships/slide" Target="slide37.xml"/><Relationship Id="rId3" Type="http://schemas.openxmlformats.org/officeDocument/2006/relationships/image" Target="../media/image59.wmf"/><Relationship Id="rId2" Type="http://schemas.openxmlformats.org/officeDocument/2006/relationships/oleObject" Target="../embeddings/oleObject11.bin"/><Relationship Id="rId1" Type="http://schemas.openxmlformats.org/officeDocument/2006/relationships/image" Target="../media/image58.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61.png"/></Relationships>
</file>

<file path=ppt/slides/_rels/slide4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slide" Target="slide37.xml"/><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image" Target="../media/image62.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5.png"/></Relationships>
</file>

<file path=ppt/slides/_rels/slide42.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2.xml"/><Relationship Id="rId2" Type="http://schemas.openxmlformats.org/officeDocument/2006/relationships/slide" Target="slide37.xml"/><Relationship Id="rId1" Type="http://schemas.openxmlformats.org/officeDocument/2006/relationships/image" Target="../media/image66.png"/></Relationships>
</file>

<file path=ppt/slides/_rels/slide43.xml.rels><?xml version="1.0" encoding="UTF-8" standalone="yes"?>
<Relationships xmlns="http://schemas.openxmlformats.org/package/2006/relationships"><Relationship Id="rId6" Type="http://schemas.openxmlformats.org/officeDocument/2006/relationships/notesSlide" Target="../notesSlides/notesSlide11.xml"/><Relationship Id="rId5" Type="http://schemas.openxmlformats.org/officeDocument/2006/relationships/slideLayout" Target="../slideLayouts/slideLayout7.xml"/><Relationship Id="rId4" Type="http://schemas.openxmlformats.org/officeDocument/2006/relationships/image" Target="../media/image70.png"/><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image" Target="../media/image67.png"/></Relationships>
</file>

<file path=ppt/slides/_rels/slide44.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 Id="rId3" Type="http://schemas.openxmlformats.org/officeDocument/2006/relationships/image" Target="../media/image25.png"/><Relationship Id="rId2" Type="http://schemas.openxmlformats.org/officeDocument/2006/relationships/image" Target="../media/image72.jpeg"/><Relationship Id="rId1" Type="http://schemas.openxmlformats.org/officeDocument/2006/relationships/image" Target="../media/image71.jpeg"/></Relationships>
</file>

<file path=ppt/slides/_rels/slide45.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 Id="rId3" Type="http://schemas.openxmlformats.org/officeDocument/2006/relationships/image" Target="../media/image25.png"/><Relationship Id="rId2" Type="http://schemas.openxmlformats.org/officeDocument/2006/relationships/image" Target="../media/image74.jpeg"/><Relationship Id="rId1" Type="http://schemas.openxmlformats.org/officeDocument/2006/relationships/image" Target="../media/image73.jpeg"/></Relationships>
</file>

<file path=ppt/slides/_rels/slide4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7.png"/><Relationship Id="rId3" Type="http://schemas.openxmlformats.org/officeDocument/2006/relationships/image" Target="../media/image25.png"/><Relationship Id="rId2" Type="http://schemas.openxmlformats.org/officeDocument/2006/relationships/image" Target="../media/image76.jpeg"/><Relationship Id="rId1" Type="http://schemas.openxmlformats.org/officeDocument/2006/relationships/image" Target="../media/image75.jpeg"/></Relationships>
</file>

<file path=ppt/slides/_rels/slide47.xml.rels><?xml version="1.0" encoding="UTF-8" standalone="yes"?>
<Relationships xmlns="http://schemas.openxmlformats.org/package/2006/relationships"><Relationship Id="rId6" Type="http://schemas.openxmlformats.org/officeDocument/2006/relationships/vmlDrawing" Target="../drawings/vmlDrawing10.vml"/><Relationship Id="rId5" Type="http://schemas.openxmlformats.org/officeDocument/2006/relationships/slideLayout" Target="../slideLayouts/slideLayout7.xml"/><Relationship Id="rId4" Type="http://schemas.openxmlformats.org/officeDocument/2006/relationships/image" Target="../media/image78.wmf"/><Relationship Id="rId3" Type="http://schemas.openxmlformats.org/officeDocument/2006/relationships/oleObject" Target="../embeddings/oleObject12.bin"/><Relationship Id="rId2" Type="http://schemas.openxmlformats.org/officeDocument/2006/relationships/audio" Target="../media/audio2.wav"/><Relationship Id="rId1" Type="http://schemas.openxmlformats.org/officeDocument/2006/relationships/image" Target="../media/image77.wmf"/></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7.wmf"/></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audio" Target="../media/audio1.wav"/></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hyperlink" Target="../2008/6-&#36724;&#35774;&#35745;/&#36724;&#32467;&#26500;&#35774;&#35745;1.EXE" TargetMode="External"/></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80.png"/><Relationship Id="rId1" Type="http://schemas.openxmlformats.org/officeDocument/2006/relationships/image" Target="../media/image79.png"/></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1.png"/></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2.png"/></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3.png"/></Relationships>
</file>

<file path=ppt/slides/_rels/slide55.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7.xml"/><Relationship Id="rId2" Type="http://schemas.openxmlformats.org/officeDocument/2006/relationships/image" Target="../media/image83.png"/><Relationship Id="rId1" Type="http://schemas.openxmlformats.org/officeDocument/2006/relationships/image" Target="../media/image84.png"/></Relationships>
</file>

<file path=ppt/slides/_rels/slide56.xml.rels><?xml version="1.0" encoding="UTF-8" standalone="yes"?>
<Relationships xmlns="http://schemas.openxmlformats.org/package/2006/relationships"><Relationship Id="rId6" Type="http://schemas.openxmlformats.org/officeDocument/2006/relationships/vmlDrawing" Target="../drawings/vmlDrawing11.vml"/><Relationship Id="rId5" Type="http://schemas.openxmlformats.org/officeDocument/2006/relationships/slideLayout" Target="../slideLayouts/slideLayout7.xml"/><Relationship Id="rId4" Type="http://schemas.openxmlformats.org/officeDocument/2006/relationships/image" Target="../media/image86.wmf"/><Relationship Id="rId3" Type="http://schemas.openxmlformats.org/officeDocument/2006/relationships/oleObject" Target="../embeddings/oleObject14.bin"/><Relationship Id="rId2" Type="http://schemas.openxmlformats.org/officeDocument/2006/relationships/image" Target="../media/image85.wmf"/><Relationship Id="rId1" Type="http://schemas.openxmlformats.org/officeDocument/2006/relationships/oleObject" Target="../embeddings/oleObject13.bin"/></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7" Type="http://schemas.openxmlformats.org/officeDocument/2006/relationships/vmlDrawing" Target="../drawings/vmlDrawing12.vml"/><Relationship Id="rId6" Type="http://schemas.openxmlformats.org/officeDocument/2006/relationships/slideLayout" Target="../slideLayouts/slideLayout2.xml"/><Relationship Id="rId5" Type="http://schemas.openxmlformats.org/officeDocument/2006/relationships/slide" Target="slide77.xml"/><Relationship Id="rId4" Type="http://schemas.openxmlformats.org/officeDocument/2006/relationships/image" Target="../media/image88.emf"/><Relationship Id="rId3" Type="http://schemas.openxmlformats.org/officeDocument/2006/relationships/oleObject" Target="../embeddings/oleObject16.bin"/><Relationship Id="rId2" Type="http://schemas.openxmlformats.org/officeDocument/2006/relationships/image" Target="../media/image87.wmf"/><Relationship Id="rId1" Type="http://schemas.openxmlformats.org/officeDocument/2006/relationships/oleObject" Target="../embeddings/oleObject15.bin"/></Relationships>
</file>

<file path=ppt/slides/_rels/slide59.xml.rels><?xml version="1.0" encoding="UTF-8" standalone="yes"?>
<Relationships xmlns="http://schemas.openxmlformats.org/package/2006/relationships"><Relationship Id="rId5" Type="http://schemas.openxmlformats.org/officeDocument/2006/relationships/vmlDrawing" Target="../drawings/vmlDrawing13.vml"/><Relationship Id="rId4" Type="http://schemas.openxmlformats.org/officeDocument/2006/relationships/slideLayout" Target="../slideLayouts/slideLayout2.xml"/><Relationship Id="rId3" Type="http://schemas.openxmlformats.org/officeDocument/2006/relationships/image" Target="../media/image90.png"/><Relationship Id="rId2" Type="http://schemas.openxmlformats.org/officeDocument/2006/relationships/image" Target="../media/image89.wmf"/><Relationship Id="rId1" Type="http://schemas.openxmlformats.org/officeDocument/2006/relationships/oleObject" Target="../embeddings/oleObject17.bin"/></Relationships>
</file>

<file path=ppt/slides/_rels/slide60.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94.png"/><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image" Target="../media/image91.png"/></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5.png"/></Relationships>
</file>

<file path=ppt/slides/_rels/slide62.xml.rels><?xml version="1.0" encoding="UTF-8" standalone="yes"?>
<Relationships xmlns="http://schemas.openxmlformats.org/package/2006/relationships"><Relationship Id="rId7" Type="http://schemas.openxmlformats.org/officeDocument/2006/relationships/vmlDrawing" Target="../drawings/vmlDrawing14.vml"/><Relationship Id="rId6" Type="http://schemas.openxmlformats.org/officeDocument/2006/relationships/slideLayout" Target="../slideLayouts/slideLayout7.xml"/><Relationship Id="rId5" Type="http://schemas.openxmlformats.org/officeDocument/2006/relationships/image" Target="../media/image99.png"/><Relationship Id="rId4" Type="http://schemas.openxmlformats.org/officeDocument/2006/relationships/image" Target="../media/image98.png"/><Relationship Id="rId3" Type="http://schemas.openxmlformats.org/officeDocument/2006/relationships/image" Target="../media/image97.png"/><Relationship Id="rId2" Type="http://schemas.openxmlformats.org/officeDocument/2006/relationships/image" Target="../media/image96.wmf"/><Relationship Id="rId1" Type="http://schemas.openxmlformats.org/officeDocument/2006/relationships/oleObject" Target="../embeddings/oleObject18.bin"/></Relationships>
</file>

<file path=ppt/slides/_rels/slide63.xml.rels><?xml version="1.0" encoding="UTF-8" standalone="yes"?>
<Relationships xmlns="http://schemas.openxmlformats.org/package/2006/relationships"><Relationship Id="rId8" Type="http://schemas.openxmlformats.org/officeDocument/2006/relationships/vmlDrawing" Target="../drawings/vmlDrawing15.vml"/><Relationship Id="rId7" Type="http://schemas.openxmlformats.org/officeDocument/2006/relationships/slideLayout" Target="../slideLayouts/slideLayout7.xml"/><Relationship Id="rId6" Type="http://schemas.openxmlformats.org/officeDocument/2006/relationships/image" Target="../media/image103.png"/><Relationship Id="rId5" Type="http://schemas.openxmlformats.org/officeDocument/2006/relationships/image" Target="../media/image102.png"/><Relationship Id="rId4" Type="http://schemas.openxmlformats.org/officeDocument/2006/relationships/image" Target="../media/image101.wmf"/><Relationship Id="rId3" Type="http://schemas.openxmlformats.org/officeDocument/2006/relationships/oleObject" Target="../embeddings/oleObject20.bin"/><Relationship Id="rId2" Type="http://schemas.openxmlformats.org/officeDocument/2006/relationships/image" Target="../media/image100.wmf"/><Relationship Id="rId1" Type="http://schemas.openxmlformats.org/officeDocument/2006/relationships/oleObject" Target="../embeddings/oleObject19.bin"/></Relationships>
</file>

<file path=ppt/slides/_rels/slide64.xml.rels><?xml version="1.0" encoding="UTF-8" standalone="yes"?>
<Relationships xmlns="http://schemas.openxmlformats.org/package/2006/relationships"><Relationship Id="rId8" Type="http://schemas.openxmlformats.org/officeDocument/2006/relationships/vmlDrawing" Target="../drawings/vmlDrawing16.vml"/><Relationship Id="rId7" Type="http://schemas.openxmlformats.org/officeDocument/2006/relationships/slideLayout" Target="../slideLayouts/slideLayout7.xml"/><Relationship Id="rId6" Type="http://schemas.openxmlformats.org/officeDocument/2006/relationships/image" Target="../media/image106.wmf"/><Relationship Id="rId5" Type="http://schemas.openxmlformats.org/officeDocument/2006/relationships/oleObject" Target="../embeddings/oleObject23.bin"/><Relationship Id="rId4" Type="http://schemas.openxmlformats.org/officeDocument/2006/relationships/image" Target="../media/image105.wmf"/><Relationship Id="rId3" Type="http://schemas.openxmlformats.org/officeDocument/2006/relationships/oleObject" Target="../embeddings/oleObject22.bin"/><Relationship Id="rId2" Type="http://schemas.openxmlformats.org/officeDocument/2006/relationships/image" Target="../media/image104.wmf"/><Relationship Id="rId1" Type="http://schemas.openxmlformats.org/officeDocument/2006/relationships/oleObject" Target="../embeddings/oleObject21.bin"/></Relationships>
</file>

<file path=ppt/slides/_rels/slide65.xml.rels><?xml version="1.0" encoding="UTF-8" standalone="yes"?>
<Relationships xmlns="http://schemas.openxmlformats.org/package/2006/relationships"><Relationship Id="rId9" Type="http://schemas.openxmlformats.org/officeDocument/2006/relationships/notesSlide" Target="../notesSlides/notesSlide13.xml"/><Relationship Id="rId8" Type="http://schemas.openxmlformats.org/officeDocument/2006/relationships/vmlDrawing" Target="../drawings/vmlDrawing17.vml"/><Relationship Id="rId7" Type="http://schemas.openxmlformats.org/officeDocument/2006/relationships/slideLayout" Target="../slideLayouts/slideLayout7.xml"/><Relationship Id="rId6" Type="http://schemas.openxmlformats.org/officeDocument/2006/relationships/image" Target="../media/image109.wmf"/><Relationship Id="rId5" Type="http://schemas.openxmlformats.org/officeDocument/2006/relationships/oleObject" Target="../embeddings/oleObject26.bin"/><Relationship Id="rId4" Type="http://schemas.openxmlformats.org/officeDocument/2006/relationships/image" Target="../media/image108.wmf"/><Relationship Id="rId3" Type="http://schemas.openxmlformats.org/officeDocument/2006/relationships/oleObject" Target="../embeddings/oleObject25.bin"/><Relationship Id="rId2" Type="http://schemas.openxmlformats.org/officeDocument/2006/relationships/image" Target="../media/image107.wmf"/><Relationship Id="rId1" Type="http://schemas.openxmlformats.org/officeDocument/2006/relationships/oleObject" Target="../embeddings/oleObject24.bin"/></Relationships>
</file>

<file path=ppt/slides/_rels/slide66.xml.rels><?xml version="1.0" encoding="UTF-8" standalone="yes"?>
<Relationships xmlns="http://schemas.openxmlformats.org/package/2006/relationships"><Relationship Id="rId8" Type="http://schemas.openxmlformats.org/officeDocument/2006/relationships/vmlDrawing" Target="../drawings/vmlDrawing18.vml"/><Relationship Id="rId7" Type="http://schemas.openxmlformats.org/officeDocument/2006/relationships/slideLayout" Target="../slideLayouts/slideLayout2.xml"/><Relationship Id="rId6" Type="http://schemas.openxmlformats.org/officeDocument/2006/relationships/image" Target="../media/image112.wmf"/><Relationship Id="rId5" Type="http://schemas.openxmlformats.org/officeDocument/2006/relationships/oleObject" Target="../embeddings/oleObject29.bin"/><Relationship Id="rId4" Type="http://schemas.openxmlformats.org/officeDocument/2006/relationships/image" Target="../media/image111.wmf"/><Relationship Id="rId3" Type="http://schemas.openxmlformats.org/officeDocument/2006/relationships/oleObject" Target="../embeddings/oleObject28.bin"/><Relationship Id="rId2" Type="http://schemas.openxmlformats.org/officeDocument/2006/relationships/image" Target="../media/image110.emf"/><Relationship Id="rId1" Type="http://schemas.openxmlformats.org/officeDocument/2006/relationships/oleObject" Target="../embeddings/oleObject27.bin"/></Relationships>
</file>

<file path=ppt/slides/_rels/slide67.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14.png"/><Relationship Id="rId4" Type="http://schemas.openxmlformats.org/officeDocument/2006/relationships/image" Target="../media/image113.png"/><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image" Target="../media/image25.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7.png"/><Relationship Id="rId1" Type="http://schemas.openxmlformats.org/officeDocument/2006/relationships/image" Target="../media/image102.png"/></Relationships>
</file>

<file path=ppt/slides/_rels/slide70.xml.rels><?xml version="1.0" encoding="UTF-8" standalone="yes"?>
<Relationships xmlns="http://schemas.openxmlformats.org/package/2006/relationships"><Relationship Id="rId7" Type="http://schemas.openxmlformats.org/officeDocument/2006/relationships/vmlDrawing" Target="../drawings/vmlDrawing19.vml"/><Relationship Id="rId6"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 Id="rId3" Type="http://schemas.openxmlformats.org/officeDocument/2006/relationships/image" Target="../media/image25.png"/><Relationship Id="rId2" Type="http://schemas.openxmlformats.org/officeDocument/2006/relationships/image" Target="../media/image115.emf"/><Relationship Id="rId1" Type="http://schemas.openxmlformats.org/officeDocument/2006/relationships/oleObject" Target="../embeddings/oleObject30.bin"/></Relationships>
</file>

<file path=ppt/slides/_rels/slide71.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118.emf"/><Relationship Id="rId5" Type="http://schemas.openxmlformats.org/officeDocument/2006/relationships/image" Target="../media/image117.emf"/><Relationship Id="rId4" Type="http://schemas.openxmlformats.org/officeDocument/2006/relationships/image" Target="../media/image116.png"/><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image" Target="../media/image25.png"/></Relationships>
</file>

<file path=ppt/slides/_rels/slide72.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122.png"/><Relationship Id="rId6" Type="http://schemas.openxmlformats.org/officeDocument/2006/relationships/image" Target="../media/image121.jpeg"/><Relationship Id="rId5" Type="http://schemas.openxmlformats.org/officeDocument/2006/relationships/image" Target="../media/image120.png"/><Relationship Id="rId4" Type="http://schemas.openxmlformats.org/officeDocument/2006/relationships/image" Target="../media/image119.png"/><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image" Target="../media/image25.png"/></Relationships>
</file>

<file path=ppt/slides/_rels/slide73.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125.emf"/><Relationship Id="rId5" Type="http://schemas.openxmlformats.org/officeDocument/2006/relationships/image" Target="../media/image124.png"/><Relationship Id="rId4" Type="http://schemas.openxmlformats.org/officeDocument/2006/relationships/image" Target="../media/image123.png"/><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image" Target="../media/image25.png"/></Relationships>
</file>

<file path=ppt/slides/_rels/slide74.xml.rels><?xml version="1.0" encoding="UTF-8" standalone="yes"?>
<Relationships xmlns="http://schemas.openxmlformats.org/package/2006/relationships"><Relationship Id="rId6" Type="http://schemas.openxmlformats.org/officeDocument/2006/relationships/vmlDrawing" Target="../drawings/vmlDrawing20.vml"/><Relationship Id="rId5" Type="http://schemas.openxmlformats.org/officeDocument/2006/relationships/slideLayout" Target="../slideLayouts/slideLayout2.xml"/><Relationship Id="rId4" Type="http://schemas.openxmlformats.org/officeDocument/2006/relationships/image" Target="../media/image27.png"/><Relationship Id="rId3" Type="http://schemas.openxmlformats.org/officeDocument/2006/relationships/image" Target="../media/image25.png"/><Relationship Id="rId2" Type="http://schemas.openxmlformats.org/officeDocument/2006/relationships/image" Target="../media/image126.emf"/><Relationship Id="rId1" Type="http://schemas.openxmlformats.org/officeDocument/2006/relationships/oleObject" Target="../embeddings/oleObject31.bin"/></Relationships>
</file>

<file path=ppt/slides/_rels/slide7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slide" Target="slide19.xml"/><Relationship Id="rId1" Type="http://schemas.openxmlformats.org/officeDocument/2006/relationships/image" Target="../media/image127.png"/></Relationships>
</file>

<file path=ppt/slides/_rels/slide76.xml.rels><?xml version="1.0" encoding="UTF-8" standalone="yes"?>
<Relationships xmlns="http://schemas.openxmlformats.org/package/2006/relationships"><Relationship Id="rId9" Type="http://schemas.openxmlformats.org/officeDocument/2006/relationships/image" Target="../media/image132.wmf"/><Relationship Id="rId8" Type="http://schemas.openxmlformats.org/officeDocument/2006/relationships/oleObject" Target="../embeddings/oleObject35.bin"/><Relationship Id="rId7" Type="http://schemas.openxmlformats.org/officeDocument/2006/relationships/image" Target="../media/image131.wmf"/><Relationship Id="rId6" Type="http://schemas.openxmlformats.org/officeDocument/2006/relationships/oleObject" Target="../embeddings/oleObject34.bin"/><Relationship Id="rId5" Type="http://schemas.openxmlformats.org/officeDocument/2006/relationships/image" Target="../media/image130.wmf"/><Relationship Id="rId4" Type="http://schemas.openxmlformats.org/officeDocument/2006/relationships/oleObject" Target="../embeddings/oleObject33.bin"/><Relationship Id="rId3" Type="http://schemas.openxmlformats.org/officeDocument/2006/relationships/image" Target="../media/image129.wmf"/><Relationship Id="rId2" Type="http://schemas.openxmlformats.org/officeDocument/2006/relationships/oleObject" Target="../embeddings/oleObject32.bin"/><Relationship Id="rId17" Type="http://schemas.openxmlformats.org/officeDocument/2006/relationships/vmlDrawing" Target="../drawings/vmlDrawing21.vml"/><Relationship Id="rId16" Type="http://schemas.openxmlformats.org/officeDocument/2006/relationships/slideLayout" Target="../slideLayouts/slideLayout2.xml"/><Relationship Id="rId15" Type="http://schemas.openxmlformats.org/officeDocument/2006/relationships/slide" Target="slide19.xml"/><Relationship Id="rId14" Type="http://schemas.openxmlformats.org/officeDocument/2006/relationships/image" Target="../media/image137.png"/><Relationship Id="rId13" Type="http://schemas.openxmlformats.org/officeDocument/2006/relationships/image" Target="../media/image136.png"/><Relationship Id="rId12" Type="http://schemas.openxmlformats.org/officeDocument/2006/relationships/image" Target="../media/image135.png"/><Relationship Id="rId11" Type="http://schemas.openxmlformats.org/officeDocument/2006/relationships/image" Target="../media/image134.png"/><Relationship Id="rId10" Type="http://schemas.openxmlformats.org/officeDocument/2006/relationships/image" Target="../media/image133.png"/><Relationship Id="rId1" Type="http://schemas.openxmlformats.org/officeDocument/2006/relationships/image" Target="../media/image128.png"/></Relationships>
</file>

<file path=ppt/slides/_rels/slide77.xml.rels><?xml version="1.0" encoding="UTF-8" standalone="yes"?>
<Relationships xmlns="http://schemas.openxmlformats.org/package/2006/relationships"><Relationship Id="rId9" Type="http://schemas.openxmlformats.org/officeDocument/2006/relationships/vmlDrawing" Target="../drawings/vmlDrawing22.vml"/><Relationship Id="rId8" Type="http://schemas.openxmlformats.org/officeDocument/2006/relationships/slideLayout" Target="../slideLayouts/slideLayout2.xml"/><Relationship Id="rId7" Type="http://schemas.openxmlformats.org/officeDocument/2006/relationships/image" Target="../media/image140.png"/><Relationship Id="rId6" Type="http://schemas.openxmlformats.org/officeDocument/2006/relationships/slide" Target="slide58.xml"/><Relationship Id="rId5" Type="http://schemas.openxmlformats.org/officeDocument/2006/relationships/image" Target="../media/image139.wmf"/><Relationship Id="rId4" Type="http://schemas.openxmlformats.org/officeDocument/2006/relationships/oleObject" Target="../embeddings/oleObject37.bin"/><Relationship Id="rId3" Type="http://schemas.openxmlformats.org/officeDocument/2006/relationships/image" Target="../media/image138.wmf"/><Relationship Id="rId2" Type="http://schemas.openxmlformats.org/officeDocument/2006/relationships/oleObject" Target="../embeddings/oleObject36.bin"/><Relationship Id="rId1" Type="http://schemas.openxmlformats.org/officeDocument/2006/relationships/tags" Target="../tags/tag1.xml"/></Relationships>
</file>

<file path=ppt/slides/_rels/slide7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43.png"/><Relationship Id="rId3" Type="http://schemas.openxmlformats.org/officeDocument/2006/relationships/image" Target="../media/image142.png"/><Relationship Id="rId2" Type="http://schemas.openxmlformats.org/officeDocument/2006/relationships/slide" Target="slide33.xml"/><Relationship Id="rId1" Type="http://schemas.openxmlformats.org/officeDocument/2006/relationships/image" Target="../media/image141.png"/></Relationships>
</file>

<file path=ppt/slides/_rels/slide7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45.png"/><Relationship Id="rId2" Type="http://schemas.openxmlformats.org/officeDocument/2006/relationships/slide" Target="slide3.xml"/><Relationship Id="rId1" Type="http://schemas.openxmlformats.org/officeDocument/2006/relationships/image" Target="../media/image144.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149.png"/><Relationship Id="rId6" Type="http://schemas.openxmlformats.org/officeDocument/2006/relationships/image" Target="../media/image148.png"/><Relationship Id="rId5" Type="http://schemas.openxmlformats.org/officeDocument/2006/relationships/image" Target="../media/image147.png"/><Relationship Id="rId4" Type="http://schemas.openxmlformats.org/officeDocument/2006/relationships/image" Target="../media/image146.png"/><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image" Target="../media/image25.png"/></Relationships>
</file>

<file path=ppt/slides/_rels/slide8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51.png"/><Relationship Id="rId4" Type="http://schemas.openxmlformats.org/officeDocument/2006/relationships/image" Target="../media/image150.png"/><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image" Target="../media/image25.png"/></Relationships>
</file>

<file path=ppt/slides/_rels/slide83.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slide" Target="slide92.xml"/><Relationship Id="rId7" Type="http://schemas.openxmlformats.org/officeDocument/2006/relationships/image" Target="../media/image146.png"/><Relationship Id="rId6" Type="http://schemas.openxmlformats.org/officeDocument/2006/relationships/image" Target="../media/image153.jpeg"/><Relationship Id="rId5" Type="http://schemas.openxmlformats.org/officeDocument/2006/relationships/image" Target="../media/image152.jpeg"/><Relationship Id="rId4" Type="http://schemas.openxmlformats.org/officeDocument/2006/relationships/image" Target="../media/image27.png"/><Relationship Id="rId3" Type="http://schemas.openxmlformats.org/officeDocument/2006/relationships/image" Target="../media/image26.png"/><Relationship Id="rId2" Type="http://schemas.openxmlformats.org/officeDocument/2006/relationships/slide" Target="slide82.xml"/><Relationship Id="rId10" Type="http://schemas.openxmlformats.org/officeDocument/2006/relationships/notesSlide" Target="../notesSlides/notesSlide14.xml"/><Relationship Id="rId1" Type="http://schemas.openxmlformats.org/officeDocument/2006/relationships/image" Target="../media/image25.png"/></Relationships>
</file>

<file path=ppt/slides/_rels/slide84.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7.xml"/><Relationship Id="rId1" Type="http://schemas.openxmlformats.org/officeDocument/2006/relationships/image" Target="../media/image154.png"/></Relationships>
</file>

<file path=ppt/slides/_rels/slide8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55.png"/><Relationship Id="rId1" Type="http://schemas.openxmlformats.org/officeDocument/2006/relationships/tags" Target="../tags/tag2.xml"/></Relationships>
</file>

<file path=ppt/slides/_rels/slide8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6.png"/></Relationships>
</file>

<file path=ppt/slides/_rels/slide8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7.png"/></Relationships>
</file>

<file path=ppt/slides/_rels/slide8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8.png"/></Relationships>
</file>

<file path=ppt/slides/_rels/slide8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6.png"/></Relationships>
</file>

<file path=ppt/slides/_rels/slide9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8.png"/></Relationships>
</file>

<file path=ppt/slides/_rels/slide9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9.png"/></Relationships>
</file>

<file path=ppt/slides/_rels/slide9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62.png"/><Relationship Id="rId3" Type="http://schemas.openxmlformats.org/officeDocument/2006/relationships/image" Target="../media/image161.jpeg"/><Relationship Id="rId2" Type="http://schemas.openxmlformats.org/officeDocument/2006/relationships/image" Target="../media/image160.jpeg"/><Relationship Id="rId1" Type="http://schemas.openxmlformats.org/officeDocument/2006/relationships/image" Target="../media/image25.png"/></Relationships>
</file>

<file path=ppt/slides/_rels/slide93.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164.jpeg"/><Relationship Id="rId6" Type="http://schemas.openxmlformats.org/officeDocument/2006/relationships/image" Target="../media/image163.jpeg"/><Relationship Id="rId5" Type="http://schemas.openxmlformats.org/officeDocument/2006/relationships/slide" Target="slide83.xml"/><Relationship Id="rId4" Type="http://schemas.openxmlformats.org/officeDocument/2006/relationships/image" Target="../media/image27.png"/><Relationship Id="rId3" Type="http://schemas.openxmlformats.org/officeDocument/2006/relationships/image" Target="../media/image26.png"/><Relationship Id="rId2" Type="http://schemas.openxmlformats.org/officeDocument/2006/relationships/slide" Target="slide92.xml"/><Relationship Id="rId1" Type="http://schemas.openxmlformats.org/officeDocument/2006/relationships/image" Target="../media/image25.png"/></Relationships>
</file>

<file path=ppt/slides/_rels/slide9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5.png"/><Relationship Id="rId3" Type="http://schemas.openxmlformats.org/officeDocument/2006/relationships/slide" Target="slide82.xml"/><Relationship Id="rId2" Type="http://schemas.openxmlformats.org/officeDocument/2006/relationships/image" Target="../media/image165.jpeg"/><Relationship Id="rId1" Type="http://schemas.openxmlformats.org/officeDocument/2006/relationships/tags" Target="../tags/tag3.xml"/></Relationships>
</file>

<file path=ppt/slides/_rels/slide95.xml.rels><?xml version="1.0" encoding="UTF-8" standalone="yes"?>
<Relationships xmlns="http://schemas.openxmlformats.org/package/2006/relationships"><Relationship Id="rId5" Type="http://schemas.openxmlformats.org/officeDocument/2006/relationships/vmlDrawing" Target="../drawings/vmlDrawing23.vml"/><Relationship Id="rId4" Type="http://schemas.openxmlformats.org/officeDocument/2006/relationships/slideLayout" Target="../slideLayouts/slideLayout7.xml"/><Relationship Id="rId3" Type="http://schemas.openxmlformats.org/officeDocument/2006/relationships/image" Target="../media/image167.wmf"/><Relationship Id="rId2" Type="http://schemas.openxmlformats.org/officeDocument/2006/relationships/oleObject" Target="../embeddings/oleObject38.bin"/><Relationship Id="rId1" Type="http://schemas.openxmlformats.org/officeDocument/2006/relationships/image" Target="../media/image166.png"/></Relationships>
</file>

<file path=ppt/slides/_rels/slide9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68.jpeg"/><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image" Target="../media/image25.png"/></Relationships>
</file>

<file path=ppt/slides/_rels/slide97.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171.jpeg"/><Relationship Id="rId5" Type="http://schemas.openxmlformats.org/officeDocument/2006/relationships/image" Target="../media/image170.png"/><Relationship Id="rId4" Type="http://schemas.openxmlformats.org/officeDocument/2006/relationships/image" Target="../media/image169.png"/><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image" Target="../media/image25.png"/></Relationships>
</file>

<file path=ppt/slides/_rels/slide98.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166.png"/><Relationship Id="rId6" Type="http://schemas.openxmlformats.org/officeDocument/2006/relationships/image" Target="../media/image174.jpeg"/><Relationship Id="rId5" Type="http://schemas.openxmlformats.org/officeDocument/2006/relationships/image" Target="../media/image173.png"/><Relationship Id="rId4" Type="http://schemas.openxmlformats.org/officeDocument/2006/relationships/image" Target="../media/image172.png"/><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image" Target="../media/image25.png"/></Relationships>
</file>

<file path=ppt/slides/_rels/slide9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75.jpeg"/><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image" Target="../media/image25.png"/></Relationships>
</file>

<file path=ppt/slides/_rels/slide10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77.png"/><Relationship Id="rId1" Type="http://schemas.openxmlformats.org/officeDocument/2006/relationships/image" Target="../media/image176.jpeg"/></Relationships>
</file>

<file path=ppt/slides/_rels/slide101.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184.png"/><Relationship Id="rId7" Type="http://schemas.openxmlformats.org/officeDocument/2006/relationships/image" Target="../media/image183.png"/><Relationship Id="rId6" Type="http://schemas.openxmlformats.org/officeDocument/2006/relationships/image" Target="../media/image182.png"/><Relationship Id="rId5" Type="http://schemas.openxmlformats.org/officeDocument/2006/relationships/image" Target="../media/image181.png"/><Relationship Id="rId4" Type="http://schemas.openxmlformats.org/officeDocument/2006/relationships/image" Target="../media/image180.png"/><Relationship Id="rId3" Type="http://schemas.openxmlformats.org/officeDocument/2006/relationships/image" Target="../media/image179.png"/><Relationship Id="rId2" Type="http://schemas.openxmlformats.org/officeDocument/2006/relationships/image" Target="../media/image178.png"/><Relationship Id="rId1" Type="http://schemas.openxmlformats.org/officeDocument/2006/relationships/image" Target="../media/image176.jpeg"/></Relationships>
</file>

<file path=ppt/slides/_rels/slide102.xml.rels><?xml version="1.0" encoding="UTF-8" standalone="yes"?>
<Relationships xmlns="http://schemas.openxmlformats.org/package/2006/relationships"><Relationship Id="rId6" Type="http://schemas.openxmlformats.org/officeDocument/2006/relationships/vmlDrawing" Target="../drawings/vmlDrawing24.vml"/><Relationship Id="rId5" Type="http://schemas.openxmlformats.org/officeDocument/2006/relationships/slideLayout" Target="../slideLayouts/slideLayout7.xml"/><Relationship Id="rId4" Type="http://schemas.openxmlformats.org/officeDocument/2006/relationships/image" Target="../media/image187.png"/><Relationship Id="rId3" Type="http://schemas.openxmlformats.org/officeDocument/2006/relationships/image" Target="../media/image186.png"/><Relationship Id="rId2" Type="http://schemas.openxmlformats.org/officeDocument/2006/relationships/image" Target="../media/image185.wmf"/><Relationship Id="rId1" Type="http://schemas.openxmlformats.org/officeDocument/2006/relationships/oleObject" Target="../embeddings/oleObject39.bin"/></Relationships>
</file>

<file path=ppt/slides/_rels/slide103.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191.png"/><Relationship Id="rId3" Type="http://schemas.openxmlformats.org/officeDocument/2006/relationships/image" Target="../media/image190.png"/><Relationship Id="rId2" Type="http://schemas.openxmlformats.org/officeDocument/2006/relationships/image" Target="../media/image189.png"/><Relationship Id="rId1" Type="http://schemas.openxmlformats.org/officeDocument/2006/relationships/image" Target="../media/image188.jpeg"/></Relationships>
</file>

<file path=ppt/slides/_rels/slide10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92.jpeg"/></Relationships>
</file>

<file path=ppt/slides/_rels/slide10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7.png"/></Relationships>
</file>

<file path=ppt/slides/_rels/slide106.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195.png"/><Relationship Id="rId3" Type="http://schemas.openxmlformats.org/officeDocument/2006/relationships/image" Target="../media/image194.png"/><Relationship Id="rId2" Type="http://schemas.openxmlformats.org/officeDocument/2006/relationships/image" Target="../media/image193.png"/><Relationship Id="rId1" Type="http://schemas.openxmlformats.org/officeDocument/2006/relationships/image" Target="../media/image176.jpeg"/></Relationships>
</file>

<file path=ppt/slides/_rels/slide107.xml.rels><?xml version="1.0" encoding="UTF-8" standalone="yes"?>
<Relationships xmlns="http://schemas.openxmlformats.org/package/2006/relationships"><Relationship Id="rId6" Type="http://schemas.openxmlformats.org/officeDocument/2006/relationships/notesSlide" Target="../notesSlides/notesSlide16.xml"/><Relationship Id="rId5" Type="http://schemas.openxmlformats.org/officeDocument/2006/relationships/slideLayout" Target="../slideLayouts/slideLayout7.xml"/><Relationship Id="rId4" Type="http://schemas.openxmlformats.org/officeDocument/2006/relationships/image" Target="../media/image198.png"/><Relationship Id="rId3" Type="http://schemas.openxmlformats.org/officeDocument/2006/relationships/image" Target="../media/image197.png"/><Relationship Id="rId2" Type="http://schemas.openxmlformats.org/officeDocument/2006/relationships/image" Target="../media/image196.png"/><Relationship Id="rId1" Type="http://schemas.openxmlformats.org/officeDocument/2006/relationships/image" Target="../media/image127.png"/></Relationships>
</file>

<file path=ppt/slides/_rels/slide108.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7.xml"/><Relationship Id="rId1" Type="http://schemas.openxmlformats.org/officeDocument/2006/relationships/image" Target="../media/image127.png"/></Relationships>
</file>

<file path=ppt/slides/_rels/slide10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99.jpe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00.jpe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5" name="Rectangle 21"/>
          <p:cNvSpPr>
            <a:spLocks noGrp="1" noChangeArrowheads="1"/>
          </p:cNvSpPr>
          <p:nvPr>
            <p:ph type="ctrTitle"/>
          </p:nvPr>
        </p:nvSpPr>
        <p:spPr bwMode="auto">
          <a:xfrm>
            <a:off x="2665346" y="1890780"/>
            <a:ext cx="4929187" cy="6064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algn="l" eaLnBrk="1" hangingPunct="1"/>
            <a:r>
              <a:rPr lang="zh-CN" altLang="en-US" sz="4000" dirty="0" smtClean="0">
                <a:solidFill>
                  <a:srgbClr val="A50021"/>
                </a:solidFill>
                <a:latin typeface="黑体" panose="02010609060101010101" pitchFamily="49" charset="-122"/>
                <a:ea typeface="黑体" panose="02010609060101010101" pitchFamily="49" charset="-122"/>
              </a:rPr>
              <a:t>第</a:t>
            </a:r>
            <a:r>
              <a:rPr lang="en-US" altLang="zh-CN" sz="4000" dirty="0" smtClean="0">
                <a:solidFill>
                  <a:srgbClr val="A50021"/>
                </a:solidFill>
                <a:latin typeface="黑体" panose="02010609060101010101" pitchFamily="49" charset="-122"/>
                <a:ea typeface="黑体" panose="02010609060101010101" pitchFamily="49" charset="-122"/>
              </a:rPr>
              <a:t>3.7</a:t>
            </a:r>
            <a:r>
              <a:rPr lang="zh-CN" altLang="en-US" sz="4000" dirty="0" smtClean="0">
                <a:solidFill>
                  <a:srgbClr val="A50021"/>
                </a:solidFill>
                <a:latin typeface="黑体" panose="02010609060101010101" pitchFamily="49" charset="-122"/>
                <a:ea typeface="黑体" panose="02010609060101010101" pitchFamily="49" charset="-122"/>
              </a:rPr>
              <a:t>章 </a:t>
            </a:r>
            <a:r>
              <a:rPr lang="en-US" altLang="zh-CN" sz="4000" dirty="0" smtClean="0">
                <a:solidFill>
                  <a:srgbClr val="A50021"/>
                </a:solidFill>
                <a:latin typeface="黑体" panose="02010609060101010101" pitchFamily="49" charset="-122"/>
                <a:ea typeface="黑体" panose="02010609060101010101" pitchFamily="49" charset="-122"/>
              </a:rPr>
              <a:t>  </a:t>
            </a:r>
            <a:r>
              <a:rPr lang="zh-CN" altLang="en-US" sz="4000" dirty="0" smtClean="0">
                <a:solidFill>
                  <a:srgbClr val="A50021"/>
                </a:solidFill>
                <a:latin typeface="黑体" panose="02010609060101010101" pitchFamily="49" charset="-122"/>
                <a:ea typeface="黑体" panose="02010609060101010101" pitchFamily="49" charset="-122"/>
              </a:rPr>
              <a:t>轴</a:t>
            </a:r>
            <a:endParaRPr lang="zh-CN" altLang="en-US" sz="4000" dirty="0" smtClean="0"/>
          </a:p>
        </p:txBody>
      </p:sp>
      <p:sp>
        <p:nvSpPr>
          <p:cNvPr id="15366" name="直接连接符 6"/>
          <p:cNvSpPr>
            <a:spLocks noChangeShapeType="1"/>
          </p:cNvSpPr>
          <p:nvPr/>
        </p:nvSpPr>
        <p:spPr bwMode="auto">
          <a:xfrm>
            <a:off x="-635" y="2773311"/>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grpSp>
        <p:nvGrpSpPr>
          <p:cNvPr id="7" name="组合 1"/>
          <p:cNvGrpSpPr/>
          <p:nvPr/>
        </p:nvGrpSpPr>
        <p:grpSpPr>
          <a:xfrm>
            <a:off x="6165735" y="5939550"/>
            <a:ext cx="2630487" cy="827087"/>
            <a:chOff x="10088" y="9497"/>
            <a:chExt cx="4141" cy="1302"/>
          </a:xfrm>
        </p:grpSpPr>
        <p:sp>
          <p:nvSpPr>
            <p:cNvPr id="8" name="文本框 1073742869"/>
            <p:cNvSpPr txBox="1">
              <a:spLocks noChangeAspect="1"/>
            </p:cNvSpPr>
            <p:nvPr/>
          </p:nvSpPr>
          <p:spPr>
            <a:xfrm>
              <a:off x="11247" y="9745"/>
              <a:ext cx="2983" cy="479"/>
            </a:xfrm>
            <a:prstGeom prst="rect">
              <a:avLst/>
            </a:prstGeom>
            <a:noFill/>
            <a:ln w="9525">
              <a:noFill/>
            </a:ln>
          </p:spPr>
          <p:txBody>
            <a:bodyPr wrap="square" anchor="t"/>
            <a:lstStyle/>
            <a:p>
              <a:pPr algn="ctr">
                <a:buNone/>
              </a:pPr>
              <a:r>
                <a:rPr lang="zh-CN" altLang="en-US" sz="1200" dirty="0">
                  <a:latin typeface="Times New Roman" panose="02020603050405020304" pitchFamily="18" charset="0"/>
                </a:rPr>
                <a:t>China University of Mining &amp; Technology-Beijing</a:t>
              </a:r>
              <a:endParaRPr lang="zh-CN" altLang="en-US" sz="1200" dirty="0">
                <a:latin typeface="Times New Roman" panose="02020603050405020304" pitchFamily="18" charset="0"/>
              </a:endParaRPr>
            </a:p>
            <a:p>
              <a:endParaRPr lang="zh-CN" altLang="en-US" sz="1200" dirty="0">
                <a:latin typeface="Times New Roman" panose="02020603050405020304" pitchFamily="18" charset="0"/>
              </a:endParaRPr>
            </a:p>
          </p:txBody>
        </p:sp>
        <p:pic>
          <p:nvPicPr>
            <p:cNvPr id="9" name="图片 1073742872" descr="44303071dc0a1f9688d599dbc999570副本"/>
            <p:cNvPicPr>
              <a:picLocks noChangeAspect="1"/>
            </p:cNvPicPr>
            <p:nvPr/>
          </p:nvPicPr>
          <p:blipFill>
            <a:blip r:embed="rId1"/>
            <a:stretch>
              <a:fillRect/>
            </a:stretch>
          </p:blipFill>
          <p:spPr>
            <a:xfrm>
              <a:off x="10088" y="9497"/>
              <a:ext cx="1435" cy="1303"/>
            </a:xfrm>
            <a:prstGeom prst="rect">
              <a:avLst/>
            </a:prstGeom>
            <a:noFill/>
            <a:ln w="9525">
              <a:noFill/>
            </a:ln>
          </p:spPr>
        </p:pic>
      </p:grpSp>
    </p:spTree>
  </p:cSld>
  <p:clrMapOvr>
    <a:masterClrMapping/>
  </p:clrMapOvr>
  <p:transition advClick="0"/>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15362" name="Text Box 6">
            <a:hlinkClick r:id="rId1" action="ppaction://hlinksldjump"/>
          </p:cNvPr>
          <p:cNvSpPr txBox="1">
            <a:spLocks noChangeArrowheads="1"/>
          </p:cNvSpPr>
          <p:nvPr/>
        </p:nvSpPr>
        <p:spPr bwMode="auto">
          <a:xfrm>
            <a:off x="2636737" y="2271045"/>
            <a:ext cx="4370387"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50000"/>
              </a:spcBef>
            </a:pPr>
            <a:r>
              <a:rPr lang="en-US" altLang="zh-CN" sz="2800">
                <a:ea typeface="黑体" panose="02010609060101010101" pitchFamily="49" charset="-122"/>
              </a:rPr>
              <a:t>3.7-1 </a:t>
            </a:r>
            <a:r>
              <a:rPr lang="zh-CN" altLang="en-US" sz="2800">
                <a:ea typeface="黑体" panose="02010609060101010101" pitchFamily="49" charset="-122"/>
                <a:hlinkClick r:id="rId1" tooltip="轴的概述" action="ppaction://hlinksldjump"/>
              </a:rPr>
              <a:t>轴的概述</a:t>
            </a:r>
            <a:endParaRPr lang="zh-CN" altLang="en-US" sz="2800">
              <a:ea typeface="黑体" panose="02010609060101010101" pitchFamily="49" charset="-122"/>
            </a:endParaRPr>
          </a:p>
        </p:txBody>
      </p:sp>
      <p:sp>
        <p:nvSpPr>
          <p:cNvPr id="15363" name="Text Box 7">
            <a:hlinkClick r:id="rId2" action="ppaction://hlinksldjump" highlightClick="1"/>
          </p:cNvPr>
          <p:cNvSpPr txBox="1">
            <a:spLocks noChangeArrowheads="1"/>
          </p:cNvSpPr>
          <p:nvPr/>
        </p:nvSpPr>
        <p:spPr bwMode="auto">
          <a:xfrm>
            <a:off x="2646363" y="2950009"/>
            <a:ext cx="548957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sz="2800">
                <a:ea typeface="黑体" panose="02010609060101010101" pitchFamily="49" charset="-122"/>
              </a:rPr>
              <a:t>3.7-2 </a:t>
            </a:r>
            <a:r>
              <a:rPr lang="zh-CN" altLang="en-US" sz="2800">
                <a:ea typeface="黑体" panose="02010609060101010101" pitchFamily="49" charset="-122"/>
                <a:hlinkClick r:id="rId3" tooltip="滑动轴承的典型结构" action="ppaction://hlinksldjump"/>
              </a:rPr>
              <a:t>轴的结构设计</a:t>
            </a:r>
            <a:endParaRPr lang="zh-CN" altLang="en-US" sz="2800">
              <a:ea typeface="黑体" panose="02010609060101010101" pitchFamily="49" charset="-122"/>
            </a:endParaRPr>
          </a:p>
        </p:txBody>
      </p:sp>
      <p:sp>
        <p:nvSpPr>
          <p:cNvPr id="15364" name="Text Box 8">
            <a:hlinkClick r:id="rId4" action="ppaction://hlinksldjump"/>
          </p:cNvPr>
          <p:cNvSpPr txBox="1">
            <a:spLocks noChangeArrowheads="1"/>
          </p:cNvSpPr>
          <p:nvPr/>
        </p:nvSpPr>
        <p:spPr bwMode="auto">
          <a:xfrm>
            <a:off x="2627112" y="3657851"/>
            <a:ext cx="3465679"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sz="2800" dirty="0">
                <a:ea typeface="黑体" panose="02010609060101010101" pitchFamily="49" charset="-122"/>
              </a:rPr>
              <a:t>3.7-3 </a:t>
            </a:r>
            <a:r>
              <a:rPr lang="zh-CN" altLang="en-US" sz="2800" dirty="0">
                <a:ea typeface="黑体" panose="02010609060101010101" pitchFamily="49" charset="-122"/>
                <a:hlinkClick r:id="rId5" tooltip="滑动轴承的失效形式及常用材料" action="ppaction://hlinksldjump"/>
              </a:rPr>
              <a:t>轴的计算</a:t>
            </a:r>
            <a:endParaRPr lang="zh-CN" altLang="en-US" sz="2800" dirty="0">
              <a:ea typeface="黑体" panose="02010609060101010101" pitchFamily="49" charset="-122"/>
            </a:endParaRPr>
          </a:p>
        </p:txBody>
      </p:sp>
      <p:sp>
        <p:nvSpPr>
          <p:cNvPr id="15365" name="Rectangle 21"/>
          <p:cNvSpPr>
            <a:spLocks noGrp="1" noChangeArrowheads="1"/>
          </p:cNvSpPr>
          <p:nvPr>
            <p:ph type="ctrTitle"/>
          </p:nvPr>
        </p:nvSpPr>
        <p:spPr bwMode="auto">
          <a:xfrm>
            <a:off x="2914266" y="666500"/>
            <a:ext cx="4929187" cy="6064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algn="l" eaLnBrk="1" hangingPunct="1"/>
            <a:r>
              <a:rPr lang="zh-CN" altLang="en-US" sz="3200" dirty="0" smtClean="0">
                <a:solidFill>
                  <a:srgbClr val="A50021"/>
                </a:solidFill>
                <a:latin typeface="黑体" panose="02010609060101010101" pitchFamily="49" charset="-122"/>
                <a:ea typeface="黑体" panose="02010609060101010101" pitchFamily="49" charset="-122"/>
              </a:rPr>
              <a:t>第</a:t>
            </a:r>
            <a:r>
              <a:rPr lang="en-US" altLang="zh-CN" sz="3200" dirty="0" smtClean="0">
                <a:solidFill>
                  <a:srgbClr val="A50021"/>
                </a:solidFill>
                <a:latin typeface="黑体" panose="02010609060101010101" pitchFamily="49" charset="-122"/>
                <a:ea typeface="黑体" panose="02010609060101010101" pitchFamily="49" charset="-122"/>
              </a:rPr>
              <a:t>3.7</a:t>
            </a:r>
            <a:r>
              <a:rPr lang="zh-CN" altLang="en-US" sz="3200" dirty="0" smtClean="0">
                <a:solidFill>
                  <a:srgbClr val="A50021"/>
                </a:solidFill>
                <a:latin typeface="黑体" panose="02010609060101010101" pitchFamily="49" charset="-122"/>
                <a:ea typeface="黑体" panose="02010609060101010101" pitchFamily="49" charset="-122"/>
              </a:rPr>
              <a:t>章 轴</a:t>
            </a:r>
            <a:endParaRPr lang="zh-CN" altLang="en-US" sz="3200" dirty="0" smtClean="0"/>
          </a:p>
        </p:txBody>
      </p:sp>
      <p:sp>
        <p:nvSpPr>
          <p:cNvPr id="15366" name="直接连接符 6"/>
          <p:cNvSpPr>
            <a:spLocks noChangeShapeType="1"/>
          </p:cNvSpPr>
          <p:nvPr/>
        </p:nvSpPr>
        <p:spPr bwMode="auto">
          <a:xfrm>
            <a:off x="0" y="1400441"/>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grpSp>
        <p:nvGrpSpPr>
          <p:cNvPr id="7" name="组合 1"/>
          <p:cNvGrpSpPr/>
          <p:nvPr/>
        </p:nvGrpSpPr>
        <p:grpSpPr>
          <a:xfrm>
            <a:off x="6165735" y="5939550"/>
            <a:ext cx="2630487" cy="827087"/>
            <a:chOff x="10088" y="9497"/>
            <a:chExt cx="4141" cy="1302"/>
          </a:xfrm>
        </p:grpSpPr>
        <p:sp>
          <p:nvSpPr>
            <p:cNvPr id="8" name="文本框 1073742869"/>
            <p:cNvSpPr txBox="1">
              <a:spLocks noChangeAspect="1"/>
            </p:cNvSpPr>
            <p:nvPr/>
          </p:nvSpPr>
          <p:spPr>
            <a:xfrm>
              <a:off x="11247" y="9745"/>
              <a:ext cx="2983" cy="479"/>
            </a:xfrm>
            <a:prstGeom prst="rect">
              <a:avLst/>
            </a:prstGeom>
            <a:noFill/>
            <a:ln w="9525">
              <a:noFill/>
            </a:ln>
          </p:spPr>
          <p:txBody>
            <a:bodyPr wrap="square" anchor="t"/>
            <a:lstStyle/>
            <a:p>
              <a:pPr algn="ctr">
                <a:buNone/>
              </a:pPr>
              <a:r>
                <a:rPr lang="zh-CN" altLang="en-US" sz="1200" dirty="0">
                  <a:latin typeface="Times New Roman" panose="02020603050405020304" pitchFamily="18" charset="0"/>
                </a:rPr>
                <a:t>China University of Mining &amp; Technology-Beijing</a:t>
              </a:r>
              <a:endParaRPr lang="zh-CN" altLang="en-US" sz="1200" dirty="0">
                <a:latin typeface="Times New Roman" panose="02020603050405020304" pitchFamily="18" charset="0"/>
              </a:endParaRPr>
            </a:p>
            <a:p>
              <a:endParaRPr lang="zh-CN" altLang="en-US" sz="1200" dirty="0">
                <a:latin typeface="Times New Roman" panose="02020603050405020304" pitchFamily="18" charset="0"/>
              </a:endParaRPr>
            </a:p>
          </p:txBody>
        </p:sp>
        <p:pic>
          <p:nvPicPr>
            <p:cNvPr id="9" name="图片 1073742872" descr="44303071dc0a1f9688d599dbc999570副本"/>
            <p:cNvPicPr>
              <a:picLocks noChangeAspect="1"/>
            </p:cNvPicPr>
            <p:nvPr/>
          </p:nvPicPr>
          <p:blipFill>
            <a:blip r:embed="rId6"/>
            <a:stretch>
              <a:fillRect/>
            </a:stretch>
          </p:blipFill>
          <p:spPr>
            <a:xfrm>
              <a:off x="10088" y="9497"/>
              <a:ext cx="1435" cy="1303"/>
            </a:xfrm>
            <a:prstGeom prst="rect">
              <a:avLst/>
            </a:prstGeom>
            <a:noFill/>
            <a:ln w="9525">
              <a:noFill/>
            </a:ln>
          </p:spPr>
        </p:pic>
      </p:grpSp>
      <p:sp>
        <p:nvSpPr>
          <p:cNvPr id="2" name="文本框 1"/>
          <p:cNvSpPr txBox="1"/>
          <p:nvPr/>
        </p:nvSpPr>
        <p:spPr>
          <a:xfrm>
            <a:off x="2592705" y="4363720"/>
            <a:ext cx="5190490" cy="521970"/>
          </a:xfrm>
          <a:prstGeom prst="rect">
            <a:avLst/>
          </a:prstGeom>
          <a:noFill/>
        </p:spPr>
        <p:txBody>
          <a:bodyPr wrap="none" rtlCol="0" anchor="t">
            <a:spAutoFit/>
          </a:bodyPr>
          <a:lstStyle/>
          <a:p>
            <a:pPr eaLnBrk="1" hangingPunct="1"/>
            <a:r>
              <a:rPr lang="en-US" altLang="zh-CN" sz="2800">
                <a:latin typeface="+mn-lt"/>
                <a:ea typeface="黑体" panose="02010609060101010101" pitchFamily="49" charset="-122"/>
                <a:cs typeface="+mn-lt"/>
                <a:sym typeface="+mn-ea"/>
              </a:rPr>
              <a:t>3.7-4</a:t>
            </a:r>
            <a:r>
              <a:rPr lang="en-US" altLang="zh-CN" sz="2800">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a:latin typeface="黑体" panose="02010609060101010101" pitchFamily="49" charset="-122"/>
                <a:ea typeface="黑体" panose="02010609060101010101" pitchFamily="49" charset="-122"/>
                <a:cs typeface="黑体" panose="02010609060101010101" pitchFamily="49" charset="-122"/>
                <a:sym typeface="+mn-ea"/>
                <a:hlinkClick r:id="rId7" action="ppaction://hlinksldjump"/>
              </a:rPr>
              <a:t>案例</a:t>
            </a:r>
            <a:r>
              <a:rPr lang="en-US" altLang="zh-CN" sz="2800">
                <a:latin typeface="黑体" panose="02010609060101010101" pitchFamily="49" charset="-122"/>
                <a:ea typeface="黑体" panose="02010609060101010101" pitchFamily="49" charset="-122"/>
                <a:cs typeface="黑体" panose="02010609060101010101" pitchFamily="49" charset="-122"/>
                <a:sym typeface="+mn-ea"/>
                <a:hlinkClick r:id="rId7" action="ppaction://hlinksldjump"/>
              </a:rPr>
              <a:t>2</a:t>
            </a:r>
            <a:r>
              <a:rPr lang="zh-CN" altLang="en-US" sz="2800">
                <a:latin typeface="黑体" panose="02010609060101010101" pitchFamily="49" charset="-122"/>
                <a:ea typeface="黑体" panose="02010609060101010101" pitchFamily="49" charset="-122"/>
                <a:cs typeface="黑体" panose="02010609060101010101" pitchFamily="49" charset="-122"/>
                <a:sym typeface="+mn-ea"/>
                <a:hlinkClick r:id="rId7" action="ppaction://hlinksldjump"/>
              </a:rPr>
              <a:t>齿轮减速器轴的设计</a:t>
            </a:r>
            <a:endParaRPr lang="zh-CN" altLang="en-US" sz="2800">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advClick="0"/>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descr="点式菱形"/>
          <p:cNvSpPr txBox="1">
            <a:spLocks noChangeArrowheads="1"/>
          </p:cNvSpPr>
          <p:nvPr/>
        </p:nvSpPr>
        <p:spPr bwMode="auto">
          <a:xfrm>
            <a:off x="764038" y="990884"/>
            <a:ext cx="7345363" cy="862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50000"/>
              </a:spcBef>
            </a:pPr>
            <a:r>
              <a:rPr lang="en-US" altLang="zh-CN" sz="2400" dirty="0">
                <a:latin typeface="黑体" panose="02010609060101010101" pitchFamily="49" charset="-122"/>
                <a:ea typeface="黑体" panose="02010609060101010101" pitchFamily="49" charset="-122"/>
              </a:rPr>
              <a:t>    </a:t>
            </a:r>
            <a:r>
              <a:rPr lang="zh-CN" altLang="en-US" sz="2400" dirty="0" smtClean="0">
                <a:solidFill>
                  <a:schemeClr val="accent2"/>
                </a:solidFill>
                <a:latin typeface="黑体" panose="02010609060101010101" pitchFamily="49" charset="-122"/>
                <a:ea typeface="黑体" panose="02010609060101010101" pitchFamily="49" charset="-122"/>
              </a:rPr>
              <a:t>轴</a:t>
            </a:r>
            <a:r>
              <a:rPr lang="zh-CN" altLang="en-US" sz="2400" dirty="0">
                <a:solidFill>
                  <a:schemeClr val="accent2"/>
                </a:solidFill>
                <a:latin typeface="黑体" panose="02010609060101010101" pitchFamily="49" charset="-122"/>
                <a:ea typeface="黑体" panose="02010609060101010101" pitchFamily="49" charset="-122"/>
              </a:rPr>
              <a:t>是组成机器的一个重要零件，属于支承零件，一切作回转运动的零件都离不开轴。</a:t>
            </a:r>
            <a:endParaRPr lang="zh-CN" altLang="en-US" sz="2400" dirty="0">
              <a:solidFill>
                <a:schemeClr val="accent2"/>
              </a:solidFill>
              <a:latin typeface="黑体" panose="02010609060101010101" pitchFamily="49" charset="-122"/>
              <a:ea typeface="黑体" panose="02010609060101010101" pitchFamily="49" charset="-122"/>
            </a:endParaRPr>
          </a:p>
        </p:txBody>
      </p:sp>
      <p:sp>
        <p:nvSpPr>
          <p:cNvPr id="16387" name="Rectangle 18"/>
          <p:cNvSpPr>
            <a:spLocks noChangeArrowheads="1"/>
          </p:cNvSpPr>
          <p:nvPr/>
        </p:nvSpPr>
        <p:spPr bwMode="auto">
          <a:xfrm>
            <a:off x="4953000" y="200025"/>
            <a:ext cx="35052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8000" anchor="ctr" anchorCtr="1"/>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sz="2400" dirty="0" smtClean="0">
                <a:solidFill>
                  <a:srgbClr val="CC3300"/>
                </a:solidFill>
                <a:latin typeface="黑体" panose="02010609060101010101" pitchFamily="49" charset="-122"/>
                <a:ea typeface="黑体" panose="02010609060101010101" pitchFamily="49" charset="-122"/>
              </a:rPr>
              <a:t>3.7-1 </a:t>
            </a:r>
            <a:r>
              <a:rPr lang="zh-CN" altLang="en-US" sz="2400" dirty="0">
                <a:solidFill>
                  <a:srgbClr val="CC3300"/>
                </a:solidFill>
                <a:latin typeface="黑体" panose="02010609060101010101" pitchFamily="49" charset="-122"/>
                <a:ea typeface="黑体" panose="02010609060101010101" pitchFamily="49" charset="-122"/>
              </a:rPr>
              <a:t>轴的概述</a:t>
            </a:r>
            <a:endParaRPr lang="zh-CN" altLang="en-US" sz="2400" dirty="0">
              <a:solidFill>
                <a:srgbClr val="CC3300"/>
              </a:solidFill>
              <a:latin typeface="黑体" panose="02010609060101010101" pitchFamily="49" charset="-122"/>
              <a:ea typeface="黑体" panose="02010609060101010101" pitchFamily="49" charset="-122"/>
            </a:endParaRPr>
          </a:p>
        </p:txBody>
      </p:sp>
      <p:sp>
        <p:nvSpPr>
          <p:cNvPr id="16388"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pic>
        <p:nvPicPr>
          <p:cNvPr id="7" name="Picture 4" descr="减速器"/>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5503" y="2003626"/>
            <a:ext cx="4032250" cy="373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6" descr="1693"/>
          <p:cNvPicPr>
            <a:picLocks noChangeAspect="1" noChangeArrowheads="1"/>
          </p:cNvPicPr>
          <p:nvPr/>
        </p:nvPicPr>
        <p:blipFill>
          <a:blip r:embed="rId2">
            <a:extLst>
              <a:ext uri="{28A0092B-C50C-407E-A947-70E740481C1C}">
                <a14:useLocalDpi xmlns:a14="http://schemas.microsoft.com/office/drawing/2010/main" val="0"/>
              </a:ext>
            </a:extLst>
          </a:blip>
          <a:srcRect t="22040" b="22040"/>
          <a:stretch>
            <a:fillRect/>
          </a:stretch>
        </p:blipFill>
        <p:spPr bwMode="auto">
          <a:xfrm>
            <a:off x="3754438" y="5270500"/>
            <a:ext cx="4762500" cy="80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p:cNvPicPr/>
          <p:nvPr/>
        </p:nvPicPr>
        <p:blipFill>
          <a:blip r:embed="rId3"/>
          <a:stretch>
            <a:fillRect/>
          </a:stretch>
        </p:blipFill>
        <p:spPr>
          <a:xfrm>
            <a:off x="4251960" y="2260600"/>
            <a:ext cx="4085590" cy="2486025"/>
          </a:xfrm>
          <a:prstGeom prst="rect">
            <a:avLst/>
          </a:prstGeom>
        </p:spPr>
      </p:pic>
      <p:cxnSp>
        <p:nvCxnSpPr>
          <p:cNvPr id="3" name="直接箭头连接符 2"/>
          <p:cNvCxnSpPr/>
          <p:nvPr/>
        </p:nvCxnSpPr>
        <p:spPr>
          <a:xfrm flipH="1">
            <a:off x="6310630" y="3328035"/>
            <a:ext cx="492125" cy="2201545"/>
          </a:xfrm>
          <a:prstGeom prst="straightConnector1">
            <a:avLst/>
          </a:prstGeom>
          <a:solidFill>
            <a:schemeClr val="accent1"/>
          </a:solidFill>
          <a:ln w="28575" cap="flat" cmpd="sng" algn="ctr">
            <a:solidFill>
              <a:srgbClr val="FF0066"/>
            </a:solidFill>
            <a:prstDash val="solid"/>
            <a:round/>
            <a:headEnd type="triangle" w="med" len="med"/>
            <a:tailEnd type="non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edge">
                                      <p:cBhvr>
                                        <p:cTn id="7" dur="1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32"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circle(out)">
                                      <p:cBhvr>
                                        <p:cTn id="12" dur="10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down)">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up)">
                                      <p:cBhvr>
                                        <p:cTn id="22" dur="500"/>
                                        <p:tgtEl>
                                          <p:spTgt spid="3"/>
                                        </p:tgtEl>
                                      </p:cBhvr>
                                    </p:animEffect>
                                  </p:childTnLst>
                                </p:cTn>
                              </p:par>
                              <p:par>
                                <p:cTn id="23" presetID="6" presetClass="entr" presetSubtype="32" fill="hold"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circle(out)">
                                      <p:cBhvr>
                                        <p:cTn id="25"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9"/>
          <p:cNvGrpSpPr/>
          <p:nvPr/>
        </p:nvGrpSpPr>
        <p:grpSpPr bwMode="auto">
          <a:xfrm>
            <a:off x="960642" y="3473465"/>
            <a:ext cx="7512050" cy="2155824"/>
            <a:chOff x="635" y="1227"/>
            <a:chExt cx="4732" cy="1358"/>
          </a:xfrm>
        </p:grpSpPr>
        <p:sp>
          <p:nvSpPr>
            <p:cNvPr id="1032" name="Text Box 17"/>
            <p:cNvSpPr txBox="1">
              <a:spLocks noChangeArrowheads="1"/>
            </p:cNvSpPr>
            <p:nvPr/>
          </p:nvSpPr>
          <p:spPr bwMode="auto">
            <a:xfrm>
              <a:off x="635" y="1227"/>
              <a:ext cx="1627"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sz="2200" dirty="0">
                  <a:solidFill>
                    <a:srgbClr val="002060"/>
                  </a:solidFill>
                  <a:latin typeface="黑体" panose="02010609060101010101" pitchFamily="49" charset="-122"/>
                  <a:ea typeface="黑体" panose="02010609060101010101" pitchFamily="49" charset="-122"/>
                </a:rPr>
                <a:t>2</a:t>
              </a:r>
              <a:r>
                <a:rPr lang="zh-CN" altLang="en-US" sz="2200" dirty="0">
                  <a:solidFill>
                    <a:srgbClr val="002060"/>
                  </a:solidFill>
                  <a:latin typeface="黑体" panose="02010609060101010101" pitchFamily="49" charset="-122"/>
                  <a:ea typeface="黑体" panose="02010609060101010101" pitchFamily="49" charset="-122"/>
                </a:rPr>
                <a:t>、传递运动和动力</a:t>
              </a:r>
              <a:endParaRPr lang="zh-CN" altLang="en-US" sz="2200" dirty="0">
                <a:solidFill>
                  <a:srgbClr val="002060"/>
                </a:solidFill>
                <a:latin typeface="黑体" panose="02010609060101010101" pitchFamily="49" charset="-122"/>
                <a:ea typeface="黑体" panose="02010609060101010101" pitchFamily="49" charset="-122"/>
              </a:endParaRPr>
            </a:p>
          </p:txBody>
        </p:sp>
        <p:pic>
          <p:nvPicPr>
            <p:cNvPr id="1033" name="Picture 18" descr="jsq"/>
            <p:cNvPicPr>
              <a:picLocks noChangeAspect="1" noChangeArrowheads="1"/>
            </p:cNvPicPr>
            <p:nvPr/>
          </p:nvPicPr>
          <p:blipFill>
            <a:blip r:embed="rId1">
              <a:lum bright="-6000" contrast="18000"/>
              <a:extLst>
                <a:ext uri="{28A0092B-C50C-407E-A947-70E740481C1C}">
                  <a14:useLocalDpi xmlns:a14="http://schemas.microsoft.com/office/drawing/2010/main" val="0"/>
                </a:ext>
              </a:extLst>
            </a:blip>
            <a:srcRect/>
            <a:stretch>
              <a:fillRect/>
            </a:stretch>
          </p:blipFill>
          <p:spPr bwMode="auto">
            <a:xfrm>
              <a:off x="2934" y="1283"/>
              <a:ext cx="2433" cy="1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028" name="Text Box 14"/>
          <p:cNvSpPr txBox="1">
            <a:spLocks noChangeArrowheads="1"/>
          </p:cNvSpPr>
          <p:nvPr/>
        </p:nvSpPr>
        <p:spPr bwMode="auto">
          <a:xfrm>
            <a:off x="837616" y="2108284"/>
            <a:ext cx="5461000"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50000"/>
              </a:spcBef>
            </a:pPr>
            <a:r>
              <a:rPr lang="en-US" altLang="zh-CN" sz="2200" b="1" dirty="0">
                <a:solidFill>
                  <a:srgbClr val="002060"/>
                </a:solidFill>
                <a:latin typeface="黑体" panose="02010609060101010101" pitchFamily="49" charset="-122"/>
                <a:ea typeface="黑体" panose="02010609060101010101" pitchFamily="49" charset="-122"/>
              </a:rPr>
              <a:t>1</a:t>
            </a:r>
            <a:r>
              <a:rPr lang="zh-CN" altLang="en-US" sz="2200" b="1" dirty="0">
                <a:solidFill>
                  <a:srgbClr val="002060"/>
                </a:solidFill>
                <a:latin typeface="黑体" panose="02010609060101010101" pitchFamily="49" charset="-122"/>
                <a:ea typeface="黑体" panose="02010609060101010101" pitchFamily="49" charset="-122"/>
              </a:rPr>
              <a:t>、</a:t>
            </a:r>
            <a:r>
              <a:rPr lang="zh-CN" altLang="en-US" sz="2200" dirty="0">
                <a:solidFill>
                  <a:srgbClr val="002060"/>
                </a:solidFill>
                <a:latin typeface="黑体" panose="02010609060101010101" pitchFamily="49" charset="-122"/>
                <a:ea typeface="黑体" panose="02010609060101010101" pitchFamily="49" charset="-122"/>
              </a:rPr>
              <a:t>支承轴上回转零件（如齿轮）</a:t>
            </a:r>
            <a:endParaRPr lang="zh-CN" altLang="en-US" sz="2200" dirty="0">
              <a:solidFill>
                <a:srgbClr val="002060"/>
              </a:solidFill>
              <a:latin typeface="黑体" panose="02010609060101010101" pitchFamily="49" charset="-122"/>
              <a:ea typeface="黑体" panose="02010609060101010101" pitchFamily="49" charset="-122"/>
            </a:endParaRPr>
          </a:p>
        </p:txBody>
      </p:sp>
      <p:sp>
        <p:nvSpPr>
          <p:cNvPr id="8" name="Text Box 13"/>
          <p:cNvSpPr txBox="1">
            <a:spLocks noChangeArrowheads="1"/>
          </p:cNvSpPr>
          <p:nvPr/>
        </p:nvSpPr>
        <p:spPr bwMode="auto">
          <a:xfrm>
            <a:off x="584200" y="1079500"/>
            <a:ext cx="4768850" cy="52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zh-CN" altLang="en-US" sz="2200" dirty="0">
                <a:solidFill>
                  <a:srgbClr val="C00000"/>
                </a:solidFill>
                <a:latin typeface="黑体" panose="02010609060101010101" pitchFamily="49" charset="-122"/>
                <a:ea typeface="黑体" panose="02010609060101010101" pitchFamily="49" charset="-122"/>
              </a:rPr>
              <a:t>一、轴的用途</a:t>
            </a:r>
            <a:endParaRPr lang="zh-CN" altLang="en-US" sz="2200" dirty="0">
              <a:solidFill>
                <a:srgbClr val="C00000"/>
              </a:solidFill>
              <a:latin typeface="黑体" panose="02010609060101010101" pitchFamily="49" charset="-122"/>
              <a:ea typeface="黑体" panose="02010609060101010101" pitchFamily="49" charset="-122"/>
            </a:endParaRPr>
          </a:p>
        </p:txBody>
      </p:sp>
      <p:graphicFrame>
        <p:nvGraphicFramePr>
          <p:cNvPr id="1026" name="Object 15"/>
          <p:cNvGraphicFramePr>
            <a:graphicFrameLocks noChangeAspect="1"/>
          </p:cNvGraphicFramePr>
          <p:nvPr/>
        </p:nvGraphicFramePr>
        <p:xfrm>
          <a:off x="5772150" y="1262063"/>
          <a:ext cx="2133600" cy="1828800"/>
        </p:xfrm>
        <a:graphic>
          <a:graphicData uri="http://schemas.openxmlformats.org/presentationml/2006/ole">
            <mc:AlternateContent xmlns:mc="http://schemas.openxmlformats.org/markup-compatibility/2006">
              <mc:Choice xmlns:v="urn:schemas-microsoft-com:vml" Requires="v">
                <p:oleObj spid="_x0000_s1085" name="BMP 图像" r:id="rId2" imgW="1524000" imgH="1438275" progId="Paint.Picture">
                  <p:embed/>
                </p:oleObj>
              </mc:Choice>
              <mc:Fallback>
                <p:oleObj name="BMP 图像" r:id="rId2" imgW="1524000" imgH="1438275" progId="Paint.Picture">
                  <p:embed/>
                  <p:pic>
                    <p:nvPicPr>
                      <p:cNvPr id="0" name="Object 15"/>
                      <p:cNvPicPr>
                        <a:picLocks noChangeAspect="1" noChangeArrowheads="1"/>
                      </p:cNvPicPr>
                      <p:nvPr/>
                    </p:nvPicPr>
                    <p:blipFill>
                      <a:blip r:embed="rId3">
                        <a:extLst>
                          <a:ext uri="{28A0092B-C50C-407E-A947-70E740481C1C}">
                            <a14:useLocalDpi xmlns:a14="http://schemas.microsoft.com/office/drawing/2010/main" val="0"/>
                          </a:ext>
                        </a:extLst>
                      </a:blip>
                      <a:srcRect t="5298" r="6667" b="9933"/>
                      <a:stretch>
                        <a:fillRect/>
                      </a:stretch>
                    </p:blipFill>
                    <p:spPr bwMode="auto">
                      <a:xfrm>
                        <a:off x="5772150" y="1262063"/>
                        <a:ext cx="2133600" cy="182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0" name="Rectangle 18"/>
          <p:cNvSpPr>
            <a:spLocks noChangeArrowheads="1"/>
          </p:cNvSpPr>
          <p:nvPr/>
        </p:nvSpPr>
        <p:spPr bwMode="auto">
          <a:xfrm>
            <a:off x="4953000" y="200025"/>
            <a:ext cx="35052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8000" anchor="ctr" anchorCtr="1"/>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sz="2400">
                <a:solidFill>
                  <a:srgbClr val="CC3300"/>
                </a:solidFill>
                <a:latin typeface="黑体" panose="02010609060101010101" pitchFamily="49" charset="-122"/>
                <a:ea typeface="黑体" panose="02010609060101010101" pitchFamily="49" charset="-122"/>
              </a:rPr>
              <a:t>3.7-1 </a:t>
            </a:r>
            <a:r>
              <a:rPr lang="zh-CN" altLang="en-US" sz="2400">
                <a:solidFill>
                  <a:srgbClr val="CC3300"/>
                </a:solidFill>
                <a:latin typeface="黑体" panose="02010609060101010101" pitchFamily="49" charset="-122"/>
                <a:ea typeface="黑体" panose="02010609060101010101" pitchFamily="49" charset="-122"/>
              </a:rPr>
              <a:t>轴的概述</a:t>
            </a:r>
            <a:endParaRPr lang="zh-CN" altLang="en-US" sz="2400">
              <a:solidFill>
                <a:srgbClr val="CC3300"/>
              </a:solidFill>
              <a:latin typeface="黑体" panose="02010609060101010101" pitchFamily="49" charset="-122"/>
              <a:ea typeface="黑体" panose="02010609060101010101" pitchFamily="49" charset="-122"/>
            </a:endParaRPr>
          </a:p>
        </p:txBody>
      </p:sp>
      <p:sp>
        <p:nvSpPr>
          <p:cNvPr id="1031"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28"/>
                                        </p:tgtEl>
                                        <p:attrNameLst>
                                          <p:attrName>style.visibility</p:attrName>
                                        </p:attrNameLst>
                                      </p:cBhvr>
                                      <p:to>
                                        <p:strVal val="visible"/>
                                      </p:to>
                                    </p:set>
                                    <p:animEffect transition="in" filter="wipe(left)">
                                      <p:cBhvr>
                                        <p:cTn id="12" dur="500"/>
                                        <p:tgtEl>
                                          <p:spTgt spid="102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026"/>
                                        </p:tgtEl>
                                        <p:attrNameLst>
                                          <p:attrName>style.visibility</p:attrName>
                                        </p:attrNameLst>
                                      </p:cBhvr>
                                      <p:to>
                                        <p:strVal val="visible"/>
                                      </p:to>
                                    </p:set>
                                    <p:animEffect transition="in" filter="wipe(left)">
                                      <p:cBhvr>
                                        <p:cTn id="17" dur="500"/>
                                        <p:tgtEl>
                                          <p:spTgt spid="102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left)">
                                      <p:cBhvr>
                                        <p:cTn id="2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8" grpId="0"/>
      <p:bldP spid="8"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18"/>
          <p:cNvSpPr>
            <a:spLocks noChangeArrowheads="1"/>
          </p:cNvSpPr>
          <p:nvPr/>
        </p:nvSpPr>
        <p:spPr bwMode="auto">
          <a:xfrm>
            <a:off x="4953000" y="200025"/>
            <a:ext cx="35052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8000" anchor="ctr" anchorCtr="1"/>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sz="2400">
                <a:solidFill>
                  <a:srgbClr val="CC3300"/>
                </a:solidFill>
                <a:latin typeface="黑体" panose="02010609060101010101" pitchFamily="49" charset="-122"/>
                <a:ea typeface="黑体" panose="02010609060101010101" pitchFamily="49" charset="-122"/>
              </a:rPr>
              <a:t>3.7-1 </a:t>
            </a:r>
            <a:r>
              <a:rPr lang="zh-CN" altLang="en-US" sz="2400">
                <a:solidFill>
                  <a:srgbClr val="CC3300"/>
                </a:solidFill>
                <a:latin typeface="黑体" panose="02010609060101010101" pitchFamily="49" charset="-122"/>
                <a:ea typeface="黑体" panose="02010609060101010101" pitchFamily="49" charset="-122"/>
              </a:rPr>
              <a:t>轴的概述</a:t>
            </a:r>
            <a:endParaRPr lang="zh-CN" altLang="en-US" sz="2400">
              <a:solidFill>
                <a:srgbClr val="CC3300"/>
              </a:solidFill>
              <a:latin typeface="黑体" panose="02010609060101010101" pitchFamily="49" charset="-122"/>
              <a:ea typeface="黑体" panose="02010609060101010101" pitchFamily="49" charset="-122"/>
            </a:endParaRPr>
          </a:p>
        </p:txBody>
      </p:sp>
      <p:sp>
        <p:nvSpPr>
          <p:cNvPr id="17411"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grpSp>
        <p:nvGrpSpPr>
          <p:cNvPr id="2" name="Group 6"/>
          <p:cNvGrpSpPr/>
          <p:nvPr/>
        </p:nvGrpSpPr>
        <p:grpSpPr bwMode="auto">
          <a:xfrm>
            <a:off x="1703388" y="2641600"/>
            <a:ext cx="4959350" cy="1417638"/>
            <a:chOff x="1452" y="2936"/>
            <a:chExt cx="3124" cy="893"/>
          </a:xfrm>
        </p:grpSpPr>
        <p:sp>
          <p:nvSpPr>
            <p:cNvPr id="17422" name="Text Box 7"/>
            <p:cNvSpPr txBox="1">
              <a:spLocks noChangeArrowheads="1"/>
            </p:cNvSpPr>
            <p:nvPr/>
          </p:nvSpPr>
          <p:spPr bwMode="auto">
            <a:xfrm>
              <a:off x="1452" y="3038"/>
              <a:ext cx="1538"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zh-CN" altLang="en-US" sz="2200" dirty="0">
                  <a:solidFill>
                    <a:srgbClr val="006600"/>
                  </a:solidFill>
                  <a:latin typeface="黑体" panose="02010609060101010101" pitchFamily="49" charset="-122"/>
                  <a:ea typeface="黑体" panose="02010609060101010101" pitchFamily="49" charset="-122"/>
                </a:rPr>
                <a:t>转动心轴：</a:t>
              </a:r>
              <a:r>
                <a:rPr lang="zh-CN" altLang="en-US" sz="2200" dirty="0">
                  <a:solidFill>
                    <a:srgbClr val="002060"/>
                  </a:solidFill>
                  <a:latin typeface="华文中宋" panose="02010600040101010101" pitchFamily="2" charset="-122"/>
                </a:rPr>
                <a:t>轴转动</a:t>
              </a:r>
              <a:endParaRPr lang="zh-CN" altLang="en-US" sz="2200" dirty="0">
                <a:solidFill>
                  <a:srgbClr val="002060"/>
                </a:solidFill>
                <a:latin typeface="华文中宋" panose="02010600040101010101" pitchFamily="2" charset="-122"/>
              </a:endParaRPr>
            </a:p>
          </p:txBody>
        </p:sp>
        <p:pic>
          <p:nvPicPr>
            <p:cNvPr id="17423" name="Picture 8" descr="hlz"/>
            <p:cNvPicPr>
              <a:picLocks noChangeAspect="1" noChangeArrowheads="1"/>
            </p:cNvPicPr>
            <p:nvPr/>
          </p:nvPicPr>
          <p:blipFill>
            <a:blip r:embed="rId1">
              <a:extLst>
                <a:ext uri="{28A0092B-C50C-407E-A947-70E740481C1C}">
                  <a14:useLocalDpi xmlns:a14="http://schemas.microsoft.com/office/drawing/2010/main" val="0"/>
                </a:ext>
              </a:extLst>
            </a:blip>
            <a:srcRect r="49727"/>
            <a:stretch>
              <a:fillRect/>
            </a:stretch>
          </p:blipFill>
          <p:spPr bwMode="auto">
            <a:xfrm>
              <a:off x="3472" y="2936"/>
              <a:ext cx="1104" cy="8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3" name="Group 9"/>
          <p:cNvGrpSpPr/>
          <p:nvPr/>
        </p:nvGrpSpPr>
        <p:grpSpPr bwMode="auto">
          <a:xfrm>
            <a:off x="1800225" y="2619375"/>
            <a:ext cx="6680200" cy="1417638"/>
            <a:chOff x="1492" y="3120"/>
            <a:chExt cx="4208" cy="893"/>
          </a:xfrm>
        </p:grpSpPr>
        <p:sp>
          <p:nvSpPr>
            <p:cNvPr id="17420" name="Rectangle 10"/>
            <p:cNvSpPr>
              <a:spLocks noChangeArrowheads="1"/>
            </p:cNvSpPr>
            <p:nvPr/>
          </p:nvSpPr>
          <p:spPr bwMode="auto">
            <a:xfrm>
              <a:off x="1492" y="3624"/>
              <a:ext cx="2208"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50000"/>
                </a:spcBef>
              </a:pPr>
              <a:r>
                <a:rPr lang="zh-CN" altLang="en-US" sz="2200" dirty="0">
                  <a:solidFill>
                    <a:srgbClr val="006600"/>
                  </a:solidFill>
                  <a:latin typeface="黑体" panose="02010609060101010101" pitchFamily="49" charset="-122"/>
                  <a:ea typeface="黑体" panose="02010609060101010101" pitchFamily="49" charset="-122"/>
                </a:rPr>
                <a:t>固定心轴：</a:t>
              </a:r>
              <a:r>
                <a:rPr lang="zh-CN" altLang="en-US" sz="2200" dirty="0">
                  <a:solidFill>
                    <a:srgbClr val="002060"/>
                  </a:solidFill>
                  <a:latin typeface="华文中宋" panose="02010600040101010101" pitchFamily="2" charset="-122"/>
                </a:rPr>
                <a:t>轴固定</a:t>
              </a:r>
              <a:endParaRPr lang="zh-CN" altLang="en-US" sz="2200" dirty="0">
                <a:solidFill>
                  <a:srgbClr val="002060"/>
                </a:solidFill>
                <a:latin typeface="华文中宋" panose="02010600040101010101" pitchFamily="2" charset="-122"/>
              </a:endParaRPr>
            </a:p>
          </p:txBody>
        </p:sp>
        <p:pic>
          <p:nvPicPr>
            <p:cNvPr id="17421" name="Picture 11" descr="hlz"/>
            <p:cNvPicPr>
              <a:picLocks noChangeAspect="1" noChangeArrowheads="1"/>
            </p:cNvPicPr>
            <p:nvPr/>
          </p:nvPicPr>
          <p:blipFill>
            <a:blip r:embed="rId1">
              <a:extLst>
                <a:ext uri="{28A0092B-C50C-407E-A947-70E740481C1C}">
                  <a14:useLocalDpi xmlns:a14="http://schemas.microsoft.com/office/drawing/2010/main" val="0"/>
                </a:ext>
              </a:extLst>
            </a:blip>
            <a:srcRect l="52460" r="-546"/>
            <a:stretch>
              <a:fillRect/>
            </a:stretch>
          </p:blipFill>
          <p:spPr bwMode="auto">
            <a:xfrm>
              <a:off x="4644" y="3120"/>
              <a:ext cx="1056" cy="8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2" name="Text Box 13"/>
          <p:cNvSpPr txBox="1">
            <a:spLocks noChangeArrowheads="1"/>
          </p:cNvSpPr>
          <p:nvPr/>
        </p:nvSpPr>
        <p:spPr bwMode="auto">
          <a:xfrm>
            <a:off x="533400" y="698500"/>
            <a:ext cx="4768850" cy="52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zh-CN" altLang="en-US" sz="2200">
                <a:solidFill>
                  <a:srgbClr val="C00000"/>
                </a:solidFill>
                <a:latin typeface="黑体" panose="02010609060101010101" pitchFamily="49" charset="-122"/>
                <a:ea typeface="黑体" panose="02010609060101010101" pitchFamily="49" charset="-122"/>
              </a:rPr>
              <a:t>二、轴的分类</a:t>
            </a:r>
            <a:endParaRPr lang="zh-CN" altLang="en-US" sz="2200">
              <a:solidFill>
                <a:srgbClr val="C00000"/>
              </a:solidFill>
              <a:latin typeface="黑体" panose="02010609060101010101" pitchFamily="49" charset="-122"/>
              <a:ea typeface="黑体" panose="02010609060101010101" pitchFamily="49" charset="-122"/>
            </a:endParaRPr>
          </a:p>
        </p:txBody>
      </p:sp>
      <p:sp>
        <p:nvSpPr>
          <p:cNvPr id="13" name="Text Box 21"/>
          <p:cNvSpPr txBox="1">
            <a:spLocks noChangeArrowheads="1"/>
          </p:cNvSpPr>
          <p:nvPr/>
        </p:nvSpPr>
        <p:spPr bwMode="auto">
          <a:xfrm>
            <a:off x="425450" y="1382713"/>
            <a:ext cx="45291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dirty="0">
                <a:latin typeface="华文中宋" panose="02010600040101010101" pitchFamily="2" charset="-122"/>
              </a:rPr>
              <a:t>1</a:t>
            </a:r>
            <a:r>
              <a:rPr lang="zh-CN" altLang="en-US" dirty="0">
                <a:latin typeface="华文中宋" panose="02010600040101010101" pitchFamily="2" charset="-122"/>
              </a:rPr>
              <a:t>、按照承受载荷的不同，轴可分为： </a:t>
            </a:r>
            <a:endParaRPr lang="zh-CN" altLang="en-US" dirty="0">
              <a:latin typeface="华文中宋" panose="02010600040101010101" pitchFamily="2" charset="-122"/>
            </a:endParaRPr>
          </a:p>
        </p:txBody>
      </p:sp>
      <p:sp>
        <p:nvSpPr>
          <p:cNvPr id="14" name="Text Box 33"/>
          <p:cNvSpPr txBox="1">
            <a:spLocks noChangeArrowheads="1"/>
          </p:cNvSpPr>
          <p:nvPr/>
        </p:nvSpPr>
        <p:spPr bwMode="auto">
          <a:xfrm>
            <a:off x="749300" y="1881188"/>
            <a:ext cx="6475413" cy="769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sz="1400" dirty="0">
                <a:solidFill>
                  <a:srgbClr val="CC3300"/>
                </a:solidFill>
                <a:latin typeface="华文中宋" panose="02010600040101010101" pitchFamily="2" charset="-122"/>
              </a:rPr>
              <a:t>◆ </a:t>
            </a:r>
            <a:r>
              <a:rPr lang="zh-CN" altLang="en-US" sz="2200" dirty="0">
                <a:latin typeface="华文中宋" panose="02010600040101010101" pitchFamily="2" charset="-122"/>
              </a:rPr>
              <a:t>心　轴─</a:t>
            </a:r>
            <a:r>
              <a:rPr lang="zh-CN" altLang="en-US" sz="2200" dirty="0">
                <a:solidFill>
                  <a:srgbClr val="CC3300"/>
                </a:solidFill>
              </a:rPr>
              <a:t>只承受弯矩（</a:t>
            </a:r>
            <a:r>
              <a:rPr lang="en-US" altLang="zh-CN" sz="2200" i="1" dirty="0">
                <a:solidFill>
                  <a:srgbClr val="CC3300"/>
                </a:solidFill>
              </a:rPr>
              <a:t>M</a:t>
            </a:r>
            <a:r>
              <a:rPr lang="zh-CN" altLang="en-US" sz="2200" dirty="0">
                <a:solidFill>
                  <a:srgbClr val="CC3300"/>
                </a:solidFill>
              </a:rPr>
              <a:t>），不传递转矩（</a:t>
            </a:r>
            <a:r>
              <a:rPr lang="en-US" altLang="zh-CN" sz="2200" i="1" dirty="0">
                <a:solidFill>
                  <a:srgbClr val="CC3300"/>
                </a:solidFill>
              </a:rPr>
              <a:t>T</a:t>
            </a:r>
            <a:r>
              <a:rPr lang="en-US" altLang="zh-CN" sz="2200" dirty="0">
                <a:solidFill>
                  <a:srgbClr val="CC3300"/>
                </a:solidFill>
              </a:rPr>
              <a:t>=0</a:t>
            </a:r>
            <a:r>
              <a:rPr lang="zh-CN" altLang="en-US" sz="2200" dirty="0">
                <a:solidFill>
                  <a:srgbClr val="CC3300"/>
                </a:solidFill>
              </a:rPr>
              <a:t>）</a:t>
            </a:r>
            <a:endParaRPr lang="zh-CN" altLang="en-US" sz="2200" dirty="0">
              <a:solidFill>
                <a:srgbClr val="CC3300"/>
              </a:solidFill>
            </a:endParaRPr>
          </a:p>
          <a:p>
            <a:pPr eaLnBrk="1" hangingPunct="1"/>
            <a:r>
              <a:rPr lang="zh-CN" altLang="en-US" sz="2200" dirty="0">
                <a:latin typeface="华文中宋" panose="02010600040101010101" pitchFamily="2" charset="-122"/>
              </a:rPr>
              <a:t>                 如火车车轮轴。</a:t>
            </a:r>
            <a:endParaRPr lang="zh-CN" altLang="en-US" sz="2200" dirty="0">
              <a:latin typeface="华文中宋" panose="02010600040101010101" pitchFamily="2" charset="-122"/>
            </a:endParaRPr>
          </a:p>
        </p:txBody>
      </p:sp>
      <p:sp>
        <p:nvSpPr>
          <p:cNvPr id="15" name="Text Box 34"/>
          <p:cNvSpPr txBox="1">
            <a:spLocks noChangeArrowheads="1"/>
          </p:cNvSpPr>
          <p:nvPr/>
        </p:nvSpPr>
        <p:spPr bwMode="auto">
          <a:xfrm>
            <a:off x="832636" y="4251626"/>
            <a:ext cx="6957097" cy="769441"/>
          </a:xfrm>
          <a:prstGeom prst="rect">
            <a:avLst/>
          </a:prstGeom>
          <a:noFill/>
          <a:ln w="9525">
            <a:noFill/>
            <a:miter lim="800000"/>
          </a:ln>
        </p:spPr>
        <p:txBody>
          <a:bodyPr wrap="none">
            <a:spAutoFit/>
          </a:bodyPr>
          <a:lstStyle/>
          <a:p>
            <a:pPr>
              <a:defRPr/>
            </a:pPr>
            <a:r>
              <a:rPr lang="en-US" altLang="zh-CN" sz="1400" dirty="0">
                <a:solidFill>
                  <a:srgbClr val="CC3300"/>
                </a:solidFill>
                <a:latin typeface="华文中宋" panose="02010600040101010101" pitchFamily="2" charset="-122"/>
              </a:rPr>
              <a:t>◆ </a:t>
            </a:r>
            <a:r>
              <a:rPr lang="zh-CN" altLang="en-US" sz="2200" dirty="0">
                <a:latin typeface="华文中宋" panose="02010600040101010101" pitchFamily="2" charset="-122"/>
              </a:rPr>
              <a:t>传动轴─</a:t>
            </a:r>
            <a:r>
              <a:rPr lang="zh-CN" altLang="en-US" sz="2200" dirty="0" smtClean="0">
                <a:solidFill>
                  <a:srgbClr val="CC3300"/>
                </a:solidFill>
                <a:effectLst>
                  <a:outerShdw blurRad="38100" dist="38100" dir="2700000" algn="tl">
                    <a:srgbClr val="C0C0C0"/>
                  </a:outerShdw>
                </a:effectLst>
              </a:rPr>
              <a:t>只承受</a:t>
            </a:r>
            <a:r>
              <a:rPr lang="zh-CN" altLang="en-US" sz="2200" dirty="0">
                <a:solidFill>
                  <a:srgbClr val="CC3300"/>
                </a:solidFill>
                <a:effectLst>
                  <a:outerShdw blurRad="38100" dist="38100" dir="2700000" algn="tl">
                    <a:srgbClr val="C0C0C0"/>
                  </a:outerShdw>
                </a:effectLst>
              </a:rPr>
              <a:t>转矩</a:t>
            </a:r>
            <a:r>
              <a:rPr lang="en-US" altLang="zh-CN" sz="2200" dirty="0">
                <a:solidFill>
                  <a:srgbClr val="CC3300"/>
                </a:solidFill>
                <a:effectLst>
                  <a:outerShdw blurRad="38100" dist="38100" dir="2700000" algn="tl">
                    <a:srgbClr val="C0C0C0"/>
                  </a:outerShdw>
                </a:effectLst>
              </a:rPr>
              <a:t>(</a:t>
            </a:r>
            <a:r>
              <a:rPr lang="en-US" altLang="zh-CN" sz="2200" i="1" dirty="0">
                <a:solidFill>
                  <a:srgbClr val="CC3300"/>
                </a:solidFill>
                <a:effectLst>
                  <a:outerShdw blurRad="38100" dist="38100" dir="2700000" algn="tl">
                    <a:srgbClr val="C0C0C0"/>
                  </a:outerShdw>
                </a:effectLst>
              </a:rPr>
              <a:t>T </a:t>
            </a:r>
            <a:r>
              <a:rPr lang="en-US" altLang="zh-CN" sz="2200" dirty="0">
                <a:solidFill>
                  <a:srgbClr val="CC3300"/>
                </a:solidFill>
                <a:effectLst>
                  <a:outerShdw blurRad="38100" dist="38100" dir="2700000" algn="tl">
                    <a:srgbClr val="C0C0C0"/>
                  </a:outerShdw>
                </a:effectLst>
              </a:rPr>
              <a:t>)</a:t>
            </a:r>
            <a:r>
              <a:rPr lang="zh-CN" altLang="en-US" sz="2200" dirty="0">
                <a:solidFill>
                  <a:srgbClr val="CC3300"/>
                </a:solidFill>
                <a:effectLst>
                  <a:outerShdw blurRad="38100" dist="38100" dir="2700000" algn="tl">
                    <a:srgbClr val="C0C0C0"/>
                  </a:outerShdw>
                </a:effectLst>
              </a:rPr>
              <a:t>，</a:t>
            </a:r>
            <a:r>
              <a:rPr lang="zh-CN" altLang="en-US" sz="2200" dirty="0" smtClean="0">
                <a:solidFill>
                  <a:srgbClr val="CC3300"/>
                </a:solidFill>
                <a:effectLst>
                  <a:outerShdw blurRad="38100" dist="38100" dir="2700000" algn="tl">
                    <a:srgbClr val="C0C0C0"/>
                  </a:outerShdw>
                </a:effectLst>
              </a:rPr>
              <a:t>不承受</a:t>
            </a:r>
            <a:r>
              <a:rPr lang="zh-CN" altLang="en-US" sz="2200" dirty="0">
                <a:solidFill>
                  <a:srgbClr val="CC3300"/>
                </a:solidFill>
                <a:effectLst>
                  <a:outerShdw blurRad="38100" dist="38100" dir="2700000" algn="tl">
                    <a:srgbClr val="C0C0C0"/>
                  </a:outerShdw>
                </a:effectLst>
              </a:rPr>
              <a:t>弯矩</a:t>
            </a:r>
            <a:r>
              <a:rPr lang="en-US" altLang="zh-CN" sz="2200" dirty="0">
                <a:solidFill>
                  <a:srgbClr val="CC3300"/>
                </a:solidFill>
                <a:effectLst>
                  <a:outerShdw blurRad="38100" dist="38100" dir="2700000" algn="tl">
                    <a:srgbClr val="C0C0C0"/>
                  </a:outerShdw>
                </a:effectLst>
                <a:sym typeface="Wingdings" panose="05000000000000000000" pitchFamily="2" charset="2"/>
              </a:rPr>
              <a:t>(</a:t>
            </a:r>
            <a:r>
              <a:rPr lang="en-US" altLang="zh-CN" sz="2200" i="1" dirty="0">
                <a:solidFill>
                  <a:srgbClr val="CC3300"/>
                </a:solidFill>
                <a:effectLst>
                  <a:outerShdw blurRad="38100" dist="38100" dir="2700000" algn="tl">
                    <a:srgbClr val="C0C0C0"/>
                  </a:outerShdw>
                </a:effectLst>
              </a:rPr>
              <a:t>M</a:t>
            </a:r>
            <a:r>
              <a:rPr lang="en-US" altLang="zh-CN" sz="2200" dirty="0">
                <a:solidFill>
                  <a:srgbClr val="CC3300"/>
                </a:solidFill>
                <a:effectLst>
                  <a:outerShdw blurRad="38100" dist="38100" dir="2700000" algn="tl">
                    <a:srgbClr val="C0C0C0"/>
                  </a:outerShdw>
                </a:effectLst>
              </a:rPr>
              <a:t>=0</a:t>
            </a:r>
            <a:r>
              <a:rPr lang="en-US" altLang="zh-CN" sz="2200" dirty="0">
                <a:solidFill>
                  <a:srgbClr val="CC3300"/>
                </a:solidFill>
                <a:effectLst>
                  <a:outerShdw blurRad="38100" dist="38100" dir="2700000" algn="tl">
                    <a:srgbClr val="C0C0C0"/>
                  </a:outerShdw>
                </a:effectLst>
                <a:sym typeface="Wingdings" panose="05000000000000000000" pitchFamily="2" charset="2"/>
              </a:rPr>
              <a:t> </a:t>
            </a:r>
            <a:r>
              <a:rPr lang="zh-CN" altLang="en-US" sz="2200" dirty="0">
                <a:solidFill>
                  <a:srgbClr val="CC3300"/>
                </a:solidFill>
                <a:effectLst>
                  <a:outerShdw blurRad="38100" dist="38100" dir="2700000" algn="tl">
                    <a:srgbClr val="C0C0C0"/>
                  </a:outerShdw>
                </a:effectLst>
                <a:sym typeface="Wingdings" panose="05000000000000000000" pitchFamily="2" charset="2"/>
              </a:rPr>
              <a:t>或</a:t>
            </a:r>
            <a:r>
              <a:rPr lang="en-US" altLang="zh-CN" sz="2200" dirty="0">
                <a:solidFill>
                  <a:srgbClr val="CC3300"/>
                </a:solidFill>
                <a:effectLst>
                  <a:outerShdw blurRad="38100" dist="38100" dir="2700000" algn="tl">
                    <a:srgbClr val="C0C0C0"/>
                  </a:outerShdw>
                </a:effectLst>
              </a:rPr>
              <a:t>M</a:t>
            </a:r>
            <a:r>
              <a:rPr lang="zh-CN" altLang="en-US" sz="2200" dirty="0">
                <a:solidFill>
                  <a:srgbClr val="CC3300"/>
                </a:solidFill>
                <a:effectLst>
                  <a:outerShdw blurRad="38100" dist="38100" dir="2700000" algn="tl">
                    <a:srgbClr val="C0C0C0"/>
                  </a:outerShdw>
                </a:effectLst>
              </a:rPr>
              <a:t>很小</a:t>
            </a:r>
            <a:r>
              <a:rPr lang="en-US" altLang="zh-CN" sz="2200" dirty="0">
                <a:solidFill>
                  <a:srgbClr val="CC3300"/>
                </a:solidFill>
                <a:effectLst>
                  <a:outerShdw blurRad="38100" dist="38100" dir="2700000" algn="tl">
                    <a:srgbClr val="C0C0C0"/>
                  </a:outerShdw>
                </a:effectLst>
              </a:rPr>
              <a:t>)</a:t>
            </a:r>
            <a:endParaRPr lang="en-US" altLang="zh-CN" sz="2200" dirty="0">
              <a:latin typeface="华文中宋" panose="02010600040101010101" pitchFamily="2" charset="-122"/>
            </a:endParaRPr>
          </a:p>
          <a:p>
            <a:pPr>
              <a:defRPr/>
            </a:pPr>
            <a:r>
              <a:rPr lang="en-US" altLang="zh-CN" sz="2200" dirty="0">
                <a:latin typeface="华文中宋" panose="02010600040101010101" pitchFamily="2" charset="-122"/>
              </a:rPr>
              <a:t>                   </a:t>
            </a:r>
            <a:r>
              <a:rPr lang="zh-CN" altLang="en-US" sz="2200" dirty="0">
                <a:latin typeface="华文中宋" panose="02010600040101010101" pitchFamily="2" charset="-122"/>
              </a:rPr>
              <a:t>如汽车的传动轴。</a:t>
            </a:r>
            <a:endParaRPr lang="zh-CN" altLang="en-US" sz="2200" dirty="0">
              <a:latin typeface="华文中宋" panose="02010600040101010101" pitchFamily="2" charset="-122"/>
            </a:endParaRPr>
          </a:p>
        </p:txBody>
      </p:sp>
      <p:sp>
        <p:nvSpPr>
          <p:cNvPr id="17418" name="矩形 15"/>
          <p:cNvSpPr>
            <a:spLocks noChangeArrowheads="1"/>
          </p:cNvSpPr>
          <p:nvPr/>
        </p:nvSpPr>
        <p:spPr bwMode="auto">
          <a:xfrm>
            <a:off x="2341513" y="5782077"/>
            <a:ext cx="457200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10000"/>
              </a:lnSpc>
            </a:pPr>
            <a:r>
              <a:rPr lang="zh-CN" altLang="en-US" dirty="0">
                <a:solidFill>
                  <a:schemeClr val="tx1"/>
                </a:solidFill>
              </a:rPr>
              <a:t>如：减速器中的轴。</a:t>
            </a:r>
            <a:endParaRPr lang="zh-CN" altLang="en-US" dirty="0">
              <a:solidFill>
                <a:schemeClr val="tx1"/>
              </a:solidFill>
            </a:endParaRPr>
          </a:p>
        </p:txBody>
      </p:sp>
      <p:sp>
        <p:nvSpPr>
          <p:cNvPr id="17" name="Text Box 32"/>
          <p:cNvSpPr txBox="1">
            <a:spLocks noChangeArrowheads="1"/>
          </p:cNvSpPr>
          <p:nvPr/>
        </p:nvSpPr>
        <p:spPr bwMode="auto">
          <a:xfrm>
            <a:off x="965200" y="5191125"/>
            <a:ext cx="6167755" cy="768350"/>
          </a:xfrm>
          <a:prstGeom prst="rect">
            <a:avLst/>
          </a:prstGeom>
          <a:noFill/>
          <a:ln w="9525">
            <a:noFill/>
            <a:miter lim="800000"/>
          </a:ln>
        </p:spPr>
        <p:txBody>
          <a:bodyPr wrap="none">
            <a:spAutoFit/>
          </a:bodyPr>
          <a:lstStyle/>
          <a:p>
            <a:pPr>
              <a:defRPr/>
            </a:pPr>
            <a:r>
              <a:rPr lang="en-US" altLang="zh-CN" sz="2200" dirty="0">
                <a:solidFill>
                  <a:srgbClr val="CC3300"/>
                </a:solidFill>
                <a:latin typeface="华文中宋" panose="02010600040101010101" pitchFamily="2" charset="-122"/>
              </a:rPr>
              <a:t>◆ </a:t>
            </a:r>
            <a:r>
              <a:rPr lang="zh-CN" altLang="en-US" sz="2200" dirty="0"/>
              <a:t>转　轴─</a:t>
            </a:r>
            <a:r>
              <a:rPr lang="zh-CN" altLang="en-US" sz="2200" dirty="0">
                <a:solidFill>
                  <a:srgbClr val="CC3300"/>
                </a:solidFill>
                <a:effectLst>
                  <a:outerShdw blurRad="38100" dist="38100" dir="2700000" algn="tl">
                    <a:srgbClr val="C0C0C0"/>
                  </a:outerShdw>
                </a:effectLst>
              </a:rPr>
              <a:t>既传递转矩（</a:t>
            </a:r>
            <a:r>
              <a:rPr lang="en-US" altLang="zh-CN" sz="2200" i="1" dirty="0">
                <a:solidFill>
                  <a:srgbClr val="CC3300"/>
                </a:solidFill>
                <a:effectLst>
                  <a:outerShdw blurRad="38100" dist="38100" dir="2700000" algn="tl">
                    <a:srgbClr val="C0C0C0"/>
                  </a:outerShdw>
                </a:effectLst>
              </a:rPr>
              <a:t>T</a:t>
            </a:r>
            <a:r>
              <a:rPr lang="zh-CN" altLang="en-US" sz="2200" dirty="0">
                <a:solidFill>
                  <a:srgbClr val="CC3300"/>
                </a:solidFill>
                <a:effectLst>
                  <a:outerShdw blurRad="38100" dist="38100" dir="2700000" algn="tl">
                    <a:srgbClr val="C0C0C0"/>
                  </a:outerShdw>
                </a:effectLst>
              </a:rPr>
              <a:t>）、又承受弯矩（</a:t>
            </a:r>
            <a:r>
              <a:rPr lang="en-US" altLang="zh-CN" sz="2200" i="1" dirty="0">
                <a:solidFill>
                  <a:srgbClr val="CC3300"/>
                </a:solidFill>
                <a:effectLst>
                  <a:outerShdw blurRad="38100" dist="38100" dir="2700000" algn="tl">
                    <a:srgbClr val="C0C0C0"/>
                  </a:outerShdw>
                </a:effectLst>
              </a:rPr>
              <a:t>M</a:t>
            </a:r>
            <a:r>
              <a:rPr lang="zh-CN" altLang="en-US" sz="2200" dirty="0">
                <a:solidFill>
                  <a:srgbClr val="CC3300"/>
                </a:solidFill>
                <a:effectLst>
                  <a:outerShdw blurRad="38100" dist="38100" dir="2700000" algn="tl">
                    <a:srgbClr val="C0C0C0"/>
                  </a:outerShdw>
                </a:effectLst>
              </a:rPr>
              <a:t>）</a:t>
            </a:r>
            <a:endParaRPr lang="zh-CN" altLang="en-US" sz="2200" dirty="0">
              <a:solidFill>
                <a:srgbClr val="CC3300"/>
              </a:solidFill>
              <a:effectLst>
                <a:outerShdw blurRad="38100" dist="38100" dir="2700000" algn="tl">
                  <a:srgbClr val="C0C0C0"/>
                </a:outerShdw>
              </a:effectLst>
            </a:endParaRPr>
          </a:p>
          <a:p>
            <a:pPr>
              <a:defRPr/>
            </a:pPr>
            <a:r>
              <a:rPr lang="zh-CN" altLang="en-US" sz="2200" dirty="0"/>
              <a:t>       </a:t>
            </a:r>
            <a:endParaRPr lang="zh-CN" altLang="en-US" sz="2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left)">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left)">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left)">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wipe(left)">
                                      <p:cBhvr>
                                        <p:cTn id="27" dur="500"/>
                                        <p:tgtEl>
                                          <p:spTgt spid="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wipe(left)">
                                      <p:cBhvr>
                                        <p:cTn id="32" dur="500"/>
                                        <p:tgtEl>
                                          <p:spTgt spid="1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wipe(left)">
                                      <p:cBhvr>
                                        <p:cTn id="37" dur="500"/>
                                        <p:tgtEl>
                                          <p:spTgt spid="17"/>
                                        </p:tgtEl>
                                      </p:cBhvr>
                                    </p:animEffect>
                                  </p:childTnLst>
                                </p:cTn>
                              </p:par>
                            </p:childTnLst>
                          </p:cTn>
                        </p:par>
                        <p:par>
                          <p:cTn id="38" fill="hold">
                            <p:stCondLst>
                              <p:cond delay="500"/>
                            </p:stCondLst>
                            <p:childTnLst>
                              <p:par>
                                <p:cTn id="39" presetID="22" presetClass="entr" presetSubtype="8" fill="hold" grpId="0" nodeType="afterEffect">
                                  <p:stCondLst>
                                    <p:cond delay="0"/>
                                  </p:stCondLst>
                                  <p:childTnLst>
                                    <p:set>
                                      <p:cBhvr>
                                        <p:cTn id="40" dur="1" fill="hold">
                                          <p:stCondLst>
                                            <p:cond delay="0"/>
                                          </p:stCondLst>
                                        </p:cTn>
                                        <p:tgtEl>
                                          <p:spTgt spid="17418"/>
                                        </p:tgtEl>
                                        <p:attrNameLst>
                                          <p:attrName>style.visibility</p:attrName>
                                        </p:attrNameLst>
                                      </p:cBhvr>
                                      <p:to>
                                        <p:strVal val="visible"/>
                                      </p:to>
                                    </p:set>
                                    <p:animEffect transition="in" filter="wipe(left)">
                                      <p:cBhvr>
                                        <p:cTn id="41" dur="500"/>
                                        <p:tgtEl>
                                          <p:spTgt spid="174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utoUpdateAnimBg="0"/>
      <p:bldP spid="13" grpId="0" autoUpdateAnimBg="0"/>
      <p:bldP spid="14" grpId="0" autoUpdateAnimBg="0"/>
      <p:bldP spid="15" grpId="0" autoUpdateAnimBg="0"/>
      <p:bldP spid="17" grpId="0" autoUpdateAnimBg="0"/>
      <p:bldP spid="1741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9870" y="776923"/>
            <a:ext cx="3886200" cy="1262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7173" name="Object 5"/>
          <p:cNvGraphicFramePr>
            <a:graphicFrameLocks noChangeAspect="1"/>
          </p:cNvGraphicFramePr>
          <p:nvPr/>
        </p:nvGraphicFramePr>
        <p:xfrm>
          <a:off x="5800090" y="864235"/>
          <a:ext cx="2625090" cy="2061845"/>
        </p:xfrm>
        <a:graphic>
          <a:graphicData uri="http://schemas.openxmlformats.org/presentationml/2006/ole">
            <mc:AlternateContent xmlns:mc="http://schemas.openxmlformats.org/markup-compatibility/2006">
              <mc:Choice xmlns:v="urn:schemas-microsoft-com:vml" Requires="v">
                <p:oleObj spid="_x0000_s2109" name="位图图像" r:id="rId2" imgW="2393950" imgH="1943100" progId="Paint.Picture">
                  <p:embed/>
                </p:oleObj>
              </mc:Choice>
              <mc:Fallback>
                <p:oleObj name="位图图像" r:id="rId2" imgW="2393950" imgH="1943100" progId="Paint.Picture">
                  <p:embed/>
                  <p:pic>
                    <p:nvPicPr>
                      <p:cNvPr id="0" name="Object 5"/>
                      <p:cNvPicPr>
                        <a:picLocks noChangeAspect="1" noChangeArrowheads="1"/>
                      </p:cNvPicPr>
                      <p:nvPr/>
                    </p:nvPicPr>
                    <p:blipFill>
                      <a:blip r:embed="rId3"/>
                      <a:srcRect/>
                      <a:stretch>
                        <a:fillRect/>
                      </a:stretch>
                    </p:blipFill>
                    <p:spPr bwMode="auto">
                      <a:xfrm>
                        <a:off x="5800090" y="864235"/>
                        <a:ext cx="2625090" cy="20618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53"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17410" name="Rectangle 18"/>
          <p:cNvSpPr>
            <a:spLocks noChangeArrowheads="1"/>
          </p:cNvSpPr>
          <p:nvPr/>
        </p:nvSpPr>
        <p:spPr bwMode="auto">
          <a:xfrm>
            <a:off x="4953000" y="200025"/>
            <a:ext cx="35052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8000" anchor="ctr" anchorCtr="1"/>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sz="2400">
                <a:solidFill>
                  <a:srgbClr val="CC3300"/>
                </a:solidFill>
                <a:latin typeface="黑体" panose="02010609060101010101" pitchFamily="49" charset="-122"/>
                <a:ea typeface="黑体" panose="02010609060101010101" pitchFamily="49" charset="-122"/>
              </a:rPr>
              <a:t>3.7-1 </a:t>
            </a:r>
            <a:r>
              <a:rPr lang="zh-CN" altLang="en-US" sz="2400">
                <a:solidFill>
                  <a:srgbClr val="CC3300"/>
                </a:solidFill>
                <a:latin typeface="黑体" panose="02010609060101010101" pitchFamily="49" charset="-122"/>
                <a:ea typeface="黑体" panose="02010609060101010101" pitchFamily="49" charset="-122"/>
              </a:rPr>
              <a:t>轴的概述</a:t>
            </a:r>
            <a:endParaRPr lang="zh-CN" altLang="en-US" sz="2400">
              <a:solidFill>
                <a:srgbClr val="CC3300"/>
              </a:solidFill>
              <a:latin typeface="黑体" panose="02010609060101010101" pitchFamily="49" charset="-122"/>
              <a:ea typeface="黑体" panose="02010609060101010101" pitchFamily="49" charset="-122"/>
            </a:endParaRPr>
          </a:p>
        </p:txBody>
      </p:sp>
      <p:pic>
        <p:nvPicPr>
          <p:cNvPr id="160773" name="Picture 1029" descr="固定心轴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360" y="2718753"/>
            <a:ext cx="5903913" cy="3506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0774" name="Picture 1030" descr="固定心轴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83095" y="3320415"/>
            <a:ext cx="1863725" cy="347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p:cNvSpPr/>
          <p:nvPr/>
        </p:nvSpPr>
        <p:spPr>
          <a:xfrm>
            <a:off x="2877185" y="4727575"/>
            <a:ext cx="2917190" cy="1421765"/>
          </a:xfrm>
          <a:prstGeom prst="rect">
            <a:avLst/>
          </a:prstGeom>
          <a:solidFill>
            <a:schemeClr val="accent3">
              <a:lumMod val="85000"/>
            </a:schemeClr>
          </a:solidFill>
          <a:ln w="9525" cap="flat" cmpd="sng" algn="ctr">
            <a:no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p:txBody>
      </p:sp>
      <p:pic>
        <p:nvPicPr>
          <p:cNvPr id="159751" name="Picture 7" descr="传动轴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80890" y="3339465"/>
            <a:ext cx="1816735" cy="334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173"/>
                                        </p:tgtEl>
                                        <p:attrNameLst>
                                          <p:attrName>style.visibility</p:attrName>
                                        </p:attrNameLst>
                                      </p:cBhvr>
                                      <p:to>
                                        <p:strVal val="visible"/>
                                      </p:to>
                                    </p:set>
                                    <p:animEffect transition="in" filter="wipe(left)">
                                      <p:cBhvr>
                                        <p:cTn id="12" dur="500"/>
                                        <p:tgtEl>
                                          <p:spTgt spid="717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5" fill="hold" nodeType="clickEffect">
                                  <p:stCondLst>
                                    <p:cond delay="0"/>
                                  </p:stCondLst>
                                  <p:childTnLst>
                                    <p:set>
                                      <p:cBhvr>
                                        <p:cTn id="16" dur="1" fill="hold">
                                          <p:stCondLst>
                                            <p:cond delay="0"/>
                                          </p:stCondLst>
                                        </p:cTn>
                                        <p:tgtEl>
                                          <p:spTgt spid="160773"/>
                                        </p:tgtEl>
                                        <p:attrNameLst>
                                          <p:attrName>style.visibility</p:attrName>
                                        </p:attrNameLst>
                                      </p:cBhvr>
                                      <p:to>
                                        <p:strVal val="visible"/>
                                      </p:to>
                                    </p:set>
                                    <p:animEffect transition="in" filter="blinds(vertical)">
                                      <p:cBhvr>
                                        <p:cTn id="17" dur="500"/>
                                        <p:tgtEl>
                                          <p:spTgt spid="160773"/>
                                        </p:tgtEl>
                                      </p:cBhvr>
                                    </p:animEffect>
                                  </p:childTnLst>
                                </p:cTn>
                              </p:par>
                              <p:par>
                                <p:cTn id="18" presetID="22" presetClass="entr" presetSubtype="8" fill="hold" grpId="0" nodeType="with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wipe(left)">
                                      <p:cBhvr>
                                        <p:cTn id="20" dur="500"/>
                                        <p:tgtEl>
                                          <p:spTgt spid="3"/>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xit" presetSubtype="8" fill="hold" grpId="1" nodeType="clickEffect">
                                  <p:stCondLst>
                                    <p:cond delay="0"/>
                                  </p:stCondLst>
                                  <p:childTnLst>
                                    <p:animEffect transition="out" filter="wipe(left)">
                                      <p:cBhvr>
                                        <p:cTn id="24" dur="500"/>
                                        <p:tgtEl>
                                          <p:spTgt spid="3"/>
                                        </p:tgtEl>
                                      </p:cBhvr>
                                    </p:animEffect>
                                    <p:set>
                                      <p:cBhvr>
                                        <p:cTn id="25" dur="1" fill="hold">
                                          <p:stCondLst>
                                            <p:cond delay="499"/>
                                          </p:stCondLst>
                                        </p:cTn>
                                        <p:tgtEl>
                                          <p:spTgt spid="3"/>
                                        </p:tgtEl>
                                        <p:attrNameLst>
                                          <p:attrName>style.visibility</p:attrName>
                                        </p:attrNameLst>
                                      </p:cBhvr>
                                      <p:to>
                                        <p:strVal val="hidden"/>
                                      </p:to>
                                    </p:se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nodeType="clickEffect">
                                  <p:stCondLst>
                                    <p:cond delay="0"/>
                                  </p:stCondLst>
                                  <p:childTnLst>
                                    <p:set>
                                      <p:cBhvr>
                                        <p:cTn id="29" dur="1" fill="hold">
                                          <p:stCondLst>
                                            <p:cond delay="0"/>
                                          </p:stCondLst>
                                        </p:cTn>
                                        <p:tgtEl>
                                          <p:spTgt spid="159751"/>
                                        </p:tgtEl>
                                        <p:attrNameLst>
                                          <p:attrName>style.visibility</p:attrName>
                                        </p:attrNameLst>
                                      </p:cBhvr>
                                      <p:to>
                                        <p:strVal val="visible"/>
                                      </p:to>
                                    </p:set>
                                    <p:animEffect transition="in" filter="dissolve">
                                      <p:cBhvr>
                                        <p:cTn id="30" dur="500"/>
                                        <p:tgtEl>
                                          <p:spTgt spid="159751"/>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5" fill="hold" nodeType="clickEffect">
                                  <p:stCondLst>
                                    <p:cond delay="0"/>
                                  </p:stCondLst>
                                  <p:childTnLst>
                                    <p:set>
                                      <p:cBhvr>
                                        <p:cTn id="34" dur="1" fill="hold">
                                          <p:stCondLst>
                                            <p:cond delay="0"/>
                                          </p:stCondLst>
                                        </p:cTn>
                                        <p:tgtEl>
                                          <p:spTgt spid="160774"/>
                                        </p:tgtEl>
                                        <p:attrNameLst>
                                          <p:attrName>style.visibility</p:attrName>
                                        </p:attrNameLst>
                                      </p:cBhvr>
                                      <p:to>
                                        <p:strVal val="visible"/>
                                      </p:to>
                                    </p:set>
                                    <p:animEffect transition="in" filter="blinds(vertical)">
                                      <p:cBhvr>
                                        <p:cTn id="35" dur="500"/>
                                        <p:tgtEl>
                                          <p:spTgt spid="1607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3" grpId="1"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25"/>
          <p:cNvSpPr txBox="1">
            <a:spLocks noChangeArrowheads="1"/>
          </p:cNvSpPr>
          <p:nvPr/>
        </p:nvSpPr>
        <p:spPr bwMode="auto">
          <a:xfrm>
            <a:off x="216853" y="1073468"/>
            <a:ext cx="3852862" cy="430212"/>
          </a:xfrm>
          <a:prstGeom prst="rect">
            <a:avLst/>
          </a:prstGeom>
          <a:noFill/>
          <a:ln>
            <a:noFill/>
          </a:ln>
          <a:effectLst/>
        </p:spPr>
        <p:txBody>
          <a:bodyPr wrap="none">
            <a:spAutoFit/>
          </a:bodyPr>
          <a:lstStyle/>
          <a:p>
            <a:pPr>
              <a:defRPr/>
            </a:pPr>
            <a:r>
              <a:rPr lang="zh-CN" altLang="en-US" sz="2200" dirty="0">
                <a:solidFill>
                  <a:srgbClr val="002060"/>
                </a:solidFill>
                <a:latin typeface="华文中宋" panose="02010600040101010101" pitchFamily="2" charset="-122"/>
              </a:rPr>
              <a:t>如何判断轴是否传递</a:t>
            </a:r>
            <a:r>
              <a:rPr lang="zh-CN" altLang="en-US" sz="2200" b="1" dirty="0">
                <a:solidFill>
                  <a:schemeClr val="accent2"/>
                </a:solidFill>
                <a:effectLst>
                  <a:outerShdw blurRad="38100" dist="38100" dir="2700000" algn="tl">
                    <a:srgbClr val="C0C0C0"/>
                  </a:outerShdw>
                </a:effectLst>
                <a:latin typeface="华文中宋" panose="02010600040101010101" pitchFamily="2" charset="-122"/>
              </a:rPr>
              <a:t>转矩：</a:t>
            </a:r>
            <a:r>
              <a:rPr lang="zh-CN" altLang="en-US" sz="2200" dirty="0">
                <a:solidFill>
                  <a:schemeClr val="tx2"/>
                </a:solidFill>
                <a:latin typeface="华文中宋" panose="02010600040101010101" pitchFamily="2" charset="-122"/>
              </a:rPr>
              <a:t>：</a:t>
            </a:r>
            <a:endParaRPr lang="zh-CN" altLang="en-US" sz="2200" dirty="0">
              <a:solidFill>
                <a:schemeClr val="tx2"/>
              </a:solidFill>
              <a:latin typeface="华文中宋" panose="02010600040101010101" pitchFamily="2" charset="-122"/>
            </a:endParaRPr>
          </a:p>
        </p:txBody>
      </p:sp>
      <p:sp>
        <p:nvSpPr>
          <p:cNvPr id="7" name="Text Box 26"/>
          <p:cNvSpPr txBox="1">
            <a:spLocks noChangeArrowheads="1"/>
          </p:cNvSpPr>
          <p:nvPr/>
        </p:nvSpPr>
        <p:spPr bwMode="auto">
          <a:xfrm>
            <a:off x="541387" y="1790898"/>
            <a:ext cx="7766050" cy="811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660400"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10000"/>
              </a:lnSpc>
            </a:pPr>
            <a:r>
              <a:rPr lang="zh-CN" altLang="en-US" sz="2200" dirty="0">
                <a:latin typeface="华文中宋" panose="02010600040101010101" pitchFamily="2" charset="-122"/>
              </a:rPr>
              <a:t>从原动机向工作机画传动路线，若传动路线</a:t>
            </a:r>
            <a:r>
              <a:rPr lang="zh-CN" altLang="en-US" sz="2200" dirty="0">
                <a:solidFill>
                  <a:srgbClr val="CC3300"/>
                </a:solidFill>
                <a:latin typeface="华文中宋" panose="02010600040101010101" pitchFamily="2" charset="-122"/>
              </a:rPr>
              <a:t>沿该轴轴线</a:t>
            </a:r>
            <a:r>
              <a:rPr lang="zh-CN" altLang="en-US" sz="2200" dirty="0">
                <a:latin typeface="华文中宋" panose="02010600040101010101" pitchFamily="2" charset="-122"/>
              </a:rPr>
              <a:t>走过一段距离，则该轴</a:t>
            </a:r>
            <a:r>
              <a:rPr lang="zh-CN" altLang="en-US" sz="2200" b="1" u="sng" dirty="0">
                <a:solidFill>
                  <a:srgbClr val="FF0000"/>
                </a:solidFill>
                <a:latin typeface="华文中宋" panose="02010600040101010101" pitchFamily="2" charset="-122"/>
              </a:rPr>
              <a:t>传递转矩</a:t>
            </a:r>
            <a:r>
              <a:rPr lang="zh-CN" altLang="en-US" sz="2200" dirty="0">
                <a:latin typeface="华文中宋" panose="02010600040101010101" pitchFamily="2" charset="-122"/>
              </a:rPr>
              <a:t>。</a:t>
            </a:r>
            <a:endParaRPr lang="zh-CN" altLang="en-US" sz="2200" dirty="0">
              <a:latin typeface="华文中宋" panose="02010600040101010101" pitchFamily="2" charset="-122"/>
            </a:endParaRPr>
          </a:p>
        </p:txBody>
      </p:sp>
      <p:sp>
        <p:nvSpPr>
          <p:cNvPr id="8" name="Text Box 27"/>
          <p:cNvSpPr txBox="1">
            <a:spLocks noChangeArrowheads="1"/>
          </p:cNvSpPr>
          <p:nvPr/>
        </p:nvSpPr>
        <p:spPr bwMode="auto">
          <a:xfrm>
            <a:off x="122133" y="2875091"/>
            <a:ext cx="3646487" cy="523875"/>
          </a:xfrm>
          <a:prstGeom prst="rect">
            <a:avLst/>
          </a:prstGeom>
          <a:noFill/>
          <a:ln>
            <a:noFill/>
          </a:ln>
          <a:effectLst/>
        </p:spPr>
        <p:txBody>
          <a:bodyPr wrap="none">
            <a:spAutoFit/>
          </a:bodyPr>
          <a:lstStyle/>
          <a:p>
            <a:pPr>
              <a:defRPr/>
            </a:pPr>
            <a:r>
              <a:rPr lang="zh-CN" altLang="en-US" sz="2200" dirty="0">
                <a:solidFill>
                  <a:srgbClr val="002060"/>
                </a:solidFill>
                <a:latin typeface="华文中宋" panose="02010600040101010101" pitchFamily="2" charset="-122"/>
              </a:rPr>
              <a:t>如何判断轴是否承受</a:t>
            </a:r>
            <a:r>
              <a:rPr lang="zh-CN" altLang="en-US" sz="2200" b="1" dirty="0">
                <a:solidFill>
                  <a:schemeClr val="tx1">
                    <a:lumMod val="60000"/>
                    <a:lumOff val="40000"/>
                  </a:schemeClr>
                </a:solidFill>
                <a:effectLst>
                  <a:outerShdw blurRad="38100" dist="38100" dir="2700000" algn="tl">
                    <a:srgbClr val="C0C0C0"/>
                  </a:outerShdw>
                </a:effectLst>
                <a:latin typeface="华文中宋" panose="02010600040101010101" pitchFamily="2" charset="-122"/>
              </a:rPr>
              <a:t>弯矩</a:t>
            </a:r>
            <a:r>
              <a:rPr lang="zh-CN" altLang="en-US" sz="2800" dirty="0">
                <a:solidFill>
                  <a:srgbClr val="002060"/>
                </a:solidFill>
                <a:latin typeface="华文中宋" panose="02010600040101010101" pitchFamily="2" charset="-122"/>
              </a:rPr>
              <a:t>：</a:t>
            </a:r>
            <a:endParaRPr lang="zh-CN" altLang="en-US" sz="2800" dirty="0">
              <a:solidFill>
                <a:srgbClr val="002060"/>
              </a:solidFill>
              <a:latin typeface="华文中宋" panose="02010600040101010101" pitchFamily="2" charset="-122"/>
            </a:endParaRPr>
          </a:p>
        </p:txBody>
      </p:sp>
      <p:sp>
        <p:nvSpPr>
          <p:cNvPr id="9" name="Text Box 28"/>
          <p:cNvSpPr txBox="1">
            <a:spLocks noChangeArrowheads="1"/>
          </p:cNvSpPr>
          <p:nvPr/>
        </p:nvSpPr>
        <p:spPr bwMode="auto">
          <a:xfrm>
            <a:off x="341659" y="3672284"/>
            <a:ext cx="7842250" cy="835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660400"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10000"/>
              </a:lnSpc>
            </a:pPr>
            <a:r>
              <a:rPr lang="zh-CN" altLang="en-US" sz="2200" dirty="0">
                <a:latin typeface="华文中宋" panose="02010600040101010101" pitchFamily="2" charset="-122"/>
              </a:rPr>
              <a:t>该轴上</a:t>
            </a:r>
            <a:r>
              <a:rPr lang="zh-CN" altLang="en-US" sz="2200" dirty="0">
                <a:solidFill>
                  <a:srgbClr val="CC3300"/>
                </a:solidFill>
                <a:latin typeface="华文中宋" panose="02010600040101010101" pitchFamily="2" charset="-122"/>
              </a:rPr>
              <a:t>除联轴器外</a:t>
            </a:r>
            <a:r>
              <a:rPr lang="zh-CN" altLang="en-US" sz="2200" dirty="0">
                <a:latin typeface="华文中宋" panose="02010600040101010101" pitchFamily="2" charset="-122"/>
              </a:rPr>
              <a:t>是否还有</a:t>
            </a:r>
            <a:r>
              <a:rPr lang="zh-CN" altLang="en-US" sz="2200" dirty="0">
                <a:solidFill>
                  <a:srgbClr val="CC3300"/>
                </a:solidFill>
                <a:latin typeface="华文中宋" panose="02010600040101010101" pitchFamily="2" charset="-122"/>
              </a:rPr>
              <a:t>其它传动零件</a:t>
            </a:r>
            <a:r>
              <a:rPr lang="zh-CN" altLang="en-US" sz="2200" dirty="0">
                <a:solidFill>
                  <a:schemeClr val="accent2"/>
                </a:solidFill>
                <a:latin typeface="华文中宋" panose="02010600040101010101" pitchFamily="2" charset="-122"/>
              </a:rPr>
              <a:t>，</a:t>
            </a:r>
            <a:r>
              <a:rPr lang="zh-CN" altLang="en-US" sz="2200" dirty="0">
                <a:latin typeface="华文中宋" panose="02010600040101010101" pitchFamily="2" charset="-122"/>
              </a:rPr>
              <a:t>若有则该轴</a:t>
            </a:r>
            <a:r>
              <a:rPr lang="zh-CN" altLang="en-US" sz="2200" u="sng" dirty="0">
                <a:solidFill>
                  <a:srgbClr val="FF0000"/>
                </a:solidFill>
                <a:latin typeface="华文中宋" panose="02010600040101010101" pitchFamily="2" charset="-122"/>
              </a:rPr>
              <a:t>承</a:t>
            </a:r>
            <a:r>
              <a:rPr lang="zh-CN" altLang="en-US" sz="2200" b="1" u="sng" dirty="0">
                <a:solidFill>
                  <a:srgbClr val="FF0000"/>
                </a:solidFill>
                <a:latin typeface="华文中宋" panose="02010600040101010101" pitchFamily="2" charset="-122"/>
              </a:rPr>
              <a:t>受弯矩</a:t>
            </a:r>
            <a:r>
              <a:rPr lang="zh-CN" altLang="en-US" sz="2200" dirty="0">
                <a:latin typeface="华文中宋" panose="02010600040101010101" pitchFamily="2" charset="-122"/>
              </a:rPr>
              <a:t>，否则不承受弯矩。</a:t>
            </a:r>
            <a:endParaRPr lang="zh-CN" altLang="en-US" sz="2200" dirty="0">
              <a:latin typeface="华文中宋" panose="02010600040101010101" pitchFamily="2" charset="-122"/>
            </a:endParaRPr>
          </a:p>
        </p:txBody>
      </p:sp>
      <p:sp>
        <p:nvSpPr>
          <p:cNvPr id="2053"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17410" name="Rectangle 18"/>
          <p:cNvSpPr>
            <a:spLocks noChangeArrowheads="1"/>
          </p:cNvSpPr>
          <p:nvPr/>
        </p:nvSpPr>
        <p:spPr bwMode="auto">
          <a:xfrm>
            <a:off x="4953000" y="200025"/>
            <a:ext cx="35052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8000" anchor="ctr" anchorCtr="1"/>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sz="2400">
                <a:solidFill>
                  <a:srgbClr val="CC3300"/>
                </a:solidFill>
                <a:latin typeface="黑体" panose="02010609060101010101" pitchFamily="49" charset="-122"/>
                <a:ea typeface="黑体" panose="02010609060101010101" pitchFamily="49" charset="-122"/>
              </a:rPr>
              <a:t>3.7-1 </a:t>
            </a:r>
            <a:r>
              <a:rPr lang="zh-CN" altLang="en-US" sz="2400">
                <a:solidFill>
                  <a:srgbClr val="CC3300"/>
                </a:solidFill>
                <a:latin typeface="黑体" panose="02010609060101010101" pitchFamily="49" charset="-122"/>
                <a:ea typeface="黑体" panose="02010609060101010101" pitchFamily="49" charset="-122"/>
              </a:rPr>
              <a:t>轴的概述</a:t>
            </a:r>
            <a:endParaRPr lang="zh-CN" altLang="en-US" sz="2400">
              <a:solidFill>
                <a:srgbClr val="CC3300"/>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autoUpdateAnimBg="0"/>
      <p:bldP spid="7" grpId="0" autoUpdateAnimBg="0"/>
      <p:bldP spid="8" grpId="0" bldLvl="0" animBg="1" autoUpdateAnimBg="0"/>
      <p:bldP spid="9"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660" name="Picture 4" descr="zfl"/>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985838"/>
            <a:ext cx="6037263" cy="539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661" name="Line 5"/>
          <p:cNvSpPr>
            <a:spLocks noChangeShapeType="1"/>
          </p:cNvSpPr>
          <p:nvPr/>
        </p:nvSpPr>
        <p:spPr bwMode="auto">
          <a:xfrm flipH="1">
            <a:off x="4079875" y="2124075"/>
            <a:ext cx="620713" cy="3175"/>
          </a:xfrm>
          <a:prstGeom prst="line">
            <a:avLst/>
          </a:prstGeom>
          <a:noFill/>
          <a:ln w="28575">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0662" name="Line 6"/>
          <p:cNvSpPr>
            <a:spLocks noChangeShapeType="1"/>
          </p:cNvSpPr>
          <p:nvPr/>
        </p:nvSpPr>
        <p:spPr bwMode="auto">
          <a:xfrm>
            <a:off x="1012825" y="2105025"/>
            <a:ext cx="3175" cy="1439863"/>
          </a:xfrm>
          <a:prstGeom prst="line">
            <a:avLst/>
          </a:prstGeom>
          <a:noFill/>
          <a:ln w="28575">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0663" name="Line 7"/>
          <p:cNvSpPr>
            <a:spLocks noChangeShapeType="1"/>
          </p:cNvSpPr>
          <p:nvPr/>
        </p:nvSpPr>
        <p:spPr bwMode="auto">
          <a:xfrm>
            <a:off x="1068388" y="3559175"/>
            <a:ext cx="360362" cy="3175"/>
          </a:xfrm>
          <a:prstGeom prst="line">
            <a:avLst/>
          </a:prstGeom>
          <a:noFill/>
          <a:ln w="28575">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0664" name="Line 8"/>
          <p:cNvSpPr>
            <a:spLocks noChangeShapeType="1"/>
          </p:cNvSpPr>
          <p:nvPr/>
        </p:nvSpPr>
        <p:spPr bwMode="auto">
          <a:xfrm>
            <a:off x="1428750" y="3500438"/>
            <a:ext cx="3175" cy="762000"/>
          </a:xfrm>
          <a:prstGeom prst="line">
            <a:avLst/>
          </a:prstGeom>
          <a:noFill/>
          <a:ln w="28575">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0665" name="Line 9"/>
          <p:cNvSpPr>
            <a:spLocks noChangeShapeType="1"/>
          </p:cNvSpPr>
          <p:nvPr/>
        </p:nvSpPr>
        <p:spPr bwMode="auto">
          <a:xfrm>
            <a:off x="1428750" y="4221163"/>
            <a:ext cx="768350" cy="3175"/>
          </a:xfrm>
          <a:prstGeom prst="line">
            <a:avLst/>
          </a:prstGeom>
          <a:noFill/>
          <a:ln w="28575">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0666" name="Line 10"/>
          <p:cNvSpPr>
            <a:spLocks noChangeShapeType="1"/>
          </p:cNvSpPr>
          <p:nvPr/>
        </p:nvSpPr>
        <p:spPr bwMode="auto">
          <a:xfrm>
            <a:off x="2147888" y="4221163"/>
            <a:ext cx="4762" cy="457200"/>
          </a:xfrm>
          <a:prstGeom prst="line">
            <a:avLst/>
          </a:prstGeom>
          <a:noFill/>
          <a:ln w="28575">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0667" name="Line 11"/>
          <p:cNvSpPr>
            <a:spLocks noChangeShapeType="1"/>
          </p:cNvSpPr>
          <p:nvPr/>
        </p:nvSpPr>
        <p:spPr bwMode="auto">
          <a:xfrm flipV="1">
            <a:off x="2168525" y="4686300"/>
            <a:ext cx="1079500" cy="0"/>
          </a:xfrm>
          <a:prstGeom prst="line">
            <a:avLst/>
          </a:prstGeom>
          <a:noFill/>
          <a:ln w="28575">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0669" name="Line 13"/>
          <p:cNvSpPr>
            <a:spLocks noChangeShapeType="1"/>
          </p:cNvSpPr>
          <p:nvPr/>
        </p:nvSpPr>
        <p:spPr bwMode="auto">
          <a:xfrm flipH="1">
            <a:off x="2292350" y="2133600"/>
            <a:ext cx="1857375" cy="0"/>
          </a:xfrm>
          <a:prstGeom prst="line">
            <a:avLst/>
          </a:prstGeom>
          <a:noFill/>
          <a:ln w="28575">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0670" name="Line 14"/>
          <p:cNvSpPr>
            <a:spLocks noChangeShapeType="1"/>
          </p:cNvSpPr>
          <p:nvPr/>
        </p:nvSpPr>
        <p:spPr bwMode="auto">
          <a:xfrm flipH="1">
            <a:off x="971550" y="2130425"/>
            <a:ext cx="1301750" cy="3175"/>
          </a:xfrm>
          <a:prstGeom prst="line">
            <a:avLst/>
          </a:prstGeom>
          <a:noFill/>
          <a:ln w="28575">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444" name="Text Box 16"/>
          <p:cNvSpPr txBox="1">
            <a:spLocks noChangeArrowheads="1"/>
          </p:cNvSpPr>
          <p:nvPr/>
        </p:nvSpPr>
        <p:spPr bwMode="auto">
          <a:xfrm>
            <a:off x="400050" y="490538"/>
            <a:ext cx="6145213"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zh-CN" altLang="en-US" sz="2200">
                <a:solidFill>
                  <a:srgbClr val="FF5050"/>
                </a:solidFill>
                <a:latin typeface="黑体" panose="02010609060101010101" pitchFamily="49" charset="-122"/>
                <a:ea typeface="黑体" panose="02010609060101010101" pitchFamily="49" charset="-122"/>
              </a:rPr>
              <a:t>问：根据承载情况</a:t>
            </a:r>
            <a:r>
              <a:rPr lang="en-US" altLang="zh-CN" sz="2200">
                <a:solidFill>
                  <a:srgbClr val="FF5050"/>
                </a:solidFill>
                <a:latin typeface="黑体" panose="02010609060101010101" pitchFamily="49" charset="-122"/>
                <a:ea typeface="黑体" panose="02010609060101010101" pitchFamily="49" charset="-122"/>
              </a:rPr>
              <a:t>, </a:t>
            </a:r>
            <a:r>
              <a:rPr lang="zh-CN" altLang="en-US" sz="2200">
                <a:solidFill>
                  <a:srgbClr val="FF5050"/>
                </a:solidFill>
                <a:latin typeface="黑体" panose="02010609060101010101" pitchFamily="49" charset="-122"/>
                <a:ea typeface="黑体" panose="02010609060101010101" pitchFamily="49" charset="-122"/>
              </a:rPr>
              <a:t>下列各轴分别为哪种类型？</a:t>
            </a:r>
            <a:endParaRPr lang="zh-CN" altLang="en-US" sz="2200">
              <a:solidFill>
                <a:srgbClr val="FF5050"/>
              </a:solidFill>
              <a:latin typeface="黑体" panose="02010609060101010101" pitchFamily="49" charset="-122"/>
              <a:ea typeface="黑体" panose="02010609060101010101" pitchFamily="49" charset="-122"/>
            </a:endParaRPr>
          </a:p>
        </p:txBody>
      </p:sp>
      <p:sp>
        <p:nvSpPr>
          <p:cNvPr id="70673" name="Line 17"/>
          <p:cNvSpPr>
            <a:spLocks noChangeShapeType="1"/>
          </p:cNvSpPr>
          <p:nvPr/>
        </p:nvSpPr>
        <p:spPr bwMode="auto">
          <a:xfrm>
            <a:off x="3262313" y="4681538"/>
            <a:ext cx="6350" cy="1430337"/>
          </a:xfrm>
          <a:prstGeom prst="line">
            <a:avLst/>
          </a:prstGeom>
          <a:noFill/>
          <a:ln w="28575">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2" name="Group 4"/>
          <p:cNvGrpSpPr/>
          <p:nvPr/>
        </p:nvGrpSpPr>
        <p:grpSpPr bwMode="auto">
          <a:xfrm>
            <a:off x="5053013" y="3154363"/>
            <a:ext cx="1108075" cy="2660650"/>
            <a:chOff x="3696" y="737"/>
            <a:chExt cx="698" cy="1676"/>
          </a:xfrm>
        </p:grpSpPr>
        <p:sp>
          <p:nvSpPr>
            <p:cNvPr id="18453" name="Text Box 5"/>
            <p:cNvSpPr txBox="1">
              <a:spLocks noChangeArrowheads="1"/>
            </p:cNvSpPr>
            <p:nvPr/>
          </p:nvSpPr>
          <p:spPr bwMode="auto">
            <a:xfrm>
              <a:off x="3696" y="737"/>
              <a:ext cx="687"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sz="2200">
                  <a:solidFill>
                    <a:srgbClr val="002060"/>
                  </a:solidFill>
                  <a:latin typeface="华文中宋" panose="02010600040101010101" pitchFamily="2" charset="-122"/>
                </a:rPr>
                <a:t>0 </a:t>
              </a:r>
              <a:r>
                <a:rPr lang="zh-CN" altLang="en-US" sz="2200">
                  <a:solidFill>
                    <a:srgbClr val="002060"/>
                  </a:solidFill>
                  <a:latin typeface="华文中宋" panose="02010600040101010101" pitchFamily="2" charset="-122"/>
                </a:rPr>
                <a:t>轴</a:t>
              </a:r>
              <a:r>
                <a:rPr lang="zh-CN" altLang="en-US" sz="2800">
                  <a:solidFill>
                    <a:srgbClr val="002060"/>
                  </a:solidFill>
                  <a:latin typeface="华文中宋" panose="02010600040101010101" pitchFamily="2" charset="-122"/>
                </a:rPr>
                <a:t>：</a:t>
              </a:r>
              <a:endParaRPr lang="zh-CN" altLang="en-US" sz="2800">
                <a:solidFill>
                  <a:srgbClr val="002060"/>
                </a:solidFill>
                <a:latin typeface="华文中宋" panose="02010600040101010101" pitchFamily="2" charset="-122"/>
              </a:endParaRPr>
            </a:p>
          </p:txBody>
        </p:sp>
        <p:sp>
          <p:nvSpPr>
            <p:cNvPr id="18454" name="Text Box 6"/>
            <p:cNvSpPr txBox="1">
              <a:spLocks noChangeArrowheads="1"/>
            </p:cNvSpPr>
            <p:nvPr/>
          </p:nvSpPr>
          <p:spPr bwMode="auto">
            <a:xfrm>
              <a:off x="3696" y="997"/>
              <a:ext cx="69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sz="2200">
                  <a:solidFill>
                    <a:srgbClr val="002060"/>
                  </a:solidFill>
                  <a:latin typeface="华文中宋" panose="02010600040101010101" pitchFamily="2" charset="-122"/>
                </a:rPr>
                <a:t>Ⅰ</a:t>
              </a:r>
              <a:r>
                <a:rPr lang="zh-CN" altLang="en-US" sz="2200">
                  <a:solidFill>
                    <a:srgbClr val="002060"/>
                  </a:solidFill>
                  <a:latin typeface="华文中宋" panose="02010600040101010101" pitchFamily="2" charset="-122"/>
                </a:rPr>
                <a:t>轴</a:t>
              </a:r>
              <a:r>
                <a:rPr lang="zh-CN" altLang="en-US" sz="2800">
                  <a:solidFill>
                    <a:srgbClr val="002060"/>
                  </a:solidFill>
                  <a:latin typeface="华文中宋" panose="02010600040101010101" pitchFamily="2" charset="-122"/>
                </a:rPr>
                <a:t>：</a:t>
              </a:r>
              <a:endParaRPr lang="zh-CN" altLang="en-US" sz="2800">
                <a:solidFill>
                  <a:srgbClr val="002060"/>
                </a:solidFill>
                <a:latin typeface="华文中宋" panose="02010600040101010101" pitchFamily="2" charset="-122"/>
              </a:endParaRPr>
            </a:p>
          </p:txBody>
        </p:sp>
        <p:sp>
          <p:nvSpPr>
            <p:cNvPr id="18455" name="Rectangle 7"/>
            <p:cNvSpPr>
              <a:spLocks noChangeArrowheads="1"/>
            </p:cNvSpPr>
            <p:nvPr/>
          </p:nvSpPr>
          <p:spPr bwMode="auto">
            <a:xfrm>
              <a:off x="3696" y="2142"/>
              <a:ext cx="649"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sz="2200">
                  <a:solidFill>
                    <a:srgbClr val="002060"/>
                  </a:solidFill>
                  <a:latin typeface="华文中宋" panose="02010600040101010101" pitchFamily="2" charset="-122"/>
                </a:rPr>
                <a:t>Ⅴ</a:t>
              </a:r>
              <a:r>
                <a:rPr lang="zh-CN" altLang="en-US" sz="2200">
                  <a:solidFill>
                    <a:srgbClr val="002060"/>
                  </a:solidFill>
                  <a:latin typeface="华文中宋" panose="02010600040101010101" pitchFamily="2" charset="-122"/>
                </a:rPr>
                <a:t>轴：</a:t>
              </a:r>
              <a:endParaRPr lang="zh-CN" altLang="en-US" sz="2200">
                <a:solidFill>
                  <a:srgbClr val="002060"/>
                </a:solidFill>
                <a:latin typeface="华文中宋" panose="02010600040101010101" pitchFamily="2" charset="-122"/>
              </a:endParaRPr>
            </a:p>
          </p:txBody>
        </p:sp>
        <p:sp>
          <p:nvSpPr>
            <p:cNvPr id="18456" name="Rectangle 8"/>
            <p:cNvSpPr>
              <a:spLocks noChangeArrowheads="1"/>
            </p:cNvSpPr>
            <p:nvPr/>
          </p:nvSpPr>
          <p:spPr bwMode="auto">
            <a:xfrm>
              <a:off x="3696" y="1280"/>
              <a:ext cx="649"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sz="2200">
                  <a:solidFill>
                    <a:srgbClr val="002060"/>
                  </a:solidFill>
                  <a:latin typeface="华文中宋" panose="02010600040101010101" pitchFamily="2" charset="-122"/>
                </a:rPr>
                <a:t>Ⅱ</a:t>
              </a:r>
              <a:r>
                <a:rPr lang="zh-CN" altLang="en-US" sz="2200">
                  <a:solidFill>
                    <a:srgbClr val="002060"/>
                  </a:solidFill>
                  <a:latin typeface="华文中宋" panose="02010600040101010101" pitchFamily="2" charset="-122"/>
                </a:rPr>
                <a:t>轴：</a:t>
              </a:r>
              <a:endParaRPr lang="zh-CN" altLang="en-US" sz="2200">
                <a:solidFill>
                  <a:srgbClr val="002060"/>
                </a:solidFill>
                <a:latin typeface="华文中宋" panose="02010600040101010101" pitchFamily="2" charset="-122"/>
              </a:endParaRPr>
            </a:p>
          </p:txBody>
        </p:sp>
        <p:sp>
          <p:nvSpPr>
            <p:cNvPr id="18457" name="Rectangle 9"/>
            <p:cNvSpPr>
              <a:spLocks noChangeArrowheads="1"/>
            </p:cNvSpPr>
            <p:nvPr/>
          </p:nvSpPr>
          <p:spPr bwMode="auto">
            <a:xfrm>
              <a:off x="3696" y="1566"/>
              <a:ext cx="649"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sz="2200">
                  <a:solidFill>
                    <a:srgbClr val="002060"/>
                  </a:solidFill>
                  <a:latin typeface="华文中宋" panose="02010600040101010101" pitchFamily="2" charset="-122"/>
                </a:rPr>
                <a:t>Ⅲ</a:t>
              </a:r>
              <a:r>
                <a:rPr lang="zh-CN" altLang="en-US" sz="2200">
                  <a:solidFill>
                    <a:srgbClr val="002060"/>
                  </a:solidFill>
                  <a:latin typeface="华文中宋" panose="02010600040101010101" pitchFamily="2" charset="-122"/>
                </a:rPr>
                <a:t>轴：</a:t>
              </a:r>
              <a:endParaRPr lang="zh-CN" altLang="en-US" sz="2200">
                <a:solidFill>
                  <a:srgbClr val="002060"/>
                </a:solidFill>
                <a:latin typeface="华文中宋" panose="02010600040101010101" pitchFamily="2" charset="-122"/>
              </a:endParaRPr>
            </a:p>
          </p:txBody>
        </p:sp>
        <p:sp>
          <p:nvSpPr>
            <p:cNvPr id="18458" name="Rectangle 10"/>
            <p:cNvSpPr>
              <a:spLocks noChangeArrowheads="1"/>
            </p:cNvSpPr>
            <p:nvPr/>
          </p:nvSpPr>
          <p:spPr bwMode="auto">
            <a:xfrm>
              <a:off x="3696" y="1854"/>
              <a:ext cx="649"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sz="2200" dirty="0">
                  <a:solidFill>
                    <a:srgbClr val="002060"/>
                  </a:solidFill>
                  <a:latin typeface="华文中宋" panose="02010600040101010101" pitchFamily="2" charset="-122"/>
                </a:rPr>
                <a:t>Ⅳ</a:t>
              </a:r>
              <a:r>
                <a:rPr lang="zh-CN" altLang="en-US" sz="2200" dirty="0">
                  <a:solidFill>
                    <a:srgbClr val="002060"/>
                  </a:solidFill>
                  <a:latin typeface="华文中宋" panose="02010600040101010101" pitchFamily="2" charset="-122"/>
                </a:rPr>
                <a:t>轴：</a:t>
              </a:r>
              <a:endParaRPr lang="zh-CN" altLang="en-US" sz="2200" dirty="0">
                <a:solidFill>
                  <a:srgbClr val="002060"/>
                </a:solidFill>
                <a:latin typeface="华文中宋" panose="02010600040101010101" pitchFamily="2" charset="-122"/>
              </a:endParaRPr>
            </a:p>
          </p:txBody>
        </p:sp>
      </p:grpSp>
      <p:sp>
        <p:nvSpPr>
          <p:cNvPr id="21" name="Rectangle 11"/>
          <p:cNvSpPr>
            <a:spLocks noChangeArrowheads="1"/>
          </p:cNvSpPr>
          <p:nvPr/>
        </p:nvSpPr>
        <p:spPr bwMode="auto">
          <a:xfrm>
            <a:off x="5982988" y="3189889"/>
            <a:ext cx="2378075"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zh-CN" altLang="en-US" sz="2200" b="1" dirty="0">
                <a:solidFill>
                  <a:srgbClr val="006600"/>
                </a:solidFill>
                <a:latin typeface="幼圆" panose="02010509060101010101" pitchFamily="49" charset="-122"/>
                <a:ea typeface="幼圆" panose="02010509060101010101" pitchFamily="49" charset="-122"/>
              </a:rPr>
              <a:t>传动轴</a:t>
            </a:r>
            <a:endParaRPr lang="zh-CN" altLang="en-US" sz="2200" b="1" dirty="0">
              <a:solidFill>
                <a:srgbClr val="006600"/>
              </a:solidFill>
              <a:latin typeface="幼圆" panose="02010509060101010101" pitchFamily="49" charset="-122"/>
              <a:ea typeface="幼圆" panose="02010509060101010101" pitchFamily="49" charset="-122"/>
            </a:endParaRPr>
          </a:p>
        </p:txBody>
      </p:sp>
      <p:sp>
        <p:nvSpPr>
          <p:cNvPr id="22" name="Rectangle 12"/>
          <p:cNvSpPr>
            <a:spLocks noChangeArrowheads="1"/>
          </p:cNvSpPr>
          <p:nvPr/>
        </p:nvSpPr>
        <p:spPr bwMode="auto">
          <a:xfrm>
            <a:off x="6018113" y="3609190"/>
            <a:ext cx="2179637"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zh-CN" altLang="en-US" sz="2200" b="1" dirty="0">
                <a:solidFill>
                  <a:srgbClr val="FF0000"/>
                </a:solidFill>
                <a:latin typeface="幼圆" panose="02010509060101010101" pitchFamily="49" charset="-122"/>
                <a:ea typeface="幼圆" panose="02010509060101010101" pitchFamily="49" charset="-122"/>
              </a:rPr>
              <a:t>转轴</a:t>
            </a:r>
            <a:endParaRPr lang="zh-CN" altLang="en-US" sz="2200" b="1" dirty="0">
              <a:solidFill>
                <a:srgbClr val="FF0000"/>
              </a:solidFill>
              <a:latin typeface="幼圆" panose="02010509060101010101" pitchFamily="49" charset="-122"/>
              <a:ea typeface="幼圆" panose="02010509060101010101" pitchFamily="49" charset="-122"/>
            </a:endParaRPr>
          </a:p>
        </p:txBody>
      </p:sp>
      <p:sp>
        <p:nvSpPr>
          <p:cNvPr id="23" name="Text Box 14"/>
          <p:cNvSpPr txBox="1">
            <a:spLocks noChangeArrowheads="1"/>
          </p:cNvSpPr>
          <p:nvPr/>
        </p:nvSpPr>
        <p:spPr bwMode="auto">
          <a:xfrm>
            <a:off x="6037363" y="4460975"/>
            <a:ext cx="1500187"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zh-CN" altLang="en-US" sz="2200" b="1">
                <a:solidFill>
                  <a:srgbClr val="FF0000"/>
                </a:solidFill>
                <a:latin typeface="幼圆" panose="02010509060101010101" pitchFamily="49" charset="-122"/>
                <a:ea typeface="幼圆" panose="02010509060101010101" pitchFamily="49" charset="-122"/>
              </a:rPr>
              <a:t>转轴</a:t>
            </a:r>
            <a:endParaRPr lang="zh-CN" altLang="en-US" sz="2200" b="1">
              <a:solidFill>
                <a:srgbClr val="FF0000"/>
              </a:solidFill>
              <a:latin typeface="幼圆" panose="02010509060101010101" pitchFamily="49" charset="-122"/>
              <a:ea typeface="幼圆" panose="02010509060101010101" pitchFamily="49" charset="-122"/>
            </a:endParaRPr>
          </a:p>
        </p:txBody>
      </p:sp>
      <p:sp>
        <p:nvSpPr>
          <p:cNvPr id="24" name="Text Box 15"/>
          <p:cNvSpPr txBox="1">
            <a:spLocks noChangeArrowheads="1"/>
          </p:cNvSpPr>
          <p:nvPr/>
        </p:nvSpPr>
        <p:spPr bwMode="auto">
          <a:xfrm>
            <a:off x="6018112" y="4935739"/>
            <a:ext cx="1890712"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zh-CN" altLang="en-US" sz="2200" b="1" dirty="0">
                <a:solidFill>
                  <a:srgbClr val="FF0000"/>
                </a:solidFill>
                <a:latin typeface="幼圆" panose="02010509060101010101" pitchFamily="49" charset="-122"/>
                <a:ea typeface="幼圆" panose="02010509060101010101" pitchFamily="49" charset="-122"/>
              </a:rPr>
              <a:t>转轴</a:t>
            </a:r>
            <a:endParaRPr lang="zh-CN" altLang="en-US" sz="2200" b="1" dirty="0">
              <a:solidFill>
                <a:srgbClr val="FF0000"/>
              </a:solidFill>
              <a:latin typeface="幼圆" panose="02010509060101010101" pitchFamily="49" charset="-122"/>
              <a:ea typeface="幼圆" panose="02010509060101010101" pitchFamily="49" charset="-122"/>
            </a:endParaRPr>
          </a:p>
        </p:txBody>
      </p:sp>
      <p:sp>
        <p:nvSpPr>
          <p:cNvPr id="25" name="Text Box 16"/>
          <p:cNvSpPr txBox="1">
            <a:spLocks noChangeArrowheads="1"/>
          </p:cNvSpPr>
          <p:nvPr/>
        </p:nvSpPr>
        <p:spPr bwMode="auto">
          <a:xfrm>
            <a:off x="5915025" y="5407025"/>
            <a:ext cx="2619375"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zh-CN" altLang="en-US" sz="2200" b="1" dirty="0">
                <a:solidFill>
                  <a:srgbClr val="0000CC"/>
                </a:solidFill>
                <a:latin typeface="幼圆" panose="02010509060101010101" pitchFamily="49" charset="-122"/>
                <a:ea typeface="幼圆" panose="02010509060101010101" pitchFamily="49" charset="-122"/>
              </a:rPr>
              <a:t>转动心轴</a:t>
            </a:r>
            <a:endParaRPr lang="zh-CN" altLang="en-US" sz="2200" b="1" dirty="0">
              <a:solidFill>
                <a:srgbClr val="0000CC"/>
              </a:solidFill>
              <a:latin typeface="幼圆" panose="02010509060101010101" pitchFamily="49" charset="-122"/>
              <a:ea typeface="幼圆" panose="02010509060101010101" pitchFamily="49" charset="-122"/>
            </a:endParaRPr>
          </a:p>
        </p:txBody>
      </p:sp>
      <p:sp>
        <p:nvSpPr>
          <p:cNvPr id="26" name="Text Box 13"/>
          <p:cNvSpPr txBox="1">
            <a:spLocks noChangeArrowheads="1"/>
          </p:cNvSpPr>
          <p:nvPr/>
        </p:nvSpPr>
        <p:spPr bwMode="auto">
          <a:xfrm>
            <a:off x="5964038" y="4030964"/>
            <a:ext cx="1865312"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zh-CN" altLang="en-US" sz="2200" b="1" dirty="0">
                <a:solidFill>
                  <a:srgbClr val="0000CC"/>
                </a:solidFill>
                <a:latin typeface="幼圆" panose="02010509060101010101" pitchFamily="49" charset="-122"/>
                <a:ea typeface="幼圆" panose="02010509060101010101" pitchFamily="49" charset="-122"/>
              </a:rPr>
              <a:t>转动心轴</a:t>
            </a:r>
            <a:endParaRPr lang="zh-CN" altLang="en-US" sz="2200" b="1" dirty="0">
              <a:solidFill>
                <a:srgbClr val="0000CC"/>
              </a:solidFill>
              <a:latin typeface="幼圆" panose="02010509060101010101" pitchFamily="49" charset="-122"/>
              <a:ea typeface="幼圆" panose="02010509060101010101" pitchFamily="49"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70660"/>
                                        </p:tgtEl>
                                        <p:attrNameLst>
                                          <p:attrName>style.visibility</p:attrName>
                                        </p:attrNameLst>
                                      </p:cBhvr>
                                      <p:to>
                                        <p:strVal val="visible"/>
                                      </p:to>
                                    </p:set>
                                    <p:animEffect transition="in" filter="wipe(left)">
                                      <p:cBhvr>
                                        <p:cTn id="7" dur="500"/>
                                        <p:tgtEl>
                                          <p:spTgt spid="7066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grpId="0" nodeType="clickEffect">
                                  <p:stCondLst>
                                    <p:cond delay="0"/>
                                  </p:stCondLst>
                                  <p:childTnLst>
                                    <p:set>
                                      <p:cBhvr>
                                        <p:cTn id="11" dur="1" fill="hold">
                                          <p:stCondLst>
                                            <p:cond delay="0"/>
                                          </p:stCondLst>
                                        </p:cTn>
                                        <p:tgtEl>
                                          <p:spTgt spid="70661"/>
                                        </p:tgtEl>
                                        <p:attrNameLst>
                                          <p:attrName>style.visibility</p:attrName>
                                        </p:attrNameLst>
                                      </p:cBhvr>
                                      <p:to>
                                        <p:strVal val="visible"/>
                                      </p:to>
                                    </p:set>
                                    <p:animEffect transition="in" filter="wipe(right)">
                                      <p:cBhvr>
                                        <p:cTn id="12" dur="500"/>
                                        <p:tgtEl>
                                          <p:spTgt spid="7066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grpId="0" nodeType="clickEffect">
                                  <p:stCondLst>
                                    <p:cond delay="0"/>
                                  </p:stCondLst>
                                  <p:childTnLst>
                                    <p:set>
                                      <p:cBhvr>
                                        <p:cTn id="16" dur="1" fill="hold">
                                          <p:stCondLst>
                                            <p:cond delay="0"/>
                                          </p:stCondLst>
                                        </p:cTn>
                                        <p:tgtEl>
                                          <p:spTgt spid="70669"/>
                                        </p:tgtEl>
                                        <p:attrNameLst>
                                          <p:attrName>style.visibility</p:attrName>
                                        </p:attrNameLst>
                                      </p:cBhvr>
                                      <p:to>
                                        <p:strVal val="visible"/>
                                      </p:to>
                                    </p:set>
                                    <p:animEffect transition="in" filter="wipe(right)">
                                      <p:cBhvr>
                                        <p:cTn id="17" dur="500"/>
                                        <p:tgtEl>
                                          <p:spTgt spid="7066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2" fill="hold" grpId="0" nodeType="clickEffect">
                                  <p:stCondLst>
                                    <p:cond delay="0"/>
                                  </p:stCondLst>
                                  <p:childTnLst>
                                    <p:set>
                                      <p:cBhvr>
                                        <p:cTn id="21" dur="1" fill="hold">
                                          <p:stCondLst>
                                            <p:cond delay="0"/>
                                          </p:stCondLst>
                                        </p:cTn>
                                        <p:tgtEl>
                                          <p:spTgt spid="70670"/>
                                        </p:tgtEl>
                                        <p:attrNameLst>
                                          <p:attrName>style.visibility</p:attrName>
                                        </p:attrNameLst>
                                      </p:cBhvr>
                                      <p:to>
                                        <p:strVal val="visible"/>
                                      </p:to>
                                    </p:set>
                                    <p:animEffect transition="in" filter="wipe(right)">
                                      <p:cBhvr>
                                        <p:cTn id="22" dur="500"/>
                                        <p:tgtEl>
                                          <p:spTgt spid="7067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70662"/>
                                        </p:tgtEl>
                                        <p:attrNameLst>
                                          <p:attrName>style.visibility</p:attrName>
                                        </p:attrNameLst>
                                      </p:cBhvr>
                                      <p:to>
                                        <p:strVal val="visible"/>
                                      </p:to>
                                    </p:set>
                                    <p:animEffect transition="in" filter="wipe(up)">
                                      <p:cBhvr>
                                        <p:cTn id="27" dur="500"/>
                                        <p:tgtEl>
                                          <p:spTgt spid="7066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70663"/>
                                        </p:tgtEl>
                                        <p:attrNameLst>
                                          <p:attrName>style.visibility</p:attrName>
                                        </p:attrNameLst>
                                      </p:cBhvr>
                                      <p:to>
                                        <p:strVal val="visible"/>
                                      </p:to>
                                    </p:set>
                                    <p:animEffect transition="in" filter="wipe(left)">
                                      <p:cBhvr>
                                        <p:cTn id="32" dur="500"/>
                                        <p:tgtEl>
                                          <p:spTgt spid="7066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70664"/>
                                        </p:tgtEl>
                                        <p:attrNameLst>
                                          <p:attrName>style.visibility</p:attrName>
                                        </p:attrNameLst>
                                      </p:cBhvr>
                                      <p:to>
                                        <p:strVal val="visible"/>
                                      </p:to>
                                    </p:set>
                                    <p:animEffect transition="in" filter="wipe(up)">
                                      <p:cBhvr>
                                        <p:cTn id="37" dur="500"/>
                                        <p:tgtEl>
                                          <p:spTgt spid="70664"/>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70665"/>
                                        </p:tgtEl>
                                        <p:attrNameLst>
                                          <p:attrName>style.visibility</p:attrName>
                                        </p:attrNameLst>
                                      </p:cBhvr>
                                      <p:to>
                                        <p:strVal val="visible"/>
                                      </p:to>
                                    </p:set>
                                    <p:animEffect transition="in" filter="wipe(left)">
                                      <p:cBhvr>
                                        <p:cTn id="42" dur="500"/>
                                        <p:tgtEl>
                                          <p:spTgt spid="70665"/>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70666"/>
                                        </p:tgtEl>
                                        <p:attrNameLst>
                                          <p:attrName>style.visibility</p:attrName>
                                        </p:attrNameLst>
                                      </p:cBhvr>
                                      <p:to>
                                        <p:strVal val="visible"/>
                                      </p:to>
                                    </p:set>
                                    <p:animEffect transition="in" filter="wipe(up)">
                                      <p:cBhvr>
                                        <p:cTn id="47" dur="500"/>
                                        <p:tgtEl>
                                          <p:spTgt spid="70666"/>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70667"/>
                                        </p:tgtEl>
                                        <p:attrNameLst>
                                          <p:attrName>style.visibility</p:attrName>
                                        </p:attrNameLst>
                                      </p:cBhvr>
                                      <p:to>
                                        <p:strVal val="visible"/>
                                      </p:to>
                                    </p:set>
                                    <p:animEffect transition="in" filter="wipe(left)">
                                      <p:cBhvr>
                                        <p:cTn id="52" dur="500"/>
                                        <p:tgtEl>
                                          <p:spTgt spid="70667"/>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grpId="0" nodeType="clickEffect">
                                  <p:stCondLst>
                                    <p:cond delay="0"/>
                                  </p:stCondLst>
                                  <p:childTnLst>
                                    <p:set>
                                      <p:cBhvr>
                                        <p:cTn id="56" dur="1" fill="hold">
                                          <p:stCondLst>
                                            <p:cond delay="0"/>
                                          </p:stCondLst>
                                        </p:cTn>
                                        <p:tgtEl>
                                          <p:spTgt spid="70673"/>
                                        </p:tgtEl>
                                        <p:attrNameLst>
                                          <p:attrName>style.visibility</p:attrName>
                                        </p:attrNameLst>
                                      </p:cBhvr>
                                      <p:to>
                                        <p:strVal val="visible"/>
                                      </p:to>
                                    </p:set>
                                    <p:animEffect transition="in" filter="wipe(up)">
                                      <p:cBhvr>
                                        <p:cTn id="57" dur="500"/>
                                        <p:tgtEl>
                                          <p:spTgt spid="70673"/>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2"/>
                                        </p:tgtEl>
                                        <p:attrNameLst>
                                          <p:attrName>style.visibility</p:attrName>
                                        </p:attrNameLst>
                                      </p:cBhvr>
                                      <p:to>
                                        <p:strVal val="visible"/>
                                      </p:to>
                                    </p:set>
                                    <p:animEffect transition="in" filter="wipe(left)">
                                      <p:cBhvr>
                                        <p:cTn id="62" dur="500"/>
                                        <p:tgtEl>
                                          <p:spTgt spid="2"/>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21"/>
                                        </p:tgtEl>
                                        <p:attrNameLst>
                                          <p:attrName>style.visibility</p:attrName>
                                        </p:attrNameLst>
                                      </p:cBhvr>
                                      <p:to>
                                        <p:strVal val="visible"/>
                                      </p:to>
                                    </p:set>
                                    <p:animEffect transition="in" filter="wipe(left)">
                                      <p:cBhvr>
                                        <p:cTn id="67" dur="500"/>
                                        <p:tgtEl>
                                          <p:spTgt spid="21"/>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22"/>
                                        </p:tgtEl>
                                        <p:attrNameLst>
                                          <p:attrName>style.visibility</p:attrName>
                                        </p:attrNameLst>
                                      </p:cBhvr>
                                      <p:to>
                                        <p:strVal val="visible"/>
                                      </p:to>
                                    </p:set>
                                    <p:animEffect transition="in" filter="wipe(left)">
                                      <p:cBhvr>
                                        <p:cTn id="72" dur="500"/>
                                        <p:tgtEl>
                                          <p:spTgt spid="22"/>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26"/>
                                        </p:tgtEl>
                                        <p:attrNameLst>
                                          <p:attrName>style.visibility</p:attrName>
                                        </p:attrNameLst>
                                      </p:cBhvr>
                                      <p:to>
                                        <p:strVal val="visible"/>
                                      </p:to>
                                    </p:set>
                                    <p:animEffect transition="in" filter="wipe(left)">
                                      <p:cBhvr>
                                        <p:cTn id="77" dur="500"/>
                                        <p:tgtEl>
                                          <p:spTgt spid="26"/>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23"/>
                                        </p:tgtEl>
                                        <p:attrNameLst>
                                          <p:attrName>style.visibility</p:attrName>
                                        </p:attrNameLst>
                                      </p:cBhvr>
                                      <p:to>
                                        <p:strVal val="visible"/>
                                      </p:to>
                                    </p:set>
                                    <p:animEffect transition="in" filter="wipe(left)">
                                      <p:cBhvr>
                                        <p:cTn id="82" dur="500"/>
                                        <p:tgtEl>
                                          <p:spTgt spid="23"/>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grpId="0" nodeType="clickEffect">
                                  <p:stCondLst>
                                    <p:cond delay="0"/>
                                  </p:stCondLst>
                                  <p:childTnLst>
                                    <p:set>
                                      <p:cBhvr>
                                        <p:cTn id="86" dur="1" fill="hold">
                                          <p:stCondLst>
                                            <p:cond delay="0"/>
                                          </p:stCondLst>
                                        </p:cTn>
                                        <p:tgtEl>
                                          <p:spTgt spid="24"/>
                                        </p:tgtEl>
                                        <p:attrNameLst>
                                          <p:attrName>style.visibility</p:attrName>
                                        </p:attrNameLst>
                                      </p:cBhvr>
                                      <p:to>
                                        <p:strVal val="visible"/>
                                      </p:to>
                                    </p:set>
                                    <p:animEffect transition="in" filter="wipe(left)">
                                      <p:cBhvr>
                                        <p:cTn id="87" dur="500"/>
                                        <p:tgtEl>
                                          <p:spTgt spid="24"/>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25"/>
                                        </p:tgtEl>
                                        <p:attrNameLst>
                                          <p:attrName>style.visibility</p:attrName>
                                        </p:attrNameLst>
                                      </p:cBhvr>
                                      <p:to>
                                        <p:strVal val="visible"/>
                                      </p:to>
                                    </p:set>
                                    <p:animEffect transition="in" filter="wipe(left)">
                                      <p:cBhvr>
                                        <p:cTn id="92"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61" grpId="0" animBg="1"/>
      <p:bldP spid="70662" grpId="0" animBg="1"/>
      <p:bldP spid="70663" grpId="0" animBg="1"/>
      <p:bldP spid="70664" grpId="0" animBg="1"/>
      <p:bldP spid="70665" grpId="0" animBg="1"/>
      <p:bldP spid="70666" grpId="0" animBg="1"/>
      <p:bldP spid="70667" grpId="0" animBg="1"/>
      <p:bldP spid="70669" grpId="0" animBg="1"/>
      <p:bldP spid="70670" grpId="0" animBg="1"/>
      <p:bldP spid="70673" grpId="0" animBg="1"/>
      <p:bldP spid="21" grpId="0" autoUpdateAnimBg="0"/>
      <p:bldP spid="22" grpId="0" autoUpdateAnimBg="0"/>
      <p:bldP spid="23" grpId="0" autoUpdateAnimBg="0"/>
      <p:bldP spid="24" grpId="0" autoUpdateAnimBg="0"/>
      <p:bldP spid="25" grpId="0" autoUpdateAnimBg="0"/>
      <p:bldP spid="26"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3" name="Text Box 7"/>
          <p:cNvSpPr txBox="1">
            <a:spLocks noChangeArrowheads="1"/>
          </p:cNvSpPr>
          <p:nvPr/>
        </p:nvSpPr>
        <p:spPr bwMode="auto">
          <a:xfrm>
            <a:off x="524193" y="1249998"/>
            <a:ext cx="3749675" cy="430212"/>
          </a:xfrm>
          <a:prstGeom prst="rect">
            <a:avLst/>
          </a:prstGeom>
          <a:noFill/>
          <a:ln w="9525">
            <a:noFill/>
            <a:miter lim="800000"/>
          </a:ln>
          <a:effectLst/>
        </p:spPr>
        <p:txBody>
          <a:bodyPr>
            <a:spAutoFit/>
          </a:bodyPr>
          <a:lstStyle/>
          <a:p>
            <a:pPr>
              <a:defRPr/>
            </a:pPr>
            <a:r>
              <a:rPr lang="en-US" altLang="zh-CN" sz="2200" dirty="0">
                <a:solidFill>
                  <a:schemeClr val="tx1">
                    <a:lumMod val="60000"/>
                    <a:lumOff val="40000"/>
                  </a:schemeClr>
                </a:solidFill>
                <a:latin typeface="黑体" panose="02010609060101010101" pitchFamily="49" charset="-122"/>
                <a:ea typeface="黑体" panose="02010609060101010101" pitchFamily="49" charset="-122"/>
              </a:rPr>
              <a:t>2</a:t>
            </a:r>
            <a:r>
              <a:rPr lang="zh-CN" altLang="en-US" sz="2200" dirty="0">
                <a:solidFill>
                  <a:schemeClr val="tx1">
                    <a:lumMod val="60000"/>
                    <a:lumOff val="40000"/>
                  </a:schemeClr>
                </a:solidFill>
                <a:latin typeface="黑体" panose="02010609060101010101" pitchFamily="49" charset="-122"/>
                <a:ea typeface="黑体" panose="02010609060101010101" pitchFamily="49" charset="-122"/>
              </a:rPr>
              <a:t>、按</a:t>
            </a:r>
            <a:r>
              <a:rPr lang="zh-CN" altLang="en-US" sz="2200" u="sng" dirty="0">
                <a:solidFill>
                  <a:srgbClr val="CC0000"/>
                </a:solidFill>
                <a:latin typeface="黑体" panose="02010609060101010101" pitchFamily="49" charset="-122"/>
                <a:ea typeface="黑体" panose="02010609060101010101" pitchFamily="49" charset="-122"/>
              </a:rPr>
              <a:t>轴线形状</a:t>
            </a:r>
            <a:r>
              <a:rPr lang="zh-CN" altLang="en-US" sz="2200" dirty="0">
                <a:solidFill>
                  <a:schemeClr val="tx1">
                    <a:lumMod val="60000"/>
                    <a:lumOff val="40000"/>
                  </a:schemeClr>
                </a:solidFill>
                <a:latin typeface="黑体" panose="02010609060101010101" pitchFamily="49" charset="-122"/>
                <a:ea typeface="黑体" panose="02010609060101010101" pitchFamily="49" charset="-122"/>
              </a:rPr>
              <a:t>分</a:t>
            </a:r>
            <a:endParaRPr lang="zh-CN" altLang="en-US" sz="2200" dirty="0">
              <a:solidFill>
                <a:schemeClr val="tx1">
                  <a:lumMod val="60000"/>
                  <a:lumOff val="40000"/>
                </a:schemeClr>
              </a:solidFill>
              <a:latin typeface="黑体" panose="02010609060101010101" pitchFamily="49" charset="-122"/>
              <a:ea typeface="黑体" panose="02010609060101010101" pitchFamily="49" charset="-122"/>
            </a:endParaRPr>
          </a:p>
        </p:txBody>
      </p:sp>
      <p:grpSp>
        <p:nvGrpSpPr>
          <p:cNvPr id="2" name="Group 8"/>
          <p:cNvGrpSpPr/>
          <p:nvPr/>
        </p:nvGrpSpPr>
        <p:grpSpPr bwMode="auto">
          <a:xfrm>
            <a:off x="146890" y="2073275"/>
            <a:ext cx="1512048" cy="1712913"/>
            <a:chOff x="996" y="3120"/>
            <a:chExt cx="768" cy="493"/>
          </a:xfrm>
        </p:grpSpPr>
        <p:sp>
          <p:nvSpPr>
            <p:cNvPr id="3091" name="Text Box 9"/>
            <p:cNvSpPr txBox="1">
              <a:spLocks noChangeArrowheads="1"/>
            </p:cNvSpPr>
            <p:nvPr/>
          </p:nvSpPr>
          <p:spPr bwMode="auto">
            <a:xfrm>
              <a:off x="996" y="3286"/>
              <a:ext cx="620" cy="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sz="2000">
                  <a:solidFill>
                    <a:srgbClr val="000099"/>
                  </a:solidFill>
                  <a:latin typeface="Times New Roman" panose="02020603050405020304" pitchFamily="18" charset="0"/>
                  <a:ea typeface="华文中宋" panose="02010600040101010101" pitchFamily="2" charset="-122"/>
                </a:defRPr>
              </a:lvl1pPr>
              <a:lvl2pPr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lvl="1" eaLnBrk="1" hangingPunct="1">
                <a:buFont typeface="Wingdings" panose="05000000000000000000" pitchFamily="2" charset="2"/>
                <a:buNone/>
              </a:pPr>
              <a:r>
                <a:rPr lang="zh-CN" altLang="en-US" sz="2200" dirty="0">
                  <a:solidFill>
                    <a:srgbClr val="C00000"/>
                  </a:solidFill>
                  <a:latin typeface="华文中宋" panose="02010600040101010101" pitchFamily="2" charset="-122"/>
                </a:rPr>
                <a:t>直轴</a:t>
              </a:r>
              <a:endParaRPr lang="zh-CN" altLang="en-US" sz="2200" dirty="0">
                <a:solidFill>
                  <a:srgbClr val="C00000"/>
                </a:solidFill>
                <a:latin typeface="华文中宋" panose="02010600040101010101" pitchFamily="2" charset="-122"/>
              </a:endParaRPr>
            </a:p>
          </p:txBody>
        </p:sp>
        <p:sp>
          <p:nvSpPr>
            <p:cNvPr id="3092" name="AutoShape 10"/>
            <p:cNvSpPr/>
            <p:nvPr/>
          </p:nvSpPr>
          <p:spPr bwMode="auto">
            <a:xfrm>
              <a:off x="1670" y="3120"/>
              <a:ext cx="94" cy="493"/>
            </a:xfrm>
            <a:prstGeom prst="leftBrace">
              <a:avLst>
                <a:gd name="adj1" fmla="val 43706"/>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endParaRPr lang="zh-CN" altLang="en-US"/>
            </a:p>
          </p:txBody>
        </p:sp>
      </p:grpSp>
      <p:sp>
        <p:nvSpPr>
          <p:cNvPr id="9227" name="Text Box 11"/>
          <p:cNvSpPr txBox="1">
            <a:spLocks noChangeArrowheads="1"/>
          </p:cNvSpPr>
          <p:nvPr/>
        </p:nvSpPr>
        <p:spPr bwMode="auto">
          <a:xfrm>
            <a:off x="712788" y="4746902"/>
            <a:ext cx="6631305" cy="979805"/>
          </a:xfrm>
          <a:prstGeom prst="rect">
            <a:avLst/>
          </a:prstGeom>
          <a:noFill/>
          <a:ln w="9525">
            <a:noFill/>
            <a:miter lim="800000"/>
          </a:ln>
          <a:effectLst/>
        </p:spPr>
        <p:txBody>
          <a:bodyPr wrap="none">
            <a:spAutoFit/>
          </a:bodyPr>
          <a:lstStyle/>
          <a:p>
            <a:pPr>
              <a:lnSpc>
                <a:spcPct val="110000"/>
              </a:lnSpc>
              <a:spcBef>
                <a:spcPct val="10000"/>
              </a:spcBef>
              <a:defRPr/>
            </a:pPr>
            <a:r>
              <a:rPr lang="zh-CN" altLang="en-US" sz="2200" dirty="0">
                <a:solidFill>
                  <a:schemeClr val="tx1">
                    <a:lumMod val="60000"/>
                    <a:lumOff val="40000"/>
                  </a:schemeClr>
                </a:solidFill>
                <a:latin typeface="华文中宋" panose="02010600040101010101" pitchFamily="2" charset="-122"/>
              </a:rPr>
              <a:t>又可分为</a:t>
            </a:r>
            <a:r>
              <a:rPr lang="zh-CN" altLang="en-US" sz="2200" b="1" u="sng" dirty="0">
                <a:solidFill>
                  <a:schemeClr val="tx1">
                    <a:lumMod val="60000"/>
                    <a:lumOff val="40000"/>
                  </a:schemeClr>
                </a:solidFill>
                <a:latin typeface="华文中宋" panose="02010600040101010101" pitchFamily="2" charset="-122"/>
              </a:rPr>
              <a:t>实心</a:t>
            </a:r>
            <a:r>
              <a:rPr lang="zh-CN" altLang="en-US" sz="2200" b="1" u="sng" dirty="0">
                <a:solidFill>
                  <a:srgbClr val="006600"/>
                </a:solidFill>
                <a:latin typeface="华文中宋" panose="02010600040101010101" pitchFamily="2" charset="-122"/>
              </a:rPr>
              <a:t>轴</a:t>
            </a:r>
            <a:r>
              <a:rPr lang="zh-CN" altLang="en-US" sz="2200" dirty="0">
                <a:latin typeface="华文中宋" panose="02010600040101010101" pitchFamily="2" charset="-122"/>
              </a:rPr>
              <a:t>（常用）</a:t>
            </a:r>
            <a:endParaRPr lang="zh-CN" altLang="en-US" sz="2200" dirty="0">
              <a:latin typeface="华文中宋" panose="02010600040101010101" pitchFamily="2" charset="-122"/>
            </a:endParaRPr>
          </a:p>
          <a:p>
            <a:pPr>
              <a:lnSpc>
                <a:spcPct val="110000"/>
              </a:lnSpc>
              <a:spcBef>
                <a:spcPct val="10000"/>
              </a:spcBef>
              <a:defRPr/>
            </a:pPr>
            <a:r>
              <a:rPr lang="zh-CN" altLang="en-US" sz="2800" dirty="0">
                <a:solidFill>
                  <a:schemeClr val="tx2"/>
                </a:solidFill>
                <a:latin typeface="华文中宋" panose="02010600040101010101" pitchFamily="2" charset="-122"/>
              </a:rPr>
              <a:t>          </a:t>
            </a:r>
            <a:r>
              <a:rPr lang="zh-CN" altLang="en-US" sz="2200" b="1" u="sng" dirty="0">
                <a:solidFill>
                  <a:srgbClr val="006600"/>
                </a:solidFill>
                <a:latin typeface="华文中宋" panose="02010600040101010101" pitchFamily="2" charset="-122"/>
              </a:rPr>
              <a:t>空心轴</a:t>
            </a:r>
            <a:r>
              <a:rPr lang="en-US" altLang="zh-CN" sz="2200" b="1" u="sng" dirty="0">
                <a:solidFill>
                  <a:srgbClr val="006600"/>
                </a:solidFill>
                <a:latin typeface="华文中宋" panose="02010600040101010101" pitchFamily="2" charset="-122"/>
              </a:rPr>
              <a:t> </a:t>
            </a:r>
            <a:r>
              <a:rPr lang="en-US" altLang="zh-CN" sz="2200" dirty="0">
                <a:solidFill>
                  <a:srgbClr val="002060"/>
                </a:solidFill>
                <a:effectLst/>
                <a:latin typeface="华文中宋" panose="02010600040101010101" pitchFamily="2" charset="-122"/>
              </a:rPr>
              <a:t>(</a:t>
            </a:r>
            <a:r>
              <a:rPr lang="zh-CN" altLang="en-US" sz="2200" dirty="0">
                <a:solidFill>
                  <a:srgbClr val="002060"/>
                </a:solidFill>
                <a:latin typeface="华文中宋" panose="02010600040101010101" pitchFamily="2" charset="-122"/>
              </a:rPr>
              <a:t>减少质量，结构需要，但加工困难</a:t>
            </a:r>
            <a:r>
              <a:rPr lang="en-US" altLang="zh-CN" sz="2800" dirty="0">
                <a:solidFill>
                  <a:srgbClr val="002060"/>
                </a:solidFill>
                <a:latin typeface="华文中宋" panose="02010600040101010101" pitchFamily="2" charset="-122"/>
              </a:rPr>
              <a:t>)</a:t>
            </a:r>
            <a:endParaRPr lang="en-US" altLang="zh-CN" sz="2800" dirty="0">
              <a:solidFill>
                <a:srgbClr val="002060"/>
              </a:solidFill>
              <a:latin typeface="华文中宋" panose="02010600040101010101" pitchFamily="2" charset="-122"/>
            </a:endParaRPr>
          </a:p>
        </p:txBody>
      </p:sp>
      <p:grpSp>
        <p:nvGrpSpPr>
          <p:cNvPr id="3" name="Group 12"/>
          <p:cNvGrpSpPr/>
          <p:nvPr/>
        </p:nvGrpSpPr>
        <p:grpSpPr bwMode="auto">
          <a:xfrm>
            <a:off x="1684338" y="1847850"/>
            <a:ext cx="4032250" cy="492125"/>
            <a:chOff x="1444" y="2976"/>
            <a:chExt cx="2540" cy="310"/>
          </a:xfrm>
        </p:grpSpPr>
        <p:sp>
          <p:nvSpPr>
            <p:cNvPr id="3089" name="Text Box 13"/>
            <p:cNvSpPr txBox="1">
              <a:spLocks noChangeArrowheads="1"/>
            </p:cNvSpPr>
            <p:nvPr/>
          </p:nvSpPr>
          <p:spPr bwMode="auto">
            <a:xfrm>
              <a:off x="1444" y="2980"/>
              <a:ext cx="472"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zh-CN" altLang="en-US" sz="2200">
                  <a:solidFill>
                    <a:schemeClr val="accent2"/>
                  </a:solidFill>
                  <a:latin typeface="华文中宋" panose="02010600040101010101" pitchFamily="2" charset="-122"/>
                </a:rPr>
                <a:t>光轴</a:t>
              </a:r>
              <a:endParaRPr lang="zh-CN" altLang="en-US" sz="2200">
                <a:solidFill>
                  <a:schemeClr val="accent2"/>
                </a:solidFill>
                <a:latin typeface="华文中宋" panose="02010600040101010101" pitchFamily="2" charset="-122"/>
              </a:endParaRPr>
            </a:p>
          </p:txBody>
        </p:sp>
        <p:pic>
          <p:nvPicPr>
            <p:cNvPr id="3090" name="Picture 14" descr="gzhou"/>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932" y="2976"/>
              <a:ext cx="205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 name="Group 15"/>
          <p:cNvGrpSpPr/>
          <p:nvPr/>
        </p:nvGrpSpPr>
        <p:grpSpPr bwMode="auto">
          <a:xfrm>
            <a:off x="1724025" y="3179763"/>
            <a:ext cx="3609975" cy="696912"/>
            <a:chOff x="1212" y="998"/>
            <a:chExt cx="2274" cy="439"/>
          </a:xfrm>
        </p:grpSpPr>
        <p:sp>
          <p:nvSpPr>
            <p:cNvPr id="3087" name="Text Box 16"/>
            <p:cNvSpPr txBox="1">
              <a:spLocks noChangeArrowheads="1"/>
            </p:cNvSpPr>
            <p:nvPr/>
          </p:nvSpPr>
          <p:spPr bwMode="auto">
            <a:xfrm>
              <a:off x="1212" y="1035"/>
              <a:ext cx="649"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zh-CN" altLang="en-US" sz="2200" dirty="0">
                  <a:solidFill>
                    <a:schemeClr val="accent2"/>
                  </a:solidFill>
                  <a:latin typeface="华文中宋" panose="02010600040101010101" pitchFamily="2" charset="-122"/>
                </a:rPr>
                <a:t>阶梯轴</a:t>
              </a:r>
              <a:endParaRPr lang="zh-CN" altLang="en-US" sz="2200" dirty="0">
                <a:solidFill>
                  <a:schemeClr val="accent2"/>
                </a:solidFill>
                <a:latin typeface="华文中宋" panose="02010600040101010101" pitchFamily="2" charset="-122"/>
              </a:endParaRPr>
            </a:p>
          </p:txBody>
        </p:sp>
        <p:pic>
          <p:nvPicPr>
            <p:cNvPr id="3088" name="Picture 17" descr="jtz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8" y="998"/>
              <a:ext cx="1498"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aphicFrame>
        <p:nvGraphicFramePr>
          <p:cNvPr id="9234" name="Object 18"/>
          <p:cNvGraphicFramePr>
            <a:graphicFrameLocks noChangeAspect="1"/>
          </p:cNvGraphicFramePr>
          <p:nvPr/>
        </p:nvGraphicFramePr>
        <p:xfrm>
          <a:off x="6395085" y="1403509"/>
          <a:ext cx="1828800" cy="1563370"/>
        </p:xfrm>
        <a:graphic>
          <a:graphicData uri="http://schemas.openxmlformats.org/presentationml/2006/ole">
            <mc:AlternateContent xmlns:mc="http://schemas.openxmlformats.org/markup-compatibility/2006">
              <mc:Choice xmlns:v="urn:schemas-microsoft-com:vml" Requires="v">
                <p:oleObj spid="_x0000_s3193" name="位图图像" r:id="rId3" imgW="2051050" imgH="1752600" progId="Paint.Picture">
                  <p:embed/>
                </p:oleObj>
              </mc:Choice>
              <mc:Fallback>
                <p:oleObj name="位图图像" r:id="rId3" imgW="2051050" imgH="1752600" progId="Paint.Picture">
                  <p:embed/>
                  <p:pic>
                    <p:nvPicPr>
                      <p:cNvPr id="0" name="Object 18"/>
                      <p:cNvPicPr>
                        <a:picLocks noChangeAspect="1" noChangeArrowheads="1"/>
                      </p:cNvPicPr>
                      <p:nvPr/>
                    </p:nvPicPr>
                    <p:blipFill>
                      <a:blip r:embed="rId4"/>
                      <a:srcRect/>
                      <a:stretch>
                        <a:fillRect/>
                      </a:stretch>
                    </p:blipFill>
                    <p:spPr bwMode="auto">
                      <a:xfrm>
                        <a:off x="6395085" y="1403509"/>
                        <a:ext cx="1828800" cy="15633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235" name="Text Box 19"/>
          <p:cNvSpPr txBox="1">
            <a:spLocks noChangeArrowheads="1"/>
          </p:cNvSpPr>
          <p:nvPr/>
        </p:nvSpPr>
        <p:spPr bwMode="auto">
          <a:xfrm>
            <a:off x="2128838" y="2486025"/>
            <a:ext cx="4137025"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50000"/>
              </a:spcBef>
            </a:pPr>
            <a:r>
              <a:rPr lang="zh-CN" altLang="en-US" sz="2200" b="1" dirty="0">
                <a:solidFill>
                  <a:srgbClr val="660066"/>
                </a:solidFill>
                <a:ea typeface="华文宋体" panose="02010600040101010101" pitchFamily="2" charset="-122"/>
              </a:rPr>
              <a:t>用于心轴和传动轴。</a:t>
            </a:r>
            <a:endParaRPr lang="zh-CN" altLang="en-US" sz="2200" b="1" dirty="0">
              <a:solidFill>
                <a:srgbClr val="660066"/>
              </a:solidFill>
              <a:ea typeface="华文宋体" panose="02010600040101010101" pitchFamily="2" charset="-122"/>
            </a:endParaRPr>
          </a:p>
        </p:txBody>
      </p:sp>
      <p:sp>
        <p:nvSpPr>
          <p:cNvPr id="9236" name="Text Box 20"/>
          <p:cNvSpPr txBox="1">
            <a:spLocks noChangeArrowheads="1"/>
          </p:cNvSpPr>
          <p:nvPr/>
        </p:nvSpPr>
        <p:spPr bwMode="auto">
          <a:xfrm>
            <a:off x="2036763" y="3975100"/>
            <a:ext cx="3236912"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50000"/>
              </a:spcBef>
            </a:pPr>
            <a:r>
              <a:rPr lang="zh-CN" altLang="en-US" sz="2200" b="1" dirty="0">
                <a:solidFill>
                  <a:srgbClr val="660066"/>
                </a:solidFill>
                <a:ea typeface="华文宋体" panose="02010600040101010101" pitchFamily="2" charset="-122"/>
              </a:rPr>
              <a:t>主要用于转轴。</a:t>
            </a:r>
            <a:endParaRPr lang="zh-CN" altLang="en-US" sz="2200" b="1" dirty="0">
              <a:solidFill>
                <a:srgbClr val="660066"/>
              </a:solidFill>
              <a:ea typeface="华文宋体" panose="02010600040101010101" pitchFamily="2" charset="-122"/>
            </a:endParaRPr>
          </a:p>
        </p:txBody>
      </p:sp>
      <p:graphicFrame>
        <p:nvGraphicFramePr>
          <p:cNvPr id="9237" name="Object 21"/>
          <p:cNvGraphicFramePr>
            <a:graphicFrameLocks noChangeAspect="1"/>
          </p:cNvGraphicFramePr>
          <p:nvPr/>
        </p:nvGraphicFramePr>
        <p:xfrm>
          <a:off x="5688013" y="3719513"/>
          <a:ext cx="3260725" cy="735012"/>
        </p:xfrm>
        <a:graphic>
          <a:graphicData uri="http://schemas.openxmlformats.org/presentationml/2006/ole">
            <mc:AlternateContent xmlns:mc="http://schemas.openxmlformats.org/markup-compatibility/2006">
              <mc:Choice xmlns:v="urn:schemas-microsoft-com:vml" Requires="v">
                <p:oleObj spid="_x0000_s3194" name="" r:id="rId5" imgW="4286250" imgH="971550" progId="MSPhotoEd.3">
                  <p:embed/>
                </p:oleObj>
              </mc:Choice>
              <mc:Fallback>
                <p:oleObj name="" r:id="rId5" imgW="4286250" imgH="971550" progId="MSPhotoEd.3">
                  <p:embed/>
                  <p:pic>
                    <p:nvPicPr>
                      <p:cNvPr id="0" name="Object 2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88013" y="3719513"/>
                        <a:ext cx="3260725" cy="735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239" name="Text Box 23"/>
          <p:cNvSpPr txBox="1">
            <a:spLocks noChangeArrowheads="1"/>
          </p:cNvSpPr>
          <p:nvPr/>
        </p:nvSpPr>
        <p:spPr bwMode="auto">
          <a:xfrm>
            <a:off x="6551613" y="4570413"/>
            <a:ext cx="1708150"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algn="ctr" eaLnBrk="1" hangingPunct="1">
              <a:spcBef>
                <a:spcPct val="50000"/>
              </a:spcBef>
            </a:pPr>
            <a:r>
              <a:rPr lang="zh-CN" altLang="en-US" sz="2200" dirty="0">
                <a:solidFill>
                  <a:schemeClr val="accent2"/>
                </a:solidFill>
                <a:latin typeface="华文中宋" panose="02010600040101010101" pitchFamily="2" charset="-122"/>
              </a:rPr>
              <a:t>空心轴</a:t>
            </a:r>
            <a:endParaRPr lang="zh-CN" altLang="en-US" sz="2200" dirty="0">
              <a:solidFill>
                <a:schemeClr val="accent2"/>
              </a:solidFill>
              <a:latin typeface="华文中宋" panose="02010600040101010101" pitchFamily="2" charset="-122"/>
            </a:endParaRPr>
          </a:p>
        </p:txBody>
      </p:sp>
      <p:sp>
        <p:nvSpPr>
          <p:cNvPr id="18" name="Text Box 13"/>
          <p:cNvSpPr txBox="1">
            <a:spLocks noChangeArrowheads="1"/>
          </p:cNvSpPr>
          <p:nvPr/>
        </p:nvSpPr>
        <p:spPr bwMode="auto">
          <a:xfrm>
            <a:off x="330200" y="711200"/>
            <a:ext cx="4768850" cy="52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zh-CN" altLang="en-US" sz="2200" dirty="0">
                <a:solidFill>
                  <a:srgbClr val="C00000"/>
                </a:solidFill>
                <a:latin typeface="黑体" panose="02010609060101010101" pitchFamily="49" charset="-122"/>
                <a:ea typeface="黑体" panose="02010609060101010101" pitchFamily="49" charset="-122"/>
              </a:rPr>
              <a:t>二、轴的分类</a:t>
            </a:r>
            <a:endParaRPr lang="zh-CN" altLang="en-US" sz="2200" dirty="0">
              <a:solidFill>
                <a:srgbClr val="C00000"/>
              </a:solidFill>
              <a:latin typeface="黑体" panose="02010609060101010101" pitchFamily="49" charset="-122"/>
              <a:ea typeface="黑体" panose="02010609060101010101" pitchFamily="49" charset="-122"/>
            </a:endParaRPr>
          </a:p>
        </p:txBody>
      </p:sp>
      <p:sp>
        <p:nvSpPr>
          <p:cNvPr id="3086" name="直接连接符 19"/>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17410" name="Rectangle 18"/>
          <p:cNvSpPr>
            <a:spLocks noChangeArrowheads="1"/>
          </p:cNvSpPr>
          <p:nvPr/>
        </p:nvSpPr>
        <p:spPr bwMode="auto">
          <a:xfrm>
            <a:off x="4953000" y="200025"/>
            <a:ext cx="35052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8000" anchor="ctr" anchorCtr="1"/>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sz="2400">
                <a:solidFill>
                  <a:srgbClr val="CC3300"/>
                </a:solidFill>
                <a:latin typeface="黑体" panose="02010609060101010101" pitchFamily="49" charset="-122"/>
                <a:ea typeface="黑体" panose="02010609060101010101" pitchFamily="49" charset="-122"/>
              </a:rPr>
              <a:t>3.7-1 </a:t>
            </a:r>
            <a:r>
              <a:rPr lang="zh-CN" altLang="en-US" sz="2400">
                <a:solidFill>
                  <a:srgbClr val="CC3300"/>
                </a:solidFill>
                <a:latin typeface="黑体" panose="02010609060101010101" pitchFamily="49" charset="-122"/>
                <a:ea typeface="黑体" panose="02010609060101010101" pitchFamily="49" charset="-122"/>
              </a:rPr>
              <a:t>轴的概述</a:t>
            </a:r>
            <a:endParaRPr lang="zh-CN" altLang="en-US" sz="2400">
              <a:solidFill>
                <a:srgbClr val="CC3300"/>
              </a:solidFill>
              <a:latin typeface="黑体" panose="02010609060101010101" pitchFamily="49" charset="-122"/>
              <a:ea typeface="黑体" panose="02010609060101010101" pitchFamily="49" charset="-122"/>
            </a:endParaRPr>
          </a:p>
        </p:txBody>
      </p:sp>
      <p:sp>
        <p:nvSpPr>
          <p:cNvPr id="5" name="文本框 4"/>
          <p:cNvSpPr txBox="1"/>
          <p:nvPr/>
        </p:nvSpPr>
        <p:spPr>
          <a:xfrm>
            <a:off x="579755" y="5834380"/>
            <a:ext cx="8424545" cy="706755"/>
          </a:xfrm>
          <a:prstGeom prst="rect">
            <a:avLst/>
          </a:prstGeom>
          <a:noFill/>
        </p:spPr>
        <p:txBody>
          <a:bodyPr wrap="square" rtlCol="0" anchor="t">
            <a:spAutoFit/>
          </a:bodyPr>
          <a:p>
            <a:pPr eaLnBrk="1" hangingPunct="1"/>
            <a:r>
              <a:rPr lang="en-US" altLang="zh-CN" smtClean="0">
                <a:solidFill>
                  <a:srgbClr val="002060"/>
                </a:solidFill>
                <a:latin typeface="黑体" panose="02010609060101010101" pitchFamily="49" charset="-122"/>
                <a:ea typeface="黑体" panose="02010609060101010101" pitchFamily="49" charset="-122"/>
                <a:sym typeface="+mn-ea"/>
              </a:rPr>
              <a:t>   </a:t>
            </a:r>
            <a:r>
              <a:rPr lang="zh-CN" altLang="en-US" smtClean="0">
                <a:solidFill>
                  <a:srgbClr val="002060"/>
                </a:solidFill>
                <a:latin typeface="黑体" panose="02010609060101010101" pitchFamily="49" charset="-122"/>
                <a:ea typeface="黑体" panose="02010609060101010101" pitchFamily="49" charset="-122"/>
                <a:sym typeface="+mn-ea"/>
              </a:rPr>
              <a:t>在一些由于机器结构需要在轴中装其他零件或为了减小轴的质量具有特别重大作用的场合，采用空心轴。如水轮机轴、航空发动机主轴等。</a:t>
            </a:r>
            <a:endParaRPr lang="zh-CN" altLang="en-US" smtClean="0">
              <a:solidFill>
                <a:srgbClr val="002060"/>
              </a:solidFill>
              <a:latin typeface="黑体" panose="02010609060101010101" pitchFamily="49" charset="-122"/>
              <a:ea typeface="黑体" panose="02010609060101010101" pitchFamily="49"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223"/>
                                        </p:tgtEl>
                                        <p:attrNameLst>
                                          <p:attrName>style.visibility</p:attrName>
                                        </p:attrNameLst>
                                      </p:cBhvr>
                                      <p:to>
                                        <p:strVal val="visible"/>
                                      </p:to>
                                    </p:set>
                                    <p:animEffect transition="in" filter="wipe(left)">
                                      <p:cBhvr>
                                        <p:cTn id="12" dur="500"/>
                                        <p:tgtEl>
                                          <p:spTgt spid="922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ipe(left)">
                                      <p:cBhvr>
                                        <p:cTn id="27" dur="5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9235"/>
                                        </p:tgtEl>
                                        <p:attrNameLst>
                                          <p:attrName>style.visibility</p:attrName>
                                        </p:attrNameLst>
                                      </p:cBhvr>
                                      <p:to>
                                        <p:strVal val="visible"/>
                                      </p:to>
                                    </p:set>
                                    <p:animEffect transition="in" filter="wipe(left)">
                                      <p:cBhvr>
                                        <p:cTn id="32" dur="500"/>
                                        <p:tgtEl>
                                          <p:spTgt spid="9235"/>
                                        </p:tgtEl>
                                      </p:cBhvr>
                                    </p:animEffect>
                                  </p:childTnLst>
                                </p:cTn>
                              </p:par>
                              <p:par>
                                <p:cTn id="33" presetID="22" presetClass="entr" presetSubtype="4" fill="hold" grpId="0" nodeType="withEffect">
                                  <p:stCondLst>
                                    <p:cond delay="0"/>
                                  </p:stCondLst>
                                  <p:childTnLst>
                                    <p:set>
                                      <p:cBhvr>
                                        <p:cTn id="34" dur="1" fill="hold">
                                          <p:stCondLst>
                                            <p:cond delay="0"/>
                                          </p:stCondLst>
                                        </p:cTn>
                                        <p:tgtEl>
                                          <p:spTgt spid="9236"/>
                                        </p:tgtEl>
                                        <p:attrNameLst>
                                          <p:attrName>style.visibility</p:attrName>
                                        </p:attrNameLst>
                                      </p:cBhvr>
                                      <p:to>
                                        <p:strVal val="visible"/>
                                      </p:to>
                                    </p:set>
                                    <p:animEffect transition="in" filter="wipe(down)">
                                      <p:cBhvr>
                                        <p:cTn id="35" dur="500"/>
                                        <p:tgtEl>
                                          <p:spTgt spid="9236"/>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9227"/>
                                        </p:tgtEl>
                                        <p:attrNameLst>
                                          <p:attrName>style.visibility</p:attrName>
                                        </p:attrNameLst>
                                      </p:cBhvr>
                                      <p:to>
                                        <p:strVal val="visible"/>
                                      </p:to>
                                    </p:set>
                                    <p:animEffect transition="in" filter="wipe(left)">
                                      <p:cBhvr>
                                        <p:cTn id="40" dur="500"/>
                                        <p:tgtEl>
                                          <p:spTgt spid="9227"/>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9234"/>
                                        </p:tgtEl>
                                        <p:attrNameLst>
                                          <p:attrName>style.visibility</p:attrName>
                                        </p:attrNameLst>
                                      </p:cBhvr>
                                      <p:to>
                                        <p:strVal val="visible"/>
                                      </p:to>
                                    </p:set>
                                    <p:animEffect transition="in" filter="wipe(left)">
                                      <p:cBhvr>
                                        <p:cTn id="45" dur="500"/>
                                        <p:tgtEl>
                                          <p:spTgt spid="9234"/>
                                        </p:tgtEl>
                                      </p:cBhvr>
                                    </p:animEffect>
                                  </p:childTnLst>
                                </p:cTn>
                              </p:par>
                              <p:par>
                                <p:cTn id="46" presetID="4" presetClass="entr" presetSubtype="16" fill="hold" nodeType="withEffect">
                                  <p:stCondLst>
                                    <p:cond delay="0"/>
                                  </p:stCondLst>
                                  <p:childTnLst>
                                    <p:set>
                                      <p:cBhvr>
                                        <p:cTn id="47" dur="1" fill="hold">
                                          <p:stCondLst>
                                            <p:cond delay="0"/>
                                          </p:stCondLst>
                                        </p:cTn>
                                        <p:tgtEl>
                                          <p:spTgt spid="9237"/>
                                        </p:tgtEl>
                                        <p:attrNameLst>
                                          <p:attrName>style.visibility</p:attrName>
                                        </p:attrNameLst>
                                      </p:cBhvr>
                                      <p:to>
                                        <p:strVal val="visible"/>
                                      </p:to>
                                    </p:set>
                                    <p:animEffect transition="in" filter="box(in)">
                                      <p:cBhvr>
                                        <p:cTn id="48" dur="500"/>
                                        <p:tgtEl>
                                          <p:spTgt spid="9237"/>
                                        </p:tgtEl>
                                      </p:cBhvr>
                                    </p:animEffect>
                                  </p:childTnLst>
                                </p:cTn>
                              </p:par>
                              <p:par>
                                <p:cTn id="49" presetID="22" presetClass="entr" presetSubtype="4" fill="hold" grpId="0" nodeType="withEffect">
                                  <p:stCondLst>
                                    <p:cond delay="0"/>
                                  </p:stCondLst>
                                  <p:childTnLst>
                                    <p:set>
                                      <p:cBhvr>
                                        <p:cTn id="50" dur="1" fill="hold">
                                          <p:stCondLst>
                                            <p:cond delay="0"/>
                                          </p:stCondLst>
                                        </p:cTn>
                                        <p:tgtEl>
                                          <p:spTgt spid="9239"/>
                                        </p:tgtEl>
                                        <p:attrNameLst>
                                          <p:attrName>style.visibility</p:attrName>
                                        </p:attrNameLst>
                                      </p:cBhvr>
                                      <p:to>
                                        <p:strVal val="visible"/>
                                      </p:to>
                                    </p:set>
                                    <p:animEffect transition="in" filter="wipe(down)">
                                      <p:cBhvr>
                                        <p:cTn id="51" dur="500"/>
                                        <p:tgtEl>
                                          <p:spTgt spid="9239"/>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1" fill="hold" grpId="0" nodeType="clickEffect">
                                  <p:stCondLst>
                                    <p:cond delay="0"/>
                                  </p:stCondLst>
                                  <p:childTnLst>
                                    <p:set>
                                      <p:cBhvr>
                                        <p:cTn id="55" dur="1" fill="hold">
                                          <p:stCondLst>
                                            <p:cond delay="0"/>
                                          </p:stCondLst>
                                        </p:cTn>
                                        <p:tgtEl>
                                          <p:spTgt spid="5"/>
                                        </p:tgtEl>
                                        <p:attrNameLst>
                                          <p:attrName>style.visibility</p:attrName>
                                        </p:attrNameLst>
                                      </p:cBhvr>
                                      <p:to>
                                        <p:strVal val="visible"/>
                                      </p:to>
                                    </p:set>
                                    <p:animEffect transition="in" filter="wipe(up)">
                                      <p:cBhvr>
                                        <p:cTn id="5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3" grpId="0" bldLvl="0" animBg="1" autoUpdateAnimBg="0"/>
      <p:bldP spid="9227" grpId="0" bldLvl="0" animBg="1" autoUpdateAnimBg="0"/>
      <p:bldP spid="9235" grpId="0"/>
      <p:bldP spid="9236" grpId="0"/>
      <p:bldP spid="9239" grpId="0"/>
      <p:bldP spid="18" grpId="0" autoUpdateAnimBg="0"/>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3"/>
          <p:cNvSpPr txBox="1">
            <a:spLocks noChangeArrowheads="1"/>
          </p:cNvSpPr>
          <p:nvPr/>
        </p:nvSpPr>
        <p:spPr bwMode="auto">
          <a:xfrm>
            <a:off x="455613" y="798513"/>
            <a:ext cx="3575050" cy="820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15000"/>
              </a:spcBef>
            </a:pPr>
            <a:r>
              <a:rPr lang="zh-CN" altLang="en-US" sz="2200">
                <a:solidFill>
                  <a:srgbClr val="C00000"/>
                </a:solidFill>
                <a:latin typeface="华文中宋" panose="02010600040101010101" pitchFamily="2" charset="-122"/>
              </a:rPr>
              <a:t>曲轴</a:t>
            </a:r>
            <a:endParaRPr lang="zh-CN" altLang="en-US" sz="2200">
              <a:solidFill>
                <a:srgbClr val="C00000"/>
              </a:solidFill>
              <a:latin typeface="华文中宋" panose="02010600040101010101" pitchFamily="2" charset="-122"/>
            </a:endParaRPr>
          </a:p>
          <a:p>
            <a:pPr eaLnBrk="1" hangingPunct="1">
              <a:spcBef>
                <a:spcPct val="15000"/>
              </a:spcBef>
            </a:pPr>
            <a:r>
              <a:rPr lang="zh-CN" altLang="en-US" sz="2200">
                <a:solidFill>
                  <a:srgbClr val="002060"/>
                </a:solidFill>
                <a:latin typeface="华文中宋" panose="02010600040101010101" pitchFamily="2" charset="-122"/>
              </a:rPr>
              <a:t>    （发动机专用零件）</a:t>
            </a:r>
            <a:endParaRPr lang="zh-CN" altLang="en-US" sz="2200">
              <a:solidFill>
                <a:srgbClr val="002060"/>
              </a:solidFill>
              <a:latin typeface="华文中宋" panose="02010600040101010101" pitchFamily="2" charset="-122"/>
            </a:endParaRPr>
          </a:p>
        </p:txBody>
      </p:sp>
      <p:pic>
        <p:nvPicPr>
          <p:cNvPr id="19459" name="Picture 4" descr="qz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08050" y="1816100"/>
            <a:ext cx="3581400" cy="1235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7830" name="Picture 6" descr="fadong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800" y="2816225"/>
            <a:ext cx="5781675" cy="380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7831" name="Picture 7" descr="qz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41925" y="801688"/>
            <a:ext cx="3533775" cy="893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7832" name="Picture 8" descr="qz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42113" y="4381500"/>
            <a:ext cx="1169987" cy="226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3" name="Picture 5" descr="2-3-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49888" y="1954213"/>
            <a:ext cx="3325812" cy="1944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5" name="直接连接符 8"/>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17410" name="Rectangle 18"/>
          <p:cNvSpPr>
            <a:spLocks noChangeArrowheads="1"/>
          </p:cNvSpPr>
          <p:nvPr/>
        </p:nvSpPr>
        <p:spPr bwMode="auto">
          <a:xfrm>
            <a:off x="4953000" y="200025"/>
            <a:ext cx="35052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8000" anchor="ctr" anchorCtr="1"/>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sz="2400">
                <a:solidFill>
                  <a:srgbClr val="CC3300"/>
                </a:solidFill>
                <a:latin typeface="黑体" panose="02010609060101010101" pitchFamily="49" charset="-122"/>
                <a:ea typeface="黑体" panose="02010609060101010101" pitchFamily="49" charset="-122"/>
              </a:rPr>
              <a:t>3.7-1 </a:t>
            </a:r>
            <a:r>
              <a:rPr lang="zh-CN" altLang="en-US" sz="2400">
                <a:solidFill>
                  <a:srgbClr val="CC3300"/>
                </a:solidFill>
                <a:latin typeface="黑体" panose="02010609060101010101" pitchFamily="49" charset="-122"/>
                <a:ea typeface="黑体" panose="02010609060101010101" pitchFamily="49" charset="-122"/>
              </a:rPr>
              <a:t>轴的概述</a:t>
            </a:r>
            <a:endParaRPr lang="zh-CN" altLang="en-US" sz="2400">
              <a:solidFill>
                <a:srgbClr val="CC3300"/>
              </a:solidFill>
              <a:latin typeface="黑体" panose="02010609060101010101" pitchFamily="49" charset="-122"/>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77830"/>
                                        </p:tgtEl>
                                        <p:attrNameLst>
                                          <p:attrName>style.visibility</p:attrName>
                                        </p:attrNameLst>
                                      </p:cBhvr>
                                      <p:to>
                                        <p:strVal val="visible"/>
                                      </p:to>
                                    </p:set>
                                    <p:animEffect transition="in" filter="strips(downLeft)">
                                      <p:cBhvr>
                                        <p:cTn id="7" dur="500"/>
                                        <p:tgtEl>
                                          <p:spTgt spid="7783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7832"/>
                                        </p:tgtEl>
                                        <p:attrNameLst>
                                          <p:attrName>style.visibility</p:attrName>
                                        </p:attrNameLst>
                                      </p:cBhvr>
                                      <p:to>
                                        <p:strVal val="visible"/>
                                      </p:to>
                                    </p:set>
                                    <p:animEffect transition="in" filter="wipe(left)">
                                      <p:cBhvr>
                                        <p:cTn id="12" dur="500"/>
                                        <p:tgtEl>
                                          <p:spTgt spid="77832"/>
                                        </p:tgtEl>
                                      </p:cBhvr>
                                    </p:animEffect>
                                  </p:childTnLst>
                                </p:cTn>
                              </p:par>
                              <p:par>
                                <p:cTn id="13" presetID="22" presetClass="entr" presetSubtype="8" fill="hold" nodeType="withEffect">
                                  <p:stCondLst>
                                    <p:cond delay="0"/>
                                  </p:stCondLst>
                                  <p:childTnLst>
                                    <p:set>
                                      <p:cBhvr>
                                        <p:cTn id="14" dur="1" fill="hold">
                                          <p:stCondLst>
                                            <p:cond delay="0"/>
                                          </p:stCondLst>
                                        </p:cTn>
                                        <p:tgtEl>
                                          <p:spTgt spid="77831"/>
                                        </p:tgtEl>
                                        <p:attrNameLst>
                                          <p:attrName>style.visibility</p:attrName>
                                        </p:attrNameLst>
                                      </p:cBhvr>
                                      <p:to>
                                        <p:strVal val="visible"/>
                                      </p:to>
                                    </p:set>
                                    <p:animEffect transition="in" filter="wipe(left)">
                                      <p:cBhvr>
                                        <p:cTn id="15" dur="500"/>
                                        <p:tgtEl>
                                          <p:spTgt spid="778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2"/>
          <p:cNvSpPr txBox="1">
            <a:spLocks noChangeArrowheads="1"/>
          </p:cNvSpPr>
          <p:nvPr/>
        </p:nvSpPr>
        <p:spPr bwMode="auto">
          <a:xfrm>
            <a:off x="635000" y="633413"/>
            <a:ext cx="5212715" cy="429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zh-CN" altLang="en-US" sz="2200">
                <a:solidFill>
                  <a:srgbClr val="C00000"/>
                </a:solidFill>
                <a:latin typeface="黑体" panose="02010609060101010101" pitchFamily="49" charset="-122"/>
                <a:ea typeface="黑体" panose="02010609060101010101" pitchFamily="49" charset="-122"/>
              </a:rPr>
              <a:t>钢丝软轴</a:t>
            </a:r>
            <a:r>
              <a:rPr lang="zh-CN" altLang="en-US" sz="2200" b="1">
                <a:solidFill>
                  <a:srgbClr val="C00000"/>
                </a:solidFill>
                <a:latin typeface="华文中宋" panose="02010600040101010101" pitchFamily="2" charset="-122"/>
              </a:rPr>
              <a:t>：</a:t>
            </a:r>
            <a:r>
              <a:rPr lang="zh-CN" altLang="en-US" sz="2200">
                <a:solidFill>
                  <a:srgbClr val="002060"/>
                </a:solidFill>
                <a:latin typeface="华文中宋" panose="02010600040101010101" pitchFamily="2" charset="-122"/>
              </a:rPr>
              <a:t>轴线可任意弯曲，传动灵活。</a:t>
            </a:r>
            <a:endParaRPr lang="zh-CN" altLang="en-US" sz="2200">
              <a:solidFill>
                <a:srgbClr val="002060"/>
              </a:solidFill>
              <a:latin typeface="华文中宋" panose="02010600040101010101" pitchFamily="2" charset="-122"/>
            </a:endParaRPr>
          </a:p>
        </p:txBody>
      </p:sp>
      <p:pic>
        <p:nvPicPr>
          <p:cNvPr id="10243" name="Picture 3" descr="gsrz"/>
          <p:cNvPicPr>
            <a:picLocks noChangeAspect="1" noChangeArrowheads="1"/>
          </p:cNvPicPr>
          <p:nvPr/>
        </p:nvPicPr>
        <p:blipFill>
          <a:blip r:embed="rId1">
            <a:lum bright="-12000" contrast="48000"/>
            <a:extLst>
              <a:ext uri="{28A0092B-C50C-407E-A947-70E740481C1C}">
                <a14:useLocalDpi xmlns:a14="http://schemas.microsoft.com/office/drawing/2010/main" val="0"/>
              </a:ext>
            </a:extLst>
          </a:blip>
          <a:srcRect/>
          <a:stretch>
            <a:fillRect/>
          </a:stretch>
        </p:blipFill>
        <p:spPr bwMode="auto">
          <a:xfrm>
            <a:off x="1323975" y="1471613"/>
            <a:ext cx="4433888" cy="3265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Group 4"/>
          <p:cNvGrpSpPr/>
          <p:nvPr/>
        </p:nvGrpSpPr>
        <p:grpSpPr bwMode="auto">
          <a:xfrm>
            <a:off x="5897563" y="3710940"/>
            <a:ext cx="2835275" cy="1814513"/>
            <a:chOff x="3593" y="1181"/>
            <a:chExt cx="1786" cy="1143"/>
          </a:xfrm>
        </p:grpSpPr>
        <p:pic>
          <p:nvPicPr>
            <p:cNvPr id="20485" name="Picture 5" descr="gszrz"/>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93" y="1181"/>
              <a:ext cx="1786" cy="7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6" name="Text Box 6"/>
            <p:cNvSpPr txBox="1">
              <a:spLocks noChangeArrowheads="1"/>
            </p:cNvSpPr>
            <p:nvPr/>
          </p:nvSpPr>
          <p:spPr bwMode="auto">
            <a:xfrm>
              <a:off x="3910" y="2053"/>
              <a:ext cx="1360"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zh-CN" altLang="en-US" sz="2200">
                  <a:solidFill>
                    <a:schemeClr val="accent2"/>
                  </a:solidFill>
                  <a:latin typeface="华文中宋" panose="02010600040101010101" pitchFamily="2" charset="-122"/>
                </a:rPr>
                <a:t>钢丝软轴的绕制</a:t>
              </a:r>
              <a:endParaRPr lang="zh-CN" altLang="en-US" sz="2200">
                <a:solidFill>
                  <a:schemeClr val="accent2"/>
                </a:solidFill>
                <a:latin typeface="华文中宋" panose="02010600040101010101" pitchFamily="2" charset="-122"/>
              </a:endParaRPr>
            </a:p>
          </p:txBody>
        </p:sp>
      </p:grpSp>
      <p:sp>
        <p:nvSpPr>
          <p:cNvPr id="3" name="文本框 2"/>
          <p:cNvSpPr txBox="1"/>
          <p:nvPr/>
        </p:nvSpPr>
        <p:spPr>
          <a:xfrm>
            <a:off x="361950" y="5113655"/>
            <a:ext cx="5535930" cy="1322070"/>
          </a:xfrm>
          <a:prstGeom prst="rect">
            <a:avLst/>
          </a:prstGeom>
          <a:noFill/>
          <a:ln>
            <a:gradFill>
              <a:gsLst>
                <a:gs pos="0">
                  <a:srgbClr val="14CD68"/>
                </a:gs>
                <a:gs pos="100000">
                  <a:srgbClr val="035C7D"/>
                </a:gs>
              </a:gsLst>
            </a:gradFill>
          </a:ln>
        </p:spPr>
        <p:txBody>
          <a:bodyPr wrap="square" rtlCol="0" anchor="t">
            <a:spAutoFit/>
          </a:bodyPr>
          <a:p>
            <a:pPr eaLnBrk="1" hangingPunct="1"/>
            <a:r>
              <a:rPr lang="en-US" altLang="zh-CN" smtClean="0">
                <a:solidFill>
                  <a:srgbClr val="0000FF"/>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mtClean="0">
                <a:solidFill>
                  <a:srgbClr val="002060"/>
                </a:solidFill>
                <a:latin typeface="黑体" panose="02010609060101010101" pitchFamily="49" charset="-122"/>
                <a:ea typeface="黑体" panose="02010609060101010101" pitchFamily="49" charset="-122"/>
                <a:cs typeface="黑体" panose="02010609060101010101" pitchFamily="49" charset="-122"/>
                <a:sym typeface="+mn-ea"/>
              </a:rPr>
              <a:t>由几层紧贴在一起的钢丝构成，可以把转矩灵活地传到任何位置，适合于受连续冲击的场合,也适用于高速、小转矩的场合，常用于振捣器、医疗设备等，但只能传递转矩，不能承受弯矩。</a:t>
            </a:r>
            <a:endParaRPr lang="zh-CN" altLang="en-US" smtClean="0">
              <a:solidFill>
                <a:srgbClr val="002060"/>
              </a:solidFill>
              <a:latin typeface="黑体" panose="02010609060101010101" pitchFamily="49" charset="-122"/>
              <a:ea typeface="黑体" panose="02010609060101010101" pitchFamily="49" charset="-122"/>
              <a:cs typeface="黑体" panose="02010609060101010101" pitchFamily="49"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10242"/>
                                        </p:tgtEl>
                                        <p:attrNameLst>
                                          <p:attrName>style.visibility</p:attrName>
                                        </p:attrNameLst>
                                      </p:cBhvr>
                                      <p:to>
                                        <p:strVal val="visible"/>
                                      </p:to>
                                    </p:set>
                                    <p:animEffect transition="in" filter="wipe(down)">
                                      <p:cBhvr>
                                        <p:cTn id="7" dur="500"/>
                                        <p:tgtEl>
                                          <p:spTgt spid="1024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0243"/>
                                        </p:tgtEl>
                                        <p:attrNameLst>
                                          <p:attrName>style.visibility</p:attrName>
                                        </p:attrNameLst>
                                      </p:cBhvr>
                                      <p:to>
                                        <p:strVal val="visible"/>
                                      </p:to>
                                    </p:set>
                                    <p:animEffect transition="in" filter="wipe(left)">
                                      <p:cBhvr>
                                        <p:cTn id="12" dur="500"/>
                                        <p:tgtEl>
                                          <p:spTgt spid="1024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3">
                                            <p:txEl>
                                              <p:pRg st="0" end="0"/>
                                            </p:txEl>
                                          </p:spTgt>
                                        </p:tgtEl>
                                        <p:attrNameLst>
                                          <p:attrName>style.visibility</p:attrName>
                                        </p:attrNameLst>
                                      </p:cBhvr>
                                      <p:to>
                                        <p:strVal val="visible"/>
                                      </p:to>
                                    </p:set>
                                    <p:animEffect transition="in" filter="wipe(up)">
                                      <p:cBhvr>
                                        <p:cTn id="22"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bwMode="auto">
          <a:xfrm>
            <a:off x="6945313" y="877888"/>
            <a:ext cx="1481137" cy="2127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algn="l" eaLnBrk="1" hangingPunct="1"/>
            <a:r>
              <a:rPr lang="zh-CN" altLang="en-US" sz="800" smtClean="0">
                <a:solidFill>
                  <a:schemeClr val="bg1"/>
                </a:solidFill>
                <a:latin typeface="黑体" panose="02010609060101010101" pitchFamily="49" charset="-122"/>
                <a:ea typeface="黑体" panose="02010609060101010101" pitchFamily="49" charset="-122"/>
              </a:rPr>
              <a:t>轴的概述</a:t>
            </a:r>
            <a:r>
              <a:rPr lang="en-US" altLang="zh-CN" sz="800" smtClean="0">
                <a:solidFill>
                  <a:schemeClr val="bg1"/>
                </a:solidFill>
                <a:latin typeface="黑体" panose="02010609060101010101" pitchFamily="49" charset="-122"/>
                <a:ea typeface="黑体" panose="02010609060101010101" pitchFamily="49" charset="-122"/>
              </a:rPr>
              <a:t>2</a:t>
            </a:r>
            <a:endParaRPr lang="en-US" altLang="zh-CN" sz="800" smtClean="0">
              <a:solidFill>
                <a:schemeClr val="bg1"/>
              </a:solidFill>
              <a:latin typeface="黑体" panose="02010609060101010101" pitchFamily="49" charset="-122"/>
              <a:ea typeface="黑体" panose="02010609060101010101" pitchFamily="49" charset="-122"/>
            </a:endParaRPr>
          </a:p>
        </p:txBody>
      </p:sp>
      <p:sp>
        <p:nvSpPr>
          <p:cNvPr id="47108" name="Text Box 4"/>
          <p:cNvSpPr txBox="1">
            <a:spLocks noChangeArrowheads="1"/>
          </p:cNvSpPr>
          <p:nvPr/>
        </p:nvSpPr>
        <p:spPr bwMode="auto">
          <a:xfrm>
            <a:off x="285750" y="817563"/>
            <a:ext cx="4194175" cy="344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zh-CN" altLang="en-US" sz="2200">
                <a:solidFill>
                  <a:srgbClr val="C00000"/>
                </a:solidFill>
                <a:latin typeface="黑体" panose="02010609060101010101" pitchFamily="49" charset="-122"/>
                <a:ea typeface="黑体" panose="02010609060101010101" pitchFamily="49" charset="-122"/>
              </a:rPr>
              <a:t>三、轴设计的主要内容 </a:t>
            </a:r>
            <a:endParaRPr lang="zh-CN" altLang="en-US" sz="2200">
              <a:solidFill>
                <a:srgbClr val="C00000"/>
              </a:solidFill>
              <a:latin typeface="黑体" panose="02010609060101010101" pitchFamily="49" charset="-122"/>
              <a:ea typeface="黑体" panose="02010609060101010101" pitchFamily="49" charset="-122"/>
            </a:endParaRPr>
          </a:p>
        </p:txBody>
      </p:sp>
      <p:sp>
        <p:nvSpPr>
          <p:cNvPr id="47109" name="Text Box 5"/>
          <p:cNvSpPr txBox="1">
            <a:spLocks noChangeArrowheads="1"/>
          </p:cNvSpPr>
          <p:nvPr/>
        </p:nvSpPr>
        <p:spPr bwMode="auto">
          <a:xfrm>
            <a:off x="769938" y="1216025"/>
            <a:ext cx="81629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zh-CN" altLang="en-US">
                <a:latin typeface="华文中宋" panose="02010600040101010101" pitchFamily="2" charset="-122"/>
              </a:rPr>
              <a:t>轴的设计包括结构设计和工作能力验算两方面的内容。</a:t>
            </a:r>
            <a:endParaRPr lang="zh-CN" altLang="en-US">
              <a:latin typeface="华文中宋" panose="02010600040101010101" pitchFamily="2" charset="-122"/>
            </a:endParaRPr>
          </a:p>
        </p:txBody>
      </p:sp>
      <p:sp>
        <p:nvSpPr>
          <p:cNvPr id="47110" name="Text Box 6"/>
          <p:cNvSpPr txBox="1">
            <a:spLocks noChangeArrowheads="1"/>
          </p:cNvSpPr>
          <p:nvPr/>
        </p:nvSpPr>
        <p:spPr bwMode="auto">
          <a:xfrm>
            <a:off x="-173038" y="1616075"/>
            <a:ext cx="9012238"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20000"/>
              </a:lnSpc>
            </a:pPr>
            <a:r>
              <a:rPr lang="zh-CN" altLang="en-US">
                <a:latin typeface="华文中宋" panose="02010600040101010101" pitchFamily="2" charset="-122"/>
              </a:rPr>
              <a:t>　（</a:t>
            </a:r>
            <a:r>
              <a:rPr lang="en-US" altLang="zh-CN">
                <a:latin typeface="华文中宋" panose="02010600040101010101" pitchFamily="2" charset="-122"/>
              </a:rPr>
              <a:t>1</a:t>
            </a:r>
            <a:r>
              <a:rPr lang="zh-CN" altLang="en-US">
                <a:latin typeface="华文中宋" panose="02010600040101010101" pitchFamily="2" charset="-122"/>
              </a:rPr>
              <a:t>）根据轴上零件的安装、定位以及轴的制造工艺等方面的要求，合理地</a:t>
            </a:r>
            <a:endParaRPr lang="zh-CN" altLang="en-US">
              <a:latin typeface="华文中宋" panose="02010600040101010101" pitchFamily="2" charset="-122"/>
            </a:endParaRPr>
          </a:p>
          <a:p>
            <a:pPr eaLnBrk="1" hangingPunct="1">
              <a:lnSpc>
                <a:spcPct val="120000"/>
              </a:lnSpc>
            </a:pPr>
            <a:r>
              <a:rPr lang="zh-CN" altLang="en-US">
                <a:latin typeface="华文中宋" panose="02010600040101010101" pitchFamily="2" charset="-122"/>
              </a:rPr>
              <a:t>            确定轴的结构形式和尺寸。 </a:t>
            </a:r>
            <a:endParaRPr lang="zh-CN" altLang="en-US">
              <a:latin typeface="华文中宋" panose="02010600040101010101" pitchFamily="2" charset="-122"/>
            </a:endParaRPr>
          </a:p>
        </p:txBody>
      </p:sp>
      <p:sp>
        <p:nvSpPr>
          <p:cNvPr id="47111" name="Text Box 7"/>
          <p:cNvSpPr txBox="1">
            <a:spLocks noChangeArrowheads="1"/>
          </p:cNvSpPr>
          <p:nvPr/>
        </p:nvSpPr>
        <p:spPr bwMode="auto">
          <a:xfrm>
            <a:off x="-174625" y="2486025"/>
            <a:ext cx="96504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a:latin typeface="华文中宋" panose="02010600040101010101" pitchFamily="2" charset="-122"/>
              </a:rPr>
              <a:t>   </a:t>
            </a:r>
            <a:r>
              <a:rPr lang="zh-CN" altLang="en-US">
                <a:latin typeface="华文中宋" panose="02010600040101010101" pitchFamily="2" charset="-122"/>
              </a:rPr>
              <a:t>（</a:t>
            </a:r>
            <a:r>
              <a:rPr lang="en-US" altLang="zh-CN">
                <a:latin typeface="华文中宋" panose="02010600040101010101" pitchFamily="2" charset="-122"/>
              </a:rPr>
              <a:t>2</a:t>
            </a:r>
            <a:r>
              <a:rPr lang="zh-CN" altLang="en-US">
                <a:latin typeface="华文中宋" panose="02010600040101010101" pitchFamily="2" charset="-122"/>
              </a:rPr>
              <a:t>）轴的承载能力验算指的是轴的强度、刚度和振动稳定性等方面的验算。 </a:t>
            </a:r>
            <a:endParaRPr lang="zh-CN" altLang="en-US">
              <a:latin typeface="华文中宋" panose="02010600040101010101" pitchFamily="2" charset="-122"/>
            </a:endParaRPr>
          </a:p>
        </p:txBody>
      </p:sp>
      <p:sp>
        <p:nvSpPr>
          <p:cNvPr id="47113" name="Text Box 9"/>
          <p:cNvSpPr txBox="1">
            <a:spLocks noChangeArrowheads="1"/>
          </p:cNvSpPr>
          <p:nvPr/>
        </p:nvSpPr>
        <p:spPr bwMode="auto">
          <a:xfrm>
            <a:off x="2571750" y="3557588"/>
            <a:ext cx="4667250" cy="4064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nchor="ctr" anchorCtr="1">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algn="ctr" eaLnBrk="1" hangingPunct="1"/>
            <a:r>
              <a:rPr lang="zh-CN" altLang="en-US"/>
              <a:t>根据总体结构的要求进行轴的结构设计</a:t>
            </a:r>
            <a:endParaRPr lang="zh-CN" altLang="en-US"/>
          </a:p>
        </p:txBody>
      </p:sp>
      <p:sp>
        <p:nvSpPr>
          <p:cNvPr id="47114" name="Text Box 10"/>
          <p:cNvSpPr txBox="1">
            <a:spLocks noChangeArrowheads="1"/>
          </p:cNvSpPr>
          <p:nvPr/>
        </p:nvSpPr>
        <p:spPr bwMode="auto">
          <a:xfrm>
            <a:off x="3702050" y="4276725"/>
            <a:ext cx="2400300" cy="4064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algn="ctr" eaLnBrk="1" hangingPunct="1"/>
            <a:r>
              <a:rPr lang="zh-CN" altLang="en-US"/>
              <a:t>轴的承载能力验算</a:t>
            </a:r>
            <a:endParaRPr lang="zh-CN" altLang="en-US"/>
          </a:p>
        </p:txBody>
      </p:sp>
      <p:sp>
        <p:nvSpPr>
          <p:cNvPr id="47121" name="Line 17"/>
          <p:cNvSpPr>
            <a:spLocks noChangeShapeType="1"/>
          </p:cNvSpPr>
          <p:nvPr/>
        </p:nvSpPr>
        <p:spPr bwMode="auto">
          <a:xfrm>
            <a:off x="4900613" y="3975100"/>
            <a:ext cx="0" cy="32385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2" name="Group 21"/>
          <p:cNvGrpSpPr/>
          <p:nvPr/>
        </p:nvGrpSpPr>
        <p:grpSpPr bwMode="auto">
          <a:xfrm>
            <a:off x="3905250" y="4689475"/>
            <a:ext cx="1985963" cy="949325"/>
            <a:chOff x="2109" y="1938"/>
            <a:chExt cx="1251" cy="598"/>
          </a:xfrm>
        </p:grpSpPr>
        <p:grpSp>
          <p:nvGrpSpPr>
            <p:cNvPr id="21532" name="Group 13"/>
            <p:cNvGrpSpPr/>
            <p:nvPr/>
          </p:nvGrpSpPr>
          <p:grpSpPr bwMode="auto">
            <a:xfrm>
              <a:off x="2109" y="2119"/>
              <a:ext cx="1251" cy="417"/>
              <a:chOff x="2155" y="2075"/>
              <a:chExt cx="1251" cy="417"/>
            </a:xfrm>
          </p:grpSpPr>
          <p:sp>
            <p:nvSpPr>
              <p:cNvPr id="21534" name="Text Box 11"/>
              <p:cNvSpPr txBox="1">
                <a:spLocks noChangeArrowheads="1"/>
              </p:cNvSpPr>
              <p:nvPr/>
            </p:nvSpPr>
            <p:spPr bwMode="auto">
              <a:xfrm>
                <a:off x="2355" y="2161"/>
                <a:ext cx="82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zh-CN" altLang="en-US"/>
                  <a:t>验算合格</a:t>
                </a:r>
                <a:r>
                  <a:rPr lang="en-US" altLang="zh-CN"/>
                  <a:t>?</a:t>
                </a:r>
                <a:endParaRPr lang="en-US" altLang="zh-CN"/>
              </a:p>
            </p:txBody>
          </p:sp>
          <p:sp>
            <p:nvSpPr>
              <p:cNvPr id="21535" name="AutoShape 12"/>
              <p:cNvSpPr>
                <a:spLocks noChangeArrowheads="1"/>
              </p:cNvSpPr>
              <p:nvPr/>
            </p:nvSpPr>
            <p:spPr bwMode="auto">
              <a:xfrm>
                <a:off x="2155" y="2075"/>
                <a:ext cx="1251" cy="417"/>
              </a:xfrm>
              <a:prstGeom prst="flowChartDecision">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endParaRPr lang="zh-CN" altLang="en-US"/>
              </a:p>
            </p:txBody>
          </p:sp>
        </p:grpSp>
        <p:sp>
          <p:nvSpPr>
            <p:cNvPr id="21533" name="Line 18"/>
            <p:cNvSpPr>
              <a:spLocks noChangeShapeType="1"/>
            </p:cNvSpPr>
            <p:nvPr/>
          </p:nvSpPr>
          <p:spPr bwMode="auto">
            <a:xfrm>
              <a:off x="2736" y="1938"/>
              <a:ext cx="0" cy="174"/>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4" name="Group 29"/>
          <p:cNvGrpSpPr/>
          <p:nvPr/>
        </p:nvGrpSpPr>
        <p:grpSpPr bwMode="auto">
          <a:xfrm>
            <a:off x="3990975" y="5546725"/>
            <a:ext cx="1974850" cy="785813"/>
            <a:chOff x="2173" y="2484"/>
            <a:chExt cx="1244" cy="495"/>
          </a:xfrm>
        </p:grpSpPr>
        <p:sp>
          <p:nvSpPr>
            <p:cNvPr id="21528" name="AutoShape 14"/>
            <p:cNvSpPr>
              <a:spLocks noChangeArrowheads="1"/>
            </p:cNvSpPr>
            <p:nvPr/>
          </p:nvSpPr>
          <p:spPr bwMode="auto">
            <a:xfrm>
              <a:off x="2173" y="2721"/>
              <a:ext cx="1122" cy="258"/>
            </a:xfrm>
            <a:prstGeom prst="flowChartAlternateProcess">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endParaRPr lang="zh-CN" altLang="en-US"/>
            </a:p>
          </p:txBody>
        </p:sp>
        <p:sp>
          <p:nvSpPr>
            <p:cNvPr id="21529" name="Text Box 15"/>
            <p:cNvSpPr txBox="1">
              <a:spLocks noChangeArrowheads="1"/>
            </p:cNvSpPr>
            <p:nvPr/>
          </p:nvSpPr>
          <p:spPr bwMode="auto">
            <a:xfrm>
              <a:off x="2453" y="2727"/>
              <a:ext cx="96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zh-CN" altLang="en-US"/>
                <a:t>结  束</a:t>
              </a:r>
              <a:endParaRPr lang="zh-CN" altLang="en-US"/>
            </a:p>
          </p:txBody>
        </p:sp>
        <p:sp>
          <p:nvSpPr>
            <p:cNvPr id="21530" name="Line 19"/>
            <p:cNvSpPr>
              <a:spLocks noChangeShapeType="1"/>
            </p:cNvSpPr>
            <p:nvPr/>
          </p:nvSpPr>
          <p:spPr bwMode="auto">
            <a:xfrm>
              <a:off x="2736" y="2544"/>
              <a:ext cx="0" cy="174"/>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531" name="Text Box 22"/>
            <p:cNvSpPr txBox="1">
              <a:spLocks noChangeArrowheads="1"/>
            </p:cNvSpPr>
            <p:nvPr/>
          </p:nvSpPr>
          <p:spPr bwMode="auto">
            <a:xfrm>
              <a:off x="2768" y="2484"/>
              <a:ext cx="30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sz="1800" i="1"/>
                <a:t>yes</a:t>
              </a:r>
              <a:endParaRPr lang="en-US" altLang="zh-CN" sz="1800" i="1"/>
            </a:p>
          </p:txBody>
        </p:sp>
      </p:grpSp>
      <p:sp>
        <p:nvSpPr>
          <p:cNvPr id="47129" name="Line 25"/>
          <p:cNvSpPr>
            <a:spLocks noChangeShapeType="1"/>
          </p:cNvSpPr>
          <p:nvPr/>
        </p:nvSpPr>
        <p:spPr bwMode="auto">
          <a:xfrm flipV="1">
            <a:off x="1843088" y="3746500"/>
            <a:ext cx="0" cy="154305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30" name="Line 26"/>
          <p:cNvSpPr>
            <a:spLocks noChangeShapeType="1"/>
          </p:cNvSpPr>
          <p:nvPr/>
        </p:nvSpPr>
        <p:spPr bwMode="auto">
          <a:xfrm>
            <a:off x="1843088" y="3756025"/>
            <a:ext cx="719137"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5" name="Group 28"/>
          <p:cNvGrpSpPr/>
          <p:nvPr/>
        </p:nvGrpSpPr>
        <p:grpSpPr bwMode="auto">
          <a:xfrm>
            <a:off x="1852613" y="4968875"/>
            <a:ext cx="2047875" cy="366713"/>
            <a:chOff x="810" y="2124"/>
            <a:chExt cx="1290" cy="231"/>
          </a:xfrm>
        </p:grpSpPr>
        <p:sp>
          <p:nvSpPr>
            <p:cNvPr id="21526" name="Line 24"/>
            <p:cNvSpPr>
              <a:spLocks noChangeShapeType="1"/>
            </p:cNvSpPr>
            <p:nvPr/>
          </p:nvSpPr>
          <p:spPr bwMode="auto">
            <a:xfrm flipH="1">
              <a:off x="810" y="2328"/>
              <a:ext cx="129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527" name="Text Box 27"/>
            <p:cNvSpPr txBox="1">
              <a:spLocks noChangeArrowheads="1"/>
            </p:cNvSpPr>
            <p:nvPr/>
          </p:nvSpPr>
          <p:spPr bwMode="auto">
            <a:xfrm>
              <a:off x="1826" y="2124"/>
              <a:ext cx="26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sz="1800" i="1"/>
                <a:t>no</a:t>
              </a:r>
              <a:endParaRPr lang="en-US" altLang="zh-CN" sz="1800" i="1"/>
            </a:p>
          </p:txBody>
        </p:sp>
      </p:grpSp>
      <p:pic>
        <p:nvPicPr>
          <p:cNvPr id="47135" name="Picture 31" descr="back">
            <a:hlinkClick r:id="" action="ppaction://hlinkshowjump?jump=previousslide"/>
          </p:cNvPr>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332788" y="6532563"/>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136" name="Picture 32" descr="NEXT">
            <a:hlinkClick r:id="" action="ppaction://hlinkshowjump?jump=nextslide"/>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742363" y="6532563"/>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137" name="Picture 33" descr="rewind">
            <a:hlinkClick r:id="" action="ppaction://hlinkshowjump?jump=first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24800" y="6532563"/>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38" name="Text Box 34"/>
          <p:cNvSpPr txBox="1">
            <a:spLocks noChangeArrowheads="1"/>
          </p:cNvSpPr>
          <p:nvPr/>
        </p:nvSpPr>
        <p:spPr bwMode="auto">
          <a:xfrm>
            <a:off x="6196013" y="6353175"/>
            <a:ext cx="8350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50000"/>
              </a:spcBef>
            </a:pPr>
            <a:r>
              <a:rPr lang="en-US" altLang="zh-CN"/>
              <a:t>  </a:t>
            </a:r>
            <a:endParaRPr lang="en-US" altLang="zh-CN"/>
          </a:p>
        </p:txBody>
      </p:sp>
      <p:sp>
        <p:nvSpPr>
          <p:cNvPr id="47141" name="Text Box 37"/>
          <p:cNvSpPr txBox="1">
            <a:spLocks noChangeArrowheads="1"/>
          </p:cNvSpPr>
          <p:nvPr/>
        </p:nvSpPr>
        <p:spPr bwMode="auto">
          <a:xfrm>
            <a:off x="625475" y="2970213"/>
            <a:ext cx="22907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a:latin typeface="华文中宋" panose="02010600040101010101" pitchFamily="2" charset="-122"/>
              </a:rPr>
              <a:t> </a:t>
            </a:r>
            <a:r>
              <a:rPr lang="zh-CN" altLang="en-US">
                <a:latin typeface="华文中宋" panose="02010600040101010101" pitchFamily="2" charset="-122"/>
              </a:rPr>
              <a:t>轴的设计过程是：</a:t>
            </a:r>
            <a:endParaRPr lang="zh-CN" altLang="en-US"/>
          </a:p>
        </p:txBody>
      </p:sp>
      <p:sp>
        <p:nvSpPr>
          <p:cNvPr id="21525"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17410" name="Rectangle 18"/>
          <p:cNvSpPr>
            <a:spLocks noChangeArrowheads="1"/>
          </p:cNvSpPr>
          <p:nvPr/>
        </p:nvSpPr>
        <p:spPr bwMode="auto">
          <a:xfrm>
            <a:off x="4953000" y="200025"/>
            <a:ext cx="35052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8000" anchor="ctr" anchorCtr="1"/>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sz="2400">
                <a:solidFill>
                  <a:srgbClr val="CC3300"/>
                </a:solidFill>
                <a:latin typeface="黑体" panose="02010609060101010101" pitchFamily="49" charset="-122"/>
                <a:ea typeface="黑体" panose="02010609060101010101" pitchFamily="49" charset="-122"/>
              </a:rPr>
              <a:t>3.7-1 </a:t>
            </a:r>
            <a:r>
              <a:rPr lang="zh-CN" altLang="en-US" sz="2400">
                <a:solidFill>
                  <a:srgbClr val="CC3300"/>
                </a:solidFill>
                <a:latin typeface="黑体" panose="02010609060101010101" pitchFamily="49" charset="-122"/>
                <a:ea typeface="黑体" panose="02010609060101010101" pitchFamily="49" charset="-122"/>
              </a:rPr>
              <a:t>轴的概述</a:t>
            </a:r>
            <a:endParaRPr lang="zh-CN" altLang="en-US" sz="2400">
              <a:solidFill>
                <a:srgbClr val="CC3300"/>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7108"/>
                                        </p:tgtEl>
                                        <p:attrNameLst>
                                          <p:attrName>style.visibility</p:attrName>
                                        </p:attrNameLst>
                                      </p:cBhvr>
                                      <p:to>
                                        <p:strVal val="visible"/>
                                      </p:to>
                                    </p:set>
                                    <p:animEffect transition="in" filter="wipe(left)">
                                      <p:cBhvr>
                                        <p:cTn id="7" dur="500"/>
                                        <p:tgtEl>
                                          <p:spTgt spid="47108"/>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47109"/>
                                        </p:tgtEl>
                                        <p:attrNameLst>
                                          <p:attrName>style.visibility</p:attrName>
                                        </p:attrNameLst>
                                      </p:cBhvr>
                                      <p:to>
                                        <p:strVal val="visible"/>
                                      </p:to>
                                    </p:set>
                                    <p:animEffect transition="in" filter="wipe(left)">
                                      <p:cBhvr>
                                        <p:cTn id="11" dur="500"/>
                                        <p:tgtEl>
                                          <p:spTgt spid="4710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47110"/>
                                        </p:tgtEl>
                                        <p:attrNameLst>
                                          <p:attrName>style.visibility</p:attrName>
                                        </p:attrNameLst>
                                      </p:cBhvr>
                                      <p:to>
                                        <p:strVal val="visible"/>
                                      </p:to>
                                    </p:set>
                                    <p:animEffect transition="in" filter="wipe(left)">
                                      <p:cBhvr>
                                        <p:cTn id="16" dur="500"/>
                                        <p:tgtEl>
                                          <p:spTgt spid="47110"/>
                                        </p:tgtEl>
                                      </p:cBhvr>
                                    </p:animEffect>
                                  </p:childTnLst>
                                </p:cTn>
                              </p:par>
                            </p:childTnLst>
                          </p:cTn>
                        </p:par>
                        <p:par>
                          <p:cTn id="17" fill="hold">
                            <p:stCondLst>
                              <p:cond delay="500"/>
                            </p:stCondLst>
                            <p:childTnLst>
                              <p:par>
                                <p:cTn id="18" presetID="12" presetClass="entr" presetSubtype="4" fill="hold" grpId="0" nodeType="afterEffect">
                                  <p:stCondLst>
                                    <p:cond delay="0"/>
                                  </p:stCondLst>
                                  <p:childTnLst>
                                    <p:set>
                                      <p:cBhvr>
                                        <p:cTn id="19" dur="1" fill="hold">
                                          <p:stCondLst>
                                            <p:cond delay="0"/>
                                          </p:stCondLst>
                                        </p:cTn>
                                        <p:tgtEl>
                                          <p:spTgt spid="47111"/>
                                        </p:tgtEl>
                                        <p:attrNameLst>
                                          <p:attrName>style.visibility</p:attrName>
                                        </p:attrNameLst>
                                      </p:cBhvr>
                                      <p:to>
                                        <p:strVal val="visible"/>
                                      </p:to>
                                    </p:set>
                                    <p:animEffect transition="in" filter="slide(fromBottom)">
                                      <p:cBhvr>
                                        <p:cTn id="20" dur="500"/>
                                        <p:tgtEl>
                                          <p:spTgt spid="47111"/>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47141"/>
                                        </p:tgtEl>
                                        <p:attrNameLst>
                                          <p:attrName>style.visibility</p:attrName>
                                        </p:attrNameLst>
                                      </p:cBhvr>
                                      <p:to>
                                        <p:strVal val="visible"/>
                                      </p:to>
                                    </p:set>
                                    <p:animEffect transition="in" filter="wipe(left)">
                                      <p:cBhvr>
                                        <p:cTn id="25" dur="500"/>
                                        <p:tgtEl>
                                          <p:spTgt spid="47141"/>
                                        </p:tgtEl>
                                      </p:cBhvr>
                                    </p:animEffect>
                                  </p:childTnLst>
                                </p:cTn>
                              </p:par>
                            </p:childTnLst>
                          </p:cTn>
                        </p:par>
                        <p:par>
                          <p:cTn id="26" fill="hold">
                            <p:stCondLst>
                              <p:cond delay="500"/>
                            </p:stCondLst>
                            <p:childTnLst>
                              <p:par>
                                <p:cTn id="27" presetID="9" presetClass="entr" presetSubtype="0" fill="hold" grpId="0" nodeType="afterEffect">
                                  <p:stCondLst>
                                    <p:cond delay="0"/>
                                  </p:stCondLst>
                                  <p:childTnLst>
                                    <p:set>
                                      <p:cBhvr>
                                        <p:cTn id="28" dur="1" fill="hold">
                                          <p:stCondLst>
                                            <p:cond delay="0"/>
                                          </p:stCondLst>
                                        </p:cTn>
                                        <p:tgtEl>
                                          <p:spTgt spid="47113"/>
                                        </p:tgtEl>
                                        <p:attrNameLst>
                                          <p:attrName>style.visibility</p:attrName>
                                        </p:attrNameLst>
                                      </p:cBhvr>
                                      <p:to>
                                        <p:strVal val="visible"/>
                                      </p:to>
                                    </p:set>
                                    <p:animEffect transition="in" filter="dissolve">
                                      <p:cBhvr>
                                        <p:cTn id="29" dur="500"/>
                                        <p:tgtEl>
                                          <p:spTgt spid="47113"/>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grpId="0" nodeType="clickEffect">
                                  <p:stCondLst>
                                    <p:cond delay="0"/>
                                  </p:stCondLst>
                                  <p:childTnLst>
                                    <p:set>
                                      <p:cBhvr>
                                        <p:cTn id="33" dur="1" fill="hold">
                                          <p:stCondLst>
                                            <p:cond delay="0"/>
                                          </p:stCondLst>
                                        </p:cTn>
                                        <p:tgtEl>
                                          <p:spTgt spid="47121"/>
                                        </p:tgtEl>
                                        <p:attrNameLst>
                                          <p:attrName>style.visibility</p:attrName>
                                        </p:attrNameLst>
                                      </p:cBhvr>
                                      <p:to>
                                        <p:strVal val="visible"/>
                                      </p:to>
                                    </p:set>
                                    <p:animEffect transition="in" filter="wipe(up)">
                                      <p:cBhvr>
                                        <p:cTn id="34" dur="500"/>
                                        <p:tgtEl>
                                          <p:spTgt spid="47121"/>
                                        </p:tgtEl>
                                      </p:cBhvr>
                                    </p:animEffect>
                                  </p:childTnLst>
                                </p:cTn>
                              </p:par>
                            </p:childTnLst>
                          </p:cTn>
                        </p:par>
                        <p:par>
                          <p:cTn id="35" fill="hold">
                            <p:stCondLst>
                              <p:cond delay="500"/>
                            </p:stCondLst>
                            <p:childTnLst>
                              <p:par>
                                <p:cTn id="36" presetID="9" presetClass="entr" presetSubtype="0" fill="hold" grpId="0" nodeType="afterEffect">
                                  <p:stCondLst>
                                    <p:cond delay="0"/>
                                  </p:stCondLst>
                                  <p:childTnLst>
                                    <p:set>
                                      <p:cBhvr>
                                        <p:cTn id="37" dur="1" fill="hold">
                                          <p:stCondLst>
                                            <p:cond delay="0"/>
                                          </p:stCondLst>
                                        </p:cTn>
                                        <p:tgtEl>
                                          <p:spTgt spid="47114"/>
                                        </p:tgtEl>
                                        <p:attrNameLst>
                                          <p:attrName>style.visibility</p:attrName>
                                        </p:attrNameLst>
                                      </p:cBhvr>
                                      <p:to>
                                        <p:strVal val="visible"/>
                                      </p:to>
                                    </p:set>
                                    <p:animEffect transition="in" filter="dissolve">
                                      <p:cBhvr>
                                        <p:cTn id="38" dur="500"/>
                                        <p:tgtEl>
                                          <p:spTgt spid="47114"/>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1" fill="hold" nodeType="clickEffect">
                                  <p:stCondLst>
                                    <p:cond delay="0"/>
                                  </p:stCondLst>
                                  <p:childTnLst>
                                    <p:set>
                                      <p:cBhvr>
                                        <p:cTn id="42" dur="1" fill="hold">
                                          <p:stCondLst>
                                            <p:cond delay="0"/>
                                          </p:stCondLst>
                                        </p:cTn>
                                        <p:tgtEl>
                                          <p:spTgt spid="2"/>
                                        </p:tgtEl>
                                        <p:attrNameLst>
                                          <p:attrName>style.visibility</p:attrName>
                                        </p:attrNameLst>
                                      </p:cBhvr>
                                      <p:to>
                                        <p:strVal val="visible"/>
                                      </p:to>
                                    </p:set>
                                    <p:animEffect transition="in" filter="wipe(up)">
                                      <p:cBhvr>
                                        <p:cTn id="43" dur="500"/>
                                        <p:tgtEl>
                                          <p:spTgt spid="2"/>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2" fill="hold" nodeType="clickEffect">
                                  <p:stCondLst>
                                    <p:cond delay="0"/>
                                  </p:stCondLst>
                                  <p:childTnLst>
                                    <p:set>
                                      <p:cBhvr>
                                        <p:cTn id="47" dur="1" fill="hold">
                                          <p:stCondLst>
                                            <p:cond delay="0"/>
                                          </p:stCondLst>
                                        </p:cTn>
                                        <p:tgtEl>
                                          <p:spTgt spid="5"/>
                                        </p:tgtEl>
                                        <p:attrNameLst>
                                          <p:attrName>style.visibility</p:attrName>
                                        </p:attrNameLst>
                                      </p:cBhvr>
                                      <p:to>
                                        <p:strVal val="visible"/>
                                      </p:to>
                                    </p:set>
                                    <p:animEffect transition="in" filter="wipe(right)">
                                      <p:cBhvr>
                                        <p:cTn id="48" dur="500"/>
                                        <p:tgtEl>
                                          <p:spTgt spid="5"/>
                                        </p:tgtEl>
                                      </p:cBhvr>
                                    </p:animEffect>
                                  </p:childTnLst>
                                </p:cTn>
                              </p:par>
                            </p:childTnLst>
                          </p:cTn>
                        </p:par>
                        <p:par>
                          <p:cTn id="49" fill="hold">
                            <p:stCondLst>
                              <p:cond delay="500"/>
                            </p:stCondLst>
                            <p:childTnLst>
                              <p:par>
                                <p:cTn id="50" presetID="22" presetClass="entr" presetSubtype="4" fill="hold" grpId="0" nodeType="afterEffect">
                                  <p:stCondLst>
                                    <p:cond delay="0"/>
                                  </p:stCondLst>
                                  <p:childTnLst>
                                    <p:set>
                                      <p:cBhvr>
                                        <p:cTn id="51" dur="1" fill="hold">
                                          <p:stCondLst>
                                            <p:cond delay="0"/>
                                          </p:stCondLst>
                                        </p:cTn>
                                        <p:tgtEl>
                                          <p:spTgt spid="47129"/>
                                        </p:tgtEl>
                                        <p:attrNameLst>
                                          <p:attrName>style.visibility</p:attrName>
                                        </p:attrNameLst>
                                      </p:cBhvr>
                                      <p:to>
                                        <p:strVal val="visible"/>
                                      </p:to>
                                    </p:set>
                                    <p:animEffect transition="in" filter="wipe(down)">
                                      <p:cBhvr>
                                        <p:cTn id="52" dur="500"/>
                                        <p:tgtEl>
                                          <p:spTgt spid="47129"/>
                                        </p:tgtEl>
                                      </p:cBhvr>
                                    </p:animEffect>
                                  </p:childTnLst>
                                </p:cTn>
                              </p:par>
                            </p:childTnLst>
                          </p:cTn>
                        </p:par>
                        <p:par>
                          <p:cTn id="53" fill="hold">
                            <p:stCondLst>
                              <p:cond delay="1000"/>
                            </p:stCondLst>
                            <p:childTnLst>
                              <p:par>
                                <p:cTn id="54" presetID="22" presetClass="entr" presetSubtype="8" fill="hold" grpId="0" nodeType="afterEffect">
                                  <p:stCondLst>
                                    <p:cond delay="0"/>
                                  </p:stCondLst>
                                  <p:childTnLst>
                                    <p:set>
                                      <p:cBhvr>
                                        <p:cTn id="55" dur="1" fill="hold">
                                          <p:stCondLst>
                                            <p:cond delay="0"/>
                                          </p:stCondLst>
                                        </p:cTn>
                                        <p:tgtEl>
                                          <p:spTgt spid="47130"/>
                                        </p:tgtEl>
                                        <p:attrNameLst>
                                          <p:attrName>style.visibility</p:attrName>
                                        </p:attrNameLst>
                                      </p:cBhvr>
                                      <p:to>
                                        <p:strVal val="visible"/>
                                      </p:to>
                                    </p:set>
                                    <p:animEffect transition="in" filter="wipe(left)">
                                      <p:cBhvr>
                                        <p:cTn id="56" dur="500"/>
                                        <p:tgtEl>
                                          <p:spTgt spid="47130"/>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1" fill="hold" nodeType="clickEffect">
                                  <p:stCondLst>
                                    <p:cond delay="0"/>
                                  </p:stCondLst>
                                  <p:childTnLst>
                                    <p:set>
                                      <p:cBhvr>
                                        <p:cTn id="60" dur="1" fill="hold">
                                          <p:stCondLst>
                                            <p:cond delay="0"/>
                                          </p:stCondLst>
                                        </p:cTn>
                                        <p:tgtEl>
                                          <p:spTgt spid="4"/>
                                        </p:tgtEl>
                                        <p:attrNameLst>
                                          <p:attrName>style.visibility</p:attrName>
                                        </p:attrNameLst>
                                      </p:cBhvr>
                                      <p:to>
                                        <p:strVal val="visible"/>
                                      </p:to>
                                    </p:set>
                                    <p:animEffect transition="in" filter="wipe(up)">
                                      <p:cBhvr>
                                        <p:cTn id="61" dur="500"/>
                                        <p:tgtEl>
                                          <p:spTgt spid="4"/>
                                        </p:tgtEl>
                                      </p:cBhvr>
                                    </p:animEffect>
                                  </p:childTnLst>
                                </p:cTn>
                              </p:par>
                            </p:childTnLst>
                          </p:cTn>
                        </p:par>
                        <p:par>
                          <p:cTn id="62" fill="hold">
                            <p:stCondLst>
                              <p:cond delay="500"/>
                            </p:stCondLst>
                            <p:childTnLst>
                              <p:par>
                                <p:cTn id="63" presetID="1" presetClass="entr" presetSubtype="0" fill="hold" nodeType="afterEffect">
                                  <p:stCondLst>
                                    <p:cond delay="0"/>
                                  </p:stCondLst>
                                  <p:childTnLst>
                                    <p:set>
                                      <p:cBhvr>
                                        <p:cTn id="64" dur="1" fill="hold">
                                          <p:stCondLst>
                                            <p:cond delay="499"/>
                                          </p:stCondLst>
                                        </p:cTn>
                                        <p:tgtEl>
                                          <p:spTgt spid="47135"/>
                                        </p:tgtEl>
                                        <p:attrNameLst>
                                          <p:attrName>style.visibility</p:attrName>
                                        </p:attrNameLst>
                                      </p:cBhvr>
                                      <p:to>
                                        <p:strVal val="visible"/>
                                      </p:to>
                                    </p:set>
                                  </p:childTnLst>
                                </p:cTn>
                              </p:par>
                            </p:childTnLst>
                          </p:cTn>
                        </p:par>
                        <p:par>
                          <p:cTn id="65" fill="hold">
                            <p:stCondLst>
                              <p:cond delay="1000"/>
                            </p:stCondLst>
                            <p:childTnLst>
                              <p:par>
                                <p:cTn id="66" presetID="1" presetClass="entr" presetSubtype="0" fill="hold" nodeType="afterEffect">
                                  <p:stCondLst>
                                    <p:cond delay="0"/>
                                  </p:stCondLst>
                                  <p:childTnLst>
                                    <p:set>
                                      <p:cBhvr>
                                        <p:cTn id="67" dur="1" fill="hold">
                                          <p:stCondLst>
                                            <p:cond delay="499"/>
                                          </p:stCondLst>
                                        </p:cTn>
                                        <p:tgtEl>
                                          <p:spTgt spid="47136"/>
                                        </p:tgtEl>
                                        <p:attrNameLst>
                                          <p:attrName>style.visibility</p:attrName>
                                        </p:attrNameLst>
                                      </p:cBhvr>
                                      <p:to>
                                        <p:strVal val="visible"/>
                                      </p:to>
                                    </p:set>
                                  </p:childTnLst>
                                </p:cTn>
                              </p:par>
                            </p:childTnLst>
                          </p:cTn>
                        </p:par>
                        <p:par>
                          <p:cTn id="68" fill="hold">
                            <p:stCondLst>
                              <p:cond delay="1500"/>
                            </p:stCondLst>
                            <p:childTnLst>
                              <p:par>
                                <p:cTn id="69" presetID="2" presetClass="entr" presetSubtype="8" fill="hold" nodeType="afterEffect">
                                  <p:stCondLst>
                                    <p:cond delay="0"/>
                                  </p:stCondLst>
                                  <p:childTnLst>
                                    <p:set>
                                      <p:cBhvr>
                                        <p:cTn id="70" dur="1" fill="hold">
                                          <p:stCondLst>
                                            <p:cond delay="0"/>
                                          </p:stCondLst>
                                        </p:cTn>
                                        <p:tgtEl>
                                          <p:spTgt spid="47137"/>
                                        </p:tgtEl>
                                        <p:attrNameLst>
                                          <p:attrName>style.visibility</p:attrName>
                                        </p:attrNameLst>
                                      </p:cBhvr>
                                      <p:to>
                                        <p:strVal val="visible"/>
                                      </p:to>
                                    </p:set>
                                    <p:anim calcmode="lin" valueType="num">
                                      <p:cBhvr additive="base">
                                        <p:cTn id="71" dur="500" fill="hold"/>
                                        <p:tgtEl>
                                          <p:spTgt spid="47137"/>
                                        </p:tgtEl>
                                        <p:attrNameLst>
                                          <p:attrName>ppt_x</p:attrName>
                                        </p:attrNameLst>
                                      </p:cBhvr>
                                      <p:tavLst>
                                        <p:tav tm="0">
                                          <p:val>
                                            <p:strVal val="0-#ppt_w/2"/>
                                          </p:val>
                                        </p:tav>
                                        <p:tav tm="100000">
                                          <p:val>
                                            <p:strVal val="#ppt_x"/>
                                          </p:val>
                                        </p:tav>
                                      </p:tavLst>
                                    </p:anim>
                                    <p:anim calcmode="lin" valueType="num">
                                      <p:cBhvr additive="base">
                                        <p:cTn id="72" dur="500" fill="hold"/>
                                        <p:tgtEl>
                                          <p:spTgt spid="47137"/>
                                        </p:tgtEl>
                                        <p:attrNameLst>
                                          <p:attrName>ppt_y</p:attrName>
                                        </p:attrNameLst>
                                      </p:cBhvr>
                                      <p:tavLst>
                                        <p:tav tm="0">
                                          <p:val>
                                            <p:strVal val="#ppt_y"/>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2" presetClass="entr" presetSubtype="8" fill="hold" grpId="0" nodeType="clickEffect">
                                  <p:stCondLst>
                                    <p:cond delay="0"/>
                                  </p:stCondLst>
                                  <p:childTnLst>
                                    <p:set>
                                      <p:cBhvr>
                                        <p:cTn id="76" dur="1" fill="hold">
                                          <p:stCondLst>
                                            <p:cond delay="0"/>
                                          </p:stCondLst>
                                        </p:cTn>
                                        <p:tgtEl>
                                          <p:spTgt spid="47138"/>
                                        </p:tgtEl>
                                        <p:attrNameLst>
                                          <p:attrName>style.visibility</p:attrName>
                                        </p:attrNameLst>
                                      </p:cBhvr>
                                      <p:to>
                                        <p:strVal val="visible"/>
                                      </p:to>
                                    </p:set>
                                    <p:anim calcmode="lin" valueType="num">
                                      <p:cBhvr additive="base">
                                        <p:cTn id="77" dur="500" fill="hold"/>
                                        <p:tgtEl>
                                          <p:spTgt spid="47138"/>
                                        </p:tgtEl>
                                        <p:attrNameLst>
                                          <p:attrName>ppt_x</p:attrName>
                                        </p:attrNameLst>
                                      </p:cBhvr>
                                      <p:tavLst>
                                        <p:tav tm="0">
                                          <p:val>
                                            <p:strVal val="0-#ppt_w/2"/>
                                          </p:val>
                                        </p:tav>
                                        <p:tav tm="100000">
                                          <p:val>
                                            <p:strVal val="#ppt_x"/>
                                          </p:val>
                                        </p:tav>
                                      </p:tavLst>
                                    </p:anim>
                                    <p:anim calcmode="lin" valueType="num">
                                      <p:cBhvr additive="base">
                                        <p:cTn id="78" dur="500" fill="hold"/>
                                        <p:tgtEl>
                                          <p:spTgt spid="4713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8" grpId="0" autoUpdateAnimBg="0"/>
      <p:bldP spid="47109" grpId="0" autoUpdateAnimBg="0"/>
      <p:bldP spid="47110" grpId="0" autoUpdateAnimBg="0"/>
      <p:bldP spid="47111" grpId="0" autoUpdateAnimBg="0"/>
      <p:bldP spid="47113" grpId="0" animBg="1" autoUpdateAnimBg="0"/>
      <p:bldP spid="47114" grpId="0" animBg="1" autoUpdateAnimBg="0"/>
      <p:bldP spid="47121" grpId="0" animBg="1"/>
      <p:bldP spid="47129" grpId="0" animBg="1"/>
      <p:bldP spid="47130" grpId="0" animBg="1"/>
      <p:bldP spid="47138" grpId="0" autoUpdateAnimBg="0"/>
      <p:bldP spid="47141"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 Box 2"/>
          <p:cNvSpPr txBox="1">
            <a:spLocks noChangeArrowheads="1"/>
          </p:cNvSpPr>
          <p:nvPr/>
        </p:nvSpPr>
        <p:spPr bwMode="auto">
          <a:xfrm>
            <a:off x="439738" y="798513"/>
            <a:ext cx="4276725" cy="429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zh-CN" altLang="en-US" sz="2200">
                <a:solidFill>
                  <a:srgbClr val="C00000"/>
                </a:solidFill>
                <a:latin typeface="黑体" panose="02010609060101010101" pitchFamily="49" charset="-122"/>
                <a:ea typeface="黑体" panose="02010609060101010101" pitchFamily="49" charset="-122"/>
              </a:rPr>
              <a:t>四、轴的材料</a:t>
            </a:r>
            <a:endParaRPr lang="zh-CN" altLang="en-US" sz="2200">
              <a:solidFill>
                <a:srgbClr val="C00000"/>
              </a:solidFill>
              <a:latin typeface="黑体" panose="02010609060101010101" pitchFamily="49" charset="-122"/>
              <a:ea typeface="黑体" panose="02010609060101010101" pitchFamily="49" charset="-122"/>
            </a:endParaRPr>
          </a:p>
        </p:txBody>
      </p:sp>
      <p:sp>
        <p:nvSpPr>
          <p:cNvPr id="11267" name="Text Box 3"/>
          <p:cNvSpPr txBox="1">
            <a:spLocks noChangeArrowheads="1"/>
          </p:cNvSpPr>
          <p:nvPr/>
        </p:nvSpPr>
        <p:spPr bwMode="auto">
          <a:xfrm>
            <a:off x="495300" y="1401763"/>
            <a:ext cx="8101013" cy="938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968500" indent="-1968500"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10000"/>
              </a:lnSpc>
            </a:pPr>
            <a:r>
              <a:rPr lang="en-US" altLang="zh-CN" sz="2800" dirty="0">
                <a:latin typeface="华文中宋" panose="02010600040101010101" pitchFamily="2" charset="-122"/>
              </a:rPr>
              <a:t>1</a:t>
            </a:r>
            <a:r>
              <a:rPr lang="zh-CN" altLang="en-US" sz="2800" dirty="0">
                <a:latin typeface="华文中宋" panose="02010600040101010101" pitchFamily="2" charset="-122"/>
              </a:rPr>
              <a:t>、</a:t>
            </a:r>
            <a:r>
              <a:rPr lang="zh-CN" altLang="en-US" sz="2200" b="1" dirty="0">
                <a:solidFill>
                  <a:srgbClr val="800000"/>
                </a:solidFill>
                <a:latin typeface="华文中宋" panose="02010600040101010101" pitchFamily="2" charset="-122"/>
              </a:rPr>
              <a:t>碳素钢</a:t>
            </a:r>
            <a:r>
              <a:rPr lang="zh-CN" altLang="en-US" sz="2200" dirty="0">
                <a:solidFill>
                  <a:schemeClr val="tx2"/>
                </a:solidFill>
                <a:latin typeface="华文中宋" panose="02010600040101010101" pitchFamily="2" charset="-122"/>
              </a:rPr>
              <a:t>：</a:t>
            </a:r>
            <a:r>
              <a:rPr lang="zh-CN" altLang="en-US" sz="2200" dirty="0"/>
              <a:t>较高的综合机械性能，</a:t>
            </a:r>
            <a:r>
              <a:rPr lang="zh-CN" altLang="en-US" sz="2200" dirty="0">
                <a:solidFill>
                  <a:srgbClr val="002060"/>
                </a:solidFill>
                <a:latin typeface="华文中宋" panose="02010600040101010101" pitchFamily="2" charset="-122"/>
              </a:rPr>
              <a:t>价廉，热处理以提高耐磨性和抗疲劳强度，对</a:t>
            </a:r>
            <a:r>
              <a:rPr lang="zh-CN" altLang="en-US" sz="2200" dirty="0">
                <a:solidFill>
                  <a:srgbClr val="FF0000"/>
                </a:solidFill>
                <a:latin typeface="华文中宋" panose="02010600040101010101" pitchFamily="2" charset="-122"/>
              </a:rPr>
              <a:t>应力集中敏感性小</a:t>
            </a:r>
            <a:r>
              <a:rPr lang="zh-CN" altLang="en-US" sz="2200" dirty="0">
                <a:latin typeface="华文中宋" panose="02010600040101010101" pitchFamily="2" charset="-122"/>
              </a:rPr>
              <a:t>，</a:t>
            </a:r>
            <a:r>
              <a:rPr lang="zh-CN" altLang="en-US" sz="2200" b="1" dirty="0">
                <a:solidFill>
                  <a:srgbClr val="FF0000"/>
                </a:solidFill>
              </a:rPr>
              <a:t>应用最广</a:t>
            </a:r>
            <a:r>
              <a:rPr lang="zh-CN" altLang="en-US" sz="2200" dirty="0">
                <a:solidFill>
                  <a:schemeClr val="tx2"/>
                </a:solidFill>
                <a:latin typeface="华文中宋" panose="02010600040101010101" pitchFamily="2" charset="-122"/>
              </a:rPr>
              <a:t>。</a:t>
            </a:r>
            <a:endParaRPr lang="zh-CN" altLang="en-US" sz="2200" dirty="0">
              <a:solidFill>
                <a:schemeClr val="tx2"/>
              </a:solidFill>
              <a:latin typeface="华文中宋" panose="02010600040101010101" pitchFamily="2" charset="-122"/>
            </a:endParaRPr>
          </a:p>
        </p:txBody>
      </p:sp>
      <p:sp>
        <p:nvSpPr>
          <p:cNvPr id="11268" name="Text Box 4"/>
          <p:cNvSpPr txBox="1">
            <a:spLocks noChangeArrowheads="1"/>
          </p:cNvSpPr>
          <p:nvPr/>
        </p:nvSpPr>
        <p:spPr bwMode="auto">
          <a:xfrm>
            <a:off x="455930" y="4585970"/>
            <a:ext cx="8221345" cy="1308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968500" indent="-1968500"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20000"/>
              </a:lnSpc>
            </a:pPr>
            <a:r>
              <a:rPr lang="en-US" altLang="zh-CN" sz="2200" dirty="0">
                <a:latin typeface="华文中宋" panose="02010600040101010101" pitchFamily="2" charset="-122"/>
              </a:rPr>
              <a:t>2</a:t>
            </a:r>
            <a:r>
              <a:rPr lang="zh-CN" altLang="en-US" sz="2200" dirty="0">
                <a:latin typeface="华文中宋" panose="02010600040101010101" pitchFamily="2" charset="-122"/>
              </a:rPr>
              <a:t>、</a:t>
            </a:r>
            <a:r>
              <a:rPr lang="zh-CN" altLang="en-US" sz="2200" b="1" dirty="0">
                <a:solidFill>
                  <a:srgbClr val="800000"/>
                </a:solidFill>
                <a:latin typeface="华文中宋" panose="02010600040101010101" pitchFamily="2" charset="-122"/>
              </a:rPr>
              <a:t>合金钢</a:t>
            </a:r>
            <a:r>
              <a:rPr lang="zh-CN" altLang="en-US" sz="2200" dirty="0">
                <a:solidFill>
                  <a:schemeClr val="tx2"/>
                </a:solidFill>
                <a:latin typeface="华文中宋" panose="02010600040101010101" pitchFamily="2" charset="-122"/>
              </a:rPr>
              <a:t>：</a:t>
            </a:r>
            <a:r>
              <a:rPr lang="en-US" altLang="zh-CN" sz="2200" dirty="0">
                <a:effectLst>
                  <a:outerShdw blurRad="38100" dist="38100" dir="2700000" algn="tl">
                    <a:srgbClr val="FFFFFF"/>
                  </a:outerShdw>
                </a:effectLst>
                <a:latin typeface="仿宋_GB2312" pitchFamily="49" charset="-122"/>
                <a:ea typeface="仿宋_GB2312" pitchFamily="49" charset="-122"/>
                <a:sym typeface="+mn-ea"/>
              </a:rPr>
              <a:t>40Cr</a:t>
            </a:r>
            <a:r>
              <a:rPr lang="zh-CN" altLang="en-US" sz="2200" dirty="0">
                <a:effectLst>
                  <a:outerShdw blurRad="38100" dist="38100" dir="2700000" algn="tl">
                    <a:srgbClr val="FFFFFF"/>
                  </a:outerShdw>
                </a:effectLst>
                <a:latin typeface="仿宋_GB2312" pitchFamily="49" charset="-122"/>
                <a:ea typeface="仿宋_GB2312" pitchFamily="49" charset="-122"/>
                <a:sym typeface="+mn-ea"/>
              </a:rPr>
              <a:t>、</a:t>
            </a:r>
            <a:r>
              <a:rPr lang="en-US" altLang="zh-CN" sz="2200" dirty="0">
                <a:effectLst>
                  <a:outerShdw blurRad="38100" dist="38100" dir="2700000" algn="tl">
                    <a:srgbClr val="FFFFFF"/>
                  </a:outerShdw>
                </a:effectLst>
                <a:latin typeface="仿宋_GB2312" pitchFamily="49" charset="-122"/>
                <a:ea typeface="仿宋_GB2312" pitchFamily="49" charset="-122"/>
                <a:sym typeface="+mn-ea"/>
              </a:rPr>
              <a:t>35SiMn</a:t>
            </a:r>
            <a:r>
              <a:rPr lang="zh-CN" altLang="en-US" sz="2200" dirty="0">
                <a:effectLst>
                  <a:outerShdw blurRad="38100" dist="38100" dir="2700000" algn="tl">
                    <a:srgbClr val="FFFFFF"/>
                  </a:outerShdw>
                </a:effectLst>
                <a:latin typeface="仿宋_GB2312" pitchFamily="49" charset="-122"/>
                <a:ea typeface="仿宋_GB2312" pitchFamily="49" charset="-122"/>
                <a:sym typeface="+mn-ea"/>
              </a:rPr>
              <a:t>，</a:t>
            </a:r>
            <a:r>
              <a:rPr lang="en-US" altLang="zh-CN" sz="2200" dirty="0">
                <a:effectLst>
                  <a:outerShdw blurRad="38100" dist="38100" dir="2700000" algn="tl">
                    <a:srgbClr val="FFFFFF"/>
                  </a:outerShdw>
                </a:effectLst>
                <a:latin typeface="仿宋_GB2312" pitchFamily="49" charset="-122"/>
                <a:ea typeface="仿宋_GB2312" pitchFamily="49" charset="-122"/>
                <a:sym typeface="+mn-ea"/>
              </a:rPr>
              <a:t>40MnB,</a:t>
            </a:r>
            <a:r>
              <a:rPr lang="zh-CN" altLang="en-US" sz="2200" b="1" dirty="0">
                <a:solidFill>
                  <a:srgbClr val="FF0000"/>
                </a:solidFill>
                <a:latin typeface="华文中宋" panose="02010600040101010101" pitchFamily="2" charset="-122"/>
              </a:rPr>
              <a:t>强度高</a:t>
            </a:r>
            <a:r>
              <a:rPr lang="zh-CN" altLang="en-US" sz="2200" dirty="0">
                <a:solidFill>
                  <a:schemeClr val="tx2"/>
                </a:solidFill>
                <a:latin typeface="华文中宋" panose="02010600040101010101" pitchFamily="2" charset="-122"/>
              </a:rPr>
              <a:t>，</a:t>
            </a:r>
            <a:r>
              <a:rPr lang="zh-CN" altLang="en-US" sz="2200" dirty="0">
                <a:solidFill>
                  <a:srgbClr val="002060"/>
                </a:solidFill>
                <a:latin typeface="华文中宋" panose="02010600040101010101" pitchFamily="2" charset="-122"/>
              </a:rPr>
              <a:t>可淬性好，可在传递大功率并要求减小质量和提高轴颈耐磨性时采用；但</a:t>
            </a:r>
            <a:r>
              <a:rPr lang="zh-CN" altLang="en-US" sz="2200" dirty="0"/>
              <a:t>合金钢对</a:t>
            </a:r>
            <a:r>
              <a:rPr lang="zh-CN" altLang="en-US" sz="2200" dirty="0">
                <a:solidFill>
                  <a:srgbClr val="FF0000"/>
                </a:solidFill>
              </a:rPr>
              <a:t>应力集中敏感性较高，价格贵</a:t>
            </a:r>
            <a:r>
              <a:rPr lang="zh-CN" altLang="en-US" sz="2200" dirty="0"/>
              <a:t>。 </a:t>
            </a:r>
            <a:endParaRPr lang="zh-CN" altLang="en-US" sz="2200" dirty="0">
              <a:solidFill>
                <a:schemeClr val="tx2"/>
              </a:solidFill>
              <a:latin typeface="华文中宋" panose="02010600040101010101" pitchFamily="2" charset="-122"/>
            </a:endParaRPr>
          </a:p>
        </p:txBody>
      </p:sp>
      <p:sp>
        <p:nvSpPr>
          <p:cNvPr id="11269" name="Text Box 5"/>
          <p:cNvSpPr txBox="1">
            <a:spLocks noChangeArrowheads="1"/>
          </p:cNvSpPr>
          <p:nvPr/>
        </p:nvSpPr>
        <p:spPr bwMode="auto">
          <a:xfrm>
            <a:off x="1538288" y="2474010"/>
            <a:ext cx="6754812" cy="17538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15000"/>
              </a:lnSpc>
            </a:pPr>
            <a:r>
              <a:rPr lang="zh-CN" altLang="en-US" sz="2200" b="1" dirty="0">
                <a:solidFill>
                  <a:srgbClr val="660066"/>
                </a:solidFill>
              </a:rPr>
              <a:t>普通碳素钢</a:t>
            </a:r>
            <a:r>
              <a:rPr lang="zh-CN" altLang="en-US" sz="2200" b="1" dirty="0"/>
              <a:t>（</a:t>
            </a:r>
            <a:r>
              <a:rPr lang="en-US" altLang="zh-CN" sz="2200" b="1" i="1" dirty="0"/>
              <a:t>Q </a:t>
            </a:r>
            <a:r>
              <a:rPr lang="en-US" altLang="zh-CN" sz="2200" b="1" dirty="0"/>
              <a:t>235~275)</a:t>
            </a:r>
            <a:endParaRPr lang="en-US" altLang="zh-CN" sz="2200" b="1" dirty="0"/>
          </a:p>
          <a:p>
            <a:pPr marL="0" indent="0" eaLnBrk="1" hangingPunct="1">
              <a:lnSpc>
                <a:spcPct val="115000"/>
              </a:lnSpc>
              <a:buClr>
                <a:srgbClr val="800000"/>
              </a:buClr>
              <a:buSzPct val="90000"/>
              <a:buFont typeface="Wingdings" panose="05000000000000000000" pitchFamily="2" charset="2"/>
              <a:buNone/>
            </a:pPr>
            <a:r>
              <a:rPr lang="en-US" altLang="zh-CN" sz="2800" dirty="0"/>
              <a:t>    </a:t>
            </a:r>
            <a:r>
              <a:rPr lang="zh-CN" altLang="en-US" sz="2200" dirty="0"/>
              <a:t>轻载、不重要的轴、一般传动轴。</a:t>
            </a:r>
            <a:endParaRPr lang="zh-CN" altLang="en-US" sz="2200" dirty="0"/>
          </a:p>
          <a:p>
            <a:pPr eaLnBrk="1" hangingPunct="1">
              <a:lnSpc>
                <a:spcPct val="115000"/>
              </a:lnSpc>
            </a:pPr>
            <a:r>
              <a:rPr lang="zh-CN" altLang="en-US" sz="2200" b="1" dirty="0">
                <a:solidFill>
                  <a:srgbClr val="660066"/>
                </a:solidFill>
              </a:rPr>
              <a:t>优质碳素钢</a:t>
            </a:r>
            <a:r>
              <a:rPr lang="zh-CN" altLang="en-US" sz="2200" dirty="0">
                <a:solidFill>
                  <a:schemeClr val="accent2"/>
                </a:solidFill>
              </a:rPr>
              <a:t>（</a:t>
            </a:r>
            <a:r>
              <a:rPr lang="en-US" altLang="zh-CN" sz="2200" dirty="0">
                <a:solidFill>
                  <a:schemeClr val="accent2"/>
                </a:solidFill>
              </a:rPr>
              <a:t>35</a:t>
            </a:r>
            <a:r>
              <a:rPr lang="zh-CN" altLang="en-US" sz="2200" dirty="0">
                <a:solidFill>
                  <a:schemeClr val="accent2"/>
                </a:solidFill>
              </a:rPr>
              <a:t>、</a:t>
            </a:r>
            <a:r>
              <a:rPr lang="en-US" altLang="zh-CN" sz="2200" dirty="0">
                <a:solidFill>
                  <a:schemeClr val="accent2"/>
                </a:solidFill>
              </a:rPr>
              <a:t>40</a:t>
            </a:r>
            <a:r>
              <a:rPr lang="zh-CN" altLang="en-US" sz="2200" dirty="0">
                <a:solidFill>
                  <a:schemeClr val="accent2"/>
                </a:solidFill>
              </a:rPr>
              <a:t>、</a:t>
            </a:r>
            <a:r>
              <a:rPr lang="en-US" altLang="zh-CN" sz="2200" b="1" dirty="0">
                <a:solidFill>
                  <a:srgbClr val="FF3300"/>
                </a:solidFill>
              </a:rPr>
              <a:t>45</a:t>
            </a:r>
            <a:r>
              <a:rPr lang="en-US" altLang="zh-CN" sz="2200" dirty="0">
                <a:solidFill>
                  <a:schemeClr val="accent2"/>
                </a:solidFill>
              </a:rPr>
              <a:t> </a:t>
            </a:r>
            <a:r>
              <a:rPr lang="zh-CN" altLang="en-US" sz="2200" dirty="0">
                <a:solidFill>
                  <a:schemeClr val="accent2"/>
                </a:solidFill>
              </a:rPr>
              <a:t>、</a:t>
            </a:r>
            <a:r>
              <a:rPr lang="en-US" altLang="zh-CN" sz="2200" dirty="0">
                <a:solidFill>
                  <a:schemeClr val="accent2"/>
                </a:solidFill>
              </a:rPr>
              <a:t>50</a:t>
            </a:r>
            <a:r>
              <a:rPr lang="zh-CN" altLang="en-US" sz="2200" dirty="0"/>
              <a:t>正火、调质）</a:t>
            </a:r>
            <a:endParaRPr lang="zh-CN" altLang="en-US" sz="2200" dirty="0"/>
          </a:p>
          <a:p>
            <a:pPr marL="0" indent="0" eaLnBrk="1" hangingPunct="1">
              <a:lnSpc>
                <a:spcPct val="115000"/>
              </a:lnSpc>
              <a:buClr>
                <a:srgbClr val="800000"/>
              </a:buClr>
              <a:buSzPct val="90000"/>
              <a:buFont typeface="Wingdings" panose="05000000000000000000" pitchFamily="2" charset="2"/>
              <a:buNone/>
            </a:pPr>
            <a:r>
              <a:rPr lang="en-US" altLang="zh-CN" sz="2200" dirty="0"/>
              <a:t> </a:t>
            </a:r>
            <a:r>
              <a:rPr lang="zh-CN" altLang="en-US" sz="2200" dirty="0"/>
              <a:t>    中载，较重要的轴。</a:t>
            </a:r>
            <a:endParaRPr lang="zh-CN" altLang="en-US" sz="2200" dirty="0"/>
          </a:p>
        </p:txBody>
      </p:sp>
      <p:sp>
        <p:nvSpPr>
          <p:cNvPr id="22535"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8" name="Text Box 11"/>
          <p:cNvSpPr txBox="1">
            <a:spLocks noChangeArrowheads="1"/>
          </p:cNvSpPr>
          <p:nvPr/>
        </p:nvSpPr>
        <p:spPr bwMode="auto">
          <a:xfrm>
            <a:off x="1255713" y="5964137"/>
            <a:ext cx="7967662"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50000"/>
              </a:spcBef>
              <a:buClr>
                <a:srgbClr val="800000"/>
              </a:buClr>
              <a:buSzPct val="90000"/>
              <a:buFont typeface="Wingdings" panose="05000000000000000000" pitchFamily="2" charset="2"/>
              <a:buChar char="n"/>
            </a:pPr>
            <a:r>
              <a:rPr lang="en-US" altLang="zh-CN" sz="2200" dirty="0"/>
              <a:t>    </a:t>
            </a:r>
            <a:r>
              <a:rPr lang="zh-CN" altLang="en-US" sz="2200" dirty="0"/>
              <a:t>重载、重要的轴；尺寸小、特殊要求的轴。</a:t>
            </a:r>
            <a:endParaRPr lang="zh-CN" altLang="en-US" sz="2200" dirty="0"/>
          </a:p>
        </p:txBody>
      </p:sp>
      <p:sp>
        <p:nvSpPr>
          <p:cNvPr id="17410" name="Rectangle 18"/>
          <p:cNvSpPr>
            <a:spLocks noChangeArrowheads="1"/>
          </p:cNvSpPr>
          <p:nvPr/>
        </p:nvSpPr>
        <p:spPr bwMode="auto">
          <a:xfrm>
            <a:off x="4953000" y="200025"/>
            <a:ext cx="35052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8000" anchor="ctr" anchorCtr="1"/>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sz="2400">
                <a:solidFill>
                  <a:srgbClr val="CC3300"/>
                </a:solidFill>
                <a:latin typeface="黑体" panose="02010609060101010101" pitchFamily="49" charset="-122"/>
                <a:ea typeface="黑体" panose="02010609060101010101" pitchFamily="49" charset="-122"/>
              </a:rPr>
              <a:t>3.7-1 </a:t>
            </a:r>
            <a:r>
              <a:rPr lang="zh-CN" altLang="en-US" sz="2400">
                <a:solidFill>
                  <a:srgbClr val="CC3300"/>
                </a:solidFill>
                <a:latin typeface="黑体" panose="02010609060101010101" pitchFamily="49" charset="-122"/>
                <a:ea typeface="黑体" panose="02010609060101010101" pitchFamily="49" charset="-122"/>
              </a:rPr>
              <a:t>轴的概述</a:t>
            </a:r>
            <a:endParaRPr lang="zh-CN" altLang="en-US" sz="2400">
              <a:solidFill>
                <a:srgbClr val="CC3300"/>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267"/>
                                        </p:tgtEl>
                                        <p:attrNameLst>
                                          <p:attrName>style.visibility</p:attrName>
                                        </p:attrNameLst>
                                      </p:cBhvr>
                                      <p:to>
                                        <p:strVal val="visible"/>
                                      </p:to>
                                    </p:set>
                                    <p:animEffect transition="in" filter="wipe(left)">
                                      <p:cBhvr>
                                        <p:cTn id="7" dur="500"/>
                                        <p:tgtEl>
                                          <p:spTgt spid="1126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269">
                                            <p:txEl>
                                              <p:pRg st="0" end="0"/>
                                            </p:txEl>
                                          </p:spTgt>
                                        </p:tgtEl>
                                        <p:attrNameLst>
                                          <p:attrName>style.visibility</p:attrName>
                                        </p:attrNameLst>
                                      </p:cBhvr>
                                      <p:to>
                                        <p:strVal val="visible"/>
                                      </p:to>
                                    </p:set>
                                    <p:animEffect transition="in" filter="wipe(left)">
                                      <p:cBhvr>
                                        <p:cTn id="12" dur="500"/>
                                        <p:tgtEl>
                                          <p:spTgt spid="1126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269">
                                            <p:txEl>
                                              <p:pRg st="1" end="1"/>
                                            </p:txEl>
                                          </p:spTgt>
                                        </p:tgtEl>
                                        <p:attrNameLst>
                                          <p:attrName>style.visibility</p:attrName>
                                        </p:attrNameLst>
                                      </p:cBhvr>
                                      <p:to>
                                        <p:strVal val="visible"/>
                                      </p:to>
                                    </p:set>
                                    <p:animEffect transition="in" filter="wipe(left)">
                                      <p:cBhvr>
                                        <p:cTn id="17" dur="500"/>
                                        <p:tgtEl>
                                          <p:spTgt spid="11269">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1269">
                                            <p:txEl>
                                              <p:pRg st="2" end="2"/>
                                            </p:txEl>
                                          </p:spTgt>
                                        </p:tgtEl>
                                        <p:attrNameLst>
                                          <p:attrName>style.visibility</p:attrName>
                                        </p:attrNameLst>
                                      </p:cBhvr>
                                      <p:to>
                                        <p:strVal val="visible"/>
                                      </p:to>
                                    </p:set>
                                    <p:animEffect transition="in" filter="wipe(left)">
                                      <p:cBhvr>
                                        <p:cTn id="22" dur="500"/>
                                        <p:tgtEl>
                                          <p:spTgt spid="11269">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1269">
                                            <p:txEl>
                                              <p:pRg st="3" end="3"/>
                                            </p:txEl>
                                          </p:spTgt>
                                        </p:tgtEl>
                                        <p:attrNameLst>
                                          <p:attrName>style.visibility</p:attrName>
                                        </p:attrNameLst>
                                      </p:cBhvr>
                                      <p:to>
                                        <p:strVal val="visible"/>
                                      </p:to>
                                    </p:set>
                                    <p:animEffect transition="in" filter="wipe(left)">
                                      <p:cBhvr>
                                        <p:cTn id="27" dur="500"/>
                                        <p:tgtEl>
                                          <p:spTgt spid="11269">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1268"/>
                                        </p:tgtEl>
                                        <p:attrNameLst>
                                          <p:attrName>style.visibility</p:attrName>
                                        </p:attrNameLst>
                                      </p:cBhvr>
                                      <p:to>
                                        <p:strVal val="visible"/>
                                      </p:to>
                                    </p:set>
                                    <p:animEffect transition="in" filter="wipe(left)">
                                      <p:cBhvr>
                                        <p:cTn id="32" dur="500"/>
                                        <p:tgtEl>
                                          <p:spTgt spid="1126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wipe(down)">
                                      <p:cBhvr>
                                        <p:cTn id="3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autoUpdateAnimBg="0"/>
      <p:bldP spid="11268" grpId="0" autoUpdateAnimBg="0"/>
      <p:bldP spid="11269" grpId="0" uiExpand="1" build="p"/>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bwMode="auto">
          <a:xfrm>
            <a:off x="1252538" y="2282825"/>
            <a:ext cx="1979612" cy="1001713"/>
            <a:chOff x="1518" y="2697"/>
            <a:chExt cx="1247" cy="631"/>
          </a:xfrm>
        </p:grpSpPr>
        <p:sp>
          <p:nvSpPr>
            <p:cNvPr id="23562" name="Text Box 3"/>
            <p:cNvSpPr txBox="1">
              <a:spLocks noChangeArrowheads="1"/>
            </p:cNvSpPr>
            <p:nvPr/>
          </p:nvSpPr>
          <p:spPr bwMode="auto">
            <a:xfrm>
              <a:off x="1518" y="2845"/>
              <a:ext cx="747"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zh-CN" altLang="en-US" sz="2200">
                  <a:solidFill>
                    <a:srgbClr val="002060"/>
                  </a:solidFill>
                  <a:latin typeface="华文中宋" panose="02010600040101010101" pitchFamily="2" charset="-122"/>
                </a:rPr>
                <a:t>钢材</a:t>
              </a:r>
              <a:endParaRPr lang="zh-CN" altLang="en-US" sz="2200">
                <a:solidFill>
                  <a:srgbClr val="002060"/>
                </a:solidFill>
                <a:latin typeface="华文中宋" panose="02010600040101010101" pitchFamily="2" charset="-122"/>
              </a:endParaRPr>
            </a:p>
          </p:txBody>
        </p:sp>
        <p:sp>
          <p:nvSpPr>
            <p:cNvPr id="23563" name="AutoShape 4"/>
            <p:cNvSpPr/>
            <p:nvPr/>
          </p:nvSpPr>
          <p:spPr bwMode="auto">
            <a:xfrm>
              <a:off x="1994" y="2762"/>
              <a:ext cx="96" cy="432"/>
            </a:xfrm>
            <a:prstGeom prst="leftBrace">
              <a:avLst>
                <a:gd name="adj1" fmla="val 37500"/>
                <a:gd name="adj2" fmla="val 50000"/>
              </a:avLst>
            </a:prstGeom>
            <a:noFill/>
            <a:ln w="9525">
              <a:solidFill>
                <a:srgbClr val="C0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endParaRPr lang="zh-CN" altLang="en-US"/>
            </a:p>
          </p:txBody>
        </p:sp>
        <p:sp>
          <p:nvSpPr>
            <p:cNvPr id="23564" name="Text Box 5"/>
            <p:cNvSpPr txBox="1">
              <a:spLocks noChangeArrowheads="1"/>
            </p:cNvSpPr>
            <p:nvPr/>
          </p:nvSpPr>
          <p:spPr bwMode="auto">
            <a:xfrm>
              <a:off x="2136" y="2697"/>
              <a:ext cx="472"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zh-CN" altLang="en-US" sz="2200" b="1">
                  <a:solidFill>
                    <a:srgbClr val="660066"/>
                  </a:solidFill>
                  <a:latin typeface="华文中宋" panose="02010600040101010101" pitchFamily="2" charset="-122"/>
                </a:rPr>
                <a:t>种类</a:t>
              </a:r>
              <a:endParaRPr lang="zh-CN" altLang="en-US" sz="2200" b="1">
                <a:solidFill>
                  <a:srgbClr val="660066"/>
                </a:solidFill>
                <a:latin typeface="华文中宋" panose="02010600040101010101" pitchFamily="2" charset="-122"/>
              </a:endParaRPr>
            </a:p>
          </p:txBody>
        </p:sp>
        <p:sp>
          <p:nvSpPr>
            <p:cNvPr id="23565" name="Text Box 6"/>
            <p:cNvSpPr txBox="1">
              <a:spLocks noChangeArrowheads="1"/>
            </p:cNvSpPr>
            <p:nvPr/>
          </p:nvSpPr>
          <p:spPr bwMode="auto">
            <a:xfrm>
              <a:off x="2116" y="3057"/>
              <a:ext cx="649"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zh-CN" altLang="en-US" sz="2200" b="1">
                  <a:solidFill>
                    <a:srgbClr val="660066"/>
                  </a:solidFill>
                  <a:latin typeface="华文中宋" panose="02010600040101010101" pitchFamily="2" charset="-122"/>
                </a:rPr>
                <a:t>热处理</a:t>
              </a:r>
              <a:endParaRPr lang="zh-CN" altLang="en-US" sz="2200" b="1">
                <a:solidFill>
                  <a:srgbClr val="660066"/>
                </a:solidFill>
                <a:latin typeface="华文中宋" panose="02010600040101010101" pitchFamily="2" charset="-122"/>
              </a:endParaRPr>
            </a:p>
          </p:txBody>
        </p:sp>
      </p:grpSp>
      <p:sp>
        <p:nvSpPr>
          <p:cNvPr id="12295" name="Text Box 7"/>
          <p:cNvSpPr txBox="1">
            <a:spLocks noChangeArrowheads="1"/>
          </p:cNvSpPr>
          <p:nvPr/>
        </p:nvSpPr>
        <p:spPr bwMode="auto">
          <a:xfrm>
            <a:off x="3360738" y="2270125"/>
            <a:ext cx="413385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10000"/>
              </a:lnSpc>
              <a:spcBef>
                <a:spcPct val="10000"/>
              </a:spcBef>
            </a:pPr>
            <a:r>
              <a:rPr lang="zh-CN" altLang="en-US" sz="2200">
                <a:solidFill>
                  <a:srgbClr val="002060"/>
                </a:solidFill>
                <a:latin typeface="华文宋体" panose="02010600040101010101" pitchFamily="2" charset="-122"/>
                <a:ea typeface="华文宋体" panose="02010600040101010101" pitchFamily="2" charset="-122"/>
              </a:rPr>
              <a:t>碳钢、合金钢弹性模量相差不多</a:t>
            </a:r>
            <a:endParaRPr lang="zh-CN" altLang="en-US" sz="2200">
              <a:solidFill>
                <a:srgbClr val="002060"/>
              </a:solidFill>
              <a:latin typeface="华文宋体" panose="02010600040101010101" pitchFamily="2" charset="-122"/>
              <a:ea typeface="华文宋体" panose="02010600040101010101" pitchFamily="2" charset="-122"/>
            </a:endParaRPr>
          </a:p>
          <a:p>
            <a:pPr eaLnBrk="1" hangingPunct="1">
              <a:lnSpc>
                <a:spcPct val="110000"/>
              </a:lnSpc>
              <a:spcBef>
                <a:spcPct val="10000"/>
              </a:spcBef>
            </a:pPr>
            <a:r>
              <a:rPr lang="zh-CN" altLang="en-US" sz="2200">
                <a:solidFill>
                  <a:srgbClr val="002060"/>
                </a:solidFill>
                <a:latin typeface="华文宋体" panose="02010600040101010101" pitchFamily="2" charset="-122"/>
                <a:ea typeface="华文宋体" panose="02010600040101010101" pitchFamily="2" charset="-122"/>
              </a:rPr>
              <a:t>对其弹性模量</a:t>
            </a:r>
            <a:r>
              <a:rPr lang="en-US" altLang="zh-CN" sz="2200">
                <a:solidFill>
                  <a:srgbClr val="002060"/>
                </a:solidFill>
                <a:latin typeface="华文宋体" panose="02010600040101010101" pitchFamily="2" charset="-122"/>
                <a:ea typeface="华文宋体" panose="02010600040101010101" pitchFamily="2" charset="-122"/>
              </a:rPr>
              <a:t>E</a:t>
            </a:r>
            <a:r>
              <a:rPr lang="zh-CN" altLang="en-US" sz="2200">
                <a:solidFill>
                  <a:srgbClr val="002060"/>
                </a:solidFill>
                <a:latin typeface="华文宋体" panose="02010600040101010101" pitchFamily="2" charset="-122"/>
                <a:ea typeface="华文宋体" panose="02010600040101010101" pitchFamily="2" charset="-122"/>
              </a:rPr>
              <a:t>影响很小</a:t>
            </a:r>
            <a:endParaRPr lang="zh-CN" altLang="en-US" sz="2200">
              <a:solidFill>
                <a:srgbClr val="002060"/>
              </a:solidFill>
              <a:latin typeface="华文宋体" panose="02010600040101010101" pitchFamily="2" charset="-122"/>
              <a:ea typeface="华文宋体" panose="02010600040101010101" pitchFamily="2" charset="-122"/>
            </a:endParaRPr>
          </a:p>
        </p:txBody>
      </p:sp>
      <p:sp>
        <p:nvSpPr>
          <p:cNvPr id="12296" name="Text Box 8"/>
          <p:cNvSpPr txBox="1">
            <a:spLocks noChangeArrowheads="1"/>
          </p:cNvSpPr>
          <p:nvPr/>
        </p:nvSpPr>
        <p:spPr bwMode="auto">
          <a:xfrm>
            <a:off x="977900" y="1144588"/>
            <a:ext cx="7542213" cy="811212"/>
          </a:xfrm>
          <a:prstGeom prst="rect">
            <a:avLst/>
          </a:prstGeom>
          <a:solidFill>
            <a:schemeClr val="accent1"/>
          </a:solidFill>
          <a:ln w="28575">
            <a:solidFill>
              <a:srgbClr val="333333"/>
            </a:solidFill>
            <a:prstDash val="sysDot"/>
            <a:miter lim="800000"/>
          </a:ln>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10000"/>
              </a:lnSpc>
              <a:buFont typeface="Wingdings" panose="05000000000000000000" pitchFamily="2" charset="2"/>
              <a:buChar char="&amp;"/>
            </a:pPr>
            <a:r>
              <a:rPr lang="zh-CN" altLang="en-US" sz="2200" b="1">
                <a:solidFill>
                  <a:srgbClr val="006600"/>
                </a:solidFill>
                <a:latin typeface="微软雅黑" panose="020B0503020204020204" charset="-122"/>
                <a:ea typeface="微软雅黑" panose="020B0503020204020204" charset="-122"/>
              </a:rPr>
              <a:t>思考</a:t>
            </a:r>
            <a:r>
              <a:rPr lang="zh-CN" altLang="en-US" sz="2200">
                <a:solidFill>
                  <a:srgbClr val="006600"/>
                </a:solidFill>
                <a:latin typeface="华文中宋" panose="02010600040101010101" pitchFamily="2" charset="-122"/>
              </a:rPr>
              <a:t>：</a:t>
            </a:r>
            <a:r>
              <a:rPr lang="zh-CN" altLang="en-US" sz="2200" b="1">
                <a:latin typeface="华文中宋" panose="02010600040101010101" pitchFamily="2" charset="-122"/>
              </a:rPr>
              <a:t>当轴的</a:t>
            </a:r>
            <a:r>
              <a:rPr lang="zh-CN" altLang="en-US" sz="2200" b="1">
                <a:solidFill>
                  <a:srgbClr val="FF0000"/>
                </a:solidFill>
                <a:latin typeface="华文中宋" panose="02010600040101010101" pitchFamily="2" charset="-122"/>
              </a:rPr>
              <a:t>刚度</a:t>
            </a:r>
            <a:r>
              <a:rPr lang="zh-CN" altLang="en-US" sz="2200" b="1">
                <a:latin typeface="华文中宋" panose="02010600040101010101" pitchFamily="2" charset="-122"/>
              </a:rPr>
              <a:t>不足时，采用</a:t>
            </a:r>
            <a:r>
              <a:rPr lang="zh-CN" altLang="en-US" sz="2200" b="1">
                <a:solidFill>
                  <a:srgbClr val="FF0000"/>
                </a:solidFill>
                <a:latin typeface="华文中宋" panose="02010600040101010101" pitchFamily="2" charset="-122"/>
              </a:rPr>
              <a:t>合金钢</a:t>
            </a:r>
            <a:r>
              <a:rPr lang="zh-CN" altLang="en-US" sz="2200" b="1">
                <a:latin typeface="华文中宋" panose="02010600040101010101" pitchFamily="2" charset="-122"/>
              </a:rPr>
              <a:t>代替</a:t>
            </a:r>
            <a:r>
              <a:rPr lang="zh-CN" altLang="en-US" sz="2200" b="1">
                <a:solidFill>
                  <a:srgbClr val="FF0000"/>
                </a:solidFill>
                <a:latin typeface="华文中宋" panose="02010600040101010101" pitchFamily="2" charset="-122"/>
              </a:rPr>
              <a:t>碳钢</a:t>
            </a:r>
            <a:r>
              <a:rPr lang="zh-CN" altLang="en-US" sz="2200" b="1">
                <a:latin typeface="华文中宋" panose="02010600040101010101" pitchFamily="2" charset="-122"/>
              </a:rPr>
              <a:t>是否可行？为什么？</a:t>
            </a:r>
            <a:endParaRPr lang="zh-CN" altLang="en-US" sz="2200" b="1">
              <a:latin typeface="华文中宋" panose="02010600040101010101" pitchFamily="2" charset="-122"/>
            </a:endParaRPr>
          </a:p>
        </p:txBody>
      </p:sp>
      <p:sp>
        <p:nvSpPr>
          <p:cNvPr id="12297" name="Text Box 9"/>
          <p:cNvSpPr txBox="1">
            <a:spLocks noChangeArrowheads="1"/>
          </p:cNvSpPr>
          <p:nvPr/>
        </p:nvSpPr>
        <p:spPr bwMode="auto">
          <a:xfrm>
            <a:off x="1479550" y="3343275"/>
            <a:ext cx="5416550" cy="523875"/>
          </a:xfrm>
          <a:prstGeom prst="rect">
            <a:avLst/>
          </a:prstGeom>
          <a:noFill/>
          <a:ln>
            <a:noFill/>
          </a:ln>
          <a:effectLst/>
        </p:spPr>
        <p:txBody>
          <a:bodyPr wrap="none">
            <a:spAutoFit/>
          </a:bodyPr>
          <a:lstStyle/>
          <a:p>
            <a:pPr>
              <a:defRPr/>
            </a:pPr>
            <a:r>
              <a:rPr lang="en-US" altLang="zh-CN" sz="2800" dirty="0">
                <a:solidFill>
                  <a:schemeClr val="tx2"/>
                </a:solidFill>
              </a:rPr>
              <a:t>∴</a:t>
            </a:r>
            <a:r>
              <a:rPr lang="zh-CN" altLang="en-US" sz="2800" u="sng" dirty="0">
                <a:solidFill>
                  <a:schemeClr val="tx2"/>
                </a:solidFill>
              </a:rPr>
              <a:t>用</a:t>
            </a:r>
            <a:r>
              <a:rPr lang="zh-CN" altLang="en-US" sz="2200" u="sng" dirty="0">
                <a:solidFill>
                  <a:schemeClr val="accent2"/>
                </a:solidFill>
                <a:effectLst>
                  <a:outerShdw blurRad="38100" dist="38100" dir="2700000" algn="tl">
                    <a:srgbClr val="C0C0C0"/>
                  </a:outerShdw>
                </a:effectLst>
              </a:rPr>
              <a:t>合金钢、</a:t>
            </a:r>
            <a:r>
              <a:rPr lang="zh-CN" altLang="en-US" sz="2200" u="sng" dirty="0">
                <a:solidFill>
                  <a:srgbClr val="002060"/>
                </a:solidFill>
              </a:rPr>
              <a:t>热处理</a:t>
            </a:r>
            <a:r>
              <a:rPr lang="zh-CN" altLang="en-US" sz="2200" u="sng" dirty="0">
                <a:solidFill>
                  <a:srgbClr val="FF0000"/>
                </a:solidFill>
                <a:latin typeface="华文中宋" panose="02010600040101010101" pitchFamily="2" charset="-122"/>
              </a:rPr>
              <a:t>不能提高轴的刚度</a:t>
            </a:r>
            <a:r>
              <a:rPr lang="zh-CN" altLang="en-US" sz="2200" dirty="0">
                <a:solidFill>
                  <a:srgbClr val="FF0000"/>
                </a:solidFill>
                <a:latin typeface="华文中宋" panose="02010600040101010101" pitchFamily="2" charset="-122"/>
              </a:rPr>
              <a:t>。</a:t>
            </a:r>
            <a:endParaRPr lang="zh-CN" altLang="en-US" sz="2200" dirty="0">
              <a:solidFill>
                <a:srgbClr val="FF0000"/>
              </a:solidFill>
              <a:latin typeface="华文中宋" panose="02010600040101010101" pitchFamily="2" charset="-122"/>
            </a:endParaRPr>
          </a:p>
        </p:txBody>
      </p:sp>
      <p:sp>
        <p:nvSpPr>
          <p:cNvPr id="12298" name="Rectangle 10"/>
          <p:cNvSpPr>
            <a:spLocks noChangeArrowheads="1"/>
          </p:cNvSpPr>
          <p:nvPr/>
        </p:nvSpPr>
        <p:spPr bwMode="auto">
          <a:xfrm>
            <a:off x="958850" y="3390900"/>
            <a:ext cx="7078663"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nchor="ct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endParaRPr lang="zh-CN" altLang="en-US"/>
          </a:p>
        </p:txBody>
      </p:sp>
      <p:sp>
        <p:nvSpPr>
          <p:cNvPr id="12300" name="Text Box 12"/>
          <p:cNvSpPr txBox="1">
            <a:spLocks noChangeArrowheads="1"/>
          </p:cNvSpPr>
          <p:nvPr/>
        </p:nvSpPr>
        <p:spPr bwMode="auto">
          <a:xfrm>
            <a:off x="674688" y="4281805"/>
            <a:ext cx="7861300" cy="141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533400" indent="-533400"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30000"/>
              </a:lnSpc>
            </a:pPr>
            <a:r>
              <a:rPr lang="en-US" altLang="zh-CN" sz="2200">
                <a:solidFill>
                  <a:srgbClr val="002060"/>
                </a:solidFill>
                <a:latin typeface="华文中宋" panose="02010600040101010101" pitchFamily="2" charset="-122"/>
              </a:rPr>
              <a:t>3</a:t>
            </a:r>
            <a:r>
              <a:rPr lang="zh-CN" altLang="en-US" sz="2200">
                <a:solidFill>
                  <a:srgbClr val="002060"/>
                </a:solidFill>
                <a:latin typeface="华文中宋" panose="02010600040101010101" pitchFamily="2" charset="-122"/>
              </a:rPr>
              <a:t>、</a:t>
            </a:r>
            <a:r>
              <a:rPr lang="zh-CN" altLang="en-US" sz="2200" b="1">
                <a:solidFill>
                  <a:srgbClr val="800000"/>
                </a:solidFill>
                <a:latin typeface="华文中宋" panose="02010600040101010101" pitchFamily="2" charset="-122"/>
              </a:rPr>
              <a:t>合金（高强度）铸铁、</a:t>
            </a:r>
            <a:r>
              <a:rPr lang="en-US" altLang="zh-CN" sz="2200" b="1">
                <a:solidFill>
                  <a:srgbClr val="800000"/>
                </a:solidFill>
                <a:latin typeface="华文中宋" panose="02010600040101010101" pitchFamily="2" charset="-122"/>
              </a:rPr>
              <a:t>QT</a:t>
            </a:r>
            <a:r>
              <a:rPr lang="zh-CN" altLang="en-US" sz="2200">
                <a:solidFill>
                  <a:srgbClr val="002060"/>
                </a:solidFill>
                <a:latin typeface="华文中宋" panose="02010600040101010101" pitchFamily="2" charset="-122"/>
              </a:rPr>
              <a:t>：价廉，良好的吸</a:t>
            </a:r>
            <a:r>
              <a:rPr lang="zh-CN" altLang="en-US" sz="2200">
                <a:solidFill>
                  <a:srgbClr val="FF0000"/>
                </a:solidFill>
                <a:latin typeface="华文中宋" panose="02010600040101010101" pitchFamily="2" charset="-122"/>
              </a:rPr>
              <a:t>振性和耐磨性</a:t>
            </a:r>
            <a:r>
              <a:rPr lang="zh-CN" altLang="en-US" sz="2200">
                <a:solidFill>
                  <a:srgbClr val="002060"/>
                </a:solidFill>
                <a:latin typeface="华文中宋" panose="02010600040101010101" pitchFamily="2" charset="-122"/>
              </a:rPr>
              <a:t>，</a:t>
            </a:r>
            <a:r>
              <a:rPr lang="zh-CN" altLang="en-US" sz="2200">
                <a:solidFill>
                  <a:srgbClr val="002060"/>
                </a:solidFill>
              </a:rPr>
              <a:t>对</a:t>
            </a:r>
            <a:r>
              <a:rPr lang="zh-CN" altLang="en-US" sz="2200">
                <a:solidFill>
                  <a:srgbClr val="FF0000"/>
                </a:solidFill>
              </a:rPr>
              <a:t>应力集中敏感性低</a:t>
            </a:r>
            <a:r>
              <a:rPr lang="zh-CN" altLang="en-US" sz="2200">
                <a:solidFill>
                  <a:srgbClr val="FF5050"/>
                </a:solidFill>
              </a:rPr>
              <a:t>，</a:t>
            </a:r>
            <a:r>
              <a:rPr lang="zh-CN" altLang="en-US" sz="2200">
                <a:solidFill>
                  <a:srgbClr val="002060"/>
                </a:solidFill>
                <a:latin typeface="华文中宋" panose="02010600040101010101" pitchFamily="2" charset="-122"/>
              </a:rPr>
              <a:t>但品质难于控制。</a:t>
            </a:r>
            <a:endParaRPr lang="zh-CN" altLang="en-US" sz="2200">
              <a:solidFill>
                <a:srgbClr val="002060"/>
              </a:solidFill>
              <a:latin typeface="华文中宋" panose="02010600040101010101" pitchFamily="2" charset="-122"/>
            </a:endParaRPr>
          </a:p>
          <a:p>
            <a:pPr eaLnBrk="1" hangingPunct="1">
              <a:lnSpc>
                <a:spcPct val="130000"/>
              </a:lnSpc>
              <a:buClr>
                <a:srgbClr val="800000"/>
              </a:buClr>
              <a:buSzPct val="90000"/>
              <a:buFont typeface="Wingdings" panose="05000000000000000000" pitchFamily="2" charset="2"/>
              <a:buChar char="n"/>
            </a:pPr>
            <a:r>
              <a:rPr lang="zh-CN" altLang="en-US" sz="2200">
                <a:solidFill>
                  <a:srgbClr val="002060"/>
                </a:solidFill>
                <a:latin typeface="华文中宋" panose="02010600040101010101" pitchFamily="2" charset="-122"/>
              </a:rPr>
              <a:t> 常用于外形复杂的轴。</a:t>
            </a:r>
            <a:endParaRPr lang="zh-CN" altLang="en-US" sz="2200">
              <a:solidFill>
                <a:srgbClr val="002060"/>
              </a:solidFill>
              <a:latin typeface="华文中宋" panose="02010600040101010101" pitchFamily="2" charset="-122"/>
            </a:endParaRPr>
          </a:p>
        </p:txBody>
      </p:sp>
      <p:sp>
        <p:nvSpPr>
          <p:cNvPr id="23561" name="直接连接符 13"/>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17410" name="Rectangle 18"/>
          <p:cNvSpPr>
            <a:spLocks noChangeArrowheads="1"/>
          </p:cNvSpPr>
          <p:nvPr/>
        </p:nvSpPr>
        <p:spPr bwMode="auto">
          <a:xfrm>
            <a:off x="4953000" y="200025"/>
            <a:ext cx="35052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8000" anchor="ctr" anchorCtr="1"/>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sz="2400">
                <a:solidFill>
                  <a:srgbClr val="CC3300"/>
                </a:solidFill>
                <a:latin typeface="黑体" panose="02010609060101010101" pitchFamily="49" charset="-122"/>
                <a:ea typeface="黑体" panose="02010609060101010101" pitchFamily="49" charset="-122"/>
              </a:rPr>
              <a:t>3.7-1 </a:t>
            </a:r>
            <a:r>
              <a:rPr lang="zh-CN" altLang="en-US" sz="2400">
                <a:solidFill>
                  <a:srgbClr val="CC3300"/>
                </a:solidFill>
                <a:latin typeface="黑体" panose="02010609060101010101" pitchFamily="49" charset="-122"/>
                <a:ea typeface="黑体" panose="02010609060101010101" pitchFamily="49" charset="-122"/>
              </a:rPr>
              <a:t>轴的概述</a:t>
            </a:r>
            <a:endParaRPr lang="zh-CN" altLang="en-US" sz="2400">
              <a:solidFill>
                <a:srgbClr val="CC3300"/>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296"/>
                                        </p:tgtEl>
                                        <p:attrNameLst>
                                          <p:attrName>style.visibility</p:attrName>
                                        </p:attrNameLst>
                                      </p:cBhvr>
                                      <p:to>
                                        <p:strVal val="visible"/>
                                      </p:to>
                                    </p:set>
                                    <p:animEffect transition="in" filter="wipe(left)">
                                      <p:cBhvr>
                                        <p:cTn id="7" dur="500"/>
                                        <p:tgtEl>
                                          <p:spTgt spid="1229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2295"/>
                                        </p:tgtEl>
                                        <p:attrNameLst>
                                          <p:attrName>style.visibility</p:attrName>
                                        </p:attrNameLst>
                                      </p:cBhvr>
                                      <p:to>
                                        <p:strVal val="visible"/>
                                      </p:to>
                                    </p:set>
                                    <p:animEffect transition="in" filter="wipe(left)">
                                      <p:cBhvr>
                                        <p:cTn id="17" dur="500"/>
                                        <p:tgtEl>
                                          <p:spTgt spid="1229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2297"/>
                                        </p:tgtEl>
                                        <p:attrNameLst>
                                          <p:attrName>style.visibility</p:attrName>
                                        </p:attrNameLst>
                                      </p:cBhvr>
                                      <p:to>
                                        <p:strVal val="visible"/>
                                      </p:to>
                                    </p:set>
                                    <p:animEffect transition="in" filter="wipe(left)">
                                      <p:cBhvr>
                                        <p:cTn id="22" dur="500"/>
                                        <p:tgtEl>
                                          <p:spTgt spid="1229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nodePh="1">
                                  <p:stCondLst>
                                    <p:cond delay="0"/>
                                  </p:stCondLst>
                                  <p:endCondLst>
                                    <p:cond evt="begin" delay="0">
                                      <p:tn val="25"/>
                                    </p:cond>
                                  </p:endCondLst>
                                  <p:childTnLst>
                                    <p:set>
                                      <p:cBhvr>
                                        <p:cTn id="26" dur="1" fill="hold">
                                          <p:stCondLst>
                                            <p:cond delay="0"/>
                                          </p:stCondLst>
                                        </p:cTn>
                                        <p:tgtEl>
                                          <p:spTgt spid="12298"/>
                                        </p:tgtEl>
                                        <p:attrNameLst>
                                          <p:attrName>style.visibility</p:attrName>
                                        </p:attrNameLst>
                                      </p:cBhvr>
                                      <p:to>
                                        <p:strVal val="visible"/>
                                      </p:to>
                                    </p:set>
                                    <p:animEffect transition="in" filter="wipe(up)">
                                      <p:cBhvr>
                                        <p:cTn id="27" dur="500"/>
                                        <p:tgtEl>
                                          <p:spTgt spid="1229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2300"/>
                                        </p:tgtEl>
                                        <p:attrNameLst>
                                          <p:attrName>style.visibility</p:attrName>
                                        </p:attrNameLst>
                                      </p:cBhvr>
                                      <p:to>
                                        <p:strVal val="visible"/>
                                      </p:to>
                                    </p:set>
                                    <p:animEffect transition="in" filter="wipe(left)">
                                      <p:cBhvr>
                                        <p:cTn id="32" dur="500"/>
                                        <p:tgtEl>
                                          <p:spTgt spid="123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5" grpId="0"/>
      <p:bldP spid="12296" grpId="0" animBg="1" autoUpdateAnimBg="0"/>
      <p:bldP spid="12297" grpId="0"/>
      <p:bldP spid="12298" grpId="0" animBg="1"/>
      <p:bldP spid="12300"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9" name="Rectangle 4"/>
          <p:cNvSpPr>
            <a:spLocks noGrp="1" noChangeArrowheads="1"/>
          </p:cNvSpPr>
          <p:nvPr>
            <p:ph type="body" idx="4294967295"/>
          </p:nvPr>
        </p:nvSpPr>
        <p:spPr>
          <a:xfrm>
            <a:off x="613372" y="140328"/>
            <a:ext cx="8001000" cy="6400800"/>
          </a:xfrm>
          <a:prstGeom prst="rect">
            <a:avLst/>
          </a:prstGeom>
        </p:spPr>
        <p:txBody>
          <a:bodyPr/>
          <a:lstStyle/>
          <a:p>
            <a:pPr algn="ctr" eaLnBrk="1" hangingPunct="1">
              <a:buFontTx/>
              <a:buNone/>
            </a:pPr>
            <a:r>
              <a:rPr lang="zh-CN" altLang="en-US" sz="2800" dirty="0" smtClean="0">
                <a:solidFill>
                  <a:srgbClr val="FF3300"/>
                </a:solidFill>
                <a:latin typeface="黑体" panose="02010609060101010101" pitchFamily="49" charset="-122"/>
                <a:ea typeface="黑体" panose="02010609060101010101" pitchFamily="49" charset="-122"/>
              </a:rPr>
              <a:t>第</a:t>
            </a:r>
            <a:r>
              <a:rPr lang="en-US" altLang="zh-CN" sz="2800" dirty="0" smtClean="0">
                <a:solidFill>
                  <a:srgbClr val="FF3300"/>
                </a:solidFill>
                <a:latin typeface="黑体" panose="02010609060101010101" pitchFamily="49" charset="-122"/>
                <a:ea typeface="黑体" panose="02010609060101010101" pitchFamily="49" charset="-122"/>
              </a:rPr>
              <a:t>3.7</a:t>
            </a:r>
            <a:r>
              <a:rPr lang="zh-CN" altLang="en-US" sz="2800" dirty="0" smtClean="0">
                <a:solidFill>
                  <a:srgbClr val="FF3300"/>
                </a:solidFill>
                <a:latin typeface="黑体" panose="02010609060101010101" pitchFamily="49" charset="-122"/>
                <a:ea typeface="黑体" panose="02010609060101010101" pitchFamily="49" charset="-122"/>
              </a:rPr>
              <a:t>章   </a:t>
            </a:r>
            <a:r>
              <a:rPr lang="zh-CN" altLang="en-US" sz="2800" dirty="0">
                <a:solidFill>
                  <a:srgbClr val="FF3300"/>
                </a:solidFill>
                <a:latin typeface="黑体" panose="02010609060101010101" pitchFamily="49" charset="-122"/>
                <a:ea typeface="黑体" panose="02010609060101010101" pitchFamily="49" charset="-122"/>
              </a:rPr>
              <a:t>轴</a:t>
            </a:r>
            <a:endParaRPr lang="zh-CN" altLang="en-US" sz="2800" dirty="0">
              <a:solidFill>
                <a:srgbClr val="FF3300"/>
              </a:solidFill>
              <a:latin typeface="黑体" panose="02010609060101010101" pitchFamily="49" charset="-122"/>
              <a:ea typeface="黑体" panose="02010609060101010101" pitchFamily="49" charset="-122"/>
            </a:endParaRPr>
          </a:p>
          <a:p>
            <a:pPr algn="just" eaLnBrk="1" hangingPunct="1">
              <a:lnSpc>
                <a:spcPct val="230000"/>
              </a:lnSpc>
              <a:buFontTx/>
              <a:buNone/>
            </a:pPr>
            <a:r>
              <a:rPr lang="zh-CN" altLang="en-US" sz="2400" dirty="0">
                <a:solidFill>
                  <a:srgbClr val="FF0000"/>
                </a:solidFill>
                <a:latin typeface="黑体" panose="02010609060101010101" pitchFamily="49" charset="-122"/>
                <a:ea typeface="黑体" panose="02010609060101010101" pitchFamily="49" charset="-122"/>
              </a:rPr>
              <a:t>选择题</a:t>
            </a:r>
            <a:r>
              <a:rPr lang="en-US" altLang="zh-CN" sz="2400" dirty="0">
                <a:solidFill>
                  <a:srgbClr val="FF0000"/>
                </a:solidFill>
                <a:latin typeface="黑体" panose="02010609060101010101" pitchFamily="49" charset="-122"/>
                <a:ea typeface="黑体" panose="02010609060101010101" pitchFamily="49" charset="-122"/>
              </a:rPr>
              <a:t>(</a:t>
            </a:r>
            <a:r>
              <a:rPr lang="zh-CN" altLang="en-US" sz="2400" dirty="0">
                <a:solidFill>
                  <a:srgbClr val="FF0000"/>
                </a:solidFill>
                <a:latin typeface="黑体" panose="02010609060101010101" pitchFamily="49" charset="-122"/>
                <a:ea typeface="黑体" panose="02010609060101010101" pitchFamily="49" charset="-122"/>
              </a:rPr>
              <a:t>单选题）</a:t>
            </a:r>
            <a:endParaRPr lang="zh-CN" altLang="en-US" sz="2400" dirty="0">
              <a:solidFill>
                <a:srgbClr val="FF0000"/>
              </a:solidFill>
              <a:latin typeface="黑体" panose="02010609060101010101" pitchFamily="49" charset="-122"/>
              <a:ea typeface="黑体" panose="02010609060101010101" pitchFamily="49" charset="-122"/>
            </a:endParaRPr>
          </a:p>
          <a:p>
            <a:pPr algn="just" eaLnBrk="1" hangingPunct="1">
              <a:lnSpc>
                <a:spcPct val="150000"/>
              </a:lnSpc>
              <a:buFontTx/>
              <a:buNone/>
            </a:pPr>
            <a:r>
              <a:rPr lang="en-US" sz="2200" b="1" dirty="0"/>
              <a:t>1</a:t>
            </a:r>
            <a:r>
              <a:rPr lang="zh-CN" altLang="en-US" sz="2200" b="1" dirty="0"/>
              <a:t>、工作时承受弯矩并传递转矩的轴，称为</a:t>
            </a:r>
            <a:r>
              <a:rPr lang="zh-CN" altLang="en-US" sz="2200" b="1" u="sng" dirty="0"/>
              <a:t>          </a:t>
            </a:r>
            <a:r>
              <a:rPr lang="zh-CN" altLang="en-US" sz="2200" b="1" dirty="0"/>
              <a:t>。</a:t>
            </a:r>
            <a:endParaRPr lang="zh-CN" altLang="en-US" sz="2200" b="1" dirty="0"/>
          </a:p>
          <a:p>
            <a:pPr algn="just" eaLnBrk="1" hangingPunct="1">
              <a:lnSpc>
                <a:spcPct val="150000"/>
              </a:lnSpc>
              <a:buFontTx/>
              <a:buNone/>
            </a:pPr>
            <a:r>
              <a:rPr lang="zh-CN" altLang="en-US" sz="2200" b="1" dirty="0"/>
              <a:t>（</a:t>
            </a:r>
            <a:r>
              <a:rPr lang="en-US" sz="2200" b="1" dirty="0"/>
              <a:t>1</a:t>
            </a:r>
            <a:r>
              <a:rPr lang="zh-CN" altLang="en-US" sz="2200" b="1" dirty="0"/>
              <a:t>）心轴；（</a:t>
            </a:r>
            <a:r>
              <a:rPr lang="en-US" sz="2200" b="1" dirty="0"/>
              <a:t>2</a:t>
            </a:r>
            <a:r>
              <a:rPr lang="zh-CN" altLang="en-US" sz="2200" b="1" dirty="0"/>
              <a:t>）转轴；（</a:t>
            </a:r>
            <a:r>
              <a:rPr lang="en-US" sz="2200" b="1" dirty="0"/>
              <a:t>3</a:t>
            </a:r>
            <a:r>
              <a:rPr lang="zh-CN" altLang="en-US" sz="2200" b="1" dirty="0"/>
              <a:t>）传动轴；</a:t>
            </a:r>
            <a:endParaRPr lang="zh-CN" altLang="en-US" sz="2200" b="1" dirty="0"/>
          </a:p>
          <a:p>
            <a:pPr algn="just" eaLnBrk="1" hangingPunct="1">
              <a:lnSpc>
                <a:spcPct val="150000"/>
              </a:lnSpc>
              <a:buFontTx/>
              <a:buNone/>
            </a:pPr>
            <a:r>
              <a:rPr lang="en-US" sz="2200" b="1" dirty="0"/>
              <a:t>2</a:t>
            </a:r>
            <a:r>
              <a:rPr lang="zh-CN" altLang="en-US" sz="2200" b="1" dirty="0"/>
              <a:t>、工作时只承受弯矩，不传递转矩的轴，称为</a:t>
            </a:r>
            <a:r>
              <a:rPr lang="zh-CN" altLang="en-US" sz="2200" b="1" u="sng" dirty="0"/>
              <a:t>          </a:t>
            </a:r>
            <a:r>
              <a:rPr lang="zh-CN" altLang="en-US" sz="2200" b="1" dirty="0"/>
              <a:t>。</a:t>
            </a:r>
            <a:endParaRPr lang="zh-CN" altLang="en-US" sz="2200" b="1" dirty="0"/>
          </a:p>
          <a:p>
            <a:pPr algn="just" eaLnBrk="1" hangingPunct="1">
              <a:lnSpc>
                <a:spcPct val="150000"/>
              </a:lnSpc>
              <a:buFontTx/>
              <a:buNone/>
            </a:pPr>
            <a:r>
              <a:rPr lang="zh-CN" altLang="en-US" sz="2200" b="1" dirty="0"/>
              <a:t>（</a:t>
            </a:r>
            <a:r>
              <a:rPr lang="en-US" sz="2200" b="1" dirty="0"/>
              <a:t>1</a:t>
            </a:r>
            <a:r>
              <a:rPr lang="zh-CN" altLang="en-US" sz="2200" b="1" dirty="0"/>
              <a:t>）心轴；（</a:t>
            </a:r>
            <a:r>
              <a:rPr lang="en-US" sz="2200" b="1" dirty="0"/>
              <a:t>2</a:t>
            </a:r>
            <a:r>
              <a:rPr lang="zh-CN" altLang="en-US" sz="2200" b="1" dirty="0"/>
              <a:t>）转轴；（</a:t>
            </a:r>
            <a:r>
              <a:rPr lang="en-US" sz="2200" b="1" dirty="0"/>
              <a:t>3</a:t>
            </a:r>
            <a:r>
              <a:rPr lang="zh-CN" altLang="en-US" sz="2200" b="1" dirty="0"/>
              <a:t>）传动轴；</a:t>
            </a:r>
            <a:endParaRPr lang="zh-CN" altLang="en-US" sz="2200" b="1" dirty="0"/>
          </a:p>
          <a:p>
            <a:pPr algn="just" eaLnBrk="1" hangingPunct="1">
              <a:lnSpc>
                <a:spcPct val="150000"/>
              </a:lnSpc>
              <a:buFontTx/>
              <a:buNone/>
            </a:pPr>
            <a:r>
              <a:rPr lang="en-US" sz="2200" b="1" dirty="0"/>
              <a:t>3</a:t>
            </a:r>
            <a:r>
              <a:rPr lang="zh-CN" altLang="en-US" sz="2200" b="1" dirty="0"/>
              <a:t>、工作时以传递转矩为主，不承受</a:t>
            </a:r>
            <a:r>
              <a:rPr lang="zh-CN" altLang="en-US" sz="2200" b="1" dirty="0" smtClean="0"/>
              <a:t>弯矩的</a:t>
            </a:r>
            <a:r>
              <a:rPr lang="zh-CN" altLang="en-US" sz="2200" b="1" dirty="0"/>
              <a:t>轴，称为</a:t>
            </a:r>
            <a:r>
              <a:rPr lang="zh-CN" altLang="en-US" sz="2200" b="1" u="sng" dirty="0"/>
              <a:t>         </a:t>
            </a:r>
            <a:r>
              <a:rPr lang="zh-CN" altLang="en-US" sz="2200" b="1" dirty="0"/>
              <a:t>。</a:t>
            </a:r>
            <a:r>
              <a:rPr lang="zh-CN" altLang="en-US" sz="2200" b="1" u="sng" dirty="0"/>
              <a:t>          </a:t>
            </a:r>
            <a:endParaRPr lang="zh-CN" altLang="en-US" sz="2200" b="1" dirty="0"/>
          </a:p>
          <a:p>
            <a:pPr algn="just" eaLnBrk="1" hangingPunct="1">
              <a:lnSpc>
                <a:spcPct val="150000"/>
              </a:lnSpc>
              <a:buFontTx/>
              <a:buNone/>
            </a:pPr>
            <a:r>
              <a:rPr lang="zh-CN" altLang="en-US" sz="2200" b="1" dirty="0"/>
              <a:t>（</a:t>
            </a:r>
            <a:r>
              <a:rPr lang="en-US" sz="2200" b="1" dirty="0"/>
              <a:t>1</a:t>
            </a:r>
            <a:r>
              <a:rPr lang="zh-CN" altLang="en-US" sz="2200" b="1" dirty="0"/>
              <a:t>）心轴；（</a:t>
            </a:r>
            <a:r>
              <a:rPr lang="en-US" sz="2200" b="1" dirty="0"/>
              <a:t>2</a:t>
            </a:r>
            <a:r>
              <a:rPr lang="zh-CN" altLang="en-US" sz="2200" b="1" dirty="0"/>
              <a:t>）转轴；（</a:t>
            </a:r>
            <a:r>
              <a:rPr lang="en-US" sz="2200" b="1" dirty="0"/>
              <a:t>3</a:t>
            </a:r>
            <a:r>
              <a:rPr lang="zh-CN" altLang="en-US" sz="2200" b="1" dirty="0"/>
              <a:t>）传动轴</a:t>
            </a:r>
            <a:r>
              <a:rPr lang="zh-CN" altLang="en-US" sz="2200" b="1" dirty="0" smtClean="0"/>
              <a:t>；</a:t>
            </a:r>
            <a:endParaRPr lang="zh-CN" altLang="en-US" sz="2200" b="1" dirty="0"/>
          </a:p>
        </p:txBody>
      </p:sp>
      <p:sp>
        <p:nvSpPr>
          <p:cNvPr id="229380" name="Text Box 5"/>
          <p:cNvSpPr txBox="1">
            <a:spLocks noChangeArrowheads="1"/>
          </p:cNvSpPr>
          <p:nvPr/>
        </p:nvSpPr>
        <p:spPr bwMode="auto">
          <a:xfrm>
            <a:off x="6172954" y="1591901"/>
            <a:ext cx="304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dirty="0">
                <a:solidFill>
                  <a:srgbClr val="FF3300"/>
                </a:solidFill>
              </a:rPr>
              <a:t>2</a:t>
            </a:r>
            <a:endParaRPr lang="en-US" dirty="0"/>
          </a:p>
        </p:txBody>
      </p:sp>
      <p:sp>
        <p:nvSpPr>
          <p:cNvPr id="229381" name="Text Box 6"/>
          <p:cNvSpPr txBox="1">
            <a:spLocks noChangeArrowheads="1"/>
          </p:cNvSpPr>
          <p:nvPr/>
        </p:nvSpPr>
        <p:spPr bwMode="auto">
          <a:xfrm>
            <a:off x="6670142" y="2736410"/>
            <a:ext cx="304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dirty="0">
                <a:solidFill>
                  <a:srgbClr val="FF3300"/>
                </a:solidFill>
              </a:rPr>
              <a:t>1</a:t>
            </a:r>
            <a:endParaRPr lang="en-US" dirty="0"/>
          </a:p>
        </p:txBody>
      </p:sp>
      <p:sp>
        <p:nvSpPr>
          <p:cNvPr id="229382" name="Text Box 7"/>
          <p:cNvSpPr txBox="1">
            <a:spLocks noChangeArrowheads="1"/>
          </p:cNvSpPr>
          <p:nvPr/>
        </p:nvSpPr>
        <p:spPr bwMode="auto">
          <a:xfrm>
            <a:off x="7179820" y="3861603"/>
            <a:ext cx="304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dirty="0">
                <a:solidFill>
                  <a:srgbClr val="FF3300"/>
                </a:solidFill>
              </a:rPr>
              <a:t>3</a:t>
            </a:r>
            <a:endParaRPr lang="en-US" dirty="0"/>
          </a:p>
        </p:txBody>
      </p:sp>
      <p:sp>
        <p:nvSpPr>
          <p:cNvPr id="7"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29379">
                                            <p:txEl>
                                              <p:pRg st="2" end="2"/>
                                            </p:txEl>
                                          </p:spTgt>
                                        </p:tgtEl>
                                        <p:attrNameLst>
                                          <p:attrName>style.visibility</p:attrName>
                                        </p:attrNameLst>
                                      </p:cBhvr>
                                      <p:to>
                                        <p:strVal val="visible"/>
                                      </p:to>
                                    </p:set>
                                    <p:animEffect transition="in" filter="wipe(left)">
                                      <p:cBhvr>
                                        <p:cTn id="7" dur="500"/>
                                        <p:tgtEl>
                                          <p:spTgt spid="229379">
                                            <p:txEl>
                                              <p:pRg st="2" end="2"/>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229379">
                                            <p:txEl>
                                              <p:pRg st="3" end="3"/>
                                            </p:txEl>
                                          </p:spTgt>
                                        </p:tgtEl>
                                        <p:attrNameLst>
                                          <p:attrName>style.visibility</p:attrName>
                                        </p:attrNameLst>
                                      </p:cBhvr>
                                      <p:to>
                                        <p:strVal val="visible"/>
                                      </p:to>
                                    </p:set>
                                    <p:animEffect transition="in" filter="wipe(left)">
                                      <p:cBhvr>
                                        <p:cTn id="10" dur="500"/>
                                        <p:tgtEl>
                                          <p:spTgt spid="229379">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3" fill="hold" grpId="0" nodeType="clickEffect">
                                  <p:stCondLst>
                                    <p:cond delay="0"/>
                                  </p:stCondLst>
                                  <p:iterate type="lt">
                                    <p:tmPct val="100000"/>
                                  </p:iterate>
                                  <p:childTnLst>
                                    <p:set>
                                      <p:cBhvr>
                                        <p:cTn id="14" dur="1" fill="hold">
                                          <p:stCondLst>
                                            <p:cond delay="0"/>
                                          </p:stCondLst>
                                        </p:cTn>
                                        <p:tgtEl>
                                          <p:spTgt spid="229380">
                                            <p:txEl>
                                              <p:pRg st="0" end="0"/>
                                            </p:txEl>
                                          </p:spTgt>
                                        </p:tgtEl>
                                        <p:attrNameLst>
                                          <p:attrName>style.visibility</p:attrName>
                                        </p:attrNameLst>
                                      </p:cBhvr>
                                      <p:to>
                                        <p:strVal val="visible"/>
                                      </p:to>
                                    </p:set>
                                    <p:anim calcmode="lin" valueType="num">
                                      <p:cBhvr additive="base">
                                        <p:cTn id="15" dur="75" fill="hold"/>
                                        <p:tgtEl>
                                          <p:spTgt spid="229380">
                                            <p:txEl>
                                              <p:pRg st="0" end="0"/>
                                            </p:txEl>
                                          </p:spTgt>
                                        </p:tgtEl>
                                        <p:attrNameLst>
                                          <p:attrName>ppt_x</p:attrName>
                                        </p:attrNameLst>
                                      </p:cBhvr>
                                      <p:tavLst>
                                        <p:tav tm="0">
                                          <p:val>
                                            <p:strVal val="1+#ppt_w/2"/>
                                          </p:val>
                                        </p:tav>
                                        <p:tav tm="100000">
                                          <p:val>
                                            <p:strVal val="#ppt_x"/>
                                          </p:val>
                                        </p:tav>
                                      </p:tavLst>
                                    </p:anim>
                                    <p:anim calcmode="lin" valueType="num">
                                      <p:cBhvr additive="base">
                                        <p:cTn id="16" dur="75" fill="hold"/>
                                        <p:tgtEl>
                                          <p:spTgt spid="229380">
                                            <p:txEl>
                                              <p:pRg st="0" end="0"/>
                                            </p:txEl>
                                          </p:spTgt>
                                        </p:tgtEl>
                                        <p:attrNameLst>
                                          <p:attrName>ppt_y</p:attrName>
                                        </p:attrNameLst>
                                      </p:cBhvr>
                                      <p:tavLst>
                                        <p:tav tm="0">
                                          <p:val>
                                            <p:strVal val="0-#ppt_h/2"/>
                                          </p:val>
                                        </p:tav>
                                        <p:tav tm="100000">
                                          <p:val>
                                            <p:strVal val="#ppt_y"/>
                                          </p:val>
                                        </p:tav>
                                      </p:tavLst>
                                    </p:anim>
                                  </p:childTnLst>
                                  <p:subTnLst>
                                    <p:audio>
                                      <p:cMediaNode>
                                        <p:cTn display="0" masterRel="sameClick">
                                          <p:stCondLst>
                                            <p:cond evt="begin" delay="0">
                                              <p:tn val="13"/>
                                            </p:cond>
                                          </p:stCondLst>
                                          <p:endCondLst>
                                            <p:cond evt="onStopAudio" delay="0">
                                              <p:tgtEl>
                                                <p:sldTgt/>
                                              </p:tgtEl>
                                            </p:cond>
                                          </p:endCondLst>
                                        </p:cTn>
                                        <p:tgtEl>
                                          <p:sndTgt r:embed="rId1" name="LASER.WAV"/>
                                        </p:tgtEl>
                                      </p:cMediaNode>
                                    </p:audio>
                                  </p:sub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229379">
                                            <p:txEl>
                                              <p:pRg st="4" end="4"/>
                                            </p:txEl>
                                          </p:spTgt>
                                        </p:tgtEl>
                                        <p:attrNameLst>
                                          <p:attrName>style.visibility</p:attrName>
                                        </p:attrNameLst>
                                      </p:cBhvr>
                                      <p:to>
                                        <p:strVal val="visible"/>
                                      </p:to>
                                    </p:set>
                                    <p:animEffect transition="in" filter="wipe(left)">
                                      <p:cBhvr>
                                        <p:cTn id="21" dur="500"/>
                                        <p:tgtEl>
                                          <p:spTgt spid="229379">
                                            <p:txEl>
                                              <p:pRg st="4" end="4"/>
                                            </p:txEl>
                                          </p:spTgt>
                                        </p:tgtEl>
                                      </p:cBhvr>
                                    </p:animEffect>
                                  </p:childTnLst>
                                </p:cTn>
                              </p:par>
                              <p:par>
                                <p:cTn id="22" presetID="22" presetClass="entr" presetSubtype="8" fill="hold" nodeType="withEffect">
                                  <p:stCondLst>
                                    <p:cond delay="0"/>
                                  </p:stCondLst>
                                  <p:childTnLst>
                                    <p:set>
                                      <p:cBhvr>
                                        <p:cTn id="23" dur="1" fill="hold">
                                          <p:stCondLst>
                                            <p:cond delay="0"/>
                                          </p:stCondLst>
                                        </p:cTn>
                                        <p:tgtEl>
                                          <p:spTgt spid="229379">
                                            <p:txEl>
                                              <p:pRg st="5" end="5"/>
                                            </p:txEl>
                                          </p:spTgt>
                                        </p:tgtEl>
                                        <p:attrNameLst>
                                          <p:attrName>style.visibility</p:attrName>
                                        </p:attrNameLst>
                                      </p:cBhvr>
                                      <p:to>
                                        <p:strVal val="visible"/>
                                      </p:to>
                                    </p:set>
                                    <p:animEffect transition="in" filter="wipe(left)">
                                      <p:cBhvr>
                                        <p:cTn id="24" dur="500"/>
                                        <p:tgtEl>
                                          <p:spTgt spid="229379">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3" fill="hold" grpId="0" nodeType="clickEffect">
                                  <p:stCondLst>
                                    <p:cond delay="0"/>
                                  </p:stCondLst>
                                  <p:iterate type="lt">
                                    <p:tmPct val="100000"/>
                                  </p:iterate>
                                  <p:childTnLst>
                                    <p:set>
                                      <p:cBhvr>
                                        <p:cTn id="28" dur="1" fill="hold">
                                          <p:stCondLst>
                                            <p:cond delay="0"/>
                                          </p:stCondLst>
                                        </p:cTn>
                                        <p:tgtEl>
                                          <p:spTgt spid="229381">
                                            <p:txEl>
                                              <p:pRg st="0" end="0"/>
                                            </p:txEl>
                                          </p:spTgt>
                                        </p:tgtEl>
                                        <p:attrNameLst>
                                          <p:attrName>style.visibility</p:attrName>
                                        </p:attrNameLst>
                                      </p:cBhvr>
                                      <p:to>
                                        <p:strVal val="visible"/>
                                      </p:to>
                                    </p:set>
                                    <p:anim calcmode="lin" valueType="num">
                                      <p:cBhvr additive="base">
                                        <p:cTn id="29" dur="75" fill="hold"/>
                                        <p:tgtEl>
                                          <p:spTgt spid="229381">
                                            <p:txEl>
                                              <p:pRg st="0" end="0"/>
                                            </p:txEl>
                                          </p:spTgt>
                                        </p:tgtEl>
                                        <p:attrNameLst>
                                          <p:attrName>ppt_x</p:attrName>
                                        </p:attrNameLst>
                                      </p:cBhvr>
                                      <p:tavLst>
                                        <p:tav tm="0">
                                          <p:val>
                                            <p:strVal val="1+#ppt_w/2"/>
                                          </p:val>
                                        </p:tav>
                                        <p:tav tm="100000">
                                          <p:val>
                                            <p:strVal val="#ppt_x"/>
                                          </p:val>
                                        </p:tav>
                                      </p:tavLst>
                                    </p:anim>
                                    <p:anim calcmode="lin" valueType="num">
                                      <p:cBhvr additive="base">
                                        <p:cTn id="30" dur="75" fill="hold"/>
                                        <p:tgtEl>
                                          <p:spTgt spid="229381">
                                            <p:txEl>
                                              <p:pRg st="0" end="0"/>
                                            </p:txEl>
                                          </p:spTgt>
                                        </p:tgtEl>
                                        <p:attrNameLst>
                                          <p:attrName>ppt_y</p:attrName>
                                        </p:attrNameLst>
                                      </p:cBhvr>
                                      <p:tavLst>
                                        <p:tav tm="0">
                                          <p:val>
                                            <p:strVal val="0-#ppt_h/2"/>
                                          </p:val>
                                        </p:tav>
                                        <p:tav tm="100000">
                                          <p:val>
                                            <p:strVal val="#ppt_y"/>
                                          </p:val>
                                        </p:tav>
                                      </p:tavLst>
                                    </p:anim>
                                  </p:childTnLst>
                                  <p:subTnLst>
                                    <p:audio>
                                      <p:cMediaNode>
                                        <p:cTn display="0" masterRel="sameClick">
                                          <p:stCondLst>
                                            <p:cond evt="begin" delay="0">
                                              <p:tn val="27"/>
                                            </p:cond>
                                          </p:stCondLst>
                                          <p:endCondLst>
                                            <p:cond evt="onStopAudio" delay="0">
                                              <p:tgtEl>
                                                <p:sldTgt/>
                                              </p:tgtEl>
                                            </p:cond>
                                          </p:endCondLst>
                                        </p:cTn>
                                        <p:tgtEl>
                                          <p:sndTgt r:embed="rId1" name="LASER.WAV"/>
                                        </p:tgtEl>
                                      </p:cMediaNode>
                                    </p:audio>
                                  </p:sub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229379">
                                            <p:txEl>
                                              <p:pRg st="6" end="6"/>
                                            </p:txEl>
                                          </p:spTgt>
                                        </p:tgtEl>
                                        <p:attrNameLst>
                                          <p:attrName>style.visibility</p:attrName>
                                        </p:attrNameLst>
                                      </p:cBhvr>
                                      <p:to>
                                        <p:strVal val="visible"/>
                                      </p:to>
                                    </p:set>
                                    <p:animEffect transition="in" filter="wipe(left)">
                                      <p:cBhvr>
                                        <p:cTn id="35" dur="500"/>
                                        <p:tgtEl>
                                          <p:spTgt spid="229379">
                                            <p:txEl>
                                              <p:pRg st="6" end="6"/>
                                            </p:txEl>
                                          </p:spTgt>
                                        </p:tgtEl>
                                      </p:cBhvr>
                                    </p:animEffect>
                                  </p:childTnLst>
                                </p:cTn>
                              </p:par>
                              <p:par>
                                <p:cTn id="36" presetID="22" presetClass="entr" presetSubtype="8" fill="hold" nodeType="withEffect">
                                  <p:stCondLst>
                                    <p:cond delay="0"/>
                                  </p:stCondLst>
                                  <p:childTnLst>
                                    <p:set>
                                      <p:cBhvr>
                                        <p:cTn id="37" dur="1" fill="hold">
                                          <p:stCondLst>
                                            <p:cond delay="0"/>
                                          </p:stCondLst>
                                        </p:cTn>
                                        <p:tgtEl>
                                          <p:spTgt spid="229379">
                                            <p:txEl>
                                              <p:pRg st="7" end="7"/>
                                            </p:txEl>
                                          </p:spTgt>
                                        </p:tgtEl>
                                        <p:attrNameLst>
                                          <p:attrName>style.visibility</p:attrName>
                                        </p:attrNameLst>
                                      </p:cBhvr>
                                      <p:to>
                                        <p:strVal val="visible"/>
                                      </p:to>
                                    </p:set>
                                    <p:animEffect transition="in" filter="wipe(left)">
                                      <p:cBhvr>
                                        <p:cTn id="38" dur="500"/>
                                        <p:tgtEl>
                                          <p:spTgt spid="229379">
                                            <p:txEl>
                                              <p:pRg st="7" end="7"/>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2" presetClass="entr" presetSubtype="3" fill="hold" grpId="0" nodeType="clickEffect">
                                  <p:stCondLst>
                                    <p:cond delay="0"/>
                                  </p:stCondLst>
                                  <p:iterate type="lt">
                                    <p:tmPct val="100000"/>
                                  </p:iterate>
                                  <p:childTnLst>
                                    <p:set>
                                      <p:cBhvr>
                                        <p:cTn id="42" dur="1" fill="hold">
                                          <p:stCondLst>
                                            <p:cond delay="0"/>
                                          </p:stCondLst>
                                        </p:cTn>
                                        <p:tgtEl>
                                          <p:spTgt spid="229382">
                                            <p:txEl>
                                              <p:pRg st="0" end="0"/>
                                            </p:txEl>
                                          </p:spTgt>
                                        </p:tgtEl>
                                        <p:attrNameLst>
                                          <p:attrName>style.visibility</p:attrName>
                                        </p:attrNameLst>
                                      </p:cBhvr>
                                      <p:to>
                                        <p:strVal val="visible"/>
                                      </p:to>
                                    </p:set>
                                    <p:anim calcmode="lin" valueType="num">
                                      <p:cBhvr additive="base">
                                        <p:cTn id="43" dur="75" fill="hold"/>
                                        <p:tgtEl>
                                          <p:spTgt spid="229382">
                                            <p:txEl>
                                              <p:pRg st="0" end="0"/>
                                            </p:txEl>
                                          </p:spTgt>
                                        </p:tgtEl>
                                        <p:attrNameLst>
                                          <p:attrName>ppt_x</p:attrName>
                                        </p:attrNameLst>
                                      </p:cBhvr>
                                      <p:tavLst>
                                        <p:tav tm="0">
                                          <p:val>
                                            <p:strVal val="1+#ppt_w/2"/>
                                          </p:val>
                                        </p:tav>
                                        <p:tav tm="100000">
                                          <p:val>
                                            <p:strVal val="#ppt_x"/>
                                          </p:val>
                                        </p:tav>
                                      </p:tavLst>
                                    </p:anim>
                                    <p:anim calcmode="lin" valueType="num">
                                      <p:cBhvr additive="base">
                                        <p:cTn id="44" dur="75" fill="hold"/>
                                        <p:tgtEl>
                                          <p:spTgt spid="229382">
                                            <p:txEl>
                                              <p:pRg st="0" end="0"/>
                                            </p:txEl>
                                          </p:spTgt>
                                        </p:tgtEl>
                                        <p:attrNameLst>
                                          <p:attrName>ppt_y</p:attrName>
                                        </p:attrNameLst>
                                      </p:cBhvr>
                                      <p:tavLst>
                                        <p:tav tm="0">
                                          <p:val>
                                            <p:strVal val="0-#ppt_h/2"/>
                                          </p:val>
                                        </p:tav>
                                        <p:tav tm="100000">
                                          <p:val>
                                            <p:strVal val="#ppt_y"/>
                                          </p:val>
                                        </p:tav>
                                      </p:tavLst>
                                    </p:anim>
                                  </p:childTnLst>
                                  <p:subTnLst>
                                    <p:audio>
                                      <p:cMediaNode>
                                        <p:cTn display="0" masterRel="sameClick">
                                          <p:stCondLst>
                                            <p:cond evt="begin" delay="0">
                                              <p:tn val="41"/>
                                            </p:cond>
                                          </p:stCondLst>
                                          <p:endCondLst>
                                            <p:cond evt="onStopAudio" delay="0">
                                              <p:tgtEl>
                                                <p:sldTgt/>
                                              </p:tgtEl>
                                            </p:cond>
                                          </p:endCondLst>
                                        </p:cTn>
                                        <p:tgtEl>
                                          <p:sndTgt r:embed="rId1" name="LAS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9380" grpId="0" autoUpdateAnimBg="0" build="p"/>
      <p:bldP spid="229381" grpId="0" autoUpdateAnimBg="0" build="p"/>
      <p:bldP spid="229382" grpId="0" autoUpdateAnimBg="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3" name="Rectangle 3"/>
          <p:cNvSpPr>
            <a:spLocks noGrp="1" noChangeArrowheads="1"/>
          </p:cNvSpPr>
          <p:nvPr>
            <p:ph type="body" idx="4294967295"/>
          </p:nvPr>
        </p:nvSpPr>
        <p:spPr>
          <a:xfrm>
            <a:off x="595266" y="605828"/>
            <a:ext cx="7933098" cy="5562600"/>
          </a:xfrm>
          <a:prstGeom prst="rect">
            <a:avLst/>
          </a:prstGeom>
        </p:spPr>
        <p:txBody>
          <a:bodyPr/>
          <a:lstStyle/>
          <a:p>
            <a:pPr marL="0" indent="0" algn="just" eaLnBrk="1" hangingPunct="1">
              <a:lnSpc>
                <a:spcPct val="130000"/>
              </a:lnSpc>
              <a:buFontTx/>
              <a:buNone/>
            </a:pPr>
            <a:r>
              <a:rPr lang="en-US" sz="2000" b="1" dirty="0" smtClean="0">
                <a:solidFill>
                  <a:srgbClr val="002060"/>
                </a:solidFill>
              </a:rPr>
              <a:t>4</a:t>
            </a:r>
            <a:r>
              <a:rPr lang="zh-CN" altLang="en-US" sz="2000" b="1" dirty="0" smtClean="0">
                <a:solidFill>
                  <a:srgbClr val="002060"/>
                </a:solidFill>
              </a:rPr>
              <a:t>、题</a:t>
            </a:r>
            <a:r>
              <a:rPr lang="en-US" sz="2000" b="1" dirty="0" smtClean="0">
                <a:solidFill>
                  <a:srgbClr val="002060"/>
                </a:solidFill>
              </a:rPr>
              <a:t>4</a:t>
            </a:r>
            <a:r>
              <a:rPr lang="zh-CN" altLang="en-US" sz="2000" b="1" dirty="0" smtClean="0">
                <a:solidFill>
                  <a:srgbClr val="002060"/>
                </a:solidFill>
              </a:rPr>
              <a:t>图</a:t>
            </a:r>
            <a:r>
              <a:rPr lang="zh-CN" altLang="en-US" sz="2000" b="1" dirty="0">
                <a:solidFill>
                  <a:srgbClr val="002060"/>
                </a:solidFill>
              </a:rPr>
              <a:t>表示起重铰车</a:t>
            </a:r>
            <a:r>
              <a:rPr lang="zh-CN" altLang="en-US" sz="2000" b="1" dirty="0">
                <a:solidFill>
                  <a:srgbClr val="C00000"/>
                </a:solidFill>
              </a:rPr>
              <a:t>从动大齿轮</a:t>
            </a:r>
            <a:r>
              <a:rPr lang="en-US" sz="2000" b="1" dirty="0">
                <a:solidFill>
                  <a:srgbClr val="C00000"/>
                </a:solidFill>
              </a:rPr>
              <a:t>1</a:t>
            </a:r>
            <a:r>
              <a:rPr lang="zh-CN" altLang="en-US" sz="2000" b="1" dirty="0">
                <a:solidFill>
                  <a:srgbClr val="002060"/>
                </a:solidFill>
              </a:rPr>
              <a:t>和</a:t>
            </a:r>
            <a:r>
              <a:rPr lang="zh-CN" altLang="en-US" sz="2000" b="1" dirty="0">
                <a:solidFill>
                  <a:srgbClr val="C00000"/>
                </a:solidFill>
              </a:rPr>
              <a:t>卷筒</a:t>
            </a:r>
            <a:r>
              <a:rPr lang="en-US" sz="2000" b="1" dirty="0">
                <a:solidFill>
                  <a:srgbClr val="C00000"/>
                </a:solidFill>
              </a:rPr>
              <a:t>2</a:t>
            </a:r>
            <a:r>
              <a:rPr lang="zh-CN" altLang="en-US" sz="2000" b="1" dirty="0">
                <a:solidFill>
                  <a:srgbClr val="002060"/>
                </a:solidFill>
              </a:rPr>
              <a:t>与</a:t>
            </a:r>
            <a:r>
              <a:rPr lang="zh-CN" altLang="en-US" sz="2000" b="1" dirty="0">
                <a:solidFill>
                  <a:srgbClr val="C00000"/>
                </a:solidFill>
              </a:rPr>
              <a:t>轴</a:t>
            </a:r>
            <a:r>
              <a:rPr lang="en-US" sz="2000" b="1" dirty="0">
                <a:solidFill>
                  <a:srgbClr val="C00000"/>
                </a:solidFill>
              </a:rPr>
              <a:t>3</a:t>
            </a:r>
            <a:r>
              <a:rPr lang="zh-CN" altLang="en-US" sz="2000" b="1" dirty="0">
                <a:solidFill>
                  <a:srgbClr val="002060"/>
                </a:solidFill>
              </a:rPr>
              <a:t>相联接的三种形式，图中</a:t>
            </a:r>
            <a:r>
              <a:rPr lang="en-US" sz="2000" b="1" dirty="0">
                <a:solidFill>
                  <a:srgbClr val="C00000"/>
                </a:solidFill>
              </a:rPr>
              <a:t>a</a:t>
            </a:r>
            <a:r>
              <a:rPr lang="zh-CN" altLang="en-US" sz="2000" b="1" dirty="0">
                <a:solidFill>
                  <a:srgbClr val="002060"/>
                </a:solidFill>
              </a:rPr>
              <a:t>为齿轮与卷筒分别用键固定在轴上，轴的两端支架在机座轴承中；图中</a:t>
            </a:r>
            <a:r>
              <a:rPr lang="en-US" sz="2000" b="1" dirty="0">
                <a:solidFill>
                  <a:srgbClr val="C00000"/>
                </a:solidFill>
              </a:rPr>
              <a:t>b</a:t>
            </a:r>
            <a:r>
              <a:rPr lang="zh-CN" altLang="en-US" sz="2000" b="1" dirty="0">
                <a:solidFill>
                  <a:srgbClr val="002060"/>
                </a:solidFill>
              </a:rPr>
              <a:t>为齿轮与卷筒用螺栓联接成一体，空套在轴上，轴的两端用键与机座联接；图中</a:t>
            </a:r>
            <a:r>
              <a:rPr lang="en-US" sz="2000" b="1" dirty="0">
                <a:solidFill>
                  <a:srgbClr val="C00000"/>
                </a:solidFill>
              </a:rPr>
              <a:t>c</a:t>
            </a:r>
            <a:r>
              <a:rPr lang="zh-CN" altLang="en-US" sz="2000" b="1" dirty="0">
                <a:solidFill>
                  <a:srgbClr val="002060"/>
                </a:solidFill>
              </a:rPr>
              <a:t>为齿轮与卷筒用螺栓联接成一体，用键固定在轴上，轴的两端支架在机座轴承中，以上三种形式中的轴，依次为</a:t>
            </a:r>
            <a:r>
              <a:rPr lang="zh-CN" altLang="en-US" sz="2000" b="1" u="sng" dirty="0">
                <a:solidFill>
                  <a:srgbClr val="002060"/>
                </a:solidFill>
              </a:rPr>
              <a:t>          </a:t>
            </a:r>
            <a:r>
              <a:rPr lang="zh-CN" altLang="en-US" sz="2000" b="1" dirty="0">
                <a:solidFill>
                  <a:srgbClr val="002060"/>
                </a:solidFill>
              </a:rPr>
              <a:t>。</a:t>
            </a:r>
            <a:endParaRPr lang="zh-CN" altLang="en-US" sz="2000" b="1" dirty="0">
              <a:solidFill>
                <a:srgbClr val="002060"/>
              </a:solidFill>
            </a:endParaRPr>
          </a:p>
          <a:p>
            <a:pPr marL="0" indent="0" algn="just" eaLnBrk="1" hangingPunct="1">
              <a:lnSpc>
                <a:spcPct val="130000"/>
              </a:lnSpc>
              <a:buFontTx/>
              <a:buNone/>
            </a:pPr>
            <a:r>
              <a:rPr lang="zh-CN" altLang="en-US" sz="2000" b="1" dirty="0">
                <a:solidFill>
                  <a:srgbClr val="000099"/>
                </a:solidFill>
              </a:rPr>
              <a:t>（</a:t>
            </a:r>
            <a:r>
              <a:rPr lang="en-US" sz="2000" b="1" dirty="0">
                <a:solidFill>
                  <a:srgbClr val="000099"/>
                </a:solidFill>
              </a:rPr>
              <a:t>1</a:t>
            </a:r>
            <a:r>
              <a:rPr lang="zh-CN" altLang="en-US" sz="2000" b="1" dirty="0">
                <a:solidFill>
                  <a:srgbClr val="000099"/>
                </a:solidFill>
              </a:rPr>
              <a:t>）固定心轴</a:t>
            </a:r>
            <a:r>
              <a:rPr lang="zh-CN" altLang="en-US" sz="2000" b="1" dirty="0" smtClean="0">
                <a:solidFill>
                  <a:srgbClr val="000099"/>
                </a:solidFill>
              </a:rPr>
              <a:t>、转动心</a:t>
            </a:r>
            <a:r>
              <a:rPr lang="zh-CN" altLang="en-US" sz="2000" b="1" dirty="0">
                <a:solidFill>
                  <a:srgbClr val="000099"/>
                </a:solidFill>
              </a:rPr>
              <a:t>轴、转轴；（</a:t>
            </a:r>
            <a:r>
              <a:rPr lang="en-US" sz="2000" b="1" dirty="0">
                <a:solidFill>
                  <a:srgbClr val="000099"/>
                </a:solidFill>
              </a:rPr>
              <a:t>2</a:t>
            </a:r>
            <a:r>
              <a:rPr lang="zh-CN" altLang="en-US" sz="2000" b="1" dirty="0">
                <a:solidFill>
                  <a:srgbClr val="000099"/>
                </a:solidFill>
              </a:rPr>
              <a:t>）固定心轴、转轴</a:t>
            </a:r>
            <a:r>
              <a:rPr lang="zh-CN" altLang="en-US" sz="2000" b="1" dirty="0" smtClean="0">
                <a:solidFill>
                  <a:srgbClr val="000099"/>
                </a:solidFill>
              </a:rPr>
              <a:t>、转动心</a:t>
            </a:r>
            <a:r>
              <a:rPr lang="zh-CN" altLang="en-US" sz="2000" b="1" dirty="0">
                <a:solidFill>
                  <a:srgbClr val="000099"/>
                </a:solidFill>
              </a:rPr>
              <a:t>轴；（</a:t>
            </a:r>
            <a:r>
              <a:rPr lang="en-US" sz="2000" b="1" dirty="0">
                <a:solidFill>
                  <a:srgbClr val="000099"/>
                </a:solidFill>
              </a:rPr>
              <a:t>3</a:t>
            </a:r>
            <a:r>
              <a:rPr lang="zh-CN" altLang="en-US" sz="2000" b="1" dirty="0" smtClean="0">
                <a:solidFill>
                  <a:srgbClr val="000099"/>
                </a:solidFill>
              </a:rPr>
              <a:t>）转动心</a:t>
            </a:r>
            <a:r>
              <a:rPr lang="zh-CN" altLang="en-US" sz="2000" b="1" dirty="0">
                <a:solidFill>
                  <a:srgbClr val="000099"/>
                </a:solidFill>
              </a:rPr>
              <a:t>轴、转轴、固定心轴；（</a:t>
            </a:r>
            <a:r>
              <a:rPr lang="en-US" sz="2000" b="1" dirty="0">
                <a:solidFill>
                  <a:srgbClr val="000099"/>
                </a:solidFill>
              </a:rPr>
              <a:t>4</a:t>
            </a:r>
            <a:r>
              <a:rPr lang="zh-CN" altLang="en-US" sz="2000" b="1" dirty="0" smtClean="0">
                <a:solidFill>
                  <a:srgbClr val="000099"/>
                </a:solidFill>
              </a:rPr>
              <a:t>）转动心</a:t>
            </a:r>
            <a:r>
              <a:rPr lang="zh-CN" altLang="en-US" sz="2000" b="1" dirty="0">
                <a:solidFill>
                  <a:srgbClr val="000099"/>
                </a:solidFill>
              </a:rPr>
              <a:t>轴、固定心轴、转轴；（</a:t>
            </a:r>
            <a:r>
              <a:rPr lang="en-US" sz="2000" b="1" dirty="0">
                <a:solidFill>
                  <a:srgbClr val="000099"/>
                </a:solidFill>
              </a:rPr>
              <a:t>5</a:t>
            </a:r>
            <a:r>
              <a:rPr lang="zh-CN" altLang="en-US" sz="2000" b="1" dirty="0">
                <a:solidFill>
                  <a:srgbClr val="000099"/>
                </a:solidFill>
              </a:rPr>
              <a:t>）转轴、固定心轴</a:t>
            </a:r>
            <a:r>
              <a:rPr lang="zh-CN" altLang="en-US" sz="2000" b="1" dirty="0" smtClean="0">
                <a:solidFill>
                  <a:srgbClr val="000099"/>
                </a:solidFill>
              </a:rPr>
              <a:t>、转动心</a:t>
            </a:r>
            <a:r>
              <a:rPr lang="zh-CN" altLang="en-US" sz="2000" b="1" dirty="0">
                <a:solidFill>
                  <a:srgbClr val="000099"/>
                </a:solidFill>
              </a:rPr>
              <a:t>轴；（</a:t>
            </a:r>
            <a:r>
              <a:rPr lang="en-US" sz="2000" b="1" dirty="0">
                <a:solidFill>
                  <a:srgbClr val="000099"/>
                </a:solidFill>
              </a:rPr>
              <a:t>6</a:t>
            </a:r>
            <a:r>
              <a:rPr lang="zh-CN" altLang="en-US" sz="2000" b="1" dirty="0">
                <a:solidFill>
                  <a:srgbClr val="000099"/>
                </a:solidFill>
              </a:rPr>
              <a:t>）转轴</a:t>
            </a:r>
            <a:r>
              <a:rPr lang="zh-CN" altLang="en-US" sz="2000" b="1" dirty="0" smtClean="0">
                <a:solidFill>
                  <a:srgbClr val="000099"/>
                </a:solidFill>
              </a:rPr>
              <a:t>、转动心</a:t>
            </a:r>
            <a:r>
              <a:rPr lang="zh-CN" altLang="en-US" sz="2000" b="1" dirty="0">
                <a:solidFill>
                  <a:srgbClr val="000099"/>
                </a:solidFill>
              </a:rPr>
              <a:t>轴、固定心轴；</a:t>
            </a:r>
            <a:endParaRPr lang="zh-CN" altLang="en-US" sz="2000" b="1" dirty="0">
              <a:solidFill>
                <a:srgbClr val="000099"/>
              </a:solidFill>
            </a:endParaRPr>
          </a:p>
          <a:p>
            <a:pPr marL="0" indent="0" algn="just" eaLnBrk="1" hangingPunct="1">
              <a:lnSpc>
                <a:spcPct val="130000"/>
              </a:lnSpc>
              <a:buFontTx/>
              <a:buNone/>
            </a:pPr>
            <a:endParaRPr lang="en-US" sz="2000" dirty="0"/>
          </a:p>
        </p:txBody>
      </p:sp>
      <p:sp>
        <p:nvSpPr>
          <p:cNvPr id="230486" name="Text Box 86"/>
          <p:cNvSpPr txBox="1">
            <a:spLocks noChangeArrowheads="1"/>
          </p:cNvSpPr>
          <p:nvPr/>
        </p:nvSpPr>
        <p:spPr bwMode="auto">
          <a:xfrm>
            <a:off x="1140658" y="2514600"/>
            <a:ext cx="304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dirty="0">
                <a:solidFill>
                  <a:srgbClr val="FF3300"/>
                </a:solidFill>
              </a:rPr>
              <a:t>5</a:t>
            </a:r>
            <a:endParaRPr lang="en-US" dirty="0"/>
          </a:p>
        </p:txBody>
      </p:sp>
      <p:grpSp>
        <p:nvGrpSpPr>
          <p:cNvPr id="3" name="组合 2"/>
          <p:cNvGrpSpPr/>
          <p:nvPr/>
        </p:nvGrpSpPr>
        <p:grpSpPr>
          <a:xfrm>
            <a:off x="1124890" y="4191754"/>
            <a:ext cx="6987013" cy="2120269"/>
            <a:chOff x="1133944" y="4499572"/>
            <a:chExt cx="6987013" cy="2120269"/>
          </a:xfrm>
        </p:grpSpPr>
        <p:grpSp>
          <p:nvGrpSpPr>
            <p:cNvPr id="230404" name="Group 4"/>
            <p:cNvGrpSpPr/>
            <p:nvPr/>
          </p:nvGrpSpPr>
          <p:grpSpPr bwMode="auto">
            <a:xfrm>
              <a:off x="1133944" y="4499572"/>
              <a:ext cx="6987013" cy="1703561"/>
              <a:chOff x="0" y="0"/>
              <a:chExt cx="19999" cy="20430"/>
            </a:xfrm>
          </p:grpSpPr>
          <p:grpSp>
            <p:nvGrpSpPr>
              <p:cNvPr id="230405" name="Group 5"/>
              <p:cNvGrpSpPr/>
              <p:nvPr/>
            </p:nvGrpSpPr>
            <p:grpSpPr bwMode="auto">
              <a:xfrm>
                <a:off x="0" y="4920"/>
                <a:ext cx="19999" cy="15030"/>
                <a:chOff x="0" y="0"/>
                <a:chExt cx="19999" cy="21042"/>
              </a:xfrm>
            </p:grpSpPr>
            <p:grpSp>
              <p:nvGrpSpPr>
                <p:cNvPr id="230406" name="Group 6"/>
                <p:cNvGrpSpPr/>
                <p:nvPr/>
              </p:nvGrpSpPr>
              <p:grpSpPr bwMode="auto">
                <a:xfrm>
                  <a:off x="0" y="21"/>
                  <a:ext cx="5741" cy="19761"/>
                  <a:chOff x="0" y="0"/>
                  <a:chExt cx="20000" cy="21643"/>
                </a:xfrm>
              </p:grpSpPr>
              <p:sp>
                <p:nvSpPr>
                  <p:cNvPr id="230407" name="Line 7"/>
                  <p:cNvSpPr>
                    <a:spLocks noChangeShapeType="1"/>
                  </p:cNvSpPr>
                  <p:nvPr/>
                </p:nvSpPr>
                <p:spPr bwMode="auto">
                  <a:xfrm>
                    <a:off x="0" y="11017"/>
                    <a:ext cx="20000" cy="23"/>
                  </a:xfrm>
                  <a:prstGeom prst="line">
                    <a:avLst/>
                  </a:prstGeom>
                  <a:noFill/>
                  <a:ln w="28575" cmpd="sng">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0408" name="Freeform 8"/>
                  <p:cNvSpPr/>
                  <p:nvPr/>
                </p:nvSpPr>
                <p:spPr bwMode="auto">
                  <a:xfrm>
                    <a:off x="808" y="5520"/>
                    <a:ext cx="2432" cy="3703"/>
                  </a:xfrm>
                  <a:custGeom>
                    <a:avLst/>
                    <a:gdLst>
                      <a:gd name="T0" fmla="*/ 0 w 20000"/>
                      <a:gd name="T1" fmla="*/ 0 h 20000"/>
                      <a:gd name="T2" fmla="*/ 0 w 20000"/>
                      <a:gd name="T3" fmla="*/ 19876 h 20000"/>
                      <a:gd name="T4" fmla="*/ 19917 w 20000"/>
                      <a:gd name="T5" fmla="*/ 19876 h 20000"/>
                      <a:gd name="T6" fmla="*/ 19917 w 20000"/>
                      <a:gd name="T7" fmla="*/ 0 h 20000"/>
                      <a:gd name="T8" fmla="*/ 18257 w 20000"/>
                      <a:gd name="T9" fmla="*/ 0 h 20000"/>
                      <a:gd name="T10" fmla="*/ 19917 w 20000"/>
                      <a:gd name="T11" fmla="*/ 0 h 20000"/>
                    </a:gdLst>
                    <a:ahLst/>
                    <a:cxnLst>
                      <a:cxn ang="0">
                        <a:pos x="T0" y="T1"/>
                      </a:cxn>
                      <a:cxn ang="0">
                        <a:pos x="T2" y="T3"/>
                      </a:cxn>
                      <a:cxn ang="0">
                        <a:pos x="T4" y="T5"/>
                      </a:cxn>
                      <a:cxn ang="0">
                        <a:pos x="T6" y="T7"/>
                      </a:cxn>
                      <a:cxn ang="0">
                        <a:pos x="T8" y="T9"/>
                      </a:cxn>
                      <a:cxn ang="0">
                        <a:pos x="T10" y="T11"/>
                      </a:cxn>
                    </a:cxnLst>
                    <a:rect l="0" t="0" r="r" b="b"/>
                    <a:pathLst>
                      <a:path w="20000" h="20000">
                        <a:moveTo>
                          <a:pt x="0" y="0"/>
                        </a:moveTo>
                        <a:lnTo>
                          <a:pt x="0" y="19876"/>
                        </a:lnTo>
                        <a:lnTo>
                          <a:pt x="19917" y="19876"/>
                        </a:lnTo>
                        <a:lnTo>
                          <a:pt x="19917" y="0"/>
                        </a:lnTo>
                        <a:lnTo>
                          <a:pt x="18257" y="0"/>
                        </a:lnTo>
                        <a:lnTo>
                          <a:pt x="19917" y="0"/>
                        </a:lnTo>
                      </a:path>
                    </a:pathLst>
                  </a:custGeom>
                  <a:noFill/>
                  <a:ln w="28575" cap="flat" cmpd="sng">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0409" name="Freeform 9"/>
                  <p:cNvSpPr/>
                  <p:nvPr/>
                </p:nvSpPr>
                <p:spPr bwMode="auto">
                  <a:xfrm>
                    <a:off x="16356" y="5520"/>
                    <a:ext cx="2432" cy="3703"/>
                  </a:xfrm>
                  <a:custGeom>
                    <a:avLst/>
                    <a:gdLst>
                      <a:gd name="T0" fmla="*/ 0 w 20000"/>
                      <a:gd name="T1" fmla="*/ 0 h 20000"/>
                      <a:gd name="T2" fmla="*/ 0 w 20000"/>
                      <a:gd name="T3" fmla="*/ 19876 h 20000"/>
                      <a:gd name="T4" fmla="*/ 19917 w 20000"/>
                      <a:gd name="T5" fmla="*/ 19876 h 20000"/>
                      <a:gd name="T6" fmla="*/ 19917 w 20000"/>
                      <a:gd name="T7" fmla="*/ 0 h 20000"/>
                      <a:gd name="T8" fmla="*/ 18257 w 20000"/>
                      <a:gd name="T9" fmla="*/ 0 h 20000"/>
                      <a:gd name="T10" fmla="*/ 19917 w 20000"/>
                      <a:gd name="T11" fmla="*/ 0 h 20000"/>
                    </a:gdLst>
                    <a:ahLst/>
                    <a:cxnLst>
                      <a:cxn ang="0">
                        <a:pos x="T0" y="T1"/>
                      </a:cxn>
                      <a:cxn ang="0">
                        <a:pos x="T2" y="T3"/>
                      </a:cxn>
                      <a:cxn ang="0">
                        <a:pos x="T4" y="T5"/>
                      </a:cxn>
                      <a:cxn ang="0">
                        <a:pos x="T6" y="T7"/>
                      </a:cxn>
                      <a:cxn ang="0">
                        <a:pos x="T8" y="T9"/>
                      </a:cxn>
                      <a:cxn ang="0">
                        <a:pos x="T10" y="T11"/>
                      </a:cxn>
                    </a:cxnLst>
                    <a:rect l="0" t="0" r="r" b="b"/>
                    <a:pathLst>
                      <a:path w="20000" h="20000">
                        <a:moveTo>
                          <a:pt x="0" y="0"/>
                        </a:moveTo>
                        <a:lnTo>
                          <a:pt x="0" y="19876"/>
                        </a:lnTo>
                        <a:lnTo>
                          <a:pt x="19917" y="19876"/>
                        </a:lnTo>
                        <a:lnTo>
                          <a:pt x="19917" y="0"/>
                        </a:lnTo>
                        <a:lnTo>
                          <a:pt x="18257" y="0"/>
                        </a:lnTo>
                        <a:lnTo>
                          <a:pt x="19917" y="0"/>
                        </a:lnTo>
                      </a:path>
                    </a:pathLst>
                  </a:custGeom>
                  <a:noFill/>
                  <a:ln w="28575" cap="flat" cmpd="sng">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0410" name="Freeform 10"/>
                  <p:cNvSpPr/>
                  <p:nvPr/>
                </p:nvSpPr>
                <p:spPr bwMode="auto">
                  <a:xfrm>
                    <a:off x="808" y="13317"/>
                    <a:ext cx="2432" cy="3703"/>
                  </a:xfrm>
                  <a:custGeom>
                    <a:avLst/>
                    <a:gdLst>
                      <a:gd name="T0" fmla="*/ 0 w 20000"/>
                      <a:gd name="T1" fmla="*/ 19876 h 20000"/>
                      <a:gd name="T2" fmla="*/ 0 w 20000"/>
                      <a:gd name="T3" fmla="*/ 0 h 20000"/>
                      <a:gd name="T4" fmla="*/ 19917 w 20000"/>
                      <a:gd name="T5" fmla="*/ 0 h 20000"/>
                      <a:gd name="T6" fmla="*/ 19917 w 20000"/>
                      <a:gd name="T7" fmla="*/ 19876 h 20000"/>
                      <a:gd name="T8" fmla="*/ 18257 w 20000"/>
                      <a:gd name="T9" fmla="*/ 19876 h 20000"/>
                      <a:gd name="T10" fmla="*/ 19917 w 20000"/>
                      <a:gd name="T11" fmla="*/ 19876 h 20000"/>
                    </a:gdLst>
                    <a:ahLst/>
                    <a:cxnLst>
                      <a:cxn ang="0">
                        <a:pos x="T0" y="T1"/>
                      </a:cxn>
                      <a:cxn ang="0">
                        <a:pos x="T2" y="T3"/>
                      </a:cxn>
                      <a:cxn ang="0">
                        <a:pos x="T4" y="T5"/>
                      </a:cxn>
                      <a:cxn ang="0">
                        <a:pos x="T6" y="T7"/>
                      </a:cxn>
                      <a:cxn ang="0">
                        <a:pos x="T8" y="T9"/>
                      </a:cxn>
                      <a:cxn ang="0">
                        <a:pos x="T10" y="T11"/>
                      </a:cxn>
                    </a:cxnLst>
                    <a:rect l="0" t="0" r="r" b="b"/>
                    <a:pathLst>
                      <a:path w="20000" h="20000">
                        <a:moveTo>
                          <a:pt x="0" y="19876"/>
                        </a:moveTo>
                        <a:lnTo>
                          <a:pt x="0" y="0"/>
                        </a:lnTo>
                        <a:lnTo>
                          <a:pt x="19917" y="0"/>
                        </a:lnTo>
                        <a:lnTo>
                          <a:pt x="19917" y="19876"/>
                        </a:lnTo>
                        <a:lnTo>
                          <a:pt x="18257" y="19876"/>
                        </a:lnTo>
                        <a:lnTo>
                          <a:pt x="19917" y="19876"/>
                        </a:lnTo>
                      </a:path>
                    </a:pathLst>
                  </a:custGeom>
                  <a:noFill/>
                  <a:ln w="28575" cap="flat" cmpd="sng">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0411" name="Freeform 11"/>
                  <p:cNvSpPr/>
                  <p:nvPr/>
                </p:nvSpPr>
                <p:spPr bwMode="auto">
                  <a:xfrm>
                    <a:off x="16356" y="12857"/>
                    <a:ext cx="2432" cy="3703"/>
                  </a:xfrm>
                  <a:custGeom>
                    <a:avLst/>
                    <a:gdLst>
                      <a:gd name="T0" fmla="*/ 0 w 20000"/>
                      <a:gd name="T1" fmla="*/ 19876 h 20000"/>
                      <a:gd name="T2" fmla="*/ 0 w 20000"/>
                      <a:gd name="T3" fmla="*/ 0 h 20000"/>
                      <a:gd name="T4" fmla="*/ 19917 w 20000"/>
                      <a:gd name="T5" fmla="*/ 0 h 20000"/>
                      <a:gd name="T6" fmla="*/ 19917 w 20000"/>
                      <a:gd name="T7" fmla="*/ 19876 h 20000"/>
                      <a:gd name="T8" fmla="*/ 18257 w 20000"/>
                      <a:gd name="T9" fmla="*/ 19876 h 20000"/>
                      <a:gd name="T10" fmla="*/ 19917 w 20000"/>
                      <a:gd name="T11" fmla="*/ 19876 h 20000"/>
                    </a:gdLst>
                    <a:ahLst/>
                    <a:cxnLst>
                      <a:cxn ang="0">
                        <a:pos x="T0" y="T1"/>
                      </a:cxn>
                      <a:cxn ang="0">
                        <a:pos x="T2" y="T3"/>
                      </a:cxn>
                      <a:cxn ang="0">
                        <a:pos x="T4" y="T5"/>
                      </a:cxn>
                      <a:cxn ang="0">
                        <a:pos x="T6" y="T7"/>
                      </a:cxn>
                      <a:cxn ang="0">
                        <a:pos x="T8" y="T9"/>
                      </a:cxn>
                      <a:cxn ang="0">
                        <a:pos x="T10" y="T11"/>
                      </a:cxn>
                    </a:cxnLst>
                    <a:rect l="0" t="0" r="r" b="b"/>
                    <a:pathLst>
                      <a:path w="20000" h="20000">
                        <a:moveTo>
                          <a:pt x="0" y="19876"/>
                        </a:moveTo>
                        <a:lnTo>
                          <a:pt x="0" y="0"/>
                        </a:lnTo>
                        <a:lnTo>
                          <a:pt x="19917" y="0"/>
                        </a:lnTo>
                        <a:lnTo>
                          <a:pt x="19917" y="19876"/>
                        </a:lnTo>
                        <a:lnTo>
                          <a:pt x="18257" y="19876"/>
                        </a:lnTo>
                        <a:lnTo>
                          <a:pt x="19917" y="19876"/>
                        </a:lnTo>
                      </a:path>
                    </a:pathLst>
                  </a:custGeom>
                  <a:noFill/>
                  <a:ln w="28575" cap="flat" cmpd="sng">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0412" name="Line 12"/>
                  <p:cNvSpPr>
                    <a:spLocks noChangeShapeType="1"/>
                  </p:cNvSpPr>
                  <p:nvPr/>
                </p:nvSpPr>
                <p:spPr bwMode="auto">
                  <a:xfrm>
                    <a:off x="6664" y="0"/>
                    <a:ext cx="11" cy="21643"/>
                  </a:xfrm>
                  <a:prstGeom prst="line">
                    <a:avLst/>
                  </a:prstGeom>
                  <a:noFill/>
                  <a:ln w="28575" cmpd="sng">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0413" name="Line 13"/>
                  <p:cNvSpPr>
                    <a:spLocks noChangeShapeType="1"/>
                  </p:cNvSpPr>
                  <p:nvPr/>
                </p:nvSpPr>
                <p:spPr bwMode="auto">
                  <a:xfrm>
                    <a:off x="5856" y="0"/>
                    <a:ext cx="1826" cy="23"/>
                  </a:xfrm>
                  <a:prstGeom prst="line">
                    <a:avLst/>
                  </a:prstGeom>
                  <a:noFill/>
                  <a:ln w="28575" cmpd="sng">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0414" name="Line 14"/>
                  <p:cNvSpPr>
                    <a:spLocks noChangeShapeType="1"/>
                  </p:cNvSpPr>
                  <p:nvPr/>
                </p:nvSpPr>
                <p:spPr bwMode="auto">
                  <a:xfrm>
                    <a:off x="5856" y="21160"/>
                    <a:ext cx="1826" cy="23"/>
                  </a:xfrm>
                  <a:prstGeom prst="line">
                    <a:avLst/>
                  </a:prstGeom>
                  <a:noFill/>
                  <a:ln w="28575" cmpd="sng">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0415" name="Rectangle 15"/>
                  <p:cNvSpPr>
                    <a:spLocks noChangeArrowheads="1"/>
                  </p:cNvSpPr>
                  <p:nvPr/>
                </p:nvSpPr>
                <p:spPr bwMode="auto">
                  <a:xfrm>
                    <a:off x="9086" y="7360"/>
                    <a:ext cx="5462" cy="7383"/>
                  </a:xfrm>
                  <a:prstGeom prst="rect">
                    <a:avLst/>
                  </a:prstGeom>
                  <a:noFill/>
                  <a:ln w="28575" cmpd="sng">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endParaRPr lang="zh-CN" altLang="en-US"/>
                  </a:p>
                </p:txBody>
              </p:sp>
              <p:grpSp>
                <p:nvGrpSpPr>
                  <p:cNvPr id="230416" name="Group 16"/>
                  <p:cNvGrpSpPr/>
                  <p:nvPr/>
                </p:nvGrpSpPr>
                <p:grpSpPr bwMode="auto">
                  <a:xfrm>
                    <a:off x="6260" y="10097"/>
                    <a:ext cx="819" cy="2323"/>
                    <a:chOff x="0" y="0"/>
                    <a:chExt cx="20000" cy="20000"/>
                  </a:xfrm>
                </p:grpSpPr>
                <p:sp>
                  <p:nvSpPr>
                    <p:cNvPr id="230417" name="Line 17"/>
                    <p:cNvSpPr>
                      <a:spLocks noChangeShapeType="1"/>
                    </p:cNvSpPr>
                    <p:nvPr/>
                  </p:nvSpPr>
                  <p:spPr bwMode="auto">
                    <a:xfrm>
                      <a:off x="2466" y="0"/>
                      <a:ext cx="17534" cy="20000"/>
                    </a:xfrm>
                    <a:prstGeom prst="line">
                      <a:avLst/>
                    </a:prstGeom>
                    <a:noFill/>
                    <a:ln w="28575" cmpd="sng">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0418" name="Line 18"/>
                    <p:cNvSpPr>
                      <a:spLocks noChangeShapeType="1"/>
                    </p:cNvSpPr>
                    <p:nvPr/>
                  </p:nvSpPr>
                  <p:spPr bwMode="auto">
                    <a:xfrm flipH="1">
                      <a:off x="0" y="0"/>
                      <a:ext cx="17534" cy="20000"/>
                    </a:xfrm>
                    <a:prstGeom prst="line">
                      <a:avLst/>
                    </a:prstGeom>
                    <a:noFill/>
                    <a:ln w="28575" cmpd="sng">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230419" name="Group 19"/>
                  <p:cNvGrpSpPr/>
                  <p:nvPr/>
                </p:nvGrpSpPr>
                <p:grpSpPr bwMode="auto">
                  <a:xfrm>
                    <a:off x="8681" y="10097"/>
                    <a:ext cx="819" cy="2323"/>
                    <a:chOff x="0" y="0"/>
                    <a:chExt cx="20000" cy="20000"/>
                  </a:xfrm>
                </p:grpSpPr>
                <p:sp>
                  <p:nvSpPr>
                    <p:cNvPr id="230420" name="Line 20"/>
                    <p:cNvSpPr>
                      <a:spLocks noChangeShapeType="1"/>
                    </p:cNvSpPr>
                    <p:nvPr/>
                  </p:nvSpPr>
                  <p:spPr bwMode="auto">
                    <a:xfrm>
                      <a:off x="2466" y="0"/>
                      <a:ext cx="17534" cy="20000"/>
                    </a:xfrm>
                    <a:prstGeom prst="line">
                      <a:avLst/>
                    </a:prstGeom>
                    <a:noFill/>
                    <a:ln w="28575" cmpd="sng">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0421" name="Line 21"/>
                    <p:cNvSpPr>
                      <a:spLocks noChangeShapeType="1"/>
                    </p:cNvSpPr>
                    <p:nvPr/>
                  </p:nvSpPr>
                  <p:spPr bwMode="auto">
                    <a:xfrm flipH="1">
                      <a:off x="0" y="0"/>
                      <a:ext cx="17534" cy="20000"/>
                    </a:xfrm>
                    <a:prstGeom prst="line">
                      <a:avLst/>
                    </a:prstGeom>
                    <a:noFill/>
                    <a:ln w="28575" cmpd="sng">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230422" name="Group 22"/>
                  <p:cNvGrpSpPr/>
                  <p:nvPr/>
                </p:nvGrpSpPr>
                <p:grpSpPr bwMode="auto">
                  <a:xfrm>
                    <a:off x="14133" y="10097"/>
                    <a:ext cx="819" cy="2323"/>
                    <a:chOff x="0" y="0"/>
                    <a:chExt cx="20000" cy="20000"/>
                  </a:xfrm>
                </p:grpSpPr>
                <p:sp>
                  <p:nvSpPr>
                    <p:cNvPr id="230423" name="Line 23"/>
                    <p:cNvSpPr>
                      <a:spLocks noChangeShapeType="1"/>
                    </p:cNvSpPr>
                    <p:nvPr/>
                  </p:nvSpPr>
                  <p:spPr bwMode="auto">
                    <a:xfrm>
                      <a:off x="2466" y="0"/>
                      <a:ext cx="17534" cy="20000"/>
                    </a:xfrm>
                    <a:prstGeom prst="line">
                      <a:avLst/>
                    </a:prstGeom>
                    <a:noFill/>
                    <a:ln w="28575" cmpd="sng">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0424" name="Line 24"/>
                    <p:cNvSpPr>
                      <a:spLocks noChangeShapeType="1"/>
                    </p:cNvSpPr>
                    <p:nvPr/>
                  </p:nvSpPr>
                  <p:spPr bwMode="auto">
                    <a:xfrm flipH="1">
                      <a:off x="0" y="0"/>
                      <a:ext cx="17534" cy="20000"/>
                    </a:xfrm>
                    <a:prstGeom prst="line">
                      <a:avLst/>
                    </a:prstGeom>
                    <a:noFill/>
                    <a:ln w="28575" cmpd="sng">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grpSp>
              <p:nvGrpSpPr>
                <p:cNvPr id="230425" name="Group 25"/>
                <p:cNvGrpSpPr/>
                <p:nvPr/>
              </p:nvGrpSpPr>
              <p:grpSpPr bwMode="auto">
                <a:xfrm>
                  <a:off x="7998" y="0"/>
                  <a:ext cx="4582" cy="21021"/>
                  <a:chOff x="0" y="0"/>
                  <a:chExt cx="20004" cy="20020"/>
                </a:xfrm>
              </p:grpSpPr>
              <p:sp>
                <p:nvSpPr>
                  <p:cNvPr id="230426" name="Line 26"/>
                  <p:cNvSpPr>
                    <a:spLocks noChangeShapeType="1"/>
                  </p:cNvSpPr>
                  <p:nvPr/>
                </p:nvSpPr>
                <p:spPr bwMode="auto">
                  <a:xfrm>
                    <a:off x="0" y="10000"/>
                    <a:ext cx="20004" cy="20"/>
                  </a:xfrm>
                  <a:prstGeom prst="line">
                    <a:avLst/>
                  </a:prstGeom>
                  <a:noFill/>
                  <a:ln w="28575" cmpd="sng">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0427" name="Line 27"/>
                  <p:cNvSpPr>
                    <a:spLocks noChangeShapeType="1"/>
                  </p:cNvSpPr>
                  <p:nvPr/>
                </p:nvSpPr>
                <p:spPr bwMode="auto">
                  <a:xfrm>
                    <a:off x="3545" y="8800"/>
                    <a:ext cx="3301" cy="20"/>
                  </a:xfrm>
                  <a:prstGeom prst="line">
                    <a:avLst/>
                  </a:prstGeom>
                  <a:noFill/>
                  <a:ln w="28575" cmpd="sng">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0428" name="Line 28"/>
                  <p:cNvSpPr>
                    <a:spLocks noChangeShapeType="1"/>
                  </p:cNvSpPr>
                  <p:nvPr/>
                </p:nvSpPr>
                <p:spPr bwMode="auto">
                  <a:xfrm>
                    <a:off x="3545" y="11200"/>
                    <a:ext cx="3301" cy="20"/>
                  </a:xfrm>
                  <a:prstGeom prst="line">
                    <a:avLst/>
                  </a:prstGeom>
                  <a:noFill/>
                  <a:ln w="28575" cmpd="sng">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0429" name="Line 29"/>
                  <p:cNvSpPr>
                    <a:spLocks noChangeShapeType="1"/>
                  </p:cNvSpPr>
                  <p:nvPr/>
                </p:nvSpPr>
                <p:spPr bwMode="auto">
                  <a:xfrm>
                    <a:off x="14171" y="8800"/>
                    <a:ext cx="2292" cy="20"/>
                  </a:xfrm>
                  <a:prstGeom prst="line">
                    <a:avLst/>
                  </a:prstGeom>
                  <a:noFill/>
                  <a:ln w="28575" cmpd="sng">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0430" name="Line 30"/>
                  <p:cNvSpPr>
                    <a:spLocks noChangeShapeType="1"/>
                  </p:cNvSpPr>
                  <p:nvPr/>
                </p:nvSpPr>
                <p:spPr bwMode="auto">
                  <a:xfrm>
                    <a:off x="14171" y="11200"/>
                    <a:ext cx="2292" cy="20"/>
                  </a:xfrm>
                  <a:prstGeom prst="line">
                    <a:avLst/>
                  </a:prstGeom>
                  <a:noFill/>
                  <a:ln w="28575" cmpd="sng">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0431" name="Line 31"/>
                  <p:cNvSpPr>
                    <a:spLocks noChangeShapeType="1"/>
                  </p:cNvSpPr>
                  <p:nvPr/>
                </p:nvSpPr>
                <p:spPr bwMode="auto">
                  <a:xfrm flipV="1">
                    <a:off x="4305" y="0"/>
                    <a:ext cx="13" cy="8820"/>
                  </a:xfrm>
                  <a:prstGeom prst="line">
                    <a:avLst/>
                  </a:prstGeom>
                  <a:noFill/>
                  <a:ln w="28575" cmpd="sng">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0432" name="Line 32"/>
                  <p:cNvSpPr>
                    <a:spLocks noChangeShapeType="1"/>
                  </p:cNvSpPr>
                  <p:nvPr/>
                </p:nvSpPr>
                <p:spPr bwMode="auto">
                  <a:xfrm flipV="1">
                    <a:off x="4305" y="11200"/>
                    <a:ext cx="13" cy="8820"/>
                  </a:xfrm>
                  <a:prstGeom prst="line">
                    <a:avLst/>
                  </a:prstGeom>
                  <a:noFill/>
                  <a:ln w="28575" cmpd="sng">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0433" name="Line 33"/>
                  <p:cNvSpPr>
                    <a:spLocks noChangeShapeType="1"/>
                  </p:cNvSpPr>
                  <p:nvPr/>
                </p:nvSpPr>
                <p:spPr bwMode="auto">
                  <a:xfrm>
                    <a:off x="3292" y="20000"/>
                    <a:ext cx="2287" cy="20"/>
                  </a:xfrm>
                  <a:prstGeom prst="line">
                    <a:avLst/>
                  </a:prstGeom>
                  <a:noFill/>
                  <a:ln w="28575" cmpd="sng">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0434" name="Line 34"/>
                  <p:cNvSpPr>
                    <a:spLocks noChangeShapeType="1"/>
                  </p:cNvSpPr>
                  <p:nvPr/>
                </p:nvSpPr>
                <p:spPr bwMode="auto">
                  <a:xfrm>
                    <a:off x="3292" y="0"/>
                    <a:ext cx="2287" cy="20"/>
                  </a:xfrm>
                  <a:prstGeom prst="line">
                    <a:avLst/>
                  </a:prstGeom>
                  <a:noFill/>
                  <a:ln w="28575" cmpd="sng">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0435" name="Line 35"/>
                  <p:cNvSpPr>
                    <a:spLocks noChangeShapeType="1"/>
                  </p:cNvSpPr>
                  <p:nvPr/>
                </p:nvSpPr>
                <p:spPr bwMode="auto">
                  <a:xfrm flipV="1">
                    <a:off x="5820" y="2400"/>
                    <a:ext cx="13" cy="6420"/>
                  </a:xfrm>
                  <a:prstGeom prst="line">
                    <a:avLst/>
                  </a:prstGeom>
                  <a:noFill/>
                  <a:ln w="28575" cmpd="sng">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0436" name="Line 36"/>
                  <p:cNvSpPr>
                    <a:spLocks noChangeShapeType="1"/>
                  </p:cNvSpPr>
                  <p:nvPr/>
                </p:nvSpPr>
                <p:spPr bwMode="auto">
                  <a:xfrm flipV="1">
                    <a:off x="5820" y="11200"/>
                    <a:ext cx="13" cy="6420"/>
                  </a:xfrm>
                  <a:prstGeom prst="line">
                    <a:avLst/>
                  </a:prstGeom>
                  <a:noFill/>
                  <a:ln w="28575" cmpd="sng">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0437" name="Freeform 37"/>
                  <p:cNvSpPr/>
                  <p:nvPr/>
                </p:nvSpPr>
                <p:spPr bwMode="auto">
                  <a:xfrm>
                    <a:off x="5820" y="5600"/>
                    <a:ext cx="9377" cy="3220"/>
                  </a:xfrm>
                  <a:custGeom>
                    <a:avLst/>
                    <a:gdLst>
                      <a:gd name="T0" fmla="*/ 0 w 20000"/>
                      <a:gd name="T1" fmla="*/ 0 h 20000"/>
                      <a:gd name="T2" fmla="*/ 19973 w 20000"/>
                      <a:gd name="T3" fmla="*/ 0 h 20000"/>
                      <a:gd name="T4" fmla="*/ 19973 w 20000"/>
                      <a:gd name="T5" fmla="*/ 19876 h 20000"/>
                    </a:gdLst>
                    <a:ahLst/>
                    <a:cxnLst>
                      <a:cxn ang="0">
                        <a:pos x="T0" y="T1"/>
                      </a:cxn>
                      <a:cxn ang="0">
                        <a:pos x="T2" y="T3"/>
                      </a:cxn>
                      <a:cxn ang="0">
                        <a:pos x="T4" y="T5"/>
                      </a:cxn>
                    </a:cxnLst>
                    <a:rect l="0" t="0" r="r" b="b"/>
                    <a:pathLst>
                      <a:path w="20000" h="20000">
                        <a:moveTo>
                          <a:pt x="0" y="0"/>
                        </a:moveTo>
                        <a:lnTo>
                          <a:pt x="19973" y="0"/>
                        </a:lnTo>
                        <a:lnTo>
                          <a:pt x="19973" y="19876"/>
                        </a:lnTo>
                      </a:path>
                    </a:pathLst>
                  </a:custGeom>
                  <a:noFill/>
                  <a:ln w="28575" cap="flat" cmpd="sng">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0438" name="Freeform 38"/>
                  <p:cNvSpPr/>
                  <p:nvPr/>
                </p:nvSpPr>
                <p:spPr bwMode="auto">
                  <a:xfrm>
                    <a:off x="5820" y="11200"/>
                    <a:ext cx="9377" cy="3220"/>
                  </a:xfrm>
                  <a:custGeom>
                    <a:avLst/>
                    <a:gdLst>
                      <a:gd name="T0" fmla="*/ 0 w 20000"/>
                      <a:gd name="T1" fmla="*/ 19876 h 20000"/>
                      <a:gd name="T2" fmla="*/ 19973 w 20000"/>
                      <a:gd name="T3" fmla="*/ 19876 h 20000"/>
                      <a:gd name="T4" fmla="*/ 19973 w 20000"/>
                      <a:gd name="T5" fmla="*/ 0 h 20000"/>
                    </a:gdLst>
                    <a:ahLst/>
                    <a:cxnLst>
                      <a:cxn ang="0">
                        <a:pos x="T0" y="T1"/>
                      </a:cxn>
                      <a:cxn ang="0">
                        <a:pos x="T2" y="T3"/>
                      </a:cxn>
                      <a:cxn ang="0">
                        <a:pos x="T4" y="T5"/>
                      </a:cxn>
                    </a:cxnLst>
                    <a:rect l="0" t="0" r="r" b="b"/>
                    <a:pathLst>
                      <a:path w="20000" h="20000">
                        <a:moveTo>
                          <a:pt x="0" y="19876"/>
                        </a:moveTo>
                        <a:lnTo>
                          <a:pt x="19973" y="19876"/>
                        </a:lnTo>
                        <a:lnTo>
                          <a:pt x="19973" y="0"/>
                        </a:lnTo>
                      </a:path>
                    </a:pathLst>
                  </a:custGeom>
                  <a:noFill/>
                  <a:ln w="28575" cap="flat" cmpd="sng">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0439" name="Line 39"/>
                  <p:cNvSpPr>
                    <a:spLocks noChangeShapeType="1"/>
                  </p:cNvSpPr>
                  <p:nvPr/>
                </p:nvSpPr>
                <p:spPr bwMode="auto">
                  <a:xfrm>
                    <a:off x="2785" y="4000"/>
                    <a:ext cx="4567" cy="20"/>
                  </a:xfrm>
                  <a:prstGeom prst="line">
                    <a:avLst/>
                  </a:prstGeom>
                  <a:noFill/>
                  <a:ln w="28575" cmpd="sng">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0440" name="Line 40"/>
                  <p:cNvSpPr>
                    <a:spLocks noChangeShapeType="1"/>
                  </p:cNvSpPr>
                  <p:nvPr/>
                </p:nvSpPr>
                <p:spPr bwMode="auto">
                  <a:xfrm>
                    <a:off x="2785" y="16000"/>
                    <a:ext cx="4567" cy="20"/>
                  </a:xfrm>
                  <a:prstGeom prst="line">
                    <a:avLst/>
                  </a:prstGeom>
                  <a:noFill/>
                  <a:ln w="28575" cmpd="sng">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nvGrpSpPr>
                  <p:cNvPr id="230441" name="Group 41"/>
                  <p:cNvGrpSpPr/>
                  <p:nvPr/>
                </p:nvGrpSpPr>
                <p:grpSpPr bwMode="auto">
                  <a:xfrm>
                    <a:off x="18218" y="9200"/>
                    <a:ext cx="1026" cy="2020"/>
                    <a:chOff x="0" y="0"/>
                    <a:chExt cx="20000" cy="20000"/>
                  </a:xfrm>
                </p:grpSpPr>
                <p:sp>
                  <p:nvSpPr>
                    <p:cNvPr id="230442" name="Line 42"/>
                    <p:cNvSpPr>
                      <a:spLocks noChangeShapeType="1"/>
                    </p:cNvSpPr>
                    <p:nvPr/>
                  </p:nvSpPr>
                  <p:spPr bwMode="auto">
                    <a:xfrm>
                      <a:off x="2476" y="0"/>
                      <a:ext cx="17524" cy="20000"/>
                    </a:xfrm>
                    <a:prstGeom prst="line">
                      <a:avLst/>
                    </a:prstGeom>
                    <a:noFill/>
                    <a:ln w="28575" cmpd="sng">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0443" name="Line 43"/>
                    <p:cNvSpPr>
                      <a:spLocks noChangeShapeType="1"/>
                    </p:cNvSpPr>
                    <p:nvPr/>
                  </p:nvSpPr>
                  <p:spPr bwMode="auto">
                    <a:xfrm flipH="1">
                      <a:off x="0" y="0"/>
                      <a:ext cx="17544" cy="20000"/>
                    </a:xfrm>
                    <a:prstGeom prst="line">
                      <a:avLst/>
                    </a:prstGeom>
                    <a:noFill/>
                    <a:ln w="28575" cmpd="sng">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230444" name="Group 44"/>
                  <p:cNvGrpSpPr/>
                  <p:nvPr/>
                </p:nvGrpSpPr>
                <p:grpSpPr bwMode="auto">
                  <a:xfrm>
                    <a:off x="253" y="9200"/>
                    <a:ext cx="1026" cy="2020"/>
                    <a:chOff x="0" y="0"/>
                    <a:chExt cx="20000" cy="20000"/>
                  </a:xfrm>
                </p:grpSpPr>
                <p:sp>
                  <p:nvSpPr>
                    <p:cNvPr id="230445" name="Line 45"/>
                    <p:cNvSpPr>
                      <a:spLocks noChangeShapeType="1"/>
                    </p:cNvSpPr>
                    <p:nvPr/>
                  </p:nvSpPr>
                  <p:spPr bwMode="auto">
                    <a:xfrm>
                      <a:off x="2476" y="0"/>
                      <a:ext cx="17524" cy="20000"/>
                    </a:xfrm>
                    <a:prstGeom prst="line">
                      <a:avLst/>
                    </a:prstGeom>
                    <a:noFill/>
                    <a:ln w="28575" cmpd="sng">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0446" name="Line 46"/>
                    <p:cNvSpPr>
                      <a:spLocks noChangeShapeType="1"/>
                    </p:cNvSpPr>
                    <p:nvPr/>
                  </p:nvSpPr>
                  <p:spPr bwMode="auto">
                    <a:xfrm flipH="1">
                      <a:off x="0" y="0"/>
                      <a:ext cx="17544" cy="20000"/>
                    </a:xfrm>
                    <a:prstGeom prst="line">
                      <a:avLst/>
                    </a:prstGeom>
                    <a:noFill/>
                    <a:ln w="28575" cmpd="sng">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grpSp>
              <p:nvGrpSpPr>
                <p:cNvPr id="230447" name="Group 47"/>
                <p:cNvGrpSpPr/>
                <p:nvPr/>
              </p:nvGrpSpPr>
              <p:grpSpPr bwMode="auto">
                <a:xfrm>
                  <a:off x="13968" y="21"/>
                  <a:ext cx="6031" cy="21021"/>
                  <a:chOff x="0" y="0"/>
                  <a:chExt cx="19993" cy="20002"/>
                </a:xfrm>
              </p:grpSpPr>
              <p:sp>
                <p:nvSpPr>
                  <p:cNvPr id="230448" name="Freeform 48"/>
                  <p:cNvSpPr/>
                  <p:nvPr/>
                </p:nvSpPr>
                <p:spPr bwMode="auto">
                  <a:xfrm>
                    <a:off x="16718" y="11570"/>
                    <a:ext cx="2314" cy="3217"/>
                  </a:xfrm>
                  <a:custGeom>
                    <a:avLst/>
                    <a:gdLst>
                      <a:gd name="T0" fmla="*/ 0 w 20000"/>
                      <a:gd name="T1" fmla="*/ 19876 h 20000"/>
                      <a:gd name="T2" fmla="*/ 0 w 20000"/>
                      <a:gd name="T3" fmla="*/ 0 h 20000"/>
                      <a:gd name="T4" fmla="*/ 19917 w 20000"/>
                      <a:gd name="T5" fmla="*/ 0 h 20000"/>
                      <a:gd name="T6" fmla="*/ 19917 w 20000"/>
                      <a:gd name="T7" fmla="*/ 19876 h 20000"/>
                      <a:gd name="T8" fmla="*/ 18257 w 20000"/>
                      <a:gd name="T9" fmla="*/ 19876 h 20000"/>
                      <a:gd name="T10" fmla="*/ 19917 w 20000"/>
                      <a:gd name="T11" fmla="*/ 19876 h 20000"/>
                    </a:gdLst>
                    <a:ahLst/>
                    <a:cxnLst>
                      <a:cxn ang="0">
                        <a:pos x="T0" y="T1"/>
                      </a:cxn>
                      <a:cxn ang="0">
                        <a:pos x="T2" y="T3"/>
                      </a:cxn>
                      <a:cxn ang="0">
                        <a:pos x="T4" y="T5"/>
                      </a:cxn>
                      <a:cxn ang="0">
                        <a:pos x="T6" y="T7"/>
                      </a:cxn>
                      <a:cxn ang="0">
                        <a:pos x="T8" y="T9"/>
                      </a:cxn>
                      <a:cxn ang="0">
                        <a:pos x="T10" y="T11"/>
                      </a:cxn>
                    </a:cxnLst>
                    <a:rect l="0" t="0" r="r" b="b"/>
                    <a:pathLst>
                      <a:path w="20000" h="20000">
                        <a:moveTo>
                          <a:pt x="0" y="19876"/>
                        </a:moveTo>
                        <a:lnTo>
                          <a:pt x="0" y="0"/>
                        </a:lnTo>
                        <a:lnTo>
                          <a:pt x="19917" y="0"/>
                        </a:lnTo>
                        <a:lnTo>
                          <a:pt x="19917" y="19876"/>
                        </a:lnTo>
                        <a:lnTo>
                          <a:pt x="18257" y="19876"/>
                        </a:lnTo>
                        <a:lnTo>
                          <a:pt x="19917" y="19876"/>
                        </a:lnTo>
                      </a:path>
                    </a:pathLst>
                  </a:custGeom>
                  <a:noFill/>
                  <a:ln w="28575" cap="flat" cmpd="sng">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0449" name="Freeform 49"/>
                  <p:cNvSpPr/>
                  <p:nvPr/>
                </p:nvSpPr>
                <p:spPr bwMode="auto">
                  <a:xfrm>
                    <a:off x="1153" y="11570"/>
                    <a:ext cx="2314" cy="3217"/>
                  </a:xfrm>
                  <a:custGeom>
                    <a:avLst/>
                    <a:gdLst>
                      <a:gd name="T0" fmla="*/ 0 w 20000"/>
                      <a:gd name="T1" fmla="*/ 19876 h 20000"/>
                      <a:gd name="T2" fmla="*/ 0 w 20000"/>
                      <a:gd name="T3" fmla="*/ 0 h 20000"/>
                      <a:gd name="T4" fmla="*/ 19917 w 20000"/>
                      <a:gd name="T5" fmla="*/ 0 h 20000"/>
                      <a:gd name="T6" fmla="*/ 19917 w 20000"/>
                      <a:gd name="T7" fmla="*/ 19876 h 20000"/>
                      <a:gd name="T8" fmla="*/ 18257 w 20000"/>
                      <a:gd name="T9" fmla="*/ 19876 h 20000"/>
                      <a:gd name="T10" fmla="*/ 19917 w 20000"/>
                      <a:gd name="T11" fmla="*/ 19876 h 20000"/>
                    </a:gdLst>
                    <a:ahLst/>
                    <a:cxnLst>
                      <a:cxn ang="0">
                        <a:pos x="T0" y="T1"/>
                      </a:cxn>
                      <a:cxn ang="0">
                        <a:pos x="T2" y="T3"/>
                      </a:cxn>
                      <a:cxn ang="0">
                        <a:pos x="T4" y="T5"/>
                      </a:cxn>
                      <a:cxn ang="0">
                        <a:pos x="T6" y="T7"/>
                      </a:cxn>
                      <a:cxn ang="0">
                        <a:pos x="T8" y="T9"/>
                      </a:cxn>
                      <a:cxn ang="0">
                        <a:pos x="T10" y="T11"/>
                      </a:cxn>
                    </a:cxnLst>
                    <a:rect l="0" t="0" r="r" b="b"/>
                    <a:pathLst>
                      <a:path w="20000" h="20000">
                        <a:moveTo>
                          <a:pt x="0" y="19876"/>
                        </a:moveTo>
                        <a:lnTo>
                          <a:pt x="0" y="0"/>
                        </a:lnTo>
                        <a:lnTo>
                          <a:pt x="19917" y="0"/>
                        </a:lnTo>
                        <a:lnTo>
                          <a:pt x="19917" y="19876"/>
                        </a:lnTo>
                        <a:lnTo>
                          <a:pt x="18257" y="19876"/>
                        </a:lnTo>
                        <a:lnTo>
                          <a:pt x="19917" y="19876"/>
                        </a:lnTo>
                      </a:path>
                    </a:pathLst>
                  </a:custGeom>
                  <a:noFill/>
                  <a:ln w="28575" cap="flat" cmpd="sng">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0450" name="Freeform 50"/>
                  <p:cNvSpPr/>
                  <p:nvPr/>
                </p:nvSpPr>
                <p:spPr bwMode="auto">
                  <a:xfrm>
                    <a:off x="16526" y="5995"/>
                    <a:ext cx="2314" cy="3217"/>
                  </a:xfrm>
                  <a:custGeom>
                    <a:avLst/>
                    <a:gdLst>
                      <a:gd name="T0" fmla="*/ 0 w 20000"/>
                      <a:gd name="T1" fmla="*/ 0 h 20000"/>
                      <a:gd name="T2" fmla="*/ 0 w 20000"/>
                      <a:gd name="T3" fmla="*/ 19876 h 20000"/>
                      <a:gd name="T4" fmla="*/ 19917 w 20000"/>
                      <a:gd name="T5" fmla="*/ 19876 h 20000"/>
                      <a:gd name="T6" fmla="*/ 19917 w 20000"/>
                      <a:gd name="T7" fmla="*/ 0 h 20000"/>
                      <a:gd name="T8" fmla="*/ 18257 w 20000"/>
                      <a:gd name="T9" fmla="*/ 0 h 20000"/>
                      <a:gd name="T10" fmla="*/ 19917 w 20000"/>
                      <a:gd name="T11" fmla="*/ 0 h 20000"/>
                    </a:gdLst>
                    <a:ahLst/>
                    <a:cxnLst>
                      <a:cxn ang="0">
                        <a:pos x="T0" y="T1"/>
                      </a:cxn>
                      <a:cxn ang="0">
                        <a:pos x="T2" y="T3"/>
                      </a:cxn>
                      <a:cxn ang="0">
                        <a:pos x="T4" y="T5"/>
                      </a:cxn>
                      <a:cxn ang="0">
                        <a:pos x="T6" y="T7"/>
                      </a:cxn>
                      <a:cxn ang="0">
                        <a:pos x="T8" y="T9"/>
                      </a:cxn>
                      <a:cxn ang="0">
                        <a:pos x="T10" y="T11"/>
                      </a:cxn>
                    </a:cxnLst>
                    <a:rect l="0" t="0" r="r" b="b"/>
                    <a:pathLst>
                      <a:path w="20000" h="20000">
                        <a:moveTo>
                          <a:pt x="0" y="0"/>
                        </a:moveTo>
                        <a:lnTo>
                          <a:pt x="0" y="19876"/>
                        </a:lnTo>
                        <a:lnTo>
                          <a:pt x="19917" y="19876"/>
                        </a:lnTo>
                        <a:lnTo>
                          <a:pt x="19917" y="0"/>
                        </a:lnTo>
                        <a:lnTo>
                          <a:pt x="18257" y="0"/>
                        </a:lnTo>
                        <a:lnTo>
                          <a:pt x="19917" y="0"/>
                        </a:lnTo>
                      </a:path>
                    </a:pathLst>
                  </a:custGeom>
                  <a:noFill/>
                  <a:ln w="28575" cap="flat" cmpd="sng">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0451" name="Freeform 51"/>
                  <p:cNvSpPr/>
                  <p:nvPr/>
                </p:nvSpPr>
                <p:spPr bwMode="auto">
                  <a:xfrm>
                    <a:off x="961" y="5995"/>
                    <a:ext cx="2314" cy="3217"/>
                  </a:xfrm>
                  <a:custGeom>
                    <a:avLst/>
                    <a:gdLst>
                      <a:gd name="T0" fmla="*/ 0 w 20000"/>
                      <a:gd name="T1" fmla="*/ 0 h 20000"/>
                      <a:gd name="T2" fmla="*/ 0 w 20000"/>
                      <a:gd name="T3" fmla="*/ 19876 h 20000"/>
                      <a:gd name="T4" fmla="*/ 19917 w 20000"/>
                      <a:gd name="T5" fmla="*/ 19876 h 20000"/>
                      <a:gd name="T6" fmla="*/ 19917 w 20000"/>
                      <a:gd name="T7" fmla="*/ 0 h 20000"/>
                      <a:gd name="T8" fmla="*/ 18257 w 20000"/>
                      <a:gd name="T9" fmla="*/ 0 h 20000"/>
                      <a:gd name="T10" fmla="*/ 19917 w 20000"/>
                      <a:gd name="T11" fmla="*/ 0 h 20000"/>
                    </a:gdLst>
                    <a:ahLst/>
                    <a:cxnLst>
                      <a:cxn ang="0">
                        <a:pos x="T0" y="T1"/>
                      </a:cxn>
                      <a:cxn ang="0">
                        <a:pos x="T2" y="T3"/>
                      </a:cxn>
                      <a:cxn ang="0">
                        <a:pos x="T4" y="T5"/>
                      </a:cxn>
                      <a:cxn ang="0">
                        <a:pos x="T6" y="T7"/>
                      </a:cxn>
                      <a:cxn ang="0">
                        <a:pos x="T8" y="T9"/>
                      </a:cxn>
                      <a:cxn ang="0">
                        <a:pos x="T10" y="T11"/>
                      </a:cxn>
                    </a:cxnLst>
                    <a:rect l="0" t="0" r="r" b="b"/>
                    <a:pathLst>
                      <a:path w="20000" h="20000">
                        <a:moveTo>
                          <a:pt x="0" y="0"/>
                        </a:moveTo>
                        <a:lnTo>
                          <a:pt x="0" y="19876"/>
                        </a:lnTo>
                        <a:lnTo>
                          <a:pt x="19917" y="19876"/>
                        </a:lnTo>
                        <a:lnTo>
                          <a:pt x="19917" y="0"/>
                        </a:lnTo>
                        <a:lnTo>
                          <a:pt x="18257" y="0"/>
                        </a:lnTo>
                        <a:lnTo>
                          <a:pt x="19917" y="0"/>
                        </a:lnTo>
                      </a:path>
                    </a:pathLst>
                  </a:custGeom>
                  <a:noFill/>
                  <a:ln w="28575" cap="flat" cmpd="sng">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0452" name="Line 52"/>
                  <p:cNvSpPr>
                    <a:spLocks noChangeShapeType="1"/>
                  </p:cNvSpPr>
                  <p:nvPr/>
                </p:nvSpPr>
                <p:spPr bwMode="auto">
                  <a:xfrm>
                    <a:off x="0" y="9971"/>
                    <a:ext cx="19993" cy="20"/>
                  </a:xfrm>
                  <a:prstGeom prst="line">
                    <a:avLst/>
                  </a:prstGeom>
                  <a:noFill/>
                  <a:ln w="28575" cmpd="sng">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0453" name="Line 53"/>
                  <p:cNvSpPr>
                    <a:spLocks noChangeShapeType="1"/>
                  </p:cNvSpPr>
                  <p:nvPr/>
                </p:nvSpPr>
                <p:spPr bwMode="auto">
                  <a:xfrm flipV="1">
                    <a:off x="6342" y="0"/>
                    <a:ext cx="10" cy="14407"/>
                  </a:xfrm>
                  <a:prstGeom prst="line">
                    <a:avLst/>
                  </a:prstGeom>
                  <a:noFill/>
                  <a:ln w="28575" cmpd="sng">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0454" name="Line 54"/>
                  <p:cNvSpPr>
                    <a:spLocks noChangeShapeType="1"/>
                  </p:cNvSpPr>
                  <p:nvPr/>
                </p:nvSpPr>
                <p:spPr bwMode="auto">
                  <a:xfrm flipV="1">
                    <a:off x="6342" y="11190"/>
                    <a:ext cx="10" cy="8812"/>
                  </a:xfrm>
                  <a:prstGeom prst="line">
                    <a:avLst/>
                  </a:prstGeom>
                  <a:noFill/>
                  <a:ln w="28575" cmpd="sng">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0455" name="Line 55"/>
                  <p:cNvSpPr>
                    <a:spLocks noChangeShapeType="1"/>
                  </p:cNvSpPr>
                  <p:nvPr/>
                </p:nvSpPr>
                <p:spPr bwMode="auto">
                  <a:xfrm>
                    <a:off x="5573" y="19982"/>
                    <a:ext cx="1740" cy="20"/>
                  </a:xfrm>
                  <a:prstGeom prst="line">
                    <a:avLst/>
                  </a:prstGeom>
                  <a:noFill/>
                  <a:ln w="28575" cmpd="sng">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0456" name="Line 56"/>
                  <p:cNvSpPr>
                    <a:spLocks noChangeShapeType="1"/>
                  </p:cNvSpPr>
                  <p:nvPr/>
                </p:nvSpPr>
                <p:spPr bwMode="auto">
                  <a:xfrm>
                    <a:off x="5573" y="0"/>
                    <a:ext cx="1740" cy="20"/>
                  </a:xfrm>
                  <a:prstGeom prst="line">
                    <a:avLst/>
                  </a:prstGeom>
                  <a:noFill/>
                  <a:ln w="28575" cmpd="sng">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0457" name="Line 57"/>
                  <p:cNvSpPr>
                    <a:spLocks noChangeShapeType="1"/>
                  </p:cNvSpPr>
                  <p:nvPr/>
                </p:nvSpPr>
                <p:spPr bwMode="auto">
                  <a:xfrm flipV="1">
                    <a:off x="7495" y="2398"/>
                    <a:ext cx="10" cy="11210"/>
                  </a:xfrm>
                  <a:prstGeom prst="line">
                    <a:avLst/>
                  </a:prstGeom>
                  <a:noFill/>
                  <a:ln w="28575" cmpd="sng">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0458" name="Line 58"/>
                  <p:cNvSpPr>
                    <a:spLocks noChangeShapeType="1"/>
                  </p:cNvSpPr>
                  <p:nvPr/>
                </p:nvSpPr>
                <p:spPr bwMode="auto">
                  <a:xfrm flipV="1">
                    <a:off x="7495" y="11190"/>
                    <a:ext cx="10" cy="6414"/>
                  </a:xfrm>
                  <a:prstGeom prst="line">
                    <a:avLst/>
                  </a:prstGeom>
                  <a:noFill/>
                  <a:ln w="28575" cmpd="sng">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0459" name="Freeform 59"/>
                  <p:cNvSpPr/>
                  <p:nvPr/>
                </p:nvSpPr>
                <p:spPr bwMode="auto">
                  <a:xfrm>
                    <a:off x="7495" y="5595"/>
                    <a:ext cx="7118" cy="3217"/>
                  </a:xfrm>
                  <a:custGeom>
                    <a:avLst/>
                    <a:gdLst>
                      <a:gd name="T0" fmla="*/ 0 w 20000"/>
                      <a:gd name="T1" fmla="*/ 0 h 20000"/>
                      <a:gd name="T2" fmla="*/ 19973 w 20000"/>
                      <a:gd name="T3" fmla="*/ 0 h 20000"/>
                      <a:gd name="T4" fmla="*/ 19973 w 20000"/>
                      <a:gd name="T5" fmla="*/ 19876 h 20000"/>
                    </a:gdLst>
                    <a:ahLst/>
                    <a:cxnLst>
                      <a:cxn ang="0">
                        <a:pos x="T0" y="T1"/>
                      </a:cxn>
                      <a:cxn ang="0">
                        <a:pos x="T2" y="T3"/>
                      </a:cxn>
                      <a:cxn ang="0">
                        <a:pos x="T4" y="T5"/>
                      </a:cxn>
                    </a:cxnLst>
                    <a:rect l="0" t="0" r="r" b="b"/>
                    <a:pathLst>
                      <a:path w="20000" h="20000">
                        <a:moveTo>
                          <a:pt x="0" y="0"/>
                        </a:moveTo>
                        <a:lnTo>
                          <a:pt x="19973" y="0"/>
                        </a:lnTo>
                        <a:lnTo>
                          <a:pt x="19973" y="19876"/>
                        </a:lnTo>
                      </a:path>
                    </a:pathLst>
                  </a:custGeom>
                  <a:noFill/>
                  <a:ln w="28575" cap="flat" cmpd="sng">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0460" name="Freeform 60"/>
                  <p:cNvSpPr/>
                  <p:nvPr/>
                </p:nvSpPr>
                <p:spPr bwMode="auto">
                  <a:xfrm>
                    <a:off x="7495" y="11190"/>
                    <a:ext cx="7118" cy="3217"/>
                  </a:xfrm>
                  <a:custGeom>
                    <a:avLst/>
                    <a:gdLst>
                      <a:gd name="T0" fmla="*/ 0 w 20000"/>
                      <a:gd name="T1" fmla="*/ 19876 h 20000"/>
                      <a:gd name="T2" fmla="*/ 19973 w 20000"/>
                      <a:gd name="T3" fmla="*/ 19876 h 20000"/>
                      <a:gd name="T4" fmla="*/ 19973 w 20000"/>
                      <a:gd name="T5" fmla="*/ 0 h 20000"/>
                    </a:gdLst>
                    <a:ahLst/>
                    <a:cxnLst>
                      <a:cxn ang="0">
                        <a:pos x="T0" y="T1"/>
                      </a:cxn>
                      <a:cxn ang="0">
                        <a:pos x="T2" y="T3"/>
                      </a:cxn>
                      <a:cxn ang="0">
                        <a:pos x="T4" y="T5"/>
                      </a:cxn>
                    </a:cxnLst>
                    <a:rect l="0" t="0" r="r" b="b"/>
                    <a:pathLst>
                      <a:path w="20000" h="20000">
                        <a:moveTo>
                          <a:pt x="0" y="19876"/>
                        </a:moveTo>
                        <a:lnTo>
                          <a:pt x="19973" y="19876"/>
                        </a:lnTo>
                        <a:lnTo>
                          <a:pt x="19973" y="0"/>
                        </a:lnTo>
                      </a:path>
                    </a:pathLst>
                  </a:custGeom>
                  <a:noFill/>
                  <a:ln w="28575" cap="flat" cmpd="sng">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0461" name="Line 61"/>
                  <p:cNvSpPr>
                    <a:spLocks noChangeShapeType="1"/>
                  </p:cNvSpPr>
                  <p:nvPr/>
                </p:nvSpPr>
                <p:spPr bwMode="auto">
                  <a:xfrm>
                    <a:off x="5188" y="3996"/>
                    <a:ext cx="3468" cy="20"/>
                  </a:xfrm>
                  <a:prstGeom prst="line">
                    <a:avLst/>
                  </a:prstGeom>
                  <a:noFill/>
                  <a:ln w="28575" cmpd="sng">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0462" name="Line 62"/>
                  <p:cNvSpPr>
                    <a:spLocks noChangeShapeType="1"/>
                  </p:cNvSpPr>
                  <p:nvPr/>
                </p:nvSpPr>
                <p:spPr bwMode="auto">
                  <a:xfrm>
                    <a:off x="5188" y="15986"/>
                    <a:ext cx="3468" cy="20"/>
                  </a:xfrm>
                  <a:prstGeom prst="line">
                    <a:avLst/>
                  </a:prstGeom>
                  <a:noFill/>
                  <a:ln w="28575" cmpd="sng">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nvGrpSpPr>
                  <p:cNvPr id="230463" name="Group 63"/>
                  <p:cNvGrpSpPr/>
                  <p:nvPr/>
                </p:nvGrpSpPr>
                <p:grpSpPr bwMode="auto">
                  <a:xfrm>
                    <a:off x="14218" y="9571"/>
                    <a:ext cx="779" cy="2019"/>
                    <a:chOff x="0" y="0"/>
                    <a:chExt cx="20000" cy="20000"/>
                  </a:xfrm>
                </p:grpSpPr>
                <p:sp>
                  <p:nvSpPr>
                    <p:cNvPr id="230464" name="Line 64"/>
                    <p:cNvSpPr>
                      <a:spLocks noChangeShapeType="1"/>
                    </p:cNvSpPr>
                    <p:nvPr/>
                  </p:nvSpPr>
                  <p:spPr bwMode="auto">
                    <a:xfrm>
                      <a:off x="2465" y="0"/>
                      <a:ext cx="17535" cy="20000"/>
                    </a:xfrm>
                    <a:prstGeom prst="line">
                      <a:avLst/>
                    </a:prstGeom>
                    <a:noFill/>
                    <a:ln w="28575" cmpd="sng">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0465" name="Line 65"/>
                    <p:cNvSpPr>
                      <a:spLocks noChangeShapeType="1"/>
                    </p:cNvSpPr>
                    <p:nvPr/>
                  </p:nvSpPr>
                  <p:spPr bwMode="auto">
                    <a:xfrm flipH="1">
                      <a:off x="0" y="0"/>
                      <a:ext cx="17535" cy="20000"/>
                    </a:xfrm>
                    <a:prstGeom prst="line">
                      <a:avLst/>
                    </a:prstGeom>
                    <a:noFill/>
                    <a:ln w="28575" cmpd="sng">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230466" name="Group 66"/>
                  <p:cNvGrpSpPr/>
                  <p:nvPr/>
                </p:nvGrpSpPr>
                <p:grpSpPr bwMode="auto">
                  <a:xfrm>
                    <a:off x="5957" y="9172"/>
                    <a:ext cx="779" cy="2018"/>
                    <a:chOff x="0" y="0"/>
                    <a:chExt cx="20000" cy="20000"/>
                  </a:xfrm>
                </p:grpSpPr>
                <p:sp>
                  <p:nvSpPr>
                    <p:cNvPr id="230467" name="Line 67"/>
                    <p:cNvSpPr>
                      <a:spLocks noChangeShapeType="1"/>
                    </p:cNvSpPr>
                    <p:nvPr/>
                  </p:nvSpPr>
                  <p:spPr bwMode="auto">
                    <a:xfrm>
                      <a:off x="2465" y="0"/>
                      <a:ext cx="17535" cy="20000"/>
                    </a:xfrm>
                    <a:prstGeom prst="line">
                      <a:avLst/>
                    </a:prstGeom>
                    <a:noFill/>
                    <a:ln w="28575" cmpd="sng">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0468" name="Line 68"/>
                    <p:cNvSpPr>
                      <a:spLocks noChangeShapeType="1"/>
                    </p:cNvSpPr>
                    <p:nvPr/>
                  </p:nvSpPr>
                  <p:spPr bwMode="auto">
                    <a:xfrm flipH="1">
                      <a:off x="0" y="0"/>
                      <a:ext cx="17535" cy="20000"/>
                    </a:xfrm>
                    <a:prstGeom prst="line">
                      <a:avLst/>
                    </a:prstGeom>
                    <a:noFill/>
                    <a:ln w="28575" cmpd="sng">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230469" name="Line 69"/>
                  <p:cNvSpPr>
                    <a:spLocks noChangeShapeType="1"/>
                  </p:cNvSpPr>
                  <p:nvPr/>
                </p:nvSpPr>
                <p:spPr bwMode="auto">
                  <a:xfrm>
                    <a:off x="14603" y="7573"/>
                    <a:ext cx="10" cy="5215"/>
                  </a:xfrm>
                  <a:prstGeom prst="line">
                    <a:avLst/>
                  </a:prstGeom>
                  <a:noFill/>
                  <a:ln w="28575" cmpd="sng">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sp>
            <p:nvSpPr>
              <p:cNvPr id="230470" name="Rectangle 70"/>
              <p:cNvSpPr>
                <a:spLocks noChangeArrowheads="1"/>
              </p:cNvSpPr>
              <p:nvPr/>
            </p:nvSpPr>
            <p:spPr bwMode="auto">
              <a:xfrm>
                <a:off x="2550" y="2700"/>
                <a:ext cx="525" cy="5415"/>
              </a:xfrm>
              <a:prstGeom prst="rect">
                <a:avLst/>
              </a:prstGeom>
              <a:noFill/>
              <a:ln w="9525">
                <a:no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r>
                  <a:rPr lang="en-US" sz="1600" dirty="0"/>
                  <a:t>1</a:t>
                </a:r>
                <a:endParaRPr lang="en-US" sz="1600" dirty="0"/>
              </a:p>
            </p:txBody>
          </p:sp>
          <p:sp>
            <p:nvSpPr>
              <p:cNvPr id="230471" name="Rectangle 71"/>
              <p:cNvSpPr>
                <a:spLocks noChangeArrowheads="1"/>
              </p:cNvSpPr>
              <p:nvPr/>
            </p:nvSpPr>
            <p:spPr bwMode="auto">
              <a:xfrm>
                <a:off x="3709" y="4500"/>
                <a:ext cx="525" cy="5415"/>
              </a:xfrm>
              <a:prstGeom prst="rect">
                <a:avLst/>
              </a:prstGeom>
              <a:noFill/>
              <a:ln w="9525">
                <a:no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r>
                  <a:rPr lang="en-US" sz="1600" dirty="0"/>
                  <a:t>2</a:t>
                </a:r>
                <a:endParaRPr lang="en-US" sz="1600" dirty="0"/>
              </a:p>
            </p:txBody>
          </p:sp>
          <p:sp>
            <p:nvSpPr>
              <p:cNvPr id="230472" name="Rectangle 72"/>
              <p:cNvSpPr>
                <a:spLocks noChangeArrowheads="1"/>
              </p:cNvSpPr>
              <p:nvPr/>
            </p:nvSpPr>
            <p:spPr bwMode="auto">
              <a:xfrm>
                <a:off x="9795" y="0"/>
                <a:ext cx="525" cy="5415"/>
              </a:xfrm>
              <a:prstGeom prst="rect">
                <a:avLst/>
              </a:prstGeom>
              <a:noFill/>
              <a:ln w="9525">
                <a:no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r>
                  <a:rPr lang="en-US" sz="1600" dirty="0"/>
                  <a:t>1</a:t>
                </a:r>
                <a:endParaRPr lang="en-US" sz="1600" dirty="0"/>
              </a:p>
            </p:txBody>
          </p:sp>
          <p:sp>
            <p:nvSpPr>
              <p:cNvPr id="230473" name="Rectangle 73"/>
              <p:cNvSpPr>
                <a:spLocks noChangeArrowheads="1"/>
              </p:cNvSpPr>
              <p:nvPr/>
            </p:nvSpPr>
            <p:spPr bwMode="auto">
              <a:xfrm>
                <a:off x="10838" y="3600"/>
                <a:ext cx="525" cy="5415"/>
              </a:xfrm>
              <a:prstGeom prst="rect">
                <a:avLst/>
              </a:prstGeom>
              <a:noFill/>
              <a:ln w="9525">
                <a:no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r>
                  <a:rPr lang="en-US" sz="1600" dirty="0"/>
                  <a:t>2</a:t>
                </a:r>
                <a:endParaRPr lang="en-US" sz="1600" dirty="0"/>
              </a:p>
            </p:txBody>
          </p:sp>
          <p:sp>
            <p:nvSpPr>
              <p:cNvPr id="230474" name="Rectangle 74"/>
              <p:cNvSpPr>
                <a:spLocks noChangeArrowheads="1"/>
              </p:cNvSpPr>
              <p:nvPr/>
            </p:nvSpPr>
            <p:spPr bwMode="auto">
              <a:xfrm>
                <a:off x="10781" y="15015"/>
                <a:ext cx="524" cy="5415"/>
              </a:xfrm>
              <a:prstGeom prst="rect">
                <a:avLst/>
              </a:prstGeom>
              <a:noFill/>
              <a:ln w="9525">
                <a:no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r>
                  <a:rPr lang="en-US" sz="1600" dirty="0"/>
                  <a:t>3</a:t>
                </a:r>
                <a:endParaRPr lang="en-US" sz="1600" dirty="0"/>
              </a:p>
            </p:txBody>
          </p:sp>
          <p:sp>
            <p:nvSpPr>
              <p:cNvPr id="230475" name="Rectangle 75"/>
              <p:cNvSpPr>
                <a:spLocks noChangeArrowheads="1"/>
              </p:cNvSpPr>
              <p:nvPr/>
            </p:nvSpPr>
            <p:spPr bwMode="auto">
              <a:xfrm>
                <a:off x="16808" y="600"/>
                <a:ext cx="525" cy="5415"/>
              </a:xfrm>
              <a:prstGeom prst="rect">
                <a:avLst/>
              </a:prstGeom>
              <a:noFill/>
              <a:ln w="9525">
                <a:no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r>
                  <a:rPr lang="en-US" sz="1600" dirty="0"/>
                  <a:t>1</a:t>
                </a:r>
                <a:endParaRPr lang="en-US" sz="1600" dirty="0"/>
              </a:p>
            </p:txBody>
          </p:sp>
          <p:sp>
            <p:nvSpPr>
              <p:cNvPr id="230476" name="Rectangle 76"/>
              <p:cNvSpPr>
                <a:spLocks noChangeArrowheads="1"/>
              </p:cNvSpPr>
              <p:nvPr/>
            </p:nvSpPr>
            <p:spPr bwMode="auto">
              <a:xfrm>
                <a:off x="17968" y="4200"/>
                <a:ext cx="524" cy="5415"/>
              </a:xfrm>
              <a:prstGeom prst="rect">
                <a:avLst/>
              </a:prstGeom>
              <a:noFill/>
              <a:ln w="9525">
                <a:no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r>
                  <a:rPr lang="en-US" sz="1600" dirty="0"/>
                  <a:t>2</a:t>
                </a:r>
                <a:endParaRPr lang="en-US" sz="1600" dirty="0"/>
              </a:p>
            </p:txBody>
          </p:sp>
          <p:sp>
            <p:nvSpPr>
              <p:cNvPr id="230477" name="Rectangle 77"/>
              <p:cNvSpPr>
                <a:spLocks noChangeArrowheads="1"/>
              </p:cNvSpPr>
              <p:nvPr/>
            </p:nvSpPr>
            <p:spPr bwMode="auto">
              <a:xfrm>
                <a:off x="17620" y="14715"/>
                <a:ext cx="524" cy="5415"/>
              </a:xfrm>
              <a:prstGeom prst="rect">
                <a:avLst/>
              </a:prstGeom>
              <a:noFill/>
              <a:ln w="9525">
                <a:no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r>
                  <a:rPr lang="en-US" sz="1600"/>
                  <a:t>3</a:t>
                </a:r>
                <a:endParaRPr lang="en-US" sz="1600"/>
              </a:p>
            </p:txBody>
          </p:sp>
          <p:sp>
            <p:nvSpPr>
              <p:cNvPr id="230478" name="Line 78"/>
              <p:cNvSpPr>
                <a:spLocks noChangeShapeType="1"/>
              </p:cNvSpPr>
              <p:nvPr/>
            </p:nvSpPr>
            <p:spPr bwMode="auto">
              <a:xfrm flipV="1">
                <a:off x="1913" y="6315"/>
                <a:ext cx="640" cy="2415"/>
              </a:xfrm>
              <a:prstGeom prst="line">
                <a:avLst/>
              </a:prstGeom>
              <a:noFill/>
              <a:ln w="28575" cmpd="sng">
                <a:solidFill>
                  <a:srgbClr val="00FF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0479" name="Line 79"/>
              <p:cNvSpPr>
                <a:spLocks noChangeShapeType="1"/>
              </p:cNvSpPr>
              <p:nvPr/>
            </p:nvSpPr>
            <p:spPr bwMode="auto">
              <a:xfrm flipV="1">
                <a:off x="3188" y="7815"/>
                <a:ext cx="582" cy="2115"/>
              </a:xfrm>
              <a:prstGeom prst="line">
                <a:avLst/>
              </a:prstGeom>
              <a:noFill/>
              <a:ln w="28575" cmpd="sng">
                <a:solidFill>
                  <a:srgbClr val="00FF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0480" name="Line 80"/>
              <p:cNvSpPr>
                <a:spLocks noChangeShapeType="1"/>
              </p:cNvSpPr>
              <p:nvPr/>
            </p:nvSpPr>
            <p:spPr bwMode="auto">
              <a:xfrm flipV="1">
                <a:off x="8984" y="4500"/>
                <a:ext cx="930" cy="2115"/>
              </a:xfrm>
              <a:prstGeom prst="line">
                <a:avLst/>
              </a:prstGeom>
              <a:noFill/>
              <a:ln w="28575" cmpd="sng">
                <a:solidFill>
                  <a:srgbClr val="00FF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0481" name="Line 81"/>
              <p:cNvSpPr>
                <a:spLocks noChangeShapeType="1"/>
              </p:cNvSpPr>
              <p:nvPr/>
            </p:nvSpPr>
            <p:spPr bwMode="auto">
              <a:xfrm flipV="1">
                <a:off x="10143" y="6615"/>
                <a:ext cx="756" cy="2415"/>
              </a:xfrm>
              <a:prstGeom prst="line">
                <a:avLst/>
              </a:prstGeom>
              <a:noFill/>
              <a:ln w="28575" cmpd="sng">
                <a:solidFill>
                  <a:srgbClr val="00FF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0482" name="Line 82"/>
              <p:cNvSpPr>
                <a:spLocks noChangeShapeType="1"/>
              </p:cNvSpPr>
              <p:nvPr/>
            </p:nvSpPr>
            <p:spPr bwMode="auto">
              <a:xfrm>
                <a:off x="10143" y="12600"/>
                <a:ext cx="640" cy="5415"/>
              </a:xfrm>
              <a:prstGeom prst="line">
                <a:avLst/>
              </a:prstGeom>
              <a:noFill/>
              <a:ln w="28575" cmpd="sng">
                <a:solidFill>
                  <a:srgbClr val="00FF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0483" name="Line 83"/>
              <p:cNvSpPr>
                <a:spLocks noChangeShapeType="1"/>
              </p:cNvSpPr>
              <p:nvPr/>
            </p:nvSpPr>
            <p:spPr bwMode="auto">
              <a:xfrm flipV="1">
                <a:off x="15881" y="3900"/>
                <a:ext cx="930" cy="2415"/>
              </a:xfrm>
              <a:prstGeom prst="line">
                <a:avLst/>
              </a:prstGeom>
              <a:noFill/>
              <a:ln w="28575" cmpd="sng">
                <a:solidFill>
                  <a:srgbClr val="00FF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0484" name="Line 84"/>
              <p:cNvSpPr>
                <a:spLocks noChangeShapeType="1"/>
              </p:cNvSpPr>
              <p:nvPr/>
            </p:nvSpPr>
            <p:spPr bwMode="auto">
              <a:xfrm flipV="1">
                <a:off x="17098" y="7515"/>
                <a:ext cx="930" cy="1515"/>
              </a:xfrm>
              <a:prstGeom prst="line">
                <a:avLst/>
              </a:prstGeom>
              <a:noFill/>
              <a:ln w="28575" cmpd="sng">
                <a:solidFill>
                  <a:srgbClr val="00FF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0485" name="Line 85"/>
              <p:cNvSpPr>
                <a:spLocks noChangeShapeType="1"/>
              </p:cNvSpPr>
              <p:nvPr/>
            </p:nvSpPr>
            <p:spPr bwMode="auto">
              <a:xfrm>
                <a:off x="16750" y="12600"/>
                <a:ext cx="873" cy="4815"/>
              </a:xfrm>
              <a:prstGeom prst="line">
                <a:avLst/>
              </a:prstGeom>
              <a:noFill/>
              <a:ln w="28575" cmpd="sng">
                <a:solidFill>
                  <a:srgbClr val="00FF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2" name="文本框 1"/>
            <p:cNvSpPr txBox="1"/>
            <p:nvPr/>
          </p:nvSpPr>
          <p:spPr>
            <a:xfrm>
              <a:off x="2009869" y="6219731"/>
              <a:ext cx="914400" cy="400110"/>
            </a:xfrm>
            <a:prstGeom prst="rect">
              <a:avLst/>
            </a:prstGeom>
            <a:noFill/>
            <a:ln w="28575">
              <a:noFill/>
            </a:ln>
          </p:spPr>
          <p:txBody>
            <a:bodyPr wrap="square" rtlCol="0">
              <a:spAutoFit/>
            </a:bodyPr>
            <a:lstStyle/>
            <a:p>
              <a:r>
                <a:rPr lang="en-US" altLang="zh-CN" dirty="0" smtClean="0">
                  <a:solidFill>
                    <a:srgbClr val="C00000"/>
                  </a:solidFill>
                </a:rPr>
                <a:t>a</a:t>
              </a:r>
              <a:endParaRPr lang="zh-CN" altLang="en-US" dirty="0">
                <a:solidFill>
                  <a:srgbClr val="C00000"/>
                </a:solidFill>
              </a:endParaRPr>
            </a:p>
          </p:txBody>
        </p:sp>
        <p:sp>
          <p:nvSpPr>
            <p:cNvPr id="88" name="文本框 87"/>
            <p:cNvSpPr txBox="1"/>
            <p:nvPr/>
          </p:nvSpPr>
          <p:spPr>
            <a:xfrm>
              <a:off x="4363770" y="6210678"/>
              <a:ext cx="914400" cy="400110"/>
            </a:xfrm>
            <a:prstGeom prst="rect">
              <a:avLst/>
            </a:prstGeom>
            <a:noFill/>
            <a:ln w="28575">
              <a:noFill/>
            </a:ln>
          </p:spPr>
          <p:txBody>
            <a:bodyPr wrap="square" rtlCol="0">
              <a:spAutoFit/>
            </a:bodyPr>
            <a:lstStyle/>
            <a:p>
              <a:r>
                <a:rPr lang="en-US" altLang="zh-CN" dirty="0" smtClean="0">
                  <a:solidFill>
                    <a:srgbClr val="C00000"/>
                  </a:solidFill>
                </a:rPr>
                <a:t>b</a:t>
              </a:r>
              <a:endParaRPr lang="zh-CN" altLang="en-US" dirty="0">
                <a:solidFill>
                  <a:srgbClr val="C00000"/>
                </a:solidFill>
              </a:endParaRPr>
            </a:p>
          </p:txBody>
        </p:sp>
        <p:sp>
          <p:nvSpPr>
            <p:cNvPr id="89" name="文本框 88"/>
            <p:cNvSpPr txBox="1"/>
            <p:nvPr/>
          </p:nvSpPr>
          <p:spPr>
            <a:xfrm>
              <a:off x="7070756" y="6201624"/>
              <a:ext cx="914400" cy="400110"/>
            </a:xfrm>
            <a:prstGeom prst="rect">
              <a:avLst/>
            </a:prstGeom>
            <a:noFill/>
            <a:ln w="28575">
              <a:noFill/>
            </a:ln>
          </p:spPr>
          <p:txBody>
            <a:bodyPr wrap="square" rtlCol="0">
              <a:spAutoFit/>
            </a:bodyPr>
            <a:lstStyle/>
            <a:p>
              <a:r>
                <a:rPr lang="en-US" altLang="zh-CN" dirty="0" smtClean="0">
                  <a:solidFill>
                    <a:srgbClr val="C00000"/>
                  </a:solidFill>
                </a:rPr>
                <a:t>c</a:t>
              </a:r>
              <a:endParaRPr lang="zh-CN" altLang="en-US" dirty="0">
                <a:solidFill>
                  <a:srgbClr val="C00000"/>
                </a:solidFill>
              </a:endParaRPr>
            </a:p>
          </p:txBody>
        </p:sp>
      </p:grpSp>
      <p:sp>
        <p:nvSpPr>
          <p:cNvPr id="5" name="文本框 4"/>
          <p:cNvSpPr txBox="1"/>
          <p:nvPr/>
        </p:nvSpPr>
        <p:spPr>
          <a:xfrm>
            <a:off x="1783533" y="6237837"/>
            <a:ext cx="1548142" cy="400110"/>
          </a:xfrm>
          <a:prstGeom prst="rect">
            <a:avLst/>
          </a:prstGeom>
          <a:noFill/>
        </p:spPr>
        <p:txBody>
          <a:bodyPr wrap="square" rtlCol="0">
            <a:spAutoFit/>
          </a:bodyPr>
          <a:lstStyle/>
          <a:p>
            <a:r>
              <a:rPr lang="zh-CN" altLang="en-US" dirty="0" smtClean="0">
                <a:solidFill>
                  <a:srgbClr val="C00000"/>
                </a:solidFill>
              </a:rPr>
              <a:t>转轴</a:t>
            </a:r>
            <a:endParaRPr lang="zh-CN" altLang="en-US" dirty="0">
              <a:solidFill>
                <a:srgbClr val="C00000"/>
              </a:solidFill>
            </a:endParaRPr>
          </a:p>
        </p:txBody>
      </p:sp>
      <p:sp>
        <p:nvSpPr>
          <p:cNvPr id="93" name="文本框 92"/>
          <p:cNvSpPr txBox="1"/>
          <p:nvPr/>
        </p:nvSpPr>
        <p:spPr>
          <a:xfrm>
            <a:off x="4083112" y="6219730"/>
            <a:ext cx="1548142" cy="400110"/>
          </a:xfrm>
          <a:prstGeom prst="rect">
            <a:avLst/>
          </a:prstGeom>
          <a:noFill/>
        </p:spPr>
        <p:txBody>
          <a:bodyPr wrap="square" rtlCol="0">
            <a:spAutoFit/>
          </a:bodyPr>
          <a:lstStyle/>
          <a:p>
            <a:r>
              <a:rPr lang="zh-CN" altLang="en-US" dirty="0" smtClean="0">
                <a:solidFill>
                  <a:srgbClr val="C00000"/>
                </a:solidFill>
              </a:rPr>
              <a:t>固定心轴</a:t>
            </a:r>
            <a:endParaRPr lang="zh-CN" altLang="en-US" dirty="0">
              <a:solidFill>
                <a:srgbClr val="C00000"/>
              </a:solidFill>
            </a:endParaRPr>
          </a:p>
        </p:txBody>
      </p:sp>
      <p:sp>
        <p:nvSpPr>
          <p:cNvPr id="94" name="文本框 93"/>
          <p:cNvSpPr txBox="1"/>
          <p:nvPr/>
        </p:nvSpPr>
        <p:spPr>
          <a:xfrm>
            <a:off x="6536601" y="6228784"/>
            <a:ext cx="1548142" cy="400110"/>
          </a:xfrm>
          <a:prstGeom prst="rect">
            <a:avLst/>
          </a:prstGeom>
          <a:noFill/>
        </p:spPr>
        <p:txBody>
          <a:bodyPr wrap="square" rtlCol="0">
            <a:spAutoFit/>
          </a:bodyPr>
          <a:lstStyle/>
          <a:p>
            <a:r>
              <a:rPr lang="zh-CN" altLang="en-US" dirty="0" smtClean="0">
                <a:solidFill>
                  <a:srgbClr val="C00000"/>
                </a:solidFill>
              </a:rPr>
              <a:t>转动心轴</a:t>
            </a:r>
            <a:endParaRPr lang="zh-CN" altLang="en-US" dirty="0">
              <a:solidFill>
                <a:srgbClr val="C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30403">
                                            <p:txEl>
                                              <p:pRg st="1" end="1"/>
                                            </p:txEl>
                                          </p:spTgt>
                                        </p:tgtEl>
                                        <p:attrNameLst>
                                          <p:attrName>style.visibility</p:attrName>
                                        </p:attrNameLst>
                                      </p:cBhvr>
                                      <p:to>
                                        <p:strVal val="visible"/>
                                      </p:to>
                                    </p:set>
                                    <p:animEffect transition="in" filter="wipe(left)">
                                      <p:cBhvr>
                                        <p:cTn id="12" dur="500"/>
                                        <p:tgtEl>
                                          <p:spTgt spid="23040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3"/>
                                        </p:tgtEl>
                                        <p:attrNameLst>
                                          <p:attrName>style.visibility</p:attrName>
                                        </p:attrNameLst>
                                      </p:cBhvr>
                                      <p:to>
                                        <p:strVal val="visible"/>
                                      </p:to>
                                    </p:set>
                                    <p:animEffect transition="in" filter="wipe(left)">
                                      <p:cBhvr>
                                        <p:cTn id="22" dur="500"/>
                                        <p:tgtEl>
                                          <p:spTgt spid="9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4"/>
                                        </p:tgtEl>
                                        <p:attrNameLst>
                                          <p:attrName>style.visibility</p:attrName>
                                        </p:attrNameLst>
                                      </p:cBhvr>
                                      <p:to>
                                        <p:strVal val="visible"/>
                                      </p:to>
                                    </p:set>
                                    <p:animEffect transition="in" filter="wipe(left)">
                                      <p:cBhvr>
                                        <p:cTn id="27" dur="500"/>
                                        <p:tgtEl>
                                          <p:spTgt spid="94"/>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3" fill="hold" grpId="0" nodeType="clickEffect">
                                  <p:stCondLst>
                                    <p:cond delay="0"/>
                                  </p:stCondLst>
                                  <p:iterate type="lt">
                                    <p:tmPct val="100000"/>
                                  </p:iterate>
                                  <p:childTnLst>
                                    <p:set>
                                      <p:cBhvr>
                                        <p:cTn id="31" dur="1" fill="hold">
                                          <p:stCondLst>
                                            <p:cond delay="0"/>
                                          </p:stCondLst>
                                        </p:cTn>
                                        <p:tgtEl>
                                          <p:spTgt spid="230486">
                                            <p:txEl>
                                              <p:pRg st="0" end="0"/>
                                            </p:txEl>
                                          </p:spTgt>
                                        </p:tgtEl>
                                        <p:attrNameLst>
                                          <p:attrName>style.visibility</p:attrName>
                                        </p:attrNameLst>
                                      </p:cBhvr>
                                      <p:to>
                                        <p:strVal val="visible"/>
                                      </p:to>
                                    </p:set>
                                    <p:anim calcmode="lin" valueType="num">
                                      <p:cBhvr additive="base">
                                        <p:cTn id="32" dur="75" fill="hold"/>
                                        <p:tgtEl>
                                          <p:spTgt spid="230486">
                                            <p:txEl>
                                              <p:pRg st="0" end="0"/>
                                            </p:txEl>
                                          </p:spTgt>
                                        </p:tgtEl>
                                        <p:attrNameLst>
                                          <p:attrName>ppt_x</p:attrName>
                                        </p:attrNameLst>
                                      </p:cBhvr>
                                      <p:tavLst>
                                        <p:tav tm="0">
                                          <p:val>
                                            <p:strVal val="1+#ppt_w/2"/>
                                          </p:val>
                                        </p:tav>
                                        <p:tav tm="100000">
                                          <p:val>
                                            <p:strVal val="#ppt_x"/>
                                          </p:val>
                                        </p:tav>
                                      </p:tavLst>
                                    </p:anim>
                                    <p:anim calcmode="lin" valueType="num">
                                      <p:cBhvr additive="base">
                                        <p:cTn id="33" dur="75" fill="hold"/>
                                        <p:tgtEl>
                                          <p:spTgt spid="230486">
                                            <p:txEl>
                                              <p:pRg st="0" end="0"/>
                                            </p:txEl>
                                          </p:spTgt>
                                        </p:tgtEl>
                                        <p:attrNameLst>
                                          <p:attrName>ppt_y</p:attrName>
                                        </p:attrNameLst>
                                      </p:cBhvr>
                                      <p:tavLst>
                                        <p:tav tm="0">
                                          <p:val>
                                            <p:strVal val="0-#ppt_h/2"/>
                                          </p:val>
                                        </p:tav>
                                        <p:tav tm="100000">
                                          <p:val>
                                            <p:strVal val="#ppt_y"/>
                                          </p:val>
                                        </p:tav>
                                      </p:tavLst>
                                    </p:anim>
                                  </p:childTnLst>
                                  <p:subTnLst>
                                    <p:audio>
                                      <p:cMediaNode>
                                        <p:cTn display="0" masterRel="sameClick">
                                          <p:stCondLst>
                                            <p:cond evt="begin" delay="0">
                                              <p:tn val="30"/>
                                            </p:cond>
                                          </p:stCondLst>
                                          <p:endCondLst>
                                            <p:cond evt="onStopAudio" delay="0">
                                              <p:tgtEl>
                                                <p:sldTgt/>
                                              </p:tgtEl>
                                            </p:cond>
                                          </p:endCondLst>
                                        </p:cTn>
                                        <p:tgtEl>
                                          <p:sndTgt r:embed="rId1" name="LAS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0486" grpId="0" autoUpdateAnimBg="0" build="p"/>
      <p:bldP spid="5" grpId="0"/>
      <p:bldP spid="93" grpId="0"/>
      <p:bldP spid="9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4" name="Text Box 4"/>
          <p:cNvSpPr txBox="1">
            <a:spLocks noChangeArrowheads="1"/>
          </p:cNvSpPr>
          <p:nvPr/>
        </p:nvSpPr>
        <p:spPr bwMode="auto">
          <a:xfrm>
            <a:off x="868363" y="1211263"/>
            <a:ext cx="1595309"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zh-CN" altLang="en-US" sz="2200" dirty="0">
                <a:solidFill>
                  <a:srgbClr val="800000"/>
                </a:solidFill>
                <a:latin typeface="黑体" panose="02010609060101010101" pitchFamily="49" charset="-122"/>
                <a:ea typeface="黑体" panose="02010609060101010101" pitchFamily="49" charset="-122"/>
              </a:rPr>
              <a:t>失效形式：</a:t>
            </a:r>
            <a:endParaRPr lang="zh-CN" altLang="en-US" sz="2200" dirty="0">
              <a:solidFill>
                <a:srgbClr val="800000"/>
              </a:solidFill>
              <a:latin typeface="黑体" panose="02010609060101010101" pitchFamily="49" charset="-122"/>
              <a:ea typeface="黑体" panose="02010609060101010101" pitchFamily="49" charset="-122"/>
            </a:endParaRPr>
          </a:p>
        </p:txBody>
      </p:sp>
      <p:sp>
        <p:nvSpPr>
          <p:cNvPr id="56325" name="Text Box 5"/>
          <p:cNvSpPr txBox="1">
            <a:spLocks noChangeArrowheads="1"/>
          </p:cNvSpPr>
          <p:nvPr/>
        </p:nvSpPr>
        <p:spPr bwMode="auto">
          <a:xfrm>
            <a:off x="985838" y="2287588"/>
            <a:ext cx="4398961"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sz="2200" dirty="0">
                <a:latin typeface="黑体" panose="02010609060101010101" pitchFamily="49" charset="-122"/>
                <a:ea typeface="黑体" panose="02010609060101010101" pitchFamily="49" charset="-122"/>
              </a:rPr>
              <a:t>2</a:t>
            </a:r>
            <a:r>
              <a:rPr lang="zh-CN" altLang="en-US" sz="2200" dirty="0">
                <a:latin typeface="黑体" panose="02010609060101010101" pitchFamily="49" charset="-122"/>
                <a:ea typeface="黑体" panose="02010609060101010101" pitchFamily="49" charset="-122"/>
              </a:rPr>
              <a:t>、</a:t>
            </a:r>
            <a:r>
              <a:rPr lang="zh-CN" altLang="en-US" sz="2200" b="1" dirty="0">
                <a:solidFill>
                  <a:srgbClr val="660066"/>
                </a:solidFill>
                <a:latin typeface="黑体" panose="02010609060101010101" pitchFamily="49" charset="-122"/>
                <a:ea typeface="黑体" panose="02010609060101010101" pitchFamily="49" charset="-122"/>
              </a:rPr>
              <a:t>变形过大</a:t>
            </a:r>
            <a:r>
              <a:rPr lang="en-US" altLang="zh-CN" sz="2200" dirty="0">
                <a:solidFill>
                  <a:srgbClr val="002060"/>
                </a:solidFill>
                <a:latin typeface="黑体" panose="02010609060101010101" pitchFamily="49" charset="-122"/>
                <a:ea typeface="黑体" panose="02010609060101010101" pitchFamily="49" charset="-122"/>
              </a:rPr>
              <a:t>— </a:t>
            </a:r>
            <a:r>
              <a:rPr lang="zh-CN" altLang="en-US" sz="2200" dirty="0">
                <a:solidFill>
                  <a:srgbClr val="002060"/>
                </a:solidFill>
                <a:latin typeface="黑体" panose="02010609060101010101" pitchFamily="49" charset="-122"/>
                <a:ea typeface="黑体" panose="02010609060101010101" pitchFamily="49" charset="-122"/>
              </a:rPr>
              <a:t>受力大的细长轴；</a:t>
            </a:r>
            <a:endParaRPr lang="zh-CN" altLang="en-US" sz="2200" dirty="0">
              <a:solidFill>
                <a:srgbClr val="002060"/>
              </a:solidFill>
              <a:latin typeface="黑体" panose="02010609060101010101" pitchFamily="49" charset="-122"/>
              <a:ea typeface="黑体" panose="02010609060101010101" pitchFamily="49" charset="-122"/>
            </a:endParaRPr>
          </a:p>
        </p:txBody>
      </p:sp>
      <p:sp>
        <p:nvSpPr>
          <p:cNvPr id="56326" name="Text Box 6"/>
          <p:cNvSpPr txBox="1">
            <a:spLocks noChangeArrowheads="1"/>
          </p:cNvSpPr>
          <p:nvPr/>
        </p:nvSpPr>
        <p:spPr bwMode="auto">
          <a:xfrm>
            <a:off x="985838" y="2857500"/>
            <a:ext cx="660469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sz="2200" dirty="0">
                <a:latin typeface="黑体" panose="02010609060101010101" pitchFamily="49" charset="-122"/>
                <a:ea typeface="黑体" panose="02010609060101010101" pitchFamily="49" charset="-122"/>
              </a:rPr>
              <a:t>3</a:t>
            </a:r>
            <a:r>
              <a:rPr lang="zh-CN" altLang="en-US" sz="2200" dirty="0">
                <a:latin typeface="黑体" panose="02010609060101010101" pitchFamily="49" charset="-122"/>
                <a:ea typeface="黑体" panose="02010609060101010101" pitchFamily="49" charset="-122"/>
              </a:rPr>
              <a:t>、</a:t>
            </a:r>
            <a:r>
              <a:rPr lang="zh-CN" altLang="en-US" sz="2200" b="1" dirty="0">
                <a:solidFill>
                  <a:srgbClr val="660066"/>
                </a:solidFill>
                <a:latin typeface="黑体" panose="02010609060101010101" pitchFamily="49" charset="-122"/>
                <a:ea typeface="黑体" panose="02010609060101010101" pitchFamily="49" charset="-122"/>
              </a:rPr>
              <a:t>振动折断</a:t>
            </a:r>
            <a:r>
              <a:rPr lang="en-US" altLang="zh-CN" sz="2200" dirty="0">
                <a:solidFill>
                  <a:srgbClr val="002060"/>
                </a:solidFill>
                <a:latin typeface="黑体" panose="02010609060101010101" pitchFamily="49" charset="-122"/>
                <a:ea typeface="黑体" panose="02010609060101010101" pitchFamily="49" charset="-122"/>
              </a:rPr>
              <a:t>— </a:t>
            </a:r>
            <a:r>
              <a:rPr lang="zh-CN" altLang="en-US" sz="2200" dirty="0">
                <a:solidFill>
                  <a:srgbClr val="002060"/>
                </a:solidFill>
                <a:latin typeface="黑体" panose="02010609060101010101" pitchFamily="49" charset="-122"/>
                <a:ea typeface="黑体" panose="02010609060101010101" pitchFamily="49" charset="-122"/>
              </a:rPr>
              <a:t>高速轴在临界转速时会</a:t>
            </a:r>
            <a:r>
              <a:rPr lang="zh-CN" altLang="en-US" sz="2200" dirty="0">
                <a:solidFill>
                  <a:schemeClr val="tx2"/>
                </a:solidFill>
                <a:latin typeface="黑体" panose="02010609060101010101" pitchFamily="49" charset="-122"/>
                <a:ea typeface="黑体" panose="02010609060101010101" pitchFamily="49" charset="-122"/>
              </a:rPr>
              <a:t>引起</a:t>
            </a:r>
            <a:r>
              <a:rPr lang="zh-CN" altLang="en-US" sz="2800" dirty="0">
                <a:solidFill>
                  <a:schemeClr val="tx2"/>
                </a:solidFill>
                <a:latin typeface="华文中宋" panose="02010600040101010101" pitchFamily="2" charset="-122"/>
              </a:rPr>
              <a:t>共振；</a:t>
            </a:r>
            <a:endParaRPr lang="zh-CN" altLang="en-US" sz="2800" dirty="0">
              <a:solidFill>
                <a:schemeClr val="tx2"/>
              </a:solidFill>
              <a:latin typeface="华文中宋" panose="02010600040101010101" pitchFamily="2" charset="-122"/>
            </a:endParaRPr>
          </a:p>
        </p:txBody>
      </p:sp>
      <p:sp>
        <p:nvSpPr>
          <p:cNvPr id="56327" name="Text Box 7"/>
          <p:cNvSpPr txBox="1">
            <a:spLocks noChangeArrowheads="1"/>
          </p:cNvSpPr>
          <p:nvPr/>
        </p:nvSpPr>
        <p:spPr bwMode="auto">
          <a:xfrm>
            <a:off x="1022052" y="3436466"/>
            <a:ext cx="468109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sz="2200" dirty="0">
                <a:latin typeface="黑体" panose="02010609060101010101" pitchFamily="49" charset="-122"/>
                <a:ea typeface="黑体" panose="02010609060101010101" pitchFamily="49" charset="-122"/>
              </a:rPr>
              <a:t>4</a:t>
            </a:r>
            <a:r>
              <a:rPr lang="zh-CN" altLang="en-US" sz="2200" dirty="0">
                <a:latin typeface="黑体" panose="02010609060101010101" pitchFamily="49" charset="-122"/>
                <a:ea typeface="黑体" panose="02010609060101010101" pitchFamily="49" charset="-122"/>
              </a:rPr>
              <a:t>、</a:t>
            </a:r>
            <a:r>
              <a:rPr lang="zh-CN" altLang="en-US" sz="2200" b="1" dirty="0">
                <a:solidFill>
                  <a:srgbClr val="660066"/>
                </a:solidFill>
                <a:latin typeface="黑体" panose="02010609060101010101" pitchFamily="49" charset="-122"/>
                <a:ea typeface="黑体" panose="02010609060101010101" pitchFamily="49" charset="-122"/>
              </a:rPr>
              <a:t>塑性变形</a:t>
            </a:r>
            <a:r>
              <a:rPr lang="en-US" altLang="zh-CN" sz="2200" dirty="0">
                <a:solidFill>
                  <a:srgbClr val="002060"/>
                </a:solidFill>
                <a:latin typeface="黑体" panose="02010609060101010101" pitchFamily="49" charset="-122"/>
                <a:ea typeface="黑体" panose="02010609060101010101" pitchFamily="49" charset="-122"/>
              </a:rPr>
              <a:t>— </a:t>
            </a:r>
            <a:r>
              <a:rPr lang="zh-CN" altLang="en-US" sz="2200" dirty="0">
                <a:solidFill>
                  <a:srgbClr val="002060"/>
                </a:solidFill>
                <a:latin typeface="黑体" panose="02010609060101010101" pitchFamily="49" charset="-122"/>
                <a:ea typeface="黑体" panose="02010609060101010101" pitchFamily="49" charset="-122"/>
              </a:rPr>
              <a:t>短期尖峰载荷作用。</a:t>
            </a:r>
            <a:endParaRPr lang="zh-CN" altLang="en-US" sz="2200" dirty="0">
              <a:solidFill>
                <a:srgbClr val="002060"/>
              </a:solidFill>
              <a:latin typeface="黑体" panose="02010609060101010101" pitchFamily="49" charset="-122"/>
              <a:ea typeface="黑体" panose="02010609060101010101" pitchFamily="49" charset="-122"/>
            </a:endParaRPr>
          </a:p>
        </p:txBody>
      </p:sp>
      <p:sp>
        <p:nvSpPr>
          <p:cNvPr id="56328" name="Rectangle 8"/>
          <p:cNvSpPr>
            <a:spLocks noChangeArrowheads="1"/>
          </p:cNvSpPr>
          <p:nvPr/>
        </p:nvSpPr>
        <p:spPr bwMode="auto">
          <a:xfrm>
            <a:off x="985838" y="1719263"/>
            <a:ext cx="4140877"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sz="2200" dirty="0">
                <a:latin typeface="黑体" panose="02010609060101010101" pitchFamily="49" charset="-122"/>
                <a:ea typeface="黑体" panose="02010609060101010101" pitchFamily="49" charset="-122"/>
              </a:rPr>
              <a:t>1</a:t>
            </a:r>
            <a:r>
              <a:rPr lang="zh-CN" altLang="en-US" sz="2200" dirty="0">
                <a:latin typeface="黑体" panose="02010609060101010101" pitchFamily="49" charset="-122"/>
                <a:ea typeface="黑体" panose="02010609060101010101" pitchFamily="49" charset="-122"/>
              </a:rPr>
              <a:t>、</a:t>
            </a:r>
            <a:r>
              <a:rPr lang="zh-CN" altLang="en-US" sz="2200" b="1" dirty="0">
                <a:solidFill>
                  <a:srgbClr val="FF0000"/>
                </a:solidFill>
                <a:latin typeface="黑体" panose="02010609060101010101" pitchFamily="49" charset="-122"/>
                <a:ea typeface="黑体" panose="02010609060101010101" pitchFamily="49" charset="-122"/>
              </a:rPr>
              <a:t>疲劳断裂</a:t>
            </a:r>
            <a:r>
              <a:rPr lang="en-US" altLang="zh-CN" sz="2200" dirty="0">
                <a:solidFill>
                  <a:srgbClr val="002060"/>
                </a:solidFill>
                <a:latin typeface="黑体" panose="02010609060101010101" pitchFamily="49" charset="-122"/>
                <a:ea typeface="黑体" panose="02010609060101010101" pitchFamily="49" charset="-122"/>
              </a:rPr>
              <a:t>— </a:t>
            </a:r>
            <a:r>
              <a:rPr lang="zh-CN" altLang="en-US" sz="2200" dirty="0">
                <a:solidFill>
                  <a:srgbClr val="002060"/>
                </a:solidFill>
                <a:latin typeface="黑体" panose="02010609060101010101" pitchFamily="49" charset="-122"/>
                <a:ea typeface="黑体" panose="02010609060101010101" pitchFamily="49" charset="-122"/>
              </a:rPr>
              <a:t>受变应力作用；</a:t>
            </a:r>
            <a:endParaRPr lang="zh-CN" altLang="en-US" sz="2200" dirty="0">
              <a:solidFill>
                <a:srgbClr val="002060"/>
              </a:solidFill>
              <a:latin typeface="黑体" panose="02010609060101010101" pitchFamily="49" charset="-122"/>
              <a:ea typeface="黑体" panose="02010609060101010101" pitchFamily="49" charset="-122"/>
            </a:endParaRPr>
          </a:p>
        </p:txBody>
      </p:sp>
      <p:sp>
        <p:nvSpPr>
          <p:cNvPr id="56329" name="Text Box 9"/>
          <p:cNvSpPr txBox="1">
            <a:spLocks noChangeArrowheads="1"/>
          </p:cNvSpPr>
          <p:nvPr/>
        </p:nvSpPr>
        <p:spPr bwMode="auto">
          <a:xfrm>
            <a:off x="823913" y="3983038"/>
            <a:ext cx="3494087"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50000"/>
              </a:spcBef>
            </a:pPr>
            <a:r>
              <a:rPr lang="zh-CN" altLang="en-US" sz="2200" dirty="0">
                <a:solidFill>
                  <a:srgbClr val="800000"/>
                </a:solidFill>
                <a:latin typeface="黑体" panose="02010609060101010101" pitchFamily="49" charset="-122"/>
                <a:ea typeface="黑体" panose="02010609060101010101" pitchFamily="49" charset="-122"/>
              </a:rPr>
              <a:t>设计准则：</a:t>
            </a:r>
            <a:endParaRPr lang="zh-CN" altLang="en-US" sz="2200" dirty="0">
              <a:latin typeface="黑体" panose="02010609060101010101" pitchFamily="49" charset="-122"/>
              <a:ea typeface="黑体" panose="02010609060101010101" pitchFamily="49" charset="-122"/>
            </a:endParaRPr>
          </a:p>
        </p:txBody>
      </p:sp>
      <p:sp>
        <p:nvSpPr>
          <p:cNvPr id="56330" name="Text Box 10"/>
          <p:cNvSpPr txBox="1">
            <a:spLocks noChangeArrowheads="1"/>
          </p:cNvSpPr>
          <p:nvPr/>
        </p:nvSpPr>
        <p:spPr bwMode="auto">
          <a:xfrm>
            <a:off x="824414" y="4530241"/>
            <a:ext cx="7256462" cy="1754326"/>
          </a:xfrm>
          <a:prstGeom prst="rect">
            <a:avLst/>
          </a:prstGeom>
          <a:noFill/>
          <a:ln w="28575">
            <a:pattFill prst="sphere">
              <a:fgClr>
                <a:srgbClr val="3399FF"/>
              </a:fgClr>
              <a:bgClr>
                <a:srgbClr val="FFFFFF"/>
              </a:bgClr>
            </a:patt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50000"/>
              </a:lnSpc>
              <a:spcBef>
                <a:spcPct val="20000"/>
              </a:spcBef>
            </a:pPr>
            <a:r>
              <a:rPr lang="en-US" altLang="zh-CN" sz="2800" dirty="0"/>
              <a:t>        </a:t>
            </a:r>
            <a:r>
              <a:rPr lang="zh-CN" altLang="en-US" sz="2200" dirty="0">
                <a:latin typeface="黑体" panose="02010609060101010101" pitchFamily="49" charset="-122"/>
                <a:ea typeface="黑体" panose="02010609060101010101" pitchFamily="49" charset="-122"/>
              </a:rPr>
              <a:t>一般机器中的</a:t>
            </a:r>
            <a:r>
              <a:rPr lang="zh-CN" altLang="en-US" sz="2200" b="1" dirty="0">
                <a:solidFill>
                  <a:srgbClr val="FF0000"/>
                </a:solidFill>
                <a:latin typeface="黑体" panose="02010609060101010101" pitchFamily="49" charset="-122"/>
                <a:ea typeface="黑体" panose="02010609060101010101" pitchFamily="49" charset="-122"/>
              </a:rPr>
              <a:t>转轴</a:t>
            </a:r>
            <a:r>
              <a:rPr lang="zh-CN" altLang="en-US" sz="2200" dirty="0">
                <a:latin typeface="黑体" panose="02010609060101010101" pitchFamily="49" charset="-122"/>
                <a:ea typeface="黑体" panose="02010609060101010101" pitchFamily="49" charset="-122"/>
              </a:rPr>
              <a:t>，在满足</a:t>
            </a:r>
            <a:r>
              <a:rPr lang="zh-CN" altLang="en-US" sz="2200" b="1" dirty="0">
                <a:solidFill>
                  <a:srgbClr val="FF0000"/>
                </a:solidFill>
                <a:latin typeface="黑体" panose="02010609060101010101" pitchFamily="49" charset="-122"/>
                <a:ea typeface="黑体" panose="02010609060101010101" pitchFamily="49" charset="-122"/>
              </a:rPr>
              <a:t>强度</a:t>
            </a:r>
            <a:r>
              <a:rPr lang="zh-CN" altLang="en-US" sz="2200" dirty="0">
                <a:latin typeface="黑体" panose="02010609060101010101" pitchFamily="49" charset="-122"/>
                <a:ea typeface="黑体" panose="02010609060101010101" pitchFamily="49" charset="-122"/>
              </a:rPr>
              <a:t>及</a:t>
            </a:r>
            <a:r>
              <a:rPr lang="zh-CN" altLang="en-US" sz="2200" b="1" dirty="0">
                <a:solidFill>
                  <a:srgbClr val="FF0000"/>
                </a:solidFill>
                <a:latin typeface="黑体" panose="02010609060101010101" pitchFamily="49" charset="-122"/>
                <a:ea typeface="黑体" panose="02010609060101010101" pitchFamily="49" charset="-122"/>
              </a:rPr>
              <a:t>结构</a:t>
            </a:r>
            <a:r>
              <a:rPr lang="zh-CN" altLang="en-US" sz="2200" dirty="0">
                <a:latin typeface="黑体" panose="02010609060101010101" pitchFamily="49" charset="-122"/>
                <a:ea typeface="黑体" panose="02010609060101010101" pitchFamily="49" charset="-122"/>
              </a:rPr>
              <a:t>要求的前提下，对</a:t>
            </a:r>
            <a:r>
              <a:rPr lang="zh-CN" altLang="en-US" sz="2200" b="1" dirty="0">
                <a:solidFill>
                  <a:srgbClr val="FF0000"/>
                </a:solidFill>
                <a:latin typeface="黑体" panose="02010609060101010101" pitchFamily="49" charset="-122"/>
                <a:ea typeface="黑体" panose="02010609060101010101" pitchFamily="49" charset="-122"/>
              </a:rPr>
              <a:t>刚度</a:t>
            </a:r>
            <a:r>
              <a:rPr lang="zh-CN" altLang="en-US" sz="2200" dirty="0">
                <a:latin typeface="黑体" panose="02010609060101010101" pitchFamily="49" charset="-122"/>
                <a:ea typeface="黑体" panose="02010609060101010101" pitchFamily="49" charset="-122"/>
              </a:rPr>
              <a:t>要求高的轴，要进行</a:t>
            </a:r>
            <a:r>
              <a:rPr lang="zh-CN" altLang="en-US" sz="2200" b="1" dirty="0">
                <a:solidFill>
                  <a:srgbClr val="FF0000"/>
                </a:solidFill>
                <a:latin typeface="黑体" panose="02010609060101010101" pitchFamily="49" charset="-122"/>
                <a:ea typeface="黑体" panose="02010609060101010101" pitchFamily="49" charset="-122"/>
              </a:rPr>
              <a:t>刚度</a:t>
            </a:r>
            <a:r>
              <a:rPr lang="zh-CN" altLang="en-US" sz="2200" dirty="0">
                <a:latin typeface="黑体" panose="02010609060101010101" pitchFamily="49" charset="-122"/>
                <a:ea typeface="黑体" panose="02010609060101010101" pitchFamily="49" charset="-122"/>
              </a:rPr>
              <a:t>验算；对</a:t>
            </a:r>
            <a:r>
              <a:rPr lang="zh-CN" altLang="en-US" sz="2200" b="1" dirty="0">
                <a:solidFill>
                  <a:srgbClr val="FF0000"/>
                </a:solidFill>
                <a:latin typeface="黑体" panose="02010609060101010101" pitchFamily="49" charset="-122"/>
                <a:ea typeface="黑体" panose="02010609060101010101" pitchFamily="49" charset="-122"/>
              </a:rPr>
              <a:t>高速</a:t>
            </a:r>
            <a:r>
              <a:rPr lang="zh-CN" altLang="en-US" sz="2200" dirty="0">
                <a:latin typeface="黑体" panose="02010609060101010101" pitchFamily="49" charset="-122"/>
                <a:ea typeface="黑体" panose="02010609060101010101" pitchFamily="49" charset="-122"/>
              </a:rPr>
              <a:t>运转的轴，必要时需进行</a:t>
            </a:r>
            <a:r>
              <a:rPr lang="zh-CN" altLang="en-US" sz="2200" b="1" dirty="0">
                <a:solidFill>
                  <a:srgbClr val="FF0000"/>
                </a:solidFill>
                <a:latin typeface="黑体" panose="02010609060101010101" pitchFamily="49" charset="-122"/>
                <a:ea typeface="黑体" panose="02010609060101010101" pitchFamily="49" charset="-122"/>
              </a:rPr>
              <a:t>振动稳定性</a:t>
            </a:r>
            <a:r>
              <a:rPr lang="zh-CN" altLang="en-US" sz="2200" dirty="0">
                <a:latin typeface="黑体" panose="02010609060101010101" pitchFamily="49" charset="-122"/>
                <a:ea typeface="黑体" panose="02010609060101010101" pitchFamily="49" charset="-122"/>
              </a:rPr>
              <a:t>的校核。</a:t>
            </a:r>
            <a:endParaRPr lang="zh-CN" altLang="en-US" sz="2200" dirty="0">
              <a:latin typeface="黑体" panose="02010609060101010101" pitchFamily="49" charset="-122"/>
              <a:ea typeface="黑体" panose="02010609060101010101" pitchFamily="49" charset="-122"/>
            </a:endParaRPr>
          </a:p>
        </p:txBody>
      </p:sp>
      <p:sp>
        <p:nvSpPr>
          <p:cNvPr id="24585" name="Text Box 11"/>
          <p:cNvSpPr txBox="1">
            <a:spLocks noChangeArrowheads="1"/>
          </p:cNvSpPr>
          <p:nvPr/>
        </p:nvSpPr>
        <p:spPr bwMode="auto">
          <a:xfrm>
            <a:off x="364222" y="794269"/>
            <a:ext cx="6076950" cy="429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zh-CN" altLang="en-US" sz="2200" dirty="0">
                <a:solidFill>
                  <a:srgbClr val="FF0000"/>
                </a:solidFill>
                <a:latin typeface="黑体" panose="02010609060101010101" pitchFamily="49" charset="-122"/>
                <a:ea typeface="黑体" panose="02010609060101010101" pitchFamily="49" charset="-122"/>
              </a:rPr>
              <a:t>五、轴的失效与设计准则</a:t>
            </a:r>
            <a:endParaRPr lang="zh-CN" altLang="en-US" sz="2200" dirty="0">
              <a:solidFill>
                <a:srgbClr val="FF0000"/>
              </a:solidFill>
              <a:latin typeface="黑体" panose="02010609060101010101" pitchFamily="49" charset="-122"/>
              <a:ea typeface="黑体" panose="02010609060101010101" pitchFamily="49" charset="-122"/>
            </a:endParaRPr>
          </a:p>
        </p:txBody>
      </p:sp>
      <p:sp>
        <p:nvSpPr>
          <p:cNvPr id="11" name="直接连接符 13"/>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17410" name="Rectangle 18"/>
          <p:cNvSpPr>
            <a:spLocks noChangeArrowheads="1"/>
          </p:cNvSpPr>
          <p:nvPr/>
        </p:nvSpPr>
        <p:spPr bwMode="auto">
          <a:xfrm>
            <a:off x="4953000" y="200025"/>
            <a:ext cx="35052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8000" anchor="ctr" anchorCtr="1"/>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sz="2400">
                <a:solidFill>
                  <a:srgbClr val="CC3300"/>
                </a:solidFill>
                <a:latin typeface="黑体" panose="02010609060101010101" pitchFamily="49" charset="-122"/>
                <a:ea typeface="黑体" panose="02010609060101010101" pitchFamily="49" charset="-122"/>
              </a:rPr>
              <a:t>3.7-1 </a:t>
            </a:r>
            <a:r>
              <a:rPr lang="zh-CN" altLang="en-US" sz="2400">
                <a:solidFill>
                  <a:srgbClr val="CC3300"/>
                </a:solidFill>
                <a:latin typeface="黑体" panose="02010609060101010101" pitchFamily="49" charset="-122"/>
                <a:ea typeface="黑体" panose="02010609060101010101" pitchFamily="49" charset="-122"/>
              </a:rPr>
              <a:t>轴的概述</a:t>
            </a:r>
            <a:endParaRPr lang="zh-CN" altLang="en-US" sz="2400">
              <a:solidFill>
                <a:srgbClr val="CC3300"/>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6324"/>
                                        </p:tgtEl>
                                        <p:attrNameLst>
                                          <p:attrName>style.visibility</p:attrName>
                                        </p:attrNameLst>
                                      </p:cBhvr>
                                      <p:to>
                                        <p:strVal val="visible"/>
                                      </p:to>
                                    </p:set>
                                    <p:animEffect transition="in" filter="wipe(left)">
                                      <p:cBhvr>
                                        <p:cTn id="7" dur="500"/>
                                        <p:tgtEl>
                                          <p:spTgt spid="5632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6328"/>
                                        </p:tgtEl>
                                        <p:attrNameLst>
                                          <p:attrName>style.visibility</p:attrName>
                                        </p:attrNameLst>
                                      </p:cBhvr>
                                      <p:to>
                                        <p:strVal val="visible"/>
                                      </p:to>
                                    </p:set>
                                    <p:animEffect transition="in" filter="wipe(left)">
                                      <p:cBhvr>
                                        <p:cTn id="12" dur="500"/>
                                        <p:tgtEl>
                                          <p:spTgt spid="5632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6325"/>
                                        </p:tgtEl>
                                        <p:attrNameLst>
                                          <p:attrName>style.visibility</p:attrName>
                                        </p:attrNameLst>
                                      </p:cBhvr>
                                      <p:to>
                                        <p:strVal val="visible"/>
                                      </p:to>
                                    </p:set>
                                    <p:animEffect transition="in" filter="wipe(left)">
                                      <p:cBhvr>
                                        <p:cTn id="17" dur="500"/>
                                        <p:tgtEl>
                                          <p:spTgt spid="5632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6326"/>
                                        </p:tgtEl>
                                        <p:attrNameLst>
                                          <p:attrName>style.visibility</p:attrName>
                                        </p:attrNameLst>
                                      </p:cBhvr>
                                      <p:to>
                                        <p:strVal val="visible"/>
                                      </p:to>
                                    </p:set>
                                    <p:animEffect transition="in" filter="wipe(left)">
                                      <p:cBhvr>
                                        <p:cTn id="22" dur="500"/>
                                        <p:tgtEl>
                                          <p:spTgt spid="5632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6327"/>
                                        </p:tgtEl>
                                        <p:attrNameLst>
                                          <p:attrName>style.visibility</p:attrName>
                                        </p:attrNameLst>
                                      </p:cBhvr>
                                      <p:to>
                                        <p:strVal val="visible"/>
                                      </p:to>
                                    </p:set>
                                    <p:animEffect transition="in" filter="wipe(left)">
                                      <p:cBhvr>
                                        <p:cTn id="27" dur="500"/>
                                        <p:tgtEl>
                                          <p:spTgt spid="5632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6329">
                                            <p:txEl>
                                              <p:pRg st="0" end="0"/>
                                            </p:txEl>
                                          </p:spTgt>
                                        </p:tgtEl>
                                        <p:attrNameLst>
                                          <p:attrName>style.visibility</p:attrName>
                                        </p:attrNameLst>
                                      </p:cBhvr>
                                      <p:to>
                                        <p:strVal val="visible"/>
                                      </p:to>
                                    </p:set>
                                    <p:animEffect transition="in" filter="wipe(left)">
                                      <p:cBhvr>
                                        <p:cTn id="32" dur="500"/>
                                        <p:tgtEl>
                                          <p:spTgt spid="56329">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56330"/>
                                        </p:tgtEl>
                                        <p:attrNameLst>
                                          <p:attrName>style.visibility</p:attrName>
                                        </p:attrNameLst>
                                      </p:cBhvr>
                                      <p:to>
                                        <p:strVal val="visible"/>
                                      </p:to>
                                    </p:set>
                                    <p:animEffect transition="in" filter="wipe(left)">
                                      <p:cBhvr>
                                        <p:cTn id="37" dur="500"/>
                                        <p:tgtEl>
                                          <p:spTgt spid="563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4" grpId="0" autoUpdateAnimBg="0"/>
      <p:bldP spid="56325" grpId="0" autoUpdateAnimBg="0"/>
      <p:bldP spid="56326" grpId="0" autoUpdateAnimBg="0"/>
      <p:bldP spid="56327" grpId="0" autoUpdateAnimBg="0"/>
      <p:bldP spid="56328" grpId="0"/>
      <p:bldP spid="56329" grpId="0" build="allAtOnce"/>
      <p:bldP spid="56330" grpId="0" bldLvl="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0" name="Text Box 4"/>
          <p:cNvSpPr txBox="1">
            <a:spLocks noChangeArrowheads="1"/>
          </p:cNvSpPr>
          <p:nvPr/>
        </p:nvSpPr>
        <p:spPr bwMode="auto">
          <a:xfrm>
            <a:off x="1145039" y="4451350"/>
            <a:ext cx="5295039"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buFont typeface="Wingdings" panose="05000000000000000000" pitchFamily="2" charset="2"/>
              <a:buChar char="Ø"/>
            </a:pPr>
            <a:r>
              <a:rPr lang="zh-CN" altLang="en-US" sz="2200" dirty="0">
                <a:solidFill>
                  <a:srgbClr val="002060"/>
                </a:solidFill>
                <a:latin typeface="华文中宋" panose="02010600040101010101" pitchFamily="2" charset="-122"/>
              </a:rPr>
              <a:t>有足够的</a:t>
            </a:r>
            <a:r>
              <a:rPr lang="zh-CN" altLang="en-US" sz="2200" dirty="0">
                <a:solidFill>
                  <a:srgbClr val="FF0000"/>
                </a:solidFill>
                <a:latin typeface="华文中宋" panose="02010600040101010101" pitchFamily="2" charset="-122"/>
              </a:rPr>
              <a:t>强度</a:t>
            </a:r>
            <a:r>
              <a:rPr lang="en-US" altLang="zh-CN" sz="2200" dirty="0">
                <a:solidFill>
                  <a:srgbClr val="002060"/>
                </a:solidFill>
              </a:rPr>
              <a:t>——</a:t>
            </a:r>
            <a:r>
              <a:rPr lang="en-US" altLang="zh-CN" sz="2200" dirty="0">
                <a:solidFill>
                  <a:srgbClr val="002060"/>
                </a:solidFill>
                <a:latin typeface="华文中宋" panose="02010600040101010101" pitchFamily="2" charset="-122"/>
              </a:rPr>
              <a:t> </a:t>
            </a:r>
            <a:r>
              <a:rPr lang="zh-CN" altLang="en-US" sz="2200" dirty="0">
                <a:solidFill>
                  <a:srgbClr val="002060"/>
                </a:solidFill>
                <a:latin typeface="华文中宋" panose="02010600040101010101" pitchFamily="2" charset="-122"/>
              </a:rPr>
              <a:t>疲劳强度、静强度</a:t>
            </a:r>
            <a:r>
              <a:rPr lang="zh-CN" altLang="en-US" sz="2200" dirty="0">
                <a:solidFill>
                  <a:schemeClr val="tx2"/>
                </a:solidFill>
                <a:latin typeface="华文中宋" panose="02010600040101010101" pitchFamily="2" charset="-122"/>
              </a:rPr>
              <a:t>；</a:t>
            </a:r>
            <a:endParaRPr lang="zh-CN" altLang="en-US" sz="2200" dirty="0">
              <a:solidFill>
                <a:schemeClr val="tx2"/>
              </a:solidFill>
              <a:latin typeface="华文中宋" panose="02010600040101010101" pitchFamily="2" charset="-122"/>
            </a:endParaRPr>
          </a:p>
        </p:txBody>
      </p:sp>
      <p:sp>
        <p:nvSpPr>
          <p:cNvPr id="55301" name="Text Box 5"/>
          <p:cNvSpPr txBox="1">
            <a:spLocks noChangeArrowheads="1"/>
          </p:cNvSpPr>
          <p:nvPr/>
        </p:nvSpPr>
        <p:spPr bwMode="auto">
          <a:xfrm>
            <a:off x="752475" y="1387475"/>
            <a:ext cx="6107113" cy="609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533400" indent="-533400"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20000"/>
              </a:lnSpc>
            </a:pPr>
            <a:r>
              <a:rPr lang="en-US" altLang="zh-CN" sz="2800" b="1" dirty="0">
                <a:solidFill>
                  <a:srgbClr val="800000"/>
                </a:solidFill>
                <a:latin typeface="华文中宋" panose="02010600040101010101" pitchFamily="2" charset="-122"/>
              </a:rPr>
              <a:t>1</a:t>
            </a:r>
            <a:r>
              <a:rPr lang="zh-CN" altLang="en-US" sz="2200" dirty="0">
                <a:solidFill>
                  <a:srgbClr val="800000"/>
                </a:solidFill>
                <a:latin typeface="黑体" panose="02010609060101010101" pitchFamily="49" charset="-122"/>
                <a:ea typeface="黑体" panose="02010609060101010101" pitchFamily="49" charset="-122"/>
              </a:rPr>
              <a:t>、合理的结构设计</a:t>
            </a:r>
            <a:endParaRPr lang="zh-CN" altLang="en-US" sz="2200" dirty="0">
              <a:solidFill>
                <a:srgbClr val="800000"/>
              </a:solidFill>
              <a:latin typeface="黑体" panose="02010609060101010101" pitchFamily="49" charset="-122"/>
              <a:ea typeface="黑体" panose="02010609060101010101" pitchFamily="49" charset="-122"/>
            </a:endParaRPr>
          </a:p>
        </p:txBody>
      </p:sp>
      <p:sp>
        <p:nvSpPr>
          <p:cNvPr id="55302" name="Text Box 6"/>
          <p:cNvSpPr txBox="1">
            <a:spLocks noChangeArrowheads="1"/>
          </p:cNvSpPr>
          <p:nvPr/>
        </p:nvSpPr>
        <p:spPr bwMode="auto">
          <a:xfrm>
            <a:off x="1096978" y="4970259"/>
            <a:ext cx="5295039"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buFont typeface="Wingdings" panose="05000000000000000000" pitchFamily="2" charset="2"/>
              <a:buChar char="Ø"/>
            </a:pPr>
            <a:r>
              <a:rPr lang="zh-CN" altLang="en-US" sz="2200" dirty="0">
                <a:solidFill>
                  <a:srgbClr val="002060"/>
                </a:solidFill>
                <a:latin typeface="华文中宋" panose="02010600040101010101" pitchFamily="2" charset="-122"/>
              </a:rPr>
              <a:t>有足够的</a:t>
            </a:r>
            <a:r>
              <a:rPr lang="zh-CN" altLang="en-US" sz="2200" dirty="0">
                <a:solidFill>
                  <a:srgbClr val="FF0000"/>
                </a:solidFill>
                <a:latin typeface="华文中宋" panose="02010600040101010101" pitchFamily="2" charset="-122"/>
              </a:rPr>
              <a:t>刚度</a:t>
            </a:r>
            <a:r>
              <a:rPr lang="en-US" altLang="zh-CN" sz="2200" dirty="0">
                <a:solidFill>
                  <a:srgbClr val="002060"/>
                </a:solidFill>
              </a:rPr>
              <a:t>——</a:t>
            </a:r>
            <a:r>
              <a:rPr lang="en-US" altLang="zh-CN" sz="2200" dirty="0">
                <a:solidFill>
                  <a:srgbClr val="002060"/>
                </a:solidFill>
                <a:latin typeface="华文中宋" panose="02010600040101010101" pitchFamily="2" charset="-122"/>
              </a:rPr>
              <a:t> </a:t>
            </a:r>
            <a:r>
              <a:rPr lang="zh-CN" altLang="en-US" sz="2200" dirty="0">
                <a:solidFill>
                  <a:srgbClr val="002060"/>
                </a:solidFill>
                <a:latin typeface="华文中宋" panose="02010600040101010101" pitchFamily="2" charset="-122"/>
              </a:rPr>
              <a:t>防止产生大的变形；</a:t>
            </a:r>
            <a:endParaRPr lang="zh-CN" altLang="en-US" sz="2200" dirty="0">
              <a:solidFill>
                <a:srgbClr val="002060"/>
              </a:solidFill>
              <a:latin typeface="华文中宋" panose="02010600040101010101" pitchFamily="2" charset="-122"/>
            </a:endParaRPr>
          </a:p>
        </p:txBody>
      </p:sp>
      <p:sp>
        <p:nvSpPr>
          <p:cNvPr id="55303" name="Text Box 7"/>
          <p:cNvSpPr txBox="1">
            <a:spLocks noChangeArrowheads="1"/>
          </p:cNvSpPr>
          <p:nvPr/>
        </p:nvSpPr>
        <p:spPr bwMode="auto">
          <a:xfrm>
            <a:off x="1063421" y="5542210"/>
            <a:ext cx="6051657"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buFont typeface="Wingdings" panose="05000000000000000000" pitchFamily="2" charset="2"/>
              <a:buChar char="Ø"/>
            </a:pPr>
            <a:r>
              <a:rPr lang="zh-CN" altLang="en-US" sz="2200" dirty="0">
                <a:solidFill>
                  <a:srgbClr val="002060"/>
                </a:solidFill>
                <a:latin typeface="华文中宋" panose="02010600040101010101" pitchFamily="2" charset="-122"/>
              </a:rPr>
              <a:t>有足够的</a:t>
            </a:r>
            <a:r>
              <a:rPr lang="zh-CN" altLang="en-US" sz="2200" dirty="0">
                <a:solidFill>
                  <a:srgbClr val="FF0000"/>
                </a:solidFill>
                <a:latin typeface="华文中宋" panose="02010600040101010101" pitchFamily="2" charset="-122"/>
              </a:rPr>
              <a:t>稳定性</a:t>
            </a:r>
            <a:r>
              <a:rPr lang="en-US" altLang="zh-CN" sz="2200" dirty="0">
                <a:solidFill>
                  <a:srgbClr val="002060"/>
                </a:solidFill>
              </a:rPr>
              <a:t>——</a:t>
            </a:r>
            <a:r>
              <a:rPr lang="zh-CN" altLang="en-US" sz="2200" dirty="0">
                <a:solidFill>
                  <a:srgbClr val="002060"/>
                </a:solidFill>
                <a:latin typeface="华文中宋" panose="02010600040101010101" pitchFamily="2" charset="-122"/>
              </a:rPr>
              <a:t>防止共振，稳定性计算。</a:t>
            </a:r>
            <a:endParaRPr lang="zh-CN" altLang="en-US" sz="2200" dirty="0">
              <a:solidFill>
                <a:srgbClr val="002060"/>
              </a:solidFill>
              <a:latin typeface="华文中宋" panose="02010600040101010101" pitchFamily="2" charset="-122"/>
            </a:endParaRPr>
          </a:p>
        </p:txBody>
      </p:sp>
      <p:sp>
        <p:nvSpPr>
          <p:cNvPr id="55304" name="Text Box 8"/>
          <p:cNvSpPr txBox="1">
            <a:spLocks noChangeArrowheads="1"/>
          </p:cNvSpPr>
          <p:nvPr/>
        </p:nvSpPr>
        <p:spPr bwMode="auto">
          <a:xfrm>
            <a:off x="702461" y="3921927"/>
            <a:ext cx="233429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sz="2200" dirty="0">
                <a:solidFill>
                  <a:srgbClr val="800000"/>
                </a:solidFill>
                <a:latin typeface="黑体" panose="02010609060101010101" pitchFamily="49" charset="-122"/>
                <a:ea typeface="黑体" panose="02010609060101010101" pitchFamily="49" charset="-122"/>
              </a:rPr>
              <a:t>2</a:t>
            </a:r>
            <a:r>
              <a:rPr lang="zh-CN" altLang="en-US" sz="2200" dirty="0">
                <a:solidFill>
                  <a:srgbClr val="800000"/>
                </a:solidFill>
                <a:latin typeface="黑体" panose="02010609060101010101" pitchFamily="49" charset="-122"/>
                <a:ea typeface="黑体" panose="02010609060101010101" pitchFamily="49" charset="-122"/>
              </a:rPr>
              <a:t>、工作能力计算</a:t>
            </a:r>
            <a:endParaRPr lang="zh-CN" altLang="en-US" sz="2200" dirty="0">
              <a:solidFill>
                <a:srgbClr val="800000"/>
              </a:solidFill>
              <a:latin typeface="黑体" panose="02010609060101010101" pitchFamily="49" charset="-122"/>
              <a:ea typeface="黑体" panose="02010609060101010101" pitchFamily="49" charset="-122"/>
            </a:endParaRPr>
          </a:p>
        </p:txBody>
      </p:sp>
      <p:grpSp>
        <p:nvGrpSpPr>
          <p:cNvPr id="2" name="Group 9"/>
          <p:cNvGrpSpPr/>
          <p:nvPr/>
        </p:nvGrpSpPr>
        <p:grpSpPr bwMode="auto">
          <a:xfrm>
            <a:off x="3949700" y="1443038"/>
            <a:ext cx="3457575" cy="430212"/>
            <a:chOff x="2578" y="717"/>
            <a:chExt cx="2178" cy="271"/>
          </a:xfrm>
        </p:grpSpPr>
        <p:sp>
          <p:nvSpPr>
            <p:cNvPr id="25613" name="Text Box 10"/>
            <p:cNvSpPr txBox="1">
              <a:spLocks noChangeArrowheads="1"/>
            </p:cNvSpPr>
            <p:nvPr/>
          </p:nvSpPr>
          <p:spPr bwMode="auto">
            <a:xfrm>
              <a:off x="3218" y="717"/>
              <a:ext cx="1538" cy="271"/>
            </a:xfrm>
            <a:prstGeom prst="rect">
              <a:avLst/>
            </a:prstGeom>
            <a:noFill/>
            <a:ln w="28575">
              <a:solidFill>
                <a:srgbClr val="F4A6AC"/>
              </a:solidFill>
              <a:miter lim="800000"/>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zh-CN" altLang="en-US" sz="2200" dirty="0"/>
                <a:t>轴</a:t>
              </a:r>
              <a:r>
                <a:rPr lang="zh-CN" altLang="en-US" sz="2200" dirty="0">
                  <a:latin typeface="华文中宋" panose="02010600040101010101" pitchFamily="2" charset="-122"/>
                </a:rPr>
                <a:t>设计的重要内容</a:t>
              </a:r>
              <a:endParaRPr lang="zh-CN" altLang="en-US" sz="2200" dirty="0">
                <a:latin typeface="华文中宋" panose="02010600040101010101" pitchFamily="2" charset="-122"/>
              </a:endParaRPr>
            </a:p>
          </p:txBody>
        </p:sp>
        <p:sp>
          <p:nvSpPr>
            <p:cNvPr id="25614" name="Line 11"/>
            <p:cNvSpPr>
              <a:spLocks noChangeShapeType="1"/>
            </p:cNvSpPr>
            <p:nvPr/>
          </p:nvSpPr>
          <p:spPr bwMode="auto">
            <a:xfrm>
              <a:off x="2578" y="914"/>
              <a:ext cx="631"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25608" name="Text Box 12"/>
          <p:cNvSpPr txBox="1">
            <a:spLocks noChangeArrowheads="1"/>
          </p:cNvSpPr>
          <p:nvPr/>
        </p:nvSpPr>
        <p:spPr bwMode="auto">
          <a:xfrm>
            <a:off x="543811" y="875030"/>
            <a:ext cx="6076950" cy="429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zh-CN" altLang="en-US" sz="2200" dirty="0">
                <a:solidFill>
                  <a:srgbClr val="C00000"/>
                </a:solidFill>
                <a:latin typeface="黑体" panose="02010609060101010101" pitchFamily="49" charset="-122"/>
                <a:ea typeface="黑体" panose="02010609060101010101" pitchFamily="49" charset="-122"/>
              </a:rPr>
              <a:t>六、轴设计的主要问题</a:t>
            </a:r>
            <a:endParaRPr lang="zh-CN" altLang="en-US" sz="2200" dirty="0">
              <a:solidFill>
                <a:srgbClr val="C00000"/>
              </a:solidFill>
              <a:latin typeface="黑体" panose="02010609060101010101" pitchFamily="49" charset="-122"/>
              <a:ea typeface="黑体" panose="02010609060101010101" pitchFamily="49" charset="-122"/>
            </a:endParaRPr>
          </a:p>
        </p:txBody>
      </p:sp>
      <p:grpSp>
        <p:nvGrpSpPr>
          <p:cNvPr id="3" name="Group 13"/>
          <p:cNvGrpSpPr/>
          <p:nvPr/>
        </p:nvGrpSpPr>
        <p:grpSpPr bwMode="auto">
          <a:xfrm>
            <a:off x="6545263" y="2224088"/>
            <a:ext cx="1647825" cy="1293812"/>
            <a:chOff x="4361" y="1267"/>
            <a:chExt cx="1038" cy="815"/>
          </a:xfrm>
        </p:grpSpPr>
        <p:sp>
          <p:nvSpPr>
            <p:cNvPr id="25611" name="Text Box 14"/>
            <p:cNvSpPr txBox="1">
              <a:spLocks noChangeArrowheads="1"/>
            </p:cNvSpPr>
            <p:nvPr/>
          </p:nvSpPr>
          <p:spPr bwMode="auto">
            <a:xfrm>
              <a:off x="4562" y="1415"/>
              <a:ext cx="837" cy="548"/>
            </a:xfrm>
            <a:prstGeom prst="rect">
              <a:avLst/>
            </a:prstGeom>
            <a:gradFill rotWithShape="1">
              <a:gsLst>
                <a:gs pos="0">
                  <a:srgbClr val="FFFFCC"/>
                </a:gs>
                <a:gs pos="100000">
                  <a:srgbClr val="FFFFE4"/>
                </a:gs>
              </a:gsLst>
              <a:lin ang="5400000" scaled="1"/>
            </a:gradFill>
            <a:ln w="38100" cmpd="dbl">
              <a:solidFill>
                <a:srgbClr val="CC6600"/>
              </a:solidFill>
              <a:miter lim="800000"/>
            </a:ln>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algn="ctr" eaLnBrk="1" hangingPunct="1">
                <a:lnSpc>
                  <a:spcPct val="120000"/>
                </a:lnSpc>
                <a:buClr>
                  <a:srgbClr val="CC0000"/>
                </a:buClr>
                <a:buFontTx/>
                <a:buChar char="•"/>
              </a:pPr>
              <a:r>
                <a:rPr lang="zh-CN" altLang="en-US" sz="2200" b="1" dirty="0">
                  <a:solidFill>
                    <a:srgbClr val="800000"/>
                  </a:solidFill>
                </a:rPr>
                <a:t>形状</a:t>
              </a:r>
              <a:endParaRPr lang="zh-CN" altLang="en-US" sz="2200" b="1" dirty="0">
                <a:solidFill>
                  <a:srgbClr val="800000"/>
                </a:solidFill>
              </a:endParaRPr>
            </a:p>
            <a:p>
              <a:pPr algn="ctr" eaLnBrk="1" hangingPunct="1">
                <a:lnSpc>
                  <a:spcPct val="120000"/>
                </a:lnSpc>
                <a:buClr>
                  <a:srgbClr val="CC0000"/>
                </a:buClr>
                <a:buFontTx/>
                <a:buChar char="•"/>
              </a:pPr>
              <a:r>
                <a:rPr lang="zh-CN" altLang="en-US" sz="2200" b="1" dirty="0">
                  <a:solidFill>
                    <a:srgbClr val="800000"/>
                  </a:solidFill>
                </a:rPr>
                <a:t>尺寸</a:t>
              </a:r>
              <a:endParaRPr lang="zh-CN" altLang="en-US" sz="2200" b="1" dirty="0">
                <a:solidFill>
                  <a:srgbClr val="800000"/>
                </a:solidFill>
              </a:endParaRPr>
            </a:p>
          </p:txBody>
        </p:sp>
        <p:sp>
          <p:nvSpPr>
            <p:cNvPr id="25612" name="AutoShape 15"/>
            <p:cNvSpPr/>
            <p:nvPr/>
          </p:nvSpPr>
          <p:spPr bwMode="auto">
            <a:xfrm>
              <a:off x="4361" y="1267"/>
              <a:ext cx="124" cy="815"/>
            </a:xfrm>
            <a:prstGeom prst="rightBrace">
              <a:avLst>
                <a:gd name="adj1" fmla="val 54772"/>
                <a:gd name="adj2" fmla="val 50000"/>
              </a:avLst>
            </a:prstGeom>
            <a:noFill/>
            <a:ln w="28575">
              <a:solidFill>
                <a:srgbClr val="F5A5C9"/>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endParaRPr lang="zh-CN" altLang="en-US"/>
            </a:p>
          </p:txBody>
        </p:sp>
      </p:grpSp>
      <p:sp>
        <p:nvSpPr>
          <p:cNvPr id="55312" name="Text Box 16"/>
          <p:cNvSpPr txBox="1">
            <a:spLocks noChangeArrowheads="1"/>
          </p:cNvSpPr>
          <p:nvPr/>
        </p:nvSpPr>
        <p:spPr bwMode="auto">
          <a:xfrm>
            <a:off x="947938" y="2074578"/>
            <a:ext cx="5589587" cy="1387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20000"/>
              </a:lnSpc>
              <a:spcBef>
                <a:spcPct val="50000"/>
              </a:spcBef>
            </a:pPr>
            <a:r>
              <a:rPr lang="en-US" altLang="zh-CN" sz="2800" dirty="0">
                <a:solidFill>
                  <a:schemeClr val="tx2"/>
                </a:solidFill>
                <a:latin typeface="华文中宋" panose="02010600040101010101" pitchFamily="2" charset="-122"/>
              </a:rPr>
              <a:t>    </a:t>
            </a:r>
            <a:r>
              <a:rPr lang="zh-CN" altLang="en-US" sz="2200" dirty="0">
                <a:solidFill>
                  <a:srgbClr val="002060"/>
                </a:solidFill>
                <a:latin typeface="华文中宋" panose="02010600040101010101" pitchFamily="2" charset="-122"/>
              </a:rPr>
              <a:t>保证轴上零件有可靠的工作位置，装拆方便，固定可靠，调整方便，满足工艺性、经济性要求等。</a:t>
            </a:r>
            <a:endParaRPr lang="zh-CN" altLang="en-US" sz="2200" dirty="0">
              <a:solidFill>
                <a:srgbClr val="002060"/>
              </a:solidFill>
              <a:latin typeface="华文中宋" panose="02010600040101010101" pitchFamily="2" charset="-122"/>
            </a:endParaRPr>
          </a:p>
        </p:txBody>
      </p:sp>
      <p:sp>
        <p:nvSpPr>
          <p:cNvPr id="16" name="直接连接符 13"/>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17410" name="Rectangle 18"/>
          <p:cNvSpPr>
            <a:spLocks noChangeArrowheads="1"/>
          </p:cNvSpPr>
          <p:nvPr/>
        </p:nvSpPr>
        <p:spPr bwMode="auto">
          <a:xfrm>
            <a:off x="4953000" y="200025"/>
            <a:ext cx="35052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8000" anchor="ctr" anchorCtr="1"/>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sz="2400">
                <a:solidFill>
                  <a:srgbClr val="CC3300"/>
                </a:solidFill>
                <a:latin typeface="黑体" panose="02010609060101010101" pitchFamily="49" charset="-122"/>
                <a:ea typeface="黑体" panose="02010609060101010101" pitchFamily="49" charset="-122"/>
              </a:rPr>
              <a:t>3.7-1 </a:t>
            </a:r>
            <a:r>
              <a:rPr lang="zh-CN" altLang="en-US" sz="2400">
                <a:solidFill>
                  <a:srgbClr val="CC3300"/>
                </a:solidFill>
                <a:latin typeface="黑体" panose="02010609060101010101" pitchFamily="49" charset="-122"/>
                <a:ea typeface="黑体" panose="02010609060101010101" pitchFamily="49" charset="-122"/>
              </a:rPr>
              <a:t>轴的概述</a:t>
            </a:r>
            <a:endParaRPr lang="zh-CN" altLang="en-US" sz="2400">
              <a:solidFill>
                <a:srgbClr val="CC3300"/>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5301">
                                            <p:txEl>
                                              <p:pRg st="0" end="0"/>
                                            </p:txEl>
                                          </p:spTgt>
                                        </p:tgtEl>
                                        <p:attrNameLst>
                                          <p:attrName>style.visibility</p:attrName>
                                        </p:attrNameLst>
                                      </p:cBhvr>
                                      <p:to>
                                        <p:strVal val="visible"/>
                                      </p:to>
                                    </p:set>
                                    <p:animEffect transition="in" filter="wipe(left)">
                                      <p:cBhvr>
                                        <p:cTn id="7" dur="500"/>
                                        <p:tgtEl>
                                          <p:spTgt spid="55301">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55304"/>
                                        </p:tgtEl>
                                        <p:attrNameLst>
                                          <p:attrName>style.visibility</p:attrName>
                                        </p:attrNameLst>
                                      </p:cBhvr>
                                      <p:to>
                                        <p:strVal val="visible"/>
                                      </p:to>
                                    </p:set>
                                    <p:animEffect transition="in" filter="wipe(left)">
                                      <p:cBhvr>
                                        <p:cTn id="10" dur="500"/>
                                        <p:tgtEl>
                                          <p:spTgt spid="55304"/>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5"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blinds(vertical)">
                                      <p:cBhvr>
                                        <p:cTn id="15" dur="5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4" presetClass="entr" presetSubtype="16" fill="hold" grpId="0" nodeType="clickEffect">
                                  <p:stCondLst>
                                    <p:cond delay="0"/>
                                  </p:stCondLst>
                                  <p:childTnLst>
                                    <p:set>
                                      <p:cBhvr>
                                        <p:cTn id="19" dur="1" fill="hold">
                                          <p:stCondLst>
                                            <p:cond delay="0"/>
                                          </p:stCondLst>
                                        </p:cTn>
                                        <p:tgtEl>
                                          <p:spTgt spid="55312"/>
                                        </p:tgtEl>
                                        <p:attrNameLst>
                                          <p:attrName>style.visibility</p:attrName>
                                        </p:attrNameLst>
                                      </p:cBhvr>
                                      <p:to>
                                        <p:strVal val="visible"/>
                                      </p:to>
                                    </p:set>
                                    <p:animEffect transition="in" filter="box(in)">
                                      <p:cBhvr>
                                        <p:cTn id="20" dur="500"/>
                                        <p:tgtEl>
                                          <p:spTgt spid="55312"/>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wipe(left)">
                                      <p:cBhvr>
                                        <p:cTn id="25" dur="500"/>
                                        <p:tgtEl>
                                          <p:spTgt spid="3"/>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55300"/>
                                        </p:tgtEl>
                                        <p:attrNameLst>
                                          <p:attrName>style.visibility</p:attrName>
                                        </p:attrNameLst>
                                      </p:cBhvr>
                                      <p:to>
                                        <p:strVal val="visible"/>
                                      </p:to>
                                    </p:set>
                                    <p:animEffect transition="in" filter="wipe(left)">
                                      <p:cBhvr>
                                        <p:cTn id="30" dur="500"/>
                                        <p:tgtEl>
                                          <p:spTgt spid="55300"/>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55302"/>
                                        </p:tgtEl>
                                        <p:attrNameLst>
                                          <p:attrName>style.visibility</p:attrName>
                                        </p:attrNameLst>
                                      </p:cBhvr>
                                      <p:to>
                                        <p:strVal val="visible"/>
                                      </p:to>
                                    </p:set>
                                    <p:animEffect transition="in" filter="wipe(left)">
                                      <p:cBhvr>
                                        <p:cTn id="35" dur="500"/>
                                        <p:tgtEl>
                                          <p:spTgt spid="55302"/>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55303"/>
                                        </p:tgtEl>
                                        <p:attrNameLst>
                                          <p:attrName>style.visibility</p:attrName>
                                        </p:attrNameLst>
                                      </p:cBhvr>
                                      <p:to>
                                        <p:strVal val="visible"/>
                                      </p:to>
                                    </p:set>
                                    <p:animEffect transition="in" filter="wipe(left)">
                                      <p:cBhvr>
                                        <p:cTn id="40" dur="500"/>
                                        <p:tgtEl>
                                          <p:spTgt spid="553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00" grpId="0" autoUpdateAnimBg="0"/>
      <p:bldP spid="55301" grpId="0" autoUpdateAnimBg="0" build="p"/>
      <p:bldP spid="55302" grpId="0" autoUpdateAnimBg="0"/>
      <p:bldP spid="55303" grpId="0" autoUpdateAnimBg="0"/>
      <p:bldP spid="55304" grpId="0" autoUpdateAnimBg="0"/>
      <p:bldP spid="5531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bwMode="auto">
          <a:xfrm>
            <a:off x="6818313" y="862013"/>
            <a:ext cx="1528762" cy="1968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algn="l" eaLnBrk="1" hangingPunct="1"/>
            <a:r>
              <a:rPr lang="zh-CN" altLang="en-US" sz="800" smtClean="0">
                <a:solidFill>
                  <a:schemeClr val="bg1"/>
                </a:solidFill>
                <a:latin typeface="黑体" panose="02010609060101010101" pitchFamily="49" charset="-122"/>
                <a:ea typeface="黑体" panose="02010609060101010101" pitchFamily="49" charset="-122"/>
              </a:rPr>
              <a:t>轴的结构设计</a:t>
            </a:r>
            <a:r>
              <a:rPr lang="en-US" altLang="zh-CN" sz="800" smtClean="0">
                <a:solidFill>
                  <a:schemeClr val="bg1"/>
                </a:solidFill>
                <a:latin typeface="黑体" panose="02010609060101010101" pitchFamily="49" charset="-122"/>
                <a:ea typeface="黑体" panose="02010609060101010101" pitchFamily="49" charset="-122"/>
              </a:rPr>
              <a:t>1</a:t>
            </a:r>
            <a:endParaRPr lang="en-US" altLang="zh-CN" sz="800" smtClean="0">
              <a:solidFill>
                <a:schemeClr val="bg1"/>
              </a:solidFill>
              <a:latin typeface="黑体" panose="02010609060101010101" pitchFamily="49" charset="-122"/>
              <a:ea typeface="黑体" panose="02010609060101010101" pitchFamily="49" charset="-122"/>
            </a:endParaRPr>
          </a:p>
        </p:txBody>
      </p:sp>
      <p:sp>
        <p:nvSpPr>
          <p:cNvPr id="31748" name="Text Box 6"/>
          <p:cNvSpPr txBox="1">
            <a:spLocks noChangeArrowheads="1"/>
          </p:cNvSpPr>
          <p:nvPr/>
        </p:nvSpPr>
        <p:spPr bwMode="auto">
          <a:xfrm>
            <a:off x="4864100" y="174625"/>
            <a:ext cx="4254500"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sz="3000" dirty="0" smtClean="0">
                <a:solidFill>
                  <a:srgbClr val="CC3300"/>
                </a:solidFill>
                <a:latin typeface="黑体" panose="02010609060101010101" pitchFamily="49" charset="-122"/>
                <a:ea typeface="黑体" panose="02010609060101010101" pitchFamily="49" charset="-122"/>
              </a:rPr>
              <a:t>3.7-2 </a:t>
            </a:r>
            <a:r>
              <a:rPr lang="zh-CN" altLang="en-US" sz="3000" dirty="0">
                <a:solidFill>
                  <a:srgbClr val="CC3300"/>
                </a:solidFill>
                <a:latin typeface="黑体" panose="02010609060101010101" pitchFamily="49" charset="-122"/>
                <a:ea typeface="黑体" panose="02010609060101010101" pitchFamily="49" charset="-122"/>
              </a:rPr>
              <a:t>轴的结构设计</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33805" name="Text Box 13"/>
          <p:cNvSpPr txBox="1">
            <a:spLocks noChangeArrowheads="1"/>
          </p:cNvSpPr>
          <p:nvPr/>
        </p:nvSpPr>
        <p:spPr bwMode="auto">
          <a:xfrm>
            <a:off x="1165677" y="2662488"/>
            <a:ext cx="6096541" cy="1048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50000"/>
              </a:lnSpc>
            </a:pPr>
            <a:r>
              <a:rPr lang="zh-CN" altLang="en-US" sz="2200" dirty="0">
                <a:latin typeface="华文中宋" panose="02010600040101010101" pitchFamily="2" charset="-122"/>
              </a:rPr>
              <a:t>轴的结构设计应该保证：</a:t>
            </a:r>
            <a:endParaRPr lang="zh-CN" altLang="en-US" sz="2200" dirty="0">
              <a:latin typeface="华文中宋" panose="02010600040101010101" pitchFamily="2" charset="-122"/>
            </a:endParaRPr>
          </a:p>
          <a:p>
            <a:pPr marL="457200" indent="-457200" eaLnBrk="1" hangingPunct="1">
              <a:lnSpc>
                <a:spcPct val="150000"/>
              </a:lnSpc>
              <a:buFont typeface="+mj-ea"/>
              <a:buAutoNum type="circleNumDbPlain"/>
            </a:pPr>
            <a:r>
              <a:rPr lang="zh-CN" altLang="en-US" sz="2200" dirty="0" smtClean="0">
                <a:solidFill>
                  <a:srgbClr val="CC3300"/>
                </a:solidFill>
                <a:latin typeface="华文中宋" panose="02010600040101010101" pitchFamily="2" charset="-122"/>
              </a:rPr>
              <a:t> </a:t>
            </a:r>
            <a:r>
              <a:rPr lang="zh-CN" altLang="en-US" sz="2200" dirty="0" smtClean="0">
                <a:latin typeface="华文中宋" panose="02010600040101010101" pitchFamily="2" charset="-122"/>
              </a:rPr>
              <a:t>轴和装在轴上的零件要有准确的工作位置；</a:t>
            </a:r>
            <a:endParaRPr lang="zh-CN" altLang="en-US" sz="2200" dirty="0">
              <a:latin typeface="华文中宋" panose="02010600040101010101" pitchFamily="2" charset="-122"/>
            </a:endParaRPr>
          </a:p>
        </p:txBody>
      </p:sp>
      <p:sp>
        <p:nvSpPr>
          <p:cNvPr id="33806" name="Text Box 14"/>
          <p:cNvSpPr txBox="1">
            <a:spLocks noChangeArrowheads="1"/>
          </p:cNvSpPr>
          <p:nvPr/>
        </p:nvSpPr>
        <p:spPr bwMode="auto">
          <a:xfrm>
            <a:off x="1141412" y="3726882"/>
            <a:ext cx="5497018" cy="4985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marL="457200" indent="-457200" eaLnBrk="1" hangingPunct="1">
              <a:lnSpc>
                <a:spcPct val="120000"/>
              </a:lnSpc>
              <a:buClr>
                <a:srgbClr val="C00000"/>
              </a:buClr>
              <a:buFont typeface="+mj-ea"/>
              <a:buAutoNum type="circleNumDbPlain" startAt="2"/>
            </a:pPr>
            <a:r>
              <a:rPr lang="zh-CN" altLang="en-US" sz="2200" dirty="0" smtClean="0">
                <a:latin typeface="华文中宋" panose="02010600040101010101" pitchFamily="2" charset="-122"/>
              </a:rPr>
              <a:t>受力合理</a:t>
            </a:r>
            <a:r>
              <a:rPr lang="en-US" altLang="zh-CN" sz="2200" dirty="0" smtClean="0">
                <a:latin typeface="华文中宋" panose="02010600040101010101" pitchFamily="2" charset="-122"/>
              </a:rPr>
              <a:t>---</a:t>
            </a:r>
            <a:r>
              <a:rPr lang="zh-CN" altLang="en-US" sz="2200" dirty="0" smtClean="0">
                <a:latin typeface="华文中宋" panose="02010600040101010101" pitchFamily="2" charset="-122"/>
              </a:rPr>
              <a:t>有利于提高其强度和刚度；</a:t>
            </a:r>
            <a:endParaRPr lang="zh-CN" altLang="en-US" sz="2200" dirty="0">
              <a:latin typeface="华文中宋" panose="02010600040101010101" pitchFamily="2" charset="-122"/>
            </a:endParaRPr>
          </a:p>
        </p:txBody>
      </p:sp>
      <p:sp>
        <p:nvSpPr>
          <p:cNvPr id="33807" name="Text Box 15"/>
          <p:cNvSpPr txBox="1">
            <a:spLocks noChangeArrowheads="1"/>
          </p:cNvSpPr>
          <p:nvPr/>
        </p:nvSpPr>
        <p:spPr bwMode="auto">
          <a:xfrm>
            <a:off x="1108741" y="4799212"/>
            <a:ext cx="657103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marL="457200" indent="-457200" eaLnBrk="1" hangingPunct="1">
              <a:buClr>
                <a:srgbClr val="C00000"/>
              </a:buClr>
              <a:buFont typeface="+mj-ea"/>
              <a:buAutoNum type="circleNumDbPlain" startAt="4"/>
            </a:pPr>
            <a:r>
              <a:rPr lang="zh-CN" altLang="en-US" sz="2200" dirty="0" smtClean="0">
                <a:latin typeface="华文中宋" panose="02010600040101010101" pitchFamily="2" charset="-122"/>
              </a:rPr>
              <a:t>轴</a:t>
            </a:r>
            <a:r>
              <a:rPr lang="zh-CN" altLang="en-US" sz="2200" dirty="0">
                <a:latin typeface="华文中宋" panose="02010600040101010101" pitchFamily="2" charset="-122"/>
              </a:rPr>
              <a:t>应具有良好的制造工艺</a:t>
            </a:r>
            <a:r>
              <a:rPr lang="zh-CN" altLang="en-US" sz="2200" dirty="0" smtClean="0">
                <a:latin typeface="华文中宋" panose="02010600040101010101" pitchFamily="2" charset="-122"/>
              </a:rPr>
              <a:t>性，减少应力集中等</a:t>
            </a:r>
            <a:r>
              <a:rPr lang="zh-CN" altLang="en-US" sz="2200" dirty="0">
                <a:latin typeface="华文中宋" panose="02010600040101010101" pitchFamily="2" charset="-122"/>
              </a:rPr>
              <a:t>。</a:t>
            </a:r>
            <a:endParaRPr lang="zh-CN" altLang="en-US" sz="2200" dirty="0">
              <a:latin typeface="华文中宋" panose="02010600040101010101" pitchFamily="2" charset="-122"/>
            </a:endParaRPr>
          </a:p>
        </p:txBody>
      </p:sp>
      <p:pic>
        <p:nvPicPr>
          <p:cNvPr id="33822" name="Picture 30" descr="NEXT">
            <a:hlinkClick r:id="" action="ppaction://hlinkshowjump?jump=nextslide"/>
          </p:cNvPr>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742363" y="6532563"/>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823" name="Picture 31" descr="rewind">
            <a:hlinkClick r:id="" action="ppaction://hlinkshowjump?jump=firstslide"/>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43900" y="6532563"/>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60" name="Text Box 32"/>
          <p:cNvSpPr txBox="1">
            <a:spLocks noChangeArrowheads="1"/>
          </p:cNvSpPr>
          <p:nvPr/>
        </p:nvSpPr>
        <p:spPr bwMode="auto">
          <a:xfrm>
            <a:off x="7764463" y="5848350"/>
            <a:ext cx="844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50000"/>
              </a:spcBef>
            </a:pPr>
            <a:r>
              <a:rPr lang="en-US" altLang="zh-CN"/>
              <a:t>     </a:t>
            </a:r>
            <a:endParaRPr lang="en-US" altLang="zh-CN"/>
          </a:p>
        </p:txBody>
      </p:sp>
      <p:sp>
        <p:nvSpPr>
          <p:cNvPr id="31761"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4" name="矩形 3"/>
          <p:cNvSpPr/>
          <p:nvPr/>
        </p:nvSpPr>
        <p:spPr>
          <a:xfrm>
            <a:off x="1795112" y="1304010"/>
            <a:ext cx="6819498" cy="430887"/>
          </a:xfrm>
          <a:prstGeom prst="rect">
            <a:avLst/>
          </a:prstGeom>
        </p:spPr>
        <p:txBody>
          <a:bodyPr wrap="square">
            <a:spAutoFit/>
          </a:bodyPr>
          <a:lstStyle/>
          <a:p>
            <a:pPr eaLnBrk="1" hangingPunct="1"/>
            <a:r>
              <a:rPr lang="zh-CN" altLang="en-US" sz="2200" b="1" dirty="0" smtClean="0">
                <a:solidFill>
                  <a:srgbClr val="002060"/>
                </a:solidFill>
              </a:rPr>
              <a:t>确定轴的合理形状、全部结构尺寸：</a:t>
            </a:r>
            <a:r>
              <a:rPr lang="en-US" altLang="zh-CN" sz="2200" b="1" i="1" dirty="0" smtClean="0">
                <a:solidFill>
                  <a:srgbClr val="FF0000"/>
                </a:solidFill>
              </a:rPr>
              <a:t>d</a:t>
            </a:r>
            <a:r>
              <a:rPr lang="zh-CN" altLang="en-US" sz="2200" b="1" dirty="0" smtClean="0">
                <a:solidFill>
                  <a:srgbClr val="002060"/>
                </a:solidFill>
              </a:rPr>
              <a:t>、</a:t>
            </a:r>
            <a:r>
              <a:rPr lang="en-US" altLang="zh-CN" sz="2200" b="1" i="1" dirty="0" smtClean="0">
                <a:solidFill>
                  <a:srgbClr val="FF0000"/>
                </a:solidFill>
              </a:rPr>
              <a:t>l</a:t>
            </a:r>
            <a:r>
              <a:rPr lang="zh-CN" altLang="en-US" sz="2200" b="1" dirty="0" smtClean="0">
                <a:solidFill>
                  <a:srgbClr val="002060"/>
                </a:solidFill>
              </a:rPr>
              <a:t>；</a:t>
            </a:r>
            <a:endParaRPr lang="zh-CN" altLang="en-US" sz="2200" b="1" dirty="0">
              <a:solidFill>
                <a:srgbClr val="002060"/>
              </a:solidFill>
            </a:endParaRPr>
          </a:p>
        </p:txBody>
      </p:sp>
      <p:sp>
        <p:nvSpPr>
          <p:cNvPr id="5" name="文本框 4"/>
          <p:cNvSpPr txBox="1"/>
          <p:nvPr/>
        </p:nvSpPr>
        <p:spPr>
          <a:xfrm>
            <a:off x="866274" y="1280160"/>
            <a:ext cx="1530417" cy="461665"/>
          </a:xfrm>
          <a:prstGeom prst="rect">
            <a:avLst/>
          </a:prstGeom>
          <a:noFill/>
        </p:spPr>
        <p:txBody>
          <a:bodyPr wrap="square" rtlCol="0">
            <a:spAutoFit/>
          </a:bodyPr>
          <a:lstStyle/>
          <a:p>
            <a:r>
              <a:rPr lang="zh-CN" altLang="en-US" sz="2400" dirty="0" smtClean="0">
                <a:solidFill>
                  <a:srgbClr val="C00000"/>
                </a:solidFill>
                <a:latin typeface="黑体" panose="02010609060101010101" pitchFamily="49" charset="-122"/>
                <a:ea typeface="黑体" panose="02010609060101010101" pitchFamily="49" charset="-122"/>
              </a:rPr>
              <a:t>目的：</a:t>
            </a:r>
            <a:endParaRPr lang="zh-CN" altLang="en-US" sz="2400" dirty="0">
              <a:solidFill>
                <a:srgbClr val="C00000"/>
              </a:solidFill>
              <a:latin typeface="黑体" panose="02010609060101010101" pitchFamily="49" charset="-122"/>
              <a:ea typeface="黑体" panose="02010609060101010101" pitchFamily="49" charset="-122"/>
            </a:endParaRPr>
          </a:p>
        </p:txBody>
      </p:sp>
      <p:sp>
        <p:nvSpPr>
          <p:cNvPr id="24" name="文本框 23"/>
          <p:cNvSpPr txBox="1"/>
          <p:nvPr/>
        </p:nvSpPr>
        <p:spPr>
          <a:xfrm>
            <a:off x="904775" y="2136809"/>
            <a:ext cx="1530417" cy="461665"/>
          </a:xfrm>
          <a:prstGeom prst="rect">
            <a:avLst/>
          </a:prstGeom>
          <a:noFill/>
        </p:spPr>
        <p:txBody>
          <a:bodyPr wrap="square" rtlCol="0">
            <a:spAutoFit/>
          </a:bodyPr>
          <a:lstStyle/>
          <a:p>
            <a:r>
              <a:rPr lang="zh-CN" altLang="en-US" sz="2400" dirty="0">
                <a:solidFill>
                  <a:srgbClr val="C00000"/>
                </a:solidFill>
                <a:latin typeface="黑体" panose="02010609060101010101" pitchFamily="49" charset="-122"/>
                <a:ea typeface="黑体" panose="02010609060101010101" pitchFamily="49" charset="-122"/>
              </a:rPr>
              <a:t>要求</a:t>
            </a:r>
            <a:r>
              <a:rPr lang="zh-CN" altLang="en-US" sz="2400" dirty="0" smtClean="0">
                <a:solidFill>
                  <a:srgbClr val="C00000"/>
                </a:solidFill>
                <a:latin typeface="黑体" panose="02010609060101010101" pitchFamily="49" charset="-122"/>
                <a:ea typeface="黑体" panose="02010609060101010101" pitchFamily="49" charset="-122"/>
              </a:rPr>
              <a:t>：</a:t>
            </a:r>
            <a:endParaRPr lang="zh-CN" altLang="en-US" sz="2400" dirty="0">
              <a:solidFill>
                <a:srgbClr val="C00000"/>
              </a:solidFill>
              <a:latin typeface="黑体" panose="02010609060101010101" pitchFamily="49" charset="-122"/>
              <a:ea typeface="黑体" panose="02010609060101010101" pitchFamily="49" charset="-122"/>
            </a:endParaRPr>
          </a:p>
        </p:txBody>
      </p:sp>
      <p:sp>
        <p:nvSpPr>
          <p:cNvPr id="25" name="Text Box 14"/>
          <p:cNvSpPr txBox="1">
            <a:spLocks noChangeArrowheads="1"/>
          </p:cNvSpPr>
          <p:nvPr/>
        </p:nvSpPr>
        <p:spPr bwMode="auto">
          <a:xfrm>
            <a:off x="1122426" y="4259980"/>
            <a:ext cx="4596130" cy="46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marL="457200" indent="-457200" eaLnBrk="1" hangingPunct="1">
              <a:lnSpc>
                <a:spcPct val="120000"/>
              </a:lnSpc>
              <a:buClr>
                <a:srgbClr val="C00000"/>
              </a:buClr>
              <a:buFont typeface="+mj-ea"/>
              <a:buAutoNum type="circleNumDbPlain" startAt="3"/>
            </a:pPr>
            <a:r>
              <a:rPr lang="zh-CN" altLang="en-US" sz="2200" dirty="0" smtClean="0">
                <a:latin typeface="华文中宋" panose="02010600040101010101" pitchFamily="2" charset="-122"/>
              </a:rPr>
              <a:t>轴</a:t>
            </a:r>
            <a:r>
              <a:rPr lang="zh-CN" altLang="en-US" sz="2200" dirty="0">
                <a:latin typeface="华文中宋" panose="02010600040101010101" pitchFamily="2" charset="-122"/>
              </a:rPr>
              <a:t>上的零件应便于装拆和调整；</a:t>
            </a:r>
            <a:endParaRPr lang="zh-CN" altLang="en-US" sz="2200" dirty="0">
              <a:latin typeface="华文中宋"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wipe(left)">
                                      <p:cBhvr>
                                        <p:cTn id="15" dur="500"/>
                                        <p:tgtEl>
                                          <p:spTgt spid="24"/>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33805"/>
                                        </p:tgtEl>
                                        <p:attrNameLst>
                                          <p:attrName>style.visibility</p:attrName>
                                        </p:attrNameLst>
                                      </p:cBhvr>
                                      <p:to>
                                        <p:strVal val="visible"/>
                                      </p:to>
                                    </p:set>
                                    <p:animEffect transition="in" filter="wipe(left)">
                                      <p:cBhvr>
                                        <p:cTn id="20" dur="500"/>
                                        <p:tgtEl>
                                          <p:spTgt spid="33805"/>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grpId="0" nodeType="clickEffect">
                                  <p:stCondLst>
                                    <p:cond delay="0"/>
                                  </p:stCondLst>
                                  <p:childTnLst>
                                    <p:set>
                                      <p:cBhvr>
                                        <p:cTn id="24" dur="1" fill="hold">
                                          <p:stCondLst>
                                            <p:cond delay="0"/>
                                          </p:stCondLst>
                                        </p:cTn>
                                        <p:tgtEl>
                                          <p:spTgt spid="33806"/>
                                        </p:tgtEl>
                                        <p:attrNameLst>
                                          <p:attrName>style.visibility</p:attrName>
                                        </p:attrNameLst>
                                      </p:cBhvr>
                                      <p:to>
                                        <p:strVal val="visible"/>
                                      </p:to>
                                    </p:set>
                                    <p:animEffect transition="in" filter="wipe(up)">
                                      <p:cBhvr>
                                        <p:cTn id="25" dur="500"/>
                                        <p:tgtEl>
                                          <p:spTgt spid="33806"/>
                                        </p:tgtEl>
                                      </p:cBhvr>
                                    </p:animEffect>
                                  </p:childTnLst>
                                </p:cTn>
                              </p:par>
                            </p:childTnLst>
                          </p:cTn>
                        </p:par>
                        <p:par>
                          <p:cTn id="26" fill="hold">
                            <p:stCondLst>
                              <p:cond delay="500"/>
                            </p:stCondLst>
                            <p:childTnLst>
                              <p:par>
                                <p:cTn id="27" presetID="1" presetClass="entr" presetSubtype="0" fill="hold" nodeType="afterEffect">
                                  <p:stCondLst>
                                    <p:cond delay="0"/>
                                  </p:stCondLst>
                                  <p:childTnLst>
                                    <p:set>
                                      <p:cBhvr>
                                        <p:cTn id="28" dur="1" fill="hold">
                                          <p:stCondLst>
                                            <p:cond delay="499"/>
                                          </p:stCondLst>
                                        </p:cTn>
                                        <p:tgtEl>
                                          <p:spTgt spid="33822"/>
                                        </p:tgtEl>
                                        <p:attrNameLst>
                                          <p:attrName>style.visibility</p:attrName>
                                        </p:attrNameLst>
                                      </p:cBhvr>
                                      <p:to>
                                        <p:strVal val="visible"/>
                                      </p:to>
                                    </p:set>
                                  </p:childTnLst>
                                </p:cTn>
                              </p:par>
                            </p:childTnLst>
                          </p:cTn>
                        </p:par>
                        <p:par>
                          <p:cTn id="29" fill="hold">
                            <p:stCondLst>
                              <p:cond delay="1000"/>
                            </p:stCondLst>
                            <p:childTnLst>
                              <p:par>
                                <p:cTn id="30" presetID="2" presetClass="entr" presetSubtype="8" fill="hold" nodeType="afterEffect">
                                  <p:stCondLst>
                                    <p:cond delay="0"/>
                                  </p:stCondLst>
                                  <p:childTnLst>
                                    <p:set>
                                      <p:cBhvr>
                                        <p:cTn id="31" dur="1" fill="hold">
                                          <p:stCondLst>
                                            <p:cond delay="0"/>
                                          </p:stCondLst>
                                        </p:cTn>
                                        <p:tgtEl>
                                          <p:spTgt spid="33823"/>
                                        </p:tgtEl>
                                        <p:attrNameLst>
                                          <p:attrName>style.visibility</p:attrName>
                                        </p:attrNameLst>
                                      </p:cBhvr>
                                      <p:to>
                                        <p:strVal val="visible"/>
                                      </p:to>
                                    </p:set>
                                    <p:anim calcmode="lin" valueType="num">
                                      <p:cBhvr additive="base">
                                        <p:cTn id="32" dur="500" fill="hold"/>
                                        <p:tgtEl>
                                          <p:spTgt spid="33823"/>
                                        </p:tgtEl>
                                        <p:attrNameLst>
                                          <p:attrName>ppt_x</p:attrName>
                                        </p:attrNameLst>
                                      </p:cBhvr>
                                      <p:tavLst>
                                        <p:tav tm="0">
                                          <p:val>
                                            <p:strVal val="0-#ppt_w/2"/>
                                          </p:val>
                                        </p:tav>
                                        <p:tav tm="100000">
                                          <p:val>
                                            <p:strVal val="#ppt_x"/>
                                          </p:val>
                                        </p:tav>
                                      </p:tavLst>
                                    </p:anim>
                                    <p:anim calcmode="lin" valueType="num">
                                      <p:cBhvr additive="base">
                                        <p:cTn id="33" dur="500" fill="hold"/>
                                        <p:tgtEl>
                                          <p:spTgt spid="33823"/>
                                        </p:tgtEl>
                                        <p:attrNameLst>
                                          <p:attrName>ppt_y</p:attrName>
                                        </p:attrNameLst>
                                      </p:cBhvr>
                                      <p:tavLst>
                                        <p:tav tm="0">
                                          <p:val>
                                            <p:strVal val="#ppt_y"/>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2" presetClass="entr" presetSubtype="1" fill="hold" grpId="0" nodeType="clickEffect">
                                  <p:stCondLst>
                                    <p:cond delay="0"/>
                                  </p:stCondLst>
                                  <p:childTnLst>
                                    <p:set>
                                      <p:cBhvr>
                                        <p:cTn id="37" dur="1" fill="hold">
                                          <p:stCondLst>
                                            <p:cond delay="0"/>
                                          </p:stCondLst>
                                        </p:cTn>
                                        <p:tgtEl>
                                          <p:spTgt spid="25"/>
                                        </p:tgtEl>
                                        <p:attrNameLst>
                                          <p:attrName>style.visibility</p:attrName>
                                        </p:attrNameLst>
                                      </p:cBhvr>
                                      <p:to>
                                        <p:strVal val="visible"/>
                                      </p:to>
                                    </p:set>
                                    <p:animEffect transition="in" filter="wipe(up)">
                                      <p:cBhvr>
                                        <p:cTn id="38" dur="500"/>
                                        <p:tgtEl>
                                          <p:spTgt spid="25"/>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1" fill="hold" grpId="0" nodeType="clickEffect">
                                  <p:stCondLst>
                                    <p:cond delay="0"/>
                                  </p:stCondLst>
                                  <p:childTnLst>
                                    <p:set>
                                      <p:cBhvr>
                                        <p:cTn id="42" dur="1" fill="hold">
                                          <p:stCondLst>
                                            <p:cond delay="0"/>
                                          </p:stCondLst>
                                        </p:cTn>
                                        <p:tgtEl>
                                          <p:spTgt spid="33807"/>
                                        </p:tgtEl>
                                        <p:attrNameLst>
                                          <p:attrName>style.visibility</p:attrName>
                                        </p:attrNameLst>
                                      </p:cBhvr>
                                      <p:to>
                                        <p:strVal val="visible"/>
                                      </p:to>
                                    </p:set>
                                    <p:animEffect transition="in" filter="wipe(up)">
                                      <p:cBhvr>
                                        <p:cTn id="43" dur="500"/>
                                        <p:tgtEl>
                                          <p:spTgt spid="338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805" grpId="0"/>
      <p:bldP spid="33806" grpId="0" autoUpdateAnimBg="0"/>
      <p:bldP spid="33807" grpId="0" autoUpdateAnimBg="0"/>
      <p:bldP spid="4" grpId="0"/>
      <p:bldP spid="5" grpId="0"/>
      <p:bldP spid="24" grpId="0"/>
      <p:bldP spid="25" grpId="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 Box 4"/>
          <p:cNvSpPr txBox="1">
            <a:spLocks noChangeArrowheads="1"/>
          </p:cNvSpPr>
          <p:nvPr/>
        </p:nvSpPr>
        <p:spPr bwMode="auto">
          <a:xfrm>
            <a:off x="343569" y="1005623"/>
            <a:ext cx="425291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20000"/>
              </a:spcBef>
            </a:pPr>
            <a:r>
              <a:rPr lang="zh-CN" altLang="en-US" sz="2200" dirty="0" smtClean="0">
                <a:solidFill>
                  <a:srgbClr val="C00000"/>
                </a:solidFill>
                <a:latin typeface="黑体" panose="02010609060101010101" pitchFamily="49" charset="-122"/>
                <a:ea typeface="黑体" panose="02010609060101010101" pitchFamily="49" charset="-122"/>
              </a:rPr>
              <a:t>一、轴</a:t>
            </a:r>
            <a:r>
              <a:rPr lang="zh-CN" altLang="en-US" sz="2200" dirty="0">
                <a:solidFill>
                  <a:srgbClr val="C00000"/>
                </a:solidFill>
                <a:latin typeface="黑体" panose="02010609060101010101" pitchFamily="49" charset="-122"/>
                <a:ea typeface="黑体" panose="02010609060101010101" pitchFamily="49" charset="-122"/>
              </a:rPr>
              <a:t>的结构与外形</a:t>
            </a:r>
            <a:endParaRPr lang="zh-CN" altLang="en-US" sz="2200" dirty="0">
              <a:solidFill>
                <a:srgbClr val="C00000"/>
              </a:solidFill>
              <a:latin typeface="黑体" panose="02010609060101010101" pitchFamily="49" charset="-122"/>
              <a:ea typeface="黑体" panose="02010609060101010101" pitchFamily="49" charset="-122"/>
            </a:endParaRPr>
          </a:p>
        </p:txBody>
      </p:sp>
      <p:pic>
        <p:nvPicPr>
          <p:cNvPr id="27651" name="Picture 5" descr="zhoujiegou"/>
          <p:cNvPicPr>
            <a:picLocks noChangeAspect="1" noChangeArrowheads="1"/>
          </p:cNvPicPr>
          <p:nvPr/>
        </p:nvPicPr>
        <p:blipFill>
          <a:blip r:embed="rId1">
            <a:extLst>
              <a:ext uri="{28A0092B-C50C-407E-A947-70E740481C1C}">
                <a14:useLocalDpi xmlns:a14="http://schemas.microsoft.com/office/drawing/2010/main" val="0"/>
              </a:ext>
            </a:extLst>
          </a:blip>
          <a:srcRect l="13190" b="37001"/>
          <a:stretch>
            <a:fillRect/>
          </a:stretch>
        </p:blipFill>
        <p:spPr bwMode="auto">
          <a:xfrm>
            <a:off x="1952625" y="1503363"/>
            <a:ext cx="5548313" cy="401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4" name="Line 7"/>
          <p:cNvSpPr>
            <a:spLocks noChangeShapeType="1"/>
          </p:cNvSpPr>
          <p:nvPr/>
        </p:nvSpPr>
        <p:spPr bwMode="auto">
          <a:xfrm>
            <a:off x="4994512" y="3814462"/>
            <a:ext cx="6298" cy="1682750"/>
          </a:xfrm>
          <a:prstGeom prst="line">
            <a:avLst/>
          </a:prstGeom>
          <a:noFill/>
          <a:ln w="12700">
            <a:solidFill>
              <a:srgbClr val="FF3300"/>
            </a:solidFill>
            <a:round/>
            <a:headEnd type="oval"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655" name="Line 8"/>
          <p:cNvSpPr>
            <a:spLocks noChangeShapeType="1"/>
          </p:cNvSpPr>
          <p:nvPr/>
        </p:nvSpPr>
        <p:spPr bwMode="auto">
          <a:xfrm>
            <a:off x="6467413" y="3803651"/>
            <a:ext cx="25190" cy="1722438"/>
          </a:xfrm>
          <a:prstGeom prst="line">
            <a:avLst/>
          </a:prstGeom>
          <a:noFill/>
          <a:ln w="12700">
            <a:solidFill>
              <a:schemeClr val="accent2"/>
            </a:solidFill>
            <a:round/>
            <a:headEnd type="oval"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656" name="Line 9"/>
          <p:cNvSpPr>
            <a:spLocks noChangeShapeType="1"/>
          </p:cNvSpPr>
          <p:nvPr/>
        </p:nvSpPr>
        <p:spPr bwMode="auto">
          <a:xfrm>
            <a:off x="5607803" y="3792538"/>
            <a:ext cx="25190" cy="1733550"/>
          </a:xfrm>
          <a:prstGeom prst="line">
            <a:avLst/>
          </a:prstGeom>
          <a:noFill/>
          <a:ln w="12700">
            <a:solidFill>
              <a:srgbClr val="006600"/>
            </a:solidFill>
            <a:round/>
            <a:headEnd type="oval"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657" name="Text Box 10"/>
          <p:cNvSpPr txBox="1">
            <a:spLocks noChangeArrowheads="1"/>
          </p:cNvSpPr>
          <p:nvPr/>
        </p:nvSpPr>
        <p:spPr bwMode="auto">
          <a:xfrm>
            <a:off x="2548721" y="5513187"/>
            <a:ext cx="1003001"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50000"/>
              </a:spcBef>
            </a:pPr>
            <a:r>
              <a:rPr lang="en-US" altLang="zh-CN" dirty="0">
                <a:solidFill>
                  <a:srgbClr val="FF3300"/>
                </a:solidFill>
                <a:latin typeface="黑体" panose="02010609060101010101" pitchFamily="49" charset="-122"/>
                <a:ea typeface="黑体" panose="02010609060101010101" pitchFamily="49" charset="-122"/>
              </a:rPr>
              <a:t> </a:t>
            </a:r>
            <a:r>
              <a:rPr lang="zh-CN" altLang="en-US" dirty="0" smtClean="0">
                <a:solidFill>
                  <a:srgbClr val="FF3300"/>
                </a:solidFill>
                <a:latin typeface="黑体" panose="02010609060101010101" pitchFamily="49" charset="-122"/>
                <a:ea typeface="黑体" panose="02010609060101010101" pitchFamily="49" charset="-122"/>
              </a:rPr>
              <a:t>轴颈</a:t>
            </a:r>
            <a:endParaRPr lang="zh-CN" altLang="en-US" dirty="0">
              <a:solidFill>
                <a:schemeClr val="accent2"/>
              </a:solidFill>
              <a:latin typeface="黑体" panose="02010609060101010101" pitchFamily="49" charset="-122"/>
              <a:ea typeface="黑体" panose="02010609060101010101" pitchFamily="49" charset="-122"/>
            </a:endParaRPr>
          </a:p>
        </p:txBody>
      </p:sp>
      <p:sp>
        <p:nvSpPr>
          <p:cNvPr id="27658" name="Line 11"/>
          <p:cNvSpPr>
            <a:spLocks noChangeShapeType="1"/>
          </p:cNvSpPr>
          <p:nvPr/>
        </p:nvSpPr>
        <p:spPr bwMode="auto">
          <a:xfrm>
            <a:off x="3441425" y="3948214"/>
            <a:ext cx="25190" cy="1587500"/>
          </a:xfrm>
          <a:prstGeom prst="line">
            <a:avLst/>
          </a:prstGeom>
          <a:noFill/>
          <a:ln w="12700">
            <a:solidFill>
              <a:srgbClr val="006600"/>
            </a:solidFill>
            <a:round/>
            <a:headEnd type="oval"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659" name="Line 12"/>
          <p:cNvSpPr>
            <a:spLocks noChangeShapeType="1"/>
          </p:cNvSpPr>
          <p:nvPr/>
        </p:nvSpPr>
        <p:spPr bwMode="auto">
          <a:xfrm>
            <a:off x="2975446" y="3797301"/>
            <a:ext cx="6298" cy="1728788"/>
          </a:xfrm>
          <a:prstGeom prst="line">
            <a:avLst/>
          </a:prstGeom>
          <a:noFill/>
          <a:ln w="12700">
            <a:solidFill>
              <a:srgbClr val="FF3300"/>
            </a:solidFill>
            <a:round/>
            <a:headEnd type="oval"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660" name="Line 13"/>
          <p:cNvSpPr>
            <a:spLocks noChangeShapeType="1"/>
          </p:cNvSpPr>
          <p:nvPr/>
        </p:nvSpPr>
        <p:spPr bwMode="auto">
          <a:xfrm>
            <a:off x="4068063" y="3890963"/>
            <a:ext cx="25190" cy="1635125"/>
          </a:xfrm>
          <a:prstGeom prst="line">
            <a:avLst/>
          </a:prstGeom>
          <a:noFill/>
          <a:ln w="12700">
            <a:solidFill>
              <a:schemeClr val="accent2"/>
            </a:solidFill>
            <a:round/>
            <a:headEnd type="oval"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 name="Text Box 6"/>
          <p:cNvSpPr txBox="1">
            <a:spLocks noChangeArrowheads="1"/>
          </p:cNvSpPr>
          <p:nvPr/>
        </p:nvSpPr>
        <p:spPr bwMode="auto">
          <a:xfrm>
            <a:off x="4864100" y="174625"/>
            <a:ext cx="4254500"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sz="3000" dirty="0" smtClean="0">
                <a:solidFill>
                  <a:srgbClr val="CC3300"/>
                </a:solidFill>
                <a:latin typeface="黑体" panose="02010609060101010101" pitchFamily="49" charset="-122"/>
                <a:ea typeface="黑体" panose="02010609060101010101" pitchFamily="49" charset="-122"/>
              </a:rPr>
              <a:t>3.7-2 </a:t>
            </a:r>
            <a:r>
              <a:rPr lang="zh-CN" altLang="en-US" sz="3000" dirty="0">
                <a:solidFill>
                  <a:srgbClr val="CC3300"/>
                </a:solidFill>
                <a:latin typeface="黑体" panose="02010609060101010101" pitchFamily="49" charset="-122"/>
                <a:ea typeface="黑体" panose="02010609060101010101" pitchFamily="49" charset="-122"/>
              </a:rPr>
              <a:t>轴的结构设计</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14"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15" name="Text Box 10"/>
          <p:cNvSpPr txBox="1">
            <a:spLocks noChangeArrowheads="1"/>
          </p:cNvSpPr>
          <p:nvPr/>
        </p:nvSpPr>
        <p:spPr bwMode="auto">
          <a:xfrm>
            <a:off x="3241741" y="5513187"/>
            <a:ext cx="752744"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50000"/>
              </a:spcBef>
            </a:pPr>
            <a:r>
              <a:rPr lang="zh-CN" altLang="en-US" dirty="0" smtClean="0">
                <a:solidFill>
                  <a:srgbClr val="006600"/>
                </a:solidFill>
                <a:latin typeface="黑体" panose="02010609060101010101" pitchFamily="49" charset="-122"/>
                <a:ea typeface="黑体" panose="02010609060101010101" pitchFamily="49" charset="-122"/>
              </a:rPr>
              <a:t>轴环</a:t>
            </a:r>
            <a:endParaRPr lang="zh-CN" altLang="en-US" dirty="0">
              <a:solidFill>
                <a:schemeClr val="accent2"/>
              </a:solidFill>
              <a:latin typeface="黑体" panose="02010609060101010101" pitchFamily="49" charset="-122"/>
              <a:ea typeface="黑体" panose="02010609060101010101" pitchFamily="49" charset="-122"/>
            </a:endParaRPr>
          </a:p>
        </p:txBody>
      </p:sp>
      <p:sp>
        <p:nvSpPr>
          <p:cNvPr id="3" name="矩形 2"/>
          <p:cNvSpPr/>
          <p:nvPr/>
        </p:nvSpPr>
        <p:spPr>
          <a:xfrm>
            <a:off x="4694824" y="5529383"/>
            <a:ext cx="697627" cy="400110"/>
          </a:xfrm>
          <a:prstGeom prst="rect">
            <a:avLst/>
          </a:prstGeom>
        </p:spPr>
        <p:txBody>
          <a:bodyPr wrap="none">
            <a:spAutoFit/>
          </a:bodyPr>
          <a:lstStyle/>
          <a:p>
            <a:pPr eaLnBrk="1" hangingPunct="1">
              <a:spcBef>
                <a:spcPct val="50000"/>
              </a:spcBef>
            </a:pPr>
            <a:r>
              <a:rPr lang="zh-CN" altLang="en-US" dirty="0" smtClean="0">
                <a:solidFill>
                  <a:srgbClr val="FF3300"/>
                </a:solidFill>
                <a:latin typeface="黑体" panose="02010609060101010101" pitchFamily="49" charset="-122"/>
                <a:ea typeface="黑体" panose="02010609060101010101" pitchFamily="49" charset="-122"/>
              </a:rPr>
              <a:t>轴颈</a:t>
            </a:r>
            <a:endParaRPr lang="zh-CN" altLang="en-US" dirty="0">
              <a:solidFill>
                <a:schemeClr val="accent2"/>
              </a:solidFill>
              <a:latin typeface="黑体" panose="02010609060101010101" pitchFamily="49" charset="-122"/>
              <a:ea typeface="黑体" panose="02010609060101010101" pitchFamily="49" charset="-122"/>
            </a:endParaRPr>
          </a:p>
        </p:txBody>
      </p:sp>
      <p:sp>
        <p:nvSpPr>
          <p:cNvPr id="4" name="矩形 3"/>
          <p:cNvSpPr/>
          <p:nvPr/>
        </p:nvSpPr>
        <p:spPr>
          <a:xfrm>
            <a:off x="3828550" y="5481256"/>
            <a:ext cx="697627" cy="400110"/>
          </a:xfrm>
          <a:prstGeom prst="rect">
            <a:avLst/>
          </a:prstGeom>
        </p:spPr>
        <p:txBody>
          <a:bodyPr wrap="none">
            <a:spAutoFit/>
          </a:bodyPr>
          <a:lstStyle/>
          <a:p>
            <a:pPr eaLnBrk="1" hangingPunct="1">
              <a:spcBef>
                <a:spcPct val="50000"/>
              </a:spcBef>
            </a:pPr>
            <a:r>
              <a:rPr lang="zh-CN" altLang="en-US" dirty="0" smtClean="0">
                <a:solidFill>
                  <a:schemeClr val="accent2"/>
                </a:solidFill>
                <a:latin typeface="黑体" panose="02010609060101010101" pitchFamily="49" charset="-122"/>
                <a:ea typeface="黑体" panose="02010609060101010101" pitchFamily="49" charset="-122"/>
              </a:rPr>
              <a:t>轴头</a:t>
            </a:r>
            <a:endParaRPr lang="zh-CN" altLang="en-US" dirty="0">
              <a:solidFill>
                <a:schemeClr val="accent2"/>
              </a:solidFill>
              <a:latin typeface="黑体" panose="02010609060101010101" pitchFamily="49" charset="-122"/>
              <a:ea typeface="黑体" panose="02010609060101010101" pitchFamily="49" charset="-122"/>
            </a:endParaRPr>
          </a:p>
        </p:txBody>
      </p:sp>
      <p:sp>
        <p:nvSpPr>
          <p:cNvPr id="19" name="矩形 18"/>
          <p:cNvSpPr/>
          <p:nvPr/>
        </p:nvSpPr>
        <p:spPr>
          <a:xfrm>
            <a:off x="6186740" y="5558258"/>
            <a:ext cx="697627" cy="400110"/>
          </a:xfrm>
          <a:prstGeom prst="rect">
            <a:avLst/>
          </a:prstGeom>
        </p:spPr>
        <p:txBody>
          <a:bodyPr wrap="none">
            <a:spAutoFit/>
          </a:bodyPr>
          <a:lstStyle/>
          <a:p>
            <a:pPr eaLnBrk="1" hangingPunct="1">
              <a:spcBef>
                <a:spcPct val="50000"/>
              </a:spcBef>
            </a:pPr>
            <a:r>
              <a:rPr lang="zh-CN" altLang="en-US" dirty="0" smtClean="0">
                <a:solidFill>
                  <a:schemeClr val="accent2"/>
                </a:solidFill>
                <a:latin typeface="黑体" panose="02010609060101010101" pitchFamily="49" charset="-122"/>
                <a:ea typeface="黑体" panose="02010609060101010101" pitchFamily="49" charset="-122"/>
              </a:rPr>
              <a:t>轴头</a:t>
            </a:r>
            <a:endParaRPr lang="zh-CN" altLang="en-US" dirty="0">
              <a:solidFill>
                <a:schemeClr val="accent2"/>
              </a:solidFill>
              <a:latin typeface="黑体" panose="02010609060101010101" pitchFamily="49" charset="-122"/>
              <a:ea typeface="黑体" panose="02010609060101010101" pitchFamily="49" charset="-122"/>
            </a:endParaRPr>
          </a:p>
        </p:txBody>
      </p:sp>
      <p:sp>
        <p:nvSpPr>
          <p:cNvPr id="5" name="矩形 4"/>
          <p:cNvSpPr/>
          <p:nvPr/>
        </p:nvSpPr>
        <p:spPr>
          <a:xfrm>
            <a:off x="5378217" y="5510132"/>
            <a:ext cx="697627" cy="400110"/>
          </a:xfrm>
          <a:prstGeom prst="rect">
            <a:avLst/>
          </a:prstGeom>
        </p:spPr>
        <p:txBody>
          <a:bodyPr wrap="none">
            <a:spAutoFit/>
          </a:bodyPr>
          <a:lstStyle/>
          <a:p>
            <a:pPr eaLnBrk="1" hangingPunct="1">
              <a:spcBef>
                <a:spcPct val="50000"/>
              </a:spcBef>
            </a:pPr>
            <a:r>
              <a:rPr lang="zh-CN" altLang="en-US" dirty="0" smtClean="0">
                <a:solidFill>
                  <a:srgbClr val="006600"/>
                </a:solidFill>
                <a:latin typeface="黑体" panose="02010609060101010101" pitchFamily="49" charset="-122"/>
                <a:ea typeface="黑体" panose="02010609060101010101" pitchFamily="49" charset="-122"/>
              </a:rPr>
              <a:t>轴身</a:t>
            </a:r>
            <a:endParaRPr lang="zh-CN" altLang="en-US" dirty="0">
              <a:solidFill>
                <a:schemeClr val="accent2"/>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7651"/>
                                        </p:tgtEl>
                                        <p:attrNameLst>
                                          <p:attrName>style.visibility</p:attrName>
                                        </p:attrNameLst>
                                      </p:cBhvr>
                                      <p:to>
                                        <p:strVal val="visible"/>
                                      </p:to>
                                    </p:set>
                                    <p:animEffect transition="in" filter="wipe(left)">
                                      <p:cBhvr>
                                        <p:cTn id="7" dur="500"/>
                                        <p:tgtEl>
                                          <p:spTgt spid="2765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7659"/>
                                        </p:tgtEl>
                                        <p:attrNameLst>
                                          <p:attrName>style.visibility</p:attrName>
                                        </p:attrNameLst>
                                      </p:cBhvr>
                                      <p:to>
                                        <p:strVal val="visible"/>
                                      </p:to>
                                    </p:set>
                                    <p:animEffect transition="in" filter="wipe(up)">
                                      <p:cBhvr>
                                        <p:cTn id="12" dur="500"/>
                                        <p:tgtEl>
                                          <p:spTgt spid="27659"/>
                                        </p:tgtEl>
                                      </p:cBhvr>
                                    </p:animEffect>
                                  </p:childTnLst>
                                </p:cTn>
                              </p:par>
                            </p:childTnLst>
                          </p:cTn>
                        </p:par>
                        <p:par>
                          <p:cTn id="13" fill="hold">
                            <p:stCondLst>
                              <p:cond delay="500"/>
                            </p:stCondLst>
                            <p:childTnLst>
                              <p:par>
                                <p:cTn id="14" presetID="22" presetClass="entr" presetSubtype="1" fill="hold" grpId="0" nodeType="afterEffect">
                                  <p:stCondLst>
                                    <p:cond delay="0"/>
                                  </p:stCondLst>
                                  <p:childTnLst>
                                    <p:set>
                                      <p:cBhvr>
                                        <p:cTn id="15" dur="1" fill="hold">
                                          <p:stCondLst>
                                            <p:cond delay="0"/>
                                          </p:stCondLst>
                                        </p:cTn>
                                        <p:tgtEl>
                                          <p:spTgt spid="27657"/>
                                        </p:tgtEl>
                                        <p:attrNameLst>
                                          <p:attrName>style.visibility</p:attrName>
                                        </p:attrNameLst>
                                      </p:cBhvr>
                                      <p:to>
                                        <p:strVal val="visible"/>
                                      </p:to>
                                    </p:set>
                                    <p:animEffect transition="in" filter="wipe(up)">
                                      <p:cBhvr>
                                        <p:cTn id="16" dur="500"/>
                                        <p:tgtEl>
                                          <p:spTgt spid="27657"/>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27654"/>
                                        </p:tgtEl>
                                        <p:attrNameLst>
                                          <p:attrName>style.visibility</p:attrName>
                                        </p:attrNameLst>
                                      </p:cBhvr>
                                      <p:to>
                                        <p:strVal val="visible"/>
                                      </p:to>
                                    </p:set>
                                    <p:animEffect transition="in" filter="wipe(up)">
                                      <p:cBhvr>
                                        <p:cTn id="21" dur="500"/>
                                        <p:tgtEl>
                                          <p:spTgt spid="27654"/>
                                        </p:tgtEl>
                                      </p:cBhvr>
                                    </p:animEffect>
                                  </p:childTnLst>
                                </p:cTn>
                              </p:par>
                            </p:childTnLst>
                          </p:cTn>
                        </p:par>
                        <p:par>
                          <p:cTn id="22" fill="hold">
                            <p:stCondLst>
                              <p:cond delay="500"/>
                            </p:stCondLst>
                            <p:childTnLst>
                              <p:par>
                                <p:cTn id="23" presetID="22" presetClass="entr" presetSubtype="1" fill="hold" grpId="0" nodeType="after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wipe(up)">
                                      <p:cBhvr>
                                        <p:cTn id="25" dur="500"/>
                                        <p:tgtEl>
                                          <p:spTgt spid="3"/>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grpId="0" nodeType="clickEffect">
                                  <p:stCondLst>
                                    <p:cond delay="0"/>
                                  </p:stCondLst>
                                  <p:childTnLst>
                                    <p:set>
                                      <p:cBhvr>
                                        <p:cTn id="29" dur="1" fill="hold">
                                          <p:stCondLst>
                                            <p:cond delay="0"/>
                                          </p:stCondLst>
                                        </p:cTn>
                                        <p:tgtEl>
                                          <p:spTgt spid="27660"/>
                                        </p:tgtEl>
                                        <p:attrNameLst>
                                          <p:attrName>style.visibility</p:attrName>
                                        </p:attrNameLst>
                                      </p:cBhvr>
                                      <p:to>
                                        <p:strVal val="visible"/>
                                      </p:to>
                                    </p:set>
                                    <p:animEffect transition="in" filter="wipe(up)">
                                      <p:cBhvr>
                                        <p:cTn id="30" dur="500"/>
                                        <p:tgtEl>
                                          <p:spTgt spid="27660"/>
                                        </p:tgtEl>
                                      </p:cBhvr>
                                    </p:animEffect>
                                  </p:childTnLst>
                                </p:cTn>
                              </p:par>
                              <p:par>
                                <p:cTn id="31" presetID="22" presetClass="entr" presetSubtype="1" fill="hold" grpId="0" nodeType="withEffect">
                                  <p:stCondLst>
                                    <p:cond delay="0"/>
                                  </p:stCondLst>
                                  <p:childTnLst>
                                    <p:set>
                                      <p:cBhvr>
                                        <p:cTn id="32" dur="1" fill="hold">
                                          <p:stCondLst>
                                            <p:cond delay="0"/>
                                          </p:stCondLst>
                                        </p:cTn>
                                        <p:tgtEl>
                                          <p:spTgt spid="4"/>
                                        </p:tgtEl>
                                        <p:attrNameLst>
                                          <p:attrName>style.visibility</p:attrName>
                                        </p:attrNameLst>
                                      </p:cBhvr>
                                      <p:to>
                                        <p:strVal val="visible"/>
                                      </p:to>
                                    </p:set>
                                    <p:animEffect transition="in" filter="wipe(up)">
                                      <p:cBhvr>
                                        <p:cTn id="33" dur="500"/>
                                        <p:tgtEl>
                                          <p:spTgt spid="4"/>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1" fill="hold" grpId="0" nodeType="clickEffect">
                                  <p:stCondLst>
                                    <p:cond delay="0"/>
                                  </p:stCondLst>
                                  <p:childTnLst>
                                    <p:set>
                                      <p:cBhvr>
                                        <p:cTn id="37" dur="1" fill="hold">
                                          <p:stCondLst>
                                            <p:cond delay="0"/>
                                          </p:stCondLst>
                                        </p:cTn>
                                        <p:tgtEl>
                                          <p:spTgt spid="27655"/>
                                        </p:tgtEl>
                                        <p:attrNameLst>
                                          <p:attrName>style.visibility</p:attrName>
                                        </p:attrNameLst>
                                      </p:cBhvr>
                                      <p:to>
                                        <p:strVal val="visible"/>
                                      </p:to>
                                    </p:set>
                                    <p:animEffect transition="in" filter="wipe(up)">
                                      <p:cBhvr>
                                        <p:cTn id="38" dur="500"/>
                                        <p:tgtEl>
                                          <p:spTgt spid="27655"/>
                                        </p:tgtEl>
                                      </p:cBhvr>
                                    </p:animEffect>
                                  </p:childTnLst>
                                </p:cTn>
                              </p:par>
                              <p:par>
                                <p:cTn id="39" presetID="22" presetClass="entr" presetSubtype="1" fill="hold" grpId="0" nodeType="with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wipe(up)">
                                      <p:cBhvr>
                                        <p:cTn id="41" dur="500"/>
                                        <p:tgtEl>
                                          <p:spTgt spid="19"/>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1" fill="hold" grpId="0" nodeType="clickEffect">
                                  <p:stCondLst>
                                    <p:cond delay="0"/>
                                  </p:stCondLst>
                                  <p:childTnLst>
                                    <p:set>
                                      <p:cBhvr>
                                        <p:cTn id="45" dur="1" fill="hold">
                                          <p:stCondLst>
                                            <p:cond delay="0"/>
                                          </p:stCondLst>
                                        </p:cTn>
                                        <p:tgtEl>
                                          <p:spTgt spid="27656"/>
                                        </p:tgtEl>
                                        <p:attrNameLst>
                                          <p:attrName>style.visibility</p:attrName>
                                        </p:attrNameLst>
                                      </p:cBhvr>
                                      <p:to>
                                        <p:strVal val="visible"/>
                                      </p:to>
                                    </p:set>
                                    <p:animEffect transition="in" filter="wipe(up)">
                                      <p:cBhvr>
                                        <p:cTn id="46" dur="500"/>
                                        <p:tgtEl>
                                          <p:spTgt spid="27656"/>
                                        </p:tgtEl>
                                      </p:cBhvr>
                                    </p:animEffect>
                                  </p:childTnLst>
                                </p:cTn>
                              </p:par>
                            </p:childTnLst>
                          </p:cTn>
                        </p:par>
                        <p:par>
                          <p:cTn id="47" fill="hold">
                            <p:stCondLst>
                              <p:cond delay="500"/>
                            </p:stCondLst>
                            <p:childTnLst>
                              <p:par>
                                <p:cTn id="48" presetID="22" presetClass="entr" presetSubtype="1" fill="hold" grpId="0" nodeType="afterEffect">
                                  <p:stCondLst>
                                    <p:cond delay="0"/>
                                  </p:stCondLst>
                                  <p:childTnLst>
                                    <p:set>
                                      <p:cBhvr>
                                        <p:cTn id="49" dur="1" fill="hold">
                                          <p:stCondLst>
                                            <p:cond delay="0"/>
                                          </p:stCondLst>
                                        </p:cTn>
                                        <p:tgtEl>
                                          <p:spTgt spid="5"/>
                                        </p:tgtEl>
                                        <p:attrNameLst>
                                          <p:attrName>style.visibility</p:attrName>
                                        </p:attrNameLst>
                                      </p:cBhvr>
                                      <p:to>
                                        <p:strVal val="visible"/>
                                      </p:to>
                                    </p:set>
                                    <p:animEffect transition="in" filter="wipe(up)">
                                      <p:cBhvr>
                                        <p:cTn id="50" dur="500"/>
                                        <p:tgtEl>
                                          <p:spTgt spid="5"/>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1" fill="hold" grpId="0" nodeType="clickEffect">
                                  <p:stCondLst>
                                    <p:cond delay="0"/>
                                  </p:stCondLst>
                                  <p:childTnLst>
                                    <p:set>
                                      <p:cBhvr>
                                        <p:cTn id="54" dur="1" fill="hold">
                                          <p:stCondLst>
                                            <p:cond delay="0"/>
                                          </p:stCondLst>
                                        </p:cTn>
                                        <p:tgtEl>
                                          <p:spTgt spid="27658"/>
                                        </p:tgtEl>
                                        <p:attrNameLst>
                                          <p:attrName>style.visibility</p:attrName>
                                        </p:attrNameLst>
                                      </p:cBhvr>
                                      <p:to>
                                        <p:strVal val="visible"/>
                                      </p:to>
                                    </p:set>
                                    <p:animEffect transition="in" filter="wipe(up)">
                                      <p:cBhvr>
                                        <p:cTn id="55" dur="500"/>
                                        <p:tgtEl>
                                          <p:spTgt spid="27658"/>
                                        </p:tgtEl>
                                      </p:cBhvr>
                                    </p:animEffect>
                                  </p:childTnLst>
                                </p:cTn>
                              </p:par>
                            </p:childTnLst>
                          </p:cTn>
                        </p:par>
                        <p:par>
                          <p:cTn id="56" fill="hold">
                            <p:stCondLst>
                              <p:cond delay="500"/>
                            </p:stCondLst>
                            <p:childTnLst>
                              <p:par>
                                <p:cTn id="57" presetID="22" presetClass="entr" presetSubtype="1" fill="hold" grpId="0" nodeType="afterEffect">
                                  <p:stCondLst>
                                    <p:cond delay="0"/>
                                  </p:stCondLst>
                                  <p:childTnLst>
                                    <p:set>
                                      <p:cBhvr>
                                        <p:cTn id="58" dur="1" fill="hold">
                                          <p:stCondLst>
                                            <p:cond delay="0"/>
                                          </p:stCondLst>
                                        </p:cTn>
                                        <p:tgtEl>
                                          <p:spTgt spid="15"/>
                                        </p:tgtEl>
                                        <p:attrNameLst>
                                          <p:attrName>style.visibility</p:attrName>
                                        </p:attrNameLst>
                                      </p:cBhvr>
                                      <p:to>
                                        <p:strVal val="visible"/>
                                      </p:to>
                                    </p:set>
                                    <p:animEffect transition="in" filter="wipe(up)">
                                      <p:cBhvr>
                                        <p:cTn id="59"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4" grpId="0" animBg="1"/>
      <p:bldP spid="27655" grpId="0" animBg="1"/>
      <p:bldP spid="27656" grpId="0" animBg="1"/>
      <p:bldP spid="27657" grpId="0"/>
      <p:bldP spid="27658" grpId="0" animBg="1"/>
      <p:bldP spid="27659" grpId="0" animBg="1"/>
      <p:bldP spid="27660" grpId="0" animBg="1"/>
      <p:bldP spid="15" grpId="0"/>
      <p:bldP spid="3" grpId="0"/>
      <p:bldP spid="4" grpId="0"/>
      <p:bldP spid="19" grpId="0"/>
      <p:bldP spid="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
          <p:cNvGrpSpPr/>
          <p:nvPr/>
        </p:nvGrpSpPr>
        <p:grpSpPr bwMode="auto">
          <a:xfrm>
            <a:off x="370573" y="1559677"/>
            <a:ext cx="1030288" cy="1768475"/>
            <a:chOff x="1091" y="3098"/>
            <a:chExt cx="658" cy="831"/>
          </a:xfrm>
        </p:grpSpPr>
        <p:sp>
          <p:nvSpPr>
            <p:cNvPr id="28708" name="Text Box 5"/>
            <p:cNvSpPr txBox="1">
              <a:spLocks noChangeArrowheads="1"/>
            </p:cNvSpPr>
            <p:nvPr/>
          </p:nvSpPr>
          <p:spPr bwMode="auto">
            <a:xfrm>
              <a:off x="1091" y="3337"/>
              <a:ext cx="572"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zh-CN" altLang="en-US" sz="2800">
                  <a:solidFill>
                    <a:schemeClr val="tx2"/>
                  </a:solidFill>
                  <a:latin typeface="华文中宋" panose="02010600040101010101" pitchFamily="2" charset="-122"/>
                </a:rPr>
                <a:t>组成</a:t>
              </a:r>
              <a:endParaRPr lang="zh-CN" altLang="en-US" sz="2800">
                <a:solidFill>
                  <a:schemeClr val="tx2"/>
                </a:solidFill>
                <a:latin typeface="华文中宋" panose="02010600040101010101" pitchFamily="2" charset="-122"/>
              </a:endParaRPr>
            </a:p>
          </p:txBody>
        </p:sp>
        <p:sp>
          <p:nvSpPr>
            <p:cNvPr id="28709" name="AutoShape 6"/>
            <p:cNvSpPr/>
            <p:nvPr/>
          </p:nvSpPr>
          <p:spPr bwMode="auto">
            <a:xfrm>
              <a:off x="1616" y="3098"/>
              <a:ext cx="133" cy="831"/>
            </a:xfrm>
            <a:prstGeom prst="leftBrace">
              <a:avLst>
                <a:gd name="adj1" fmla="val 52068"/>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endParaRPr lang="zh-CN" altLang="en-US"/>
            </a:p>
          </p:txBody>
        </p:sp>
      </p:grpSp>
      <p:sp>
        <p:nvSpPr>
          <p:cNvPr id="91143" name="Text Box 7"/>
          <p:cNvSpPr txBox="1">
            <a:spLocks noChangeArrowheads="1"/>
          </p:cNvSpPr>
          <p:nvPr/>
        </p:nvSpPr>
        <p:spPr bwMode="auto">
          <a:xfrm>
            <a:off x="1553277" y="1366604"/>
            <a:ext cx="4857420" cy="430887"/>
          </a:xfrm>
          <a:prstGeom prst="rect">
            <a:avLst/>
          </a:prstGeom>
          <a:noFill/>
          <a:ln>
            <a:noFill/>
          </a:ln>
          <a:effectLst/>
        </p:spPr>
        <p:txBody>
          <a:bodyPr wrap="none">
            <a:spAutoFit/>
          </a:bodyPr>
          <a:lstStyle/>
          <a:p>
            <a:pPr>
              <a:defRPr/>
            </a:pPr>
            <a:r>
              <a:rPr lang="zh-CN" altLang="en-US" sz="2200" dirty="0">
                <a:solidFill>
                  <a:srgbClr val="000066"/>
                </a:solidFill>
                <a:latin typeface="黑体" panose="02010609060101010101" pitchFamily="49" charset="-122"/>
                <a:ea typeface="黑体" panose="02010609060101010101" pitchFamily="49" charset="-122"/>
              </a:rPr>
              <a:t>轴颈：</a:t>
            </a:r>
            <a:r>
              <a:rPr lang="zh-CN" altLang="en-US" sz="2200" dirty="0">
                <a:latin typeface="黑体" panose="02010609060101010101" pitchFamily="49" charset="-122"/>
                <a:ea typeface="黑体" panose="02010609060101010101" pitchFamily="49" charset="-122"/>
                <a:hlinkClick r:id="rId1" action="ppaction://hlinksldjump"/>
              </a:rPr>
              <a:t>装轴承</a:t>
            </a:r>
            <a:r>
              <a:rPr lang="zh-CN" altLang="en-US" sz="2200" dirty="0">
                <a:solidFill>
                  <a:srgbClr val="002060"/>
                </a:solidFill>
                <a:latin typeface="黑体" panose="02010609060101010101" pitchFamily="49" charset="-122"/>
                <a:ea typeface="黑体" panose="02010609060101010101" pitchFamily="49" charset="-122"/>
              </a:rPr>
              <a:t>处</a:t>
            </a:r>
            <a:r>
              <a:rPr lang="zh-CN" altLang="en-US" sz="2200" dirty="0">
                <a:latin typeface="黑体" panose="02010609060101010101" pitchFamily="49" charset="-122"/>
                <a:ea typeface="黑体" panose="02010609060101010101" pitchFamily="49" charset="-122"/>
              </a:rPr>
              <a:t>   </a:t>
            </a:r>
            <a:r>
              <a:rPr lang="zh-CN" altLang="en-US" sz="2200" dirty="0">
                <a:solidFill>
                  <a:srgbClr val="CC3300"/>
                </a:solidFill>
                <a:effectLst>
                  <a:outerShdw blurRad="38100" dist="38100" dir="2700000" algn="tl">
                    <a:srgbClr val="C0C0C0"/>
                  </a:outerShdw>
                </a:effectLst>
                <a:latin typeface="黑体" panose="02010609060101010101" pitchFamily="49" charset="-122"/>
                <a:ea typeface="黑体" panose="02010609060101010101" pitchFamily="49" charset="-122"/>
              </a:rPr>
              <a:t>直径</a:t>
            </a:r>
            <a:r>
              <a:rPr lang="en-US" altLang="zh-CN" sz="2200" dirty="0">
                <a:solidFill>
                  <a:srgbClr val="CC3300"/>
                </a:solidFill>
                <a:effectLst>
                  <a:outerShdw blurRad="38100" dist="38100" dir="2700000" algn="tl">
                    <a:srgbClr val="C0C0C0"/>
                  </a:outerShdw>
                </a:effectLst>
                <a:latin typeface="黑体" panose="02010609060101010101" pitchFamily="49" charset="-122"/>
                <a:ea typeface="黑体" panose="02010609060101010101" pitchFamily="49" charset="-122"/>
              </a:rPr>
              <a:t>= </a:t>
            </a:r>
            <a:r>
              <a:rPr lang="zh-CN" altLang="en-US" sz="2200" dirty="0">
                <a:solidFill>
                  <a:srgbClr val="CC3300"/>
                </a:solidFill>
                <a:effectLst>
                  <a:outerShdw blurRad="38100" dist="38100" dir="2700000" algn="tl">
                    <a:srgbClr val="C0C0C0"/>
                  </a:outerShdw>
                </a:effectLst>
                <a:latin typeface="黑体" panose="02010609060101010101" pitchFamily="49" charset="-122"/>
                <a:ea typeface="黑体" panose="02010609060101010101" pitchFamily="49" charset="-122"/>
              </a:rPr>
              <a:t>轴承内径；</a:t>
            </a:r>
            <a:endParaRPr lang="zh-CN" altLang="en-US" sz="2200" dirty="0">
              <a:solidFill>
                <a:srgbClr val="CC3300"/>
              </a:solidFill>
              <a:effectLst>
                <a:outerShdw blurRad="38100" dist="38100" dir="2700000" algn="tl">
                  <a:srgbClr val="C0C0C0"/>
                </a:outerShdw>
              </a:effectLst>
              <a:latin typeface="黑体" panose="02010609060101010101" pitchFamily="49" charset="-122"/>
              <a:ea typeface="黑体" panose="02010609060101010101" pitchFamily="49" charset="-122"/>
            </a:endParaRPr>
          </a:p>
        </p:txBody>
      </p:sp>
      <p:sp>
        <p:nvSpPr>
          <p:cNvPr id="91144" name="Text Box 8"/>
          <p:cNvSpPr txBox="1">
            <a:spLocks noChangeArrowheads="1"/>
          </p:cNvSpPr>
          <p:nvPr/>
        </p:nvSpPr>
        <p:spPr bwMode="auto">
          <a:xfrm>
            <a:off x="1553277" y="2074629"/>
            <a:ext cx="5355590" cy="429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zh-CN" altLang="en-US" sz="2200" b="1" dirty="0">
                <a:solidFill>
                  <a:srgbClr val="000066"/>
                </a:solidFill>
                <a:latin typeface="黑体" panose="02010609060101010101" pitchFamily="49" charset="-122"/>
                <a:ea typeface="黑体" panose="02010609060101010101" pitchFamily="49" charset="-122"/>
              </a:rPr>
              <a:t>轴头：</a:t>
            </a:r>
            <a:r>
              <a:rPr lang="zh-CN" altLang="en-US" sz="2200" dirty="0">
                <a:solidFill>
                  <a:schemeClr val="tx2"/>
                </a:solidFill>
                <a:latin typeface="黑体" panose="02010609060101010101" pitchFamily="49" charset="-122"/>
                <a:ea typeface="黑体" panose="02010609060101010101" pitchFamily="49" charset="-122"/>
                <a:hlinkClick r:id="rId1" action="ppaction://hlinksldjump"/>
              </a:rPr>
              <a:t>装轮毂</a:t>
            </a:r>
            <a:r>
              <a:rPr lang="zh-CN" altLang="en-US" sz="2200" dirty="0">
                <a:solidFill>
                  <a:srgbClr val="002060"/>
                </a:solidFill>
                <a:latin typeface="黑体" panose="02010609060101010101" pitchFamily="49" charset="-122"/>
                <a:ea typeface="黑体" panose="02010609060101010101" pitchFamily="49" charset="-122"/>
              </a:rPr>
              <a:t>处   直径与轮毂内径相</a:t>
            </a:r>
            <a:r>
              <a:rPr lang="zh-CN" altLang="en-US" sz="2200" dirty="0">
                <a:solidFill>
                  <a:srgbClr val="002060"/>
                </a:solidFill>
                <a:latin typeface="黑体" panose="02010609060101010101" pitchFamily="49" charset="-122"/>
                <a:ea typeface="黑体" panose="02010609060101010101" pitchFamily="49" charset="-122"/>
              </a:rPr>
              <a:t>等；</a:t>
            </a:r>
            <a:endParaRPr lang="zh-CN" altLang="en-US" sz="2200" dirty="0">
              <a:solidFill>
                <a:srgbClr val="002060"/>
              </a:solidFill>
              <a:latin typeface="黑体" panose="02010609060101010101" pitchFamily="49" charset="-122"/>
              <a:ea typeface="黑体" panose="02010609060101010101" pitchFamily="49" charset="-122"/>
            </a:endParaRPr>
          </a:p>
        </p:txBody>
      </p:sp>
      <p:sp>
        <p:nvSpPr>
          <p:cNvPr id="91145" name="Text Box 9"/>
          <p:cNvSpPr txBox="1">
            <a:spLocks noChangeArrowheads="1"/>
          </p:cNvSpPr>
          <p:nvPr/>
        </p:nvSpPr>
        <p:spPr bwMode="auto">
          <a:xfrm>
            <a:off x="1569152" y="2701691"/>
            <a:ext cx="3852337"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zh-CN" altLang="en-US" sz="2200" b="1" dirty="0">
                <a:solidFill>
                  <a:srgbClr val="000066"/>
                </a:solidFill>
                <a:latin typeface="黑体" panose="02010609060101010101" pitchFamily="49" charset="-122"/>
                <a:ea typeface="黑体" panose="02010609060101010101" pitchFamily="49" charset="-122"/>
              </a:rPr>
              <a:t>轴身：</a:t>
            </a:r>
            <a:r>
              <a:rPr lang="zh-CN" altLang="en-US" sz="2200" dirty="0">
                <a:solidFill>
                  <a:srgbClr val="002060"/>
                </a:solidFill>
                <a:latin typeface="黑体" panose="02010609060101010101" pitchFamily="49" charset="-122"/>
                <a:ea typeface="黑体" panose="02010609060101010101" pitchFamily="49" charset="-122"/>
              </a:rPr>
              <a:t>联接</a:t>
            </a:r>
            <a:r>
              <a:rPr lang="zh-CN" altLang="en-US" sz="2200" dirty="0">
                <a:solidFill>
                  <a:schemeClr val="accent2"/>
                </a:solidFill>
                <a:latin typeface="黑体" panose="02010609060101010101" pitchFamily="49" charset="-122"/>
                <a:ea typeface="黑体" panose="02010609060101010101" pitchFamily="49" charset="-122"/>
              </a:rPr>
              <a:t>轴颈</a:t>
            </a:r>
            <a:r>
              <a:rPr lang="zh-CN" altLang="en-US" sz="2200" dirty="0">
                <a:solidFill>
                  <a:srgbClr val="002060"/>
                </a:solidFill>
                <a:latin typeface="黑体" panose="02010609060101010101" pitchFamily="49" charset="-122"/>
                <a:ea typeface="黑体" panose="02010609060101010101" pitchFamily="49" charset="-122"/>
              </a:rPr>
              <a:t>和</a:t>
            </a:r>
            <a:r>
              <a:rPr lang="zh-CN" altLang="en-US" sz="2200" dirty="0">
                <a:solidFill>
                  <a:schemeClr val="accent2"/>
                </a:solidFill>
                <a:latin typeface="黑体" panose="02010609060101010101" pitchFamily="49" charset="-122"/>
                <a:ea typeface="黑体" panose="02010609060101010101" pitchFamily="49" charset="-122"/>
              </a:rPr>
              <a:t>轴头</a:t>
            </a:r>
            <a:r>
              <a:rPr lang="zh-CN" altLang="en-US" sz="2200" dirty="0">
                <a:solidFill>
                  <a:srgbClr val="002060"/>
                </a:solidFill>
                <a:latin typeface="黑体" panose="02010609060101010101" pitchFamily="49" charset="-122"/>
                <a:ea typeface="黑体" panose="02010609060101010101" pitchFamily="49" charset="-122"/>
              </a:rPr>
              <a:t>部分；</a:t>
            </a:r>
            <a:endParaRPr lang="zh-CN" altLang="en-US" sz="2200" dirty="0">
              <a:solidFill>
                <a:srgbClr val="002060"/>
              </a:solidFill>
              <a:latin typeface="黑体" panose="02010609060101010101" pitchFamily="49" charset="-122"/>
              <a:ea typeface="黑体" panose="02010609060101010101" pitchFamily="49" charset="-122"/>
            </a:endParaRPr>
          </a:p>
        </p:txBody>
      </p:sp>
      <p:sp>
        <p:nvSpPr>
          <p:cNvPr id="91146" name="Text Box 10"/>
          <p:cNvSpPr txBox="1">
            <a:spLocks noChangeArrowheads="1"/>
          </p:cNvSpPr>
          <p:nvPr/>
        </p:nvSpPr>
        <p:spPr bwMode="auto">
          <a:xfrm>
            <a:off x="1531052" y="3374791"/>
            <a:ext cx="328808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zh-CN" altLang="en-US" sz="2200" dirty="0">
                <a:solidFill>
                  <a:schemeClr val="accent2"/>
                </a:solidFill>
                <a:latin typeface="黑体" panose="02010609060101010101" pitchFamily="49" charset="-122"/>
                <a:ea typeface="黑体" panose="02010609060101010101" pitchFamily="49" charset="-122"/>
              </a:rPr>
              <a:t>轴肩或轴环</a:t>
            </a:r>
            <a:r>
              <a:rPr lang="zh-CN" altLang="en-US" sz="2200" dirty="0">
                <a:solidFill>
                  <a:srgbClr val="002060"/>
                </a:solidFill>
                <a:latin typeface="黑体" panose="02010609060101010101" pitchFamily="49" charset="-122"/>
                <a:ea typeface="黑体" panose="02010609060101010101" pitchFamily="49" charset="-122"/>
              </a:rPr>
              <a:t>：轴的阶梯。</a:t>
            </a:r>
            <a:endParaRPr lang="zh-CN" altLang="en-US" sz="2200" dirty="0">
              <a:solidFill>
                <a:srgbClr val="002060"/>
              </a:solidFill>
              <a:latin typeface="黑体" panose="02010609060101010101" pitchFamily="49" charset="-122"/>
              <a:ea typeface="黑体" panose="02010609060101010101" pitchFamily="49" charset="-122"/>
            </a:endParaRPr>
          </a:p>
        </p:txBody>
      </p:sp>
      <p:sp>
        <p:nvSpPr>
          <p:cNvPr id="91147" name="Text Box 11"/>
          <p:cNvSpPr txBox="1">
            <a:spLocks noChangeArrowheads="1"/>
          </p:cNvSpPr>
          <p:nvPr/>
        </p:nvSpPr>
        <p:spPr bwMode="auto">
          <a:xfrm>
            <a:off x="811948" y="4052536"/>
            <a:ext cx="8194675" cy="461665"/>
          </a:xfrm>
          <a:prstGeom prst="rect">
            <a:avLst/>
          </a:prstGeom>
          <a:solidFill>
            <a:schemeClr val="accent1"/>
          </a:solidFill>
          <a:ln w="28575">
            <a:solidFill>
              <a:schemeClr val="tx1"/>
            </a:solidFill>
            <a:prstDash val="sysDot"/>
            <a:miter lim="800000"/>
          </a:ln>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50000"/>
              </a:spcBef>
              <a:buFont typeface="Wingdings" panose="05000000000000000000" pitchFamily="2" charset="2"/>
              <a:buChar char="&amp;"/>
            </a:pPr>
            <a:r>
              <a:rPr lang="zh-CN" altLang="en-US" sz="2400" dirty="0">
                <a:solidFill>
                  <a:srgbClr val="006600"/>
                </a:solidFill>
                <a:latin typeface="黑体" panose="02010609060101010101" pitchFamily="49" charset="-122"/>
                <a:ea typeface="黑体" panose="02010609060101010101" pitchFamily="49" charset="-122"/>
              </a:rPr>
              <a:t>思考：</a:t>
            </a:r>
            <a:r>
              <a:rPr lang="zh-CN" altLang="en-US" sz="2400" dirty="0">
                <a:latin typeface="黑体" panose="02010609060101010101" pitchFamily="49" charset="-122"/>
                <a:ea typeface="黑体" panose="02010609060101010101" pitchFamily="49" charset="-122"/>
              </a:rPr>
              <a:t>一般机器中常用的</a:t>
            </a:r>
            <a:r>
              <a:rPr lang="zh-CN" altLang="en-US" sz="2400" dirty="0">
                <a:solidFill>
                  <a:srgbClr val="FF0000"/>
                </a:solidFill>
                <a:latin typeface="黑体" panose="02010609060101010101" pitchFamily="49" charset="-122"/>
                <a:ea typeface="黑体" panose="02010609060101010101" pitchFamily="49" charset="-122"/>
              </a:rPr>
              <a:t>转轴</a:t>
            </a:r>
            <a:r>
              <a:rPr lang="zh-CN" altLang="en-US" sz="2400" dirty="0">
                <a:latin typeface="黑体" panose="02010609060101010101" pitchFamily="49" charset="-122"/>
                <a:ea typeface="黑体" panose="02010609060101010101" pitchFamily="49" charset="-122"/>
              </a:rPr>
              <a:t>到底是什么</a:t>
            </a:r>
            <a:r>
              <a:rPr lang="zh-CN" altLang="en-US" sz="2400" dirty="0">
                <a:solidFill>
                  <a:srgbClr val="FF0000"/>
                </a:solidFill>
                <a:latin typeface="黑体" panose="02010609060101010101" pitchFamily="49" charset="-122"/>
                <a:ea typeface="黑体" panose="02010609060101010101" pitchFamily="49" charset="-122"/>
              </a:rPr>
              <a:t>形状</a:t>
            </a:r>
            <a:r>
              <a:rPr lang="zh-CN" altLang="en-US" sz="2400" dirty="0">
                <a:latin typeface="黑体" panose="02010609060101010101" pitchFamily="49" charset="-122"/>
                <a:ea typeface="黑体" panose="02010609060101010101" pitchFamily="49" charset="-122"/>
              </a:rPr>
              <a:t>？</a:t>
            </a:r>
            <a:endParaRPr lang="zh-CN" altLang="en-US" sz="2400" dirty="0">
              <a:latin typeface="黑体" panose="02010609060101010101" pitchFamily="49" charset="-122"/>
              <a:ea typeface="黑体" panose="02010609060101010101" pitchFamily="49" charset="-122"/>
            </a:endParaRPr>
          </a:p>
        </p:txBody>
      </p:sp>
      <p:grpSp>
        <p:nvGrpSpPr>
          <p:cNvPr id="3" name="Group 12"/>
          <p:cNvGrpSpPr/>
          <p:nvPr/>
        </p:nvGrpSpPr>
        <p:grpSpPr bwMode="auto">
          <a:xfrm>
            <a:off x="2165350" y="5810250"/>
            <a:ext cx="4749800" cy="354013"/>
            <a:chOff x="391" y="3547"/>
            <a:chExt cx="1876" cy="86"/>
          </a:xfrm>
        </p:grpSpPr>
        <p:sp>
          <p:nvSpPr>
            <p:cNvPr id="28703" name="Line 13"/>
            <p:cNvSpPr>
              <a:spLocks noChangeShapeType="1"/>
            </p:cNvSpPr>
            <p:nvPr/>
          </p:nvSpPr>
          <p:spPr bwMode="auto">
            <a:xfrm>
              <a:off x="391" y="3587"/>
              <a:ext cx="1876"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8704" name="Line 14"/>
            <p:cNvSpPr>
              <a:spLocks noChangeShapeType="1"/>
            </p:cNvSpPr>
            <p:nvPr/>
          </p:nvSpPr>
          <p:spPr bwMode="auto">
            <a:xfrm>
              <a:off x="391" y="3547"/>
              <a:ext cx="11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8705" name="Line 15"/>
            <p:cNvSpPr>
              <a:spLocks noChangeShapeType="1"/>
            </p:cNvSpPr>
            <p:nvPr/>
          </p:nvSpPr>
          <p:spPr bwMode="auto">
            <a:xfrm>
              <a:off x="391" y="3633"/>
              <a:ext cx="11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8706" name="Line 16"/>
            <p:cNvSpPr>
              <a:spLocks noChangeShapeType="1"/>
            </p:cNvSpPr>
            <p:nvPr/>
          </p:nvSpPr>
          <p:spPr bwMode="auto">
            <a:xfrm>
              <a:off x="2152" y="3547"/>
              <a:ext cx="11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8707" name="Line 17"/>
            <p:cNvSpPr>
              <a:spLocks noChangeShapeType="1"/>
            </p:cNvSpPr>
            <p:nvPr/>
          </p:nvSpPr>
          <p:spPr bwMode="auto">
            <a:xfrm>
              <a:off x="2152" y="3633"/>
              <a:ext cx="11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4" name="Group 18"/>
          <p:cNvGrpSpPr/>
          <p:nvPr/>
        </p:nvGrpSpPr>
        <p:grpSpPr bwMode="auto">
          <a:xfrm>
            <a:off x="4397375" y="4664075"/>
            <a:ext cx="411163" cy="1330325"/>
            <a:chOff x="1257" y="2961"/>
            <a:chExt cx="259" cy="628"/>
          </a:xfrm>
        </p:grpSpPr>
        <p:sp>
          <p:nvSpPr>
            <p:cNvPr id="28701" name="Line 19"/>
            <p:cNvSpPr>
              <a:spLocks noChangeShapeType="1"/>
            </p:cNvSpPr>
            <p:nvPr/>
          </p:nvSpPr>
          <p:spPr bwMode="auto">
            <a:xfrm>
              <a:off x="1257" y="3106"/>
              <a:ext cx="0" cy="483"/>
            </a:xfrm>
            <a:prstGeom prst="line">
              <a:avLst/>
            </a:prstGeom>
            <a:noFill/>
            <a:ln w="38100">
              <a:solidFill>
                <a:srgbClr val="660066"/>
              </a:solidFill>
              <a:rou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28702" name="Text Box 20"/>
            <p:cNvSpPr txBox="1">
              <a:spLocks noChangeArrowheads="1"/>
            </p:cNvSpPr>
            <p:nvPr/>
          </p:nvSpPr>
          <p:spPr bwMode="auto">
            <a:xfrm>
              <a:off x="1288" y="2961"/>
              <a:ext cx="228" cy="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sz="2800" b="1">
                  <a:solidFill>
                    <a:srgbClr val="660066"/>
                  </a:solidFill>
                  <a:latin typeface="华文中宋" panose="02010600040101010101" pitchFamily="2" charset="-122"/>
                </a:rPr>
                <a:t>F</a:t>
              </a:r>
              <a:endParaRPr lang="en-US" altLang="zh-CN" sz="2800" b="1">
                <a:solidFill>
                  <a:srgbClr val="660066"/>
                </a:solidFill>
                <a:latin typeface="华文中宋" panose="02010600040101010101" pitchFamily="2" charset="-122"/>
              </a:endParaRPr>
            </a:p>
          </p:txBody>
        </p:sp>
      </p:grpSp>
      <p:grpSp>
        <p:nvGrpSpPr>
          <p:cNvPr id="5" name="Group 21"/>
          <p:cNvGrpSpPr/>
          <p:nvPr/>
        </p:nvGrpSpPr>
        <p:grpSpPr bwMode="auto">
          <a:xfrm>
            <a:off x="2316163" y="5237163"/>
            <a:ext cx="4491037" cy="752475"/>
            <a:chOff x="440" y="3250"/>
            <a:chExt cx="1768" cy="337"/>
          </a:xfrm>
        </p:grpSpPr>
        <p:sp>
          <p:nvSpPr>
            <p:cNvPr id="28683" name="Line 22"/>
            <p:cNvSpPr>
              <a:spLocks noChangeShapeType="1"/>
            </p:cNvSpPr>
            <p:nvPr/>
          </p:nvSpPr>
          <p:spPr bwMode="auto">
            <a:xfrm flipV="1">
              <a:off x="440" y="3250"/>
              <a:ext cx="829" cy="319"/>
            </a:xfrm>
            <a:prstGeom prst="line">
              <a:avLst/>
            </a:prstGeom>
            <a:noFill/>
            <a:ln w="19050">
              <a:solidFill>
                <a:srgbClr val="FF505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8684" name="Line 23"/>
            <p:cNvSpPr>
              <a:spLocks noChangeShapeType="1"/>
            </p:cNvSpPr>
            <p:nvPr/>
          </p:nvSpPr>
          <p:spPr bwMode="auto">
            <a:xfrm>
              <a:off x="1269" y="3257"/>
              <a:ext cx="939" cy="330"/>
            </a:xfrm>
            <a:prstGeom prst="line">
              <a:avLst/>
            </a:prstGeom>
            <a:noFill/>
            <a:ln w="19050">
              <a:solidFill>
                <a:srgbClr val="FF505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8685" name="Line 24"/>
            <p:cNvSpPr>
              <a:spLocks noChangeShapeType="1"/>
            </p:cNvSpPr>
            <p:nvPr/>
          </p:nvSpPr>
          <p:spPr bwMode="auto">
            <a:xfrm>
              <a:off x="1052" y="3338"/>
              <a:ext cx="0" cy="24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28686" name="Line 25"/>
            <p:cNvSpPr>
              <a:spLocks noChangeShapeType="1"/>
            </p:cNvSpPr>
            <p:nvPr/>
          </p:nvSpPr>
          <p:spPr bwMode="auto">
            <a:xfrm>
              <a:off x="1361" y="3287"/>
              <a:ext cx="0" cy="291"/>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28687" name="Line 26"/>
            <p:cNvSpPr>
              <a:spLocks noChangeShapeType="1"/>
            </p:cNvSpPr>
            <p:nvPr/>
          </p:nvSpPr>
          <p:spPr bwMode="auto">
            <a:xfrm>
              <a:off x="1671" y="3401"/>
              <a:ext cx="0" cy="177"/>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28688" name="Line 27"/>
            <p:cNvSpPr>
              <a:spLocks noChangeShapeType="1"/>
            </p:cNvSpPr>
            <p:nvPr/>
          </p:nvSpPr>
          <p:spPr bwMode="auto">
            <a:xfrm>
              <a:off x="1464" y="3317"/>
              <a:ext cx="0" cy="261"/>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28689" name="Line 28"/>
            <p:cNvSpPr>
              <a:spLocks noChangeShapeType="1"/>
            </p:cNvSpPr>
            <p:nvPr/>
          </p:nvSpPr>
          <p:spPr bwMode="auto">
            <a:xfrm>
              <a:off x="2084" y="3539"/>
              <a:ext cx="0" cy="39"/>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28690" name="Line 29"/>
            <p:cNvSpPr>
              <a:spLocks noChangeShapeType="1"/>
            </p:cNvSpPr>
            <p:nvPr/>
          </p:nvSpPr>
          <p:spPr bwMode="auto">
            <a:xfrm>
              <a:off x="1258" y="3251"/>
              <a:ext cx="0" cy="327"/>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28691" name="Line 30"/>
            <p:cNvSpPr>
              <a:spLocks noChangeShapeType="1"/>
            </p:cNvSpPr>
            <p:nvPr/>
          </p:nvSpPr>
          <p:spPr bwMode="auto">
            <a:xfrm>
              <a:off x="1774" y="3435"/>
              <a:ext cx="0" cy="143"/>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28692" name="Line 31"/>
            <p:cNvSpPr>
              <a:spLocks noChangeShapeType="1"/>
            </p:cNvSpPr>
            <p:nvPr/>
          </p:nvSpPr>
          <p:spPr bwMode="auto">
            <a:xfrm>
              <a:off x="1877" y="3466"/>
              <a:ext cx="0" cy="112"/>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28693" name="Line 32"/>
            <p:cNvSpPr>
              <a:spLocks noChangeShapeType="1"/>
            </p:cNvSpPr>
            <p:nvPr/>
          </p:nvSpPr>
          <p:spPr bwMode="auto">
            <a:xfrm>
              <a:off x="1980" y="3500"/>
              <a:ext cx="0" cy="78"/>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28694" name="Line 33"/>
            <p:cNvSpPr>
              <a:spLocks noChangeShapeType="1"/>
            </p:cNvSpPr>
            <p:nvPr/>
          </p:nvSpPr>
          <p:spPr bwMode="auto">
            <a:xfrm>
              <a:off x="837" y="3428"/>
              <a:ext cx="4" cy="15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28695" name="Line 34"/>
            <p:cNvSpPr>
              <a:spLocks noChangeShapeType="1"/>
            </p:cNvSpPr>
            <p:nvPr/>
          </p:nvSpPr>
          <p:spPr bwMode="auto">
            <a:xfrm>
              <a:off x="944" y="3386"/>
              <a:ext cx="4" cy="192"/>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28696" name="Line 35"/>
            <p:cNvSpPr>
              <a:spLocks noChangeShapeType="1"/>
            </p:cNvSpPr>
            <p:nvPr/>
          </p:nvSpPr>
          <p:spPr bwMode="auto">
            <a:xfrm>
              <a:off x="631" y="3500"/>
              <a:ext cx="0" cy="78"/>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28697" name="Line 36"/>
            <p:cNvSpPr>
              <a:spLocks noChangeShapeType="1"/>
            </p:cNvSpPr>
            <p:nvPr/>
          </p:nvSpPr>
          <p:spPr bwMode="auto">
            <a:xfrm>
              <a:off x="734" y="3467"/>
              <a:ext cx="0" cy="111"/>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28698" name="Line 37"/>
            <p:cNvSpPr>
              <a:spLocks noChangeShapeType="1"/>
            </p:cNvSpPr>
            <p:nvPr/>
          </p:nvSpPr>
          <p:spPr bwMode="auto">
            <a:xfrm>
              <a:off x="528" y="3536"/>
              <a:ext cx="0" cy="42"/>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28699" name="Line 38"/>
            <p:cNvSpPr>
              <a:spLocks noChangeShapeType="1"/>
            </p:cNvSpPr>
            <p:nvPr/>
          </p:nvSpPr>
          <p:spPr bwMode="auto">
            <a:xfrm>
              <a:off x="1155" y="3296"/>
              <a:ext cx="0" cy="282"/>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28700" name="Line 39"/>
            <p:cNvSpPr>
              <a:spLocks noChangeShapeType="1"/>
            </p:cNvSpPr>
            <p:nvPr/>
          </p:nvSpPr>
          <p:spPr bwMode="auto">
            <a:xfrm>
              <a:off x="1568" y="3365"/>
              <a:ext cx="0" cy="213"/>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38" name="Text Box 4"/>
          <p:cNvSpPr txBox="1">
            <a:spLocks noChangeArrowheads="1"/>
          </p:cNvSpPr>
          <p:nvPr/>
        </p:nvSpPr>
        <p:spPr bwMode="auto">
          <a:xfrm>
            <a:off x="102938" y="861245"/>
            <a:ext cx="425291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20000"/>
              </a:spcBef>
            </a:pPr>
            <a:r>
              <a:rPr lang="zh-CN" altLang="en-US" sz="2200" dirty="0" smtClean="0">
                <a:solidFill>
                  <a:srgbClr val="C00000"/>
                </a:solidFill>
                <a:latin typeface="黑体" panose="02010609060101010101" pitchFamily="49" charset="-122"/>
                <a:ea typeface="黑体" panose="02010609060101010101" pitchFamily="49" charset="-122"/>
              </a:rPr>
              <a:t>一、轴</a:t>
            </a:r>
            <a:r>
              <a:rPr lang="zh-CN" altLang="en-US" sz="2200" dirty="0">
                <a:solidFill>
                  <a:srgbClr val="C00000"/>
                </a:solidFill>
                <a:latin typeface="黑体" panose="02010609060101010101" pitchFamily="49" charset="-122"/>
                <a:ea typeface="黑体" panose="02010609060101010101" pitchFamily="49" charset="-122"/>
              </a:rPr>
              <a:t>的结构与外形</a:t>
            </a:r>
            <a:endParaRPr lang="zh-CN" altLang="en-US" sz="2200" dirty="0">
              <a:solidFill>
                <a:srgbClr val="C00000"/>
              </a:solidFill>
              <a:latin typeface="黑体" panose="02010609060101010101" pitchFamily="49" charset="-122"/>
              <a:ea typeface="黑体" panose="02010609060101010101" pitchFamily="49" charset="-122"/>
            </a:endParaRPr>
          </a:p>
        </p:txBody>
      </p:sp>
      <p:sp>
        <p:nvSpPr>
          <p:cNvPr id="39" name="Text Box 6"/>
          <p:cNvSpPr txBox="1">
            <a:spLocks noChangeArrowheads="1"/>
          </p:cNvSpPr>
          <p:nvPr/>
        </p:nvSpPr>
        <p:spPr bwMode="auto">
          <a:xfrm>
            <a:off x="4864100" y="174625"/>
            <a:ext cx="4254500"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sz="3000" dirty="0" smtClean="0">
                <a:solidFill>
                  <a:srgbClr val="CC3300"/>
                </a:solidFill>
                <a:latin typeface="黑体" panose="02010609060101010101" pitchFamily="49" charset="-122"/>
                <a:ea typeface="黑体" panose="02010609060101010101" pitchFamily="49" charset="-122"/>
              </a:rPr>
              <a:t>3.7-2 </a:t>
            </a:r>
            <a:r>
              <a:rPr lang="zh-CN" altLang="en-US" sz="3000" dirty="0">
                <a:solidFill>
                  <a:srgbClr val="CC3300"/>
                </a:solidFill>
                <a:latin typeface="黑体" panose="02010609060101010101" pitchFamily="49" charset="-122"/>
                <a:ea typeface="黑体" panose="02010609060101010101" pitchFamily="49" charset="-122"/>
              </a:rPr>
              <a:t>轴的结构设计</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40"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1143"/>
                                        </p:tgtEl>
                                        <p:attrNameLst>
                                          <p:attrName>style.visibility</p:attrName>
                                        </p:attrNameLst>
                                      </p:cBhvr>
                                      <p:to>
                                        <p:strVal val="visible"/>
                                      </p:to>
                                    </p:set>
                                    <p:animEffect transition="in" filter="wipe(left)">
                                      <p:cBhvr>
                                        <p:cTn id="12" dur="500"/>
                                        <p:tgtEl>
                                          <p:spTgt spid="9114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1144"/>
                                        </p:tgtEl>
                                        <p:attrNameLst>
                                          <p:attrName>style.visibility</p:attrName>
                                        </p:attrNameLst>
                                      </p:cBhvr>
                                      <p:to>
                                        <p:strVal val="visible"/>
                                      </p:to>
                                    </p:set>
                                    <p:animEffect transition="in" filter="wipe(left)">
                                      <p:cBhvr>
                                        <p:cTn id="17" dur="500"/>
                                        <p:tgtEl>
                                          <p:spTgt spid="9114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1145"/>
                                        </p:tgtEl>
                                        <p:attrNameLst>
                                          <p:attrName>style.visibility</p:attrName>
                                        </p:attrNameLst>
                                      </p:cBhvr>
                                      <p:to>
                                        <p:strVal val="visible"/>
                                      </p:to>
                                    </p:set>
                                    <p:animEffect transition="in" filter="wipe(left)">
                                      <p:cBhvr>
                                        <p:cTn id="22" dur="500"/>
                                        <p:tgtEl>
                                          <p:spTgt spid="9114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1146"/>
                                        </p:tgtEl>
                                        <p:attrNameLst>
                                          <p:attrName>style.visibility</p:attrName>
                                        </p:attrNameLst>
                                      </p:cBhvr>
                                      <p:to>
                                        <p:strVal val="visible"/>
                                      </p:to>
                                    </p:set>
                                    <p:animEffect transition="in" filter="wipe(left)">
                                      <p:cBhvr>
                                        <p:cTn id="27" dur="500"/>
                                        <p:tgtEl>
                                          <p:spTgt spid="9114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91147"/>
                                        </p:tgtEl>
                                        <p:attrNameLst>
                                          <p:attrName>style.visibility</p:attrName>
                                        </p:attrNameLst>
                                      </p:cBhvr>
                                      <p:to>
                                        <p:strVal val="visible"/>
                                      </p:to>
                                    </p:set>
                                    <p:animEffect transition="in" filter="wipe(down)">
                                      <p:cBhvr>
                                        <p:cTn id="32" dur="500"/>
                                        <p:tgtEl>
                                          <p:spTgt spid="9114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wipe(left)">
                                      <p:cBhvr>
                                        <p:cTn id="37" dur="500"/>
                                        <p:tgtEl>
                                          <p:spTgt spid="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4"/>
                                        </p:tgtEl>
                                        <p:attrNameLst>
                                          <p:attrName>style.visibility</p:attrName>
                                        </p:attrNameLst>
                                      </p:cBhvr>
                                      <p:to>
                                        <p:strVal val="visible"/>
                                      </p:to>
                                    </p:set>
                                    <p:animEffect transition="in" filter="wipe(up)">
                                      <p:cBhvr>
                                        <p:cTn id="42" dur="500"/>
                                        <p:tgtEl>
                                          <p:spTgt spid="4"/>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5"/>
                                        </p:tgtEl>
                                        <p:attrNameLst>
                                          <p:attrName>style.visibility</p:attrName>
                                        </p:attrNameLst>
                                      </p:cBhvr>
                                      <p:to>
                                        <p:strVal val="visible"/>
                                      </p:to>
                                    </p:set>
                                    <p:animEffect transition="in" filter="wipe(down)">
                                      <p:cBhvr>
                                        <p:cTn id="4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43" grpId="0" autoUpdateAnimBg="0"/>
      <p:bldP spid="91144" grpId="0" autoUpdateAnimBg="0"/>
      <p:bldP spid="91145" grpId="0" autoUpdateAnimBg="0"/>
      <p:bldP spid="91146" grpId="0" autoUpdateAnimBg="0"/>
      <p:bldP spid="9114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5"/>
          <p:cNvGrpSpPr/>
          <p:nvPr/>
        </p:nvGrpSpPr>
        <p:grpSpPr bwMode="auto">
          <a:xfrm>
            <a:off x="967390" y="3113038"/>
            <a:ext cx="6350000" cy="1096963"/>
            <a:chOff x="2640" y="1920"/>
            <a:chExt cx="2592" cy="480"/>
          </a:xfrm>
        </p:grpSpPr>
        <p:sp>
          <p:nvSpPr>
            <p:cNvPr id="29749" name="Rectangle 6"/>
            <p:cNvSpPr>
              <a:spLocks noChangeArrowheads="1"/>
            </p:cNvSpPr>
            <p:nvPr/>
          </p:nvSpPr>
          <p:spPr bwMode="auto">
            <a:xfrm>
              <a:off x="2976" y="1920"/>
              <a:ext cx="2016" cy="480"/>
            </a:xfrm>
            <a:prstGeom prst="rect">
              <a:avLst/>
            </a:prstGeom>
            <a:gradFill rotWithShape="0">
              <a:gsLst>
                <a:gs pos="0">
                  <a:srgbClr val="767647"/>
                </a:gs>
                <a:gs pos="50000">
                  <a:srgbClr val="FFFF99"/>
                </a:gs>
                <a:gs pos="100000">
                  <a:srgbClr val="767647"/>
                </a:gs>
              </a:gsLst>
              <a:lin ang="5400000" scaled="1"/>
            </a:gradFill>
            <a:ln w="19050">
              <a:solidFill>
                <a:srgbClr val="9933FF"/>
              </a:solidFill>
              <a:miter lim="800000"/>
            </a:ln>
          </p:spPr>
          <p:txBody>
            <a:bodyPr wrap="none" anchor="ct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endParaRPr lang="zh-CN" altLang="en-US"/>
            </a:p>
          </p:txBody>
        </p:sp>
        <p:sp>
          <p:nvSpPr>
            <p:cNvPr id="29750" name="Line 7"/>
            <p:cNvSpPr>
              <a:spLocks noChangeShapeType="1"/>
            </p:cNvSpPr>
            <p:nvPr/>
          </p:nvSpPr>
          <p:spPr bwMode="auto">
            <a:xfrm>
              <a:off x="2640" y="2160"/>
              <a:ext cx="2592" cy="0"/>
            </a:xfrm>
            <a:prstGeom prst="line">
              <a:avLst/>
            </a:prstGeom>
            <a:noFill/>
            <a:ln w="28575">
              <a:solidFill>
                <a:schemeClr val="tx1"/>
              </a:solidFill>
              <a:prstDash val="lgDashDot"/>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3" name="Group 8"/>
          <p:cNvGrpSpPr/>
          <p:nvPr/>
        </p:nvGrpSpPr>
        <p:grpSpPr bwMode="auto">
          <a:xfrm>
            <a:off x="1811940" y="3127326"/>
            <a:ext cx="4919662" cy="1082675"/>
            <a:chOff x="3024" y="2736"/>
            <a:chExt cx="1968" cy="480"/>
          </a:xfrm>
        </p:grpSpPr>
        <p:sp>
          <p:nvSpPr>
            <p:cNvPr id="80905" name="Rectangle 9"/>
            <p:cNvSpPr>
              <a:spLocks noChangeArrowheads="1"/>
            </p:cNvSpPr>
            <p:nvPr/>
          </p:nvSpPr>
          <p:spPr bwMode="auto">
            <a:xfrm>
              <a:off x="3648" y="2736"/>
              <a:ext cx="528" cy="480"/>
            </a:xfrm>
            <a:prstGeom prst="rect">
              <a:avLst/>
            </a:prstGeom>
            <a:gradFill rotWithShape="0">
              <a:gsLst>
                <a:gs pos="0">
                  <a:schemeClr val="accent1">
                    <a:gamma/>
                    <a:shade val="46275"/>
                    <a:invGamma/>
                  </a:schemeClr>
                </a:gs>
                <a:gs pos="50000">
                  <a:schemeClr val="accent1"/>
                </a:gs>
                <a:gs pos="100000">
                  <a:schemeClr val="accent1">
                    <a:gamma/>
                    <a:shade val="46275"/>
                    <a:invGamma/>
                  </a:schemeClr>
                </a:gs>
              </a:gsLst>
              <a:lin ang="5400000" scaled="1"/>
            </a:gradFill>
            <a:ln w="38100">
              <a:solidFill>
                <a:srgbClr val="000066"/>
              </a:solidFill>
              <a:miter lim="800000"/>
            </a:ln>
            <a:effectLst/>
          </p:spPr>
          <p:txBody>
            <a:bodyPr wrap="none" anchor="ctr"/>
            <a:lstStyle/>
            <a:p>
              <a:pPr>
                <a:defRPr/>
              </a:pPr>
              <a:endParaRPr lang="zh-CN" altLang="en-US"/>
            </a:p>
          </p:txBody>
        </p:sp>
        <p:sp>
          <p:nvSpPr>
            <p:cNvPr id="80906" name="Rectangle 10"/>
            <p:cNvSpPr>
              <a:spLocks noChangeArrowheads="1"/>
            </p:cNvSpPr>
            <p:nvPr/>
          </p:nvSpPr>
          <p:spPr bwMode="auto">
            <a:xfrm>
              <a:off x="4176" y="2784"/>
              <a:ext cx="288" cy="384"/>
            </a:xfrm>
            <a:prstGeom prst="rect">
              <a:avLst/>
            </a:prstGeom>
            <a:gradFill rotWithShape="0">
              <a:gsLst>
                <a:gs pos="0">
                  <a:schemeClr val="accent1">
                    <a:gamma/>
                    <a:shade val="46275"/>
                    <a:invGamma/>
                  </a:schemeClr>
                </a:gs>
                <a:gs pos="50000">
                  <a:schemeClr val="accent1"/>
                </a:gs>
                <a:gs pos="100000">
                  <a:schemeClr val="accent1">
                    <a:gamma/>
                    <a:shade val="46275"/>
                    <a:invGamma/>
                  </a:schemeClr>
                </a:gs>
              </a:gsLst>
              <a:lin ang="5400000" scaled="1"/>
            </a:gradFill>
            <a:ln w="28575">
              <a:solidFill>
                <a:schemeClr val="accent2"/>
              </a:solidFill>
              <a:miter lim="800000"/>
            </a:ln>
            <a:effectLst/>
          </p:spPr>
          <p:txBody>
            <a:bodyPr wrap="none" anchor="ctr"/>
            <a:lstStyle/>
            <a:p>
              <a:pPr>
                <a:defRPr/>
              </a:pPr>
              <a:endParaRPr lang="zh-CN" altLang="en-US"/>
            </a:p>
          </p:txBody>
        </p:sp>
        <p:sp>
          <p:nvSpPr>
            <p:cNvPr id="80907" name="Rectangle 11"/>
            <p:cNvSpPr>
              <a:spLocks noChangeArrowheads="1"/>
            </p:cNvSpPr>
            <p:nvPr/>
          </p:nvSpPr>
          <p:spPr bwMode="auto">
            <a:xfrm>
              <a:off x="4464" y="2832"/>
              <a:ext cx="528" cy="289"/>
            </a:xfrm>
            <a:prstGeom prst="rect">
              <a:avLst/>
            </a:prstGeom>
            <a:gradFill rotWithShape="0">
              <a:gsLst>
                <a:gs pos="0">
                  <a:schemeClr val="accent1">
                    <a:gamma/>
                    <a:shade val="46275"/>
                    <a:invGamma/>
                  </a:schemeClr>
                </a:gs>
                <a:gs pos="50000">
                  <a:schemeClr val="accent1"/>
                </a:gs>
                <a:gs pos="100000">
                  <a:schemeClr val="accent1">
                    <a:gamma/>
                    <a:shade val="46275"/>
                    <a:invGamma/>
                  </a:schemeClr>
                </a:gs>
              </a:gsLst>
              <a:lin ang="5400000" scaled="1"/>
            </a:gradFill>
            <a:ln w="28575">
              <a:solidFill>
                <a:schemeClr val="accent2"/>
              </a:solidFill>
              <a:miter lim="800000"/>
            </a:ln>
            <a:effectLst/>
          </p:spPr>
          <p:txBody>
            <a:bodyPr wrap="none" anchor="ctr"/>
            <a:lstStyle/>
            <a:p>
              <a:pPr>
                <a:defRPr/>
              </a:pPr>
              <a:endParaRPr lang="zh-CN" altLang="en-US"/>
            </a:p>
          </p:txBody>
        </p:sp>
        <p:sp>
          <p:nvSpPr>
            <p:cNvPr id="80908" name="Rectangle 12"/>
            <p:cNvSpPr>
              <a:spLocks noChangeArrowheads="1"/>
            </p:cNvSpPr>
            <p:nvPr/>
          </p:nvSpPr>
          <p:spPr bwMode="auto">
            <a:xfrm>
              <a:off x="3216" y="2784"/>
              <a:ext cx="432" cy="384"/>
            </a:xfrm>
            <a:prstGeom prst="rect">
              <a:avLst/>
            </a:prstGeom>
            <a:gradFill rotWithShape="0">
              <a:gsLst>
                <a:gs pos="0">
                  <a:schemeClr val="accent1">
                    <a:gamma/>
                    <a:shade val="46275"/>
                    <a:invGamma/>
                  </a:schemeClr>
                </a:gs>
                <a:gs pos="50000">
                  <a:schemeClr val="accent1"/>
                </a:gs>
                <a:gs pos="100000">
                  <a:schemeClr val="accent1">
                    <a:gamma/>
                    <a:shade val="46275"/>
                    <a:invGamma/>
                  </a:schemeClr>
                </a:gs>
              </a:gsLst>
              <a:lin ang="5400000" scaled="1"/>
            </a:gradFill>
            <a:ln w="19050">
              <a:solidFill>
                <a:schemeClr val="accent2"/>
              </a:solidFill>
              <a:miter lim="800000"/>
            </a:ln>
            <a:effectLst/>
          </p:spPr>
          <p:txBody>
            <a:bodyPr wrap="none" anchor="ctr"/>
            <a:lstStyle/>
            <a:p>
              <a:pPr>
                <a:defRPr/>
              </a:pPr>
              <a:endParaRPr lang="zh-CN" altLang="en-US"/>
            </a:p>
          </p:txBody>
        </p:sp>
        <p:sp>
          <p:nvSpPr>
            <p:cNvPr id="80909" name="Rectangle 13"/>
            <p:cNvSpPr>
              <a:spLocks noChangeArrowheads="1"/>
            </p:cNvSpPr>
            <p:nvPr/>
          </p:nvSpPr>
          <p:spPr bwMode="auto">
            <a:xfrm>
              <a:off x="3024" y="2832"/>
              <a:ext cx="192" cy="289"/>
            </a:xfrm>
            <a:prstGeom prst="rect">
              <a:avLst/>
            </a:prstGeom>
            <a:gradFill rotWithShape="0">
              <a:gsLst>
                <a:gs pos="0">
                  <a:schemeClr val="accent1">
                    <a:gamma/>
                    <a:shade val="46275"/>
                    <a:invGamma/>
                  </a:schemeClr>
                </a:gs>
                <a:gs pos="50000">
                  <a:schemeClr val="accent1"/>
                </a:gs>
                <a:gs pos="100000">
                  <a:schemeClr val="accent1">
                    <a:gamma/>
                    <a:shade val="46275"/>
                    <a:invGamma/>
                  </a:schemeClr>
                </a:gs>
              </a:gsLst>
              <a:lin ang="5400000" scaled="1"/>
            </a:gradFill>
            <a:ln w="28575">
              <a:solidFill>
                <a:schemeClr val="accent2"/>
              </a:solidFill>
              <a:miter lim="800000"/>
            </a:ln>
            <a:effectLst/>
          </p:spPr>
          <p:txBody>
            <a:bodyPr wrap="none" anchor="ctr"/>
            <a:lstStyle/>
            <a:p>
              <a:pPr>
                <a:defRPr/>
              </a:pPr>
              <a:endParaRPr lang="zh-CN" altLang="en-US"/>
            </a:p>
          </p:txBody>
        </p:sp>
      </p:grpSp>
      <p:grpSp>
        <p:nvGrpSpPr>
          <p:cNvPr id="4" name="Group 14"/>
          <p:cNvGrpSpPr/>
          <p:nvPr/>
        </p:nvGrpSpPr>
        <p:grpSpPr bwMode="auto">
          <a:xfrm>
            <a:off x="6087077" y="2635201"/>
            <a:ext cx="1781175" cy="457200"/>
            <a:chOff x="3989" y="2466"/>
            <a:chExt cx="912" cy="288"/>
          </a:xfrm>
        </p:grpSpPr>
        <p:sp>
          <p:nvSpPr>
            <p:cNvPr id="29742" name="Line 15"/>
            <p:cNvSpPr>
              <a:spLocks noChangeShapeType="1"/>
            </p:cNvSpPr>
            <p:nvPr/>
          </p:nvSpPr>
          <p:spPr bwMode="auto">
            <a:xfrm flipV="1">
              <a:off x="3989" y="2610"/>
              <a:ext cx="480" cy="144"/>
            </a:xfrm>
            <a:prstGeom prst="line">
              <a:avLst/>
            </a:prstGeom>
            <a:noFill/>
            <a:ln w="9525">
              <a:solidFill>
                <a:srgbClr val="8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743" name="Text Box 16"/>
            <p:cNvSpPr txBox="1">
              <a:spLocks noChangeArrowheads="1"/>
            </p:cNvSpPr>
            <p:nvPr/>
          </p:nvSpPr>
          <p:spPr bwMode="auto">
            <a:xfrm>
              <a:off x="4421" y="2466"/>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50000"/>
                </a:spcBef>
              </a:pPr>
              <a:r>
                <a:rPr lang="zh-CN" altLang="en-US" sz="2400">
                  <a:solidFill>
                    <a:srgbClr val="800000"/>
                  </a:solidFill>
                </a:rPr>
                <a:t>光轴</a:t>
              </a:r>
              <a:endParaRPr lang="zh-CN" altLang="en-US" sz="2400">
                <a:solidFill>
                  <a:srgbClr val="800000"/>
                </a:solidFill>
              </a:endParaRPr>
            </a:p>
          </p:txBody>
        </p:sp>
      </p:grpSp>
      <p:grpSp>
        <p:nvGrpSpPr>
          <p:cNvPr id="5" name="Group 17"/>
          <p:cNvGrpSpPr/>
          <p:nvPr/>
        </p:nvGrpSpPr>
        <p:grpSpPr bwMode="auto">
          <a:xfrm>
            <a:off x="478440" y="4138563"/>
            <a:ext cx="2224087" cy="512763"/>
            <a:chOff x="2501" y="3275"/>
            <a:chExt cx="1172" cy="323"/>
          </a:xfrm>
        </p:grpSpPr>
        <p:sp>
          <p:nvSpPr>
            <p:cNvPr id="29740" name="Line 18"/>
            <p:cNvSpPr>
              <a:spLocks noChangeShapeType="1"/>
            </p:cNvSpPr>
            <p:nvPr/>
          </p:nvSpPr>
          <p:spPr bwMode="auto">
            <a:xfrm flipH="1">
              <a:off x="3216" y="3275"/>
              <a:ext cx="457" cy="151"/>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741" name="Text Box 19"/>
            <p:cNvSpPr txBox="1">
              <a:spLocks noChangeArrowheads="1"/>
            </p:cNvSpPr>
            <p:nvPr/>
          </p:nvSpPr>
          <p:spPr bwMode="auto">
            <a:xfrm>
              <a:off x="2501" y="3310"/>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50000"/>
                </a:spcBef>
              </a:pPr>
              <a:r>
                <a:rPr lang="zh-CN" altLang="en-US" sz="2400">
                  <a:solidFill>
                    <a:srgbClr val="FF0000"/>
                  </a:solidFill>
                </a:rPr>
                <a:t>抛物线轴</a:t>
              </a:r>
              <a:endParaRPr lang="zh-CN" altLang="en-US" sz="2400">
                <a:solidFill>
                  <a:srgbClr val="FF0000"/>
                </a:solidFill>
              </a:endParaRPr>
            </a:p>
          </p:txBody>
        </p:sp>
      </p:grpSp>
      <p:grpSp>
        <p:nvGrpSpPr>
          <p:cNvPr id="6" name="Group 20"/>
          <p:cNvGrpSpPr/>
          <p:nvPr/>
        </p:nvGrpSpPr>
        <p:grpSpPr bwMode="auto">
          <a:xfrm>
            <a:off x="5202840" y="4113163"/>
            <a:ext cx="2184400" cy="730250"/>
            <a:chOff x="3989" y="3138"/>
            <a:chExt cx="864" cy="460"/>
          </a:xfrm>
        </p:grpSpPr>
        <p:sp>
          <p:nvSpPr>
            <p:cNvPr id="29738" name="Line 21"/>
            <p:cNvSpPr>
              <a:spLocks noChangeShapeType="1"/>
            </p:cNvSpPr>
            <p:nvPr/>
          </p:nvSpPr>
          <p:spPr bwMode="auto">
            <a:xfrm>
              <a:off x="3989" y="3138"/>
              <a:ext cx="288" cy="288"/>
            </a:xfrm>
            <a:prstGeom prst="line">
              <a:avLst/>
            </a:prstGeom>
            <a:noFill/>
            <a:ln w="9525">
              <a:solidFill>
                <a:srgbClr val="0066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739" name="Text Box 22"/>
            <p:cNvSpPr txBox="1">
              <a:spLocks noChangeArrowheads="1"/>
            </p:cNvSpPr>
            <p:nvPr/>
          </p:nvSpPr>
          <p:spPr bwMode="auto">
            <a:xfrm>
              <a:off x="4229" y="3310"/>
              <a:ext cx="6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50000"/>
                </a:spcBef>
              </a:pPr>
              <a:r>
                <a:rPr lang="zh-CN" altLang="en-US" sz="2400" b="1">
                  <a:solidFill>
                    <a:srgbClr val="006600"/>
                  </a:solidFill>
                </a:rPr>
                <a:t>阶梯轴</a:t>
              </a:r>
              <a:endParaRPr lang="zh-CN" altLang="en-US" sz="2400" b="1">
                <a:solidFill>
                  <a:srgbClr val="006600"/>
                </a:solidFill>
              </a:endParaRPr>
            </a:p>
          </p:txBody>
        </p:sp>
      </p:grpSp>
      <p:grpSp>
        <p:nvGrpSpPr>
          <p:cNvPr id="7" name="Group 23"/>
          <p:cNvGrpSpPr/>
          <p:nvPr/>
        </p:nvGrpSpPr>
        <p:grpSpPr bwMode="auto">
          <a:xfrm>
            <a:off x="1778602" y="3095576"/>
            <a:ext cx="4951413" cy="1150937"/>
            <a:chOff x="2655" y="2819"/>
            <a:chExt cx="2021" cy="484"/>
          </a:xfrm>
        </p:grpSpPr>
        <p:sp>
          <p:nvSpPr>
            <p:cNvPr id="29734" name="Freeform 24"/>
            <p:cNvSpPr/>
            <p:nvPr/>
          </p:nvSpPr>
          <p:spPr bwMode="auto">
            <a:xfrm>
              <a:off x="2661" y="2819"/>
              <a:ext cx="2011" cy="107"/>
            </a:xfrm>
            <a:custGeom>
              <a:avLst/>
              <a:gdLst>
                <a:gd name="T0" fmla="*/ 0 w 1984"/>
                <a:gd name="T1" fmla="*/ 99 h 116"/>
                <a:gd name="T2" fmla="*/ 216 w 1984"/>
                <a:gd name="T3" fmla="*/ 44 h 116"/>
                <a:gd name="T4" fmla="*/ 649 w 1984"/>
                <a:gd name="T5" fmla="*/ 6 h 116"/>
                <a:gd name="T6" fmla="*/ 1193 w 1984"/>
                <a:gd name="T7" fmla="*/ 14 h 116"/>
                <a:gd name="T8" fmla="*/ 1521 w 1984"/>
                <a:gd name="T9" fmla="*/ 44 h 116"/>
                <a:gd name="T10" fmla="*/ 2038 w 1984"/>
                <a:gd name="T11" fmla="*/ 83 h 116"/>
                <a:gd name="T12" fmla="*/ 0 60000 65536"/>
                <a:gd name="T13" fmla="*/ 0 60000 65536"/>
                <a:gd name="T14" fmla="*/ 0 60000 65536"/>
                <a:gd name="T15" fmla="*/ 0 60000 65536"/>
                <a:gd name="T16" fmla="*/ 0 60000 65536"/>
                <a:gd name="T17" fmla="*/ 0 60000 65536"/>
                <a:gd name="T18" fmla="*/ 0 w 1984"/>
                <a:gd name="T19" fmla="*/ 0 h 116"/>
                <a:gd name="T20" fmla="*/ 1984 w 1984"/>
                <a:gd name="T21" fmla="*/ 116 h 116"/>
              </a:gdLst>
              <a:ahLst/>
              <a:cxnLst>
                <a:cxn ang="T12">
                  <a:pos x="T0" y="T1"/>
                </a:cxn>
                <a:cxn ang="T13">
                  <a:pos x="T2" y="T3"/>
                </a:cxn>
                <a:cxn ang="T14">
                  <a:pos x="T4" y="T5"/>
                </a:cxn>
                <a:cxn ang="T15">
                  <a:pos x="T6" y="T7"/>
                </a:cxn>
                <a:cxn ang="T16">
                  <a:pos x="T8" y="T9"/>
                </a:cxn>
                <a:cxn ang="T17">
                  <a:pos x="T10" y="T11"/>
                </a:cxn>
              </a:cxnLst>
              <a:rect l="T18" t="T19" r="T20" b="T21"/>
              <a:pathLst>
                <a:path w="1984" h="116">
                  <a:moveTo>
                    <a:pt x="0" y="116"/>
                  </a:moveTo>
                  <a:cubicBezTo>
                    <a:pt x="52" y="93"/>
                    <a:pt x="105" y="70"/>
                    <a:pt x="210" y="52"/>
                  </a:cubicBezTo>
                  <a:cubicBezTo>
                    <a:pt x="315" y="34"/>
                    <a:pt x="473" y="12"/>
                    <a:pt x="631" y="6"/>
                  </a:cubicBezTo>
                  <a:cubicBezTo>
                    <a:pt x="789" y="0"/>
                    <a:pt x="1019" y="8"/>
                    <a:pt x="1161" y="16"/>
                  </a:cubicBezTo>
                  <a:cubicBezTo>
                    <a:pt x="1303" y="24"/>
                    <a:pt x="1344" y="38"/>
                    <a:pt x="1481" y="52"/>
                  </a:cubicBezTo>
                  <a:cubicBezTo>
                    <a:pt x="1618" y="66"/>
                    <a:pt x="1902" y="90"/>
                    <a:pt x="1984" y="98"/>
                  </a:cubicBezTo>
                </a:path>
              </a:pathLst>
            </a:custGeom>
            <a:noFill/>
            <a:ln w="28575" cmpd="sng">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9735" name="Freeform 25"/>
            <p:cNvSpPr/>
            <p:nvPr/>
          </p:nvSpPr>
          <p:spPr bwMode="auto">
            <a:xfrm flipV="1">
              <a:off x="2655" y="3187"/>
              <a:ext cx="2021" cy="116"/>
            </a:xfrm>
            <a:custGeom>
              <a:avLst/>
              <a:gdLst>
                <a:gd name="T0" fmla="*/ 0 w 1984"/>
                <a:gd name="T1" fmla="*/ 116 h 116"/>
                <a:gd name="T2" fmla="*/ 218 w 1984"/>
                <a:gd name="T3" fmla="*/ 52 h 116"/>
                <a:gd name="T4" fmla="*/ 655 w 1984"/>
                <a:gd name="T5" fmla="*/ 6 h 116"/>
                <a:gd name="T6" fmla="*/ 1205 w 1984"/>
                <a:gd name="T7" fmla="*/ 16 h 116"/>
                <a:gd name="T8" fmla="*/ 1537 w 1984"/>
                <a:gd name="T9" fmla="*/ 52 h 116"/>
                <a:gd name="T10" fmla="*/ 2059 w 1984"/>
                <a:gd name="T11" fmla="*/ 98 h 116"/>
                <a:gd name="T12" fmla="*/ 0 60000 65536"/>
                <a:gd name="T13" fmla="*/ 0 60000 65536"/>
                <a:gd name="T14" fmla="*/ 0 60000 65536"/>
                <a:gd name="T15" fmla="*/ 0 60000 65536"/>
                <a:gd name="T16" fmla="*/ 0 60000 65536"/>
                <a:gd name="T17" fmla="*/ 0 60000 65536"/>
                <a:gd name="T18" fmla="*/ 0 w 1984"/>
                <a:gd name="T19" fmla="*/ 0 h 116"/>
                <a:gd name="T20" fmla="*/ 1984 w 1984"/>
                <a:gd name="T21" fmla="*/ 116 h 116"/>
              </a:gdLst>
              <a:ahLst/>
              <a:cxnLst>
                <a:cxn ang="T12">
                  <a:pos x="T0" y="T1"/>
                </a:cxn>
                <a:cxn ang="T13">
                  <a:pos x="T2" y="T3"/>
                </a:cxn>
                <a:cxn ang="T14">
                  <a:pos x="T4" y="T5"/>
                </a:cxn>
                <a:cxn ang="T15">
                  <a:pos x="T6" y="T7"/>
                </a:cxn>
                <a:cxn ang="T16">
                  <a:pos x="T8" y="T9"/>
                </a:cxn>
                <a:cxn ang="T17">
                  <a:pos x="T10" y="T11"/>
                </a:cxn>
              </a:cxnLst>
              <a:rect l="T18" t="T19" r="T20" b="T21"/>
              <a:pathLst>
                <a:path w="1984" h="116">
                  <a:moveTo>
                    <a:pt x="0" y="116"/>
                  </a:moveTo>
                  <a:cubicBezTo>
                    <a:pt x="52" y="93"/>
                    <a:pt x="105" y="70"/>
                    <a:pt x="210" y="52"/>
                  </a:cubicBezTo>
                  <a:cubicBezTo>
                    <a:pt x="315" y="34"/>
                    <a:pt x="473" y="12"/>
                    <a:pt x="631" y="6"/>
                  </a:cubicBezTo>
                  <a:cubicBezTo>
                    <a:pt x="789" y="0"/>
                    <a:pt x="1019" y="8"/>
                    <a:pt x="1161" y="16"/>
                  </a:cubicBezTo>
                  <a:cubicBezTo>
                    <a:pt x="1303" y="24"/>
                    <a:pt x="1344" y="38"/>
                    <a:pt x="1481" y="52"/>
                  </a:cubicBezTo>
                  <a:cubicBezTo>
                    <a:pt x="1618" y="66"/>
                    <a:pt x="1902" y="90"/>
                    <a:pt x="1984" y="98"/>
                  </a:cubicBezTo>
                </a:path>
              </a:pathLst>
            </a:custGeom>
            <a:noFill/>
            <a:ln w="28575" cmpd="sng">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9736" name="Line 26"/>
            <p:cNvSpPr>
              <a:spLocks noChangeShapeType="1"/>
            </p:cNvSpPr>
            <p:nvPr/>
          </p:nvSpPr>
          <p:spPr bwMode="auto">
            <a:xfrm>
              <a:off x="2661" y="2917"/>
              <a:ext cx="0" cy="292"/>
            </a:xfrm>
            <a:prstGeom prst="line">
              <a:avLst/>
            </a:prstGeom>
            <a:noFill/>
            <a:ln w="2857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737" name="Line 27"/>
            <p:cNvSpPr>
              <a:spLocks noChangeShapeType="1"/>
            </p:cNvSpPr>
            <p:nvPr/>
          </p:nvSpPr>
          <p:spPr bwMode="auto">
            <a:xfrm>
              <a:off x="4672" y="2908"/>
              <a:ext cx="0" cy="292"/>
            </a:xfrm>
            <a:prstGeom prst="line">
              <a:avLst/>
            </a:prstGeom>
            <a:noFill/>
            <a:ln w="2857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29704" name="Group 28"/>
          <p:cNvGrpSpPr/>
          <p:nvPr/>
        </p:nvGrpSpPr>
        <p:grpSpPr bwMode="auto">
          <a:xfrm>
            <a:off x="1898851" y="2433321"/>
            <a:ext cx="4749800" cy="354013"/>
            <a:chOff x="391" y="3547"/>
            <a:chExt cx="1876" cy="86"/>
          </a:xfrm>
        </p:grpSpPr>
        <p:sp>
          <p:nvSpPr>
            <p:cNvPr id="29729" name="Line 29"/>
            <p:cNvSpPr>
              <a:spLocks noChangeShapeType="1"/>
            </p:cNvSpPr>
            <p:nvPr/>
          </p:nvSpPr>
          <p:spPr bwMode="auto">
            <a:xfrm>
              <a:off x="391" y="3587"/>
              <a:ext cx="1876"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730" name="Line 30"/>
            <p:cNvSpPr>
              <a:spLocks noChangeShapeType="1"/>
            </p:cNvSpPr>
            <p:nvPr/>
          </p:nvSpPr>
          <p:spPr bwMode="auto">
            <a:xfrm>
              <a:off x="391" y="3547"/>
              <a:ext cx="11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731" name="Line 31"/>
            <p:cNvSpPr>
              <a:spLocks noChangeShapeType="1"/>
            </p:cNvSpPr>
            <p:nvPr/>
          </p:nvSpPr>
          <p:spPr bwMode="auto">
            <a:xfrm>
              <a:off x="391" y="3633"/>
              <a:ext cx="11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732" name="Line 32"/>
            <p:cNvSpPr>
              <a:spLocks noChangeShapeType="1"/>
            </p:cNvSpPr>
            <p:nvPr/>
          </p:nvSpPr>
          <p:spPr bwMode="auto">
            <a:xfrm>
              <a:off x="2152" y="3547"/>
              <a:ext cx="11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733" name="Line 33"/>
            <p:cNvSpPr>
              <a:spLocks noChangeShapeType="1"/>
            </p:cNvSpPr>
            <p:nvPr/>
          </p:nvSpPr>
          <p:spPr bwMode="auto">
            <a:xfrm>
              <a:off x="2152" y="3633"/>
              <a:ext cx="11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29705" name="Group 34"/>
          <p:cNvGrpSpPr/>
          <p:nvPr/>
        </p:nvGrpSpPr>
        <p:grpSpPr bwMode="auto">
          <a:xfrm>
            <a:off x="4130876" y="1287146"/>
            <a:ext cx="411163" cy="1330325"/>
            <a:chOff x="1257" y="2961"/>
            <a:chExt cx="259" cy="628"/>
          </a:xfrm>
        </p:grpSpPr>
        <p:sp>
          <p:nvSpPr>
            <p:cNvPr id="29727" name="Line 35"/>
            <p:cNvSpPr>
              <a:spLocks noChangeShapeType="1"/>
            </p:cNvSpPr>
            <p:nvPr/>
          </p:nvSpPr>
          <p:spPr bwMode="auto">
            <a:xfrm>
              <a:off x="1257" y="3106"/>
              <a:ext cx="0" cy="483"/>
            </a:xfrm>
            <a:prstGeom prst="line">
              <a:avLst/>
            </a:prstGeom>
            <a:noFill/>
            <a:ln w="38100">
              <a:solidFill>
                <a:srgbClr val="660066"/>
              </a:solidFill>
              <a:rou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29728" name="Text Box 36"/>
            <p:cNvSpPr txBox="1">
              <a:spLocks noChangeArrowheads="1"/>
            </p:cNvSpPr>
            <p:nvPr/>
          </p:nvSpPr>
          <p:spPr bwMode="auto">
            <a:xfrm>
              <a:off x="1288" y="2961"/>
              <a:ext cx="228" cy="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sz="2800" b="1">
                  <a:solidFill>
                    <a:srgbClr val="660066"/>
                  </a:solidFill>
                  <a:latin typeface="华文中宋" panose="02010600040101010101" pitchFamily="2" charset="-122"/>
                </a:rPr>
                <a:t>F</a:t>
              </a:r>
              <a:endParaRPr lang="en-US" altLang="zh-CN" sz="2800" b="1">
                <a:solidFill>
                  <a:srgbClr val="660066"/>
                </a:solidFill>
                <a:latin typeface="华文中宋" panose="02010600040101010101" pitchFamily="2" charset="-122"/>
              </a:endParaRPr>
            </a:p>
          </p:txBody>
        </p:sp>
      </p:grpSp>
      <p:grpSp>
        <p:nvGrpSpPr>
          <p:cNvPr id="29706" name="Group 37"/>
          <p:cNvGrpSpPr/>
          <p:nvPr/>
        </p:nvGrpSpPr>
        <p:grpSpPr bwMode="auto">
          <a:xfrm>
            <a:off x="2049664" y="1860234"/>
            <a:ext cx="4491037" cy="752475"/>
            <a:chOff x="440" y="3250"/>
            <a:chExt cx="1768" cy="337"/>
          </a:xfrm>
        </p:grpSpPr>
        <p:sp>
          <p:nvSpPr>
            <p:cNvPr id="29709" name="Line 38"/>
            <p:cNvSpPr>
              <a:spLocks noChangeShapeType="1"/>
            </p:cNvSpPr>
            <p:nvPr/>
          </p:nvSpPr>
          <p:spPr bwMode="auto">
            <a:xfrm flipV="1">
              <a:off x="440" y="3250"/>
              <a:ext cx="829" cy="319"/>
            </a:xfrm>
            <a:prstGeom prst="line">
              <a:avLst/>
            </a:prstGeom>
            <a:noFill/>
            <a:ln w="19050">
              <a:solidFill>
                <a:srgbClr val="FF505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710" name="Line 39"/>
            <p:cNvSpPr>
              <a:spLocks noChangeShapeType="1"/>
            </p:cNvSpPr>
            <p:nvPr/>
          </p:nvSpPr>
          <p:spPr bwMode="auto">
            <a:xfrm>
              <a:off x="1269" y="3257"/>
              <a:ext cx="939" cy="330"/>
            </a:xfrm>
            <a:prstGeom prst="line">
              <a:avLst/>
            </a:prstGeom>
            <a:noFill/>
            <a:ln w="19050">
              <a:solidFill>
                <a:srgbClr val="FF505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711" name="Line 40"/>
            <p:cNvSpPr>
              <a:spLocks noChangeShapeType="1"/>
            </p:cNvSpPr>
            <p:nvPr/>
          </p:nvSpPr>
          <p:spPr bwMode="auto">
            <a:xfrm>
              <a:off x="1052" y="3338"/>
              <a:ext cx="0" cy="24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712" name="Line 41"/>
            <p:cNvSpPr>
              <a:spLocks noChangeShapeType="1"/>
            </p:cNvSpPr>
            <p:nvPr/>
          </p:nvSpPr>
          <p:spPr bwMode="auto">
            <a:xfrm>
              <a:off x="1361" y="3287"/>
              <a:ext cx="0" cy="291"/>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713" name="Line 42"/>
            <p:cNvSpPr>
              <a:spLocks noChangeShapeType="1"/>
            </p:cNvSpPr>
            <p:nvPr/>
          </p:nvSpPr>
          <p:spPr bwMode="auto">
            <a:xfrm>
              <a:off x="1671" y="3401"/>
              <a:ext cx="0" cy="177"/>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714" name="Line 43"/>
            <p:cNvSpPr>
              <a:spLocks noChangeShapeType="1"/>
            </p:cNvSpPr>
            <p:nvPr/>
          </p:nvSpPr>
          <p:spPr bwMode="auto">
            <a:xfrm>
              <a:off x="1464" y="3317"/>
              <a:ext cx="0" cy="261"/>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715" name="Line 44"/>
            <p:cNvSpPr>
              <a:spLocks noChangeShapeType="1"/>
            </p:cNvSpPr>
            <p:nvPr/>
          </p:nvSpPr>
          <p:spPr bwMode="auto">
            <a:xfrm>
              <a:off x="2084" y="3539"/>
              <a:ext cx="0" cy="39"/>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716" name="Line 45"/>
            <p:cNvSpPr>
              <a:spLocks noChangeShapeType="1"/>
            </p:cNvSpPr>
            <p:nvPr/>
          </p:nvSpPr>
          <p:spPr bwMode="auto">
            <a:xfrm>
              <a:off x="1258" y="3251"/>
              <a:ext cx="0" cy="327"/>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717" name="Line 46"/>
            <p:cNvSpPr>
              <a:spLocks noChangeShapeType="1"/>
            </p:cNvSpPr>
            <p:nvPr/>
          </p:nvSpPr>
          <p:spPr bwMode="auto">
            <a:xfrm>
              <a:off x="1774" y="3435"/>
              <a:ext cx="0" cy="143"/>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718" name="Line 47"/>
            <p:cNvSpPr>
              <a:spLocks noChangeShapeType="1"/>
            </p:cNvSpPr>
            <p:nvPr/>
          </p:nvSpPr>
          <p:spPr bwMode="auto">
            <a:xfrm>
              <a:off x="1877" y="3466"/>
              <a:ext cx="0" cy="112"/>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719" name="Line 48"/>
            <p:cNvSpPr>
              <a:spLocks noChangeShapeType="1"/>
            </p:cNvSpPr>
            <p:nvPr/>
          </p:nvSpPr>
          <p:spPr bwMode="auto">
            <a:xfrm>
              <a:off x="1980" y="3500"/>
              <a:ext cx="0" cy="78"/>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720" name="Line 49"/>
            <p:cNvSpPr>
              <a:spLocks noChangeShapeType="1"/>
            </p:cNvSpPr>
            <p:nvPr/>
          </p:nvSpPr>
          <p:spPr bwMode="auto">
            <a:xfrm>
              <a:off x="837" y="3428"/>
              <a:ext cx="4" cy="15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721" name="Line 50"/>
            <p:cNvSpPr>
              <a:spLocks noChangeShapeType="1"/>
            </p:cNvSpPr>
            <p:nvPr/>
          </p:nvSpPr>
          <p:spPr bwMode="auto">
            <a:xfrm>
              <a:off x="944" y="3386"/>
              <a:ext cx="4" cy="192"/>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722" name="Line 51"/>
            <p:cNvSpPr>
              <a:spLocks noChangeShapeType="1"/>
            </p:cNvSpPr>
            <p:nvPr/>
          </p:nvSpPr>
          <p:spPr bwMode="auto">
            <a:xfrm>
              <a:off x="631" y="3500"/>
              <a:ext cx="0" cy="78"/>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723" name="Line 52"/>
            <p:cNvSpPr>
              <a:spLocks noChangeShapeType="1"/>
            </p:cNvSpPr>
            <p:nvPr/>
          </p:nvSpPr>
          <p:spPr bwMode="auto">
            <a:xfrm>
              <a:off x="734" y="3467"/>
              <a:ext cx="0" cy="111"/>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724" name="Line 53"/>
            <p:cNvSpPr>
              <a:spLocks noChangeShapeType="1"/>
            </p:cNvSpPr>
            <p:nvPr/>
          </p:nvSpPr>
          <p:spPr bwMode="auto">
            <a:xfrm>
              <a:off x="528" y="3536"/>
              <a:ext cx="0" cy="42"/>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725" name="Line 54"/>
            <p:cNvSpPr>
              <a:spLocks noChangeShapeType="1"/>
            </p:cNvSpPr>
            <p:nvPr/>
          </p:nvSpPr>
          <p:spPr bwMode="auto">
            <a:xfrm>
              <a:off x="1155" y="3296"/>
              <a:ext cx="0" cy="282"/>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726" name="Line 55"/>
            <p:cNvSpPr>
              <a:spLocks noChangeShapeType="1"/>
            </p:cNvSpPr>
            <p:nvPr/>
          </p:nvSpPr>
          <p:spPr bwMode="auto">
            <a:xfrm>
              <a:off x="1568" y="3365"/>
              <a:ext cx="0" cy="213"/>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80952" name="Text Box 56"/>
          <p:cNvSpPr txBox="1">
            <a:spLocks noChangeArrowheads="1"/>
          </p:cNvSpPr>
          <p:nvPr/>
        </p:nvSpPr>
        <p:spPr bwMode="auto">
          <a:xfrm>
            <a:off x="1538672" y="4923674"/>
            <a:ext cx="6626225" cy="938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50000"/>
              </a:spcBef>
              <a:buFont typeface="Wingdings" panose="05000000000000000000" pitchFamily="2" charset="2"/>
              <a:buChar char="u"/>
            </a:pPr>
            <a:r>
              <a:rPr lang="zh-CN" altLang="en-US" sz="2200" dirty="0">
                <a:latin typeface="黑体" panose="02010609060101010101" pitchFamily="49" charset="-122"/>
                <a:ea typeface="黑体" panose="02010609060101010101" pitchFamily="49" charset="-122"/>
              </a:rPr>
              <a:t>发挥材料效能，等强度原则</a:t>
            </a:r>
            <a:endParaRPr lang="zh-CN" altLang="en-US" sz="2200" dirty="0">
              <a:latin typeface="黑体" panose="02010609060101010101" pitchFamily="49" charset="-122"/>
              <a:ea typeface="黑体" panose="02010609060101010101" pitchFamily="49" charset="-122"/>
            </a:endParaRPr>
          </a:p>
          <a:p>
            <a:pPr eaLnBrk="1" hangingPunct="1">
              <a:spcBef>
                <a:spcPct val="50000"/>
              </a:spcBef>
              <a:buFont typeface="Wingdings" panose="05000000000000000000" pitchFamily="2" charset="2"/>
              <a:buChar char="u"/>
            </a:pPr>
            <a:r>
              <a:rPr lang="zh-CN" altLang="en-US" sz="2200" dirty="0">
                <a:latin typeface="黑体" panose="02010609060101010101" pitchFamily="49" charset="-122"/>
                <a:ea typeface="黑体" panose="02010609060101010101" pitchFamily="49" charset="-122"/>
              </a:rPr>
              <a:t>形状简单、制造方便、装配可靠等。</a:t>
            </a:r>
            <a:endParaRPr lang="zh-CN" altLang="en-US" sz="2200" dirty="0">
              <a:latin typeface="黑体" panose="02010609060101010101" pitchFamily="49" charset="-122"/>
              <a:ea typeface="黑体" panose="02010609060101010101" pitchFamily="49" charset="-122"/>
            </a:endParaRPr>
          </a:p>
        </p:txBody>
      </p:sp>
      <p:sp>
        <p:nvSpPr>
          <p:cNvPr id="80953" name="Text Box 57"/>
          <p:cNvSpPr txBox="1">
            <a:spLocks noChangeArrowheads="1"/>
          </p:cNvSpPr>
          <p:nvPr/>
        </p:nvSpPr>
        <p:spPr bwMode="auto">
          <a:xfrm>
            <a:off x="1061738" y="6085004"/>
            <a:ext cx="7024687" cy="461665"/>
          </a:xfrm>
          <a:prstGeom prst="rect">
            <a:avLst/>
          </a:prstGeom>
          <a:noFill/>
          <a:ln w="38100">
            <a:solidFill>
              <a:srgbClr val="FFCCCC"/>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algn="ctr" eaLnBrk="1" hangingPunct="1">
              <a:spcBef>
                <a:spcPct val="50000"/>
              </a:spcBef>
            </a:pPr>
            <a:r>
              <a:rPr lang="zh-CN" altLang="en-US" sz="2400" dirty="0">
                <a:solidFill>
                  <a:srgbClr val="FF0000"/>
                </a:solidFill>
                <a:latin typeface="黑体" panose="02010609060101010101" pitchFamily="49" charset="-122"/>
                <a:ea typeface="黑体" panose="02010609060101010101" pitchFamily="49" charset="-122"/>
              </a:rPr>
              <a:t>实际轴的形状多为中间粗两头细的阶梯形</a:t>
            </a:r>
            <a:endParaRPr lang="zh-CN" altLang="en-US" sz="2400" dirty="0">
              <a:solidFill>
                <a:srgbClr val="FF0000"/>
              </a:solidFill>
              <a:latin typeface="黑体" panose="02010609060101010101" pitchFamily="49" charset="-122"/>
              <a:ea typeface="黑体" panose="02010609060101010101" pitchFamily="49" charset="-122"/>
            </a:endParaRPr>
          </a:p>
        </p:txBody>
      </p:sp>
      <p:sp>
        <p:nvSpPr>
          <p:cNvPr id="55" name="Text Box 4"/>
          <p:cNvSpPr txBox="1">
            <a:spLocks noChangeArrowheads="1"/>
          </p:cNvSpPr>
          <p:nvPr/>
        </p:nvSpPr>
        <p:spPr bwMode="auto">
          <a:xfrm>
            <a:off x="102938" y="861245"/>
            <a:ext cx="425291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20000"/>
              </a:spcBef>
            </a:pPr>
            <a:r>
              <a:rPr lang="zh-CN" altLang="en-US" sz="2200" dirty="0" smtClean="0">
                <a:solidFill>
                  <a:srgbClr val="C00000"/>
                </a:solidFill>
                <a:latin typeface="黑体" panose="02010609060101010101" pitchFamily="49" charset="-122"/>
                <a:ea typeface="黑体" panose="02010609060101010101" pitchFamily="49" charset="-122"/>
              </a:rPr>
              <a:t>一、轴</a:t>
            </a:r>
            <a:r>
              <a:rPr lang="zh-CN" altLang="en-US" sz="2200" dirty="0">
                <a:solidFill>
                  <a:srgbClr val="C00000"/>
                </a:solidFill>
                <a:latin typeface="黑体" panose="02010609060101010101" pitchFamily="49" charset="-122"/>
                <a:ea typeface="黑体" panose="02010609060101010101" pitchFamily="49" charset="-122"/>
              </a:rPr>
              <a:t>的结构与外形</a:t>
            </a:r>
            <a:endParaRPr lang="zh-CN" altLang="en-US" sz="2200" dirty="0">
              <a:solidFill>
                <a:srgbClr val="C00000"/>
              </a:solidFill>
              <a:latin typeface="黑体" panose="02010609060101010101" pitchFamily="49" charset="-122"/>
              <a:ea typeface="黑体" panose="02010609060101010101" pitchFamily="49" charset="-122"/>
            </a:endParaRPr>
          </a:p>
        </p:txBody>
      </p:sp>
      <p:sp>
        <p:nvSpPr>
          <p:cNvPr id="56" name="Text Box 6"/>
          <p:cNvSpPr txBox="1">
            <a:spLocks noChangeArrowheads="1"/>
          </p:cNvSpPr>
          <p:nvPr/>
        </p:nvSpPr>
        <p:spPr bwMode="auto">
          <a:xfrm>
            <a:off x="4864100" y="174625"/>
            <a:ext cx="4254500"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sz="3000" dirty="0" smtClean="0">
                <a:solidFill>
                  <a:srgbClr val="CC3300"/>
                </a:solidFill>
                <a:latin typeface="黑体" panose="02010609060101010101" pitchFamily="49" charset="-122"/>
                <a:ea typeface="黑体" panose="02010609060101010101" pitchFamily="49" charset="-122"/>
              </a:rPr>
              <a:t>3.7-2 </a:t>
            </a:r>
            <a:r>
              <a:rPr lang="zh-CN" altLang="en-US" sz="3000" dirty="0">
                <a:solidFill>
                  <a:srgbClr val="CC3300"/>
                </a:solidFill>
                <a:latin typeface="黑体" panose="02010609060101010101" pitchFamily="49" charset="-122"/>
                <a:ea typeface="黑体" panose="02010609060101010101" pitchFamily="49" charset="-122"/>
              </a:rPr>
              <a:t>轴的结构设计</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57"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500"/>
                                        <p:tgtEl>
                                          <p:spTgt spid="2"/>
                                        </p:tgtEl>
                                      </p:cBhvr>
                                    </p:animEffect>
                                  </p:childTnLst>
                                </p:cTn>
                              </p:par>
                              <p:par>
                                <p:cTn id="8" presetID="22" presetClass="entr" presetSubtype="4"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down)">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4" presetClass="entr" presetSubtype="32"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box(out)">
                                      <p:cBhvr>
                                        <p:cTn id="15" dur="500"/>
                                        <p:tgtEl>
                                          <p:spTgt spid="7"/>
                                        </p:tgtEl>
                                      </p:cBhvr>
                                    </p:animEffect>
                                  </p:childTnLst>
                                </p:cTn>
                              </p:par>
                              <p:par>
                                <p:cTn id="16" presetID="22" presetClass="entr" presetSubtype="1" fill="hold"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wipe(up)">
                                      <p:cBhvr>
                                        <p:cTn id="18" dur="500"/>
                                        <p:tgtEl>
                                          <p:spTgt spid="5"/>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80952"/>
                                        </p:tgtEl>
                                        <p:attrNameLst>
                                          <p:attrName>style.visibility</p:attrName>
                                        </p:attrNameLst>
                                      </p:cBhvr>
                                      <p:to>
                                        <p:strVal val="visible"/>
                                      </p:to>
                                    </p:set>
                                    <p:animEffect transition="in" filter="wipe(down)">
                                      <p:cBhvr>
                                        <p:cTn id="23" dur="500"/>
                                        <p:tgtEl>
                                          <p:spTgt spid="80952"/>
                                        </p:tgtEl>
                                      </p:cBhvr>
                                    </p:animEffect>
                                  </p:childTnLst>
                                </p:cTn>
                              </p:par>
                            </p:childTnLst>
                          </p:cTn>
                        </p:par>
                      </p:childTnLst>
                    </p:cTn>
                  </p:par>
                  <p:par>
                    <p:cTn id="24" fill="hold">
                      <p:stCondLst>
                        <p:cond delay="indefinite"/>
                      </p:stCondLst>
                      <p:childTnLst>
                        <p:par>
                          <p:cTn id="25" fill="hold">
                            <p:stCondLst>
                              <p:cond delay="0"/>
                            </p:stCondLst>
                            <p:childTnLst>
                              <p:par>
                                <p:cTn id="26" presetID="16" presetClass="entr" presetSubtype="42" fill="hold" nodeType="click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barn(outHorizontal)">
                                      <p:cBhvr>
                                        <p:cTn id="28" dur="500"/>
                                        <p:tgtEl>
                                          <p:spTgt spid="3"/>
                                        </p:tgtEl>
                                      </p:cBhvr>
                                    </p:animEffect>
                                  </p:childTnLst>
                                </p:cTn>
                              </p:par>
                              <p:par>
                                <p:cTn id="29" presetID="22" presetClass="entr" presetSubtype="8" fill="hold" nodeType="with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wipe(left)">
                                      <p:cBhvr>
                                        <p:cTn id="31" dur="500"/>
                                        <p:tgtEl>
                                          <p:spTgt spid="6"/>
                                        </p:tgtEl>
                                      </p:cBhvr>
                                    </p:animEffect>
                                  </p:childTnLst>
                                </p:cTn>
                              </p:par>
                            </p:childTnLst>
                          </p:cTn>
                        </p:par>
                      </p:childTnLst>
                    </p:cTn>
                  </p:par>
                  <p:par>
                    <p:cTn id="32" fill="hold">
                      <p:stCondLst>
                        <p:cond delay="indefinite"/>
                      </p:stCondLst>
                      <p:childTnLst>
                        <p:par>
                          <p:cTn id="33" fill="hold">
                            <p:stCondLst>
                              <p:cond delay="0"/>
                            </p:stCondLst>
                            <p:childTnLst>
                              <p:par>
                                <p:cTn id="34" presetID="8" presetClass="entr" presetSubtype="32" fill="hold" grpId="0" nodeType="clickEffect">
                                  <p:stCondLst>
                                    <p:cond delay="0"/>
                                  </p:stCondLst>
                                  <p:childTnLst>
                                    <p:set>
                                      <p:cBhvr>
                                        <p:cTn id="35" dur="1" fill="hold">
                                          <p:stCondLst>
                                            <p:cond delay="0"/>
                                          </p:stCondLst>
                                        </p:cTn>
                                        <p:tgtEl>
                                          <p:spTgt spid="80953"/>
                                        </p:tgtEl>
                                        <p:attrNameLst>
                                          <p:attrName>style.visibility</p:attrName>
                                        </p:attrNameLst>
                                      </p:cBhvr>
                                      <p:to>
                                        <p:strVal val="visible"/>
                                      </p:to>
                                    </p:set>
                                    <p:animEffect transition="in" filter="diamond(out)">
                                      <p:cBhvr>
                                        <p:cTn id="36" dur="2000"/>
                                        <p:tgtEl>
                                          <p:spTgt spid="809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952" grpId="0"/>
      <p:bldP spid="80953"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bwMode="auto">
          <a:xfrm>
            <a:off x="6818313" y="862013"/>
            <a:ext cx="1528762" cy="1968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algn="l" eaLnBrk="1" hangingPunct="1"/>
            <a:r>
              <a:rPr lang="zh-CN" altLang="en-US" sz="800" smtClean="0">
                <a:solidFill>
                  <a:schemeClr val="bg1"/>
                </a:solidFill>
                <a:latin typeface="黑体" panose="02010609060101010101" pitchFamily="49" charset="-122"/>
                <a:ea typeface="黑体" panose="02010609060101010101" pitchFamily="49" charset="-122"/>
              </a:rPr>
              <a:t>轴的结构设计</a:t>
            </a:r>
            <a:r>
              <a:rPr lang="en-US" altLang="zh-CN" sz="800" smtClean="0">
                <a:solidFill>
                  <a:schemeClr val="bg1"/>
                </a:solidFill>
                <a:latin typeface="黑体" panose="02010609060101010101" pitchFamily="49" charset="-122"/>
                <a:ea typeface="黑体" panose="02010609060101010101" pitchFamily="49" charset="-122"/>
              </a:rPr>
              <a:t>1</a:t>
            </a:r>
            <a:endParaRPr lang="en-US" altLang="zh-CN" sz="800" smtClean="0">
              <a:solidFill>
                <a:schemeClr val="bg1"/>
              </a:solidFill>
              <a:latin typeface="黑体" panose="02010609060101010101" pitchFamily="49" charset="-122"/>
              <a:ea typeface="黑体" panose="02010609060101010101" pitchFamily="49" charset="-122"/>
            </a:endParaRPr>
          </a:p>
        </p:txBody>
      </p:sp>
      <p:sp>
        <p:nvSpPr>
          <p:cNvPr id="31748" name="Text Box 6"/>
          <p:cNvSpPr txBox="1">
            <a:spLocks noChangeArrowheads="1"/>
          </p:cNvSpPr>
          <p:nvPr/>
        </p:nvSpPr>
        <p:spPr bwMode="auto">
          <a:xfrm>
            <a:off x="4864100" y="174625"/>
            <a:ext cx="4254500"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sz="3000" dirty="0" smtClean="0">
                <a:solidFill>
                  <a:srgbClr val="CC3300"/>
                </a:solidFill>
                <a:latin typeface="黑体" panose="02010609060101010101" pitchFamily="49" charset="-122"/>
                <a:ea typeface="黑体" panose="02010609060101010101" pitchFamily="49" charset="-122"/>
              </a:rPr>
              <a:t>3.7-2 </a:t>
            </a:r>
            <a:r>
              <a:rPr lang="zh-CN" altLang="en-US" sz="3000" dirty="0">
                <a:solidFill>
                  <a:srgbClr val="CC3300"/>
                </a:solidFill>
                <a:latin typeface="黑体" panose="02010609060101010101" pitchFamily="49" charset="-122"/>
                <a:ea typeface="黑体" panose="02010609060101010101" pitchFamily="49" charset="-122"/>
              </a:rPr>
              <a:t>轴的结构设计</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33799" name="Text Box 7"/>
          <p:cNvSpPr txBox="1">
            <a:spLocks noChangeArrowheads="1"/>
          </p:cNvSpPr>
          <p:nvPr/>
        </p:nvSpPr>
        <p:spPr bwMode="auto">
          <a:xfrm>
            <a:off x="357789" y="916756"/>
            <a:ext cx="3994150"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zh-CN" altLang="en-US" sz="2200" dirty="0" smtClean="0">
                <a:solidFill>
                  <a:srgbClr val="C00000"/>
                </a:solidFill>
                <a:latin typeface="黑体" panose="02010609060101010101" pitchFamily="49" charset="-122"/>
                <a:ea typeface="黑体" panose="02010609060101010101" pitchFamily="49" charset="-122"/>
              </a:rPr>
              <a:t>二、</a:t>
            </a:r>
            <a:r>
              <a:rPr lang="zh-CN" altLang="en-US" sz="2200" dirty="0">
                <a:solidFill>
                  <a:srgbClr val="C00000"/>
                </a:solidFill>
                <a:latin typeface="黑体" panose="02010609060101010101" pitchFamily="49" charset="-122"/>
                <a:ea typeface="黑体" panose="02010609060101010101" pitchFamily="49" charset="-122"/>
              </a:rPr>
              <a:t>拟定轴上零件的装配方案 </a:t>
            </a:r>
            <a:endParaRPr lang="zh-CN" altLang="en-US" sz="2200" dirty="0">
              <a:solidFill>
                <a:srgbClr val="C00000"/>
              </a:solidFill>
              <a:latin typeface="黑体" panose="02010609060101010101" pitchFamily="49" charset="-122"/>
              <a:ea typeface="黑体" panose="02010609060101010101" pitchFamily="49" charset="-122"/>
            </a:endParaRPr>
          </a:p>
        </p:txBody>
      </p:sp>
      <p:sp>
        <p:nvSpPr>
          <p:cNvPr id="31764" name="Text Box 8"/>
          <p:cNvSpPr txBox="1">
            <a:spLocks noChangeArrowheads="1"/>
          </p:cNvSpPr>
          <p:nvPr/>
        </p:nvSpPr>
        <p:spPr bwMode="auto">
          <a:xfrm>
            <a:off x="278081" y="1697205"/>
            <a:ext cx="2744252" cy="3139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50000"/>
              </a:lnSpc>
            </a:pPr>
            <a:r>
              <a:rPr lang="zh-CN" altLang="en-US" dirty="0">
                <a:latin typeface="华文中宋" panose="02010600040101010101" pitchFamily="2" charset="-122"/>
              </a:rPr>
              <a:t>　　</a:t>
            </a:r>
            <a:r>
              <a:rPr lang="zh-CN" altLang="en-US" sz="2200" dirty="0">
                <a:latin typeface="华文中宋" panose="02010600040101010101" pitchFamily="2" charset="-122"/>
              </a:rPr>
              <a:t>轴上零件的装配方案不同，则轴的结构形状也不相同</a:t>
            </a:r>
            <a:r>
              <a:rPr lang="zh-CN" altLang="en-US" sz="2200" dirty="0" smtClean="0">
                <a:latin typeface="华文中宋" panose="02010600040101010101" pitchFamily="2" charset="-122"/>
              </a:rPr>
              <a:t>。</a:t>
            </a:r>
            <a:endParaRPr lang="en-US" altLang="zh-CN" sz="2200" dirty="0" smtClean="0">
              <a:latin typeface="华文中宋" panose="02010600040101010101" pitchFamily="2" charset="-122"/>
            </a:endParaRPr>
          </a:p>
          <a:p>
            <a:pPr eaLnBrk="1" hangingPunct="1">
              <a:lnSpc>
                <a:spcPct val="150000"/>
              </a:lnSpc>
            </a:pPr>
            <a:r>
              <a:rPr lang="zh-CN" altLang="en-US" sz="2200" dirty="0" smtClean="0">
                <a:latin typeface="华文中宋" panose="02010600040101010101" pitchFamily="2" charset="-122"/>
              </a:rPr>
              <a:t>      设计</a:t>
            </a:r>
            <a:r>
              <a:rPr lang="zh-CN" altLang="en-US" sz="2200" dirty="0">
                <a:latin typeface="华文中宋" panose="02010600040101010101" pitchFamily="2" charset="-122"/>
              </a:rPr>
              <a:t>时可</a:t>
            </a:r>
            <a:r>
              <a:rPr lang="zh-CN" altLang="en-US" sz="2200" dirty="0" smtClean="0">
                <a:latin typeface="华文中宋" panose="02010600040101010101" pitchFamily="2" charset="-122"/>
              </a:rPr>
              <a:t>拟定几种</a:t>
            </a:r>
            <a:r>
              <a:rPr lang="zh-CN" altLang="en-US" sz="2200" dirty="0">
                <a:latin typeface="华文中宋" panose="02010600040101010101" pitchFamily="2" charset="-122"/>
              </a:rPr>
              <a:t>装配方案，进行分析与选择。 </a:t>
            </a:r>
            <a:endParaRPr lang="zh-CN" altLang="en-US" sz="2200" dirty="0">
              <a:latin typeface="华文中宋" panose="02010600040101010101" pitchFamily="2" charset="-122"/>
            </a:endParaRPr>
          </a:p>
        </p:txBody>
      </p:sp>
      <p:pic>
        <p:nvPicPr>
          <p:cNvPr id="31765" name="Picture 18" descr="arrow_2"/>
          <p:cNvPicPr>
            <a:picLocks noChangeAspect="1" noChangeArrowheads="1" noCrop="1"/>
          </p:cNvPicPr>
          <p:nvPr/>
        </p:nvPicPr>
        <p:blipFill>
          <a:blip r:embed="rId1"/>
          <a:srcRect/>
          <a:stretch>
            <a:fillRect/>
          </a:stretch>
        </p:blipFill>
        <p:spPr bwMode="auto">
          <a:xfrm>
            <a:off x="4116749" y="3108142"/>
            <a:ext cx="89492" cy="160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822" name="Picture 30" descr="NEXT">
            <a:hlinkClick r:id="" action="ppaction://hlinkshowjump?jump=nextslide"/>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742363" y="6532563"/>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823" name="Picture 31" descr="rewind">
            <a:hlinkClick r:id="" action="ppaction://hlinkshowjump?jump=first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43900" y="6532563"/>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60" name="Text Box 32"/>
          <p:cNvSpPr txBox="1">
            <a:spLocks noChangeArrowheads="1"/>
          </p:cNvSpPr>
          <p:nvPr/>
        </p:nvSpPr>
        <p:spPr bwMode="auto">
          <a:xfrm>
            <a:off x="7764463" y="5848350"/>
            <a:ext cx="844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50000"/>
              </a:spcBef>
            </a:pPr>
            <a:r>
              <a:rPr lang="en-US" altLang="zh-CN"/>
              <a:t>     </a:t>
            </a:r>
            <a:endParaRPr lang="en-US" altLang="zh-CN"/>
          </a:p>
        </p:txBody>
      </p:sp>
      <p:sp>
        <p:nvSpPr>
          <p:cNvPr id="31761"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8" name="Object 2"/>
          <p:cNvGraphicFramePr>
            <a:graphicFrameLocks noChangeAspect="1"/>
          </p:cNvGraphicFramePr>
          <p:nvPr/>
        </p:nvGraphicFramePr>
        <p:xfrm>
          <a:off x="3347888" y="1506880"/>
          <a:ext cx="5276349" cy="4850003"/>
        </p:xfrm>
        <a:graphic>
          <a:graphicData uri="http://schemas.openxmlformats.org/presentationml/2006/ole">
            <mc:AlternateContent xmlns:mc="http://schemas.openxmlformats.org/markup-compatibility/2006">
              <mc:Choice xmlns:v="urn:schemas-microsoft-com:vml" Requires="v">
                <p:oleObj spid="_x0000_s15409" name="位图图像" r:id="rId4" imgW="4943475" imgH="4543425" progId="Paint.Picture">
                  <p:embed/>
                </p:oleObj>
              </mc:Choice>
              <mc:Fallback>
                <p:oleObj name="位图图像" r:id="rId4" imgW="4943475" imgH="4543425" progId="Paint.Picture">
                  <p:embed/>
                  <p:pic>
                    <p:nvPicPr>
                      <p:cNvPr id="0" name="图片 15392"/>
                      <p:cNvPicPr>
                        <a:picLocks noChangeAspect="1" noChangeArrowheads="1"/>
                      </p:cNvPicPr>
                      <p:nvPr/>
                    </p:nvPicPr>
                    <p:blipFill>
                      <a:blip r:embed="rId5">
                        <a:lum contrast="12000"/>
                        <a:extLst>
                          <a:ext uri="{28A0092B-C50C-407E-A947-70E740481C1C}">
                            <a14:useLocalDpi xmlns:a14="http://schemas.microsoft.com/office/drawing/2010/main" val="0"/>
                          </a:ext>
                        </a:extLst>
                      </a:blip>
                      <a:srcRect/>
                      <a:stretch>
                        <a:fillRect/>
                      </a:stretch>
                    </p:blipFill>
                    <p:spPr bwMode="auto">
                      <a:xfrm>
                        <a:off x="3347888" y="1506880"/>
                        <a:ext cx="5276349" cy="4850003"/>
                      </a:xfrm>
                      <a:prstGeom prst="rect">
                        <a:avLst/>
                      </a:prstGeom>
                      <a:noFill/>
                      <a:ln>
                        <a:noFill/>
                      </a:ln>
                      <a:effec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3799"/>
                                        </p:tgtEl>
                                        <p:attrNameLst>
                                          <p:attrName>style.visibility</p:attrName>
                                        </p:attrNameLst>
                                      </p:cBhvr>
                                      <p:to>
                                        <p:strVal val="visible"/>
                                      </p:to>
                                    </p:set>
                                    <p:animEffect transition="in" filter="wipe(left)">
                                      <p:cBhvr>
                                        <p:cTn id="7" dur="500"/>
                                        <p:tgtEl>
                                          <p:spTgt spid="33799"/>
                                        </p:tgtEl>
                                      </p:cBhvr>
                                    </p:animEffect>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499"/>
                                          </p:stCondLst>
                                        </p:cTn>
                                        <p:tgtEl>
                                          <p:spTgt spid="33822"/>
                                        </p:tgtEl>
                                        <p:attrNameLst>
                                          <p:attrName>style.visibility</p:attrName>
                                        </p:attrNameLst>
                                      </p:cBhvr>
                                      <p:to>
                                        <p:strVal val="visible"/>
                                      </p:to>
                                    </p:set>
                                  </p:childTnLst>
                                </p:cTn>
                              </p:par>
                            </p:childTnLst>
                          </p:cTn>
                        </p:par>
                        <p:par>
                          <p:cTn id="11" fill="hold">
                            <p:stCondLst>
                              <p:cond delay="1000"/>
                            </p:stCondLst>
                            <p:childTnLst>
                              <p:par>
                                <p:cTn id="12" presetID="2" presetClass="entr" presetSubtype="8" fill="hold" nodeType="afterEffect">
                                  <p:stCondLst>
                                    <p:cond delay="0"/>
                                  </p:stCondLst>
                                  <p:childTnLst>
                                    <p:set>
                                      <p:cBhvr>
                                        <p:cTn id="13" dur="1" fill="hold">
                                          <p:stCondLst>
                                            <p:cond delay="0"/>
                                          </p:stCondLst>
                                        </p:cTn>
                                        <p:tgtEl>
                                          <p:spTgt spid="33823"/>
                                        </p:tgtEl>
                                        <p:attrNameLst>
                                          <p:attrName>style.visibility</p:attrName>
                                        </p:attrNameLst>
                                      </p:cBhvr>
                                      <p:to>
                                        <p:strVal val="visible"/>
                                      </p:to>
                                    </p:set>
                                    <p:anim calcmode="lin" valueType="num">
                                      <p:cBhvr additive="base">
                                        <p:cTn id="14" dur="500" fill="hold"/>
                                        <p:tgtEl>
                                          <p:spTgt spid="33823"/>
                                        </p:tgtEl>
                                        <p:attrNameLst>
                                          <p:attrName>ppt_x</p:attrName>
                                        </p:attrNameLst>
                                      </p:cBhvr>
                                      <p:tavLst>
                                        <p:tav tm="0">
                                          <p:val>
                                            <p:strVal val="0-#ppt_w/2"/>
                                          </p:val>
                                        </p:tav>
                                        <p:tav tm="100000">
                                          <p:val>
                                            <p:strVal val="#ppt_x"/>
                                          </p:val>
                                        </p:tav>
                                      </p:tavLst>
                                    </p:anim>
                                    <p:anim calcmode="lin" valueType="num">
                                      <p:cBhvr additive="base">
                                        <p:cTn id="15" dur="500" fill="hold"/>
                                        <p:tgtEl>
                                          <p:spTgt spid="33823"/>
                                        </p:tgtEl>
                                        <p:attrNameLst>
                                          <p:attrName>ppt_y</p:attrName>
                                        </p:attrNameLst>
                                      </p:cBhvr>
                                      <p:tavLst>
                                        <p:tav tm="0">
                                          <p:val>
                                            <p:strVal val="#ppt_y"/>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nodeType="clickEffect">
                                  <p:stCondLst>
                                    <p:cond delay="0"/>
                                  </p:stCondLst>
                                  <p:childTnLst>
                                    <p:set>
                                      <p:cBhvr>
                                        <p:cTn id="19" dur="1" fill="hold">
                                          <p:stCondLst>
                                            <p:cond delay="0"/>
                                          </p:stCondLst>
                                        </p:cTn>
                                        <p:tgtEl>
                                          <p:spTgt spid="31764">
                                            <p:txEl>
                                              <p:pRg st="0" end="0"/>
                                            </p:txEl>
                                          </p:spTgt>
                                        </p:tgtEl>
                                        <p:attrNameLst>
                                          <p:attrName>style.visibility</p:attrName>
                                        </p:attrNameLst>
                                      </p:cBhvr>
                                      <p:to>
                                        <p:strVal val="visible"/>
                                      </p:to>
                                    </p:set>
                                    <p:animEffect transition="in" filter="wipe(up)">
                                      <p:cBhvr>
                                        <p:cTn id="20" dur="500"/>
                                        <p:tgtEl>
                                          <p:spTgt spid="31764">
                                            <p:txEl>
                                              <p:pRg st="0" end="0"/>
                                            </p:txEl>
                                          </p:spTgt>
                                        </p:tgtEl>
                                      </p:cBhvr>
                                    </p:animEffect>
                                  </p:childTnLst>
                                </p:cTn>
                              </p:par>
                              <p:par>
                                <p:cTn id="21" presetID="22" presetClass="entr" presetSubtype="1" fill="hold" nodeType="withEffect">
                                  <p:stCondLst>
                                    <p:cond delay="0"/>
                                  </p:stCondLst>
                                  <p:childTnLst>
                                    <p:set>
                                      <p:cBhvr>
                                        <p:cTn id="22" dur="1" fill="hold">
                                          <p:stCondLst>
                                            <p:cond delay="0"/>
                                          </p:stCondLst>
                                        </p:cTn>
                                        <p:tgtEl>
                                          <p:spTgt spid="31764">
                                            <p:txEl>
                                              <p:pRg st="1" end="1"/>
                                            </p:txEl>
                                          </p:spTgt>
                                        </p:tgtEl>
                                        <p:attrNameLst>
                                          <p:attrName>style.visibility</p:attrName>
                                        </p:attrNameLst>
                                      </p:cBhvr>
                                      <p:to>
                                        <p:strVal val="visible"/>
                                      </p:to>
                                    </p:set>
                                    <p:animEffect transition="in" filter="wipe(up)">
                                      <p:cBhvr>
                                        <p:cTn id="23" dur="500"/>
                                        <p:tgtEl>
                                          <p:spTgt spid="31764">
                                            <p:txEl>
                                              <p:pRg st="1" end="1"/>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6" presetClass="entr" presetSubtype="42" fill="hold" nodeType="click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barn(outHorizontal)">
                                      <p:cBhvr>
                                        <p:cTn id="28"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9"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124" name="Group 4"/>
          <p:cNvGrpSpPr/>
          <p:nvPr/>
        </p:nvGrpSpPr>
        <p:grpSpPr bwMode="auto">
          <a:xfrm>
            <a:off x="1366838" y="2482850"/>
            <a:ext cx="5818187" cy="2481263"/>
            <a:chOff x="824" y="695"/>
            <a:chExt cx="3665" cy="1563"/>
          </a:xfrm>
        </p:grpSpPr>
        <p:sp>
          <p:nvSpPr>
            <p:cNvPr id="5137" name="Line 5"/>
            <p:cNvSpPr>
              <a:spLocks noChangeShapeType="1"/>
            </p:cNvSpPr>
            <p:nvPr/>
          </p:nvSpPr>
          <p:spPr bwMode="auto">
            <a:xfrm>
              <a:off x="969" y="1490"/>
              <a:ext cx="3520" cy="0"/>
            </a:xfrm>
            <a:prstGeom prst="line">
              <a:avLst/>
            </a:prstGeom>
            <a:noFill/>
            <a:ln w="38100">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5138" name="Group 6"/>
            <p:cNvGrpSpPr/>
            <p:nvPr/>
          </p:nvGrpSpPr>
          <p:grpSpPr bwMode="auto">
            <a:xfrm>
              <a:off x="2804" y="1444"/>
              <a:ext cx="94" cy="92"/>
              <a:chOff x="2231" y="1441"/>
              <a:chExt cx="94" cy="92"/>
            </a:xfrm>
          </p:grpSpPr>
          <p:sp>
            <p:nvSpPr>
              <p:cNvPr id="5157" name="Line 7"/>
              <p:cNvSpPr>
                <a:spLocks noChangeShapeType="1"/>
              </p:cNvSpPr>
              <p:nvPr/>
            </p:nvSpPr>
            <p:spPr bwMode="auto">
              <a:xfrm flipH="1">
                <a:off x="2231" y="1444"/>
                <a:ext cx="94" cy="84"/>
              </a:xfrm>
              <a:prstGeom prst="line">
                <a:avLst/>
              </a:prstGeom>
              <a:noFill/>
              <a:ln w="19050">
                <a:solidFill>
                  <a:srgbClr val="66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58" name="Line 8"/>
              <p:cNvSpPr>
                <a:spLocks noChangeShapeType="1"/>
              </p:cNvSpPr>
              <p:nvPr/>
            </p:nvSpPr>
            <p:spPr bwMode="auto">
              <a:xfrm>
                <a:off x="2234" y="1441"/>
                <a:ext cx="88" cy="92"/>
              </a:xfrm>
              <a:prstGeom prst="line">
                <a:avLst/>
              </a:prstGeom>
              <a:noFill/>
              <a:ln w="19050">
                <a:solidFill>
                  <a:srgbClr val="660066"/>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5139" name="Group 9"/>
            <p:cNvGrpSpPr/>
            <p:nvPr/>
          </p:nvGrpSpPr>
          <p:grpSpPr bwMode="auto">
            <a:xfrm>
              <a:off x="1483" y="1357"/>
              <a:ext cx="130" cy="254"/>
              <a:chOff x="1059" y="1358"/>
              <a:chExt cx="130" cy="254"/>
            </a:xfrm>
          </p:grpSpPr>
          <p:grpSp>
            <p:nvGrpSpPr>
              <p:cNvPr id="5151" name="Group 10"/>
              <p:cNvGrpSpPr/>
              <p:nvPr/>
            </p:nvGrpSpPr>
            <p:grpSpPr bwMode="auto">
              <a:xfrm>
                <a:off x="1063" y="1358"/>
                <a:ext cx="126" cy="90"/>
                <a:chOff x="1063" y="1358"/>
                <a:chExt cx="126" cy="90"/>
              </a:xfrm>
            </p:grpSpPr>
            <p:sp>
              <p:nvSpPr>
                <p:cNvPr id="5155" name="Line 11"/>
                <p:cNvSpPr>
                  <a:spLocks noChangeShapeType="1"/>
                </p:cNvSpPr>
                <p:nvPr/>
              </p:nvSpPr>
              <p:spPr bwMode="auto">
                <a:xfrm flipV="1">
                  <a:off x="1063" y="1358"/>
                  <a:ext cx="126" cy="3"/>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56" name="Oval 12"/>
                <p:cNvSpPr>
                  <a:spLocks noChangeArrowheads="1"/>
                </p:cNvSpPr>
                <p:nvPr/>
              </p:nvSpPr>
              <p:spPr bwMode="auto">
                <a:xfrm>
                  <a:off x="1083" y="1362"/>
                  <a:ext cx="86" cy="86"/>
                </a:xfrm>
                <a:prstGeom prst="ellipse">
                  <a:avLst/>
                </a:prstGeom>
                <a:noFill/>
                <a:ln w="1905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endParaRPr lang="zh-CN" altLang="en-US"/>
                </a:p>
              </p:txBody>
            </p:sp>
          </p:grpSp>
          <p:grpSp>
            <p:nvGrpSpPr>
              <p:cNvPr id="5152" name="Group 13"/>
              <p:cNvGrpSpPr/>
              <p:nvPr/>
            </p:nvGrpSpPr>
            <p:grpSpPr bwMode="auto">
              <a:xfrm flipV="1">
                <a:off x="1059" y="1522"/>
                <a:ext cx="126" cy="90"/>
                <a:chOff x="1063" y="1358"/>
                <a:chExt cx="126" cy="90"/>
              </a:xfrm>
            </p:grpSpPr>
            <p:sp>
              <p:nvSpPr>
                <p:cNvPr id="5153" name="Line 14"/>
                <p:cNvSpPr>
                  <a:spLocks noChangeShapeType="1"/>
                </p:cNvSpPr>
                <p:nvPr/>
              </p:nvSpPr>
              <p:spPr bwMode="auto">
                <a:xfrm flipV="1">
                  <a:off x="1063" y="1358"/>
                  <a:ext cx="126" cy="3"/>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54" name="Oval 15"/>
                <p:cNvSpPr>
                  <a:spLocks noChangeArrowheads="1"/>
                </p:cNvSpPr>
                <p:nvPr/>
              </p:nvSpPr>
              <p:spPr bwMode="auto">
                <a:xfrm>
                  <a:off x="1083" y="1362"/>
                  <a:ext cx="86" cy="86"/>
                </a:xfrm>
                <a:prstGeom prst="ellipse">
                  <a:avLst/>
                </a:prstGeom>
                <a:noFill/>
                <a:ln w="1905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endParaRPr lang="zh-CN" altLang="en-US"/>
                </a:p>
              </p:txBody>
            </p:sp>
          </p:grpSp>
        </p:grpSp>
        <p:grpSp>
          <p:nvGrpSpPr>
            <p:cNvPr id="5140" name="Group 16"/>
            <p:cNvGrpSpPr/>
            <p:nvPr/>
          </p:nvGrpSpPr>
          <p:grpSpPr bwMode="auto">
            <a:xfrm>
              <a:off x="4033" y="1350"/>
              <a:ext cx="130" cy="254"/>
              <a:chOff x="2828" y="1360"/>
              <a:chExt cx="130" cy="254"/>
            </a:xfrm>
          </p:grpSpPr>
          <p:grpSp>
            <p:nvGrpSpPr>
              <p:cNvPr id="5145" name="Group 17"/>
              <p:cNvGrpSpPr/>
              <p:nvPr/>
            </p:nvGrpSpPr>
            <p:grpSpPr bwMode="auto">
              <a:xfrm>
                <a:off x="2832" y="1360"/>
                <a:ext cx="126" cy="90"/>
                <a:chOff x="1063" y="1358"/>
                <a:chExt cx="126" cy="90"/>
              </a:xfrm>
            </p:grpSpPr>
            <p:sp>
              <p:nvSpPr>
                <p:cNvPr id="5149" name="Line 18"/>
                <p:cNvSpPr>
                  <a:spLocks noChangeShapeType="1"/>
                </p:cNvSpPr>
                <p:nvPr/>
              </p:nvSpPr>
              <p:spPr bwMode="auto">
                <a:xfrm flipV="1">
                  <a:off x="1063" y="1358"/>
                  <a:ext cx="126" cy="3"/>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50" name="Oval 19"/>
                <p:cNvSpPr>
                  <a:spLocks noChangeArrowheads="1"/>
                </p:cNvSpPr>
                <p:nvPr/>
              </p:nvSpPr>
              <p:spPr bwMode="auto">
                <a:xfrm>
                  <a:off x="1083" y="1362"/>
                  <a:ext cx="86" cy="86"/>
                </a:xfrm>
                <a:prstGeom prst="ellipse">
                  <a:avLst/>
                </a:prstGeom>
                <a:noFill/>
                <a:ln w="1905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endParaRPr lang="zh-CN" altLang="en-US"/>
                </a:p>
              </p:txBody>
            </p:sp>
          </p:grpSp>
          <p:grpSp>
            <p:nvGrpSpPr>
              <p:cNvPr id="5146" name="Group 20"/>
              <p:cNvGrpSpPr/>
              <p:nvPr/>
            </p:nvGrpSpPr>
            <p:grpSpPr bwMode="auto">
              <a:xfrm flipV="1">
                <a:off x="2828" y="1524"/>
                <a:ext cx="126" cy="90"/>
                <a:chOff x="1063" y="1358"/>
                <a:chExt cx="126" cy="90"/>
              </a:xfrm>
            </p:grpSpPr>
            <p:sp>
              <p:nvSpPr>
                <p:cNvPr id="5147" name="Line 21"/>
                <p:cNvSpPr>
                  <a:spLocks noChangeShapeType="1"/>
                </p:cNvSpPr>
                <p:nvPr/>
              </p:nvSpPr>
              <p:spPr bwMode="auto">
                <a:xfrm flipV="1">
                  <a:off x="1063" y="1358"/>
                  <a:ext cx="126" cy="3"/>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48" name="Oval 22"/>
                <p:cNvSpPr>
                  <a:spLocks noChangeArrowheads="1"/>
                </p:cNvSpPr>
                <p:nvPr/>
              </p:nvSpPr>
              <p:spPr bwMode="auto">
                <a:xfrm>
                  <a:off x="1083" y="1362"/>
                  <a:ext cx="86" cy="86"/>
                </a:xfrm>
                <a:prstGeom prst="ellipse">
                  <a:avLst/>
                </a:prstGeom>
                <a:noFill/>
                <a:ln w="1905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endParaRPr lang="zh-CN" altLang="en-US"/>
                </a:p>
              </p:txBody>
            </p:sp>
          </p:grpSp>
        </p:grpSp>
        <p:sp>
          <p:nvSpPr>
            <p:cNvPr id="5141" name="AutoShape 23"/>
            <p:cNvSpPr>
              <a:spLocks noChangeArrowheads="1"/>
            </p:cNvSpPr>
            <p:nvPr/>
          </p:nvSpPr>
          <p:spPr bwMode="auto">
            <a:xfrm rot="16200000" flipH="1">
              <a:off x="740" y="1416"/>
              <a:ext cx="309" cy="141"/>
            </a:xfrm>
            <a:custGeom>
              <a:avLst/>
              <a:gdLst>
                <a:gd name="T0" fmla="*/ 4 w 21600"/>
                <a:gd name="T1" fmla="*/ 0 h 21600"/>
                <a:gd name="T2" fmla="*/ 2 w 21600"/>
                <a:gd name="T3" fmla="*/ 1 h 21600"/>
                <a:gd name="T4" fmla="*/ 0 w 21600"/>
                <a:gd name="T5" fmla="*/ 0 h 21600"/>
                <a:gd name="T6" fmla="*/ 2 w 21600"/>
                <a:gd name="T7" fmla="*/ 0 h 21600"/>
                <a:gd name="T8" fmla="*/ 0 60000 65536"/>
                <a:gd name="T9" fmla="*/ 0 60000 65536"/>
                <a:gd name="T10" fmla="*/ 0 60000 65536"/>
                <a:gd name="T11" fmla="*/ 0 60000 65536"/>
                <a:gd name="T12" fmla="*/ 3495 w 21600"/>
                <a:gd name="T13" fmla="*/ 3523 h 21600"/>
                <a:gd name="T14" fmla="*/ 18105 w 21600"/>
                <a:gd name="T15" fmla="*/ 18077 h 21600"/>
              </a:gdLst>
              <a:ahLst/>
              <a:cxnLst>
                <a:cxn ang="T8">
                  <a:pos x="T0" y="T1"/>
                </a:cxn>
                <a:cxn ang="T9">
                  <a:pos x="T2" y="T3"/>
                </a:cxn>
                <a:cxn ang="T10">
                  <a:pos x="T4" y="T5"/>
                </a:cxn>
                <a:cxn ang="T11">
                  <a:pos x="T6" y="T7"/>
                </a:cxn>
              </a:cxnLst>
              <a:rect l="T12" t="T13" r="T14" b="T15"/>
              <a:pathLst>
                <a:path w="21600" h="21600">
                  <a:moveTo>
                    <a:pt x="0" y="0"/>
                  </a:moveTo>
                  <a:lnTo>
                    <a:pt x="3353" y="21600"/>
                  </a:lnTo>
                  <a:lnTo>
                    <a:pt x="18247" y="21600"/>
                  </a:lnTo>
                  <a:lnTo>
                    <a:pt x="21600" y="0"/>
                  </a:lnTo>
                  <a:lnTo>
                    <a:pt x="0" y="0"/>
                  </a:lnTo>
                  <a:close/>
                </a:path>
              </a:pathLst>
            </a:cu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142" name="Line 24"/>
            <p:cNvSpPr>
              <a:spLocks noChangeShapeType="1"/>
            </p:cNvSpPr>
            <p:nvPr/>
          </p:nvSpPr>
          <p:spPr bwMode="auto">
            <a:xfrm>
              <a:off x="2850" y="695"/>
              <a:ext cx="0" cy="1563"/>
            </a:xfrm>
            <a:prstGeom prst="line">
              <a:avLst/>
            </a:prstGeom>
            <a:noFill/>
            <a:ln w="28575">
              <a:solidFill>
                <a:srgbClr val="66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43" name="Line 25"/>
            <p:cNvSpPr>
              <a:spLocks noChangeShapeType="1"/>
            </p:cNvSpPr>
            <p:nvPr/>
          </p:nvSpPr>
          <p:spPr bwMode="auto">
            <a:xfrm>
              <a:off x="2750" y="2258"/>
              <a:ext cx="201" cy="0"/>
            </a:xfrm>
            <a:prstGeom prst="line">
              <a:avLst/>
            </a:prstGeom>
            <a:noFill/>
            <a:ln w="28575">
              <a:solidFill>
                <a:srgbClr val="66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44" name="Line 26"/>
            <p:cNvSpPr>
              <a:spLocks noChangeShapeType="1"/>
            </p:cNvSpPr>
            <p:nvPr/>
          </p:nvSpPr>
          <p:spPr bwMode="auto">
            <a:xfrm>
              <a:off x="2760" y="695"/>
              <a:ext cx="183" cy="0"/>
            </a:xfrm>
            <a:prstGeom prst="line">
              <a:avLst/>
            </a:prstGeom>
            <a:noFill/>
            <a:ln w="28575">
              <a:solidFill>
                <a:srgbClr val="660066"/>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5125" name="Text Box 27"/>
          <p:cNvSpPr txBox="1">
            <a:spLocks noChangeArrowheads="1"/>
          </p:cNvSpPr>
          <p:nvPr/>
        </p:nvSpPr>
        <p:spPr bwMode="auto">
          <a:xfrm>
            <a:off x="2033195" y="5083003"/>
            <a:ext cx="4992688"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algn="ctr" eaLnBrk="1" hangingPunct="1">
              <a:spcBef>
                <a:spcPct val="50000"/>
              </a:spcBef>
            </a:pPr>
            <a:r>
              <a:rPr lang="zh-CN" altLang="en-US" sz="2200" b="1" dirty="0">
                <a:solidFill>
                  <a:srgbClr val="C00000"/>
                </a:solidFill>
                <a:ea typeface="幼圆" panose="02010509060101010101" pitchFamily="49" charset="-122"/>
              </a:rPr>
              <a:t>齿轮减速器输出轴</a:t>
            </a:r>
            <a:endParaRPr lang="zh-CN" altLang="en-US" sz="2200" b="1" dirty="0">
              <a:solidFill>
                <a:srgbClr val="C00000"/>
              </a:solidFill>
              <a:ea typeface="幼圆" panose="02010509060101010101" pitchFamily="49" charset="-122"/>
            </a:endParaRPr>
          </a:p>
        </p:txBody>
      </p:sp>
      <p:grpSp>
        <p:nvGrpSpPr>
          <p:cNvPr id="10" name="Group 28"/>
          <p:cNvGrpSpPr/>
          <p:nvPr/>
        </p:nvGrpSpPr>
        <p:grpSpPr bwMode="auto">
          <a:xfrm>
            <a:off x="1306513" y="2003425"/>
            <a:ext cx="6764337" cy="1597026"/>
            <a:chOff x="823" y="951"/>
            <a:chExt cx="4261" cy="1006"/>
          </a:xfrm>
        </p:grpSpPr>
        <p:sp>
          <p:nvSpPr>
            <p:cNvPr id="5132" name="Text Box 30"/>
            <p:cNvSpPr txBox="1">
              <a:spLocks noChangeArrowheads="1"/>
            </p:cNvSpPr>
            <p:nvPr/>
          </p:nvSpPr>
          <p:spPr bwMode="auto">
            <a:xfrm>
              <a:off x="823" y="951"/>
              <a:ext cx="426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50000"/>
                </a:spcBef>
              </a:pPr>
              <a:r>
                <a:rPr lang="en-US" altLang="zh-CN" sz="2400" b="1" u="sng" dirty="0">
                  <a:latin typeface="华文楷体" panose="02010600040101010101" pitchFamily="2" charset="-122"/>
                  <a:ea typeface="华文楷体" panose="02010600040101010101" pitchFamily="2" charset="-122"/>
                </a:rPr>
                <a:t> </a:t>
              </a:r>
              <a:r>
                <a:rPr lang="zh-CN" altLang="en-US" sz="2400" b="1" u="sng" dirty="0">
                  <a:latin typeface="华文楷体" panose="02010600040101010101" pitchFamily="2" charset="-122"/>
                  <a:ea typeface="华文楷体" panose="02010600040101010101" pitchFamily="2" charset="-122"/>
                </a:rPr>
                <a:t>联轴器</a:t>
              </a:r>
              <a:r>
                <a:rPr lang="zh-CN" altLang="en-US" sz="2400" b="1" dirty="0">
                  <a:latin typeface="华文楷体" panose="02010600040101010101" pitchFamily="2" charset="-122"/>
                  <a:ea typeface="华文楷体" panose="02010600040101010101" pitchFamily="2" charset="-122"/>
                </a:rPr>
                <a:t>  </a:t>
              </a:r>
              <a:r>
                <a:rPr lang="zh-CN" altLang="en-US" sz="2400" b="1" u="sng" dirty="0">
                  <a:latin typeface="华文楷体" panose="02010600040101010101" pitchFamily="2" charset="-122"/>
                  <a:ea typeface="华文楷体" panose="02010600040101010101" pitchFamily="2" charset="-122"/>
                </a:rPr>
                <a:t>轴承</a:t>
              </a:r>
              <a:r>
                <a:rPr lang="en-US" altLang="zh-CN" sz="2400" b="1" u="sng" dirty="0">
                  <a:latin typeface="华文楷体" panose="02010600040101010101" pitchFamily="2" charset="-122"/>
                  <a:ea typeface="华文楷体" panose="02010600040101010101" pitchFamily="2" charset="-122"/>
                </a:rPr>
                <a:t>1</a:t>
              </a:r>
              <a:r>
                <a:rPr lang="en-US" altLang="zh-CN" sz="2400" b="1" dirty="0">
                  <a:latin typeface="华文楷体" panose="02010600040101010101" pitchFamily="2" charset="-122"/>
                  <a:ea typeface="华文楷体" panose="02010600040101010101" pitchFamily="2" charset="-122"/>
                </a:rPr>
                <a:t>  </a:t>
              </a:r>
              <a:r>
                <a:rPr lang="zh-CN" altLang="en-US" sz="2400" b="1" u="sng" dirty="0">
                  <a:latin typeface="华文楷体" panose="02010600040101010101" pitchFamily="2" charset="-122"/>
                  <a:ea typeface="华文楷体" panose="02010600040101010101" pitchFamily="2" charset="-122"/>
                </a:rPr>
                <a:t>斜齿轮</a:t>
              </a:r>
              <a:r>
                <a:rPr lang="zh-CN" altLang="en-US" sz="2400" b="1" dirty="0">
                  <a:latin typeface="华文楷体" panose="02010600040101010101" pitchFamily="2" charset="-122"/>
                  <a:ea typeface="华文楷体" panose="02010600040101010101" pitchFamily="2" charset="-122"/>
                </a:rPr>
                <a:t>   </a:t>
              </a:r>
              <a:r>
                <a:rPr lang="zh-CN" altLang="en-US" sz="2400" b="1" u="sng" dirty="0">
                  <a:latin typeface="华文楷体" panose="02010600040101010101" pitchFamily="2" charset="-122"/>
                  <a:ea typeface="华文楷体" panose="02010600040101010101" pitchFamily="2" charset="-122"/>
                </a:rPr>
                <a:t>轴</a:t>
              </a:r>
              <a:r>
                <a:rPr lang="zh-CN" altLang="en-US" sz="2400" b="1" dirty="0">
                  <a:latin typeface="华文楷体" panose="02010600040101010101" pitchFamily="2" charset="-122"/>
                  <a:ea typeface="华文楷体" panose="02010600040101010101" pitchFamily="2" charset="-122"/>
                </a:rPr>
                <a:t>     </a:t>
              </a:r>
              <a:r>
                <a:rPr lang="zh-CN" altLang="en-US" sz="2400" b="1" dirty="0" smtClean="0">
                  <a:latin typeface="华文楷体" panose="02010600040101010101" pitchFamily="2" charset="-122"/>
                  <a:ea typeface="华文楷体" panose="02010600040101010101" pitchFamily="2" charset="-122"/>
                </a:rPr>
                <a:t>    </a:t>
              </a:r>
              <a:r>
                <a:rPr lang="zh-CN" altLang="en-US" sz="2400" b="1" u="sng" dirty="0" smtClean="0">
                  <a:latin typeface="华文楷体" panose="02010600040101010101" pitchFamily="2" charset="-122"/>
                  <a:ea typeface="华文楷体" panose="02010600040101010101" pitchFamily="2" charset="-122"/>
                </a:rPr>
                <a:t>轴承</a:t>
              </a:r>
              <a:r>
                <a:rPr lang="en-US" altLang="zh-CN" sz="2400" b="1" u="sng" dirty="0">
                  <a:latin typeface="华文楷体" panose="02010600040101010101" pitchFamily="2" charset="-122"/>
                  <a:ea typeface="华文楷体" panose="02010600040101010101" pitchFamily="2" charset="-122"/>
                </a:rPr>
                <a:t>2</a:t>
              </a:r>
              <a:r>
                <a:rPr lang="en-US" altLang="zh-CN" sz="2400" b="1" dirty="0">
                  <a:latin typeface="华文楷体" panose="02010600040101010101" pitchFamily="2" charset="-122"/>
                  <a:ea typeface="华文楷体" panose="02010600040101010101" pitchFamily="2" charset="-122"/>
                </a:rPr>
                <a:t> </a:t>
              </a:r>
              <a:endParaRPr lang="en-US" altLang="zh-CN" sz="2400" b="1" dirty="0">
                <a:latin typeface="华文楷体" panose="02010600040101010101" pitchFamily="2" charset="-122"/>
                <a:ea typeface="华文楷体" panose="02010600040101010101" pitchFamily="2" charset="-122"/>
              </a:endParaRPr>
            </a:p>
          </p:txBody>
        </p:sp>
        <p:sp>
          <p:nvSpPr>
            <p:cNvPr id="5133" name="Line 31"/>
            <p:cNvSpPr>
              <a:spLocks noChangeShapeType="1"/>
            </p:cNvSpPr>
            <p:nvPr/>
          </p:nvSpPr>
          <p:spPr bwMode="auto">
            <a:xfrm flipH="1" flipV="1">
              <a:off x="887" y="1190"/>
              <a:ext cx="55" cy="76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34" name="Line 32"/>
            <p:cNvSpPr>
              <a:spLocks noChangeShapeType="1"/>
            </p:cNvSpPr>
            <p:nvPr/>
          </p:nvSpPr>
          <p:spPr bwMode="auto">
            <a:xfrm flipV="1">
              <a:off x="1573" y="1184"/>
              <a:ext cx="134" cy="72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35" name="Line 33"/>
            <p:cNvSpPr>
              <a:spLocks noChangeShapeType="1"/>
            </p:cNvSpPr>
            <p:nvPr/>
          </p:nvSpPr>
          <p:spPr bwMode="auto">
            <a:xfrm flipH="1" flipV="1">
              <a:off x="3954" y="1189"/>
              <a:ext cx="187" cy="70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36" name="Line 34"/>
            <p:cNvSpPr>
              <a:spLocks noChangeShapeType="1"/>
            </p:cNvSpPr>
            <p:nvPr/>
          </p:nvSpPr>
          <p:spPr bwMode="auto">
            <a:xfrm flipH="1" flipV="1">
              <a:off x="2469" y="1189"/>
              <a:ext cx="375" cy="44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5129" name="Text Box 39"/>
          <p:cNvSpPr txBox="1">
            <a:spLocks noChangeArrowheads="1"/>
          </p:cNvSpPr>
          <p:nvPr/>
        </p:nvSpPr>
        <p:spPr bwMode="auto">
          <a:xfrm>
            <a:off x="2363788" y="5724526"/>
            <a:ext cx="3697287" cy="430887"/>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algn="ctr" eaLnBrk="1" hangingPunct="1"/>
            <a:r>
              <a:rPr lang="zh-CN" altLang="en-US" sz="2200" b="1" dirty="0">
                <a:solidFill>
                  <a:srgbClr val="660066"/>
                </a:solidFill>
                <a:ea typeface="幼圆" panose="02010509060101010101" pitchFamily="49" charset="-122"/>
              </a:rPr>
              <a:t>例：</a:t>
            </a:r>
            <a:r>
              <a:rPr lang="zh-CN" altLang="en-US" sz="2200" b="1" dirty="0">
                <a:solidFill>
                  <a:srgbClr val="800000"/>
                </a:solidFill>
                <a:ea typeface="幼圆" panose="02010509060101010101" pitchFamily="49" charset="-122"/>
                <a:hlinkClick r:id="" action="ppaction://hlinkshowjump?jump=nextslide"/>
              </a:rPr>
              <a:t>装配方案比较</a:t>
            </a:r>
            <a:endParaRPr lang="zh-CN" altLang="en-US" sz="2200" b="1" dirty="0">
              <a:solidFill>
                <a:srgbClr val="800000"/>
              </a:solidFill>
              <a:ea typeface="幼圆" panose="02010509060101010101" pitchFamily="49" charset="-122"/>
            </a:endParaRPr>
          </a:p>
        </p:txBody>
      </p:sp>
      <p:sp>
        <p:nvSpPr>
          <p:cNvPr id="39" name="Text Box 6"/>
          <p:cNvSpPr txBox="1">
            <a:spLocks noChangeArrowheads="1"/>
          </p:cNvSpPr>
          <p:nvPr/>
        </p:nvSpPr>
        <p:spPr bwMode="auto">
          <a:xfrm>
            <a:off x="4864100" y="174625"/>
            <a:ext cx="4254500"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sz="3000" dirty="0" smtClean="0">
                <a:solidFill>
                  <a:srgbClr val="CC3300"/>
                </a:solidFill>
                <a:latin typeface="黑体" panose="02010609060101010101" pitchFamily="49" charset="-122"/>
                <a:ea typeface="黑体" panose="02010609060101010101" pitchFamily="49" charset="-122"/>
              </a:rPr>
              <a:t>3.7-2 </a:t>
            </a:r>
            <a:r>
              <a:rPr lang="zh-CN" altLang="en-US" sz="3000" dirty="0">
                <a:solidFill>
                  <a:srgbClr val="CC3300"/>
                </a:solidFill>
                <a:latin typeface="黑体" panose="02010609060101010101" pitchFamily="49" charset="-122"/>
                <a:ea typeface="黑体" panose="02010609060101010101" pitchFamily="49" charset="-122"/>
              </a:rPr>
              <a:t>轴的结构设计</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40"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ChangeArrowheads="1"/>
          </p:cNvSpPr>
          <p:nvPr/>
        </p:nvSpPr>
        <p:spPr bwMode="auto">
          <a:xfrm>
            <a:off x="553393" y="549700"/>
            <a:ext cx="2441694"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zh-CN" altLang="en-US" sz="2200" dirty="0">
                <a:solidFill>
                  <a:srgbClr val="660066"/>
                </a:solidFill>
                <a:latin typeface="黑体" panose="02010609060101010101" pitchFamily="49" charset="-122"/>
                <a:ea typeface="黑体" panose="02010609060101010101" pitchFamily="49" charset="-122"/>
              </a:rPr>
              <a:t>装配方案的比较：</a:t>
            </a:r>
            <a:endParaRPr lang="zh-CN" altLang="en-US" sz="2200" dirty="0">
              <a:solidFill>
                <a:srgbClr val="660066"/>
              </a:solidFill>
              <a:latin typeface="黑体" panose="02010609060101010101" pitchFamily="49" charset="-122"/>
              <a:ea typeface="黑体" panose="02010609060101010101" pitchFamily="49" charset="-122"/>
            </a:endParaRPr>
          </a:p>
        </p:txBody>
      </p:sp>
      <p:grpSp>
        <p:nvGrpSpPr>
          <p:cNvPr id="30723" name="Group 3"/>
          <p:cNvGrpSpPr/>
          <p:nvPr/>
        </p:nvGrpSpPr>
        <p:grpSpPr bwMode="auto">
          <a:xfrm>
            <a:off x="1528229" y="1166639"/>
            <a:ext cx="6178550" cy="5492750"/>
            <a:chOff x="1225" y="611"/>
            <a:chExt cx="3809" cy="3332"/>
          </a:xfrm>
        </p:grpSpPr>
        <p:pic>
          <p:nvPicPr>
            <p:cNvPr id="30724" name="Picture 4" descr="fabj"/>
            <p:cNvPicPr>
              <a:picLocks noChangeAspect="1" noChangeArrowheads="1"/>
            </p:cNvPicPr>
            <p:nvPr/>
          </p:nvPicPr>
          <p:blipFill>
            <a:blip r:embed="rId1">
              <a:lum bright="-6000" contrast="24000"/>
              <a:extLst>
                <a:ext uri="{28A0092B-C50C-407E-A947-70E740481C1C}">
                  <a14:useLocalDpi xmlns:a14="http://schemas.microsoft.com/office/drawing/2010/main" val="0"/>
                </a:ext>
              </a:extLst>
            </a:blip>
            <a:srcRect/>
            <a:stretch>
              <a:fillRect/>
            </a:stretch>
          </p:blipFill>
          <p:spPr bwMode="auto">
            <a:xfrm>
              <a:off x="1225" y="611"/>
              <a:ext cx="3809" cy="3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5" name="Text Box 5"/>
            <p:cNvSpPr txBox="1">
              <a:spLocks noChangeArrowheads="1"/>
            </p:cNvSpPr>
            <p:nvPr/>
          </p:nvSpPr>
          <p:spPr bwMode="auto">
            <a:xfrm>
              <a:off x="2630" y="1998"/>
              <a:ext cx="916" cy="24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zh-CN" altLang="en-US" b="1" dirty="0">
                  <a:solidFill>
                    <a:schemeClr val="accent2"/>
                  </a:solidFill>
                  <a:ea typeface="黑体" panose="02010609060101010101" pitchFamily="49" charset="-122"/>
                </a:rPr>
                <a:t>第一种方案</a:t>
              </a:r>
              <a:endParaRPr lang="zh-CN" altLang="en-US" b="1" dirty="0">
                <a:solidFill>
                  <a:schemeClr val="accent2"/>
                </a:solidFill>
                <a:ea typeface="黑体" panose="02010609060101010101" pitchFamily="49" charset="-122"/>
              </a:endParaRPr>
            </a:p>
          </p:txBody>
        </p:sp>
        <p:sp>
          <p:nvSpPr>
            <p:cNvPr id="30726" name="Text Box 6"/>
            <p:cNvSpPr txBox="1">
              <a:spLocks noChangeArrowheads="1"/>
            </p:cNvSpPr>
            <p:nvPr/>
          </p:nvSpPr>
          <p:spPr bwMode="auto">
            <a:xfrm>
              <a:off x="2702" y="3702"/>
              <a:ext cx="908" cy="24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zh-CN" altLang="en-US" b="1" dirty="0">
                  <a:solidFill>
                    <a:schemeClr val="accent2"/>
                  </a:solidFill>
                  <a:ea typeface="黑体" panose="02010609060101010101" pitchFamily="49" charset="-122"/>
                </a:rPr>
                <a:t>第二种方案</a:t>
              </a:r>
              <a:endParaRPr lang="zh-CN" altLang="en-US" b="1" dirty="0">
                <a:solidFill>
                  <a:schemeClr val="accent2"/>
                </a:solidFill>
                <a:ea typeface="黑体" panose="02010609060101010101" pitchFamily="49" charset="-122"/>
              </a:endParaRPr>
            </a:p>
          </p:txBody>
        </p:sp>
      </p:gr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bwMode="auto">
          <a:xfrm>
            <a:off x="6818313" y="862013"/>
            <a:ext cx="1528762" cy="1968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algn="l" eaLnBrk="1" hangingPunct="1"/>
            <a:r>
              <a:rPr lang="zh-CN" altLang="en-US" sz="800" smtClean="0">
                <a:solidFill>
                  <a:schemeClr val="bg1"/>
                </a:solidFill>
                <a:latin typeface="黑体" panose="02010609060101010101" pitchFamily="49" charset="-122"/>
                <a:ea typeface="黑体" panose="02010609060101010101" pitchFamily="49" charset="-122"/>
              </a:rPr>
              <a:t>轴的结构设计</a:t>
            </a:r>
            <a:r>
              <a:rPr lang="en-US" altLang="zh-CN" sz="800" smtClean="0">
                <a:solidFill>
                  <a:schemeClr val="bg1"/>
                </a:solidFill>
                <a:latin typeface="黑体" panose="02010609060101010101" pitchFamily="49" charset="-122"/>
                <a:ea typeface="黑体" panose="02010609060101010101" pitchFamily="49" charset="-122"/>
              </a:rPr>
              <a:t>1</a:t>
            </a:r>
            <a:endParaRPr lang="en-US" altLang="zh-CN" sz="800" smtClean="0">
              <a:solidFill>
                <a:schemeClr val="bg1"/>
              </a:solidFill>
              <a:latin typeface="黑体" panose="02010609060101010101" pitchFamily="49" charset="-122"/>
              <a:ea typeface="黑体" panose="02010609060101010101" pitchFamily="49" charset="-122"/>
            </a:endParaRPr>
          </a:p>
        </p:txBody>
      </p:sp>
      <p:sp>
        <p:nvSpPr>
          <p:cNvPr id="31748" name="Text Box 6"/>
          <p:cNvSpPr txBox="1">
            <a:spLocks noChangeArrowheads="1"/>
          </p:cNvSpPr>
          <p:nvPr/>
        </p:nvSpPr>
        <p:spPr bwMode="auto">
          <a:xfrm>
            <a:off x="4864100" y="174625"/>
            <a:ext cx="4254500"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sz="3000" dirty="0" smtClean="0">
                <a:solidFill>
                  <a:srgbClr val="CC3300"/>
                </a:solidFill>
                <a:latin typeface="黑体" panose="02010609060101010101" pitchFamily="49" charset="-122"/>
                <a:ea typeface="黑体" panose="02010609060101010101" pitchFamily="49" charset="-122"/>
              </a:rPr>
              <a:t>3.7-2 </a:t>
            </a:r>
            <a:r>
              <a:rPr lang="zh-CN" altLang="en-US" sz="3000" dirty="0">
                <a:solidFill>
                  <a:srgbClr val="CC3300"/>
                </a:solidFill>
                <a:latin typeface="黑体" panose="02010609060101010101" pitchFamily="49" charset="-122"/>
                <a:ea typeface="黑体" panose="02010609060101010101" pitchFamily="49" charset="-122"/>
              </a:rPr>
              <a:t>轴的结构设计</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33801" name="Text Box 9"/>
          <p:cNvSpPr txBox="1">
            <a:spLocks noChangeArrowheads="1"/>
          </p:cNvSpPr>
          <p:nvPr/>
        </p:nvSpPr>
        <p:spPr bwMode="auto">
          <a:xfrm>
            <a:off x="290023" y="1186377"/>
            <a:ext cx="2865438"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zh-CN" altLang="en-US" sz="2200" dirty="0">
                <a:solidFill>
                  <a:srgbClr val="C00000"/>
                </a:solidFill>
                <a:latin typeface="黑体" panose="02010609060101010101" pitchFamily="49" charset="-122"/>
                <a:ea typeface="黑体" panose="02010609060101010101" pitchFamily="49" charset="-122"/>
              </a:rPr>
              <a:t>二、轴上零件的定位 </a:t>
            </a:r>
            <a:endParaRPr lang="zh-CN" altLang="en-US" sz="2200" dirty="0">
              <a:solidFill>
                <a:srgbClr val="C00000"/>
              </a:solidFill>
              <a:latin typeface="黑体" panose="02010609060101010101" pitchFamily="49" charset="-122"/>
              <a:ea typeface="黑体" panose="02010609060101010101" pitchFamily="49" charset="-122"/>
            </a:endParaRPr>
          </a:p>
        </p:txBody>
      </p:sp>
      <p:sp>
        <p:nvSpPr>
          <p:cNvPr id="33802" name="Text Box 10"/>
          <p:cNvSpPr txBox="1">
            <a:spLocks noChangeArrowheads="1"/>
          </p:cNvSpPr>
          <p:nvPr/>
        </p:nvSpPr>
        <p:spPr bwMode="auto">
          <a:xfrm>
            <a:off x="968675" y="3751916"/>
            <a:ext cx="7650225"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zh-CN" altLang="en-US" sz="2200" dirty="0">
                <a:latin typeface="华文中宋" panose="02010600040101010101" pitchFamily="2" charset="-122"/>
              </a:rPr>
              <a:t>轴上零件的</a:t>
            </a:r>
            <a:r>
              <a:rPr lang="zh-CN" altLang="en-US" sz="2200" dirty="0">
                <a:solidFill>
                  <a:srgbClr val="C00000"/>
                </a:solidFill>
                <a:latin typeface="华文中宋" panose="02010600040101010101" pitchFamily="2" charset="-122"/>
              </a:rPr>
              <a:t>轴向定位</a:t>
            </a:r>
            <a:r>
              <a:rPr lang="zh-CN" altLang="en-US" sz="2200" dirty="0">
                <a:latin typeface="华文中宋" panose="02010600040101010101" pitchFamily="2" charset="-122"/>
              </a:rPr>
              <a:t>是以轴肩、套筒、轴端挡圈和圆螺母等来保证的。 </a:t>
            </a:r>
            <a:endParaRPr lang="zh-CN" altLang="en-US" sz="2200" dirty="0">
              <a:latin typeface="华文中宋" panose="02010600040101010101" pitchFamily="2" charset="-122"/>
            </a:endParaRPr>
          </a:p>
        </p:txBody>
      </p:sp>
      <p:sp>
        <p:nvSpPr>
          <p:cNvPr id="33803" name="Text Box 11"/>
          <p:cNvSpPr txBox="1">
            <a:spLocks noChangeArrowheads="1"/>
          </p:cNvSpPr>
          <p:nvPr/>
        </p:nvSpPr>
        <p:spPr bwMode="auto">
          <a:xfrm>
            <a:off x="523230" y="4618680"/>
            <a:ext cx="8095669"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50000"/>
              </a:lnSpc>
            </a:pPr>
            <a:r>
              <a:rPr lang="zh-CN" altLang="en-US" dirty="0">
                <a:latin typeface="华文中宋" panose="02010600040101010101" pitchFamily="2" charset="-122"/>
              </a:rPr>
              <a:t>　　</a:t>
            </a:r>
            <a:r>
              <a:rPr lang="zh-CN" altLang="en-US" sz="2200" dirty="0">
                <a:latin typeface="华文中宋" panose="02010600040101010101" pitchFamily="2" charset="-122"/>
              </a:rPr>
              <a:t>轴上零件的</a:t>
            </a:r>
            <a:r>
              <a:rPr lang="zh-CN" altLang="en-US" sz="2200" dirty="0">
                <a:solidFill>
                  <a:srgbClr val="C00000"/>
                </a:solidFill>
                <a:latin typeface="华文中宋" panose="02010600040101010101" pitchFamily="2" charset="-122"/>
              </a:rPr>
              <a:t>周向定位</a:t>
            </a:r>
            <a:r>
              <a:rPr lang="zh-CN" altLang="en-US" sz="2200" dirty="0">
                <a:latin typeface="华文中宋" panose="02010600040101010101" pitchFamily="2" charset="-122"/>
              </a:rPr>
              <a:t>是通过键、花键、销、紧定螺钉以及过盈配合来</a:t>
            </a:r>
            <a:r>
              <a:rPr lang="zh-CN" altLang="en-US" sz="2200" dirty="0" smtClean="0">
                <a:latin typeface="华文中宋" panose="02010600040101010101" pitchFamily="2" charset="-122"/>
              </a:rPr>
              <a:t>实现</a:t>
            </a:r>
            <a:r>
              <a:rPr lang="zh-CN" altLang="en-US" sz="2200" dirty="0">
                <a:latin typeface="华文中宋" panose="02010600040101010101" pitchFamily="2" charset="-122"/>
              </a:rPr>
              <a:t>的。 </a:t>
            </a:r>
            <a:endParaRPr lang="zh-CN" altLang="en-US" sz="2200" dirty="0">
              <a:latin typeface="华文中宋" panose="02010600040101010101" pitchFamily="2" charset="-122"/>
            </a:endParaRPr>
          </a:p>
        </p:txBody>
      </p:sp>
      <p:sp>
        <p:nvSpPr>
          <p:cNvPr id="31760" name="Text Box 32"/>
          <p:cNvSpPr txBox="1">
            <a:spLocks noChangeArrowheads="1"/>
          </p:cNvSpPr>
          <p:nvPr/>
        </p:nvSpPr>
        <p:spPr bwMode="auto">
          <a:xfrm>
            <a:off x="8878039" y="6355345"/>
            <a:ext cx="844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50000"/>
              </a:spcBef>
            </a:pPr>
            <a:r>
              <a:rPr lang="en-US" altLang="zh-CN"/>
              <a:t>     </a:t>
            </a:r>
            <a:endParaRPr lang="en-US" altLang="zh-CN"/>
          </a:p>
        </p:txBody>
      </p:sp>
      <p:sp>
        <p:nvSpPr>
          <p:cNvPr id="31761"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18" name="Text Box 110"/>
          <p:cNvSpPr txBox="1">
            <a:spLocks noChangeArrowheads="1"/>
          </p:cNvSpPr>
          <p:nvPr/>
        </p:nvSpPr>
        <p:spPr bwMode="auto">
          <a:xfrm>
            <a:off x="975856" y="1839771"/>
            <a:ext cx="6499225" cy="430887"/>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3810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黑体" panose="02010609060101010101" pitchFamily="49" charset="-122"/>
                <a:ea typeface="黑体" panose="02010609060101010101" pitchFamily="49" charset="-122"/>
              </a:defRPr>
            </a:lvl1pPr>
            <a:lvl2pPr marL="742950" indent="-285750" eaLnBrk="0" hangingPunct="0">
              <a:defRPr kumimoji="1" sz="2400" b="1">
                <a:solidFill>
                  <a:schemeClr val="tx1"/>
                </a:solidFill>
                <a:latin typeface="黑体" panose="02010609060101010101" pitchFamily="49" charset="-122"/>
                <a:ea typeface="黑体" panose="02010609060101010101" pitchFamily="49" charset="-122"/>
              </a:defRPr>
            </a:lvl2pPr>
            <a:lvl3pPr marL="1143000" indent="-228600" eaLnBrk="0" hangingPunct="0">
              <a:defRPr kumimoji="1" sz="2400" b="1">
                <a:solidFill>
                  <a:schemeClr val="tx1"/>
                </a:solidFill>
                <a:latin typeface="黑体" panose="02010609060101010101" pitchFamily="49" charset="-122"/>
                <a:ea typeface="黑体" panose="02010609060101010101" pitchFamily="49" charset="-122"/>
              </a:defRPr>
            </a:lvl3pPr>
            <a:lvl4pPr marL="1600200" indent="-228600" eaLnBrk="0" hangingPunct="0">
              <a:defRPr kumimoji="1" sz="2400" b="1">
                <a:solidFill>
                  <a:schemeClr val="tx1"/>
                </a:solidFill>
                <a:latin typeface="黑体" panose="02010609060101010101" pitchFamily="49" charset="-122"/>
                <a:ea typeface="黑体" panose="02010609060101010101" pitchFamily="49" charset="-122"/>
              </a:defRPr>
            </a:lvl4pPr>
            <a:lvl5pPr marL="2057400" indent="-228600" eaLnBrk="0" hangingPunct="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pPr eaLnBrk="1" hangingPunct="1"/>
            <a:r>
              <a:rPr lang="zh-CN" altLang="en-US" sz="2200" b="0" dirty="0">
                <a:solidFill>
                  <a:srgbClr val="C00000"/>
                </a:solidFill>
              </a:rPr>
              <a:t>定位</a:t>
            </a:r>
            <a:r>
              <a:rPr lang="zh-CN" altLang="en-US" sz="2200" b="0" dirty="0"/>
              <a:t> － 使轴上零件处于正确的工作位置；</a:t>
            </a:r>
            <a:endParaRPr lang="zh-CN" altLang="en-US" sz="2200" b="0" dirty="0"/>
          </a:p>
        </p:txBody>
      </p:sp>
      <p:sp>
        <p:nvSpPr>
          <p:cNvPr id="19" name="Text Box 111"/>
          <p:cNvSpPr txBox="1">
            <a:spLocks noChangeArrowheads="1"/>
          </p:cNvSpPr>
          <p:nvPr/>
        </p:nvSpPr>
        <p:spPr bwMode="auto">
          <a:xfrm>
            <a:off x="994953" y="2479409"/>
            <a:ext cx="7723533" cy="769441"/>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3810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黑体" panose="02010609060101010101" pitchFamily="49" charset="-122"/>
                <a:ea typeface="黑体" panose="02010609060101010101" pitchFamily="49" charset="-122"/>
              </a:defRPr>
            </a:lvl1pPr>
            <a:lvl2pPr marL="742950" indent="-285750" eaLnBrk="0" hangingPunct="0">
              <a:defRPr kumimoji="1" sz="2400" b="1">
                <a:solidFill>
                  <a:schemeClr val="tx1"/>
                </a:solidFill>
                <a:latin typeface="黑体" panose="02010609060101010101" pitchFamily="49" charset="-122"/>
                <a:ea typeface="黑体" panose="02010609060101010101" pitchFamily="49" charset="-122"/>
              </a:defRPr>
            </a:lvl2pPr>
            <a:lvl3pPr marL="1143000" indent="-228600" eaLnBrk="0" hangingPunct="0">
              <a:defRPr kumimoji="1" sz="2400" b="1">
                <a:solidFill>
                  <a:schemeClr val="tx1"/>
                </a:solidFill>
                <a:latin typeface="黑体" panose="02010609060101010101" pitchFamily="49" charset="-122"/>
                <a:ea typeface="黑体" panose="02010609060101010101" pitchFamily="49" charset="-122"/>
              </a:defRPr>
            </a:lvl3pPr>
            <a:lvl4pPr marL="1600200" indent="-228600" eaLnBrk="0" hangingPunct="0">
              <a:defRPr kumimoji="1" sz="2400" b="1">
                <a:solidFill>
                  <a:schemeClr val="tx1"/>
                </a:solidFill>
                <a:latin typeface="黑体" panose="02010609060101010101" pitchFamily="49" charset="-122"/>
                <a:ea typeface="黑体" panose="02010609060101010101" pitchFamily="49" charset="-122"/>
              </a:defRPr>
            </a:lvl4pPr>
            <a:lvl5pPr marL="2057400" indent="-228600" eaLnBrk="0" hangingPunct="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pPr eaLnBrk="1" hangingPunct="1"/>
            <a:r>
              <a:rPr lang="zh-CN" altLang="en-US" sz="2200" b="0" dirty="0">
                <a:solidFill>
                  <a:srgbClr val="C00000"/>
                </a:solidFill>
              </a:rPr>
              <a:t>固定</a:t>
            </a:r>
            <a:r>
              <a:rPr lang="zh-CN" altLang="en-US" sz="2200" b="0" dirty="0"/>
              <a:t> － 使轴上零件牢固地保持这一位置，防止轴上零件工作时发生轴向蹿动</a:t>
            </a:r>
            <a:endParaRPr lang="zh-CN" altLang="en-US" sz="2200" b="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3801"/>
                                        </p:tgtEl>
                                        <p:attrNameLst>
                                          <p:attrName>style.visibility</p:attrName>
                                        </p:attrNameLst>
                                      </p:cBhvr>
                                      <p:to>
                                        <p:strVal val="visible"/>
                                      </p:to>
                                    </p:set>
                                    <p:animEffect transition="in" filter="wipe(left)">
                                      <p:cBhvr>
                                        <p:cTn id="7" dur="500"/>
                                        <p:tgtEl>
                                          <p:spTgt spid="3380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wipe(left)">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3802"/>
                                        </p:tgtEl>
                                        <p:attrNameLst>
                                          <p:attrName>style.visibility</p:attrName>
                                        </p:attrNameLst>
                                      </p:cBhvr>
                                      <p:to>
                                        <p:strVal val="visible"/>
                                      </p:to>
                                    </p:set>
                                    <p:animEffect transition="in" filter="wipe(left)">
                                      <p:cBhvr>
                                        <p:cTn id="17" dur="500"/>
                                        <p:tgtEl>
                                          <p:spTgt spid="3380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3803"/>
                                        </p:tgtEl>
                                        <p:attrNameLst>
                                          <p:attrName>style.visibility</p:attrName>
                                        </p:attrNameLst>
                                      </p:cBhvr>
                                      <p:to>
                                        <p:strVal val="visible"/>
                                      </p:to>
                                    </p:set>
                                    <p:animEffect transition="in" filter="wipe(left)">
                                      <p:cBhvr>
                                        <p:cTn id="22" dur="500"/>
                                        <p:tgtEl>
                                          <p:spTgt spid="33803"/>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1" fill="hold" grpId="0" nodeType="clickEffect">
                                  <p:stCondLst>
                                    <p:cond delay="0"/>
                                  </p:stCondLst>
                                  <p:iterate type="lt">
                                    <p:tmPct val="100000"/>
                                  </p:iterate>
                                  <p:childTnLst>
                                    <p:set>
                                      <p:cBhvr>
                                        <p:cTn id="26" dur="1" fill="hold">
                                          <p:stCondLst>
                                            <p:cond delay="0"/>
                                          </p:stCondLst>
                                        </p:cTn>
                                        <p:tgtEl>
                                          <p:spTgt spid="19"/>
                                        </p:tgtEl>
                                        <p:attrNameLst>
                                          <p:attrName>style.visibility</p:attrName>
                                        </p:attrNameLst>
                                      </p:cBhvr>
                                      <p:to>
                                        <p:strVal val="visible"/>
                                      </p:to>
                                    </p:set>
                                    <p:animEffect transition="in" filter="slide(fromTop)">
                                      <p:cBhvr>
                                        <p:cTn id="27" dur="75"/>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801" grpId="0" autoUpdateAnimBg="0"/>
      <p:bldP spid="33802" grpId="0" autoUpdateAnimBg="0"/>
      <p:bldP spid="33803" grpId="0" autoUpdateAnimBg="0"/>
      <p:bldP spid="18" grpId="0"/>
      <p:bldP spid="19" grpId="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Text Box 3"/>
          <p:cNvSpPr txBox="1">
            <a:spLocks noChangeArrowheads="1"/>
          </p:cNvSpPr>
          <p:nvPr/>
        </p:nvSpPr>
        <p:spPr bwMode="auto">
          <a:xfrm>
            <a:off x="336960" y="1010454"/>
            <a:ext cx="2814638"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2200" dirty="0">
                <a:solidFill>
                  <a:srgbClr val="006600"/>
                </a:solidFill>
                <a:latin typeface="黑体" panose="02010609060101010101" pitchFamily="49" charset="-122"/>
                <a:ea typeface="黑体" panose="02010609060101010101" pitchFamily="49" charset="-122"/>
              </a:rPr>
              <a:t>（</a:t>
            </a:r>
            <a:r>
              <a:rPr kumimoji="1" lang="en-US" altLang="zh-CN" sz="2200" dirty="0">
                <a:solidFill>
                  <a:schemeClr val="tx1">
                    <a:lumMod val="60000"/>
                    <a:lumOff val="40000"/>
                  </a:schemeClr>
                </a:solidFill>
                <a:latin typeface="黑体" panose="02010609060101010101" pitchFamily="49" charset="-122"/>
                <a:ea typeface="黑体" panose="02010609060101010101" pitchFamily="49" charset="-122"/>
              </a:rPr>
              <a:t>1</a:t>
            </a:r>
            <a:r>
              <a:rPr kumimoji="1" lang="zh-CN" altLang="en-US" sz="2200" dirty="0">
                <a:solidFill>
                  <a:schemeClr val="tx1">
                    <a:lumMod val="60000"/>
                    <a:lumOff val="40000"/>
                  </a:schemeClr>
                </a:solidFill>
                <a:latin typeface="黑体" panose="02010609060101010101" pitchFamily="49" charset="-122"/>
                <a:ea typeface="黑体" panose="02010609060101010101" pitchFamily="49" charset="-122"/>
              </a:rPr>
              <a:t>）轴向固定</a:t>
            </a:r>
            <a:endParaRPr kumimoji="1" lang="zh-CN" altLang="en-US" sz="2200" dirty="0">
              <a:solidFill>
                <a:schemeClr val="tx1">
                  <a:lumMod val="60000"/>
                  <a:lumOff val="40000"/>
                </a:schemeClr>
              </a:solidFill>
              <a:latin typeface="黑体" panose="02010609060101010101" pitchFamily="49" charset="-122"/>
              <a:ea typeface="黑体" panose="02010609060101010101" pitchFamily="49" charset="-122"/>
            </a:endParaRPr>
          </a:p>
        </p:txBody>
      </p:sp>
      <p:sp>
        <p:nvSpPr>
          <p:cNvPr id="19460" name="Text Box 4"/>
          <p:cNvSpPr txBox="1">
            <a:spLocks noChangeArrowheads="1"/>
          </p:cNvSpPr>
          <p:nvPr/>
        </p:nvSpPr>
        <p:spPr bwMode="auto">
          <a:xfrm>
            <a:off x="1259909" y="1686176"/>
            <a:ext cx="7394575"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200" dirty="0">
                <a:solidFill>
                  <a:schemeClr val="accent4">
                    <a:lumMod val="50000"/>
                  </a:schemeClr>
                </a:solidFill>
                <a:latin typeface="华文中宋" panose="02010600040101010101" pitchFamily="2" charset="-122"/>
                <a:ea typeface="华文中宋" panose="02010600040101010101" pitchFamily="2" charset="-122"/>
              </a:rPr>
              <a:t>a</a:t>
            </a:r>
            <a:r>
              <a:rPr kumimoji="1" lang="zh-CN" altLang="en-US" sz="2200" dirty="0">
                <a:solidFill>
                  <a:schemeClr val="accent4">
                    <a:lumMod val="50000"/>
                  </a:schemeClr>
                </a:solidFill>
                <a:latin typeface="华文中宋" panose="02010600040101010101" pitchFamily="2" charset="-122"/>
                <a:ea typeface="华文中宋" panose="02010600040101010101" pitchFamily="2" charset="-122"/>
              </a:rPr>
              <a:t>）借助轴本身形状定位</a:t>
            </a:r>
            <a:r>
              <a:rPr kumimoji="1" lang="zh-CN" altLang="en-US" sz="2200" dirty="0">
                <a:solidFill>
                  <a:schemeClr val="accent4">
                    <a:lumMod val="50000"/>
                  </a:schemeClr>
                </a:solidFill>
                <a:ea typeface="华文中宋" panose="02010600040101010101" pitchFamily="2" charset="-122"/>
              </a:rPr>
              <a:t>轴肩、圆锥形轴头</a:t>
            </a:r>
            <a:r>
              <a:rPr kumimoji="1" lang="zh-CN" altLang="en-US" sz="2200" dirty="0">
                <a:solidFill>
                  <a:schemeClr val="accent4">
                    <a:lumMod val="50000"/>
                  </a:schemeClr>
                </a:solidFill>
                <a:latin typeface="华文中宋" panose="02010600040101010101" pitchFamily="2" charset="-122"/>
                <a:ea typeface="华文中宋" panose="02010600040101010101" pitchFamily="2" charset="-122"/>
              </a:rPr>
              <a:t>；</a:t>
            </a:r>
            <a:endParaRPr kumimoji="1" lang="zh-CN" altLang="en-US" sz="2200" dirty="0">
              <a:solidFill>
                <a:schemeClr val="accent4">
                  <a:lumMod val="50000"/>
                </a:schemeClr>
              </a:solidFill>
              <a:latin typeface="华文中宋" panose="02010600040101010101" pitchFamily="2" charset="-122"/>
              <a:ea typeface="华文中宋" panose="02010600040101010101" pitchFamily="2" charset="-122"/>
            </a:endParaRPr>
          </a:p>
        </p:txBody>
      </p:sp>
      <p:sp>
        <p:nvSpPr>
          <p:cNvPr id="19461" name="Text Box 5"/>
          <p:cNvSpPr txBox="1">
            <a:spLocks noChangeArrowheads="1"/>
          </p:cNvSpPr>
          <p:nvPr/>
        </p:nvSpPr>
        <p:spPr bwMode="auto">
          <a:xfrm>
            <a:off x="1296123" y="2260726"/>
            <a:ext cx="4873450"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200" dirty="0">
                <a:solidFill>
                  <a:schemeClr val="accent4">
                    <a:lumMod val="50000"/>
                  </a:schemeClr>
                </a:solidFill>
                <a:latin typeface="华文中宋" panose="02010600040101010101" pitchFamily="2" charset="-122"/>
                <a:ea typeface="华文中宋" panose="02010600040101010101" pitchFamily="2" charset="-122"/>
              </a:rPr>
              <a:t>b</a:t>
            </a:r>
            <a:r>
              <a:rPr kumimoji="1" lang="zh-CN" altLang="en-US" sz="2200" dirty="0">
                <a:solidFill>
                  <a:schemeClr val="accent4">
                    <a:lumMod val="50000"/>
                  </a:schemeClr>
                </a:solidFill>
                <a:latin typeface="华文中宋" panose="02010600040101010101" pitchFamily="2" charset="-122"/>
                <a:ea typeface="华文中宋" panose="02010600040101010101" pitchFamily="2" charset="-122"/>
              </a:rPr>
              <a:t>）借助挡圈、圆螺母、套筒等定位；</a:t>
            </a:r>
            <a:endParaRPr kumimoji="1" lang="zh-CN" altLang="en-US" sz="2200" dirty="0">
              <a:solidFill>
                <a:schemeClr val="accent4">
                  <a:lumMod val="50000"/>
                </a:schemeClr>
              </a:solidFill>
              <a:latin typeface="华文中宋" panose="02010600040101010101" pitchFamily="2" charset="-122"/>
              <a:ea typeface="华文中宋" panose="02010600040101010101" pitchFamily="2" charset="-122"/>
            </a:endParaRPr>
          </a:p>
        </p:txBody>
      </p:sp>
      <p:grpSp>
        <p:nvGrpSpPr>
          <p:cNvPr id="19462" name="Group 6"/>
          <p:cNvGrpSpPr/>
          <p:nvPr/>
        </p:nvGrpSpPr>
        <p:grpSpPr bwMode="auto">
          <a:xfrm>
            <a:off x="688409" y="2896025"/>
            <a:ext cx="1936750" cy="3430588"/>
            <a:chOff x="366" y="1656"/>
            <a:chExt cx="1220" cy="2161"/>
          </a:xfrm>
        </p:grpSpPr>
        <p:pic>
          <p:nvPicPr>
            <p:cNvPr id="19463" name="Picture 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66" y="1656"/>
              <a:ext cx="1216" cy="1865"/>
            </a:xfrm>
            <a:prstGeom prst="rect">
              <a:avLst/>
            </a:prstGeom>
            <a:noFill/>
            <a:extLst>
              <a:ext uri="{909E8E84-426E-40DD-AFC4-6F175D3DCCD1}">
                <a14:hiddenFill xmlns:a14="http://schemas.microsoft.com/office/drawing/2010/main">
                  <a:solidFill>
                    <a:srgbClr val="FFFFFF"/>
                  </a:solidFill>
                </a14:hiddenFill>
              </a:ext>
            </a:extLst>
          </p:spPr>
        </p:pic>
        <p:sp>
          <p:nvSpPr>
            <p:cNvPr id="19464" name="Text Box 8"/>
            <p:cNvSpPr txBox="1">
              <a:spLocks noChangeArrowheads="1"/>
            </p:cNvSpPr>
            <p:nvPr/>
          </p:nvSpPr>
          <p:spPr bwMode="auto">
            <a:xfrm>
              <a:off x="478" y="3546"/>
              <a:ext cx="1108" cy="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200" dirty="0">
                  <a:ea typeface="黑体" panose="02010609060101010101" pitchFamily="49" charset="-122"/>
                </a:rPr>
                <a:t>轴肩</a:t>
              </a:r>
              <a:r>
                <a:rPr lang="en-US" altLang="zh-CN" sz="2200" dirty="0">
                  <a:latin typeface="华文中宋" panose="02010600040101010101" pitchFamily="2" charset="-122"/>
                  <a:ea typeface="黑体" panose="02010609060101010101" pitchFamily="49" charset="-122"/>
                </a:rPr>
                <a:t>—</a:t>
              </a:r>
              <a:r>
                <a:rPr lang="zh-CN" altLang="en-US" sz="2200" dirty="0">
                  <a:ea typeface="黑体" panose="02010609060101010101" pitchFamily="49" charset="-122"/>
                </a:rPr>
                <a:t>套筒</a:t>
              </a:r>
              <a:endParaRPr lang="zh-CN" altLang="en-US" sz="2200" dirty="0">
                <a:ea typeface="黑体" panose="02010609060101010101" pitchFamily="49" charset="-122"/>
              </a:endParaRPr>
            </a:p>
          </p:txBody>
        </p:sp>
      </p:grpSp>
      <p:grpSp>
        <p:nvGrpSpPr>
          <p:cNvPr id="19465" name="Group 9"/>
          <p:cNvGrpSpPr/>
          <p:nvPr/>
        </p:nvGrpSpPr>
        <p:grpSpPr bwMode="auto">
          <a:xfrm>
            <a:off x="2830513" y="3062288"/>
            <a:ext cx="2595562" cy="3351213"/>
            <a:chOff x="1703" y="1698"/>
            <a:chExt cx="1635" cy="2111"/>
          </a:xfrm>
        </p:grpSpPr>
        <p:pic>
          <p:nvPicPr>
            <p:cNvPr id="19466"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3" y="1698"/>
              <a:ext cx="1582" cy="1748"/>
            </a:xfrm>
            <a:prstGeom prst="rect">
              <a:avLst/>
            </a:prstGeom>
            <a:noFill/>
            <a:extLst>
              <a:ext uri="{909E8E84-426E-40DD-AFC4-6F175D3DCCD1}">
                <a14:hiddenFill xmlns:a14="http://schemas.microsoft.com/office/drawing/2010/main">
                  <a:solidFill>
                    <a:srgbClr val="FFFFFF"/>
                  </a:solidFill>
                </a14:hiddenFill>
              </a:ext>
            </a:extLst>
          </p:spPr>
        </p:pic>
        <p:sp>
          <p:nvSpPr>
            <p:cNvPr id="19467" name="Text Box 11"/>
            <p:cNvSpPr txBox="1">
              <a:spLocks noChangeArrowheads="1"/>
            </p:cNvSpPr>
            <p:nvPr/>
          </p:nvSpPr>
          <p:spPr bwMode="auto">
            <a:xfrm>
              <a:off x="1774" y="3538"/>
              <a:ext cx="1564" cy="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200" dirty="0">
                  <a:ea typeface="黑体" panose="02010609060101010101" pitchFamily="49" charset="-122"/>
                </a:rPr>
                <a:t>轴肩</a:t>
              </a:r>
              <a:r>
                <a:rPr lang="en-US" altLang="zh-CN" sz="2200" dirty="0">
                  <a:latin typeface="华文中宋" panose="02010600040101010101" pitchFamily="2" charset="-122"/>
                  <a:ea typeface="黑体" panose="02010609060101010101" pitchFamily="49" charset="-122"/>
                </a:rPr>
                <a:t>—</a:t>
              </a:r>
              <a:r>
                <a:rPr lang="zh-CN" altLang="en-US" sz="2200" dirty="0">
                  <a:ea typeface="黑体" panose="02010609060101010101" pitchFamily="49" charset="-122"/>
                </a:rPr>
                <a:t>锁紧挡圈</a:t>
              </a:r>
              <a:endParaRPr lang="zh-CN" altLang="en-US" sz="2200" dirty="0">
                <a:ea typeface="黑体" panose="02010609060101010101" pitchFamily="49" charset="-122"/>
              </a:endParaRPr>
            </a:p>
          </p:txBody>
        </p:sp>
      </p:grpSp>
      <p:grpSp>
        <p:nvGrpSpPr>
          <p:cNvPr id="19468" name="Group 12"/>
          <p:cNvGrpSpPr/>
          <p:nvPr/>
        </p:nvGrpSpPr>
        <p:grpSpPr bwMode="auto">
          <a:xfrm>
            <a:off x="5505450" y="2928938"/>
            <a:ext cx="3576638" cy="3484563"/>
            <a:chOff x="3404" y="1614"/>
            <a:chExt cx="2253" cy="2195"/>
          </a:xfrm>
        </p:grpSpPr>
        <p:pic>
          <p:nvPicPr>
            <p:cNvPr id="19469"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04" y="1614"/>
              <a:ext cx="1408" cy="1934"/>
            </a:xfrm>
            <a:prstGeom prst="rect">
              <a:avLst/>
            </a:prstGeom>
            <a:noFill/>
            <a:extLst>
              <a:ext uri="{909E8E84-426E-40DD-AFC4-6F175D3DCCD1}">
                <a14:hiddenFill xmlns:a14="http://schemas.microsoft.com/office/drawing/2010/main">
                  <a:solidFill>
                    <a:srgbClr val="FFFFFF"/>
                  </a:solidFill>
                </a14:hiddenFill>
              </a:ext>
            </a:extLst>
          </p:spPr>
        </p:pic>
        <p:sp>
          <p:nvSpPr>
            <p:cNvPr id="19470" name="Text Box 14"/>
            <p:cNvSpPr txBox="1">
              <a:spLocks noChangeArrowheads="1"/>
            </p:cNvSpPr>
            <p:nvPr/>
          </p:nvSpPr>
          <p:spPr bwMode="auto">
            <a:xfrm>
              <a:off x="3798" y="3538"/>
              <a:ext cx="1564" cy="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200" dirty="0">
                  <a:ea typeface="黑体" panose="02010609060101010101" pitchFamily="49" charset="-122"/>
                </a:rPr>
                <a:t>轴肩</a:t>
              </a:r>
              <a:r>
                <a:rPr lang="en-US" altLang="zh-CN" sz="2200" dirty="0">
                  <a:latin typeface="华文中宋" panose="02010600040101010101" pitchFamily="2" charset="-122"/>
                  <a:ea typeface="黑体" panose="02010609060101010101" pitchFamily="49" charset="-122"/>
                </a:rPr>
                <a:t>—</a:t>
              </a:r>
              <a:r>
                <a:rPr lang="zh-CN" altLang="en-US" sz="2200" dirty="0">
                  <a:ea typeface="黑体" panose="02010609060101010101" pitchFamily="49" charset="-122"/>
                </a:rPr>
                <a:t>弹性挡圈</a:t>
              </a:r>
              <a:endParaRPr lang="zh-CN" altLang="en-US" sz="2200" dirty="0">
                <a:ea typeface="黑体" panose="02010609060101010101" pitchFamily="49" charset="-122"/>
              </a:endParaRPr>
            </a:p>
          </p:txBody>
        </p:sp>
        <p:pic>
          <p:nvPicPr>
            <p:cNvPr id="19471" name="Picture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90" y="2135"/>
              <a:ext cx="867" cy="890"/>
            </a:xfrm>
            <a:prstGeom prst="rect">
              <a:avLst/>
            </a:prstGeom>
            <a:noFill/>
            <a:extLst>
              <a:ext uri="{909E8E84-426E-40DD-AFC4-6F175D3DCCD1}">
                <a14:hiddenFill xmlns:a14="http://schemas.microsoft.com/office/drawing/2010/main">
                  <a:solidFill>
                    <a:srgbClr val="FFFFFF"/>
                  </a:solidFill>
                </a14:hiddenFill>
              </a:ext>
            </a:extLst>
          </p:spPr>
        </p:pic>
      </p:grpSp>
      <p:sp>
        <p:nvSpPr>
          <p:cNvPr id="16" name="Text Box 6"/>
          <p:cNvSpPr txBox="1">
            <a:spLocks noChangeArrowheads="1"/>
          </p:cNvSpPr>
          <p:nvPr/>
        </p:nvSpPr>
        <p:spPr bwMode="auto">
          <a:xfrm>
            <a:off x="4864100" y="174625"/>
            <a:ext cx="4254500"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sz="3000" dirty="0" smtClean="0">
                <a:solidFill>
                  <a:srgbClr val="CC3300"/>
                </a:solidFill>
                <a:latin typeface="黑体" panose="02010609060101010101" pitchFamily="49" charset="-122"/>
                <a:ea typeface="黑体" panose="02010609060101010101" pitchFamily="49" charset="-122"/>
              </a:rPr>
              <a:t>3.7-2 </a:t>
            </a:r>
            <a:r>
              <a:rPr lang="zh-CN" altLang="en-US" sz="3000" dirty="0">
                <a:solidFill>
                  <a:srgbClr val="CC3300"/>
                </a:solidFill>
                <a:latin typeface="黑体" panose="02010609060101010101" pitchFamily="49" charset="-122"/>
                <a:ea typeface="黑体" panose="02010609060101010101" pitchFamily="49" charset="-122"/>
              </a:rPr>
              <a:t>轴的结构设计</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17"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459"/>
                                        </p:tgtEl>
                                        <p:attrNameLst>
                                          <p:attrName>style.visibility</p:attrName>
                                        </p:attrNameLst>
                                      </p:cBhvr>
                                      <p:to>
                                        <p:strVal val="visible"/>
                                      </p:to>
                                    </p:set>
                                    <p:animEffect transition="in" filter="wipe(left)">
                                      <p:cBhvr>
                                        <p:cTn id="7" dur="500"/>
                                        <p:tgtEl>
                                          <p:spTgt spid="1945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9460"/>
                                        </p:tgtEl>
                                        <p:attrNameLst>
                                          <p:attrName>style.visibility</p:attrName>
                                        </p:attrNameLst>
                                      </p:cBhvr>
                                      <p:to>
                                        <p:strVal val="visible"/>
                                      </p:to>
                                    </p:set>
                                    <p:animEffect transition="in" filter="wipe(left)">
                                      <p:cBhvr>
                                        <p:cTn id="12" dur="500"/>
                                        <p:tgtEl>
                                          <p:spTgt spid="1946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9461"/>
                                        </p:tgtEl>
                                        <p:attrNameLst>
                                          <p:attrName>style.visibility</p:attrName>
                                        </p:attrNameLst>
                                      </p:cBhvr>
                                      <p:to>
                                        <p:strVal val="visible"/>
                                      </p:to>
                                    </p:set>
                                    <p:animEffect transition="in" filter="wipe(left)">
                                      <p:cBhvr>
                                        <p:cTn id="17" dur="500"/>
                                        <p:tgtEl>
                                          <p:spTgt spid="1946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9462"/>
                                        </p:tgtEl>
                                        <p:attrNameLst>
                                          <p:attrName>style.visibility</p:attrName>
                                        </p:attrNameLst>
                                      </p:cBhvr>
                                      <p:to>
                                        <p:strVal val="visible"/>
                                      </p:to>
                                    </p:set>
                                    <p:animEffect transition="in" filter="wipe(left)">
                                      <p:cBhvr>
                                        <p:cTn id="22" dur="500"/>
                                        <p:tgtEl>
                                          <p:spTgt spid="1946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9465"/>
                                        </p:tgtEl>
                                        <p:attrNameLst>
                                          <p:attrName>style.visibility</p:attrName>
                                        </p:attrNameLst>
                                      </p:cBhvr>
                                      <p:to>
                                        <p:strVal val="visible"/>
                                      </p:to>
                                    </p:set>
                                    <p:animEffect transition="in" filter="wipe(left)">
                                      <p:cBhvr>
                                        <p:cTn id="27" dur="500"/>
                                        <p:tgtEl>
                                          <p:spTgt spid="1946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9468"/>
                                        </p:tgtEl>
                                        <p:attrNameLst>
                                          <p:attrName>style.visibility</p:attrName>
                                        </p:attrNameLst>
                                      </p:cBhvr>
                                      <p:to>
                                        <p:strVal val="visible"/>
                                      </p:to>
                                    </p:set>
                                    <p:animEffect transition="in" filter="wipe(left)">
                                      <p:cBhvr>
                                        <p:cTn id="32" dur="500"/>
                                        <p:tgtEl>
                                          <p:spTgt spid="194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autoUpdateAnimBg="0"/>
      <p:bldP spid="19460" grpId="0" autoUpdateAnimBg="0"/>
      <p:bldP spid="19461" grpId="0"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482" name="Group 2"/>
          <p:cNvGrpSpPr/>
          <p:nvPr/>
        </p:nvGrpSpPr>
        <p:grpSpPr bwMode="auto">
          <a:xfrm>
            <a:off x="519113" y="515938"/>
            <a:ext cx="5800725" cy="2697163"/>
            <a:chOff x="327" y="216"/>
            <a:chExt cx="3626" cy="1699"/>
          </a:xfrm>
        </p:grpSpPr>
        <p:pic>
          <p:nvPicPr>
            <p:cNvPr id="20483"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27" y="216"/>
              <a:ext cx="3299" cy="1498"/>
            </a:xfrm>
            <a:prstGeom prst="rect">
              <a:avLst/>
            </a:prstGeom>
            <a:noFill/>
            <a:extLst>
              <a:ext uri="{909E8E84-426E-40DD-AFC4-6F175D3DCCD1}">
                <a14:hiddenFill xmlns:a14="http://schemas.microsoft.com/office/drawing/2010/main">
                  <a:solidFill>
                    <a:srgbClr val="FFFFFF"/>
                  </a:solidFill>
                </a14:hiddenFill>
              </a:ext>
            </a:extLst>
          </p:spPr>
        </p:pic>
        <p:pic>
          <p:nvPicPr>
            <p:cNvPr id="20484"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99" y="615"/>
              <a:ext cx="754" cy="892"/>
            </a:xfrm>
            <a:prstGeom prst="rect">
              <a:avLst/>
            </a:prstGeom>
            <a:noFill/>
            <a:extLst>
              <a:ext uri="{909E8E84-426E-40DD-AFC4-6F175D3DCCD1}">
                <a14:hiddenFill xmlns:a14="http://schemas.microsoft.com/office/drawing/2010/main">
                  <a:solidFill>
                    <a:srgbClr val="FFFFFF"/>
                  </a:solidFill>
                </a14:hiddenFill>
              </a:ext>
            </a:extLst>
          </p:spPr>
        </p:pic>
        <p:sp>
          <p:nvSpPr>
            <p:cNvPr id="20485" name="Rectangle 5"/>
            <p:cNvSpPr>
              <a:spLocks noChangeArrowheads="1"/>
            </p:cNvSpPr>
            <p:nvPr/>
          </p:nvSpPr>
          <p:spPr bwMode="auto">
            <a:xfrm>
              <a:off x="1310" y="1644"/>
              <a:ext cx="1268" cy="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200" dirty="0">
                  <a:ea typeface="黑体" panose="02010609060101010101" pitchFamily="49" charset="-122"/>
                </a:rPr>
                <a:t>轴肩</a:t>
              </a:r>
              <a:r>
                <a:rPr lang="en-US" altLang="zh-CN" sz="2200" dirty="0">
                  <a:latin typeface="华文中宋" panose="02010600040101010101" pitchFamily="2" charset="-122"/>
                  <a:ea typeface="黑体" panose="02010609060101010101" pitchFamily="49" charset="-122"/>
                </a:rPr>
                <a:t>—</a:t>
              </a:r>
              <a:r>
                <a:rPr lang="zh-CN" altLang="en-US" sz="2200" dirty="0">
                  <a:ea typeface="黑体" panose="02010609060101010101" pitchFamily="49" charset="-122"/>
                </a:rPr>
                <a:t>圆螺母</a:t>
              </a:r>
              <a:endParaRPr lang="zh-CN" altLang="en-US" sz="2200" dirty="0">
                <a:ea typeface="黑体" panose="02010609060101010101" pitchFamily="49" charset="-122"/>
              </a:endParaRPr>
            </a:p>
          </p:txBody>
        </p:sp>
      </p:grpSp>
      <p:grpSp>
        <p:nvGrpSpPr>
          <p:cNvPr id="20486" name="Group 6"/>
          <p:cNvGrpSpPr/>
          <p:nvPr/>
        </p:nvGrpSpPr>
        <p:grpSpPr bwMode="auto">
          <a:xfrm>
            <a:off x="6613525" y="855663"/>
            <a:ext cx="2530475" cy="2300288"/>
            <a:chOff x="4150" y="309"/>
            <a:chExt cx="1512" cy="1449"/>
          </a:xfrm>
        </p:grpSpPr>
        <p:pic>
          <p:nvPicPr>
            <p:cNvPr id="20487"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50" y="309"/>
              <a:ext cx="1092" cy="1301"/>
            </a:xfrm>
            <a:prstGeom prst="rect">
              <a:avLst/>
            </a:prstGeom>
            <a:noFill/>
            <a:extLst>
              <a:ext uri="{909E8E84-426E-40DD-AFC4-6F175D3DCCD1}">
                <a14:hiddenFill xmlns:a14="http://schemas.microsoft.com/office/drawing/2010/main">
                  <a:solidFill>
                    <a:srgbClr val="FFFFFF"/>
                  </a:solidFill>
                </a14:hiddenFill>
              </a:ext>
            </a:extLst>
          </p:spPr>
        </p:pic>
        <p:sp>
          <p:nvSpPr>
            <p:cNvPr id="20488" name="Rectangle 8"/>
            <p:cNvSpPr>
              <a:spLocks noChangeArrowheads="1"/>
            </p:cNvSpPr>
            <p:nvPr/>
          </p:nvSpPr>
          <p:spPr bwMode="auto">
            <a:xfrm>
              <a:off x="4774" y="1487"/>
              <a:ext cx="888" cy="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200" dirty="0">
                  <a:ea typeface="黑体" panose="02010609060101010101" pitchFamily="49" charset="-122"/>
                </a:rPr>
                <a:t>紧定螺钉</a:t>
              </a:r>
              <a:endParaRPr lang="zh-CN" altLang="en-US" sz="2200" dirty="0">
                <a:ea typeface="黑体" panose="02010609060101010101" pitchFamily="49" charset="-122"/>
              </a:endParaRPr>
            </a:p>
          </p:txBody>
        </p:sp>
      </p:grpSp>
      <p:grpSp>
        <p:nvGrpSpPr>
          <p:cNvPr id="20489" name="Group 9"/>
          <p:cNvGrpSpPr/>
          <p:nvPr/>
        </p:nvGrpSpPr>
        <p:grpSpPr bwMode="auto">
          <a:xfrm>
            <a:off x="884238" y="3379788"/>
            <a:ext cx="2484437" cy="3071199"/>
            <a:chOff x="557" y="2039"/>
            <a:chExt cx="1401" cy="1889"/>
          </a:xfrm>
        </p:grpSpPr>
        <p:pic>
          <p:nvPicPr>
            <p:cNvPr id="20490" name="Picture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7" y="2039"/>
              <a:ext cx="1401" cy="1682"/>
            </a:xfrm>
            <a:prstGeom prst="rect">
              <a:avLst/>
            </a:prstGeom>
            <a:noFill/>
            <a:extLst>
              <a:ext uri="{909E8E84-426E-40DD-AFC4-6F175D3DCCD1}">
                <a14:hiddenFill xmlns:a14="http://schemas.microsoft.com/office/drawing/2010/main">
                  <a:solidFill>
                    <a:srgbClr val="FFFFFF"/>
                  </a:solidFill>
                </a14:hiddenFill>
              </a:ext>
            </a:extLst>
          </p:spPr>
        </p:pic>
        <p:sp>
          <p:nvSpPr>
            <p:cNvPr id="20491" name="Rectangle 11"/>
            <p:cNvSpPr>
              <a:spLocks noChangeArrowheads="1"/>
            </p:cNvSpPr>
            <p:nvPr/>
          </p:nvSpPr>
          <p:spPr bwMode="auto">
            <a:xfrm>
              <a:off x="638" y="3663"/>
              <a:ext cx="1076" cy="2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200" dirty="0">
                  <a:ea typeface="黑体" panose="02010609060101010101" pitchFamily="49" charset="-122"/>
                </a:rPr>
                <a:t>双锁紧挡圈</a:t>
              </a:r>
              <a:endParaRPr lang="zh-CN" altLang="en-US" sz="2200" dirty="0">
                <a:ea typeface="黑体" panose="02010609060101010101" pitchFamily="49" charset="-122"/>
              </a:endParaRPr>
            </a:p>
          </p:txBody>
        </p:sp>
      </p:grpSp>
      <p:grpSp>
        <p:nvGrpSpPr>
          <p:cNvPr id="20492" name="Group 12"/>
          <p:cNvGrpSpPr/>
          <p:nvPr/>
        </p:nvGrpSpPr>
        <p:grpSpPr bwMode="auto">
          <a:xfrm>
            <a:off x="3324225" y="3128963"/>
            <a:ext cx="2549525" cy="3361765"/>
            <a:chOff x="2094" y="1862"/>
            <a:chExt cx="1460" cy="2072"/>
          </a:xfrm>
        </p:grpSpPr>
        <p:pic>
          <p:nvPicPr>
            <p:cNvPr id="20493" name="Picture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67" y="1862"/>
              <a:ext cx="1050" cy="1817"/>
            </a:xfrm>
            <a:prstGeom prst="rect">
              <a:avLst/>
            </a:prstGeom>
            <a:noFill/>
            <a:extLst>
              <a:ext uri="{909E8E84-426E-40DD-AFC4-6F175D3DCCD1}">
                <a14:hiddenFill xmlns:a14="http://schemas.microsoft.com/office/drawing/2010/main">
                  <a:solidFill>
                    <a:srgbClr val="FFFFFF"/>
                  </a:solidFill>
                </a14:hiddenFill>
              </a:ext>
            </a:extLst>
          </p:spPr>
        </p:pic>
        <p:sp>
          <p:nvSpPr>
            <p:cNvPr id="20494" name="Rectangle 14"/>
            <p:cNvSpPr>
              <a:spLocks noChangeArrowheads="1"/>
            </p:cNvSpPr>
            <p:nvPr/>
          </p:nvSpPr>
          <p:spPr bwMode="auto">
            <a:xfrm>
              <a:off x="2094" y="3668"/>
              <a:ext cx="1460" cy="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200" dirty="0">
                  <a:ea typeface="黑体" panose="02010609060101010101" pitchFamily="49" charset="-122"/>
                </a:rPr>
                <a:t>轴肩</a:t>
              </a:r>
              <a:r>
                <a:rPr lang="en-US" altLang="zh-CN" sz="2200" dirty="0">
                  <a:latin typeface="华文中宋" panose="02010600040101010101" pitchFamily="2" charset="-122"/>
                  <a:ea typeface="黑体" panose="02010609060101010101" pitchFamily="49" charset="-122"/>
                </a:rPr>
                <a:t>—</a:t>
              </a:r>
              <a:r>
                <a:rPr lang="zh-CN" altLang="en-US" sz="2200" dirty="0">
                  <a:ea typeface="黑体" panose="02010609060101010101" pitchFamily="49" charset="-122"/>
                </a:rPr>
                <a:t>轴端挡圈</a:t>
              </a:r>
              <a:endParaRPr lang="zh-CN" altLang="en-US" sz="2200" dirty="0">
                <a:ea typeface="黑体" panose="02010609060101010101" pitchFamily="49" charset="-122"/>
              </a:endParaRPr>
            </a:p>
          </p:txBody>
        </p:sp>
      </p:grpSp>
      <p:grpSp>
        <p:nvGrpSpPr>
          <p:cNvPr id="20495" name="Group 15"/>
          <p:cNvGrpSpPr/>
          <p:nvPr/>
        </p:nvGrpSpPr>
        <p:grpSpPr bwMode="auto">
          <a:xfrm>
            <a:off x="5946775" y="3219450"/>
            <a:ext cx="3197225" cy="3277854"/>
            <a:chOff x="3746" y="1818"/>
            <a:chExt cx="1896" cy="2038"/>
          </a:xfrm>
        </p:grpSpPr>
        <p:pic>
          <p:nvPicPr>
            <p:cNvPr id="20496" name="Picture 1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46" y="1818"/>
              <a:ext cx="1365" cy="1798"/>
            </a:xfrm>
            <a:prstGeom prst="rect">
              <a:avLst/>
            </a:prstGeom>
            <a:noFill/>
            <a:extLst>
              <a:ext uri="{909E8E84-426E-40DD-AFC4-6F175D3DCCD1}">
                <a14:hiddenFill xmlns:a14="http://schemas.microsoft.com/office/drawing/2010/main">
                  <a:solidFill>
                    <a:srgbClr val="FFFFFF"/>
                  </a:solidFill>
                </a14:hiddenFill>
              </a:ext>
            </a:extLst>
          </p:spPr>
        </p:pic>
        <p:sp>
          <p:nvSpPr>
            <p:cNvPr id="20497" name="Rectangle 17"/>
            <p:cNvSpPr>
              <a:spLocks noChangeArrowheads="1"/>
            </p:cNvSpPr>
            <p:nvPr/>
          </p:nvSpPr>
          <p:spPr bwMode="auto">
            <a:xfrm>
              <a:off x="3798" y="3588"/>
              <a:ext cx="1844" cy="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200" dirty="0">
                  <a:ea typeface="黑体" panose="02010609060101010101" pitchFamily="49" charset="-122"/>
                </a:rPr>
                <a:t>锥形轴头</a:t>
              </a:r>
              <a:r>
                <a:rPr lang="en-US" altLang="zh-CN" sz="2200" dirty="0">
                  <a:latin typeface="华文中宋" panose="02010600040101010101" pitchFamily="2" charset="-122"/>
                  <a:ea typeface="黑体" panose="02010609060101010101" pitchFamily="49" charset="-122"/>
                </a:rPr>
                <a:t>—</a:t>
              </a:r>
              <a:r>
                <a:rPr lang="zh-CN" altLang="en-US" sz="2200" dirty="0">
                  <a:ea typeface="黑体" panose="02010609060101010101" pitchFamily="49" charset="-122"/>
                </a:rPr>
                <a:t>轴端挡圈</a:t>
              </a:r>
              <a:endParaRPr lang="zh-CN" altLang="en-US" sz="2200" dirty="0">
                <a:ea typeface="黑体" panose="020106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0482"/>
                                        </p:tgtEl>
                                        <p:attrNameLst>
                                          <p:attrName>style.visibility</p:attrName>
                                        </p:attrNameLst>
                                      </p:cBhvr>
                                      <p:to>
                                        <p:strVal val="visible"/>
                                      </p:to>
                                    </p:set>
                                    <p:animEffect transition="in" filter="wipe(left)">
                                      <p:cBhvr>
                                        <p:cTn id="7" dur="500"/>
                                        <p:tgtEl>
                                          <p:spTgt spid="2048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0486"/>
                                        </p:tgtEl>
                                        <p:attrNameLst>
                                          <p:attrName>style.visibility</p:attrName>
                                        </p:attrNameLst>
                                      </p:cBhvr>
                                      <p:to>
                                        <p:strVal val="visible"/>
                                      </p:to>
                                    </p:set>
                                    <p:animEffect transition="in" filter="wipe(left)">
                                      <p:cBhvr>
                                        <p:cTn id="12" dur="500"/>
                                        <p:tgtEl>
                                          <p:spTgt spid="2048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0489"/>
                                        </p:tgtEl>
                                        <p:attrNameLst>
                                          <p:attrName>style.visibility</p:attrName>
                                        </p:attrNameLst>
                                      </p:cBhvr>
                                      <p:to>
                                        <p:strVal val="visible"/>
                                      </p:to>
                                    </p:set>
                                    <p:animEffect transition="in" filter="wipe(left)">
                                      <p:cBhvr>
                                        <p:cTn id="17" dur="500"/>
                                        <p:tgtEl>
                                          <p:spTgt spid="2048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0492"/>
                                        </p:tgtEl>
                                        <p:attrNameLst>
                                          <p:attrName>style.visibility</p:attrName>
                                        </p:attrNameLst>
                                      </p:cBhvr>
                                      <p:to>
                                        <p:strVal val="visible"/>
                                      </p:to>
                                    </p:set>
                                    <p:animEffect transition="in" filter="wipe(left)">
                                      <p:cBhvr>
                                        <p:cTn id="22" dur="500"/>
                                        <p:tgtEl>
                                          <p:spTgt spid="2049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0495"/>
                                        </p:tgtEl>
                                        <p:attrNameLst>
                                          <p:attrName>style.visibility</p:attrName>
                                        </p:attrNameLst>
                                      </p:cBhvr>
                                      <p:to>
                                        <p:strVal val="visible"/>
                                      </p:to>
                                    </p:set>
                                    <p:animEffect transition="in" filter="wipe(left)">
                                      <p:cBhvr>
                                        <p:cTn id="27" dur="500"/>
                                        <p:tgtEl>
                                          <p:spTgt spid="204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32" name="AutoShape 8">
            <a:hlinkClick r:id="rId1" action="ppaction://hlinkfile" highlightClick="1"/>
          </p:cNvPr>
          <p:cNvSpPr>
            <a:spLocks noChangeArrowheads="1"/>
          </p:cNvSpPr>
          <p:nvPr/>
        </p:nvSpPr>
        <p:spPr bwMode="auto">
          <a:xfrm>
            <a:off x="5635870" y="1567962"/>
            <a:ext cx="1661746" cy="351692"/>
          </a:xfrm>
          <a:prstGeom prst="actionButtonHelp">
            <a:avLst/>
          </a:prstGeom>
          <a:solidFill>
            <a:srgbClr val="99CCFF"/>
          </a:solidFill>
          <a:ln w="9525">
            <a:solidFill>
              <a:schemeClr val="bg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黑体" panose="02010609060101010101" pitchFamily="49" charset="-122"/>
                <a:ea typeface="黑体" panose="02010609060101010101" pitchFamily="49" charset="-122"/>
              </a:defRPr>
            </a:lvl1pPr>
            <a:lvl2pPr marL="742950" indent="-285750" eaLnBrk="0" hangingPunct="0">
              <a:defRPr kumimoji="1" sz="2400" b="1">
                <a:solidFill>
                  <a:schemeClr val="tx1"/>
                </a:solidFill>
                <a:latin typeface="黑体" panose="02010609060101010101" pitchFamily="49" charset="-122"/>
                <a:ea typeface="黑体" panose="02010609060101010101" pitchFamily="49" charset="-122"/>
              </a:defRPr>
            </a:lvl2pPr>
            <a:lvl3pPr marL="1143000" indent="-228600" eaLnBrk="0" hangingPunct="0">
              <a:defRPr kumimoji="1" sz="2400" b="1">
                <a:solidFill>
                  <a:schemeClr val="tx1"/>
                </a:solidFill>
                <a:latin typeface="黑体" panose="02010609060101010101" pitchFamily="49" charset="-122"/>
                <a:ea typeface="黑体" panose="02010609060101010101" pitchFamily="49" charset="-122"/>
              </a:defRPr>
            </a:lvl3pPr>
            <a:lvl4pPr marL="1600200" indent="-228600" eaLnBrk="0" hangingPunct="0">
              <a:defRPr kumimoji="1" sz="2400" b="1">
                <a:solidFill>
                  <a:schemeClr val="tx1"/>
                </a:solidFill>
                <a:latin typeface="黑体" panose="02010609060101010101" pitchFamily="49" charset="-122"/>
                <a:ea typeface="黑体" panose="02010609060101010101" pitchFamily="49" charset="-122"/>
              </a:defRPr>
            </a:lvl4pPr>
            <a:lvl5pPr marL="2057400" indent="-228600" eaLnBrk="0" hangingPunct="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pPr eaLnBrk="1" hangingPunct="1"/>
            <a:endParaRPr lang="zh-CN" altLang="en-US" sz="2215"/>
          </a:p>
        </p:txBody>
      </p:sp>
      <p:sp>
        <p:nvSpPr>
          <p:cNvPr id="180227" name="Rectangle 3"/>
          <p:cNvSpPr>
            <a:spLocks noChangeArrowheads="1"/>
          </p:cNvSpPr>
          <p:nvPr/>
        </p:nvSpPr>
        <p:spPr bwMode="auto">
          <a:xfrm>
            <a:off x="2571184" y="5769901"/>
            <a:ext cx="2319866" cy="660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黑体" panose="02010609060101010101" pitchFamily="49" charset="-122"/>
                <a:ea typeface="黑体" panose="02010609060101010101" pitchFamily="49" charset="-122"/>
              </a:defRPr>
            </a:lvl1pPr>
            <a:lvl2pPr marL="742950" indent="-285750" eaLnBrk="0" hangingPunct="0">
              <a:defRPr kumimoji="1" sz="2400" b="1">
                <a:solidFill>
                  <a:schemeClr val="tx1"/>
                </a:solidFill>
                <a:latin typeface="黑体" panose="02010609060101010101" pitchFamily="49" charset="-122"/>
                <a:ea typeface="黑体" panose="02010609060101010101" pitchFamily="49" charset="-122"/>
              </a:defRPr>
            </a:lvl2pPr>
            <a:lvl3pPr marL="1143000" indent="-228600" eaLnBrk="0" hangingPunct="0">
              <a:defRPr kumimoji="1" sz="2400" b="1">
                <a:solidFill>
                  <a:schemeClr val="tx1"/>
                </a:solidFill>
                <a:latin typeface="黑体" panose="02010609060101010101" pitchFamily="49" charset="-122"/>
                <a:ea typeface="黑体" panose="02010609060101010101" pitchFamily="49" charset="-122"/>
              </a:defRPr>
            </a:lvl3pPr>
            <a:lvl4pPr marL="1600200" indent="-228600" eaLnBrk="0" hangingPunct="0">
              <a:defRPr kumimoji="1" sz="2400" b="1">
                <a:solidFill>
                  <a:schemeClr val="tx1"/>
                </a:solidFill>
                <a:latin typeface="黑体" panose="02010609060101010101" pitchFamily="49" charset="-122"/>
                <a:ea typeface="黑体" panose="02010609060101010101" pitchFamily="49" charset="-122"/>
              </a:defRPr>
            </a:lvl4pPr>
            <a:lvl5pPr marL="2057400" indent="-228600" eaLnBrk="0" hangingPunct="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pPr eaLnBrk="1" hangingPunct="1">
              <a:spcBef>
                <a:spcPct val="0"/>
              </a:spcBef>
            </a:pPr>
            <a:r>
              <a:rPr lang="zh-CN" altLang="en-US" sz="1845" b="0" dirty="0">
                <a:latin typeface="Times New Roman" panose="02020603050405020304" pitchFamily="18" charset="0"/>
              </a:rPr>
              <a:t>螺纹应力集中严重、</a:t>
            </a:r>
            <a:endParaRPr lang="zh-CN" altLang="en-US" sz="1845" b="0" dirty="0">
              <a:latin typeface="Times New Roman" panose="02020603050405020304" pitchFamily="18" charset="0"/>
            </a:endParaRPr>
          </a:p>
          <a:p>
            <a:pPr eaLnBrk="1" hangingPunct="1">
              <a:spcBef>
                <a:spcPct val="0"/>
              </a:spcBef>
            </a:pPr>
            <a:r>
              <a:rPr lang="zh-CN" altLang="en-US" sz="1845" b="0" dirty="0">
                <a:latin typeface="Times New Roman" panose="02020603050405020304" pitchFamily="18" charset="0"/>
              </a:rPr>
              <a:t>不宜在轴的中间部位</a:t>
            </a:r>
            <a:endParaRPr lang="zh-CN" altLang="en-US" sz="1845" b="0" dirty="0">
              <a:latin typeface="Times New Roman" panose="02020603050405020304" pitchFamily="18" charset="0"/>
            </a:endParaRPr>
          </a:p>
        </p:txBody>
      </p:sp>
      <p:sp>
        <p:nvSpPr>
          <p:cNvPr id="180228" name="Rectangle 4"/>
          <p:cNvSpPr>
            <a:spLocks noChangeArrowheads="1"/>
          </p:cNvSpPr>
          <p:nvPr/>
        </p:nvSpPr>
        <p:spPr bwMode="auto">
          <a:xfrm>
            <a:off x="6496616" y="4814413"/>
            <a:ext cx="1845377" cy="660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黑体" panose="02010609060101010101" pitchFamily="49" charset="-122"/>
                <a:ea typeface="黑体" panose="02010609060101010101" pitchFamily="49" charset="-122"/>
              </a:defRPr>
            </a:lvl1pPr>
            <a:lvl2pPr marL="742950" indent="-285750" eaLnBrk="0" hangingPunct="0">
              <a:defRPr kumimoji="1" sz="2400" b="1">
                <a:solidFill>
                  <a:schemeClr val="tx1"/>
                </a:solidFill>
                <a:latin typeface="黑体" panose="02010609060101010101" pitchFamily="49" charset="-122"/>
                <a:ea typeface="黑体" panose="02010609060101010101" pitchFamily="49" charset="-122"/>
              </a:defRPr>
            </a:lvl2pPr>
            <a:lvl3pPr marL="1143000" indent="-228600" eaLnBrk="0" hangingPunct="0">
              <a:defRPr kumimoji="1" sz="2400" b="1">
                <a:solidFill>
                  <a:schemeClr val="tx1"/>
                </a:solidFill>
                <a:latin typeface="黑体" panose="02010609060101010101" pitchFamily="49" charset="-122"/>
                <a:ea typeface="黑体" panose="02010609060101010101" pitchFamily="49" charset="-122"/>
              </a:defRPr>
            </a:lvl3pPr>
            <a:lvl4pPr marL="1600200" indent="-228600" eaLnBrk="0" hangingPunct="0">
              <a:defRPr kumimoji="1" sz="2400" b="1">
                <a:solidFill>
                  <a:schemeClr val="tx1"/>
                </a:solidFill>
                <a:latin typeface="黑体" panose="02010609060101010101" pitchFamily="49" charset="-122"/>
                <a:ea typeface="黑体" panose="02010609060101010101" pitchFamily="49" charset="-122"/>
              </a:defRPr>
            </a:lvl4pPr>
            <a:lvl5pPr marL="2057400" indent="-228600" eaLnBrk="0" hangingPunct="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pPr eaLnBrk="1" hangingPunct="1">
              <a:spcBef>
                <a:spcPct val="0"/>
              </a:spcBef>
            </a:pPr>
            <a:r>
              <a:rPr lang="zh-CN" altLang="en-US" sz="1845" b="0" dirty="0">
                <a:latin typeface="Times New Roman" panose="02020603050405020304" pitchFamily="18" charset="0"/>
              </a:rPr>
              <a:t>用于轴向力较小</a:t>
            </a:r>
            <a:endParaRPr lang="zh-CN" altLang="en-US" sz="1845" b="0" dirty="0">
              <a:latin typeface="Times New Roman" panose="02020603050405020304" pitchFamily="18" charset="0"/>
            </a:endParaRPr>
          </a:p>
          <a:p>
            <a:pPr eaLnBrk="1" hangingPunct="1">
              <a:spcBef>
                <a:spcPct val="0"/>
              </a:spcBef>
            </a:pPr>
            <a:r>
              <a:rPr lang="zh-CN" altLang="en-US" sz="1845" b="0" dirty="0">
                <a:latin typeface="Times New Roman" panose="02020603050405020304" pitchFamily="18" charset="0"/>
              </a:rPr>
              <a:t>的场合</a:t>
            </a:r>
            <a:endParaRPr lang="zh-CN" altLang="en-US" sz="1845" b="0" dirty="0">
              <a:latin typeface="Times New Roman" panose="02020603050405020304" pitchFamily="18" charset="0"/>
            </a:endParaRPr>
          </a:p>
        </p:txBody>
      </p:sp>
      <p:graphicFrame>
        <p:nvGraphicFramePr>
          <p:cNvPr id="180229" name="Object 5"/>
          <p:cNvGraphicFramePr>
            <a:graphicFrameLocks noChangeAspect="1"/>
          </p:cNvGraphicFramePr>
          <p:nvPr/>
        </p:nvGraphicFramePr>
        <p:xfrm>
          <a:off x="6324600" y="2584938"/>
          <a:ext cx="1928446" cy="1922585"/>
        </p:xfrm>
        <a:graphic>
          <a:graphicData uri="http://schemas.openxmlformats.org/presentationml/2006/ole">
            <mc:AlternateContent xmlns:mc="http://schemas.openxmlformats.org/markup-compatibility/2006">
              <mc:Choice xmlns:v="urn:schemas-microsoft-com:vml" Requires="v">
                <p:oleObj spid="_x0000_s16476" name="Drawing" r:id="rId2" imgW="5619750" imgH="3090545" progId="AutoCAD.Drawing.14">
                  <p:embed/>
                </p:oleObj>
              </mc:Choice>
              <mc:Fallback>
                <p:oleObj name="Drawing" r:id="rId2" imgW="5619750" imgH="3090545" progId="AutoCAD.Drawing.14">
                  <p:embed/>
                  <p:pic>
                    <p:nvPicPr>
                      <p:cNvPr id="0" name="图片 16445"/>
                      <p:cNvPicPr>
                        <a:picLocks noChangeAspect="1" noChangeArrowheads="1"/>
                      </p:cNvPicPr>
                      <p:nvPr/>
                    </p:nvPicPr>
                    <p:blipFill>
                      <a:blip r:embed="rId3">
                        <a:extLst>
                          <a:ext uri="{28A0092B-C50C-407E-A947-70E740481C1C}">
                            <a14:useLocalDpi xmlns:a14="http://schemas.microsoft.com/office/drawing/2010/main" val="0"/>
                          </a:ext>
                        </a:extLst>
                      </a:blip>
                      <a:srcRect l="28130" t="35156" r="54802" b="33784"/>
                      <a:stretch>
                        <a:fillRect/>
                      </a:stretch>
                    </p:blipFill>
                    <p:spPr bwMode="auto">
                      <a:xfrm>
                        <a:off x="6324600" y="2584938"/>
                        <a:ext cx="1928446" cy="1922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0230" name="AutoShape 6"/>
          <p:cNvSpPr>
            <a:spLocks noChangeArrowheads="1"/>
          </p:cNvSpPr>
          <p:nvPr/>
        </p:nvSpPr>
        <p:spPr bwMode="auto">
          <a:xfrm>
            <a:off x="5791200" y="1529862"/>
            <a:ext cx="1525466" cy="473320"/>
          </a:xfrm>
          <a:prstGeom prst="wedgeEllipseCallout">
            <a:avLst>
              <a:gd name="adj1" fmla="val 37306"/>
              <a:gd name="adj2" fmla="val 423375"/>
            </a:avLst>
          </a:prstGeom>
          <a:solidFill>
            <a:srgbClr val="FFCC99"/>
          </a:solidFill>
          <a:ln w="22225" algn="ctr">
            <a:solidFill>
              <a:srgbClr val="FF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kumimoji="1" sz="2400" b="1">
                <a:solidFill>
                  <a:schemeClr val="tx1"/>
                </a:solidFill>
                <a:latin typeface="黑体" panose="02010609060101010101" pitchFamily="49" charset="-122"/>
                <a:ea typeface="黑体" panose="02010609060101010101" pitchFamily="49" charset="-122"/>
              </a:defRPr>
            </a:lvl1pPr>
            <a:lvl2pPr marL="742950" indent="-285750" eaLnBrk="0" hangingPunct="0">
              <a:defRPr kumimoji="1" sz="2400" b="1">
                <a:solidFill>
                  <a:schemeClr val="tx1"/>
                </a:solidFill>
                <a:latin typeface="黑体" panose="02010609060101010101" pitchFamily="49" charset="-122"/>
                <a:ea typeface="黑体" panose="02010609060101010101" pitchFamily="49" charset="-122"/>
              </a:defRPr>
            </a:lvl2pPr>
            <a:lvl3pPr marL="1143000" indent="-228600" eaLnBrk="0" hangingPunct="0">
              <a:defRPr kumimoji="1" sz="2400" b="1">
                <a:solidFill>
                  <a:schemeClr val="tx1"/>
                </a:solidFill>
                <a:latin typeface="黑体" panose="02010609060101010101" pitchFamily="49" charset="-122"/>
                <a:ea typeface="黑体" panose="02010609060101010101" pitchFamily="49" charset="-122"/>
              </a:defRPr>
            </a:lvl3pPr>
            <a:lvl4pPr marL="1600200" indent="-228600" eaLnBrk="0" hangingPunct="0">
              <a:defRPr kumimoji="1" sz="2400" b="1">
                <a:solidFill>
                  <a:schemeClr val="tx1"/>
                </a:solidFill>
                <a:latin typeface="黑体" panose="02010609060101010101" pitchFamily="49" charset="-122"/>
                <a:ea typeface="黑体" panose="02010609060101010101" pitchFamily="49" charset="-122"/>
              </a:defRPr>
            </a:lvl4pPr>
            <a:lvl5pPr marL="2057400" indent="-228600" eaLnBrk="0" hangingPunct="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pPr eaLnBrk="1" hangingPunct="1">
              <a:spcBef>
                <a:spcPct val="0"/>
              </a:spcBef>
            </a:pPr>
            <a:r>
              <a:rPr lang="zh-CN" altLang="en-US" sz="1660">
                <a:latin typeface="Times New Roman" panose="02020603050405020304" pitchFamily="18" charset="0"/>
              </a:rPr>
              <a:t>弹性档圈</a:t>
            </a:r>
            <a:endParaRPr lang="zh-CN" altLang="en-US" sz="1660">
              <a:latin typeface="Times New Roman" panose="02020603050405020304" pitchFamily="18" charset="0"/>
            </a:endParaRPr>
          </a:p>
          <a:p>
            <a:pPr algn="ctr" eaLnBrk="1" hangingPunct="1">
              <a:spcBef>
                <a:spcPct val="0"/>
              </a:spcBef>
            </a:pPr>
            <a:endParaRPr lang="en-US" altLang="zh-CN" sz="2215">
              <a:latin typeface="Arial" panose="020B0604020202020204" pitchFamily="34" charset="0"/>
              <a:ea typeface="宋体" panose="02010600030101010101" pitchFamily="2" charset="-122"/>
            </a:endParaRPr>
          </a:p>
        </p:txBody>
      </p:sp>
      <p:sp>
        <p:nvSpPr>
          <p:cNvPr id="180231" name="AutoShape 7">
            <a:hlinkClick r:id="rId4" action="ppaction://hlinkfile" highlightClick="1"/>
          </p:cNvPr>
          <p:cNvSpPr>
            <a:spLocks noChangeArrowheads="1"/>
          </p:cNvSpPr>
          <p:nvPr/>
        </p:nvSpPr>
        <p:spPr bwMode="auto">
          <a:xfrm>
            <a:off x="383931" y="1767254"/>
            <a:ext cx="1302727" cy="281354"/>
          </a:xfrm>
          <a:prstGeom prst="actionButtonHelp">
            <a:avLst/>
          </a:prstGeom>
          <a:solidFill>
            <a:srgbClr val="99CCFF"/>
          </a:solidFill>
          <a:ln w="9525">
            <a:solidFill>
              <a:schemeClr val="bg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黑体" panose="02010609060101010101" pitchFamily="49" charset="-122"/>
                <a:ea typeface="黑体" panose="02010609060101010101" pitchFamily="49" charset="-122"/>
              </a:defRPr>
            </a:lvl1pPr>
            <a:lvl2pPr marL="742950" indent="-285750" eaLnBrk="0" hangingPunct="0">
              <a:defRPr kumimoji="1" sz="2400" b="1">
                <a:solidFill>
                  <a:schemeClr val="tx1"/>
                </a:solidFill>
                <a:latin typeface="黑体" panose="02010609060101010101" pitchFamily="49" charset="-122"/>
                <a:ea typeface="黑体" panose="02010609060101010101" pitchFamily="49" charset="-122"/>
              </a:defRPr>
            </a:lvl2pPr>
            <a:lvl3pPr marL="1143000" indent="-228600" eaLnBrk="0" hangingPunct="0">
              <a:defRPr kumimoji="1" sz="2400" b="1">
                <a:solidFill>
                  <a:schemeClr val="tx1"/>
                </a:solidFill>
                <a:latin typeface="黑体" panose="02010609060101010101" pitchFamily="49" charset="-122"/>
                <a:ea typeface="黑体" panose="02010609060101010101" pitchFamily="49" charset="-122"/>
              </a:defRPr>
            </a:lvl3pPr>
            <a:lvl4pPr marL="1600200" indent="-228600" eaLnBrk="0" hangingPunct="0">
              <a:defRPr kumimoji="1" sz="2400" b="1">
                <a:solidFill>
                  <a:schemeClr val="tx1"/>
                </a:solidFill>
                <a:latin typeface="黑体" panose="02010609060101010101" pitchFamily="49" charset="-122"/>
                <a:ea typeface="黑体" panose="02010609060101010101" pitchFamily="49" charset="-122"/>
              </a:defRPr>
            </a:lvl4pPr>
            <a:lvl5pPr marL="2057400" indent="-228600" eaLnBrk="0" hangingPunct="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pPr eaLnBrk="1" hangingPunct="1"/>
            <a:endParaRPr lang="zh-CN" altLang="en-US" sz="2215"/>
          </a:p>
        </p:txBody>
      </p:sp>
      <p:grpSp>
        <p:nvGrpSpPr>
          <p:cNvPr id="180233" name="Group 9"/>
          <p:cNvGrpSpPr/>
          <p:nvPr/>
        </p:nvGrpSpPr>
        <p:grpSpPr bwMode="auto">
          <a:xfrm>
            <a:off x="2118511" y="1562101"/>
            <a:ext cx="3348404" cy="4188069"/>
            <a:chOff x="975" y="935"/>
            <a:chExt cx="2109" cy="2858"/>
          </a:xfrm>
        </p:grpSpPr>
        <p:sp>
          <p:nvSpPr>
            <p:cNvPr id="6158" name="Rectangle 10"/>
            <p:cNvSpPr>
              <a:spLocks noChangeArrowheads="1"/>
            </p:cNvSpPr>
            <p:nvPr/>
          </p:nvSpPr>
          <p:spPr bwMode="auto">
            <a:xfrm>
              <a:off x="975" y="935"/>
              <a:ext cx="2109" cy="2858"/>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黑体" panose="02010609060101010101" pitchFamily="49" charset="-122"/>
                  <a:ea typeface="黑体" panose="02010609060101010101" pitchFamily="49" charset="-122"/>
                </a:defRPr>
              </a:lvl1pPr>
              <a:lvl2pPr marL="742950" indent="-285750" eaLnBrk="0" hangingPunct="0">
                <a:defRPr kumimoji="1" sz="2400" b="1">
                  <a:solidFill>
                    <a:schemeClr val="tx1"/>
                  </a:solidFill>
                  <a:latin typeface="黑体" panose="02010609060101010101" pitchFamily="49" charset="-122"/>
                  <a:ea typeface="黑体" panose="02010609060101010101" pitchFamily="49" charset="-122"/>
                </a:defRPr>
              </a:lvl2pPr>
              <a:lvl3pPr marL="1143000" indent="-228600" eaLnBrk="0" hangingPunct="0">
                <a:defRPr kumimoji="1" sz="2400" b="1">
                  <a:solidFill>
                    <a:schemeClr val="tx1"/>
                  </a:solidFill>
                  <a:latin typeface="黑体" panose="02010609060101010101" pitchFamily="49" charset="-122"/>
                  <a:ea typeface="黑体" panose="02010609060101010101" pitchFamily="49" charset="-122"/>
                </a:defRPr>
              </a:lvl3pPr>
              <a:lvl4pPr marL="1600200" indent="-228600" eaLnBrk="0" hangingPunct="0">
                <a:defRPr kumimoji="1" sz="2400" b="1">
                  <a:solidFill>
                    <a:schemeClr val="tx1"/>
                  </a:solidFill>
                  <a:latin typeface="黑体" panose="02010609060101010101" pitchFamily="49" charset="-122"/>
                  <a:ea typeface="黑体" panose="02010609060101010101" pitchFamily="49" charset="-122"/>
                </a:defRPr>
              </a:lvl4pPr>
              <a:lvl5pPr marL="2057400" indent="-228600" eaLnBrk="0" hangingPunct="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pPr eaLnBrk="1" hangingPunct="1"/>
              <a:endParaRPr lang="zh-CN" altLang="en-US" sz="2215"/>
            </a:p>
          </p:txBody>
        </p:sp>
        <p:graphicFrame>
          <p:nvGraphicFramePr>
            <p:cNvPr id="6159" name="Object 11"/>
            <p:cNvGraphicFramePr>
              <a:graphicFrameLocks noChangeAspect="1"/>
            </p:cNvGraphicFramePr>
            <p:nvPr/>
          </p:nvGraphicFramePr>
          <p:xfrm>
            <a:off x="1043" y="1004"/>
            <a:ext cx="1973" cy="2721"/>
          </p:xfrm>
          <a:graphic>
            <a:graphicData uri="http://schemas.openxmlformats.org/presentationml/2006/ole">
              <mc:AlternateContent xmlns:mc="http://schemas.openxmlformats.org/markup-compatibility/2006">
                <mc:Choice xmlns:v="urn:schemas-microsoft-com:vml" Requires="v">
                  <p:oleObj spid="_x0000_s16477" name="Drawing" r:id="rId5" imgW="5619750" imgH="3090545" progId="AutoCAD.Drawing.14">
                    <p:embed/>
                  </p:oleObj>
                </mc:Choice>
                <mc:Fallback>
                  <p:oleObj name="Drawing" r:id="rId5" imgW="5619750" imgH="3090545" progId="AutoCAD.Drawing.14">
                    <p:embed/>
                    <p:pic>
                      <p:nvPicPr>
                        <p:cNvPr id="0" name="图片 16446"/>
                        <p:cNvPicPr>
                          <a:picLocks noChangeAspect="1" noChangeArrowheads="1"/>
                        </p:cNvPicPr>
                        <p:nvPr/>
                      </p:nvPicPr>
                      <p:blipFill>
                        <a:blip r:embed="rId6">
                          <a:extLst>
                            <a:ext uri="{28A0092B-C50C-407E-A947-70E740481C1C}">
                              <a14:useLocalDpi xmlns:a14="http://schemas.microsoft.com/office/drawing/2010/main" val="0"/>
                            </a:ext>
                          </a:extLst>
                        </a:blip>
                        <a:srcRect l="16016" t="4012" r="47804" b="5511"/>
                        <a:stretch>
                          <a:fillRect/>
                        </a:stretch>
                      </p:blipFill>
                      <p:spPr bwMode="auto">
                        <a:xfrm>
                          <a:off x="1043" y="1004"/>
                          <a:ext cx="1973" cy="27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80236" name="AutoShape 12"/>
          <p:cNvSpPr>
            <a:spLocks noChangeArrowheads="1"/>
          </p:cNvSpPr>
          <p:nvPr/>
        </p:nvSpPr>
        <p:spPr bwMode="auto">
          <a:xfrm>
            <a:off x="583223" y="1623744"/>
            <a:ext cx="905608" cy="473319"/>
          </a:xfrm>
          <a:prstGeom prst="wedgeEllipseCallout">
            <a:avLst>
              <a:gd name="adj1" fmla="val 210177"/>
              <a:gd name="adj2" fmla="val 264592"/>
            </a:avLst>
          </a:prstGeom>
          <a:solidFill>
            <a:srgbClr val="FFCC99"/>
          </a:solidFill>
          <a:ln w="22225">
            <a:solidFill>
              <a:srgbClr val="FF0000"/>
            </a:solidFill>
            <a:miter lim="800000"/>
          </a:ln>
        </p:spPr>
        <p:txBody>
          <a:bodyPr/>
          <a:lstStyle>
            <a:lvl1pPr eaLnBrk="0" hangingPunct="0">
              <a:defRPr kumimoji="1" sz="2400" b="1">
                <a:solidFill>
                  <a:schemeClr val="tx1"/>
                </a:solidFill>
                <a:latin typeface="黑体" panose="02010609060101010101" pitchFamily="49" charset="-122"/>
                <a:ea typeface="黑体" panose="02010609060101010101" pitchFamily="49" charset="-122"/>
              </a:defRPr>
            </a:lvl1pPr>
            <a:lvl2pPr marL="742950" indent="-285750" eaLnBrk="0" hangingPunct="0">
              <a:defRPr kumimoji="1" sz="2400" b="1">
                <a:solidFill>
                  <a:schemeClr val="tx1"/>
                </a:solidFill>
                <a:latin typeface="黑体" panose="02010609060101010101" pitchFamily="49" charset="-122"/>
                <a:ea typeface="黑体" panose="02010609060101010101" pitchFamily="49" charset="-122"/>
              </a:defRPr>
            </a:lvl2pPr>
            <a:lvl3pPr marL="1143000" indent="-228600" eaLnBrk="0" hangingPunct="0">
              <a:defRPr kumimoji="1" sz="2400" b="1">
                <a:solidFill>
                  <a:schemeClr val="tx1"/>
                </a:solidFill>
                <a:latin typeface="黑体" panose="02010609060101010101" pitchFamily="49" charset="-122"/>
                <a:ea typeface="黑体" panose="02010609060101010101" pitchFamily="49" charset="-122"/>
              </a:defRPr>
            </a:lvl3pPr>
            <a:lvl4pPr marL="1600200" indent="-228600" eaLnBrk="0" hangingPunct="0">
              <a:defRPr kumimoji="1" sz="2400" b="1">
                <a:solidFill>
                  <a:schemeClr val="tx1"/>
                </a:solidFill>
                <a:latin typeface="黑体" panose="02010609060101010101" pitchFamily="49" charset="-122"/>
                <a:ea typeface="黑体" panose="02010609060101010101" pitchFamily="49" charset="-122"/>
              </a:defRPr>
            </a:lvl4pPr>
            <a:lvl5pPr marL="2057400" indent="-228600" eaLnBrk="0" hangingPunct="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pPr>
            <a:r>
              <a:rPr lang="zh-CN" altLang="en-US" sz="1660">
                <a:latin typeface="Arial" panose="020B0604020202020204" pitchFamily="34" charset="0"/>
              </a:rPr>
              <a:t>翅片</a:t>
            </a:r>
            <a:endParaRPr lang="zh-CN" altLang="en-US" sz="1660">
              <a:latin typeface="Arial" panose="020B0604020202020204" pitchFamily="34" charset="0"/>
            </a:endParaRPr>
          </a:p>
        </p:txBody>
      </p:sp>
      <p:sp>
        <p:nvSpPr>
          <p:cNvPr id="180237" name="AutoShape 13"/>
          <p:cNvSpPr>
            <a:spLocks noChangeArrowheads="1"/>
          </p:cNvSpPr>
          <p:nvPr/>
        </p:nvSpPr>
        <p:spPr bwMode="auto">
          <a:xfrm>
            <a:off x="304800" y="2444262"/>
            <a:ext cx="1220666" cy="473320"/>
          </a:xfrm>
          <a:prstGeom prst="wedgeEllipseCallout">
            <a:avLst>
              <a:gd name="adj1" fmla="val 134523"/>
              <a:gd name="adj2" fmla="val 110370"/>
            </a:avLst>
          </a:prstGeom>
          <a:solidFill>
            <a:srgbClr val="FFCC99"/>
          </a:solidFill>
          <a:ln w="22225">
            <a:solidFill>
              <a:srgbClr val="FF0000"/>
            </a:solidFill>
            <a:miter lim="800000"/>
          </a:ln>
        </p:spPr>
        <p:txBody>
          <a:bodyPr/>
          <a:lstStyle>
            <a:lvl1pPr eaLnBrk="0" hangingPunct="0">
              <a:defRPr kumimoji="1" sz="2400" b="1">
                <a:solidFill>
                  <a:schemeClr val="tx1"/>
                </a:solidFill>
                <a:latin typeface="黑体" panose="02010609060101010101" pitchFamily="49" charset="-122"/>
                <a:ea typeface="黑体" panose="02010609060101010101" pitchFamily="49" charset="-122"/>
              </a:defRPr>
            </a:lvl1pPr>
            <a:lvl2pPr marL="742950" indent="-285750" eaLnBrk="0" hangingPunct="0">
              <a:defRPr kumimoji="1" sz="2400" b="1">
                <a:solidFill>
                  <a:schemeClr val="tx1"/>
                </a:solidFill>
                <a:latin typeface="黑体" panose="02010609060101010101" pitchFamily="49" charset="-122"/>
                <a:ea typeface="黑体" panose="02010609060101010101" pitchFamily="49" charset="-122"/>
              </a:defRPr>
            </a:lvl2pPr>
            <a:lvl3pPr marL="1143000" indent="-228600" eaLnBrk="0" hangingPunct="0">
              <a:defRPr kumimoji="1" sz="2400" b="1">
                <a:solidFill>
                  <a:schemeClr val="tx1"/>
                </a:solidFill>
                <a:latin typeface="黑体" panose="02010609060101010101" pitchFamily="49" charset="-122"/>
                <a:ea typeface="黑体" panose="02010609060101010101" pitchFamily="49" charset="-122"/>
              </a:defRPr>
            </a:lvl3pPr>
            <a:lvl4pPr marL="1600200" indent="-228600" eaLnBrk="0" hangingPunct="0">
              <a:defRPr kumimoji="1" sz="2400" b="1">
                <a:solidFill>
                  <a:schemeClr val="tx1"/>
                </a:solidFill>
                <a:latin typeface="黑体" panose="02010609060101010101" pitchFamily="49" charset="-122"/>
                <a:ea typeface="黑体" panose="02010609060101010101" pitchFamily="49" charset="-122"/>
              </a:defRPr>
            </a:lvl4pPr>
            <a:lvl5pPr marL="2057400" indent="-228600" eaLnBrk="0" hangingPunct="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pPr>
            <a:r>
              <a:rPr lang="zh-CN" altLang="en-US" sz="1660">
                <a:latin typeface="Arial" panose="020B0604020202020204" pitchFamily="34" charset="0"/>
              </a:rPr>
              <a:t>圆螺母</a:t>
            </a:r>
            <a:endParaRPr lang="zh-CN" altLang="en-US" sz="1660">
              <a:latin typeface="Arial" panose="020B0604020202020204" pitchFamily="34" charset="0"/>
            </a:endParaRPr>
          </a:p>
        </p:txBody>
      </p:sp>
      <p:sp>
        <p:nvSpPr>
          <p:cNvPr id="6155" name="Rectangle 14"/>
          <p:cNvSpPr>
            <a:spLocks noGrp="1" noChangeArrowheads="1"/>
          </p:cNvSpPr>
          <p:nvPr>
            <p:ph type="title"/>
          </p:nvPr>
        </p:nvSpPr>
        <p:spPr>
          <a:xfrm>
            <a:off x="783271" y="703774"/>
            <a:ext cx="5904035" cy="663820"/>
          </a:xfrm>
        </p:spPr>
        <p:txBody>
          <a:bodyPr/>
          <a:lstStyle/>
          <a:p>
            <a:pPr algn="l" eaLnBrk="1" hangingPunct="1"/>
            <a:r>
              <a:rPr lang="en-US" altLang="zh-CN" sz="2030" dirty="0">
                <a:latin typeface="黑体" panose="02010609060101010101" pitchFamily="49" charset="-122"/>
                <a:ea typeface="黑体" panose="02010609060101010101" pitchFamily="49" charset="-122"/>
              </a:rPr>
              <a:t>(2) </a:t>
            </a:r>
            <a:r>
              <a:rPr lang="zh-CN" altLang="en-US" sz="2030" dirty="0">
                <a:solidFill>
                  <a:srgbClr val="002060"/>
                </a:solidFill>
                <a:latin typeface="黑体" panose="02010609060101010101" pitchFamily="49" charset="-122"/>
                <a:ea typeface="黑体" panose="02010609060101010101" pitchFamily="49" charset="-122"/>
              </a:rPr>
              <a:t>圆螺母和弹性档圈</a:t>
            </a:r>
            <a:endParaRPr lang="zh-CN" altLang="en-US" sz="2030" dirty="0">
              <a:solidFill>
                <a:srgbClr val="002060"/>
              </a:solidFill>
              <a:latin typeface="黑体" panose="02010609060101010101" pitchFamily="49" charset="-122"/>
              <a:ea typeface="黑体" panose="02010609060101010101" pitchFamily="49" charset="-122"/>
            </a:endParaRPr>
          </a:p>
        </p:txBody>
      </p:sp>
      <p:pic>
        <p:nvPicPr>
          <p:cNvPr id="180240" name="Picture 16" descr="圆螺母"/>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0" y="3163766"/>
            <a:ext cx="1359877" cy="1326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0241" name="Picture 17" descr="止动垫圈"/>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397" y="4629151"/>
            <a:ext cx="1374531" cy="1468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80233"/>
                                        </p:tgtEl>
                                        <p:attrNameLst>
                                          <p:attrName>style.visibility</p:attrName>
                                        </p:attrNameLst>
                                      </p:cBhvr>
                                      <p:to>
                                        <p:strVal val="visible"/>
                                      </p:to>
                                    </p:set>
                                    <p:animEffect transition="in" filter="wipe(up)">
                                      <p:cBhvr>
                                        <p:cTn id="7" dur="500"/>
                                        <p:tgtEl>
                                          <p:spTgt spid="18023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80237"/>
                                        </p:tgtEl>
                                        <p:attrNameLst>
                                          <p:attrName>style.visibility</p:attrName>
                                        </p:attrNameLst>
                                      </p:cBhvr>
                                      <p:to>
                                        <p:strVal val="visible"/>
                                      </p:to>
                                    </p:set>
                                    <p:animEffect transition="in" filter="dissolve">
                                      <p:cBhvr>
                                        <p:cTn id="12" dur="500"/>
                                        <p:tgtEl>
                                          <p:spTgt spid="180237"/>
                                        </p:tgtEl>
                                      </p:cBhvr>
                                    </p:animEffect>
                                  </p:childTnLst>
                                </p:cTn>
                              </p:par>
                            </p:childTnLst>
                          </p:cTn>
                        </p:par>
                        <p:par>
                          <p:cTn id="13" fill="hold">
                            <p:stCondLst>
                              <p:cond delay="500"/>
                            </p:stCondLst>
                            <p:childTnLst>
                              <p:par>
                                <p:cTn id="14" presetID="9" presetClass="entr" presetSubtype="0" fill="hold" grpId="0" nodeType="afterEffect">
                                  <p:stCondLst>
                                    <p:cond delay="0"/>
                                  </p:stCondLst>
                                  <p:childTnLst>
                                    <p:set>
                                      <p:cBhvr>
                                        <p:cTn id="15" dur="1" fill="hold">
                                          <p:stCondLst>
                                            <p:cond delay="0"/>
                                          </p:stCondLst>
                                        </p:cTn>
                                        <p:tgtEl>
                                          <p:spTgt spid="180231"/>
                                        </p:tgtEl>
                                        <p:attrNameLst>
                                          <p:attrName>style.visibility</p:attrName>
                                        </p:attrNameLst>
                                      </p:cBhvr>
                                      <p:to>
                                        <p:strVal val="visible"/>
                                      </p:to>
                                    </p:set>
                                    <p:animEffect transition="in" filter="dissolve">
                                      <p:cBhvr>
                                        <p:cTn id="16" dur="500"/>
                                        <p:tgtEl>
                                          <p:spTgt spid="180231"/>
                                        </p:tgtEl>
                                      </p:cBhvr>
                                    </p:animEffect>
                                  </p:childTnLst>
                                </p:cTn>
                              </p:par>
                            </p:childTnLst>
                          </p:cTn>
                        </p:par>
                      </p:childTnLst>
                    </p:cTn>
                  </p:par>
                  <p:par>
                    <p:cTn id="17" fill="hold">
                      <p:stCondLst>
                        <p:cond delay="indefinite"/>
                      </p:stCondLst>
                      <p:childTnLst>
                        <p:par>
                          <p:cTn id="18" fill="hold">
                            <p:stCondLst>
                              <p:cond delay="0"/>
                            </p:stCondLst>
                            <p:childTnLst>
                              <p:par>
                                <p:cTn id="19" presetID="12" presetClass="entr" presetSubtype="1" fill="hold" nodeType="clickEffect">
                                  <p:stCondLst>
                                    <p:cond delay="0"/>
                                  </p:stCondLst>
                                  <p:childTnLst>
                                    <p:set>
                                      <p:cBhvr>
                                        <p:cTn id="20" dur="1" fill="hold">
                                          <p:stCondLst>
                                            <p:cond delay="0"/>
                                          </p:stCondLst>
                                        </p:cTn>
                                        <p:tgtEl>
                                          <p:spTgt spid="180240"/>
                                        </p:tgtEl>
                                        <p:attrNameLst>
                                          <p:attrName>style.visibility</p:attrName>
                                        </p:attrNameLst>
                                      </p:cBhvr>
                                      <p:to>
                                        <p:strVal val="visible"/>
                                      </p:to>
                                    </p:set>
                                    <p:animEffect transition="in" filter="slide(fromTop)">
                                      <p:cBhvr>
                                        <p:cTn id="21" dur="500"/>
                                        <p:tgtEl>
                                          <p:spTgt spid="180240"/>
                                        </p:tgtEl>
                                      </p:cBhvr>
                                    </p:animEffect>
                                  </p:childTnLst>
                                </p:cTn>
                              </p:par>
                              <p:par>
                                <p:cTn id="22" presetID="9" presetClass="entr" presetSubtype="0" fill="hold" grpId="0" nodeType="withEffect">
                                  <p:stCondLst>
                                    <p:cond delay="0"/>
                                  </p:stCondLst>
                                  <p:childTnLst>
                                    <p:set>
                                      <p:cBhvr>
                                        <p:cTn id="23" dur="1" fill="hold">
                                          <p:stCondLst>
                                            <p:cond delay="0"/>
                                          </p:stCondLst>
                                        </p:cTn>
                                        <p:tgtEl>
                                          <p:spTgt spid="180236"/>
                                        </p:tgtEl>
                                        <p:attrNameLst>
                                          <p:attrName>style.visibility</p:attrName>
                                        </p:attrNameLst>
                                      </p:cBhvr>
                                      <p:to>
                                        <p:strVal val="visible"/>
                                      </p:to>
                                    </p:set>
                                    <p:animEffect transition="in" filter="dissolve">
                                      <p:cBhvr>
                                        <p:cTn id="24" dur="500"/>
                                        <p:tgtEl>
                                          <p:spTgt spid="180236"/>
                                        </p:tgtEl>
                                      </p:cBhvr>
                                    </p:animEffect>
                                  </p:childTnLst>
                                </p:cTn>
                              </p:par>
                            </p:childTnLst>
                          </p:cTn>
                        </p:par>
                        <p:par>
                          <p:cTn id="25" fill="hold">
                            <p:stCondLst>
                              <p:cond delay="500"/>
                            </p:stCondLst>
                            <p:childTnLst>
                              <p:par>
                                <p:cTn id="26" presetID="12" presetClass="entr" presetSubtype="1" fill="hold" nodeType="afterEffect">
                                  <p:stCondLst>
                                    <p:cond delay="0"/>
                                  </p:stCondLst>
                                  <p:childTnLst>
                                    <p:set>
                                      <p:cBhvr>
                                        <p:cTn id="27" dur="1" fill="hold">
                                          <p:stCondLst>
                                            <p:cond delay="0"/>
                                          </p:stCondLst>
                                        </p:cTn>
                                        <p:tgtEl>
                                          <p:spTgt spid="180241"/>
                                        </p:tgtEl>
                                        <p:attrNameLst>
                                          <p:attrName>style.visibility</p:attrName>
                                        </p:attrNameLst>
                                      </p:cBhvr>
                                      <p:to>
                                        <p:strVal val="visible"/>
                                      </p:to>
                                    </p:set>
                                    <p:animEffect transition="in" filter="slide(fromTop)">
                                      <p:cBhvr>
                                        <p:cTn id="28" dur="500"/>
                                        <p:tgtEl>
                                          <p:spTgt spid="180241"/>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grpId="0" nodeType="clickEffect">
                                  <p:stCondLst>
                                    <p:cond delay="0"/>
                                  </p:stCondLst>
                                  <p:childTnLst>
                                    <p:set>
                                      <p:cBhvr>
                                        <p:cTn id="32" dur="1" fill="hold">
                                          <p:stCondLst>
                                            <p:cond delay="0"/>
                                          </p:stCondLst>
                                        </p:cTn>
                                        <p:tgtEl>
                                          <p:spTgt spid="180227"/>
                                        </p:tgtEl>
                                        <p:attrNameLst>
                                          <p:attrName>style.visibility</p:attrName>
                                        </p:attrNameLst>
                                      </p:cBhvr>
                                      <p:to>
                                        <p:strVal val="visible"/>
                                      </p:to>
                                    </p:set>
                                    <p:animEffect transition="in" filter="dissolve">
                                      <p:cBhvr>
                                        <p:cTn id="33" dur="500"/>
                                        <p:tgtEl>
                                          <p:spTgt spid="180227"/>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180229"/>
                                        </p:tgtEl>
                                        <p:attrNameLst>
                                          <p:attrName>style.visibility</p:attrName>
                                        </p:attrNameLst>
                                      </p:cBhvr>
                                      <p:to>
                                        <p:strVal val="visible"/>
                                      </p:to>
                                    </p:set>
                                    <p:animEffect transition="in" filter="wipe(left)">
                                      <p:cBhvr>
                                        <p:cTn id="38" dur="500"/>
                                        <p:tgtEl>
                                          <p:spTgt spid="180229"/>
                                        </p:tgtEl>
                                      </p:cBhvr>
                                    </p:animEffect>
                                  </p:childTnLst>
                                </p:cTn>
                              </p:par>
                            </p:childTnLst>
                          </p:cTn>
                        </p:par>
                      </p:childTnLst>
                    </p:cTn>
                  </p:par>
                  <p:par>
                    <p:cTn id="39" fill="hold">
                      <p:stCondLst>
                        <p:cond delay="indefinite"/>
                      </p:stCondLst>
                      <p:childTnLst>
                        <p:par>
                          <p:cTn id="40" fill="hold">
                            <p:stCondLst>
                              <p:cond delay="0"/>
                            </p:stCondLst>
                            <p:childTnLst>
                              <p:par>
                                <p:cTn id="41" presetID="9" presetClass="entr" presetSubtype="0" fill="hold" grpId="0" nodeType="clickEffect">
                                  <p:stCondLst>
                                    <p:cond delay="0"/>
                                  </p:stCondLst>
                                  <p:childTnLst>
                                    <p:set>
                                      <p:cBhvr>
                                        <p:cTn id="42" dur="1" fill="hold">
                                          <p:stCondLst>
                                            <p:cond delay="0"/>
                                          </p:stCondLst>
                                        </p:cTn>
                                        <p:tgtEl>
                                          <p:spTgt spid="180230"/>
                                        </p:tgtEl>
                                        <p:attrNameLst>
                                          <p:attrName>style.visibility</p:attrName>
                                        </p:attrNameLst>
                                      </p:cBhvr>
                                      <p:to>
                                        <p:strVal val="visible"/>
                                      </p:to>
                                    </p:set>
                                    <p:animEffect transition="in" filter="dissolve">
                                      <p:cBhvr>
                                        <p:cTn id="43" dur="500"/>
                                        <p:tgtEl>
                                          <p:spTgt spid="180230"/>
                                        </p:tgtEl>
                                      </p:cBhvr>
                                    </p:animEffect>
                                  </p:childTnLst>
                                </p:cTn>
                              </p:par>
                            </p:childTnLst>
                          </p:cTn>
                        </p:par>
                        <p:par>
                          <p:cTn id="44" fill="hold">
                            <p:stCondLst>
                              <p:cond delay="500"/>
                            </p:stCondLst>
                            <p:childTnLst>
                              <p:par>
                                <p:cTn id="45" presetID="9" presetClass="entr" presetSubtype="0" fill="hold" grpId="0" nodeType="afterEffect">
                                  <p:stCondLst>
                                    <p:cond delay="0"/>
                                  </p:stCondLst>
                                  <p:childTnLst>
                                    <p:set>
                                      <p:cBhvr>
                                        <p:cTn id="46" dur="1" fill="hold">
                                          <p:stCondLst>
                                            <p:cond delay="0"/>
                                          </p:stCondLst>
                                        </p:cTn>
                                        <p:tgtEl>
                                          <p:spTgt spid="180232"/>
                                        </p:tgtEl>
                                        <p:attrNameLst>
                                          <p:attrName>style.visibility</p:attrName>
                                        </p:attrNameLst>
                                      </p:cBhvr>
                                      <p:to>
                                        <p:strVal val="visible"/>
                                      </p:to>
                                    </p:set>
                                    <p:animEffect transition="in" filter="dissolve">
                                      <p:cBhvr>
                                        <p:cTn id="47" dur="500"/>
                                        <p:tgtEl>
                                          <p:spTgt spid="180232"/>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180228"/>
                                        </p:tgtEl>
                                        <p:attrNameLst>
                                          <p:attrName>style.visibility</p:attrName>
                                        </p:attrNameLst>
                                      </p:cBhvr>
                                      <p:to>
                                        <p:strVal val="visible"/>
                                      </p:to>
                                    </p:set>
                                    <p:animEffect transition="in" filter="dissolve">
                                      <p:cBhvr>
                                        <p:cTn id="52" dur="500"/>
                                        <p:tgtEl>
                                          <p:spTgt spid="1802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0232" grpId="0" animBg="1"/>
      <p:bldP spid="180227" grpId="0" autoUpdateAnimBg="0"/>
      <p:bldP spid="180228" grpId="0" autoUpdateAnimBg="0"/>
      <p:bldP spid="180230" grpId="0" animBg="1" autoUpdateAnimBg="0"/>
      <p:bldP spid="180231" grpId="0" animBg="1"/>
      <p:bldP spid="180236" grpId="0" bldLvl="0" animBg="1" autoUpdateAnimBg="0"/>
      <p:bldP spid="180237" grpId="0" animBg="1"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506" name="Group 2"/>
          <p:cNvGrpSpPr/>
          <p:nvPr/>
        </p:nvGrpSpPr>
        <p:grpSpPr bwMode="auto">
          <a:xfrm>
            <a:off x="455613" y="1068388"/>
            <a:ext cx="8324850" cy="3867150"/>
            <a:chOff x="287" y="628"/>
            <a:chExt cx="5244" cy="2436"/>
          </a:xfrm>
        </p:grpSpPr>
        <p:sp>
          <p:nvSpPr>
            <p:cNvPr id="21507" name="Text Box 3"/>
            <p:cNvSpPr txBox="1">
              <a:spLocks noChangeArrowheads="1"/>
            </p:cNvSpPr>
            <p:nvPr/>
          </p:nvSpPr>
          <p:spPr bwMode="auto">
            <a:xfrm>
              <a:off x="287" y="628"/>
              <a:ext cx="5244" cy="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2200" dirty="0">
                  <a:solidFill>
                    <a:schemeClr val="accent2"/>
                  </a:solidFill>
                  <a:latin typeface="Times New Roman" panose="02020603050405020304" pitchFamily="18" charset="0"/>
                  <a:ea typeface="华文中宋" panose="02010600040101010101" pitchFamily="2" charset="-122"/>
                </a:rPr>
                <a:t>a</a:t>
              </a:r>
              <a:r>
                <a:rPr kumimoji="1" lang="zh-CN" altLang="en-US" sz="2200" dirty="0">
                  <a:solidFill>
                    <a:schemeClr val="accent2"/>
                  </a:solidFill>
                  <a:latin typeface="Times New Roman" panose="02020603050405020304" pitchFamily="18" charset="0"/>
                  <a:ea typeface="华文中宋" panose="02010600040101010101" pitchFamily="2" charset="-122"/>
                </a:rPr>
                <a:t>）</a:t>
              </a:r>
              <a:r>
                <a:rPr kumimoji="1" lang="zh-CN" altLang="en-US" sz="2200" dirty="0">
                  <a:solidFill>
                    <a:schemeClr val="accent2"/>
                  </a:solidFill>
                  <a:latin typeface="Times New Roman" panose="02020603050405020304" pitchFamily="18" charset="0"/>
                  <a:ea typeface="华文中宋" panose="02010600040101010101" pitchFamily="2" charset="-122"/>
                  <a:hlinkClick r:id="" action="ppaction://hlinkshowjump?jump=nextslide"/>
                </a:rPr>
                <a:t>防止过定位</a:t>
              </a:r>
              <a:r>
                <a:rPr kumimoji="1" lang="zh-CN" altLang="en-US" sz="2200" dirty="0">
                  <a:solidFill>
                    <a:schemeClr val="accent2"/>
                  </a:solidFill>
                  <a:latin typeface="Times New Roman" panose="02020603050405020304" pitchFamily="18" charset="0"/>
                  <a:ea typeface="华文中宋" panose="02010600040101010101" pitchFamily="2" charset="-122"/>
                </a:rPr>
                <a:t>   </a:t>
              </a:r>
              <a:r>
                <a:rPr kumimoji="1" lang="en-US" altLang="zh-CN" sz="2200" b="1" i="1" dirty="0">
                  <a:solidFill>
                    <a:srgbClr val="FF0000"/>
                  </a:solidFill>
                  <a:latin typeface="Times New Roman" panose="02020603050405020304" pitchFamily="18" charset="0"/>
                  <a:ea typeface="华文中宋" panose="02010600040101010101" pitchFamily="2" charset="-122"/>
                </a:rPr>
                <a:t>l</a:t>
              </a:r>
              <a:r>
                <a:rPr kumimoji="1" lang="zh-CN" altLang="en-US" sz="2200" b="1" baseline="-25000" dirty="0">
                  <a:solidFill>
                    <a:srgbClr val="FF0000"/>
                  </a:solidFill>
                  <a:latin typeface="Times New Roman" panose="02020603050405020304" pitchFamily="18" charset="0"/>
                  <a:ea typeface="华文中宋" panose="02010600040101010101" pitchFamily="2" charset="-122"/>
                </a:rPr>
                <a:t>轴段长度</a:t>
              </a:r>
              <a:r>
                <a:rPr kumimoji="1" lang="zh-CN" altLang="en-US" sz="2200" b="1" dirty="0">
                  <a:solidFill>
                    <a:srgbClr val="FF0000"/>
                  </a:solidFill>
                  <a:latin typeface="Times New Roman" panose="02020603050405020304" pitchFamily="18" charset="0"/>
                  <a:ea typeface="华文中宋" panose="02010600040101010101" pitchFamily="2" charset="-122"/>
                </a:rPr>
                <a:t>＝</a:t>
              </a:r>
              <a:r>
                <a:rPr kumimoji="1" lang="en-US" altLang="zh-CN" sz="2200" b="1" i="1" dirty="0">
                  <a:solidFill>
                    <a:srgbClr val="FF0000"/>
                  </a:solidFill>
                  <a:latin typeface="Times New Roman" panose="02020603050405020304" pitchFamily="18" charset="0"/>
                  <a:ea typeface="华文中宋" panose="02010600040101010101" pitchFamily="2" charset="-122"/>
                </a:rPr>
                <a:t>B</a:t>
              </a:r>
              <a:r>
                <a:rPr kumimoji="1" lang="zh-CN" altLang="en-US" sz="2200" b="1" baseline="-25000" dirty="0">
                  <a:solidFill>
                    <a:srgbClr val="FF0000"/>
                  </a:solidFill>
                  <a:latin typeface="Times New Roman" panose="02020603050405020304" pitchFamily="18" charset="0"/>
                  <a:ea typeface="华文中宋" panose="02010600040101010101" pitchFamily="2" charset="-122"/>
                </a:rPr>
                <a:t>轮毂宽</a:t>
              </a:r>
              <a:r>
                <a:rPr kumimoji="1" lang="zh-CN" altLang="en-US" sz="2200" b="1" dirty="0">
                  <a:solidFill>
                    <a:srgbClr val="FF0000"/>
                  </a:solidFill>
                  <a:latin typeface="Times New Roman" panose="02020603050405020304" pitchFamily="18" charset="0"/>
                  <a:ea typeface="华文中宋" panose="02010600040101010101" pitchFamily="2" charset="-122"/>
                </a:rPr>
                <a:t>－</a:t>
              </a:r>
              <a:r>
                <a:rPr kumimoji="1" lang="en-US" altLang="zh-CN" sz="2200" b="1" dirty="0">
                  <a:solidFill>
                    <a:srgbClr val="FF0000"/>
                  </a:solidFill>
                  <a:latin typeface="Times New Roman" panose="02020603050405020304" pitchFamily="18" charset="0"/>
                  <a:ea typeface="华文中宋" panose="02010600040101010101" pitchFamily="2" charset="-122"/>
                </a:rPr>
                <a:t>(2~3)mm</a:t>
              </a:r>
              <a:endParaRPr kumimoji="1" lang="en-US" altLang="zh-CN" sz="2200" b="1" dirty="0">
                <a:solidFill>
                  <a:srgbClr val="FF0000"/>
                </a:solidFill>
                <a:latin typeface="Times New Roman" panose="02020603050405020304" pitchFamily="18" charset="0"/>
                <a:ea typeface="华文中宋" panose="02010600040101010101" pitchFamily="2" charset="-122"/>
              </a:endParaRPr>
            </a:p>
          </p:txBody>
        </p:sp>
        <p:pic>
          <p:nvPicPr>
            <p:cNvPr id="21508" name="Picture 4" descr="guodw"/>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42" y="2171"/>
              <a:ext cx="1260" cy="893"/>
            </a:xfrm>
            <a:prstGeom prst="rect">
              <a:avLst/>
            </a:prstGeom>
            <a:noFill/>
            <a:extLst>
              <a:ext uri="{909E8E84-426E-40DD-AFC4-6F175D3DCCD1}">
                <a14:hiddenFill xmlns:a14="http://schemas.microsoft.com/office/drawing/2010/main">
                  <a:solidFill>
                    <a:srgbClr val="FFFFFF"/>
                  </a:solidFill>
                </a14:hiddenFill>
              </a:ext>
            </a:extLst>
          </p:spPr>
        </p:pic>
      </p:grpSp>
      <p:sp>
        <p:nvSpPr>
          <p:cNvPr id="21509" name="Text Box 5"/>
          <p:cNvSpPr txBox="1">
            <a:spLocks noChangeArrowheads="1"/>
          </p:cNvSpPr>
          <p:nvPr/>
        </p:nvSpPr>
        <p:spPr bwMode="auto">
          <a:xfrm>
            <a:off x="455613" y="1627188"/>
            <a:ext cx="3744936"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200" dirty="0">
                <a:solidFill>
                  <a:schemeClr val="accent2"/>
                </a:solidFill>
                <a:latin typeface="华文中宋" panose="02010600040101010101" pitchFamily="2" charset="-122"/>
                <a:ea typeface="华文中宋" panose="02010600040101010101" pitchFamily="2" charset="-122"/>
              </a:rPr>
              <a:t>b</a:t>
            </a:r>
            <a:r>
              <a:rPr kumimoji="1" lang="zh-CN" altLang="en-US" sz="2200" dirty="0">
                <a:solidFill>
                  <a:schemeClr val="accent2"/>
                </a:solidFill>
                <a:latin typeface="华文中宋" panose="02010600040101010101" pitchFamily="2" charset="-122"/>
                <a:ea typeface="华文中宋" panose="02010600040101010101" pitchFamily="2" charset="-122"/>
              </a:rPr>
              <a:t>）保证轴上零件可靠定位：</a:t>
            </a:r>
            <a:endParaRPr kumimoji="1" lang="zh-CN" altLang="en-US" sz="2200" dirty="0">
              <a:solidFill>
                <a:schemeClr val="accent2"/>
              </a:solidFill>
              <a:latin typeface="华文中宋" panose="02010600040101010101" pitchFamily="2" charset="-122"/>
              <a:ea typeface="华文中宋" panose="02010600040101010101" pitchFamily="2" charset="-122"/>
            </a:endParaRPr>
          </a:p>
        </p:txBody>
      </p:sp>
      <p:grpSp>
        <p:nvGrpSpPr>
          <p:cNvPr id="21510" name="Group 6"/>
          <p:cNvGrpSpPr/>
          <p:nvPr/>
        </p:nvGrpSpPr>
        <p:grpSpPr bwMode="auto">
          <a:xfrm>
            <a:off x="1157288" y="2085975"/>
            <a:ext cx="7720012" cy="2746375"/>
            <a:chOff x="729" y="1314"/>
            <a:chExt cx="4863" cy="1730"/>
          </a:xfrm>
        </p:grpSpPr>
        <p:pic>
          <p:nvPicPr>
            <p:cNvPr id="21511" name="Picture 7" descr="zhoujia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6" y="2166"/>
              <a:ext cx="1303" cy="878"/>
            </a:xfrm>
            <a:prstGeom prst="rect">
              <a:avLst/>
            </a:prstGeom>
            <a:noFill/>
            <a:extLst>
              <a:ext uri="{909E8E84-426E-40DD-AFC4-6F175D3DCCD1}">
                <a14:hiddenFill xmlns:a14="http://schemas.microsoft.com/office/drawing/2010/main">
                  <a:solidFill>
                    <a:srgbClr val="FFFFFF"/>
                  </a:solidFill>
                </a14:hiddenFill>
              </a:ext>
            </a:extLst>
          </p:spPr>
        </p:pic>
        <p:sp>
          <p:nvSpPr>
            <p:cNvPr id="21512" name="Rectangle 8"/>
            <p:cNvSpPr>
              <a:spLocks noChangeArrowheads="1"/>
            </p:cNvSpPr>
            <p:nvPr/>
          </p:nvSpPr>
          <p:spPr bwMode="auto">
            <a:xfrm>
              <a:off x="729" y="1314"/>
              <a:ext cx="4863" cy="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40000"/>
                </a:lnSpc>
                <a:spcBef>
                  <a:spcPct val="50000"/>
                </a:spcBef>
              </a:pPr>
              <a:r>
                <a:rPr kumimoji="1" lang="zh-CN" altLang="en-US" sz="2200" dirty="0">
                  <a:solidFill>
                    <a:srgbClr val="FF0000"/>
                  </a:solidFill>
                  <a:latin typeface="Times New Roman" panose="02020603050405020304" pitchFamily="18" charset="0"/>
                  <a:ea typeface="华文中宋" panose="02010600040101010101" pitchFamily="2" charset="-122"/>
                </a:rPr>
                <a:t>轴圆角半径 </a:t>
              </a:r>
              <a:r>
                <a:rPr kumimoji="1" lang="en-US" altLang="zh-CN" sz="2200" b="1" i="1" dirty="0">
                  <a:solidFill>
                    <a:srgbClr val="FF0000"/>
                  </a:solidFill>
                  <a:latin typeface="Times New Roman" panose="02020603050405020304" pitchFamily="18" charset="0"/>
                  <a:ea typeface="华文中宋" panose="02010600040101010101" pitchFamily="2" charset="-122"/>
                </a:rPr>
                <a:t>r</a:t>
              </a:r>
              <a:r>
                <a:rPr kumimoji="1" lang="zh-CN" altLang="en-US" sz="2200" dirty="0">
                  <a:solidFill>
                    <a:srgbClr val="FF0000"/>
                  </a:solidFill>
                  <a:latin typeface="Times New Roman" panose="02020603050405020304" pitchFamily="18" charset="0"/>
                  <a:ea typeface="华文中宋" panose="02010600040101010101" pitchFamily="2" charset="-122"/>
                </a:rPr>
                <a:t>＜轴上零件倒角尺寸 </a:t>
              </a:r>
              <a:r>
                <a:rPr kumimoji="1" lang="en-US" altLang="zh-CN" sz="2200" b="1" i="1" dirty="0">
                  <a:solidFill>
                    <a:srgbClr val="FF0000"/>
                  </a:solidFill>
                  <a:latin typeface="Times New Roman" panose="02020603050405020304" pitchFamily="18" charset="0"/>
                  <a:ea typeface="华文中宋" panose="02010600040101010101" pitchFamily="2" charset="-122"/>
                </a:rPr>
                <a:t>c</a:t>
              </a:r>
              <a:r>
                <a:rPr kumimoji="1" lang="zh-CN" altLang="en-US" sz="2200" dirty="0">
                  <a:solidFill>
                    <a:srgbClr val="FF0000"/>
                  </a:solidFill>
                  <a:latin typeface="Times New Roman" panose="02020603050405020304" pitchFamily="18" charset="0"/>
                  <a:ea typeface="华文中宋" panose="02010600040101010101" pitchFamily="2" charset="-122"/>
                </a:rPr>
                <a:t>＜轴肩高度 </a:t>
              </a:r>
              <a:r>
                <a:rPr kumimoji="1" lang="en-US" altLang="zh-CN" sz="2200" b="1" i="1" dirty="0">
                  <a:solidFill>
                    <a:srgbClr val="FF0000"/>
                  </a:solidFill>
                  <a:latin typeface="Times New Roman" panose="02020603050405020304" pitchFamily="18" charset="0"/>
                  <a:ea typeface="华文中宋" panose="02010600040101010101" pitchFamily="2" charset="-122"/>
                </a:rPr>
                <a:t>h</a:t>
              </a:r>
              <a:r>
                <a:rPr kumimoji="1" lang="en-US" altLang="zh-CN" sz="2200" dirty="0">
                  <a:latin typeface="Times New Roman" panose="02020603050405020304" pitchFamily="18" charset="0"/>
                  <a:ea typeface="华文中宋" panose="02010600040101010101" pitchFamily="2" charset="-122"/>
                </a:rPr>
                <a:t>  </a:t>
              </a:r>
              <a:endParaRPr kumimoji="1" lang="en-US" altLang="zh-CN" sz="2200" dirty="0">
                <a:latin typeface="Times New Roman" panose="02020603050405020304" pitchFamily="18" charset="0"/>
                <a:ea typeface="华文中宋" panose="02010600040101010101" pitchFamily="2" charset="-122"/>
              </a:endParaRPr>
            </a:p>
          </p:txBody>
        </p:sp>
      </p:grpSp>
      <p:grpSp>
        <p:nvGrpSpPr>
          <p:cNvPr id="21513" name="Group 9"/>
          <p:cNvGrpSpPr/>
          <p:nvPr/>
        </p:nvGrpSpPr>
        <p:grpSpPr bwMode="auto">
          <a:xfrm>
            <a:off x="1168400" y="2736850"/>
            <a:ext cx="7231063" cy="2120900"/>
            <a:chOff x="736" y="1724"/>
            <a:chExt cx="4555" cy="1336"/>
          </a:xfrm>
        </p:grpSpPr>
        <p:pic>
          <p:nvPicPr>
            <p:cNvPr id="21514" name="Picture 10" descr="yuanjia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73" y="2174"/>
              <a:ext cx="1318" cy="886"/>
            </a:xfrm>
            <a:prstGeom prst="rect">
              <a:avLst/>
            </a:prstGeom>
            <a:noFill/>
            <a:extLst>
              <a:ext uri="{909E8E84-426E-40DD-AFC4-6F175D3DCCD1}">
                <a14:hiddenFill xmlns:a14="http://schemas.microsoft.com/office/drawing/2010/main">
                  <a:solidFill>
                    <a:srgbClr val="FFFFFF"/>
                  </a:solidFill>
                </a14:hiddenFill>
              </a:ext>
            </a:extLst>
          </p:spPr>
        </p:pic>
        <p:sp>
          <p:nvSpPr>
            <p:cNvPr id="21515" name="Rectangle 11"/>
            <p:cNvSpPr>
              <a:spLocks noChangeArrowheads="1"/>
            </p:cNvSpPr>
            <p:nvPr/>
          </p:nvSpPr>
          <p:spPr bwMode="auto">
            <a:xfrm>
              <a:off x="736" y="1724"/>
              <a:ext cx="3912" cy="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40000"/>
                </a:lnSpc>
                <a:spcBef>
                  <a:spcPct val="50000"/>
                </a:spcBef>
              </a:pPr>
              <a:r>
                <a:rPr kumimoji="1" lang="zh-CN" altLang="en-US" sz="2200" dirty="0">
                  <a:solidFill>
                    <a:srgbClr val="FF0000"/>
                  </a:solidFill>
                  <a:latin typeface="Times New Roman" panose="02020603050405020304" pitchFamily="18" charset="0"/>
                  <a:ea typeface="华文中宋" panose="02010600040101010101" pitchFamily="2" charset="-122"/>
                </a:rPr>
                <a:t>轴圆角半径 </a:t>
              </a:r>
              <a:r>
                <a:rPr kumimoji="1" lang="en-US" altLang="zh-CN" sz="2200" b="1" i="1" dirty="0">
                  <a:solidFill>
                    <a:srgbClr val="FF0000"/>
                  </a:solidFill>
                  <a:latin typeface="Times New Roman" panose="02020603050405020304" pitchFamily="18" charset="0"/>
                  <a:ea typeface="华文中宋" panose="02010600040101010101" pitchFamily="2" charset="-122"/>
                </a:rPr>
                <a:t>r</a:t>
              </a:r>
              <a:r>
                <a:rPr kumimoji="1" lang="zh-CN" altLang="en-US" sz="2200" dirty="0">
                  <a:solidFill>
                    <a:srgbClr val="FF0000"/>
                  </a:solidFill>
                  <a:latin typeface="Times New Roman" panose="02020603050405020304" pitchFamily="18" charset="0"/>
                  <a:ea typeface="华文中宋" panose="02010600040101010101" pitchFamily="2" charset="-122"/>
                </a:rPr>
                <a:t>＜轴上零件圆角半径 </a:t>
              </a:r>
              <a:r>
                <a:rPr kumimoji="1" lang="en-US" altLang="zh-CN" sz="2200" b="1" i="1" dirty="0">
                  <a:solidFill>
                    <a:srgbClr val="FF0000"/>
                  </a:solidFill>
                  <a:latin typeface="Times New Roman" panose="02020603050405020304" pitchFamily="18" charset="0"/>
                  <a:ea typeface="华文中宋" panose="02010600040101010101" pitchFamily="2" charset="-122"/>
                </a:rPr>
                <a:t>R</a:t>
              </a:r>
              <a:r>
                <a:rPr kumimoji="1" lang="zh-CN" altLang="en-US" sz="2200" dirty="0">
                  <a:solidFill>
                    <a:srgbClr val="FF0000"/>
                  </a:solidFill>
                  <a:latin typeface="Times New Roman" panose="02020603050405020304" pitchFamily="18" charset="0"/>
                  <a:ea typeface="华文中宋" panose="02010600040101010101" pitchFamily="2" charset="-122"/>
                </a:rPr>
                <a:t>＜轴肩高度 </a:t>
              </a:r>
              <a:r>
                <a:rPr kumimoji="1" lang="en-US" altLang="zh-CN" sz="2200" b="1" i="1" dirty="0">
                  <a:solidFill>
                    <a:srgbClr val="FF0000"/>
                  </a:solidFill>
                  <a:latin typeface="Times New Roman" panose="02020603050405020304" pitchFamily="18" charset="0"/>
                  <a:ea typeface="华文中宋" panose="02010600040101010101" pitchFamily="2" charset="-122"/>
                </a:rPr>
                <a:t>h</a:t>
              </a:r>
              <a:endParaRPr kumimoji="1" lang="en-US" altLang="zh-CN" sz="2200" b="1" i="1" dirty="0">
                <a:solidFill>
                  <a:srgbClr val="FF0000"/>
                </a:solidFill>
                <a:latin typeface="Times New Roman" panose="02020603050405020304" pitchFamily="18" charset="0"/>
                <a:ea typeface="华文中宋" panose="02010600040101010101" pitchFamily="2" charset="-122"/>
              </a:endParaRPr>
            </a:p>
          </p:txBody>
        </p:sp>
      </p:grpSp>
      <p:sp>
        <p:nvSpPr>
          <p:cNvPr id="21516" name="Rectangle 12"/>
          <p:cNvSpPr>
            <a:spLocks noChangeArrowheads="1"/>
          </p:cNvSpPr>
          <p:nvPr/>
        </p:nvSpPr>
        <p:spPr bwMode="auto">
          <a:xfrm>
            <a:off x="284301" y="197397"/>
            <a:ext cx="151606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Font typeface="Wingdings" panose="05000000000000000000" pitchFamily="2" charset="2"/>
              <a:buChar char="n"/>
            </a:pPr>
            <a:r>
              <a:rPr kumimoji="1" lang="zh-CN" altLang="en-US" sz="2800" b="1" dirty="0">
                <a:solidFill>
                  <a:srgbClr val="800000"/>
                </a:solidFill>
                <a:ea typeface="华文中宋" panose="02010600040101010101" pitchFamily="2" charset="-122"/>
              </a:rPr>
              <a:t>注意：</a:t>
            </a:r>
            <a:endParaRPr kumimoji="1" lang="zh-CN" altLang="en-US" sz="2800" b="1" dirty="0">
              <a:solidFill>
                <a:srgbClr val="800000"/>
              </a:solidFill>
              <a:ea typeface="华文中宋" panose="02010600040101010101" pitchFamily="2" charset="-122"/>
            </a:endParaRPr>
          </a:p>
        </p:txBody>
      </p:sp>
      <p:sp>
        <p:nvSpPr>
          <p:cNvPr id="21517" name="Text Box 13"/>
          <p:cNvSpPr txBox="1">
            <a:spLocks noChangeArrowheads="1"/>
          </p:cNvSpPr>
          <p:nvPr/>
        </p:nvSpPr>
        <p:spPr bwMode="auto">
          <a:xfrm>
            <a:off x="455613" y="5259388"/>
            <a:ext cx="176688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2800" dirty="0">
                <a:solidFill>
                  <a:schemeClr val="accent2"/>
                </a:solidFill>
                <a:latin typeface="华文中宋" panose="02010600040101010101" pitchFamily="2" charset="-122"/>
                <a:ea typeface="华文中宋" panose="02010600040101010101" pitchFamily="2" charset="-122"/>
              </a:rPr>
              <a:t>c</a:t>
            </a:r>
            <a:r>
              <a:rPr kumimoji="1" lang="zh-CN" altLang="en-US" sz="2200" dirty="0">
                <a:solidFill>
                  <a:schemeClr val="accent2"/>
                </a:solidFill>
                <a:latin typeface="华文中宋" panose="02010600040101010101" pitchFamily="2" charset="-122"/>
                <a:ea typeface="华文中宋" panose="02010600040101010101" pitchFamily="2" charset="-122"/>
              </a:rPr>
              <a:t>）轴肩</a:t>
            </a:r>
            <a:endParaRPr kumimoji="1" lang="zh-CN" altLang="en-US" sz="2200" dirty="0">
              <a:solidFill>
                <a:schemeClr val="accent2"/>
              </a:solidFill>
              <a:latin typeface="华文中宋" panose="02010600040101010101" pitchFamily="2" charset="-122"/>
              <a:ea typeface="华文中宋" panose="02010600040101010101" pitchFamily="2" charset="-122"/>
            </a:endParaRPr>
          </a:p>
        </p:txBody>
      </p:sp>
      <p:grpSp>
        <p:nvGrpSpPr>
          <p:cNvPr id="21518" name="Group 14"/>
          <p:cNvGrpSpPr/>
          <p:nvPr/>
        </p:nvGrpSpPr>
        <p:grpSpPr bwMode="auto">
          <a:xfrm>
            <a:off x="1873250" y="5019676"/>
            <a:ext cx="5430838" cy="1019174"/>
            <a:chOff x="1300" y="658"/>
            <a:chExt cx="3421" cy="642"/>
          </a:xfrm>
        </p:grpSpPr>
        <p:sp>
          <p:nvSpPr>
            <p:cNvPr id="21519" name="AutoShape 15"/>
            <p:cNvSpPr/>
            <p:nvPr/>
          </p:nvSpPr>
          <p:spPr bwMode="auto">
            <a:xfrm>
              <a:off x="1300" y="772"/>
              <a:ext cx="134" cy="528"/>
            </a:xfrm>
            <a:prstGeom prst="leftBrace">
              <a:avLst>
                <a:gd name="adj1" fmla="val 32836"/>
                <a:gd name="adj2" fmla="val 50000"/>
              </a:avLst>
            </a:prstGeom>
            <a:noFill/>
            <a:ln w="9525">
              <a:solidFill>
                <a:srgbClr val="00206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20" name="Text Box 16"/>
            <p:cNvSpPr txBox="1">
              <a:spLocks noChangeArrowheads="1"/>
            </p:cNvSpPr>
            <p:nvPr/>
          </p:nvSpPr>
          <p:spPr bwMode="auto">
            <a:xfrm>
              <a:off x="1350" y="658"/>
              <a:ext cx="3371" cy="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200" dirty="0">
                  <a:solidFill>
                    <a:schemeClr val="accent4">
                      <a:lumMod val="50000"/>
                    </a:schemeClr>
                  </a:solidFill>
                  <a:latin typeface="华文中宋" panose="02010600040101010101" pitchFamily="2" charset="-122"/>
                  <a:ea typeface="华文中宋" panose="02010600040101010101" pitchFamily="2" charset="-122"/>
                  <a:hlinkClick r:id="" action="ppaction://hlinkshowjump?jump=nextslide"/>
                </a:rPr>
                <a:t>定位轴肩</a:t>
              </a:r>
              <a:r>
                <a:rPr kumimoji="1" lang="zh-CN" altLang="en-US" sz="2200" dirty="0">
                  <a:solidFill>
                    <a:schemeClr val="accent4">
                      <a:lumMod val="50000"/>
                    </a:schemeClr>
                  </a:solidFill>
                  <a:latin typeface="华文中宋" panose="02010600040101010101" pitchFamily="2" charset="-122"/>
                  <a:ea typeface="华文中宋" panose="02010600040101010101" pitchFamily="2" charset="-122"/>
                </a:rPr>
                <a:t>：</a:t>
              </a:r>
              <a:r>
                <a:rPr kumimoji="1" lang="en-US" altLang="zh-CN" sz="2200" b="1" i="1" dirty="0">
                  <a:solidFill>
                    <a:schemeClr val="accent4">
                      <a:lumMod val="50000"/>
                    </a:schemeClr>
                  </a:solidFill>
                  <a:ea typeface="华文中宋" panose="02010600040101010101" pitchFamily="2" charset="-122"/>
                </a:rPr>
                <a:t>h</a:t>
              </a:r>
              <a:r>
                <a:rPr kumimoji="1" lang="zh-CN" altLang="en-US" sz="2200" b="1" dirty="0">
                  <a:solidFill>
                    <a:schemeClr val="accent4">
                      <a:lumMod val="50000"/>
                    </a:schemeClr>
                  </a:solidFill>
                  <a:ea typeface="华文中宋" panose="02010600040101010101" pitchFamily="2" charset="-122"/>
                </a:rPr>
                <a:t>＝ </a:t>
              </a:r>
              <a:r>
                <a:rPr kumimoji="1" lang="en-US" altLang="zh-CN" sz="2200" b="1" dirty="0">
                  <a:solidFill>
                    <a:schemeClr val="accent4">
                      <a:lumMod val="50000"/>
                    </a:schemeClr>
                  </a:solidFill>
                  <a:ea typeface="华文中宋" panose="02010600040101010101" pitchFamily="2" charset="-122"/>
                </a:rPr>
                <a:t>(0.07~0.1)</a:t>
              </a:r>
              <a:r>
                <a:rPr kumimoji="1" lang="en-US" altLang="zh-CN" sz="2200" b="1" i="1" dirty="0">
                  <a:solidFill>
                    <a:schemeClr val="accent4">
                      <a:lumMod val="50000"/>
                    </a:schemeClr>
                  </a:solidFill>
                  <a:ea typeface="华文中宋" panose="02010600040101010101" pitchFamily="2" charset="-122"/>
                </a:rPr>
                <a:t>d</a:t>
              </a:r>
              <a:r>
                <a:rPr kumimoji="1" lang="en-US" altLang="zh-CN" sz="2200" i="1" dirty="0">
                  <a:solidFill>
                    <a:schemeClr val="accent4">
                      <a:lumMod val="50000"/>
                    </a:schemeClr>
                  </a:solidFill>
                  <a:ea typeface="华文中宋" panose="02010600040101010101" pitchFamily="2" charset="-122"/>
                </a:rPr>
                <a:t>     </a:t>
              </a:r>
              <a:r>
                <a:rPr kumimoji="1" lang="en-US" altLang="zh-CN" sz="2200" i="1" dirty="0">
                  <a:solidFill>
                    <a:schemeClr val="tx1">
                      <a:lumMod val="50000"/>
                    </a:schemeClr>
                  </a:solidFill>
                  <a:ea typeface="华文中宋" panose="02010600040101010101" pitchFamily="2" charset="-122"/>
                </a:rPr>
                <a:t> </a:t>
              </a:r>
              <a:r>
                <a:rPr kumimoji="1" lang="en-US" altLang="zh-CN" sz="2200" i="1" dirty="0" err="1">
                  <a:solidFill>
                    <a:schemeClr val="tx1">
                      <a:lumMod val="50000"/>
                    </a:schemeClr>
                  </a:solidFill>
                  <a:ea typeface="华文中宋" panose="02010600040101010101" pitchFamily="2" charset="-122"/>
                </a:rPr>
                <a:t>d</a:t>
              </a:r>
              <a:r>
                <a:rPr kumimoji="1" lang="zh-CN" altLang="en-US" sz="2200" dirty="0">
                  <a:solidFill>
                    <a:schemeClr val="accent4">
                      <a:lumMod val="50000"/>
                    </a:schemeClr>
                  </a:solidFill>
                  <a:ea typeface="华文中宋" panose="02010600040101010101" pitchFamily="2" charset="-122"/>
                </a:rPr>
                <a:t>：轴颈尺寸</a:t>
              </a:r>
              <a:endParaRPr kumimoji="1" lang="zh-CN" altLang="en-US" sz="2200" dirty="0">
                <a:solidFill>
                  <a:schemeClr val="accent4">
                    <a:lumMod val="50000"/>
                  </a:schemeClr>
                </a:solidFill>
                <a:ea typeface="华文中宋" panose="02010600040101010101" pitchFamily="2" charset="-122"/>
              </a:endParaRPr>
            </a:p>
          </p:txBody>
        </p:sp>
      </p:grpSp>
      <p:sp>
        <p:nvSpPr>
          <p:cNvPr id="21521" name="Text Box 17"/>
          <p:cNvSpPr txBox="1">
            <a:spLocks noChangeArrowheads="1"/>
          </p:cNvSpPr>
          <p:nvPr/>
        </p:nvSpPr>
        <p:spPr bwMode="auto">
          <a:xfrm>
            <a:off x="2052513" y="5713287"/>
            <a:ext cx="3406702"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200" dirty="0">
                <a:solidFill>
                  <a:schemeClr val="accent4">
                    <a:lumMod val="50000"/>
                  </a:schemeClr>
                </a:solidFill>
                <a:latin typeface="华文中宋" panose="02010600040101010101" pitchFamily="2" charset="-122"/>
                <a:ea typeface="华文中宋" panose="02010600040101010101" pitchFamily="2" charset="-122"/>
                <a:hlinkClick r:id="" action="ppaction://hlinkshowjump?jump=nextslide"/>
              </a:rPr>
              <a:t>非定位轴肩</a:t>
            </a:r>
            <a:r>
              <a:rPr kumimoji="1" lang="zh-CN" altLang="en-US" sz="2200" dirty="0">
                <a:solidFill>
                  <a:schemeClr val="accent4">
                    <a:lumMod val="50000"/>
                  </a:schemeClr>
                </a:solidFill>
                <a:latin typeface="华文中宋" panose="02010600040101010101" pitchFamily="2" charset="-122"/>
                <a:ea typeface="华文中宋" panose="02010600040101010101" pitchFamily="2" charset="-122"/>
              </a:rPr>
              <a:t>：</a:t>
            </a:r>
            <a:r>
              <a:rPr kumimoji="1" lang="en-US" altLang="zh-CN" sz="2200" b="1" i="1" dirty="0">
                <a:solidFill>
                  <a:schemeClr val="accent4">
                    <a:lumMod val="50000"/>
                  </a:schemeClr>
                </a:solidFill>
                <a:ea typeface="华文中宋" panose="02010600040101010101" pitchFamily="2" charset="-122"/>
              </a:rPr>
              <a:t>h</a:t>
            </a:r>
            <a:r>
              <a:rPr kumimoji="1" lang="zh-CN" altLang="en-US" sz="2200" b="1" dirty="0">
                <a:solidFill>
                  <a:schemeClr val="accent4">
                    <a:lumMod val="50000"/>
                  </a:schemeClr>
                </a:solidFill>
                <a:ea typeface="华文中宋" panose="02010600040101010101" pitchFamily="2" charset="-122"/>
              </a:rPr>
              <a:t>＝</a:t>
            </a:r>
            <a:r>
              <a:rPr kumimoji="1" lang="en-US" altLang="zh-CN" sz="2200" b="1" dirty="0">
                <a:solidFill>
                  <a:schemeClr val="accent4">
                    <a:lumMod val="50000"/>
                  </a:schemeClr>
                </a:solidFill>
                <a:ea typeface="华文中宋" panose="02010600040101010101" pitchFamily="2" charset="-122"/>
              </a:rPr>
              <a:t>(1~2)mm</a:t>
            </a:r>
            <a:endParaRPr kumimoji="1" lang="en-US" altLang="zh-CN" sz="2200" dirty="0">
              <a:solidFill>
                <a:schemeClr val="accent4">
                  <a:lumMod val="50000"/>
                </a:schemeClr>
              </a:solidFill>
              <a:ea typeface="华文中宋" panose="02010600040101010101" pitchFamily="2" charset="-122"/>
            </a:endParaRPr>
          </a:p>
        </p:txBody>
      </p:sp>
      <p:sp>
        <p:nvSpPr>
          <p:cNvPr id="18" name="Text Box 6"/>
          <p:cNvSpPr txBox="1">
            <a:spLocks noChangeArrowheads="1"/>
          </p:cNvSpPr>
          <p:nvPr/>
        </p:nvSpPr>
        <p:spPr bwMode="auto">
          <a:xfrm>
            <a:off x="4864100" y="174625"/>
            <a:ext cx="4254500"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sz="3000" dirty="0" smtClean="0">
                <a:solidFill>
                  <a:srgbClr val="CC3300"/>
                </a:solidFill>
                <a:latin typeface="黑体" panose="02010609060101010101" pitchFamily="49" charset="-122"/>
                <a:ea typeface="黑体" panose="02010609060101010101" pitchFamily="49" charset="-122"/>
              </a:rPr>
              <a:t>3.7-2 </a:t>
            </a:r>
            <a:r>
              <a:rPr lang="zh-CN" altLang="en-US" sz="3000" dirty="0">
                <a:solidFill>
                  <a:srgbClr val="CC3300"/>
                </a:solidFill>
                <a:latin typeface="黑体" panose="02010609060101010101" pitchFamily="49" charset="-122"/>
                <a:ea typeface="黑体" panose="02010609060101010101" pitchFamily="49" charset="-122"/>
              </a:rPr>
              <a:t>轴的结构设计</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19"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2" name="文本框 1"/>
          <p:cNvSpPr txBox="1"/>
          <p:nvPr/>
        </p:nvSpPr>
        <p:spPr>
          <a:xfrm>
            <a:off x="7546120" y="5018958"/>
            <a:ext cx="1330859" cy="430887"/>
          </a:xfrm>
          <a:prstGeom prst="rect">
            <a:avLst/>
          </a:prstGeom>
          <a:solidFill>
            <a:srgbClr val="FFFF00"/>
          </a:solidFill>
        </p:spPr>
        <p:txBody>
          <a:bodyPr wrap="square" rtlCol="0">
            <a:spAutoFit/>
          </a:bodyPr>
          <a:lstStyle/>
          <a:p>
            <a:r>
              <a:rPr lang="en-US" altLang="zh-CN" sz="2200" i="1" dirty="0" smtClean="0">
                <a:solidFill>
                  <a:srgbClr val="002060"/>
                </a:solidFill>
              </a:rPr>
              <a:t>b=</a:t>
            </a:r>
            <a:r>
              <a:rPr lang="en-US" altLang="zh-CN" sz="2200" dirty="0" smtClean="0">
                <a:solidFill>
                  <a:srgbClr val="002060"/>
                </a:solidFill>
              </a:rPr>
              <a:t>1.4</a:t>
            </a:r>
            <a:r>
              <a:rPr lang="en-US" altLang="zh-CN" sz="2200" i="1" dirty="0" smtClean="0">
                <a:solidFill>
                  <a:srgbClr val="002060"/>
                </a:solidFill>
              </a:rPr>
              <a:t>h</a:t>
            </a:r>
            <a:endParaRPr lang="zh-CN" altLang="en-US" sz="2200" i="1" dirty="0">
              <a:solidFill>
                <a:srgbClr val="00206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1506"/>
                                        </p:tgtEl>
                                        <p:attrNameLst>
                                          <p:attrName>style.visibility</p:attrName>
                                        </p:attrNameLst>
                                      </p:cBhvr>
                                      <p:to>
                                        <p:strVal val="visible"/>
                                      </p:to>
                                    </p:set>
                                    <p:animEffect transition="in" filter="wipe(left)">
                                      <p:cBhvr>
                                        <p:cTn id="7" dur="500"/>
                                        <p:tgtEl>
                                          <p:spTgt spid="2150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1509"/>
                                        </p:tgtEl>
                                        <p:attrNameLst>
                                          <p:attrName>style.visibility</p:attrName>
                                        </p:attrNameLst>
                                      </p:cBhvr>
                                      <p:to>
                                        <p:strVal val="visible"/>
                                      </p:to>
                                    </p:set>
                                    <p:animEffect transition="in" filter="wipe(left)">
                                      <p:cBhvr>
                                        <p:cTn id="12" dur="500"/>
                                        <p:tgtEl>
                                          <p:spTgt spid="2150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1510"/>
                                        </p:tgtEl>
                                        <p:attrNameLst>
                                          <p:attrName>style.visibility</p:attrName>
                                        </p:attrNameLst>
                                      </p:cBhvr>
                                      <p:to>
                                        <p:strVal val="visible"/>
                                      </p:to>
                                    </p:set>
                                    <p:animEffect transition="in" filter="wipe(left)">
                                      <p:cBhvr>
                                        <p:cTn id="17" dur="500"/>
                                        <p:tgtEl>
                                          <p:spTgt spid="2151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1513"/>
                                        </p:tgtEl>
                                        <p:attrNameLst>
                                          <p:attrName>style.visibility</p:attrName>
                                        </p:attrNameLst>
                                      </p:cBhvr>
                                      <p:to>
                                        <p:strVal val="visible"/>
                                      </p:to>
                                    </p:set>
                                    <p:animEffect transition="in" filter="wipe(left)">
                                      <p:cBhvr>
                                        <p:cTn id="22" dur="500"/>
                                        <p:tgtEl>
                                          <p:spTgt spid="2151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1517"/>
                                        </p:tgtEl>
                                        <p:attrNameLst>
                                          <p:attrName>style.visibility</p:attrName>
                                        </p:attrNameLst>
                                      </p:cBhvr>
                                      <p:to>
                                        <p:strVal val="visible"/>
                                      </p:to>
                                    </p:set>
                                    <p:animEffect transition="in" filter="wipe(left)">
                                      <p:cBhvr>
                                        <p:cTn id="27" dur="500"/>
                                        <p:tgtEl>
                                          <p:spTgt spid="2151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1518"/>
                                        </p:tgtEl>
                                        <p:attrNameLst>
                                          <p:attrName>style.visibility</p:attrName>
                                        </p:attrNameLst>
                                      </p:cBhvr>
                                      <p:to>
                                        <p:strVal val="visible"/>
                                      </p:to>
                                    </p:set>
                                    <p:animEffect transition="in" filter="wipe(left)">
                                      <p:cBhvr>
                                        <p:cTn id="32" dur="500"/>
                                        <p:tgtEl>
                                          <p:spTgt spid="2151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wipe(left)">
                                      <p:cBhvr>
                                        <p:cTn id="37" dur="500"/>
                                        <p:tgtEl>
                                          <p:spTgt spid="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1521"/>
                                        </p:tgtEl>
                                        <p:attrNameLst>
                                          <p:attrName>style.visibility</p:attrName>
                                        </p:attrNameLst>
                                      </p:cBhvr>
                                      <p:to>
                                        <p:strVal val="visible"/>
                                      </p:to>
                                    </p:set>
                                    <p:animEffect transition="in" filter="wipe(left)">
                                      <p:cBhvr>
                                        <p:cTn id="42" dur="500"/>
                                        <p:tgtEl>
                                          <p:spTgt spid="215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9" grpId="0" autoUpdateAnimBg="0"/>
      <p:bldP spid="21517" grpId="0" autoUpdateAnimBg="0"/>
      <p:bldP spid="21521" grpId="0" autoUpdateAnimBg="0"/>
      <p:bldP spid="2" grpId="0" bldLvl="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5780" name="Picture 4" descr="zhoujiegou"/>
          <p:cNvPicPr>
            <a:picLocks noChangeAspect="1" noChangeArrowheads="1"/>
          </p:cNvPicPr>
          <p:nvPr/>
        </p:nvPicPr>
        <p:blipFill>
          <a:blip r:embed="rId1">
            <a:extLst>
              <a:ext uri="{28A0092B-C50C-407E-A947-70E740481C1C}">
                <a14:useLocalDpi xmlns:a14="http://schemas.microsoft.com/office/drawing/2010/main" val="0"/>
              </a:ext>
            </a:extLst>
          </a:blip>
          <a:srcRect l="13190" b="37001"/>
          <a:stretch>
            <a:fillRect/>
          </a:stretch>
        </p:blipFill>
        <p:spPr bwMode="auto">
          <a:xfrm>
            <a:off x="1284288" y="1419225"/>
            <a:ext cx="6530975" cy="4724400"/>
          </a:xfrm>
          <a:prstGeom prst="rect">
            <a:avLst/>
          </a:prstGeom>
          <a:noFill/>
          <a:extLst>
            <a:ext uri="{909E8E84-426E-40DD-AFC4-6F175D3DCCD1}">
              <a14:hiddenFill xmlns:a14="http://schemas.microsoft.com/office/drawing/2010/main">
                <a:solidFill>
                  <a:srgbClr val="FFFFFF"/>
                </a:solidFill>
              </a14:hiddenFill>
            </a:ext>
          </a:extLst>
        </p:spPr>
      </p:pic>
      <p:sp>
        <p:nvSpPr>
          <p:cNvPr id="75781" name="AutoShape 5">
            <a:hlinkClick r:id="" action="ppaction://hlinkshowjump?jump=lastslideviewed" highlightClick="1"/>
          </p:cNvPr>
          <p:cNvSpPr>
            <a:spLocks noChangeArrowheads="1"/>
          </p:cNvSpPr>
          <p:nvPr/>
        </p:nvSpPr>
        <p:spPr bwMode="auto">
          <a:xfrm flipH="1">
            <a:off x="8071485" y="6099810"/>
            <a:ext cx="444500" cy="311150"/>
          </a:xfrm>
          <a:prstGeom prst="actionButtonForwardNext">
            <a:avLst/>
          </a:prstGeom>
          <a:solidFill>
            <a:srgbClr val="FFFFCC"/>
          </a:solidFill>
          <a:ln w="9525">
            <a:solidFill>
              <a:srgbClr val="0066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75782" name="Group 6"/>
          <p:cNvGrpSpPr/>
          <p:nvPr/>
        </p:nvGrpSpPr>
        <p:grpSpPr bwMode="auto">
          <a:xfrm>
            <a:off x="2503488" y="871538"/>
            <a:ext cx="4070350" cy="2417762"/>
            <a:chOff x="1577" y="549"/>
            <a:chExt cx="2564" cy="1523"/>
          </a:xfrm>
        </p:grpSpPr>
        <p:sp>
          <p:nvSpPr>
            <p:cNvPr id="75783" name="Text Box 7"/>
            <p:cNvSpPr txBox="1">
              <a:spLocks noChangeArrowheads="1"/>
            </p:cNvSpPr>
            <p:nvPr/>
          </p:nvSpPr>
          <p:spPr bwMode="auto">
            <a:xfrm>
              <a:off x="2102" y="549"/>
              <a:ext cx="134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kumimoji="1" lang="zh-CN" altLang="en-US" sz="2400" b="1" u="sng">
                  <a:solidFill>
                    <a:srgbClr val="FF0000"/>
                  </a:solidFill>
                  <a:latin typeface="Times New Roman" panose="02020603050405020304" pitchFamily="18" charset="0"/>
                  <a:ea typeface="幼圆" panose="02010509060101010101" pitchFamily="49" charset="-122"/>
                </a:rPr>
                <a:t>定位轴肩</a:t>
              </a:r>
              <a:endParaRPr kumimoji="1" lang="zh-CN" altLang="en-US" sz="2400" b="1" u="sng">
                <a:solidFill>
                  <a:srgbClr val="FF0000"/>
                </a:solidFill>
                <a:latin typeface="Times New Roman" panose="02020603050405020304" pitchFamily="18" charset="0"/>
                <a:ea typeface="幼圆" panose="02010509060101010101" pitchFamily="49" charset="-122"/>
              </a:endParaRPr>
            </a:p>
          </p:txBody>
        </p:sp>
        <p:sp>
          <p:nvSpPr>
            <p:cNvPr id="75784" name="Line 8"/>
            <p:cNvSpPr>
              <a:spLocks noChangeShapeType="1"/>
            </p:cNvSpPr>
            <p:nvPr/>
          </p:nvSpPr>
          <p:spPr bwMode="auto">
            <a:xfrm flipH="1">
              <a:off x="1774" y="796"/>
              <a:ext cx="905" cy="941"/>
            </a:xfrm>
            <a:prstGeom prst="line">
              <a:avLst/>
            </a:prstGeom>
            <a:noFill/>
            <a:ln w="19050">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785" name="Line 9"/>
            <p:cNvSpPr>
              <a:spLocks noChangeShapeType="1"/>
            </p:cNvSpPr>
            <p:nvPr/>
          </p:nvSpPr>
          <p:spPr bwMode="auto">
            <a:xfrm flipH="1">
              <a:off x="2103" y="796"/>
              <a:ext cx="585" cy="959"/>
            </a:xfrm>
            <a:prstGeom prst="line">
              <a:avLst/>
            </a:prstGeom>
            <a:noFill/>
            <a:ln w="19050">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786" name="Line 10"/>
            <p:cNvSpPr>
              <a:spLocks noChangeShapeType="1"/>
            </p:cNvSpPr>
            <p:nvPr/>
          </p:nvSpPr>
          <p:spPr bwMode="auto">
            <a:xfrm>
              <a:off x="2679" y="805"/>
              <a:ext cx="1198" cy="1014"/>
            </a:xfrm>
            <a:prstGeom prst="line">
              <a:avLst/>
            </a:prstGeom>
            <a:noFill/>
            <a:ln w="19050">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787" name="Text Box 11"/>
            <p:cNvSpPr txBox="1">
              <a:spLocks noChangeArrowheads="1"/>
            </p:cNvSpPr>
            <p:nvPr/>
          </p:nvSpPr>
          <p:spPr bwMode="auto">
            <a:xfrm>
              <a:off x="3749" y="1784"/>
              <a:ext cx="39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400" b="1">
                  <a:solidFill>
                    <a:srgbClr val="FF0000"/>
                  </a:solidFill>
                  <a:latin typeface="Times New Roman" panose="02020603050405020304" pitchFamily="18" charset="0"/>
                  <a:ea typeface="幼圆" panose="02010509060101010101" pitchFamily="49" charset="-122"/>
                </a:rPr>
                <a:t>②</a:t>
              </a:r>
              <a:endParaRPr kumimoji="1" lang="en-US" altLang="zh-CN" sz="2400" b="1">
                <a:solidFill>
                  <a:srgbClr val="FF0000"/>
                </a:solidFill>
                <a:latin typeface="Times New Roman" panose="02020603050405020304" pitchFamily="18" charset="0"/>
                <a:ea typeface="幼圆" panose="02010509060101010101" pitchFamily="49" charset="-122"/>
              </a:endParaRPr>
            </a:p>
          </p:txBody>
        </p:sp>
        <p:sp>
          <p:nvSpPr>
            <p:cNvPr id="75788" name="Text Box 12"/>
            <p:cNvSpPr txBox="1">
              <a:spLocks noChangeArrowheads="1"/>
            </p:cNvSpPr>
            <p:nvPr/>
          </p:nvSpPr>
          <p:spPr bwMode="auto">
            <a:xfrm>
              <a:off x="1869" y="1687"/>
              <a:ext cx="39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400" b="1">
                  <a:solidFill>
                    <a:srgbClr val="FF0000"/>
                  </a:solidFill>
                  <a:latin typeface="Times New Roman" panose="02020603050405020304" pitchFamily="18" charset="0"/>
                  <a:ea typeface="幼圆" panose="02010509060101010101" pitchFamily="49" charset="-122"/>
                </a:rPr>
                <a:t>②</a:t>
              </a:r>
              <a:endParaRPr kumimoji="1" lang="en-US" altLang="zh-CN" sz="2400" b="1">
                <a:solidFill>
                  <a:srgbClr val="FF0000"/>
                </a:solidFill>
                <a:latin typeface="Times New Roman" panose="02020603050405020304" pitchFamily="18" charset="0"/>
                <a:ea typeface="幼圆" panose="02010509060101010101" pitchFamily="49" charset="-122"/>
              </a:endParaRPr>
            </a:p>
          </p:txBody>
        </p:sp>
        <p:sp>
          <p:nvSpPr>
            <p:cNvPr id="75789" name="Text Box 13"/>
            <p:cNvSpPr txBox="1">
              <a:spLocks noChangeArrowheads="1"/>
            </p:cNvSpPr>
            <p:nvPr/>
          </p:nvSpPr>
          <p:spPr bwMode="auto">
            <a:xfrm>
              <a:off x="1577" y="1716"/>
              <a:ext cx="39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400" b="1">
                  <a:solidFill>
                    <a:srgbClr val="FF0000"/>
                  </a:solidFill>
                  <a:latin typeface="Times New Roman" panose="02020603050405020304" pitchFamily="18" charset="0"/>
                  <a:ea typeface="幼圆" panose="02010509060101010101" pitchFamily="49" charset="-122"/>
                </a:rPr>
                <a:t>②</a:t>
              </a:r>
              <a:endParaRPr kumimoji="1" lang="en-US" altLang="zh-CN" sz="2400" b="1">
                <a:solidFill>
                  <a:srgbClr val="FF0000"/>
                </a:solidFill>
                <a:latin typeface="Times New Roman" panose="02020603050405020304" pitchFamily="18" charset="0"/>
                <a:ea typeface="幼圆" panose="02010509060101010101" pitchFamily="49" charset="-122"/>
              </a:endParaRPr>
            </a:p>
          </p:txBody>
        </p:sp>
      </p:grpSp>
      <p:grpSp>
        <p:nvGrpSpPr>
          <p:cNvPr id="75790" name="Group 14"/>
          <p:cNvGrpSpPr/>
          <p:nvPr/>
        </p:nvGrpSpPr>
        <p:grpSpPr bwMode="auto">
          <a:xfrm>
            <a:off x="2668588" y="4035425"/>
            <a:ext cx="2962275" cy="2074863"/>
            <a:chOff x="1681" y="2542"/>
            <a:chExt cx="1866" cy="1307"/>
          </a:xfrm>
        </p:grpSpPr>
        <p:sp>
          <p:nvSpPr>
            <p:cNvPr id="75791" name="Line 15"/>
            <p:cNvSpPr>
              <a:spLocks noChangeShapeType="1"/>
            </p:cNvSpPr>
            <p:nvPr/>
          </p:nvSpPr>
          <p:spPr bwMode="auto">
            <a:xfrm flipH="1" flipV="1">
              <a:off x="2633" y="2825"/>
              <a:ext cx="192" cy="786"/>
            </a:xfrm>
            <a:prstGeom prst="line">
              <a:avLst/>
            </a:prstGeom>
            <a:noFill/>
            <a:ln w="19050">
              <a:solidFill>
                <a:srgbClr val="660066"/>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792" name="Line 16"/>
            <p:cNvSpPr>
              <a:spLocks noChangeShapeType="1"/>
            </p:cNvSpPr>
            <p:nvPr/>
          </p:nvSpPr>
          <p:spPr bwMode="auto">
            <a:xfrm flipV="1">
              <a:off x="2816" y="2789"/>
              <a:ext cx="448" cy="822"/>
            </a:xfrm>
            <a:prstGeom prst="line">
              <a:avLst/>
            </a:prstGeom>
            <a:noFill/>
            <a:ln w="19050">
              <a:solidFill>
                <a:srgbClr val="660066"/>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793" name="Line 17"/>
            <p:cNvSpPr>
              <a:spLocks noChangeShapeType="1"/>
            </p:cNvSpPr>
            <p:nvPr/>
          </p:nvSpPr>
          <p:spPr bwMode="auto">
            <a:xfrm flipH="1" flipV="1">
              <a:off x="1938" y="2871"/>
              <a:ext cx="878" cy="731"/>
            </a:xfrm>
            <a:prstGeom prst="line">
              <a:avLst/>
            </a:prstGeom>
            <a:noFill/>
            <a:ln w="19050">
              <a:solidFill>
                <a:srgbClr val="660066"/>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794" name="Text Box 18"/>
            <p:cNvSpPr txBox="1">
              <a:spLocks noChangeArrowheads="1"/>
            </p:cNvSpPr>
            <p:nvPr/>
          </p:nvSpPr>
          <p:spPr bwMode="auto">
            <a:xfrm>
              <a:off x="2133" y="3561"/>
              <a:ext cx="134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kumimoji="1" lang="zh-CN" altLang="en-US" sz="2400" b="1" u="sng">
                  <a:solidFill>
                    <a:srgbClr val="660066"/>
                  </a:solidFill>
                  <a:latin typeface="Times New Roman" panose="02020603050405020304" pitchFamily="18" charset="0"/>
                  <a:ea typeface="幼圆" panose="02010509060101010101" pitchFamily="49" charset="-122"/>
                </a:rPr>
                <a:t>非定位轴肩</a:t>
              </a:r>
              <a:endParaRPr kumimoji="1" lang="zh-CN" altLang="en-US" sz="2400" b="1" u="sng">
                <a:solidFill>
                  <a:srgbClr val="660066"/>
                </a:solidFill>
                <a:latin typeface="Times New Roman" panose="02020603050405020304" pitchFamily="18" charset="0"/>
                <a:ea typeface="幼圆" panose="02010509060101010101" pitchFamily="49" charset="-122"/>
              </a:endParaRPr>
            </a:p>
          </p:txBody>
        </p:sp>
        <p:sp>
          <p:nvSpPr>
            <p:cNvPr id="75795" name="Text Box 19"/>
            <p:cNvSpPr txBox="1">
              <a:spLocks noChangeArrowheads="1"/>
            </p:cNvSpPr>
            <p:nvPr/>
          </p:nvSpPr>
          <p:spPr bwMode="auto">
            <a:xfrm>
              <a:off x="3118" y="2542"/>
              <a:ext cx="42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400" b="1">
                  <a:solidFill>
                    <a:srgbClr val="660066"/>
                  </a:solidFill>
                  <a:latin typeface="Times New Roman" panose="02020603050405020304" pitchFamily="18" charset="0"/>
                  <a:ea typeface="幼圆" panose="02010509060101010101" pitchFamily="49" charset="-122"/>
                </a:rPr>
                <a:t>③</a:t>
              </a:r>
              <a:endParaRPr kumimoji="1" lang="en-US" altLang="zh-CN" sz="2400" b="1">
                <a:solidFill>
                  <a:srgbClr val="660066"/>
                </a:solidFill>
                <a:latin typeface="Times New Roman" panose="02020603050405020304" pitchFamily="18" charset="0"/>
                <a:ea typeface="幼圆" panose="02010509060101010101" pitchFamily="49" charset="-122"/>
              </a:endParaRPr>
            </a:p>
          </p:txBody>
        </p:sp>
        <p:sp>
          <p:nvSpPr>
            <p:cNvPr id="75796" name="Text Box 20"/>
            <p:cNvSpPr txBox="1">
              <a:spLocks noChangeArrowheads="1"/>
            </p:cNvSpPr>
            <p:nvPr/>
          </p:nvSpPr>
          <p:spPr bwMode="auto">
            <a:xfrm>
              <a:off x="2455" y="2564"/>
              <a:ext cx="42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400" b="1">
                  <a:solidFill>
                    <a:srgbClr val="660066"/>
                  </a:solidFill>
                  <a:latin typeface="Times New Roman" panose="02020603050405020304" pitchFamily="18" charset="0"/>
                  <a:ea typeface="幼圆" panose="02010509060101010101" pitchFamily="49" charset="-122"/>
                </a:rPr>
                <a:t>③</a:t>
              </a:r>
              <a:endParaRPr kumimoji="1" lang="en-US" altLang="zh-CN" sz="2400" b="1">
                <a:solidFill>
                  <a:srgbClr val="660066"/>
                </a:solidFill>
                <a:latin typeface="Times New Roman" panose="02020603050405020304" pitchFamily="18" charset="0"/>
                <a:ea typeface="幼圆" panose="02010509060101010101" pitchFamily="49" charset="-122"/>
              </a:endParaRPr>
            </a:p>
          </p:txBody>
        </p:sp>
        <p:sp>
          <p:nvSpPr>
            <p:cNvPr id="75797" name="Text Box 21"/>
            <p:cNvSpPr txBox="1">
              <a:spLocks noChangeArrowheads="1"/>
            </p:cNvSpPr>
            <p:nvPr/>
          </p:nvSpPr>
          <p:spPr bwMode="auto">
            <a:xfrm>
              <a:off x="1681" y="2622"/>
              <a:ext cx="42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400" b="1">
                  <a:solidFill>
                    <a:srgbClr val="660066"/>
                  </a:solidFill>
                  <a:latin typeface="Times New Roman" panose="02020603050405020304" pitchFamily="18" charset="0"/>
                  <a:ea typeface="幼圆" panose="02010509060101010101" pitchFamily="49" charset="-122"/>
                </a:rPr>
                <a:t>③</a:t>
              </a:r>
              <a:endParaRPr kumimoji="1" lang="en-US" altLang="zh-CN" sz="2400" b="1">
                <a:solidFill>
                  <a:srgbClr val="660066"/>
                </a:solidFill>
                <a:latin typeface="Times New Roman" panose="02020603050405020304" pitchFamily="18" charset="0"/>
                <a:ea typeface="幼圆" panose="02010509060101010101" pitchFamily="49" charset="-122"/>
              </a:endParaRPr>
            </a:p>
          </p:txBody>
        </p:sp>
      </p:grpSp>
      <p:grpSp>
        <p:nvGrpSpPr>
          <p:cNvPr id="75798" name="Group 22"/>
          <p:cNvGrpSpPr/>
          <p:nvPr/>
        </p:nvGrpSpPr>
        <p:grpSpPr bwMode="auto">
          <a:xfrm>
            <a:off x="3171825" y="955675"/>
            <a:ext cx="4476750" cy="2444750"/>
            <a:chOff x="1998" y="584"/>
            <a:chExt cx="2820" cy="1540"/>
          </a:xfrm>
        </p:grpSpPr>
        <p:grpSp>
          <p:nvGrpSpPr>
            <p:cNvPr id="75799" name="Group 23"/>
            <p:cNvGrpSpPr/>
            <p:nvPr/>
          </p:nvGrpSpPr>
          <p:grpSpPr bwMode="auto">
            <a:xfrm>
              <a:off x="2496" y="584"/>
              <a:ext cx="2322" cy="1423"/>
              <a:chOff x="2496" y="584"/>
              <a:chExt cx="2322" cy="1423"/>
            </a:xfrm>
          </p:grpSpPr>
          <p:sp>
            <p:nvSpPr>
              <p:cNvPr id="75800" name="Text Box 24"/>
              <p:cNvSpPr txBox="1">
                <a:spLocks noChangeArrowheads="1"/>
              </p:cNvSpPr>
              <p:nvPr/>
            </p:nvSpPr>
            <p:spPr bwMode="auto">
              <a:xfrm>
                <a:off x="2496" y="1719"/>
                <a:ext cx="36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400" b="1">
                    <a:latin typeface="Times New Roman" panose="02020603050405020304" pitchFamily="18" charset="0"/>
                    <a:ea typeface="幼圆" panose="02010509060101010101" pitchFamily="49" charset="-122"/>
                  </a:rPr>
                  <a:t>①</a:t>
                </a:r>
                <a:endParaRPr kumimoji="1" lang="en-US" altLang="zh-CN" sz="2400" b="1">
                  <a:latin typeface="Times New Roman" panose="02020603050405020304" pitchFamily="18" charset="0"/>
                  <a:ea typeface="幼圆" panose="02010509060101010101" pitchFamily="49" charset="-122"/>
                </a:endParaRPr>
              </a:p>
            </p:txBody>
          </p:sp>
          <p:sp>
            <p:nvSpPr>
              <p:cNvPr id="75801" name="Line 25"/>
              <p:cNvSpPr>
                <a:spLocks noChangeShapeType="1"/>
              </p:cNvSpPr>
              <p:nvPr/>
            </p:nvSpPr>
            <p:spPr bwMode="auto">
              <a:xfrm flipV="1">
                <a:off x="2734" y="804"/>
                <a:ext cx="896" cy="103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02" name="Text Box 26"/>
              <p:cNvSpPr txBox="1">
                <a:spLocks noChangeArrowheads="1"/>
              </p:cNvSpPr>
              <p:nvPr/>
            </p:nvSpPr>
            <p:spPr bwMode="auto">
              <a:xfrm>
                <a:off x="3557" y="584"/>
                <a:ext cx="126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2400" b="1" u="sng">
                    <a:latin typeface="Times New Roman" panose="02020603050405020304" pitchFamily="18" charset="0"/>
                    <a:ea typeface="幼圆" panose="02010509060101010101" pitchFamily="49" charset="-122"/>
                  </a:rPr>
                  <a:t>防止过定位</a:t>
                </a:r>
                <a:endParaRPr kumimoji="1" lang="zh-CN" altLang="en-US" sz="2400" b="1" u="sng">
                  <a:latin typeface="Times New Roman" panose="02020603050405020304" pitchFamily="18" charset="0"/>
                  <a:ea typeface="幼圆" panose="02010509060101010101" pitchFamily="49" charset="-122"/>
                </a:endParaRPr>
              </a:p>
            </p:txBody>
          </p:sp>
        </p:grpSp>
        <p:grpSp>
          <p:nvGrpSpPr>
            <p:cNvPr id="75803" name="Group 27"/>
            <p:cNvGrpSpPr/>
            <p:nvPr/>
          </p:nvGrpSpPr>
          <p:grpSpPr bwMode="auto">
            <a:xfrm>
              <a:off x="1998" y="1037"/>
              <a:ext cx="711" cy="1087"/>
              <a:chOff x="1998" y="1037"/>
              <a:chExt cx="711" cy="1087"/>
            </a:xfrm>
          </p:grpSpPr>
          <p:sp>
            <p:nvSpPr>
              <p:cNvPr id="75804" name="Line 28"/>
              <p:cNvSpPr>
                <a:spLocks noChangeShapeType="1"/>
              </p:cNvSpPr>
              <p:nvPr/>
            </p:nvSpPr>
            <p:spPr bwMode="auto">
              <a:xfrm>
                <a:off x="2007" y="1266"/>
                <a:ext cx="702" cy="0"/>
              </a:xfrm>
              <a:prstGeom prst="line">
                <a:avLst/>
              </a:prstGeom>
              <a:noFill/>
              <a:ln w="19050">
                <a:solidFill>
                  <a:srgbClr val="0066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05" name="Line 29"/>
              <p:cNvSpPr>
                <a:spLocks noChangeShapeType="1"/>
              </p:cNvSpPr>
              <p:nvPr/>
            </p:nvSpPr>
            <p:spPr bwMode="auto">
              <a:xfrm>
                <a:off x="1998" y="2061"/>
                <a:ext cx="669" cy="0"/>
              </a:xfrm>
              <a:prstGeom prst="line">
                <a:avLst/>
              </a:prstGeom>
              <a:noFill/>
              <a:ln w="1905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06" name="Text Box 30"/>
              <p:cNvSpPr txBox="1">
                <a:spLocks noChangeArrowheads="1"/>
              </p:cNvSpPr>
              <p:nvPr/>
            </p:nvSpPr>
            <p:spPr bwMode="auto">
              <a:xfrm>
                <a:off x="2238" y="1836"/>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400" b="1" i="1">
                    <a:latin typeface="Times New Roman" panose="02020603050405020304" pitchFamily="18" charset="0"/>
                    <a:ea typeface="Arial Unicode MS" panose="020B0604020202020204" charset="-122"/>
                    <a:cs typeface="Arial Unicode MS" panose="020B0604020202020204" charset="-122"/>
                  </a:rPr>
                  <a:t>l</a:t>
                </a:r>
                <a:endParaRPr kumimoji="1" lang="en-US" altLang="zh-CN" sz="2400" b="1" i="1">
                  <a:latin typeface="Times New Roman" panose="02020603050405020304" pitchFamily="18" charset="0"/>
                  <a:ea typeface="Arial Unicode MS" panose="020B0604020202020204" charset="-122"/>
                  <a:cs typeface="Arial Unicode MS" panose="020B0604020202020204" charset="-122"/>
                </a:endParaRPr>
              </a:p>
            </p:txBody>
          </p:sp>
          <p:sp>
            <p:nvSpPr>
              <p:cNvPr id="75807" name="Text Box 31"/>
              <p:cNvSpPr txBox="1">
                <a:spLocks noChangeArrowheads="1"/>
              </p:cNvSpPr>
              <p:nvPr/>
            </p:nvSpPr>
            <p:spPr bwMode="auto">
              <a:xfrm>
                <a:off x="2255" y="1037"/>
                <a:ext cx="2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000" b="1" i="1">
                    <a:solidFill>
                      <a:srgbClr val="006600"/>
                    </a:solidFill>
                    <a:latin typeface="Times New Roman" panose="02020603050405020304" pitchFamily="18" charset="0"/>
                    <a:ea typeface="Arial Unicode MS" panose="020B0604020202020204" charset="-122"/>
                    <a:cs typeface="Arial Unicode MS" panose="020B0604020202020204" charset="-122"/>
                  </a:rPr>
                  <a:t>B</a:t>
                </a:r>
                <a:endParaRPr kumimoji="1" lang="en-US" altLang="zh-CN" sz="2000" b="1" i="1">
                  <a:solidFill>
                    <a:srgbClr val="006600"/>
                  </a:solidFill>
                  <a:latin typeface="Times New Roman" panose="02020603050405020304" pitchFamily="18" charset="0"/>
                  <a:ea typeface="Arial Unicode MS" panose="020B0604020202020204" charset="-122"/>
                  <a:cs typeface="Arial Unicode MS" panose="020B0604020202020204" charset="-122"/>
                </a:endParaRPr>
              </a:p>
            </p:txBody>
          </p:sp>
          <p:sp>
            <p:nvSpPr>
              <p:cNvPr id="75808" name="Line 32"/>
              <p:cNvSpPr>
                <a:spLocks noChangeShapeType="1"/>
              </p:cNvSpPr>
              <p:nvPr/>
            </p:nvSpPr>
            <p:spPr bwMode="auto">
              <a:xfrm flipV="1">
                <a:off x="2002" y="1153"/>
                <a:ext cx="0" cy="23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09" name="Line 33"/>
              <p:cNvSpPr>
                <a:spLocks noChangeShapeType="1"/>
              </p:cNvSpPr>
              <p:nvPr/>
            </p:nvSpPr>
            <p:spPr bwMode="auto">
              <a:xfrm flipV="1">
                <a:off x="2706" y="1153"/>
                <a:ext cx="0" cy="25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33" name="Text Box 6"/>
          <p:cNvSpPr txBox="1">
            <a:spLocks noChangeArrowheads="1"/>
          </p:cNvSpPr>
          <p:nvPr/>
        </p:nvSpPr>
        <p:spPr bwMode="auto">
          <a:xfrm>
            <a:off x="4864100" y="174625"/>
            <a:ext cx="4254500"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sz="3000" dirty="0" smtClean="0">
                <a:solidFill>
                  <a:srgbClr val="CC3300"/>
                </a:solidFill>
                <a:latin typeface="黑体" panose="02010609060101010101" pitchFamily="49" charset="-122"/>
                <a:ea typeface="黑体" panose="02010609060101010101" pitchFamily="49" charset="-122"/>
              </a:rPr>
              <a:t>3.7-2 </a:t>
            </a:r>
            <a:r>
              <a:rPr lang="zh-CN" altLang="en-US" sz="3000" dirty="0">
                <a:solidFill>
                  <a:srgbClr val="CC3300"/>
                </a:solidFill>
                <a:latin typeface="黑体" panose="02010609060101010101" pitchFamily="49" charset="-122"/>
                <a:ea typeface="黑体" panose="02010609060101010101" pitchFamily="49" charset="-122"/>
              </a:rPr>
              <a:t>轴的结构设计</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34"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5798"/>
                                        </p:tgtEl>
                                        <p:attrNameLst>
                                          <p:attrName>style.visibility</p:attrName>
                                        </p:attrNameLst>
                                      </p:cBhvr>
                                      <p:to>
                                        <p:strVal val="visible"/>
                                      </p:to>
                                    </p:set>
                                    <p:animEffect transition="in" filter="wipe(down)">
                                      <p:cBhvr>
                                        <p:cTn id="7" dur="500"/>
                                        <p:tgtEl>
                                          <p:spTgt spid="7579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xit" presetSubtype="2" fill="hold" nodeType="clickEffect">
                                  <p:stCondLst>
                                    <p:cond delay="0"/>
                                  </p:stCondLst>
                                  <p:childTnLst>
                                    <p:anim calcmode="lin" valueType="num">
                                      <p:cBhvr additive="base">
                                        <p:cTn id="11" dur="500"/>
                                        <p:tgtEl>
                                          <p:spTgt spid="75798"/>
                                        </p:tgtEl>
                                        <p:attrNameLst>
                                          <p:attrName>ppt_x</p:attrName>
                                        </p:attrNameLst>
                                      </p:cBhvr>
                                      <p:tavLst>
                                        <p:tav tm="0">
                                          <p:val>
                                            <p:strVal val="ppt_x"/>
                                          </p:val>
                                        </p:tav>
                                        <p:tav tm="100000">
                                          <p:val>
                                            <p:strVal val="1+ppt_w/2"/>
                                          </p:val>
                                        </p:tav>
                                      </p:tavLst>
                                    </p:anim>
                                    <p:anim calcmode="lin" valueType="num">
                                      <p:cBhvr additive="base">
                                        <p:cTn id="12" dur="500"/>
                                        <p:tgtEl>
                                          <p:spTgt spid="75798"/>
                                        </p:tgtEl>
                                        <p:attrNameLst>
                                          <p:attrName>ppt_y</p:attrName>
                                        </p:attrNameLst>
                                      </p:cBhvr>
                                      <p:tavLst>
                                        <p:tav tm="0">
                                          <p:val>
                                            <p:strVal val="ppt_y"/>
                                          </p:val>
                                        </p:tav>
                                        <p:tav tm="100000">
                                          <p:val>
                                            <p:strVal val="ppt_y"/>
                                          </p:val>
                                        </p:tav>
                                      </p:tavLst>
                                    </p:anim>
                                    <p:set>
                                      <p:cBhvr>
                                        <p:cTn id="13" dur="1" fill="hold">
                                          <p:stCondLst>
                                            <p:cond delay="499"/>
                                          </p:stCondLst>
                                        </p:cTn>
                                        <p:tgtEl>
                                          <p:spTgt spid="75798"/>
                                        </p:tgtEl>
                                        <p:attrNameLst>
                                          <p:attrName>style.visibility</p:attrName>
                                        </p:attrNameLst>
                                      </p:cBhvr>
                                      <p:to>
                                        <p:strVal val="hidden"/>
                                      </p:to>
                                    </p:se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nodeType="clickEffect">
                                  <p:stCondLst>
                                    <p:cond delay="0"/>
                                  </p:stCondLst>
                                  <p:childTnLst>
                                    <p:set>
                                      <p:cBhvr>
                                        <p:cTn id="17" dur="1" fill="hold">
                                          <p:stCondLst>
                                            <p:cond delay="0"/>
                                          </p:stCondLst>
                                        </p:cTn>
                                        <p:tgtEl>
                                          <p:spTgt spid="75782"/>
                                        </p:tgtEl>
                                        <p:attrNameLst>
                                          <p:attrName>style.visibility</p:attrName>
                                        </p:attrNameLst>
                                      </p:cBhvr>
                                      <p:to>
                                        <p:strVal val="visible"/>
                                      </p:to>
                                    </p:set>
                                    <p:animEffect transition="in" filter="wipe(up)">
                                      <p:cBhvr>
                                        <p:cTn id="18" dur="500"/>
                                        <p:tgtEl>
                                          <p:spTgt spid="75782"/>
                                        </p:tgtEl>
                                      </p:cBhvr>
                                    </p:animEffect>
                                  </p:childTnLst>
                                </p:cTn>
                              </p:par>
                            </p:childTnLst>
                          </p:cTn>
                        </p:par>
                      </p:childTnLst>
                    </p:cTn>
                  </p:par>
                  <p:par>
                    <p:cTn id="19" fill="hold">
                      <p:stCondLst>
                        <p:cond delay="indefinite"/>
                      </p:stCondLst>
                      <p:childTnLst>
                        <p:par>
                          <p:cTn id="20" fill="hold">
                            <p:stCondLst>
                              <p:cond delay="0"/>
                            </p:stCondLst>
                            <p:childTnLst>
                              <p:par>
                                <p:cTn id="21" presetID="26" presetClass="emph" presetSubtype="0" fill="hold" nodeType="clickEffect">
                                  <p:stCondLst>
                                    <p:cond delay="0"/>
                                  </p:stCondLst>
                                  <p:childTnLst>
                                    <p:animEffect transition="out" filter="fade">
                                      <p:cBhvr>
                                        <p:cTn id="22" dur="1000" tmFilter="0, 0; .2, .5; .8, .5; 1, 0"/>
                                        <p:tgtEl>
                                          <p:spTgt spid="75782"/>
                                        </p:tgtEl>
                                      </p:cBhvr>
                                    </p:animEffect>
                                    <p:animScale>
                                      <p:cBhvr>
                                        <p:cTn id="23" dur="500" autoRev="1" fill="hold"/>
                                        <p:tgtEl>
                                          <p:spTgt spid="75782"/>
                                        </p:tgtEl>
                                      </p:cBhvr>
                                      <p:by x="105000" y="105000"/>
                                    </p:animScale>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nodeType="clickEffect">
                                  <p:stCondLst>
                                    <p:cond delay="0"/>
                                  </p:stCondLst>
                                  <p:childTnLst>
                                    <p:set>
                                      <p:cBhvr>
                                        <p:cTn id="27" dur="1" fill="hold">
                                          <p:stCondLst>
                                            <p:cond delay="0"/>
                                          </p:stCondLst>
                                        </p:cTn>
                                        <p:tgtEl>
                                          <p:spTgt spid="75790"/>
                                        </p:tgtEl>
                                        <p:attrNameLst>
                                          <p:attrName>style.visibility</p:attrName>
                                        </p:attrNameLst>
                                      </p:cBhvr>
                                      <p:to>
                                        <p:strVal val="visible"/>
                                      </p:to>
                                    </p:set>
                                    <p:animEffect transition="in" filter="wipe(down)">
                                      <p:cBhvr>
                                        <p:cTn id="28" dur="500"/>
                                        <p:tgtEl>
                                          <p:spTgt spid="75790"/>
                                        </p:tgtEl>
                                      </p:cBhvr>
                                    </p:animEffect>
                                  </p:childTnLst>
                                </p:cTn>
                              </p:par>
                            </p:childTnLst>
                          </p:cTn>
                        </p:par>
                      </p:childTnLst>
                    </p:cTn>
                  </p:par>
                  <p:par>
                    <p:cTn id="29" fill="hold">
                      <p:stCondLst>
                        <p:cond delay="indefinite"/>
                      </p:stCondLst>
                      <p:childTnLst>
                        <p:par>
                          <p:cTn id="30" fill="hold">
                            <p:stCondLst>
                              <p:cond delay="0"/>
                            </p:stCondLst>
                            <p:childTnLst>
                              <p:par>
                                <p:cTn id="31" presetID="26" presetClass="emph" presetSubtype="0" fill="hold" nodeType="clickEffect">
                                  <p:stCondLst>
                                    <p:cond delay="0"/>
                                  </p:stCondLst>
                                  <p:childTnLst>
                                    <p:animEffect transition="out" filter="fade">
                                      <p:cBhvr>
                                        <p:cTn id="32" dur="1000" tmFilter="0, 0; .2, .5; .8, .5; 1, 0"/>
                                        <p:tgtEl>
                                          <p:spTgt spid="75790"/>
                                        </p:tgtEl>
                                      </p:cBhvr>
                                    </p:animEffect>
                                    <p:animScale>
                                      <p:cBhvr>
                                        <p:cTn id="33" dur="500" autoRev="1" fill="hold"/>
                                        <p:tgtEl>
                                          <p:spTgt spid="75790"/>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 Box 2"/>
          <p:cNvSpPr txBox="1">
            <a:spLocks noChangeArrowheads="1"/>
          </p:cNvSpPr>
          <p:nvPr/>
        </p:nvSpPr>
        <p:spPr bwMode="auto">
          <a:xfrm>
            <a:off x="132737" y="929552"/>
            <a:ext cx="5835650"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2200" dirty="0">
                <a:solidFill>
                  <a:srgbClr val="C00000"/>
                </a:solidFill>
                <a:latin typeface="黑体" panose="02010609060101010101" pitchFamily="49" charset="-122"/>
                <a:ea typeface="黑体" panose="02010609060101010101" pitchFamily="49" charset="-122"/>
              </a:rPr>
              <a:t>（</a:t>
            </a:r>
            <a:r>
              <a:rPr kumimoji="1" lang="en-US" altLang="zh-CN" sz="2200" b="1" dirty="0">
                <a:solidFill>
                  <a:srgbClr val="C00000"/>
                </a:solidFill>
                <a:latin typeface="黑体" panose="02010609060101010101" pitchFamily="49" charset="-122"/>
                <a:ea typeface="黑体" panose="02010609060101010101" pitchFamily="49" charset="-122"/>
              </a:rPr>
              <a:t>2</a:t>
            </a:r>
            <a:r>
              <a:rPr kumimoji="1" lang="zh-CN" altLang="en-US" sz="2200" b="1" dirty="0">
                <a:solidFill>
                  <a:srgbClr val="C00000"/>
                </a:solidFill>
                <a:latin typeface="黑体" panose="02010609060101010101" pitchFamily="49" charset="-122"/>
                <a:ea typeface="黑体" panose="02010609060101010101" pitchFamily="49" charset="-122"/>
              </a:rPr>
              <a:t>）周向固定</a:t>
            </a:r>
            <a:r>
              <a:rPr kumimoji="1" lang="en-US" altLang="zh-CN" sz="2200" dirty="0">
                <a:solidFill>
                  <a:srgbClr val="C00000"/>
                </a:solidFill>
                <a:latin typeface="黑体" panose="02010609060101010101" pitchFamily="49" charset="-122"/>
                <a:ea typeface="黑体" panose="02010609060101010101" pitchFamily="49" charset="-122"/>
              </a:rPr>
              <a:t>—— </a:t>
            </a:r>
            <a:r>
              <a:rPr kumimoji="1" lang="zh-CN" altLang="en-US" sz="2200" dirty="0">
                <a:solidFill>
                  <a:srgbClr val="C00000"/>
                </a:solidFill>
                <a:latin typeface="黑体" panose="02010609060101010101" pitchFamily="49" charset="-122"/>
                <a:ea typeface="黑体" panose="02010609060101010101" pitchFamily="49" charset="-122"/>
              </a:rPr>
              <a:t>轴毂联接</a:t>
            </a:r>
            <a:endParaRPr kumimoji="1" lang="zh-CN" altLang="en-US" sz="2200" dirty="0">
              <a:solidFill>
                <a:srgbClr val="C00000"/>
              </a:solidFill>
              <a:latin typeface="黑体" panose="02010609060101010101" pitchFamily="49" charset="-122"/>
              <a:ea typeface="黑体" panose="02010609060101010101" pitchFamily="49" charset="-122"/>
            </a:endParaRPr>
          </a:p>
        </p:txBody>
      </p:sp>
      <p:grpSp>
        <p:nvGrpSpPr>
          <p:cNvPr id="22531" name="Group 3"/>
          <p:cNvGrpSpPr/>
          <p:nvPr/>
        </p:nvGrpSpPr>
        <p:grpSpPr bwMode="auto">
          <a:xfrm>
            <a:off x="979960" y="1427084"/>
            <a:ext cx="1976437" cy="2325688"/>
            <a:chOff x="623" y="752"/>
            <a:chExt cx="1245" cy="1465"/>
          </a:xfrm>
        </p:grpSpPr>
        <p:pic>
          <p:nvPicPr>
            <p:cNvPr id="22532"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23" y="752"/>
              <a:ext cx="1213" cy="1200"/>
            </a:xfrm>
            <a:prstGeom prst="rect">
              <a:avLst/>
            </a:prstGeom>
            <a:noFill/>
            <a:extLst>
              <a:ext uri="{909E8E84-426E-40DD-AFC4-6F175D3DCCD1}">
                <a14:hiddenFill xmlns:a14="http://schemas.microsoft.com/office/drawing/2010/main">
                  <a:solidFill>
                    <a:srgbClr val="FFFFFF"/>
                  </a:solidFill>
                </a14:hiddenFill>
              </a:ext>
            </a:extLst>
          </p:spPr>
        </p:pic>
        <p:sp>
          <p:nvSpPr>
            <p:cNvPr id="22533" name="Rectangle 5"/>
            <p:cNvSpPr>
              <a:spLocks noChangeArrowheads="1"/>
            </p:cNvSpPr>
            <p:nvPr/>
          </p:nvSpPr>
          <p:spPr bwMode="auto">
            <a:xfrm>
              <a:off x="872" y="1946"/>
              <a:ext cx="996" cy="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200" dirty="0">
                  <a:solidFill>
                    <a:srgbClr val="002060"/>
                  </a:solidFill>
                  <a:ea typeface="黑体" panose="02010609060101010101" pitchFamily="49" charset="-122"/>
                </a:rPr>
                <a:t>键联接</a:t>
              </a:r>
              <a:endParaRPr lang="zh-CN" altLang="en-US" sz="2200" dirty="0">
                <a:solidFill>
                  <a:srgbClr val="002060"/>
                </a:solidFill>
                <a:ea typeface="黑体" panose="02010609060101010101" pitchFamily="49" charset="-122"/>
              </a:endParaRPr>
            </a:p>
          </p:txBody>
        </p:sp>
      </p:grpSp>
      <p:grpSp>
        <p:nvGrpSpPr>
          <p:cNvPr id="22534" name="Group 6"/>
          <p:cNvGrpSpPr/>
          <p:nvPr/>
        </p:nvGrpSpPr>
        <p:grpSpPr bwMode="auto">
          <a:xfrm>
            <a:off x="2892425" y="1455738"/>
            <a:ext cx="3113088" cy="2168171"/>
            <a:chOff x="1822" y="867"/>
            <a:chExt cx="1897" cy="1347"/>
          </a:xfrm>
        </p:grpSpPr>
        <p:pic>
          <p:nvPicPr>
            <p:cNvPr id="22535"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2" y="867"/>
              <a:ext cx="1897" cy="834"/>
            </a:xfrm>
            <a:prstGeom prst="rect">
              <a:avLst/>
            </a:prstGeom>
            <a:noFill/>
            <a:extLst>
              <a:ext uri="{909E8E84-426E-40DD-AFC4-6F175D3DCCD1}">
                <a14:hiddenFill xmlns:a14="http://schemas.microsoft.com/office/drawing/2010/main">
                  <a:solidFill>
                    <a:srgbClr val="FFFFFF"/>
                  </a:solidFill>
                </a14:hiddenFill>
              </a:ext>
            </a:extLst>
          </p:spPr>
        </p:pic>
        <p:sp>
          <p:nvSpPr>
            <p:cNvPr id="22536" name="Rectangle 8"/>
            <p:cNvSpPr>
              <a:spLocks noChangeArrowheads="1"/>
            </p:cNvSpPr>
            <p:nvPr/>
          </p:nvSpPr>
          <p:spPr bwMode="auto">
            <a:xfrm>
              <a:off x="2352" y="1946"/>
              <a:ext cx="888" cy="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2200" dirty="0">
                  <a:solidFill>
                    <a:srgbClr val="002060"/>
                  </a:solidFill>
                  <a:ea typeface="黑体" panose="02010609060101010101" pitchFamily="49" charset="-122"/>
                </a:rPr>
                <a:t>花键联接</a:t>
              </a:r>
              <a:endParaRPr kumimoji="1" lang="zh-CN" altLang="en-US" sz="2200" dirty="0">
                <a:solidFill>
                  <a:srgbClr val="002060"/>
                </a:solidFill>
                <a:ea typeface="黑体" panose="02010609060101010101" pitchFamily="49" charset="-122"/>
              </a:endParaRPr>
            </a:p>
          </p:txBody>
        </p:sp>
      </p:grpSp>
      <p:grpSp>
        <p:nvGrpSpPr>
          <p:cNvPr id="22537" name="Group 9"/>
          <p:cNvGrpSpPr/>
          <p:nvPr/>
        </p:nvGrpSpPr>
        <p:grpSpPr bwMode="auto">
          <a:xfrm>
            <a:off x="5969000" y="1169988"/>
            <a:ext cx="3175000" cy="2441427"/>
            <a:chOff x="3760" y="687"/>
            <a:chExt cx="2000" cy="1529"/>
          </a:xfrm>
        </p:grpSpPr>
        <p:pic>
          <p:nvPicPr>
            <p:cNvPr id="22538"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60" y="687"/>
              <a:ext cx="2000" cy="1175"/>
            </a:xfrm>
            <a:prstGeom prst="rect">
              <a:avLst/>
            </a:prstGeom>
            <a:noFill/>
            <a:extLst>
              <a:ext uri="{909E8E84-426E-40DD-AFC4-6F175D3DCCD1}">
                <a14:hiddenFill xmlns:a14="http://schemas.microsoft.com/office/drawing/2010/main">
                  <a:solidFill>
                    <a:srgbClr val="FFFFFF"/>
                  </a:solidFill>
                </a14:hiddenFill>
              </a:ext>
            </a:extLst>
          </p:spPr>
        </p:pic>
        <p:sp>
          <p:nvSpPr>
            <p:cNvPr id="22539" name="Rectangle 11"/>
            <p:cNvSpPr>
              <a:spLocks noChangeArrowheads="1"/>
            </p:cNvSpPr>
            <p:nvPr/>
          </p:nvSpPr>
          <p:spPr bwMode="auto">
            <a:xfrm>
              <a:off x="4264" y="1946"/>
              <a:ext cx="888"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200" dirty="0">
                  <a:solidFill>
                    <a:srgbClr val="002060"/>
                  </a:solidFill>
                  <a:ea typeface="黑体" panose="02010609060101010101" pitchFamily="49" charset="-122"/>
                </a:rPr>
                <a:t>成形联接</a:t>
              </a:r>
              <a:endParaRPr lang="zh-CN" altLang="en-US" sz="2200" dirty="0">
                <a:solidFill>
                  <a:srgbClr val="002060"/>
                </a:solidFill>
                <a:ea typeface="黑体" panose="02010609060101010101" pitchFamily="49" charset="-122"/>
              </a:endParaRPr>
            </a:p>
          </p:txBody>
        </p:sp>
      </p:grpSp>
      <p:grpSp>
        <p:nvGrpSpPr>
          <p:cNvPr id="22540" name="Group 12"/>
          <p:cNvGrpSpPr/>
          <p:nvPr/>
        </p:nvGrpSpPr>
        <p:grpSpPr bwMode="auto">
          <a:xfrm>
            <a:off x="793750" y="3856038"/>
            <a:ext cx="3014663" cy="2673680"/>
            <a:chOff x="500" y="2371"/>
            <a:chExt cx="1752" cy="1575"/>
          </a:xfrm>
        </p:grpSpPr>
        <p:pic>
          <p:nvPicPr>
            <p:cNvPr id="22541" name="Picture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0" y="2371"/>
              <a:ext cx="1752" cy="1290"/>
            </a:xfrm>
            <a:prstGeom prst="rect">
              <a:avLst/>
            </a:prstGeom>
            <a:noFill/>
            <a:extLst>
              <a:ext uri="{909E8E84-426E-40DD-AFC4-6F175D3DCCD1}">
                <a14:hiddenFill xmlns:a14="http://schemas.microsoft.com/office/drawing/2010/main">
                  <a:solidFill>
                    <a:srgbClr val="FFFFFF"/>
                  </a:solidFill>
                </a14:hiddenFill>
              </a:ext>
            </a:extLst>
          </p:spPr>
        </p:pic>
        <p:sp>
          <p:nvSpPr>
            <p:cNvPr id="22542" name="Rectangle 14"/>
            <p:cNvSpPr>
              <a:spLocks noChangeArrowheads="1"/>
            </p:cNvSpPr>
            <p:nvPr/>
          </p:nvSpPr>
          <p:spPr bwMode="auto">
            <a:xfrm>
              <a:off x="696" y="3674"/>
              <a:ext cx="888" cy="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400" b="1" dirty="0">
                  <a:solidFill>
                    <a:schemeClr val="tx2"/>
                  </a:solidFill>
                  <a:ea typeface="黑体" panose="02010609060101010101" pitchFamily="49" charset="-122"/>
                </a:rPr>
                <a:t>胀</a:t>
              </a:r>
              <a:r>
                <a:rPr lang="zh-CN" altLang="en-US" sz="2400" b="1" dirty="0">
                  <a:solidFill>
                    <a:srgbClr val="002060"/>
                  </a:solidFill>
                  <a:ea typeface="黑体" panose="02010609060101010101" pitchFamily="49" charset="-122"/>
                </a:rPr>
                <a:t>紧</a:t>
              </a:r>
              <a:r>
                <a:rPr lang="zh-CN" altLang="en-US" sz="2200" dirty="0">
                  <a:solidFill>
                    <a:srgbClr val="002060"/>
                  </a:solidFill>
                  <a:ea typeface="黑体" panose="02010609060101010101" pitchFamily="49" charset="-122"/>
                </a:rPr>
                <a:t>联接</a:t>
              </a:r>
              <a:endParaRPr lang="zh-CN" altLang="en-US" sz="2200" dirty="0">
                <a:solidFill>
                  <a:srgbClr val="002060"/>
                </a:solidFill>
                <a:ea typeface="黑体" panose="02010609060101010101" pitchFamily="49" charset="-122"/>
              </a:endParaRPr>
            </a:p>
          </p:txBody>
        </p:sp>
      </p:grpSp>
      <p:grpSp>
        <p:nvGrpSpPr>
          <p:cNvPr id="22543" name="Group 15"/>
          <p:cNvGrpSpPr/>
          <p:nvPr/>
        </p:nvGrpSpPr>
        <p:grpSpPr bwMode="auto">
          <a:xfrm>
            <a:off x="6124575" y="3730624"/>
            <a:ext cx="2608263" cy="2744978"/>
            <a:chOff x="3922" y="2292"/>
            <a:chExt cx="1542" cy="1639"/>
          </a:xfrm>
        </p:grpSpPr>
        <p:pic>
          <p:nvPicPr>
            <p:cNvPr id="22544" name="Picture 1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22" y="2292"/>
              <a:ext cx="1542" cy="1368"/>
            </a:xfrm>
            <a:prstGeom prst="rect">
              <a:avLst/>
            </a:prstGeom>
            <a:noFill/>
            <a:extLst>
              <a:ext uri="{909E8E84-426E-40DD-AFC4-6F175D3DCCD1}">
                <a14:hiddenFill xmlns:a14="http://schemas.microsoft.com/office/drawing/2010/main">
                  <a:solidFill>
                    <a:srgbClr val="FFFFFF"/>
                  </a:solidFill>
                </a14:hiddenFill>
              </a:ext>
            </a:extLst>
          </p:spPr>
        </p:pic>
        <p:sp>
          <p:nvSpPr>
            <p:cNvPr id="22545" name="Rectangle 17"/>
            <p:cNvSpPr>
              <a:spLocks noChangeArrowheads="1"/>
            </p:cNvSpPr>
            <p:nvPr/>
          </p:nvSpPr>
          <p:spPr bwMode="auto">
            <a:xfrm>
              <a:off x="4696" y="3674"/>
              <a:ext cx="695" cy="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200" dirty="0">
                  <a:solidFill>
                    <a:srgbClr val="002060"/>
                  </a:solidFill>
                  <a:ea typeface="黑体" panose="02010609060101010101" pitchFamily="49" charset="-122"/>
                </a:rPr>
                <a:t>销联接</a:t>
              </a:r>
              <a:endParaRPr lang="zh-CN" altLang="en-US" sz="2200" dirty="0">
                <a:solidFill>
                  <a:srgbClr val="002060"/>
                </a:solidFill>
                <a:ea typeface="黑体" panose="02010609060101010101" pitchFamily="49" charset="-122"/>
              </a:endParaRPr>
            </a:p>
          </p:txBody>
        </p:sp>
      </p:grpSp>
      <p:grpSp>
        <p:nvGrpSpPr>
          <p:cNvPr id="22546" name="Group 18"/>
          <p:cNvGrpSpPr/>
          <p:nvPr/>
        </p:nvGrpSpPr>
        <p:grpSpPr bwMode="auto">
          <a:xfrm>
            <a:off x="4133850" y="3895724"/>
            <a:ext cx="1889125" cy="2531165"/>
            <a:chOff x="2604" y="2396"/>
            <a:chExt cx="1108" cy="1540"/>
          </a:xfrm>
        </p:grpSpPr>
        <p:sp>
          <p:nvSpPr>
            <p:cNvPr id="22547" name="Rectangle 19"/>
            <p:cNvSpPr>
              <a:spLocks noChangeArrowheads="1"/>
            </p:cNvSpPr>
            <p:nvPr/>
          </p:nvSpPr>
          <p:spPr bwMode="auto">
            <a:xfrm>
              <a:off x="2824" y="3674"/>
              <a:ext cx="888" cy="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200" dirty="0">
                  <a:solidFill>
                    <a:srgbClr val="002060"/>
                  </a:solidFill>
                  <a:ea typeface="黑体" panose="02010609060101010101" pitchFamily="49" charset="-122"/>
                </a:rPr>
                <a:t>过盈联接</a:t>
              </a:r>
              <a:endParaRPr lang="zh-CN" altLang="en-US" sz="2200" dirty="0">
                <a:solidFill>
                  <a:srgbClr val="002060"/>
                </a:solidFill>
                <a:ea typeface="黑体" panose="02010609060101010101" pitchFamily="49" charset="-122"/>
              </a:endParaRPr>
            </a:p>
          </p:txBody>
        </p:sp>
        <p:pic>
          <p:nvPicPr>
            <p:cNvPr id="22548" name="Picture 2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04" y="2396"/>
              <a:ext cx="1032" cy="1272"/>
            </a:xfrm>
            <a:prstGeom prst="rect">
              <a:avLst/>
            </a:prstGeom>
            <a:noFill/>
            <a:extLst>
              <a:ext uri="{909E8E84-426E-40DD-AFC4-6F175D3DCCD1}">
                <a14:hiddenFill xmlns:a14="http://schemas.microsoft.com/office/drawing/2010/main">
                  <a:solidFill>
                    <a:srgbClr val="FFFFFF"/>
                  </a:solidFill>
                </a14:hiddenFill>
              </a:ext>
            </a:extLst>
          </p:spPr>
        </p:pic>
      </p:grpSp>
      <p:sp>
        <p:nvSpPr>
          <p:cNvPr id="21" name="Text Box 6"/>
          <p:cNvSpPr txBox="1">
            <a:spLocks noChangeArrowheads="1"/>
          </p:cNvSpPr>
          <p:nvPr/>
        </p:nvSpPr>
        <p:spPr bwMode="auto">
          <a:xfrm>
            <a:off x="4864100" y="174625"/>
            <a:ext cx="4254500"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sz="3000" dirty="0" smtClean="0">
                <a:solidFill>
                  <a:srgbClr val="CC3300"/>
                </a:solidFill>
                <a:latin typeface="黑体" panose="02010609060101010101" pitchFamily="49" charset="-122"/>
                <a:ea typeface="黑体" panose="02010609060101010101" pitchFamily="49" charset="-122"/>
              </a:rPr>
              <a:t>3.7-2 </a:t>
            </a:r>
            <a:r>
              <a:rPr lang="zh-CN" altLang="en-US" sz="3000" dirty="0">
                <a:solidFill>
                  <a:srgbClr val="CC3300"/>
                </a:solidFill>
                <a:latin typeface="黑体" panose="02010609060101010101" pitchFamily="49" charset="-122"/>
                <a:ea typeface="黑体" panose="02010609060101010101" pitchFamily="49" charset="-122"/>
              </a:rPr>
              <a:t>轴的结构设计</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22"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2531"/>
                                        </p:tgtEl>
                                        <p:attrNameLst>
                                          <p:attrName>style.visibility</p:attrName>
                                        </p:attrNameLst>
                                      </p:cBhvr>
                                      <p:to>
                                        <p:strVal val="visible"/>
                                      </p:to>
                                    </p:set>
                                    <p:animEffect transition="in" filter="wipe(left)">
                                      <p:cBhvr>
                                        <p:cTn id="7" dur="500"/>
                                        <p:tgtEl>
                                          <p:spTgt spid="2253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2534"/>
                                        </p:tgtEl>
                                        <p:attrNameLst>
                                          <p:attrName>style.visibility</p:attrName>
                                        </p:attrNameLst>
                                      </p:cBhvr>
                                      <p:to>
                                        <p:strVal val="visible"/>
                                      </p:to>
                                    </p:set>
                                    <p:animEffect transition="in" filter="wipe(left)">
                                      <p:cBhvr>
                                        <p:cTn id="12" dur="500"/>
                                        <p:tgtEl>
                                          <p:spTgt spid="2253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2537"/>
                                        </p:tgtEl>
                                        <p:attrNameLst>
                                          <p:attrName>style.visibility</p:attrName>
                                        </p:attrNameLst>
                                      </p:cBhvr>
                                      <p:to>
                                        <p:strVal val="visible"/>
                                      </p:to>
                                    </p:set>
                                    <p:animEffect transition="in" filter="wipe(left)">
                                      <p:cBhvr>
                                        <p:cTn id="17" dur="500"/>
                                        <p:tgtEl>
                                          <p:spTgt spid="2253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2540"/>
                                        </p:tgtEl>
                                        <p:attrNameLst>
                                          <p:attrName>style.visibility</p:attrName>
                                        </p:attrNameLst>
                                      </p:cBhvr>
                                      <p:to>
                                        <p:strVal val="visible"/>
                                      </p:to>
                                    </p:set>
                                    <p:animEffect transition="in" filter="wipe(left)">
                                      <p:cBhvr>
                                        <p:cTn id="22" dur="500"/>
                                        <p:tgtEl>
                                          <p:spTgt spid="2254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2546"/>
                                        </p:tgtEl>
                                        <p:attrNameLst>
                                          <p:attrName>style.visibility</p:attrName>
                                        </p:attrNameLst>
                                      </p:cBhvr>
                                      <p:to>
                                        <p:strVal val="visible"/>
                                      </p:to>
                                    </p:set>
                                    <p:animEffect transition="in" filter="wipe(left)">
                                      <p:cBhvr>
                                        <p:cTn id="27" dur="500"/>
                                        <p:tgtEl>
                                          <p:spTgt spid="2254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2543"/>
                                        </p:tgtEl>
                                        <p:attrNameLst>
                                          <p:attrName>style.visibility</p:attrName>
                                        </p:attrNameLst>
                                      </p:cBhvr>
                                      <p:to>
                                        <p:strVal val="visible"/>
                                      </p:to>
                                    </p:set>
                                    <p:animEffect transition="in" filter="wipe(left)">
                                      <p:cBhvr>
                                        <p:cTn id="32" dur="500"/>
                                        <p:tgtEl>
                                          <p:spTgt spid="225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bwMode="auto">
          <a:xfrm>
            <a:off x="7165975" y="879475"/>
            <a:ext cx="1260475" cy="1968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algn="l" eaLnBrk="1" hangingPunct="1"/>
            <a:r>
              <a:rPr lang="zh-CN" altLang="en-US" sz="800" smtClean="0">
                <a:solidFill>
                  <a:schemeClr val="bg1"/>
                </a:solidFill>
                <a:latin typeface="黑体" panose="02010609060101010101" pitchFamily="49" charset="-122"/>
                <a:ea typeface="黑体" panose="02010609060101010101" pitchFamily="49" charset="-122"/>
              </a:rPr>
              <a:t>轴的结构设计</a:t>
            </a:r>
            <a:r>
              <a:rPr lang="en-US" altLang="zh-CN" sz="800" smtClean="0">
                <a:solidFill>
                  <a:schemeClr val="bg1"/>
                </a:solidFill>
                <a:latin typeface="黑体" panose="02010609060101010101" pitchFamily="49" charset="-122"/>
                <a:ea typeface="黑体" panose="02010609060101010101" pitchFamily="49" charset="-122"/>
              </a:rPr>
              <a:t>2</a:t>
            </a:r>
            <a:endParaRPr lang="en-US" altLang="zh-CN" sz="800" smtClean="0">
              <a:solidFill>
                <a:schemeClr val="bg1"/>
              </a:solidFill>
              <a:latin typeface="黑体" panose="02010609060101010101" pitchFamily="49" charset="-122"/>
              <a:ea typeface="黑体" panose="02010609060101010101" pitchFamily="49" charset="-122"/>
            </a:endParaRPr>
          </a:p>
        </p:txBody>
      </p:sp>
      <p:sp>
        <p:nvSpPr>
          <p:cNvPr id="33795" name="Text Box 4"/>
          <p:cNvSpPr txBox="1">
            <a:spLocks noChangeArrowheads="1"/>
          </p:cNvSpPr>
          <p:nvPr/>
        </p:nvSpPr>
        <p:spPr bwMode="auto">
          <a:xfrm>
            <a:off x="4849813" y="174625"/>
            <a:ext cx="27736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sz="2400" dirty="0" smtClean="0">
                <a:solidFill>
                  <a:srgbClr val="CC3300"/>
                </a:solidFill>
                <a:latin typeface="黑体" panose="02010609060101010101" pitchFamily="49" charset="-122"/>
                <a:ea typeface="黑体" panose="02010609060101010101" pitchFamily="49" charset="-122"/>
              </a:rPr>
              <a:t>3.7-2</a:t>
            </a:r>
            <a:r>
              <a:rPr lang="zh-CN" altLang="en-US" sz="2400" dirty="0">
                <a:solidFill>
                  <a:srgbClr val="CC3300"/>
                </a:solidFill>
                <a:latin typeface="黑体" panose="02010609060101010101" pitchFamily="49" charset="-122"/>
                <a:ea typeface="黑体" panose="02010609060101010101" pitchFamily="49" charset="-122"/>
              </a:rPr>
              <a:t>轴的结构设计</a:t>
            </a:r>
            <a:endParaRPr lang="zh-CN" altLang="en-US" sz="2400" dirty="0">
              <a:solidFill>
                <a:srgbClr val="CC3300"/>
              </a:solidFill>
              <a:latin typeface="黑体" panose="02010609060101010101" pitchFamily="49" charset="-122"/>
              <a:ea typeface="黑体" panose="02010609060101010101" pitchFamily="49" charset="-122"/>
            </a:endParaRPr>
          </a:p>
        </p:txBody>
      </p:sp>
      <p:sp>
        <p:nvSpPr>
          <p:cNvPr id="36869" name="Text Box 5"/>
          <p:cNvSpPr txBox="1">
            <a:spLocks noChangeArrowheads="1"/>
          </p:cNvSpPr>
          <p:nvPr/>
        </p:nvSpPr>
        <p:spPr bwMode="auto">
          <a:xfrm>
            <a:off x="269875" y="808038"/>
            <a:ext cx="3994150"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zh-CN" altLang="en-US" sz="2200">
                <a:solidFill>
                  <a:srgbClr val="C00000"/>
                </a:solidFill>
                <a:latin typeface="黑体" panose="02010609060101010101" pitchFamily="49" charset="-122"/>
                <a:ea typeface="黑体" panose="02010609060101010101" pitchFamily="49" charset="-122"/>
              </a:rPr>
              <a:t>三、各轴毂直径和长度的确定 </a:t>
            </a:r>
            <a:endParaRPr lang="zh-CN" altLang="en-US" sz="2200">
              <a:solidFill>
                <a:srgbClr val="C00000"/>
              </a:solidFill>
              <a:latin typeface="黑体" panose="02010609060101010101" pitchFamily="49" charset="-122"/>
              <a:ea typeface="黑体" panose="02010609060101010101" pitchFamily="49" charset="-122"/>
            </a:endParaRPr>
          </a:p>
        </p:txBody>
      </p:sp>
      <p:sp>
        <p:nvSpPr>
          <p:cNvPr id="36870" name="Text Box 6"/>
          <p:cNvSpPr txBox="1">
            <a:spLocks noChangeArrowheads="1"/>
          </p:cNvSpPr>
          <p:nvPr/>
        </p:nvSpPr>
        <p:spPr bwMode="auto">
          <a:xfrm>
            <a:off x="1134745" y="2488565"/>
            <a:ext cx="7614920" cy="1753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35000"/>
              </a:lnSpc>
            </a:pPr>
            <a:endParaRPr lang="zh-CN" altLang="en-US" dirty="0"/>
          </a:p>
          <a:p>
            <a:pPr eaLnBrk="1" hangingPunct="1">
              <a:lnSpc>
                <a:spcPct val="135000"/>
              </a:lnSpc>
            </a:pPr>
            <a:r>
              <a:rPr lang="zh-CN" altLang="en-US" sz="1400" dirty="0">
                <a:solidFill>
                  <a:srgbClr val="FF0066"/>
                </a:solidFill>
                <a:latin typeface="华文中宋" panose="02010600040101010101" pitchFamily="2" charset="-122"/>
              </a:rPr>
              <a:t>◆ </a:t>
            </a:r>
            <a:r>
              <a:rPr lang="zh-CN" altLang="en-US" dirty="0"/>
              <a:t>有配合要求的轴段，应尽量采用</a:t>
            </a:r>
            <a:r>
              <a:rPr lang="zh-CN" altLang="en-US" dirty="0">
                <a:solidFill>
                  <a:schemeClr val="hlink"/>
                </a:solidFill>
              </a:rPr>
              <a:t>标准直径</a:t>
            </a:r>
            <a:r>
              <a:rPr lang="zh-CN" altLang="en-US" dirty="0"/>
              <a:t>。</a:t>
            </a:r>
            <a:r>
              <a:rPr lang="en-US" altLang="zh-CN" dirty="0">
                <a:solidFill>
                  <a:srgbClr val="FF0000"/>
                </a:solidFill>
              </a:rPr>
              <a:t>(</a:t>
            </a:r>
            <a:r>
              <a:rPr lang="zh-CN" altLang="en-US" dirty="0">
                <a:solidFill>
                  <a:srgbClr val="FF0000"/>
                </a:solidFill>
              </a:rPr>
              <a:t>见教材</a:t>
            </a:r>
            <a:r>
              <a:rPr lang="en-US" altLang="zh-CN" dirty="0">
                <a:solidFill>
                  <a:srgbClr val="FF0000"/>
                </a:solidFill>
              </a:rPr>
              <a:t>P311</a:t>
            </a:r>
            <a:r>
              <a:rPr lang="zh-CN" altLang="en-US" dirty="0">
                <a:solidFill>
                  <a:srgbClr val="FF0000"/>
                </a:solidFill>
              </a:rPr>
              <a:t>表</a:t>
            </a:r>
            <a:r>
              <a:rPr lang="en-US" altLang="zh-CN" dirty="0">
                <a:solidFill>
                  <a:srgbClr val="FF0000"/>
                </a:solidFill>
              </a:rPr>
              <a:t>3.7-5</a:t>
            </a:r>
            <a:r>
              <a:rPr lang="zh-CN" altLang="en-US" dirty="0">
                <a:solidFill>
                  <a:srgbClr val="FF0000"/>
                </a:solidFill>
              </a:rPr>
              <a:t>）</a:t>
            </a:r>
            <a:endParaRPr lang="zh-CN" altLang="en-US" dirty="0"/>
          </a:p>
          <a:p>
            <a:pPr eaLnBrk="1" hangingPunct="1">
              <a:lnSpc>
                <a:spcPct val="135000"/>
              </a:lnSpc>
            </a:pPr>
            <a:r>
              <a:rPr lang="zh-CN" altLang="en-US" sz="1400" dirty="0">
                <a:solidFill>
                  <a:srgbClr val="FF0066"/>
                </a:solidFill>
                <a:latin typeface="华文中宋" panose="02010600040101010101" pitchFamily="2" charset="-122"/>
              </a:rPr>
              <a:t>◆ </a:t>
            </a:r>
            <a:r>
              <a:rPr lang="zh-CN" altLang="en-US" dirty="0"/>
              <a:t>安装标准件的轴径，应满足</a:t>
            </a:r>
            <a:r>
              <a:rPr lang="zh-CN" altLang="en-US" dirty="0">
                <a:solidFill>
                  <a:schemeClr val="folHlink"/>
                </a:solidFill>
              </a:rPr>
              <a:t>装配尺寸要求</a:t>
            </a:r>
            <a:r>
              <a:rPr lang="zh-CN" altLang="en-US" dirty="0"/>
              <a:t>。</a:t>
            </a:r>
            <a:endParaRPr lang="zh-CN" altLang="en-US" dirty="0"/>
          </a:p>
          <a:p>
            <a:pPr eaLnBrk="1" hangingPunct="1">
              <a:lnSpc>
                <a:spcPct val="135000"/>
              </a:lnSpc>
            </a:pPr>
            <a:r>
              <a:rPr lang="zh-CN" altLang="en-US" sz="1400" dirty="0">
                <a:solidFill>
                  <a:srgbClr val="FF0066"/>
                </a:solidFill>
                <a:latin typeface="华文中宋" panose="02010600040101010101" pitchFamily="2" charset="-122"/>
              </a:rPr>
              <a:t>◆ </a:t>
            </a:r>
            <a:r>
              <a:rPr lang="zh-CN" altLang="en-US" dirty="0"/>
              <a:t>有配合要求的零件</a:t>
            </a:r>
            <a:r>
              <a:rPr lang="zh-CN" altLang="en-US" dirty="0">
                <a:solidFill>
                  <a:schemeClr val="folHlink"/>
                </a:solidFill>
                <a:hlinkClick r:id="rId1" action="ppaction://hlinksldjump"/>
              </a:rPr>
              <a:t>要便于装拆</a:t>
            </a:r>
            <a:r>
              <a:rPr lang="zh-CN" altLang="en-US" dirty="0"/>
              <a:t>。 </a:t>
            </a:r>
            <a:endParaRPr lang="zh-CN" altLang="en-US" dirty="0"/>
          </a:p>
        </p:txBody>
      </p:sp>
      <p:pic>
        <p:nvPicPr>
          <p:cNvPr id="36876" name="Picture 12" descr="back">
            <a:hlinkClick r:id="" action="ppaction://hlinkshowjump?jump=previousslide"/>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32788" y="6532563"/>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77" name="Picture 13" descr="NEXT">
            <a:hlinkClick r:id="" action="ppaction://hlinkshowjump?jump=next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42363" y="6532563"/>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78" name="Picture 14" descr="rewind">
            <a:hlinkClick r:id="" action="ppaction://hlinkshowjump?jump=firstslide"/>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924800" y="6532563"/>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804" name="Text Box 15"/>
          <p:cNvSpPr txBox="1">
            <a:spLocks noChangeArrowheads="1"/>
          </p:cNvSpPr>
          <p:nvPr/>
        </p:nvSpPr>
        <p:spPr bwMode="auto">
          <a:xfrm>
            <a:off x="6196013" y="6353175"/>
            <a:ext cx="8350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50000"/>
              </a:spcBef>
            </a:pPr>
            <a:r>
              <a:rPr lang="en-US" altLang="zh-CN"/>
              <a:t>  </a:t>
            </a:r>
            <a:endParaRPr lang="en-US" altLang="zh-CN"/>
          </a:p>
        </p:txBody>
      </p:sp>
      <p:sp>
        <p:nvSpPr>
          <p:cNvPr id="33805"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14" name="Text Box 3"/>
          <p:cNvSpPr txBox="1">
            <a:spLocks noChangeArrowheads="1"/>
          </p:cNvSpPr>
          <p:nvPr/>
        </p:nvSpPr>
        <p:spPr bwMode="auto">
          <a:xfrm>
            <a:off x="649979" y="1266905"/>
            <a:ext cx="8332787" cy="16435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40000"/>
              </a:lnSpc>
            </a:pPr>
            <a:r>
              <a:rPr kumimoji="1" lang="en-US" altLang="zh-CN" sz="2800" dirty="0">
                <a:solidFill>
                  <a:srgbClr val="002060"/>
                </a:solidFill>
                <a:latin typeface="Times New Roman" panose="02020603050405020304" pitchFamily="18" charset="0"/>
                <a:ea typeface="华文中宋" panose="02010600040101010101" pitchFamily="2" charset="-122"/>
              </a:rPr>
              <a:t>1</a:t>
            </a:r>
            <a:r>
              <a:rPr kumimoji="1" lang="zh-CN" altLang="en-US" sz="2800" dirty="0">
                <a:solidFill>
                  <a:srgbClr val="002060"/>
                </a:solidFill>
                <a:latin typeface="Times New Roman" panose="02020603050405020304" pitchFamily="18" charset="0"/>
                <a:ea typeface="华文中宋" panose="02010600040101010101" pitchFamily="2" charset="-122"/>
              </a:rPr>
              <a:t>、</a:t>
            </a:r>
            <a:r>
              <a:rPr kumimoji="1" lang="en-US" altLang="zh-CN" sz="2200" b="1" i="1" dirty="0">
                <a:solidFill>
                  <a:srgbClr val="800000"/>
                </a:solidFill>
                <a:latin typeface="Times New Roman" panose="02020603050405020304" pitchFamily="18" charset="0"/>
                <a:ea typeface="华文中宋" panose="02010600040101010101" pitchFamily="2" charset="-122"/>
              </a:rPr>
              <a:t>d</a:t>
            </a:r>
            <a:r>
              <a:rPr kumimoji="1" lang="en-US" altLang="zh-CN" sz="2200" b="1" baseline="-25000" dirty="0">
                <a:solidFill>
                  <a:srgbClr val="800000"/>
                </a:solidFill>
                <a:latin typeface="Times New Roman" panose="02020603050405020304" pitchFamily="18" charset="0"/>
                <a:ea typeface="华文中宋" panose="02010600040101010101" pitchFamily="2" charset="-122"/>
              </a:rPr>
              <a:t>i</a:t>
            </a:r>
            <a:r>
              <a:rPr kumimoji="1" lang="zh-CN" altLang="en-US" sz="2200" b="1" dirty="0">
                <a:solidFill>
                  <a:srgbClr val="800000"/>
                </a:solidFill>
                <a:latin typeface="Times New Roman" panose="02020603050405020304" pitchFamily="18" charset="0"/>
                <a:ea typeface="华文中宋" panose="02010600040101010101" pitchFamily="2" charset="-122"/>
              </a:rPr>
              <a:t>：</a:t>
            </a:r>
            <a:r>
              <a:rPr kumimoji="1" lang="zh-CN" altLang="en-US" sz="2200" dirty="0" smtClean="0">
                <a:solidFill>
                  <a:srgbClr val="002060"/>
                </a:solidFill>
                <a:latin typeface="Times New Roman" panose="02020603050405020304" pitchFamily="18" charset="0"/>
                <a:ea typeface="华文中宋" panose="02010600040101010101" pitchFamily="2" charset="-122"/>
              </a:rPr>
              <a:t>由</a:t>
            </a:r>
            <a:r>
              <a:rPr lang="zh-CN" altLang="en-US" sz="2200" b="1" u="sng" dirty="0">
                <a:solidFill>
                  <a:srgbClr val="FF0000"/>
                </a:solidFill>
              </a:rPr>
              <a:t>转矩</a:t>
            </a:r>
            <a:r>
              <a:rPr kumimoji="1" lang="zh-CN" altLang="en-US" sz="2200" dirty="0" smtClean="0">
                <a:solidFill>
                  <a:srgbClr val="002060"/>
                </a:solidFill>
                <a:latin typeface="Times New Roman" panose="02020603050405020304" pitchFamily="18" charset="0"/>
                <a:ea typeface="华文中宋" panose="02010600040101010101" pitchFamily="2" charset="-122"/>
              </a:rPr>
              <a:t>→</a:t>
            </a:r>
            <a:r>
              <a:rPr kumimoji="1" lang="en-US" altLang="zh-CN" sz="2200" b="1" i="1" dirty="0" err="1">
                <a:solidFill>
                  <a:srgbClr val="002060"/>
                </a:solidFill>
                <a:latin typeface="Times New Roman" panose="02020603050405020304" pitchFamily="18" charset="0"/>
                <a:ea typeface="华文中宋" panose="02010600040101010101" pitchFamily="2" charset="-122"/>
              </a:rPr>
              <a:t>d</a:t>
            </a:r>
            <a:r>
              <a:rPr kumimoji="1" lang="en-US" altLang="zh-CN" sz="2200" b="1" i="1" baseline="-25000" dirty="0" err="1">
                <a:solidFill>
                  <a:srgbClr val="002060"/>
                </a:solidFill>
                <a:latin typeface="Times New Roman" panose="02020603050405020304" pitchFamily="18" charset="0"/>
                <a:ea typeface="华文中宋" panose="02010600040101010101" pitchFamily="2" charset="-122"/>
              </a:rPr>
              <a:t>min</a:t>
            </a:r>
            <a:r>
              <a:rPr kumimoji="1" lang="en-US" altLang="zh-CN" sz="2200" dirty="0">
                <a:solidFill>
                  <a:srgbClr val="002060"/>
                </a:solidFill>
                <a:latin typeface="Times New Roman" panose="02020603050405020304" pitchFamily="18" charset="0"/>
                <a:ea typeface="华文中宋" panose="02010600040101010101" pitchFamily="2" charset="-122"/>
              </a:rPr>
              <a:t>→</a:t>
            </a:r>
            <a:r>
              <a:rPr kumimoji="1" lang="zh-CN" altLang="en-US" sz="2200" dirty="0">
                <a:solidFill>
                  <a:srgbClr val="002060"/>
                </a:solidFill>
                <a:latin typeface="Times New Roman" panose="02020603050405020304" pitchFamily="18" charset="0"/>
                <a:ea typeface="华文中宋" panose="02010600040101010101" pitchFamily="2" charset="-122"/>
              </a:rPr>
              <a:t>由</a:t>
            </a:r>
            <a:r>
              <a:rPr kumimoji="1" lang="zh-CN" altLang="en-US" sz="2200" b="1" u="sng" dirty="0">
                <a:solidFill>
                  <a:srgbClr val="FF0000"/>
                </a:solidFill>
                <a:latin typeface="Times New Roman" panose="02020603050405020304" pitchFamily="18" charset="0"/>
                <a:ea typeface="华文中宋" panose="02010600040101010101" pitchFamily="2" charset="-122"/>
              </a:rPr>
              <a:t>结构设计</a:t>
            </a:r>
            <a:r>
              <a:rPr kumimoji="1" lang="zh-CN" altLang="en-US" sz="2200" dirty="0">
                <a:solidFill>
                  <a:srgbClr val="002060"/>
                </a:solidFill>
                <a:latin typeface="Times New Roman" panose="02020603050405020304" pitchFamily="18" charset="0"/>
                <a:ea typeface="华文中宋" panose="02010600040101010101" pitchFamily="2" charset="-122"/>
              </a:rPr>
              <a:t>要求确定各段的</a:t>
            </a:r>
            <a:r>
              <a:rPr kumimoji="1" lang="en-US" altLang="zh-CN" sz="2200" b="1" i="1" dirty="0">
                <a:latin typeface="Times New Roman" panose="02020603050405020304" pitchFamily="18" charset="0"/>
                <a:ea typeface="华文中宋" panose="02010600040101010101" pitchFamily="2" charset="-122"/>
              </a:rPr>
              <a:t>d</a:t>
            </a:r>
            <a:r>
              <a:rPr kumimoji="1" lang="en-US" altLang="zh-CN" sz="2200" b="1" baseline="-25000" dirty="0">
                <a:latin typeface="Times New Roman" panose="02020603050405020304" pitchFamily="18" charset="0"/>
                <a:ea typeface="华文中宋" panose="02010600040101010101" pitchFamily="2" charset="-122"/>
              </a:rPr>
              <a:t>i</a:t>
            </a:r>
            <a:endParaRPr kumimoji="1" lang="en-US" altLang="zh-CN" sz="2200" b="1" i="1" dirty="0">
              <a:latin typeface="Times New Roman" panose="02020603050405020304" pitchFamily="18" charset="0"/>
              <a:ea typeface="华文中宋" panose="02010600040101010101" pitchFamily="2" charset="-122"/>
            </a:endParaRPr>
          </a:p>
          <a:p>
            <a:pPr>
              <a:lnSpc>
                <a:spcPct val="140000"/>
              </a:lnSpc>
            </a:pPr>
            <a:r>
              <a:rPr kumimoji="1" lang="en-US" altLang="zh-CN" sz="2200" dirty="0">
                <a:solidFill>
                  <a:srgbClr val="002060"/>
                </a:solidFill>
                <a:latin typeface="Times New Roman" panose="02020603050405020304" pitchFamily="18" charset="0"/>
                <a:ea typeface="华文中宋" panose="02010600040101010101" pitchFamily="2" charset="-122"/>
              </a:rPr>
              <a:t>    1</a:t>
            </a:r>
            <a:r>
              <a:rPr kumimoji="1" lang="zh-CN" altLang="en-US" sz="2200" dirty="0">
                <a:solidFill>
                  <a:srgbClr val="002060"/>
                </a:solidFill>
                <a:latin typeface="Times New Roman" panose="02020603050405020304" pitchFamily="18" charset="0"/>
                <a:ea typeface="华文中宋" panose="02010600040101010101" pitchFamily="2" charset="-122"/>
              </a:rPr>
              <a:t>）定位轴肩与非定位轴肩；</a:t>
            </a:r>
            <a:endParaRPr kumimoji="1" lang="zh-CN" altLang="en-US" sz="2200" dirty="0">
              <a:solidFill>
                <a:srgbClr val="002060"/>
              </a:solidFill>
              <a:latin typeface="Times New Roman" panose="02020603050405020304" pitchFamily="18" charset="0"/>
              <a:ea typeface="华文中宋" panose="02010600040101010101" pitchFamily="2" charset="-122"/>
            </a:endParaRPr>
          </a:p>
          <a:p>
            <a:pPr>
              <a:lnSpc>
                <a:spcPct val="140000"/>
              </a:lnSpc>
            </a:pPr>
            <a:r>
              <a:rPr kumimoji="1" lang="zh-CN" altLang="en-US" sz="2200" dirty="0">
                <a:solidFill>
                  <a:srgbClr val="002060"/>
                </a:solidFill>
                <a:latin typeface="Times New Roman" panose="02020603050405020304" pitchFamily="18" charset="0"/>
                <a:ea typeface="华文中宋" panose="02010600040101010101" pitchFamily="2" charset="-122"/>
              </a:rPr>
              <a:t>    </a:t>
            </a:r>
            <a:r>
              <a:rPr kumimoji="1" lang="en-US" altLang="zh-CN" sz="2200" dirty="0">
                <a:solidFill>
                  <a:srgbClr val="002060"/>
                </a:solidFill>
                <a:latin typeface="Times New Roman" panose="02020603050405020304" pitchFamily="18" charset="0"/>
                <a:ea typeface="华文中宋" panose="02010600040101010101" pitchFamily="2" charset="-122"/>
              </a:rPr>
              <a:t>2</a:t>
            </a:r>
            <a:r>
              <a:rPr kumimoji="1" lang="zh-CN" altLang="en-US" sz="2200" dirty="0">
                <a:solidFill>
                  <a:srgbClr val="002060"/>
                </a:solidFill>
                <a:latin typeface="Times New Roman" panose="02020603050405020304" pitchFamily="18" charset="0"/>
                <a:ea typeface="华文中宋" panose="02010600040101010101" pitchFamily="2" charset="-122"/>
              </a:rPr>
              <a:t>）轴段上零件内径。</a:t>
            </a:r>
            <a:endParaRPr kumimoji="1" lang="zh-CN" altLang="en-US" sz="2200" dirty="0">
              <a:solidFill>
                <a:srgbClr val="002060"/>
              </a:solidFill>
              <a:latin typeface="Times New Roman" panose="02020603050405020304" pitchFamily="18" charset="0"/>
              <a:ea typeface="华文中宋" panose="02010600040101010101" pitchFamily="2" charset="-122"/>
            </a:endParaRPr>
          </a:p>
        </p:txBody>
      </p:sp>
      <p:sp>
        <p:nvSpPr>
          <p:cNvPr id="15" name="Text Box 4"/>
          <p:cNvSpPr txBox="1">
            <a:spLocks noChangeArrowheads="1"/>
          </p:cNvSpPr>
          <p:nvPr/>
        </p:nvSpPr>
        <p:spPr bwMode="auto">
          <a:xfrm>
            <a:off x="594417" y="4500011"/>
            <a:ext cx="593303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800" dirty="0">
                <a:solidFill>
                  <a:srgbClr val="002060"/>
                </a:solidFill>
                <a:latin typeface="Times New Roman" panose="02020603050405020304" pitchFamily="18" charset="0"/>
                <a:ea typeface="华文中宋" panose="02010600040101010101" pitchFamily="2" charset="-122"/>
              </a:rPr>
              <a:t>2</a:t>
            </a:r>
            <a:r>
              <a:rPr kumimoji="1" lang="zh-CN" altLang="en-US" sz="2800" dirty="0">
                <a:solidFill>
                  <a:srgbClr val="002060"/>
                </a:solidFill>
                <a:latin typeface="Times New Roman" panose="02020603050405020304" pitchFamily="18" charset="0"/>
                <a:ea typeface="华文中宋" panose="02010600040101010101" pitchFamily="2" charset="-122"/>
              </a:rPr>
              <a:t>、</a:t>
            </a:r>
            <a:r>
              <a:rPr kumimoji="1" lang="en-US" altLang="zh-CN" sz="2200" b="1" i="1" dirty="0">
                <a:solidFill>
                  <a:srgbClr val="800000"/>
                </a:solidFill>
                <a:latin typeface="Times New Roman" panose="02020603050405020304" pitchFamily="18" charset="0"/>
                <a:ea typeface="华文中宋" panose="02010600040101010101" pitchFamily="2" charset="-122"/>
              </a:rPr>
              <a:t>l</a:t>
            </a:r>
            <a:r>
              <a:rPr kumimoji="1" lang="en-US" altLang="zh-CN" sz="2200" b="1" baseline="-25000" dirty="0">
                <a:solidFill>
                  <a:srgbClr val="800000"/>
                </a:solidFill>
                <a:latin typeface="Times New Roman" panose="02020603050405020304" pitchFamily="18" charset="0"/>
                <a:ea typeface="华文中宋" panose="02010600040101010101" pitchFamily="2" charset="-122"/>
              </a:rPr>
              <a:t>i</a:t>
            </a:r>
            <a:r>
              <a:rPr kumimoji="1" lang="zh-CN" altLang="en-US" sz="2200" b="1" dirty="0">
                <a:solidFill>
                  <a:srgbClr val="800000"/>
                </a:solidFill>
                <a:latin typeface="Times New Roman" panose="02020603050405020304" pitchFamily="18" charset="0"/>
                <a:ea typeface="华文中宋" panose="02010600040101010101" pitchFamily="2" charset="-122"/>
              </a:rPr>
              <a:t>：</a:t>
            </a:r>
            <a:r>
              <a:rPr kumimoji="1" lang="zh-CN" altLang="en-US" sz="2200" dirty="0">
                <a:solidFill>
                  <a:srgbClr val="002060"/>
                </a:solidFill>
                <a:latin typeface="Times New Roman" panose="02020603050405020304" pitchFamily="18" charset="0"/>
                <a:ea typeface="华文中宋" panose="02010600040101010101" pitchFamily="2" charset="-122"/>
              </a:rPr>
              <a:t>由轴上零件相对位置及零件宽度决定：</a:t>
            </a:r>
            <a:endParaRPr kumimoji="1" lang="zh-CN" altLang="en-US" sz="2200" dirty="0">
              <a:solidFill>
                <a:srgbClr val="002060"/>
              </a:solidFill>
              <a:latin typeface="Times New Roman" panose="02020603050405020304" pitchFamily="18" charset="0"/>
              <a:ea typeface="华文中宋" panose="02010600040101010101" pitchFamily="2" charset="-122"/>
            </a:endParaRPr>
          </a:p>
        </p:txBody>
      </p:sp>
      <p:sp>
        <p:nvSpPr>
          <p:cNvPr id="16" name="Text Box 5"/>
          <p:cNvSpPr txBox="1">
            <a:spLocks noChangeArrowheads="1"/>
          </p:cNvSpPr>
          <p:nvPr/>
        </p:nvSpPr>
        <p:spPr bwMode="auto">
          <a:xfrm>
            <a:off x="716812" y="5070994"/>
            <a:ext cx="7694612"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2130" indent="-532130">
              <a:defRPr>
                <a:solidFill>
                  <a:schemeClr val="tx1"/>
                </a:solidFill>
                <a:latin typeface="Arial" panose="020B0604020202020204" pitchFamily="34" charset="0"/>
                <a:ea typeface="宋体" panose="02010600030101010101" pitchFamily="2" charset="-122"/>
              </a:defRPr>
            </a:lvl1pPr>
            <a:lvl2pPr marL="897255">
              <a:defRPr>
                <a:solidFill>
                  <a:schemeClr val="tx1"/>
                </a:solidFill>
                <a:latin typeface="Arial" panose="020B0604020202020204" pitchFamily="34" charset="0"/>
                <a:ea typeface="宋体" panose="02010600030101010101" pitchFamily="2" charset="-122"/>
              </a:defRPr>
            </a:lvl2pPr>
            <a:lvl3pPr marL="1076325">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40000"/>
              </a:lnSpc>
            </a:pPr>
            <a:r>
              <a:rPr kumimoji="1" lang="en-US" altLang="zh-CN" sz="2200" dirty="0">
                <a:solidFill>
                  <a:srgbClr val="002060"/>
                </a:solidFill>
                <a:latin typeface="Times New Roman" panose="02020603050405020304" pitchFamily="18" charset="0"/>
                <a:ea typeface="华文中宋" panose="02010600040101010101" pitchFamily="2" charset="-122"/>
              </a:rPr>
              <a:t>1</a:t>
            </a:r>
            <a:r>
              <a:rPr kumimoji="1" lang="zh-CN" altLang="en-US" sz="2200" dirty="0">
                <a:solidFill>
                  <a:srgbClr val="002060"/>
                </a:solidFill>
                <a:latin typeface="Times New Roman" panose="02020603050405020304" pitchFamily="18" charset="0"/>
                <a:ea typeface="华文中宋" panose="02010600040101010101" pitchFamily="2" charset="-122"/>
              </a:rPr>
              <a:t>）轴段长比轮毂宽</a:t>
            </a:r>
            <a:r>
              <a:rPr kumimoji="1" lang="zh-CN" altLang="en-US" sz="2200" dirty="0">
                <a:solidFill>
                  <a:schemeClr val="tx2"/>
                </a:solidFill>
                <a:latin typeface="Times New Roman" panose="02020603050405020304" pitchFamily="18" charset="0"/>
                <a:ea typeface="华文中宋" panose="02010600040101010101" pitchFamily="2" charset="-122"/>
              </a:rPr>
              <a:t>小</a:t>
            </a:r>
            <a:r>
              <a:rPr kumimoji="1" lang="en-US" altLang="zh-CN" sz="2200" b="1" dirty="0">
                <a:solidFill>
                  <a:srgbClr val="FF0000"/>
                </a:solidFill>
                <a:latin typeface="Times New Roman" panose="02020603050405020304" pitchFamily="18" charset="0"/>
                <a:ea typeface="华文中宋" panose="02010600040101010101" pitchFamily="2" charset="-122"/>
              </a:rPr>
              <a:t>2∽3mm</a:t>
            </a:r>
            <a:r>
              <a:rPr kumimoji="1" lang="en-US" altLang="zh-CN" sz="2200" dirty="0">
                <a:solidFill>
                  <a:srgbClr val="002060"/>
                </a:solidFill>
                <a:latin typeface="Times New Roman" panose="02020603050405020304" pitchFamily="18" charset="0"/>
                <a:ea typeface="华文中宋" panose="02010600040101010101" pitchFamily="2" charset="-122"/>
              </a:rPr>
              <a:t>——</a:t>
            </a:r>
            <a:r>
              <a:rPr kumimoji="1" lang="zh-CN" altLang="en-US" sz="2200" dirty="0">
                <a:solidFill>
                  <a:srgbClr val="002060"/>
                </a:solidFill>
                <a:latin typeface="Times New Roman" panose="02020603050405020304" pitchFamily="18" charset="0"/>
                <a:ea typeface="华文中宋" panose="02010600040101010101" pitchFamily="2" charset="-122"/>
              </a:rPr>
              <a:t>可靠定位。</a:t>
            </a:r>
            <a:endParaRPr kumimoji="1" lang="zh-CN" altLang="en-US" sz="2200" dirty="0">
              <a:solidFill>
                <a:srgbClr val="002060"/>
              </a:solidFill>
              <a:latin typeface="Times New Roman" panose="02020603050405020304" pitchFamily="18" charset="0"/>
              <a:ea typeface="华文中宋" panose="02010600040101010101" pitchFamily="2" charset="-122"/>
            </a:endParaRPr>
          </a:p>
          <a:p>
            <a:pPr>
              <a:lnSpc>
                <a:spcPct val="160000"/>
              </a:lnSpc>
            </a:pPr>
            <a:r>
              <a:rPr kumimoji="1" lang="en-US" altLang="zh-CN" sz="2200" dirty="0">
                <a:solidFill>
                  <a:srgbClr val="002060"/>
                </a:solidFill>
                <a:latin typeface="Times New Roman" panose="02020603050405020304" pitchFamily="18" charset="0"/>
                <a:ea typeface="华文中宋" panose="02010600040101010101" pitchFamily="2" charset="-122"/>
              </a:rPr>
              <a:t>2</a:t>
            </a:r>
            <a:r>
              <a:rPr kumimoji="1" lang="zh-CN" altLang="en-US" sz="2200" dirty="0">
                <a:solidFill>
                  <a:srgbClr val="002060"/>
                </a:solidFill>
                <a:latin typeface="Times New Roman" panose="02020603050405020304" pitchFamily="18" charset="0"/>
                <a:ea typeface="华文中宋" panose="02010600040101010101" pitchFamily="2" charset="-122"/>
              </a:rPr>
              <a:t>）传动件、箱体、轴承、联轴器等零件间距离</a:t>
            </a:r>
            <a:r>
              <a:rPr kumimoji="1" lang="en-US" altLang="zh-CN" sz="2200" dirty="0">
                <a:solidFill>
                  <a:srgbClr val="002060"/>
                </a:solidFill>
                <a:latin typeface="Times New Roman" panose="02020603050405020304" pitchFamily="18" charset="0"/>
                <a:ea typeface="华文中宋" panose="02010600040101010101" pitchFamily="2" charset="-122"/>
              </a:rPr>
              <a:t>(</a:t>
            </a:r>
            <a:r>
              <a:rPr kumimoji="1" lang="zh-CN" altLang="en-US" sz="2200" dirty="0">
                <a:solidFill>
                  <a:srgbClr val="002060"/>
                </a:solidFill>
                <a:latin typeface="Times New Roman" panose="02020603050405020304" pitchFamily="18" charset="0"/>
                <a:ea typeface="华文中宋" panose="02010600040101010101" pitchFamily="2" charset="-122"/>
              </a:rPr>
              <a:t>查手册</a:t>
            </a:r>
            <a:r>
              <a:rPr kumimoji="1" lang="en-US" altLang="zh-CN" sz="2200" dirty="0">
                <a:solidFill>
                  <a:srgbClr val="002060"/>
                </a:solidFill>
                <a:latin typeface="Times New Roman" panose="02020603050405020304" pitchFamily="18" charset="0"/>
                <a:ea typeface="华文中宋" panose="02010600040101010101" pitchFamily="2" charset="-122"/>
              </a:rPr>
              <a:t>)</a:t>
            </a:r>
            <a:r>
              <a:rPr kumimoji="1" lang="zh-CN" altLang="en-US" sz="2200" dirty="0">
                <a:solidFill>
                  <a:srgbClr val="002060"/>
                </a:solidFill>
                <a:latin typeface="Times New Roman" panose="02020603050405020304" pitchFamily="18" charset="0"/>
                <a:ea typeface="华文中宋" panose="02010600040101010101" pitchFamily="2" charset="-122"/>
              </a:rPr>
              <a:t>。</a:t>
            </a:r>
            <a:endParaRPr kumimoji="1" lang="zh-CN" altLang="en-US" sz="2200" dirty="0">
              <a:solidFill>
                <a:srgbClr val="002060"/>
              </a:solidFill>
              <a:latin typeface="Times New Roman" panose="02020603050405020304" pitchFamily="18" charset="0"/>
              <a:ea typeface="华文中宋"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6869"/>
                                        </p:tgtEl>
                                        <p:attrNameLst>
                                          <p:attrName>style.visibility</p:attrName>
                                        </p:attrNameLst>
                                      </p:cBhvr>
                                      <p:to>
                                        <p:strVal val="visible"/>
                                      </p:to>
                                    </p:set>
                                    <p:animEffect transition="in" filter="wipe(up)">
                                      <p:cBhvr>
                                        <p:cTn id="7" dur="500"/>
                                        <p:tgtEl>
                                          <p:spTgt spid="36869"/>
                                        </p:tgtEl>
                                      </p:cBhvr>
                                    </p:animEffect>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499"/>
                                          </p:stCondLst>
                                        </p:cTn>
                                        <p:tgtEl>
                                          <p:spTgt spid="36876"/>
                                        </p:tgtEl>
                                        <p:attrNameLst>
                                          <p:attrName>style.visibility</p:attrName>
                                        </p:attrNameLst>
                                      </p:cBhvr>
                                      <p:to>
                                        <p:strVal val="visible"/>
                                      </p:to>
                                    </p:set>
                                  </p:childTnLst>
                                </p:cTn>
                              </p:par>
                            </p:childTnLst>
                          </p:cTn>
                        </p:par>
                        <p:par>
                          <p:cTn id="11" fill="hold">
                            <p:stCondLst>
                              <p:cond delay="1000"/>
                            </p:stCondLst>
                            <p:childTnLst>
                              <p:par>
                                <p:cTn id="12" presetID="1" presetClass="entr" presetSubtype="0" fill="hold" nodeType="afterEffect">
                                  <p:stCondLst>
                                    <p:cond delay="0"/>
                                  </p:stCondLst>
                                  <p:childTnLst>
                                    <p:set>
                                      <p:cBhvr>
                                        <p:cTn id="13" dur="1" fill="hold">
                                          <p:stCondLst>
                                            <p:cond delay="499"/>
                                          </p:stCondLst>
                                        </p:cTn>
                                        <p:tgtEl>
                                          <p:spTgt spid="36877"/>
                                        </p:tgtEl>
                                        <p:attrNameLst>
                                          <p:attrName>style.visibility</p:attrName>
                                        </p:attrNameLst>
                                      </p:cBhvr>
                                      <p:to>
                                        <p:strVal val="visible"/>
                                      </p:to>
                                    </p:set>
                                  </p:childTnLst>
                                </p:cTn>
                              </p:par>
                            </p:childTnLst>
                          </p:cTn>
                        </p:par>
                        <p:par>
                          <p:cTn id="14" fill="hold">
                            <p:stCondLst>
                              <p:cond delay="1500"/>
                            </p:stCondLst>
                            <p:childTnLst>
                              <p:par>
                                <p:cTn id="15" presetID="2" presetClass="entr" presetSubtype="8" fill="hold" nodeType="afterEffect">
                                  <p:stCondLst>
                                    <p:cond delay="0"/>
                                  </p:stCondLst>
                                  <p:childTnLst>
                                    <p:set>
                                      <p:cBhvr>
                                        <p:cTn id="16" dur="1" fill="hold">
                                          <p:stCondLst>
                                            <p:cond delay="0"/>
                                          </p:stCondLst>
                                        </p:cTn>
                                        <p:tgtEl>
                                          <p:spTgt spid="36878"/>
                                        </p:tgtEl>
                                        <p:attrNameLst>
                                          <p:attrName>style.visibility</p:attrName>
                                        </p:attrNameLst>
                                      </p:cBhvr>
                                      <p:to>
                                        <p:strVal val="visible"/>
                                      </p:to>
                                    </p:set>
                                    <p:anim calcmode="lin" valueType="num">
                                      <p:cBhvr additive="base">
                                        <p:cTn id="17" dur="500" fill="hold"/>
                                        <p:tgtEl>
                                          <p:spTgt spid="36878"/>
                                        </p:tgtEl>
                                        <p:attrNameLst>
                                          <p:attrName>ppt_x</p:attrName>
                                        </p:attrNameLst>
                                      </p:cBhvr>
                                      <p:tavLst>
                                        <p:tav tm="0">
                                          <p:val>
                                            <p:strVal val="0-#ppt_w/2"/>
                                          </p:val>
                                        </p:tav>
                                        <p:tav tm="100000">
                                          <p:val>
                                            <p:strVal val="#ppt_x"/>
                                          </p:val>
                                        </p:tav>
                                      </p:tavLst>
                                    </p:anim>
                                    <p:anim calcmode="lin" valueType="num">
                                      <p:cBhvr additive="base">
                                        <p:cTn id="18" dur="500" fill="hold"/>
                                        <p:tgtEl>
                                          <p:spTgt spid="36878"/>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4">
                                            <p:txEl>
                                              <p:pRg st="0" end="0"/>
                                            </p:txEl>
                                          </p:spTgt>
                                        </p:tgtEl>
                                        <p:attrNameLst>
                                          <p:attrName>style.visibility</p:attrName>
                                        </p:attrNameLst>
                                      </p:cBhvr>
                                      <p:to>
                                        <p:strVal val="visible"/>
                                      </p:to>
                                    </p:set>
                                    <p:animEffect transition="in" filter="wipe(left)">
                                      <p:cBhvr>
                                        <p:cTn id="23" dur="500"/>
                                        <p:tgtEl>
                                          <p:spTgt spid="14">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4">
                                            <p:txEl>
                                              <p:pRg st="1" end="1"/>
                                            </p:txEl>
                                          </p:spTgt>
                                        </p:tgtEl>
                                        <p:attrNameLst>
                                          <p:attrName>style.visibility</p:attrName>
                                        </p:attrNameLst>
                                      </p:cBhvr>
                                      <p:to>
                                        <p:strVal val="visible"/>
                                      </p:to>
                                    </p:set>
                                    <p:animEffect transition="in" filter="wipe(left)">
                                      <p:cBhvr>
                                        <p:cTn id="28" dur="500"/>
                                        <p:tgtEl>
                                          <p:spTgt spid="14">
                                            <p:txEl>
                                              <p:pRg st="1" end="1"/>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4">
                                            <p:txEl>
                                              <p:pRg st="2" end="2"/>
                                            </p:txEl>
                                          </p:spTgt>
                                        </p:tgtEl>
                                        <p:attrNameLst>
                                          <p:attrName>style.visibility</p:attrName>
                                        </p:attrNameLst>
                                      </p:cBhvr>
                                      <p:to>
                                        <p:strVal val="visible"/>
                                      </p:to>
                                    </p:set>
                                    <p:animEffect transition="in" filter="wipe(left)">
                                      <p:cBhvr>
                                        <p:cTn id="33" dur="500"/>
                                        <p:tgtEl>
                                          <p:spTgt spid="14">
                                            <p:txEl>
                                              <p:pRg st="2" end="2"/>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1" fill="hold" grpId="0" nodeType="clickEffect">
                                  <p:stCondLst>
                                    <p:cond delay="0"/>
                                  </p:stCondLst>
                                  <p:childTnLst>
                                    <p:set>
                                      <p:cBhvr>
                                        <p:cTn id="37" dur="1" fill="hold">
                                          <p:stCondLst>
                                            <p:cond delay="0"/>
                                          </p:stCondLst>
                                        </p:cTn>
                                        <p:tgtEl>
                                          <p:spTgt spid="36870"/>
                                        </p:tgtEl>
                                        <p:attrNameLst>
                                          <p:attrName>style.visibility</p:attrName>
                                        </p:attrNameLst>
                                      </p:cBhvr>
                                      <p:to>
                                        <p:strVal val="visible"/>
                                      </p:to>
                                    </p:set>
                                    <p:animEffect transition="in" filter="wipe(up)">
                                      <p:cBhvr>
                                        <p:cTn id="38" dur="500"/>
                                        <p:tgtEl>
                                          <p:spTgt spid="36870"/>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wipe(left)">
                                      <p:cBhvr>
                                        <p:cTn id="43" dur="500"/>
                                        <p:tgtEl>
                                          <p:spTgt spid="15"/>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16">
                                            <p:txEl>
                                              <p:pRg st="0" end="0"/>
                                            </p:txEl>
                                          </p:spTgt>
                                        </p:tgtEl>
                                        <p:attrNameLst>
                                          <p:attrName>style.visibility</p:attrName>
                                        </p:attrNameLst>
                                      </p:cBhvr>
                                      <p:to>
                                        <p:strVal val="visible"/>
                                      </p:to>
                                    </p:set>
                                    <p:animEffect transition="in" filter="wipe(left)">
                                      <p:cBhvr>
                                        <p:cTn id="48" dur="500"/>
                                        <p:tgtEl>
                                          <p:spTgt spid="16">
                                            <p:txEl>
                                              <p:pRg st="0" end="0"/>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16">
                                            <p:txEl>
                                              <p:pRg st="1" end="1"/>
                                            </p:txEl>
                                          </p:spTgt>
                                        </p:tgtEl>
                                        <p:attrNameLst>
                                          <p:attrName>style.visibility</p:attrName>
                                        </p:attrNameLst>
                                      </p:cBhvr>
                                      <p:to>
                                        <p:strVal val="visible"/>
                                      </p:to>
                                    </p:set>
                                    <p:animEffect transition="in" filter="wipe(left)">
                                      <p:cBhvr>
                                        <p:cTn id="53" dur="500"/>
                                        <p:tgtEl>
                                          <p:spTgt spid="1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9" grpId="0" autoUpdateAnimBg="0"/>
      <p:bldP spid="36870" grpId="0" autoUpdateAnimBg="0"/>
      <p:bldP spid="14" grpId="0" autoUpdateAnimBg="0" build="p"/>
      <p:bldP spid="15" grpId="0" autoUpdateAnimBg="0"/>
      <p:bldP spid="16" grpId="0" autoUpdateAnimBg="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4994" name="Picture 2" descr="fabj"/>
          <p:cNvPicPr>
            <a:picLocks noChangeAspect="1" noChangeArrowheads="1"/>
          </p:cNvPicPr>
          <p:nvPr/>
        </p:nvPicPr>
        <p:blipFill>
          <a:blip r:embed="rId1">
            <a:extLst>
              <a:ext uri="{28A0092B-C50C-407E-A947-70E740481C1C}">
                <a14:useLocalDpi xmlns:a14="http://schemas.microsoft.com/office/drawing/2010/main" val="0"/>
              </a:ext>
            </a:extLst>
          </a:blip>
          <a:srcRect b="56467"/>
          <a:stretch>
            <a:fillRect/>
          </a:stretch>
        </p:blipFill>
        <p:spPr bwMode="auto">
          <a:xfrm>
            <a:off x="731838" y="1103313"/>
            <a:ext cx="7888287" cy="2992437"/>
          </a:xfrm>
          <a:prstGeom prst="rect">
            <a:avLst/>
          </a:prstGeom>
          <a:noFill/>
          <a:extLst>
            <a:ext uri="{909E8E84-426E-40DD-AFC4-6F175D3DCCD1}">
              <a14:hiddenFill xmlns:a14="http://schemas.microsoft.com/office/drawing/2010/main">
                <a:solidFill>
                  <a:srgbClr val="FFFFFF"/>
                </a:solidFill>
              </a14:hiddenFill>
            </a:ext>
          </a:extLst>
        </p:spPr>
      </p:pic>
      <p:sp>
        <p:nvSpPr>
          <p:cNvPr id="84995" name="Text Box 3"/>
          <p:cNvSpPr txBox="1">
            <a:spLocks noChangeArrowheads="1"/>
          </p:cNvSpPr>
          <p:nvPr/>
        </p:nvSpPr>
        <p:spPr bwMode="auto">
          <a:xfrm>
            <a:off x="2517285" y="4694815"/>
            <a:ext cx="49926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kumimoji="1" lang="zh-CN" altLang="en-US" sz="2400" b="1" dirty="0">
                <a:solidFill>
                  <a:srgbClr val="660066"/>
                </a:solidFill>
                <a:latin typeface="Times New Roman" panose="02020603050405020304" pitchFamily="18" charset="0"/>
                <a:ea typeface="幼圆" panose="02010509060101010101" pitchFamily="49" charset="-122"/>
              </a:rPr>
              <a:t>结构设计</a:t>
            </a:r>
            <a:r>
              <a:rPr kumimoji="1" lang="en-US" altLang="zh-CN" sz="2400" b="1" dirty="0">
                <a:solidFill>
                  <a:srgbClr val="660066"/>
                </a:solidFill>
                <a:latin typeface="Times New Roman" panose="02020603050405020304" pitchFamily="18" charset="0"/>
                <a:ea typeface="幼圆" panose="02010509060101010101" pitchFamily="49" charset="-122"/>
              </a:rPr>
              <a:t>1</a:t>
            </a:r>
            <a:r>
              <a:rPr kumimoji="1" lang="en-US" altLang="zh-CN" sz="2400" b="1" dirty="0">
                <a:latin typeface="Times New Roman" panose="02020603050405020304" pitchFamily="18" charset="0"/>
                <a:ea typeface="幼圆" panose="02010509060101010101" pitchFamily="49" charset="-122"/>
              </a:rPr>
              <a:t>——</a:t>
            </a:r>
            <a:r>
              <a:rPr kumimoji="1" lang="zh-CN" altLang="en-US" sz="2400" b="1" dirty="0">
                <a:latin typeface="Times New Roman" panose="02020603050405020304" pitchFamily="18" charset="0"/>
                <a:ea typeface="幼圆" panose="02010509060101010101" pitchFamily="49" charset="-122"/>
              </a:rPr>
              <a:t>装拆、固定、定位等</a:t>
            </a:r>
            <a:endParaRPr kumimoji="1" lang="zh-CN" altLang="en-US" sz="2400" b="1" dirty="0">
              <a:latin typeface="Times New Roman" panose="02020603050405020304" pitchFamily="18" charset="0"/>
              <a:ea typeface="幼圆" panose="02010509060101010101" pitchFamily="49" charset="-122"/>
            </a:endParaRPr>
          </a:p>
        </p:txBody>
      </p:sp>
      <p:graphicFrame>
        <p:nvGraphicFramePr>
          <p:cNvPr id="84996" name="Object 4"/>
          <p:cNvGraphicFramePr>
            <a:graphicFrameLocks noChangeAspect="1"/>
          </p:cNvGraphicFramePr>
          <p:nvPr/>
        </p:nvGraphicFramePr>
        <p:xfrm>
          <a:off x="0" y="5151438"/>
          <a:ext cx="2746375" cy="1633537"/>
        </p:xfrm>
        <a:graphic>
          <a:graphicData uri="http://schemas.openxmlformats.org/presentationml/2006/ole">
            <mc:AlternateContent xmlns:mc="http://schemas.openxmlformats.org/markup-compatibility/2006">
              <mc:Choice xmlns:v="urn:schemas-microsoft-com:vml" Requires="v">
                <p:oleObj spid="_x0000_s17457" name="位图图像" r:id="rId2" imgW="3733800" imgH="2647950" progId="Paint.Picture">
                  <p:embed/>
                </p:oleObj>
              </mc:Choice>
              <mc:Fallback>
                <p:oleObj name="位图图像" r:id="rId2" imgW="3733800" imgH="2647950" progId="Paint.Picture">
                  <p:embed/>
                  <p:pic>
                    <p:nvPicPr>
                      <p:cNvPr id="0" name="图片 17440"/>
                      <p:cNvPicPr>
                        <a:picLocks noChangeAspect="1" noChangeArrowheads="1"/>
                      </p:cNvPicPr>
                      <p:nvPr/>
                    </p:nvPicPr>
                    <p:blipFill>
                      <a:blip r:embed="rId3">
                        <a:extLst>
                          <a:ext uri="{28A0092B-C50C-407E-A947-70E740481C1C}">
                            <a14:useLocalDpi xmlns:a14="http://schemas.microsoft.com/office/drawing/2010/main" val="0"/>
                          </a:ext>
                        </a:extLst>
                      </a:blip>
                      <a:srcRect l="2040" t="8633" r="8163" b="16066"/>
                      <a:stretch>
                        <a:fillRect/>
                      </a:stretch>
                    </p:blipFill>
                    <p:spPr bwMode="auto">
                      <a:xfrm>
                        <a:off x="0" y="5151438"/>
                        <a:ext cx="2746375" cy="163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Text Box 6"/>
          <p:cNvSpPr txBox="1">
            <a:spLocks noChangeArrowheads="1"/>
          </p:cNvSpPr>
          <p:nvPr/>
        </p:nvSpPr>
        <p:spPr bwMode="auto">
          <a:xfrm>
            <a:off x="4864100" y="174625"/>
            <a:ext cx="4254500"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sz="3000" dirty="0" smtClean="0">
                <a:solidFill>
                  <a:srgbClr val="CC3300"/>
                </a:solidFill>
                <a:latin typeface="黑体" panose="02010609060101010101" pitchFamily="49" charset="-122"/>
                <a:ea typeface="黑体" panose="02010609060101010101" pitchFamily="49" charset="-122"/>
              </a:rPr>
              <a:t>3.7-2 </a:t>
            </a:r>
            <a:r>
              <a:rPr lang="zh-CN" altLang="en-US" sz="3000" dirty="0">
                <a:solidFill>
                  <a:srgbClr val="CC3300"/>
                </a:solidFill>
                <a:latin typeface="黑体" panose="02010609060101010101" pitchFamily="49" charset="-122"/>
                <a:ea typeface="黑体" panose="02010609060101010101" pitchFamily="49" charset="-122"/>
              </a:rPr>
              <a:t>轴的结构设计</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6"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6018" name="Picture 2"/>
          <p:cNvPicPr>
            <a:picLocks noChangeAspect="1" noChangeArrowheads="1"/>
          </p:cNvPicPr>
          <p:nvPr/>
        </p:nvPicPr>
        <p:blipFill>
          <a:blip r:embed="rId1">
            <a:extLst>
              <a:ext uri="{28A0092B-C50C-407E-A947-70E740481C1C}">
                <a14:useLocalDpi xmlns:a14="http://schemas.microsoft.com/office/drawing/2010/main" val="0"/>
              </a:ext>
            </a:extLst>
          </a:blip>
          <a:srcRect l="38036" t="24002" b="45833"/>
          <a:stretch>
            <a:fillRect/>
          </a:stretch>
        </p:blipFill>
        <p:spPr bwMode="auto">
          <a:xfrm>
            <a:off x="0" y="1217959"/>
            <a:ext cx="8905875" cy="325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99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6019" name="Text Box 3"/>
          <p:cNvSpPr txBox="1">
            <a:spLocks noChangeArrowheads="1"/>
          </p:cNvSpPr>
          <p:nvPr/>
        </p:nvSpPr>
        <p:spPr bwMode="auto">
          <a:xfrm>
            <a:off x="2025949" y="4792758"/>
            <a:ext cx="6429375"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kumimoji="1" lang="zh-CN" altLang="en-US" sz="2200" b="1" dirty="0">
                <a:solidFill>
                  <a:srgbClr val="660066"/>
                </a:solidFill>
                <a:latin typeface="Times New Roman" panose="02020603050405020304" pitchFamily="18" charset="0"/>
                <a:ea typeface="幼圆" panose="02010509060101010101" pitchFamily="49" charset="-122"/>
              </a:rPr>
              <a:t>结构设计</a:t>
            </a:r>
            <a:r>
              <a:rPr kumimoji="1" lang="en-US" altLang="zh-CN" sz="2200" b="1" dirty="0">
                <a:solidFill>
                  <a:srgbClr val="660066"/>
                </a:solidFill>
                <a:latin typeface="Times New Roman" panose="02020603050405020304" pitchFamily="18" charset="0"/>
                <a:ea typeface="幼圆" panose="02010509060101010101" pitchFamily="49" charset="-122"/>
              </a:rPr>
              <a:t>2</a:t>
            </a:r>
            <a:r>
              <a:rPr kumimoji="1" lang="en-US" altLang="zh-CN" sz="2200" b="1" dirty="0">
                <a:latin typeface="Times New Roman" panose="02020603050405020304" pitchFamily="18" charset="0"/>
                <a:ea typeface="幼圆" panose="02010509060101010101" pitchFamily="49" charset="-122"/>
              </a:rPr>
              <a:t>——</a:t>
            </a:r>
            <a:r>
              <a:rPr kumimoji="1" lang="zh-CN" altLang="en-US" sz="2200" b="1" dirty="0">
                <a:latin typeface="Times New Roman" panose="02020603050405020304" pitchFamily="18" charset="0"/>
                <a:ea typeface="幼圆" panose="02010509060101010101" pitchFamily="49" charset="-122"/>
              </a:rPr>
              <a:t>各轴段直径、长度</a:t>
            </a:r>
            <a:endParaRPr kumimoji="1" lang="zh-CN" altLang="en-US" sz="2200" b="1" dirty="0">
              <a:latin typeface="Times New Roman" panose="02020603050405020304" pitchFamily="18" charset="0"/>
              <a:ea typeface="幼圆" panose="02010509060101010101" pitchFamily="49" charset="-122"/>
            </a:endParaRPr>
          </a:p>
        </p:txBody>
      </p:sp>
      <p:graphicFrame>
        <p:nvGraphicFramePr>
          <p:cNvPr id="86020" name="Object 4"/>
          <p:cNvGraphicFramePr>
            <a:graphicFrameLocks noChangeAspect="1"/>
          </p:cNvGraphicFramePr>
          <p:nvPr/>
        </p:nvGraphicFramePr>
        <p:xfrm>
          <a:off x="0" y="4889485"/>
          <a:ext cx="2746375" cy="1633537"/>
        </p:xfrm>
        <a:graphic>
          <a:graphicData uri="http://schemas.openxmlformats.org/presentationml/2006/ole">
            <mc:AlternateContent xmlns:mc="http://schemas.openxmlformats.org/markup-compatibility/2006">
              <mc:Choice xmlns:v="urn:schemas-microsoft-com:vml" Requires="v">
                <p:oleObj spid="_x0000_s18482" name="位图图像" r:id="rId2" imgW="3733800" imgH="2647950" progId="Paint.Picture">
                  <p:embed/>
                </p:oleObj>
              </mc:Choice>
              <mc:Fallback>
                <p:oleObj name="位图图像" r:id="rId2" imgW="3733800" imgH="2647950" progId="Paint.Picture">
                  <p:embed/>
                  <p:pic>
                    <p:nvPicPr>
                      <p:cNvPr id="0" name="图片 18465"/>
                      <p:cNvPicPr>
                        <a:picLocks noChangeAspect="1" noChangeArrowheads="1"/>
                      </p:cNvPicPr>
                      <p:nvPr/>
                    </p:nvPicPr>
                    <p:blipFill>
                      <a:blip r:embed="rId3">
                        <a:extLst>
                          <a:ext uri="{28A0092B-C50C-407E-A947-70E740481C1C}">
                            <a14:useLocalDpi xmlns:a14="http://schemas.microsoft.com/office/drawing/2010/main" val="0"/>
                          </a:ext>
                        </a:extLst>
                      </a:blip>
                      <a:srcRect l="2040" t="8633" r="8163" b="16066"/>
                      <a:stretch>
                        <a:fillRect/>
                      </a:stretch>
                    </p:blipFill>
                    <p:spPr bwMode="auto">
                      <a:xfrm>
                        <a:off x="0" y="4889485"/>
                        <a:ext cx="2746375" cy="163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Text Box 6"/>
          <p:cNvSpPr txBox="1">
            <a:spLocks noChangeArrowheads="1"/>
          </p:cNvSpPr>
          <p:nvPr/>
        </p:nvSpPr>
        <p:spPr bwMode="auto">
          <a:xfrm>
            <a:off x="4864100" y="174625"/>
            <a:ext cx="4254500"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sz="3000" dirty="0" smtClean="0">
                <a:solidFill>
                  <a:srgbClr val="CC3300"/>
                </a:solidFill>
                <a:latin typeface="黑体" panose="02010609060101010101" pitchFamily="49" charset="-122"/>
                <a:ea typeface="黑体" panose="02010609060101010101" pitchFamily="49" charset="-122"/>
              </a:rPr>
              <a:t>3.7-2 </a:t>
            </a:r>
            <a:r>
              <a:rPr lang="zh-CN" altLang="en-US" sz="3000" dirty="0">
                <a:solidFill>
                  <a:srgbClr val="CC3300"/>
                </a:solidFill>
                <a:latin typeface="黑体" panose="02010609060101010101" pitchFamily="49" charset="-122"/>
                <a:ea typeface="黑体" panose="02010609060101010101" pitchFamily="49" charset="-122"/>
              </a:rPr>
              <a:t>轴的结构设计</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6"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7042" name="Picture 2"/>
          <p:cNvPicPr>
            <a:picLocks noChangeAspect="1" noChangeArrowheads="1"/>
          </p:cNvPicPr>
          <p:nvPr/>
        </p:nvPicPr>
        <p:blipFill>
          <a:blip r:embed="rId1">
            <a:extLst>
              <a:ext uri="{28A0092B-C50C-407E-A947-70E740481C1C}">
                <a14:useLocalDpi xmlns:a14="http://schemas.microsoft.com/office/drawing/2010/main" val="0"/>
              </a:ext>
            </a:extLst>
          </a:blip>
          <a:srcRect l="36311" t="30556" r="1335" b="31163"/>
          <a:stretch>
            <a:fillRect/>
          </a:stretch>
        </p:blipFill>
        <p:spPr bwMode="auto">
          <a:xfrm>
            <a:off x="290513" y="1109663"/>
            <a:ext cx="8548687" cy="393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99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87044" name="Object 4"/>
          <p:cNvGraphicFramePr>
            <a:graphicFrameLocks noChangeAspect="1"/>
          </p:cNvGraphicFramePr>
          <p:nvPr/>
        </p:nvGraphicFramePr>
        <p:xfrm>
          <a:off x="0" y="5224463"/>
          <a:ext cx="2746375" cy="1633537"/>
        </p:xfrm>
        <a:graphic>
          <a:graphicData uri="http://schemas.openxmlformats.org/presentationml/2006/ole">
            <mc:AlternateContent xmlns:mc="http://schemas.openxmlformats.org/markup-compatibility/2006">
              <mc:Choice xmlns:v="urn:schemas-microsoft-com:vml" Requires="v">
                <p:oleObj spid="_x0000_s19505" name="位图图像" r:id="rId2" imgW="3733800" imgH="2647950" progId="Paint.Picture">
                  <p:embed/>
                </p:oleObj>
              </mc:Choice>
              <mc:Fallback>
                <p:oleObj name="位图图像" r:id="rId2" imgW="3733800" imgH="2647950" progId="Paint.Picture">
                  <p:embed/>
                  <p:pic>
                    <p:nvPicPr>
                      <p:cNvPr id="0" name="图片 19488"/>
                      <p:cNvPicPr>
                        <a:picLocks noChangeAspect="1" noChangeArrowheads="1"/>
                      </p:cNvPicPr>
                      <p:nvPr/>
                    </p:nvPicPr>
                    <p:blipFill>
                      <a:blip r:embed="rId3">
                        <a:extLst>
                          <a:ext uri="{28A0092B-C50C-407E-A947-70E740481C1C}">
                            <a14:useLocalDpi xmlns:a14="http://schemas.microsoft.com/office/drawing/2010/main" val="0"/>
                          </a:ext>
                        </a:extLst>
                      </a:blip>
                      <a:srcRect l="2040" t="8633" r="8163" b="16066"/>
                      <a:stretch>
                        <a:fillRect/>
                      </a:stretch>
                    </p:blipFill>
                    <p:spPr bwMode="auto">
                      <a:xfrm>
                        <a:off x="0" y="5224463"/>
                        <a:ext cx="2746375" cy="163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7043" name="Text Box 3"/>
          <p:cNvSpPr txBox="1">
            <a:spLocks noChangeArrowheads="1"/>
          </p:cNvSpPr>
          <p:nvPr/>
        </p:nvSpPr>
        <p:spPr bwMode="auto">
          <a:xfrm>
            <a:off x="1949010" y="5068935"/>
            <a:ext cx="5819775"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kumimoji="1" lang="zh-CN" altLang="en-US" sz="2200" b="1" dirty="0">
                <a:solidFill>
                  <a:srgbClr val="660066"/>
                </a:solidFill>
                <a:latin typeface="Times New Roman" panose="02020603050405020304" pitchFamily="18" charset="0"/>
                <a:ea typeface="幼圆" panose="02010509060101010101" pitchFamily="49" charset="-122"/>
              </a:rPr>
              <a:t>结构设计</a:t>
            </a:r>
            <a:r>
              <a:rPr kumimoji="1" lang="en-US" altLang="zh-CN" sz="2200" b="1" dirty="0">
                <a:solidFill>
                  <a:srgbClr val="660066"/>
                </a:solidFill>
                <a:latin typeface="Times New Roman" panose="02020603050405020304" pitchFamily="18" charset="0"/>
                <a:ea typeface="幼圆" panose="02010509060101010101" pitchFamily="49" charset="-122"/>
              </a:rPr>
              <a:t>3</a:t>
            </a:r>
            <a:r>
              <a:rPr kumimoji="1" lang="en-US" altLang="zh-CN" sz="2200" b="1" dirty="0">
                <a:latin typeface="Times New Roman" panose="02020603050405020304" pitchFamily="18" charset="0"/>
                <a:ea typeface="幼圆" panose="02010509060101010101" pitchFamily="49" charset="-122"/>
              </a:rPr>
              <a:t> ——</a:t>
            </a:r>
            <a:r>
              <a:rPr kumimoji="1" lang="zh-CN" altLang="en-US" sz="2200" b="1" dirty="0">
                <a:latin typeface="Times New Roman" panose="02020603050405020304" pitchFamily="18" charset="0"/>
                <a:ea typeface="幼圆" panose="02010509060101010101" pitchFamily="49" charset="-122"/>
              </a:rPr>
              <a:t>轴支点距离及其它尺寸</a:t>
            </a:r>
            <a:endParaRPr kumimoji="1" lang="zh-CN" altLang="en-US" sz="2200" b="1" dirty="0">
              <a:latin typeface="Times New Roman" panose="02020603050405020304" pitchFamily="18" charset="0"/>
              <a:ea typeface="幼圆" panose="02010509060101010101" pitchFamily="49" charset="-122"/>
            </a:endParaRPr>
          </a:p>
        </p:txBody>
      </p:sp>
      <p:sp>
        <p:nvSpPr>
          <p:cNvPr id="5" name="Text Box 6"/>
          <p:cNvSpPr txBox="1">
            <a:spLocks noChangeArrowheads="1"/>
          </p:cNvSpPr>
          <p:nvPr/>
        </p:nvSpPr>
        <p:spPr bwMode="auto">
          <a:xfrm>
            <a:off x="4864100" y="174625"/>
            <a:ext cx="4254500"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sz="3000" dirty="0" smtClean="0">
                <a:solidFill>
                  <a:srgbClr val="CC3300"/>
                </a:solidFill>
                <a:latin typeface="黑体" panose="02010609060101010101" pitchFamily="49" charset="-122"/>
                <a:ea typeface="黑体" panose="02010609060101010101" pitchFamily="49" charset="-122"/>
              </a:rPr>
              <a:t>3.7-2 </a:t>
            </a:r>
            <a:r>
              <a:rPr lang="zh-CN" altLang="en-US" sz="3000" dirty="0">
                <a:solidFill>
                  <a:srgbClr val="CC3300"/>
                </a:solidFill>
                <a:latin typeface="黑体" panose="02010609060101010101" pitchFamily="49" charset="-122"/>
                <a:ea typeface="黑体" panose="02010609060101010101" pitchFamily="49" charset="-122"/>
              </a:rPr>
              <a:t>轴的结构设计</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6"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bwMode="auto">
          <a:xfrm>
            <a:off x="7165975" y="879475"/>
            <a:ext cx="1260475" cy="1968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algn="l" eaLnBrk="1" hangingPunct="1"/>
            <a:r>
              <a:rPr lang="zh-CN" altLang="en-US" sz="800" smtClean="0">
                <a:solidFill>
                  <a:schemeClr val="bg1"/>
                </a:solidFill>
                <a:latin typeface="黑体" panose="02010609060101010101" pitchFamily="49" charset="-122"/>
                <a:ea typeface="黑体" panose="02010609060101010101" pitchFamily="49" charset="-122"/>
              </a:rPr>
              <a:t>轴的结构设计</a:t>
            </a:r>
            <a:r>
              <a:rPr lang="en-US" altLang="zh-CN" sz="800" smtClean="0">
                <a:solidFill>
                  <a:schemeClr val="bg1"/>
                </a:solidFill>
                <a:latin typeface="黑体" panose="02010609060101010101" pitchFamily="49" charset="-122"/>
                <a:ea typeface="黑体" panose="02010609060101010101" pitchFamily="49" charset="-122"/>
              </a:rPr>
              <a:t>2</a:t>
            </a:r>
            <a:endParaRPr lang="en-US" altLang="zh-CN" sz="800" smtClean="0">
              <a:solidFill>
                <a:schemeClr val="bg1"/>
              </a:solidFill>
              <a:latin typeface="黑体" panose="02010609060101010101" pitchFamily="49" charset="-122"/>
              <a:ea typeface="黑体" panose="02010609060101010101" pitchFamily="49" charset="-122"/>
            </a:endParaRPr>
          </a:p>
        </p:txBody>
      </p:sp>
      <p:sp>
        <p:nvSpPr>
          <p:cNvPr id="33795" name="Text Box 4"/>
          <p:cNvSpPr txBox="1">
            <a:spLocks noChangeArrowheads="1"/>
          </p:cNvSpPr>
          <p:nvPr/>
        </p:nvSpPr>
        <p:spPr bwMode="auto">
          <a:xfrm>
            <a:off x="4849813" y="174625"/>
            <a:ext cx="29260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sz="2400" dirty="0" smtClean="0">
                <a:solidFill>
                  <a:srgbClr val="CC3300"/>
                </a:solidFill>
                <a:latin typeface="黑体" panose="02010609060101010101" pitchFamily="49" charset="-122"/>
                <a:ea typeface="黑体" panose="02010609060101010101" pitchFamily="49" charset="-122"/>
              </a:rPr>
              <a:t>3.7-2 </a:t>
            </a:r>
            <a:r>
              <a:rPr lang="zh-CN" altLang="en-US" sz="2400" dirty="0">
                <a:solidFill>
                  <a:srgbClr val="CC3300"/>
                </a:solidFill>
                <a:latin typeface="黑体" panose="02010609060101010101" pitchFamily="49" charset="-122"/>
                <a:ea typeface="黑体" panose="02010609060101010101" pitchFamily="49" charset="-122"/>
              </a:rPr>
              <a:t>轴的结构设计</a:t>
            </a:r>
            <a:endParaRPr lang="zh-CN" altLang="en-US" sz="2400" dirty="0">
              <a:solidFill>
                <a:srgbClr val="CC3300"/>
              </a:solidFill>
              <a:latin typeface="黑体" panose="02010609060101010101" pitchFamily="49" charset="-122"/>
              <a:ea typeface="黑体" panose="02010609060101010101" pitchFamily="49" charset="-122"/>
            </a:endParaRPr>
          </a:p>
        </p:txBody>
      </p:sp>
      <p:sp>
        <p:nvSpPr>
          <p:cNvPr id="36872" name="Text Box 8"/>
          <p:cNvSpPr txBox="1">
            <a:spLocks noChangeArrowheads="1"/>
          </p:cNvSpPr>
          <p:nvPr/>
        </p:nvSpPr>
        <p:spPr bwMode="auto">
          <a:xfrm>
            <a:off x="373629" y="1097576"/>
            <a:ext cx="4234180" cy="429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zh-CN" altLang="en-US" sz="2200" dirty="0">
                <a:solidFill>
                  <a:srgbClr val="C00000"/>
                </a:solidFill>
                <a:latin typeface="黑体" panose="02010609060101010101" pitchFamily="49" charset="-122"/>
                <a:ea typeface="黑体" panose="02010609060101010101" pitchFamily="49" charset="-122"/>
              </a:rPr>
              <a:t>四、提高轴的强度、刚度的方法 </a:t>
            </a:r>
            <a:endParaRPr lang="zh-CN" altLang="en-US" sz="2200" dirty="0">
              <a:solidFill>
                <a:srgbClr val="C00000"/>
              </a:solidFill>
              <a:latin typeface="黑体" panose="02010609060101010101" pitchFamily="49" charset="-122"/>
              <a:ea typeface="黑体" panose="02010609060101010101" pitchFamily="49" charset="-122"/>
            </a:endParaRPr>
          </a:p>
        </p:txBody>
      </p:sp>
      <p:sp>
        <p:nvSpPr>
          <p:cNvPr id="36873" name="Text Box 9"/>
          <p:cNvSpPr txBox="1">
            <a:spLocks noChangeArrowheads="1"/>
          </p:cNvSpPr>
          <p:nvPr/>
        </p:nvSpPr>
        <p:spPr bwMode="auto">
          <a:xfrm>
            <a:off x="1030137" y="3711272"/>
            <a:ext cx="5474970" cy="2630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algn="l" eaLnBrk="1" hangingPunct="1">
              <a:lnSpc>
                <a:spcPct val="150000"/>
              </a:lnSpc>
            </a:pPr>
            <a:r>
              <a:rPr lang="en-US" altLang="zh-CN" sz="2200" dirty="0" smtClean="0">
                <a:solidFill>
                  <a:srgbClr val="FF0066"/>
                </a:solidFill>
                <a:latin typeface="华文中宋" panose="02010600040101010101" pitchFamily="2" charset="-122"/>
              </a:rPr>
              <a:t>1</a:t>
            </a:r>
            <a:r>
              <a:rPr lang="zh-CN" altLang="en-US" sz="2200" dirty="0" smtClean="0">
                <a:solidFill>
                  <a:srgbClr val="FF0066"/>
                </a:solidFill>
                <a:latin typeface="华文中宋" panose="02010600040101010101" pitchFamily="2" charset="-122"/>
              </a:rPr>
              <a:t>、</a:t>
            </a:r>
            <a:r>
              <a:rPr lang="zh-CN" altLang="en-US" sz="2200" dirty="0" smtClean="0">
                <a:latin typeface="华文中宋" panose="02010600040101010101" pitchFamily="2" charset="-122"/>
              </a:rPr>
              <a:t>合理</a:t>
            </a:r>
            <a:r>
              <a:rPr lang="zh-CN" altLang="en-US" sz="2200" dirty="0">
                <a:latin typeface="华文中宋" panose="02010600040101010101" pitchFamily="2" charset="-122"/>
              </a:rPr>
              <a:t>布置轴上零件以</a:t>
            </a:r>
            <a:r>
              <a:rPr lang="zh-CN" altLang="en-US" sz="2200" dirty="0">
                <a:latin typeface="华文中宋" panose="02010600040101010101" pitchFamily="2" charset="-122"/>
                <a:hlinkClick r:id="rId1" action="ppaction://hlinksldjump"/>
              </a:rPr>
              <a:t>减小轴的所受转矩</a:t>
            </a:r>
            <a:endParaRPr lang="zh-CN" altLang="en-US" sz="2200" dirty="0">
              <a:latin typeface="华文中宋" panose="02010600040101010101" pitchFamily="2" charset="-122"/>
            </a:endParaRPr>
          </a:p>
          <a:p>
            <a:pPr algn="l" eaLnBrk="1" hangingPunct="1">
              <a:lnSpc>
                <a:spcPct val="150000"/>
              </a:lnSpc>
            </a:pPr>
            <a:r>
              <a:rPr lang="en-US" altLang="zh-CN" sz="2200" dirty="0" smtClean="0">
                <a:solidFill>
                  <a:srgbClr val="FF0066"/>
                </a:solidFill>
                <a:latin typeface="华文中宋" panose="02010600040101010101" pitchFamily="2" charset="-122"/>
              </a:rPr>
              <a:t>2</a:t>
            </a:r>
            <a:r>
              <a:rPr lang="zh-CN" altLang="en-US" sz="2200" dirty="0" smtClean="0">
                <a:solidFill>
                  <a:srgbClr val="FF0066"/>
                </a:solidFill>
                <a:latin typeface="华文中宋" panose="02010600040101010101" pitchFamily="2" charset="-122"/>
              </a:rPr>
              <a:t>、</a:t>
            </a:r>
            <a:r>
              <a:rPr lang="zh-CN" altLang="en-US" sz="2200" dirty="0" smtClean="0">
                <a:latin typeface="华文中宋" panose="02010600040101010101" pitchFamily="2" charset="-122"/>
              </a:rPr>
              <a:t>改进</a:t>
            </a:r>
            <a:r>
              <a:rPr lang="zh-CN" altLang="en-US" sz="2200" dirty="0">
                <a:latin typeface="华文中宋" panose="02010600040101010101" pitchFamily="2" charset="-122"/>
              </a:rPr>
              <a:t>轴上零件的结构以</a:t>
            </a:r>
            <a:r>
              <a:rPr lang="zh-CN" altLang="en-US" sz="2200" dirty="0">
                <a:latin typeface="华文中宋" panose="02010600040101010101" pitchFamily="2" charset="-122"/>
                <a:hlinkClick r:id="rId2" action="ppaction://hlinksldjump"/>
              </a:rPr>
              <a:t>减小轴受载荷</a:t>
            </a:r>
            <a:endParaRPr lang="zh-CN" altLang="en-US" sz="2200" dirty="0">
              <a:latin typeface="华文中宋" panose="02010600040101010101" pitchFamily="2" charset="-122"/>
            </a:endParaRPr>
          </a:p>
          <a:p>
            <a:pPr algn="l" eaLnBrk="1" hangingPunct="1">
              <a:lnSpc>
                <a:spcPct val="150000"/>
              </a:lnSpc>
            </a:pPr>
            <a:r>
              <a:rPr lang="en-US" altLang="zh-CN" sz="2200" dirty="0" smtClean="0">
                <a:solidFill>
                  <a:srgbClr val="FF0066"/>
                </a:solidFill>
                <a:latin typeface="华文中宋" panose="02010600040101010101" pitchFamily="2" charset="-122"/>
              </a:rPr>
              <a:t>3</a:t>
            </a:r>
            <a:r>
              <a:rPr lang="zh-CN" altLang="en-US" sz="2200" dirty="0" smtClean="0">
                <a:solidFill>
                  <a:srgbClr val="FF0066"/>
                </a:solidFill>
                <a:latin typeface="华文中宋" panose="02010600040101010101" pitchFamily="2" charset="-122"/>
              </a:rPr>
              <a:t>、</a:t>
            </a:r>
            <a:r>
              <a:rPr lang="zh-CN" altLang="en-US" sz="2200" dirty="0" smtClean="0">
                <a:latin typeface="华文中宋" panose="02010600040101010101" pitchFamily="2" charset="-122"/>
              </a:rPr>
              <a:t>改进</a:t>
            </a:r>
            <a:r>
              <a:rPr lang="zh-CN" altLang="en-US" sz="2200" dirty="0">
                <a:latin typeface="华文中宋" panose="02010600040101010101" pitchFamily="2" charset="-122"/>
              </a:rPr>
              <a:t>轴的结构以</a:t>
            </a:r>
            <a:r>
              <a:rPr lang="zh-CN" altLang="en-US" sz="2200" dirty="0">
                <a:latin typeface="华文中宋" panose="02010600040101010101" pitchFamily="2" charset="-122"/>
                <a:hlinkClick r:id="rId3" action="ppaction://hlinksldjump"/>
              </a:rPr>
              <a:t>减小应力集中的影响</a:t>
            </a:r>
            <a:endParaRPr lang="zh-CN" altLang="en-US" sz="2200" dirty="0">
              <a:latin typeface="华文中宋" panose="02010600040101010101" pitchFamily="2" charset="-122"/>
            </a:endParaRPr>
          </a:p>
          <a:p>
            <a:pPr algn="l" eaLnBrk="1" hangingPunct="1">
              <a:lnSpc>
                <a:spcPct val="150000"/>
              </a:lnSpc>
            </a:pPr>
            <a:r>
              <a:rPr lang="en-US" altLang="zh-CN" sz="2200" dirty="0" smtClean="0">
                <a:solidFill>
                  <a:srgbClr val="FF0066"/>
                </a:solidFill>
                <a:latin typeface="华文中宋" panose="02010600040101010101" pitchFamily="2" charset="-122"/>
              </a:rPr>
              <a:t>4</a:t>
            </a:r>
            <a:r>
              <a:rPr lang="zh-CN" altLang="en-US" sz="2200" dirty="0" smtClean="0">
                <a:solidFill>
                  <a:srgbClr val="FF0066"/>
                </a:solidFill>
                <a:latin typeface="华文中宋" panose="02010600040101010101" pitchFamily="2" charset="-122"/>
              </a:rPr>
              <a:t>、</a:t>
            </a:r>
            <a:r>
              <a:rPr lang="zh-CN" altLang="en-US" sz="2200" dirty="0" smtClean="0">
                <a:latin typeface="华文中宋" panose="02010600040101010101" pitchFamily="2" charset="-122"/>
              </a:rPr>
              <a:t>改进</a:t>
            </a:r>
            <a:r>
              <a:rPr lang="zh-CN" altLang="en-US" sz="2200" dirty="0">
                <a:latin typeface="华文中宋" panose="02010600040101010101" pitchFamily="2" charset="-122"/>
              </a:rPr>
              <a:t>轴的表面质量以提高轴的疲劳强度 </a:t>
            </a:r>
            <a:endParaRPr lang="zh-CN" altLang="en-US" sz="2200" dirty="0">
              <a:latin typeface="华文中宋" panose="02010600040101010101" pitchFamily="2" charset="-122"/>
            </a:endParaRPr>
          </a:p>
          <a:p>
            <a:pPr algn="l" eaLnBrk="1" hangingPunct="1">
              <a:lnSpc>
                <a:spcPct val="150000"/>
              </a:lnSpc>
            </a:pPr>
            <a:r>
              <a:rPr lang="en-US" altLang="zh-CN" sz="2200" dirty="0">
                <a:solidFill>
                  <a:srgbClr val="FF0000"/>
                </a:solidFill>
                <a:latin typeface="华文中宋" panose="02010600040101010101" pitchFamily="2" charset="-122"/>
              </a:rPr>
              <a:t>5</a:t>
            </a:r>
            <a:r>
              <a:rPr lang="zh-CN" altLang="en-US" sz="2200" dirty="0">
                <a:solidFill>
                  <a:srgbClr val="FF0000"/>
                </a:solidFill>
                <a:latin typeface="华文中宋" panose="02010600040101010101" pitchFamily="2" charset="-122"/>
              </a:rPr>
              <a:t>、</a:t>
            </a:r>
            <a:r>
              <a:rPr lang="zh-CN" altLang="zh-CN" sz="2200" dirty="0">
                <a:sym typeface="+mn-ea"/>
              </a:rPr>
              <a:t>改变支点位置，改善轴的强度和刚度</a:t>
            </a:r>
            <a:endParaRPr lang="zh-CN" altLang="en-US" sz="2200" dirty="0">
              <a:latin typeface="华文中宋" panose="02010600040101010101" pitchFamily="2" charset="-122"/>
            </a:endParaRPr>
          </a:p>
        </p:txBody>
      </p:sp>
      <p:sp>
        <p:nvSpPr>
          <p:cNvPr id="33804" name="Text Box 15"/>
          <p:cNvSpPr txBox="1">
            <a:spLocks noChangeArrowheads="1"/>
          </p:cNvSpPr>
          <p:nvPr/>
        </p:nvSpPr>
        <p:spPr bwMode="auto">
          <a:xfrm>
            <a:off x="6196013" y="6353175"/>
            <a:ext cx="8350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50000"/>
              </a:spcBef>
            </a:pPr>
            <a:r>
              <a:rPr lang="en-US" altLang="zh-CN"/>
              <a:t>  </a:t>
            </a:r>
            <a:endParaRPr lang="en-US" altLang="zh-CN"/>
          </a:p>
        </p:txBody>
      </p:sp>
      <p:sp>
        <p:nvSpPr>
          <p:cNvPr id="33805"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pic>
        <p:nvPicPr>
          <p:cNvPr id="11" name="Picture 13" descr="NEXT">
            <a:hlinkClick r:id="rId4" action="ppaction://hlinksldjump"/>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199155" y="6070837"/>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p:cNvSpPr txBox="1">
            <a:spLocks noChangeArrowheads="1"/>
          </p:cNvSpPr>
          <p:nvPr/>
        </p:nvSpPr>
        <p:spPr bwMode="auto">
          <a:xfrm>
            <a:off x="375285" y="1615440"/>
            <a:ext cx="8377238" cy="188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a:lnSpc>
                <a:spcPct val="150000"/>
              </a:lnSpc>
            </a:pPr>
            <a:r>
              <a:rPr lang="zh-CN" altLang="zh-CN" dirty="0"/>
              <a:t> </a:t>
            </a:r>
            <a:r>
              <a:rPr lang="en-US" altLang="zh-CN" dirty="0"/>
              <a:t>       </a:t>
            </a:r>
            <a:r>
              <a:rPr lang="zh-CN" altLang="zh-CN" dirty="0"/>
              <a:t>虽然选择高强度的材料和加大轴的直径是提高轴强度和刚度的方法，但所带来的材料昂贵和重量增加也是设计时最忌讳的事。所以在轴的结构、工艺以及轴上零件的结构、布置和载荷分布等方面采取相应的措施，是提高轴强度和刚度的重要方法。</a:t>
            </a:r>
            <a:endParaRPr lang="zh-CN"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6872"/>
                                        </p:tgtEl>
                                        <p:attrNameLst>
                                          <p:attrName>style.visibility</p:attrName>
                                        </p:attrNameLst>
                                      </p:cBhvr>
                                      <p:to>
                                        <p:strVal val="visible"/>
                                      </p:to>
                                    </p:set>
                                    <p:animEffect transition="in" filter="wipe(left)">
                                      <p:cBhvr>
                                        <p:cTn id="7" dur="500"/>
                                        <p:tgtEl>
                                          <p:spTgt spid="3687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6873"/>
                                        </p:tgtEl>
                                        <p:attrNameLst>
                                          <p:attrName>style.visibility</p:attrName>
                                        </p:attrNameLst>
                                      </p:cBhvr>
                                      <p:to>
                                        <p:strVal val="visible"/>
                                      </p:to>
                                    </p:set>
                                    <p:animEffect transition="in" filter="wipe(up)">
                                      <p:cBhvr>
                                        <p:cTn id="17" dur="500"/>
                                        <p:tgtEl>
                                          <p:spTgt spid="36873"/>
                                        </p:tgtEl>
                                      </p:cBhvr>
                                    </p:animEffect>
                                  </p:childTnLst>
                                </p:cTn>
                              </p:par>
                            </p:childTnLst>
                          </p:cTn>
                        </p:par>
                        <p:par>
                          <p:cTn id="18" fill="hold">
                            <p:stCondLst>
                              <p:cond delay="500"/>
                            </p:stCondLst>
                            <p:childTnLst>
                              <p:par>
                                <p:cTn id="19" presetID="1" presetClass="entr" presetSubtype="0" fill="hold" nodeType="afterEffect">
                                  <p:stCondLst>
                                    <p:cond delay="0"/>
                                  </p:stCondLst>
                                  <p:childTnLst>
                                    <p:set>
                                      <p:cBhvr>
                                        <p:cTn id="20" dur="1" fill="hold">
                                          <p:stCondLst>
                                            <p:cond delay="499"/>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72" grpId="0" autoUpdateAnimBg="0"/>
      <p:bldP spid="36873" grpId="0" autoUpdateAnimBg="0"/>
      <p:bldP spid="3"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p:cNvSpPr>
            <a:spLocks noGrp="1" noChangeArrowheads="1"/>
          </p:cNvSpPr>
          <p:nvPr>
            <p:ph type="title"/>
          </p:nvPr>
        </p:nvSpPr>
        <p:spPr bwMode="auto">
          <a:xfrm>
            <a:off x="0" y="271604"/>
            <a:ext cx="8229600" cy="4953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2400" smtClean="0">
                <a:solidFill>
                  <a:srgbClr val="CC3300"/>
                </a:solidFill>
                <a:ea typeface="华文中宋" panose="02010600040101010101" pitchFamily="2" charset="-122"/>
              </a:rPr>
              <a:t>减小轴所受的转矩</a:t>
            </a:r>
            <a:endParaRPr lang="zh-CN" altLang="en-US" sz="2400" smtClean="0">
              <a:solidFill>
                <a:srgbClr val="CC3300"/>
              </a:solidFill>
              <a:ea typeface="华文中宋" panose="02010600040101010101" pitchFamily="2" charset="-122"/>
            </a:endParaRPr>
          </a:p>
        </p:txBody>
      </p:sp>
      <p:pic>
        <p:nvPicPr>
          <p:cNvPr id="31747" name="Picture 7"/>
          <p:cNvPicPr>
            <a:picLocks noChangeAspect="1" noChangeArrowheads="1"/>
          </p:cNvPicPr>
          <p:nvPr/>
        </p:nvPicPr>
        <p:blipFill>
          <a:blip r:embed="rId1" cstate="print">
            <a:extLst>
              <a:ext uri="{28A0092B-C50C-407E-A947-70E740481C1C}">
                <a14:useLocalDpi xmlns:a14="http://schemas.microsoft.com/office/drawing/2010/main" val="0"/>
              </a:ext>
            </a:extLst>
          </a:blip>
          <a:srcRect b="12271"/>
          <a:stretch>
            <a:fillRect/>
          </a:stretch>
        </p:blipFill>
        <p:spPr bwMode="auto">
          <a:xfrm>
            <a:off x="479708" y="1388166"/>
            <a:ext cx="5724525" cy="2425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8" name="矩形 5"/>
          <p:cNvSpPr>
            <a:spLocks noChangeArrowheads="1"/>
          </p:cNvSpPr>
          <p:nvPr/>
        </p:nvSpPr>
        <p:spPr bwMode="auto">
          <a:xfrm>
            <a:off x="1081669" y="3669828"/>
            <a:ext cx="13382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zh-CN" altLang="en-US" sz="1800"/>
              <a:t>合理的布置</a:t>
            </a:r>
            <a:endParaRPr lang="zh-CN" altLang="en-US" sz="1800"/>
          </a:p>
        </p:txBody>
      </p:sp>
      <p:sp>
        <p:nvSpPr>
          <p:cNvPr id="31749" name="矩形 6"/>
          <p:cNvSpPr>
            <a:spLocks noChangeArrowheads="1"/>
          </p:cNvSpPr>
          <p:nvPr/>
        </p:nvSpPr>
        <p:spPr bwMode="auto">
          <a:xfrm>
            <a:off x="4001459" y="3633489"/>
            <a:ext cx="15700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zh-CN" altLang="en-US" sz="1800"/>
              <a:t>不合理的布置</a:t>
            </a:r>
            <a:endParaRPr lang="zh-CN" altLang="en-US" sz="1800"/>
          </a:p>
        </p:txBody>
      </p:sp>
      <p:sp>
        <p:nvSpPr>
          <p:cNvPr id="31750" name="矩形 7"/>
          <p:cNvSpPr>
            <a:spLocks noChangeArrowheads="1"/>
          </p:cNvSpPr>
          <p:nvPr/>
        </p:nvSpPr>
        <p:spPr bwMode="auto">
          <a:xfrm>
            <a:off x="0" y="890588"/>
            <a:ext cx="670560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dirty="0"/>
              <a:t>       1.</a:t>
            </a:r>
            <a:r>
              <a:rPr lang="zh-CN" altLang="en-US" dirty="0"/>
              <a:t>合理布置轴上零件以减小轴的所受转矩</a:t>
            </a:r>
            <a:endParaRPr lang="zh-CN" altLang="en-US" dirty="0"/>
          </a:p>
        </p:txBody>
      </p:sp>
      <p:graphicFrame>
        <p:nvGraphicFramePr>
          <p:cNvPr id="14338" name="Object 14"/>
          <p:cNvGraphicFramePr>
            <a:graphicFrameLocks noChangeAspect="1"/>
          </p:cNvGraphicFramePr>
          <p:nvPr/>
        </p:nvGraphicFramePr>
        <p:xfrm>
          <a:off x="0" y="219075"/>
          <a:ext cx="114300" cy="219075"/>
        </p:xfrm>
        <a:graphic>
          <a:graphicData uri="http://schemas.openxmlformats.org/presentationml/2006/ole">
            <mc:AlternateContent xmlns:mc="http://schemas.openxmlformats.org/markup-compatibility/2006">
              <mc:Choice xmlns:v="urn:schemas-microsoft-com:vml" Requires="v">
                <p:oleObj spid="_x0000_s14402" name="公式" r:id="rId2" imgW="114300" imgH="215900" progId="Equation.3">
                  <p:embed/>
                </p:oleObj>
              </mc:Choice>
              <mc:Fallback>
                <p:oleObj name="公式" r:id="rId2" imgW="114300" imgH="215900" progId="Equation.3">
                  <p:embed/>
                  <p:pic>
                    <p:nvPicPr>
                      <p:cNvPr id="0" name="Object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19075"/>
                        <a:ext cx="114300" cy="219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760" name="Rectangle 16"/>
          <p:cNvSpPr>
            <a:spLocks noChangeArrowheads="1"/>
          </p:cNvSpPr>
          <p:nvPr/>
        </p:nvSpPr>
        <p:spPr bwMode="auto">
          <a:xfrm>
            <a:off x="228600" y="4076700"/>
            <a:ext cx="8636000" cy="827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a:lnSpc>
                <a:spcPct val="125000"/>
              </a:lnSpc>
            </a:pPr>
            <a:r>
              <a:rPr lang="zh-CN" altLang="en-US" dirty="0"/>
              <a:t>        当转矩由一个传动件输入，而由几个传动件输出时，为了减小轴上的扭矩，应将输入件放在中间，而不要置于一端。</a:t>
            </a:r>
            <a:endParaRPr lang="zh-CN" altLang="en-US" dirty="0"/>
          </a:p>
        </p:txBody>
      </p:sp>
      <p:sp>
        <p:nvSpPr>
          <p:cNvPr id="14345" name="Rectangle 17"/>
          <p:cNvSpPr>
            <a:spLocks noChangeArrowheads="1"/>
          </p:cNvSpPr>
          <p:nvPr/>
        </p:nvSpPr>
        <p:spPr bwMode="auto">
          <a:xfrm>
            <a:off x="0" y="2190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endParaRPr lang="zh-CN" altLang="en-US"/>
          </a:p>
        </p:txBody>
      </p:sp>
      <p:sp>
        <p:nvSpPr>
          <p:cNvPr id="14346" name="Rectangle 20"/>
          <p:cNvSpPr>
            <a:spLocks noChangeArrowheads="1"/>
          </p:cNvSpPr>
          <p:nvPr/>
        </p:nvSpPr>
        <p:spPr bwMode="auto">
          <a:xfrm>
            <a:off x="0" y="876300"/>
            <a:ext cx="20955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r>
              <a:rPr lang="zh-CN" altLang="en-US" sz="800"/>
              <a:t> </a:t>
            </a:r>
            <a:endParaRPr lang="zh-CN" altLang="en-US"/>
          </a:p>
        </p:txBody>
      </p:sp>
      <p:sp>
        <p:nvSpPr>
          <p:cNvPr id="21" name="矩形 20"/>
          <p:cNvSpPr>
            <a:spLocks noChangeArrowheads="1"/>
          </p:cNvSpPr>
          <p:nvPr/>
        </p:nvSpPr>
        <p:spPr bwMode="auto">
          <a:xfrm>
            <a:off x="266374" y="5010537"/>
            <a:ext cx="8496300" cy="862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25000"/>
              </a:lnSpc>
            </a:pPr>
            <a:r>
              <a:rPr lang="zh-CN" altLang="en-US" dirty="0"/>
              <a:t>       为了减小轴所承受的弯矩，传动件应尽量靠近轴承，并尽可能不采用悬臂的支承形式，力求缩短支承跨距及悬臂长度等。</a:t>
            </a:r>
            <a:endParaRPr lang="zh-CN" altLang="en-US" dirty="0"/>
          </a:p>
        </p:txBody>
      </p:sp>
      <p:sp>
        <p:nvSpPr>
          <p:cNvPr id="14348"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15" name="矩形 10"/>
          <p:cNvSpPr>
            <a:spLocks noChangeArrowheads="1"/>
          </p:cNvSpPr>
          <p:nvPr/>
        </p:nvSpPr>
        <p:spPr bwMode="auto">
          <a:xfrm>
            <a:off x="8447088" y="6264275"/>
            <a:ext cx="6969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zh-CN" altLang="en-US" dirty="0">
                <a:hlinkClick r:id="rId4" action="ppaction://hlinksldjump"/>
              </a:rPr>
              <a:t>返回</a:t>
            </a:r>
            <a:endParaRPr lang="zh-CN" altLang="en-US" dirty="0"/>
          </a:p>
        </p:txBody>
      </p:sp>
      <p:sp>
        <p:nvSpPr>
          <p:cNvPr id="14" name="Rectangle 5"/>
          <p:cNvSpPr>
            <a:spLocks noChangeArrowheads="1"/>
          </p:cNvSpPr>
          <p:nvPr/>
        </p:nvSpPr>
        <p:spPr bwMode="auto">
          <a:xfrm>
            <a:off x="6749562" y="992022"/>
            <a:ext cx="1608133" cy="3763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黑体" panose="02010609060101010101" pitchFamily="49" charset="-122"/>
                <a:ea typeface="黑体" panose="02010609060101010101" pitchFamily="49" charset="-122"/>
              </a:defRPr>
            </a:lvl1pPr>
            <a:lvl2pPr marL="742950" indent="-285750" eaLnBrk="0" hangingPunct="0">
              <a:defRPr kumimoji="1" sz="2400" b="1">
                <a:solidFill>
                  <a:schemeClr val="tx1"/>
                </a:solidFill>
                <a:latin typeface="黑体" panose="02010609060101010101" pitchFamily="49" charset="-122"/>
                <a:ea typeface="黑体" panose="02010609060101010101" pitchFamily="49" charset="-122"/>
              </a:defRPr>
            </a:lvl2pPr>
            <a:lvl3pPr marL="1143000" indent="-228600" eaLnBrk="0" hangingPunct="0">
              <a:defRPr kumimoji="1" sz="2400" b="1">
                <a:solidFill>
                  <a:schemeClr val="tx1"/>
                </a:solidFill>
                <a:latin typeface="黑体" panose="02010609060101010101" pitchFamily="49" charset="-122"/>
                <a:ea typeface="黑体" panose="02010609060101010101" pitchFamily="49" charset="-122"/>
              </a:defRPr>
            </a:lvl3pPr>
            <a:lvl4pPr marL="1600200" indent="-228600" eaLnBrk="0" hangingPunct="0">
              <a:defRPr kumimoji="1" sz="2400" b="1">
                <a:solidFill>
                  <a:schemeClr val="tx1"/>
                </a:solidFill>
                <a:latin typeface="黑体" panose="02010609060101010101" pitchFamily="49" charset="-122"/>
                <a:ea typeface="黑体" panose="02010609060101010101" pitchFamily="49" charset="-122"/>
              </a:defRPr>
            </a:lvl4pPr>
            <a:lvl5pPr marL="2057400" indent="-228600" eaLnBrk="0" hangingPunct="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pPr eaLnBrk="1" hangingPunct="1">
              <a:spcBef>
                <a:spcPct val="0"/>
              </a:spcBef>
            </a:pPr>
            <a:r>
              <a:rPr lang="zh-CN" altLang="en-US" sz="1845" dirty="0"/>
              <a:t>改善轴的受力</a:t>
            </a:r>
            <a:endParaRPr lang="zh-CN" altLang="en-US" sz="1845" dirty="0"/>
          </a:p>
        </p:txBody>
      </p:sp>
      <p:pic>
        <p:nvPicPr>
          <p:cNvPr id="16" name="Picture 1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87208" y="1386312"/>
            <a:ext cx="3056792" cy="25453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7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747"/>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grpId="0" nodeType="afterEffect">
                                  <p:stCondLst>
                                    <p:cond delay="0"/>
                                  </p:stCondLst>
                                  <p:childTnLst>
                                    <p:set>
                                      <p:cBhvr>
                                        <p:cTn id="13" dur="1" fill="hold">
                                          <p:stCondLst>
                                            <p:cond delay="0"/>
                                          </p:stCondLst>
                                        </p:cTn>
                                        <p:tgtEl>
                                          <p:spTgt spid="31748"/>
                                        </p:tgtEl>
                                        <p:attrNameLst>
                                          <p:attrName>style.visibility</p:attrName>
                                        </p:attrNameLst>
                                      </p:cBhvr>
                                      <p:to>
                                        <p:strVal val="visible"/>
                                      </p:to>
                                    </p:set>
                                  </p:childTnLst>
                                </p:cTn>
                              </p:par>
                            </p:childTnLst>
                          </p:cTn>
                        </p:par>
                        <p:par>
                          <p:cTn id="14" fill="hold">
                            <p:stCondLst>
                              <p:cond delay="0"/>
                            </p:stCondLst>
                            <p:childTnLst>
                              <p:par>
                                <p:cTn id="15" presetID="1" presetClass="entr" presetSubtype="0" fill="hold" grpId="0" nodeType="afterEffect">
                                  <p:stCondLst>
                                    <p:cond delay="0"/>
                                  </p:stCondLst>
                                  <p:childTnLst>
                                    <p:set>
                                      <p:cBhvr>
                                        <p:cTn id="16" dur="1" fill="hold">
                                          <p:stCondLst>
                                            <p:cond delay="0"/>
                                          </p:stCondLst>
                                        </p:cTn>
                                        <p:tgtEl>
                                          <p:spTgt spid="3174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176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childTnLst>
                          </p:cTn>
                        </p:par>
                        <p:par>
                          <p:cTn id="25" fill="hold">
                            <p:stCondLst>
                              <p:cond delay="0"/>
                            </p:stCondLst>
                            <p:childTnLst>
                              <p:par>
                                <p:cTn id="26" presetID="1" presetClass="entr" presetSubtype="0" fill="hold" grpId="0" nodeType="afterEffect">
                                  <p:stCondLst>
                                    <p:cond delay="0"/>
                                  </p:stCondLst>
                                  <p:childTnLst>
                                    <p:set>
                                      <p:cBhvr>
                                        <p:cTn id="27" dur="1" fill="hold">
                                          <p:stCondLst>
                                            <p:cond delay="0"/>
                                          </p:stCondLst>
                                        </p:cTn>
                                        <p:tgtEl>
                                          <p:spTgt spid="15"/>
                                        </p:tgtEl>
                                        <p:attrNameLst>
                                          <p:attrName>style.visibility</p:attrName>
                                        </p:attrNameLst>
                                      </p:cBhvr>
                                      <p:to>
                                        <p:strVal val="visible"/>
                                      </p:to>
                                    </p:set>
                                  </p:childTnLst>
                                </p:cTn>
                              </p:par>
                            </p:childTnLst>
                          </p:cTn>
                        </p:par>
                        <p:par>
                          <p:cTn id="28" fill="hold">
                            <p:stCondLst>
                              <p:cond delay="0"/>
                            </p:stCondLst>
                            <p:childTnLst>
                              <p:par>
                                <p:cTn id="29" presetID="22" presetClass="entr" presetSubtype="8" fill="hold" nodeType="after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wipe(left)">
                                      <p:cBhvr>
                                        <p:cTn id="31" dur="500"/>
                                        <p:tgtEl>
                                          <p:spTgt spid="16"/>
                                        </p:tgtEl>
                                      </p:cBhvr>
                                    </p:animEffect>
                                  </p:childTnLst>
                                  <p:subTnLst>
                                    <p:set>
                                      <p:cBhvr override="childStyle">
                                        <p:cTn dur="1" fill="hold" display="0" masterRel="nextClick" afterEffect="1"/>
                                        <p:tgtEl>
                                          <p:spTgt spid="16"/>
                                        </p:tgtEl>
                                        <p:attrNameLst>
                                          <p:attrName>style.visibility</p:attrName>
                                        </p:attrNameLst>
                                      </p:cBhvr>
                                      <p:to>
                                        <p:strVal val="hidden"/>
                                      </p:to>
                                    </p:set>
                                  </p:subTnLst>
                                </p:cTn>
                              </p:par>
                            </p:childTnLst>
                          </p:cTn>
                        </p:par>
                      </p:childTnLst>
                    </p:cTn>
                  </p:par>
                  <p:par>
                    <p:cTn id="32" fill="hold">
                      <p:stCondLst>
                        <p:cond delay="indefinite"/>
                      </p:stCondLst>
                      <p:childTnLst>
                        <p:par>
                          <p:cTn id="33" fill="hold">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dissolve">
                                      <p:cBhvr>
                                        <p:cTn id="3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8" grpId="0"/>
      <p:bldP spid="31749" grpId="0"/>
      <p:bldP spid="31750" grpId="0"/>
      <p:bldP spid="31760" grpId="0"/>
      <p:bldP spid="21" grpId="0"/>
      <p:bldP spid="15" grpId="0"/>
      <p:bldP spid="14" grpId="0"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bwMode="auto">
          <a:xfrm>
            <a:off x="495300" y="0"/>
            <a:ext cx="8229600" cy="4953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2400" smtClean="0">
                <a:solidFill>
                  <a:srgbClr val="CC3300"/>
                </a:solidFill>
                <a:ea typeface="华文中宋" panose="02010600040101010101" pitchFamily="2" charset="-122"/>
              </a:rPr>
              <a:t>减小轴的载荷</a:t>
            </a:r>
            <a:endParaRPr lang="zh-CN" altLang="en-US" sz="2400" smtClean="0">
              <a:solidFill>
                <a:srgbClr val="CC3300"/>
              </a:solidFill>
              <a:ea typeface="华文中宋" panose="02010600040101010101" pitchFamily="2" charset="-122"/>
            </a:endParaRPr>
          </a:p>
        </p:txBody>
      </p:sp>
      <p:sp>
        <p:nvSpPr>
          <p:cNvPr id="31751" name="Rectangle 8"/>
          <p:cNvSpPr>
            <a:spLocks noChangeArrowheads="1"/>
          </p:cNvSpPr>
          <p:nvPr/>
        </p:nvSpPr>
        <p:spPr bwMode="auto">
          <a:xfrm>
            <a:off x="81482" y="869936"/>
            <a:ext cx="5694508"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indent="427355"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sz="2200" dirty="0">
                <a:solidFill>
                  <a:schemeClr val="tx1">
                    <a:lumMod val="60000"/>
                    <a:lumOff val="40000"/>
                  </a:schemeClr>
                </a:solidFill>
                <a:latin typeface="黑体" panose="02010609060101010101" pitchFamily="49" charset="-122"/>
                <a:ea typeface="黑体" panose="02010609060101010101" pitchFamily="49" charset="-122"/>
              </a:rPr>
              <a:t>2.</a:t>
            </a:r>
            <a:r>
              <a:rPr lang="zh-CN" altLang="en-US" sz="2200" dirty="0">
                <a:solidFill>
                  <a:schemeClr val="tx1">
                    <a:lumMod val="60000"/>
                    <a:lumOff val="40000"/>
                  </a:schemeClr>
                </a:solidFill>
                <a:latin typeface="黑体" panose="02010609060101010101" pitchFamily="49" charset="-122"/>
                <a:ea typeface="黑体" panose="02010609060101010101" pitchFamily="49" charset="-122"/>
              </a:rPr>
              <a:t>改进轴上零件的结构，减少轴上的载荷</a:t>
            </a:r>
            <a:endParaRPr lang="zh-CN" altLang="en-US" sz="2200" dirty="0">
              <a:solidFill>
                <a:schemeClr val="tx1">
                  <a:lumMod val="60000"/>
                  <a:lumOff val="40000"/>
                </a:schemeClr>
              </a:solidFill>
              <a:latin typeface="黑体" panose="02010609060101010101" pitchFamily="49" charset="-122"/>
              <a:ea typeface="黑体" panose="02010609060101010101" pitchFamily="49" charset="-122"/>
            </a:endParaRPr>
          </a:p>
        </p:txBody>
      </p:sp>
      <p:pic>
        <p:nvPicPr>
          <p:cNvPr id="31752" name="图片 10"/>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129155" y="1444625"/>
            <a:ext cx="4699000" cy="170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53" name="矩形 11"/>
          <p:cNvSpPr>
            <a:spLocks noChangeArrowheads="1"/>
          </p:cNvSpPr>
          <p:nvPr/>
        </p:nvSpPr>
        <p:spPr bwMode="auto">
          <a:xfrm>
            <a:off x="4524375" y="3140075"/>
            <a:ext cx="30403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sz="1800"/>
              <a:t>b</a:t>
            </a:r>
            <a:r>
              <a:rPr lang="zh-CN" altLang="en-US" sz="1800"/>
              <a:t>）卷筒轴既受弯矩又受</a:t>
            </a:r>
            <a:r>
              <a:rPr lang="zh-CN" altLang="en-US" sz="1800"/>
              <a:t>转矩</a:t>
            </a:r>
            <a:endParaRPr lang="zh-CN" altLang="en-US" sz="1800"/>
          </a:p>
        </p:txBody>
      </p:sp>
      <p:sp>
        <p:nvSpPr>
          <p:cNvPr id="31754" name="矩形 12"/>
          <p:cNvSpPr>
            <a:spLocks noChangeArrowheads="1"/>
          </p:cNvSpPr>
          <p:nvPr/>
        </p:nvSpPr>
        <p:spPr bwMode="auto">
          <a:xfrm>
            <a:off x="889000" y="3127375"/>
            <a:ext cx="32562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sz="1800"/>
              <a:t>a</a:t>
            </a:r>
            <a:r>
              <a:rPr lang="zh-CN" altLang="en-US" sz="1800"/>
              <a:t>）卷筒轴只受弯矩而不受</a:t>
            </a:r>
            <a:r>
              <a:rPr lang="zh-CN" altLang="en-US" sz="1800"/>
              <a:t>转矩</a:t>
            </a:r>
            <a:endParaRPr lang="zh-CN" altLang="en-US" sz="1800"/>
          </a:p>
        </p:txBody>
      </p:sp>
      <p:sp>
        <p:nvSpPr>
          <p:cNvPr id="47105" name="Rectangle 1"/>
          <p:cNvSpPr>
            <a:spLocks noChangeArrowheads="1"/>
          </p:cNvSpPr>
          <p:nvPr/>
        </p:nvSpPr>
        <p:spPr bwMode="auto">
          <a:xfrm>
            <a:off x="412115" y="3609340"/>
            <a:ext cx="8458200" cy="20148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396875"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a:lnSpc>
                <a:spcPct val="125000"/>
              </a:lnSpc>
            </a:pPr>
            <a:r>
              <a:rPr lang="zh-CN" altLang="en-US" dirty="0"/>
              <a:t>通过改进轴上零件的结构也可减小轴上的载荷。图示起重卷筒的两种安装方案中，图</a:t>
            </a:r>
            <a:r>
              <a:rPr lang="en-US" altLang="zh-CN" dirty="0"/>
              <a:t>a</a:t>
            </a:r>
            <a:r>
              <a:rPr lang="zh-CN" altLang="en-US" dirty="0"/>
              <a:t>的方案是大齿轮和卷筒固连在一起，转矩经大齿轮直接传给卷筒，卷筒轴是心轴，只受弯矩而不受转矩；而图</a:t>
            </a:r>
            <a:r>
              <a:rPr lang="en-US" altLang="zh-CN" dirty="0"/>
              <a:t>b</a:t>
            </a:r>
            <a:r>
              <a:rPr lang="zh-CN" altLang="en-US" dirty="0"/>
              <a:t>的方案是大齿轮将转矩通过轴传到卷筒，因而卷筒轴是转轴，既受弯矩又受</a:t>
            </a:r>
            <a:r>
              <a:rPr lang="zh-CN" altLang="en-US" dirty="0"/>
              <a:t>转矩。在同样的载荷</a:t>
            </a:r>
            <a:r>
              <a:rPr lang="en-US" altLang="zh-CN" i="1" dirty="0"/>
              <a:t>Q</a:t>
            </a:r>
            <a:r>
              <a:rPr lang="zh-CN" altLang="en-US" dirty="0"/>
              <a:t>作用下，图</a:t>
            </a:r>
            <a:r>
              <a:rPr lang="en-US" altLang="zh-CN" dirty="0"/>
              <a:t>a</a:t>
            </a:r>
            <a:r>
              <a:rPr lang="zh-CN" altLang="en-US" dirty="0"/>
              <a:t>中轴的直径显然可比图</a:t>
            </a:r>
            <a:r>
              <a:rPr lang="en-US" altLang="zh-CN" dirty="0"/>
              <a:t>b</a:t>
            </a:r>
            <a:r>
              <a:rPr lang="zh-CN" altLang="en-US" dirty="0"/>
              <a:t>中的轴径小。</a:t>
            </a:r>
            <a:endParaRPr lang="zh-CN" altLang="en-US" dirty="0"/>
          </a:p>
        </p:txBody>
      </p:sp>
      <p:sp>
        <p:nvSpPr>
          <p:cNvPr id="38920"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752"/>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31751"/>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grpId="0" nodeType="afterEffect">
                                  <p:stCondLst>
                                    <p:cond delay="0"/>
                                  </p:stCondLst>
                                  <p:childTnLst>
                                    <p:set>
                                      <p:cBhvr>
                                        <p:cTn id="12" dur="1" fill="hold">
                                          <p:stCondLst>
                                            <p:cond delay="0"/>
                                          </p:stCondLst>
                                        </p:cTn>
                                        <p:tgtEl>
                                          <p:spTgt spid="31754"/>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grpId="0" nodeType="afterEffect">
                                  <p:stCondLst>
                                    <p:cond delay="0"/>
                                  </p:stCondLst>
                                  <p:childTnLst>
                                    <p:set>
                                      <p:cBhvr>
                                        <p:cTn id="15" dur="1" fill="hold">
                                          <p:stCondLst>
                                            <p:cond delay="0"/>
                                          </p:stCondLst>
                                        </p:cTn>
                                        <p:tgtEl>
                                          <p:spTgt spid="31753"/>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471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51" grpId="0"/>
      <p:bldP spid="31753" grpId="0"/>
      <p:bldP spid="31754" grpId="0"/>
      <p:bldP spid="47105" grpId="0"/>
    </p:bldLst>
  </p:timing>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文本框 3"/>
          <p:cNvSpPr txBox="1">
            <a:spLocks noChangeArrowheads="1"/>
          </p:cNvSpPr>
          <p:nvPr/>
        </p:nvSpPr>
        <p:spPr bwMode="auto">
          <a:xfrm>
            <a:off x="605790" y="485140"/>
            <a:ext cx="660400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r>
              <a:rPr lang="zh-CN" altLang="zh-CN" dirty="0">
                <a:solidFill>
                  <a:srgbClr val="FF0000"/>
                </a:solidFill>
              </a:rPr>
              <a:t>改进轴上零件的结构，减小轴受弯矩</a:t>
            </a:r>
            <a:endParaRPr lang="zh-CN" altLang="zh-CN" dirty="0">
              <a:solidFill>
                <a:srgbClr val="FF0000"/>
              </a:solidFill>
            </a:endParaRPr>
          </a:p>
        </p:txBody>
      </p:sp>
      <p:pic>
        <p:nvPicPr>
          <p:cNvPr id="2"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462405" y="1024890"/>
            <a:ext cx="5099050" cy="1588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文本框 6"/>
          <p:cNvSpPr txBox="1">
            <a:spLocks noChangeArrowheads="1"/>
          </p:cNvSpPr>
          <p:nvPr/>
        </p:nvSpPr>
        <p:spPr bwMode="auto">
          <a:xfrm>
            <a:off x="515303" y="2808605"/>
            <a:ext cx="560705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r>
              <a:rPr lang="zh-CN" altLang="zh-CN" dirty="0">
                <a:solidFill>
                  <a:srgbClr val="FF0000"/>
                </a:solidFill>
              </a:rPr>
              <a:t>采用载荷分担的方法减小轴的载荷</a:t>
            </a:r>
            <a:endParaRPr lang="zh-CN" altLang="zh-CN" dirty="0">
              <a:solidFill>
                <a:srgbClr val="FF0000"/>
              </a:solidFill>
            </a:endParaRPr>
          </a:p>
        </p:txBody>
      </p:sp>
      <p:pic>
        <p:nvPicPr>
          <p:cNvPr id="8" name="图片 7"/>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864735" y="2432685"/>
            <a:ext cx="3728085" cy="14674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254" name="文本框 3"/>
          <p:cNvSpPr txBox="1">
            <a:spLocks noChangeArrowheads="1"/>
          </p:cNvSpPr>
          <p:nvPr/>
        </p:nvSpPr>
        <p:spPr bwMode="auto">
          <a:xfrm>
            <a:off x="558165" y="4028440"/>
            <a:ext cx="660400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r>
              <a:rPr lang="zh-CN" altLang="zh-CN" dirty="0">
                <a:solidFill>
                  <a:srgbClr val="FF0000"/>
                </a:solidFill>
              </a:rPr>
              <a:t>采用力平衡或局部相互抵消的办法减小轴的载荷</a:t>
            </a:r>
            <a:endParaRPr lang="zh-CN" altLang="zh-CN" dirty="0">
              <a:solidFill>
                <a:srgbClr val="FF0000"/>
              </a:solidFill>
            </a:endParaRPr>
          </a:p>
        </p:txBody>
      </p:sp>
      <p:pic>
        <p:nvPicPr>
          <p:cNvPr id="53255" name="图片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450975" y="4554855"/>
            <a:ext cx="4133215" cy="2122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矩形 10"/>
          <p:cNvSpPr>
            <a:spLocks noChangeArrowheads="1"/>
          </p:cNvSpPr>
          <p:nvPr/>
        </p:nvSpPr>
        <p:spPr bwMode="auto">
          <a:xfrm>
            <a:off x="8447088" y="6264275"/>
            <a:ext cx="6969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zh-CN" altLang="en-US" dirty="0">
                <a:hlinkClick r:id="rId4" action="ppaction://hlinksldjump"/>
              </a:rPr>
              <a:t>返回</a:t>
            </a:r>
            <a:endParaRPr lang="zh-CN" altLang="en-US"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3254"/>
                                        </p:tgtEl>
                                        <p:attrNameLst>
                                          <p:attrName>style.visibility</p:attrName>
                                        </p:attrNameLst>
                                      </p:cBhvr>
                                      <p:to>
                                        <p:strVal val="visible"/>
                                      </p:to>
                                    </p:set>
                                    <p:animEffect transition="in" filter="wipe(left)">
                                      <p:cBhvr>
                                        <p:cTn id="27" dur="500"/>
                                        <p:tgtEl>
                                          <p:spTgt spid="5325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53255"/>
                                        </p:tgtEl>
                                        <p:attrNameLst>
                                          <p:attrName>style.visibility</p:attrName>
                                        </p:attrNameLst>
                                      </p:cBhvr>
                                      <p:to>
                                        <p:strVal val="visible"/>
                                      </p:to>
                                    </p:set>
                                    <p:animEffect transition="in" filter="wipe(left)">
                                      <p:cBhvr>
                                        <p:cTn id="32" dur="500"/>
                                        <p:tgtEl>
                                          <p:spTgt spid="53255"/>
                                        </p:tgtEl>
                                      </p:cBhvr>
                                    </p:animEffect>
                                  </p:childTnLst>
                                </p:cTn>
                              </p:par>
                            </p:childTnLst>
                          </p:cTn>
                        </p:par>
                        <p:par>
                          <p:cTn id="33" fill="hold">
                            <p:stCondLst>
                              <p:cond delay="500"/>
                            </p:stCondLst>
                            <p:childTnLst>
                              <p:par>
                                <p:cTn id="34" presetID="1" presetClass="entr" presetSubtype="0" fill="hold" grpId="0" nodeType="afterEffect">
                                  <p:stCondLst>
                                    <p:cond delay="0"/>
                                  </p:stCondLst>
                                  <p:childTnLst>
                                    <p:set>
                                      <p:cBhvr>
                                        <p:cTn id="35"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53254" grpId="0"/>
      <p:bldP spid="10"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bwMode="auto">
          <a:xfrm>
            <a:off x="404765" y="235390"/>
            <a:ext cx="8229600" cy="431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2400" dirty="0" smtClean="0">
                <a:solidFill>
                  <a:srgbClr val="CC3300"/>
                </a:solidFill>
                <a:ea typeface="华文中宋" panose="02010600040101010101" pitchFamily="2" charset="-122"/>
              </a:rPr>
              <a:t>减小应力集中的影响</a:t>
            </a:r>
            <a:endParaRPr lang="zh-CN" altLang="en-US" sz="2400" dirty="0" smtClean="0">
              <a:solidFill>
                <a:srgbClr val="CC3300"/>
              </a:solidFill>
              <a:ea typeface="华文中宋" panose="02010600040101010101" pitchFamily="2" charset="-122"/>
            </a:endParaRPr>
          </a:p>
        </p:txBody>
      </p:sp>
      <p:pic>
        <p:nvPicPr>
          <p:cNvPr id="32771" name="Picture 6"/>
          <p:cNvPicPr>
            <a:picLocks noChangeAspect="1" noChangeArrowheads="1"/>
          </p:cNvPicPr>
          <p:nvPr/>
        </p:nvPicPr>
        <p:blipFill>
          <a:blip r:embed="rId1" cstate="print">
            <a:extLst>
              <a:ext uri="{28A0092B-C50C-407E-A947-70E740481C1C}">
                <a14:useLocalDpi xmlns:a14="http://schemas.microsoft.com/office/drawing/2010/main" val="0"/>
              </a:ext>
            </a:extLst>
          </a:blip>
          <a:srcRect b="15633"/>
          <a:stretch>
            <a:fillRect/>
          </a:stretch>
        </p:blipFill>
        <p:spPr bwMode="auto">
          <a:xfrm>
            <a:off x="197037" y="2761307"/>
            <a:ext cx="8723451" cy="18545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2" name="Rectangle 7"/>
          <p:cNvSpPr>
            <a:spLocks noChangeArrowheads="1"/>
          </p:cNvSpPr>
          <p:nvPr/>
        </p:nvSpPr>
        <p:spPr bwMode="auto">
          <a:xfrm>
            <a:off x="-90535" y="1120282"/>
            <a:ext cx="5391785" cy="429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indent="459105"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sz="2200" dirty="0">
                <a:solidFill>
                  <a:schemeClr val="tx1">
                    <a:lumMod val="60000"/>
                    <a:lumOff val="40000"/>
                  </a:schemeClr>
                </a:solidFill>
                <a:latin typeface="黑体" panose="02010609060101010101" pitchFamily="49" charset="-122"/>
                <a:ea typeface="黑体" panose="02010609060101010101" pitchFamily="49" charset="-122"/>
              </a:rPr>
              <a:t>3.</a:t>
            </a:r>
            <a:r>
              <a:rPr lang="zh-CN" altLang="en-US" sz="2200" dirty="0">
                <a:solidFill>
                  <a:schemeClr val="tx1">
                    <a:lumMod val="60000"/>
                    <a:lumOff val="40000"/>
                  </a:schemeClr>
                </a:solidFill>
                <a:latin typeface="黑体" panose="02010609060101010101" pitchFamily="49" charset="-122"/>
                <a:ea typeface="黑体" panose="02010609060101010101" pitchFamily="49" charset="-122"/>
              </a:rPr>
              <a:t>改进轴的结构，减少应力集中的影响</a:t>
            </a:r>
            <a:endParaRPr lang="zh-CN" altLang="en-US" sz="2200" dirty="0">
              <a:solidFill>
                <a:schemeClr val="tx1">
                  <a:lumMod val="60000"/>
                  <a:lumOff val="40000"/>
                </a:schemeClr>
              </a:solidFill>
              <a:latin typeface="黑体" panose="02010609060101010101" pitchFamily="49" charset="-122"/>
              <a:ea typeface="黑体" panose="02010609060101010101" pitchFamily="49" charset="-122"/>
            </a:endParaRPr>
          </a:p>
        </p:txBody>
      </p:sp>
      <p:sp>
        <p:nvSpPr>
          <p:cNvPr id="32773" name="矩形 6"/>
          <p:cNvSpPr>
            <a:spLocks noChangeArrowheads="1"/>
          </p:cNvSpPr>
          <p:nvPr/>
        </p:nvSpPr>
        <p:spPr bwMode="auto">
          <a:xfrm>
            <a:off x="599791" y="4765470"/>
            <a:ext cx="136481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dirty="0"/>
              <a:t>a</a:t>
            </a:r>
            <a:r>
              <a:rPr lang="zh-CN" altLang="en-US" dirty="0"/>
              <a:t>）卸载</a:t>
            </a:r>
            <a:r>
              <a:rPr lang="zh-CN" altLang="en-US" dirty="0" smtClean="0"/>
              <a:t>槽</a:t>
            </a:r>
            <a:endParaRPr lang="zh-CN" altLang="en-US" dirty="0"/>
          </a:p>
        </p:txBody>
      </p:sp>
      <p:sp>
        <p:nvSpPr>
          <p:cNvPr id="10" name="矩形 9"/>
          <p:cNvSpPr>
            <a:spLocks noChangeArrowheads="1"/>
          </p:cNvSpPr>
          <p:nvPr/>
        </p:nvSpPr>
        <p:spPr bwMode="auto">
          <a:xfrm>
            <a:off x="435446" y="1653892"/>
            <a:ext cx="8305800" cy="8997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25000"/>
              </a:lnSpc>
            </a:pPr>
            <a:r>
              <a:rPr lang="zh-CN" altLang="en-US" dirty="0"/>
              <a:t>        </a:t>
            </a:r>
            <a:r>
              <a:rPr lang="zh-CN" altLang="en-US" sz="2200" dirty="0"/>
              <a:t>在零件截面变化处会产生应力集中现象，从而削弱零件的强度。因此，进行结构设计时，应尽量减少应力集中。</a:t>
            </a:r>
            <a:endParaRPr lang="zh-CN" altLang="en-US" sz="2200" dirty="0"/>
          </a:p>
        </p:txBody>
      </p:sp>
      <p:sp>
        <p:nvSpPr>
          <p:cNvPr id="39947"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14" name="矩形 6"/>
          <p:cNvSpPr>
            <a:spLocks noChangeArrowheads="1"/>
          </p:cNvSpPr>
          <p:nvPr/>
        </p:nvSpPr>
        <p:spPr bwMode="auto">
          <a:xfrm>
            <a:off x="2845051" y="4807389"/>
            <a:ext cx="14372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dirty="0" smtClean="0"/>
              <a:t>b</a:t>
            </a:r>
            <a:r>
              <a:rPr lang="zh-CN" altLang="en-US" dirty="0"/>
              <a:t>）过渡</a:t>
            </a:r>
            <a:r>
              <a:rPr lang="zh-CN" altLang="en-US" dirty="0" smtClean="0"/>
              <a:t>肩</a:t>
            </a:r>
            <a:endParaRPr lang="zh-CN" altLang="en-US" dirty="0"/>
          </a:p>
        </p:txBody>
      </p:sp>
      <p:sp>
        <p:nvSpPr>
          <p:cNvPr id="15" name="矩形 6"/>
          <p:cNvSpPr>
            <a:spLocks noChangeArrowheads="1"/>
          </p:cNvSpPr>
          <p:nvPr/>
        </p:nvSpPr>
        <p:spPr bwMode="auto">
          <a:xfrm>
            <a:off x="7127341" y="4575348"/>
            <a:ext cx="1690736"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dirty="0"/>
              <a:t>d</a:t>
            </a:r>
            <a:r>
              <a:rPr lang="zh-CN" altLang="en-US" dirty="0"/>
              <a:t>）轮毂上加工出卸载槽</a:t>
            </a:r>
            <a:endParaRPr lang="zh-CN" altLang="en-US" dirty="0"/>
          </a:p>
        </p:txBody>
      </p:sp>
      <p:sp>
        <p:nvSpPr>
          <p:cNvPr id="16" name="矩形 6"/>
          <p:cNvSpPr>
            <a:spLocks noChangeArrowheads="1"/>
          </p:cNvSpPr>
          <p:nvPr/>
        </p:nvSpPr>
        <p:spPr bwMode="auto">
          <a:xfrm>
            <a:off x="5126524" y="4756417"/>
            <a:ext cx="156398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sz="1800" dirty="0" smtClean="0"/>
              <a:t>c</a:t>
            </a:r>
            <a:r>
              <a:rPr lang="zh-CN" altLang="en-US" dirty="0"/>
              <a:t>）凹切圆角</a:t>
            </a:r>
            <a:r>
              <a:rPr lang="en-US" dirty="0"/>
              <a:t>   </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77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nodeType="afterEffect">
                                  <p:stCondLst>
                                    <p:cond delay="0"/>
                                  </p:stCondLst>
                                  <p:childTnLst>
                                    <p:set>
                                      <p:cBhvr>
                                        <p:cTn id="13" dur="1" fill="hold">
                                          <p:stCondLst>
                                            <p:cond delay="0"/>
                                          </p:stCondLst>
                                        </p:cTn>
                                        <p:tgtEl>
                                          <p:spTgt spid="32771"/>
                                        </p:tgtEl>
                                        <p:attrNameLst>
                                          <p:attrName>style.visibility</p:attrName>
                                        </p:attrNameLst>
                                      </p:cBhvr>
                                      <p:to>
                                        <p:strVal val="visible"/>
                                      </p:to>
                                    </p:set>
                                  </p:childTnLst>
                                </p:cTn>
                              </p:par>
                            </p:childTnLst>
                          </p:cTn>
                        </p:par>
                        <p:par>
                          <p:cTn id="14" fill="hold">
                            <p:stCondLst>
                              <p:cond delay="0"/>
                            </p:stCondLst>
                            <p:childTnLst>
                              <p:par>
                                <p:cTn id="15" presetID="1" presetClass="entr" presetSubtype="0" fill="hold" grpId="0" nodeType="afterEffect">
                                  <p:stCondLst>
                                    <p:cond delay="0"/>
                                  </p:stCondLst>
                                  <p:childTnLst>
                                    <p:set>
                                      <p:cBhvr>
                                        <p:cTn id="16" dur="1" fill="hold">
                                          <p:stCondLst>
                                            <p:cond delay="0"/>
                                          </p:stCondLst>
                                        </p:cTn>
                                        <p:tgtEl>
                                          <p:spTgt spid="32773"/>
                                        </p:tgtEl>
                                        <p:attrNameLst>
                                          <p:attrName>style.visibility</p:attrName>
                                        </p:attrNameLst>
                                      </p:cBhvr>
                                      <p:to>
                                        <p:strVal val="visible"/>
                                      </p:to>
                                    </p:set>
                                  </p:childTnLst>
                                </p:cTn>
                              </p:par>
                            </p:childTnLst>
                          </p:cTn>
                        </p:par>
                        <p:par>
                          <p:cTn id="17" fill="hold">
                            <p:stCondLst>
                              <p:cond delay="0"/>
                            </p:stCondLst>
                            <p:childTnLst>
                              <p:par>
                                <p:cTn id="18" presetID="1" presetClass="entr" presetSubtype="0" fill="hold" grpId="0" nodeType="afterEffect">
                                  <p:stCondLst>
                                    <p:cond delay="0"/>
                                  </p:stCondLst>
                                  <p:childTnLst>
                                    <p:set>
                                      <p:cBhvr>
                                        <p:cTn id="19" dur="1" fill="hold">
                                          <p:stCondLst>
                                            <p:cond delay="0"/>
                                          </p:stCondLst>
                                        </p:cTn>
                                        <p:tgtEl>
                                          <p:spTgt spid="14"/>
                                        </p:tgtEl>
                                        <p:attrNameLst>
                                          <p:attrName>style.visibility</p:attrName>
                                        </p:attrNameLst>
                                      </p:cBhvr>
                                      <p:to>
                                        <p:strVal val="visible"/>
                                      </p:to>
                                    </p:set>
                                  </p:childTnLst>
                                </p:cTn>
                              </p:par>
                            </p:childTnLst>
                          </p:cTn>
                        </p:par>
                        <p:par>
                          <p:cTn id="20" fill="hold">
                            <p:stCondLst>
                              <p:cond delay="0"/>
                            </p:stCondLst>
                            <p:childTnLst>
                              <p:par>
                                <p:cTn id="21" presetID="1" presetClass="entr" presetSubtype="0" fill="hold" grpId="0" nodeType="after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par>
                          <p:cTn id="23" fill="hold">
                            <p:stCondLst>
                              <p:cond delay="0"/>
                            </p:stCondLst>
                            <p:childTnLst>
                              <p:par>
                                <p:cTn id="24" presetID="1" presetClass="entr" presetSubtype="0" fill="hold" grpId="0" nodeType="afterEffect">
                                  <p:stCondLst>
                                    <p:cond delay="0"/>
                                  </p:stCondLst>
                                  <p:childTnLst>
                                    <p:set>
                                      <p:cBhvr>
                                        <p:cTn id="25"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2" grpId="0"/>
      <p:bldP spid="32773" grpId="0"/>
      <p:bldP spid="10" grpId="0"/>
      <p:bldP spid="14" grpId="0"/>
      <p:bldP spid="15" grpId="0"/>
      <p:bldP spid="16"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bwMode="auto">
          <a:xfrm>
            <a:off x="404765" y="235390"/>
            <a:ext cx="8229600" cy="431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2400" dirty="0" smtClean="0">
                <a:solidFill>
                  <a:srgbClr val="CC3300"/>
                </a:solidFill>
                <a:ea typeface="华文中宋" panose="02010600040101010101" pitchFamily="2" charset="-122"/>
              </a:rPr>
              <a:t>减小应力集中的影响</a:t>
            </a:r>
            <a:endParaRPr lang="zh-CN" altLang="en-US" sz="2400" dirty="0" smtClean="0">
              <a:solidFill>
                <a:srgbClr val="CC3300"/>
              </a:solidFill>
              <a:ea typeface="华文中宋" panose="02010600040101010101" pitchFamily="2" charset="-122"/>
            </a:endParaRPr>
          </a:p>
        </p:txBody>
      </p:sp>
      <p:sp>
        <p:nvSpPr>
          <p:cNvPr id="32772" name="Rectangle 7"/>
          <p:cNvSpPr>
            <a:spLocks noChangeArrowheads="1"/>
          </p:cNvSpPr>
          <p:nvPr/>
        </p:nvSpPr>
        <p:spPr bwMode="auto">
          <a:xfrm>
            <a:off x="0" y="848182"/>
            <a:ext cx="5426807"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indent="459105"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sz="2200" dirty="0">
                <a:solidFill>
                  <a:schemeClr val="tx1">
                    <a:lumMod val="60000"/>
                    <a:lumOff val="40000"/>
                  </a:schemeClr>
                </a:solidFill>
                <a:latin typeface="华文中宋" panose="02010600040101010101" pitchFamily="2" charset="-122"/>
              </a:rPr>
              <a:t>3.</a:t>
            </a:r>
            <a:r>
              <a:rPr lang="zh-CN" altLang="en-US" sz="2200" dirty="0">
                <a:solidFill>
                  <a:schemeClr val="tx1">
                    <a:lumMod val="60000"/>
                    <a:lumOff val="40000"/>
                  </a:schemeClr>
                </a:solidFill>
                <a:latin typeface="华文中宋" panose="02010600040101010101" pitchFamily="2" charset="-122"/>
              </a:rPr>
              <a:t>改进轴的结构，减少应力集中的影响</a:t>
            </a:r>
            <a:endParaRPr lang="zh-CN" altLang="en-US" sz="2200" dirty="0">
              <a:solidFill>
                <a:schemeClr val="tx1">
                  <a:lumMod val="60000"/>
                  <a:lumOff val="40000"/>
                </a:schemeClr>
              </a:solidFill>
              <a:latin typeface="华文中宋" panose="02010600040101010101" pitchFamily="2" charset="-122"/>
            </a:endParaRPr>
          </a:p>
        </p:txBody>
      </p:sp>
      <p:pic>
        <p:nvPicPr>
          <p:cNvPr id="32774" name="Picture 8"/>
          <p:cNvPicPr>
            <a:picLocks noChangeAspect="1" noChangeArrowheads="1"/>
          </p:cNvPicPr>
          <p:nvPr/>
        </p:nvPicPr>
        <p:blipFill>
          <a:blip r:embed="rId1" cstate="print">
            <a:extLst>
              <a:ext uri="{28A0092B-C50C-407E-A947-70E740481C1C}">
                <a14:useLocalDpi xmlns:a14="http://schemas.microsoft.com/office/drawing/2010/main" val="0"/>
              </a:ext>
            </a:extLst>
          </a:blip>
          <a:srcRect t="4158" b="16632"/>
          <a:stretch>
            <a:fillRect/>
          </a:stretch>
        </p:blipFill>
        <p:spPr bwMode="auto">
          <a:xfrm>
            <a:off x="487753" y="3503644"/>
            <a:ext cx="8284216" cy="2281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5" name="矩形 8"/>
          <p:cNvSpPr>
            <a:spLocks noChangeArrowheads="1"/>
          </p:cNvSpPr>
          <p:nvPr/>
        </p:nvSpPr>
        <p:spPr bwMode="auto">
          <a:xfrm>
            <a:off x="528619" y="6078098"/>
            <a:ext cx="854295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dirty="0"/>
              <a:t>a ) </a:t>
            </a:r>
            <a:r>
              <a:rPr lang="zh-CN" altLang="en-US" dirty="0"/>
              <a:t>增大配合处直径 </a:t>
            </a:r>
            <a:r>
              <a:rPr lang="zh-CN" altLang="en-US" dirty="0" smtClean="0"/>
              <a:t>       </a:t>
            </a:r>
            <a:r>
              <a:rPr lang="en-US" altLang="zh-CN" dirty="0"/>
              <a:t>b) </a:t>
            </a:r>
            <a:r>
              <a:rPr lang="zh-CN" altLang="en-US" dirty="0"/>
              <a:t>在配合边缘开卸载槽 </a:t>
            </a:r>
            <a:r>
              <a:rPr lang="zh-CN" altLang="en-US" dirty="0" smtClean="0"/>
              <a:t>        </a:t>
            </a:r>
            <a:r>
              <a:rPr lang="en-US" altLang="zh-CN" dirty="0"/>
              <a:t>c ) </a:t>
            </a:r>
            <a:r>
              <a:rPr lang="zh-CN" altLang="en-US" dirty="0"/>
              <a:t>在轮毂上开卸载槽</a:t>
            </a:r>
            <a:endParaRPr lang="zh-CN" altLang="en-US" dirty="0"/>
          </a:p>
        </p:txBody>
      </p:sp>
      <p:sp>
        <p:nvSpPr>
          <p:cNvPr id="32778" name="Rectangle 10"/>
          <p:cNvSpPr>
            <a:spLocks noChangeArrowheads="1"/>
          </p:cNvSpPr>
          <p:nvPr/>
        </p:nvSpPr>
        <p:spPr bwMode="auto">
          <a:xfrm>
            <a:off x="273867" y="1345100"/>
            <a:ext cx="8750300" cy="8999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396875"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a:lnSpc>
                <a:spcPct val="125000"/>
              </a:lnSpc>
            </a:pPr>
            <a:r>
              <a:rPr lang="zh-CN" altLang="en-US" sz="2200" dirty="0">
                <a:solidFill>
                  <a:schemeClr val="tx1"/>
                </a:solidFill>
                <a:latin typeface="华文中宋" panose="02010600040101010101" pitchFamily="2" charset="-122"/>
              </a:rPr>
              <a:t>当轴上零件与轴为过盈配合时</a:t>
            </a:r>
            <a:r>
              <a:rPr lang="en-US" altLang="zh-CN" sz="2200" dirty="0">
                <a:solidFill>
                  <a:schemeClr val="tx1"/>
                </a:solidFill>
                <a:latin typeface="华文中宋" panose="02010600040101010101" pitchFamily="2" charset="-122"/>
              </a:rPr>
              <a:t>, </a:t>
            </a:r>
            <a:r>
              <a:rPr lang="zh-CN" altLang="en-US" sz="2200" dirty="0">
                <a:solidFill>
                  <a:schemeClr val="tx1"/>
                </a:solidFill>
                <a:latin typeface="华文中宋" panose="02010600040101010101" pitchFamily="2" charset="-122"/>
              </a:rPr>
              <a:t>可采用下图所示的各种结构</a:t>
            </a:r>
            <a:r>
              <a:rPr lang="en-US" altLang="zh-CN" sz="2200" dirty="0">
                <a:solidFill>
                  <a:schemeClr val="tx1"/>
                </a:solidFill>
                <a:latin typeface="华文中宋" panose="02010600040101010101" pitchFamily="2" charset="-122"/>
              </a:rPr>
              <a:t>,</a:t>
            </a:r>
            <a:r>
              <a:rPr lang="zh-CN" altLang="en-US" sz="2200" dirty="0">
                <a:solidFill>
                  <a:schemeClr val="tx1"/>
                </a:solidFill>
                <a:latin typeface="华文中宋" panose="02010600040101010101" pitchFamily="2" charset="-122"/>
              </a:rPr>
              <a:t>以减轻轴在零件配合处的应力集中。</a:t>
            </a:r>
            <a:endParaRPr lang="zh-CN" altLang="en-US" sz="2200" dirty="0">
              <a:solidFill>
                <a:schemeClr val="tx1"/>
              </a:solidFill>
              <a:latin typeface="华文中宋" panose="02010600040101010101" pitchFamily="2" charset="-122"/>
            </a:endParaRPr>
          </a:p>
        </p:txBody>
      </p:sp>
      <p:sp>
        <p:nvSpPr>
          <p:cNvPr id="39947"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12" name="AutoShape 30"/>
          <p:cNvSpPr>
            <a:spLocks noChangeArrowheads="1"/>
          </p:cNvSpPr>
          <p:nvPr/>
        </p:nvSpPr>
        <p:spPr bwMode="auto">
          <a:xfrm>
            <a:off x="7396681" y="2480649"/>
            <a:ext cx="1575303" cy="871600"/>
          </a:xfrm>
          <a:prstGeom prst="wedgeRoundRectCallout">
            <a:avLst>
              <a:gd name="adj1" fmla="val -55213"/>
              <a:gd name="adj2" fmla="val 161265"/>
              <a:gd name="adj3" fmla="val 16667"/>
            </a:avLst>
          </a:prstGeom>
          <a:solidFill>
            <a:srgbClr val="F8E8A6"/>
          </a:solidFill>
          <a:ln w="28575" algn="ctr">
            <a:solidFill>
              <a:srgbClr val="990033"/>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2400" b="1">
                <a:solidFill>
                  <a:schemeClr val="tx1"/>
                </a:solidFill>
                <a:latin typeface="黑体" panose="02010609060101010101" pitchFamily="49" charset="-122"/>
                <a:ea typeface="黑体" panose="02010609060101010101" pitchFamily="49" charset="-122"/>
              </a:defRPr>
            </a:lvl1pPr>
            <a:lvl2pPr marL="742950" indent="-285750" eaLnBrk="0" hangingPunct="0">
              <a:defRPr kumimoji="1" sz="2400" b="1">
                <a:solidFill>
                  <a:schemeClr val="tx1"/>
                </a:solidFill>
                <a:latin typeface="黑体" panose="02010609060101010101" pitchFamily="49" charset="-122"/>
                <a:ea typeface="黑体" panose="02010609060101010101" pitchFamily="49" charset="-122"/>
              </a:defRPr>
            </a:lvl2pPr>
            <a:lvl3pPr marL="1143000" indent="-228600" eaLnBrk="0" hangingPunct="0">
              <a:defRPr kumimoji="1" sz="2400" b="1">
                <a:solidFill>
                  <a:schemeClr val="tx1"/>
                </a:solidFill>
                <a:latin typeface="黑体" panose="02010609060101010101" pitchFamily="49" charset="-122"/>
                <a:ea typeface="黑体" panose="02010609060101010101" pitchFamily="49" charset="-122"/>
              </a:defRPr>
            </a:lvl3pPr>
            <a:lvl4pPr marL="1600200" indent="-228600" eaLnBrk="0" hangingPunct="0">
              <a:defRPr kumimoji="1" sz="2400" b="1">
                <a:solidFill>
                  <a:schemeClr val="tx1"/>
                </a:solidFill>
                <a:latin typeface="黑体" panose="02010609060101010101" pitchFamily="49" charset="-122"/>
                <a:ea typeface="黑体" panose="02010609060101010101" pitchFamily="49" charset="-122"/>
              </a:defRPr>
            </a:lvl4pPr>
            <a:lvl5pPr marL="2057400" indent="-228600" eaLnBrk="0" hangingPunct="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pPr>
            <a:r>
              <a:rPr kumimoji="0" lang="zh-CN" altLang="en-US" sz="1660" dirty="0"/>
              <a:t>应力集中系数减小</a:t>
            </a:r>
            <a:r>
              <a:rPr kumimoji="0" lang="en-US" altLang="zh-CN" sz="1660" dirty="0"/>
              <a:t>15%-25%</a:t>
            </a:r>
            <a:endParaRPr kumimoji="0" lang="en-US" altLang="zh-CN" sz="1660" dirty="0"/>
          </a:p>
        </p:txBody>
      </p:sp>
      <p:sp>
        <p:nvSpPr>
          <p:cNvPr id="13" name="AutoShape 31"/>
          <p:cNvSpPr>
            <a:spLocks noChangeArrowheads="1"/>
          </p:cNvSpPr>
          <p:nvPr/>
        </p:nvSpPr>
        <p:spPr bwMode="auto">
          <a:xfrm>
            <a:off x="3625850" y="2492375"/>
            <a:ext cx="1596390" cy="662940"/>
          </a:xfrm>
          <a:prstGeom prst="wedgeRoundRectCallout">
            <a:avLst>
              <a:gd name="adj1" fmla="val -6473"/>
              <a:gd name="adj2" fmla="val 233339"/>
              <a:gd name="adj3" fmla="val 16667"/>
            </a:avLst>
          </a:prstGeom>
          <a:solidFill>
            <a:srgbClr val="F8E8A6"/>
          </a:solidFill>
          <a:ln w="28575" algn="ctr">
            <a:solidFill>
              <a:srgbClr val="990033"/>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2400" b="1">
                <a:solidFill>
                  <a:schemeClr val="tx1"/>
                </a:solidFill>
                <a:latin typeface="黑体" panose="02010609060101010101" pitchFamily="49" charset="-122"/>
                <a:ea typeface="黑体" panose="02010609060101010101" pitchFamily="49" charset="-122"/>
              </a:defRPr>
            </a:lvl1pPr>
            <a:lvl2pPr marL="742950" indent="-285750" eaLnBrk="0" hangingPunct="0">
              <a:defRPr kumimoji="1" sz="2400" b="1">
                <a:solidFill>
                  <a:schemeClr val="tx1"/>
                </a:solidFill>
                <a:latin typeface="黑体" panose="02010609060101010101" pitchFamily="49" charset="-122"/>
                <a:ea typeface="黑体" panose="02010609060101010101" pitchFamily="49" charset="-122"/>
              </a:defRPr>
            </a:lvl2pPr>
            <a:lvl3pPr marL="1143000" indent="-228600" eaLnBrk="0" hangingPunct="0">
              <a:defRPr kumimoji="1" sz="2400" b="1">
                <a:solidFill>
                  <a:schemeClr val="tx1"/>
                </a:solidFill>
                <a:latin typeface="黑体" panose="02010609060101010101" pitchFamily="49" charset="-122"/>
                <a:ea typeface="黑体" panose="02010609060101010101" pitchFamily="49" charset="-122"/>
              </a:defRPr>
            </a:lvl3pPr>
            <a:lvl4pPr marL="1600200" indent="-228600" eaLnBrk="0" hangingPunct="0">
              <a:defRPr kumimoji="1" sz="2400" b="1">
                <a:solidFill>
                  <a:schemeClr val="tx1"/>
                </a:solidFill>
                <a:latin typeface="黑体" panose="02010609060101010101" pitchFamily="49" charset="-122"/>
                <a:ea typeface="黑体" panose="02010609060101010101" pitchFamily="49" charset="-122"/>
              </a:defRPr>
            </a:lvl4pPr>
            <a:lvl5pPr marL="2057400" indent="-228600" eaLnBrk="0" hangingPunct="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pPr>
            <a:r>
              <a:rPr kumimoji="0" lang="zh-CN" altLang="en-US" sz="1660" dirty="0"/>
              <a:t>应力集中系数减小</a:t>
            </a:r>
            <a:r>
              <a:rPr kumimoji="0" lang="en-US" altLang="zh-CN" sz="1660" dirty="0"/>
              <a:t>40%</a:t>
            </a:r>
            <a:endParaRPr kumimoji="0" lang="en-US" altLang="zh-CN" sz="1660" dirty="0"/>
          </a:p>
        </p:txBody>
      </p:sp>
      <p:sp>
        <p:nvSpPr>
          <p:cNvPr id="14" name="AutoShape 33"/>
          <p:cNvSpPr>
            <a:spLocks noChangeArrowheads="1"/>
          </p:cNvSpPr>
          <p:nvPr/>
        </p:nvSpPr>
        <p:spPr bwMode="auto">
          <a:xfrm>
            <a:off x="5092700" y="3368040"/>
            <a:ext cx="1347470" cy="825500"/>
          </a:xfrm>
          <a:prstGeom prst="wedgeRoundRectCallout">
            <a:avLst>
              <a:gd name="adj1" fmla="val -31196"/>
              <a:gd name="adj2" fmla="val 121461"/>
              <a:gd name="adj3" fmla="val 16667"/>
            </a:avLst>
          </a:prstGeom>
          <a:solidFill>
            <a:schemeClr val="accent1">
              <a:lumMod val="20000"/>
              <a:lumOff val="80000"/>
            </a:schemeClr>
          </a:solidFill>
          <a:ln w="28575" algn="ctr">
            <a:solidFill>
              <a:srgbClr val="990033"/>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2400" b="1">
                <a:solidFill>
                  <a:schemeClr val="tx1"/>
                </a:solidFill>
                <a:latin typeface="黑体" panose="02010609060101010101" pitchFamily="49" charset="-122"/>
                <a:ea typeface="黑体" panose="02010609060101010101" pitchFamily="49" charset="-122"/>
              </a:defRPr>
            </a:lvl1pPr>
            <a:lvl2pPr marL="742950" indent="-285750" eaLnBrk="0" hangingPunct="0">
              <a:defRPr kumimoji="1" sz="2400" b="1">
                <a:solidFill>
                  <a:schemeClr val="tx1"/>
                </a:solidFill>
                <a:latin typeface="黑体" panose="02010609060101010101" pitchFamily="49" charset="-122"/>
                <a:ea typeface="黑体" panose="02010609060101010101" pitchFamily="49" charset="-122"/>
              </a:defRPr>
            </a:lvl2pPr>
            <a:lvl3pPr marL="1143000" indent="-228600" eaLnBrk="0" hangingPunct="0">
              <a:defRPr kumimoji="1" sz="2400" b="1">
                <a:solidFill>
                  <a:schemeClr val="tx1"/>
                </a:solidFill>
                <a:latin typeface="黑体" panose="02010609060101010101" pitchFamily="49" charset="-122"/>
                <a:ea typeface="黑体" panose="02010609060101010101" pitchFamily="49" charset="-122"/>
              </a:defRPr>
            </a:lvl3pPr>
            <a:lvl4pPr marL="1600200" indent="-228600" eaLnBrk="0" hangingPunct="0">
              <a:defRPr kumimoji="1" sz="2400" b="1">
                <a:solidFill>
                  <a:schemeClr val="tx1"/>
                </a:solidFill>
                <a:latin typeface="黑体" panose="02010609060101010101" pitchFamily="49" charset="-122"/>
                <a:ea typeface="黑体" panose="02010609060101010101" pitchFamily="49" charset="-122"/>
              </a:defRPr>
            </a:lvl4pPr>
            <a:lvl5pPr marL="2057400" indent="-228600" eaLnBrk="0" hangingPunct="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pPr>
            <a:r>
              <a:rPr kumimoji="0" lang="en-US" altLang="zh-CN" sz="1800" dirty="0"/>
              <a:t>d=(1.06~1.08)d</a:t>
            </a:r>
            <a:r>
              <a:rPr kumimoji="0" lang="en-US" altLang="zh-CN" sz="1800" baseline="-25000" dirty="0"/>
              <a:t>1</a:t>
            </a:r>
            <a:endParaRPr kumimoji="0" lang="en-US" altLang="zh-CN" sz="1800" baseline="-25000" dirty="0"/>
          </a:p>
        </p:txBody>
      </p:sp>
      <p:cxnSp>
        <p:nvCxnSpPr>
          <p:cNvPr id="3" name="直接连接符 2"/>
          <p:cNvCxnSpPr/>
          <p:nvPr/>
        </p:nvCxnSpPr>
        <p:spPr bwMode="auto">
          <a:xfrm>
            <a:off x="5133315" y="4834551"/>
            <a:ext cx="697117" cy="0"/>
          </a:xfrm>
          <a:prstGeom prst="line">
            <a:avLst/>
          </a:prstGeom>
          <a:solidFill>
            <a:schemeClr val="accent1"/>
          </a:solidFill>
          <a:ln w="19050" cap="flat" cmpd="sng" algn="ctr">
            <a:solidFill>
              <a:srgbClr val="FF0000"/>
            </a:solidFill>
            <a:prstDash val="solid"/>
            <a:round/>
            <a:headEnd type="none" w="med" len="med"/>
            <a:tailEnd type="none" w="med" len="med"/>
          </a:ln>
          <a:effectLst/>
        </p:spPr>
      </p:cxnSp>
      <p:cxnSp>
        <p:nvCxnSpPr>
          <p:cNvPr id="5" name="直接箭头连接符 4"/>
          <p:cNvCxnSpPr/>
          <p:nvPr/>
        </p:nvCxnSpPr>
        <p:spPr bwMode="auto">
          <a:xfrm>
            <a:off x="5441133" y="4843604"/>
            <a:ext cx="0" cy="769545"/>
          </a:xfrm>
          <a:prstGeom prst="straightConnector1">
            <a:avLst/>
          </a:prstGeom>
          <a:solidFill>
            <a:schemeClr val="accent1"/>
          </a:solidFill>
          <a:ln w="19050" cap="flat" cmpd="sng" algn="ctr">
            <a:solidFill>
              <a:srgbClr val="FF0000"/>
            </a:solidFill>
            <a:prstDash val="solid"/>
            <a:round/>
            <a:headEnd type="triangle" w="med" len="med"/>
            <a:tailEnd type="none" w="med" len="med"/>
          </a:ln>
          <a:effectLst/>
        </p:spPr>
      </p:cxnSp>
      <p:sp>
        <p:nvSpPr>
          <p:cNvPr id="19" name="AutoShape 34"/>
          <p:cNvSpPr>
            <a:spLocks noChangeArrowheads="1"/>
          </p:cNvSpPr>
          <p:nvPr/>
        </p:nvSpPr>
        <p:spPr bwMode="auto">
          <a:xfrm>
            <a:off x="144855" y="3466370"/>
            <a:ext cx="1167897" cy="626923"/>
          </a:xfrm>
          <a:prstGeom prst="wedgeRoundRectCallout">
            <a:avLst>
              <a:gd name="adj1" fmla="val 32795"/>
              <a:gd name="adj2" fmla="val 149904"/>
              <a:gd name="adj3" fmla="val 16667"/>
            </a:avLst>
          </a:prstGeom>
          <a:solidFill>
            <a:srgbClr val="F8E8A6"/>
          </a:solidFill>
          <a:ln w="28575" algn="ctr">
            <a:solidFill>
              <a:srgbClr val="990033"/>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2400" b="1">
                <a:solidFill>
                  <a:schemeClr val="tx1"/>
                </a:solidFill>
                <a:latin typeface="黑体" panose="02010609060101010101" pitchFamily="49" charset="-122"/>
                <a:ea typeface="黑体" panose="02010609060101010101" pitchFamily="49" charset="-122"/>
              </a:defRPr>
            </a:lvl1pPr>
            <a:lvl2pPr marL="742950" indent="-285750" eaLnBrk="0" hangingPunct="0">
              <a:defRPr kumimoji="1" sz="2400" b="1">
                <a:solidFill>
                  <a:schemeClr val="tx1"/>
                </a:solidFill>
                <a:latin typeface="黑体" panose="02010609060101010101" pitchFamily="49" charset="-122"/>
                <a:ea typeface="黑体" panose="02010609060101010101" pitchFamily="49" charset="-122"/>
              </a:defRPr>
            </a:lvl2pPr>
            <a:lvl3pPr marL="1143000" indent="-228600" eaLnBrk="0" hangingPunct="0">
              <a:defRPr kumimoji="1" sz="2400" b="1">
                <a:solidFill>
                  <a:schemeClr val="tx1"/>
                </a:solidFill>
                <a:latin typeface="黑体" panose="02010609060101010101" pitchFamily="49" charset="-122"/>
                <a:ea typeface="黑体" panose="02010609060101010101" pitchFamily="49" charset="-122"/>
              </a:defRPr>
            </a:lvl3pPr>
            <a:lvl4pPr marL="1600200" indent="-228600" eaLnBrk="0" hangingPunct="0">
              <a:defRPr kumimoji="1" sz="2400" b="1">
                <a:solidFill>
                  <a:schemeClr val="tx1"/>
                </a:solidFill>
                <a:latin typeface="黑体" panose="02010609060101010101" pitchFamily="49" charset="-122"/>
                <a:ea typeface="黑体" panose="02010609060101010101" pitchFamily="49" charset="-122"/>
              </a:defRPr>
            </a:lvl4pPr>
            <a:lvl5pPr marL="2057400" indent="-228600" eaLnBrk="0" hangingPunct="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pPr>
            <a:r>
              <a:rPr kumimoji="0" lang="en-US" altLang="zh-CN" sz="1660" dirty="0">
                <a:latin typeface="Arial" panose="020B0604020202020204" pitchFamily="34" charset="0"/>
                <a:ea typeface="宋体" panose="02010600030101010101" pitchFamily="2" charset="-122"/>
              </a:rPr>
              <a:t>r&gt;(0.1~0.2)d</a:t>
            </a:r>
            <a:endParaRPr kumimoji="0" lang="en-US" altLang="zh-CN" sz="1660" dirty="0">
              <a:latin typeface="Arial" panose="020B0604020202020204" pitchFamily="34" charset="0"/>
              <a:ea typeface="宋体" panose="02010600030101010101" pitchFamily="2" charset="-122"/>
            </a:endParaRPr>
          </a:p>
        </p:txBody>
      </p:sp>
      <p:sp>
        <p:nvSpPr>
          <p:cNvPr id="20" name="AutoShape 32"/>
          <p:cNvSpPr>
            <a:spLocks noChangeArrowheads="1"/>
          </p:cNvSpPr>
          <p:nvPr/>
        </p:nvSpPr>
        <p:spPr bwMode="auto">
          <a:xfrm>
            <a:off x="1207135" y="2433320"/>
            <a:ext cx="1713230" cy="1024255"/>
          </a:xfrm>
          <a:prstGeom prst="wedgeRoundRectCallout">
            <a:avLst>
              <a:gd name="adj1" fmla="val -19014"/>
              <a:gd name="adj2" fmla="val 145784"/>
              <a:gd name="adj3" fmla="val 16667"/>
            </a:avLst>
          </a:prstGeom>
          <a:solidFill>
            <a:srgbClr val="F8E8A6"/>
          </a:solidFill>
          <a:ln w="28575" algn="ctr">
            <a:solidFill>
              <a:srgbClr val="990033"/>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2400" b="1">
                <a:solidFill>
                  <a:schemeClr val="tx1"/>
                </a:solidFill>
                <a:latin typeface="黑体" panose="02010609060101010101" pitchFamily="49" charset="-122"/>
                <a:ea typeface="黑体" panose="02010609060101010101" pitchFamily="49" charset="-122"/>
              </a:defRPr>
            </a:lvl1pPr>
            <a:lvl2pPr marL="742950" indent="-285750" eaLnBrk="0" hangingPunct="0">
              <a:defRPr kumimoji="1" sz="2400" b="1">
                <a:solidFill>
                  <a:schemeClr val="tx1"/>
                </a:solidFill>
                <a:latin typeface="黑体" panose="02010609060101010101" pitchFamily="49" charset="-122"/>
                <a:ea typeface="黑体" panose="02010609060101010101" pitchFamily="49" charset="-122"/>
              </a:defRPr>
            </a:lvl2pPr>
            <a:lvl3pPr marL="1143000" indent="-228600" eaLnBrk="0" hangingPunct="0">
              <a:defRPr kumimoji="1" sz="2400" b="1">
                <a:solidFill>
                  <a:schemeClr val="tx1"/>
                </a:solidFill>
                <a:latin typeface="黑体" panose="02010609060101010101" pitchFamily="49" charset="-122"/>
                <a:ea typeface="黑体" panose="02010609060101010101" pitchFamily="49" charset="-122"/>
              </a:defRPr>
            </a:lvl3pPr>
            <a:lvl4pPr marL="1600200" indent="-228600" eaLnBrk="0" hangingPunct="0">
              <a:defRPr kumimoji="1" sz="2400" b="1">
                <a:solidFill>
                  <a:schemeClr val="tx1"/>
                </a:solidFill>
                <a:latin typeface="黑体" panose="02010609060101010101" pitchFamily="49" charset="-122"/>
                <a:ea typeface="黑体" panose="02010609060101010101" pitchFamily="49" charset="-122"/>
              </a:defRPr>
            </a:lvl4pPr>
            <a:lvl5pPr marL="2057400" indent="-228600" eaLnBrk="0" hangingPunct="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pPr>
            <a:r>
              <a:rPr kumimoji="0" lang="zh-CN" altLang="en-US" sz="1660" dirty="0">
                <a:latin typeface="Arial" panose="020B0604020202020204" pitchFamily="34" charset="0"/>
                <a:ea typeface="宋体" panose="02010600030101010101" pitchFamily="2" charset="-122"/>
              </a:rPr>
              <a:t>应力集中系数减小</a:t>
            </a:r>
            <a:r>
              <a:rPr kumimoji="0" lang="en-US" altLang="zh-CN" sz="1660" dirty="0">
                <a:latin typeface="Arial" panose="020B0604020202020204" pitchFamily="34" charset="0"/>
                <a:ea typeface="宋体" panose="02010600030101010101" pitchFamily="2" charset="-122"/>
              </a:rPr>
              <a:t>30%-</a:t>
            </a:r>
            <a:r>
              <a:rPr kumimoji="0" lang="en-US" altLang="zh-CN" sz="1660" b="0" dirty="0">
                <a:latin typeface="Arial" panose="020B0604020202020204" pitchFamily="34" charset="0"/>
                <a:ea typeface="宋体" panose="02010600030101010101" pitchFamily="2" charset="-122"/>
              </a:rPr>
              <a:t> </a:t>
            </a:r>
            <a:r>
              <a:rPr kumimoji="0" lang="en-US" altLang="zh-CN" sz="1660" dirty="0">
                <a:latin typeface="Arial" panose="020B0604020202020204" pitchFamily="34" charset="0"/>
                <a:ea typeface="宋体" panose="02010600030101010101" pitchFamily="2" charset="-122"/>
              </a:rPr>
              <a:t>40%</a:t>
            </a:r>
            <a:endParaRPr kumimoji="0" lang="en-US" altLang="zh-CN" sz="1660" dirty="0">
              <a:latin typeface="Arial" panose="020B0604020202020204" pitchFamily="34" charset="0"/>
              <a:ea typeface="宋体" panose="02010600030101010101" pitchFamily="2" charset="-122"/>
            </a:endParaRPr>
          </a:p>
        </p:txBody>
      </p:sp>
      <p:sp>
        <p:nvSpPr>
          <p:cNvPr id="21" name="AutoShape 33"/>
          <p:cNvSpPr>
            <a:spLocks noChangeArrowheads="1"/>
          </p:cNvSpPr>
          <p:nvPr/>
        </p:nvSpPr>
        <p:spPr bwMode="auto">
          <a:xfrm>
            <a:off x="506993" y="5604095"/>
            <a:ext cx="1267486" cy="511914"/>
          </a:xfrm>
          <a:prstGeom prst="wedgeRoundRectCallout">
            <a:avLst>
              <a:gd name="adj1" fmla="val 45753"/>
              <a:gd name="adj2" fmla="val -136064"/>
              <a:gd name="adj3" fmla="val 16667"/>
            </a:avLst>
          </a:prstGeom>
          <a:solidFill>
            <a:schemeClr val="accent1">
              <a:lumMod val="20000"/>
              <a:lumOff val="80000"/>
            </a:schemeClr>
          </a:solidFill>
          <a:ln w="28575" algn="ctr">
            <a:solidFill>
              <a:srgbClr val="990033"/>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2400" b="1">
                <a:solidFill>
                  <a:schemeClr val="tx1"/>
                </a:solidFill>
                <a:latin typeface="黑体" panose="02010609060101010101" pitchFamily="49" charset="-122"/>
                <a:ea typeface="黑体" panose="02010609060101010101" pitchFamily="49" charset="-122"/>
              </a:defRPr>
            </a:lvl1pPr>
            <a:lvl2pPr marL="742950" indent="-285750" eaLnBrk="0" hangingPunct="0">
              <a:defRPr kumimoji="1" sz="2400" b="1">
                <a:solidFill>
                  <a:schemeClr val="tx1"/>
                </a:solidFill>
                <a:latin typeface="黑体" panose="02010609060101010101" pitchFamily="49" charset="-122"/>
                <a:ea typeface="黑体" panose="02010609060101010101" pitchFamily="49" charset="-122"/>
              </a:defRPr>
            </a:lvl2pPr>
            <a:lvl3pPr marL="1143000" indent="-228600" eaLnBrk="0" hangingPunct="0">
              <a:defRPr kumimoji="1" sz="2400" b="1">
                <a:solidFill>
                  <a:schemeClr val="tx1"/>
                </a:solidFill>
                <a:latin typeface="黑体" panose="02010609060101010101" pitchFamily="49" charset="-122"/>
                <a:ea typeface="黑体" panose="02010609060101010101" pitchFamily="49" charset="-122"/>
              </a:defRPr>
            </a:lvl3pPr>
            <a:lvl4pPr marL="1600200" indent="-228600" eaLnBrk="0" hangingPunct="0">
              <a:defRPr kumimoji="1" sz="2400" b="1">
                <a:solidFill>
                  <a:schemeClr val="tx1"/>
                </a:solidFill>
                <a:latin typeface="黑体" panose="02010609060101010101" pitchFamily="49" charset="-122"/>
                <a:ea typeface="黑体" panose="02010609060101010101" pitchFamily="49" charset="-122"/>
              </a:defRPr>
            </a:lvl4pPr>
            <a:lvl5pPr marL="2057400" indent="-228600" eaLnBrk="0" hangingPunct="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pPr>
            <a:r>
              <a:rPr kumimoji="0" lang="en-US" altLang="zh-CN" sz="1800" dirty="0" smtClean="0"/>
              <a:t>d1=1.05d</a:t>
            </a:r>
            <a:endParaRPr kumimoji="0" lang="en-US" altLang="zh-CN" sz="1800" dirty="0"/>
          </a:p>
        </p:txBody>
      </p:sp>
      <p:sp>
        <p:nvSpPr>
          <p:cNvPr id="22" name="矩形 10"/>
          <p:cNvSpPr>
            <a:spLocks noChangeArrowheads="1"/>
          </p:cNvSpPr>
          <p:nvPr/>
        </p:nvSpPr>
        <p:spPr bwMode="auto">
          <a:xfrm>
            <a:off x="8175484" y="288988"/>
            <a:ext cx="6969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zh-CN" altLang="en-US" dirty="0">
                <a:hlinkClick r:id="rId2" action="ppaction://hlinksldjump"/>
              </a:rPr>
              <a:t>返回</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77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277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2774"/>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grpId="0" nodeType="afterEffect">
                                  <p:stCondLst>
                                    <p:cond delay="0"/>
                                  </p:stCondLst>
                                  <p:childTnLst>
                                    <p:set>
                                      <p:cBhvr>
                                        <p:cTn id="17" dur="1" fill="hold">
                                          <p:stCondLst>
                                            <p:cond delay="0"/>
                                          </p:stCondLst>
                                        </p:cTn>
                                        <p:tgtEl>
                                          <p:spTgt spid="32775"/>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wipe(down)">
                                      <p:cBhvr>
                                        <p:cTn id="22" dur="5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wipe(down)">
                                      <p:cBhvr>
                                        <p:cTn id="27" dur="500"/>
                                        <p:tgtEl>
                                          <p:spTgt spid="1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wipe(down)">
                                      <p:cBhvr>
                                        <p:cTn id="32" dur="500"/>
                                        <p:tgtEl>
                                          <p:spTgt spid="2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wipe(down)">
                                      <p:cBhvr>
                                        <p:cTn id="37" dur="500"/>
                                        <p:tgtEl>
                                          <p:spTgt spid="3"/>
                                        </p:tgtEl>
                                      </p:cBhvr>
                                    </p:animEffect>
                                  </p:childTnLst>
                                </p:cTn>
                              </p:par>
                              <p:par>
                                <p:cTn id="38" presetID="22" presetClass="entr" presetSubtype="4" fill="hold" nodeType="withEffect">
                                  <p:stCondLst>
                                    <p:cond delay="0"/>
                                  </p:stCondLst>
                                  <p:childTnLst>
                                    <p:set>
                                      <p:cBhvr>
                                        <p:cTn id="39" dur="1" fill="hold">
                                          <p:stCondLst>
                                            <p:cond delay="0"/>
                                          </p:stCondLst>
                                        </p:cTn>
                                        <p:tgtEl>
                                          <p:spTgt spid="5"/>
                                        </p:tgtEl>
                                        <p:attrNameLst>
                                          <p:attrName>style.visibility</p:attrName>
                                        </p:attrNameLst>
                                      </p:cBhvr>
                                      <p:to>
                                        <p:strVal val="visible"/>
                                      </p:to>
                                    </p:set>
                                    <p:animEffect transition="in" filter="wipe(down)">
                                      <p:cBhvr>
                                        <p:cTn id="40" dur="500"/>
                                        <p:tgtEl>
                                          <p:spTgt spid="5"/>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4" fill="hold" grpId="0" nodeType="clickEffect">
                                  <p:stCondLst>
                                    <p:cond delay="0"/>
                                  </p:stCondLst>
                                  <p:childTnLst>
                                    <p:set>
                                      <p:cBhvr>
                                        <p:cTn id="44" dur="1" fill="hold">
                                          <p:stCondLst>
                                            <p:cond delay="0"/>
                                          </p:stCondLst>
                                        </p:cTn>
                                        <p:tgtEl>
                                          <p:spTgt spid="14"/>
                                        </p:tgtEl>
                                        <p:attrNameLst>
                                          <p:attrName>style.visibility</p:attrName>
                                        </p:attrNameLst>
                                      </p:cBhvr>
                                      <p:to>
                                        <p:strVal val="visible"/>
                                      </p:to>
                                    </p:set>
                                    <p:animEffect transition="in" filter="wipe(down)">
                                      <p:cBhvr>
                                        <p:cTn id="45" dur="500"/>
                                        <p:tgtEl>
                                          <p:spTgt spid="14"/>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4" fill="hold" grpId="0" nodeType="clickEffect">
                                  <p:stCondLst>
                                    <p:cond delay="0"/>
                                  </p:stCondLst>
                                  <p:childTnLst>
                                    <p:set>
                                      <p:cBhvr>
                                        <p:cTn id="49" dur="1" fill="hold">
                                          <p:stCondLst>
                                            <p:cond delay="0"/>
                                          </p:stCondLst>
                                        </p:cTn>
                                        <p:tgtEl>
                                          <p:spTgt spid="13"/>
                                        </p:tgtEl>
                                        <p:attrNameLst>
                                          <p:attrName>style.visibility</p:attrName>
                                        </p:attrNameLst>
                                      </p:cBhvr>
                                      <p:to>
                                        <p:strVal val="visible"/>
                                      </p:to>
                                    </p:set>
                                    <p:animEffect transition="in" filter="wipe(down)">
                                      <p:cBhvr>
                                        <p:cTn id="50" dur="500"/>
                                        <p:tgtEl>
                                          <p:spTgt spid="13"/>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4" fill="hold" grpId="0" nodeType="clickEffect">
                                  <p:stCondLst>
                                    <p:cond delay="0"/>
                                  </p:stCondLst>
                                  <p:childTnLst>
                                    <p:set>
                                      <p:cBhvr>
                                        <p:cTn id="54" dur="1" fill="hold">
                                          <p:stCondLst>
                                            <p:cond delay="0"/>
                                          </p:stCondLst>
                                        </p:cTn>
                                        <p:tgtEl>
                                          <p:spTgt spid="12"/>
                                        </p:tgtEl>
                                        <p:attrNameLst>
                                          <p:attrName>style.visibility</p:attrName>
                                        </p:attrNameLst>
                                      </p:cBhvr>
                                      <p:to>
                                        <p:strVal val="visible"/>
                                      </p:to>
                                    </p:set>
                                    <p:animEffect transition="in" filter="wipe(down)">
                                      <p:cBhvr>
                                        <p:cTn id="5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2" grpId="0"/>
      <p:bldP spid="32775" grpId="0"/>
      <p:bldP spid="32778" grpId="0"/>
      <p:bldP spid="12" grpId="0" animBg="1"/>
      <p:bldP spid="13" grpId="0" bldLvl="0" animBg="1"/>
      <p:bldP spid="14" grpId="0" bldLvl="0" animBg="1"/>
      <p:bldP spid="19" grpId="0" bldLvl="0" animBg="1"/>
      <p:bldP spid="20" grpId="0" bldLvl="0" animBg="1"/>
      <p:bldP spid="21" grpId="0" bldLvl="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 Box 2"/>
          <p:cNvSpPr txBox="1">
            <a:spLocks noChangeArrowheads="1"/>
          </p:cNvSpPr>
          <p:nvPr/>
        </p:nvSpPr>
        <p:spPr bwMode="auto">
          <a:xfrm>
            <a:off x="169124" y="744632"/>
            <a:ext cx="5199063"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200" dirty="0" smtClean="0">
                <a:solidFill>
                  <a:srgbClr val="C00000"/>
                </a:solidFill>
                <a:latin typeface="黑体" panose="02010609060101010101" pitchFamily="49" charset="-122"/>
                <a:ea typeface="黑体" panose="02010609060101010101" pitchFamily="49" charset="-122"/>
              </a:rPr>
              <a:t>五</a:t>
            </a:r>
            <a:r>
              <a:rPr kumimoji="1" lang="zh-CN" altLang="en-US" sz="2200" dirty="0" smtClean="0">
                <a:solidFill>
                  <a:srgbClr val="C00000"/>
                </a:solidFill>
                <a:latin typeface="黑体" panose="02010609060101010101" pitchFamily="49" charset="-122"/>
                <a:ea typeface="黑体" panose="02010609060101010101" pitchFamily="49" charset="-122"/>
              </a:rPr>
              <a:t>、</a:t>
            </a:r>
            <a:r>
              <a:rPr kumimoji="1" lang="zh-CN" altLang="en-US" sz="2200" dirty="0">
                <a:solidFill>
                  <a:srgbClr val="C00000"/>
                </a:solidFill>
                <a:latin typeface="黑体" panose="02010609060101010101" pitchFamily="49" charset="-122"/>
                <a:ea typeface="黑体" panose="02010609060101010101" pitchFamily="49" charset="-122"/>
              </a:rPr>
              <a:t>轴的结构工艺性设计</a:t>
            </a:r>
            <a:endParaRPr kumimoji="1" lang="zh-CN" altLang="en-US" sz="2200" dirty="0">
              <a:solidFill>
                <a:srgbClr val="C00000"/>
              </a:solidFill>
              <a:latin typeface="黑体" panose="02010609060101010101" pitchFamily="49" charset="-122"/>
              <a:ea typeface="黑体" panose="02010609060101010101" pitchFamily="49" charset="-122"/>
            </a:endParaRPr>
          </a:p>
        </p:txBody>
      </p:sp>
      <p:grpSp>
        <p:nvGrpSpPr>
          <p:cNvPr id="25603" name="Group 3"/>
          <p:cNvGrpSpPr/>
          <p:nvPr/>
        </p:nvGrpSpPr>
        <p:grpSpPr bwMode="auto">
          <a:xfrm>
            <a:off x="1041400" y="1119188"/>
            <a:ext cx="4275138" cy="1635125"/>
            <a:chOff x="400" y="585"/>
            <a:chExt cx="2693" cy="1030"/>
          </a:xfrm>
        </p:grpSpPr>
        <p:sp>
          <p:nvSpPr>
            <p:cNvPr id="25604" name="Text Box 4"/>
            <p:cNvSpPr txBox="1">
              <a:spLocks noChangeArrowheads="1"/>
            </p:cNvSpPr>
            <p:nvPr/>
          </p:nvSpPr>
          <p:spPr bwMode="auto">
            <a:xfrm>
              <a:off x="400" y="585"/>
              <a:ext cx="2693" cy="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200" dirty="0">
                  <a:solidFill>
                    <a:srgbClr val="002060"/>
                  </a:solidFill>
                  <a:latin typeface="Times New Roman" panose="02020603050405020304" pitchFamily="18" charset="0"/>
                  <a:ea typeface="华文中宋" panose="02010600040101010101" pitchFamily="2" charset="-122"/>
                </a:rPr>
                <a:t>1</a:t>
              </a:r>
              <a:r>
                <a:rPr kumimoji="1" lang="zh-CN" altLang="en-US" sz="2200" dirty="0">
                  <a:solidFill>
                    <a:srgbClr val="002060"/>
                  </a:solidFill>
                  <a:latin typeface="Times New Roman" panose="02020603050405020304" pitchFamily="18" charset="0"/>
                  <a:ea typeface="华文中宋" panose="02010600040101010101" pitchFamily="2" charset="-122"/>
                </a:rPr>
                <a:t>、需磨削的轴段：</a:t>
              </a:r>
              <a:r>
                <a:rPr kumimoji="1" lang="zh-CN" altLang="en-US" sz="2200" b="1" dirty="0">
                  <a:solidFill>
                    <a:srgbClr val="FF0000"/>
                  </a:solidFill>
                  <a:latin typeface="Times New Roman" panose="02020603050405020304" pitchFamily="18" charset="0"/>
                  <a:ea typeface="华文中宋" panose="02010600040101010101" pitchFamily="2" charset="-122"/>
                </a:rPr>
                <a:t>砂轮越程槽</a:t>
              </a:r>
              <a:r>
                <a:rPr kumimoji="1" lang="zh-CN" altLang="en-US" sz="2200" dirty="0">
                  <a:solidFill>
                    <a:schemeClr val="accent2"/>
                  </a:solidFill>
                  <a:latin typeface="Times New Roman" panose="02020603050405020304" pitchFamily="18" charset="0"/>
                  <a:ea typeface="华文中宋" panose="02010600040101010101" pitchFamily="2" charset="-122"/>
                </a:rPr>
                <a:t>。</a:t>
              </a:r>
              <a:endParaRPr kumimoji="1" lang="zh-CN" altLang="en-US" sz="2200" dirty="0">
                <a:solidFill>
                  <a:schemeClr val="accent2"/>
                </a:solidFill>
                <a:latin typeface="Times New Roman" panose="02020603050405020304" pitchFamily="18" charset="0"/>
                <a:ea typeface="华文中宋" panose="02010600040101010101" pitchFamily="2" charset="-122"/>
              </a:endParaRPr>
            </a:p>
          </p:txBody>
        </p:sp>
        <p:pic>
          <p:nvPicPr>
            <p:cNvPr id="25605" name="Picture 5" descr="cao"/>
            <p:cNvPicPr>
              <a:picLocks noChangeAspect="1" noChangeArrowheads="1"/>
            </p:cNvPicPr>
            <p:nvPr/>
          </p:nvPicPr>
          <p:blipFill>
            <a:blip r:embed="rId1">
              <a:extLst>
                <a:ext uri="{28A0092B-C50C-407E-A947-70E740481C1C}">
                  <a14:useLocalDpi xmlns:a14="http://schemas.microsoft.com/office/drawing/2010/main" val="0"/>
                </a:ext>
              </a:extLst>
            </a:blip>
            <a:srcRect r="50436" b="17592"/>
            <a:stretch>
              <a:fillRect/>
            </a:stretch>
          </p:blipFill>
          <p:spPr bwMode="auto">
            <a:xfrm>
              <a:off x="844" y="903"/>
              <a:ext cx="1192" cy="71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5606" name="Group 6"/>
          <p:cNvGrpSpPr/>
          <p:nvPr/>
        </p:nvGrpSpPr>
        <p:grpSpPr bwMode="auto">
          <a:xfrm>
            <a:off x="1038225" y="1760538"/>
            <a:ext cx="6791325" cy="2030413"/>
            <a:chOff x="398" y="989"/>
            <a:chExt cx="4278" cy="1279"/>
          </a:xfrm>
        </p:grpSpPr>
        <p:sp>
          <p:nvSpPr>
            <p:cNvPr id="25607" name="Text Box 7"/>
            <p:cNvSpPr txBox="1">
              <a:spLocks noChangeArrowheads="1"/>
            </p:cNvSpPr>
            <p:nvPr/>
          </p:nvSpPr>
          <p:spPr bwMode="auto">
            <a:xfrm>
              <a:off x="398" y="1938"/>
              <a:ext cx="3871"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200" dirty="0">
                  <a:latin typeface="Times New Roman" panose="02020603050405020304" pitchFamily="18" charset="0"/>
                  <a:ea typeface="华文中宋" panose="02010600040101010101" pitchFamily="2" charset="-122"/>
                </a:rPr>
                <a:t>3</a:t>
              </a:r>
              <a:r>
                <a:rPr kumimoji="1" lang="zh-CN" altLang="en-US" sz="2200" dirty="0">
                  <a:latin typeface="Times New Roman" panose="02020603050405020304" pitchFamily="18" charset="0"/>
                  <a:ea typeface="华文中宋" panose="02010600040101010101" pitchFamily="2" charset="-122"/>
                </a:rPr>
                <a:t>、</a:t>
              </a:r>
              <a:r>
                <a:rPr kumimoji="1" lang="zh-CN" altLang="en-US" sz="2200" b="1" dirty="0">
                  <a:solidFill>
                    <a:srgbClr val="FF0000"/>
                  </a:solidFill>
                  <a:latin typeface="Times New Roman" panose="02020603050405020304" pitchFamily="18" charset="0"/>
                  <a:ea typeface="华文中宋" panose="02010600040101010101" pitchFamily="2" charset="-122"/>
                </a:rPr>
                <a:t>轴端应有倒角</a:t>
              </a:r>
              <a:r>
                <a:rPr kumimoji="1" lang="zh-CN" altLang="en-US" sz="2200" dirty="0">
                  <a:latin typeface="Times New Roman" panose="02020603050405020304" pitchFamily="18" charset="0"/>
                  <a:ea typeface="华文中宋" panose="02010600040101010101" pitchFamily="2" charset="-122"/>
                </a:rPr>
                <a:t>：</a:t>
              </a:r>
              <a:r>
                <a:rPr kumimoji="1" lang="en-US" altLang="zh-CN" sz="2200" i="1" dirty="0">
                  <a:solidFill>
                    <a:schemeClr val="tx2"/>
                  </a:solidFill>
                  <a:latin typeface="Times New Roman" panose="02020603050405020304" pitchFamily="18" charset="0"/>
                  <a:ea typeface="华文中宋" panose="02010600040101010101" pitchFamily="2" charset="-122"/>
                </a:rPr>
                <a:t>c</a:t>
              </a:r>
              <a:r>
                <a:rPr kumimoji="1" lang="en-US" altLang="zh-CN" sz="2200" dirty="0">
                  <a:solidFill>
                    <a:schemeClr val="tx2"/>
                  </a:solidFill>
                  <a:latin typeface="Times New Roman" panose="02020603050405020304" pitchFamily="18" charset="0"/>
                  <a:ea typeface="华文中宋" panose="02010600040101010101" pitchFamily="2" charset="-122"/>
                </a:rPr>
                <a:t>×45</a:t>
              </a:r>
              <a:r>
                <a:rPr kumimoji="1" lang="en-US" altLang="zh-CN" sz="2800" dirty="0">
                  <a:solidFill>
                    <a:schemeClr val="tx2"/>
                  </a:solidFill>
                  <a:latin typeface="Times New Roman" panose="02020603050405020304" pitchFamily="18" charset="0"/>
                  <a:ea typeface="华文中宋" panose="02010600040101010101" pitchFamily="2" charset="-122"/>
                </a:rPr>
                <a:t>°——</a:t>
              </a:r>
              <a:r>
                <a:rPr kumimoji="1" lang="zh-CN" altLang="en-US" sz="2800" dirty="0">
                  <a:solidFill>
                    <a:schemeClr val="tx2"/>
                  </a:solidFill>
                  <a:latin typeface="Times New Roman" panose="02020603050405020304" pitchFamily="18" charset="0"/>
                  <a:ea typeface="华文中宋" panose="02010600040101010101" pitchFamily="2" charset="-122"/>
                </a:rPr>
                <a:t>便于装配。</a:t>
              </a:r>
              <a:endParaRPr kumimoji="1" lang="zh-CN" altLang="en-US" sz="2800" dirty="0">
                <a:solidFill>
                  <a:schemeClr val="tx2"/>
                </a:solidFill>
                <a:latin typeface="Times New Roman" panose="02020603050405020304" pitchFamily="18" charset="0"/>
                <a:ea typeface="华文中宋" panose="02010600040101010101" pitchFamily="2" charset="-122"/>
              </a:endParaRPr>
            </a:p>
          </p:txBody>
        </p:sp>
        <p:pic>
          <p:nvPicPr>
            <p:cNvPr id="25608" name="Picture 8" descr="dj"/>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26" y="989"/>
              <a:ext cx="850" cy="56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5609" name="Group 9"/>
          <p:cNvGrpSpPr/>
          <p:nvPr/>
        </p:nvGrpSpPr>
        <p:grpSpPr bwMode="auto">
          <a:xfrm>
            <a:off x="1038225" y="3756025"/>
            <a:ext cx="2865438" cy="1712913"/>
            <a:chOff x="1046" y="2566"/>
            <a:chExt cx="1805" cy="1079"/>
          </a:xfrm>
        </p:grpSpPr>
        <p:sp>
          <p:nvSpPr>
            <p:cNvPr id="25610" name="Text Box 10"/>
            <p:cNvSpPr txBox="1">
              <a:spLocks noChangeArrowheads="1"/>
            </p:cNvSpPr>
            <p:nvPr/>
          </p:nvSpPr>
          <p:spPr bwMode="auto">
            <a:xfrm>
              <a:off x="1046" y="2566"/>
              <a:ext cx="1805" cy="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200" dirty="0">
                  <a:latin typeface="Times New Roman" panose="02020603050405020304" pitchFamily="18" charset="0"/>
                  <a:ea typeface="华文中宋" panose="02010600040101010101" pitchFamily="2" charset="-122"/>
                </a:rPr>
                <a:t>4</a:t>
              </a:r>
              <a:r>
                <a:rPr kumimoji="1" lang="zh-CN" altLang="en-US" sz="2200" dirty="0">
                  <a:latin typeface="Times New Roman" panose="02020603050405020304" pitchFamily="18" charset="0"/>
                  <a:ea typeface="华文中宋" panose="02010600040101010101" pitchFamily="2" charset="-122"/>
                </a:rPr>
                <a:t>、</a:t>
              </a:r>
              <a:r>
                <a:rPr kumimoji="1" lang="zh-CN" altLang="en-US" sz="2200" b="1" dirty="0">
                  <a:solidFill>
                    <a:srgbClr val="FF0000"/>
                  </a:solidFill>
                  <a:latin typeface="Times New Roman" panose="02020603050405020304" pitchFamily="18" charset="0"/>
                  <a:ea typeface="华文中宋" panose="02010600040101010101" pitchFamily="2" charset="-122"/>
                </a:rPr>
                <a:t>装配段不宜过长。</a:t>
              </a:r>
              <a:endParaRPr kumimoji="1" lang="zh-CN" altLang="en-US" sz="2200" b="1" dirty="0">
                <a:solidFill>
                  <a:srgbClr val="FF0000"/>
                </a:solidFill>
                <a:latin typeface="Times New Roman" panose="02020603050405020304" pitchFamily="18" charset="0"/>
                <a:ea typeface="华文中宋" panose="02010600040101010101" pitchFamily="2" charset="-122"/>
              </a:endParaRPr>
            </a:p>
          </p:txBody>
        </p:sp>
        <p:pic>
          <p:nvPicPr>
            <p:cNvPr id="25611" name="Picture 11" descr="zpdgc"/>
            <p:cNvPicPr>
              <a:picLocks noChangeAspect="1" noChangeArrowheads="1"/>
            </p:cNvPicPr>
            <p:nvPr/>
          </p:nvPicPr>
          <p:blipFill>
            <a:blip r:embed="rId3">
              <a:extLst>
                <a:ext uri="{28A0092B-C50C-407E-A947-70E740481C1C}">
                  <a14:useLocalDpi xmlns:a14="http://schemas.microsoft.com/office/drawing/2010/main" val="0"/>
                </a:ext>
              </a:extLst>
            </a:blip>
            <a:srcRect r="57512"/>
            <a:stretch>
              <a:fillRect/>
            </a:stretch>
          </p:blipFill>
          <p:spPr bwMode="auto">
            <a:xfrm>
              <a:off x="1051" y="2889"/>
              <a:ext cx="1349" cy="756"/>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5612" name="Group 12"/>
          <p:cNvGrpSpPr/>
          <p:nvPr/>
        </p:nvGrpSpPr>
        <p:grpSpPr bwMode="auto">
          <a:xfrm>
            <a:off x="745654" y="4402138"/>
            <a:ext cx="8172450" cy="1657349"/>
            <a:chOff x="235" y="2653"/>
            <a:chExt cx="5148" cy="1044"/>
          </a:xfrm>
        </p:grpSpPr>
        <p:sp>
          <p:nvSpPr>
            <p:cNvPr id="25613" name="Text Box 13"/>
            <p:cNvSpPr txBox="1">
              <a:spLocks noChangeArrowheads="1"/>
            </p:cNvSpPr>
            <p:nvPr/>
          </p:nvSpPr>
          <p:spPr bwMode="auto">
            <a:xfrm>
              <a:off x="235" y="3383"/>
              <a:ext cx="5148" cy="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85775" indent="-485775">
                <a:defRPr>
                  <a:solidFill>
                    <a:schemeClr val="tx1"/>
                  </a:solidFill>
                  <a:latin typeface="Arial" panose="020B0604020202020204" pitchFamily="34" charset="0"/>
                  <a:ea typeface="宋体" panose="02010600030101010101" pitchFamily="2" charset="-122"/>
                </a:defRPr>
              </a:lvl1pPr>
              <a:lvl2pPr marL="754380">
                <a:defRPr>
                  <a:solidFill>
                    <a:schemeClr val="tx1"/>
                  </a:solidFill>
                  <a:latin typeface="Arial" panose="020B0604020202020204" pitchFamily="34" charset="0"/>
                  <a:ea typeface="宋体" panose="02010600030101010101" pitchFamily="2" charset="-122"/>
                </a:defRPr>
              </a:lvl2pPr>
              <a:lvl3pPr marL="944880">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20000"/>
                </a:lnSpc>
              </a:pPr>
              <a:r>
                <a:rPr kumimoji="1" lang="en-US" altLang="zh-CN" sz="2200" dirty="0">
                  <a:solidFill>
                    <a:srgbClr val="002060"/>
                  </a:solidFill>
                  <a:latin typeface="Times New Roman" panose="02020603050405020304" pitchFamily="18" charset="0"/>
                  <a:ea typeface="华文中宋" panose="02010600040101010101" pitchFamily="2" charset="-122"/>
                </a:rPr>
                <a:t>5</a:t>
              </a:r>
              <a:r>
                <a:rPr kumimoji="1" lang="zh-CN" altLang="en-US" sz="2200" dirty="0">
                  <a:solidFill>
                    <a:srgbClr val="002060"/>
                  </a:solidFill>
                  <a:latin typeface="Times New Roman" panose="02020603050405020304" pitchFamily="18" charset="0"/>
                  <a:ea typeface="华文中宋" panose="02010600040101010101" pitchFamily="2" charset="-122"/>
                </a:rPr>
                <a:t>、固定不同零件的</a:t>
              </a:r>
              <a:r>
                <a:rPr kumimoji="1" lang="zh-CN" altLang="en-US" sz="2200" dirty="0">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rPr>
                <a:t>各键槽应布置在同一母线上</a:t>
              </a:r>
              <a:r>
                <a:rPr kumimoji="1" lang="zh-CN" altLang="en-US" sz="2200" dirty="0">
                  <a:solidFill>
                    <a:srgbClr val="CC3300"/>
                  </a:solidFill>
                  <a:effectLst>
                    <a:outerShdw blurRad="38100" dist="38100" dir="2700000" algn="tl">
                      <a:srgbClr val="C0C0C0"/>
                    </a:outerShdw>
                  </a:effectLst>
                  <a:latin typeface="Times New Roman" panose="02020603050405020304" pitchFamily="18" charset="0"/>
                  <a:ea typeface="华文中宋" panose="02010600040101010101" pitchFamily="2" charset="-122"/>
                </a:rPr>
                <a:t>，以减少装夹次数。</a:t>
              </a:r>
              <a:endParaRPr kumimoji="1" lang="zh-CN" altLang="en-US" sz="2200" dirty="0">
                <a:solidFill>
                  <a:srgbClr val="CC3300"/>
                </a:solidFill>
                <a:effectLst>
                  <a:outerShdw blurRad="38100" dist="38100" dir="2700000" algn="tl">
                    <a:srgbClr val="C0C0C0"/>
                  </a:outerShdw>
                </a:effectLst>
                <a:latin typeface="Times New Roman" panose="02020603050405020304" pitchFamily="18" charset="0"/>
                <a:ea typeface="华文中宋" panose="02010600040101010101" pitchFamily="2" charset="-122"/>
              </a:endParaRPr>
            </a:p>
          </p:txBody>
        </p:sp>
        <p:pic>
          <p:nvPicPr>
            <p:cNvPr id="25614" name="Picture 14" descr="jian"/>
            <p:cNvPicPr>
              <a:picLocks noChangeAspect="1" noChangeArrowheads="1"/>
            </p:cNvPicPr>
            <p:nvPr/>
          </p:nvPicPr>
          <p:blipFill>
            <a:blip r:embed="rId4">
              <a:extLst>
                <a:ext uri="{28A0092B-C50C-407E-A947-70E740481C1C}">
                  <a14:useLocalDpi xmlns:a14="http://schemas.microsoft.com/office/drawing/2010/main" val="0"/>
                </a:ext>
              </a:extLst>
            </a:blip>
            <a:srcRect b="26033"/>
            <a:stretch>
              <a:fillRect/>
            </a:stretch>
          </p:blipFill>
          <p:spPr bwMode="auto">
            <a:xfrm>
              <a:off x="3610" y="2653"/>
              <a:ext cx="1606" cy="59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5615" name="Group 15"/>
          <p:cNvGrpSpPr/>
          <p:nvPr/>
        </p:nvGrpSpPr>
        <p:grpSpPr bwMode="auto">
          <a:xfrm>
            <a:off x="1046163" y="1560513"/>
            <a:ext cx="5024438" cy="1689100"/>
            <a:chOff x="403" y="855"/>
            <a:chExt cx="3165" cy="1064"/>
          </a:xfrm>
        </p:grpSpPr>
        <p:sp>
          <p:nvSpPr>
            <p:cNvPr id="25616" name="Text Box 16"/>
            <p:cNvSpPr txBox="1">
              <a:spLocks noChangeArrowheads="1"/>
            </p:cNvSpPr>
            <p:nvPr/>
          </p:nvSpPr>
          <p:spPr bwMode="auto">
            <a:xfrm>
              <a:off x="403" y="1648"/>
              <a:ext cx="3049" cy="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200" dirty="0">
                  <a:solidFill>
                    <a:srgbClr val="002060"/>
                  </a:solidFill>
                  <a:latin typeface="Times New Roman" panose="02020603050405020304" pitchFamily="18" charset="0"/>
                  <a:ea typeface="华文中宋" panose="02010600040101010101" pitchFamily="2" charset="-122"/>
                </a:rPr>
                <a:t>2</a:t>
              </a:r>
              <a:r>
                <a:rPr kumimoji="1" lang="zh-CN" altLang="en-US" sz="2200" dirty="0">
                  <a:solidFill>
                    <a:srgbClr val="002060"/>
                  </a:solidFill>
                  <a:latin typeface="Times New Roman" panose="02020603050405020304" pitchFamily="18" charset="0"/>
                  <a:ea typeface="华文中宋" panose="02010600040101010101" pitchFamily="2" charset="-122"/>
                </a:rPr>
                <a:t>、需切制螺纹的轴段：</a:t>
              </a:r>
              <a:r>
                <a:rPr kumimoji="1" lang="zh-CN" altLang="en-US" sz="2200" b="1" dirty="0">
                  <a:solidFill>
                    <a:srgbClr val="FF0000"/>
                  </a:solidFill>
                  <a:latin typeface="Times New Roman" panose="02020603050405020304" pitchFamily="18" charset="0"/>
                  <a:ea typeface="华文中宋" panose="02010600040101010101" pitchFamily="2" charset="-122"/>
                </a:rPr>
                <a:t>螺纹退刀槽</a:t>
              </a:r>
              <a:r>
                <a:rPr kumimoji="1" lang="zh-CN" altLang="en-US" sz="2200" dirty="0">
                  <a:solidFill>
                    <a:schemeClr val="accent2"/>
                  </a:solidFill>
                  <a:latin typeface="Times New Roman" panose="02020603050405020304" pitchFamily="18" charset="0"/>
                  <a:ea typeface="华文中宋" panose="02010600040101010101" pitchFamily="2" charset="-122"/>
                </a:rPr>
                <a:t>。</a:t>
              </a:r>
              <a:endParaRPr kumimoji="1" lang="zh-CN" altLang="en-US" sz="2200" dirty="0">
                <a:solidFill>
                  <a:schemeClr val="accent2"/>
                </a:solidFill>
                <a:latin typeface="Times New Roman" panose="02020603050405020304" pitchFamily="18" charset="0"/>
                <a:ea typeface="华文中宋" panose="02010600040101010101" pitchFamily="2" charset="-122"/>
              </a:endParaRPr>
            </a:p>
          </p:txBody>
        </p:sp>
        <p:pic>
          <p:nvPicPr>
            <p:cNvPr id="25617" name="Picture 17" descr="cao"/>
            <p:cNvPicPr>
              <a:picLocks noChangeAspect="1" noChangeArrowheads="1"/>
            </p:cNvPicPr>
            <p:nvPr/>
          </p:nvPicPr>
          <p:blipFill>
            <a:blip r:embed="rId1">
              <a:extLst>
                <a:ext uri="{28A0092B-C50C-407E-A947-70E740481C1C}">
                  <a14:useLocalDpi xmlns:a14="http://schemas.microsoft.com/office/drawing/2010/main" val="0"/>
                </a:ext>
              </a:extLst>
            </a:blip>
            <a:srcRect l="49438" r="-3577" b="15741"/>
            <a:stretch>
              <a:fillRect/>
            </a:stretch>
          </p:blipFill>
          <p:spPr bwMode="auto">
            <a:xfrm>
              <a:off x="2266" y="855"/>
              <a:ext cx="1302" cy="728"/>
            </a:xfrm>
            <a:prstGeom prst="rect">
              <a:avLst/>
            </a:prstGeom>
            <a:noFill/>
            <a:extLst>
              <a:ext uri="{909E8E84-426E-40DD-AFC4-6F175D3DCCD1}">
                <a14:hiddenFill xmlns:a14="http://schemas.microsoft.com/office/drawing/2010/main">
                  <a:solidFill>
                    <a:srgbClr val="FFFFFF"/>
                  </a:solidFill>
                </a14:hiddenFill>
              </a:ext>
            </a:extLst>
          </p:spPr>
        </p:pic>
      </p:grpSp>
      <p:pic>
        <p:nvPicPr>
          <p:cNvPr id="25618" name="Picture 18" descr="zpdgc"/>
          <p:cNvPicPr>
            <a:picLocks noChangeAspect="1" noChangeArrowheads="1"/>
          </p:cNvPicPr>
          <p:nvPr/>
        </p:nvPicPr>
        <p:blipFill>
          <a:blip r:embed="rId3">
            <a:extLst>
              <a:ext uri="{28A0092B-C50C-407E-A947-70E740481C1C}">
                <a14:useLocalDpi xmlns:a14="http://schemas.microsoft.com/office/drawing/2010/main" val="0"/>
              </a:ext>
            </a:extLst>
          </a:blip>
          <a:srcRect l="42456" r="-352"/>
          <a:stretch>
            <a:fillRect/>
          </a:stretch>
        </p:blipFill>
        <p:spPr bwMode="auto">
          <a:xfrm>
            <a:off x="3148013" y="4264025"/>
            <a:ext cx="2917825" cy="1200150"/>
          </a:xfrm>
          <a:prstGeom prst="rect">
            <a:avLst/>
          </a:prstGeom>
          <a:noFill/>
          <a:extLst>
            <a:ext uri="{909E8E84-426E-40DD-AFC4-6F175D3DCCD1}">
              <a14:hiddenFill xmlns:a14="http://schemas.microsoft.com/office/drawing/2010/main">
                <a:solidFill>
                  <a:srgbClr val="FFFFFF"/>
                </a:solidFill>
              </a14:hiddenFill>
            </a:ext>
          </a:extLst>
        </p:spPr>
      </p:pic>
      <p:sp>
        <p:nvSpPr>
          <p:cNvPr id="19" name="Text Box 6"/>
          <p:cNvSpPr txBox="1">
            <a:spLocks noChangeArrowheads="1"/>
          </p:cNvSpPr>
          <p:nvPr/>
        </p:nvSpPr>
        <p:spPr bwMode="auto">
          <a:xfrm>
            <a:off x="4864100" y="84090"/>
            <a:ext cx="4254500"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sz="3000" dirty="0" smtClean="0">
                <a:solidFill>
                  <a:srgbClr val="CC3300"/>
                </a:solidFill>
                <a:latin typeface="黑体" panose="02010609060101010101" pitchFamily="49" charset="-122"/>
                <a:ea typeface="黑体" panose="02010609060101010101" pitchFamily="49" charset="-122"/>
              </a:rPr>
              <a:t>3.7-2 </a:t>
            </a:r>
            <a:r>
              <a:rPr lang="zh-CN" altLang="en-US" sz="3000" dirty="0">
                <a:solidFill>
                  <a:srgbClr val="CC3300"/>
                </a:solidFill>
                <a:latin typeface="黑体" panose="02010609060101010101" pitchFamily="49" charset="-122"/>
                <a:ea typeface="黑体" panose="02010609060101010101" pitchFamily="49" charset="-122"/>
              </a:rPr>
              <a:t>轴的结构设计</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20" name="直接连接符 6"/>
          <p:cNvSpPr>
            <a:spLocks noChangeShapeType="1"/>
          </p:cNvSpPr>
          <p:nvPr/>
        </p:nvSpPr>
        <p:spPr bwMode="auto">
          <a:xfrm>
            <a:off x="0" y="674640"/>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5603"/>
                                        </p:tgtEl>
                                        <p:attrNameLst>
                                          <p:attrName>style.visibility</p:attrName>
                                        </p:attrNameLst>
                                      </p:cBhvr>
                                      <p:to>
                                        <p:strVal val="visible"/>
                                      </p:to>
                                    </p:set>
                                    <p:animEffect transition="in" filter="wipe(left)">
                                      <p:cBhvr>
                                        <p:cTn id="7" dur="500"/>
                                        <p:tgtEl>
                                          <p:spTgt spid="2560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5615"/>
                                        </p:tgtEl>
                                        <p:attrNameLst>
                                          <p:attrName>style.visibility</p:attrName>
                                        </p:attrNameLst>
                                      </p:cBhvr>
                                      <p:to>
                                        <p:strVal val="visible"/>
                                      </p:to>
                                    </p:set>
                                    <p:animEffect transition="in" filter="wipe(left)">
                                      <p:cBhvr>
                                        <p:cTn id="12" dur="500"/>
                                        <p:tgtEl>
                                          <p:spTgt spid="2561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5606"/>
                                        </p:tgtEl>
                                        <p:attrNameLst>
                                          <p:attrName>style.visibility</p:attrName>
                                        </p:attrNameLst>
                                      </p:cBhvr>
                                      <p:to>
                                        <p:strVal val="visible"/>
                                      </p:to>
                                    </p:set>
                                    <p:animEffect transition="in" filter="wipe(left)">
                                      <p:cBhvr>
                                        <p:cTn id="17" dur="500"/>
                                        <p:tgtEl>
                                          <p:spTgt spid="2560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5609"/>
                                        </p:tgtEl>
                                        <p:attrNameLst>
                                          <p:attrName>style.visibility</p:attrName>
                                        </p:attrNameLst>
                                      </p:cBhvr>
                                      <p:to>
                                        <p:strVal val="visible"/>
                                      </p:to>
                                    </p:set>
                                    <p:animEffect transition="in" filter="wipe(left)">
                                      <p:cBhvr>
                                        <p:cTn id="22" dur="500"/>
                                        <p:tgtEl>
                                          <p:spTgt spid="2560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5618"/>
                                        </p:tgtEl>
                                        <p:attrNameLst>
                                          <p:attrName>style.visibility</p:attrName>
                                        </p:attrNameLst>
                                      </p:cBhvr>
                                      <p:to>
                                        <p:strVal val="visible"/>
                                      </p:to>
                                    </p:set>
                                    <p:animEffect transition="in" filter="wipe(left)">
                                      <p:cBhvr>
                                        <p:cTn id="27" dur="500"/>
                                        <p:tgtEl>
                                          <p:spTgt spid="2561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5612"/>
                                        </p:tgtEl>
                                        <p:attrNameLst>
                                          <p:attrName>style.visibility</p:attrName>
                                        </p:attrNameLst>
                                      </p:cBhvr>
                                      <p:to>
                                        <p:strVal val="visible"/>
                                      </p:to>
                                    </p:set>
                                    <p:animEffect transition="in" filter="wipe(left)">
                                      <p:cBhvr>
                                        <p:cTn id="32" dur="500"/>
                                        <p:tgtEl>
                                          <p:spTgt spid="256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6850" name="Rectangle 2"/>
          <p:cNvSpPr>
            <a:spLocks noGrp="1" noChangeArrowheads="1"/>
          </p:cNvSpPr>
          <p:nvPr>
            <p:ph type="title"/>
          </p:nvPr>
        </p:nvSpPr>
        <p:spPr>
          <a:xfrm>
            <a:off x="86995" y="874395"/>
            <a:ext cx="7772400" cy="596900"/>
          </a:xfrm>
        </p:spPr>
        <p:txBody>
          <a:bodyPr/>
          <a:lstStyle/>
          <a:p>
            <a:pPr>
              <a:lnSpc>
                <a:spcPct val="130000"/>
              </a:lnSpc>
              <a:defRPr/>
            </a:pPr>
            <a:r>
              <a:rPr lang="zh-CN" altLang="en-US" sz="2400" dirty="0">
                <a:solidFill>
                  <a:srgbClr val="CC0000"/>
                </a:solidFill>
                <a:effectLst/>
                <a:latin typeface="黑体" panose="02010609060101010101" pitchFamily="49" charset="-122"/>
                <a:ea typeface="黑体" panose="02010609060101010101" pitchFamily="49" charset="-122"/>
              </a:rPr>
              <a:t>轴系结构改错</a:t>
            </a:r>
            <a:endParaRPr lang="zh-CN" altLang="en-US" sz="2400" dirty="0">
              <a:solidFill>
                <a:schemeClr val="tx1"/>
              </a:solidFill>
              <a:effectLst/>
              <a:latin typeface="黑体" panose="02010609060101010101" pitchFamily="49" charset="-122"/>
              <a:ea typeface="黑体" panose="02010609060101010101" pitchFamily="49" charset="-122"/>
            </a:endParaRPr>
          </a:p>
        </p:txBody>
      </p:sp>
      <p:sp>
        <p:nvSpPr>
          <p:cNvPr id="206851" name="Rectangle 3"/>
          <p:cNvSpPr>
            <a:spLocks noGrp="1" noChangeArrowheads="1"/>
          </p:cNvSpPr>
          <p:nvPr>
            <p:ph type="body" idx="1"/>
          </p:nvPr>
        </p:nvSpPr>
        <p:spPr>
          <a:xfrm>
            <a:off x="6027738" y="1709738"/>
            <a:ext cx="2560637" cy="704850"/>
          </a:xfrm>
        </p:spPr>
        <p:txBody>
          <a:bodyPr/>
          <a:lstStyle/>
          <a:p>
            <a:pPr>
              <a:buFont typeface="Monotype Sorts" pitchFamily="2" charset="2"/>
              <a:buNone/>
              <a:defRPr/>
            </a:pPr>
            <a:r>
              <a:rPr lang="zh-CN" altLang="en-US" sz="2400" dirty="0">
                <a:effectLst>
                  <a:outerShdw blurRad="38100" dist="38100" dir="2700000" algn="tl">
                    <a:srgbClr val="FFFFFF"/>
                  </a:outerShdw>
                </a:effectLst>
                <a:ea typeface="仿宋_GB2312" pitchFamily="49" charset="-122"/>
              </a:rPr>
              <a:t>轴肩过高</a:t>
            </a:r>
            <a:endParaRPr lang="zh-CN" altLang="en-US" sz="2400" dirty="0">
              <a:ea typeface="楷体_GB2312" pitchFamily="49" charset="-122"/>
            </a:endParaRPr>
          </a:p>
        </p:txBody>
      </p:sp>
      <p:pic>
        <p:nvPicPr>
          <p:cNvPr id="48132" name="Picture 4" descr="轴系结构改错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38163" y="1528763"/>
            <a:ext cx="4948237" cy="2474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6853" name="Picture 5" descr="轴系结构改错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1175" y="4003675"/>
            <a:ext cx="4975225" cy="248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6854" name="Oval 6"/>
          <p:cNvSpPr>
            <a:spLocks noChangeArrowheads="1"/>
          </p:cNvSpPr>
          <p:nvPr/>
        </p:nvSpPr>
        <p:spPr bwMode="auto">
          <a:xfrm>
            <a:off x="3641725" y="2178050"/>
            <a:ext cx="392113" cy="392113"/>
          </a:xfrm>
          <a:prstGeom prst="ellipse">
            <a:avLst/>
          </a:prstGeom>
          <a:noFill/>
          <a:ln w="38100">
            <a:solidFill>
              <a:srgbClr val="FF33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endParaRPr lang="zh-CN" altLang="en-US"/>
          </a:p>
        </p:txBody>
      </p:sp>
      <p:sp>
        <p:nvSpPr>
          <p:cNvPr id="206855" name="Oval 7"/>
          <p:cNvSpPr>
            <a:spLocks noChangeArrowheads="1"/>
          </p:cNvSpPr>
          <p:nvPr/>
        </p:nvSpPr>
        <p:spPr bwMode="auto">
          <a:xfrm>
            <a:off x="2801938" y="2687638"/>
            <a:ext cx="392112" cy="392112"/>
          </a:xfrm>
          <a:prstGeom prst="ellipse">
            <a:avLst/>
          </a:prstGeom>
          <a:noFill/>
          <a:ln w="38100">
            <a:solidFill>
              <a:srgbClr val="FF33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endParaRPr lang="zh-CN" altLang="en-US"/>
          </a:p>
        </p:txBody>
      </p:sp>
      <p:sp>
        <p:nvSpPr>
          <p:cNvPr id="206856" name="Oval 8"/>
          <p:cNvSpPr>
            <a:spLocks noChangeArrowheads="1"/>
          </p:cNvSpPr>
          <p:nvPr/>
        </p:nvSpPr>
        <p:spPr bwMode="auto">
          <a:xfrm>
            <a:off x="1600200" y="2687638"/>
            <a:ext cx="392113" cy="392112"/>
          </a:xfrm>
          <a:prstGeom prst="ellipse">
            <a:avLst/>
          </a:prstGeom>
          <a:noFill/>
          <a:ln w="38100">
            <a:solidFill>
              <a:srgbClr val="FF33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endParaRPr lang="zh-CN" altLang="en-US"/>
          </a:p>
        </p:txBody>
      </p:sp>
      <p:sp>
        <p:nvSpPr>
          <p:cNvPr id="206857" name="Rectangle 9"/>
          <p:cNvSpPr>
            <a:spLocks noChangeArrowheads="1"/>
          </p:cNvSpPr>
          <p:nvPr/>
        </p:nvSpPr>
        <p:spPr bwMode="auto">
          <a:xfrm>
            <a:off x="5988050" y="2597150"/>
            <a:ext cx="2651125" cy="829945"/>
          </a:xfrm>
          <a:prstGeom prst="rect">
            <a:avLst/>
          </a:prstGeom>
          <a:noFill/>
          <a:ln>
            <a:noFill/>
          </a:ln>
          <a:effectLst/>
        </p:spPr>
        <p:txBody>
          <a:bodyPr>
            <a:spAutoFit/>
          </a:bodyPr>
          <a:lstStyle/>
          <a:p>
            <a:pPr>
              <a:spcBef>
                <a:spcPct val="20000"/>
              </a:spcBef>
              <a:buClr>
                <a:schemeClr val="accent2"/>
              </a:buClr>
              <a:buSzPct val="75000"/>
              <a:buFont typeface="Monotype Sorts" pitchFamily="2" charset="2"/>
              <a:buNone/>
              <a:defRPr/>
            </a:pPr>
            <a:r>
              <a:rPr kumimoji="0" lang="zh-CN" altLang="en-US" sz="2400" dirty="0">
                <a:effectLst>
                  <a:outerShdw blurRad="38100" dist="38100" dir="2700000" algn="tl">
                    <a:srgbClr val="000000">
                      <a:alpha val="43137"/>
                    </a:srgbClr>
                  </a:outerShdw>
                </a:effectLst>
                <a:ea typeface="仿宋_GB2312" pitchFamily="49" charset="-122"/>
              </a:rPr>
              <a:t>加工螺纹应有退刀槽</a:t>
            </a:r>
            <a:endParaRPr kumimoji="0" lang="zh-CN" altLang="en-US" sz="2400" dirty="0">
              <a:effectLst>
                <a:outerShdw blurRad="38100" dist="38100" dir="2700000" algn="tl">
                  <a:srgbClr val="000000">
                    <a:alpha val="43137"/>
                  </a:srgbClr>
                </a:outerShdw>
              </a:effectLst>
              <a:ea typeface="仿宋_GB2312" pitchFamily="49" charset="-122"/>
            </a:endParaRPr>
          </a:p>
        </p:txBody>
      </p:sp>
      <p:sp>
        <p:nvSpPr>
          <p:cNvPr id="206858" name="Rectangle 10"/>
          <p:cNvSpPr>
            <a:spLocks noChangeArrowheads="1"/>
          </p:cNvSpPr>
          <p:nvPr/>
        </p:nvSpPr>
        <p:spPr bwMode="auto">
          <a:xfrm>
            <a:off x="6069330" y="3910330"/>
            <a:ext cx="2011680" cy="460375"/>
          </a:xfrm>
          <a:prstGeom prst="rect">
            <a:avLst/>
          </a:prstGeom>
          <a:noFill/>
          <a:ln>
            <a:noFill/>
          </a:ln>
          <a:effectLst/>
        </p:spPr>
        <p:txBody>
          <a:bodyPr wrap="none">
            <a:spAutoFit/>
          </a:bodyPr>
          <a:lstStyle/>
          <a:p>
            <a:pPr>
              <a:defRPr/>
            </a:pPr>
            <a:r>
              <a:rPr kumimoji="0" lang="zh-CN" altLang="en-US" sz="2400" dirty="0">
                <a:effectLst>
                  <a:outerShdw blurRad="38100" dist="38100" dir="2700000" algn="tl">
                    <a:srgbClr val="000000">
                      <a:alpha val="43137"/>
                    </a:srgbClr>
                  </a:outerShdw>
                </a:effectLst>
                <a:ea typeface="仿宋_GB2312" pitchFamily="49" charset="-122"/>
              </a:rPr>
              <a:t>无法加工螺纹</a:t>
            </a:r>
            <a:endParaRPr kumimoji="0" lang="zh-CN" altLang="en-US" sz="2400" dirty="0">
              <a:effectLst>
                <a:outerShdw blurRad="38100" dist="38100" dir="2700000" algn="tl">
                  <a:srgbClr val="000000">
                    <a:alpha val="43137"/>
                  </a:srgbClr>
                </a:outerShdw>
              </a:effectLst>
              <a:ea typeface="楷体_GB2312" pitchFamily="49" charset="-122"/>
            </a:endParaRPr>
          </a:p>
        </p:txBody>
      </p:sp>
      <p:pic>
        <p:nvPicPr>
          <p:cNvPr id="12" name="Picture 31" descr="back">
            <a:hlinkClick r:id="" action="ppaction://hlinkshowjump?jump=previous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32788" y="6532563"/>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32" descr="NEXT">
            <a:hlinkClick r:id="" action="ppaction://hlinkshowjump?jump=nextslide"/>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742363" y="6532563"/>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33" descr="rewind">
            <a:hlinkClick r:id="" action="ppaction://hlinkshowjump?jump=firstslide"/>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924800" y="6532563"/>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6"/>
          <p:cNvSpPr txBox="1">
            <a:spLocks noChangeArrowheads="1"/>
          </p:cNvSpPr>
          <p:nvPr/>
        </p:nvSpPr>
        <p:spPr bwMode="auto">
          <a:xfrm>
            <a:off x="4864100" y="174625"/>
            <a:ext cx="4254500"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sz="3000" dirty="0" smtClean="0">
                <a:solidFill>
                  <a:srgbClr val="CC3300"/>
                </a:solidFill>
                <a:latin typeface="黑体" panose="02010609060101010101" pitchFamily="49" charset="-122"/>
                <a:ea typeface="黑体" panose="02010609060101010101" pitchFamily="49" charset="-122"/>
              </a:rPr>
              <a:t>3.7-2 </a:t>
            </a:r>
            <a:r>
              <a:rPr lang="zh-CN" altLang="en-US" sz="3000" dirty="0">
                <a:solidFill>
                  <a:srgbClr val="CC3300"/>
                </a:solidFill>
                <a:latin typeface="黑体" panose="02010609060101010101" pitchFamily="49" charset="-122"/>
                <a:ea typeface="黑体" panose="02010609060101010101" pitchFamily="49" charset="-122"/>
              </a:rPr>
              <a:t>轴的结构设计</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6"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06854"/>
                                        </p:tgtEl>
                                        <p:attrNameLst>
                                          <p:attrName>style.visibility</p:attrName>
                                        </p:attrNameLst>
                                      </p:cBhvr>
                                      <p:to>
                                        <p:strVal val="visible"/>
                                      </p:to>
                                    </p:set>
                                    <p:animEffect transition="in" filter="wipe(up)">
                                      <p:cBhvr>
                                        <p:cTn id="7" dur="500"/>
                                        <p:tgtEl>
                                          <p:spTgt spid="20685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206851">
                                            <p:txEl>
                                              <p:pRg st="0" end="0"/>
                                            </p:txEl>
                                          </p:spTgt>
                                        </p:tgtEl>
                                        <p:attrNameLst>
                                          <p:attrName>style.visibility</p:attrName>
                                        </p:attrNameLst>
                                      </p:cBhvr>
                                      <p:to>
                                        <p:strVal val="visible"/>
                                      </p:to>
                                    </p:set>
                                    <p:animEffect transition="in" filter="wipe(left)">
                                      <p:cBhvr>
                                        <p:cTn id="12" dur="300"/>
                                        <p:tgtEl>
                                          <p:spTgt spid="20685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206855"/>
                                        </p:tgtEl>
                                        <p:attrNameLst>
                                          <p:attrName>style.visibility</p:attrName>
                                        </p:attrNameLst>
                                      </p:cBhvr>
                                      <p:to>
                                        <p:strVal val="visible"/>
                                      </p:to>
                                    </p:set>
                                    <p:animEffect transition="in" filter="wipe(up)">
                                      <p:cBhvr>
                                        <p:cTn id="17" dur="500"/>
                                        <p:tgtEl>
                                          <p:spTgt spid="20685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iterate type="wd">
                                    <p:tmPct val="100000"/>
                                  </p:iterate>
                                  <p:childTnLst>
                                    <p:set>
                                      <p:cBhvr>
                                        <p:cTn id="21" dur="1" fill="hold">
                                          <p:stCondLst>
                                            <p:cond delay="0"/>
                                          </p:stCondLst>
                                        </p:cTn>
                                        <p:tgtEl>
                                          <p:spTgt spid="206857"/>
                                        </p:tgtEl>
                                        <p:attrNameLst>
                                          <p:attrName>style.visibility</p:attrName>
                                        </p:attrNameLst>
                                      </p:cBhvr>
                                      <p:to>
                                        <p:strVal val="visible"/>
                                      </p:to>
                                    </p:set>
                                    <p:animEffect transition="in" filter="wipe(left)">
                                      <p:cBhvr>
                                        <p:cTn id="22" dur="300"/>
                                        <p:tgtEl>
                                          <p:spTgt spid="20685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206856"/>
                                        </p:tgtEl>
                                        <p:attrNameLst>
                                          <p:attrName>style.visibility</p:attrName>
                                        </p:attrNameLst>
                                      </p:cBhvr>
                                      <p:to>
                                        <p:strVal val="visible"/>
                                      </p:to>
                                    </p:set>
                                    <p:animEffect transition="in" filter="wipe(up)">
                                      <p:cBhvr>
                                        <p:cTn id="27" dur="500"/>
                                        <p:tgtEl>
                                          <p:spTgt spid="20685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iterate type="wd">
                                    <p:tmPct val="100000"/>
                                  </p:iterate>
                                  <p:childTnLst>
                                    <p:set>
                                      <p:cBhvr>
                                        <p:cTn id="31" dur="1" fill="hold">
                                          <p:stCondLst>
                                            <p:cond delay="0"/>
                                          </p:stCondLst>
                                        </p:cTn>
                                        <p:tgtEl>
                                          <p:spTgt spid="206858"/>
                                        </p:tgtEl>
                                        <p:attrNameLst>
                                          <p:attrName>style.visibility</p:attrName>
                                        </p:attrNameLst>
                                      </p:cBhvr>
                                      <p:to>
                                        <p:strVal val="visible"/>
                                      </p:to>
                                    </p:set>
                                    <p:animEffect transition="in" filter="wipe(left)">
                                      <p:cBhvr>
                                        <p:cTn id="32" dur="300"/>
                                        <p:tgtEl>
                                          <p:spTgt spid="20685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206853"/>
                                        </p:tgtEl>
                                        <p:attrNameLst>
                                          <p:attrName>style.visibility</p:attrName>
                                        </p:attrNameLst>
                                      </p:cBhvr>
                                      <p:to>
                                        <p:strVal val="visible"/>
                                      </p:to>
                                    </p:set>
                                    <p:animEffect transition="in" filter="wipe(up)">
                                      <p:cBhvr>
                                        <p:cTn id="37" dur="500"/>
                                        <p:tgtEl>
                                          <p:spTgt spid="206853"/>
                                        </p:tgtEl>
                                      </p:cBhvr>
                                    </p:animEffect>
                                  </p:childTnLst>
                                </p:cTn>
                              </p:par>
                            </p:childTnLst>
                          </p:cTn>
                        </p:par>
                        <p:par>
                          <p:cTn id="38" fill="hold">
                            <p:stCondLst>
                              <p:cond delay="500"/>
                            </p:stCondLst>
                            <p:childTnLst>
                              <p:par>
                                <p:cTn id="39" presetID="1" presetClass="entr" presetSubtype="0" fill="hold" nodeType="afterEffect">
                                  <p:stCondLst>
                                    <p:cond delay="0"/>
                                  </p:stCondLst>
                                  <p:childTnLst>
                                    <p:set>
                                      <p:cBhvr>
                                        <p:cTn id="40" dur="1" fill="hold">
                                          <p:stCondLst>
                                            <p:cond delay="499"/>
                                          </p:stCondLst>
                                        </p:cTn>
                                        <p:tgtEl>
                                          <p:spTgt spid="12"/>
                                        </p:tgtEl>
                                        <p:attrNameLst>
                                          <p:attrName>style.visibility</p:attrName>
                                        </p:attrNameLst>
                                      </p:cBhvr>
                                      <p:to>
                                        <p:strVal val="visible"/>
                                      </p:to>
                                    </p:set>
                                  </p:childTnLst>
                                </p:cTn>
                              </p:par>
                            </p:childTnLst>
                          </p:cTn>
                        </p:par>
                        <p:par>
                          <p:cTn id="41" fill="hold">
                            <p:stCondLst>
                              <p:cond delay="1000"/>
                            </p:stCondLst>
                            <p:childTnLst>
                              <p:par>
                                <p:cTn id="42" presetID="1" presetClass="entr" presetSubtype="0" fill="hold" nodeType="afterEffect">
                                  <p:stCondLst>
                                    <p:cond delay="0"/>
                                  </p:stCondLst>
                                  <p:childTnLst>
                                    <p:set>
                                      <p:cBhvr>
                                        <p:cTn id="43" dur="1" fill="hold">
                                          <p:stCondLst>
                                            <p:cond delay="499"/>
                                          </p:stCondLst>
                                        </p:cTn>
                                        <p:tgtEl>
                                          <p:spTgt spid="13"/>
                                        </p:tgtEl>
                                        <p:attrNameLst>
                                          <p:attrName>style.visibility</p:attrName>
                                        </p:attrNameLst>
                                      </p:cBhvr>
                                      <p:to>
                                        <p:strVal val="visible"/>
                                      </p:to>
                                    </p:set>
                                  </p:childTnLst>
                                </p:cTn>
                              </p:par>
                            </p:childTnLst>
                          </p:cTn>
                        </p:par>
                        <p:par>
                          <p:cTn id="44" fill="hold">
                            <p:stCondLst>
                              <p:cond delay="1500"/>
                            </p:stCondLst>
                            <p:childTnLst>
                              <p:par>
                                <p:cTn id="45" presetID="2" presetClass="entr" presetSubtype="8" fill="hold" nodeType="afterEffect">
                                  <p:stCondLst>
                                    <p:cond delay="0"/>
                                  </p:stCondLst>
                                  <p:childTnLst>
                                    <p:set>
                                      <p:cBhvr>
                                        <p:cTn id="46" dur="1" fill="hold">
                                          <p:stCondLst>
                                            <p:cond delay="0"/>
                                          </p:stCondLst>
                                        </p:cTn>
                                        <p:tgtEl>
                                          <p:spTgt spid="14"/>
                                        </p:tgtEl>
                                        <p:attrNameLst>
                                          <p:attrName>style.visibility</p:attrName>
                                        </p:attrNameLst>
                                      </p:cBhvr>
                                      <p:to>
                                        <p:strVal val="visible"/>
                                      </p:to>
                                    </p:set>
                                    <p:anim calcmode="lin" valueType="num">
                                      <p:cBhvr additive="base">
                                        <p:cTn id="47" dur="500" fill="hold"/>
                                        <p:tgtEl>
                                          <p:spTgt spid="14"/>
                                        </p:tgtEl>
                                        <p:attrNameLst>
                                          <p:attrName>ppt_x</p:attrName>
                                        </p:attrNameLst>
                                      </p:cBhvr>
                                      <p:tavLst>
                                        <p:tav tm="0">
                                          <p:val>
                                            <p:strVal val="0-#ppt_w/2"/>
                                          </p:val>
                                        </p:tav>
                                        <p:tav tm="100000">
                                          <p:val>
                                            <p:strVal val="#ppt_x"/>
                                          </p:val>
                                        </p:tav>
                                      </p:tavLst>
                                    </p:anim>
                                    <p:anim calcmode="lin" valueType="num">
                                      <p:cBhvr additive="base">
                                        <p:cTn id="48" dur="50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6851" grpId="0" autoUpdateAnimBg="0" build="p"/>
      <p:bldP spid="206857" grpId="0" bldLvl="0" animBg="1" autoUpdateAnimBg="0"/>
      <p:bldP spid="206858" grpId="0" bldLvl="0" animBg="1"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7874" name="Rectangle 2"/>
          <p:cNvSpPr>
            <a:spLocks noGrp="1" noChangeArrowheads="1"/>
          </p:cNvSpPr>
          <p:nvPr>
            <p:ph type="title"/>
          </p:nvPr>
        </p:nvSpPr>
        <p:spPr>
          <a:xfrm>
            <a:off x="434658" y="891223"/>
            <a:ext cx="8229600" cy="711200"/>
          </a:xfrm>
        </p:spPr>
        <p:txBody>
          <a:bodyPr/>
          <a:lstStyle/>
          <a:p>
            <a:pPr algn="ctr">
              <a:lnSpc>
                <a:spcPct val="130000"/>
              </a:lnSpc>
              <a:buClrTx/>
              <a:buSzTx/>
              <a:buFontTx/>
              <a:defRPr/>
            </a:pPr>
            <a:r>
              <a:rPr lang="zh-CN" altLang="en-US" sz="2400" dirty="0">
                <a:solidFill>
                  <a:srgbClr val="CC0000"/>
                </a:solidFill>
                <a:effectLst/>
                <a:latin typeface="黑体" panose="02010609060101010101" pitchFamily="49" charset="-122"/>
                <a:ea typeface="黑体" panose="02010609060101010101" pitchFamily="49" charset="-122"/>
              </a:rPr>
              <a:t>轴系结构改错</a:t>
            </a:r>
            <a:endParaRPr lang="zh-CN" altLang="en-US" sz="2400" dirty="0">
              <a:solidFill>
                <a:srgbClr val="CC0000"/>
              </a:solidFill>
              <a:effectLst/>
              <a:latin typeface="黑体" panose="02010609060101010101" pitchFamily="49" charset="-122"/>
              <a:ea typeface="黑体" panose="02010609060101010101" pitchFamily="49" charset="-122"/>
            </a:endParaRPr>
          </a:p>
        </p:txBody>
      </p:sp>
      <p:sp>
        <p:nvSpPr>
          <p:cNvPr id="207875" name="Rectangle 3"/>
          <p:cNvSpPr>
            <a:spLocks noGrp="1" noChangeArrowheads="1"/>
          </p:cNvSpPr>
          <p:nvPr>
            <p:ph type="body" idx="1"/>
          </p:nvPr>
        </p:nvSpPr>
        <p:spPr>
          <a:xfrm>
            <a:off x="722313" y="5265738"/>
            <a:ext cx="6061075" cy="601662"/>
          </a:xfrm>
        </p:spPr>
        <p:txBody>
          <a:bodyPr/>
          <a:lstStyle/>
          <a:p>
            <a:pPr marL="0" algn="l" eaLnBrk="1" hangingPunct="1">
              <a:buClrTx/>
              <a:buSzTx/>
              <a:buFontTx/>
              <a:buNone/>
              <a:defRPr/>
            </a:pPr>
            <a:r>
              <a:rPr kumimoji="0" lang="zh-CN" altLang="en-US" sz="2400" kern="1200" dirty="0">
                <a:solidFill>
                  <a:srgbClr val="000099"/>
                </a:solidFill>
                <a:effectLst>
                  <a:outerShdw blurRad="38100" dist="38100" dir="2700000" algn="tl">
                    <a:srgbClr val="000000">
                      <a:alpha val="43137"/>
                    </a:srgbClr>
                  </a:outerShdw>
                </a:effectLst>
                <a:latin typeface="Times New Roman" panose="02020603050405020304" pitchFamily="18" charset="0"/>
                <a:ea typeface="仿宋_GB2312" pitchFamily="49" charset="-122"/>
              </a:rPr>
              <a:t>套筒无法安装，应改用轴肩固定</a:t>
            </a:r>
            <a:endParaRPr kumimoji="0" lang="zh-CN" altLang="en-US" sz="2400" kern="1200" dirty="0">
              <a:solidFill>
                <a:srgbClr val="000099"/>
              </a:solidFill>
              <a:effectLst>
                <a:outerShdw blurRad="38100" dist="38100" dir="2700000" algn="tl">
                  <a:srgbClr val="000000">
                    <a:alpha val="43137"/>
                  </a:srgbClr>
                </a:outerShdw>
              </a:effectLst>
              <a:latin typeface="Times New Roman" panose="02020603050405020304" pitchFamily="18" charset="0"/>
              <a:ea typeface="仿宋_GB2312" pitchFamily="49" charset="-122"/>
            </a:endParaRPr>
          </a:p>
        </p:txBody>
      </p:sp>
      <p:pic>
        <p:nvPicPr>
          <p:cNvPr id="49156" name="Picture 4" descr="轴系结构改错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95288" y="1636713"/>
            <a:ext cx="3908425" cy="278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7877" name="Picture 5" descr="轴系结构改错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81538" y="1617663"/>
            <a:ext cx="4376737" cy="280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7878" name="Oval 6"/>
          <p:cNvSpPr>
            <a:spLocks noChangeArrowheads="1"/>
          </p:cNvSpPr>
          <p:nvPr/>
        </p:nvSpPr>
        <p:spPr bwMode="auto">
          <a:xfrm>
            <a:off x="2627313" y="3076575"/>
            <a:ext cx="536575" cy="536575"/>
          </a:xfrm>
          <a:prstGeom prst="ellipse">
            <a:avLst/>
          </a:prstGeom>
          <a:noFill/>
          <a:ln w="38100">
            <a:solidFill>
              <a:srgbClr val="FF33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endParaRPr lang="zh-CN" altLang="en-US"/>
          </a:p>
        </p:txBody>
      </p:sp>
      <p:sp>
        <p:nvSpPr>
          <p:cNvPr id="207879" name="Oval 7"/>
          <p:cNvSpPr>
            <a:spLocks noChangeArrowheads="1"/>
          </p:cNvSpPr>
          <p:nvPr/>
        </p:nvSpPr>
        <p:spPr bwMode="auto">
          <a:xfrm>
            <a:off x="3179763" y="3976688"/>
            <a:ext cx="536575" cy="536575"/>
          </a:xfrm>
          <a:prstGeom prst="ellipse">
            <a:avLst/>
          </a:prstGeom>
          <a:noFill/>
          <a:ln w="38100">
            <a:solidFill>
              <a:srgbClr val="FF33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endParaRPr lang="zh-CN" altLang="en-US"/>
          </a:p>
        </p:txBody>
      </p:sp>
      <p:sp>
        <p:nvSpPr>
          <p:cNvPr id="207880" name="Oval 8"/>
          <p:cNvSpPr>
            <a:spLocks noChangeArrowheads="1"/>
          </p:cNvSpPr>
          <p:nvPr/>
        </p:nvSpPr>
        <p:spPr bwMode="auto">
          <a:xfrm>
            <a:off x="1060450" y="3033713"/>
            <a:ext cx="536575" cy="536575"/>
          </a:xfrm>
          <a:prstGeom prst="ellipse">
            <a:avLst/>
          </a:prstGeom>
          <a:noFill/>
          <a:ln w="38100">
            <a:solidFill>
              <a:srgbClr val="FF33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endParaRPr lang="zh-CN" altLang="en-US"/>
          </a:p>
        </p:txBody>
      </p:sp>
      <p:sp>
        <p:nvSpPr>
          <p:cNvPr id="207881" name="Rectangle 9"/>
          <p:cNvSpPr>
            <a:spLocks noChangeArrowheads="1"/>
          </p:cNvSpPr>
          <p:nvPr/>
        </p:nvSpPr>
        <p:spPr bwMode="auto">
          <a:xfrm>
            <a:off x="722313" y="4586288"/>
            <a:ext cx="3840480" cy="460375"/>
          </a:xfrm>
          <a:prstGeom prst="rect">
            <a:avLst/>
          </a:prstGeom>
          <a:noFill/>
          <a:ln>
            <a:noFill/>
          </a:ln>
          <a:effectLst/>
        </p:spPr>
        <p:txBody>
          <a:bodyPr wrap="none">
            <a:spAutoFit/>
          </a:bodyPr>
          <a:lstStyle/>
          <a:p>
            <a:pPr algn="l">
              <a:buClrTx/>
              <a:buSzTx/>
              <a:buFontTx/>
              <a:defRPr/>
            </a:pPr>
            <a:r>
              <a:rPr kumimoji="0" lang="zh-CN" altLang="en-US" sz="2400" dirty="0">
                <a:effectLst>
                  <a:outerShdw blurRad="38100" dist="38100" dir="2700000" algn="tl">
                    <a:srgbClr val="000000">
                      <a:alpha val="43137"/>
                    </a:srgbClr>
                  </a:outerShdw>
                </a:effectLst>
                <a:ea typeface="仿宋_GB2312" pitchFamily="49" charset="-122"/>
              </a:rPr>
              <a:t>轴承的内圈与轴为过盈配合</a:t>
            </a:r>
            <a:endParaRPr kumimoji="0" lang="zh-CN" altLang="en-US" sz="2400" dirty="0">
              <a:effectLst>
                <a:outerShdw blurRad="38100" dist="38100" dir="2700000" algn="tl">
                  <a:srgbClr val="000000">
                    <a:alpha val="43137"/>
                  </a:srgbClr>
                </a:outerShdw>
              </a:effectLst>
              <a:ea typeface="仿宋_GB2312" pitchFamily="49" charset="-122"/>
            </a:endParaRPr>
          </a:p>
        </p:txBody>
      </p:sp>
      <p:sp>
        <p:nvSpPr>
          <p:cNvPr id="207882" name="Rectangle 10"/>
          <p:cNvSpPr>
            <a:spLocks noChangeArrowheads="1"/>
          </p:cNvSpPr>
          <p:nvPr/>
        </p:nvSpPr>
        <p:spPr bwMode="auto">
          <a:xfrm>
            <a:off x="722313" y="5922963"/>
            <a:ext cx="1706880" cy="460375"/>
          </a:xfrm>
          <a:prstGeom prst="rect">
            <a:avLst/>
          </a:prstGeom>
          <a:noFill/>
          <a:ln>
            <a:noFill/>
          </a:ln>
          <a:effectLst/>
        </p:spPr>
        <p:txBody>
          <a:bodyPr wrap="none">
            <a:spAutoFit/>
          </a:bodyPr>
          <a:lstStyle/>
          <a:p>
            <a:pPr algn="l">
              <a:spcBef>
                <a:spcPct val="20000"/>
              </a:spcBef>
              <a:buClrTx/>
              <a:buSzTx/>
              <a:buFontTx/>
              <a:buNone/>
              <a:defRPr/>
            </a:pPr>
            <a:r>
              <a:rPr kumimoji="0" lang="zh-CN" altLang="en-US" sz="2400" dirty="0">
                <a:effectLst>
                  <a:outerShdw blurRad="38100" dist="38100" dir="2700000" algn="tl">
                    <a:srgbClr val="000000">
                      <a:alpha val="43137"/>
                    </a:srgbClr>
                  </a:outerShdw>
                </a:effectLst>
                <a:ea typeface="仿宋_GB2312" pitchFamily="49" charset="-122"/>
              </a:rPr>
              <a:t>键无法装入</a:t>
            </a:r>
            <a:endParaRPr kumimoji="0" lang="zh-CN" altLang="en-US" sz="2400" dirty="0">
              <a:effectLst>
                <a:outerShdw blurRad="38100" dist="38100" dir="2700000" algn="tl">
                  <a:srgbClr val="000000">
                    <a:alpha val="43137"/>
                  </a:srgbClr>
                </a:outerShdw>
              </a:effectLst>
              <a:ea typeface="仿宋_GB2312" pitchFamily="49" charset="-122"/>
            </a:endParaRPr>
          </a:p>
        </p:txBody>
      </p:sp>
      <p:pic>
        <p:nvPicPr>
          <p:cNvPr id="12" name="Picture 31" descr="back">
            <a:hlinkClick r:id="" action="ppaction://hlinkshowjump?jump=previous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32788" y="6532563"/>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32" descr="NEXT">
            <a:hlinkClick r:id="" action="ppaction://hlinkshowjump?jump=nextslide"/>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742363" y="6532563"/>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33" descr="rewind">
            <a:hlinkClick r:id="" action="ppaction://hlinkshowjump?jump=firstslide"/>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924800" y="6532563"/>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6"/>
          <p:cNvSpPr txBox="1">
            <a:spLocks noChangeArrowheads="1"/>
          </p:cNvSpPr>
          <p:nvPr/>
        </p:nvSpPr>
        <p:spPr bwMode="auto">
          <a:xfrm>
            <a:off x="4864100" y="174625"/>
            <a:ext cx="4254500"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sz="3000" dirty="0" smtClean="0">
                <a:solidFill>
                  <a:srgbClr val="CC3300"/>
                </a:solidFill>
                <a:latin typeface="黑体" panose="02010609060101010101" pitchFamily="49" charset="-122"/>
                <a:ea typeface="黑体" panose="02010609060101010101" pitchFamily="49" charset="-122"/>
              </a:rPr>
              <a:t>3.7-2 </a:t>
            </a:r>
            <a:r>
              <a:rPr lang="zh-CN" altLang="en-US" sz="3000" dirty="0">
                <a:solidFill>
                  <a:srgbClr val="CC3300"/>
                </a:solidFill>
                <a:latin typeface="黑体" panose="02010609060101010101" pitchFamily="49" charset="-122"/>
                <a:ea typeface="黑体" panose="02010609060101010101" pitchFamily="49" charset="-122"/>
              </a:rPr>
              <a:t>轴的结构设计</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6"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07879"/>
                                        </p:tgtEl>
                                        <p:attrNameLst>
                                          <p:attrName>style.visibility</p:attrName>
                                        </p:attrNameLst>
                                      </p:cBhvr>
                                      <p:to>
                                        <p:strVal val="visible"/>
                                      </p:to>
                                    </p:set>
                                    <p:animEffect transition="in" filter="wipe(up)">
                                      <p:cBhvr>
                                        <p:cTn id="7" dur="500"/>
                                        <p:tgtEl>
                                          <p:spTgt spid="20787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207881"/>
                                        </p:tgtEl>
                                        <p:attrNameLst>
                                          <p:attrName>style.visibility</p:attrName>
                                        </p:attrNameLst>
                                      </p:cBhvr>
                                      <p:to>
                                        <p:strVal val="visible"/>
                                      </p:to>
                                    </p:set>
                                    <p:animEffect transition="in" filter="wipe(left)">
                                      <p:cBhvr>
                                        <p:cTn id="12" dur="300"/>
                                        <p:tgtEl>
                                          <p:spTgt spid="20788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207878"/>
                                        </p:tgtEl>
                                        <p:attrNameLst>
                                          <p:attrName>style.visibility</p:attrName>
                                        </p:attrNameLst>
                                      </p:cBhvr>
                                      <p:to>
                                        <p:strVal val="visible"/>
                                      </p:to>
                                    </p:set>
                                    <p:animEffect transition="in" filter="wipe(up)">
                                      <p:cBhvr>
                                        <p:cTn id="17" dur="500"/>
                                        <p:tgtEl>
                                          <p:spTgt spid="20787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iterate type="wd">
                                    <p:tmPct val="100000"/>
                                  </p:iterate>
                                  <p:childTnLst>
                                    <p:set>
                                      <p:cBhvr>
                                        <p:cTn id="21" dur="1" fill="hold">
                                          <p:stCondLst>
                                            <p:cond delay="0"/>
                                          </p:stCondLst>
                                        </p:cTn>
                                        <p:tgtEl>
                                          <p:spTgt spid="207875">
                                            <p:txEl>
                                              <p:pRg st="0" end="0"/>
                                            </p:txEl>
                                          </p:spTgt>
                                        </p:tgtEl>
                                        <p:attrNameLst>
                                          <p:attrName>style.visibility</p:attrName>
                                        </p:attrNameLst>
                                      </p:cBhvr>
                                      <p:to>
                                        <p:strVal val="visible"/>
                                      </p:to>
                                    </p:set>
                                    <p:animEffect transition="in" filter="wipe(left)">
                                      <p:cBhvr>
                                        <p:cTn id="22" dur="300"/>
                                        <p:tgtEl>
                                          <p:spTgt spid="207875">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207880"/>
                                        </p:tgtEl>
                                        <p:attrNameLst>
                                          <p:attrName>style.visibility</p:attrName>
                                        </p:attrNameLst>
                                      </p:cBhvr>
                                      <p:to>
                                        <p:strVal val="visible"/>
                                      </p:to>
                                    </p:set>
                                    <p:animEffect transition="in" filter="wipe(up)">
                                      <p:cBhvr>
                                        <p:cTn id="27" dur="500"/>
                                        <p:tgtEl>
                                          <p:spTgt spid="20788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iterate type="wd">
                                    <p:tmPct val="100000"/>
                                  </p:iterate>
                                  <p:childTnLst>
                                    <p:set>
                                      <p:cBhvr>
                                        <p:cTn id="31" dur="1" fill="hold">
                                          <p:stCondLst>
                                            <p:cond delay="0"/>
                                          </p:stCondLst>
                                        </p:cTn>
                                        <p:tgtEl>
                                          <p:spTgt spid="207882"/>
                                        </p:tgtEl>
                                        <p:attrNameLst>
                                          <p:attrName>style.visibility</p:attrName>
                                        </p:attrNameLst>
                                      </p:cBhvr>
                                      <p:to>
                                        <p:strVal val="visible"/>
                                      </p:to>
                                    </p:set>
                                    <p:animEffect transition="in" filter="wipe(left)">
                                      <p:cBhvr>
                                        <p:cTn id="32" dur="300"/>
                                        <p:tgtEl>
                                          <p:spTgt spid="20788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207877"/>
                                        </p:tgtEl>
                                        <p:attrNameLst>
                                          <p:attrName>style.visibility</p:attrName>
                                        </p:attrNameLst>
                                      </p:cBhvr>
                                      <p:to>
                                        <p:strVal val="visible"/>
                                      </p:to>
                                    </p:set>
                                    <p:animEffect transition="in" filter="wipe(up)">
                                      <p:cBhvr>
                                        <p:cTn id="37" dur="500"/>
                                        <p:tgtEl>
                                          <p:spTgt spid="207877"/>
                                        </p:tgtEl>
                                      </p:cBhvr>
                                    </p:animEffect>
                                  </p:childTnLst>
                                </p:cTn>
                              </p:par>
                            </p:childTnLst>
                          </p:cTn>
                        </p:par>
                        <p:par>
                          <p:cTn id="38" fill="hold">
                            <p:stCondLst>
                              <p:cond delay="500"/>
                            </p:stCondLst>
                            <p:childTnLst>
                              <p:par>
                                <p:cTn id="39" presetID="1" presetClass="entr" presetSubtype="0" fill="hold" nodeType="afterEffect">
                                  <p:stCondLst>
                                    <p:cond delay="0"/>
                                  </p:stCondLst>
                                  <p:childTnLst>
                                    <p:set>
                                      <p:cBhvr>
                                        <p:cTn id="40" dur="1" fill="hold">
                                          <p:stCondLst>
                                            <p:cond delay="499"/>
                                          </p:stCondLst>
                                        </p:cTn>
                                        <p:tgtEl>
                                          <p:spTgt spid="12"/>
                                        </p:tgtEl>
                                        <p:attrNameLst>
                                          <p:attrName>style.visibility</p:attrName>
                                        </p:attrNameLst>
                                      </p:cBhvr>
                                      <p:to>
                                        <p:strVal val="visible"/>
                                      </p:to>
                                    </p:set>
                                  </p:childTnLst>
                                </p:cTn>
                              </p:par>
                            </p:childTnLst>
                          </p:cTn>
                        </p:par>
                        <p:par>
                          <p:cTn id="41" fill="hold">
                            <p:stCondLst>
                              <p:cond delay="1000"/>
                            </p:stCondLst>
                            <p:childTnLst>
                              <p:par>
                                <p:cTn id="42" presetID="1" presetClass="entr" presetSubtype="0" fill="hold" nodeType="afterEffect">
                                  <p:stCondLst>
                                    <p:cond delay="0"/>
                                  </p:stCondLst>
                                  <p:childTnLst>
                                    <p:set>
                                      <p:cBhvr>
                                        <p:cTn id="43" dur="1" fill="hold">
                                          <p:stCondLst>
                                            <p:cond delay="499"/>
                                          </p:stCondLst>
                                        </p:cTn>
                                        <p:tgtEl>
                                          <p:spTgt spid="13"/>
                                        </p:tgtEl>
                                        <p:attrNameLst>
                                          <p:attrName>style.visibility</p:attrName>
                                        </p:attrNameLst>
                                      </p:cBhvr>
                                      <p:to>
                                        <p:strVal val="visible"/>
                                      </p:to>
                                    </p:set>
                                  </p:childTnLst>
                                </p:cTn>
                              </p:par>
                            </p:childTnLst>
                          </p:cTn>
                        </p:par>
                        <p:par>
                          <p:cTn id="44" fill="hold">
                            <p:stCondLst>
                              <p:cond delay="1500"/>
                            </p:stCondLst>
                            <p:childTnLst>
                              <p:par>
                                <p:cTn id="45" presetID="2" presetClass="entr" presetSubtype="8" fill="hold" nodeType="afterEffect">
                                  <p:stCondLst>
                                    <p:cond delay="0"/>
                                  </p:stCondLst>
                                  <p:childTnLst>
                                    <p:set>
                                      <p:cBhvr>
                                        <p:cTn id="46" dur="1" fill="hold">
                                          <p:stCondLst>
                                            <p:cond delay="0"/>
                                          </p:stCondLst>
                                        </p:cTn>
                                        <p:tgtEl>
                                          <p:spTgt spid="14"/>
                                        </p:tgtEl>
                                        <p:attrNameLst>
                                          <p:attrName>style.visibility</p:attrName>
                                        </p:attrNameLst>
                                      </p:cBhvr>
                                      <p:to>
                                        <p:strVal val="visible"/>
                                      </p:to>
                                    </p:set>
                                    <p:anim calcmode="lin" valueType="num">
                                      <p:cBhvr additive="base">
                                        <p:cTn id="47" dur="500" fill="hold"/>
                                        <p:tgtEl>
                                          <p:spTgt spid="14"/>
                                        </p:tgtEl>
                                        <p:attrNameLst>
                                          <p:attrName>ppt_x</p:attrName>
                                        </p:attrNameLst>
                                      </p:cBhvr>
                                      <p:tavLst>
                                        <p:tav tm="0">
                                          <p:val>
                                            <p:strVal val="0-#ppt_w/2"/>
                                          </p:val>
                                        </p:tav>
                                        <p:tav tm="100000">
                                          <p:val>
                                            <p:strVal val="#ppt_x"/>
                                          </p:val>
                                        </p:tav>
                                      </p:tavLst>
                                    </p:anim>
                                    <p:anim calcmode="lin" valueType="num">
                                      <p:cBhvr additive="base">
                                        <p:cTn id="48" dur="50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7875" grpId="0" autoUpdateAnimBg="0" build="p"/>
      <p:bldP spid="207881" grpId="0" bldLvl="0" animBg="1" autoUpdateAnimBg="0"/>
      <p:bldP spid="207882" grpId="0" bldLvl="0" animBg="1"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8898" name="Rectangle 2"/>
          <p:cNvSpPr>
            <a:spLocks noGrp="1" noChangeArrowheads="1"/>
          </p:cNvSpPr>
          <p:nvPr>
            <p:ph type="title"/>
          </p:nvPr>
        </p:nvSpPr>
        <p:spPr>
          <a:xfrm>
            <a:off x="327025" y="889000"/>
            <a:ext cx="7772400" cy="741363"/>
          </a:xfrm>
        </p:spPr>
        <p:txBody>
          <a:bodyPr/>
          <a:lstStyle/>
          <a:p>
            <a:pPr algn="ctr">
              <a:lnSpc>
                <a:spcPct val="130000"/>
              </a:lnSpc>
              <a:buClrTx/>
              <a:buSzTx/>
              <a:buFontTx/>
              <a:defRPr/>
            </a:pPr>
            <a:r>
              <a:rPr lang="zh-CN" altLang="en-US" sz="2400" dirty="0">
                <a:solidFill>
                  <a:srgbClr val="CC0000"/>
                </a:solidFill>
                <a:effectLst/>
                <a:latin typeface="黑体" panose="02010609060101010101" pitchFamily="49" charset="-122"/>
                <a:ea typeface="黑体" panose="02010609060101010101" pitchFamily="49" charset="-122"/>
              </a:rPr>
              <a:t>轴系结构改错</a:t>
            </a:r>
            <a:endParaRPr lang="zh-CN" altLang="en-US" sz="2400" dirty="0">
              <a:solidFill>
                <a:srgbClr val="CC0000"/>
              </a:solidFill>
              <a:effectLst/>
              <a:latin typeface="黑体" panose="02010609060101010101" pitchFamily="49" charset="-122"/>
              <a:ea typeface="黑体" panose="02010609060101010101" pitchFamily="49" charset="-122"/>
            </a:endParaRPr>
          </a:p>
        </p:txBody>
      </p:sp>
      <p:sp>
        <p:nvSpPr>
          <p:cNvPr id="208899" name="Rectangle 3"/>
          <p:cNvSpPr>
            <a:spLocks noGrp="1" noChangeArrowheads="1"/>
          </p:cNvSpPr>
          <p:nvPr>
            <p:ph type="body" idx="1"/>
          </p:nvPr>
        </p:nvSpPr>
        <p:spPr>
          <a:xfrm>
            <a:off x="4612958" y="4677410"/>
            <a:ext cx="3271837" cy="587375"/>
          </a:xfrm>
        </p:spPr>
        <p:txBody>
          <a:bodyPr/>
          <a:lstStyle/>
          <a:p>
            <a:pPr marL="0" algn="l" eaLnBrk="1" hangingPunct="1">
              <a:buClrTx/>
              <a:buSzTx/>
              <a:buFontTx/>
              <a:buNone/>
              <a:defRPr/>
            </a:pPr>
            <a:r>
              <a:rPr kumimoji="0" lang="zh-CN" altLang="en-US" sz="2400" kern="1200" dirty="0">
                <a:solidFill>
                  <a:srgbClr val="000099"/>
                </a:solidFill>
                <a:effectLst>
                  <a:outerShdw blurRad="38100" dist="38100" dir="2700000" algn="tl">
                    <a:srgbClr val="000000">
                      <a:alpha val="43137"/>
                    </a:srgbClr>
                  </a:outerShdw>
                </a:effectLst>
                <a:latin typeface="Times New Roman" panose="02020603050405020304" pitchFamily="18" charset="0"/>
                <a:ea typeface="仿宋_GB2312" pitchFamily="49" charset="-122"/>
              </a:rPr>
              <a:t>键的长度过长</a:t>
            </a:r>
            <a:endParaRPr kumimoji="0" lang="zh-CN" altLang="en-US" sz="2400" kern="1200" dirty="0">
              <a:solidFill>
                <a:srgbClr val="000099"/>
              </a:solidFill>
              <a:effectLst>
                <a:outerShdw blurRad="38100" dist="38100" dir="2700000" algn="tl">
                  <a:srgbClr val="000000">
                    <a:alpha val="43137"/>
                  </a:srgbClr>
                </a:outerShdw>
              </a:effectLst>
              <a:latin typeface="Times New Roman" panose="02020603050405020304" pitchFamily="18" charset="0"/>
              <a:ea typeface="仿宋_GB2312" pitchFamily="49" charset="-122"/>
            </a:endParaRPr>
          </a:p>
        </p:txBody>
      </p:sp>
      <p:pic>
        <p:nvPicPr>
          <p:cNvPr id="50180" name="Picture 4" descr="轴系结构改错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655185" y="1786890"/>
            <a:ext cx="4181475" cy="260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8901" name="Picture 5" descr="轴系结构改错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4473" y="1724978"/>
            <a:ext cx="4373562" cy="2725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8902" name="Oval 6"/>
          <p:cNvSpPr>
            <a:spLocks noChangeArrowheads="1"/>
          </p:cNvSpPr>
          <p:nvPr/>
        </p:nvSpPr>
        <p:spPr bwMode="auto">
          <a:xfrm>
            <a:off x="6990715" y="3402013"/>
            <a:ext cx="420688" cy="420687"/>
          </a:xfrm>
          <a:prstGeom prst="ellipse">
            <a:avLst/>
          </a:prstGeom>
          <a:noFill/>
          <a:ln w="38100">
            <a:solidFill>
              <a:srgbClr val="FF33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endParaRPr lang="zh-CN" altLang="en-US"/>
          </a:p>
        </p:txBody>
      </p:sp>
      <p:sp>
        <p:nvSpPr>
          <p:cNvPr id="208903" name="Oval 7"/>
          <p:cNvSpPr>
            <a:spLocks noChangeArrowheads="1"/>
          </p:cNvSpPr>
          <p:nvPr/>
        </p:nvSpPr>
        <p:spPr bwMode="auto">
          <a:xfrm>
            <a:off x="6297613" y="3415983"/>
            <a:ext cx="420687" cy="420687"/>
          </a:xfrm>
          <a:prstGeom prst="ellipse">
            <a:avLst/>
          </a:prstGeom>
          <a:noFill/>
          <a:ln w="38100">
            <a:solidFill>
              <a:srgbClr val="FF33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endParaRPr lang="zh-CN" altLang="en-US"/>
          </a:p>
        </p:txBody>
      </p:sp>
      <p:sp>
        <p:nvSpPr>
          <p:cNvPr id="208904" name="Oval 8"/>
          <p:cNvSpPr>
            <a:spLocks noChangeArrowheads="1"/>
          </p:cNvSpPr>
          <p:nvPr/>
        </p:nvSpPr>
        <p:spPr bwMode="auto">
          <a:xfrm>
            <a:off x="5838508" y="3862070"/>
            <a:ext cx="420687" cy="420688"/>
          </a:xfrm>
          <a:prstGeom prst="ellipse">
            <a:avLst/>
          </a:prstGeom>
          <a:noFill/>
          <a:ln w="38100">
            <a:solidFill>
              <a:srgbClr val="FF33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algn="ctr"/>
            <a:endParaRPr lang="zh-CN" altLang="zh-CN" b="1"/>
          </a:p>
        </p:txBody>
      </p:sp>
      <p:sp>
        <p:nvSpPr>
          <p:cNvPr id="208905" name="Rectangle 9"/>
          <p:cNvSpPr>
            <a:spLocks noChangeArrowheads="1"/>
          </p:cNvSpPr>
          <p:nvPr/>
        </p:nvSpPr>
        <p:spPr bwMode="auto">
          <a:xfrm>
            <a:off x="4691698" y="5191125"/>
            <a:ext cx="1706880" cy="460375"/>
          </a:xfrm>
          <a:prstGeom prst="rect">
            <a:avLst/>
          </a:prstGeom>
          <a:noFill/>
          <a:ln>
            <a:noFill/>
          </a:ln>
          <a:effectLst/>
        </p:spPr>
        <p:txBody>
          <a:bodyPr wrap="none">
            <a:spAutoFit/>
          </a:bodyPr>
          <a:lstStyle/>
          <a:p>
            <a:pPr algn="l">
              <a:spcBef>
                <a:spcPct val="20000"/>
              </a:spcBef>
              <a:buClrTx/>
              <a:buSzTx/>
              <a:buFontTx/>
              <a:buNone/>
              <a:defRPr/>
            </a:pPr>
            <a:r>
              <a:rPr kumimoji="0" lang="zh-CN" altLang="en-US" sz="2400" dirty="0">
                <a:effectLst>
                  <a:outerShdw blurRad="38100" dist="38100" dir="2700000" algn="tl">
                    <a:srgbClr val="000000">
                      <a:alpha val="43137"/>
                    </a:srgbClr>
                  </a:outerShdw>
                </a:effectLst>
                <a:ea typeface="仿宋_GB2312" pitchFamily="49" charset="-122"/>
              </a:rPr>
              <a:t>键槽未开通</a:t>
            </a:r>
            <a:endParaRPr kumimoji="0" lang="zh-CN" altLang="en-US" sz="2400" dirty="0">
              <a:effectLst>
                <a:outerShdw blurRad="38100" dist="38100" dir="2700000" algn="tl">
                  <a:srgbClr val="000000">
                    <a:alpha val="43137"/>
                  </a:srgbClr>
                </a:outerShdw>
              </a:effectLst>
              <a:ea typeface="仿宋_GB2312" pitchFamily="49" charset="-122"/>
            </a:endParaRPr>
          </a:p>
        </p:txBody>
      </p:sp>
      <p:sp>
        <p:nvSpPr>
          <p:cNvPr id="208906" name="Rectangle 10"/>
          <p:cNvSpPr>
            <a:spLocks noChangeArrowheads="1"/>
          </p:cNvSpPr>
          <p:nvPr/>
        </p:nvSpPr>
        <p:spPr bwMode="auto">
          <a:xfrm>
            <a:off x="4612323" y="5762625"/>
            <a:ext cx="3230880" cy="460375"/>
          </a:xfrm>
          <a:prstGeom prst="rect">
            <a:avLst/>
          </a:prstGeom>
          <a:noFill/>
          <a:ln>
            <a:noFill/>
          </a:ln>
          <a:effectLst/>
        </p:spPr>
        <p:txBody>
          <a:bodyPr wrap="none">
            <a:spAutoFit/>
          </a:bodyPr>
          <a:lstStyle/>
          <a:p>
            <a:pPr algn="l">
              <a:spcBef>
                <a:spcPct val="20000"/>
              </a:spcBef>
              <a:buClrTx/>
              <a:buSzTx/>
              <a:buFontTx/>
              <a:buNone/>
              <a:defRPr/>
            </a:pPr>
            <a:r>
              <a:rPr kumimoji="0" lang="zh-CN" altLang="en-US" sz="2400" dirty="0">
                <a:effectLst>
                  <a:outerShdw blurRad="38100" dist="38100" dir="2700000" algn="tl">
                    <a:srgbClr val="000000">
                      <a:alpha val="43137"/>
                    </a:srgbClr>
                  </a:outerShdw>
                </a:effectLst>
                <a:ea typeface="仿宋_GB2312" pitchFamily="49" charset="-122"/>
              </a:rPr>
              <a:t>键槽应开在同一条线上</a:t>
            </a:r>
            <a:endParaRPr kumimoji="0" lang="zh-CN" altLang="en-US" sz="2400" dirty="0">
              <a:effectLst>
                <a:outerShdw blurRad="38100" dist="38100" dir="2700000" algn="tl">
                  <a:srgbClr val="000000">
                    <a:alpha val="43137"/>
                  </a:srgbClr>
                </a:outerShdw>
              </a:effectLst>
              <a:ea typeface="仿宋_GB2312" pitchFamily="49" charset="-122"/>
            </a:endParaRPr>
          </a:p>
        </p:txBody>
      </p:sp>
      <p:pic>
        <p:nvPicPr>
          <p:cNvPr id="12" name="Picture 31" descr="back">
            <a:hlinkClick r:id="" action="ppaction://hlinkshowjump?jump=previous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585200" y="6570663"/>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33" descr="rewind">
            <a:hlinkClick r:id="" action="ppaction://hlinkshowjump?jump=firstslide"/>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64513" y="6570663"/>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6"/>
          <p:cNvSpPr txBox="1">
            <a:spLocks noChangeArrowheads="1"/>
          </p:cNvSpPr>
          <p:nvPr/>
        </p:nvSpPr>
        <p:spPr bwMode="auto">
          <a:xfrm>
            <a:off x="4864100" y="174625"/>
            <a:ext cx="4254500"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sz="3000" dirty="0" smtClean="0">
                <a:solidFill>
                  <a:srgbClr val="CC3300"/>
                </a:solidFill>
                <a:latin typeface="黑体" panose="02010609060101010101" pitchFamily="49" charset="-122"/>
                <a:ea typeface="黑体" panose="02010609060101010101" pitchFamily="49" charset="-122"/>
              </a:rPr>
              <a:t>3.7-2 </a:t>
            </a:r>
            <a:r>
              <a:rPr lang="zh-CN" altLang="en-US" sz="3000" dirty="0">
                <a:solidFill>
                  <a:srgbClr val="CC3300"/>
                </a:solidFill>
                <a:latin typeface="黑体" panose="02010609060101010101" pitchFamily="49" charset="-122"/>
                <a:ea typeface="黑体" panose="02010609060101010101" pitchFamily="49" charset="-122"/>
              </a:rPr>
              <a:t>轴的结构设计</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6"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08904"/>
                                        </p:tgtEl>
                                        <p:attrNameLst>
                                          <p:attrName>style.visibility</p:attrName>
                                        </p:attrNameLst>
                                      </p:cBhvr>
                                      <p:to>
                                        <p:strVal val="visible"/>
                                      </p:to>
                                    </p:set>
                                    <p:animEffect transition="in" filter="wipe(up)">
                                      <p:cBhvr>
                                        <p:cTn id="7" dur="500"/>
                                        <p:tgtEl>
                                          <p:spTgt spid="20890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208899">
                                            <p:txEl>
                                              <p:pRg st="0" end="0"/>
                                            </p:txEl>
                                          </p:spTgt>
                                        </p:tgtEl>
                                        <p:attrNameLst>
                                          <p:attrName>style.visibility</p:attrName>
                                        </p:attrNameLst>
                                      </p:cBhvr>
                                      <p:to>
                                        <p:strVal val="visible"/>
                                      </p:to>
                                    </p:set>
                                    <p:animEffect transition="in" filter="wipe(left)">
                                      <p:cBhvr>
                                        <p:cTn id="12" dur="300"/>
                                        <p:tgtEl>
                                          <p:spTgt spid="20889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208903"/>
                                        </p:tgtEl>
                                        <p:attrNameLst>
                                          <p:attrName>style.visibility</p:attrName>
                                        </p:attrNameLst>
                                      </p:cBhvr>
                                      <p:to>
                                        <p:strVal val="visible"/>
                                      </p:to>
                                    </p:set>
                                    <p:animEffect transition="in" filter="wipe(up)">
                                      <p:cBhvr>
                                        <p:cTn id="17" dur="500"/>
                                        <p:tgtEl>
                                          <p:spTgt spid="20890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iterate type="wd">
                                    <p:tmPct val="100000"/>
                                  </p:iterate>
                                  <p:childTnLst>
                                    <p:set>
                                      <p:cBhvr>
                                        <p:cTn id="21" dur="1" fill="hold">
                                          <p:stCondLst>
                                            <p:cond delay="0"/>
                                          </p:stCondLst>
                                        </p:cTn>
                                        <p:tgtEl>
                                          <p:spTgt spid="208905"/>
                                        </p:tgtEl>
                                        <p:attrNameLst>
                                          <p:attrName>style.visibility</p:attrName>
                                        </p:attrNameLst>
                                      </p:cBhvr>
                                      <p:to>
                                        <p:strVal val="visible"/>
                                      </p:to>
                                    </p:set>
                                    <p:animEffect transition="in" filter="wipe(left)">
                                      <p:cBhvr>
                                        <p:cTn id="22" dur="300"/>
                                        <p:tgtEl>
                                          <p:spTgt spid="20890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208902"/>
                                        </p:tgtEl>
                                        <p:attrNameLst>
                                          <p:attrName>style.visibility</p:attrName>
                                        </p:attrNameLst>
                                      </p:cBhvr>
                                      <p:to>
                                        <p:strVal val="visible"/>
                                      </p:to>
                                    </p:set>
                                    <p:animEffect transition="in" filter="wipe(up)">
                                      <p:cBhvr>
                                        <p:cTn id="27" dur="500"/>
                                        <p:tgtEl>
                                          <p:spTgt spid="20890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iterate type="wd">
                                    <p:tmPct val="100000"/>
                                  </p:iterate>
                                  <p:childTnLst>
                                    <p:set>
                                      <p:cBhvr>
                                        <p:cTn id="31" dur="1" fill="hold">
                                          <p:stCondLst>
                                            <p:cond delay="0"/>
                                          </p:stCondLst>
                                        </p:cTn>
                                        <p:tgtEl>
                                          <p:spTgt spid="208906"/>
                                        </p:tgtEl>
                                        <p:attrNameLst>
                                          <p:attrName>style.visibility</p:attrName>
                                        </p:attrNameLst>
                                      </p:cBhvr>
                                      <p:to>
                                        <p:strVal val="visible"/>
                                      </p:to>
                                    </p:set>
                                    <p:animEffect transition="in" filter="wipe(left)">
                                      <p:cBhvr>
                                        <p:cTn id="32" dur="300"/>
                                        <p:tgtEl>
                                          <p:spTgt spid="20890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208901"/>
                                        </p:tgtEl>
                                        <p:attrNameLst>
                                          <p:attrName>style.visibility</p:attrName>
                                        </p:attrNameLst>
                                      </p:cBhvr>
                                      <p:to>
                                        <p:strVal val="visible"/>
                                      </p:to>
                                    </p:set>
                                    <p:animEffect transition="in" filter="wipe(up)">
                                      <p:cBhvr>
                                        <p:cTn id="37" dur="500"/>
                                        <p:tgtEl>
                                          <p:spTgt spid="208901"/>
                                        </p:tgtEl>
                                      </p:cBhvr>
                                    </p:animEffect>
                                  </p:childTnLst>
                                </p:cTn>
                              </p:par>
                            </p:childTnLst>
                          </p:cTn>
                        </p:par>
                        <p:par>
                          <p:cTn id="38" fill="hold">
                            <p:stCondLst>
                              <p:cond delay="500"/>
                            </p:stCondLst>
                            <p:childTnLst>
                              <p:par>
                                <p:cTn id="39" presetID="1" presetClass="entr" presetSubtype="0" fill="hold" nodeType="afterEffect">
                                  <p:stCondLst>
                                    <p:cond delay="0"/>
                                  </p:stCondLst>
                                  <p:childTnLst>
                                    <p:set>
                                      <p:cBhvr>
                                        <p:cTn id="40" dur="1" fill="hold">
                                          <p:stCondLst>
                                            <p:cond delay="499"/>
                                          </p:stCondLst>
                                        </p:cTn>
                                        <p:tgtEl>
                                          <p:spTgt spid="12"/>
                                        </p:tgtEl>
                                        <p:attrNameLst>
                                          <p:attrName>style.visibility</p:attrName>
                                        </p:attrNameLst>
                                      </p:cBhvr>
                                      <p:to>
                                        <p:strVal val="visible"/>
                                      </p:to>
                                    </p:set>
                                  </p:childTnLst>
                                </p:cTn>
                              </p:par>
                            </p:childTnLst>
                          </p:cTn>
                        </p:par>
                        <p:par>
                          <p:cTn id="41" fill="hold">
                            <p:stCondLst>
                              <p:cond delay="1000"/>
                            </p:stCondLst>
                            <p:childTnLst>
                              <p:par>
                                <p:cTn id="42" presetID="2" presetClass="entr" presetSubtype="8" fill="hold" nodeType="afterEffect">
                                  <p:stCondLst>
                                    <p:cond delay="0"/>
                                  </p:stCondLst>
                                  <p:childTnLst>
                                    <p:set>
                                      <p:cBhvr>
                                        <p:cTn id="43" dur="1" fill="hold">
                                          <p:stCondLst>
                                            <p:cond delay="0"/>
                                          </p:stCondLst>
                                        </p:cTn>
                                        <p:tgtEl>
                                          <p:spTgt spid="14"/>
                                        </p:tgtEl>
                                        <p:attrNameLst>
                                          <p:attrName>style.visibility</p:attrName>
                                        </p:attrNameLst>
                                      </p:cBhvr>
                                      <p:to>
                                        <p:strVal val="visible"/>
                                      </p:to>
                                    </p:set>
                                    <p:anim calcmode="lin" valueType="num">
                                      <p:cBhvr additive="base">
                                        <p:cTn id="44" dur="500" fill="hold"/>
                                        <p:tgtEl>
                                          <p:spTgt spid="14"/>
                                        </p:tgtEl>
                                        <p:attrNameLst>
                                          <p:attrName>ppt_x</p:attrName>
                                        </p:attrNameLst>
                                      </p:cBhvr>
                                      <p:tavLst>
                                        <p:tav tm="0">
                                          <p:val>
                                            <p:strVal val="0-#ppt_w/2"/>
                                          </p:val>
                                        </p:tav>
                                        <p:tav tm="100000">
                                          <p:val>
                                            <p:strVal val="#ppt_x"/>
                                          </p:val>
                                        </p:tav>
                                      </p:tavLst>
                                    </p:anim>
                                    <p:anim calcmode="lin" valueType="num">
                                      <p:cBhvr additive="base">
                                        <p:cTn id="45" dur="50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8899" grpId="0" autoUpdateAnimBg="0" build="p"/>
      <p:bldP spid="208904" grpId="0" bldLvl="0" animBg="1" autoUpdateAnimBg="0"/>
      <p:bldP spid="208905" grpId="0" bldLvl="0" animBg="1" autoUpdateAnimBg="0"/>
      <p:bldP spid="208906" grpId="0" bldLvl="0" animBg="1"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88066" name="Group 2"/>
          <p:cNvGrpSpPr/>
          <p:nvPr/>
        </p:nvGrpSpPr>
        <p:grpSpPr bwMode="auto">
          <a:xfrm>
            <a:off x="474663" y="1519238"/>
            <a:ext cx="8396287" cy="4264025"/>
            <a:chOff x="286" y="284"/>
            <a:chExt cx="5289" cy="2686"/>
          </a:xfrm>
        </p:grpSpPr>
        <p:pic>
          <p:nvPicPr>
            <p:cNvPr id="88067" name="Picture 3" descr="Drawing2"/>
            <p:cNvPicPr>
              <a:picLocks noChangeAspect="1" noChangeArrowheads="1"/>
            </p:cNvPicPr>
            <p:nvPr/>
          </p:nvPicPr>
          <p:blipFill>
            <a:blip r:embed="rId1" cstate="print">
              <a:extLst>
                <a:ext uri="{28A0092B-C50C-407E-A947-70E740481C1C}">
                  <a14:useLocalDpi xmlns:a14="http://schemas.microsoft.com/office/drawing/2010/main" val="0"/>
                </a:ext>
              </a:extLst>
            </a:blip>
            <a:srcRect t="5898" b="24756"/>
            <a:stretch>
              <a:fillRect/>
            </a:stretch>
          </p:blipFill>
          <p:spPr bwMode="auto">
            <a:xfrm>
              <a:off x="708" y="1079"/>
              <a:ext cx="4607" cy="18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8" name="Rectangle 4"/>
            <p:cNvSpPr>
              <a:spLocks noChangeArrowheads="1"/>
            </p:cNvSpPr>
            <p:nvPr/>
          </p:nvSpPr>
          <p:spPr bwMode="auto">
            <a:xfrm>
              <a:off x="286" y="284"/>
              <a:ext cx="5289" cy="7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spAutoFit/>
            </a:bodyPr>
            <a:lstStyle>
              <a:lvl1pPr marL="716280" indent="-716280">
                <a:defRPr>
                  <a:solidFill>
                    <a:schemeClr val="tx1"/>
                  </a:solidFill>
                  <a:latin typeface="Arial" panose="020B0604020202020204" pitchFamily="34" charset="0"/>
                  <a:ea typeface="宋体" panose="02010600030101010101" pitchFamily="2" charset="-122"/>
                </a:defRPr>
              </a:lvl1pPr>
              <a:lvl2pPr marL="989330">
                <a:defRPr>
                  <a:solidFill>
                    <a:schemeClr val="tx1"/>
                  </a:solidFill>
                  <a:latin typeface="Arial" panose="020B0604020202020204" pitchFamily="34" charset="0"/>
                  <a:ea typeface="宋体" panose="02010600030101010101" pitchFamily="2" charset="-122"/>
                </a:defRPr>
              </a:lvl2pPr>
              <a:lvl3pPr marL="1168400">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800" b="1" dirty="0">
                  <a:latin typeface="幼圆" panose="02010509060101010101" pitchFamily="49" charset="-122"/>
                  <a:ea typeface="幼圆" panose="02010509060101010101" pitchFamily="49" charset="-122"/>
                </a:rPr>
                <a:t>    </a:t>
              </a:r>
              <a:r>
                <a:rPr lang="zh-CN" altLang="en-US" sz="2200" b="1" dirty="0">
                  <a:latin typeface="幼圆" panose="02010509060101010101" pitchFamily="49" charset="-122"/>
                  <a:ea typeface="幼圆" panose="02010509060101010101" pitchFamily="49" charset="-122"/>
                </a:rPr>
                <a:t>图示为一对圆锥滚子轴承支承的轴系，齿轮稀油润滑，轴承脂润滑，轴端装有联轴器。</a:t>
              </a:r>
              <a:endParaRPr lang="zh-CN" altLang="en-US" sz="2200" b="1" dirty="0">
                <a:latin typeface="幼圆" panose="02010509060101010101" pitchFamily="49" charset="-122"/>
                <a:ea typeface="幼圆" panose="02010509060101010101" pitchFamily="49" charset="-122"/>
              </a:endParaRPr>
            </a:p>
            <a:p>
              <a:r>
                <a:rPr lang="zh-CN" altLang="en-US" sz="2200" b="1" dirty="0">
                  <a:latin typeface="幼圆" panose="02010509060101010101" pitchFamily="49" charset="-122"/>
                  <a:ea typeface="幼圆" panose="02010509060101010101" pitchFamily="49" charset="-122"/>
                </a:rPr>
                <a:t>    试：指出图中错误并说明错误的原因。</a:t>
              </a:r>
              <a:endParaRPr lang="zh-CN" altLang="en-US" sz="2200" b="1" dirty="0">
                <a:latin typeface="幼圆" panose="02010509060101010101" pitchFamily="49" charset="-122"/>
                <a:ea typeface="幼圆" panose="02010509060101010101" pitchFamily="49" charset="-122"/>
              </a:endParaRPr>
            </a:p>
          </p:txBody>
        </p:sp>
      </p:grpSp>
      <p:grpSp>
        <p:nvGrpSpPr>
          <p:cNvPr id="88069" name="Group 5"/>
          <p:cNvGrpSpPr/>
          <p:nvPr/>
        </p:nvGrpSpPr>
        <p:grpSpPr bwMode="auto">
          <a:xfrm>
            <a:off x="334821" y="945175"/>
            <a:ext cx="3833813" cy="552450"/>
            <a:chOff x="2961" y="3840"/>
            <a:chExt cx="2415" cy="348"/>
          </a:xfrm>
        </p:grpSpPr>
        <p:sp>
          <p:nvSpPr>
            <p:cNvPr id="88070" name="Text Box 6"/>
            <p:cNvSpPr txBox="1">
              <a:spLocks noChangeArrowheads="1"/>
            </p:cNvSpPr>
            <p:nvPr/>
          </p:nvSpPr>
          <p:spPr bwMode="auto">
            <a:xfrm>
              <a:off x="3168" y="3840"/>
              <a:ext cx="2208" cy="271"/>
            </a:xfrm>
            <a:prstGeom prst="rect">
              <a:avLst/>
            </a:prstGeom>
            <a:solidFill>
              <a:srgbClr val="FF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2200" b="1" dirty="0">
                  <a:latin typeface="幼圆" panose="02010509060101010101" pitchFamily="49" charset="-122"/>
                  <a:ea typeface="幼圆" panose="02010509060101010101" pitchFamily="49" charset="-122"/>
                </a:rPr>
                <a:t>例 轴的结构改错</a:t>
              </a:r>
              <a:endParaRPr kumimoji="1" lang="en-US" altLang="zh-CN" sz="2200" b="1" dirty="0">
                <a:latin typeface="幼圆" panose="02010509060101010101" pitchFamily="49" charset="-122"/>
                <a:ea typeface="幼圆" panose="02010509060101010101" pitchFamily="49" charset="-122"/>
              </a:endParaRPr>
            </a:p>
          </p:txBody>
        </p:sp>
        <p:graphicFrame>
          <p:nvGraphicFramePr>
            <p:cNvPr id="88071" name="Object 7">
              <a:hlinkClick r:id="" action="ppaction://ole?verb=0">
                <a:snd r:embed="rId2" name="type.wav"/>
              </a:hlinkClick>
            </p:cNvPr>
            <p:cNvGraphicFramePr>
              <a:graphicFrameLocks noChangeAspect="1"/>
            </p:cNvGraphicFramePr>
            <p:nvPr/>
          </p:nvGraphicFramePr>
          <p:xfrm>
            <a:off x="2961" y="3882"/>
            <a:ext cx="240" cy="306"/>
          </p:xfrm>
          <a:graphic>
            <a:graphicData uri="http://schemas.openxmlformats.org/presentationml/2006/ole">
              <mc:AlternateContent xmlns:mc="http://schemas.openxmlformats.org/markup-compatibility/2006">
                <mc:Choice xmlns:v="urn:schemas-microsoft-com:vml" Requires="v">
                  <p:oleObj spid="_x0000_s20534" name="对象包" r:id="rId3" imgW="379095" imgH="486410" progId="Package">
                    <p:embed/>
                  </p:oleObj>
                </mc:Choice>
                <mc:Fallback>
                  <p:oleObj name="对象包" r:id="rId3" imgW="379095" imgH="486410" progId="Package">
                    <p:embed/>
                    <p:pic>
                      <p:nvPicPr>
                        <p:cNvPr id="0" name="图片 205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61" y="3882"/>
                          <a:ext cx="240" cy="30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1" name="Text Box 6"/>
          <p:cNvSpPr txBox="1">
            <a:spLocks noChangeArrowheads="1"/>
          </p:cNvSpPr>
          <p:nvPr/>
        </p:nvSpPr>
        <p:spPr bwMode="auto">
          <a:xfrm>
            <a:off x="4864100" y="174625"/>
            <a:ext cx="4254500"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sz="3000" dirty="0" smtClean="0">
                <a:solidFill>
                  <a:srgbClr val="CC3300"/>
                </a:solidFill>
                <a:latin typeface="黑体" panose="02010609060101010101" pitchFamily="49" charset="-122"/>
                <a:ea typeface="黑体" panose="02010609060101010101" pitchFamily="49" charset="-122"/>
              </a:rPr>
              <a:t>3.7-2 </a:t>
            </a:r>
            <a:r>
              <a:rPr lang="zh-CN" altLang="en-US" sz="3000" dirty="0">
                <a:solidFill>
                  <a:srgbClr val="CC3300"/>
                </a:solidFill>
                <a:latin typeface="黑体" panose="02010609060101010101" pitchFamily="49" charset="-122"/>
                <a:ea typeface="黑体" panose="02010609060101010101" pitchFamily="49" charset="-122"/>
              </a:rPr>
              <a:t>轴的结构设计</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12"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withEffect">
                                  <p:stCondLst>
                                    <p:cond delay="0"/>
                                  </p:stCondLst>
                                  <p:childTnLst>
                                    <p:set>
                                      <p:cBhvr>
                                        <p:cTn id="6" dur="1" fill="hold">
                                          <p:stCondLst>
                                            <p:cond delay="0"/>
                                          </p:stCondLst>
                                        </p:cTn>
                                        <p:tgtEl>
                                          <p:spTgt spid="88069"/>
                                        </p:tgtEl>
                                        <p:attrNameLst>
                                          <p:attrName>style.visibility</p:attrName>
                                        </p:attrNameLst>
                                      </p:cBhvr>
                                      <p:to>
                                        <p:strVal val="visible"/>
                                      </p:to>
                                    </p:set>
                                    <p:animEffect transition="in" filter="strips(downRight)">
                                      <p:cBhvr>
                                        <p:cTn id="7" dur="500"/>
                                        <p:tgtEl>
                                          <p:spTgt spid="8806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88066"/>
                                        </p:tgtEl>
                                        <p:attrNameLst>
                                          <p:attrName>style.visibility</p:attrName>
                                        </p:attrNameLst>
                                      </p:cBhvr>
                                      <p:to>
                                        <p:strVal val="visible"/>
                                      </p:to>
                                    </p:set>
                                    <p:animEffect transition="in" filter="wipe(left)">
                                      <p:cBhvr>
                                        <p:cTn id="12" dur="500"/>
                                        <p:tgtEl>
                                          <p:spTgt spid="880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89090" name="Picture 2" descr="Drawing2"/>
          <p:cNvPicPr>
            <a:picLocks noChangeAspect="1" noChangeArrowheads="1"/>
          </p:cNvPicPr>
          <p:nvPr/>
        </p:nvPicPr>
        <p:blipFill>
          <a:blip r:embed="rId1" cstate="print">
            <a:extLst>
              <a:ext uri="{28A0092B-C50C-407E-A947-70E740481C1C}">
                <a14:useLocalDpi xmlns:a14="http://schemas.microsoft.com/office/drawing/2010/main" val="0"/>
              </a:ext>
            </a:extLst>
          </a:blip>
          <a:srcRect t="5898" b="24756"/>
          <a:stretch>
            <a:fillRect/>
          </a:stretch>
        </p:blipFill>
        <p:spPr bwMode="auto">
          <a:xfrm>
            <a:off x="1116013" y="836613"/>
            <a:ext cx="7313612" cy="300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9091" name="Oval 3"/>
          <p:cNvSpPr>
            <a:spLocks noChangeArrowheads="1"/>
          </p:cNvSpPr>
          <p:nvPr/>
        </p:nvSpPr>
        <p:spPr bwMode="auto">
          <a:xfrm>
            <a:off x="1673225" y="2892425"/>
            <a:ext cx="401638" cy="417513"/>
          </a:xfrm>
          <a:prstGeom prst="ellipse">
            <a:avLst/>
          </a:prstGeom>
          <a:noFill/>
          <a:ln w="19050">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b="1">
                <a:solidFill>
                  <a:srgbClr val="FF0000"/>
                </a:solidFill>
                <a:latin typeface="幼圆" panose="02010509060101010101" pitchFamily="49" charset="-122"/>
                <a:ea typeface="幼圆" panose="02010509060101010101" pitchFamily="49" charset="-122"/>
              </a:rPr>
              <a:t>1</a:t>
            </a:r>
            <a:endParaRPr lang="en-US" altLang="zh-CN" sz="2400" b="1">
              <a:solidFill>
                <a:srgbClr val="FF0000"/>
              </a:solidFill>
              <a:latin typeface="幼圆" panose="02010509060101010101" pitchFamily="49" charset="-122"/>
              <a:ea typeface="幼圆" panose="02010509060101010101" pitchFamily="49" charset="-122"/>
            </a:endParaRPr>
          </a:p>
        </p:txBody>
      </p:sp>
      <p:sp>
        <p:nvSpPr>
          <p:cNvPr id="89092" name="Oval 4"/>
          <p:cNvSpPr>
            <a:spLocks noChangeArrowheads="1"/>
          </p:cNvSpPr>
          <p:nvPr/>
        </p:nvSpPr>
        <p:spPr bwMode="auto">
          <a:xfrm>
            <a:off x="2690813" y="2832100"/>
            <a:ext cx="401637" cy="417513"/>
          </a:xfrm>
          <a:prstGeom prst="ellipse">
            <a:avLst/>
          </a:prstGeom>
          <a:noFill/>
          <a:ln w="19050">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b="1">
                <a:solidFill>
                  <a:srgbClr val="FF0000"/>
                </a:solidFill>
                <a:latin typeface="幼圆" panose="02010509060101010101" pitchFamily="49" charset="-122"/>
                <a:ea typeface="幼圆" panose="02010509060101010101" pitchFamily="49" charset="-122"/>
              </a:rPr>
              <a:t>2</a:t>
            </a:r>
            <a:endParaRPr lang="en-US" altLang="zh-CN" sz="2400" b="1">
              <a:solidFill>
                <a:srgbClr val="FF0000"/>
              </a:solidFill>
              <a:latin typeface="幼圆" panose="02010509060101010101" pitchFamily="49" charset="-122"/>
              <a:ea typeface="幼圆" panose="02010509060101010101" pitchFamily="49" charset="-122"/>
            </a:endParaRPr>
          </a:p>
        </p:txBody>
      </p:sp>
      <p:sp>
        <p:nvSpPr>
          <p:cNvPr id="89093" name="Oval 5"/>
          <p:cNvSpPr>
            <a:spLocks noChangeArrowheads="1"/>
          </p:cNvSpPr>
          <p:nvPr/>
        </p:nvSpPr>
        <p:spPr bwMode="auto">
          <a:xfrm>
            <a:off x="3695700" y="3281363"/>
            <a:ext cx="401638" cy="417512"/>
          </a:xfrm>
          <a:prstGeom prst="ellipse">
            <a:avLst/>
          </a:prstGeom>
          <a:noFill/>
          <a:ln w="19050">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b="1">
                <a:solidFill>
                  <a:srgbClr val="FF0000"/>
                </a:solidFill>
                <a:latin typeface="幼圆" panose="02010509060101010101" pitchFamily="49" charset="-122"/>
                <a:ea typeface="幼圆" panose="02010509060101010101" pitchFamily="49" charset="-122"/>
              </a:rPr>
              <a:t>4</a:t>
            </a:r>
            <a:endParaRPr lang="en-US" altLang="zh-CN" sz="2400" b="1">
              <a:solidFill>
                <a:srgbClr val="FF0000"/>
              </a:solidFill>
              <a:latin typeface="幼圆" panose="02010509060101010101" pitchFamily="49" charset="-122"/>
              <a:ea typeface="幼圆" panose="02010509060101010101" pitchFamily="49" charset="-122"/>
            </a:endParaRPr>
          </a:p>
        </p:txBody>
      </p:sp>
      <p:grpSp>
        <p:nvGrpSpPr>
          <p:cNvPr id="89094" name="Group 6"/>
          <p:cNvGrpSpPr/>
          <p:nvPr/>
        </p:nvGrpSpPr>
        <p:grpSpPr bwMode="auto">
          <a:xfrm>
            <a:off x="3935413" y="2232025"/>
            <a:ext cx="2816225" cy="449263"/>
            <a:chOff x="2484" y="1841"/>
            <a:chExt cx="1774" cy="283"/>
          </a:xfrm>
        </p:grpSpPr>
        <p:sp>
          <p:nvSpPr>
            <p:cNvPr id="89095" name="Oval 7"/>
            <p:cNvSpPr>
              <a:spLocks noChangeArrowheads="1"/>
            </p:cNvSpPr>
            <p:nvPr/>
          </p:nvSpPr>
          <p:spPr bwMode="auto">
            <a:xfrm>
              <a:off x="2484" y="1841"/>
              <a:ext cx="253" cy="263"/>
            </a:xfrm>
            <a:prstGeom prst="ellipse">
              <a:avLst/>
            </a:prstGeom>
            <a:noFill/>
            <a:ln w="19050">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b="1">
                  <a:solidFill>
                    <a:srgbClr val="FF0000"/>
                  </a:solidFill>
                  <a:latin typeface="幼圆" panose="02010509060101010101" pitchFamily="49" charset="-122"/>
                  <a:ea typeface="幼圆" panose="02010509060101010101" pitchFamily="49" charset="-122"/>
                </a:rPr>
                <a:t>5</a:t>
              </a:r>
              <a:endParaRPr lang="en-US" altLang="zh-CN" sz="2400" b="1">
                <a:solidFill>
                  <a:srgbClr val="FF0000"/>
                </a:solidFill>
                <a:latin typeface="幼圆" panose="02010509060101010101" pitchFamily="49" charset="-122"/>
                <a:ea typeface="幼圆" panose="02010509060101010101" pitchFamily="49" charset="-122"/>
              </a:endParaRPr>
            </a:p>
          </p:txBody>
        </p:sp>
        <p:sp>
          <p:nvSpPr>
            <p:cNvPr id="89096" name="Oval 8"/>
            <p:cNvSpPr>
              <a:spLocks noChangeArrowheads="1"/>
            </p:cNvSpPr>
            <p:nvPr/>
          </p:nvSpPr>
          <p:spPr bwMode="auto">
            <a:xfrm>
              <a:off x="4005" y="1861"/>
              <a:ext cx="253" cy="263"/>
            </a:xfrm>
            <a:prstGeom prst="ellipse">
              <a:avLst/>
            </a:prstGeom>
            <a:noFill/>
            <a:ln w="19050">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b="1">
                  <a:solidFill>
                    <a:srgbClr val="FF0000"/>
                  </a:solidFill>
                  <a:latin typeface="幼圆" panose="02010509060101010101" pitchFamily="49" charset="-122"/>
                  <a:ea typeface="幼圆" panose="02010509060101010101" pitchFamily="49" charset="-122"/>
                </a:rPr>
                <a:t>5</a:t>
              </a:r>
              <a:endParaRPr lang="en-US" altLang="zh-CN" sz="2400" b="1">
                <a:solidFill>
                  <a:srgbClr val="FF0000"/>
                </a:solidFill>
                <a:latin typeface="幼圆" panose="02010509060101010101" pitchFamily="49" charset="-122"/>
                <a:ea typeface="幼圆" panose="02010509060101010101" pitchFamily="49" charset="-122"/>
              </a:endParaRPr>
            </a:p>
          </p:txBody>
        </p:sp>
      </p:grpSp>
      <p:grpSp>
        <p:nvGrpSpPr>
          <p:cNvPr id="89097" name="Group 9"/>
          <p:cNvGrpSpPr/>
          <p:nvPr/>
        </p:nvGrpSpPr>
        <p:grpSpPr bwMode="auto">
          <a:xfrm>
            <a:off x="2870200" y="1585913"/>
            <a:ext cx="5018088" cy="433387"/>
            <a:chOff x="1813" y="1434"/>
            <a:chExt cx="3161" cy="273"/>
          </a:xfrm>
        </p:grpSpPr>
        <p:sp>
          <p:nvSpPr>
            <p:cNvPr id="89098" name="Oval 10"/>
            <p:cNvSpPr>
              <a:spLocks noChangeArrowheads="1"/>
            </p:cNvSpPr>
            <p:nvPr/>
          </p:nvSpPr>
          <p:spPr bwMode="auto">
            <a:xfrm>
              <a:off x="1813" y="1444"/>
              <a:ext cx="253" cy="263"/>
            </a:xfrm>
            <a:prstGeom prst="ellipse">
              <a:avLst/>
            </a:prstGeom>
            <a:noFill/>
            <a:ln w="19050">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b="1">
                  <a:solidFill>
                    <a:srgbClr val="FF0000"/>
                  </a:solidFill>
                  <a:latin typeface="幼圆" panose="02010509060101010101" pitchFamily="49" charset="-122"/>
                  <a:ea typeface="幼圆" panose="02010509060101010101" pitchFamily="49" charset="-122"/>
                </a:rPr>
                <a:t>3</a:t>
              </a:r>
              <a:endParaRPr lang="en-US" altLang="zh-CN" sz="2400" b="1">
                <a:solidFill>
                  <a:srgbClr val="FF0000"/>
                </a:solidFill>
                <a:latin typeface="幼圆" panose="02010509060101010101" pitchFamily="49" charset="-122"/>
                <a:ea typeface="幼圆" panose="02010509060101010101" pitchFamily="49" charset="-122"/>
              </a:endParaRPr>
            </a:p>
          </p:txBody>
        </p:sp>
        <p:sp>
          <p:nvSpPr>
            <p:cNvPr id="89099" name="Oval 11"/>
            <p:cNvSpPr>
              <a:spLocks noChangeArrowheads="1"/>
            </p:cNvSpPr>
            <p:nvPr/>
          </p:nvSpPr>
          <p:spPr bwMode="auto">
            <a:xfrm>
              <a:off x="4721" y="1434"/>
              <a:ext cx="253" cy="263"/>
            </a:xfrm>
            <a:prstGeom prst="ellipse">
              <a:avLst/>
            </a:prstGeom>
            <a:noFill/>
            <a:ln w="19050">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b="1">
                  <a:solidFill>
                    <a:srgbClr val="FF0000"/>
                  </a:solidFill>
                  <a:latin typeface="幼圆" panose="02010509060101010101" pitchFamily="49" charset="-122"/>
                  <a:ea typeface="幼圆" panose="02010509060101010101" pitchFamily="49" charset="-122"/>
                </a:rPr>
                <a:t>3</a:t>
              </a:r>
              <a:endParaRPr lang="en-US" altLang="zh-CN" sz="2400" b="1">
                <a:solidFill>
                  <a:srgbClr val="FF0000"/>
                </a:solidFill>
                <a:latin typeface="幼圆" panose="02010509060101010101" pitchFamily="49" charset="-122"/>
                <a:ea typeface="幼圆" panose="02010509060101010101" pitchFamily="49" charset="-122"/>
              </a:endParaRPr>
            </a:p>
          </p:txBody>
        </p:sp>
      </p:grpSp>
      <p:sp>
        <p:nvSpPr>
          <p:cNvPr id="89100" name="Oval 12"/>
          <p:cNvSpPr>
            <a:spLocks noChangeArrowheads="1"/>
          </p:cNvSpPr>
          <p:nvPr/>
        </p:nvSpPr>
        <p:spPr bwMode="auto">
          <a:xfrm>
            <a:off x="4295775" y="2728913"/>
            <a:ext cx="403225" cy="415925"/>
          </a:xfrm>
          <a:prstGeom prst="ellipse">
            <a:avLst/>
          </a:prstGeom>
          <a:noFill/>
          <a:ln w="19050">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b="1">
                <a:solidFill>
                  <a:srgbClr val="FF0000"/>
                </a:solidFill>
                <a:latin typeface="幼圆" panose="02010509060101010101" pitchFamily="49" charset="-122"/>
                <a:ea typeface="幼圆" panose="02010509060101010101" pitchFamily="49" charset="-122"/>
              </a:rPr>
              <a:t>6</a:t>
            </a:r>
            <a:endParaRPr lang="en-US" altLang="zh-CN" sz="2400" b="1">
              <a:solidFill>
                <a:srgbClr val="FF0000"/>
              </a:solidFill>
              <a:latin typeface="幼圆" panose="02010509060101010101" pitchFamily="49" charset="-122"/>
              <a:ea typeface="幼圆" panose="02010509060101010101" pitchFamily="49" charset="-122"/>
            </a:endParaRPr>
          </a:p>
        </p:txBody>
      </p:sp>
      <p:sp>
        <p:nvSpPr>
          <p:cNvPr id="89101" name="Oval 13"/>
          <p:cNvSpPr>
            <a:spLocks noChangeArrowheads="1"/>
          </p:cNvSpPr>
          <p:nvPr/>
        </p:nvSpPr>
        <p:spPr bwMode="auto">
          <a:xfrm>
            <a:off x="5588000" y="2624138"/>
            <a:ext cx="403225" cy="415925"/>
          </a:xfrm>
          <a:prstGeom prst="ellipse">
            <a:avLst/>
          </a:prstGeom>
          <a:noFill/>
          <a:ln w="19050">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b="1">
                <a:solidFill>
                  <a:srgbClr val="FF0000"/>
                </a:solidFill>
                <a:latin typeface="幼圆" panose="02010509060101010101" pitchFamily="49" charset="-122"/>
                <a:ea typeface="幼圆" panose="02010509060101010101" pitchFamily="49" charset="-122"/>
              </a:rPr>
              <a:t>7</a:t>
            </a:r>
            <a:endParaRPr lang="en-US" altLang="zh-CN" sz="2400" b="1">
              <a:solidFill>
                <a:srgbClr val="FF0000"/>
              </a:solidFill>
              <a:latin typeface="幼圆" panose="02010509060101010101" pitchFamily="49" charset="-122"/>
              <a:ea typeface="幼圆" panose="02010509060101010101" pitchFamily="49" charset="-122"/>
            </a:endParaRPr>
          </a:p>
        </p:txBody>
      </p:sp>
      <p:sp>
        <p:nvSpPr>
          <p:cNvPr id="89102" name="Oval 14"/>
          <p:cNvSpPr>
            <a:spLocks noChangeArrowheads="1"/>
          </p:cNvSpPr>
          <p:nvPr/>
        </p:nvSpPr>
        <p:spPr bwMode="auto">
          <a:xfrm>
            <a:off x="6967538" y="2311400"/>
            <a:ext cx="403225" cy="415925"/>
          </a:xfrm>
          <a:prstGeom prst="ellipse">
            <a:avLst/>
          </a:prstGeom>
          <a:noFill/>
          <a:ln w="19050">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b="1">
                <a:solidFill>
                  <a:srgbClr val="FF0000"/>
                </a:solidFill>
                <a:latin typeface="幼圆" panose="02010509060101010101" pitchFamily="49" charset="-122"/>
                <a:ea typeface="幼圆" panose="02010509060101010101" pitchFamily="49" charset="-122"/>
              </a:rPr>
              <a:t>8</a:t>
            </a:r>
            <a:endParaRPr lang="en-US" altLang="zh-CN" sz="2400" b="1">
              <a:solidFill>
                <a:srgbClr val="FF0000"/>
              </a:solidFill>
              <a:latin typeface="幼圆" panose="02010509060101010101" pitchFamily="49" charset="-122"/>
              <a:ea typeface="幼圆" panose="02010509060101010101" pitchFamily="49" charset="-122"/>
            </a:endParaRPr>
          </a:p>
        </p:txBody>
      </p:sp>
      <p:sp>
        <p:nvSpPr>
          <p:cNvPr id="89103" name="Oval 15"/>
          <p:cNvSpPr>
            <a:spLocks noChangeArrowheads="1"/>
          </p:cNvSpPr>
          <p:nvPr/>
        </p:nvSpPr>
        <p:spPr bwMode="auto">
          <a:xfrm>
            <a:off x="7299325" y="3062288"/>
            <a:ext cx="403225" cy="415925"/>
          </a:xfrm>
          <a:prstGeom prst="ellipse">
            <a:avLst/>
          </a:prstGeom>
          <a:noFill/>
          <a:ln w="19050">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b="1">
                <a:solidFill>
                  <a:srgbClr val="FF0000"/>
                </a:solidFill>
                <a:latin typeface="幼圆" panose="02010509060101010101" pitchFamily="49" charset="-122"/>
                <a:ea typeface="幼圆" panose="02010509060101010101" pitchFamily="49" charset="-122"/>
              </a:rPr>
              <a:t>9</a:t>
            </a:r>
            <a:endParaRPr lang="en-US" altLang="zh-CN" sz="2400" b="1">
              <a:solidFill>
                <a:srgbClr val="FF0000"/>
              </a:solidFill>
              <a:latin typeface="幼圆" panose="02010509060101010101" pitchFamily="49" charset="-122"/>
              <a:ea typeface="幼圆" panose="02010509060101010101" pitchFamily="49" charset="-122"/>
            </a:endParaRPr>
          </a:p>
        </p:txBody>
      </p:sp>
      <p:sp>
        <p:nvSpPr>
          <p:cNvPr id="89104" name="Text Box 16"/>
          <p:cNvSpPr txBox="1">
            <a:spLocks noChangeArrowheads="1"/>
          </p:cNvSpPr>
          <p:nvPr/>
        </p:nvSpPr>
        <p:spPr bwMode="auto">
          <a:xfrm>
            <a:off x="1356732" y="5630648"/>
            <a:ext cx="5816600" cy="43088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200" b="1" dirty="0">
                <a:ea typeface="幼圆" panose="02010509060101010101" pitchFamily="49" charset="-122"/>
                <a:sym typeface="Wingdings" panose="05000000000000000000" pitchFamily="2" charset="2"/>
              </a:rPr>
              <a:t></a:t>
            </a:r>
            <a:r>
              <a:rPr lang="zh-CN" altLang="en-US" sz="2200" b="1" dirty="0">
                <a:ea typeface="幼圆" panose="02010509060101010101" pitchFamily="49" charset="-122"/>
                <a:sym typeface="Wingdings" panose="05000000000000000000" pitchFamily="2" charset="2"/>
              </a:rPr>
              <a:t>轴段过长，与端盖接触上了。</a:t>
            </a:r>
            <a:endParaRPr lang="zh-CN" altLang="en-US" sz="2200" b="1" dirty="0">
              <a:ea typeface="幼圆" panose="02010509060101010101" pitchFamily="49" charset="-122"/>
              <a:sym typeface="Wingdings" panose="05000000000000000000" pitchFamily="2" charset="2"/>
            </a:endParaRPr>
          </a:p>
        </p:txBody>
      </p:sp>
      <p:sp>
        <p:nvSpPr>
          <p:cNvPr id="89105" name="Rectangle 17"/>
          <p:cNvSpPr>
            <a:spLocks noChangeArrowheads="1"/>
          </p:cNvSpPr>
          <p:nvPr/>
        </p:nvSpPr>
        <p:spPr bwMode="auto">
          <a:xfrm>
            <a:off x="1232718" y="3480162"/>
            <a:ext cx="7324725" cy="861774"/>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60680" indent="-360680">
              <a:defRPr>
                <a:solidFill>
                  <a:schemeClr val="tx1"/>
                </a:solidFill>
                <a:latin typeface="Arial" panose="020B0604020202020204" pitchFamily="34" charset="0"/>
                <a:ea typeface="宋体" panose="02010600030101010101" pitchFamily="2" charset="-122"/>
              </a:defRPr>
            </a:lvl1pPr>
            <a:lvl2pPr marL="539750">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800" b="1" dirty="0">
                <a:ea typeface="幼圆" panose="02010509060101010101" pitchFamily="49" charset="-122"/>
                <a:sym typeface="Wingdings" panose="05000000000000000000" pitchFamily="2" charset="2"/>
              </a:rPr>
              <a:t></a:t>
            </a:r>
            <a:r>
              <a:rPr lang="zh-CN" altLang="en-US" sz="2200" b="1" dirty="0">
                <a:ea typeface="幼圆" panose="02010509060101010101" pitchFamily="49" charset="-122"/>
                <a:sym typeface="Wingdings" panose="05000000000000000000" pitchFamily="2" charset="2"/>
              </a:rPr>
              <a:t>联轴器键槽未开通，键顶面与联轴器键槽底面应有间隙，该处轴上键槽应与装齿轮的轴上键槽位于同一母线上。</a:t>
            </a:r>
            <a:endParaRPr lang="zh-CN" altLang="en-US" sz="2200" b="1" dirty="0">
              <a:ea typeface="幼圆" panose="02010509060101010101" pitchFamily="49" charset="-122"/>
              <a:sym typeface="Wingdings" panose="05000000000000000000" pitchFamily="2" charset="2"/>
            </a:endParaRPr>
          </a:p>
        </p:txBody>
      </p:sp>
      <p:sp>
        <p:nvSpPr>
          <p:cNvPr id="89106" name="Rectangle 18"/>
          <p:cNvSpPr>
            <a:spLocks noChangeArrowheads="1"/>
          </p:cNvSpPr>
          <p:nvPr/>
        </p:nvSpPr>
        <p:spPr bwMode="auto">
          <a:xfrm>
            <a:off x="1557655" y="3778673"/>
            <a:ext cx="4124847" cy="43088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200" b="1" dirty="0">
                <a:ea typeface="幼圆" panose="02010509060101010101" pitchFamily="49" charset="-122"/>
                <a:sym typeface="Wingdings" panose="05000000000000000000" pitchFamily="2" charset="2"/>
              </a:rPr>
              <a:t></a:t>
            </a:r>
            <a:r>
              <a:rPr lang="zh-CN" altLang="en-US" sz="2200" b="1" dirty="0">
                <a:ea typeface="幼圆" panose="02010509060101010101" pitchFamily="49" charset="-122"/>
                <a:sym typeface="Wingdings" panose="05000000000000000000" pitchFamily="2" charset="2"/>
              </a:rPr>
              <a:t>轴承端盖与轴不能直接接触。</a:t>
            </a:r>
            <a:endParaRPr lang="zh-CN" altLang="en-US" sz="2200" b="1" dirty="0">
              <a:ea typeface="幼圆" panose="02010509060101010101" pitchFamily="49" charset="-122"/>
              <a:sym typeface="Wingdings" panose="05000000000000000000" pitchFamily="2" charset="2"/>
            </a:endParaRPr>
          </a:p>
        </p:txBody>
      </p:sp>
      <p:sp>
        <p:nvSpPr>
          <p:cNvPr id="89107" name="Rectangle 19"/>
          <p:cNvSpPr>
            <a:spLocks noChangeArrowheads="1"/>
          </p:cNvSpPr>
          <p:nvPr/>
        </p:nvSpPr>
        <p:spPr bwMode="auto">
          <a:xfrm>
            <a:off x="1428577" y="4208352"/>
            <a:ext cx="4692310" cy="43088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200" b="1" dirty="0" smtClean="0">
                <a:ea typeface="幼圆" panose="02010509060101010101" pitchFamily="49" charset="-122"/>
                <a:sym typeface="Wingdings" panose="05000000000000000000" pitchFamily="2" charset="2"/>
              </a:rPr>
              <a:t></a:t>
            </a:r>
            <a:r>
              <a:rPr lang="zh-CN" altLang="en-US" sz="2200" b="1" dirty="0" smtClean="0">
                <a:ea typeface="幼圆" panose="02010509060101010101" pitchFamily="49" charset="-122"/>
                <a:sym typeface="Wingdings" panose="05000000000000000000" pitchFamily="2" charset="2"/>
              </a:rPr>
              <a:t>轴承端盖与箱体间应有调整垫片。</a:t>
            </a:r>
            <a:endParaRPr lang="zh-CN" altLang="en-US" sz="2200" b="1" dirty="0">
              <a:ea typeface="幼圆" panose="02010509060101010101" pitchFamily="49" charset="-122"/>
              <a:sym typeface="Wingdings" panose="05000000000000000000" pitchFamily="2" charset="2"/>
            </a:endParaRPr>
          </a:p>
        </p:txBody>
      </p:sp>
      <p:sp>
        <p:nvSpPr>
          <p:cNvPr id="89108" name="Rectangle 20"/>
          <p:cNvSpPr>
            <a:spLocks noChangeArrowheads="1"/>
          </p:cNvSpPr>
          <p:nvPr/>
        </p:nvSpPr>
        <p:spPr bwMode="auto">
          <a:xfrm>
            <a:off x="1333297" y="4452795"/>
            <a:ext cx="5543505" cy="43088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200" b="1" dirty="0">
                <a:ea typeface="幼圆" panose="02010509060101010101" pitchFamily="49" charset="-122"/>
                <a:sym typeface="Wingdings" panose="05000000000000000000" pitchFamily="2" charset="2"/>
              </a:rPr>
              <a:t></a:t>
            </a:r>
            <a:r>
              <a:rPr lang="zh-CN" altLang="en-US" sz="2200" b="1" dirty="0">
                <a:ea typeface="幼圆" panose="02010509060101010101" pitchFamily="49" charset="-122"/>
                <a:sym typeface="Wingdings" panose="05000000000000000000" pitchFamily="2" charset="2"/>
              </a:rPr>
              <a:t>滚动轴承与轴采用过盈联接，不应有键。</a:t>
            </a:r>
            <a:endParaRPr lang="zh-CN" altLang="en-US" sz="2200" b="1" dirty="0">
              <a:ea typeface="幼圆" panose="02010509060101010101" pitchFamily="49" charset="-122"/>
              <a:sym typeface="Wingdings" panose="05000000000000000000" pitchFamily="2" charset="2"/>
            </a:endParaRPr>
          </a:p>
        </p:txBody>
      </p:sp>
      <p:sp>
        <p:nvSpPr>
          <p:cNvPr id="89109" name="Rectangle 21"/>
          <p:cNvSpPr>
            <a:spLocks noChangeArrowheads="1"/>
          </p:cNvSpPr>
          <p:nvPr/>
        </p:nvSpPr>
        <p:spPr bwMode="auto">
          <a:xfrm>
            <a:off x="1395680" y="4796828"/>
            <a:ext cx="1854995" cy="43088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200" b="1" dirty="0">
                <a:ea typeface="幼圆" panose="02010509060101010101" pitchFamily="49" charset="-122"/>
                <a:sym typeface="Wingdings" panose="05000000000000000000" pitchFamily="2" charset="2"/>
              </a:rPr>
              <a:t></a:t>
            </a:r>
            <a:r>
              <a:rPr lang="zh-CN" altLang="en-US" sz="2200" b="1" dirty="0">
                <a:ea typeface="幼圆" panose="02010509060101010101" pitchFamily="49" charset="-122"/>
                <a:sym typeface="Wingdings" panose="05000000000000000000" pitchFamily="2" charset="2"/>
              </a:rPr>
              <a:t>缺挡油环。</a:t>
            </a:r>
            <a:endParaRPr lang="zh-CN" altLang="en-US" sz="2200" b="1" dirty="0">
              <a:ea typeface="幼圆" panose="02010509060101010101" pitchFamily="49" charset="-122"/>
              <a:sym typeface="Wingdings" panose="05000000000000000000" pitchFamily="2" charset="2"/>
            </a:endParaRPr>
          </a:p>
        </p:txBody>
      </p:sp>
      <p:sp>
        <p:nvSpPr>
          <p:cNvPr id="89110" name="Rectangle 22"/>
          <p:cNvSpPr>
            <a:spLocks noChangeArrowheads="1"/>
          </p:cNvSpPr>
          <p:nvPr/>
        </p:nvSpPr>
        <p:spPr bwMode="auto">
          <a:xfrm>
            <a:off x="1385637" y="5006048"/>
            <a:ext cx="4408579" cy="43088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200" b="1" dirty="0">
                <a:ea typeface="幼圆" panose="02010509060101010101" pitchFamily="49" charset="-122"/>
                <a:sym typeface="Wingdings" panose="05000000000000000000" pitchFamily="2" charset="2"/>
              </a:rPr>
              <a:t></a:t>
            </a:r>
            <a:r>
              <a:rPr lang="zh-CN" altLang="en-US" sz="2200" b="1" dirty="0">
                <a:ea typeface="幼圆" panose="02010509060101010101" pitchFamily="49" charset="-122"/>
                <a:sym typeface="Wingdings" panose="05000000000000000000" pitchFamily="2" charset="2"/>
              </a:rPr>
              <a:t>出现过定位，齿轮定位不可靠。</a:t>
            </a:r>
            <a:endParaRPr lang="zh-CN" altLang="en-US" sz="2200" b="1" dirty="0">
              <a:ea typeface="幼圆" panose="02010509060101010101" pitchFamily="49" charset="-122"/>
              <a:sym typeface="Wingdings" panose="05000000000000000000" pitchFamily="2" charset="2"/>
            </a:endParaRPr>
          </a:p>
        </p:txBody>
      </p:sp>
      <p:sp>
        <p:nvSpPr>
          <p:cNvPr id="89111" name="Rectangle 23"/>
          <p:cNvSpPr>
            <a:spLocks noChangeArrowheads="1"/>
          </p:cNvSpPr>
          <p:nvPr/>
        </p:nvSpPr>
        <p:spPr bwMode="auto">
          <a:xfrm>
            <a:off x="1286048" y="5177074"/>
            <a:ext cx="3910045" cy="52322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b="1" dirty="0">
                <a:ea typeface="幼圆" panose="02010509060101010101" pitchFamily="49" charset="-122"/>
                <a:sym typeface="Wingdings" panose="05000000000000000000" pitchFamily="2" charset="2"/>
              </a:rPr>
              <a:t></a:t>
            </a:r>
            <a:r>
              <a:rPr lang="zh-CN" altLang="en-US" sz="2200" b="1" dirty="0">
                <a:ea typeface="幼圆" panose="02010509060101010101" pitchFamily="49" charset="-122"/>
                <a:sym typeface="Wingdings" panose="05000000000000000000" pitchFamily="2" charset="2"/>
              </a:rPr>
              <a:t>齿轮右端未定位，缺轴环。</a:t>
            </a:r>
            <a:endParaRPr lang="zh-CN" altLang="en-US" sz="2200" b="1" dirty="0">
              <a:ea typeface="幼圆" panose="02010509060101010101" pitchFamily="49" charset="-122"/>
              <a:sym typeface="Wingdings" panose="05000000000000000000" pitchFamily="2" charset="2"/>
            </a:endParaRPr>
          </a:p>
        </p:txBody>
      </p:sp>
      <p:sp>
        <p:nvSpPr>
          <p:cNvPr id="89112" name="Rectangle 24"/>
          <p:cNvSpPr>
            <a:spLocks noChangeArrowheads="1"/>
          </p:cNvSpPr>
          <p:nvPr/>
        </p:nvSpPr>
        <p:spPr bwMode="auto">
          <a:xfrm>
            <a:off x="1361420" y="5325080"/>
            <a:ext cx="3273653" cy="43088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200" b="1" dirty="0">
                <a:ea typeface="幼圆" panose="02010509060101010101" pitchFamily="49" charset="-122"/>
                <a:sym typeface="Wingdings" panose="05000000000000000000" pitchFamily="2" charset="2"/>
              </a:rPr>
              <a:t></a:t>
            </a:r>
            <a:r>
              <a:rPr lang="zh-CN" altLang="en-US" sz="2200" b="1" dirty="0">
                <a:ea typeface="幼圆" panose="02010509060101010101" pitchFamily="49" charset="-122"/>
                <a:sym typeface="Wingdings" panose="05000000000000000000" pitchFamily="2" charset="2"/>
              </a:rPr>
              <a:t>滚动轴承方向装反了。</a:t>
            </a:r>
            <a:endParaRPr lang="zh-CN" altLang="en-US" sz="2200" b="1" dirty="0">
              <a:ea typeface="幼圆" panose="02010509060101010101" pitchFamily="49" charset="-122"/>
              <a:sym typeface="Wingdings" panose="05000000000000000000" pitchFamily="2" charset="2"/>
            </a:endParaRPr>
          </a:p>
        </p:txBody>
      </p:sp>
      <p:sp>
        <p:nvSpPr>
          <p:cNvPr id="25" name="Text Box 6"/>
          <p:cNvSpPr txBox="1">
            <a:spLocks noChangeArrowheads="1"/>
          </p:cNvSpPr>
          <p:nvPr/>
        </p:nvSpPr>
        <p:spPr bwMode="auto">
          <a:xfrm>
            <a:off x="4864100" y="174625"/>
            <a:ext cx="4254500"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sz="3000" dirty="0" smtClean="0">
                <a:solidFill>
                  <a:srgbClr val="CC3300"/>
                </a:solidFill>
                <a:latin typeface="黑体" panose="02010609060101010101" pitchFamily="49" charset="-122"/>
                <a:ea typeface="黑体" panose="02010609060101010101" pitchFamily="49" charset="-122"/>
              </a:rPr>
              <a:t>3.7-2 </a:t>
            </a:r>
            <a:r>
              <a:rPr lang="zh-CN" altLang="en-US" sz="3000" dirty="0">
                <a:solidFill>
                  <a:srgbClr val="CC3300"/>
                </a:solidFill>
                <a:latin typeface="黑体" panose="02010609060101010101" pitchFamily="49" charset="-122"/>
                <a:ea typeface="黑体" panose="02010609060101010101" pitchFamily="49" charset="-122"/>
              </a:rPr>
              <a:t>轴的结构设计</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26"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9091"/>
                                        </p:tgtEl>
                                        <p:attrNameLst>
                                          <p:attrName>style.visibility</p:attrName>
                                        </p:attrNameLst>
                                      </p:cBhvr>
                                      <p:to>
                                        <p:strVal val="visible"/>
                                      </p:to>
                                    </p:set>
                                    <p:animEffect transition="in" filter="wipe(left)">
                                      <p:cBhvr>
                                        <p:cTn id="7" dur="500"/>
                                        <p:tgtEl>
                                          <p:spTgt spid="89091"/>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89105"/>
                                        </p:tgtEl>
                                        <p:attrNameLst>
                                          <p:attrName>style.visibility</p:attrName>
                                        </p:attrNameLst>
                                      </p:cBhvr>
                                      <p:to>
                                        <p:strVal val="visible"/>
                                      </p:to>
                                    </p:set>
                                    <p:animEffect transition="in" filter="wipe(left)">
                                      <p:cBhvr>
                                        <p:cTn id="11" dur="500"/>
                                        <p:tgtEl>
                                          <p:spTgt spid="89105"/>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xit" presetSubtype="8" fill="hold" grpId="1" nodeType="clickEffect">
                                  <p:stCondLst>
                                    <p:cond delay="0"/>
                                  </p:stCondLst>
                                  <p:childTnLst>
                                    <p:animEffect transition="out" filter="wipe(left)">
                                      <p:cBhvr>
                                        <p:cTn id="15" dur="500"/>
                                        <p:tgtEl>
                                          <p:spTgt spid="89105"/>
                                        </p:tgtEl>
                                      </p:cBhvr>
                                    </p:animEffect>
                                    <p:set>
                                      <p:cBhvr>
                                        <p:cTn id="16" dur="1" fill="hold">
                                          <p:stCondLst>
                                            <p:cond delay="499"/>
                                          </p:stCondLst>
                                        </p:cTn>
                                        <p:tgtEl>
                                          <p:spTgt spid="89105"/>
                                        </p:tgtEl>
                                        <p:attrNameLst>
                                          <p:attrName>style.visibility</p:attrName>
                                        </p:attrNameLst>
                                      </p:cBhvr>
                                      <p:to>
                                        <p:strVal val="hidden"/>
                                      </p:to>
                                    </p:set>
                                  </p:childTnLst>
                                </p:cTn>
                              </p:par>
                            </p:childTnLst>
                          </p:cTn>
                        </p:par>
                        <p:par>
                          <p:cTn id="17" fill="hold">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89092"/>
                                        </p:tgtEl>
                                        <p:attrNameLst>
                                          <p:attrName>style.visibility</p:attrName>
                                        </p:attrNameLst>
                                      </p:cBhvr>
                                      <p:to>
                                        <p:strVal val="visible"/>
                                      </p:to>
                                    </p:set>
                                    <p:animEffect transition="in" filter="wipe(left)">
                                      <p:cBhvr>
                                        <p:cTn id="20" dur="500"/>
                                        <p:tgtEl>
                                          <p:spTgt spid="89092"/>
                                        </p:tgtEl>
                                      </p:cBhvr>
                                    </p:animEffect>
                                  </p:childTnLst>
                                </p:cTn>
                              </p:par>
                            </p:childTnLst>
                          </p:cTn>
                        </p:par>
                        <p:par>
                          <p:cTn id="21" fill="hold">
                            <p:stCondLst>
                              <p:cond delay="1000"/>
                            </p:stCondLst>
                            <p:childTnLst>
                              <p:par>
                                <p:cTn id="22" presetID="22" presetClass="entr" presetSubtype="8" fill="hold" grpId="0" nodeType="afterEffect">
                                  <p:stCondLst>
                                    <p:cond delay="0"/>
                                  </p:stCondLst>
                                  <p:childTnLst>
                                    <p:set>
                                      <p:cBhvr>
                                        <p:cTn id="23" dur="1" fill="hold">
                                          <p:stCondLst>
                                            <p:cond delay="0"/>
                                          </p:stCondLst>
                                        </p:cTn>
                                        <p:tgtEl>
                                          <p:spTgt spid="89106"/>
                                        </p:tgtEl>
                                        <p:attrNameLst>
                                          <p:attrName>style.visibility</p:attrName>
                                        </p:attrNameLst>
                                      </p:cBhvr>
                                      <p:to>
                                        <p:strVal val="visible"/>
                                      </p:to>
                                    </p:set>
                                    <p:animEffect transition="in" filter="wipe(left)">
                                      <p:cBhvr>
                                        <p:cTn id="24" dur="500"/>
                                        <p:tgtEl>
                                          <p:spTgt spid="89106"/>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xit" presetSubtype="8" fill="hold" grpId="1" nodeType="clickEffect">
                                  <p:stCondLst>
                                    <p:cond delay="0"/>
                                  </p:stCondLst>
                                  <p:childTnLst>
                                    <p:animEffect transition="out" filter="wipe(left)">
                                      <p:cBhvr>
                                        <p:cTn id="28" dur="500"/>
                                        <p:tgtEl>
                                          <p:spTgt spid="89106"/>
                                        </p:tgtEl>
                                      </p:cBhvr>
                                    </p:animEffect>
                                    <p:set>
                                      <p:cBhvr>
                                        <p:cTn id="29" dur="1" fill="hold">
                                          <p:stCondLst>
                                            <p:cond delay="499"/>
                                          </p:stCondLst>
                                        </p:cTn>
                                        <p:tgtEl>
                                          <p:spTgt spid="89106"/>
                                        </p:tgtEl>
                                        <p:attrNameLst>
                                          <p:attrName>style.visibility</p:attrName>
                                        </p:attrNameLst>
                                      </p:cBhvr>
                                      <p:to>
                                        <p:strVal val="hidden"/>
                                      </p:to>
                                    </p:set>
                                  </p:childTnLst>
                                </p:cTn>
                              </p:par>
                            </p:childTnLst>
                          </p:cTn>
                        </p:par>
                        <p:par>
                          <p:cTn id="30" fill="hold">
                            <p:stCondLst>
                              <p:cond delay="500"/>
                            </p:stCondLst>
                            <p:childTnLst>
                              <p:par>
                                <p:cTn id="31" presetID="22" presetClass="entr" presetSubtype="8" fill="hold" nodeType="afterEffect">
                                  <p:stCondLst>
                                    <p:cond delay="0"/>
                                  </p:stCondLst>
                                  <p:childTnLst>
                                    <p:set>
                                      <p:cBhvr>
                                        <p:cTn id="32" dur="1" fill="hold">
                                          <p:stCondLst>
                                            <p:cond delay="0"/>
                                          </p:stCondLst>
                                        </p:cTn>
                                        <p:tgtEl>
                                          <p:spTgt spid="89097"/>
                                        </p:tgtEl>
                                        <p:attrNameLst>
                                          <p:attrName>style.visibility</p:attrName>
                                        </p:attrNameLst>
                                      </p:cBhvr>
                                      <p:to>
                                        <p:strVal val="visible"/>
                                      </p:to>
                                    </p:set>
                                    <p:animEffect transition="in" filter="wipe(left)">
                                      <p:cBhvr>
                                        <p:cTn id="33" dur="500"/>
                                        <p:tgtEl>
                                          <p:spTgt spid="89097"/>
                                        </p:tgtEl>
                                      </p:cBhvr>
                                    </p:animEffect>
                                  </p:childTnLst>
                                </p:cTn>
                              </p:par>
                            </p:childTnLst>
                          </p:cTn>
                        </p:par>
                        <p:par>
                          <p:cTn id="34" fill="hold">
                            <p:stCondLst>
                              <p:cond delay="1000"/>
                            </p:stCondLst>
                            <p:childTnLst>
                              <p:par>
                                <p:cTn id="35" presetID="22" presetClass="entr" presetSubtype="8" fill="hold" grpId="0" nodeType="afterEffect">
                                  <p:stCondLst>
                                    <p:cond delay="0"/>
                                  </p:stCondLst>
                                  <p:childTnLst>
                                    <p:set>
                                      <p:cBhvr>
                                        <p:cTn id="36" dur="1" fill="hold">
                                          <p:stCondLst>
                                            <p:cond delay="0"/>
                                          </p:stCondLst>
                                        </p:cTn>
                                        <p:tgtEl>
                                          <p:spTgt spid="89107"/>
                                        </p:tgtEl>
                                        <p:attrNameLst>
                                          <p:attrName>style.visibility</p:attrName>
                                        </p:attrNameLst>
                                      </p:cBhvr>
                                      <p:to>
                                        <p:strVal val="visible"/>
                                      </p:to>
                                    </p:set>
                                    <p:animEffect transition="in" filter="wipe(left)">
                                      <p:cBhvr>
                                        <p:cTn id="37" dur="500"/>
                                        <p:tgtEl>
                                          <p:spTgt spid="89107"/>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xit" presetSubtype="8" fill="hold" grpId="1" nodeType="clickEffect">
                                  <p:stCondLst>
                                    <p:cond delay="0"/>
                                  </p:stCondLst>
                                  <p:childTnLst>
                                    <p:animEffect transition="out" filter="wipe(left)">
                                      <p:cBhvr>
                                        <p:cTn id="41" dur="500"/>
                                        <p:tgtEl>
                                          <p:spTgt spid="89107"/>
                                        </p:tgtEl>
                                      </p:cBhvr>
                                    </p:animEffect>
                                    <p:set>
                                      <p:cBhvr>
                                        <p:cTn id="42" dur="1" fill="hold">
                                          <p:stCondLst>
                                            <p:cond delay="499"/>
                                          </p:stCondLst>
                                        </p:cTn>
                                        <p:tgtEl>
                                          <p:spTgt spid="89107"/>
                                        </p:tgtEl>
                                        <p:attrNameLst>
                                          <p:attrName>style.visibility</p:attrName>
                                        </p:attrNameLst>
                                      </p:cBhvr>
                                      <p:to>
                                        <p:strVal val="hidden"/>
                                      </p:to>
                                    </p:set>
                                  </p:childTnLst>
                                </p:cTn>
                              </p:par>
                            </p:childTnLst>
                          </p:cTn>
                        </p:par>
                        <p:par>
                          <p:cTn id="43" fill="hold">
                            <p:stCondLst>
                              <p:cond delay="500"/>
                            </p:stCondLst>
                            <p:childTnLst>
                              <p:par>
                                <p:cTn id="44" presetID="22" presetClass="entr" presetSubtype="8" fill="hold" grpId="0" nodeType="afterEffect">
                                  <p:stCondLst>
                                    <p:cond delay="0"/>
                                  </p:stCondLst>
                                  <p:childTnLst>
                                    <p:set>
                                      <p:cBhvr>
                                        <p:cTn id="45" dur="1" fill="hold">
                                          <p:stCondLst>
                                            <p:cond delay="0"/>
                                          </p:stCondLst>
                                        </p:cTn>
                                        <p:tgtEl>
                                          <p:spTgt spid="89093"/>
                                        </p:tgtEl>
                                        <p:attrNameLst>
                                          <p:attrName>style.visibility</p:attrName>
                                        </p:attrNameLst>
                                      </p:cBhvr>
                                      <p:to>
                                        <p:strVal val="visible"/>
                                      </p:to>
                                    </p:set>
                                    <p:animEffect transition="in" filter="wipe(left)">
                                      <p:cBhvr>
                                        <p:cTn id="46" dur="500"/>
                                        <p:tgtEl>
                                          <p:spTgt spid="89093"/>
                                        </p:tgtEl>
                                      </p:cBhvr>
                                    </p:animEffect>
                                  </p:childTnLst>
                                </p:cTn>
                              </p:par>
                            </p:childTnLst>
                          </p:cTn>
                        </p:par>
                        <p:par>
                          <p:cTn id="47" fill="hold">
                            <p:stCondLst>
                              <p:cond delay="1000"/>
                            </p:stCondLst>
                            <p:childTnLst>
                              <p:par>
                                <p:cTn id="48" presetID="22" presetClass="entr" presetSubtype="8" fill="hold" grpId="0" nodeType="afterEffect">
                                  <p:stCondLst>
                                    <p:cond delay="0"/>
                                  </p:stCondLst>
                                  <p:childTnLst>
                                    <p:set>
                                      <p:cBhvr>
                                        <p:cTn id="49" dur="1" fill="hold">
                                          <p:stCondLst>
                                            <p:cond delay="0"/>
                                          </p:stCondLst>
                                        </p:cTn>
                                        <p:tgtEl>
                                          <p:spTgt spid="89108"/>
                                        </p:tgtEl>
                                        <p:attrNameLst>
                                          <p:attrName>style.visibility</p:attrName>
                                        </p:attrNameLst>
                                      </p:cBhvr>
                                      <p:to>
                                        <p:strVal val="visible"/>
                                      </p:to>
                                    </p:set>
                                    <p:animEffect transition="in" filter="wipe(left)">
                                      <p:cBhvr>
                                        <p:cTn id="50" dur="500"/>
                                        <p:tgtEl>
                                          <p:spTgt spid="89108"/>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xit" presetSubtype="8" fill="hold" grpId="1" nodeType="clickEffect">
                                  <p:stCondLst>
                                    <p:cond delay="0"/>
                                  </p:stCondLst>
                                  <p:childTnLst>
                                    <p:animEffect transition="out" filter="wipe(left)">
                                      <p:cBhvr>
                                        <p:cTn id="54" dur="500"/>
                                        <p:tgtEl>
                                          <p:spTgt spid="89108"/>
                                        </p:tgtEl>
                                      </p:cBhvr>
                                    </p:animEffect>
                                    <p:set>
                                      <p:cBhvr>
                                        <p:cTn id="55" dur="1" fill="hold">
                                          <p:stCondLst>
                                            <p:cond delay="499"/>
                                          </p:stCondLst>
                                        </p:cTn>
                                        <p:tgtEl>
                                          <p:spTgt spid="89108"/>
                                        </p:tgtEl>
                                        <p:attrNameLst>
                                          <p:attrName>style.visibility</p:attrName>
                                        </p:attrNameLst>
                                      </p:cBhvr>
                                      <p:to>
                                        <p:strVal val="hidden"/>
                                      </p:to>
                                    </p:set>
                                  </p:childTnLst>
                                </p:cTn>
                              </p:par>
                            </p:childTnLst>
                          </p:cTn>
                        </p:par>
                        <p:par>
                          <p:cTn id="56" fill="hold">
                            <p:stCondLst>
                              <p:cond delay="500"/>
                            </p:stCondLst>
                            <p:childTnLst>
                              <p:par>
                                <p:cTn id="57" presetID="22" presetClass="entr" presetSubtype="8" fill="hold" nodeType="afterEffect">
                                  <p:stCondLst>
                                    <p:cond delay="0"/>
                                  </p:stCondLst>
                                  <p:childTnLst>
                                    <p:set>
                                      <p:cBhvr>
                                        <p:cTn id="58" dur="1" fill="hold">
                                          <p:stCondLst>
                                            <p:cond delay="0"/>
                                          </p:stCondLst>
                                        </p:cTn>
                                        <p:tgtEl>
                                          <p:spTgt spid="89094"/>
                                        </p:tgtEl>
                                        <p:attrNameLst>
                                          <p:attrName>style.visibility</p:attrName>
                                        </p:attrNameLst>
                                      </p:cBhvr>
                                      <p:to>
                                        <p:strVal val="visible"/>
                                      </p:to>
                                    </p:set>
                                    <p:animEffect transition="in" filter="wipe(left)">
                                      <p:cBhvr>
                                        <p:cTn id="59" dur="500"/>
                                        <p:tgtEl>
                                          <p:spTgt spid="89094"/>
                                        </p:tgtEl>
                                      </p:cBhvr>
                                    </p:animEffect>
                                  </p:childTnLst>
                                </p:cTn>
                              </p:par>
                            </p:childTnLst>
                          </p:cTn>
                        </p:par>
                        <p:par>
                          <p:cTn id="60" fill="hold">
                            <p:stCondLst>
                              <p:cond delay="1000"/>
                            </p:stCondLst>
                            <p:childTnLst>
                              <p:par>
                                <p:cTn id="61" presetID="22" presetClass="entr" presetSubtype="8" fill="hold" grpId="0" nodeType="afterEffect">
                                  <p:stCondLst>
                                    <p:cond delay="0"/>
                                  </p:stCondLst>
                                  <p:childTnLst>
                                    <p:set>
                                      <p:cBhvr>
                                        <p:cTn id="62" dur="1" fill="hold">
                                          <p:stCondLst>
                                            <p:cond delay="0"/>
                                          </p:stCondLst>
                                        </p:cTn>
                                        <p:tgtEl>
                                          <p:spTgt spid="89109"/>
                                        </p:tgtEl>
                                        <p:attrNameLst>
                                          <p:attrName>style.visibility</p:attrName>
                                        </p:attrNameLst>
                                      </p:cBhvr>
                                      <p:to>
                                        <p:strVal val="visible"/>
                                      </p:to>
                                    </p:set>
                                    <p:animEffect transition="in" filter="wipe(left)">
                                      <p:cBhvr>
                                        <p:cTn id="63" dur="500"/>
                                        <p:tgtEl>
                                          <p:spTgt spid="89109"/>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xit" presetSubtype="8" fill="hold" grpId="1" nodeType="clickEffect">
                                  <p:stCondLst>
                                    <p:cond delay="0"/>
                                  </p:stCondLst>
                                  <p:childTnLst>
                                    <p:animEffect transition="out" filter="wipe(left)">
                                      <p:cBhvr>
                                        <p:cTn id="67" dur="500"/>
                                        <p:tgtEl>
                                          <p:spTgt spid="89109"/>
                                        </p:tgtEl>
                                      </p:cBhvr>
                                    </p:animEffect>
                                    <p:set>
                                      <p:cBhvr>
                                        <p:cTn id="68" dur="1" fill="hold">
                                          <p:stCondLst>
                                            <p:cond delay="499"/>
                                          </p:stCondLst>
                                        </p:cTn>
                                        <p:tgtEl>
                                          <p:spTgt spid="89109"/>
                                        </p:tgtEl>
                                        <p:attrNameLst>
                                          <p:attrName>style.visibility</p:attrName>
                                        </p:attrNameLst>
                                      </p:cBhvr>
                                      <p:to>
                                        <p:strVal val="hidden"/>
                                      </p:to>
                                    </p:set>
                                  </p:childTnLst>
                                </p:cTn>
                              </p:par>
                            </p:childTnLst>
                          </p:cTn>
                        </p:par>
                        <p:par>
                          <p:cTn id="69" fill="hold">
                            <p:stCondLst>
                              <p:cond delay="500"/>
                            </p:stCondLst>
                            <p:childTnLst>
                              <p:par>
                                <p:cTn id="70" presetID="22" presetClass="entr" presetSubtype="8" fill="hold" grpId="0" nodeType="afterEffect">
                                  <p:stCondLst>
                                    <p:cond delay="0"/>
                                  </p:stCondLst>
                                  <p:childTnLst>
                                    <p:set>
                                      <p:cBhvr>
                                        <p:cTn id="71" dur="1" fill="hold">
                                          <p:stCondLst>
                                            <p:cond delay="0"/>
                                          </p:stCondLst>
                                        </p:cTn>
                                        <p:tgtEl>
                                          <p:spTgt spid="89100"/>
                                        </p:tgtEl>
                                        <p:attrNameLst>
                                          <p:attrName>style.visibility</p:attrName>
                                        </p:attrNameLst>
                                      </p:cBhvr>
                                      <p:to>
                                        <p:strVal val="visible"/>
                                      </p:to>
                                    </p:set>
                                    <p:animEffect transition="in" filter="wipe(left)">
                                      <p:cBhvr>
                                        <p:cTn id="72" dur="500"/>
                                        <p:tgtEl>
                                          <p:spTgt spid="89100"/>
                                        </p:tgtEl>
                                      </p:cBhvr>
                                    </p:animEffect>
                                  </p:childTnLst>
                                </p:cTn>
                              </p:par>
                            </p:childTnLst>
                          </p:cTn>
                        </p:par>
                        <p:par>
                          <p:cTn id="73" fill="hold">
                            <p:stCondLst>
                              <p:cond delay="1000"/>
                            </p:stCondLst>
                            <p:childTnLst>
                              <p:par>
                                <p:cTn id="74" presetID="22" presetClass="entr" presetSubtype="8" fill="hold" grpId="0" nodeType="afterEffect">
                                  <p:stCondLst>
                                    <p:cond delay="0"/>
                                  </p:stCondLst>
                                  <p:childTnLst>
                                    <p:set>
                                      <p:cBhvr>
                                        <p:cTn id="75" dur="1" fill="hold">
                                          <p:stCondLst>
                                            <p:cond delay="0"/>
                                          </p:stCondLst>
                                        </p:cTn>
                                        <p:tgtEl>
                                          <p:spTgt spid="89110"/>
                                        </p:tgtEl>
                                        <p:attrNameLst>
                                          <p:attrName>style.visibility</p:attrName>
                                        </p:attrNameLst>
                                      </p:cBhvr>
                                      <p:to>
                                        <p:strVal val="visible"/>
                                      </p:to>
                                    </p:set>
                                    <p:animEffect transition="in" filter="wipe(left)">
                                      <p:cBhvr>
                                        <p:cTn id="76" dur="500"/>
                                        <p:tgtEl>
                                          <p:spTgt spid="89110"/>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xit" presetSubtype="8" fill="hold" grpId="1" nodeType="clickEffect">
                                  <p:stCondLst>
                                    <p:cond delay="0"/>
                                  </p:stCondLst>
                                  <p:childTnLst>
                                    <p:animEffect transition="out" filter="wipe(left)">
                                      <p:cBhvr>
                                        <p:cTn id="80" dur="500"/>
                                        <p:tgtEl>
                                          <p:spTgt spid="89110"/>
                                        </p:tgtEl>
                                      </p:cBhvr>
                                    </p:animEffect>
                                    <p:set>
                                      <p:cBhvr>
                                        <p:cTn id="81" dur="1" fill="hold">
                                          <p:stCondLst>
                                            <p:cond delay="499"/>
                                          </p:stCondLst>
                                        </p:cTn>
                                        <p:tgtEl>
                                          <p:spTgt spid="89110"/>
                                        </p:tgtEl>
                                        <p:attrNameLst>
                                          <p:attrName>style.visibility</p:attrName>
                                        </p:attrNameLst>
                                      </p:cBhvr>
                                      <p:to>
                                        <p:strVal val="hidden"/>
                                      </p:to>
                                    </p:set>
                                  </p:childTnLst>
                                </p:cTn>
                              </p:par>
                            </p:childTnLst>
                          </p:cTn>
                        </p:par>
                        <p:par>
                          <p:cTn id="82" fill="hold">
                            <p:stCondLst>
                              <p:cond delay="500"/>
                            </p:stCondLst>
                            <p:childTnLst>
                              <p:par>
                                <p:cTn id="83" presetID="22" presetClass="entr" presetSubtype="8" fill="hold" grpId="0" nodeType="afterEffect">
                                  <p:stCondLst>
                                    <p:cond delay="0"/>
                                  </p:stCondLst>
                                  <p:childTnLst>
                                    <p:set>
                                      <p:cBhvr>
                                        <p:cTn id="84" dur="1" fill="hold">
                                          <p:stCondLst>
                                            <p:cond delay="0"/>
                                          </p:stCondLst>
                                        </p:cTn>
                                        <p:tgtEl>
                                          <p:spTgt spid="89101"/>
                                        </p:tgtEl>
                                        <p:attrNameLst>
                                          <p:attrName>style.visibility</p:attrName>
                                        </p:attrNameLst>
                                      </p:cBhvr>
                                      <p:to>
                                        <p:strVal val="visible"/>
                                      </p:to>
                                    </p:set>
                                    <p:animEffect transition="in" filter="wipe(left)">
                                      <p:cBhvr>
                                        <p:cTn id="85" dur="500"/>
                                        <p:tgtEl>
                                          <p:spTgt spid="89101"/>
                                        </p:tgtEl>
                                      </p:cBhvr>
                                    </p:animEffect>
                                  </p:childTnLst>
                                </p:cTn>
                              </p:par>
                            </p:childTnLst>
                          </p:cTn>
                        </p:par>
                        <p:par>
                          <p:cTn id="86" fill="hold">
                            <p:stCondLst>
                              <p:cond delay="1000"/>
                            </p:stCondLst>
                            <p:childTnLst>
                              <p:par>
                                <p:cTn id="87" presetID="22" presetClass="entr" presetSubtype="8" fill="hold" grpId="0" nodeType="afterEffect">
                                  <p:stCondLst>
                                    <p:cond delay="0"/>
                                  </p:stCondLst>
                                  <p:childTnLst>
                                    <p:set>
                                      <p:cBhvr>
                                        <p:cTn id="88" dur="1" fill="hold">
                                          <p:stCondLst>
                                            <p:cond delay="0"/>
                                          </p:stCondLst>
                                        </p:cTn>
                                        <p:tgtEl>
                                          <p:spTgt spid="89111"/>
                                        </p:tgtEl>
                                        <p:attrNameLst>
                                          <p:attrName>style.visibility</p:attrName>
                                        </p:attrNameLst>
                                      </p:cBhvr>
                                      <p:to>
                                        <p:strVal val="visible"/>
                                      </p:to>
                                    </p:set>
                                    <p:animEffect transition="in" filter="wipe(left)">
                                      <p:cBhvr>
                                        <p:cTn id="89" dur="500"/>
                                        <p:tgtEl>
                                          <p:spTgt spid="89111"/>
                                        </p:tgtEl>
                                      </p:cBhvr>
                                    </p:animEffect>
                                  </p:childTnLst>
                                </p:cTn>
                              </p:par>
                            </p:childTnLst>
                          </p:cTn>
                        </p:par>
                      </p:childTnLst>
                    </p:cTn>
                  </p:par>
                  <p:par>
                    <p:cTn id="90" fill="hold">
                      <p:stCondLst>
                        <p:cond delay="indefinite"/>
                      </p:stCondLst>
                      <p:childTnLst>
                        <p:par>
                          <p:cTn id="91" fill="hold">
                            <p:stCondLst>
                              <p:cond delay="0"/>
                            </p:stCondLst>
                            <p:childTnLst>
                              <p:par>
                                <p:cTn id="92" presetID="22" presetClass="exit" presetSubtype="8" fill="hold" grpId="1" nodeType="clickEffect">
                                  <p:stCondLst>
                                    <p:cond delay="0"/>
                                  </p:stCondLst>
                                  <p:childTnLst>
                                    <p:animEffect transition="out" filter="wipe(left)">
                                      <p:cBhvr>
                                        <p:cTn id="93" dur="500"/>
                                        <p:tgtEl>
                                          <p:spTgt spid="89111"/>
                                        </p:tgtEl>
                                      </p:cBhvr>
                                    </p:animEffect>
                                    <p:set>
                                      <p:cBhvr>
                                        <p:cTn id="94" dur="1" fill="hold">
                                          <p:stCondLst>
                                            <p:cond delay="499"/>
                                          </p:stCondLst>
                                        </p:cTn>
                                        <p:tgtEl>
                                          <p:spTgt spid="89111"/>
                                        </p:tgtEl>
                                        <p:attrNameLst>
                                          <p:attrName>style.visibility</p:attrName>
                                        </p:attrNameLst>
                                      </p:cBhvr>
                                      <p:to>
                                        <p:strVal val="hidden"/>
                                      </p:to>
                                    </p:set>
                                  </p:childTnLst>
                                </p:cTn>
                              </p:par>
                            </p:childTnLst>
                          </p:cTn>
                        </p:par>
                        <p:par>
                          <p:cTn id="95" fill="hold">
                            <p:stCondLst>
                              <p:cond delay="500"/>
                            </p:stCondLst>
                            <p:childTnLst>
                              <p:par>
                                <p:cTn id="96" presetID="22" presetClass="entr" presetSubtype="8" fill="hold" grpId="0" nodeType="afterEffect">
                                  <p:stCondLst>
                                    <p:cond delay="0"/>
                                  </p:stCondLst>
                                  <p:childTnLst>
                                    <p:set>
                                      <p:cBhvr>
                                        <p:cTn id="97" dur="1" fill="hold">
                                          <p:stCondLst>
                                            <p:cond delay="0"/>
                                          </p:stCondLst>
                                        </p:cTn>
                                        <p:tgtEl>
                                          <p:spTgt spid="89102"/>
                                        </p:tgtEl>
                                        <p:attrNameLst>
                                          <p:attrName>style.visibility</p:attrName>
                                        </p:attrNameLst>
                                      </p:cBhvr>
                                      <p:to>
                                        <p:strVal val="visible"/>
                                      </p:to>
                                    </p:set>
                                    <p:animEffect transition="in" filter="wipe(left)">
                                      <p:cBhvr>
                                        <p:cTn id="98" dur="500"/>
                                        <p:tgtEl>
                                          <p:spTgt spid="89102"/>
                                        </p:tgtEl>
                                      </p:cBhvr>
                                    </p:animEffect>
                                  </p:childTnLst>
                                </p:cTn>
                              </p:par>
                            </p:childTnLst>
                          </p:cTn>
                        </p:par>
                        <p:par>
                          <p:cTn id="99" fill="hold">
                            <p:stCondLst>
                              <p:cond delay="1000"/>
                            </p:stCondLst>
                            <p:childTnLst>
                              <p:par>
                                <p:cTn id="100" presetID="22" presetClass="entr" presetSubtype="8" fill="hold" grpId="0" nodeType="afterEffect">
                                  <p:stCondLst>
                                    <p:cond delay="0"/>
                                  </p:stCondLst>
                                  <p:childTnLst>
                                    <p:set>
                                      <p:cBhvr>
                                        <p:cTn id="101" dur="1" fill="hold">
                                          <p:stCondLst>
                                            <p:cond delay="0"/>
                                          </p:stCondLst>
                                        </p:cTn>
                                        <p:tgtEl>
                                          <p:spTgt spid="89112"/>
                                        </p:tgtEl>
                                        <p:attrNameLst>
                                          <p:attrName>style.visibility</p:attrName>
                                        </p:attrNameLst>
                                      </p:cBhvr>
                                      <p:to>
                                        <p:strVal val="visible"/>
                                      </p:to>
                                    </p:set>
                                    <p:animEffect transition="in" filter="wipe(left)">
                                      <p:cBhvr>
                                        <p:cTn id="102" dur="500"/>
                                        <p:tgtEl>
                                          <p:spTgt spid="89112"/>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xit" presetSubtype="8" fill="hold" grpId="1" nodeType="clickEffect">
                                  <p:stCondLst>
                                    <p:cond delay="0"/>
                                  </p:stCondLst>
                                  <p:childTnLst>
                                    <p:animEffect transition="out" filter="wipe(left)">
                                      <p:cBhvr>
                                        <p:cTn id="106" dur="500"/>
                                        <p:tgtEl>
                                          <p:spTgt spid="89112"/>
                                        </p:tgtEl>
                                      </p:cBhvr>
                                    </p:animEffect>
                                    <p:set>
                                      <p:cBhvr>
                                        <p:cTn id="107" dur="1" fill="hold">
                                          <p:stCondLst>
                                            <p:cond delay="499"/>
                                          </p:stCondLst>
                                        </p:cTn>
                                        <p:tgtEl>
                                          <p:spTgt spid="89112"/>
                                        </p:tgtEl>
                                        <p:attrNameLst>
                                          <p:attrName>style.visibility</p:attrName>
                                        </p:attrNameLst>
                                      </p:cBhvr>
                                      <p:to>
                                        <p:strVal val="hidden"/>
                                      </p:to>
                                    </p:set>
                                  </p:childTnLst>
                                </p:cTn>
                              </p:par>
                            </p:childTnLst>
                          </p:cTn>
                        </p:par>
                        <p:par>
                          <p:cTn id="108" fill="hold">
                            <p:stCondLst>
                              <p:cond delay="500"/>
                            </p:stCondLst>
                            <p:childTnLst>
                              <p:par>
                                <p:cTn id="109" presetID="22" presetClass="entr" presetSubtype="8" fill="hold" grpId="0" nodeType="afterEffect">
                                  <p:stCondLst>
                                    <p:cond delay="0"/>
                                  </p:stCondLst>
                                  <p:childTnLst>
                                    <p:set>
                                      <p:cBhvr>
                                        <p:cTn id="110" dur="1" fill="hold">
                                          <p:stCondLst>
                                            <p:cond delay="0"/>
                                          </p:stCondLst>
                                        </p:cTn>
                                        <p:tgtEl>
                                          <p:spTgt spid="89103"/>
                                        </p:tgtEl>
                                        <p:attrNameLst>
                                          <p:attrName>style.visibility</p:attrName>
                                        </p:attrNameLst>
                                      </p:cBhvr>
                                      <p:to>
                                        <p:strVal val="visible"/>
                                      </p:to>
                                    </p:set>
                                    <p:animEffect transition="in" filter="wipe(left)">
                                      <p:cBhvr>
                                        <p:cTn id="111" dur="500"/>
                                        <p:tgtEl>
                                          <p:spTgt spid="89103"/>
                                        </p:tgtEl>
                                      </p:cBhvr>
                                    </p:animEffect>
                                  </p:childTnLst>
                                </p:cTn>
                              </p:par>
                            </p:childTnLst>
                          </p:cTn>
                        </p:par>
                        <p:par>
                          <p:cTn id="112" fill="hold">
                            <p:stCondLst>
                              <p:cond delay="1000"/>
                            </p:stCondLst>
                            <p:childTnLst>
                              <p:par>
                                <p:cTn id="113" presetID="22" presetClass="entr" presetSubtype="8" fill="hold" grpId="0" nodeType="afterEffect">
                                  <p:stCondLst>
                                    <p:cond delay="0"/>
                                  </p:stCondLst>
                                  <p:childTnLst>
                                    <p:set>
                                      <p:cBhvr>
                                        <p:cTn id="114" dur="1" fill="hold">
                                          <p:stCondLst>
                                            <p:cond delay="0"/>
                                          </p:stCondLst>
                                        </p:cTn>
                                        <p:tgtEl>
                                          <p:spTgt spid="89104"/>
                                        </p:tgtEl>
                                        <p:attrNameLst>
                                          <p:attrName>style.visibility</p:attrName>
                                        </p:attrNameLst>
                                      </p:cBhvr>
                                      <p:to>
                                        <p:strVal val="visible"/>
                                      </p:to>
                                    </p:set>
                                    <p:animEffect transition="in" filter="wipe(left)">
                                      <p:cBhvr>
                                        <p:cTn id="115" dur="500"/>
                                        <p:tgtEl>
                                          <p:spTgt spid="891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1" grpId="0" animBg="1"/>
      <p:bldP spid="89092" grpId="0" animBg="1"/>
      <p:bldP spid="89093" grpId="0" animBg="1"/>
      <p:bldP spid="89100" grpId="0" animBg="1"/>
      <p:bldP spid="89101" grpId="0" animBg="1"/>
      <p:bldP spid="89102" grpId="0" animBg="1"/>
      <p:bldP spid="89103" grpId="0" animBg="1"/>
      <p:bldP spid="89104" grpId="0" animBg="1"/>
      <p:bldP spid="89105" grpId="0" animBg="1"/>
      <p:bldP spid="89105" grpId="1" animBg="1"/>
      <p:bldP spid="89106" grpId="0" animBg="1"/>
      <p:bldP spid="89106" grpId="1" animBg="1"/>
      <p:bldP spid="89107" grpId="0" animBg="1"/>
      <p:bldP spid="89107" grpId="1" animBg="1"/>
      <p:bldP spid="89108" grpId="0" animBg="1"/>
      <p:bldP spid="89108" grpId="1" animBg="1"/>
      <p:bldP spid="89109" grpId="0" animBg="1"/>
      <p:bldP spid="89109" grpId="1" animBg="1"/>
      <p:bldP spid="89110" grpId="0" animBg="1"/>
      <p:bldP spid="89110" grpId="1" animBg="1"/>
      <p:bldP spid="89111" grpId="0" animBg="1"/>
      <p:bldP spid="89111" grpId="1" animBg="1"/>
      <p:bldP spid="89112" grpId="0" animBg="1"/>
      <p:bldP spid="89112" grpId="1"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7" name="Rectangle 3"/>
          <p:cNvSpPr>
            <a:spLocks noGrp="1" noChangeArrowheads="1"/>
          </p:cNvSpPr>
          <p:nvPr>
            <p:ph type="body" idx="4294967295"/>
          </p:nvPr>
        </p:nvSpPr>
        <p:spPr>
          <a:xfrm>
            <a:off x="541272" y="774315"/>
            <a:ext cx="7772400" cy="5773094"/>
          </a:xfrm>
          <a:prstGeom prst="rect">
            <a:avLst/>
          </a:prstGeom>
        </p:spPr>
        <p:txBody>
          <a:bodyPr/>
          <a:lstStyle/>
          <a:p>
            <a:pPr marL="0" indent="0" algn="just" eaLnBrk="1" hangingPunct="1">
              <a:lnSpc>
                <a:spcPct val="170000"/>
              </a:lnSpc>
              <a:buFontTx/>
              <a:buNone/>
            </a:pPr>
            <a:r>
              <a:rPr lang="en-US" altLang="zh-CN" sz="2000" b="1" dirty="0">
                <a:solidFill>
                  <a:srgbClr val="002060"/>
                </a:solidFill>
              </a:rPr>
              <a:t>5</a:t>
            </a:r>
            <a:r>
              <a:rPr lang="zh-CN" altLang="en-US" sz="2000" b="1" dirty="0" smtClean="0">
                <a:solidFill>
                  <a:srgbClr val="002060"/>
                </a:solidFill>
              </a:rPr>
              <a:t>、</a:t>
            </a:r>
            <a:r>
              <a:rPr lang="zh-CN" altLang="en-US" sz="2000" b="1" dirty="0">
                <a:solidFill>
                  <a:srgbClr val="002060"/>
                </a:solidFill>
              </a:rPr>
              <a:t>轴环的用途是</a:t>
            </a:r>
            <a:r>
              <a:rPr lang="zh-CN" altLang="en-US" sz="2000" b="1" u="sng" dirty="0">
                <a:solidFill>
                  <a:srgbClr val="002060"/>
                </a:solidFill>
              </a:rPr>
              <a:t>          </a:t>
            </a:r>
            <a:r>
              <a:rPr lang="zh-CN" altLang="en-US" sz="2000" b="1" dirty="0">
                <a:solidFill>
                  <a:srgbClr val="002060"/>
                </a:solidFill>
              </a:rPr>
              <a:t>。</a:t>
            </a:r>
            <a:endParaRPr lang="zh-CN" altLang="en-US" sz="2000" b="1" dirty="0">
              <a:solidFill>
                <a:srgbClr val="002060"/>
              </a:solidFill>
            </a:endParaRPr>
          </a:p>
          <a:p>
            <a:pPr marL="0" indent="0" algn="just" eaLnBrk="1" hangingPunct="1">
              <a:lnSpc>
                <a:spcPct val="170000"/>
              </a:lnSpc>
              <a:buFontTx/>
              <a:buNone/>
            </a:pPr>
            <a:r>
              <a:rPr lang="zh-CN" altLang="en-US" sz="2000" b="1" dirty="0">
                <a:solidFill>
                  <a:srgbClr val="002060"/>
                </a:solidFill>
              </a:rPr>
              <a:t>（</a:t>
            </a:r>
            <a:r>
              <a:rPr lang="en-US" sz="2000" b="1" dirty="0">
                <a:solidFill>
                  <a:srgbClr val="002060"/>
                </a:solidFill>
              </a:rPr>
              <a:t>1</a:t>
            </a:r>
            <a:r>
              <a:rPr lang="zh-CN" altLang="en-US" sz="2000" b="1" dirty="0">
                <a:solidFill>
                  <a:srgbClr val="002060"/>
                </a:solidFill>
              </a:rPr>
              <a:t>）作为轴加工时的定位面；（</a:t>
            </a:r>
            <a:r>
              <a:rPr lang="en-US" sz="2000" b="1" dirty="0">
                <a:solidFill>
                  <a:srgbClr val="002060"/>
                </a:solidFill>
              </a:rPr>
              <a:t>2</a:t>
            </a:r>
            <a:r>
              <a:rPr lang="zh-CN" altLang="en-US" sz="2000" b="1" dirty="0">
                <a:solidFill>
                  <a:srgbClr val="002060"/>
                </a:solidFill>
              </a:rPr>
              <a:t>）提高轴的强度</a:t>
            </a:r>
            <a:r>
              <a:rPr lang="zh-CN" altLang="en-US" sz="2000" b="1" dirty="0" smtClean="0">
                <a:solidFill>
                  <a:srgbClr val="002060"/>
                </a:solidFill>
              </a:rPr>
              <a:t>；</a:t>
            </a:r>
            <a:endParaRPr lang="en-US" altLang="zh-CN" sz="2000" b="1" dirty="0" smtClean="0">
              <a:solidFill>
                <a:srgbClr val="002060"/>
              </a:solidFill>
            </a:endParaRPr>
          </a:p>
          <a:p>
            <a:pPr marL="0" indent="0" algn="just" eaLnBrk="1" hangingPunct="1">
              <a:lnSpc>
                <a:spcPct val="170000"/>
              </a:lnSpc>
              <a:buFontTx/>
              <a:buNone/>
            </a:pPr>
            <a:r>
              <a:rPr lang="zh-CN" altLang="en-US" sz="2000" b="1" dirty="0" smtClean="0">
                <a:solidFill>
                  <a:srgbClr val="002060"/>
                </a:solidFill>
              </a:rPr>
              <a:t>（</a:t>
            </a:r>
            <a:r>
              <a:rPr lang="en-US" sz="2000" b="1" dirty="0">
                <a:solidFill>
                  <a:srgbClr val="002060"/>
                </a:solidFill>
              </a:rPr>
              <a:t>3</a:t>
            </a:r>
            <a:r>
              <a:rPr lang="zh-CN" altLang="en-US" sz="2000" b="1" dirty="0">
                <a:solidFill>
                  <a:srgbClr val="002060"/>
                </a:solidFill>
              </a:rPr>
              <a:t>）提高轴的刚度；（</a:t>
            </a:r>
            <a:r>
              <a:rPr lang="en-US" sz="2000" b="1" dirty="0">
                <a:solidFill>
                  <a:srgbClr val="002060"/>
                </a:solidFill>
              </a:rPr>
              <a:t>4</a:t>
            </a:r>
            <a:r>
              <a:rPr lang="zh-CN" altLang="en-US" sz="2000" b="1" dirty="0">
                <a:solidFill>
                  <a:srgbClr val="002060"/>
                </a:solidFill>
              </a:rPr>
              <a:t>）使轴上零件获得轴向定位；</a:t>
            </a:r>
            <a:endParaRPr lang="zh-CN" altLang="en-US" sz="2000" b="1" dirty="0">
              <a:solidFill>
                <a:srgbClr val="002060"/>
              </a:solidFill>
            </a:endParaRPr>
          </a:p>
          <a:p>
            <a:pPr marL="0" indent="0" algn="just" eaLnBrk="1" hangingPunct="1">
              <a:lnSpc>
                <a:spcPct val="170000"/>
              </a:lnSpc>
              <a:buFontTx/>
              <a:buNone/>
            </a:pPr>
            <a:r>
              <a:rPr lang="en-US" altLang="zh-CN" sz="2000" b="1" dirty="0">
                <a:solidFill>
                  <a:srgbClr val="002060"/>
                </a:solidFill>
              </a:rPr>
              <a:t>6</a:t>
            </a:r>
            <a:r>
              <a:rPr lang="zh-CN" altLang="en-US" sz="2000" b="1" dirty="0" smtClean="0">
                <a:solidFill>
                  <a:srgbClr val="002060"/>
                </a:solidFill>
              </a:rPr>
              <a:t>、</a:t>
            </a:r>
            <a:r>
              <a:rPr lang="zh-CN" altLang="en-US" sz="2000" b="1" dirty="0">
                <a:solidFill>
                  <a:srgbClr val="002060"/>
                </a:solidFill>
              </a:rPr>
              <a:t>增大轴在截面变化处的过渡圆角半径，可以</a:t>
            </a:r>
            <a:r>
              <a:rPr lang="zh-CN" altLang="en-US" sz="2000" b="1" u="sng" dirty="0">
                <a:solidFill>
                  <a:srgbClr val="002060"/>
                </a:solidFill>
              </a:rPr>
              <a:t>          </a:t>
            </a:r>
            <a:r>
              <a:rPr lang="zh-CN" altLang="en-US" sz="2000" b="1" dirty="0">
                <a:solidFill>
                  <a:srgbClr val="002060"/>
                </a:solidFill>
              </a:rPr>
              <a:t>。</a:t>
            </a:r>
            <a:endParaRPr lang="zh-CN" altLang="en-US" sz="2000" b="1" dirty="0">
              <a:solidFill>
                <a:srgbClr val="002060"/>
              </a:solidFill>
            </a:endParaRPr>
          </a:p>
          <a:p>
            <a:pPr marL="0" indent="0" algn="just" eaLnBrk="1" hangingPunct="1">
              <a:lnSpc>
                <a:spcPct val="170000"/>
              </a:lnSpc>
              <a:buFontTx/>
              <a:buNone/>
            </a:pPr>
            <a:r>
              <a:rPr lang="zh-CN" altLang="en-US" sz="2000" b="1" dirty="0">
                <a:solidFill>
                  <a:srgbClr val="002060"/>
                </a:solidFill>
              </a:rPr>
              <a:t>（</a:t>
            </a:r>
            <a:r>
              <a:rPr lang="en-US" sz="2000" b="1" dirty="0">
                <a:solidFill>
                  <a:srgbClr val="002060"/>
                </a:solidFill>
              </a:rPr>
              <a:t>1</a:t>
            </a:r>
            <a:r>
              <a:rPr lang="zh-CN" altLang="en-US" sz="2000" b="1" dirty="0">
                <a:solidFill>
                  <a:srgbClr val="002060"/>
                </a:solidFill>
              </a:rPr>
              <a:t>）使零件的轴向定位比较可靠</a:t>
            </a:r>
            <a:r>
              <a:rPr lang="zh-CN" altLang="en-US" sz="2000" b="1" dirty="0" smtClean="0">
                <a:solidFill>
                  <a:srgbClr val="002060"/>
                </a:solidFill>
              </a:rPr>
              <a:t>；</a:t>
            </a:r>
            <a:endParaRPr lang="en-US" altLang="zh-CN" sz="2000" b="1" dirty="0" smtClean="0">
              <a:solidFill>
                <a:srgbClr val="002060"/>
              </a:solidFill>
            </a:endParaRPr>
          </a:p>
          <a:p>
            <a:pPr marL="0" indent="0" algn="just" eaLnBrk="1" hangingPunct="1">
              <a:lnSpc>
                <a:spcPct val="170000"/>
              </a:lnSpc>
              <a:buFontTx/>
              <a:buNone/>
            </a:pPr>
            <a:r>
              <a:rPr lang="zh-CN" altLang="en-US" sz="2000" b="1" dirty="0" smtClean="0">
                <a:solidFill>
                  <a:srgbClr val="002060"/>
                </a:solidFill>
              </a:rPr>
              <a:t>（</a:t>
            </a:r>
            <a:r>
              <a:rPr lang="en-US" sz="2000" b="1" dirty="0">
                <a:solidFill>
                  <a:srgbClr val="002060"/>
                </a:solidFill>
              </a:rPr>
              <a:t>2</a:t>
            </a:r>
            <a:r>
              <a:rPr lang="zh-CN" altLang="en-US" sz="2000" b="1" dirty="0">
                <a:solidFill>
                  <a:srgbClr val="002060"/>
                </a:solidFill>
              </a:rPr>
              <a:t>）降低应力集中，提高轴的疲劳强度</a:t>
            </a:r>
            <a:r>
              <a:rPr lang="zh-CN" altLang="en-US" sz="2000" b="1" dirty="0" smtClean="0">
                <a:solidFill>
                  <a:srgbClr val="002060"/>
                </a:solidFill>
              </a:rPr>
              <a:t>；</a:t>
            </a:r>
            <a:endParaRPr lang="en-US" altLang="zh-CN" sz="2000" b="1" dirty="0" smtClean="0">
              <a:solidFill>
                <a:srgbClr val="002060"/>
              </a:solidFill>
            </a:endParaRPr>
          </a:p>
          <a:p>
            <a:pPr marL="0" indent="0" algn="just" eaLnBrk="1" hangingPunct="1">
              <a:lnSpc>
                <a:spcPct val="170000"/>
              </a:lnSpc>
              <a:buFontTx/>
              <a:buNone/>
            </a:pPr>
            <a:r>
              <a:rPr lang="zh-CN" altLang="en-US" sz="2000" b="1" dirty="0" smtClean="0">
                <a:solidFill>
                  <a:srgbClr val="002060"/>
                </a:solidFill>
              </a:rPr>
              <a:t>（</a:t>
            </a:r>
            <a:r>
              <a:rPr lang="en-US" sz="2000" b="1" dirty="0">
                <a:solidFill>
                  <a:srgbClr val="002060"/>
                </a:solidFill>
              </a:rPr>
              <a:t>3</a:t>
            </a:r>
            <a:r>
              <a:rPr lang="zh-CN" altLang="en-US" sz="2000" b="1" dirty="0">
                <a:solidFill>
                  <a:srgbClr val="002060"/>
                </a:solidFill>
              </a:rPr>
              <a:t>）使轴的加工方便；</a:t>
            </a:r>
            <a:endParaRPr lang="zh-CN" altLang="en-US" sz="2000" b="1" dirty="0">
              <a:solidFill>
                <a:srgbClr val="002060"/>
              </a:solidFill>
            </a:endParaRPr>
          </a:p>
          <a:p>
            <a:pPr marL="0" indent="0" algn="just" eaLnBrk="1" hangingPunct="1">
              <a:lnSpc>
                <a:spcPct val="170000"/>
              </a:lnSpc>
              <a:buFontTx/>
              <a:buNone/>
            </a:pPr>
            <a:r>
              <a:rPr lang="en-US" altLang="zh-CN" sz="2000" b="1" dirty="0">
                <a:solidFill>
                  <a:srgbClr val="002060"/>
                </a:solidFill>
              </a:rPr>
              <a:t>7</a:t>
            </a:r>
            <a:r>
              <a:rPr lang="zh-CN" altLang="en-US" sz="2000" b="1" dirty="0" smtClean="0">
                <a:solidFill>
                  <a:srgbClr val="002060"/>
                </a:solidFill>
              </a:rPr>
              <a:t>、</a:t>
            </a:r>
            <a:r>
              <a:rPr lang="zh-CN" altLang="en-US" sz="2000" b="1" dirty="0">
                <a:solidFill>
                  <a:srgbClr val="002060"/>
                </a:solidFill>
              </a:rPr>
              <a:t>转轴上载荷和支点位置都已确定后，轴的直径可以根据</a:t>
            </a:r>
            <a:r>
              <a:rPr lang="zh-CN" altLang="en-US" sz="2000" b="1" u="sng" dirty="0">
                <a:solidFill>
                  <a:srgbClr val="002060"/>
                </a:solidFill>
              </a:rPr>
              <a:t>          </a:t>
            </a:r>
            <a:r>
              <a:rPr lang="zh-CN" altLang="en-US" sz="2000" b="1" dirty="0">
                <a:solidFill>
                  <a:srgbClr val="002060"/>
                </a:solidFill>
              </a:rPr>
              <a:t>来进行计算或校核。</a:t>
            </a:r>
            <a:endParaRPr lang="zh-CN" altLang="en-US" sz="2000" b="1" dirty="0">
              <a:solidFill>
                <a:srgbClr val="002060"/>
              </a:solidFill>
            </a:endParaRPr>
          </a:p>
          <a:p>
            <a:pPr marL="0" indent="0" algn="just" eaLnBrk="1" hangingPunct="1">
              <a:lnSpc>
                <a:spcPct val="170000"/>
              </a:lnSpc>
              <a:buFontTx/>
              <a:buNone/>
            </a:pPr>
            <a:r>
              <a:rPr lang="zh-CN" altLang="en-US" sz="2000" b="1" dirty="0">
                <a:solidFill>
                  <a:srgbClr val="002060"/>
                </a:solidFill>
              </a:rPr>
              <a:t>（</a:t>
            </a:r>
            <a:r>
              <a:rPr lang="en-US" sz="2000" b="1" dirty="0">
                <a:solidFill>
                  <a:srgbClr val="002060"/>
                </a:solidFill>
              </a:rPr>
              <a:t>1</a:t>
            </a:r>
            <a:r>
              <a:rPr lang="zh-CN" altLang="en-US" sz="2000" b="1" dirty="0">
                <a:solidFill>
                  <a:srgbClr val="002060"/>
                </a:solidFill>
              </a:rPr>
              <a:t>）抗弯强度；（</a:t>
            </a:r>
            <a:r>
              <a:rPr lang="en-US" sz="2000" b="1" dirty="0">
                <a:solidFill>
                  <a:srgbClr val="002060"/>
                </a:solidFill>
              </a:rPr>
              <a:t>2</a:t>
            </a:r>
            <a:r>
              <a:rPr lang="zh-CN" altLang="en-US" sz="2000" b="1" dirty="0">
                <a:solidFill>
                  <a:srgbClr val="002060"/>
                </a:solidFill>
              </a:rPr>
              <a:t>）扭转强度；（</a:t>
            </a:r>
            <a:r>
              <a:rPr lang="en-US" sz="2000" b="1" dirty="0">
                <a:solidFill>
                  <a:srgbClr val="002060"/>
                </a:solidFill>
              </a:rPr>
              <a:t>3</a:t>
            </a:r>
            <a:r>
              <a:rPr lang="zh-CN" altLang="en-US" sz="2000" b="1" dirty="0">
                <a:solidFill>
                  <a:srgbClr val="002060"/>
                </a:solidFill>
              </a:rPr>
              <a:t>）扭转刚度；（</a:t>
            </a:r>
            <a:r>
              <a:rPr lang="en-US" sz="2000" b="1" dirty="0">
                <a:solidFill>
                  <a:srgbClr val="002060"/>
                </a:solidFill>
              </a:rPr>
              <a:t>4</a:t>
            </a:r>
            <a:r>
              <a:rPr lang="zh-CN" altLang="en-US" sz="2000" b="1" dirty="0">
                <a:solidFill>
                  <a:srgbClr val="002060"/>
                </a:solidFill>
              </a:rPr>
              <a:t>）复合强度；</a:t>
            </a:r>
            <a:endParaRPr lang="zh-CN" altLang="en-US" b="1" dirty="0">
              <a:solidFill>
                <a:srgbClr val="002060"/>
              </a:solidFill>
            </a:endParaRPr>
          </a:p>
        </p:txBody>
      </p:sp>
      <p:sp>
        <p:nvSpPr>
          <p:cNvPr id="231428" name="Text Box 4"/>
          <p:cNvSpPr txBox="1">
            <a:spLocks noChangeArrowheads="1"/>
          </p:cNvSpPr>
          <p:nvPr/>
        </p:nvSpPr>
        <p:spPr bwMode="auto">
          <a:xfrm>
            <a:off x="2791932" y="773788"/>
            <a:ext cx="304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dirty="0">
                <a:solidFill>
                  <a:srgbClr val="FF3300"/>
                </a:solidFill>
              </a:rPr>
              <a:t>4</a:t>
            </a:r>
            <a:endParaRPr lang="en-US" dirty="0"/>
          </a:p>
        </p:txBody>
      </p:sp>
      <p:sp>
        <p:nvSpPr>
          <p:cNvPr id="231429" name="Text Box 5"/>
          <p:cNvSpPr txBox="1">
            <a:spLocks noChangeArrowheads="1"/>
          </p:cNvSpPr>
          <p:nvPr/>
        </p:nvSpPr>
        <p:spPr bwMode="auto">
          <a:xfrm>
            <a:off x="6004868" y="2599797"/>
            <a:ext cx="304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dirty="0">
                <a:solidFill>
                  <a:srgbClr val="FF3300"/>
                </a:solidFill>
              </a:rPr>
              <a:t>2</a:t>
            </a:r>
            <a:endParaRPr lang="en-US" dirty="0"/>
          </a:p>
        </p:txBody>
      </p:sp>
      <p:sp>
        <p:nvSpPr>
          <p:cNvPr id="231430" name="Text Box 6"/>
          <p:cNvSpPr txBox="1">
            <a:spLocks noChangeArrowheads="1"/>
          </p:cNvSpPr>
          <p:nvPr/>
        </p:nvSpPr>
        <p:spPr bwMode="auto">
          <a:xfrm>
            <a:off x="7516640" y="4876323"/>
            <a:ext cx="304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dirty="0">
                <a:solidFill>
                  <a:srgbClr val="FF3300"/>
                </a:solidFill>
              </a:rPr>
              <a:t>4</a:t>
            </a:r>
            <a:endParaRPr lang="en-US" dirty="0"/>
          </a:p>
        </p:txBody>
      </p:sp>
      <p:sp>
        <p:nvSpPr>
          <p:cNvPr id="2" name="文本框 1"/>
          <p:cNvSpPr txBox="1"/>
          <p:nvPr/>
        </p:nvSpPr>
        <p:spPr>
          <a:xfrm>
            <a:off x="227330" y="252095"/>
            <a:ext cx="4572000" cy="521970"/>
          </a:xfrm>
          <a:prstGeom prst="rect">
            <a:avLst/>
          </a:prstGeom>
          <a:noFill/>
        </p:spPr>
        <p:txBody>
          <a:bodyPr wrap="square" rtlCol="0" anchor="t">
            <a:spAutoFit/>
          </a:bodyPr>
          <a:p>
            <a:pPr algn="l" eaLnBrk="1" hangingPunct="1">
              <a:buFontTx/>
              <a:buNone/>
            </a:pPr>
            <a:r>
              <a:rPr lang="zh-CN" altLang="en-US" sz="2800" dirty="0" smtClean="0">
                <a:solidFill>
                  <a:srgbClr val="FF3300"/>
                </a:solidFill>
                <a:latin typeface="黑体" panose="02010609060101010101" pitchFamily="49" charset="-122"/>
                <a:ea typeface="黑体" panose="02010609060101010101" pitchFamily="49" charset="-122"/>
                <a:sym typeface="+mn-ea"/>
              </a:rPr>
              <a:t> </a:t>
            </a:r>
            <a:r>
              <a:rPr lang="zh-CN" altLang="en-US" sz="2400" dirty="0">
                <a:solidFill>
                  <a:srgbClr val="FF0000"/>
                </a:solidFill>
                <a:latin typeface="黑体" panose="02010609060101010101" pitchFamily="49" charset="-122"/>
                <a:ea typeface="黑体" panose="02010609060101010101" pitchFamily="49" charset="-122"/>
                <a:sym typeface="+mn-ea"/>
              </a:rPr>
              <a:t>选择题</a:t>
            </a:r>
            <a:r>
              <a:rPr lang="en-US" altLang="zh-CN" sz="2400" dirty="0">
                <a:solidFill>
                  <a:srgbClr val="FF0000"/>
                </a:solidFill>
                <a:latin typeface="黑体" panose="02010609060101010101" pitchFamily="49" charset="-122"/>
                <a:ea typeface="黑体" panose="02010609060101010101" pitchFamily="49" charset="-122"/>
                <a:sym typeface="+mn-ea"/>
              </a:rPr>
              <a:t>(</a:t>
            </a:r>
            <a:r>
              <a:rPr lang="zh-CN" altLang="en-US" sz="2400" dirty="0">
                <a:solidFill>
                  <a:srgbClr val="FF0000"/>
                </a:solidFill>
                <a:latin typeface="黑体" panose="02010609060101010101" pitchFamily="49" charset="-122"/>
                <a:ea typeface="黑体" panose="02010609060101010101" pitchFamily="49" charset="-122"/>
                <a:sym typeface="+mn-ea"/>
              </a:rPr>
              <a:t>单选题）</a:t>
            </a:r>
            <a:endParaRPr lang="zh-CN" altLang="en-US" sz="2400" dirty="0">
              <a:solidFill>
                <a:srgbClr val="FF0000"/>
              </a:solidFill>
              <a:latin typeface="黑体" panose="02010609060101010101" pitchFamily="49" charset="-122"/>
              <a:ea typeface="黑体" panose="02010609060101010101" pitchFamily="49"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31427">
                                            <p:txEl>
                                              <p:pRg st="0" end="0"/>
                                            </p:txEl>
                                          </p:spTgt>
                                        </p:tgtEl>
                                        <p:attrNameLst>
                                          <p:attrName>style.visibility</p:attrName>
                                        </p:attrNameLst>
                                      </p:cBhvr>
                                      <p:to>
                                        <p:strVal val="visible"/>
                                      </p:to>
                                    </p:set>
                                    <p:animEffect transition="in" filter="wipe(left)">
                                      <p:cBhvr>
                                        <p:cTn id="7" dur="500"/>
                                        <p:tgtEl>
                                          <p:spTgt spid="231427">
                                            <p:txEl>
                                              <p:pRg st="0" end="0"/>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231427">
                                            <p:txEl>
                                              <p:pRg st="1" end="1"/>
                                            </p:txEl>
                                          </p:spTgt>
                                        </p:tgtEl>
                                        <p:attrNameLst>
                                          <p:attrName>style.visibility</p:attrName>
                                        </p:attrNameLst>
                                      </p:cBhvr>
                                      <p:to>
                                        <p:strVal val="visible"/>
                                      </p:to>
                                    </p:set>
                                    <p:animEffect transition="in" filter="wipe(left)">
                                      <p:cBhvr>
                                        <p:cTn id="10" dur="500"/>
                                        <p:tgtEl>
                                          <p:spTgt spid="231427">
                                            <p:txEl>
                                              <p:pRg st="1" end="1"/>
                                            </p:txEl>
                                          </p:spTgt>
                                        </p:tgtEl>
                                      </p:cBhvr>
                                    </p:animEffect>
                                  </p:childTnLst>
                                </p:cTn>
                              </p:par>
                              <p:par>
                                <p:cTn id="11" presetID="22" presetClass="entr" presetSubtype="8" fill="hold" nodeType="withEffect">
                                  <p:stCondLst>
                                    <p:cond delay="0"/>
                                  </p:stCondLst>
                                  <p:childTnLst>
                                    <p:set>
                                      <p:cBhvr>
                                        <p:cTn id="12" dur="1" fill="hold">
                                          <p:stCondLst>
                                            <p:cond delay="0"/>
                                          </p:stCondLst>
                                        </p:cTn>
                                        <p:tgtEl>
                                          <p:spTgt spid="231427">
                                            <p:txEl>
                                              <p:pRg st="2" end="2"/>
                                            </p:txEl>
                                          </p:spTgt>
                                        </p:tgtEl>
                                        <p:attrNameLst>
                                          <p:attrName>style.visibility</p:attrName>
                                        </p:attrNameLst>
                                      </p:cBhvr>
                                      <p:to>
                                        <p:strVal val="visible"/>
                                      </p:to>
                                    </p:set>
                                    <p:animEffect transition="in" filter="wipe(left)">
                                      <p:cBhvr>
                                        <p:cTn id="13" dur="500"/>
                                        <p:tgtEl>
                                          <p:spTgt spid="231427">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3" fill="hold" grpId="0" nodeType="clickEffect">
                                  <p:stCondLst>
                                    <p:cond delay="0"/>
                                  </p:stCondLst>
                                  <p:iterate type="lt">
                                    <p:tmPct val="100000"/>
                                  </p:iterate>
                                  <p:childTnLst>
                                    <p:set>
                                      <p:cBhvr>
                                        <p:cTn id="17" dur="1" fill="hold">
                                          <p:stCondLst>
                                            <p:cond delay="0"/>
                                          </p:stCondLst>
                                        </p:cTn>
                                        <p:tgtEl>
                                          <p:spTgt spid="231428">
                                            <p:txEl>
                                              <p:pRg st="0" end="0"/>
                                            </p:txEl>
                                          </p:spTgt>
                                        </p:tgtEl>
                                        <p:attrNameLst>
                                          <p:attrName>style.visibility</p:attrName>
                                        </p:attrNameLst>
                                      </p:cBhvr>
                                      <p:to>
                                        <p:strVal val="visible"/>
                                      </p:to>
                                    </p:set>
                                    <p:anim calcmode="lin" valueType="num">
                                      <p:cBhvr additive="base">
                                        <p:cTn id="18" dur="75" fill="hold"/>
                                        <p:tgtEl>
                                          <p:spTgt spid="231428">
                                            <p:txEl>
                                              <p:pRg st="0" end="0"/>
                                            </p:txEl>
                                          </p:spTgt>
                                        </p:tgtEl>
                                        <p:attrNameLst>
                                          <p:attrName>ppt_x</p:attrName>
                                        </p:attrNameLst>
                                      </p:cBhvr>
                                      <p:tavLst>
                                        <p:tav tm="0">
                                          <p:val>
                                            <p:strVal val="1+#ppt_w/2"/>
                                          </p:val>
                                        </p:tav>
                                        <p:tav tm="100000">
                                          <p:val>
                                            <p:strVal val="#ppt_x"/>
                                          </p:val>
                                        </p:tav>
                                      </p:tavLst>
                                    </p:anim>
                                    <p:anim calcmode="lin" valueType="num">
                                      <p:cBhvr additive="base">
                                        <p:cTn id="19" dur="75" fill="hold"/>
                                        <p:tgtEl>
                                          <p:spTgt spid="231428">
                                            <p:txEl>
                                              <p:pRg st="0" end="0"/>
                                            </p:txEl>
                                          </p:spTgt>
                                        </p:tgtEl>
                                        <p:attrNameLst>
                                          <p:attrName>ppt_y</p:attrName>
                                        </p:attrNameLst>
                                      </p:cBhvr>
                                      <p:tavLst>
                                        <p:tav tm="0">
                                          <p:val>
                                            <p:strVal val="0-#ppt_h/2"/>
                                          </p:val>
                                        </p:tav>
                                        <p:tav tm="100000">
                                          <p:val>
                                            <p:strVal val="#ppt_y"/>
                                          </p:val>
                                        </p:tav>
                                      </p:tavLst>
                                    </p:anim>
                                  </p:childTnLst>
                                  <p:subTnLst>
                                    <p:audio>
                                      <p:cMediaNode>
                                        <p:cTn display="0" masterRel="sameClick">
                                          <p:stCondLst>
                                            <p:cond evt="begin" delay="0">
                                              <p:tn val="16"/>
                                            </p:cond>
                                          </p:stCondLst>
                                          <p:endCondLst>
                                            <p:cond evt="onStopAudio" delay="0">
                                              <p:tgtEl>
                                                <p:sldTgt/>
                                              </p:tgtEl>
                                            </p:cond>
                                          </p:endCondLst>
                                        </p:cTn>
                                        <p:tgtEl>
                                          <p:sndTgt r:embed="rId1" name="LASER.WAV"/>
                                        </p:tgtEl>
                                      </p:cMediaNode>
                                    </p:audio>
                                  </p:sub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231427">
                                            <p:txEl>
                                              <p:pRg st="3" end="3"/>
                                            </p:txEl>
                                          </p:spTgt>
                                        </p:tgtEl>
                                        <p:attrNameLst>
                                          <p:attrName>style.visibility</p:attrName>
                                        </p:attrNameLst>
                                      </p:cBhvr>
                                      <p:to>
                                        <p:strVal val="visible"/>
                                      </p:to>
                                    </p:set>
                                    <p:animEffect transition="in" filter="wipe(left)">
                                      <p:cBhvr>
                                        <p:cTn id="24" dur="500"/>
                                        <p:tgtEl>
                                          <p:spTgt spid="231427">
                                            <p:txEl>
                                              <p:pRg st="3" end="3"/>
                                            </p:txEl>
                                          </p:spTgt>
                                        </p:tgtEl>
                                      </p:cBhvr>
                                    </p:animEffect>
                                  </p:childTnLst>
                                </p:cTn>
                              </p:par>
                              <p:par>
                                <p:cTn id="25" presetID="22" presetClass="entr" presetSubtype="8" fill="hold" nodeType="withEffect">
                                  <p:stCondLst>
                                    <p:cond delay="0"/>
                                  </p:stCondLst>
                                  <p:childTnLst>
                                    <p:set>
                                      <p:cBhvr>
                                        <p:cTn id="26" dur="1" fill="hold">
                                          <p:stCondLst>
                                            <p:cond delay="0"/>
                                          </p:stCondLst>
                                        </p:cTn>
                                        <p:tgtEl>
                                          <p:spTgt spid="231427">
                                            <p:txEl>
                                              <p:pRg st="4" end="4"/>
                                            </p:txEl>
                                          </p:spTgt>
                                        </p:tgtEl>
                                        <p:attrNameLst>
                                          <p:attrName>style.visibility</p:attrName>
                                        </p:attrNameLst>
                                      </p:cBhvr>
                                      <p:to>
                                        <p:strVal val="visible"/>
                                      </p:to>
                                    </p:set>
                                    <p:animEffect transition="in" filter="wipe(left)">
                                      <p:cBhvr>
                                        <p:cTn id="27" dur="500"/>
                                        <p:tgtEl>
                                          <p:spTgt spid="231427">
                                            <p:txEl>
                                              <p:pRg st="4" end="4"/>
                                            </p:txEl>
                                          </p:spTgt>
                                        </p:tgtEl>
                                      </p:cBhvr>
                                    </p:animEffect>
                                  </p:childTnLst>
                                </p:cTn>
                              </p:par>
                              <p:par>
                                <p:cTn id="28" presetID="22" presetClass="entr" presetSubtype="8" fill="hold" nodeType="withEffect">
                                  <p:stCondLst>
                                    <p:cond delay="0"/>
                                  </p:stCondLst>
                                  <p:childTnLst>
                                    <p:set>
                                      <p:cBhvr>
                                        <p:cTn id="29" dur="1" fill="hold">
                                          <p:stCondLst>
                                            <p:cond delay="0"/>
                                          </p:stCondLst>
                                        </p:cTn>
                                        <p:tgtEl>
                                          <p:spTgt spid="231427">
                                            <p:txEl>
                                              <p:pRg st="5" end="5"/>
                                            </p:txEl>
                                          </p:spTgt>
                                        </p:tgtEl>
                                        <p:attrNameLst>
                                          <p:attrName>style.visibility</p:attrName>
                                        </p:attrNameLst>
                                      </p:cBhvr>
                                      <p:to>
                                        <p:strVal val="visible"/>
                                      </p:to>
                                    </p:set>
                                    <p:animEffect transition="in" filter="wipe(left)">
                                      <p:cBhvr>
                                        <p:cTn id="30" dur="500"/>
                                        <p:tgtEl>
                                          <p:spTgt spid="231427">
                                            <p:txEl>
                                              <p:pRg st="5" end="5"/>
                                            </p:txEl>
                                          </p:spTgt>
                                        </p:tgtEl>
                                      </p:cBhvr>
                                    </p:animEffect>
                                  </p:childTnLst>
                                </p:cTn>
                              </p:par>
                              <p:par>
                                <p:cTn id="31" presetID="22" presetClass="entr" presetSubtype="8" fill="hold" nodeType="withEffect">
                                  <p:stCondLst>
                                    <p:cond delay="0"/>
                                  </p:stCondLst>
                                  <p:childTnLst>
                                    <p:set>
                                      <p:cBhvr>
                                        <p:cTn id="32" dur="1" fill="hold">
                                          <p:stCondLst>
                                            <p:cond delay="0"/>
                                          </p:stCondLst>
                                        </p:cTn>
                                        <p:tgtEl>
                                          <p:spTgt spid="231427">
                                            <p:txEl>
                                              <p:pRg st="6" end="6"/>
                                            </p:txEl>
                                          </p:spTgt>
                                        </p:tgtEl>
                                        <p:attrNameLst>
                                          <p:attrName>style.visibility</p:attrName>
                                        </p:attrNameLst>
                                      </p:cBhvr>
                                      <p:to>
                                        <p:strVal val="visible"/>
                                      </p:to>
                                    </p:set>
                                    <p:animEffect transition="in" filter="wipe(left)">
                                      <p:cBhvr>
                                        <p:cTn id="33" dur="500"/>
                                        <p:tgtEl>
                                          <p:spTgt spid="231427">
                                            <p:txEl>
                                              <p:pRg st="6" end="6"/>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 presetClass="entr" presetSubtype="3" fill="hold" grpId="0" nodeType="clickEffect">
                                  <p:stCondLst>
                                    <p:cond delay="0"/>
                                  </p:stCondLst>
                                  <p:iterate type="lt">
                                    <p:tmPct val="100000"/>
                                  </p:iterate>
                                  <p:childTnLst>
                                    <p:set>
                                      <p:cBhvr>
                                        <p:cTn id="37" dur="1" fill="hold">
                                          <p:stCondLst>
                                            <p:cond delay="0"/>
                                          </p:stCondLst>
                                        </p:cTn>
                                        <p:tgtEl>
                                          <p:spTgt spid="231429">
                                            <p:txEl>
                                              <p:pRg st="0" end="0"/>
                                            </p:txEl>
                                          </p:spTgt>
                                        </p:tgtEl>
                                        <p:attrNameLst>
                                          <p:attrName>style.visibility</p:attrName>
                                        </p:attrNameLst>
                                      </p:cBhvr>
                                      <p:to>
                                        <p:strVal val="visible"/>
                                      </p:to>
                                    </p:set>
                                    <p:anim calcmode="lin" valueType="num">
                                      <p:cBhvr additive="base">
                                        <p:cTn id="38" dur="75" fill="hold"/>
                                        <p:tgtEl>
                                          <p:spTgt spid="231429">
                                            <p:txEl>
                                              <p:pRg st="0" end="0"/>
                                            </p:txEl>
                                          </p:spTgt>
                                        </p:tgtEl>
                                        <p:attrNameLst>
                                          <p:attrName>ppt_x</p:attrName>
                                        </p:attrNameLst>
                                      </p:cBhvr>
                                      <p:tavLst>
                                        <p:tav tm="0">
                                          <p:val>
                                            <p:strVal val="1+#ppt_w/2"/>
                                          </p:val>
                                        </p:tav>
                                        <p:tav tm="100000">
                                          <p:val>
                                            <p:strVal val="#ppt_x"/>
                                          </p:val>
                                        </p:tav>
                                      </p:tavLst>
                                    </p:anim>
                                    <p:anim calcmode="lin" valueType="num">
                                      <p:cBhvr additive="base">
                                        <p:cTn id="39" dur="75" fill="hold"/>
                                        <p:tgtEl>
                                          <p:spTgt spid="231429">
                                            <p:txEl>
                                              <p:pRg st="0" end="0"/>
                                            </p:txEl>
                                          </p:spTgt>
                                        </p:tgtEl>
                                        <p:attrNameLst>
                                          <p:attrName>ppt_y</p:attrName>
                                        </p:attrNameLst>
                                      </p:cBhvr>
                                      <p:tavLst>
                                        <p:tav tm="0">
                                          <p:val>
                                            <p:strVal val="0-#ppt_h/2"/>
                                          </p:val>
                                        </p:tav>
                                        <p:tav tm="100000">
                                          <p:val>
                                            <p:strVal val="#ppt_y"/>
                                          </p:val>
                                        </p:tav>
                                      </p:tavLst>
                                    </p:anim>
                                  </p:childTnLst>
                                  <p:subTnLst>
                                    <p:audio>
                                      <p:cMediaNode>
                                        <p:cTn display="0" masterRel="sameClick">
                                          <p:stCondLst>
                                            <p:cond evt="begin" delay="0">
                                              <p:tn val="36"/>
                                            </p:cond>
                                          </p:stCondLst>
                                          <p:endCondLst>
                                            <p:cond evt="onStopAudio" delay="0">
                                              <p:tgtEl>
                                                <p:sldTgt/>
                                              </p:tgtEl>
                                            </p:cond>
                                          </p:endCondLst>
                                        </p:cTn>
                                        <p:tgtEl>
                                          <p:sndTgt r:embed="rId1" name="LASER.WAV"/>
                                        </p:tgtEl>
                                      </p:cMediaNode>
                                    </p:audio>
                                  </p:sub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231427">
                                            <p:txEl>
                                              <p:pRg st="7" end="7"/>
                                            </p:txEl>
                                          </p:spTgt>
                                        </p:tgtEl>
                                        <p:attrNameLst>
                                          <p:attrName>style.visibility</p:attrName>
                                        </p:attrNameLst>
                                      </p:cBhvr>
                                      <p:to>
                                        <p:strVal val="visible"/>
                                      </p:to>
                                    </p:set>
                                    <p:animEffect transition="in" filter="wipe(left)">
                                      <p:cBhvr>
                                        <p:cTn id="44" dur="500"/>
                                        <p:tgtEl>
                                          <p:spTgt spid="231427">
                                            <p:txEl>
                                              <p:pRg st="7" end="7"/>
                                            </p:txEl>
                                          </p:spTgt>
                                        </p:tgtEl>
                                      </p:cBhvr>
                                    </p:animEffect>
                                  </p:childTnLst>
                                </p:cTn>
                              </p:par>
                              <p:par>
                                <p:cTn id="45" presetID="22" presetClass="entr" presetSubtype="8" fill="hold" nodeType="withEffect">
                                  <p:stCondLst>
                                    <p:cond delay="0"/>
                                  </p:stCondLst>
                                  <p:childTnLst>
                                    <p:set>
                                      <p:cBhvr>
                                        <p:cTn id="46" dur="1" fill="hold">
                                          <p:stCondLst>
                                            <p:cond delay="0"/>
                                          </p:stCondLst>
                                        </p:cTn>
                                        <p:tgtEl>
                                          <p:spTgt spid="231427">
                                            <p:txEl>
                                              <p:pRg st="8" end="8"/>
                                            </p:txEl>
                                          </p:spTgt>
                                        </p:tgtEl>
                                        <p:attrNameLst>
                                          <p:attrName>style.visibility</p:attrName>
                                        </p:attrNameLst>
                                      </p:cBhvr>
                                      <p:to>
                                        <p:strVal val="visible"/>
                                      </p:to>
                                    </p:set>
                                    <p:animEffect transition="in" filter="wipe(left)">
                                      <p:cBhvr>
                                        <p:cTn id="47" dur="500"/>
                                        <p:tgtEl>
                                          <p:spTgt spid="231427">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 presetClass="entr" presetSubtype="3" fill="hold" grpId="0" nodeType="clickEffect">
                                  <p:stCondLst>
                                    <p:cond delay="0"/>
                                  </p:stCondLst>
                                  <p:iterate type="lt">
                                    <p:tmPct val="100000"/>
                                  </p:iterate>
                                  <p:childTnLst>
                                    <p:set>
                                      <p:cBhvr>
                                        <p:cTn id="51" dur="1" fill="hold">
                                          <p:stCondLst>
                                            <p:cond delay="0"/>
                                          </p:stCondLst>
                                        </p:cTn>
                                        <p:tgtEl>
                                          <p:spTgt spid="231430">
                                            <p:txEl>
                                              <p:pRg st="0" end="0"/>
                                            </p:txEl>
                                          </p:spTgt>
                                        </p:tgtEl>
                                        <p:attrNameLst>
                                          <p:attrName>style.visibility</p:attrName>
                                        </p:attrNameLst>
                                      </p:cBhvr>
                                      <p:to>
                                        <p:strVal val="visible"/>
                                      </p:to>
                                    </p:set>
                                    <p:anim calcmode="lin" valueType="num">
                                      <p:cBhvr additive="base">
                                        <p:cTn id="52" dur="75" fill="hold"/>
                                        <p:tgtEl>
                                          <p:spTgt spid="231430">
                                            <p:txEl>
                                              <p:pRg st="0" end="0"/>
                                            </p:txEl>
                                          </p:spTgt>
                                        </p:tgtEl>
                                        <p:attrNameLst>
                                          <p:attrName>ppt_x</p:attrName>
                                        </p:attrNameLst>
                                      </p:cBhvr>
                                      <p:tavLst>
                                        <p:tav tm="0">
                                          <p:val>
                                            <p:strVal val="1+#ppt_w/2"/>
                                          </p:val>
                                        </p:tav>
                                        <p:tav tm="100000">
                                          <p:val>
                                            <p:strVal val="#ppt_x"/>
                                          </p:val>
                                        </p:tav>
                                      </p:tavLst>
                                    </p:anim>
                                    <p:anim calcmode="lin" valueType="num">
                                      <p:cBhvr additive="base">
                                        <p:cTn id="53" dur="75" fill="hold"/>
                                        <p:tgtEl>
                                          <p:spTgt spid="231430">
                                            <p:txEl>
                                              <p:pRg st="0" end="0"/>
                                            </p:txEl>
                                          </p:spTgt>
                                        </p:tgtEl>
                                        <p:attrNameLst>
                                          <p:attrName>ppt_y</p:attrName>
                                        </p:attrNameLst>
                                      </p:cBhvr>
                                      <p:tavLst>
                                        <p:tav tm="0">
                                          <p:val>
                                            <p:strVal val="0-#ppt_h/2"/>
                                          </p:val>
                                        </p:tav>
                                        <p:tav tm="100000">
                                          <p:val>
                                            <p:strVal val="#ppt_y"/>
                                          </p:val>
                                        </p:tav>
                                      </p:tavLst>
                                    </p:anim>
                                  </p:childTnLst>
                                  <p:subTnLst>
                                    <p:audio>
                                      <p:cMediaNode>
                                        <p:cTn display="0" masterRel="sameClick">
                                          <p:stCondLst>
                                            <p:cond evt="begin" delay="0">
                                              <p:tn val="50"/>
                                            </p:cond>
                                          </p:stCondLst>
                                          <p:endCondLst>
                                            <p:cond evt="onStopAudio" delay="0">
                                              <p:tgtEl>
                                                <p:sldTgt/>
                                              </p:tgtEl>
                                            </p:cond>
                                          </p:endCondLst>
                                        </p:cTn>
                                        <p:tgtEl>
                                          <p:sndTgt r:embed="rId1" name="LAS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1428" grpId="0" autoUpdateAnimBg="0" build="p"/>
      <p:bldP spid="231429" grpId="0" autoUpdateAnimBg="0" build="p"/>
      <p:bldP spid="231430" grpId="0" autoUpdateAnimBg="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9" name="Rectangle 3"/>
          <p:cNvSpPr>
            <a:spLocks noChangeArrowheads="1"/>
          </p:cNvSpPr>
          <p:nvPr/>
        </p:nvSpPr>
        <p:spPr bwMode="auto">
          <a:xfrm>
            <a:off x="5264025" y="680200"/>
            <a:ext cx="2286000" cy="3763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黑体" panose="02010609060101010101" pitchFamily="49" charset="-122"/>
                <a:ea typeface="黑体" panose="02010609060101010101" pitchFamily="49" charset="-122"/>
              </a:defRPr>
            </a:lvl1pPr>
            <a:lvl2pPr marL="742950" indent="-285750" eaLnBrk="0" hangingPunct="0">
              <a:defRPr kumimoji="1" sz="2400" b="1">
                <a:solidFill>
                  <a:schemeClr val="tx1"/>
                </a:solidFill>
                <a:latin typeface="黑体" panose="02010609060101010101" pitchFamily="49" charset="-122"/>
                <a:ea typeface="黑体" panose="02010609060101010101" pitchFamily="49" charset="-122"/>
              </a:defRPr>
            </a:lvl2pPr>
            <a:lvl3pPr marL="1143000" indent="-228600" eaLnBrk="0" hangingPunct="0">
              <a:defRPr kumimoji="1" sz="2400" b="1">
                <a:solidFill>
                  <a:schemeClr val="tx1"/>
                </a:solidFill>
                <a:latin typeface="黑体" panose="02010609060101010101" pitchFamily="49" charset="-122"/>
                <a:ea typeface="黑体" panose="02010609060101010101" pitchFamily="49" charset="-122"/>
              </a:defRPr>
            </a:lvl3pPr>
            <a:lvl4pPr marL="1600200" indent="-228600" eaLnBrk="0" hangingPunct="0">
              <a:defRPr kumimoji="1" sz="2400" b="1">
                <a:solidFill>
                  <a:schemeClr val="tx1"/>
                </a:solidFill>
                <a:latin typeface="黑体" panose="02010609060101010101" pitchFamily="49" charset="-122"/>
                <a:ea typeface="黑体" panose="02010609060101010101" pitchFamily="49" charset="-122"/>
              </a:defRPr>
            </a:lvl4pPr>
            <a:lvl5pPr marL="2057400" indent="-228600" eaLnBrk="0" hangingPunct="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pPr eaLnBrk="1" hangingPunct="1">
              <a:spcBef>
                <a:spcPct val="0"/>
              </a:spcBef>
            </a:pPr>
            <a:r>
              <a:rPr lang="zh-CN" altLang="en-US" sz="1845" dirty="0"/>
              <a:t>确定各零件位置</a:t>
            </a:r>
            <a:endParaRPr lang="zh-CN" altLang="en-US" sz="1845" dirty="0"/>
          </a:p>
        </p:txBody>
      </p:sp>
      <p:sp>
        <p:nvSpPr>
          <p:cNvPr id="188420" name="Rectangle 4"/>
          <p:cNvSpPr>
            <a:spLocks noChangeArrowheads="1"/>
          </p:cNvSpPr>
          <p:nvPr/>
        </p:nvSpPr>
        <p:spPr bwMode="auto">
          <a:xfrm>
            <a:off x="5237285" y="1169378"/>
            <a:ext cx="3260481" cy="3763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黑体" panose="02010609060101010101" pitchFamily="49" charset="-122"/>
                <a:ea typeface="黑体" panose="02010609060101010101" pitchFamily="49" charset="-122"/>
              </a:defRPr>
            </a:lvl1pPr>
            <a:lvl2pPr marL="742950" indent="-285750" eaLnBrk="0" hangingPunct="0">
              <a:defRPr kumimoji="1" sz="2400" b="1">
                <a:solidFill>
                  <a:schemeClr val="tx1"/>
                </a:solidFill>
                <a:latin typeface="黑体" panose="02010609060101010101" pitchFamily="49" charset="-122"/>
                <a:ea typeface="黑体" panose="02010609060101010101" pitchFamily="49" charset="-122"/>
              </a:defRPr>
            </a:lvl2pPr>
            <a:lvl3pPr marL="1143000" indent="-228600" eaLnBrk="0" hangingPunct="0">
              <a:defRPr kumimoji="1" sz="2400" b="1">
                <a:solidFill>
                  <a:schemeClr val="tx1"/>
                </a:solidFill>
                <a:latin typeface="黑体" panose="02010609060101010101" pitchFamily="49" charset="-122"/>
                <a:ea typeface="黑体" panose="02010609060101010101" pitchFamily="49" charset="-122"/>
              </a:defRPr>
            </a:lvl3pPr>
            <a:lvl4pPr marL="1600200" indent="-228600" eaLnBrk="0" hangingPunct="0">
              <a:defRPr kumimoji="1" sz="2400" b="1">
                <a:solidFill>
                  <a:schemeClr val="tx1"/>
                </a:solidFill>
                <a:latin typeface="黑体" panose="02010609060101010101" pitchFamily="49" charset="-122"/>
                <a:ea typeface="黑体" panose="02010609060101010101" pitchFamily="49" charset="-122"/>
              </a:defRPr>
            </a:lvl4pPr>
            <a:lvl5pPr marL="2057400" indent="-228600" eaLnBrk="0" hangingPunct="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pPr eaLnBrk="1" hangingPunct="1">
              <a:spcBef>
                <a:spcPct val="0"/>
              </a:spcBef>
            </a:pPr>
            <a:r>
              <a:rPr lang="zh-CN" altLang="en-US" sz="1845" dirty="0"/>
              <a:t>初估最小轴径</a:t>
            </a:r>
            <a:r>
              <a:rPr lang="en-US" altLang="zh-CN" sz="1845" i="1" dirty="0" err="1"/>
              <a:t>d</a:t>
            </a:r>
            <a:r>
              <a:rPr lang="en-US" altLang="zh-CN" sz="1845" i="1" baseline="-25000" dirty="0" err="1"/>
              <a:t>min</a:t>
            </a:r>
            <a:r>
              <a:rPr lang="en-US" altLang="zh-CN" sz="1845" dirty="0"/>
              <a:t> =28mm</a:t>
            </a:r>
            <a:endParaRPr lang="en-US" altLang="zh-CN" sz="1845" dirty="0"/>
          </a:p>
        </p:txBody>
      </p:sp>
      <p:sp>
        <p:nvSpPr>
          <p:cNvPr id="188421" name="Rectangle 5"/>
          <p:cNvSpPr>
            <a:spLocks noChangeArrowheads="1"/>
          </p:cNvSpPr>
          <p:nvPr/>
        </p:nvSpPr>
        <p:spPr bwMode="auto">
          <a:xfrm>
            <a:off x="5169877" y="1633905"/>
            <a:ext cx="3980577" cy="3763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黑体" panose="02010609060101010101" pitchFamily="49" charset="-122"/>
                <a:ea typeface="黑体" panose="02010609060101010101" pitchFamily="49" charset="-122"/>
              </a:defRPr>
            </a:lvl1pPr>
            <a:lvl2pPr marL="742950" indent="-285750" eaLnBrk="0" hangingPunct="0">
              <a:defRPr kumimoji="1" sz="2400" b="1">
                <a:solidFill>
                  <a:schemeClr val="tx1"/>
                </a:solidFill>
                <a:latin typeface="黑体" panose="02010609060101010101" pitchFamily="49" charset="-122"/>
                <a:ea typeface="黑体" panose="02010609060101010101" pitchFamily="49" charset="-122"/>
              </a:defRPr>
            </a:lvl2pPr>
            <a:lvl3pPr marL="1143000" indent="-228600" eaLnBrk="0" hangingPunct="0">
              <a:defRPr kumimoji="1" sz="2400" b="1">
                <a:solidFill>
                  <a:schemeClr val="tx1"/>
                </a:solidFill>
                <a:latin typeface="黑体" panose="02010609060101010101" pitchFamily="49" charset="-122"/>
                <a:ea typeface="黑体" panose="02010609060101010101" pitchFamily="49" charset="-122"/>
              </a:defRPr>
            </a:lvl3pPr>
            <a:lvl4pPr marL="1600200" indent="-228600" eaLnBrk="0" hangingPunct="0">
              <a:defRPr kumimoji="1" sz="2400" b="1">
                <a:solidFill>
                  <a:schemeClr val="tx1"/>
                </a:solidFill>
                <a:latin typeface="黑体" panose="02010609060101010101" pitchFamily="49" charset="-122"/>
                <a:ea typeface="黑体" panose="02010609060101010101" pitchFamily="49" charset="-122"/>
              </a:defRPr>
            </a:lvl4pPr>
            <a:lvl5pPr marL="2057400" indent="-228600" eaLnBrk="0" hangingPunct="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pPr eaLnBrk="1" hangingPunct="1">
              <a:spcBef>
                <a:spcPct val="0"/>
              </a:spcBef>
            </a:pPr>
            <a:r>
              <a:rPr lang="zh-CN" altLang="en-US" sz="1845" dirty="0"/>
              <a:t>零件的轴向定位与固定确定各段直径</a:t>
            </a:r>
            <a:endParaRPr lang="zh-CN" altLang="en-US" sz="1845" dirty="0"/>
          </a:p>
        </p:txBody>
      </p:sp>
      <p:sp>
        <p:nvSpPr>
          <p:cNvPr id="188423" name="Rectangle 7"/>
          <p:cNvSpPr>
            <a:spLocks noChangeArrowheads="1"/>
          </p:cNvSpPr>
          <p:nvPr/>
        </p:nvSpPr>
        <p:spPr bwMode="auto">
          <a:xfrm>
            <a:off x="5296467" y="2082124"/>
            <a:ext cx="1845377" cy="3763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黑体" panose="02010609060101010101" pitchFamily="49" charset="-122"/>
                <a:ea typeface="黑体" panose="02010609060101010101" pitchFamily="49" charset="-122"/>
              </a:defRPr>
            </a:lvl1pPr>
            <a:lvl2pPr marL="742950" indent="-285750" eaLnBrk="0" hangingPunct="0">
              <a:defRPr kumimoji="1" sz="2400" b="1">
                <a:solidFill>
                  <a:schemeClr val="tx1"/>
                </a:solidFill>
                <a:latin typeface="黑体" panose="02010609060101010101" pitchFamily="49" charset="-122"/>
                <a:ea typeface="黑体" panose="02010609060101010101" pitchFamily="49" charset="-122"/>
              </a:defRPr>
            </a:lvl2pPr>
            <a:lvl3pPr marL="1143000" indent="-228600" eaLnBrk="0" hangingPunct="0">
              <a:defRPr kumimoji="1" sz="2400" b="1">
                <a:solidFill>
                  <a:schemeClr val="tx1"/>
                </a:solidFill>
                <a:latin typeface="黑体" panose="02010609060101010101" pitchFamily="49" charset="-122"/>
                <a:ea typeface="黑体" panose="02010609060101010101" pitchFamily="49" charset="-122"/>
              </a:defRPr>
            </a:lvl3pPr>
            <a:lvl4pPr marL="1600200" indent="-228600" eaLnBrk="0" hangingPunct="0">
              <a:defRPr kumimoji="1" sz="2400" b="1">
                <a:solidFill>
                  <a:schemeClr val="tx1"/>
                </a:solidFill>
                <a:latin typeface="黑体" panose="02010609060101010101" pitchFamily="49" charset="-122"/>
                <a:ea typeface="黑体" panose="02010609060101010101" pitchFamily="49" charset="-122"/>
              </a:defRPr>
            </a:lvl4pPr>
            <a:lvl5pPr marL="2057400" indent="-228600" eaLnBrk="0" hangingPunct="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pPr eaLnBrk="1" hangingPunct="1">
              <a:spcBef>
                <a:spcPct val="0"/>
              </a:spcBef>
            </a:pPr>
            <a:r>
              <a:rPr lang="zh-CN" altLang="en-US" sz="1845" dirty="0"/>
              <a:t>零件的周向固定</a:t>
            </a:r>
            <a:endParaRPr lang="zh-CN" altLang="en-US" sz="1845" dirty="0"/>
          </a:p>
        </p:txBody>
      </p:sp>
      <p:sp>
        <p:nvSpPr>
          <p:cNvPr id="188424" name="Rectangle 8"/>
          <p:cNvSpPr>
            <a:spLocks noChangeArrowheads="1"/>
          </p:cNvSpPr>
          <p:nvPr/>
        </p:nvSpPr>
        <p:spPr bwMode="auto">
          <a:xfrm>
            <a:off x="5303693" y="2489660"/>
            <a:ext cx="2319866" cy="3763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黑体" panose="02010609060101010101" pitchFamily="49" charset="-122"/>
                <a:ea typeface="黑体" panose="02010609060101010101" pitchFamily="49" charset="-122"/>
              </a:defRPr>
            </a:lvl1pPr>
            <a:lvl2pPr marL="742950" indent="-285750" eaLnBrk="0" hangingPunct="0">
              <a:defRPr kumimoji="1" sz="2400" b="1">
                <a:solidFill>
                  <a:schemeClr val="tx1"/>
                </a:solidFill>
                <a:latin typeface="黑体" panose="02010609060101010101" pitchFamily="49" charset="-122"/>
                <a:ea typeface="黑体" panose="02010609060101010101" pitchFamily="49" charset="-122"/>
              </a:defRPr>
            </a:lvl2pPr>
            <a:lvl3pPr marL="1143000" indent="-228600" eaLnBrk="0" hangingPunct="0">
              <a:defRPr kumimoji="1" sz="2400" b="1">
                <a:solidFill>
                  <a:schemeClr val="tx1"/>
                </a:solidFill>
                <a:latin typeface="黑体" panose="02010609060101010101" pitchFamily="49" charset="-122"/>
                <a:ea typeface="黑体" panose="02010609060101010101" pitchFamily="49" charset="-122"/>
              </a:defRPr>
            </a:lvl3pPr>
            <a:lvl4pPr marL="1600200" indent="-228600" eaLnBrk="0" hangingPunct="0">
              <a:defRPr kumimoji="1" sz="2400" b="1">
                <a:solidFill>
                  <a:schemeClr val="tx1"/>
                </a:solidFill>
                <a:latin typeface="黑体" panose="02010609060101010101" pitchFamily="49" charset="-122"/>
                <a:ea typeface="黑体" panose="02010609060101010101" pitchFamily="49" charset="-122"/>
              </a:defRPr>
            </a:lvl4pPr>
            <a:lvl5pPr marL="2057400" indent="-228600" eaLnBrk="0" hangingPunct="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pPr eaLnBrk="1" hangingPunct="1">
              <a:spcBef>
                <a:spcPct val="0"/>
              </a:spcBef>
            </a:pPr>
            <a:r>
              <a:rPr lang="zh-CN" altLang="en-US" sz="1845" dirty="0"/>
              <a:t>键槽、过定位、密封</a:t>
            </a:r>
            <a:endParaRPr lang="zh-CN" altLang="en-US" sz="1845" dirty="0"/>
          </a:p>
        </p:txBody>
      </p:sp>
      <p:sp>
        <p:nvSpPr>
          <p:cNvPr id="188630" name="AutoShape 214">
            <a:hlinkClick r:id="rId1" action="ppaction://hlinkfile" highlightClick="1"/>
          </p:cNvPr>
          <p:cNvSpPr>
            <a:spLocks noChangeArrowheads="1"/>
          </p:cNvSpPr>
          <p:nvPr/>
        </p:nvSpPr>
        <p:spPr bwMode="auto">
          <a:xfrm>
            <a:off x="8305800" y="6220558"/>
            <a:ext cx="838200" cy="281354"/>
          </a:xfrm>
          <a:prstGeom prst="actionButtonBlank">
            <a:avLst/>
          </a:prstGeom>
          <a:solidFill>
            <a:srgbClr val="66FFFF">
              <a:alpha val="50195"/>
            </a:srgbClr>
          </a:solidFill>
          <a:ln w="9525">
            <a:solidFill>
              <a:schemeClr val="bg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黑体" panose="02010609060101010101" pitchFamily="49" charset="-122"/>
                <a:ea typeface="黑体" panose="02010609060101010101" pitchFamily="49" charset="-122"/>
              </a:defRPr>
            </a:lvl1pPr>
            <a:lvl2pPr marL="742950" indent="-285750" eaLnBrk="0" hangingPunct="0">
              <a:defRPr kumimoji="1" sz="2400" b="1">
                <a:solidFill>
                  <a:schemeClr val="tx1"/>
                </a:solidFill>
                <a:latin typeface="黑体" panose="02010609060101010101" pitchFamily="49" charset="-122"/>
                <a:ea typeface="黑体" panose="02010609060101010101" pitchFamily="49" charset="-122"/>
              </a:defRPr>
            </a:lvl2pPr>
            <a:lvl3pPr marL="1143000" indent="-228600" eaLnBrk="0" hangingPunct="0">
              <a:defRPr kumimoji="1" sz="2400" b="1">
                <a:solidFill>
                  <a:schemeClr val="tx1"/>
                </a:solidFill>
                <a:latin typeface="黑体" panose="02010609060101010101" pitchFamily="49" charset="-122"/>
                <a:ea typeface="黑体" panose="02010609060101010101" pitchFamily="49" charset="-122"/>
              </a:defRPr>
            </a:lvl3pPr>
            <a:lvl4pPr marL="1600200" indent="-228600" eaLnBrk="0" hangingPunct="0">
              <a:defRPr kumimoji="1" sz="2400" b="1">
                <a:solidFill>
                  <a:schemeClr val="tx1"/>
                </a:solidFill>
                <a:latin typeface="黑体" panose="02010609060101010101" pitchFamily="49" charset="-122"/>
                <a:ea typeface="黑体" panose="02010609060101010101" pitchFamily="49" charset="-122"/>
              </a:defRPr>
            </a:lvl4pPr>
            <a:lvl5pPr marL="2057400" indent="-228600" eaLnBrk="0" hangingPunct="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pPr eaLnBrk="1" hangingPunct="1"/>
            <a:endParaRPr lang="zh-CN" altLang="en-US" sz="2215"/>
          </a:p>
        </p:txBody>
      </p:sp>
      <p:sp>
        <p:nvSpPr>
          <p:cNvPr id="188631" name="Rectangle 215"/>
          <p:cNvSpPr>
            <a:spLocks noChangeArrowheads="1"/>
          </p:cNvSpPr>
          <p:nvPr/>
        </p:nvSpPr>
        <p:spPr bwMode="auto">
          <a:xfrm>
            <a:off x="8160728" y="6172200"/>
            <a:ext cx="755335" cy="433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黑体" panose="02010609060101010101" pitchFamily="49" charset="-122"/>
                <a:ea typeface="黑体" panose="02010609060101010101" pitchFamily="49" charset="-122"/>
              </a:defRPr>
            </a:lvl1pPr>
            <a:lvl2pPr marL="742950" indent="-285750" eaLnBrk="0" hangingPunct="0">
              <a:defRPr kumimoji="1" sz="2400" b="1">
                <a:solidFill>
                  <a:schemeClr val="tx1"/>
                </a:solidFill>
                <a:latin typeface="黑体" panose="02010609060101010101" pitchFamily="49" charset="-122"/>
                <a:ea typeface="黑体" panose="02010609060101010101" pitchFamily="49" charset="-122"/>
              </a:defRPr>
            </a:lvl2pPr>
            <a:lvl3pPr marL="1143000" indent="-228600" eaLnBrk="0" hangingPunct="0">
              <a:defRPr kumimoji="1" sz="2400" b="1">
                <a:solidFill>
                  <a:schemeClr val="tx1"/>
                </a:solidFill>
                <a:latin typeface="黑体" panose="02010609060101010101" pitchFamily="49" charset="-122"/>
                <a:ea typeface="黑体" panose="02010609060101010101" pitchFamily="49" charset="-122"/>
              </a:defRPr>
            </a:lvl3pPr>
            <a:lvl4pPr marL="1600200" indent="-228600" eaLnBrk="0" hangingPunct="0">
              <a:defRPr kumimoji="1" sz="2400" b="1">
                <a:solidFill>
                  <a:schemeClr val="tx1"/>
                </a:solidFill>
                <a:latin typeface="黑体" panose="02010609060101010101" pitchFamily="49" charset="-122"/>
                <a:ea typeface="黑体" panose="02010609060101010101" pitchFamily="49" charset="-122"/>
              </a:defRPr>
            </a:lvl4pPr>
            <a:lvl5pPr marL="2057400" indent="-228600" eaLnBrk="0" hangingPunct="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pPr eaLnBrk="1" hangingPunct="1">
              <a:spcBef>
                <a:spcPct val="0"/>
              </a:spcBef>
            </a:pPr>
            <a:r>
              <a:rPr lang="zh-CN" altLang="en-US" sz="2215" dirty="0">
                <a:latin typeface="Times New Roman" panose="02020603050405020304" pitchFamily="18" charset="0"/>
              </a:rPr>
              <a:t>举例</a:t>
            </a:r>
            <a:endParaRPr lang="zh-CN" altLang="en-US" sz="2215" dirty="0">
              <a:latin typeface="Times New Roman" panose="02020603050405020304" pitchFamily="18" charset="0"/>
            </a:endParaRPr>
          </a:p>
        </p:txBody>
      </p:sp>
      <p:sp>
        <p:nvSpPr>
          <p:cNvPr id="24585" name="Rectangle 216"/>
          <p:cNvSpPr>
            <a:spLocks noGrp="1" noChangeArrowheads="1"/>
          </p:cNvSpPr>
          <p:nvPr>
            <p:ph type="title"/>
          </p:nvPr>
        </p:nvSpPr>
        <p:spPr>
          <a:xfrm>
            <a:off x="460390" y="338350"/>
            <a:ext cx="5904034" cy="663819"/>
          </a:xfrm>
        </p:spPr>
        <p:txBody>
          <a:bodyPr/>
          <a:lstStyle/>
          <a:p>
            <a:pPr algn="l" eaLnBrk="1" hangingPunct="1"/>
            <a:r>
              <a:rPr lang="zh-CN" altLang="en-US" sz="2200" dirty="0" smtClean="0">
                <a:solidFill>
                  <a:srgbClr val="C00000"/>
                </a:solidFill>
                <a:latin typeface="黑体" panose="02010609060101010101" pitchFamily="49" charset="-122"/>
                <a:ea typeface="黑体" panose="02010609060101010101" pitchFamily="49" charset="-122"/>
              </a:rPr>
              <a:t>六、轴</a:t>
            </a:r>
            <a:r>
              <a:rPr lang="zh-CN" altLang="en-US" sz="2200" dirty="0">
                <a:solidFill>
                  <a:srgbClr val="C00000"/>
                </a:solidFill>
                <a:latin typeface="黑体" panose="02010609060101010101" pitchFamily="49" charset="-122"/>
                <a:ea typeface="黑体" panose="02010609060101010101" pitchFamily="49" charset="-122"/>
              </a:rPr>
              <a:t>的结构设计举例</a:t>
            </a:r>
            <a:endParaRPr lang="zh-CN" altLang="en-US" sz="2200" dirty="0">
              <a:solidFill>
                <a:srgbClr val="C00000"/>
              </a:solidFill>
              <a:latin typeface="黑体" panose="02010609060101010101" pitchFamily="49" charset="-122"/>
              <a:ea typeface="黑体" panose="02010609060101010101" pitchFamily="49" charset="-122"/>
            </a:endParaRPr>
          </a:p>
        </p:txBody>
      </p:sp>
      <p:grpSp>
        <p:nvGrpSpPr>
          <p:cNvPr id="188633" name="Group 217"/>
          <p:cNvGrpSpPr/>
          <p:nvPr/>
        </p:nvGrpSpPr>
        <p:grpSpPr bwMode="auto">
          <a:xfrm>
            <a:off x="838200" y="3229708"/>
            <a:ext cx="8077200" cy="2203938"/>
            <a:chOff x="528" y="704"/>
            <a:chExt cx="5088" cy="1504"/>
          </a:xfrm>
        </p:grpSpPr>
        <p:sp>
          <p:nvSpPr>
            <p:cNvPr id="24743" name="Line 218"/>
            <p:cNvSpPr>
              <a:spLocks noChangeShapeType="1"/>
            </p:cNvSpPr>
            <p:nvPr/>
          </p:nvSpPr>
          <p:spPr bwMode="auto">
            <a:xfrm>
              <a:off x="4165" y="2050"/>
              <a:ext cx="975" cy="0"/>
            </a:xfrm>
            <a:prstGeom prst="line">
              <a:avLst/>
            </a:prstGeom>
            <a:noFill/>
            <a:ln w="38100">
              <a:solidFill>
                <a:srgbClr val="00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744" name="Line 219"/>
            <p:cNvSpPr>
              <a:spLocks noChangeShapeType="1"/>
            </p:cNvSpPr>
            <p:nvPr/>
          </p:nvSpPr>
          <p:spPr bwMode="auto">
            <a:xfrm>
              <a:off x="4165" y="1891"/>
              <a:ext cx="771" cy="0"/>
            </a:xfrm>
            <a:prstGeom prst="line">
              <a:avLst/>
            </a:prstGeom>
            <a:noFill/>
            <a:ln w="38100">
              <a:solidFill>
                <a:srgbClr val="00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745" name="Line 220"/>
            <p:cNvSpPr>
              <a:spLocks noChangeShapeType="1"/>
            </p:cNvSpPr>
            <p:nvPr/>
          </p:nvSpPr>
          <p:spPr bwMode="auto">
            <a:xfrm rot="5400000">
              <a:off x="4006" y="2050"/>
              <a:ext cx="317" cy="0"/>
            </a:xfrm>
            <a:prstGeom prst="line">
              <a:avLst/>
            </a:prstGeom>
            <a:noFill/>
            <a:ln w="38100">
              <a:solidFill>
                <a:srgbClr val="00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746" name="Line 221"/>
            <p:cNvSpPr>
              <a:spLocks noChangeShapeType="1"/>
            </p:cNvSpPr>
            <p:nvPr/>
          </p:nvSpPr>
          <p:spPr bwMode="auto">
            <a:xfrm>
              <a:off x="5140" y="1415"/>
              <a:ext cx="340" cy="0"/>
            </a:xfrm>
            <a:prstGeom prst="line">
              <a:avLst/>
            </a:prstGeom>
            <a:noFill/>
            <a:ln w="38100">
              <a:solidFill>
                <a:srgbClr val="00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747" name="Line 222"/>
            <p:cNvSpPr>
              <a:spLocks noChangeShapeType="1"/>
            </p:cNvSpPr>
            <p:nvPr/>
          </p:nvSpPr>
          <p:spPr bwMode="auto">
            <a:xfrm>
              <a:off x="4936" y="1732"/>
              <a:ext cx="204" cy="0"/>
            </a:xfrm>
            <a:prstGeom prst="line">
              <a:avLst/>
            </a:prstGeom>
            <a:noFill/>
            <a:ln w="38100">
              <a:solidFill>
                <a:srgbClr val="00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748" name="Line 223"/>
            <p:cNvSpPr>
              <a:spLocks noChangeShapeType="1"/>
            </p:cNvSpPr>
            <p:nvPr/>
          </p:nvSpPr>
          <p:spPr bwMode="auto">
            <a:xfrm>
              <a:off x="5140" y="1301"/>
              <a:ext cx="340" cy="0"/>
            </a:xfrm>
            <a:prstGeom prst="line">
              <a:avLst/>
            </a:prstGeom>
            <a:noFill/>
            <a:ln w="38100">
              <a:solidFill>
                <a:srgbClr val="00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749" name="Line 224"/>
            <p:cNvSpPr>
              <a:spLocks noChangeShapeType="1"/>
            </p:cNvSpPr>
            <p:nvPr/>
          </p:nvSpPr>
          <p:spPr bwMode="auto">
            <a:xfrm rot="5400000">
              <a:off x="4981" y="2050"/>
              <a:ext cx="317" cy="0"/>
            </a:xfrm>
            <a:prstGeom prst="line">
              <a:avLst/>
            </a:prstGeom>
            <a:noFill/>
            <a:ln w="38100">
              <a:solidFill>
                <a:srgbClr val="00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750" name="Line 225"/>
            <p:cNvSpPr>
              <a:spLocks noChangeShapeType="1"/>
            </p:cNvSpPr>
            <p:nvPr/>
          </p:nvSpPr>
          <p:spPr bwMode="auto">
            <a:xfrm>
              <a:off x="5140" y="1891"/>
              <a:ext cx="340" cy="0"/>
            </a:xfrm>
            <a:prstGeom prst="line">
              <a:avLst/>
            </a:prstGeom>
            <a:noFill/>
            <a:ln w="38100">
              <a:solidFill>
                <a:srgbClr val="00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751" name="Line 226"/>
            <p:cNvSpPr>
              <a:spLocks noChangeShapeType="1"/>
            </p:cNvSpPr>
            <p:nvPr/>
          </p:nvSpPr>
          <p:spPr bwMode="auto">
            <a:xfrm rot="5400000">
              <a:off x="4924" y="1517"/>
              <a:ext cx="431" cy="0"/>
            </a:xfrm>
            <a:prstGeom prst="line">
              <a:avLst/>
            </a:prstGeom>
            <a:noFill/>
            <a:ln w="38100">
              <a:solidFill>
                <a:srgbClr val="00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752" name="Line 227"/>
            <p:cNvSpPr>
              <a:spLocks noChangeShapeType="1"/>
            </p:cNvSpPr>
            <p:nvPr/>
          </p:nvSpPr>
          <p:spPr bwMode="auto">
            <a:xfrm rot="5400000">
              <a:off x="4856" y="1812"/>
              <a:ext cx="159" cy="0"/>
            </a:xfrm>
            <a:prstGeom prst="line">
              <a:avLst/>
            </a:prstGeom>
            <a:noFill/>
            <a:ln w="38100">
              <a:solidFill>
                <a:srgbClr val="00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753" name="Line 228"/>
            <p:cNvSpPr>
              <a:spLocks noChangeShapeType="1"/>
            </p:cNvSpPr>
            <p:nvPr/>
          </p:nvSpPr>
          <p:spPr bwMode="auto">
            <a:xfrm rot="5400000">
              <a:off x="5026" y="1755"/>
              <a:ext cx="907" cy="0"/>
            </a:xfrm>
            <a:prstGeom prst="line">
              <a:avLst/>
            </a:prstGeom>
            <a:noFill/>
            <a:ln w="38100">
              <a:solidFill>
                <a:srgbClr val="00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754" name="Line 229"/>
            <p:cNvSpPr>
              <a:spLocks noChangeShapeType="1"/>
            </p:cNvSpPr>
            <p:nvPr/>
          </p:nvSpPr>
          <p:spPr bwMode="auto">
            <a:xfrm>
              <a:off x="5140" y="1596"/>
              <a:ext cx="339" cy="0"/>
            </a:xfrm>
            <a:prstGeom prst="line">
              <a:avLst/>
            </a:prstGeom>
            <a:noFill/>
            <a:ln w="38100">
              <a:solidFill>
                <a:srgbClr val="00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755" name="Line 230"/>
            <p:cNvSpPr>
              <a:spLocks noChangeShapeType="1"/>
            </p:cNvSpPr>
            <p:nvPr/>
          </p:nvSpPr>
          <p:spPr bwMode="auto">
            <a:xfrm>
              <a:off x="5072" y="1505"/>
              <a:ext cx="544" cy="0"/>
            </a:xfrm>
            <a:prstGeom prst="line">
              <a:avLst/>
            </a:prstGeom>
            <a:noFill/>
            <a:ln w="19050">
              <a:solidFill>
                <a:srgbClr val="FF0000"/>
              </a:solidFill>
              <a:prstDash val="lg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756" name="Line 231"/>
            <p:cNvSpPr>
              <a:spLocks noChangeShapeType="1"/>
            </p:cNvSpPr>
            <p:nvPr/>
          </p:nvSpPr>
          <p:spPr bwMode="auto">
            <a:xfrm flipV="1">
              <a:off x="4209" y="1890"/>
              <a:ext cx="160" cy="160"/>
            </a:xfrm>
            <a:prstGeom prst="line">
              <a:avLst/>
            </a:prstGeom>
            <a:noFill/>
            <a:ln w="952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757" name="Line 232"/>
            <p:cNvSpPr>
              <a:spLocks noChangeShapeType="1"/>
            </p:cNvSpPr>
            <p:nvPr/>
          </p:nvSpPr>
          <p:spPr bwMode="auto">
            <a:xfrm flipV="1">
              <a:off x="4345" y="1891"/>
              <a:ext cx="160" cy="160"/>
            </a:xfrm>
            <a:prstGeom prst="line">
              <a:avLst/>
            </a:prstGeom>
            <a:noFill/>
            <a:ln w="952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758" name="Line 233"/>
            <p:cNvSpPr>
              <a:spLocks noChangeShapeType="1"/>
            </p:cNvSpPr>
            <p:nvPr/>
          </p:nvSpPr>
          <p:spPr bwMode="auto">
            <a:xfrm flipV="1">
              <a:off x="4277" y="1891"/>
              <a:ext cx="160" cy="160"/>
            </a:xfrm>
            <a:prstGeom prst="line">
              <a:avLst/>
            </a:prstGeom>
            <a:noFill/>
            <a:ln w="952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759" name="Line 234"/>
            <p:cNvSpPr>
              <a:spLocks noChangeShapeType="1"/>
            </p:cNvSpPr>
            <p:nvPr/>
          </p:nvSpPr>
          <p:spPr bwMode="auto">
            <a:xfrm flipV="1">
              <a:off x="4165" y="1891"/>
              <a:ext cx="137" cy="137"/>
            </a:xfrm>
            <a:prstGeom prst="line">
              <a:avLst/>
            </a:prstGeom>
            <a:noFill/>
            <a:ln w="952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760" name="Line 235"/>
            <p:cNvSpPr>
              <a:spLocks noChangeShapeType="1"/>
            </p:cNvSpPr>
            <p:nvPr/>
          </p:nvSpPr>
          <p:spPr bwMode="auto">
            <a:xfrm flipV="1">
              <a:off x="4165" y="1891"/>
              <a:ext cx="69" cy="69"/>
            </a:xfrm>
            <a:prstGeom prst="line">
              <a:avLst/>
            </a:prstGeom>
            <a:noFill/>
            <a:ln w="952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761" name="Line 236"/>
            <p:cNvSpPr>
              <a:spLocks noChangeShapeType="1"/>
            </p:cNvSpPr>
            <p:nvPr/>
          </p:nvSpPr>
          <p:spPr bwMode="auto">
            <a:xfrm flipV="1">
              <a:off x="4617" y="1891"/>
              <a:ext cx="160" cy="160"/>
            </a:xfrm>
            <a:prstGeom prst="line">
              <a:avLst/>
            </a:prstGeom>
            <a:noFill/>
            <a:ln w="952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762" name="Line 237"/>
            <p:cNvSpPr>
              <a:spLocks noChangeShapeType="1"/>
            </p:cNvSpPr>
            <p:nvPr/>
          </p:nvSpPr>
          <p:spPr bwMode="auto">
            <a:xfrm flipV="1">
              <a:off x="4549" y="1891"/>
              <a:ext cx="160" cy="160"/>
            </a:xfrm>
            <a:prstGeom prst="line">
              <a:avLst/>
            </a:prstGeom>
            <a:noFill/>
            <a:ln w="952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763" name="Line 238"/>
            <p:cNvSpPr>
              <a:spLocks noChangeShapeType="1"/>
            </p:cNvSpPr>
            <p:nvPr/>
          </p:nvSpPr>
          <p:spPr bwMode="auto">
            <a:xfrm flipV="1">
              <a:off x="4481" y="1891"/>
              <a:ext cx="160" cy="160"/>
            </a:xfrm>
            <a:prstGeom prst="line">
              <a:avLst/>
            </a:prstGeom>
            <a:noFill/>
            <a:ln w="952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764" name="Line 239"/>
            <p:cNvSpPr>
              <a:spLocks noChangeShapeType="1"/>
            </p:cNvSpPr>
            <p:nvPr/>
          </p:nvSpPr>
          <p:spPr bwMode="auto">
            <a:xfrm flipV="1">
              <a:off x="4413" y="1890"/>
              <a:ext cx="160" cy="160"/>
            </a:xfrm>
            <a:prstGeom prst="line">
              <a:avLst/>
            </a:prstGeom>
            <a:noFill/>
            <a:ln w="952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765" name="Line 240"/>
            <p:cNvSpPr>
              <a:spLocks noChangeShapeType="1"/>
            </p:cNvSpPr>
            <p:nvPr/>
          </p:nvSpPr>
          <p:spPr bwMode="auto">
            <a:xfrm flipV="1">
              <a:off x="4821" y="1596"/>
              <a:ext cx="455" cy="455"/>
            </a:xfrm>
            <a:prstGeom prst="line">
              <a:avLst/>
            </a:prstGeom>
            <a:noFill/>
            <a:ln w="952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766" name="Line 241"/>
            <p:cNvSpPr>
              <a:spLocks noChangeShapeType="1"/>
            </p:cNvSpPr>
            <p:nvPr/>
          </p:nvSpPr>
          <p:spPr bwMode="auto">
            <a:xfrm flipV="1">
              <a:off x="4753" y="1891"/>
              <a:ext cx="160" cy="160"/>
            </a:xfrm>
            <a:prstGeom prst="line">
              <a:avLst/>
            </a:prstGeom>
            <a:noFill/>
            <a:ln w="952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767" name="Line 242"/>
            <p:cNvSpPr>
              <a:spLocks noChangeShapeType="1"/>
            </p:cNvSpPr>
            <p:nvPr/>
          </p:nvSpPr>
          <p:spPr bwMode="auto">
            <a:xfrm flipV="1">
              <a:off x="4685" y="1890"/>
              <a:ext cx="160" cy="160"/>
            </a:xfrm>
            <a:prstGeom prst="line">
              <a:avLst/>
            </a:prstGeom>
            <a:noFill/>
            <a:ln w="952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768" name="Line 243"/>
            <p:cNvSpPr>
              <a:spLocks noChangeShapeType="1"/>
            </p:cNvSpPr>
            <p:nvPr/>
          </p:nvSpPr>
          <p:spPr bwMode="auto">
            <a:xfrm flipV="1">
              <a:off x="4934" y="1731"/>
              <a:ext cx="138" cy="138"/>
            </a:xfrm>
            <a:prstGeom prst="line">
              <a:avLst/>
            </a:prstGeom>
            <a:noFill/>
            <a:ln w="952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769" name="Line 244"/>
            <p:cNvSpPr>
              <a:spLocks noChangeShapeType="1"/>
            </p:cNvSpPr>
            <p:nvPr/>
          </p:nvSpPr>
          <p:spPr bwMode="auto">
            <a:xfrm flipV="1">
              <a:off x="4936" y="1730"/>
              <a:ext cx="70" cy="70"/>
            </a:xfrm>
            <a:prstGeom prst="line">
              <a:avLst/>
            </a:prstGeom>
            <a:noFill/>
            <a:ln w="952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770" name="Line 245"/>
            <p:cNvSpPr>
              <a:spLocks noChangeShapeType="1"/>
            </p:cNvSpPr>
            <p:nvPr/>
          </p:nvSpPr>
          <p:spPr bwMode="auto">
            <a:xfrm flipV="1">
              <a:off x="5140" y="1598"/>
              <a:ext cx="68" cy="68"/>
            </a:xfrm>
            <a:prstGeom prst="line">
              <a:avLst/>
            </a:prstGeom>
            <a:noFill/>
            <a:ln w="952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771" name="Line 246"/>
            <p:cNvSpPr>
              <a:spLocks noChangeShapeType="1"/>
            </p:cNvSpPr>
            <p:nvPr/>
          </p:nvSpPr>
          <p:spPr bwMode="auto">
            <a:xfrm flipV="1">
              <a:off x="5185" y="1596"/>
              <a:ext cx="295" cy="295"/>
            </a:xfrm>
            <a:prstGeom prst="line">
              <a:avLst/>
            </a:prstGeom>
            <a:noFill/>
            <a:ln w="952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772" name="Line 247"/>
            <p:cNvSpPr>
              <a:spLocks noChangeShapeType="1"/>
            </p:cNvSpPr>
            <p:nvPr/>
          </p:nvSpPr>
          <p:spPr bwMode="auto">
            <a:xfrm flipV="1">
              <a:off x="4957" y="1596"/>
              <a:ext cx="455" cy="455"/>
            </a:xfrm>
            <a:prstGeom prst="line">
              <a:avLst/>
            </a:prstGeom>
            <a:noFill/>
            <a:ln w="952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773" name="Line 248"/>
            <p:cNvSpPr>
              <a:spLocks noChangeShapeType="1"/>
            </p:cNvSpPr>
            <p:nvPr/>
          </p:nvSpPr>
          <p:spPr bwMode="auto">
            <a:xfrm flipV="1">
              <a:off x="4889" y="1595"/>
              <a:ext cx="455" cy="455"/>
            </a:xfrm>
            <a:prstGeom prst="line">
              <a:avLst/>
            </a:prstGeom>
            <a:noFill/>
            <a:ln w="952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774" name="Line 249"/>
            <p:cNvSpPr>
              <a:spLocks noChangeShapeType="1"/>
            </p:cNvSpPr>
            <p:nvPr/>
          </p:nvSpPr>
          <p:spPr bwMode="auto">
            <a:xfrm flipV="1">
              <a:off x="5026" y="1936"/>
              <a:ext cx="114" cy="114"/>
            </a:xfrm>
            <a:prstGeom prst="line">
              <a:avLst/>
            </a:prstGeom>
            <a:noFill/>
            <a:ln w="952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775" name="Line 250"/>
            <p:cNvSpPr>
              <a:spLocks noChangeShapeType="1"/>
            </p:cNvSpPr>
            <p:nvPr/>
          </p:nvSpPr>
          <p:spPr bwMode="auto">
            <a:xfrm flipV="1">
              <a:off x="5094" y="2004"/>
              <a:ext cx="46" cy="46"/>
            </a:xfrm>
            <a:prstGeom prst="line">
              <a:avLst/>
            </a:prstGeom>
            <a:noFill/>
            <a:ln w="952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776" name="Line 251"/>
            <p:cNvSpPr>
              <a:spLocks noChangeShapeType="1"/>
            </p:cNvSpPr>
            <p:nvPr/>
          </p:nvSpPr>
          <p:spPr bwMode="auto">
            <a:xfrm flipV="1">
              <a:off x="5321" y="1732"/>
              <a:ext cx="159" cy="159"/>
            </a:xfrm>
            <a:prstGeom prst="line">
              <a:avLst/>
            </a:prstGeom>
            <a:noFill/>
            <a:ln w="952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777" name="Line 252"/>
            <p:cNvSpPr>
              <a:spLocks noChangeShapeType="1"/>
            </p:cNvSpPr>
            <p:nvPr/>
          </p:nvSpPr>
          <p:spPr bwMode="auto">
            <a:xfrm flipV="1">
              <a:off x="5253" y="1664"/>
              <a:ext cx="227" cy="227"/>
            </a:xfrm>
            <a:prstGeom prst="line">
              <a:avLst/>
            </a:prstGeom>
            <a:noFill/>
            <a:ln w="952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778" name="Line 253"/>
            <p:cNvSpPr>
              <a:spLocks noChangeShapeType="1"/>
            </p:cNvSpPr>
            <p:nvPr/>
          </p:nvSpPr>
          <p:spPr bwMode="auto">
            <a:xfrm flipV="1">
              <a:off x="5389" y="1800"/>
              <a:ext cx="91" cy="91"/>
            </a:xfrm>
            <a:prstGeom prst="line">
              <a:avLst/>
            </a:prstGeom>
            <a:noFill/>
            <a:ln w="952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779" name="Line 254"/>
            <p:cNvSpPr>
              <a:spLocks noChangeShapeType="1"/>
            </p:cNvSpPr>
            <p:nvPr/>
          </p:nvSpPr>
          <p:spPr bwMode="auto">
            <a:xfrm flipV="1">
              <a:off x="5321" y="1301"/>
              <a:ext cx="114" cy="114"/>
            </a:xfrm>
            <a:prstGeom prst="line">
              <a:avLst/>
            </a:prstGeom>
            <a:noFill/>
            <a:ln w="952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780" name="Line 255"/>
            <p:cNvSpPr>
              <a:spLocks noChangeShapeType="1"/>
            </p:cNvSpPr>
            <p:nvPr/>
          </p:nvSpPr>
          <p:spPr bwMode="auto">
            <a:xfrm flipV="1">
              <a:off x="5140" y="1301"/>
              <a:ext cx="91" cy="91"/>
            </a:xfrm>
            <a:prstGeom prst="line">
              <a:avLst/>
            </a:prstGeom>
            <a:noFill/>
            <a:ln w="952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781" name="Line 256"/>
            <p:cNvSpPr>
              <a:spLocks noChangeShapeType="1"/>
            </p:cNvSpPr>
            <p:nvPr/>
          </p:nvSpPr>
          <p:spPr bwMode="auto">
            <a:xfrm flipV="1">
              <a:off x="5185" y="1301"/>
              <a:ext cx="114" cy="114"/>
            </a:xfrm>
            <a:prstGeom prst="line">
              <a:avLst/>
            </a:prstGeom>
            <a:noFill/>
            <a:ln w="952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782" name="Line 257"/>
            <p:cNvSpPr>
              <a:spLocks noChangeShapeType="1"/>
            </p:cNvSpPr>
            <p:nvPr/>
          </p:nvSpPr>
          <p:spPr bwMode="auto">
            <a:xfrm flipV="1">
              <a:off x="5253" y="1301"/>
              <a:ext cx="114" cy="114"/>
            </a:xfrm>
            <a:prstGeom prst="line">
              <a:avLst/>
            </a:prstGeom>
            <a:noFill/>
            <a:ln w="952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783" name="Line 258"/>
            <p:cNvSpPr>
              <a:spLocks noChangeShapeType="1"/>
            </p:cNvSpPr>
            <p:nvPr/>
          </p:nvSpPr>
          <p:spPr bwMode="auto">
            <a:xfrm flipV="1">
              <a:off x="5389" y="1324"/>
              <a:ext cx="91" cy="91"/>
            </a:xfrm>
            <a:prstGeom prst="line">
              <a:avLst/>
            </a:prstGeom>
            <a:noFill/>
            <a:ln w="952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784" name="Line 259"/>
            <p:cNvSpPr>
              <a:spLocks noChangeShapeType="1"/>
            </p:cNvSpPr>
            <p:nvPr/>
          </p:nvSpPr>
          <p:spPr bwMode="auto">
            <a:xfrm rot="5400000">
              <a:off x="483" y="1452"/>
              <a:ext cx="1496" cy="0"/>
            </a:xfrm>
            <a:prstGeom prst="line">
              <a:avLst/>
            </a:prstGeom>
            <a:noFill/>
            <a:ln w="25400">
              <a:solidFill>
                <a:srgbClr val="800080"/>
              </a:solidFill>
              <a:prstDash val="lgDashDot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785" name="Line 260"/>
            <p:cNvSpPr>
              <a:spLocks noChangeShapeType="1"/>
            </p:cNvSpPr>
            <p:nvPr/>
          </p:nvSpPr>
          <p:spPr bwMode="auto">
            <a:xfrm>
              <a:off x="528" y="1520"/>
              <a:ext cx="703" cy="0"/>
            </a:xfrm>
            <a:prstGeom prst="line">
              <a:avLst/>
            </a:prstGeom>
            <a:noFill/>
            <a:ln w="25400">
              <a:solidFill>
                <a:srgbClr val="80008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786" name="Line 261"/>
            <p:cNvSpPr>
              <a:spLocks noChangeShapeType="1"/>
            </p:cNvSpPr>
            <p:nvPr/>
          </p:nvSpPr>
          <p:spPr bwMode="auto">
            <a:xfrm rot="5400000">
              <a:off x="-16" y="1656"/>
              <a:ext cx="1088" cy="0"/>
            </a:xfrm>
            <a:prstGeom prst="line">
              <a:avLst/>
            </a:prstGeom>
            <a:noFill/>
            <a:ln w="25400">
              <a:solidFill>
                <a:srgbClr val="800080"/>
              </a:solidFill>
              <a:prstDash val="lgDashDot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787" name="Line 262"/>
            <p:cNvSpPr>
              <a:spLocks noChangeShapeType="1"/>
            </p:cNvSpPr>
            <p:nvPr/>
          </p:nvSpPr>
          <p:spPr bwMode="auto">
            <a:xfrm rot="5400000">
              <a:off x="415" y="908"/>
              <a:ext cx="408" cy="0"/>
            </a:xfrm>
            <a:prstGeom prst="line">
              <a:avLst/>
            </a:prstGeom>
            <a:noFill/>
            <a:ln w="25400">
              <a:solidFill>
                <a:srgbClr val="800080"/>
              </a:solidFill>
              <a:prstDash val="lgDashDot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788" name="Line 263"/>
            <p:cNvSpPr>
              <a:spLocks noChangeShapeType="1"/>
            </p:cNvSpPr>
            <p:nvPr/>
          </p:nvSpPr>
          <p:spPr bwMode="auto">
            <a:xfrm>
              <a:off x="528" y="1112"/>
              <a:ext cx="91" cy="0"/>
            </a:xfrm>
            <a:prstGeom prst="line">
              <a:avLst/>
            </a:prstGeom>
            <a:noFill/>
            <a:ln w="25400">
              <a:solidFill>
                <a:srgbClr val="80008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789" name="Line 264"/>
            <p:cNvSpPr>
              <a:spLocks noChangeShapeType="1"/>
            </p:cNvSpPr>
            <p:nvPr/>
          </p:nvSpPr>
          <p:spPr bwMode="auto">
            <a:xfrm flipH="1">
              <a:off x="2993" y="1528"/>
              <a:ext cx="703" cy="0"/>
            </a:xfrm>
            <a:prstGeom prst="line">
              <a:avLst/>
            </a:prstGeom>
            <a:noFill/>
            <a:ln w="25400">
              <a:solidFill>
                <a:srgbClr val="80008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790" name="Line 265"/>
            <p:cNvSpPr>
              <a:spLocks noChangeShapeType="1"/>
            </p:cNvSpPr>
            <p:nvPr/>
          </p:nvSpPr>
          <p:spPr bwMode="auto">
            <a:xfrm rot="16200000" flipH="1">
              <a:off x="2217" y="1452"/>
              <a:ext cx="1496" cy="0"/>
            </a:xfrm>
            <a:prstGeom prst="line">
              <a:avLst/>
            </a:prstGeom>
            <a:noFill/>
            <a:ln w="25400">
              <a:solidFill>
                <a:srgbClr val="800080"/>
              </a:solidFill>
              <a:prstDash val="lgDashDot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791" name="Line 266"/>
            <p:cNvSpPr>
              <a:spLocks noChangeShapeType="1"/>
            </p:cNvSpPr>
            <p:nvPr/>
          </p:nvSpPr>
          <p:spPr bwMode="auto">
            <a:xfrm rot="16200000" flipH="1">
              <a:off x="3152" y="1656"/>
              <a:ext cx="1088" cy="0"/>
            </a:xfrm>
            <a:prstGeom prst="line">
              <a:avLst/>
            </a:prstGeom>
            <a:noFill/>
            <a:ln w="25400">
              <a:solidFill>
                <a:srgbClr val="800080"/>
              </a:solidFill>
              <a:prstDash val="lgDashDot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792" name="Line 267"/>
            <p:cNvSpPr>
              <a:spLocks noChangeShapeType="1"/>
            </p:cNvSpPr>
            <p:nvPr/>
          </p:nvSpPr>
          <p:spPr bwMode="auto">
            <a:xfrm rot="16200000" flipH="1">
              <a:off x="3401" y="908"/>
              <a:ext cx="408" cy="0"/>
            </a:xfrm>
            <a:prstGeom prst="line">
              <a:avLst/>
            </a:prstGeom>
            <a:noFill/>
            <a:ln w="25400">
              <a:solidFill>
                <a:srgbClr val="800080"/>
              </a:solidFill>
              <a:prstDash val="lgDashDot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793" name="Line 268"/>
            <p:cNvSpPr>
              <a:spLocks noChangeShapeType="1"/>
            </p:cNvSpPr>
            <p:nvPr/>
          </p:nvSpPr>
          <p:spPr bwMode="auto">
            <a:xfrm flipH="1">
              <a:off x="3605" y="1120"/>
              <a:ext cx="91" cy="0"/>
            </a:xfrm>
            <a:prstGeom prst="line">
              <a:avLst/>
            </a:prstGeom>
            <a:noFill/>
            <a:ln w="25400">
              <a:solidFill>
                <a:srgbClr val="80008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grpSp>
          <p:nvGrpSpPr>
            <p:cNvPr id="24794" name="Group 269"/>
            <p:cNvGrpSpPr/>
            <p:nvPr/>
          </p:nvGrpSpPr>
          <p:grpSpPr bwMode="auto">
            <a:xfrm>
              <a:off x="1824" y="938"/>
              <a:ext cx="918" cy="1270"/>
              <a:chOff x="1429" y="1098"/>
              <a:chExt cx="1361" cy="1270"/>
            </a:xfrm>
          </p:grpSpPr>
          <p:sp>
            <p:nvSpPr>
              <p:cNvPr id="24795" name="Line 270"/>
              <p:cNvSpPr>
                <a:spLocks noChangeShapeType="1"/>
              </p:cNvSpPr>
              <p:nvPr/>
            </p:nvSpPr>
            <p:spPr bwMode="auto">
              <a:xfrm>
                <a:off x="1520" y="2032"/>
                <a:ext cx="1179" cy="0"/>
              </a:xfrm>
              <a:prstGeom prst="line">
                <a:avLst/>
              </a:prstGeom>
              <a:noFill/>
              <a:ln w="38100">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796" name="Line 271"/>
              <p:cNvSpPr>
                <a:spLocks noChangeShapeType="1"/>
              </p:cNvSpPr>
              <p:nvPr/>
            </p:nvSpPr>
            <p:spPr bwMode="auto">
              <a:xfrm rot="5400000">
                <a:off x="885" y="1733"/>
                <a:ext cx="1270" cy="0"/>
              </a:xfrm>
              <a:prstGeom prst="line">
                <a:avLst/>
              </a:prstGeom>
              <a:noFill/>
              <a:ln w="38100">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797" name="Line 272"/>
              <p:cNvSpPr>
                <a:spLocks noChangeShapeType="1"/>
              </p:cNvSpPr>
              <p:nvPr/>
            </p:nvSpPr>
            <p:spPr bwMode="auto">
              <a:xfrm rot="5400000">
                <a:off x="2064" y="1733"/>
                <a:ext cx="1270" cy="0"/>
              </a:xfrm>
              <a:prstGeom prst="line">
                <a:avLst/>
              </a:prstGeom>
              <a:noFill/>
              <a:ln w="38100">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798" name="Line 273"/>
              <p:cNvSpPr>
                <a:spLocks noChangeShapeType="1"/>
              </p:cNvSpPr>
              <p:nvPr/>
            </p:nvSpPr>
            <p:spPr bwMode="auto">
              <a:xfrm>
                <a:off x="1520" y="1098"/>
                <a:ext cx="1179" cy="0"/>
              </a:xfrm>
              <a:prstGeom prst="line">
                <a:avLst/>
              </a:prstGeom>
              <a:noFill/>
              <a:ln w="38100">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799" name="Line 274"/>
              <p:cNvSpPr>
                <a:spLocks noChangeShapeType="1"/>
              </p:cNvSpPr>
              <p:nvPr/>
            </p:nvSpPr>
            <p:spPr bwMode="auto">
              <a:xfrm>
                <a:off x="1429" y="1144"/>
                <a:ext cx="1361" cy="0"/>
              </a:xfrm>
              <a:prstGeom prst="line">
                <a:avLst/>
              </a:prstGeom>
              <a:noFill/>
              <a:ln w="19050">
                <a:solidFill>
                  <a:srgbClr val="FF0000"/>
                </a:solidFill>
                <a:prstDash val="lg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800" name="Line 275"/>
              <p:cNvSpPr>
                <a:spLocks noChangeShapeType="1"/>
              </p:cNvSpPr>
              <p:nvPr/>
            </p:nvSpPr>
            <p:spPr bwMode="auto">
              <a:xfrm flipV="1">
                <a:off x="1520" y="1121"/>
                <a:ext cx="1179" cy="408"/>
              </a:xfrm>
              <a:prstGeom prst="line">
                <a:avLst/>
              </a:prstGeom>
              <a:noFill/>
              <a:ln w="12700">
                <a:solidFill>
                  <a:srgbClr val="008000"/>
                </a:solidFill>
                <a:prstDash val="solid"/>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801" name="Line 276"/>
              <p:cNvSpPr>
                <a:spLocks noChangeShapeType="1"/>
              </p:cNvSpPr>
              <p:nvPr/>
            </p:nvSpPr>
            <p:spPr bwMode="auto">
              <a:xfrm flipV="1">
                <a:off x="1520" y="1303"/>
                <a:ext cx="1179" cy="408"/>
              </a:xfrm>
              <a:prstGeom prst="line">
                <a:avLst/>
              </a:prstGeom>
              <a:noFill/>
              <a:ln w="12700">
                <a:solidFill>
                  <a:srgbClr val="00B050"/>
                </a:solidFill>
                <a:prstDash val="solid"/>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802" name="Line 277"/>
              <p:cNvSpPr>
                <a:spLocks noChangeShapeType="1"/>
              </p:cNvSpPr>
              <p:nvPr/>
            </p:nvSpPr>
            <p:spPr bwMode="auto">
              <a:xfrm flipV="1">
                <a:off x="1520" y="1212"/>
                <a:ext cx="1179" cy="408"/>
              </a:xfrm>
              <a:prstGeom prst="line">
                <a:avLst/>
              </a:prstGeom>
              <a:noFill/>
              <a:ln w="12700">
                <a:solidFill>
                  <a:srgbClr val="008000"/>
                </a:solidFill>
                <a:prstDash val="solid"/>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803" name="Freeform 278"/>
              <p:cNvSpPr/>
              <p:nvPr/>
            </p:nvSpPr>
            <p:spPr bwMode="auto">
              <a:xfrm>
                <a:off x="1520" y="1643"/>
                <a:ext cx="1179" cy="120"/>
              </a:xfrm>
              <a:custGeom>
                <a:avLst/>
                <a:gdLst>
                  <a:gd name="T0" fmla="*/ 0 w 1179"/>
                  <a:gd name="T1" fmla="*/ 113 h 120"/>
                  <a:gd name="T2" fmla="*/ 136 w 1179"/>
                  <a:gd name="T3" fmla="*/ 68 h 120"/>
                  <a:gd name="T4" fmla="*/ 272 w 1179"/>
                  <a:gd name="T5" fmla="*/ 68 h 120"/>
                  <a:gd name="T6" fmla="*/ 408 w 1179"/>
                  <a:gd name="T7" fmla="*/ 113 h 120"/>
                  <a:gd name="T8" fmla="*/ 544 w 1179"/>
                  <a:gd name="T9" fmla="*/ 113 h 120"/>
                  <a:gd name="T10" fmla="*/ 703 w 1179"/>
                  <a:gd name="T11" fmla="*/ 68 h 120"/>
                  <a:gd name="T12" fmla="*/ 839 w 1179"/>
                  <a:gd name="T13" fmla="*/ 22 h 120"/>
                  <a:gd name="T14" fmla="*/ 997 w 1179"/>
                  <a:gd name="T15" fmla="*/ 0 h 120"/>
                  <a:gd name="T16" fmla="*/ 1111 w 1179"/>
                  <a:gd name="T17" fmla="*/ 22 h 120"/>
                  <a:gd name="T18" fmla="*/ 1179 w 1179"/>
                  <a:gd name="T19" fmla="*/ 45 h 1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79" h="120">
                    <a:moveTo>
                      <a:pt x="0" y="113"/>
                    </a:moveTo>
                    <a:cubicBezTo>
                      <a:pt x="45" y="94"/>
                      <a:pt x="91" y="75"/>
                      <a:pt x="136" y="68"/>
                    </a:cubicBezTo>
                    <a:cubicBezTo>
                      <a:pt x="181" y="61"/>
                      <a:pt x="227" y="61"/>
                      <a:pt x="272" y="68"/>
                    </a:cubicBezTo>
                    <a:cubicBezTo>
                      <a:pt x="317" y="75"/>
                      <a:pt x="363" y="106"/>
                      <a:pt x="408" y="113"/>
                    </a:cubicBezTo>
                    <a:cubicBezTo>
                      <a:pt x="453" y="120"/>
                      <a:pt x="495" y="120"/>
                      <a:pt x="544" y="113"/>
                    </a:cubicBezTo>
                    <a:cubicBezTo>
                      <a:pt x="593" y="106"/>
                      <a:pt x="654" y="83"/>
                      <a:pt x="703" y="68"/>
                    </a:cubicBezTo>
                    <a:cubicBezTo>
                      <a:pt x="752" y="53"/>
                      <a:pt x="790" y="33"/>
                      <a:pt x="839" y="22"/>
                    </a:cubicBezTo>
                    <a:cubicBezTo>
                      <a:pt x="888" y="11"/>
                      <a:pt x="952" y="0"/>
                      <a:pt x="997" y="0"/>
                    </a:cubicBezTo>
                    <a:cubicBezTo>
                      <a:pt x="1042" y="0"/>
                      <a:pt x="1081" y="15"/>
                      <a:pt x="1111" y="22"/>
                    </a:cubicBezTo>
                    <a:cubicBezTo>
                      <a:pt x="1141" y="29"/>
                      <a:pt x="1168" y="41"/>
                      <a:pt x="1179" y="45"/>
                    </a:cubicBezTo>
                  </a:path>
                </a:pathLst>
              </a:custGeom>
              <a:noFill/>
              <a:ln w="19050">
                <a:solidFill>
                  <a:srgbClr val="80008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804" name="Line 279"/>
              <p:cNvSpPr>
                <a:spLocks noChangeShapeType="1"/>
              </p:cNvSpPr>
              <p:nvPr/>
            </p:nvSpPr>
            <p:spPr bwMode="auto">
              <a:xfrm>
                <a:off x="1536" y="1888"/>
                <a:ext cx="144" cy="144"/>
              </a:xfrm>
              <a:prstGeom prst="line">
                <a:avLst/>
              </a:prstGeom>
              <a:noFill/>
              <a:ln w="952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805" name="Line 280"/>
              <p:cNvSpPr>
                <a:spLocks noChangeShapeType="1"/>
              </p:cNvSpPr>
              <p:nvPr/>
            </p:nvSpPr>
            <p:spPr bwMode="auto">
              <a:xfrm>
                <a:off x="1632" y="1696"/>
                <a:ext cx="336" cy="336"/>
              </a:xfrm>
              <a:prstGeom prst="line">
                <a:avLst/>
              </a:prstGeom>
              <a:noFill/>
              <a:ln w="952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806" name="Line 281"/>
              <p:cNvSpPr>
                <a:spLocks noChangeShapeType="1"/>
              </p:cNvSpPr>
              <p:nvPr/>
            </p:nvSpPr>
            <p:spPr bwMode="auto">
              <a:xfrm>
                <a:off x="1536" y="1733"/>
                <a:ext cx="288" cy="299"/>
              </a:xfrm>
              <a:prstGeom prst="line">
                <a:avLst/>
              </a:prstGeom>
              <a:noFill/>
              <a:ln w="952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807" name="Line 282"/>
              <p:cNvSpPr>
                <a:spLocks noChangeShapeType="1"/>
              </p:cNvSpPr>
              <p:nvPr/>
            </p:nvSpPr>
            <p:spPr bwMode="auto">
              <a:xfrm>
                <a:off x="1968" y="1744"/>
                <a:ext cx="288" cy="288"/>
              </a:xfrm>
              <a:prstGeom prst="line">
                <a:avLst/>
              </a:prstGeom>
              <a:noFill/>
              <a:ln w="952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808" name="Line 283"/>
              <p:cNvSpPr>
                <a:spLocks noChangeShapeType="1"/>
              </p:cNvSpPr>
              <p:nvPr/>
            </p:nvSpPr>
            <p:spPr bwMode="auto">
              <a:xfrm>
                <a:off x="1776" y="1710"/>
                <a:ext cx="336" cy="322"/>
              </a:xfrm>
              <a:prstGeom prst="line">
                <a:avLst/>
              </a:prstGeom>
              <a:noFill/>
              <a:ln w="952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809" name="Line 284"/>
              <p:cNvSpPr>
                <a:spLocks noChangeShapeType="1"/>
              </p:cNvSpPr>
              <p:nvPr/>
            </p:nvSpPr>
            <p:spPr bwMode="auto">
              <a:xfrm>
                <a:off x="2230" y="1718"/>
                <a:ext cx="314" cy="314"/>
              </a:xfrm>
              <a:prstGeom prst="line">
                <a:avLst/>
              </a:prstGeom>
              <a:noFill/>
              <a:ln w="952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810" name="Line 285"/>
              <p:cNvSpPr>
                <a:spLocks noChangeShapeType="1"/>
              </p:cNvSpPr>
              <p:nvPr/>
            </p:nvSpPr>
            <p:spPr bwMode="auto">
              <a:xfrm>
                <a:off x="2144" y="1762"/>
                <a:ext cx="256" cy="270"/>
              </a:xfrm>
              <a:prstGeom prst="line">
                <a:avLst/>
              </a:prstGeom>
              <a:noFill/>
              <a:ln w="952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811" name="Line 286"/>
              <p:cNvSpPr>
                <a:spLocks noChangeShapeType="1"/>
              </p:cNvSpPr>
              <p:nvPr/>
            </p:nvSpPr>
            <p:spPr bwMode="auto">
              <a:xfrm>
                <a:off x="2517" y="1643"/>
                <a:ext cx="181" cy="181"/>
              </a:xfrm>
              <a:prstGeom prst="line">
                <a:avLst/>
              </a:prstGeom>
              <a:noFill/>
              <a:ln w="952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812" name="Line 287"/>
              <p:cNvSpPr>
                <a:spLocks noChangeShapeType="1"/>
              </p:cNvSpPr>
              <p:nvPr/>
            </p:nvSpPr>
            <p:spPr bwMode="auto">
              <a:xfrm>
                <a:off x="2352" y="1696"/>
                <a:ext cx="336" cy="342"/>
              </a:xfrm>
              <a:prstGeom prst="line">
                <a:avLst/>
              </a:prstGeom>
              <a:noFill/>
              <a:ln w="952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813" name="Line 288"/>
              <p:cNvSpPr>
                <a:spLocks noChangeShapeType="1"/>
              </p:cNvSpPr>
              <p:nvPr/>
            </p:nvSpPr>
            <p:spPr bwMode="auto">
              <a:xfrm>
                <a:off x="2400" y="1648"/>
                <a:ext cx="288" cy="272"/>
              </a:xfrm>
              <a:prstGeom prst="line">
                <a:avLst/>
              </a:prstGeom>
              <a:noFill/>
              <a:ln w="952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grpSp>
      </p:grpSp>
      <p:grpSp>
        <p:nvGrpSpPr>
          <p:cNvPr id="188705" name="Group 289"/>
          <p:cNvGrpSpPr/>
          <p:nvPr/>
        </p:nvGrpSpPr>
        <p:grpSpPr bwMode="auto">
          <a:xfrm>
            <a:off x="5410200" y="3839308"/>
            <a:ext cx="918797" cy="1594338"/>
            <a:chOff x="3129" y="1185"/>
            <a:chExt cx="771" cy="1088"/>
          </a:xfrm>
        </p:grpSpPr>
        <p:grpSp>
          <p:nvGrpSpPr>
            <p:cNvPr id="24712" name="Group 290"/>
            <p:cNvGrpSpPr/>
            <p:nvPr/>
          </p:nvGrpSpPr>
          <p:grpSpPr bwMode="auto">
            <a:xfrm>
              <a:off x="3198" y="1185"/>
              <a:ext cx="612" cy="817"/>
              <a:chOff x="3198" y="1185"/>
              <a:chExt cx="612" cy="817"/>
            </a:xfrm>
          </p:grpSpPr>
          <p:sp>
            <p:nvSpPr>
              <p:cNvPr id="24724" name="Line 291"/>
              <p:cNvSpPr>
                <a:spLocks noChangeShapeType="1"/>
              </p:cNvSpPr>
              <p:nvPr/>
            </p:nvSpPr>
            <p:spPr bwMode="auto">
              <a:xfrm>
                <a:off x="3493" y="1208"/>
                <a:ext cx="317" cy="316"/>
              </a:xfrm>
              <a:prstGeom prst="line">
                <a:avLst/>
              </a:prstGeom>
              <a:noFill/>
              <a:ln w="9525">
                <a:solidFill>
                  <a:srgbClr val="008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725" name="Line 292"/>
              <p:cNvSpPr>
                <a:spLocks noChangeShapeType="1"/>
              </p:cNvSpPr>
              <p:nvPr/>
            </p:nvSpPr>
            <p:spPr bwMode="auto">
              <a:xfrm>
                <a:off x="3492" y="1344"/>
                <a:ext cx="318" cy="317"/>
              </a:xfrm>
              <a:prstGeom prst="line">
                <a:avLst/>
              </a:prstGeom>
              <a:noFill/>
              <a:ln w="9525">
                <a:solidFill>
                  <a:srgbClr val="008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726" name="Line 293"/>
              <p:cNvSpPr>
                <a:spLocks noChangeShapeType="1"/>
              </p:cNvSpPr>
              <p:nvPr/>
            </p:nvSpPr>
            <p:spPr bwMode="auto">
              <a:xfrm>
                <a:off x="3493" y="1276"/>
                <a:ext cx="317" cy="316"/>
              </a:xfrm>
              <a:prstGeom prst="line">
                <a:avLst/>
              </a:prstGeom>
              <a:noFill/>
              <a:ln w="9525">
                <a:solidFill>
                  <a:srgbClr val="008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727" name="Line 294"/>
              <p:cNvSpPr>
                <a:spLocks noChangeShapeType="1"/>
              </p:cNvSpPr>
              <p:nvPr/>
            </p:nvSpPr>
            <p:spPr bwMode="auto">
              <a:xfrm>
                <a:off x="3538" y="1186"/>
                <a:ext cx="272" cy="271"/>
              </a:xfrm>
              <a:prstGeom prst="line">
                <a:avLst/>
              </a:prstGeom>
              <a:noFill/>
              <a:ln w="9525">
                <a:solidFill>
                  <a:srgbClr val="008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728" name="Line 295"/>
              <p:cNvSpPr>
                <a:spLocks noChangeShapeType="1"/>
              </p:cNvSpPr>
              <p:nvPr/>
            </p:nvSpPr>
            <p:spPr bwMode="auto">
              <a:xfrm>
                <a:off x="3606" y="1185"/>
                <a:ext cx="204" cy="204"/>
              </a:xfrm>
              <a:prstGeom prst="line">
                <a:avLst/>
              </a:prstGeom>
              <a:noFill/>
              <a:ln w="9525">
                <a:solidFill>
                  <a:srgbClr val="008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729" name="Line 296"/>
              <p:cNvSpPr>
                <a:spLocks noChangeShapeType="1"/>
              </p:cNvSpPr>
              <p:nvPr/>
            </p:nvSpPr>
            <p:spPr bwMode="auto">
              <a:xfrm>
                <a:off x="3492" y="1412"/>
                <a:ext cx="318" cy="317"/>
              </a:xfrm>
              <a:prstGeom prst="line">
                <a:avLst/>
              </a:prstGeom>
              <a:noFill/>
              <a:ln w="9525">
                <a:solidFill>
                  <a:srgbClr val="008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730" name="Line 297"/>
              <p:cNvSpPr>
                <a:spLocks noChangeShapeType="1"/>
              </p:cNvSpPr>
              <p:nvPr/>
            </p:nvSpPr>
            <p:spPr bwMode="auto">
              <a:xfrm>
                <a:off x="3674" y="1186"/>
                <a:ext cx="136" cy="136"/>
              </a:xfrm>
              <a:prstGeom prst="line">
                <a:avLst/>
              </a:prstGeom>
              <a:noFill/>
              <a:ln w="9525">
                <a:solidFill>
                  <a:srgbClr val="008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731" name="Line 298"/>
              <p:cNvSpPr>
                <a:spLocks noChangeShapeType="1"/>
              </p:cNvSpPr>
              <p:nvPr/>
            </p:nvSpPr>
            <p:spPr bwMode="auto">
              <a:xfrm>
                <a:off x="3470" y="1594"/>
                <a:ext cx="340" cy="339"/>
              </a:xfrm>
              <a:prstGeom prst="line">
                <a:avLst/>
              </a:prstGeom>
              <a:noFill/>
              <a:ln w="9525">
                <a:solidFill>
                  <a:srgbClr val="008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732" name="Line 299"/>
              <p:cNvSpPr>
                <a:spLocks noChangeShapeType="1"/>
              </p:cNvSpPr>
              <p:nvPr/>
            </p:nvSpPr>
            <p:spPr bwMode="auto">
              <a:xfrm>
                <a:off x="3492" y="1548"/>
                <a:ext cx="318" cy="317"/>
              </a:xfrm>
              <a:prstGeom prst="line">
                <a:avLst/>
              </a:prstGeom>
              <a:noFill/>
              <a:ln w="9525">
                <a:solidFill>
                  <a:srgbClr val="008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733" name="Line 300"/>
              <p:cNvSpPr>
                <a:spLocks noChangeShapeType="1"/>
              </p:cNvSpPr>
              <p:nvPr/>
            </p:nvSpPr>
            <p:spPr bwMode="auto">
              <a:xfrm>
                <a:off x="3492" y="1480"/>
                <a:ext cx="318" cy="317"/>
              </a:xfrm>
              <a:prstGeom prst="line">
                <a:avLst/>
              </a:prstGeom>
              <a:noFill/>
              <a:ln w="9525">
                <a:solidFill>
                  <a:srgbClr val="008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734" name="Line 301"/>
              <p:cNvSpPr>
                <a:spLocks noChangeShapeType="1"/>
              </p:cNvSpPr>
              <p:nvPr/>
            </p:nvSpPr>
            <p:spPr bwMode="auto">
              <a:xfrm>
                <a:off x="3515" y="1706"/>
                <a:ext cx="295" cy="296"/>
              </a:xfrm>
              <a:prstGeom prst="line">
                <a:avLst/>
              </a:prstGeom>
              <a:noFill/>
              <a:ln w="9525">
                <a:solidFill>
                  <a:srgbClr val="008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735" name="Line 302"/>
              <p:cNvSpPr>
                <a:spLocks noChangeShapeType="1"/>
              </p:cNvSpPr>
              <p:nvPr/>
            </p:nvSpPr>
            <p:spPr bwMode="auto">
              <a:xfrm>
                <a:off x="3516" y="1777"/>
                <a:ext cx="226" cy="225"/>
              </a:xfrm>
              <a:prstGeom prst="line">
                <a:avLst/>
              </a:prstGeom>
              <a:noFill/>
              <a:ln w="9525">
                <a:solidFill>
                  <a:srgbClr val="008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736" name="Line 303"/>
              <p:cNvSpPr>
                <a:spLocks noChangeShapeType="1"/>
              </p:cNvSpPr>
              <p:nvPr/>
            </p:nvSpPr>
            <p:spPr bwMode="auto">
              <a:xfrm>
                <a:off x="3516" y="1845"/>
                <a:ext cx="158" cy="157"/>
              </a:xfrm>
              <a:prstGeom prst="line">
                <a:avLst/>
              </a:prstGeom>
              <a:noFill/>
              <a:ln w="9525">
                <a:solidFill>
                  <a:srgbClr val="008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737" name="Line 304"/>
              <p:cNvSpPr>
                <a:spLocks noChangeShapeType="1"/>
              </p:cNvSpPr>
              <p:nvPr/>
            </p:nvSpPr>
            <p:spPr bwMode="auto">
              <a:xfrm>
                <a:off x="3516" y="1913"/>
                <a:ext cx="90" cy="89"/>
              </a:xfrm>
              <a:prstGeom prst="line">
                <a:avLst/>
              </a:prstGeom>
              <a:noFill/>
              <a:ln w="9525">
                <a:solidFill>
                  <a:srgbClr val="008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738" name="Line 305"/>
              <p:cNvSpPr>
                <a:spLocks noChangeShapeType="1"/>
              </p:cNvSpPr>
              <p:nvPr/>
            </p:nvSpPr>
            <p:spPr bwMode="auto">
              <a:xfrm>
                <a:off x="3334" y="1595"/>
                <a:ext cx="90" cy="90"/>
              </a:xfrm>
              <a:prstGeom prst="line">
                <a:avLst/>
              </a:prstGeom>
              <a:noFill/>
              <a:ln w="9525">
                <a:solidFill>
                  <a:srgbClr val="008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739" name="Line 306"/>
              <p:cNvSpPr>
                <a:spLocks noChangeShapeType="1"/>
              </p:cNvSpPr>
              <p:nvPr/>
            </p:nvSpPr>
            <p:spPr bwMode="auto">
              <a:xfrm>
                <a:off x="3266" y="1594"/>
                <a:ext cx="90" cy="90"/>
              </a:xfrm>
              <a:prstGeom prst="line">
                <a:avLst/>
              </a:prstGeom>
              <a:noFill/>
              <a:ln w="9525">
                <a:solidFill>
                  <a:srgbClr val="008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740" name="Line 307"/>
              <p:cNvSpPr>
                <a:spLocks noChangeShapeType="1"/>
              </p:cNvSpPr>
              <p:nvPr/>
            </p:nvSpPr>
            <p:spPr bwMode="auto">
              <a:xfrm>
                <a:off x="3198" y="1594"/>
                <a:ext cx="90" cy="90"/>
              </a:xfrm>
              <a:prstGeom prst="line">
                <a:avLst/>
              </a:prstGeom>
              <a:noFill/>
              <a:ln w="9525">
                <a:solidFill>
                  <a:srgbClr val="008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741" name="Line 308"/>
              <p:cNvSpPr>
                <a:spLocks noChangeShapeType="1"/>
              </p:cNvSpPr>
              <p:nvPr/>
            </p:nvSpPr>
            <p:spPr bwMode="auto">
              <a:xfrm>
                <a:off x="3742" y="1185"/>
                <a:ext cx="68" cy="68"/>
              </a:xfrm>
              <a:prstGeom prst="line">
                <a:avLst/>
              </a:prstGeom>
              <a:noFill/>
              <a:ln w="9525">
                <a:solidFill>
                  <a:srgbClr val="008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742" name="Line 309"/>
              <p:cNvSpPr>
                <a:spLocks noChangeShapeType="1"/>
              </p:cNvSpPr>
              <p:nvPr/>
            </p:nvSpPr>
            <p:spPr bwMode="auto">
              <a:xfrm>
                <a:off x="3401" y="1593"/>
                <a:ext cx="91" cy="91"/>
              </a:xfrm>
              <a:prstGeom prst="line">
                <a:avLst/>
              </a:prstGeom>
              <a:noFill/>
              <a:ln w="9525">
                <a:solidFill>
                  <a:srgbClr val="008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grpSp>
        <p:grpSp>
          <p:nvGrpSpPr>
            <p:cNvPr id="24713" name="Group 310"/>
            <p:cNvGrpSpPr/>
            <p:nvPr/>
          </p:nvGrpSpPr>
          <p:grpSpPr bwMode="auto">
            <a:xfrm>
              <a:off x="3129" y="1186"/>
              <a:ext cx="771" cy="1087"/>
              <a:chOff x="3129" y="1186"/>
              <a:chExt cx="771" cy="1087"/>
            </a:xfrm>
          </p:grpSpPr>
          <p:sp>
            <p:nvSpPr>
              <p:cNvPr id="24715" name="Line 311"/>
              <p:cNvSpPr>
                <a:spLocks noChangeShapeType="1"/>
              </p:cNvSpPr>
              <p:nvPr/>
            </p:nvSpPr>
            <p:spPr bwMode="auto">
              <a:xfrm flipH="1">
                <a:off x="3810" y="1186"/>
                <a:ext cx="0" cy="1087"/>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716" name="Line 312"/>
              <p:cNvSpPr>
                <a:spLocks noChangeShapeType="1"/>
              </p:cNvSpPr>
              <p:nvPr/>
            </p:nvSpPr>
            <p:spPr bwMode="auto">
              <a:xfrm flipH="1">
                <a:off x="3493" y="1186"/>
                <a:ext cx="0" cy="408"/>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717" name="Line 313"/>
              <p:cNvSpPr>
                <a:spLocks noChangeShapeType="1"/>
              </p:cNvSpPr>
              <p:nvPr/>
            </p:nvSpPr>
            <p:spPr bwMode="auto">
              <a:xfrm flipH="1">
                <a:off x="3516" y="1685"/>
                <a:ext cx="0" cy="588"/>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718" name="Line 314"/>
              <p:cNvSpPr>
                <a:spLocks noChangeShapeType="1"/>
              </p:cNvSpPr>
              <p:nvPr/>
            </p:nvSpPr>
            <p:spPr bwMode="auto">
              <a:xfrm rot="5400000" flipH="1">
                <a:off x="3346" y="1446"/>
                <a:ext cx="0" cy="295"/>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719" name="Line 315"/>
              <p:cNvSpPr>
                <a:spLocks noChangeShapeType="1"/>
              </p:cNvSpPr>
              <p:nvPr/>
            </p:nvSpPr>
            <p:spPr bwMode="auto">
              <a:xfrm rot="5400000" flipH="1">
                <a:off x="3652" y="1027"/>
                <a:ext cx="0" cy="317"/>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720" name="Line 316"/>
              <p:cNvSpPr>
                <a:spLocks noChangeShapeType="1"/>
              </p:cNvSpPr>
              <p:nvPr/>
            </p:nvSpPr>
            <p:spPr bwMode="auto">
              <a:xfrm rot="5400000" flipH="1">
                <a:off x="3357" y="1526"/>
                <a:ext cx="0" cy="318"/>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721" name="Line 317"/>
              <p:cNvSpPr>
                <a:spLocks noChangeShapeType="1"/>
              </p:cNvSpPr>
              <p:nvPr/>
            </p:nvSpPr>
            <p:spPr bwMode="auto">
              <a:xfrm flipH="1">
                <a:off x="3198" y="1594"/>
                <a:ext cx="0" cy="9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722" name="Line 318"/>
              <p:cNvSpPr>
                <a:spLocks noChangeShapeType="1"/>
              </p:cNvSpPr>
              <p:nvPr/>
            </p:nvSpPr>
            <p:spPr bwMode="auto">
              <a:xfrm>
                <a:off x="3515" y="2001"/>
                <a:ext cx="295" cy="0"/>
              </a:xfrm>
              <a:prstGeom prst="line">
                <a:avLst/>
              </a:prstGeom>
              <a:noFill/>
              <a:ln w="38100">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723" name="Line 319"/>
              <p:cNvSpPr>
                <a:spLocks noChangeShapeType="1"/>
              </p:cNvSpPr>
              <p:nvPr/>
            </p:nvSpPr>
            <p:spPr bwMode="auto">
              <a:xfrm>
                <a:off x="3129" y="1366"/>
                <a:ext cx="771" cy="0"/>
              </a:xfrm>
              <a:prstGeom prst="line">
                <a:avLst/>
              </a:prstGeom>
              <a:noFill/>
              <a:ln w="19050">
                <a:solidFill>
                  <a:srgbClr val="FF0000"/>
                </a:solidFill>
                <a:prstDash val="lg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grpSp>
        <p:sp>
          <p:nvSpPr>
            <p:cNvPr id="24714" name="AutoShape 320" descr="轮廓式菱形"/>
            <p:cNvSpPr>
              <a:spLocks noChangeArrowheads="1"/>
            </p:cNvSpPr>
            <p:nvPr/>
          </p:nvSpPr>
          <p:spPr bwMode="auto">
            <a:xfrm flipV="1">
              <a:off x="3589" y="1888"/>
              <a:ext cx="153" cy="159"/>
            </a:xfrm>
            <a:custGeom>
              <a:avLst/>
              <a:gdLst>
                <a:gd name="T0" fmla="*/ 1 w 21600"/>
                <a:gd name="T1" fmla="*/ 1 h 21600"/>
                <a:gd name="T2" fmla="*/ 1 w 21600"/>
                <a:gd name="T3" fmla="*/ 1 h 21600"/>
                <a:gd name="T4" fmla="*/ 0 w 21600"/>
                <a:gd name="T5" fmla="*/ 1 h 21600"/>
                <a:gd name="T6" fmla="*/ 1 w 21600"/>
                <a:gd name="T7" fmla="*/ 0 h 21600"/>
                <a:gd name="T8" fmla="*/ 0 60000 65536"/>
                <a:gd name="T9" fmla="*/ 0 60000 65536"/>
                <a:gd name="T10" fmla="*/ 0 60000 65536"/>
                <a:gd name="T11" fmla="*/ 0 60000 65536"/>
                <a:gd name="T12" fmla="*/ 4518 w 21600"/>
                <a:gd name="T13" fmla="*/ 4483 h 21600"/>
                <a:gd name="T14" fmla="*/ 17082 w 21600"/>
                <a:gd name="T15" fmla="*/ 17117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pattFill prst="openDmnd">
              <a:fgClr>
                <a:srgbClr val="660066"/>
              </a:fgClr>
              <a:bgClr>
                <a:schemeClr val="bg1"/>
              </a:bgClr>
            </a:pattFill>
            <a:ln w="38100">
              <a:solidFill>
                <a:srgbClr val="8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845"/>
            </a:p>
          </p:txBody>
        </p:sp>
      </p:grpSp>
      <p:grpSp>
        <p:nvGrpSpPr>
          <p:cNvPr id="188737" name="Group 321"/>
          <p:cNvGrpSpPr/>
          <p:nvPr/>
        </p:nvGrpSpPr>
        <p:grpSpPr bwMode="auto">
          <a:xfrm>
            <a:off x="4910505" y="4435720"/>
            <a:ext cx="575896" cy="997926"/>
            <a:chOff x="2880" y="3015"/>
            <a:chExt cx="363" cy="681"/>
          </a:xfrm>
        </p:grpSpPr>
        <p:sp>
          <p:nvSpPr>
            <p:cNvPr id="24696" name="Rectangle 322"/>
            <p:cNvSpPr>
              <a:spLocks noChangeArrowheads="1"/>
            </p:cNvSpPr>
            <p:nvPr/>
          </p:nvSpPr>
          <p:spPr bwMode="auto">
            <a:xfrm>
              <a:off x="2880" y="3015"/>
              <a:ext cx="363" cy="386"/>
            </a:xfrm>
            <a:prstGeom prst="rect">
              <a:avLst/>
            </a:prstGeom>
            <a:solidFill>
              <a:srgbClr val="FFCC99"/>
            </a:solidFill>
            <a:ln w="38100">
              <a:solidFill>
                <a:srgbClr val="0000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黑体" panose="02010609060101010101" pitchFamily="49" charset="-122"/>
                  <a:ea typeface="黑体" panose="02010609060101010101" pitchFamily="49" charset="-122"/>
                </a:defRPr>
              </a:lvl1pPr>
              <a:lvl2pPr marL="742950" indent="-285750" eaLnBrk="0" hangingPunct="0">
                <a:defRPr kumimoji="1" sz="2400" b="1">
                  <a:solidFill>
                    <a:schemeClr val="tx1"/>
                  </a:solidFill>
                  <a:latin typeface="黑体" panose="02010609060101010101" pitchFamily="49" charset="-122"/>
                  <a:ea typeface="黑体" panose="02010609060101010101" pitchFamily="49" charset="-122"/>
                </a:defRPr>
              </a:lvl2pPr>
              <a:lvl3pPr marL="1143000" indent="-228600" eaLnBrk="0" hangingPunct="0">
                <a:defRPr kumimoji="1" sz="2400" b="1">
                  <a:solidFill>
                    <a:schemeClr val="tx1"/>
                  </a:solidFill>
                  <a:latin typeface="黑体" panose="02010609060101010101" pitchFamily="49" charset="-122"/>
                  <a:ea typeface="黑体" panose="02010609060101010101" pitchFamily="49" charset="-122"/>
                </a:defRPr>
              </a:lvl3pPr>
              <a:lvl4pPr marL="1600200" indent="-228600" eaLnBrk="0" hangingPunct="0">
                <a:defRPr kumimoji="1" sz="2400" b="1">
                  <a:solidFill>
                    <a:schemeClr val="tx1"/>
                  </a:solidFill>
                  <a:latin typeface="黑体" panose="02010609060101010101" pitchFamily="49" charset="-122"/>
                  <a:ea typeface="黑体" panose="02010609060101010101" pitchFamily="49" charset="-122"/>
                </a:defRPr>
              </a:lvl4pPr>
              <a:lvl5pPr marL="2057400" indent="-228600" eaLnBrk="0" hangingPunct="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pPr>
              <a:endParaRPr lang="zh-CN" altLang="zh-CN" sz="2215">
                <a:solidFill>
                  <a:srgbClr val="0000CC"/>
                </a:solidFill>
                <a:latin typeface="Arial" panose="020B0604020202020204" pitchFamily="34" charset="0"/>
              </a:endParaRPr>
            </a:p>
          </p:txBody>
        </p:sp>
        <p:sp>
          <p:nvSpPr>
            <p:cNvPr id="24697" name="Line 323"/>
            <p:cNvSpPr>
              <a:spLocks noChangeShapeType="1"/>
            </p:cNvSpPr>
            <p:nvPr/>
          </p:nvSpPr>
          <p:spPr bwMode="auto">
            <a:xfrm>
              <a:off x="2880" y="3400"/>
              <a:ext cx="0" cy="295"/>
            </a:xfrm>
            <a:prstGeom prst="line">
              <a:avLst/>
            </a:prstGeom>
            <a:noFill/>
            <a:ln w="381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698" name="Line 324"/>
            <p:cNvSpPr>
              <a:spLocks noChangeShapeType="1"/>
            </p:cNvSpPr>
            <p:nvPr/>
          </p:nvSpPr>
          <p:spPr bwMode="auto">
            <a:xfrm>
              <a:off x="3243" y="3401"/>
              <a:ext cx="0" cy="295"/>
            </a:xfrm>
            <a:prstGeom prst="line">
              <a:avLst/>
            </a:prstGeom>
            <a:noFill/>
            <a:ln w="381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699" name="Oval 325"/>
            <p:cNvSpPr>
              <a:spLocks noChangeArrowheads="1"/>
            </p:cNvSpPr>
            <p:nvPr/>
          </p:nvSpPr>
          <p:spPr bwMode="auto">
            <a:xfrm>
              <a:off x="2928" y="3072"/>
              <a:ext cx="240" cy="240"/>
            </a:xfrm>
            <a:prstGeom prst="ellipse">
              <a:avLst/>
            </a:prstGeom>
            <a:solidFill>
              <a:schemeClr val="bg1">
                <a:alpha val="50195"/>
              </a:schemeClr>
            </a:solidFill>
            <a:ln w="31750">
              <a:solidFill>
                <a:srgbClr val="0000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黑体" panose="02010609060101010101" pitchFamily="49" charset="-122"/>
                  <a:ea typeface="黑体" panose="02010609060101010101" pitchFamily="49" charset="-122"/>
                </a:defRPr>
              </a:lvl1pPr>
              <a:lvl2pPr marL="742950" indent="-285750" eaLnBrk="0" hangingPunct="0">
                <a:defRPr kumimoji="1" sz="2400" b="1">
                  <a:solidFill>
                    <a:schemeClr val="tx1"/>
                  </a:solidFill>
                  <a:latin typeface="黑体" panose="02010609060101010101" pitchFamily="49" charset="-122"/>
                  <a:ea typeface="黑体" panose="02010609060101010101" pitchFamily="49" charset="-122"/>
                </a:defRPr>
              </a:lvl2pPr>
              <a:lvl3pPr marL="1143000" indent="-228600" eaLnBrk="0" hangingPunct="0">
                <a:defRPr kumimoji="1" sz="2400" b="1">
                  <a:solidFill>
                    <a:schemeClr val="tx1"/>
                  </a:solidFill>
                  <a:latin typeface="黑体" panose="02010609060101010101" pitchFamily="49" charset="-122"/>
                  <a:ea typeface="黑体" panose="02010609060101010101" pitchFamily="49" charset="-122"/>
                </a:defRPr>
              </a:lvl3pPr>
              <a:lvl4pPr marL="1600200" indent="-228600" eaLnBrk="0" hangingPunct="0">
                <a:defRPr kumimoji="1" sz="2400" b="1">
                  <a:solidFill>
                    <a:schemeClr val="tx1"/>
                  </a:solidFill>
                  <a:latin typeface="黑体" panose="02010609060101010101" pitchFamily="49" charset="-122"/>
                  <a:ea typeface="黑体" panose="02010609060101010101" pitchFamily="49" charset="-122"/>
                </a:defRPr>
              </a:lvl4pPr>
              <a:lvl5pPr marL="2057400" indent="-228600" eaLnBrk="0" hangingPunct="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pPr eaLnBrk="1" hangingPunct="1"/>
              <a:endParaRPr lang="zh-CN" altLang="en-US" sz="2215"/>
            </a:p>
          </p:txBody>
        </p:sp>
        <p:sp>
          <p:nvSpPr>
            <p:cNvPr id="24700" name="Line 326"/>
            <p:cNvSpPr>
              <a:spLocks noChangeShapeType="1"/>
            </p:cNvSpPr>
            <p:nvPr/>
          </p:nvSpPr>
          <p:spPr bwMode="auto">
            <a:xfrm>
              <a:off x="2880" y="3120"/>
              <a:ext cx="96" cy="0"/>
            </a:xfrm>
            <a:prstGeom prst="line">
              <a:avLst/>
            </a:prstGeom>
            <a:noFill/>
            <a:ln w="2857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701" name="Line 327"/>
            <p:cNvSpPr>
              <a:spLocks noChangeShapeType="1"/>
            </p:cNvSpPr>
            <p:nvPr/>
          </p:nvSpPr>
          <p:spPr bwMode="auto">
            <a:xfrm>
              <a:off x="3120" y="3120"/>
              <a:ext cx="96" cy="0"/>
            </a:xfrm>
            <a:prstGeom prst="line">
              <a:avLst/>
            </a:prstGeom>
            <a:noFill/>
            <a:ln w="2857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702" name="Line 328"/>
            <p:cNvSpPr>
              <a:spLocks noChangeShapeType="1"/>
            </p:cNvSpPr>
            <p:nvPr/>
          </p:nvSpPr>
          <p:spPr bwMode="auto">
            <a:xfrm>
              <a:off x="2880" y="3264"/>
              <a:ext cx="96" cy="0"/>
            </a:xfrm>
            <a:prstGeom prst="line">
              <a:avLst/>
            </a:prstGeom>
            <a:noFill/>
            <a:ln w="2857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703" name="Line 329"/>
            <p:cNvSpPr>
              <a:spLocks noChangeShapeType="1"/>
            </p:cNvSpPr>
            <p:nvPr/>
          </p:nvSpPr>
          <p:spPr bwMode="auto">
            <a:xfrm>
              <a:off x="3168" y="3264"/>
              <a:ext cx="48" cy="0"/>
            </a:xfrm>
            <a:prstGeom prst="line">
              <a:avLst/>
            </a:prstGeom>
            <a:noFill/>
            <a:ln w="2857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704" name="Line 330"/>
            <p:cNvSpPr>
              <a:spLocks noChangeShapeType="1"/>
            </p:cNvSpPr>
            <p:nvPr/>
          </p:nvSpPr>
          <p:spPr bwMode="auto">
            <a:xfrm flipH="1">
              <a:off x="3168" y="3024"/>
              <a:ext cx="48" cy="96"/>
            </a:xfrm>
            <a:prstGeom prst="line">
              <a:avLst/>
            </a:prstGeom>
            <a:noFill/>
            <a:ln w="952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705" name="Line 331"/>
            <p:cNvSpPr>
              <a:spLocks noChangeShapeType="1"/>
            </p:cNvSpPr>
            <p:nvPr/>
          </p:nvSpPr>
          <p:spPr bwMode="auto">
            <a:xfrm flipH="1">
              <a:off x="3072" y="3024"/>
              <a:ext cx="48" cy="48"/>
            </a:xfrm>
            <a:prstGeom prst="line">
              <a:avLst/>
            </a:prstGeom>
            <a:noFill/>
            <a:ln w="952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706" name="Line 332"/>
            <p:cNvSpPr>
              <a:spLocks noChangeShapeType="1"/>
            </p:cNvSpPr>
            <p:nvPr/>
          </p:nvSpPr>
          <p:spPr bwMode="auto">
            <a:xfrm flipH="1">
              <a:off x="2976" y="3024"/>
              <a:ext cx="48" cy="96"/>
            </a:xfrm>
            <a:prstGeom prst="line">
              <a:avLst/>
            </a:prstGeom>
            <a:noFill/>
            <a:ln w="952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707" name="Line 333"/>
            <p:cNvSpPr>
              <a:spLocks noChangeShapeType="1"/>
            </p:cNvSpPr>
            <p:nvPr/>
          </p:nvSpPr>
          <p:spPr bwMode="auto">
            <a:xfrm flipH="1">
              <a:off x="2880" y="3024"/>
              <a:ext cx="48" cy="96"/>
            </a:xfrm>
            <a:prstGeom prst="line">
              <a:avLst/>
            </a:prstGeom>
            <a:noFill/>
            <a:ln w="952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708" name="Line 334"/>
            <p:cNvSpPr>
              <a:spLocks noChangeShapeType="1"/>
            </p:cNvSpPr>
            <p:nvPr/>
          </p:nvSpPr>
          <p:spPr bwMode="auto">
            <a:xfrm>
              <a:off x="2880" y="3312"/>
              <a:ext cx="96" cy="96"/>
            </a:xfrm>
            <a:prstGeom prst="line">
              <a:avLst/>
            </a:prstGeom>
            <a:noFill/>
            <a:ln w="952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709" name="Line 335"/>
            <p:cNvSpPr>
              <a:spLocks noChangeShapeType="1"/>
            </p:cNvSpPr>
            <p:nvPr/>
          </p:nvSpPr>
          <p:spPr bwMode="auto">
            <a:xfrm>
              <a:off x="2928" y="3264"/>
              <a:ext cx="144" cy="144"/>
            </a:xfrm>
            <a:prstGeom prst="line">
              <a:avLst/>
            </a:prstGeom>
            <a:noFill/>
            <a:ln w="952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710" name="Line 336"/>
            <p:cNvSpPr>
              <a:spLocks noChangeShapeType="1"/>
            </p:cNvSpPr>
            <p:nvPr/>
          </p:nvSpPr>
          <p:spPr bwMode="auto">
            <a:xfrm>
              <a:off x="3072" y="3312"/>
              <a:ext cx="96" cy="96"/>
            </a:xfrm>
            <a:prstGeom prst="line">
              <a:avLst/>
            </a:prstGeom>
            <a:noFill/>
            <a:ln w="952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711" name="Line 337"/>
            <p:cNvSpPr>
              <a:spLocks noChangeShapeType="1"/>
            </p:cNvSpPr>
            <p:nvPr/>
          </p:nvSpPr>
          <p:spPr bwMode="auto">
            <a:xfrm>
              <a:off x="3168" y="3264"/>
              <a:ext cx="48" cy="96"/>
            </a:xfrm>
            <a:prstGeom prst="line">
              <a:avLst/>
            </a:prstGeom>
            <a:noFill/>
            <a:ln w="952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grpSp>
      <p:grpSp>
        <p:nvGrpSpPr>
          <p:cNvPr id="188754" name="Group 338"/>
          <p:cNvGrpSpPr/>
          <p:nvPr/>
        </p:nvGrpSpPr>
        <p:grpSpPr bwMode="auto">
          <a:xfrm>
            <a:off x="1176705" y="4435720"/>
            <a:ext cx="575896" cy="997926"/>
            <a:chOff x="2880" y="3015"/>
            <a:chExt cx="363" cy="681"/>
          </a:xfrm>
        </p:grpSpPr>
        <p:sp>
          <p:nvSpPr>
            <p:cNvPr id="24680" name="Rectangle 339"/>
            <p:cNvSpPr>
              <a:spLocks noChangeArrowheads="1"/>
            </p:cNvSpPr>
            <p:nvPr/>
          </p:nvSpPr>
          <p:spPr bwMode="auto">
            <a:xfrm>
              <a:off x="2880" y="3015"/>
              <a:ext cx="363" cy="386"/>
            </a:xfrm>
            <a:prstGeom prst="rect">
              <a:avLst/>
            </a:prstGeom>
            <a:solidFill>
              <a:srgbClr val="FFCC99"/>
            </a:solidFill>
            <a:ln w="38100">
              <a:solidFill>
                <a:srgbClr val="0000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黑体" panose="02010609060101010101" pitchFamily="49" charset="-122"/>
                  <a:ea typeface="黑体" panose="02010609060101010101" pitchFamily="49" charset="-122"/>
                </a:defRPr>
              </a:lvl1pPr>
              <a:lvl2pPr marL="742950" indent="-285750" eaLnBrk="0" hangingPunct="0">
                <a:defRPr kumimoji="1" sz="2400" b="1">
                  <a:solidFill>
                    <a:schemeClr val="tx1"/>
                  </a:solidFill>
                  <a:latin typeface="黑体" panose="02010609060101010101" pitchFamily="49" charset="-122"/>
                  <a:ea typeface="黑体" panose="02010609060101010101" pitchFamily="49" charset="-122"/>
                </a:defRPr>
              </a:lvl2pPr>
              <a:lvl3pPr marL="1143000" indent="-228600" eaLnBrk="0" hangingPunct="0">
                <a:defRPr kumimoji="1" sz="2400" b="1">
                  <a:solidFill>
                    <a:schemeClr val="tx1"/>
                  </a:solidFill>
                  <a:latin typeface="黑体" panose="02010609060101010101" pitchFamily="49" charset="-122"/>
                  <a:ea typeface="黑体" panose="02010609060101010101" pitchFamily="49" charset="-122"/>
                </a:defRPr>
              </a:lvl3pPr>
              <a:lvl4pPr marL="1600200" indent="-228600" eaLnBrk="0" hangingPunct="0">
                <a:defRPr kumimoji="1" sz="2400" b="1">
                  <a:solidFill>
                    <a:schemeClr val="tx1"/>
                  </a:solidFill>
                  <a:latin typeface="黑体" panose="02010609060101010101" pitchFamily="49" charset="-122"/>
                  <a:ea typeface="黑体" panose="02010609060101010101" pitchFamily="49" charset="-122"/>
                </a:defRPr>
              </a:lvl4pPr>
              <a:lvl5pPr marL="2057400" indent="-228600" eaLnBrk="0" hangingPunct="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pPr>
              <a:endParaRPr lang="zh-CN" altLang="zh-CN" sz="2215">
                <a:solidFill>
                  <a:srgbClr val="0000CC"/>
                </a:solidFill>
                <a:latin typeface="Arial" panose="020B0604020202020204" pitchFamily="34" charset="0"/>
              </a:endParaRPr>
            </a:p>
          </p:txBody>
        </p:sp>
        <p:sp>
          <p:nvSpPr>
            <p:cNvPr id="24681" name="Line 340"/>
            <p:cNvSpPr>
              <a:spLocks noChangeShapeType="1"/>
            </p:cNvSpPr>
            <p:nvPr/>
          </p:nvSpPr>
          <p:spPr bwMode="auto">
            <a:xfrm>
              <a:off x="2880" y="3400"/>
              <a:ext cx="0" cy="295"/>
            </a:xfrm>
            <a:prstGeom prst="line">
              <a:avLst/>
            </a:prstGeom>
            <a:noFill/>
            <a:ln w="381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682" name="Line 341"/>
            <p:cNvSpPr>
              <a:spLocks noChangeShapeType="1"/>
            </p:cNvSpPr>
            <p:nvPr/>
          </p:nvSpPr>
          <p:spPr bwMode="auto">
            <a:xfrm>
              <a:off x="3243" y="3401"/>
              <a:ext cx="0" cy="295"/>
            </a:xfrm>
            <a:prstGeom prst="line">
              <a:avLst/>
            </a:prstGeom>
            <a:noFill/>
            <a:ln w="381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683" name="Oval 342"/>
            <p:cNvSpPr>
              <a:spLocks noChangeArrowheads="1"/>
            </p:cNvSpPr>
            <p:nvPr/>
          </p:nvSpPr>
          <p:spPr bwMode="auto">
            <a:xfrm>
              <a:off x="2928" y="3072"/>
              <a:ext cx="240" cy="240"/>
            </a:xfrm>
            <a:prstGeom prst="ellipse">
              <a:avLst/>
            </a:prstGeom>
            <a:solidFill>
              <a:schemeClr val="bg1">
                <a:alpha val="50195"/>
              </a:schemeClr>
            </a:solidFill>
            <a:ln w="31750">
              <a:solidFill>
                <a:srgbClr val="0000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黑体" panose="02010609060101010101" pitchFamily="49" charset="-122"/>
                  <a:ea typeface="黑体" panose="02010609060101010101" pitchFamily="49" charset="-122"/>
                </a:defRPr>
              </a:lvl1pPr>
              <a:lvl2pPr marL="742950" indent="-285750" eaLnBrk="0" hangingPunct="0">
                <a:defRPr kumimoji="1" sz="2400" b="1">
                  <a:solidFill>
                    <a:schemeClr val="tx1"/>
                  </a:solidFill>
                  <a:latin typeface="黑体" panose="02010609060101010101" pitchFamily="49" charset="-122"/>
                  <a:ea typeface="黑体" panose="02010609060101010101" pitchFamily="49" charset="-122"/>
                </a:defRPr>
              </a:lvl2pPr>
              <a:lvl3pPr marL="1143000" indent="-228600" eaLnBrk="0" hangingPunct="0">
                <a:defRPr kumimoji="1" sz="2400" b="1">
                  <a:solidFill>
                    <a:schemeClr val="tx1"/>
                  </a:solidFill>
                  <a:latin typeface="黑体" panose="02010609060101010101" pitchFamily="49" charset="-122"/>
                  <a:ea typeface="黑体" panose="02010609060101010101" pitchFamily="49" charset="-122"/>
                </a:defRPr>
              </a:lvl3pPr>
              <a:lvl4pPr marL="1600200" indent="-228600" eaLnBrk="0" hangingPunct="0">
                <a:defRPr kumimoji="1" sz="2400" b="1">
                  <a:solidFill>
                    <a:schemeClr val="tx1"/>
                  </a:solidFill>
                  <a:latin typeface="黑体" panose="02010609060101010101" pitchFamily="49" charset="-122"/>
                  <a:ea typeface="黑体" panose="02010609060101010101" pitchFamily="49" charset="-122"/>
                </a:defRPr>
              </a:lvl4pPr>
              <a:lvl5pPr marL="2057400" indent="-228600" eaLnBrk="0" hangingPunct="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pPr eaLnBrk="1" hangingPunct="1"/>
              <a:endParaRPr lang="zh-CN" altLang="en-US" sz="2215"/>
            </a:p>
          </p:txBody>
        </p:sp>
        <p:sp>
          <p:nvSpPr>
            <p:cNvPr id="24684" name="Line 343"/>
            <p:cNvSpPr>
              <a:spLocks noChangeShapeType="1"/>
            </p:cNvSpPr>
            <p:nvPr/>
          </p:nvSpPr>
          <p:spPr bwMode="auto">
            <a:xfrm>
              <a:off x="2880" y="3120"/>
              <a:ext cx="96" cy="0"/>
            </a:xfrm>
            <a:prstGeom prst="line">
              <a:avLst/>
            </a:prstGeom>
            <a:noFill/>
            <a:ln w="2857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685" name="Line 344"/>
            <p:cNvSpPr>
              <a:spLocks noChangeShapeType="1"/>
            </p:cNvSpPr>
            <p:nvPr/>
          </p:nvSpPr>
          <p:spPr bwMode="auto">
            <a:xfrm>
              <a:off x="3120" y="3120"/>
              <a:ext cx="96" cy="0"/>
            </a:xfrm>
            <a:prstGeom prst="line">
              <a:avLst/>
            </a:prstGeom>
            <a:noFill/>
            <a:ln w="2857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686" name="Line 345"/>
            <p:cNvSpPr>
              <a:spLocks noChangeShapeType="1"/>
            </p:cNvSpPr>
            <p:nvPr/>
          </p:nvSpPr>
          <p:spPr bwMode="auto">
            <a:xfrm>
              <a:off x="2880" y="3264"/>
              <a:ext cx="96" cy="0"/>
            </a:xfrm>
            <a:prstGeom prst="line">
              <a:avLst/>
            </a:prstGeom>
            <a:noFill/>
            <a:ln w="2857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687" name="Line 346"/>
            <p:cNvSpPr>
              <a:spLocks noChangeShapeType="1"/>
            </p:cNvSpPr>
            <p:nvPr/>
          </p:nvSpPr>
          <p:spPr bwMode="auto">
            <a:xfrm>
              <a:off x="3168" y="3264"/>
              <a:ext cx="48" cy="0"/>
            </a:xfrm>
            <a:prstGeom prst="line">
              <a:avLst/>
            </a:prstGeom>
            <a:noFill/>
            <a:ln w="2857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688" name="Line 347"/>
            <p:cNvSpPr>
              <a:spLocks noChangeShapeType="1"/>
            </p:cNvSpPr>
            <p:nvPr/>
          </p:nvSpPr>
          <p:spPr bwMode="auto">
            <a:xfrm flipH="1">
              <a:off x="3168" y="3024"/>
              <a:ext cx="48" cy="96"/>
            </a:xfrm>
            <a:prstGeom prst="line">
              <a:avLst/>
            </a:prstGeom>
            <a:noFill/>
            <a:ln w="952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689" name="Line 348"/>
            <p:cNvSpPr>
              <a:spLocks noChangeShapeType="1"/>
            </p:cNvSpPr>
            <p:nvPr/>
          </p:nvSpPr>
          <p:spPr bwMode="auto">
            <a:xfrm flipH="1">
              <a:off x="3072" y="3024"/>
              <a:ext cx="48" cy="48"/>
            </a:xfrm>
            <a:prstGeom prst="line">
              <a:avLst/>
            </a:prstGeom>
            <a:noFill/>
            <a:ln w="952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690" name="Line 349"/>
            <p:cNvSpPr>
              <a:spLocks noChangeShapeType="1"/>
            </p:cNvSpPr>
            <p:nvPr/>
          </p:nvSpPr>
          <p:spPr bwMode="auto">
            <a:xfrm flipH="1">
              <a:off x="2976" y="3024"/>
              <a:ext cx="48" cy="96"/>
            </a:xfrm>
            <a:prstGeom prst="line">
              <a:avLst/>
            </a:prstGeom>
            <a:noFill/>
            <a:ln w="952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691" name="Line 350"/>
            <p:cNvSpPr>
              <a:spLocks noChangeShapeType="1"/>
            </p:cNvSpPr>
            <p:nvPr/>
          </p:nvSpPr>
          <p:spPr bwMode="auto">
            <a:xfrm flipH="1">
              <a:off x="2880" y="3024"/>
              <a:ext cx="48" cy="96"/>
            </a:xfrm>
            <a:prstGeom prst="line">
              <a:avLst/>
            </a:prstGeom>
            <a:noFill/>
            <a:ln w="952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692" name="Line 351"/>
            <p:cNvSpPr>
              <a:spLocks noChangeShapeType="1"/>
            </p:cNvSpPr>
            <p:nvPr/>
          </p:nvSpPr>
          <p:spPr bwMode="auto">
            <a:xfrm>
              <a:off x="2880" y="3312"/>
              <a:ext cx="96" cy="96"/>
            </a:xfrm>
            <a:prstGeom prst="line">
              <a:avLst/>
            </a:prstGeom>
            <a:noFill/>
            <a:ln w="952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693" name="Line 352"/>
            <p:cNvSpPr>
              <a:spLocks noChangeShapeType="1"/>
            </p:cNvSpPr>
            <p:nvPr/>
          </p:nvSpPr>
          <p:spPr bwMode="auto">
            <a:xfrm>
              <a:off x="2928" y="3264"/>
              <a:ext cx="144" cy="144"/>
            </a:xfrm>
            <a:prstGeom prst="line">
              <a:avLst/>
            </a:prstGeom>
            <a:noFill/>
            <a:ln w="952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694" name="Line 353"/>
            <p:cNvSpPr>
              <a:spLocks noChangeShapeType="1"/>
            </p:cNvSpPr>
            <p:nvPr/>
          </p:nvSpPr>
          <p:spPr bwMode="auto">
            <a:xfrm>
              <a:off x="3072" y="3312"/>
              <a:ext cx="96" cy="96"/>
            </a:xfrm>
            <a:prstGeom prst="line">
              <a:avLst/>
            </a:prstGeom>
            <a:noFill/>
            <a:ln w="952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695" name="Line 354"/>
            <p:cNvSpPr>
              <a:spLocks noChangeShapeType="1"/>
            </p:cNvSpPr>
            <p:nvPr/>
          </p:nvSpPr>
          <p:spPr bwMode="auto">
            <a:xfrm>
              <a:off x="3168" y="3264"/>
              <a:ext cx="48" cy="96"/>
            </a:xfrm>
            <a:prstGeom prst="line">
              <a:avLst/>
            </a:prstGeom>
            <a:noFill/>
            <a:ln w="952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grpSp>
      <p:sp>
        <p:nvSpPr>
          <p:cNvPr id="188771" name="Rectangle 355"/>
          <p:cNvSpPr>
            <a:spLocks noChangeArrowheads="1"/>
          </p:cNvSpPr>
          <p:nvPr/>
        </p:nvSpPr>
        <p:spPr bwMode="auto">
          <a:xfrm>
            <a:off x="1143000" y="5024805"/>
            <a:ext cx="1828800" cy="832338"/>
          </a:xfrm>
          <a:prstGeom prst="rect">
            <a:avLst/>
          </a:prstGeom>
          <a:gradFill rotWithShape="1">
            <a:gsLst>
              <a:gs pos="0">
                <a:schemeClr val="accent1">
                  <a:gamma/>
                  <a:shade val="46275"/>
                  <a:invGamma/>
                </a:schemeClr>
              </a:gs>
              <a:gs pos="50000">
                <a:schemeClr val="accent1"/>
              </a:gs>
              <a:gs pos="100000">
                <a:schemeClr val="accent1">
                  <a:gamma/>
                  <a:shade val="46275"/>
                  <a:invGamma/>
                </a:schemeClr>
              </a:gs>
            </a:gsLst>
            <a:lin ang="5400000" scaled="1"/>
          </a:gradFill>
          <a:ln w="381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1845">
              <a:latin typeface="黑体" panose="02010609060101010101" pitchFamily="49" charset="-122"/>
              <a:ea typeface="黑体" panose="02010609060101010101" pitchFamily="49" charset="-122"/>
            </a:endParaRPr>
          </a:p>
        </p:txBody>
      </p:sp>
      <p:grpSp>
        <p:nvGrpSpPr>
          <p:cNvPr id="188772" name="Group 356"/>
          <p:cNvGrpSpPr/>
          <p:nvPr/>
        </p:nvGrpSpPr>
        <p:grpSpPr bwMode="auto">
          <a:xfrm>
            <a:off x="490904" y="3834912"/>
            <a:ext cx="685800" cy="1598734"/>
            <a:chOff x="385" y="1185"/>
            <a:chExt cx="591" cy="1091"/>
          </a:xfrm>
        </p:grpSpPr>
        <p:grpSp>
          <p:nvGrpSpPr>
            <p:cNvPr id="24649" name="Group 357"/>
            <p:cNvGrpSpPr/>
            <p:nvPr/>
          </p:nvGrpSpPr>
          <p:grpSpPr bwMode="auto">
            <a:xfrm>
              <a:off x="453" y="1185"/>
              <a:ext cx="523" cy="1090"/>
              <a:chOff x="452" y="1184"/>
              <a:chExt cx="523" cy="1090"/>
            </a:xfrm>
          </p:grpSpPr>
          <p:sp>
            <p:nvSpPr>
              <p:cNvPr id="24659" name="Line 358"/>
              <p:cNvSpPr>
                <a:spLocks noChangeShapeType="1"/>
              </p:cNvSpPr>
              <p:nvPr/>
            </p:nvSpPr>
            <p:spPr bwMode="auto">
              <a:xfrm flipH="1">
                <a:off x="452" y="1207"/>
                <a:ext cx="228" cy="227"/>
              </a:xfrm>
              <a:prstGeom prst="line">
                <a:avLst/>
              </a:prstGeom>
              <a:noFill/>
              <a:ln w="952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660" name="Line 359"/>
              <p:cNvSpPr>
                <a:spLocks noChangeShapeType="1"/>
              </p:cNvSpPr>
              <p:nvPr/>
            </p:nvSpPr>
            <p:spPr bwMode="auto">
              <a:xfrm flipH="1">
                <a:off x="453" y="1343"/>
                <a:ext cx="228" cy="227"/>
              </a:xfrm>
              <a:prstGeom prst="line">
                <a:avLst/>
              </a:prstGeom>
              <a:noFill/>
              <a:ln w="952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661" name="Line 360"/>
              <p:cNvSpPr>
                <a:spLocks noChangeShapeType="1"/>
              </p:cNvSpPr>
              <p:nvPr/>
            </p:nvSpPr>
            <p:spPr bwMode="auto">
              <a:xfrm flipH="1">
                <a:off x="452" y="1275"/>
                <a:ext cx="228" cy="227"/>
              </a:xfrm>
              <a:prstGeom prst="line">
                <a:avLst/>
              </a:prstGeom>
              <a:noFill/>
              <a:ln w="952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662" name="Line 361"/>
              <p:cNvSpPr>
                <a:spLocks noChangeShapeType="1"/>
              </p:cNvSpPr>
              <p:nvPr/>
            </p:nvSpPr>
            <p:spPr bwMode="auto">
              <a:xfrm flipH="1">
                <a:off x="453" y="1185"/>
                <a:ext cx="182" cy="181"/>
              </a:xfrm>
              <a:prstGeom prst="line">
                <a:avLst/>
              </a:prstGeom>
              <a:noFill/>
              <a:ln w="952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663" name="Line 362"/>
              <p:cNvSpPr>
                <a:spLocks noChangeShapeType="1"/>
              </p:cNvSpPr>
              <p:nvPr/>
            </p:nvSpPr>
            <p:spPr bwMode="auto">
              <a:xfrm flipH="1">
                <a:off x="453" y="1184"/>
                <a:ext cx="114" cy="114"/>
              </a:xfrm>
              <a:prstGeom prst="line">
                <a:avLst/>
              </a:prstGeom>
              <a:noFill/>
              <a:ln w="952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664" name="Line 363"/>
              <p:cNvSpPr>
                <a:spLocks noChangeShapeType="1"/>
              </p:cNvSpPr>
              <p:nvPr/>
            </p:nvSpPr>
            <p:spPr bwMode="auto">
              <a:xfrm flipH="1">
                <a:off x="453" y="1411"/>
                <a:ext cx="228" cy="227"/>
              </a:xfrm>
              <a:prstGeom prst="line">
                <a:avLst/>
              </a:prstGeom>
              <a:noFill/>
              <a:ln w="952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665" name="Line 364"/>
              <p:cNvSpPr>
                <a:spLocks noChangeShapeType="1"/>
              </p:cNvSpPr>
              <p:nvPr/>
            </p:nvSpPr>
            <p:spPr bwMode="auto">
              <a:xfrm flipH="1">
                <a:off x="453" y="1185"/>
                <a:ext cx="46" cy="46"/>
              </a:xfrm>
              <a:prstGeom prst="line">
                <a:avLst/>
              </a:prstGeom>
              <a:noFill/>
              <a:ln w="952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666" name="Line 365"/>
              <p:cNvSpPr>
                <a:spLocks noChangeShapeType="1"/>
              </p:cNvSpPr>
              <p:nvPr/>
            </p:nvSpPr>
            <p:spPr bwMode="auto">
              <a:xfrm flipH="1">
                <a:off x="453" y="1593"/>
                <a:ext cx="250" cy="249"/>
              </a:xfrm>
              <a:prstGeom prst="line">
                <a:avLst/>
              </a:prstGeom>
              <a:noFill/>
              <a:ln w="952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667" name="Line 366"/>
              <p:cNvSpPr>
                <a:spLocks noChangeShapeType="1"/>
              </p:cNvSpPr>
              <p:nvPr/>
            </p:nvSpPr>
            <p:spPr bwMode="auto">
              <a:xfrm flipH="1">
                <a:off x="453" y="1547"/>
                <a:ext cx="228" cy="227"/>
              </a:xfrm>
              <a:prstGeom prst="line">
                <a:avLst/>
              </a:prstGeom>
              <a:noFill/>
              <a:ln w="952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668" name="Line 367"/>
              <p:cNvSpPr>
                <a:spLocks noChangeShapeType="1"/>
              </p:cNvSpPr>
              <p:nvPr/>
            </p:nvSpPr>
            <p:spPr bwMode="auto">
              <a:xfrm flipH="1">
                <a:off x="453" y="1479"/>
                <a:ext cx="228" cy="227"/>
              </a:xfrm>
              <a:prstGeom prst="line">
                <a:avLst/>
              </a:prstGeom>
              <a:noFill/>
              <a:ln w="952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669" name="Line 368"/>
              <p:cNvSpPr>
                <a:spLocks noChangeShapeType="1"/>
              </p:cNvSpPr>
              <p:nvPr/>
            </p:nvSpPr>
            <p:spPr bwMode="auto">
              <a:xfrm flipH="1">
                <a:off x="453" y="1594"/>
                <a:ext cx="318" cy="317"/>
              </a:xfrm>
              <a:prstGeom prst="line">
                <a:avLst/>
              </a:prstGeom>
              <a:noFill/>
              <a:ln w="952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670" name="Line 369"/>
              <p:cNvSpPr>
                <a:spLocks noChangeShapeType="1"/>
              </p:cNvSpPr>
              <p:nvPr/>
            </p:nvSpPr>
            <p:spPr bwMode="auto">
              <a:xfrm flipH="1">
                <a:off x="453" y="1776"/>
                <a:ext cx="204" cy="203"/>
              </a:xfrm>
              <a:prstGeom prst="line">
                <a:avLst/>
              </a:prstGeom>
              <a:noFill/>
              <a:ln w="952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671" name="Line 370"/>
              <p:cNvSpPr>
                <a:spLocks noChangeShapeType="1"/>
              </p:cNvSpPr>
              <p:nvPr/>
            </p:nvSpPr>
            <p:spPr bwMode="auto">
              <a:xfrm flipH="1">
                <a:off x="453" y="1844"/>
                <a:ext cx="204" cy="203"/>
              </a:xfrm>
              <a:prstGeom prst="line">
                <a:avLst/>
              </a:prstGeom>
              <a:noFill/>
              <a:ln w="952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672" name="Line 371"/>
              <p:cNvSpPr>
                <a:spLocks noChangeShapeType="1"/>
              </p:cNvSpPr>
              <p:nvPr/>
            </p:nvSpPr>
            <p:spPr bwMode="auto">
              <a:xfrm flipH="1">
                <a:off x="453" y="2048"/>
                <a:ext cx="204" cy="203"/>
              </a:xfrm>
              <a:prstGeom prst="line">
                <a:avLst/>
              </a:prstGeom>
              <a:noFill/>
              <a:ln w="952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673" name="Line 372"/>
              <p:cNvSpPr>
                <a:spLocks noChangeShapeType="1"/>
              </p:cNvSpPr>
              <p:nvPr/>
            </p:nvSpPr>
            <p:spPr bwMode="auto">
              <a:xfrm flipH="1">
                <a:off x="453" y="1980"/>
                <a:ext cx="204" cy="203"/>
              </a:xfrm>
              <a:prstGeom prst="line">
                <a:avLst/>
              </a:prstGeom>
              <a:noFill/>
              <a:ln w="952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674" name="Line 373"/>
              <p:cNvSpPr>
                <a:spLocks noChangeShapeType="1"/>
              </p:cNvSpPr>
              <p:nvPr/>
            </p:nvSpPr>
            <p:spPr bwMode="auto">
              <a:xfrm flipH="1">
                <a:off x="453" y="1912"/>
                <a:ext cx="204" cy="203"/>
              </a:xfrm>
              <a:prstGeom prst="line">
                <a:avLst/>
              </a:prstGeom>
              <a:noFill/>
              <a:ln w="952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675" name="Line 374"/>
              <p:cNvSpPr>
                <a:spLocks noChangeShapeType="1"/>
              </p:cNvSpPr>
              <p:nvPr/>
            </p:nvSpPr>
            <p:spPr bwMode="auto">
              <a:xfrm flipH="1">
                <a:off x="567" y="2184"/>
                <a:ext cx="90" cy="90"/>
              </a:xfrm>
              <a:prstGeom prst="line">
                <a:avLst/>
              </a:prstGeom>
              <a:noFill/>
              <a:ln w="952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676" name="Line 375"/>
              <p:cNvSpPr>
                <a:spLocks noChangeShapeType="1"/>
              </p:cNvSpPr>
              <p:nvPr/>
            </p:nvSpPr>
            <p:spPr bwMode="auto">
              <a:xfrm flipH="1">
                <a:off x="499" y="2116"/>
                <a:ext cx="158" cy="157"/>
              </a:xfrm>
              <a:prstGeom prst="line">
                <a:avLst/>
              </a:prstGeom>
              <a:noFill/>
              <a:ln w="952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677" name="Line 376"/>
              <p:cNvSpPr>
                <a:spLocks noChangeShapeType="1"/>
              </p:cNvSpPr>
              <p:nvPr/>
            </p:nvSpPr>
            <p:spPr bwMode="auto">
              <a:xfrm flipH="1">
                <a:off x="749" y="1594"/>
                <a:ext cx="90" cy="90"/>
              </a:xfrm>
              <a:prstGeom prst="line">
                <a:avLst/>
              </a:prstGeom>
              <a:noFill/>
              <a:ln w="952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678" name="Line 377"/>
              <p:cNvSpPr>
                <a:spLocks noChangeShapeType="1"/>
              </p:cNvSpPr>
              <p:nvPr/>
            </p:nvSpPr>
            <p:spPr bwMode="auto">
              <a:xfrm flipH="1">
                <a:off x="817" y="1593"/>
                <a:ext cx="90" cy="90"/>
              </a:xfrm>
              <a:prstGeom prst="line">
                <a:avLst/>
              </a:prstGeom>
              <a:noFill/>
              <a:ln w="952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679" name="Line 378"/>
              <p:cNvSpPr>
                <a:spLocks noChangeShapeType="1"/>
              </p:cNvSpPr>
              <p:nvPr/>
            </p:nvSpPr>
            <p:spPr bwMode="auto">
              <a:xfrm flipH="1">
                <a:off x="885" y="1593"/>
                <a:ext cx="90" cy="90"/>
              </a:xfrm>
              <a:prstGeom prst="line">
                <a:avLst/>
              </a:prstGeom>
              <a:noFill/>
              <a:ln w="952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grpSp>
        <p:grpSp>
          <p:nvGrpSpPr>
            <p:cNvPr id="24650" name="Group 379"/>
            <p:cNvGrpSpPr/>
            <p:nvPr/>
          </p:nvGrpSpPr>
          <p:grpSpPr bwMode="auto">
            <a:xfrm>
              <a:off x="385" y="1188"/>
              <a:ext cx="590" cy="1088"/>
              <a:chOff x="385" y="1186"/>
              <a:chExt cx="590" cy="1088"/>
            </a:xfrm>
          </p:grpSpPr>
          <p:sp>
            <p:nvSpPr>
              <p:cNvPr id="24651" name="Line 380"/>
              <p:cNvSpPr>
                <a:spLocks noChangeShapeType="1"/>
              </p:cNvSpPr>
              <p:nvPr/>
            </p:nvSpPr>
            <p:spPr bwMode="auto">
              <a:xfrm>
                <a:off x="453" y="1186"/>
                <a:ext cx="0" cy="1088"/>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652" name="Line 381"/>
              <p:cNvSpPr>
                <a:spLocks noChangeShapeType="1"/>
              </p:cNvSpPr>
              <p:nvPr/>
            </p:nvSpPr>
            <p:spPr bwMode="auto">
              <a:xfrm>
                <a:off x="680" y="1186"/>
                <a:ext cx="0" cy="408"/>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653" name="Line 382"/>
              <p:cNvSpPr>
                <a:spLocks noChangeShapeType="1"/>
              </p:cNvSpPr>
              <p:nvPr/>
            </p:nvSpPr>
            <p:spPr bwMode="auto">
              <a:xfrm>
                <a:off x="657" y="1685"/>
                <a:ext cx="0" cy="589"/>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654" name="Line 383"/>
              <p:cNvSpPr>
                <a:spLocks noChangeShapeType="1"/>
              </p:cNvSpPr>
              <p:nvPr/>
            </p:nvSpPr>
            <p:spPr bwMode="auto">
              <a:xfrm rot="-5400000">
                <a:off x="828" y="1446"/>
                <a:ext cx="0" cy="295"/>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655" name="Line 384"/>
              <p:cNvSpPr>
                <a:spLocks noChangeShapeType="1"/>
              </p:cNvSpPr>
              <p:nvPr/>
            </p:nvSpPr>
            <p:spPr bwMode="auto">
              <a:xfrm rot="-5400000">
                <a:off x="567" y="1072"/>
                <a:ext cx="0" cy="227"/>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656" name="Line 385"/>
              <p:cNvSpPr>
                <a:spLocks noChangeShapeType="1"/>
              </p:cNvSpPr>
              <p:nvPr/>
            </p:nvSpPr>
            <p:spPr bwMode="auto">
              <a:xfrm rot="-5400000">
                <a:off x="816" y="1526"/>
                <a:ext cx="0" cy="318"/>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657" name="Line 386"/>
              <p:cNvSpPr>
                <a:spLocks noChangeShapeType="1"/>
              </p:cNvSpPr>
              <p:nvPr/>
            </p:nvSpPr>
            <p:spPr bwMode="auto">
              <a:xfrm>
                <a:off x="975" y="1594"/>
                <a:ext cx="0" cy="679"/>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658" name="Line 387"/>
              <p:cNvSpPr>
                <a:spLocks noChangeShapeType="1"/>
              </p:cNvSpPr>
              <p:nvPr/>
            </p:nvSpPr>
            <p:spPr bwMode="auto">
              <a:xfrm>
                <a:off x="385" y="1367"/>
                <a:ext cx="567" cy="0"/>
              </a:xfrm>
              <a:prstGeom prst="line">
                <a:avLst/>
              </a:prstGeom>
              <a:noFill/>
              <a:ln w="19050">
                <a:solidFill>
                  <a:srgbClr val="FF0000"/>
                </a:solidFill>
                <a:prstDash val="lg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grpSp>
      </p:grpSp>
      <p:sp>
        <p:nvSpPr>
          <p:cNvPr id="188804" name="Rectangle 388"/>
          <p:cNvSpPr>
            <a:spLocks noChangeArrowheads="1"/>
          </p:cNvSpPr>
          <p:nvPr/>
        </p:nvSpPr>
        <p:spPr bwMode="auto">
          <a:xfrm>
            <a:off x="8153400" y="5062904"/>
            <a:ext cx="215412" cy="703385"/>
          </a:xfrm>
          <a:prstGeom prst="rect">
            <a:avLst/>
          </a:prstGeom>
          <a:gradFill rotWithShape="1">
            <a:gsLst>
              <a:gs pos="0">
                <a:srgbClr val="595959"/>
              </a:gs>
              <a:gs pos="50000">
                <a:srgbClr val="C0C0C0"/>
              </a:gs>
              <a:gs pos="100000">
                <a:srgbClr val="595959"/>
              </a:gs>
            </a:gsLst>
            <a:lin ang="5400000" scaled="1"/>
          </a:gradFill>
          <a:ln w="38100">
            <a:solidFill>
              <a:srgbClr val="9933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黑体" panose="02010609060101010101" pitchFamily="49" charset="-122"/>
                <a:ea typeface="黑体" panose="02010609060101010101" pitchFamily="49" charset="-122"/>
              </a:defRPr>
            </a:lvl1pPr>
            <a:lvl2pPr marL="742950" indent="-285750" eaLnBrk="0" hangingPunct="0">
              <a:defRPr kumimoji="1" sz="2400" b="1">
                <a:solidFill>
                  <a:schemeClr val="tx1"/>
                </a:solidFill>
                <a:latin typeface="黑体" panose="02010609060101010101" pitchFamily="49" charset="-122"/>
                <a:ea typeface="黑体" panose="02010609060101010101" pitchFamily="49" charset="-122"/>
              </a:defRPr>
            </a:lvl2pPr>
            <a:lvl3pPr marL="1143000" indent="-228600" eaLnBrk="0" hangingPunct="0">
              <a:defRPr kumimoji="1" sz="2400" b="1">
                <a:solidFill>
                  <a:schemeClr val="tx1"/>
                </a:solidFill>
                <a:latin typeface="黑体" panose="02010609060101010101" pitchFamily="49" charset="-122"/>
                <a:ea typeface="黑体" panose="02010609060101010101" pitchFamily="49" charset="-122"/>
              </a:defRPr>
            </a:lvl3pPr>
            <a:lvl4pPr marL="1600200" indent="-228600" eaLnBrk="0" hangingPunct="0">
              <a:defRPr kumimoji="1" sz="2400" b="1">
                <a:solidFill>
                  <a:schemeClr val="tx1"/>
                </a:solidFill>
                <a:latin typeface="黑体" panose="02010609060101010101" pitchFamily="49" charset="-122"/>
                <a:ea typeface="黑体" panose="02010609060101010101" pitchFamily="49" charset="-122"/>
              </a:defRPr>
            </a:lvl4pPr>
            <a:lvl5pPr marL="2057400" indent="-228600" eaLnBrk="0" hangingPunct="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pPr eaLnBrk="1" hangingPunct="1"/>
            <a:endParaRPr lang="zh-CN" altLang="en-US" sz="2215"/>
          </a:p>
        </p:txBody>
      </p:sp>
      <p:sp>
        <p:nvSpPr>
          <p:cNvPr id="188805" name="Rectangle 389"/>
          <p:cNvSpPr>
            <a:spLocks noChangeArrowheads="1"/>
          </p:cNvSpPr>
          <p:nvPr/>
        </p:nvSpPr>
        <p:spPr bwMode="auto">
          <a:xfrm>
            <a:off x="1752600" y="4922228"/>
            <a:ext cx="914400" cy="984738"/>
          </a:xfrm>
          <a:prstGeom prst="rect">
            <a:avLst/>
          </a:prstGeom>
          <a:gradFill rotWithShape="1">
            <a:gsLst>
              <a:gs pos="0">
                <a:srgbClr val="595959"/>
              </a:gs>
              <a:gs pos="50000">
                <a:srgbClr val="C0C0C0"/>
              </a:gs>
              <a:gs pos="100000">
                <a:srgbClr val="595959"/>
              </a:gs>
            </a:gsLst>
            <a:lin ang="5400000" scaled="1"/>
          </a:gradFill>
          <a:ln w="38100">
            <a:solidFill>
              <a:srgbClr val="9933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黑体" panose="02010609060101010101" pitchFamily="49" charset="-122"/>
                <a:ea typeface="黑体" panose="02010609060101010101" pitchFamily="49" charset="-122"/>
              </a:defRPr>
            </a:lvl1pPr>
            <a:lvl2pPr marL="742950" indent="-285750" eaLnBrk="0" hangingPunct="0">
              <a:defRPr kumimoji="1" sz="2400" b="1">
                <a:solidFill>
                  <a:schemeClr val="tx1"/>
                </a:solidFill>
                <a:latin typeface="黑体" panose="02010609060101010101" pitchFamily="49" charset="-122"/>
                <a:ea typeface="黑体" panose="02010609060101010101" pitchFamily="49" charset="-122"/>
              </a:defRPr>
            </a:lvl2pPr>
            <a:lvl3pPr marL="1143000" indent="-228600" eaLnBrk="0" hangingPunct="0">
              <a:defRPr kumimoji="1" sz="2400" b="1">
                <a:solidFill>
                  <a:schemeClr val="tx1"/>
                </a:solidFill>
                <a:latin typeface="黑体" panose="02010609060101010101" pitchFamily="49" charset="-122"/>
                <a:ea typeface="黑体" panose="02010609060101010101" pitchFamily="49" charset="-122"/>
              </a:defRPr>
            </a:lvl3pPr>
            <a:lvl4pPr marL="1600200" indent="-228600" eaLnBrk="0" hangingPunct="0">
              <a:defRPr kumimoji="1" sz="2400" b="1">
                <a:solidFill>
                  <a:schemeClr val="tx1"/>
                </a:solidFill>
                <a:latin typeface="黑体" panose="02010609060101010101" pitchFamily="49" charset="-122"/>
                <a:ea typeface="黑体" panose="02010609060101010101" pitchFamily="49" charset="-122"/>
              </a:defRPr>
            </a:lvl4pPr>
            <a:lvl5pPr marL="2057400" indent="-228600" eaLnBrk="0" hangingPunct="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pPr eaLnBrk="1" hangingPunct="1"/>
            <a:endParaRPr lang="zh-CN" altLang="en-US" sz="2215"/>
          </a:p>
        </p:txBody>
      </p:sp>
      <p:sp>
        <p:nvSpPr>
          <p:cNvPr id="188806" name="Rectangle 390"/>
          <p:cNvSpPr>
            <a:spLocks noChangeArrowheads="1"/>
          </p:cNvSpPr>
          <p:nvPr/>
        </p:nvSpPr>
        <p:spPr bwMode="auto">
          <a:xfrm>
            <a:off x="5486400" y="5224097"/>
            <a:ext cx="2590800" cy="401515"/>
          </a:xfrm>
          <a:prstGeom prst="rect">
            <a:avLst/>
          </a:prstGeom>
          <a:gradFill rotWithShape="1">
            <a:gsLst>
              <a:gs pos="0">
                <a:srgbClr val="76475E"/>
              </a:gs>
              <a:gs pos="50000">
                <a:srgbClr val="FF99CC"/>
              </a:gs>
              <a:gs pos="100000">
                <a:srgbClr val="76475E"/>
              </a:gs>
            </a:gsLst>
            <a:lin ang="5400000" scaled="1"/>
          </a:gradFill>
          <a:ln w="381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黑体" panose="02010609060101010101" pitchFamily="49" charset="-122"/>
                <a:ea typeface="黑体" panose="02010609060101010101" pitchFamily="49" charset="-122"/>
              </a:defRPr>
            </a:lvl1pPr>
            <a:lvl2pPr marL="742950" indent="-285750" eaLnBrk="0" hangingPunct="0">
              <a:defRPr kumimoji="1" sz="2400" b="1">
                <a:solidFill>
                  <a:schemeClr val="tx1"/>
                </a:solidFill>
                <a:latin typeface="黑体" panose="02010609060101010101" pitchFamily="49" charset="-122"/>
                <a:ea typeface="黑体" panose="02010609060101010101" pitchFamily="49" charset="-122"/>
              </a:defRPr>
            </a:lvl2pPr>
            <a:lvl3pPr marL="1143000" indent="-228600" eaLnBrk="0" hangingPunct="0">
              <a:defRPr kumimoji="1" sz="2400" b="1">
                <a:solidFill>
                  <a:schemeClr val="tx1"/>
                </a:solidFill>
                <a:latin typeface="黑体" panose="02010609060101010101" pitchFamily="49" charset="-122"/>
                <a:ea typeface="黑体" panose="02010609060101010101" pitchFamily="49" charset="-122"/>
              </a:defRPr>
            </a:lvl3pPr>
            <a:lvl4pPr marL="1600200" indent="-228600" eaLnBrk="0" hangingPunct="0">
              <a:defRPr kumimoji="1" sz="2400" b="1">
                <a:solidFill>
                  <a:schemeClr val="tx1"/>
                </a:solidFill>
                <a:latin typeface="黑体" panose="02010609060101010101" pitchFamily="49" charset="-122"/>
                <a:ea typeface="黑体" panose="02010609060101010101" pitchFamily="49" charset="-122"/>
              </a:defRPr>
            </a:lvl4pPr>
            <a:lvl5pPr marL="2057400" indent="-228600" eaLnBrk="0" hangingPunct="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pPr eaLnBrk="1" hangingPunct="1"/>
            <a:endParaRPr lang="zh-CN" altLang="en-US" sz="2215"/>
          </a:p>
        </p:txBody>
      </p:sp>
      <p:sp>
        <p:nvSpPr>
          <p:cNvPr id="188807" name="Rectangle 391"/>
          <p:cNvSpPr>
            <a:spLocks noChangeArrowheads="1"/>
          </p:cNvSpPr>
          <p:nvPr/>
        </p:nvSpPr>
        <p:spPr bwMode="auto">
          <a:xfrm>
            <a:off x="2971800" y="4957397"/>
            <a:ext cx="1219200" cy="949569"/>
          </a:xfrm>
          <a:prstGeom prst="rect">
            <a:avLst/>
          </a:prstGeom>
          <a:gradFill rotWithShape="1">
            <a:gsLst>
              <a:gs pos="0">
                <a:srgbClr val="474776"/>
              </a:gs>
              <a:gs pos="50000">
                <a:srgbClr val="9999FF"/>
              </a:gs>
              <a:gs pos="100000">
                <a:srgbClr val="474776"/>
              </a:gs>
            </a:gsLst>
            <a:lin ang="5400000" scaled="1"/>
          </a:gradFill>
          <a:ln w="381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黑体" panose="02010609060101010101" pitchFamily="49" charset="-122"/>
                <a:ea typeface="黑体" panose="02010609060101010101" pitchFamily="49" charset="-122"/>
              </a:defRPr>
            </a:lvl1pPr>
            <a:lvl2pPr marL="742950" indent="-285750" eaLnBrk="0" hangingPunct="0">
              <a:defRPr kumimoji="1" sz="2400" b="1">
                <a:solidFill>
                  <a:schemeClr val="tx1"/>
                </a:solidFill>
                <a:latin typeface="黑体" panose="02010609060101010101" pitchFamily="49" charset="-122"/>
                <a:ea typeface="黑体" panose="02010609060101010101" pitchFamily="49" charset="-122"/>
              </a:defRPr>
            </a:lvl2pPr>
            <a:lvl3pPr marL="1143000" indent="-228600" eaLnBrk="0" hangingPunct="0">
              <a:defRPr kumimoji="1" sz="2400" b="1">
                <a:solidFill>
                  <a:schemeClr val="tx1"/>
                </a:solidFill>
                <a:latin typeface="黑体" panose="02010609060101010101" pitchFamily="49" charset="-122"/>
                <a:ea typeface="黑体" panose="02010609060101010101" pitchFamily="49" charset="-122"/>
              </a:defRPr>
            </a:lvl3pPr>
            <a:lvl4pPr marL="1600200" indent="-228600" eaLnBrk="0" hangingPunct="0">
              <a:defRPr kumimoji="1" sz="2400" b="1">
                <a:solidFill>
                  <a:schemeClr val="tx1"/>
                </a:solidFill>
                <a:latin typeface="黑体" panose="02010609060101010101" pitchFamily="49" charset="-122"/>
                <a:ea typeface="黑体" panose="02010609060101010101" pitchFamily="49" charset="-122"/>
              </a:defRPr>
            </a:lvl4pPr>
            <a:lvl5pPr marL="2057400" indent="-228600" eaLnBrk="0" hangingPunct="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pPr eaLnBrk="1" hangingPunct="1"/>
            <a:endParaRPr lang="zh-CN" altLang="en-US" sz="2215"/>
          </a:p>
        </p:txBody>
      </p:sp>
      <p:sp>
        <p:nvSpPr>
          <p:cNvPr id="188808" name="Rectangle 392"/>
          <p:cNvSpPr>
            <a:spLocks noChangeArrowheads="1"/>
          </p:cNvSpPr>
          <p:nvPr/>
        </p:nvSpPr>
        <p:spPr bwMode="auto">
          <a:xfrm>
            <a:off x="5486401" y="5062904"/>
            <a:ext cx="1116623" cy="703385"/>
          </a:xfrm>
          <a:prstGeom prst="rect">
            <a:avLst/>
          </a:prstGeom>
          <a:gradFill rotWithShape="1">
            <a:gsLst>
              <a:gs pos="0">
                <a:srgbClr val="005E76"/>
              </a:gs>
              <a:gs pos="50000">
                <a:srgbClr val="00CCFF"/>
              </a:gs>
              <a:gs pos="100000">
                <a:srgbClr val="005E76"/>
              </a:gs>
            </a:gsLst>
            <a:lin ang="5400000" scaled="1"/>
          </a:gradFill>
          <a:ln w="381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黑体" panose="02010609060101010101" pitchFamily="49" charset="-122"/>
                <a:ea typeface="黑体" panose="02010609060101010101" pitchFamily="49" charset="-122"/>
              </a:defRPr>
            </a:lvl1pPr>
            <a:lvl2pPr marL="742950" indent="-285750" eaLnBrk="0" hangingPunct="0">
              <a:defRPr kumimoji="1" sz="2400" b="1">
                <a:solidFill>
                  <a:schemeClr val="tx1"/>
                </a:solidFill>
                <a:latin typeface="黑体" panose="02010609060101010101" pitchFamily="49" charset="-122"/>
                <a:ea typeface="黑体" panose="02010609060101010101" pitchFamily="49" charset="-122"/>
              </a:defRPr>
            </a:lvl2pPr>
            <a:lvl3pPr marL="1143000" indent="-228600" eaLnBrk="0" hangingPunct="0">
              <a:defRPr kumimoji="1" sz="2400" b="1">
                <a:solidFill>
                  <a:schemeClr val="tx1"/>
                </a:solidFill>
                <a:latin typeface="黑体" panose="02010609060101010101" pitchFamily="49" charset="-122"/>
                <a:ea typeface="黑体" panose="02010609060101010101" pitchFamily="49" charset="-122"/>
              </a:defRPr>
            </a:lvl3pPr>
            <a:lvl4pPr marL="1600200" indent="-228600" eaLnBrk="0" hangingPunct="0">
              <a:defRPr kumimoji="1" sz="2400" b="1">
                <a:solidFill>
                  <a:schemeClr val="tx1"/>
                </a:solidFill>
                <a:latin typeface="黑体" panose="02010609060101010101" pitchFamily="49" charset="-122"/>
                <a:ea typeface="黑体" panose="02010609060101010101" pitchFamily="49" charset="-122"/>
              </a:defRPr>
            </a:lvl4pPr>
            <a:lvl5pPr marL="2057400" indent="-228600" eaLnBrk="0" hangingPunct="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pPr eaLnBrk="1" hangingPunct="1"/>
            <a:endParaRPr lang="zh-CN" altLang="en-US" sz="2215"/>
          </a:p>
        </p:txBody>
      </p:sp>
      <p:grpSp>
        <p:nvGrpSpPr>
          <p:cNvPr id="188809" name="Group 393"/>
          <p:cNvGrpSpPr/>
          <p:nvPr/>
        </p:nvGrpSpPr>
        <p:grpSpPr bwMode="auto">
          <a:xfrm>
            <a:off x="7020659" y="5290039"/>
            <a:ext cx="1074126" cy="266700"/>
            <a:chOff x="4150" y="2205"/>
            <a:chExt cx="725" cy="137"/>
          </a:xfrm>
        </p:grpSpPr>
        <p:sp>
          <p:nvSpPr>
            <p:cNvPr id="24646" name="Rectangle 394"/>
            <p:cNvSpPr>
              <a:spLocks noChangeArrowheads="1"/>
            </p:cNvSpPr>
            <p:nvPr/>
          </p:nvSpPr>
          <p:spPr bwMode="auto">
            <a:xfrm>
              <a:off x="4195" y="2205"/>
              <a:ext cx="680" cy="137"/>
            </a:xfrm>
            <a:prstGeom prst="rect">
              <a:avLst/>
            </a:prstGeom>
            <a:solidFill>
              <a:srgbClr val="FFFF99"/>
            </a:solidFill>
            <a:ln w="38100">
              <a:solidFill>
                <a:srgbClr val="80008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黑体" panose="02010609060101010101" pitchFamily="49" charset="-122"/>
                  <a:ea typeface="黑体" panose="02010609060101010101" pitchFamily="49" charset="-122"/>
                </a:defRPr>
              </a:lvl1pPr>
              <a:lvl2pPr marL="742950" indent="-285750" eaLnBrk="0" hangingPunct="0">
                <a:defRPr kumimoji="1" sz="2400" b="1">
                  <a:solidFill>
                    <a:schemeClr val="tx1"/>
                  </a:solidFill>
                  <a:latin typeface="黑体" panose="02010609060101010101" pitchFamily="49" charset="-122"/>
                  <a:ea typeface="黑体" panose="02010609060101010101" pitchFamily="49" charset="-122"/>
                </a:defRPr>
              </a:lvl2pPr>
              <a:lvl3pPr marL="1143000" indent="-228600" eaLnBrk="0" hangingPunct="0">
                <a:defRPr kumimoji="1" sz="2400" b="1">
                  <a:solidFill>
                    <a:schemeClr val="tx1"/>
                  </a:solidFill>
                  <a:latin typeface="黑体" panose="02010609060101010101" pitchFamily="49" charset="-122"/>
                  <a:ea typeface="黑体" panose="02010609060101010101" pitchFamily="49" charset="-122"/>
                </a:defRPr>
              </a:lvl3pPr>
              <a:lvl4pPr marL="1600200" indent="-228600" eaLnBrk="0" hangingPunct="0">
                <a:defRPr kumimoji="1" sz="2400" b="1">
                  <a:solidFill>
                    <a:schemeClr val="tx1"/>
                  </a:solidFill>
                  <a:latin typeface="黑体" panose="02010609060101010101" pitchFamily="49" charset="-122"/>
                  <a:ea typeface="黑体" panose="02010609060101010101" pitchFamily="49" charset="-122"/>
                </a:defRPr>
              </a:lvl4pPr>
              <a:lvl5pPr marL="2057400" indent="-228600" eaLnBrk="0" hangingPunct="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pPr eaLnBrk="1" hangingPunct="1"/>
              <a:endParaRPr lang="zh-CN" altLang="en-US" sz="2215"/>
            </a:p>
          </p:txBody>
        </p:sp>
        <p:sp>
          <p:nvSpPr>
            <p:cNvPr id="24647" name="Arc 395"/>
            <p:cNvSpPr/>
            <p:nvPr/>
          </p:nvSpPr>
          <p:spPr bwMode="auto">
            <a:xfrm rot="-5400000">
              <a:off x="4150" y="2205"/>
              <a:ext cx="68" cy="6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solidFill>
              <a:srgbClr val="FFFF99"/>
            </a:solidFill>
            <a:ln w="38100">
              <a:solidFill>
                <a:srgbClr val="80008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845"/>
            </a:p>
          </p:txBody>
        </p:sp>
        <p:sp>
          <p:nvSpPr>
            <p:cNvPr id="24648" name="Arc 396"/>
            <p:cNvSpPr/>
            <p:nvPr/>
          </p:nvSpPr>
          <p:spPr bwMode="auto">
            <a:xfrm rot="5400000" flipV="1">
              <a:off x="4150" y="2273"/>
              <a:ext cx="68" cy="6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solidFill>
              <a:srgbClr val="FFFF99"/>
            </a:solidFill>
            <a:ln w="38100">
              <a:solidFill>
                <a:srgbClr val="80008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845"/>
            </a:p>
          </p:txBody>
        </p:sp>
      </p:grpSp>
      <p:sp>
        <p:nvSpPr>
          <p:cNvPr id="188813" name="AutoShape 397"/>
          <p:cNvSpPr>
            <a:spLocks noChangeArrowheads="1"/>
          </p:cNvSpPr>
          <p:nvPr/>
        </p:nvSpPr>
        <p:spPr bwMode="auto">
          <a:xfrm>
            <a:off x="3048000" y="5273920"/>
            <a:ext cx="1059474" cy="328246"/>
          </a:xfrm>
          <a:prstGeom prst="flowChartTerminator">
            <a:avLst/>
          </a:prstGeom>
          <a:solidFill>
            <a:srgbClr val="FFFF99"/>
          </a:solidFill>
          <a:ln w="38100">
            <a:solidFill>
              <a:srgbClr val="3333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黑体" panose="02010609060101010101" pitchFamily="49" charset="-122"/>
                <a:ea typeface="黑体" panose="02010609060101010101" pitchFamily="49" charset="-122"/>
              </a:defRPr>
            </a:lvl1pPr>
            <a:lvl2pPr marL="742950" indent="-285750" eaLnBrk="0" hangingPunct="0">
              <a:defRPr kumimoji="1" sz="2400" b="1">
                <a:solidFill>
                  <a:schemeClr val="tx1"/>
                </a:solidFill>
                <a:latin typeface="黑体" panose="02010609060101010101" pitchFamily="49" charset="-122"/>
                <a:ea typeface="黑体" panose="02010609060101010101" pitchFamily="49" charset="-122"/>
              </a:defRPr>
            </a:lvl2pPr>
            <a:lvl3pPr marL="1143000" indent="-228600" eaLnBrk="0" hangingPunct="0">
              <a:defRPr kumimoji="1" sz="2400" b="1">
                <a:solidFill>
                  <a:schemeClr val="tx1"/>
                </a:solidFill>
                <a:latin typeface="黑体" panose="02010609060101010101" pitchFamily="49" charset="-122"/>
                <a:ea typeface="黑体" panose="02010609060101010101" pitchFamily="49" charset="-122"/>
              </a:defRPr>
            </a:lvl3pPr>
            <a:lvl4pPr marL="1600200" indent="-228600" eaLnBrk="0" hangingPunct="0">
              <a:defRPr kumimoji="1" sz="2400" b="1">
                <a:solidFill>
                  <a:schemeClr val="tx1"/>
                </a:solidFill>
                <a:latin typeface="黑体" panose="02010609060101010101" pitchFamily="49" charset="-122"/>
                <a:ea typeface="黑体" panose="02010609060101010101" pitchFamily="49" charset="-122"/>
              </a:defRPr>
            </a:lvl4pPr>
            <a:lvl5pPr marL="2057400" indent="-228600" eaLnBrk="0" hangingPunct="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pPr eaLnBrk="1" hangingPunct="1"/>
            <a:endParaRPr lang="zh-CN" altLang="en-US" sz="2215"/>
          </a:p>
        </p:txBody>
      </p:sp>
      <p:grpSp>
        <p:nvGrpSpPr>
          <p:cNvPr id="188814" name="Group 398"/>
          <p:cNvGrpSpPr/>
          <p:nvPr/>
        </p:nvGrpSpPr>
        <p:grpSpPr bwMode="auto">
          <a:xfrm>
            <a:off x="4191000" y="4621823"/>
            <a:ext cx="709246" cy="773723"/>
            <a:chOff x="2640" y="1824"/>
            <a:chExt cx="447" cy="528"/>
          </a:xfrm>
        </p:grpSpPr>
        <p:sp>
          <p:nvSpPr>
            <p:cNvPr id="24634" name="Line 399"/>
            <p:cNvSpPr>
              <a:spLocks noChangeShapeType="1"/>
            </p:cNvSpPr>
            <p:nvPr/>
          </p:nvSpPr>
          <p:spPr bwMode="auto">
            <a:xfrm>
              <a:off x="2784" y="1824"/>
              <a:ext cx="0" cy="144"/>
            </a:xfrm>
            <a:prstGeom prst="line">
              <a:avLst/>
            </a:prstGeom>
            <a:noFill/>
            <a:ln w="38100">
              <a:solidFill>
                <a:srgbClr val="8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845"/>
            </a:p>
          </p:txBody>
        </p:sp>
        <p:sp>
          <p:nvSpPr>
            <p:cNvPr id="24635" name="Line 400"/>
            <p:cNvSpPr>
              <a:spLocks noChangeShapeType="1"/>
            </p:cNvSpPr>
            <p:nvPr/>
          </p:nvSpPr>
          <p:spPr bwMode="auto">
            <a:xfrm flipH="1">
              <a:off x="2640" y="1872"/>
              <a:ext cx="144" cy="144"/>
            </a:xfrm>
            <a:prstGeom prst="line">
              <a:avLst/>
            </a:prstGeom>
            <a:noFill/>
            <a:ln w="12700">
              <a:solidFill>
                <a:srgbClr val="66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845"/>
            </a:p>
          </p:txBody>
        </p:sp>
        <p:grpSp>
          <p:nvGrpSpPr>
            <p:cNvPr id="24636" name="Group 401"/>
            <p:cNvGrpSpPr/>
            <p:nvPr/>
          </p:nvGrpSpPr>
          <p:grpSpPr bwMode="auto">
            <a:xfrm>
              <a:off x="2688" y="1824"/>
              <a:ext cx="399" cy="528"/>
              <a:chOff x="2688" y="1824"/>
              <a:chExt cx="399" cy="528"/>
            </a:xfrm>
          </p:grpSpPr>
          <p:sp>
            <p:nvSpPr>
              <p:cNvPr id="24637" name="Line 402"/>
              <p:cNvSpPr>
                <a:spLocks noChangeShapeType="1"/>
              </p:cNvSpPr>
              <p:nvPr/>
            </p:nvSpPr>
            <p:spPr bwMode="auto">
              <a:xfrm>
                <a:off x="2688" y="1824"/>
                <a:ext cx="0" cy="528"/>
              </a:xfrm>
              <a:prstGeom prst="line">
                <a:avLst/>
              </a:prstGeom>
              <a:noFill/>
              <a:ln w="38100">
                <a:solidFill>
                  <a:srgbClr val="8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638" name="Line 403"/>
              <p:cNvSpPr>
                <a:spLocks noChangeShapeType="1"/>
              </p:cNvSpPr>
              <p:nvPr/>
            </p:nvSpPr>
            <p:spPr bwMode="auto">
              <a:xfrm>
                <a:off x="3072" y="1968"/>
                <a:ext cx="15" cy="384"/>
              </a:xfrm>
              <a:prstGeom prst="line">
                <a:avLst/>
              </a:prstGeom>
              <a:noFill/>
              <a:ln w="38100">
                <a:solidFill>
                  <a:srgbClr val="8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639" name="Line 404"/>
              <p:cNvSpPr>
                <a:spLocks noChangeShapeType="1"/>
              </p:cNvSpPr>
              <p:nvPr/>
            </p:nvSpPr>
            <p:spPr bwMode="auto">
              <a:xfrm flipH="1">
                <a:off x="2784" y="1968"/>
                <a:ext cx="288" cy="0"/>
              </a:xfrm>
              <a:prstGeom prst="line">
                <a:avLst/>
              </a:prstGeom>
              <a:noFill/>
              <a:ln w="38100">
                <a:solidFill>
                  <a:srgbClr val="8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845"/>
              </a:p>
            </p:txBody>
          </p:sp>
          <p:sp>
            <p:nvSpPr>
              <p:cNvPr id="24640" name="Line 405"/>
              <p:cNvSpPr>
                <a:spLocks noChangeShapeType="1"/>
              </p:cNvSpPr>
              <p:nvPr/>
            </p:nvSpPr>
            <p:spPr bwMode="auto">
              <a:xfrm>
                <a:off x="2688" y="1824"/>
                <a:ext cx="96" cy="0"/>
              </a:xfrm>
              <a:prstGeom prst="line">
                <a:avLst/>
              </a:prstGeom>
              <a:noFill/>
              <a:ln w="38100">
                <a:solidFill>
                  <a:srgbClr val="8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845"/>
              </a:p>
            </p:txBody>
          </p:sp>
          <p:sp>
            <p:nvSpPr>
              <p:cNvPr id="24641" name="Line 406"/>
              <p:cNvSpPr>
                <a:spLocks noChangeShapeType="1"/>
              </p:cNvSpPr>
              <p:nvPr/>
            </p:nvSpPr>
            <p:spPr bwMode="auto">
              <a:xfrm flipH="1">
                <a:off x="2688" y="1824"/>
                <a:ext cx="48" cy="48"/>
              </a:xfrm>
              <a:prstGeom prst="line">
                <a:avLst/>
              </a:prstGeom>
              <a:noFill/>
              <a:ln w="12700">
                <a:solidFill>
                  <a:srgbClr val="66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845"/>
              </a:p>
            </p:txBody>
          </p:sp>
          <p:sp>
            <p:nvSpPr>
              <p:cNvPr id="24642" name="Line 407"/>
              <p:cNvSpPr>
                <a:spLocks noChangeShapeType="1"/>
              </p:cNvSpPr>
              <p:nvPr/>
            </p:nvSpPr>
            <p:spPr bwMode="auto">
              <a:xfrm flipH="1">
                <a:off x="2688" y="1968"/>
                <a:ext cx="96" cy="96"/>
              </a:xfrm>
              <a:prstGeom prst="line">
                <a:avLst/>
              </a:prstGeom>
              <a:noFill/>
              <a:ln w="12700">
                <a:solidFill>
                  <a:srgbClr val="66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845"/>
              </a:p>
            </p:txBody>
          </p:sp>
          <p:sp>
            <p:nvSpPr>
              <p:cNvPr id="24643" name="Line 408"/>
              <p:cNvSpPr>
                <a:spLocks noChangeShapeType="1"/>
              </p:cNvSpPr>
              <p:nvPr/>
            </p:nvSpPr>
            <p:spPr bwMode="auto">
              <a:xfrm flipH="1">
                <a:off x="2784" y="1968"/>
                <a:ext cx="96" cy="96"/>
              </a:xfrm>
              <a:prstGeom prst="line">
                <a:avLst/>
              </a:prstGeom>
              <a:noFill/>
              <a:ln w="12700">
                <a:solidFill>
                  <a:srgbClr val="66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845"/>
              </a:p>
            </p:txBody>
          </p:sp>
          <p:sp>
            <p:nvSpPr>
              <p:cNvPr id="24644" name="Line 409"/>
              <p:cNvSpPr>
                <a:spLocks noChangeShapeType="1"/>
              </p:cNvSpPr>
              <p:nvPr/>
            </p:nvSpPr>
            <p:spPr bwMode="auto">
              <a:xfrm flipH="1">
                <a:off x="2880" y="1968"/>
                <a:ext cx="96" cy="96"/>
              </a:xfrm>
              <a:prstGeom prst="line">
                <a:avLst/>
              </a:prstGeom>
              <a:noFill/>
              <a:ln w="12700">
                <a:solidFill>
                  <a:srgbClr val="66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845"/>
              </a:p>
            </p:txBody>
          </p:sp>
          <p:sp>
            <p:nvSpPr>
              <p:cNvPr id="24645" name="Line 410"/>
              <p:cNvSpPr>
                <a:spLocks noChangeShapeType="1"/>
              </p:cNvSpPr>
              <p:nvPr/>
            </p:nvSpPr>
            <p:spPr bwMode="auto">
              <a:xfrm flipH="1">
                <a:off x="2976" y="1968"/>
                <a:ext cx="96" cy="96"/>
              </a:xfrm>
              <a:prstGeom prst="line">
                <a:avLst/>
              </a:prstGeom>
              <a:noFill/>
              <a:ln w="12700">
                <a:solidFill>
                  <a:srgbClr val="66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845"/>
              </a:p>
            </p:txBody>
          </p:sp>
        </p:grpSp>
      </p:grpSp>
      <p:sp>
        <p:nvSpPr>
          <p:cNvPr id="188827" name="Rectangle 411"/>
          <p:cNvSpPr>
            <a:spLocks noChangeArrowheads="1"/>
          </p:cNvSpPr>
          <p:nvPr/>
        </p:nvSpPr>
        <p:spPr bwMode="auto">
          <a:xfrm>
            <a:off x="4191000" y="4992566"/>
            <a:ext cx="1295400" cy="863111"/>
          </a:xfrm>
          <a:prstGeom prst="rect">
            <a:avLst/>
          </a:prstGeom>
          <a:gradFill rotWithShape="1">
            <a:gsLst>
              <a:gs pos="0">
                <a:srgbClr val="765E2F"/>
              </a:gs>
              <a:gs pos="50000">
                <a:srgbClr val="FFCC66"/>
              </a:gs>
              <a:gs pos="100000">
                <a:srgbClr val="765E2F"/>
              </a:gs>
            </a:gsLst>
            <a:lin ang="5400000" scaled="1"/>
          </a:gradFill>
          <a:ln w="381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黑体" panose="02010609060101010101" pitchFamily="49" charset="-122"/>
                <a:ea typeface="黑体" panose="02010609060101010101" pitchFamily="49" charset="-122"/>
              </a:defRPr>
            </a:lvl1pPr>
            <a:lvl2pPr marL="742950" indent="-285750" eaLnBrk="0" hangingPunct="0">
              <a:defRPr kumimoji="1" sz="2400" b="1">
                <a:solidFill>
                  <a:schemeClr val="tx1"/>
                </a:solidFill>
                <a:latin typeface="黑体" panose="02010609060101010101" pitchFamily="49" charset="-122"/>
                <a:ea typeface="黑体" panose="02010609060101010101" pitchFamily="49" charset="-122"/>
              </a:defRPr>
            </a:lvl2pPr>
            <a:lvl3pPr marL="1143000" indent="-228600" eaLnBrk="0" hangingPunct="0">
              <a:defRPr kumimoji="1" sz="2400" b="1">
                <a:solidFill>
                  <a:schemeClr val="tx1"/>
                </a:solidFill>
                <a:latin typeface="黑体" panose="02010609060101010101" pitchFamily="49" charset="-122"/>
                <a:ea typeface="黑体" panose="02010609060101010101" pitchFamily="49" charset="-122"/>
              </a:defRPr>
            </a:lvl3pPr>
            <a:lvl4pPr marL="1600200" indent="-228600" eaLnBrk="0" hangingPunct="0">
              <a:defRPr kumimoji="1" sz="2400" b="1">
                <a:solidFill>
                  <a:schemeClr val="tx1"/>
                </a:solidFill>
                <a:latin typeface="黑体" panose="02010609060101010101" pitchFamily="49" charset="-122"/>
                <a:ea typeface="黑体" panose="02010609060101010101" pitchFamily="49" charset="-122"/>
              </a:defRPr>
            </a:lvl4pPr>
            <a:lvl5pPr marL="2057400" indent="-228600" eaLnBrk="0" hangingPunct="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pPr eaLnBrk="1" hangingPunct="1"/>
            <a:endParaRPr lang="zh-CN" altLang="en-US" sz="2215"/>
          </a:p>
        </p:txBody>
      </p:sp>
      <p:sp>
        <p:nvSpPr>
          <p:cNvPr id="188828" name="Line 412"/>
          <p:cNvSpPr>
            <a:spLocks noChangeShapeType="1"/>
          </p:cNvSpPr>
          <p:nvPr/>
        </p:nvSpPr>
        <p:spPr bwMode="auto">
          <a:xfrm>
            <a:off x="451338" y="5423389"/>
            <a:ext cx="8458200" cy="0"/>
          </a:xfrm>
          <a:prstGeom prst="line">
            <a:avLst/>
          </a:prstGeom>
          <a:noFill/>
          <a:ln w="19050">
            <a:solidFill>
              <a:srgbClr val="FF0000"/>
            </a:solidFill>
            <a:prstDash val="lg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grpSp>
        <p:nvGrpSpPr>
          <p:cNvPr id="188829" name="Group 413"/>
          <p:cNvGrpSpPr/>
          <p:nvPr/>
        </p:nvGrpSpPr>
        <p:grpSpPr bwMode="auto">
          <a:xfrm>
            <a:off x="8077200" y="5344258"/>
            <a:ext cx="381000" cy="211015"/>
            <a:chOff x="5088" y="3600"/>
            <a:chExt cx="240" cy="144"/>
          </a:xfrm>
        </p:grpSpPr>
        <p:grpSp>
          <p:nvGrpSpPr>
            <p:cNvPr id="24629" name="Group 414"/>
            <p:cNvGrpSpPr/>
            <p:nvPr/>
          </p:nvGrpSpPr>
          <p:grpSpPr bwMode="auto">
            <a:xfrm>
              <a:off x="5280" y="3600"/>
              <a:ext cx="48" cy="144"/>
              <a:chOff x="5280" y="3168"/>
              <a:chExt cx="48" cy="96"/>
            </a:xfrm>
          </p:grpSpPr>
          <p:sp>
            <p:nvSpPr>
              <p:cNvPr id="24632" name="Rectangle 415"/>
              <p:cNvSpPr>
                <a:spLocks noChangeArrowheads="1"/>
              </p:cNvSpPr>
              <p:nvPr/>
            </p:nvSpPr>
            <p:spPr bwMode="auto">
              <a:xfrm>
                <a:off x="5280" y="3168"/>
                <a:ext cx="48" cy="96"/>
              </a:xfrm>
              <a:prstGeom prst="rect">
                <a:avLst/>
              </a:prstGeom>
              <a:gradFill rotWithShape="1">
                <a:gsLst>
                  <a:gs pos="0">
                    <a:srgbClr val="66FFFF"/>
                  </a:gs>
                  <a:gs pos="100000">
                    <a:srgbClr val="2F7676"/>
                  </a:gs>
                </a:gsLst>
                <a:lin ang="5400000" scaled="1"/>
              </a:gradFill>
              <a:ln w="38100">
                <a:solidFill>
                  <a:srgbClr val="FF00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黑体" panose="02010609060101010101" pitchFamily="49" charset="-122"/>
                    <a:ea typeface="黑体" panose="02010609060101010101" pitchFamily="49" charset="-122"/>
                  </a:defRPr>
                </a:lvl1pPr>
                <a:lvl2pPr marL="742950" indent="-285750" eaLnBrk="0" hangingPunct="0">
                  <a:defRPr kumimoji="1" sz="2400" b="1">
                    <a:solidFill>
                      <a:schemeClr val="tx1"/>
                    </a:solidFill>
                    <a:latin typeface="黑体" panose="02010609060101010101" pitchFamily="49" charset="-122"/>
                    <a:ea typeface="黑体" panose="02010609060101010101" pitchFamily="49" charset="-122"/>
                  </a:defRPr>
                </a:lvl2pPr>
                <a:lvl3pPr marL="1143000" indent="-228600" eaLnBrk="0" hangingPunct="0">
                  <a:defRPr kumimoji="1" sz="2400" b="1">
                    <a:solidFill>
                      <a:schemeClr val="tx1"/>
                    </a:solidFill>
                    <a:latin typeface="黑体" panose="02010609060101010101" pitchFamily="49" charset="-122"/>
                    <a:ea typeface="黑体" panose="02010609060101010101" pitchFamily="49" charset="-122"/>
                  </a:defRPr>
                </a:lvl3pPr>
                <a:lvl4pPr marL="1600200" indent="-228600" eaLnBrk="0" hangingPunct="0">
                  <a:defRPr kumimoji="1" sz="2400" b="1">
                    <a:solidFill>
                      <a:schemeClr val="tx1"/>
                    </a:solidFill>
                    <a:latin typeface="黑体" panose="02010609060101010101" pitchFamily="49" charset="-122"/>
                    <a:ea typeface="黑体" panose="02010609060101010101" pitchFamily="49" charset="-122"/>
                  </a:defRPr>
                </a:lvl4pPr>
                <a:lvl5pPr marL="2057400" indent="-228600" eaLnBrk="0" hangingPunct="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pPr eaLnBrk="1" hangingPunct="1"/>
                <a:endParaRPr lang="zh-CN" altLang="en-US" sz="2215"/>
              </a:p>
            </p:txBody>
          </p:sp>
          <p:sp>
            <p:nvSpPr>
              <p:cNvPr id="24633" name="Line 416"/>
              <p:cNvSpPr>
                <a:spLocks noChangeShapeType="1"/>
              </p:cNvSpPr>
              <p:nvPr/>
            </p:nvSpPr>
            <p:spPr bwMode="auto">
              <a:xfrm>
                <a:off x="5280" y="3216"/>
                <a:ext cx="48" cy="0"/>
              </a:xfrm>
              <a:prstGeom prst="line">
                <a:avLst/>
              </a:prstGeom>
              <a:noFill/>
              <a:ln w="28575">
                <a:solidFill>
                  <a:srgbClr val="FF33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845"/>
              </a:p>
            </p:txBody>
          </p:sp>
        </p:grpSp>
        <p:sp>
          <p:nvSpPr>
            <p:cNvPr id="24630" name="Line 417"/>
            <p:cNvSpPr>
              <a:spLocks noChangeShapeType="1"/>
            </p:cNvSpPr>
            <p:nvPr/>
          </p:nvSpPr>
          <p:spPr bwMode="auto">
            <a:xfrm>
              <a:off x="5088" y="3696"/>
              <a:ext cx="48" cy="0"/>
            </a:xfrm>
            <a:prstGeom prst="line">
              <a:avLst/>
            </a:prstGeom>
            <a:noFill/>
            <a:ln w="28575">
              <a:solidFill>
                <a:srgbClr val="FF33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845"/>
            </a:p>
          </p:txBody>
        </p:sp>
        <p:sp>
          <p:nvSpPr>
            <p:cNvPr id="24631" name="Line 418"/>
            <p:cNvSpPr>
              <a:spLocks noChangeShapeType="1"/>
            </p:cNvSpPr>
            <p:nvPr/>
          </p:nvSpPr>
          <p:spPr bwMode="auto">
            <a:xfrm>
              <a:off x="5088" y="3648"/>
              <a:ext cx="48" cy="0"/>
            </a:xfrm>
            <a:prstGeom prst="line">
              <a:avLst/>
            </a:prstGeom>
            <a:noFill/>
            <a:ln w="28575">
              <a:solidFill>
                <a:srgbClr val="FF33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845"/>
            </a:p>
          </p:txBody>
        </p:sp>
      </p:grpSp>
      <p:sp>
        <p:nvSpPr>
          <p:cNvPr id="188835" name="Rectangle 419"/>
          <p:cNvSpPr>
            <a:spLocks noChangeArrowheads="1"/>
          </p:cNvSpPr>
          <p:nvPr/>
        </p:nvSpPr>
        <p:spPr bwMode="auto">
          <a:xfrm>
            <a:off x="2627435" y="4762500"/>
            <a:ext cx="360485" cy="1263162"/>
          </a:xfrm>
          <a:prstGeom prst="rect">
            <a:avLst/>
          </a:prstGeom>
          <a:gradFill rotWithShape="1">
            <a:gsLst>
              <a:gs pos="0">
                <a:srgbClr val="47762F"/>
              </a:gs>
              <a:gs pos="50000">
                <a:srgbClr val="99FF66"/>
              </a:gs>
              <a:gs pos="100000">
                <a:srgbClr val="47762F"/>
              </a:gs>
            </a:gsLst>
            <a:lin ang="5400000" scaled="1"/>
          </a:gradFill>
          <a:ln w="381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黑体" panose="02010609060101010101" pitchFamily="49" charset="-122"/>
                <a:ea typeface="黑体" panose="02010609060101010101" pitchFamily="49" charset="-122"/>
              </a:defRPr>
            </a:lvl1pPr>
            <a:lvl2pPr marL="742950" indent="-285750" eaLnBrk="0" hangingPunct="0">
              <a:defRPr kumimoji="1" sz="2400" b="1">
                <a:solidFill>
                  <a:schemeClr val="tx1"/>
                </a:solidFill>
                <a:latin typeface="黑体" panose="02010609060101010101" pitchFamily="49" charset="-122"/>
                <a:ea typeface="黑体" panose="02010609060101010101" pitchFamily="49" charset="-122"/>
              </a:defRPr>
            </a:lvl2pPr>
            <a:lvl3pPr marL="1143000" indent="-228600" eaLnBrk="0" hangingPunct="0">
              <a:defRPr kumimoji="1" sz="2400" b="1">
                <a:solidFill>
                  <a:schemeClr val="tx1"/>
                </a:solidFill>
                <a:latin typeface="黑体" panose="02010609060101010101" pitchFamily="49" charset="-122"/>
                <a:ea typeface="黑体" panose="02010609060101010101" pitchFamily="49" charset="-122"/>
              </a:defRPr>
            </a:lvl3pPr>
            <a:lvl4pPr marL="1600200" indent="-228600" eaLnBrk="0" hangingPunct="0">
              <a:defRPr kumimoji="1" sz="2400" b="1">
                <a:solidFill>
                  <a:schemeClr val="tx1"/>
                </a:solidFill>
                <a:latin typeface="黑体" panose="02010609060101010101" pitchFamily="49" charset="-122"/>
                <a:ea typeface="黑体" panose="02010609060101010101" pitchFamily="49" charset="-122"/>
              </a:defRPr>
            </a:lvl4pPr>
            <a:lvl5pPr marL="2057400" indent="-228600" eaLnBrk="0" hangingPunct="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pPr eaLnBrk="1" hangingPunct="1"/>
            <a:endParaRPr lang="zh-CN" altLang="en-US" sz="2215"/>
          </a:p>
        </p:txBody>
      </p:sp>
      <p:grpSp>
        <p:nvGrpSpPr>
          <p:cNvPr id="188838" name="Group 422"/>
          <p:cNvGrpSpPr/>
          <p:nvPr/>
        </p:nvGrpSpPr>
        <p:grpSpPr bwMode="auto">
          <a:xfrm>
            <a:off x="7164266" y="5161085"/>
            <a:ext cx="465992" cy="794238"/>
            <a:chOff x="4889" y="3475"/>
            <a:chExt cx="289" cy="845"/>
          </a:xfrm>
        </p:grpSpPr>
        <p:sp>
          <p:nvSpPr>
            <p:cNvPr id="24627" name="Line 420"/>
            <p:cNvSpPr>
              <a:spLocks noChangeShapeType="1"/>
            </p:cNvSpPr>
            <p:nvPr/>
          </p:nvSpPr>
          <p:spPr bwMode="auto">
            <a:xfrm flipV="1">
              <a:off x="5161" y="3475"/>
              <a:ext cx="0" cy="845"/>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628" name="Text Box 421"/>
            <p:cNvSpPr txBox="1">
              <a:spLocks noChangeArrowheads="1"/>
            </p:cNvSpPr>
            <p:nvPr/>
          </p:nvSpPr>
          <p:spPr bwMode="auto">
            <a:xfrm>
              <a:off x="4889" y="3929"/>
              <a:ext cx="289" cy="3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黑体" panose="02010609060101010101" pitchFamily="49" charset="-122"/>
                  <a:ea typeface="黑体" panose="02010609060101010101" pitchFamily="49" charset="-122"/>
                </a:defRPr>
              </a:lvl1pPr>
              <a:lvl2pPr marL="742950" indent="-285750" eaLnBrk="0" hangingPunct="0">
                <a:defRPr kumimoji="1" sz="2400" b="1">
                  <a:solidFill>
                    <a:schemeClr val="tx1"/>
                  </a:solidFill>
                  <a:latin typeface="黑体" panose="02010609060101010101" pitchFamily="49" charset="-122"/>
                  <a:ea typeface="黑体" panose="02010609060101010101" pitchFamily="49" charset="-122"/>
                </a:defRPr>
              </a:lvl2pPr>
              <a:lvl3pPr marL="1143000" indent="-228600" eaLnBrk="0" hangingPunct="0">
                <a:defRPr kumimoji="1" sz="2400" b="1">
                  <a:solidFill>
                    <a:schemeClr val="tx1"/>
                  </a:solidFill>
                  <a:latin typeface="黑体" panose="02010609060101010101" pitchFamily="49" charset="-122"/>
                  <a:ea typeface="黑体" panose="02010609060101010101" pitchFamily="49" charset="-122"/>
                </a:defRPr>
              </a:lvl3pPr>
              <a:lvl4pPr marL="1600200" indent="-228600" eaLnBrk="0" hangingPunct="0">
                <a:defRPr kumimoji="1" sz="2400" b="1">
                  <a:solidFill>
                    <a:schemeClr val="tx1"/>
                  </a:solidFill>
                  <a:latin typeface="黑体" panose="02010609060101010101" pitchFamily="49" charset="-122"/>
                  <a:ea typeface="黑体" panose="02010609060101010101" pitchFamily="49" charset="-122"/>
                </a:defRPr>
              </a:lvl4pPr>
              <a:lvl5pPr marL="2057400" indent="-228600" eaLnBrk="0" hangingPunct="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pPr eaLnBrk="1" hangingPunct="1"/>
              <a:r>
                <a:rPr kumimoji="0" lang="en-US" altLang="zh-CN" sz="1660" b="0">
                  <a:solidFill>
                    <a:srgbClr val="CC0000"/>
                  </a:solidFill>
                  <a:latin typeface="Arial" panose="020B0604020202020204" pitchFamily="34" charset="0"/>
                  <a:ea typeface="宋体" panose="02010600030101010101" pitchFamily="2" charset="-122"/>
                </a:rPr>
                <a:t>28</a:t>
              </a:r>
              <a:endParaRPr kumimoji="0" lang="en-US" altLang="zh-CN" sz="1660" b="0">
                <a:solidFill>
                  <a:srgbClr val="CC0000"/>
                </a:solidFill>
                <a:latin typeface="Arial" panose="020B0604020202020204" pitchFamily="34" charset="0"/>
                <a:ea typeface="宋体" panose="02010600030101010101" pitchFamily="2" charset="-122"/>
              </a:endParaRPr>
            </a:p>
          </p:txBody>
        </p:sp>
      </p:grpSp>
      <p:grpSp>
        <p:nvGrpSpPr>
          <p:cNvPr id="188839" name="Group 423"/>
          <p:cNvGrpSpPr/>
          <p:nvPr/>
        </p:nvGrpSpPr>
        <p:grpSpPr bwMode="auto">
          <a:xfrm>
            <a:off x="5701812" y="5024805"/>
            <a:ext cx="531934" cy="1329103"/>
            <a:chOff x="4889" y="3475"/>
            <a:chExt cx="289" cy="845"/>
          </a:xfrm>
        </p:grpSpPr>
        <p:sp>
          <p:nvSpPr>
            <p:cNvPr id="24625" name="Line 424"/>
            <p:cNvSpPr>
              <a:spLocks noChangeShapeType="1"/>
            </p:cNvSpPr>
            <p:nvPr/>
          </p:nvSpPr>
          <p:spPr bwMode="auto">
            <a:xfrm flipV="1">
              <a:off x="5161" y="3475"/>
              <a:ext cx="0" cy="845"/>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626" name="Text Box 425"/>
            <p:cNvSpPr txBox="1">
              <a:spLocks noChangeArrowheads="1"/>
            </p:cNvSpPr>
            <p:nvPr/>
          </p:nvSpPr>
          <p:spPr bwMode="auto">
            <a:xfrm>
              <a:off x="4889" y="3930"/>
              <a:ext cx="289" cy="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黑体" panose="02010609060101010101" pitchFamily="49" charset="-122"/>
                  <a:ea typeface="黑体" panose="02010609060101010101" pitchFamily="49" charset="-122"/>
                </a:defRPr>
              </a:lvl1pPr>
              <a:lvl2pPr marL="742950" indent="-285750" eaLnBrk="0" hangingPunct="0">
                <a:defRPr kumimoji="1" sz="2400" b="1">
                  <a:solidFill>
                    <a:schemeClr val="tx1"/>
                  </a:solidFill>
                  <a:latin typeface="黑体" panose="02010609060101010101" pitchFamily="49" charset="-122"/>
                  <a:ea typeface="黑体" panose="02010609060101010101" pitchFamily="49" charset="-122"/>
                </a:defRPr>
              </a:lvl2pPr>
              <a:lvl3pPr marL="1143000" indent="-228600" eaLnBrk="0" hangingPunct="0">
                <a:defRPr kumimoji="1" sz="2400" b="1">
                  <a:solidFill>
                    <a:schemeClr val="tx1"/>
                  </a:solidFill>
                  <a:latin typeface="黑体" panose="02010609060101010101" pitchFamily="49" charset="-122"/>
                  <a:ea typeface="黑体" panose="02010609060101010101" pitchFamily="49" charset="-122"/>
                </a:defRPr>
              </a:lvl3pPr>
              <a:lvl4pPr marL="1600200" indent="-228600" eaLnBrk="0" hangingPunct="0">
                <a:defRPr kumimoji="1" sz="2400" b="1">
                  <a:solidFill>
                    <a:schemeClr val="tx1"/>
                  </a:solidFill>
                  <a:latin typeface="黑体" panose="02010609060101010101" pitchFamily="49" charset="-122"/>
                  <a:ea typeface="黑体" panose="02010609060101010101" pitchFamily="49" charset="-122"/>
                </a:defRPr>
              </a:lvl4pPr>
              <a:lvl5pPr marL="2057400" indent="-228600" eaLnBrk="0" hangingPunct="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pPr eaLnBrk="1" hangingPunct="1"/>
              <a:r>
                <a:rPr kumimoji="0" lang="en-US" altLang="zh-CN" sz="1660" b="0">
                  <a:solidFill>
                    <a:srgbClr val="CC0000"/>
                  </a:solidFill>
                  <a:latin typeface="Arial" panose="020B0604020202020204" pitchFamily="34" charset="0"/>
                  <a:ea typeface="宋体" panose="02010600030101010101" pitchFamily="2" charset="-122"/>
                </a:rPr>
                <a:t>35</a:t>
              </a:r>
              <a:endParaRPr kumimoji="0" lang="en-US" altLang="zh-CN" sz="1660" b="0">
                <a:solidFill>
                  <a:srgbClr val="CC0000"/>
                </a:solidFill>
                <a:latin typeface="Arial" panose="020B0604020202020204" pitchFamily="34" charset="0"/>
                <a:ea typeface="宋体" panose="02010600030101010101" pitchFamily="2" charset="-122"/>
              </a:endParaRPr>
            </a:p>
          </p:txBody>
        </p:sp>
      </p:grpSp>
      <p:grpSp>
        <p:nvGrpSpPr>
          <p:cNvPr id="188842" name="Group 426"/>
          <p:cNvGrpSpPr/>
          <p:nvPr/>
        </p:nvGrpSpPr>
        <p:grpSpPr bwMode="auto">
          <a:xfrm>
            <a:off x="4705351" y="5024805"/>
            <a:ext cx="464526" cy="1569426"/>
            <a:chOff x="4889" y="3475"/>
            <a:chExt cx="289" cy="845"/>
          </a:xfrm>
        </p:grpSpPr>
        <p:sp>
          <p:nvSpPr>
            <p:cNvPr id="24623" name="Line 427"/>
            <p:cNvSpPr>
              <a:spLocks noChangeShapeType="1"/>
            </p:cNvSpPr>
            <p:nvPr/>
          </p:nvSpPr>
          <p:spPr bwMode="auto">
            <a:xfrm flipV="1">
              <a:off x="5161" y="3475"/>
              <a:ext cx="0" cy="845"/>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624" name="Text Box 428"/>
            <p:cNvSpPr txBox="1">
              <a:spLocks noChangeArrowheads="1"/>
            </p:cNvSpPr>
            <p:nvPr/>
          </p:nvSpPr>
          <p:spPr bwMode="auto">
            <a:xfrm>
              <a:off x="4889" y="3929"/>
              <a:ext cx="289" cy="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黑体" panose="02010609060101010101" pitchFamily="49" charset="-122"/>
                  <a:ea typeface="黑体" panose="02010609060101010101" pitchFamily="49" charset="-122"/>
                </a:defRPr>
              </a:lvl1pPr>
              <a:lvl2pPr marL="742950" indent="-285750" eaLnBrk="0" hangingPunct="0">
                <a:defRPr kumimoji="1" sz="2400" b="1">
                  <a:solidFill>
                    <a:schemeClr val="tx1"/>
                  </a:solidFill>
                  <a:latin typeface="黑体" panose="02010609060101010101" pitchFamily="49" charset="-122"/>
                  <a:ea typeface="黑体" panose="02010609060101010101" pitchFamily="49" charset="-122"/>
                </a:defRPr>
              </a:lvl2pPr>
              <a:lvl3pPr marL="1143000" indent="-228600" eaLnBrk="0" hangingPunct="0">
                <a:defRPr kumimoji="1" sz="2400" b="1">
                  <a:solidFill>
                    <a:schemeClr val="tx1"/>
                  </a:solidFill>
                  <a:latin typeface="黑体" panose="02010609060101010101" pitchFamily="49" charset="-122"/>
                  <a:ea typeface="黑体" panose="02010609060101010101" pitchFamily="49" charset="-122"/>
                </a:defRPr>
              </a:lvl3pPr>
              <a:lvl4pPr marL="1600200" indent="-228600" eaLnBrk="0" hangingPunct="0">
                <a:defRPr kumimoji="1" sz="2400" b="1">
                  <a:solidFill>
                    <a:schemeClr val="tx1"/>
                  </a:solidFill>
                  <a:latin typeface="黑体" panose="02010609060101010101" pitchFamily="49" charset="-122"/>
                  <a:ea typeface="黑体" panose="02010609060101010101" pitchFamily="49" charset="-122"/>
                </a:defRPr>
              </a:lvl4pPr>
              <a:lvl5pPr marL="2057400" indent="-228600" eaLnBrk="0" hangingPunct="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pPr eaLnBrk="1" hangingPunct="1"/>
              <a:r>
                <a:rPr kumimoji="0" lang="en-US" altLang="zh-CN" sz="1660" b="0">
                  <a:solidFill>
                    <a:srgbClr val="CC0000"/>
                  </a:solidFill>
                  <a:latin typeface="Arial" panose="020B0604020202020204" pitchFamily="34" charset="0"/>
                  <a:ea typeface="宋体" panose="02010600030101010101" pitchFamily="2" charset="-122"/>
                </a:rPr>
                <a:t>40</a:t>
              </a:r>
              <a:endParaRPr kumimoji="0" lang="en-US" altLang="zh-CN" sz="1660" b="0">
                <a:solidFill>
                  <a:srgbClr val="CC0000"/>
                </a:solidFill>
                <a:latin typeface="Arial" panose="020B0604020202020204" pitchFamily="34" charset="0"/>
                <a:ea typeface="宋体" panose="02010600030101010101" pitchFamily="2" charset="-122"/>
              </a:endParaRPr>
            </a:p>
          </p:txBody>
        </p:sp>
      </p:grpSp>
      <p:grpSp>
        <p:nvGrpSpPr>
          <p:cNvPr id="188845" name="Group 429"/>
          <p:cNvGrpSpPr/>
          <p:nvPr/>
        </p:nvGrpSpPr>
        <p:grpSpPr bwMode="auto">
          <a:xfrm>
            <a:off x="3308839" y="4957397"/>
            <a:ext cx="531935" cy="1636834"/>
            <a:chOff x="4889" y="3475"/>
            <a:chExt cx="289" cy="845"/>
          </a:xfrm>
        </p:grpSpPr>
        <p:sp>
          <p:nvSpPr>
            <p:cNvPr id="24621" name="Line 430"/>
            <p:cNvSpPr>
              <a:spLocks noChangeShapeType="1"/>
            </p:cNvSpPr>
            <p:nvPr/>
          </p:nvSpPr>
          <p:spPr bwMode="auto">
            <a:xfrm flipV="1">
              <a:off x="5161" y="3475"/>
              <a:ext cx="0" cy="845"/>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622" name="Text Box 431"/>
            <p:cNvSpPr txBox="1">
              <a:spLocks noChangeArrowheads="1"/>
            </p:cNvSpPr>
            <p:nvPr/>
          </p:nvSpPr>
          <p:spPr bwMode="auto">
            <a:xfrm>
              <a:off x="4889" y="3929"/>
              <a:ext cx="289" cy="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黑体" panose="02010609060101010101" pitchFamily="49" charset="-122"/>
                  <a:ea typeface="黑体" panose="02010609060101010101" pitchFamily="49" charset="-122"/>
                </a:defRPr>
              </a:lvl1pPr>
              <a:lvl2pPr marL="742950" indent="-285750" eaLnBrk="0" hangingPunct="0">
                <a:defRPr kumimoji="1" sz="2400" b="1">
                  <a:solidFill>
                    <a:schemeClr val="tx1"/>
                  </a:solidFill>
                  <a:latin typeface="黑体" panose="02010609060101010101" pitchFamily="49" charset="-122"/>
                  <a:ea typeface="黑体" panose="02010609060101010101" pitchFamily="49" charset="-122"/>
                </a:defRPr>
              </a:lvl2pPr>
              <a:lvl3pPr marL="1143000" indent="-228600" eaLnBrk="0" hangingPunct="0">
                <a:defRPr kumimoji="1" sz="2400" b="1">
                  <a:solidFill>
                    <a:schemeClr val="tx1"/>
                  </a:solidFill>
                  <a:latin typeface="黑体" panose="02010609060101010101" pitchFamily="49" charset="-122"/>
                  <a:ea typeface="黑体" panose="02010609060101010101" pitchFamily="49" charset="-122"/>
                </a:defRPr>
              </a:lvl3pPr>
              <a:lvl4pPr marL="1600200" indent="-228600" eaLnBrk="0" hangingPunct="0">
                <a:defRPr kumimoji="1" sz="2400" b="1">
                  <a:solidFill>
                    <a:schemeClr val="tx1"/>
                  </a:solidFill>
                  <a:latin typeface="黑体" panose="02010609060101010101" pitchFamily="49" charset="-122"/>
                  <a:ea typeface="黑体" panose="02010609060101010101" pitchFamily="49" charset="-122"/>
                </a:defRPr>
              </a:lvl4pPr>
              <a:lvl5pPr marL="2057400" indent="-228600" eaLnBrk="0" hangingPunct="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pPr eaLnBrk="1" hangingPunct="1"/>
              <a:r>
                <a:rPr kumimoji="0" lang="en-US" altLang="zh-CN" sz="1660" b="0">
                  <a:solidFill>
                    <a:srgbClr val="CC0000"/>
                  </a:solidFill>
                  <a:latin typeface="Arial" panose="020B0604020202020204" pitchFamily="34" charset="0"/>
                  <a:ea typeface="宋体" panose="02010600030101010101" pitchFamily="2" charset="-122"/>
                </a:rPr>
                <a:t>42</a:t>
              </a:r>
              <a:endParaRPr kumimoji="0" lang="en-US" altLang="zh-CN" sz="1660" b="0">
                <a:solidFill>
                  <a:srgbClr val="CC0000"/>
                </a:solidFill>
                <a:latin typeface="Arial" panose="020B0604020202020204" pitchFamily="34" charset="0"/>
                <a:ea typeface="宋体" panose="02010600030101010101" pitchFamily="2" charset="-122"/>
              </a:endParaRPr>
            </a:p>
          </p:txBody>
        </p:sp>
      </p:grpSp>
      <p:grpSp>
        <p:nvGrpSpPr>
          <p:cNvPr id="188848" name="Group 432"/>
          <p:cNvGrpSpPr/>
          <p:nvPr/>
        </p:nvGrpSpPr>
        <p:grpSpPr bwMode="auto">
          <a:xfrm>
            <a:off x="1049216" y="4961793"/>
            <a:ext cx="531935" cy="1632438"/>
            <a:chOff x="4889" y="3475"/>
            <a:chExt cx="289" cy="845"/>
          </a:xfrm>
        </p:grpSpPr>
        <p:sp>
          <p:nvSpPr>
            <p:cNvPr id="24619" name="Line 433"/>
            <p:cNvSpPr>
              <a:spLocks noChangeShapeType="1"/>
            </p:cNvSpPr>
            <p:nvPr/>
          </p:nvSpPr>
          <p:spPr bwMode="auto">
            <a:xfrm flipV="1">
              <a:off x="5161" y="3475"/>
              <a:ext cx="0" cy="845"/>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620" name="Text Box 434"/>
            <p:cNvSpPr txBox="1">
              <a:spLocks noChangeArrowheads="1"/>
            </p:cNvSpPr>
            <p:nvPr/>
          </p:nvSpPr>
          <p:spPr bwMode="auto">
            <a:xfrm>
              <a:off x="4889" y="3929"/>
              <a:ext cx="289" cy="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黑体" panose="02010609060101010101" pitchFamily="49" charset="-122"/>
                  <a:ea typeface="黑体" panose="02010609060101010101" pitchFamily="49" charset="-122"/>
                </a:defRPr>
              </a:lvl1pPr>
              <a:lvl2pPr marL="742950" indent="-285750" eaLnBrk="0" hangingPunct="0">
                <a:defRPr kumimoji="1" sz="2400" b="1">
                  <a:solidFill>
                    <a:schemeClr val="tx1"/>
                  </a:solidFill>
                  <a:latin typeface="黑体" panose="02010609060101010101" pitchFamily="49" charset="-122"/>
                  <a:ea typeface="黑体" panose="02010609060101010101" pitchFamily="49" charset="-122"/>
                </a:defRPr>
              </a:lvl2pPr>
              <a:lvl3pPr marL="1143000" indent="-228600" eaLnBrk="0" hangingPunct="0">
                <a:defRPr kumimoji="1" sz="2400" b="1">
                  <a:solidFill>
                    <a:schemeClr val="tx1"/>
                  </a:solidFill>
                  <a:latin typeface="黑体" panose="02010609060101010101" pitchFamily="49" charset="-122"/>
                  <a:ea typeface="黑体" panose="02010609060101010101" pitchFamily="49" charset="-122"/>
                </a:defRPr>
              </a:lvl3pPr>
              <a:lvl4pPr marL="1600200" indent="-228600" eaLnBrk="0" hangingPunct="0">
                <a:defRPr kumimoji="1" sz="2400" b="1">
                  <a:solidFill>
                    <a:schemeClr val="tx1"/>
                  </a:solidFill>
                  <a:latin typeface="黑体" panose="02010609060101010101" pitchFamily="49" charset="-122"/>
                  <a:ea typeface="黑体" panose="02010609060101010101" pitchFamily="49" charset="-122"/>
                </a:defRPr>
              </a:lvl4pPr>
              <a:lvl5pPr marL="2057400" indent="-228600" eaLnBrk="0" hangingPunct="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pPr eaLnBrk="1" hangingPunct="1"/>
              <a:r>
                <a:rPr kumimoji="0" lang="en-US" altLang="zh-CN" sz="1660" b="0">
                  <a:solidFill>
                    <a:srgbClr val="CC0000"/>
                  </a:solidFill>
                  <a:latin typeface="Arial" panose="020B0604020202020204" pitchFamily="34" charset="0"/>
                  <a:ea typeface="宋体" panose="02010600030101010101" pitchFamily="2" charset="-122"/>
                </a:rPr>
                <a:t>40</a:t>
              </a:r>
              <a:endParaRPr kumimoji="0" lang="en-US" altLang="zh-CN" sz="1660" b="0">
                <a:solidFill>
                  <a:srgbClr val="CC0000"/>
                </a:solidFill>
                <a:latin typeface="Arial" panose="020B0604020202020204" pitchFamily="34" charset="0"/>
                <a:ea typeface="宋体" panose="02010600030101010101" pitchFamily="2" charset="-122"/>
              </a:endParaRPr>
            </a:p>
          </p:txBody>
        </p:sp>
      </p:grpSp>
      <p:grpSp>
        <p:nvGrpSpPr>
          <p:cNvPr id="188851" name="Group 435"/>
          <p:cNvGrpSpPr/>
          <p:nvPr/>
        </p:nvGrpSpPr>
        <p:grpSpPr bwMode="auto">
          <a:xfrm>
            <a:off x="1781907" y="5024805"/>
            <a:ext cx="463062" cy="1702777"/>
            <a:chOff x="4889" y="3475"/>
            <a:chExt cx="289" cy="845"/>
          </a:xfrm>
        </p:grpSpPr>
        <p:sp>
          <p:nvSpPr>
            <p:cNvPr id="24617" name="Line 436"/>
            <p:cNvSpPr>
              <a:spLocks noChangeShapeType="1"/>
            </p:cNvSpPr>
            <p:nvPr/>
          </p:nvSpPr>
          <p:spPr bwMode="auto">
            <a:xfrm flipV="1">
              <a:off x="5161" y="3475"/>
              <a:ext cx="0" cy="845"/>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618" name="Text Box 437"/>
            <p:cNvSpPr txBox="1">
              <a:spLocks noChangeArrowheads="1"/>
            </p:cNvSpPr>
            <p:nvPr/>
          </p:nvSpPr>
          <p:spPr bwMode="auto">
            <a:xfrm>
              <a:off x="4889" y="3929"/>
              <a:ext cx="289"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黑体" panose="02010609060101010101" pitchFamily="49" charset="-122"/>
                  <a:ea typeface="黑体" panose="02010609060101010101" pitchFamily="49" charset="-122"/>
                </a:defRPr>
              </a:lvl1pPr>
              <a:lvl2pPr marL="742950" indent="-285750" eaLnBrk="0" hangingPunct="0">
                <a:defRPr kumimoji="1" sz="2400" b="1">
                  <a:solidFill>
                    <a:schemeClr val="tx1"/>
                  </a:solidFill>
                  <a:latin typeface="黑体" panose="02010609060101010101" pitchFamily="49" charset="-122"/>
                  <a:ea typeface="黑体" panose="02010609060101010101" pitchFamily="49" charset="-122"/>
                </a:defRPr>
              </a:lvl2pPr>
              <a:lvl3pPr marL="1143000" indent="-228600" eaLnBrk="0" hangingPunct="0">
                <a:defRPr kumimoji="1" sz="2400" b="1">
                  <a:solidFill>
                    <a:schemeClr val="tx1"/>
                  </a:solidFill>
                  <a:latin typeface="黑体" panose="02010609060101010101" pitchFamily="49" charset="-122"/>
                  <a:ea typeface="黑体" panose="02010609060101010101" pitchFamily="49" charset="-122"/>
                </a:defRPr>
              </a:lvl3pPr>
              <a:lvl4pPr marL="1600200" indent="-228600" eaLnBrk="0" hangingPunct="0">
                <a:defRPr kumimoji="1" sz="2400" b="1">
                  <a:solidFill>
                    <a:schemeClr val="tx1"/>
                  </a:solidFill>
                  <a:latin typeface="黑体" panose="02010609060101010101" pitchFamily="49" charset="-122"/>
                  <a:ea typeface="黑体" panose="02010609060101010101" pitchFamily="49" charset="-122"/>
                </a:defRPr>
              </a:lvl4pPr>
              <a:lvl5pPr marL="2057400" indent="-228600" eaLnBrk="0" hangingPunct="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pPr eaLnBrk="1" hangingPunct="1"/>
              <a:r>
                <a:rPr kumimoji="0" lang="en-US" altLang="zh-CN" sz="1660" b="0">
                  <a:solidFill>
                    <a:srgbClr val="CC0000"/>
                  </a:solidFill>
                  <a:latin typeface="Arial" panose="020B0604020202020204" pitchFamily="34" charset="0"/>
                  <a:ea typeface="宋体" panose="02010600030101010101" pitchFamily="2" charset="-122"/>
                </a:rPr>
                <a:t>47</a:t>
              </a:r>
              <a:endParaRPr kumimoji="0" lang="en-US" altLang="zh-CN" sz="1660" b="0">
                <a:solidFill>
                  <a:srgbClr val="CC0000"/>
                </a:solidFill>
                <a:latin typeface="Arial" panose="020B0604020202020204" pitchFamily="34" charset="0"/>
                <a:ea typeface="宋体" panose="02010600030101010101" pitchFamily="2" charset="-122"/>
              </a:endParaRPr>
            </a:p>
          </p:txBody>
        </p:sp>
      </p:grpSp>
      <p:grpSp>
        <p:nvGrpSpPr>
          <p:cNvPr id="188854" name="Group 438"/>
          <p:cNvGrpSpPr/>
          <p:nvPr/>
        </p:nvGrpSpPr>
        <p:grpSpPr bwMode="auto">
          <a:xfrm>
            <a:off x="2378320" y="4799135"/>
            <a:ext cx="465992" cy="2152650"/>
            <a:chOff x="4889" y="3475"/>
            <a:chExt cx="289" cy="845"/>
          </a:xfrm>
        </p:grpSpPr>
        <p:sp>
          <p:nvSpPr>
            <p:cNvPr id="24615" name="Line 439"/>
            <p:cNvSpPr>
              <a:spLocks noChangeShapeType="1"/>
            </p:cNvSpPr>
            <p:nvPr/>
          </p:nvSpPr>
          <p:spPr bwMode="auto">
            <a:xfrm flipV="1">
              <a:off x="5161" y="3475"/>
              <a:ext cx="0" cy="845"/>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4616" name="Text Box 440"/>
            <p:cNvSpPr txBox="1">
              <a:spLocks noChangeArrowheads="1"/>
            </p:cNvSpPr>
            <p:nvPr/>
          </p:nvSpPr>
          <p:spPr bwMode="auto">
            <a:xfrm>
              <a:off x="4889" y="3929"/>
              <a:ext cx="289" cy="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黑体" panose="02010609060101010101" pitchFamily="49" charset="-122"/>
                  <a:ea typeface="黑体" panose="02010609060101010101" pitchFamily="49" charset="-122"/>
                </a:defRPr>
              </a:lvl1pPr>
              <a:lvl2pPr marL="742950" indent="-285750" eaLnBrk="0" hangingPunct="0">
                <a:defRPr kumimoji="1" sz="2400" b="1">
                  <a:solidFill>
                    <a:schemeClr val="tx1"/>
                  </a:solidFill>
                  <a:latin typeface="黑体" panose="02010609060101010101" pitchFamily="49" charset="-122"/>
                  <a:ea typeface="黑体" panose="02010609060101010101" pitchFamily="49" charset="-122"/>
                </a:defRPr>
              </a:lvl2pPr>
              <a:lvl3pPr marL="1143000" indent="-228600" eaLnBrk="0" hangingPunct="0">
                <a:defRPr kumimoji="1" sz="2400" b="1">
                  <a:solidFill>
                    <a:schemeClr val="tx1"/>
                  </a:solidFill>
                  <a:latin typeface="黑体" panose="02010609060101010101" pitchFamily="49" charset="-122"/>
                  <a:ea typeface="黑体" panose="02010609060101010101" pitchFamily="49" charset="-122"/>
                </a:defRPr>
              </a:lvl3pPr>
              <a:lvl4pPr marL="1600200" indent="-228600" eaLnBrk="0" hangingPunct="0">
                <a:defRPr kumimoji="1" sz="2400" b="1">
                  <a:solidFill>
                    <a:schemeClr val="tx1"/>
                  </a:solidFill>
                  <a:latin typeface="黑体" panose="02010609060101010101" pitchFamily="49" charset="-122"/>
                  <a:ea typeface="黑体" panose="02010609060101010101" pitchFamily="49" charset="-122"/>
                </a:defRPr>
              </a:lvl4pPr>
              <a:lvl5pPr marL="2057400" indent="-228600" eaLnBrk="0" hangingPunct="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5000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pPr eaLnBrk="1" hangingPunct="1"/>
              <a:r>
                <a:rPr kumimoji="0" lang="en-US" altLang="zh-CN" sz="1660" b="0">
                  <a:solidFill>
                    <a:srgbClr val="CC0000"/>
                  </a:solidFill>
                  <a:latin typeface="Arial" panose="020B0604020202020204" pitchFamily="34" charset="0"/>
                  <a:ea typeface="宋体" panose="02010600030101010101" pitchFamily="2" charset="-122"/>
                </a:rPr>
                <a:t>50</a:t>
              </a:r>
              <a:endParaRPr kumimoji="0" lang="en-US" altLang="zh-CN" sz="1660" b="0">
                <a:solidFill>
                  <a:srgbClr val="CC0000"/>
                </a:solidFill>
                <a:latin typeface="Arial" panose="020B0604020202020204" pitchFamily="34" charset="0"/>
                <a:ea typeface="宋体" panose="02010600030101010101" pitchFamily="2" charset="-122"/>
              </a:endParaRPr>
            </a:p>
          </p:txBody>
        </p:sp>
      </p:grpSp>
      <p:sp>
        <p:nvSpPr>
          <p:cNvPr id="188857" name="Line 441"/>
          <p:cNvSpPr>
            <a:spLocks noChangeShapeType="1"/>
          </p:cNvSpPr>
          <p:nvPr/>
        </p:nvSpPr>
        <p:spPr bwMode="auto">
          <a:xfrm>
            <a:off x="2976197" y="4758104"/>
            <a:ext cx="1263162" cy="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188858" name="Line 442"/>
          <p:cNvSpPr>
            <a:spLocks noChangeShapeType="1"/>
          </p:cNvSpPr>
          <p:nvPr/>
        </p:nvSpPr>
        <p:spPr bwMode="auto">
          <a:xfrm>
            <a:off x="4239358" y="4492869"/>
            <a:ext cx="0" cy="464527"/>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188859" name="Line 443"/>
          <p:cNvSpPr>
            <a:spLocks noChangeShapeType="1"/>
          </p:cNvSpPr>
          <p:nvPr/>
        </p:nvSpPr>
        <p:spPr bwMode="auto">
          <a:xfrm>
            <a:off x="2976197" y="5156689"/>
            <a:ext cx="1197219" cy="0"/>
          </a:xfrm>
          <a:prstGeom prst="line">
            <a:avLst/>
          </a:prstGeom>
          <a:noFill/>
          <a:ln w="28575">
            <a:solidFill>
              <a:srgbClr val="CC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188860" name="Line 444"/>
          <p:cNvSpPr>
            <a:spLocks noChangeShapeType="1"/>
          </p:cNvSpPr>
          <p:nvPr/>
        </p:nvSpPr>
        <p:spPr bwMode="auto">
          <a:xfrm>
            <a:off x="4173415" y="4891454"/>
            <a:ext cx="0" cy="464527"/>
          </a:xfrm>
          <a:prstGeom prst="line">
            <a:avLst/>
          </a:prstGeom>
          <a:noFill/>
          <a:ln w="28575">
            <a:solidFill>
              <a:srgbClr val="CC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45"/>
          </a:p>
        </p:txBody>
      </p:sp>
      <p:sp>
        <p:nvSpPr>
          <p:cNvPr id="2" name="文本框 1"/>
          <p:cNvSpPr txBox="1"/>
          <p:nvPr/>
        </p:nvSpPr>
        <p:spPr>
          <a:xfrm>
            <a:off x="787651" y="1122630"/>
            <a:ext cx="3014804" cy="429895"/>
          </a:xfrm>
          <a:prstGeom prst="rect">
            <a:avLst/>
          </a:prstGeom>
          <a:noFill/>
        </p:spPr>
        <p:txBody>
          <a:bodyPr wrap="square" rtlCol="0">
            <a:spAutoFit/>
          </a:bodyPr>
          <a:lstStyle/>
          <a:p>
            <a:r>
              <a:rPr lang="en-US" altLang="zh-CN" sz="2200" dirty="0" smtClean="0">
                <a:solidFill>
                  <a:srgbClr val="FF0000"/>
                </a:solidFill>
                <a:latin typeface="黑体" panose="02010609060101010101" pitchFamily="49" charset="-122"/>
                <a:ea typeface="黑体" panose="02010609060101010101" pitchFamily="49" charset="-122"/>
              </a:rPr>
              <a:t>[</a:t>
            </a:r>
            <a:r>
              <a:rPr lang="zh-CN" altLang="en-US" sz="2200" dirty="0" smtClean="0">
                <a:solidFill>
                  <a:srgbClr val="FF0000"/>
                </a:solidFill>
                <a:latin typeface="黑体" panose="02010609060101010101" pitchFamily="49" charset="-122"/>
                <a:ea typeface="黑体" panose="02010609060101010101" pitchFamily="49" charset="-122"/>
              </a:rPr>
              <a:t>例</a:t>
            </a:r>
            <a:r>
              <a:rPr lang="en-US" altLang="zh-CN" sz="2200" dirty="0" smtClean="0">
                <a:solidFill>
                  <a:srgbClr val="FF0000"/>
                </a:solidFill>
                <a:latin typeface="黑体" panose="02010609060101010101" pitchFamily="49" charset="-122"/>
                <a:ea typeface="黑体" panose="02010609060101010101" pitchFamily="49" charset="-122"/>
              </a:rPr>
              <a:t>3.7-2]</a:t>
            </a:r>
            <a:endParaRPr lang="zh-CN" altLang="en-US" sz="2200" dirty="0">
              <a:solidFill>
                <a:srgbClr val="FF0000"/>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88419"/>
                                        </p:tgtEl>
                                        <p:attrNameLst>
                                          <p:attrName>style.visibility</p:attrName>
                                        </p:attrNameLst>
                                      </p:cBhvr>
                                      <p:to>
                                        <p:strVal val="visible"/>
                                      </p:to>
                                    </p:set>
                                    <p:animEffect transition="in" filter="dissolve">
                                      <p:cBhvr>
                                        <p:cTn id="7" dur="500"/>
                                        <p:tgtEl>
                                          <p:spTgt spid="18841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88633"/>
                                        </p:tgtEl>
                                        <p:attrNameLst>
                                          <p:attrName>style.visibility</p:attrName>
                                        </p:attrNameLst>
                                      </p:cBhvr>
                                      <p:to>
                                        <p:strVal val="visible"/>
                                      </p:to>
                                    </p:set>
                                    <p:animEffect transition="in" filter="dissolve">
                                      <p:cBhvr>
                                        <p:cTn id="12" dur="500"/>
                                        <p:tgtEl>
                                          <p:spTgt spid="188633"/>
                                        </p:tgtEl>
                                      </p:cBhvr>
                                    </p:animEffect>
                                  </p:childTnLst>
                                </p:cTn>
                              </p:par>
                            </p:childTnLst>
                          </p:cTn>
                        </p:par>
                        <p:par>
                          <p:cTn id="13" fill="hold">
                            <p:stCondLst>
                              <p:cond delay="500"/>
                            </p:stCondLst>
                            <p:childTnLst>
                              <p:par>
                                <p:cTn id="14" presetID="9" presetClass="entr" presetSubtype="0" fill="hold" grpId="0" nodeType="afterEffect">
                                  <p:stCondLst>
                                    <p:cond delay="0"/>
                                  </p:stCondLst>
                                  <p:childTnLst>
                                    <p:set>
                                      <p:cBhvr>
                                        <p:cTn id="15" dur="1" fill="hold">
                                          <p:stCondLst>
                                            <p:cond delay="0"/>
                                          </p:stCondLst>
                                        </p:cTn>
                                        <p:tgtEl>
                                          <p:spTgt spid="188828"/>
                                        </p:tgtEl>
                                        <p:attrNameLst>
                                          <p:attrName>style.visibility</p:attrName>
                                        </p:attrNameLst>
                                      </p:cBhvr>
                                      <p:to>
                                        <p:strVal val="visible"/>
                                      </p:to>
                                    </p:set>
                                    <p:animEffect transition="in" filter="dissolve">
                                      <p:cBhvr>
                                        <p:cTn id="16" dur="500"/>
                                        <p:tgtEl>
                                          <p:spTgt spid="188828"/>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188737"/>
                                        </p:tgtEl>
                                        <p:attrNameLst>
                                          <p:attrName>style.visibility</p:attrName>
                                        </p:attrNameLst>
                                      </p:cBhvr>
                                      <p:to>
                                        <p:strVal val="visible"/>
                                      </p:to>
                                    </p:set>
                                    <p:animEffect transition="in" filter="dissolve">
                                      <p:cBhvr>
                                        <p:cTn id="21" dur="500"/>
                                        <p:tgtEl>
                                          <p:spTgt spid="188737"/>
                                        </p:tgtEl>
                                      </p:cBhvr>
                                    </p:animEffect>
                                  </p:childTnLst>
                                </p:cTn>
                              </p:par>
                            </p:childTnLst>
                          </p:cTn>
                        </p:par>
                        <p:par>
                          <p:cTn id="22" fill="hold">
                            <p:stCondLst>
                              <p:cond delay="500"/>
                            </p:stCondLst>
                            <p:childTnLst>
                              <p:par>
                                <p:cTn id="23" presetID="9" presetClass="entr" presetSubtype="0" fill="hold" nodeType="afterEffect">
                                  <p:stCondLst>
                                    <p:cond delay="0"/>
                                  </p:stCondLst>
                                  <p:childTnLst>
                                    <p:set>
                                      <p:cBhvr>
                                        <p:cTn id="24" dur="1" fill="hold">
                                          <p:stCondLst>
                                            <p:cond delay="0"/>
                                          </p:stCondLst>
                                        </p:cTn>
                                        <p:tgtEl>
                                          <p:spTgt spid="188754"/>
                                        </p:tgtEl>
                                        <p:attrNameLst>
                                          <p:attrName>style.visibility</p:attrName>
                                        </p:attrNameLst>
                                      </p:cBhvr>
                                      <p:to>
                                        <p:strVal val="visible"/>
                                      </p:to>
                                    </p:set>
                                    <p:animEffect transition="in" filter="dissolve">
                                      <p:cBhvr>
                                        <p:cTn id="25" dur="500"/>
                                        <p:tgtEl>
                                          <p:spTgt spid="188754"/>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188420"/>
                                        </p:tgtEl>
                                        <p:attrNameLst>
                                          <p:attrName>style.visibility</p:attrName>
                                        </p:attrNameLst>
                                      </p:cBhvr>
                                      <p:to>
                                        <p:strVal val="visible"/>
                                      </p:to>
                                    </p:set>
                                    <p:animEffect transition="in" filter="dissolve">
                                      <p:cBhvr>
                                        <p:cTn id="30" dur="500"/>
                                        <p:tgtEl>
                                          <p:spTgt spid="188420"/>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188806"/>
                                        </p:tgtEl>
                                        <p:attrNameLst>
                                          <p:attrName>style.visibility</p:attrName>
                                        </p:attrNameLst>
                                      </p:cBhvr>
                                      <p:to>
                                        <p:strVal val="visible"/>
                                      </p:to>
                                    </p:set>
                                    <p:animEffect transition="in" filter="dissolve">
                                      <p:cBhvr>
                                        <p:cTn id="35" dur="500"/>
                                        <p:tgtEl>
                                          <p:spTgt spid="188806"/>
                                        </p:tgtEl>
                                      </p:cBhvr>
                                    </p:animEffect>
                                  </p:childTnLst>
                                </p:cTn>
                              </p:par>
                            </p:childTnLst>
                          </p:cTn>
                        </p:par>
                        <p:par>
                          <p:cTn id="36" fill="hold">
                            <p:stCondLst>
                              <p:cond delay="500"/>
                            </p:stCondLst>
                            <p:childTnLst>
                              <p:par>
                                <p:cTn id="37" presetID="4" presetClass="entr" presetSubtype="16" fill="hold" nodeType="afterEffect">
                                  <p:stCondLst>
                                    <p:cond delay="0"/>
                                  </p:stCondLst>
                                  <p:childTnLst>
                                    <p:set>
                                      <p:cBhvr>
                                        <p:cTn id="38" dur="1" fill="hold">
                                          <p:stCondLst>
                                            <p:cond delay="0"/>
                                          </p:stCondLst>
                                        </p:cTn>
                                        <p:tgtEl>
                                          <p:spTgt spid="188838"/>
                                        </p:tgtEl>
                                        <p:attrNameLst>
                                          <p:attrName>style.visibility</p:attrName>
                                        </p:attrNameLst>
                                      </p:cBhvr>
                                      <p:to>
                                        <p:strVal val="visible"/>
                                      </p:to>
                                    </p:set>
                                    <p:animEffect transition="in" filter="box(in)">
                                      <p:cBhvr>
                                        <p:cTn id="39" dur="500"/>
                                        <p:tgtEl>
                                          <p:spTgt spid="188838"/>
                                        </p:tgtEl>
                                      </p:cBhvr>
                                    </p:animEffect>
                                  </p:childTnLst>
                                </p:cTn>
                              </p:par>
                            </p:childTnLst>
                          </p:cTn>
                        </p:par>
                      </p:childTnLst>
                    </p:cTn>
                  </p:par>
                  <p:par>
                    <p:cTn id="40" fill="hold">
                      <p:stCondLst>
                        <p:cond delay="indefinite"/>
                      </p:stCondLst>
                      <p:childTnLst>
                        <p:par>
                          <p:cTn id="41" fill="hold">
                            <p:stCondLst>
                              <p:cond delay="0"/>
                            </p:stCondLst>
                            <p:childTnLst>
                              <p:par>
                                <p:cTn id="42" presetID="9" presetClass="entr" presetSubtype="0" fill="hold" grpId="0" nodeType="clickEffect">
                                  <p:stCondLst>
                                    <p:cond delay="0"/>
                                  </p:stCondLst>
                                  <p:childTnLst>
                                    <p:set>
                                      <p:cBhvr>
                                        <p:cTn id="43" dur="1" fill="hold">
                                          <p:stCondLst>
                                            <p:cond delay="0"/>
                                          </p:stCondLst>
                                        </p:cTn>
                                        <p:tgtEl>
                                          <p:spTgt spid="188421"/>
                                        </p:tgtEl>
                                        <p:attrNameLst>
                                          <p:attrName>style.visibility</p:attrName>
                                        </p:attrNameLst>
                                      </p:cBhvr>
                                      <p:to>
                                        <p:strVal val="visible"/>
                                      </p:to>
                                    </p:set>
                                    <p:animEffect transition="in" filter="dissolve">
                                      <p:cBhvr>
                                        <p:cTn id="44" dur="500"/>
                                        <p:tgtEl>
                                          <p:spTgt spid="188421"/>
                                        </p:tgtEl>
                                      </p:cBhvr>
                                    </p:animEffect>
                                  </p:childTnLst>
                                </p:cTn>
                              </p:par>
                            </p:childTnLst>
                          </p:cTn>
                        </p:par>
                      </p:childTnLst>
                    </p:cTn>
                  </p:par>
                  <p:par>
                    <p:cTn id="45" fill="hold">
                      <p:stCondLst>
                        <p:cond delay="indefinite"/>
                      </p:stCondLst>
                      <p:childTnLst>
                        <p:par>
                          <p:cTn id="46" fill="hold">
                            <p:stCondLst>
                              <p:cond delay="0"/>
                            </p:stCondLst>
                            <p:childTnLst>
                              <p:par>
                                <p:cTn id="47" presetID="9" presetClass="entr" presetSubtype="0" fill="hold" grpId="0" nodeType="clickEffect">
                                  <p:stCondLst>
                                    <p:cond delay="0"/>
                                  </p:stCondLst>
                                  <p:childTnLst>
                                    <p:set>
                                      <p:cBhvr>
                                        <p:cTn id="48" dur="1" fill="hold">
                                          <p:stCondLst>
                                            <p:cond delay="0"/>
                                          </p:stCondLst>
                                        </p:cTn>
                                        <p:tgtEl>
                                          <p:spTgt spid="188808"/>
                                        </p:tgtEl>
                                        <p:attrNameLst>
                                          <p:attrName>style.visibility</p:attrName>
                                        </p:attrNameLst>
                                      </p:cBhvr>
                                      <p:to>
                                        <p:strVal val="visible"/>
                                      </p:to>
                                    </p:set>
                                    <p:animEffect transition="in" filter="dissolve">
                                      <p:cBhvr>
                                        <p:cTn id="49" dur="500"/>
                                        <p:tgtEl>
                                          <p:spTgt spid="188808"/>
                                        </p:tgtEl>
                                      </p:cBhvr>
                                    </p:animEffect>
                                  </p:childTnLst>
                                </p:cTn>
                              </p:par>
                            </p:childTnLst>
                          </p:cTn>
                        </p:par>
                        <p:par>
                          <p:cTn id="50" fill="hold">
                            <p:stCondLst>
                              <p:cond delay="500"/>
                            </p:stCondLst>
                            <p:childTnLst>
                              <p:par>
                                <p:cTn id="51" presetID="4" presetClass="entr" presetSubtype="16" fill="hold" nodeType="afterEffect">
                                  <p:stCondLst>
                                    <p:cond delay="0"/>
                                  </p:stCondLst>
                                  <p:childTnLst>
                                    <p:set>
                                      <p:cBhvr>
                                        <p:cTn id="52" dur="1" fill="hold">
                                          <p:stCondLst>
                                            <p:cond delay="0"/>
                                          </p:stCondLst>
                                        </p:cTn>
                                        <p:tgtEl>
                                          <p:spTgt spid="188839"/>
                                        </p:tgtEl>
                                        <p:attrNameLst>
                                          <p:attrName>style.visibility</p:attrName>
                                        </p:attrNameLst>
                                      </p:cBhvr>
                                      <p:to>
                                        <p:strVal val="visible"/>
                                      </p:to>
                                    </p:set>
                                    <p:animEffect transition="in" filter="box(in)">
                                      <p:cBhvr>
                                        <p:cTn id="53" dur="500"/>
                                        <p:tgtEl>
                                          <p:spTgt spid="188839"/>
                                        </p:tgtEl>
                                      </p:cBhvr>
                                    </p:animEffect>
                                  </p:childTnLst>
                                </p:cTn>
                              </p:par>
                            </p:childTnLst>
                          </p:cTn>
                        </p:par>
                      </p:childTnLst>
                    </p:cTn>
                  </p:par>
                  <p:par>
                    <p:cTn id="54" fill="hold">
                      <p:stCondLst>
                        <p:cond delay="indefinite"/>
                      </p:stCondLst>
                      <p:childTnLst>
                        <p:par>
                          <p:cTn id="55" fill="hold">
                            <p:stCondLst>
                              <p:cond delay="0"/>
                            </p:stCondLst>
                            <p:childTnLst>
                              <p:par>
                                <p:cTn id="56" presetID="9" presetClass="entr" presetSubtype="0" fill="hold" grpId="0" nodeType="clickEffect">
                                  <p:stCondLst>
                                    <p:cond delay="0"/>
                                  </p:stCondLst>
                                  <p:childTnLst>
                                    <p:set>
                                      <p:cBhvr>
                                        <p:cTn id="57" dur="1" fill="hold">
                                          <p:stCondLst>
                                            <p:cond delay="0"/>
                                          </p:stCondLst>
                                        </p:cTn>
                                        <p:tgtEl>
                                          <p:spTgt spid="188827"/>
                                        </p:tgtEl>
                                        <p:attrNameLst>
                                          <p:attrName>style.visibility</p:attrName>
                                        </p:attrNameLst>
                                      </p:cBhvr>
                                      <p:to>
                                        <p:strVal val="visible"/>
                                      </p:to>
                                    </p:set>
                                    <p:animEffect transition="in" filter="dissolve">
                                      <p:cBhvr>
                                        <p:cTn id="58" dur="500"/>
                                        <p:tgtEl>
                                          <p:spTgt spid="188827"/>
                                        </p:tgtEl>
                                      </p:cBhvr>
                                    </p:animEffect>
                                  </p:childTnLst>
                                </p:cTn>
                              </p:par>
                            </p:childTnLst>
                          </p:cTn>
                        </p:par>
                        <p:par>
                          <p:cTn id="59" fill="hold">
                            <p:stCondLst>
                              <p:cond delay="500"/>
                            </p:stCondLst>
                            <p:childTnLst>
                              <p:par>
                                <p:cTn id="60" presetID="8" presetClass="entr" presetSubtype="16" fill="hold" nodeType="afterEffect">
                                  <p:stCondLst>
                                    <p:cond delay="0"/>
                                  </p:stCondLst>
                                  <p:childTnLst>
                                    <p:set>
                                      <p:cBhvr>
                                        <p:cTn id="61" dur="1" fill="hold">
                                          <p:stCondLst>
                                            <p:cond delay="0"/>
                                          </p:stCondLst>
                                        </p:cTn>
                                        <p:tgtEl>
                                          <p:spTgt spid="188842"/>
                                        </p:tgtEl>
                                        <p:attrNameLst>
                                          <p:attrName>style.visibility</p:attrName>
                                        </p:attrNameLst>
                                      </p:cBhvr>
                                      <p:to>
                                        <p:strVal val="visible"/>
                                      </p:to>
                                    </p:set>
                                    <p:animEffect transition="in" filter="diamond(in)">
                                      <p:cBhvr>
                                        <p:cTn id="62" dur="2000"/>
                                        <p:tgtEl>
                                          <p:spTgt spid="188842"/>
                                        </p:tgtEl>
                                      </p:cBhvr>
                                    </p:animEffect>
                                  </p:childTnLst>
                                </p:cTn>
                              </p:par>
                            </p:childTnLst>
                          </p:cTn>
                        </p:par>
                      </p:childTnLst>
                    </p:cTn>
                  </p:par>
                  <p:par>
                    <p:cTn id="63" fill="hold">
                      <p:stCondLst>
                        <p:cond delay="indefinite"/>
                      </p:stCondLst>
                      <p:childTnLst>
                        <p:par>
                          <p:cTn id="64" fill="hold">
                            <p:stCondLst>
                              <p:cond delay="0"/>
                            </p:stCondLst>
                            <p:childTnLst>
                              <p:par>
                                <p:cTn id="65" presetID="9" presetClass="entr" presetSubtype="0" fill="hold" grpId="0" nodeType="clickEffect">
                                  <p:stCondLst>
                                    <p:cond delay="0"/>
                                  </p:stCondLst>
                                  <p:childTnLst>
                                    <p:set>
                                      <p:cBhvr>
                                        <p:cTn id="66" dur="1" fill="hold">
                                          <p:stCondLst>
                                            <p:cond delay="0"/>
                                          </p:stCondLst>
                                        </p:cTn>
                                        <p:tgtEl>
                                          <p:spTgt spid="188807"/>
                                        </p:tgtEl>
                                        <p:attrNameLst>
                                          <p:attrName>style.visibility</p:attrName>
                                        </p:attrNameLst>
                                      </p:cBhvr>
                                      <p:to>
                                        <p:strVal val="visible"/>
                                      </p:to>
                                    </p:set>
                                    <p:animEffect transition="in" filter="dissolve">
                                      <p:cBhvr>
                                        <p:cTn id="67" dur="500"/>
                                        <p:tgtEl>
                                          <p:spTgt spid="188807"/>
                                        </p:tgtEl>
                                      </p:cBhvr>
                                    </p:animEffect>
                                  </p:childTnLst>
                                </p:cTn>
                              </p:par>
                            </p:childTnLst>
                          </p:cTn>
                        </p:par>
                        <p:par>
                          <p:cTn id="68" fill="hold">
                            <p:stCondLst>
                              <p:cond delay="500"/>
                            </p:stCondLst>
                            <p:childTnLst>
                              <p:par>
                                <p:cTn id="69" presetID="8" presetClass="entr" presetSubtype="16" fill="hold" nodeType="afterEffect">
                                  <p:stCondLst>
                                    <p:cond delay="0"/>
                                  </p:stCondLst>
                                  <p:childTnLst>
                                    <p:set>
                                      <p:cBhvr>
                                        <p:cTn id="70" dur="1" fill="hold">
                                          <p:stCondLst>
                                            <p:cond delay="0"/>
                                          </p:stCondLst>
                                        </p:cTn>
                                        <p:tgtEl>
                                          <p:spTgt spid="188845"/>
                                        </p:tgtEl>
                                        <p:attrNameLst>
                                          <p:attrName>style.visibility</p:attrName>
                                        </p:attrNameLst>
                                      </p:cBhvr>
                                      <p:to>
                                        <p:strVal val="visible"/>
                                      </p:to>
                                    </p:set>
                                    <p:animEffect transition="in" filter="diamond(in)">
                                      <p:cBhvr>
                                        <p:cTn id="71" dur="2000"/>
                                        <p:tgtEl>
                                          <p:spTgt spid="188845"/>
                                        </p:tgtEl>
                                      </p:cBhvr>
                                    </p:animEffect>
                                  </p:childTnLst>
                                </p:cTn>
                              </p:par>
                            </p:childTnLst>
                          </p:cTn>
                        </p:par>
                      </p:childTnLst>
                    </p:cTn>
                  </p:par>
                  <p:par>
                    <p:cTn id="72" fill="hold">
                      <p:stCondLst>
                        <p:cond delay="indefinite"/>
                      </p:stCondLst>
                      <p:childTnLst>
                        <p:par>
                          <p:cTn id="73" fill="hold">
                            <p:stCondLst>
                              <p:cond delay="0"/>
                            </p:stCondLst>
                            <p:childTnLst>
                              <p:par>
                                <p:cTn id="74" presetID="9" presetClass="entr" presetSubtype="0" fill="hold" grpId="0" nodeType="clickEffect">
                                  <p:stCondLst>
                                    <p:cond delay="0"/>
                                  </p:stCondLst>
                                  <p:childTnLst>
                                    <p:set>
                                      <p:cBhvr>
                                        <p:cTn id="75" dur="1" fill="hold">
                                          <p:stCondLst>
                                            <p:cond delay="0"/>
                                          </p:stCondLst>
                                        </p:cTn>
                                        <p:tgtEl>
                                          <p:spTgt spid="188835"/>
                                        </p:tgtEl>
                                        <p:attrNameLst>
                                          <p:attrName>style.visibility</p:attrName>
                                        </p:attrNameLst>
                                      </p:cBhvr>
                                      <p:to>
                                        <p:strVal val="visible"/>
                                      </p:to>
                                    </p:set>
                                    <p:animEffect transition="in" filter="dissolve">
                                      <p:cBhvr>
                                        <p:cTn id="76" dur="500"/>
                                        <p:tgtEl>
                                          <p:spTgt spid="188835"/>
                                        </p:tgtEl>
                                      </p:cBhvr>
                                    </p:animEffect>
                                  </p:childTnLst>
                                </p:cTn>
                              </p:par>
                            </p:childTnLst>
                          </p:cTn>
                        </p:par>
                        <p:par>
                          <p:cTn id="77" fill="hold">
                            <p:stCondLst>
                              <p:cond delay="500"/>
                            </p:stCondLst>
                            <p:childTnLst>
                              <p:par>
                                <p:cTn id="78" presetID="4" presetClass="entr" presetSubtype="16" fill="hold" nodeType="afterEffect">
                                  <p:stCondLst>
                                    <p:cond delay="0"/>
                                  </p:stCondLst>
                                  <p:childTnLst>
                                    <p:set>
                                      <p:cBhvr>
                                        <p:cTn id="79" dur="1" fill="hold">
                                          <p:stCondLst>
                                            <p:cond delay="0"/>
                                          </p:stCondLst>
                                        </p:cTn>
                                        <p:tgtEl>
                                          <p:spTgt spid="188854"/>
                                        </p:tgtEl>
                                        <p:attrNameLst>
                                          <p:attrName>style.visibility</p:attrName>
                                        </p:attrNameLst>
                                      </p:cBhvr>
                                      <p:to>
                                        <p:strVal val="visible"/>
                                      </p:to>
                                    </p:set>
                                    <p:animEffect transition="in" filter="box(in)">
                                      <p:cBhvr>
                                        <p:cTn id="80" dur="500"/>
                                        <p:tgtEl>
                                          <p:spTgt spid="188854"/>
                                        </p:tgtEl>
                                      </p:cBhvr>
                                    </p:animEffect>
                                  </p:childTnLst>
                                </p:cTn>
                              </p:par>
                            </p:childTnLst>
                          </p:cTn>
                        </p:par>
                      </p:childTnLst>
                    </p:cTn>
                  </p:par>
                  <p:par>
                    <p:cTn id="81" fill="hold">
                      <p:stCondLst>
                        <p:cond delay="indefinite"/>
                      </p:stCondLst>
                      <p:childTnLst>
                        <p:par>
                          <p:cTn id="82" fill="hold">
                            <p:stCondLst>
                              <p:cond delay="0"/>
                            </p:stCondLst>
                            <p:childTnLst>
                              <p:par>
                                <p:cTn id="83" presetID="9" presetClass="entr" presetSubtype="0" fill="hold" grpId="0" nodeType="clickEffect">
                                  <p:stCondLst>
                                    <p:cond delay="0"/>
                                  </p:stCondLst>
                                  <p:childTnLst>
                                    <p:set>
                                      <p:cBhvr>
                                        <p:cTn id="84" dur="1" fill="hold">
                                          <p:stCondLst>
                                            <p:cond delay="0"/>
                                          </p:stCondLst>
                                        </p:cTn>
                                        <p:tgtEl>
                                          <p:spTgt spid="188771"/>
                                        </p:tgtEl>
                                        <p:attrNameLst>
                                          <p:attrName>style.visibility</p:attrName>
                                        </p:attrNameLst>
                                      </p:cBhvr>
                                      <p:to>
                                        <p:strVal val="visible"/>
                                      </p:to>
                                    </p:set>
                                    <p:animEffect transition="in" filter="dissolve">
                                      <p:cBhvr>
                                        <p:cTn id="85" dur="500"/>
                                        <p:tgtEl>
                                          <p:spTgt spid="188771"/>
                                        </p:tgtEl>
                                      </p:cBhvr>
                                    </p:animEffect>
                                  </p:childTnLst>
                                </p:cTn>
                              </p:par>
                            </p:childTnLst>
                          </p:cTn>
                        </p:par>
                        <p:par>
                          <p:cTn id="86" fill="hold">
                            <p:stCondLst>
                              <p:cond delay="500"/>
                            </p:stCondLst>
                            <p:childTnLst>
                              <p:par>
                                <p:cTn id="87" presetID="4" presetClass="entr" presetSubtype="16" fill="hold" nodeType="afterEffect">
                                  <p:stCondLst>
                                    <p:cond delay="0"/>
                                  </p:stCondLst>
                                  <p:childTnLst>
                                    <p:set>
                                      <p:cBhvr>
                                        <p:cTn id="88" dur="1" fill="hold">
                                          <p:stCondLst>
                                            <p:cond delay="0"/>
                                          </p:stCondLst>
                                        </p:cTn>
                                        <p:tgtEl>
                                          <p:spTgt spid="188848"/>
                                        </p:tgtEl>
                                        <p:attrNameLst>
                                          <p:attrName>style.visibility</p:attrName>
                                        </p:attrNameLst>
                                      </p:cBhvr>
                                      <p:to>
                                        <p:strVal val="visible"/>
                                      </p:to>
                                    </p:set>
                                    <p:animEffect transition="in" filter="box(in)">
                                      <p:cBhvr>
                                        <p:cTn id="89" dur="500"/>
                                        <p:tgtEl>
                                          <p:spTgt spid="188848"/>
                                        </p:tgtEl>
                                      </p:cBhvr>
                                    </p:animEffect>
                                  </p:childTnLst>
                                </p:cTn>
                              </p:par>
                            </p:childTnLst>
                          </p:cTn>
                        </p:par>
                      </p:childTnLst>
                    </p:cTn>
                  </p:par>
                  <p:par>
                    <p:cTn id="90" fill="hold">
                      <p:stCondLst>
                        <p:cond delay="indefinite"/>
                      </p:stCondLst>
                      <p:childTnLst>
                        <p:par>
                          <p:cTn id="91" fill="hold">
                            <p:stCondLst>
                              <p:cond delay="0"/>
                            </p:stCondLst>
                            <p:childTnLst>
                              <p:par>
                                <p:cTn id="92" presetID="9" presetClass="entr" presetSubtype="0" fill="hold" grpId="0" nodeType="clickEffect">
                                  <p:stCondLst>
                                    <p:cond delay="0"/>
                                  </p:stCondLst>
                                  <p:childTnLst>
                                    <p:set>
                                      <p:cBhvr>
                                        <p:cTn id="93" dur="1" fill="hold">
                                          <p:stCondLst>
                                            <p:cond delay="0"/>
                                          </p:stCondLst>
                                        </p:cTn>
                                        <p:tgtEl>
                                          <p:spTgt spid="188805"/>
                                        </p:tgtEl>
                                        <p:attrNameLst>
                                          <p:attrName>style.visibility</p:attrName>
                                        </p:attrNameLst>
                                      </p:cBhvr>
                                      <p:to>
                                        <p:strVal val="visible"/>
                                      </p:to>
                                    </p:set>
                                    <p:animEffect transition="in" filter="dissolve">
                                      <p:cBhvr>
                                        <p:cTn id="94" dur="500"/>
                                        <p:tgtEl>
                                          <p:spTgt spid="188805"/>
                                        </p:tgtEl>
                                      </p:cBhvr>
                                    </p:animEffect>
                                  </p:childTnLst>
                                </p:cTn>
                              </p:par>
                            </p:childTnLst>
                          </p:cTn>
                        </p:par>
                        <p:par>
                          <p:cTn id="95" fill="hold">
                            <p:stCondLst>
                              <p:cond delay="500"/>
                            </p:stCondLst>
                            <p:childTnLst>
                              <p:par>
                                <p:cTn id="96" presetID="4" presetClass="entr" presetSubtype="16" fill="hold" nodeType="afterEffect">
                                  <p:stCondLst>
                                    <p:cond delay="0"/>
                                  </p:stCondLst>
                                  <p:childTnLst>
                                    <p:set>
                                      <p:cBhvr>
                                        <p:cTn id="97" dur="1" fill="hold">
                                          <p:stCondLst>
                                            <p:cond delay="0"/>
                                          </p:stCondLst>
                                        </p:cTn>
                                        <p:tgtEl>
                                          <p:spTgt spid="188851"/>
                                        </p:tgtEl>
                                        <p:attrNameLst>
                                          <p:attrName>style.visibility</p:attrName>
                                        </p:attrNameLst>
                                      </p:cBhvr>
                                      <p:to>
                                        <p:strVal val="visible"/>
                                      </p:to>
                                    </p:set>
                                    <p:animEffect transition="in" filter="box(in)">
                                      <p:cBhvr>
                                        <p:cTn id="98" dur="500"/>
                                        <p:tgtEl>
                                          <p:spTgt spid="188851"/>
                                        </p:tgtEl>
                                      </p:cBhvr>
                                    </p:animEffect>
                                  </p:childTnLst>
                                </p:cTn>
                              </p:par>
                            </p:childTnLst>
                          </p:cTn>
                        </p:par>
                      </p:childTnLst>
                    </p:cTn>
                  </p:par>
                  <p:par>
                    <p:cTn id="99" fill="hold">
                      <p:stCondLst>
                        <p:cond delay="indefinite"/>
                      </p:stCondLst>
                      <p:childTnLst>
                        <p:par>
                          <p:cTn id="100" fill="hold">
                            <p:stCondLst>
                              <p:cond delay="0"/>
                            </p:stCondLst>
                            <p:childTnLst>
                              <p:par>
                                <p:cTn id="101" presetID="9" presetClass="entr" presetSubtype="0" fill="hold" grpId="0" nodeType="clickEffect">
                                  <p:stCondLst>
                                    <p:cond delay="0"/>
                                  </p:stCondLst>
                                  <p:childTnLst>
                                    <p:set>
                                      <p:cBhvr>
                                        <p:cTn id="102" dur="1" fill="hold">
                                          <p:stCondLst>
                                            <p:cond delay="0"/>
                                          </p:stCondLst>
                                        </p:cTn>
                                        <p:tgtEl>
                                          <p:spTgt spid="188804"/>
                                        </p:tgtEl>
                                        <p:attrNameLst>
                                          <p:attrName>style.visibility</p:attrName>
                                        </p:attrNameLst>
                                      </p:cBhvr>
                                      <p:to>
                                        <p:strVal val="visible"/>
                                      </p:to>
                                    </p:set>
                                    <p:animEffect transition="in" filter="dissolve">
                                      <p:cBhvr>
                                        <p:cTn id="103" dur="500"/>
                                        <p:tgtEl>
                                          <p:spTgt spid="188804"/>
                                        </p:tgtEl>
                                      </p:cBhvr>
                                    </p:animEffect>
                                  </p:childTnLst>
                                </p:cTn>
                              </p:par>
                            </p:childTnLst>
                          </p:cTn>
                        </p:par>
                      </p:childTnLst>
                    </p:cTn>
                  </p:par>
                  <p:par>
                    <p:cTn id="104" fill="hold">
                      <p:stCondLst>
                        <p:cond delay="indefinite"/>
                      </p:stCondLst>
                      <p:childTnLst>
                        <p:par>
                          <p:cTn id="105" fill="hold">
                            <p:stCondLst>
                              <p:cond delay="0"/>
                            </p:stCondLst>
                            <p:childTnLst>
                              <p:par>
                                <p:cTn id="106" presetID="9" presetClass="entr" presetSubtype="0" fill="hold" nodeType="clickEffect">
                                  <p:stCondLst>
                                    <p:cond delay="0"/>
                                  </p:stCondLst>
                                  <p:childTnLst>
                                    <p:set>
                                      <p:cBhvr>
                                        <p:cTn id="107" dur="1" fill="hold">
                                          <p:stCondLst>
                                            <p:cond delay="0"/>
                                          </p:stCondLst>
                                        </p:cTn>
                                        <p:tgtEl>
                                          <p:spTgt spid="188829"/>
                                        </p:tgtEl>
                                        <p:attrNameLst>
                                          <p:attrName>style.visibility</p:attrName>
                                        </p:attrNameLst>
                                      </p:cBhvr>
                                      <p:to>
                                        <p:strVal val="visible"/>
                                      </p:to>
                                    </p:set>
                                    <p:animEffect transition="in" filter="dissolve">
                                      <p:cBhvr>
                                        <p:cTn id="108" dur="500"/>
                                        <p:tgtEl>
                                          <p:spTgt spid="188829"/>
                                        </p:tgtEl>
                                      </p:cBhvr>
                                    </p:animEffect>
                                  </p:childTnLst>
                                </p:cTn>
                              </p:par>
                            </p:childTnLst>
                          </p:cTn>
                        </p:par>
                      </p:childTnLst>
                    </p:cTn>
                  </p:par>
                  <p:par>
                    <p:cTn id="109" fill="hold">
                      <p:stCondLst>
                        <p:cond delay="indefinite"/>
                      </p:stCondLst>
                      <p:childTnLst>
                        <p:par>
                          <p:cTn id="110" fill="hold">
                            <p:stCondLst>
                              <p:cond delay="0"/>
                            </p:stCondLst>
                            <p:childTnLst>
                              <p:par>
                                <p:cTn id="111" presetID="9" presetClass="entr" presetSubtype="0" fill="hold" nodeType="clickEffect">
                                  <p:stCondLst>
                                    <p:cond delay="0"/>
                                  </p:stCondLst>
                                  <p:childTnLst>
                                    <p:set>
                                      <p:cBhvr>
                                        <p:cTn id="112" dur="1" fill="hold">
                                          <p:stCondLst>
                                            <p:cond delay="0"/>
                                          </p:stCondLst>
                                        </p:cTn>
                                        <p:tgtEl>
                                          <p:spTgt spid="188814"/>
                                        </p:tgtEl>
                                        <p:attrNameLst>
                                          <p:attrName>style.visibility</p:attrName>
                                        </p:attrNameLst>
                                      </p:cBhvr>
                                      <p:to>
                                        <p:strVal val="visible"/>
                                      </p:to>
                                    </p:set>
                                    <p:animEffect transition="in" filter="dissolve">
                                      <p:cBhvr>
                                        <p:cTn id="113" dur="500"/>
                                        <p:tgtEl>
                                          <p:spTgt spid="188814"/>
                                        </p:tgtEl>
                                      </p:cBhvr>
                                    </p:animEffect>
                                  </p:childTnLst>
                                </p:cTn>
                              </p:par>
                            </p:childTnLst>
                          </p:cTn>
                        </p:par>
                      </p:childTnLst>
                    </p:cTn>
                  </p:par>
                  <p:par>
                    <p:cTn id="114" fill="hold">
                      <p:stCondLst>
                        <p:cond delay="indefinite"/>
                      </p:stCondLst>
                      <p:childTnLst>
                        <p:par>
                          <p:cTn id="115" fill="hold">
                            <p:stCondLst>
                              <p:cond delay="0"/>
                            </p:stCondLst>
                            <p:childTnLst>
                              <p:par>
                                <p:cTn id="116" presetID="9" presetClass="entr" presetSubtype="0" fill="hold" nodeType="clickEffect">
                                  <p:stCondLst>
                                    <p:cond delay="0"/>
                                  </p:stCondLst>
                                  <p:childTnLst>
                                    <p:set>
                                      <p:cBhvr>
                                        <p:cTn id="117" dur="1" fill="hold">
                                          <p:stCondLst>
                                            <p:cond delay="0"/>
                                          </p:stCondLst>
                                        </p:cTn>
                                        <p:tgtEl>
                                          <p:spTgt spid="188705"/>
                                        </p:tgtEl>
                                        <p:attrNameLst>
                                          <p:attrName>style.visibility</p:attrName>
                                        </p:attrNameLst>
                                      </p:cBhvr>
                                      <p:to>
                                        <p:strVal val="visible"/>
                                      </p:to>
                                    </p:set>
                                    <p:animEffect transition="in" filter="dissolve">
                                      <p:cBhvr>
                                        <p:cTn id="118" dur="500"/>
                                        <p:tgtEl>
                                          <p:spTgt spid="188705"/>
                                        </p:tgtEl>
                                      </p:cBhvr>
                                    </p:animEffect>
                                  </p:childTnLst>
                                </p:cTn>
                              </p:par>
                            </p:childTnLst>
                          </p:cTn>
                        </p:par>
                      </p:childTnLst>
                    </p:cTn>
                  </p:par>
                  <p:par>
                    <p:cTn id="119" fill="hold">
                      <p:stCondLst>
                        <p:cond delay="indefinite"/>
                      </p:stCondLst>
                      <p:childTnLst>
                        <p:par>
                          <p:cTn id="120" fill="hold">
                            <p:stCondLst>
                              <p:cond delay="0"/>
                            </p:stCondLst>
                            <p:childTnLst>
                              <p:par>
                                <p:cTn id="121" presetID="9" presetClass="entr" presetSubtype="0" fill="hold" nodeType="clickEffect">
                                  <p:stCondLst>
                                    <p:cond delay="0"/>
                                  </p:stCondLst>
                                  <p:childTnLst>
                                    <p:set>
                                      <p:cBhvr>
                                        <p:cTn id="122" dur="1" fill="hold">
                                          <p:stCondLst>
                                            <p:cond delay="0"/>
                                          </p:stCondLst>
                                        </p:cTn>
                                        <p:tgtEl>
                                          <p:spTgt spid="188772"/>
                                        </p:tgtEl>
                                        <p:attrNameLst>
                                          <p:attrName>style.visibility</p:attrName>
                                        </p:attrNameLst>
                                      </p:cBhvr>
                                      <p:to>
                                        <p:strVal val="visible"/>
                                      </p:to>
                                    </p:set>
                                    <p:animEffect transition="in" filter="dissolve">
                                      <p:cBhvr>
                                        <p:cTn id="123" dur="500"/>
                                        <p:tgtEl>
                                          <p:spTgt spid="188772"/>
                                        </p:tgtEl>
                                      </p:cBhvr>
                                    </p:animEffect>
                                  </p:childTnLst>
                                </p:cTn>
                              </p:par>
                            </p:childTnLst>
                          </p:cTn>
                        </p:par>
                      </p:childTnLst>
                    </p:cTn>
                  </p:par>
                  <p:par>
                    <p:cTn id="124" fill="hold">
                      <p:stCondLst>
                        <p:cond delay="indefinite"/>
                      </p:stCondLst>
                      <p:childTnLst>
                        <p:par>
                          <p:cTn id="125" fill="hold">
                            <p:stCondLst>
                              <p:cond delay="0"/>
                            </p:stCondLst>
                            <p:childTnLst>
                              <p:par>
                                <p:cTn id="126" presetID="9" presetClass="entr" presetSubtype="0" fill="hold" grpId="0" nodeType="clickEffect">
                                  <p:stCondLst>
                                    <p:cond delay="0"/>
                                  </p:stCondLst>
                                  <p:childTnLst>
                                    <p:set>
                                      <p:cBhvr>
                                        <p:cTn id="127" dur="1" fill="hold">
                                          <p:stCondLst>
                                            <p:cond delay="0"/>
                                          </p:stCondLst>
                                        </p:cTn>
                                        <p:tgtEl>
                                          <p:spTgt spid="188423"/>
                                        </p:tgtEl>
                                        <p:attrNameLst>
                                          <p:attrName>style.visibility</p:attrName>
                                        </p:attrNameLst>
                                      </p:cBhvr>
                                      <p:to>
                                        <p:strVal val="visible"/>
                                      </p:to>
                                    </p:set>
                                    <p:animEffect transition="in" filter="dissolve">
                                      <p:cBhvr>
                                        <p:cTn id="128" dur="500"/>
                                        <p:tgtEl>
                                          <p:spTgt spid="188423"/>
                                        </p:tgtEl>
                                      </p:cBhvr>
                                    </p:animEffect>
                                  </p:childTnLst>
                                </p:cTn>
                              </p:par>
                            </p:childTnLst>
                          </p:cTn>
                        </p:par>
                      </p:childTnLst>
                    </p:cTn>
                  </p:par>
                  <p:par>
                    <p:cTn id="129" fill="hold">
                      <p:stCondLst>
                        <p:cond delay="indefinite"/>
                      </p:stCondLst>
                      <p:childTnLst>
                        <p:par>
                          <p:cTn id="130" fill="hold">
                            <p:stCondLst>
                              <p:cond delay="0"/>
                            </p:stCondLst>
                            <p:childTnLst>
                              <p:par>
                                <p:cTn id="131" presetID="9" presetClass="entr" presetSubtype="0" fill="hold" nodeType="clickEffect">
                                  <p:stCondLst>
                                    <p:cond delay="0"/>
                                  </p:stCondLst>
                                  <p:childTnLst>
                                    <p:set>
                                      <p:cBhvr>
                                        <p:cTn id="132" dur="1" fill="hold">
                                          <p:stCondLst>
                                            <p:cond delay="0"/>
                                          </p:stCondLst>
                                        </p:cTn>
                                        <p:tgtEl>
                                          <p:spTgt spid="188809"/>
                                        </p:tgtEl>
                                        <p:attrNameLst>
                                          <p:attrName>style.visibility</p:attrName>
                                        </p:attrNameLst>
                                      </p:cBhvr>
                                      <p:to>
                                        <p:strVal val="visible"/>
                                      </p:to>
                                    </p:set>
                                    <p:animEffect transition="in" filter="dissolve">
                                      <p:cBhvr>
                                        <p:cTn id="133" dur="500"/>
                                        <p:tgtEl>
                                          <p:spTgt spid="188809"/>
                                        </p:tgtEl>
                                      </p:cBhvr>
                                    </p:animEffect>
                                  </p:childTnLst>
                                </p:cTn>
                              </p:par>
                            </p:childTnLst>
                          </p:cTn>
                        </p:par>
                      </p:childTnLst>
                    </p:cTn>
                  </p:par>
                  <p:par>
                    <p:cTn id="134" fill="hold">
                      <p:stCondLst>
                        <p:cond delay="indefinite"/>
                      </p:stCondLst>
                      <p:childTnLst>
                        <p:par>
                          <p:cTn id="135" fill="hold">
                            <p:stCondLst>
                              <p:cond delay="0"/>
                            </p:stCondLst>
                            <p:childTnLst>
                              <p:par>
                                <p:cTn id="136" presetID="9" presetClass="entr" presetSubtype="0" fill="hold" grpId="0" nodeType="clickEffect">
                                  <p:stCondLst>
                                    <p:cond delay="0"/>
                                  </p:stCondLst>
                                  <p:childTnLst>
                                    <p:set>
                                      <p:cBhvr>
                                        <p:cTn id="137" dur="1" fill="hold">
                                          <p:stCondLst>
                                            <p:cond delay="0"/>
                                          </p:stCondLst>
                                        </p:cTn>
                                        <p:tgtEl>
                                          <p:spTgt spid="188813"/>
                                        </p:tgtEl>
                                        <p:attrNameLst>
                                          <p:attrName>style.visibility</p:attrName>
                                        </p:attrNameLst>
                                      </p:cBhvr>
                                      <p:to>
                                        <p:strVal val="visible"/>
                                      </p:to>
                                    </p:set>
                                    <p:animEffect transition="in" filter="dissolve">
                                      <p:cBhvr>
                                        <p:cTn id="138" dur="500"/>
                                        <p:tgtEl>
                                          <p:spTgt spid="188813"/>
                                        </p:tgtEl>
                                      </p:cBhvr>
                                    </p:animEffect>
                                  </p:childTnLst>
                                </p:cTn>
                              </p:par>
                            </p:childTnLst>
                          </p:cTn>
                        </p:par>
                      </p:childTnLst>
                    </p:cTn>
                  </p:par>
                  <p:par>
                    <p:cTn id="139" fill="hold">
                      <p:stCondLst>
                        <p:cond delay="indefinite"/>
                      </p:stCondLst>
                      <p:childTnLst>
                        <p:par>
                          <p:cTn id="140" fill="hold">
                            <p:stCondLst>
                              <p:cond delay="0"/>
                            </p:stCondLst>
                            <p:childTnLst>
                              <p:par>
                                <p:cTn id="141" presetID="9" presetClass="entr" presetSubtype="0" fill="hold" grpId="0" nodeType="clickEffect">
                                  <p:stCondLst>
                                    <p:cond delay="0"/>
                                  </p:stCondLst>
                                  <p:childTnLst>
                                    <p:set>
                                      <p:cBhvr>
                                        <p:cTn id="142" dur="1" fill="hold">
                                          <p:stCondLst>
                                            <p:cond delay="0"/>
                                          </p:stCondLst>
                                        </p:cTn>
                                        <p:tgtEl>
                                          <p:spTgt spid="188424"/>
                                        </p:tgtEl>
                                        <p:attrNameLst>
                                          <p:attrName>style.visibility</p:attrName>
                                        </p:attrNameLst>
                                      </p:cBhvr>
                                      <p:to>
                                        <p:strVal val="visible"/>
                                      </p:to>
                                    </p:set>
                                    <p:animEffect transition="in" filter="dissolve">
                                      <p:cBhvr>
                                        <p:cTn id="143" dur="500"/>
                                        <p:tgtEl>
                                          <p:spTgt spid="188424"/>
                                        </p:tgtEl>
                                      </p:cBhvr>
                                    </p:animEffect>
                                  </p:childTnLst>
                                </p:cTn>
                              </p:par>
                            </p:childTnLst>
                          </p:cTn>
                        </p:par>
                        <p:par>
                          <p:cTn id="144" fill="hold">
                            <p:stCondLst>
                              <p:cond delay="500"/>
                            </p:stCondLst>
                            <p:childTnLst>
                              <p:par>
                                <p:cTn id="145" presetID="9" presetClass="entr" presetSubtype="0" fill="hold" grpId="0" nodeType="afterEffect">
                                  <p:stCondLst>
                                    <p:cond delay="0"/>
                                  </p:stCondLst>
                                  <p:childTnLst>
                                    <p:set>
                                      <p:cBhvr>
                                        <p:cTn id="146" dur="1" fill="hold">
                                          <p:stCondLst>
                                            <p:cond delay="0"/>
                                          </p:stCondLst>
                                        </p:cTn>
                                        <p:tgtEl>
                                          <p:spTgt spid="188630"/>
                                        </p:tgtEl>
                                        <p:attrNameLst>
                                          <p:attrName>style.visibility</p:attrName>
                                        </p:attrNameLst>
                                      </p:cBhvr>
                                      <p:to>
                                        <p:strVal val="visible"/>
                                      </p:to>
                                    </p:set>
                                    <p:animEffect transition="in" filter="dissolve">
                                      <p:cBhvr>
                                        <p:cTn id="147" dur="500"/>
                                        <p:tgtEl>
                                          <p:spTgt spid="188630"/>
                                        </p:tgtEl>
                                      </p:cBhvr>
                                    </p:animEffect>
                                  </p:childTnLst>
                                </p:cTn>
                              </p:par>
                            </p:childTnLst>
                          </p:cTn>
                        </p:par>
                        <p:par>
                          <p:cTn id="148" fill="hold">
                            <p:stCondLst>
                              <p:cond delay="1000"/>
                            </p:stCondLst>
                            <p:childTnLst>
                              <p:par>
                                <p:cTn id="149" presetID="9" presetClass="entr" presetSubtype="0" fill="hold" grpId="0" nodeType="afterEffect">
                                  <p:stCondLst>
                                    <p:cond delay="0"/>
                                  </p:stCondLst>
                                  <p:childTnLst>
                                    <p:set>
                                      <p:cBhvr>
                                        <p:cTn id="150" dur="1" fill="hold">
                                          <p:stCondLst>
                                            <p:cond delay="0"/>
                                          </p:stCondLst>
                                        </p:cTn>
                                        <p:tgtEl>
                                          <p:spTgt spid="188631"/>
                                        </p:tgtEl>
                                        <p:attrNameLst>
                                          <p:attrName>style.visibility</p:attrName>
                                        </p:attrNameLst>
                                      </p:cBhvr>
                                      <p:to>
                                        <p:strVal val="visible"/>
                                      </p:to>
                                    </p:set>
                                    <p:animEffect transition="in" filter="dissolve">
                                      <p:cBhvr>
                                        <p:cTn id="151" dur="500"/>
                                        <p:tgtEl>
                                          <p:spTgt spid="188631"/>
                                        </p:tgtEl>
                                      </p:cBhvr>
                                    </p:animEffect>
                                  </p:childTnLst>
                                </p:cTn>
                              </p:par>
                            </p:childTnLst>
                          </p:cTn>
                        </p:par>
                      </p:childTnLst>
                    </p:cTn>
                  </p:par>
                  <p:par>
                    <p:cTn id="152" fill="hold">
                      <p:stCondLst>
                        <p:cond delay="indefinite"/>
                      </p:stCondLst>
                      <p:childTnLst>
                        <p:par>
                          <p:cTn id="153" fill="hold">
                            <p:stCondLst>
                              <p:cond delay="0"/>
                            </p:stCondLst>
                            <p:childTnLst>
                              <p:par>
                                <p:cTn id="154" presetID="2" presetClass="entr" presetSubtype="1" fill="hold" grpId="0" nodeType="clickEffect">
                                  <p:stCondLst>
                                    <p:cond delay="0"/>
                                  </p:stCondLst>
                                  <p:childTnLst>
                                    <p:set>
                                      <p:cBhvr>
                                        <p:cTn id="155" dur="1" fill="hold">
                                          <p:stCondLst>
                                            <p:cond delay="0"/>
                                          </p:stCondLst>
                                        </p:cTn>
                                        <p:tgtEl>
                                          <p:spTgt spid="188858"/>
                                        </p:tgtEl>
                                        <p:attrNameLst>
                                          <p:attrName>style.visibility</p:attrName>
                                        </p:attrNameLst>
                                      </p:cBhvr>
                                      <p:to>
                                        <p:strVal val="visible"/>
                                      </p:to>
                                    </p:set>
                                    <p:anim calcmode="lin" valueType="num">
                                      <p:cBhvr additive="base">
                                        <p:cTn id="156" dur="2000" fill="hold"/>
                                        <p:tgtEl>
                                          <p:spTgt spid="188858"/>
                                        </p:tgtEl>
                                        <p:attrNameLst>
                                          <p:attrName>ppt_x</p:attrName>
                                        </p:attrNameLst>
                                      </p:cBhvr>
                                      <p:tavLst>
                                        <p:tav tm="0">
                                          <p:val>
                                            <p:strVal val="#ppt_x"/>
                                          </p:val>
                                        </p:tav>
                                        <p:tav tm="100000">
                                          <p:val>
                                            <p:strVal val="#ppt_x"/>
                                          </p:val>
                                        </p:tav>
                                      </p:tavLst>
                                    </p:anim>
                                    <p:anim calcmode="lin" valueType="num">
                                      <p:cBhvr additive="base">
                                        <p:cTn id="157" dur="2000" fill="hold"/>
                                        <p:tgtEl>
                                          <p:spTgt spid="188858"/>
                                        </p:tgtEl>
                                        <p:attrNameLst>
                                          <p:attrName>ppt_y</p:attrName>
                                        </p:attrNameLst>
                                      </p:cBhvr>
                                      <p:tavLst>
                                        <p:tav tm="0">
                                          <p:val>
                                            <p:strVal val="0-#ppt_h/2"/>
                                          </p:val>
                                        </p:tav>
                                        <p:tav tm="100000">
                                          <p:val>
                                            <p:strVal val="#ppt_y"/>
                                          </p:val>
                                        </p:tav>
                                      </p:tavLst>
                                    </p:anim>
                                  </p:childTnLst>
                                </p:cTn>
                              </p:par>
                              <p:par>
                                <p:cTn id="158" presetID="2" presetClass="entr" presetSubtype="1" fill="hold" grpId="0" nodeType="withEffect">
                                  <p:stCondLst>
                                    <p:cond delay="0"/>
                                  </p:stCondLst>
                                  <p:childTnLst>
                                    <p:set>
                                      <p:cBhvr>
                                        <p:cTn id="159" dur="1" fill="hold">
                                          <p:stCondLst>
                                            <p:cond delay="0"/>
                                          </p:stCondLst>
                                        </p:cTn>
                                        <p:tgtEl>
                                          <p:spTgt spid="188857"/>
                                        </p:tgtEl>
                                        <p:attrNameLst>
                                          <p:attrName>style.visibility</p:attrName>
                                        </p:attrNameLst>
                                      </p:cBhvr>
                                      <p:to>
                                        <p:strVal val="visible"/>
                                      </p:to>
                                    </p:set>
                                    <p:anim calcmode="lin" valueType="num">
                                      <p:cBhvr additive="base">
                                        <p:cTn id="160" dur="2000" fill="hold"/>
                                        <p:tgtEl>
                                          <p:spTgt spid="188857"/>
                                        </p:tgtEl>
                                        <p:attrNameLst>
                                          <p:attrName>ppt_x</p:attrName>
                                        </p:attrNameLst>
                                      </p:cBhvr>
                                      <p:tavLst>
                                        <p:tav tm="0">
                                          <p:val>
                                            <p:strVal val="#ppt_x"/>
                                          </p:val>
                                        </p:tav>
                                        <p:tav tm="100000">
                                          <p:val>
                                            <p:strVal val="#ppt_x"/>
                                          </p:val>
                                        </p:tav>
                                      </p:tavLst>
                                    </p:anim>
                                    <p:anim calcmode="lin" valueType="num">
                                      <p:cBhvr additive="base">
                                        <p:cTn id="161" dur="2000" fill="hold"/>
                                        <p:tgtEl>
                                          <p:spTgt spid="188857"/>
                                        </p:tgtEl>
                                        <p:attrNameLst>
                                          <p:attrName>ppt_y</p:attrName>
                                        </p:attrNameLst>
                                      </p:cBhvr>
                                      <p:tavLst>
                                        <p:tav tm="0">
                                          <p:val>
                                            <p:strVal val="0-#ppt_h/2"/>
                                          </p:val>
                                        </p:tav>
                                        <p:tav tm="100000">
                                          <p:val>
                                            <p:strVal val="#ppt_y"/>
                                          </p:val>
                                        </p:tav>
                                      </p:tavLst>
                                    </p:anim>
                                  </p:childTnLst>
                                </p:cTn>
                              </p:par>
                            </p:childTnLst>
                          </p:cTn>
                        </p:par>
                      </p:childTnLst>
                    </p:cTn>
                  </p:par>
                  <p:par>
                    <p:cTn id="162" fill="hold">
                      <p:stCondLst>
                        <p:cond delay="indefinite"/>
                      </p:stCondLst>
                      <p:childTnLst>
                        <p:par>
                          <p:cTn id="163" fill="hold">
                            <p:stCondLst>
                              <p:cond delay="0"/>
                            </p:stCondLst>
                            <p:childTnLst>
                              <p:par>
                                <p:cTn id="164" presetID="2" presetClass="entr" presetSubtype="4" fill="hold" grpId="0" nodeType="clickEffect">
                                  <p:stCondLst>
                                    <p:cond delay="0"/>
                                  </p:stCondLst>
                                  <p:childTnLst>
                                    <p:set>
                                      <p:cBhvr>
                                        <p:cTn id="165" dur="1" fill="hold">
                                          <p:stCondLst>
                                            <p:cond delay="0"/>
                                          </p:stCondLst>
                                        </p:cTn>
                                        <p:tgtEl>
                                          <p:spTgt spid="188860"/>
                                        </p:tgtEl>
                                        <p:attrNameLst>
                                          <p:attrName>style.visibility</p:attrName>
                                        </p:attrNameLst>
                                      </p:cBhvr>
                                      <p:to>
                                        <p:strVal val="visible"/>
                                      </p:to>
                                    </p:set>
                                    <p:anim calcmode="lin" valueType="num">
                                      <p:cBhvr additive="base">
                                        <p:cTn id="166" dur="2000" fill="hold"/>
                                        <p:tgtEl>
                                          <p:spTgt spid="188860"/>
                                        </p:tgtEl>
                                        <p:attrNameLst>
                                          <p:attrName>ppt_x</p:attrName>
                                        </p:attrNameLst>
                                      </p:cBhvr>
                                      <p:tavLst>
                                        <p:tav tm="0">
                                          <p:val>
                                            <p:strVal val="#ppt_x"/>
                                          </p:val>
                                        </p:tav>
                                        <p:tav tm="100000">
                                          <p:val>
                                            <p:strVal val="#ppt_x"/>
                                          </p:val>
                                        </p:tav>
                                      </p:tavLst>
                                    </p:anim>
                                    <p:anim calcmode="lin" valueType="num">
                                      <p:cBhvr additive="base">
                                        <p:cTn id="167" dur="2000" fill="hold"/>
                                        <p:tgtEl>
                                          <p:spTgt spid="188860"/>
                                        </p:tgtEl>
                                        <p:attrNameLst>
                                          <p:attrName>ppt_y</p:attrName>
                                        </p:attrNameLst>
                                      </p:cBhvr>
                                      <p:tavLst>
                                        <p:tav tm="0">
                                          <p:val>
                                            <p:strVal val="1+#ppt_h/2"/>
                                          </p:val>
                                        </p:tav>
                                        <p:tav tm="100000">
                                          <p:val>
                                            <p:strVal val="#ppt_y"/>
                                          </p:val>
                                        </p:tav>
                                      </p:tavLst>
                                    </p:anim>
                                  </p:childTnLst>
                                </p:cTn>
                              </p:par>
                              <p:par>
                                <p:cTn id="168" presetID="2" presetClass="entr" presetSubtype="4" fill="hold" grpId="0" nodeType="withEffect">
                                  <p:stCondLst>
                                    <p:cond delay="0"/>
                                  </p:stCondLst>
                                  <p:childTnLst>
                                    <p:set>
                                      <p:cBhvr>
                                        <p:cTn id="169" dur="1" fill="hold">
                                          <p:stCondLst>
                                            <p:cond delay="0"/>
                                          </p:stCondLst>
                                        </p:cTn>
                                        <p:tgtEl>
                                          <p:spTgt spid="188859"/>
                                        </p:tgtEl>
                                        <p:attrNameLst>
                                          <p:attrName>style.visibility</p:attrName>
                                        </p:attrNameLst>
                                      </p:cBhvr>
                                      <p:to>
                                        <p:strVal val="visible"/>
                                      </p:to>
                                    </p:set>
                                    <p:anim calcmode="lin" valueType="num">
                                      <p:cBhvr additive="base">
                                        <p:cTn id="170" dur="2000" fill="hold"/>
                                        <p:tgtEl>
                                          <p:spTgt spid="188859"/>
                                        </p:tgtEl>
                                        <p:attrNameLst>
                                          <p:attrName>ppt_x</p:attrName>
                                        </p:attrNameLst>
                                      </p:cBhvr>
                                      <p:tavLst>
                                        <p:tav tm="0">
                                          <p:val>
                                            <p:strVal val="#ppt_x"/>
                                          </p:val>
                                        </p:tav>
                                        <p:tav tm="100000">
                                          <p:val>
                                            <p:strVal val="#ppt_x"/>
                                          </p:val>
                                        </p:tav>
                                      </p:tavLst>
                                    </p:anim>
                                    <p:anim calcmode="lin" valueType="num">
                                      <p:cBhvr additive="base">
                                        <p:cTn id="171" dur="2000" fill="hold"/>
                                        <p:tgtEl>
                                          <p:spTgt spid="18885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8419" grpId="0" autoUpdateAnimBg="0"/>
      <p:bldP spid="188420" grpId="0" autoUpdateAnimBg="0"/>
      <p:bldP spid="188421" grpId="0" autoUpdateAnimBg="0"/>
      <p:bldP spid="188423" grpId="0" autoUpdateAnimBg="0"/>
      <p:bldP spid="188424" grpId="0" autoUpdateAnimBg="0"/>
      <p:bldP spid="188630" grpId="0" animBg="1"/>
      <p:bldP spid="188631" grpId="0" autoUpdateAnimBg="0"/>
      <p:bldP spid="188771" grpId="0" animBg="1"/>
      <p:bldP spid="188804" grpId="0" animBg="1"/>
      <p:bldP spid="188805" grpId="0" animBg="1"/>
      <p:bldP spid="188806" grpId="0" animBg="1"/>
      <p:bldP spid="188807" grpId="0" animBg="1"/>
      <p:bldP spid="188808" grpId="0" animBg="1"/>
      <p:bldP spid="188813" grpId="0" animBg="1"/>
      <p:bldP spid="188827" grpId="0" animBg="1"/>
      <p:bldP spid="188828" grpId="0" animBg="1"/>
      <p:bldP spid="188835" grpId="0" animBg="1"/>
      <p:bldP spid="188857" grpId="0" animBg="1"/>
      <p:bldP spid="188858" grpId="0" animBg="1"/>
      <p:bldP spid="188859" grpId="0" animBg="1"/>
      <p:bldP spid="188860"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10"/>
          <p:cNvPicPr>
            <a:picLocks noGrp="1" noChangeAspect="1" noChangeArrowheads="1"/>
          </p:cNvPicPr>
          <p:nvPr>
            <p:ph sz="half" idx="1"/>
          </p:nvPr>
        </p:nvPicPr>
        <p:blipFill>
          <a:blip r:embed="rId1">
            <a:extLst>
              <a:ext uri="{28A0092B-C50C-407E-A947-70E740481C1C}">
                <a14:useLocalDpi xmlns:a14="http://schemas.microsoft.com/office/drawing/2010/main" val="0"/>
              </a:ext>
            </a:extLst>
          </a:blip>
          <a:srcRect/>
          <a:stretch>
            <a:fillRect/>
          </a:stretch>
        </p:blipFill>
        <p:spPr>
          <a:xfrm>
            <a:off x="0" y="3707423"/>
            <a:ext cx="4044462" cy="2886808"/>
          </a:xfrm>
          <a:noFill/>
          <a:extLst>
            <a:ext uri="{91240B29-F687-4F45-9708-019B960494DF}">
              <a14:hiddenLine xmlns:a14="http://schemas.microsoft.com/office/drawing/2010/main" w="9525">
                <a:solidFill>
                  <a:schemeClr val="tx1"/>
                </a:solidFill>
                <a:prstDash val="solid"/>
                <a:miter lim="800000"/>
                <a:headEnd/>
                <a:tailEnd/>
              </a14:hiddenLine>
            </a:ext>
          </a:extLst>
        </p:spPr>
      </p:pic>
      <p:pic>
        <p:nvPicPr>
          <p:cNvPr id="25603" name="Picture 1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48508" y="230213"/>
            <a:ext cx="7895492" cy="3540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Text Box 2"/>
          <p:cNvSpPr txBox="1">
            <a:spLocks noChangeArrowheads="1"/>
          </p:cNvSpPr>
          <p:nvPr/>
        </p:nvSpPr>
        <p:spPr bwMode="auto">
          <a:xfrm>
            <a:off x="600892" y="651315"/>
            <a:ext cx="7929563" cy="13608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5000"/>
              </a:lnSpc>
            </a:pPr>
            <a:r>
              <a:rPr lang="en-US" altLang="zh-CN" sz="2200" b="0" dirty="0">
                <a:solidFill>
                  <a:srgbClr val="FF0000"/>
                </a:solidFill>
                <a:latin typeface="华文中宋" panose="02010600040101010101" pitchFamily="2" charset="-122"/>
                <a:ea typeface="华文中宋" panose="02010600040101010101" pitchFamily="2" charset="-122"/>
              </a:rPr>
              <a:t>[</a:t>
            </a:r>
            <a:r>
              <a:rPr lang="zh-CN" altLang="en-US" sz="2200" dirty="0" smtClean="0">
                <a:solidFill>
                  <a:srgbClr val="FF0000"/>
                </a:solidFill>
                <a:latin typeface="华文中宋" panose="02010600040101010101" pitchFamily="2" charset="-122"/>
                <a:ea typeface="华文中宋" panose="02010600040101010101" pitchFamily="2" charset="-122"/>
              </a:rPr>
              <a:t>例</a:t>
            </a:r>
            <a:r>
              <a:rPr lang="en-US" altLang="zh-CN" sz="2200" dirty="0" smtClean="0">
                <a:solidFill>
                  <a:srgbClr val="FF0000"/>
                </a:solidFill>
                <a:latin typeface="华文中宋" panose="02010600040101010101" pitchFamily="2" charset="-122"/>
                <a:ea typeface="华文中宋" panose="02010600040101010101" pitchFamily="2" charset="-122"/>
              </a:rPr>
              <a:t>3.7-3</a:t>
            </a:r>
            <a:r>
              <a:rPr lang="en-US" altLang="zh-CN" sz="2200" b="0" dirty="0" smtClean="0">
                <a:solidFill>
                  <a:srgbClr val="FF0000"/>
                </a:solidFill>
                <a:latin typeface="华文中宋" panose="02010600040101010101" pitchFamily="2" charset="-122"/>
                <a:ea typeface="华文中宋" panose="02010600040101010101" pitchFamily="2" charset="-122"/>
              </a:rPr>
              <a:t>]</a:t>
            </a:r>
            <a:r>
              <a:rPr lang="zh-CN" altLang="en-US" sz="2200" b="0" dirty="0">
                <a:solidFill>
                  <a:srgbClr val="FF0000"/>
                </a:solidFill>
                <a:latin typeface="华文中宋" panose="02010600040101010101" pitchFamily="2" charset="-122"/>
                <a:ea typeface="华文中宋" panose="02010600040101010101" pitchFamily="2" charset="-122"/>
              </a:rPr>
              <a:t>：</a:t>
            </a:r>
            <a:r>
              <a:rPr kumimoji="1" lang="zh-CN" altLang="en-US" sz="2200" b="0" dirty="0">
                <a:solidFill>
                  <a:srgbClr val="002060"/>
                </a:solidFill>
                <a:latin typeface="华文中宋" panose="02010600040101010101" pitchFamily="2" charset="-122"/>
                <a:ea typeface="华文中宋" panose="02010600040101010101" pitchFamily="2" charset="-122"/>
              </a:rPr>
              <a:t>如图所示，某圆柱齿轮装于轴上，在圆周方向采用</a:t>
            </a:r>
            <a:r>
              <a:rPr kumimoji="1" lang="en-US" altLang="zh-CN" sz="2200" b="0" dirty="0">
                <a:solidFill>
                  <a:srgbClr val="002060"/>
                </a:solidFill>
                <a:latin typeface="华文中宋" panose="02010600040101010101" pitchFamily="2" charset="-122"/>
                <a:ea typeface="华文中宋" panose="02010600040101010101" pitchFamily="2" charset="-122"/>
              </a:rPr>
              <a:t>A</a:t>
            </a:r>
            <a:r>
              <a:rPr kumimoji="1" lang="zh-CN" altLang="en-US" sz="2200" b="0" dirty="0">
                <a:solidFill>
                  <a:srgbClr val="002060"/>
                </a:solidFill>
                <a:latin typeface="华文中宋" panose="02010600040101010101" pitchFamily="2" charset="-122"/>
                <a:ea typeface="华文中宋" panose="02010600040101010101" pitchFamily="2" charset="-122"/>
              </a:rPr>
              <a:t>型普通平键固定。在轴向，齿轮的左端用套筒定位，右端用轴肩定位。试画出这个部分的结构图。</a:t>
            </a:r>
            <a:endParaRPr kumimoji="1" lang="zh-CN" altLang="en-US" sz="2200" b="0" dirty="0">
              <a:solidFill>
                <a:srgbClr val="002060"/>
              </a:solidFill>
              <a:latin typeface="华文中宋" panose="02010600040101010101" pitchFamily="2" charset="-122"/>
              <a:ea typeface="华文中宋" panose="02010600040101010101" pitchFamily="2" charset="-122"/>
            </a:endParaRPr>
          </a:p>
        </p:txBody>
      </p:sp>
      <p:pic>
        <p:nvPicPr>
          <p:cNvPr id="152579" name="Picture 3" descr="z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697289" y="2430101"/>
            <a:ext cx="2973387" cy="4081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152579"/>
                                        </p:tgtEl>
                                        <p:attrNameLst>
                                          <p:attrName>style.visibility</p:attrName>
                                        </p:attrNameLst>
                                      </p:cBhvr>
                                      <p:to>
                                        <p:strVal val="visible"/>
                                      </p:to>
                                    </p:set>
                                    <p:animEffect transition="in" filter="dissolve">
                                      <p:cBhvr>
                                        <p:cTn id="7" dur="500"/>
                                        <p:tgtEl>
                                          <p:spTgt spid="1525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02" name="Picture 2" descr="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133600" y="1309688"/>
            <a:ext cx="4618038" cy="4125912"/>
          </a:xfrm>
          <a:prstGeom prst="rect">
            <a:avLst/>
          </a:prstGeom>
          <a:noFill/>
          <a:extLst>
            <a:ext uri="{909E8E84-426E-40DD-AFC4-6F175D3DCCD1}">
              <a14:hiddenFill xmlns:a14="http://schemas.microsoft.com/office/drawing/2010/main">
                <a:solidFill>
                  <a:srgbClr val="FFFFFF"/>
                </a:solidFill>
              </a14:hiddenFill>
            </a:ext>
          </a:extLst>
        </p:spPr>
      </p:pic>
      <p:sp>
        <p:nvSpPr>
          <p:cNvPr id="153603" name="Rectangle 3"/>
          <p:cNvSpPr>
            <a:spLocks noChangeArrowheads="1"/>
          </p:cNvSpPr>
          <p:nvPr/>
        </p:nvSpPr>
        <p:spPr bwMode="auto">
          <a:xfrm>
            <a:off x="582613" y="423863"/>
            <a:ext cx="9779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0">
                <a:solidFill>
                  <a:srgbClr val="FF0000"/>
                </a:solidFill>
                <a:latin typeface="华文中宋" panose="02010600040101010101" pitchFamily="2" charset="-122"/>
                <a:ea typeface="华文中宋" panose="02010600040101010101" pitchFamily="2" charset="-122"/>
              </a:rPr>
              <a:t>[</a:t>
            </a:r>
            <a:r>
              <a:rPr lang="zh-CN" altLang="en-US" sz="2400" b="0">
                <a:solidFill>
                  <a:srgbClr val="FF0000"/>
                </a:solidFill>
                <a:latin typeface="华文中宋" panose="02010600040101010101" pitchFamily="2" charset="-122"/>
                <a:ea typeface="华文中宋" panose="02010600040101010101" pitchFamily="2" charset="-122"/>
              </a:rPr>
              <a:t>解</a:t>
            </a:r>
            <a:r>
              <a:rPr lang="en-US" altLang="zh-CN" sz="2400" b="0">
                <a:solidFill>
                  <a:srgbClr val="FF0000"/>
                </a:solidFill>
                <a:latin typeface="华文中宋" panose="02010600040101010101" pitchFamily="2" charset="-122"/>
                <a:ea typeface="华文中宋" panose="02010600040101010101" pitchFamily="2" charset="-122"/>
              </a:rPr>
              <a:t>]</a:t>
            </a:r>
            <a:r>
              <a:rPr lang="zh-CN" altLang="en-US" sz="2400" b="0">
                <a:solidFill>
                  <a:srgbClr val="FF0000"/>
                </a:solidFill>
                <a:latin typeface="华文中宋" panose="02010600040101010101" pitchFamily="2" charset="-122"/>
                <a:ea typeface="华文中宋" panose="02010600040101010101" pitchFamily="2" charset="-122"/>
              </a:rPr>
              <a:t>：</a:t>
            </a:r>
            <a:endParaRPr lang="zh-CN" altLang="en-US" sz="2400" b="0">
              <a:solidFill>
                <a:srgbClr val="FF0000"/>
              </a:solidFill>
              <a:latin typeface="华文中宋" panose="02010600040101010101" pitchFamily="2" charset="-122"/>
              <a:ea typeface="华文中宋"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153602"/>
                                        </p:tgtEl>
                                        <p:attrNameLst>
                                          <p:attrName>style.visibility</p:attrName>
                                        </p:attrNameLst>
                                      </p:cBhvr>
                                      <p:to>
                                        <p:strVal val="visible"/>
                                      </p:to>
                                    </p:set>
                                    <p:animEffect transition="in" filter="dissolve">
                                      <p:cBhvr>
                                        <p:cTn id="7" dur="500"/>
                                        <p:tgtEl>
                                          <p:spTgt spid="1536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Text Box 2"/>
          <p:cNvSpPr txBox="1">
            <a:spLocks noChangeArrowheads="1"/>
          </p:cNvSpPr>
          <p:nvPr/>
        </p:nvSpPr>
        <p:spPr bwMode="auto">
          <a:xfrm>
            <a:off x="772015" y="764006"/>
            <a:ext cx="7929563" cy="13989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5000"/>
              </a:lnSpc>
            </a:pPr>
            <a:r>
              <a:rPr lang="en-US" altLang="zh-CN" sz="2400" b="0" dirty="0">
                <a:solidFill>
                  <a:srgbClr val="FF0000"/>
                </a:solidFill>
                <a:latin typeface="华文中宋" panose="02010600040101010101" pitchFamily="2" charset="-122"/>
                <a:ea typeface="华文中宋" panose="02010600040101010101" pitchFamily="2" charset="-122"/>
              </a:rPr>
              <a:t>[</a:t>
            </a:r>
            <a:r>
              <a:rPr lang="zh-CN" altLang="en-US" sz="2400" b="0" dirty="0" smtClean="0">
                <a:solidFill>
                  <a:srgbClr val="FF0000"/>
                </a:solidFill>
                <a:latin typeface="华文中宋" panose="02010600040101010101" pitchFamily="2" charset="-122"/>
                <a:ea typeface="华文中宋" panose="02010600040101010101" pitchFamily="2" charset="-122"/>
              </a:rPr>
              <a:t>例</a:t>
            </a:r>
            <a:r>
              <a:rPr lang="en-US" altLang="zh-CN" sz="2400" b="0" dirty="0" smtClean="0">
                <a:solidFill>
                  <a:srgbClr val="FF0000"/>
                </a:solidFill>
                <a:latin typeface="华文中宋" panose="02010600040101010101" pitchFamily="2" charset="-122"/>
                <a:ea typeface="华文中宋" panose="02010600040101010101" pitchFamily="2" charset="-122"/>
              </a:rPr>
              <a:t>3.7-4]</a:t>
            </a:r>
            <a:r>
              <a:rPr lang="zh-CN" altLang="en-US" sz="2400" b="0" dirty="0">
                <a:solidFill>
                  <a:srgbClr val="FF0000"/>
                </a:solidFill>
                <a:latin typeface="华文中宋" panose="02010600040101010101" pitchFamily="2" charset="-122"/>
                <a:ea typeface="华文中宋" panose="02010600040101010101" pitchFamily="2" charset="-122"/>
              </a:rPr>
              <a:t>：</a:t>
            </a:r>
            <a:r>
              <a:rPr kumimoji="1" lang="zh-CN" altLang="en-US" sz="2200" b="0" dirty="0">
                <a:solidFill>
                  <a:srgbClr val="002060"/>
                </a:solidFill>
                <a:latin typeface="华文中宋" panose="02010600040101010101" pitchFamily="2" charset="-122"/>
                <a:ea typeface="华文中宋" panose="02010600040101010101" pitchFamily="2" charset="-122"/>
              </a:rPr>
              <a:t>如图所示为下置式蜗杆减速器中蜗轮与轴及轴承的组合结构。蜗轮用油润滑，轴承用</a:t>
            </a:r>
            <a:r>
              <a:rPr kumimoji="1" lang="zh-CN" altLang="en-US" sz="2200" b="0" dirty="0">
                <a:solidFill>
                  <a:srgbClr val="FF0000"/>
                </a:solidFill>
                <a:latin typeface="华文中宋" panose="02010600040101010101" pitchFamily="2" charset="-122"/>
                <a:ea typeface="华文中宋" panose="02010600040101010101" pitchFamily="2" charset="-122"/>
              </a:rPr>
              <a:t>脂润滑</a:t>
            </a:r>
            <a:r>
              <a:rPr kumimoji="1" lang="zh-CN" altLang="en-US" sz="2200" b="0" dirty="0">
                <a:solidFill>
                  <a:srgbClr val="002060"/>
                </a:solidFill>
                <a:latin typeface="华文中宋" panose="02010600040101010101" pitchFamily="2" charset="-122"/>
                <a:ea typeface="华文中宋" panose="02010600040101010101" pitchFamily="2" charset="-122"/>
              </a:rPr>
              <a:t>。试改正该图中的错误，并画出正确的结构图。 </a:t>
            </a:r>
            <a:endParaRPr kumimoji="1" lang="zh-CN" altLang="en-US" sz="2200" b="0" dirty="0">
              <a:solidFill>
                <a:srgbClr val="002060"/>
              </a:solidFill>
              <a:latin typeface="华文中宋" panose="02010600040101010101" pitchFamily="2" charset="-122"/>
              <a:ea typeface="华文中宋" panose="02010600040101010101" pitchFamily="2" charset="-122"/>
            </a:endParaRPr>
          </a:p>
        </p:txBody>
      </p:sp>
      <p:pic>
        <p:nvPicPr>
          <p:cNvPr id="150531" name="Picture 3" descr="z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92745" y="2741598"/>
            <a:ext cx="8623300" cy="308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椭圆 1"/>
          <p:cNvSpPr/>
          <p:nvPr/>
        </p:nvSpPr>
        <p:spPr>
          <a:xfrm>
            <a:off x="1442085" y="4388485"/>
            <a:ext cx="835660" cy="916305"/>
          </a:xfrm>
          <a:prstGeom prst="ellipse">
            <a:avLst/>
          </a:prstGeom>
          <a:noFill/>
          <a:ln w="19050" cap="flat" cmpd="sng" algn="ctr">
            <a:solidFill>
              <a:srgbClr val="FF0000"/>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p:txBody>
      </p:sp>
      <p:sp>
        <p:nvSpPr>
          <p:cNvPr id="3" name="椭圆 2"/>
          <p:cNvSpPr/>
          <p:nvPr/>
        </p:nvSpPr>
        <p:spPr>
          <a:xfrm>
            <a:off x="556260" y="5304155"/>
            <a:ext cx="835660" cy="916305"/>
          </a:xfrm>
          <a:prstGeom prst="ellipse">
            <a:avLst/>
          </a:prstGeom>
          <a:noFill/>
          <a:ln w="19050" cap="flat" cmpd="sng" algn="ctr">
            <a:solidFill>
              <a:srgbClr val="FF0000"/>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p:txBody>
      </p:sp>
      <p:sp>
        <p:nvSpPr>
          <p:cNvPr id="4" name="椭圆 3"/>
          <p:cNvSpPr/>
          <p:nvPr/>
        </p:nvSpPr>
        <p:spPr>
          <a:xfrm>
            <a:off x="2208530" y="4687570"/>
            <a:ext cx="835660" cy="916305"/>
          </a:xfrm>
          <a:prstGeom prst="ellipse">
            <a:avLst/>
          </a:prstGeom>
          <a:noFill/>
          <a:ln w="19050" cap="flat" cmpd="sng" algn="ctr">
            <a:solidFill>
              <a:srgbClr val="FF0000"/>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p:txBody>
      </p:sp>
      <p:sp>
        <p:nvSpPr>
          <p:cNvPr id="5" name="椭圆 4"/>
          <p:cNvSpPr/>
          <p:nvPr/>
        </p:nvSpPr>
        <p:spPr>
          <a:xfrm>
            <a:off x="3671570" y="4617720"/>
            <a:ext cx="835660" cy="916305"/>
          </a:xfrm>
          <a:prstGeom prst="ellipse">
            <a:avLst/>
          </a:prstGeom>
          <a:noFill/>
          <a:ln w="19050" cap="flat" cmpd="sng" algn="ctr">
            <a:solidFill>
              <a:srgbClr val="FF0000"/>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p:txBody>
      </p:sp>
      <p:sp>
        <p:nvSpPr>
          <p:cNvPr id="6" name="椭圆 5"/>
          <p:cNvSpPr/>
          <p:nvPr/>
        </p:nvSpPr>
        <p:spPr>
          <a:xfrm>
            <a:off x="4388485" y="4667885"/>
            <a:ext cx="835660" cy="916305"/>
          </a:xfrm>
          <a:prstGeom prst="ellipse">
            <a:avLst/>
          </a:prstGeom>
          <a:noFill/>
          <a:ln w="19050" cap="flat" cmpd="sng" algn="ctr">
            <a:solidFill>
              <a:srgbClr val="FF0000"/>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p:txBody>
      </p:sp>
      <p:sp>
        <p:nvSpPr>
          <p:cNvPr id="7" name="椭圆 6"/>
          <p:cNvSpPr/>
          <p:nvPr/>
        </p:nvSpPr>
        <p:spPr>
          <a:xfrm>
            <a:off x="5025390" y="5145405"/>
            <a:ext cx="835660" cy="916305"/>
          </a:xfrm>
          <a:prstGeom prst="ellipse">
            <a:avLst/>
          </a:prstGeom>
          <a:noFill/>
          <a:ln w="19050" cap="flat" cmpd="sng" algn="ctr">
            <a:solidFill>
              <a:srgbClr val="FF0000"/>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p:txBody>
      </p:sp>
      <p:sp>
        <p:nvSpPr>
          <p:cNvPr id="8" name="椭圆 7"/>
          <p:cNvSpPr/>
          <p:nvPr/>
        </p:nvSpPr>
        <p:spPr>
          <a:xfrm>
            <a:off x="6249670" y="4448810"/>
            <a:ext cx="835660" cy="916305"/>
          </a:xfrm>
          <a:prstGeom prst="ellipse">
            <a:avLst/>
          </a:prstGeom>
          <a:noFill/>
          <a:ln w="19050" cap="flat" cmpd="sng" algn="ctr">
            <a:solidFill>
              <a:srgbClr val="FF0000"/>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p:txBody>
      </p:sp>
      <p:sp>
        <p:nvSpPr>
          <p:cNvPr id="9" name="椭圆 8"/>
          <p:cNvSpPr/>
          <p:nvPr/>
        </p:nvSpPr>
        <p:spPr>
          <a:xfrm>
            <a:off x="7195820" y="5046345"/>
            <a:ext cx="835660" cy="916305"/>
          </a:xfrm>
          <a:prstGeom prst="ellipse">
            <a:avLst/>
          </a:prstGeom>
          <a:noFill/>
          <a:ln w="19050" cap="flat" cmpd="sng" algn="ctr">
            <a:solidFill>
              <a:srgbClr val="FF0000"/>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p:txBody>
      </p:sp>
      <p:sp>
        <p:nvSpPr>
          <p:cNvPr id="11" name="椭圆 10"/>
          <p:cNvSpPr/>
          <p:nvPr/>
        </p:nvSpPr>
        <p:spPr>
          <a:xfrm>
            <a:off x="2447290" y="3442970"/>
            <a:ext cx="835660" cy="916305"/>
          </a:xfrm>
          <a:prstGeom prst="ellipse">
            <a:avLst/>
          </a:prstGeom>
          <a:noFill/>
          <a:ln w="19050" cap="flat" cmpd="sng" algn="ctr">
            <a:solidFill>
              <a:srgbClr val="FF0000"/>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150531"/>
                                        </p:tgtEl>
                                        <p:attrNameLst>
                                          <p:attrName>style.visibility</p:attrName>
                                        </p:attrNameLst>
                                      </p:cBhvr>
                                      <p:to>
                                        <p:strVal val="visible"/>
                                      </p:to>
                                    </p:set>
                                    <p:animEffect transition="in" filter="dissolve">
                                      <p:cBhvr>
                                        <p:cTn id="7" dur="500"/>
                                        <p:tgtEl>
                                          <p:spTgt spid="15053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up)">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grpId="0" nodeType="clickEffect">
                                  <p:stCondLst>
                                    <p:cond delay="0"/>
                                  </p:stCondLst>
                                  <p:childTnLst>
                                    <p:set>
                                      <p:cBhvr>
                                        <p:cTn id="16" dur="1000" fill="hold">
                                          <p:stCondLst>
                                            <p:cond delay="0"/>
                                          </p:stCondLst>
                                        </p:cTn>
                                        <p:tgtEl>
                                          <p:spTgt spid="2"/>
                                        </p:tgtEl>
                                        <p:attrNameLst>
                                          <p:attrName>style.visibility</p:attrName>
                                        </p:attrNameLst>
                                      </p:cBhvr>
                                      <p:to>
                                        <p:strVal val="visible"/>
                                      </p:to>
                                    </p:set>
                                    <p:animEffect transition="in" filter="wheel(1)">
                                      <p:cBhvr>
                                        <p:cTn id="17" dur="10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1" presetClass="entr" presetSubtype="1" fill="hold" grpId="0" nodeType="clickEffect">
                                  <p:stCondLst>
                                    <p:cond delay="0"/>
                                  </p:stCondLst>
                                  <p:childTnLst>
                                    <p:set>
                                      <p:cBhvr>
                                        <p:cTn id="21" dur="1000" fill="hold">
                                          <p:stCondLst>
                                            <p:cond delay="0"/>
                                          </p:stCondLst>
                                        </p:cTn>
                                        <p:tgtEl>
                                          <p:spTgt spid="4"/>
                                        </p:tgtEl>
                                        <p:attrNameLst>
                                          <p:attrName>style.visibility</p:attrName>
                                        </p:attrNameLst>
                                      </p:cBhvr>
                                      <p:to>
                                        <p:strVal val="visible"/>
                                      </p:to>
                                    </p:set>
                                    <p:animEffect transition="in" filter="wheel(1)">
                                      <p:cBhvr>
                                        <p:cTn id="22" dur="10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21" presetClass="entr" presetSubtype="1" fill="hold" grpId="0" nodeType="clickEffect">
                                  <p:stCondLst>
                                    <p:cond delay="0"/>
                                  </p:stCondLst>
                                  <p:childTnLst>
                                    <p:set>
                                      <p:cBhvr>
                                        <p:cTn id="26" dur="1000" fill="hold">
                                          <p:stCondLst>
                                            <p:cond delay="0"/>
                                          </p:stCondLst>
                                        </p:cTn>
                                        <p:tgtEl>
                                          <p:spTgt spid="11"/>
                                        </p:tgtEl>
                                        <p:attrNameLst>
                                          <p:attrName>style.visibility</p:attrName>
                                        </p:attrNameLst>
                                      </p:cBhvr>
                                      <p:to>
                                        <p:strVal val="visible"/>
                                      </p:to>
                                    </p:set>
                                    <p:animEffect transition="in" filter="wheel(1)">
                                      <p:cBhvr>
                                        <p:cTn id="27" dur="10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21" presetClass="entr" presetSubtype="1" fill="hold" grpId="0" nodeType="clickEffect">
                                  <p:stCondLst>
                                    <p:cond delay="0"/>
                                  </p:stCondLst>
                                  <p:childTnLst>
                                    <p:set>
                                      <p:cBhvr>
                                        <p:cTn id="31" dur="1000" fill="hold">
                                          <p:stCondLst>
                                            <p:cond delay="0"/>
                                          </p:stCondLst>
                                        </p:cTn>
                                        <p:tgtEl>
                                          <p:spTgt spid="5"/>
                                        </p:tgtEl>
                                        <p:attrNameLst>
                                          <p:attrName>style.visibility</p:attrName>
                                        </p:attrNameLst>
                                      </p:cBhvr>
                                      <p:to>
                                        <p:strVal val="visible"/>
                                      </p:to>
                                    </p:set>
                                    <p:animEffect transition="in" filter="wheel(1)">
                                      <p:cBhvr>
                                        <p:cTn id="32" dur="1000"/>
                                        <p:tgtEl>
                                          <p:spTgt spid="5"/>
                                        </p:tgtEl>
                                      </p:cBhvr>
                                    </p:animEffect>
                                  </p:childTnLst>
                                </p:cTn>
                              </p:par>
                            </p:childTnLst>
                          </p:cTn>
                        </p:par>
                      </p:childTnLst>
                    </p:cTn>
                  </p:par>
                  <p:par>
                    <p:cTn id="33" fill="hold">
                      <p:stCondLst>
                        <p:cond delay="indefinite"/>
                      </p:stCondLst>
                      <p:childTnLst>
                        <p:par>
                          <p:cTn id="34" fill="hold">
                            <p:stCondLst>
                              <p:cond delay="0"/>
                            </p:stCondLst>
                            <p:childTnLst>
                              <p:par>
                                <p:cTn id="35" presetID="21" presetClass="entr" presetSubtype="1"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wheel(1)">
                                      <p:cBhvr>
                                        <p:cTn id="37" dur="2000"/>
                                        <p:tgtEl>
                                          <p:spTgt spid="6"/>
                                        </p:tgtEl>
                                      </p:cBhvr>
                                    </p:animEffect>
                                  </p:childTnLst>
                                </p:cTn>
                              </p:par>
                            </p:childTnLst>
                          </p:cTn>
                        </p:par>
                      </p:childTnLst>
                    </p:cTn>
                  </p:par>
                  <p:par>
                    <p:cTn id="38" fill="hold">
                      <p:stCondLst>
                        <p:cond delay="indefinite"/>
                      </p:stCondLst>
                      <p:childTnLst>
                        <p:par>
                          <p:cTn id="39" fill="hold">
                            <p:stCondLst>
                              <p:cond delay="0"/>
                            </p:stCondLst>
                            <p:childTnLst>
                              <p:par>
                                <p:cTn id="40" presetID="21" presetClass="entr" presetSubtype="1" fill="hold" grpId="0" nodeType="clickEffect">
                                  <p:stCondLst>
                                    <p:cond delay="0"/>
                                  </p:stCondLst>
                                  <p:childTnLst>
                                    <p:set>
                                      <p:cBhvr>
                                        <p:cTn id="41" dur="1000" fill="hold">
                                          <p:stCondLst>
                                            <p:cond delay="0"/>
                                          </p:stCondLst>
                                        </p:cTn>
                                        <p:tgtEl>
                                          <p:spTgt spid="7"/>
                                        </p:tgtEl>
                                        <p:attrNameLst>
                                          <p:attrName>style.visibility</p:attrName>
                                        </p:attrNameLst>
                                      </p:cBhvr>
                                      <p:to>
                                        <p:strVal val="visible"/>
                                      </p:to>
                                    </p:set>
                                    <p:animEffect transition="in" filter="wheel(1)">
                                      <p:cBhvr>
                                        <p:cTn id="42" dur="1000"/>
                                        <p:tgtEl>
                                          <p:spTgt spid="7"/>
                                        </p:tgtEl>
                                      </p:cBhvr>
                                    </p:animEffect>
                                  </p:childTnLst>
                                </p:cTn>
                              </p:par>
                            </p:childTnLst>
                          </p:cTn>
                        </p:par>
                      </p:childTnLst>
                    </p:cTn>
                  </p:par>
                  <p:par>
                    <p:cTn id="43" fill="hold">
                      <p:stCondLst>
                        <p:cond delay="indefinite"/>
                      </p:stCondLst>
                      <p:childTnLst>
                        <p:par>
                          <p:cTn id="44" fill="hold">
                            <p:stCondLst>
                              <p:cond delay="0"/>
                            </p:stCondLst>
                            <p:childTnLst>
                              <p:par>
                                <p:cTn id="45" presetID="21" presetClass="entr" presetSubtype="1" fill="hold" grpId="0" nodeType="clickEffect">
                                  <p:stCondLst>
                                    <p:cond delay="0"/>
                                  </p:stCondLst>
                                  <p:childTnLst>
                                    <p:set>
                                      <p:cBhvr>
                                        <p:cTn id="46" dur="1000" fill="hold">
                                          <p:stCondLst>
                                            <p:cond delay="0"/>
                                          </p:stCondLst>
                                        </p:cTn>
                                        <p:tgtEl>
                                          <p:spTgt spid="8"/>
                                        </p:tgtEl>
                                        <p:attrNameLst>
                                          <p:attrName>style.visibility</p:attrName>
                                        </p:attrNameLst>
                                      </p:cBhvr>
                                      <p:to>
                                        <p:strVal val="visible"/>
                                      </p:to>
                                    </p:set>
                                    <p:animEffect transition="in" filter="wheel(1)">
                                      <p:cBhvr>
                                        <p:cTn id="47" dur="1000"/>
                                        <p:tgtEl>
                                          <p:spTgt spid="8"/>
                                        </p:tgtEl>
                                      </p:cBhvr>
                                    </p:animEffect>
                                  </p:childTnLst>
                                </p:cTn>
                              </p:par>
                            </p:childTnLst>
                          </p:cTn>
                        </p:par>
                      </p:childTnLst>
                    </p:cTn>
                  </p:par>
                  <p:par>
                    <p:cTn id="48" fill="hold">
                      <p:stCondLst>
                        <p:cond delay="indefinite"/>
                      </p:stCondLst>
                      <p:childTnLst>
                        <p:par>
                          <p:cTn id="49" fill="hold">
                            <p:stCondLst>
                              <p:cond delay="0"/>
                            </p:stCondLst>
                            <p:childTnLst>
                              <p:par>
                                <p:cTn id="50" presetID="21" presetClass="entr" presetSubtype="1" fill="hold" grpId="0" nodeType="clickEffect">
                                  <p:stCondLst>
                                    <p:cond delay="0"/>
                                  </p:stCondLst>
                                  <p:childTnLst>
                                    <p:set>
                                      <p:cBhvr>
                                        <p:cTn id="51" dur="1000" fill="hold">
                                          <p:stCondLst>
                                            <p:cond delay="0"/>
                                          </p:stCondLst>
                                        </p:cTn>
                                        <p:tgtEl>
                                          <p:spTgt spid="9"/>
                                        </p:tgtEl>
                                        <p:attrNameLst>
                                          <p:attrName>style.visibility</p:attrName>
                                        </p:attrNameLst>
                                      </p:cBhvr>
                                      <p:to>
                                        <p:strVal val="visible"/>
                                      </p:to>
                                    </p:set>
                                    <p:animEffect transition="in" filter="wheel(1)">
                                      <p:cBhvr>
                                        <p:cTn id="52"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bldLvl="0" animBg="1"/>
      <p:bldP spid="11" grpId="0" bldLvl="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1554" name="Group 2"/>
          <p:cNvGrpSpPr/>
          <p:nvPr/>
        </p:nvGrpSpPr>
        <p:grpSpPr bwMode="auto">
          <a:xfrm>
            <a:off x="545551" y="3325640"/>
            <a:ext cx="8459787" cy="3316288"/>
            <a:chOff x="241" y="2130"/>
            <a:chExt cx="5329" cy="2089"/>
          </a:xfrm>
        </p:grpSpPr>
        <p:pic>
          <p:nvPicPr>
            <p:cNvPr id="151555" name="Picture 3"/>
            <p:cNvPicPr>
              <a:picLocks noChangeAspect="1" noChangeArrowheads="1"/>
            </p:cNvPicPr>
            <p:nvPr/>
          </p:nvPicPr>
          <p:blipFill>
            <a:blip r:embed="rId1">
              <a:extLst>
                <a:ext uri="{28A0092B-C50C-407E-A947-70E740481C1C}">
                  <a14:useLocalDpi xmlns:a14="http://schemas.microsoft.com/office/drawing/2010/main" val="0"/>
                </a:ext>
              </a:extLst>
            </a:blip>
            <a:srcRect b="4849"/>
            <a:stretch>
              <a:fillRect/>
            </a:stretch>
          </p:blipFill>
          <p:spPr bwMode="auto">
            <a:xfrm>
              <a:off x="241" y="2130"/>
              <a:ext cx="5329" cy="1825"/>
            </a:xfrm>
            <a:prstGeom prst="rect">
              <a:avLst/>
            </a:prstGeom>
            <a:noFill/>
            <a:extLst>
              <a:ext uri="{909E8E84-426E-40DD-AFC4-6F175D3DCCD1}">
                <a14:hiddenFill xmlns:a14="http://schemas.microsoft.com/office/drawing/2010/main">
                  <a:solidFill>
                    <a:srgbClr val="FFFFFF"/>
                  </a:solidFill>
                </a14:hiddenFill>
              </a:ext>
            </a:extLst>
          </p:spPr>
        </p:pic>
        <p:sp>
          <p:nvSpPr>
            <p:cNvPr id="151556" name="Rectangle 4"/>
            <p:cNvSpPr>
              <a:spLocks noChangeArrowheads="1"/>
            </p:cNvSpPr>
            <p:nvPr/>
          </p:nvSpPr>
          <p:spPr bwMode="auto">
            <a:xfrm>
              <a:off x="2271" y="3969"/>
              <a:ext cx="756" cy="2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000" b="0" dirty="0">
                  <a:solidFill>
                    <a:srgbClr val="FF0000"/>
                  </a:solidFill>
                  <a:ea typeface="华文中宋" panose="02010600040101010101" pitchFamily="2" charset="-122"/>
                </a:rPr>
                <a:t>正确结构</a:t>
              </a:r>
              <a:endParaRPr lang="zh-CN" altLang="en-US" sz="2000" b="0" dirty="0">
                <a:solidFill>
                  <a:srgbClr val="FF0000"/>
                </a:solidFill>
                <a:ea typeface="华文中宋" panose="02010600040101010101" pitchFamily="2" charset="-122"/>
              </a:endParaRPr>
            </a:p>
          </p:txBody>
        </p:sp>
      </p:grpSp>
      <p:grpSp>
        <p:nvGrpSpPr>
          <p:cNvPr id="151557" name="Group 5"/>
          <p:cNvGrpSpPr/>
          <p:nvPr/>
        </p:nvGrpSpPr>
        <p:grpSpPr bwMode="auto">
          <a:xfrm>
            <a:off x="356245" y="159127"/>
            <a:ext cx="8372475" cy="3184525"/>
            <a:chOff x="213" y="139"/>
            <a:chExt cx="5274" cy="2006"/>
          </a:xfrm>
        </p:grpSpPr>
        <p:pic>
          <p:nvPicPr>
            <p:cNvPr id="151558" name="Picture 6" descr="z6"/>
            <p:cNvPicPr>
              <a:picLocks noChangeAspect="1" noChangeArrowheads="1"/>
            </p:cNvPicPr>
            <p:nvPr/>
          </p:nvPicPr>
          <p:blipFill>
            <a:blip r:embed="rId2">
              <a:extLst>
                <a:ext uri="{28A0092B-C50C-407E-A947-70E740481C1C}">
                  <a14:useLocalDpi xmlns:a14="http://schemas.microsoft.com/office/drawing/2010/main" val="0"/>
                </a:ext>
              </a:extLst>
            </a:blip>
            <a:srcRect r="2908"/>
            <a:stretch>
              <a:fillRect/>
            </a:stretch>
          </p:blipFill>
          <p:spPr bwMode="auto">
            <a:xfrm>
              <a:off x="213" y="139"/>
              <a:ext cx="5274" cy="1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1559" name="Rectangle 7"/>
            <p:cNvSpPr>
              <a:spLocks noChangeArrowheads="1"/>
            </p:cNvSpPr>
            <p:nvPr/>
          </p:nvSpPr>
          <p:spPr bwMode="auto">
            <a:xfrm>
              <a:off x="2338" y="1895"/>
              <a:ext cx="756" cy="2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000" b="0" dirty="0">
                  <a:solidFill>
                    <a:srgbClr val="FF0000"/>
                  </a:solidFill>
                  <a:ea typeface="华文中宋" panose="02010600040101010101" pitchFamily="2" charset="-122"/>
                </a:rPr>
                <a:t>错误结构</a:t>
              </a:r>
              <a:endParaRPr lang="zh-CN" altLang="en-US" sz="2000" b="0" dirty="0">
                <a:solidFill>
                  <a:srgbClr val="FF0000"/>
                </a:solidFill>
                <a:ea typeface="华文中宋" panose="02010600040101010101" pitchFamily="2" charset="-122"/>
              </a:endParaRPr>
            </a:p>
          </p:txBody>
        </p:sp>
      </p:grpSp>
      <p:sp>
        <p:nvSpPr>
          <p:cNvPr id="151560" name="Rectangle 8"/>
          <p:cNvSpPr>
            <a:spLocks noChangeArrowheads="1"/>
          </p:cNvSpPr>
          <p:nvPr/>
        </p:nvSpPr>
        <p:spPr bwMode="auto">
          <a:xfrm>
            <a:off x="568325" y="287338"/>
            <a:ext cx="8445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b="0" dirty="0">
                <a:solidFill>
                  <a:srgbClr val="FF0000"/>
                </a:solidFill>
                <a:latin typeface="华文中宋" panose="02010600040101010101" pitchFamily="2" charset="-122"/>
                <a:ea typeface="华文中宋" panose="02010600040101010101" pitchFamily="2" charset="-122"/>
              </a:rPr>
              <a:t>[</a:t>
            </a:r>
            <a:r>
              <a:rPr lang="zh-CN" altLang="en-US" sz="2000" b="0" dirty="0">
                <a:solidFill>
                  <a:srgbClr val="FF0000"/>
                </a:solidFill>
                <a:latin typeface="华文中宋" panose="02010600040101010101" pitchFamily="2" charset="-122"/>
                <a:ea typeface="华文中宋" panose="02010600040101010101" pitchFamily="2" charset="-122"/>
              </a:rPr>
              <a:t>解</a:t>
            </a:r>
            <a:r>
              <a:rPr lang="en-US" altLang="zh-CN" sz="2000" b="0" dirty="0">
                <a:solidFill>
                  <a:srgbClr val="FF0000"/>
                </a:solidFill>
                <a:latin typeface="华文中宋" panose="02010600040101010101" pitchFamily="2" charset="-122"/>
                <a:ea typeface="华文中宋" panose="02010600040101010101" pitchFamily="2" charset="-122"/>
              </a:rPr>
              <a:t>]</a:t>
            </a:r>
            <a:r>
              <a:rPr lang="zh-CN" altLang="en-US" sz="2000" b="0" dirty="0">
                <a:solidFill>
                  <a:srgbClr val="FF0000"/>
                </a:solidFill>
                <a:latin typeface="华文中宋" panose="02010600040101010101" pitchFamily="2" charset="-122"/>
                <a:ea typeface="华文中宋" panose="02010600040101010101" pitchFamily="2" charset="-122"/>
              </a:rPr>
              <a:t>：</a:t>
            </a:r>
            <a:endParaRPr lang="zh-CN" altLang="en-US" sz="2000" b="0" dirty="0">
              <a:solidFill>
                <a:schemeClr val="accent2"/>
              </a:solidFill>
              <a:latin typeface="华文中宋" panose="02010600040101010101" pitchFamily="2" charset="-122"/>
              <a:ea typeface="华文中宋"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51557"/>
                                        </p:tgtEl>
                                        <p:attrNameLst>
                                          <p:attrName>style.visibility</p:attrName>
                                        </p:attrNameLst>
                                      </p:cBhvr>
                                      <p:to>
                                        <p:strVal val="visible"/>
                                      </p:to>
                                    </p:set>
                                    <p:animEffect transition="in" filter="wipe(left)">
                                      <p:cBhvr>
                                        <p:cTn id="7" dur="500"/>
                                        <p:tgtEl>
                                          <p:spTgt spid="15155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51554"/>
                                        </p:tgtEl>
                                        <p:attrNameLst>
                                          <p:attrName>style.visibility</p:attrName>
                                        </p:attrNameLst>
                                      </p:cBhvr>
                                      <p:to>
                                        <p:strVal val="visible"/>
                                      </p:to>
                                    </p:set>
                                    <p:animEffect transition="in" filter="wipe(left)">
                                      <p:cBhvr>
                                        <p:cTn id="12" dur="500"/>
                                        <p:tgtEl>
                                          <p:spTgt spid="1515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6" name="Text Box 4"/>
          <p:cNvSpPr txBox="1">
            <a:spLocks noChangeArrowheads="1"/>
          </p:cNvSpPr>
          <p:nvPr/>
        </p:nvSpPr>
        <p:spPr bwMode="auto">
          <a:xfrm>
            <a:off x="1320800" y="2454275"/>
            <a:ext cx="2944813" cy="461665"/>
          </a:xfrm>
          <a:prstGeom prst="rect">
            <a:avLst/>
          </a:prstGeom>
          <a:solidFill>
            <a:srgbClr val="CCFFFF"/>
          </a:solidFill>
          <a:ln w="28575">
            <a:solidFill>
              <a:srgbClr val="66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zh-CN" altLang="en-US" sz="2400" b="1" dirty="0">
                <a:solidFill>
                  <a:schemeClr val="accent2"/>
                </a:solidFill>
                <a:latin typeface="Times New Roman" panose="02020603050405020304" pitchFamily="18" charset="0"/>
                <a:ea typeface="黑体" panose="02010609060101010101" pitchFamily="49" charset="-122"/>
                <a:sym typeface="Wingdings" panose="05000000000000000000" pitchFamily="2" charset="2"/>
              </a:rPr>
              <a:t>最小轴段</a:t>
            </a:r>
            <a:r>
              <a:rPr kumimoji="1" lang="zh-CN" altLang="en-US" sz="2400" b="1" dirty="0">
                <a:latin typeface="Times New Roman" panose="02020603050405020304" pitchFamily="18" charset="0"/>
                <a:ea typeface="华文中宋" panose="02010600040101010101" pitchFamily="2" charset="-122"/>
                <a:sym typeface="Wingdings" panose="05000000000000000000" pitchFamily="2" charset="2"/>
              </a:rPr>
              <a:t>  </a:t>
            </a:r>
            <a:r>
              <a:rPr kumimoji="1" lang="en-US" altLang="zh-CN" sz="2400" b="1" i="1" dirty="0" err="1">
                <a:solidFill>
                  <a:srgbClr val="FF0000"/>
                </a:solidFill>
                <a:latin typeface="Times New Roman" panose="02020603050405020304" pitchFamily="18" charset="0"/>
                <a:ea typeface="华文中宋" panose="02010600040101010101" pitchFamily="2" charset="-122"/>
                <a:sym typeface="Wingdings" panose="05000000000000000000" pitchFamily="2" charset="2"/>
              </a:rPr>
              <a:t>d</a:t>
            </a:r>
            <a:r>
              <a:rPr kumimoji="1" lang="en-US" altLang="zh-CN" sz="2400" b="1" baseline="-25000" dirty="0" err="1">
                <a:solidFill>
                  <a:srgbClr val="FF0000"/>
                </a:solidFill>
                <a:latin typeface="Times New Roman" panose="02020603050405020304" pitchFamily="18" charset="0"/>
                <a:ea typeface="华文中宋" panose="02010600040101010101" pitchFamily="2" charset="-122"/>
                <a:sym typeface="Wingdings" panose="05000000000000000000" pitchFamily="2" charset="2"/>
              </a:rPr>
              <a:t>min</a:t>
            </a:r>
            <a:endParaRPr kumimoji="1" lang="en-US" altLang="zh-CN" sz="2400" b="1" baseline="-25000" dirty="0">
              <a:solidFill>
                <a:srgbClr val="FF0000"/>
              </a:solidFill>
              <a:latin typeface="Times New Roman" panose="02020603050405020304" pitchFamily="18" charset="0"/>
              <a:ea typeface="华文中宋" panose="02010600040101010101" pitchFamily="2" charset="-122"/>
              <a:sym typeface="Wingdings" panose="05000000000000000000" pitchFamily="2" charset="2"/>
            </a:endParaRPr>
          </a:p>
        </p:txBody>
      </p:sp>
      <p:sp>
        <p:nvSpPr>
          <p:cNvPr id="74757" name="Text Box 5"/>
          <p:cNvSpPr txBox="1">
            <a:spLocks noChangeArrowheads="1"/>
          </p:cNvSpPr>
          <p:nvPr/>
        </p:nvSpPr>
        <p:spPr bwMode="auto">
          <a:xfrm>
            <a:off x="1436688" y="5092700"/>
            <a:ext cx="2511425" cy="461665"/>
          </a:xfrm>
          <a:prstGeom prst="rect">
            <a:avLst/>
          </a:prstGeom>
          <a:solidFill>
            <a:srgbClr val="CCFFFF"/>
          </a:solidFill>
          <a:ln w="28575">
            <a:solidFill>
              <a:srgbClr val="66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zh-CN" altLang="en-US" sz="2400" b="1" dirty="0">
                <a:solidFill>
                  <a:schemeClr val="accent2"/>
                </a:solidFill>
                <a:latin typeface="黑体" panose="02010609060101010101" pitchFamily="49" charset="-122"/>
                <a:ea typeface="黑体" panose="02010609060101010101" pitchFamily="49" charset="-122"/>
              </a:rPr>
              <a:t>结构设计</a:t>
            </a:r>
            <a:endParaRPr kumimoji="1" lang="zh-CN" altLang="en-US" sz="2400" b="1" dirty="0">
              <a:solidFill>
                <a:schemeClr val="accent2"/>
              </a:solidFill>
              <a:latin typeface="黑体" panose="02010609060101010101" pitchFamily="49" charset="-122"/>
              <a:ea typeface="黑体" panose="02010609060101010101" pitchFamily="49" charset="-122"/>
            </a:endParaRPr>
          </a:p>
        </p:txBody>
      </p:sp>
      <p:grpSp>
        <p:nvGrpSpPr>
          <p:cNvPr id="74758" name="Group 6"/>
          <p:cNvGrpSpPr/>
          <p:nvPr/>
        </p:nvGrpSpPr>
        <p:grpSpPr bwMode="auto">
          <a:xfrm>
            <a:off x="4019550" y="4692650"/>
            <a:ext cx="3324225" cy="1689100"/>
            <a:chOff x="3254" y="1656"/>
            <a:chExt cx="2094" cy="1064"/>
          </a:xfrm>
        </p:grpSpPr>
        <p:grpSp>
          <p:nvGrpSpPr>
            <p:cNvPr id="18451" name="Group 7"/>
            <p:cNvGrpSpPr/>
            <p:nvPr/>
          </p:nvGrpSpPr>
          <p:grpSpPr bwMode="auto">
            <a:xfrm>
              <a:off x="3332" y="1656"/>
              <a:ext cx="2016" cy="1064"/>
              <a:chOff x="1760" y="1729"/>
              <a:chExt cx="2016" cy="1064"/>
            </a:xfrm>
          </p:grpSpPr>
          <p:sp>
            <p:nvSpPr>
              <p:cNvPr id="18453" name="Text Box 8"/>
              <p:cNvSpPr txBox="1">
                <a:spLocks noChangeArrowheads="1"/>
              </p:cNvSpPr>
              <p:nvPr/>
            </p:nvSpPr>
            <p:spPr bwMode="auto">
              <a:xfrm>
                <a:off x="1783" y="1729"/>
                <a:ext cx="1993"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Char char="•"/>
                </a:pPr>
                <a:r>
                  <a:rPr kumimoji="1" lang="zh-CN" altLang="en-US" sz="2400" b="1" dirty="0">
                    <a:solidFill>
                      <a:srgbClr val="660066"/>
                    </a:solidFill>
                    <a:latin typeface="黑体" panose="02010609060101010101" pitchFamily="49" charset="-122"/>
                    <a:ea typeface="黑体" panose="02010609060101010101" pitchFamily="49" charset="-122"/>
                    <a:cs typeface="Times New Roman" panose="02020603050405020304" pitchFamily="18" charset="0"/>
                  </a:rPr>
                  <a:t>轴段轴径 </a:t>
                </a:r>
                <a:r>
                  <a:rPr kumimoji="1" lang="en-US" altLang="zh-CN" sz="2400" b="1" i="1" dirty="0">
                    <a:latin typeface="Times New Roman" panose="02020603050405020304" pitchFamily="18" charset="0"/>
                    <a:ea typeface="华文中宋" panose="02010600040101010101" pitchFamily="2" charset="-122"/>
                    <a:cs typeface="Times New Roman" panose="02020603050405020304" pitchFamily="18" charset="0"/>
                    <a:sym typeface="Wingdings" panose="05000000000000000000" pitchFamily="2" charset="2"/>
                  </a:rPr>
                  <a:t>d</a:t>
                </a:r>
                <a:r>
                  <a:rPr kumimoji="1" lang="en-US" altLang="zh-CN" sz="2400" b="1" baseline="-25000" dirty="0">
                    <a:latin typeface="Times New Roman" panose="02020603050405020304" pitchFamily="18" charset="0"/>
                    <a:ea typeface="华文中宋" panose="02010600040101010101" pitchFamily="2" charset="-122"/>
                    <a:cs typeface="Times New Roman" panose="02020603050405020304" pitchFamily="18" charset="0"/>
                    <a:sym typeface="Wingdings" panose="05000000000000000000" pitchFamily="2" charset="2"/>
                  </a:rPr>
                  <a:t>i</a:t>
                </a:r>
                <a:endParaRPr kumimoji="1" lang="en-US" altLang="zh-CN" sz="24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8454" name="Text Box 9"/>
              <p:cNvSpPr txBox="1">
                <a:spLocks noChangeArrowheads="1"/>
              </p:cNvSpPr>
              <p:nvPr/>
            </p:nvSpPr>
            <p:spPr bwMode="auto">
              <a:xfrm>
                <a:off x="1760" y="2096"/>
                <a:ext cx="1983"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Char char="•"/>
                </a:pPr>
                <a:r>
                  <a:rPr kumimoji="1" lang="zh-CN" altLang="en-US" sz="2400" b="1" dirty="0">
                    <a:solidFill>
                      <a:srgbClr val="660066"/>
                    </a:solidFill>
                    <a:latin typeface="黑体" panose="02010609060101010101" pitchFamily="49" charset="-122"/>
                    <a:ea typeface="黑体" panose="02010609060101010101" pitchFamily="49" charset="-122"/>
                    <a:cs typeface="Times New Roman" panose="02020603050405020304" pitchFamily="18" charset="0"/>
                  </a:rPr>
                  <a:t>轴段长度 </a:t>
                </a:r>
                <a:r>
                  <a:rPr kumimoji="1" lang="en-US" altLang="zh-CN" sz="2400" b="1" i="1" dirty="0">
                    <a:latin typeface="Times New Roman" panose="02020603050405020304" pitchFamily="18" charset="0"/>
                    <a:ea typeface="华文中宋" panose="02010600040101010101" pitchFamily="2" charset="-122"/>
                    <a:cs typeface="Times New Roman" panose="02020603050405020304" pitchFamily="18" charset="0"/>
                    <a:sym typeface="Wingdings" panose="05000000000000000000" pitchFamily="2" charset="2"/>
                  </a:rPr>
                  <a:t>l</a:t>
                </a:r>
                <a:r>
                  <a:rPr kumimoji="1" lang="en-US" altLang="zh-CN" sz="2400" b="1" baseline="-25000" dirty="0">
                    <a:latin typeface="Times New Roman" panose="02020603050405020304" pitchFamily="18" charset="0"/>
                    <a:ea typeface="华文中宋" panose="02010600040101010101" pitchFamily="2" charset="-122"/>
                    <a:cs typeface="Times New Roman" panose="02020603050405020304" pitchFamily="18" charset="0"/>
                    <a:sym typeface="Wingdings" panose="05000000000000000000" pitchFamily="2" charset="2"/>
                  </a:rPr>
                  <a:t>i</a:t>
                </a:r>
                <a:endParaRPr kumimoji="1" lang="en-US" altLang="zh-CN" sz="24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8455" name="Text Box 10"/>
              <p:cNvSpPr txBox="1">
                <a:spLocks noChangeArrowheads="1"/>
              </p:cNvSpPr>
              <p:nvPr/>
            </p:nvSpPr>
            <p:spPr bwMode="auto">
              <a:xfrm>
                <a:off x="1784" y="2502"/>
                <a:ext cx="1252"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Char char="•"/>
                </a:pPr>
                <a:r>
                  <a:rPr kumimoji="1" lang="zh-CN" altLang="en-US" sz="2400" b="1" dirty="0">
                    <a:solidFill>
                      <a:srgbClr val="660066"/>
                    </a:solidFill>
                    <a:latin typeface="黑体" panose="02010609060101010101" pitchFamily="49" charset="-122"/>
                    <a:ea typeface="黑体" panose="02010609060101010101" pitchFamily="49" charset="-122"/>
                    <a:cs typeface="Times New Roman" panose="02020603050405020304" pitchFamily="18" charset="0"/>
                  </a:rPr>
                  <a:t>其它尺寸</a:t>
                </a:r>
                <a:endParaRPr kumimoji="1" lang="zh-CN" altLang="en-US" sz="2400" b="1" dirty="0">
                  <a:solidFill>
                    <a:srgbClr val="660066"/>
                  </a:solidFill>
                  <a:latin typeface="黑体" panose="02010609060101010101" pitchFamily="49" charset="-122"/>
                  <a:ea typeface="黑体" panose="02010609060101010101" pitchFamily="49" charset="-122"/>
                  <a:cs typeface="Times New Roman" panose="02020603050405020304" pitchFamily="18" charset="0"/>
                </a:endParaRPr>
              </a:p>
            </p:txBody>
          </p:sp>
        </p:grpSp>
        <p:sp>
          <p:nvSpPr>
            <p:cNvPr id="18452" name="AutoShape 11"/>
            <p:cNvSpPr/>
            <p:nvPr/>
          </p:nvSpPr>
          <p:spPr bwMode="auto">
            <a:xfrm>
              <a:off x="3254" y="1829"/>
              <a:ext cx="147" cy="795"/>
            </a:xfrm>
            <a:prstGeom prst="leftBrace">
              <a:avLst>
                <a:gd name="adj1" fmla="val 45068"/>
                <a:gd name="adj2" fmla="val 32829"/>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sp>
        <p:nvSpPr>
          <p:cNvPr id="74764" name="Line 12"/>
          <p:cNvSpPr>
            <a:spLocks noChangeShapeType="1"/>
          </p:cNvSpPr>
          <p:nvPr/>
        </p:nvSpPr>
        <p:spPr bwMode="auto">
          <a:xfrm>
            <a:off x="2622550" y="2987675"/>
            <a:ext cx="38100" cy="2132013"/>
          </a:xfrm>
          <a:prstGeom prst="line">
            <a:avLst/>
          </a:prstGeom>
          <a:noFill/>
          <a:ln w="57150">
            <a:solidFill>
              <a:srgbClr val="660066"/>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4765" name="Line 13"/>
          <p:cNvSpPr>
            <a:spLocks noChangeShapeType="1"/>
          </p:cNvSpPr>
          <p:nvPr/>
        </p:nvSpPr>
        <p:spPr bwMode="auto">
          <a:xfrm flipH="1" flipV="1">
            <a:off x="2916238" y="2989263"/>
            <a:ext cx="14287" cy="779462"/>
          </a:xfrm>
          <a:prstGeom prst="line">
            <a:avLst/>
          </a:prstGeom>
          <a:noFill/>
          <a:ln w="57150">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4766" name="Line 14"/>
          <p:cNvSpPr>
            <a:spLocks noChangeShapeType="1"/>
          </p:cNvSpPr>
          <p:nvPr/>
        </p:nvSpPr>
        <p:spPr bwMode="auto">
          <a:xfrm flipV="1">
            <a:off x="2930525" y="4292600"/>
            <a:ext cx="0" cy="788988"/>
          </a:xfrm>
          <a:prstGeom prst="line">
            <a:avLst/>
          </a:prstGeom>
          <a:noFill/>
          <a:ln w="57150">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4767" name="Text Box 15"/>
          <p:cNvSpPr txBox="1">
            <a:spLocks noChangeArrowheads="1"/>
          </p:cNvSpPr>
          <p:nvPr/>
        </p:nvSpPr>
        <p:spPr bwMode="auto">
          <a:xfrm>
            <a:off x="4238625" y="2349500"/>
            <a:ext cx="769938"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4800" b="1">
                <a:solidFill>
                  <a:srgbClr val="FF0000"/>
                </a:solidFill>
                <a:latin typeface="Times New Roman" panose="02020603050405020304" pitchFamily="18" charset="0"/>
                <a:ea typeface="幼圆" panose="02010509060101010101" pitchFamily="49" charset="-122"/>
              </a:rPr>
              <a:t>?</a:t>
            </a:r>
            <a:endParaRPr kumimoji="1" lang="en-US" altLang="zh-CN" sz="4800" b="1">
              <a:solidFill>
                <a:srgbClr val="FF0000"/>
              </a:solidFill>
              <a:latin typeface="Times New Roman" panose="02020603050405020304" pitchFamily="18" charset="0"/>
              <a:ea typeface="幼圆" panose="02010509060101010101" pitchFamily="49" charset="-122"/>
            </a:endParaRPr>
          </a:p>
        </p:txBody>
      </p:sp>
      <p:sp>
        <p:nvSpPr>
          <p:cNvPr id="74768" name="Text Box 16"/>
          <p:cNvSpPr txBox="1">
            <a:spLocks noChangeArrowheads="1"/>
          </p:cNvSpPr>
          <p:nvPr/>
        </p:nvSpPr>
        <p:spPr bwMode="auto">
          <a:xfrm>
            <a:off x="1169988" y="3768725"/>
            <a:ext cx="3149600" cy="461665"/>
          </a:xfrm>
          <a:prstGeom prst="rect">
            <a:avLst/>
          </a:prstGeom>
          <a:solidFill>
            <a:srgbClr val="FFCCCC"/>
          </a:solidFill>
          <a:ln w="28575">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zh-CN" altLang="en-US" sz="2400" b="1" dirty="0">
                <a:solidFill>
                  <a:srgbClr val="FF3300"/>
                </a:solidFill>
                <a:latin typeface="华文中宋" panose="02010600040101010101" pitchFamily="2" charset="-122"/>
                <a:ea typeface="华文中宋" panose="02010600040101010101" pitchFamily="2" charset="-122"/>
                <a:sym typeface="Wingdings" panose="05000000000000000000" pitchFamily="2" charset="2"/>
              </a:rPr>
              <a:t>强度</a:t>
            </a:r>
            <a:r>
              <a:rPr kumimoji="1" lang="zh-CN" altLang="en-US" sz="2400" b="1" dirty="0">
                <a:latin typeface="华文中宋" panose="02010600040101010101" pitchFamily="2" charset="-122"/>
                <a:ea typeface="华文中宋" panose="02010600040101010101" pitchFamily="2" charset="-122"/>
                <a:sym typeface="Wingdings" panose="05000000000000000000" pitchFamily="2" charset="2"/>
              </a:rPr>
              <a:t>或</a:t>
            </a:r>
            <a:r>
              <a:rPr kumimoji="1" lang="zh-CN" altLang="en-US" sz="2400" b="1" dirty="0">
                <a:solidFill>
                  <a:srgbClr val="FF3300"/>
                </a:solidFill>
                <a:latin typeface="华文中宋" panose="02010600040101010101" pitchFamily="2" charset="-122"/>
                <a:ea typeface="华文中宋" panose="02010600040101010101" pitchFamily="2" charset="-122"/>
                <a:sym typeface="Wingdings" panose="05000000000000000000" pitchFamily="2" charset="2"/>
              </a:rPr>
              <a:t>刚度</a:t>
            </a:r>
            <a:r>
              <a:rPr kumimoji="1" lang="zh-CN" altLang="en-US" sz="2400" b="1" dirty="0">
                <a:latin typeface="华文中宋" panose="02010600040101010101" pitchFamily="2" charset="-122"/>
                <a:ea typeface="华文中宋" panose="02010600040101010101" pitchFamily="2" charset="-122"/>
                <a:sym typeface="Wingdings" panose="05000000000000000000" pitchFamily="2" charset="2"/>
              </a:rPr>
              <a:t>计算</a:t>
            </a:r>
            <a:endParaRPr kumimoji="1" lang="zh-CN" altLang="en-US" sz="2400" b="1" dirty="0">
              <a:latin typeface="华文中宋" panose="02010600040101010101" pitchFamily="2" charset="-122"/>
              <a:ea typeface="华文中宋" panose="02010600040101010101" pitchFamily="2" charset="-122"/>
              <a:sym typeface="Wingdings" panose="05000000000000000000" pitchFamily="2" charset="2"/>
            </a:endParaRPr>
          </a:p>
        </p:txBody>
      </p:sp>
      <p:sp>
        <p:nvSpPr>
          <p:cNvPr id="74769" name="Line 17"/>
          <p:cNvSpPr>
            <a:spLocks noChangeShapeType="1"/>
          </p:cNvSpPr>
          <p:nvPr/>
        </p:nvSpPr>
        <p:spPr bwMode="auto">
          <a:xfrm>
            <a:off x="7021513" y="5386388"/>
            <a:ext cx="349250" cy="333375"/>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4770" name="Group 18"/>
          <p:cNvGrpSpPr/>
          <p:nvPr/>
        </p:nvGrpSpPr>
        <p:grpSpPr bwMode="auto">
          <a:xfrm>
            <a:off x="6459538" y="4921250"/>
            <a:ext cx="1184275" cy="1408113"/>
            <a:chOff x="4563" y="2331"/>
            <a:chExt cx="746" cy="887"/>
          </a:xfrm>
        </p:grpSpPr>
        <p:sp>
          <p:nvSpPr>
            <p:cNvPr id="18449" name="Text Box 19"/>
            <p:cNvSpPr txBox="1">
              <a:spLocks noChangeArrowheads="1"/>
            </p:cNvSpPr>
            <p:nvPr/>
          </p:nvSpPr>
          <p:spPr bwMode="auto">
            <a:xfrm>
              <a:off x="4769" y="2539"/>
              <a:ext cx="540"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3600" b="1">
                  <a:solidFill>
                    <a:schemeClr val="accent2"/>
                  </a:solidFill>
                  <a:latin typeface="Times New Roman" panose="02020603050405020304" pitchFamily="18" charset="0"/>
                  <a:ea typeface="华文中宋" panose="02010600040101010101" pitchFamily="2" charset="-122"/>
                </a:rPr>
                <a:t>√</a:t>
              </a:r>
              <a:endParaRPr kumimoji="1" lang="en-US" altLang="zh-CN" sz="3600" b="1">
                <a:solidFill>
                  <a:schemeClr val="accent2"/>
                </a:solidFill>
                <a:latin typeface="Times New Roman" panose="02020603050405020304" pitchFamily="18" charset="0"/>
                <a:ea typeface="华文中宋" panose="02010600040101010101" pitchFamily="2" charset="-122"/>
              </a:endParaRPr>
            </a:p>
          </p:txBody>
        </p:sp>
        <p:sp>
          <p:nvSpPr>
            <p:cNvPr id="18450" name="AutoShape 20"/>
            <p:cNvSpPr/>
            <p:nvPr/>
          </p:nvSpPr>
          <p:spPr bwMode="auto">
            <a:xfrm>
              <a:off x="4563" y="2331"/>
              <a:ext cx="246" cy="887"/>
            </a:xfrm>
            <a:prstGeom prst="rightBrace">
              <a:avLst>
                <a:gd name="adj1" fmla="val 30047"/>
                <a:gd name="adj2" fmla="val 50000"/>
              </a:avLst>
            </a:prstGeom>
            <a:noFill/>
            <a:ln w="19050">
              <a:solidFill>
                <a:schemeClr val="accent2"/>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74773" name="Group 21"/>
          <p:cNvGrpSpPr/>
          <p:nvPr/>
        </p:nvGrpSpPr>
        <p:grpSpPr bwMode="auto">
          <a:xfrm>
            <a:off x="4902499" y="1893983"/>
            <a:ext cx="3249612" cy="2181225"/>
            <a:chOff x="3587" y="557"/>
            <a:chExt cx="2047" cy="1374"/>
          </a:xfrm>
        </p:grpSpPr>
        <p:graphicFrame>
          <p:nvGraphicFramePr>
            <p:cNvPr id="18446" name="Object 22"/>
            <p:cNvGraphicFramePr>
              <a:graphicFrameLocks noChangeAspect="1"/>
            </p:cNvGraphicFramePr>
            <p:nvPr/>
          </p:nvGraphicFramePr>
          <p:xfrm>
            <a:off x="3805" y="1339"/>
            <a:ext cx="1613" cy="592"/>
          </p:xfrm>
          <a:graphic>
            <a:graphicData uri="http://schemas.openxmlformats.org/presentationml/2006/ole">
              <mc:AlternateContent xmlns:mc="http://schemas.openxmlformats.org/markup-compatibility/2006">
                <mc:Choice xmlns:v="urn:schemas-microsoft-com:vml" Requires="v">
                  <p:oleObj spid="_x0000_s21592" name="公式" r:id="rId1" imgW="1041400" imgH="444500" progId="Equation.3">
                    <p:embed/>
                  </p:oleObj>
                </mc:Choice>
                <mc:Fallback>
                  <p:oleObj name="公式" r:id="rId1" imgW="1041400" imgH="444500" progId="Equation.3">
                    <p:embed/>
                    <p:pic>
                      <p:nvPicPr>
                        <p:cNvPr id="0" name="图片 21561"/>
                        <p:cNvPicPr>
                          <a:picLocks noChangeAspect="1" noChangeArrowheads="1"/>
                        </p:cNvPicPr>
                        <p:nvPr/>
                      </p:nvPicPr>
                      <p:blipFill>
                        <a:blip r:embed="rId2"/>
                        <a:srcRect/>
                        <a:stretch>
                          <a:fillRect/>
                        </a:stretch>
                      </p:blipFill>
                      <p:spPr bwMode="auto">
                        <a:xfrm>
                          <a:off x="3805" y="1339"/>
                          <a:ext cx="1613" cy="592"/>
                        </a:xfrm>
                        <a:prstGeom prst="rect">
                          <a:avLst/>
                        </a:prstGeom>
                        <a:noFill/>
                        <a:ln w="28575">
                          <a:solidFill>
                            <a:schemeClr val="accent2"/>
                          </a:solidFill>
                          <a:miter lim="800000"/>
                          <a:headEnd/>
                          <a:tailEnd/>
                        </a:ln>
                        <a:effectLst/>
                        <a:extLst>
                          <a:ext uri="{909E8E84-426E-40DD-AFC4-6F175D3DCCD1}">
                            <a14:hiddenFill xmlns:a14="http://schemas.microsoft.com/office/drawing/2010/main">
                              <a:solidFill>
                                <a:srgbClr val="FFFFCC"/>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447" name="Object 23"/>
            <p:cNvGraphicFramePr>
              <a:graphicFrameLocks noChangeAspect="1"/>
            </p:cNvGraphicFramePr>
            <p:nvPr/>
          </p:nvGraphicFramePr>
          <p:xfrm>
            <a:off x="3587" y="557"/>
            <a:ext cx="2047" cy="606"/>
          </p:xfrm>
          <a:graphic>
            <a:graphicData uri="http://schemas.openxmlformats.org/presentationml/2006/ole">
              <mc:AlternateContent xmlns:mc="http://schemas.openxmlformats.org/markup-compatibility/2006">
                <mc:Choice xmlns:v="urn:schemas-microsoft-com:vml" Requires="v">
                  <p:oleObj spid="_x0000_s21593" name="公式" r:id="rId3" imgW="1409700" imgH="469900" progId="Equation.3">
                    <p:embed/>
                  </p:oleObj>
                </mc:Choice>
                <mc:Fallback>
                  <p:oleObj name="公式" r:id="rId3" imgW="1409700" imgH="469900" progId="Equation.3">
                    <p:embed/>
                    <p:pic>
                      <p:nvPicPr>
                        <p:cNvPr id="0" name="图片 2156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87" y="557"/>
                          <a:ext cx="2047" cy="606"/>
                        </a:xfrm>
                        <a:prstGeom prst="rect">
                          <a:avLst/>
                        </a:prstGeom>
                        <a:noFill/>
                        <a:ln w="28575">
                          <a:solidFill>
                            <a:schemeClr val="accent2"/>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448" name="Line 24"/>
            <p:cNvSpPr>
              <a:spLocks noChangeShapeType="1"/>
            </p:cNvSpPr>
            <p:nvPr/>
          </p:nvSpPr>
          <p:spPr bwMode="auto">
            <a:xfrm>
              <a:off x="4611" y="1161"/>
              <a:ext cx="0" cy="174"/>
            </a:xfrm>
            <a:prstGeom prst="line">
              <a:avLst/>
            </a:prstGeom>
            <a:noFill/>
            <a:ln w="28575">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74777" name="Text Box 25"/>
          <p:cNvSpPr txBox="1">
            <a:spLocks noChangeArrowheads="1"/>
          </p:cNvSpPr>
          <p:nvPr/>
        </p:nvSpPr>
        <p:spPr bwMode="auto">
          <a:xfrm>
            <a:off x="698203" y="959117"/>
            <a:ext cx="8194675" cy="461665"/>
          </a:xfrm>
          <a:prstGeom prst="rect">
            <a:avLst/>
          </a:prstGeom>
          <a:gradFill flip="none" rotWithShape="1">
            <a:gsLst>
              <a:gs pos="0">
                <a:srgbClr val="00B050">
                  <a:tint val="66000"/>
                  <a:satMod val="160000"/>
                </a:srgbClr>
              </a:gs>
              <a:gs pos="50000">
                <a:srgbClr val="00B050">
                  <a:tint val="44500"/>
                  <a:satMod val="160000"/>
                </a:srgbClr>
              </a:gs>
              <a:gs pos="100000">
                <a:srgbClr val="00B050">
                  <a:tint val="23500"/>
                  <a:satMod val="160000"/>
                </a:srgbClr>
              </a:gs>
            </a:gsLst>
            <a:lin ang="5400000" scaled="1"/>
            <a:tileRect/>
          </a:gradFill>
          <a:ln w="28575">
            <a:solidFill>
              <a:schemeClr val="tx1"/>
            </a:solidFill>
            <a:prstDash val="sysDot"/>
            <a:miter lim="800000"/>
          </a:ln>
          <a:effec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 typeface="Wingdings" panose="05000000000000000000" pitchFamily="2" charset="2"/>
              <a:buChar char="&amp;"/>
            </a:pPr>
            <a:r>
              <a:rPr kumimoji="1" lang="zh-CN" altLang="en-US" sz="2400" dirty="0">
                <a:solidFill>
                  <a:srgbClr val="006600"/>
                </a:solidFill>
                <a:latin typeface="Times New Roman" panose="02020603050405020304" pitchFamily="18" charset="0"/>
                <a:ea typeface="微软雅黑" panose="020B0503020204020204" charset="-122"/>
              </a:rPr>
              <a:t>思考：</a:t>
            </a:r>
            <a:r>
              <a:rPr kumimoji="1" lang="zh-CN" altLang="en-US" sz="2400" dirty="0">
                <a:solidFill>
                  <a:srgbClr val="000000"/>
                </a:solidFill>
                <a:latin typeface="Times New Roman" panose="02020603050405020304" pitchFamily="18" charset="0"/>
                <a:ea typeface="华文中宋" panose="02010600040101010101" pitchFamily="2" charset="-122"/>
              </a:rPr>
              <a:t>轴的</a:t>
            </a:r>
            <a:r>
              <a:rPr kumimoji="1" lang="zh-CN" altLang="en-US" sz="2400" dirty="0">
                <a:solidFill>
                  <a:srgbClr val="FF0000"/>
                </a:solidFill>
                <a:latin typeface="Times New Roman" panose="02020603050405020304" pitchFamily="18" charset="0"/>
                <a:ea typeface="华文中宋" panose="02010600040101010101" pitchFamily="2" charset="-122"/>
              </a:rPr>
              <a:t>尺寸</a:t>
            </a:r>
            <a:r>
              <a:rPr kumimoji="1" lang="zh-CN" altLang="en-US" sz="2400" dirty="0">
                <a:solidFill>
                  <a:srgbClr val="000000"/>
                </a:solidFill>
                <a:latin typeface="Times New Roman" panose="02020603050405020304" pitchFamily="18" charset="0"/>
                <a:ea typeface="华文中宋" panose="02010600040101010101" pitchFamily="2" charset="-122"/>
              </a:rPr>
              <a:t>如何确定？如何保证轴的</a:t>
            </a:r>
            <a:r>
              <a:rPr kumimoji="1" lang="zh-CN" altLang="en-US" sz="2400" dirty="0">
                <a:solidFill>
                  <a:srgbClr val="FF0000"/>
                </a:solidFill>
                <a:latin typeface="Times New Roman" panose="02020603050405020304" pitchFamily="18" charset="0"/>
                <a:ea typeface="华文中宋" panose="02010600040101010101" pitchFamily="2" charset="-122"/>
              </a:rPr>
              <a:t>强度</a:t>
            </a:r>
            <a:r>
              <a:rPr kumimoji="1" lang="zh-CN" altLang="en-US" sz="2400" dirty="0">
                <a:solidFill>
                  <a:srgbClr val="000000"/>
                </a:solidFill>
                <a:latin typeface="Times New Roman" panose="02020603050405020304" pitchFamily="18" charset="0"/>
                <a:ea typeface="华文中宋" panose="02010600040101010101" pitchFamily="2" charset="-122"/>
              </a:rPr>
              <a:t>？</a:t>
            </a:r>
            <a:endParaRPr kumimoji="1" lang="zh-CN" altLang="en-US" sz="2400" dirty="0">
              <a:solidFill>
                <a:srgbClr val="000000"/>
              </a:solidFill>
              <a:latin typeface="Times New Roman" panose="02020603050405020304" pitchFamily="18" charset="0"/>
              <a:ea typeface="华文中宋" panose="02010600040101010101" pitchFamily="2" charset="-122"/>
            </a:endParaRPr>
          </a:p>
        </p:txBody>
      </p:sp>
      <p:sp>
        <p:nvSpPr>
          <p:cNvPr id="24" name="Text Box 4"/>
          <p:cNvSpPr txBox="1">
            <a:spLocks noChangeArrowheads="1"/>
          </p:cNvSpPr>
          <p:nvPr/>
        </p:nvSpPr>
        <p:spPr bwMode="auto">
          <a:xfrm>
            <a:off x="5472113" y="174625"/>
            <a:ext cx="23164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sz="2400" dirty="0" smtClean="0">
                <a:solidFill>
                  <a:srgbClr val="CC3300"/>
                </a:solidFill>
                <a:latin typeface="黑体" panose="02010609060101010101" pitchFamily="49" charset="-122"/>
                <a:ea typeface="黑体" panose="02010609060101010101" pitchFamily="49" charset="-122"/>
              </a:rPr>
              <a:t>3.7-3 </a:t>
            </a:r>
            <a:r>
              <a:rPr lang="zh-CN" altLang="en-US" sz="2400" dirty="0">
                <a:solidFill>
                  <a:srgbClr val="CC3300"/>
                </a:solidFill>
                <a:latin typeface="黑体" panose="02010609060101010101" pitchFamily="49" charset="-122"/>
                <a:ea typeface="黑体" panose="02010609060101010101" pitchFamily="49" charset="-122"/>
              </a:rPr>
              <a:t>轴的计算</a:t>
            </a:r>
            <a:endParaRPr lang="zh-CN" altLang="en-US" sz="2400" dirty="0">
              <a:solidFill>
                <a:srgbClr val="CC3300"/>
              </a:solidFill>
              <a:latin typeface="黑体" panose="02010609060101010101" pitchFamily="49" charset="-122"/>
              <a:ea typeface="黑体" panose="02010609060101010101" pitchFamily="49" charset="-122"/>
            </a:endParaRPr>
          </a:p>
        </p:txBody>
      </p:sp>
      <p:sp>
        <p:nvSpPr>
          <p:cNvPr id="25" name="直接连接符 6"/>
          <p:cNvSpPr>
            <a:spLocks noChangeShapeType="1"/>
          </p:cNvSpPr>
          <p:nvPr/>
        </p:nvSpPr>
        <p:spPr bwMode="auto">
          <a:xfrm>
            <a:off x="0" y="73801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4777"/>
                                        </p:tgtEl>
                                        <p:attrNameLst>
                                          <p:attrName>style.visibility</p:attrName>
                                        </p:attrNameLst>
                                      </p:cBhvr>
                                      <p:to>
                                        <p:strVal val="visible"/>
                                      </p:to>
                                    </p:set>
                                    <p:animEffect transition="in" filter="wipe(down)">
                                      <p:cBhvr>
                                        <p:cTn id="7" dur="500"/>
                                        <p:tgtEl>
                                          <p:spTgt spid="7477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74756"/>
                                        </p:tgtEl>
                                        <p:attrNameLst>
                                          <p:attrName>style.visibility</p:attrName>
                                        </p:attrNameLst>
                                      </p:cBhvr>
                                      <p:to>
                                        <p:strVal val="visible"/>
                                      </p:to>
                                    </p:set>
                                    <p:animEffect transition="in" filter="wipe(up)">
                                      <p:cBhvr>
                                        <p:cTn id="12" dur="500"/>
                                        <p:tgtEl>
                                          <p:spTgt spid="7475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4767"/>
                                        </p:tgtEl>
                                        <p:attrNameLst>
                                          <p:attrName>style.visibility</p:attrName>
                                        </p:attrNameLst>
                                      </p:cBhvr>
                                      <p:to>
                                        <p:strVal val="visible"/>
                                      </p:to>
                                    </p:set>
                                    <p:animEffect transition="in" filter="wipe(left)">
                                      <p:cBhvr>
                                        <p:cTn id="17" dur="500"/>
                                        <p:tgtEl>
                                          <p:spTgt spid="7476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74773"/>
                                        </p:tgtEl>
                                        <p:attrNameLst>
                                          <p:attrName>style.visibility</p:attrName>
                                        </p:attrNameLst>
                                      </p:cBhvr>
                                      <p:to>
                                        <p:strVal val="visible"/>
                                      </p:to>
                                    </p:set>
                                    <p:animEffect transition="in" filter="wipe(up)">
                                      <p:cBhvr>
                                        <p:cTn id="22" dur="500"/>
                                        <p:tgtEl>
                                          <p:spTgt spid="74773"/>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xit" presetSubtype="2" fill="hold" nodeType="clickEffect">
                                  <p:stCondLst>
                                    <p:cond delay="0"/>
                                  </p:stCondLst>
                                  <p:childTnLst>
                                    <p:animEffect transition="out" filter="slide(fromRight)">
                                      <p:cBhvr>
                                        <p:cTn id="26" dur="500"/>
                                        <p:tgtEl>
                                          <p:spTgt spid="74773"/>
                                        </p:tgtEl>
                                      </p:cBhvr>
                                    </p:animEffect>
                                    <p:set>
                                      <p:cBhvr>
                                        <p:cTn id="27" dur="1" fill="hold">
                                          <p:stCondLst>
                                            <p:cond delay="499"/>
                                          </p:stCondLst>
                                        </p:cTn>
                                        <p:tgtEl>
                                          <p:spTgt spid="74773"/>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74764"/>
                                        </p:tgtEl>
                                        <p:attrNameLst>
                                          <p:attrName>style.visibility</p:attrName>
                                        </p:attrNameLst>
                                      </p:cBhvr>
                                      <p:to>
                                        <p:strVal val="visible"/>
                                      </p:to>
                                    </p:set>
                                    <p:animEffect transition="in" filter="wipe(up)">
                                      <p:cBhvr>
                                        <p:cTn id="32" dur="500"/>
                                        <p:tgtEl>
                                          <p:spTgt spid="7476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74757"/>
                                        </p:tgtEl>
                                        <p:attrNameLst>
                                          <p:attrName>style.visibility</p:attrName>
                                        </p:attrNameLst>
                                      </p:cBhvr>
                                      <p:to>
                                        <p:strVal val="visible"/>
                                      </p:to>
                                    </p:set>
                                    <p:animEffect transition="in" filter="wipe(up)">
                                      <p:cBhvr>
                                        <p:cTn id="37" dur="500"/>
                                        <p:tgtEl>
                                          <p:spTgt spid="74757"/>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74758"/>
                                        </p:tgtEl>
                                        <p:attrNameLst>
                                          <p:attrName>style.visibility</p:attrName>
                                        </p:attrNameLst>
                                      </p:cBhvr>
                                      <p:to>
                                        <p:strVal val="visible"/>
                                      </p:to>
                                    </p:set>
                                    <p:animEffect transition="in" filter="wipe(left)">
                                      <p:cBhvr>
                                        <p:cTn id="42" dur="500"/>
                                        <p:tgtEl>
                                          <p:spTgt spid="74758"/>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74766"/>
                                        </p:tgtEl>
                                        <p:attrNameLst>
                                          <p:attrName>style.visibility</p:attrName>
                                        </p:attrNameLst>
                                      </p:cBhvr>
                                      <p:to>
                                        <p:strVal val="visible"/>
                                      </p:to>
                                    </p:set>
                                    <p:animEffect transition="in" filter="wipe(down)">
                                      <p:cBhvr>
                                        <p:cTn id="47" dur="500"/>
                                        <p:tgtEl>
                                          <p:spTgt spid="74766"/>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74768"/>
                                        </p:tgtEl>
                                        <p:attrNameLst>
                                          <p:attrName>style.visibility</p:attrName>
                                        </p:attrNameLst>
                                      </p:cBhvr>
                                      <p:to>
                                        <p:strVal val="visible"/>
                                      </p:to>
                                    </p:set>
                                    <p:animEffect transition="in" filter="wipe(left)">
                                      <p:cBhvr>
                                        <p:cTn id="52" dur="500"/>
                                        <p:tgtEl>
                                          <p:spTgt spid="74768"/>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74770"/>
                                        </p:tgtEl>
                                        <p:attrNameLst>
                                          <p:attrName>style.visibility</p:attrName>
                                        </p:attrNameLst>
                                      </p:cBhvr>
                                      <p:to>
                                        <p:strVal val="visible"/>
                                      </p:to>
                                    </p:set>
                                    <p:animEffect transition="in" filter="wipe(left)">
                                      <p:cBhvr>
                                        <p:cTn id="57" dur="500"/>
                                        <p:tgtEl>
                                          <p:spTgt spid="74770"/>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1" fill="hold" grpId="0" nodeType="clickEffect">
                                  <p:stCondLst>
                                    <p:cond delay="0"/>
                                  </p:stCondLst>
                                  <p:childTnLst>
                                    <p:set>
                                      <p:cBhvr>
                                        <p:cTn id="61" dur="1" fill="hold">
                                          <p:stCondLst>
                                            <p:cond delay="0"/>
                                          </p:stCondLst>
                                        </p:cTn>
                                        <p:tgtEl>
                                          <p:spTgt spid="74769"/>
                                        </p:tgtEl>
                                        <p:attrNameLst>
                                          <p:attrName>style.visibility</p:attrName>
                                        </p:attrNameLst>
                                      </p:cBhvr>
                                      <p:to>
                                        <p:strVal val="visible"/>
                                      </p:to>
                                    </p:set>
                                    <p:animEffect transition="in" filter="wipe(up)">
                                      <p:cBhvr>
                                        <p:cTn id="62" dur="500"/>
                                        <p:tgtEl>
                                          <p:spTgt spid="74769"/>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4" fill="hold" grpId="0" nodeType="clickEffect">
                                  <p:stCondLst>
                                    <p:cond delay="0"/>
                                  </p:stCondLst>
                                  <p:childTnLst>
                                    <p:set>
                                      <p:cBhvr>
                                        <p:cTn id="66" dur="1" fill="hold">
                                          <p:stCondLst>
                                            <p:cond delay="0"/>
                                          </p:stCondLst>
                                        </p:cTn>
                                        <p:tgtEl>
                                          <p:spTgt spid="74765"/>
                                        </p:tgtEl>
                                        <p:attrNameLst>
                                          <p:attrName>style.visibility</p:attrName>
                                        </p:attrNameLst>
                                      </p:cBhvr>
                                      <p:to>
                                        <p:strVal val="visible"/>
                                      </p:to>
                                    </p:set>
                                    <p:animEffect transition="in" filter="wipe(down)">
                                      <p:cBhvr>
                                        <p:cTn id="67" dur="500"/>
                                        <p:tgtEl>
                                          <p:spTgt spid="747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6" grpId="0" animBg="1"/>
      <p:bldP spid="74757" grpId="0" animBg="1"/>
      <p:bldP spid="74764" grpId="0" animBg="1"/>
      <p:bldP spid="74765" grpId="0" animBg="1"/>
      <p:bldP spid="74766" grpId="0" animBg="1"/>
      <p:bldP spid="74767" grpId="0"/>
      <p:bldP spid="74768" grpId="0" animBg="1"/>
      <p:bldP spid="74769" grpId="0" animBg="1"/>
      <p:bldP spid="74777"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Text Box 3"/>
          <p:cNvSpPr txBox="1">
            <a:spLocks noChangeArrowheads="1"/>
          </p:cNvSpPr>
          <p:nvPr/>
        </p:nvSpPr>
        <p:spPr bwMode="auto">
          <a:xfrm>
            <a:off x="848841" y="1001273"/>
            <a:ext cx="57721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defRPr/>
            </a:pPr>
            <a:r>
              <a:rPr kumimoji="1" lang="zh-CN" altLang="en-US" sz="2800" b="1" dirty="0">
                <a:solidFill>
                  <a:schemeClr val="accent2"/>
                </a:solidFill>
                <a:latin typeface="Times New Roman" panose="02020603050405020304" pitchFamily="18" charset="0"/>
                <a:ea typeface="华文中宋" panose="02010600040101010101" pitchFamily="2" charset="-122"/>
              </a:rPr>
              <a:t>三种常用的</a:t>
            </a:r>
            <a:r>
              <a:rPr kumimoji="1" lang="zh-CN" altLang="en-US" sz="2800" b="1" u="sng" dirty="0">
                <a:solidFill>
                  <a:schemeClr val="accent2"/>
                </a:solidFill>
                <a:effectLst>
                  <a:outerShdw blurRad="38100" dist="38100" dir="2700000" algn="tl">
                    <a:srgbClr val="C0C0C0"/>
                  </a:outerShdw>
                </a:effectLst>
                <a:latin typeface="Times New Roman" panose="02020603050405020304" pitchFamily="18" charset="0"/>
                <a:ea typeface="华文中宋" panose="02010600040101010101" pitchFamily="2" charset="-122"/>
              </a:rPr>
              <a:t>设计方法（步骤）</a:t>
            </a:r>
            <a:endParaRPr kumimoji="1" lang="zh-CN" altLang="en-US" sz="2800" b="1" u="sng" dirty="0">
              <a:solidFill>
                <a:schemeClr val="accent2"/>
              </a:solidFill>
              <a:effectLst>
                <a:outerShdw blurRad="38100" dist="38100" dir="2700000" algn="tl">
                  <a:srgbClr val="C0C0C0"/>
                </a:outerShdw>
              </a:effectLst>
              <a:latin typeface="Times New Roman" panose="02020603050405020304" pitchFamily="18" charset="0"/>
              <a:ea typeface="华文中宋" panose="02010600040101010101" pitchFamily="2" charset="-122"/>
            </a:endParaRPr>
          </a:p>
        </p:txBody>
      </p:sp>
      <p:sp>
        <p:nvSpPr>
          <p:cNvPr id="19461" name="Text Box 5"/>
          <p:cNvSpPr txBox="1">
            <a:spLocks noChangeArrowheads="1"/>
          </p:cNvSpPr>
          <p:nvPr/>
        </p:nvSpPr>
        <p:spPr bwMode="auto">
          <a:xfrm>
            <a:off x="1082675" y="1869440"/>
            <a:ext cx="5318125" cy="757555"/>
          </a:xfrm>
          <a:prstGeom prst="rect">
            <a:avLst/>
          </a:prstGeom>
          <a:solidFill>
            <a:srgbClr val="CCFFCC"/>
          </a:solidFill>
          <a:ln w="57150" cmpd="thinThick">
            <a:solidFill>
              <a:srgbClr val="0033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ct val="20000"/>
              </a:spcBef>
            </a:pPr>
            <a:r>
              <a:rPr kumimoji="1" lang="en-US" altLang="zh-CN" sz="2400" b="1" dirty="0">
                <a:solidFill>
                  <a:srgbClr val="993300"/>
                </a:solidFill>
                <a:latin typeface="Times New Roman" panose="02020603050405020304" pitchFamily="18" charset="0"/>
              </a:rPr>
              <a:t>1.</a:t>
            </a:r>
            <a:r>
              <a:rPr kumimoji="1" lang="en-US" altLang="zh-CN" sz="2400" dirty="0">
                <a:solidFill>
                  <a:srgbClr val="993300"/>
                </a:solidFill>
                <a:latin typeface="Times New Roman" panose="02020603050405020304" pitchFamily="18" charset="0"/>
              </a:rPr>
              <a:t>   </a:t>
            </a:r>
            <a:r>
              <a:rPr kumimoji="1" lang="zh-CN" altLang="en-US" sz="2400" b="1" dirty="0" smtClean="0">
                <a:solidFill>
                  <a:srgbClr val="993300"/>
                </a:solidFill>
                <a:latin typeface="Times New Roman" panose="02020603050405020304" pitchFamily="18" charset="0"/>
              </a:rPr>
              <a:t>按扭转强度条件计算</a:t>
            </a:r>
            <a:r>
              <a:rPr kumimoji="1" lang="en-US" altLang="zh-CN" sz="2400" dirty="0" smtClean="0">
                <a:latin typeface="Times New Roman" panose="02020603050405020304" pitchFamily="18" charset="0"/>
                <a:ea typeface="华文中宋" panose="02010600040101010101" pitchFamily="2" charset="-122"/>
              </a:rPr>
              <a:t>——</a:t>
            </a:r>
            <a:r>
              <a:rPr kumimoji="1" lang="zh-CN" altLang="en-US" sz="2400" dirty="0">
                <a:latin typeface="Times New Roman" panose="02020603050405020304" pitchFamily="18" charset="0"/>
                <a:ea typeface="华文中宋" panose="02010600040101010101" pitchFamily="2" charset="-122"/>
              </a:rPr>
              <a:t>简便、精度低</a:t>
            </a:r>
            <a:r>
              <a:rPr kumimoji="1" lang="zh-CN" altLang="en-US" sz="2400" b="1" dirty="0">
                <a:latin typeface="Times New Roman" panose="02020603050405020304" pitchFamily="18" charset="0"/>
                <a:ea typeface="楷体_GB2312" pitchFamily="49" charset="-122"/>
              </a:rPr>
              <a:t>（</a:t>
            </a:r>
            <a:r>
              <a:rPr kumimoji="1" lang="zh-CN" altLang="en-US" sz="2400" b="1" dirty="0">
                <a:solidFill>
                  <a:srgbClr val="FF0000"/>
                </a:solidFill>
                <a:latin typeface="Times New Roman" panose="02020603050405020304" pitchFamily="18" charset="0"/>
                <a:ea typeface="楷体_GB2312" pitchFamily="49" charset="-122"/>
              </a:rPr>
              <a:t>传动轴、不重要的轴）</a:t>
            </a:r>
            <a:endParaRPr kumimoji="1" lang="zh-CN" altLang="en-US" sz="2400" b="1" dirty="0">
              <a:solidFill>
                <a:srgbClr val="FF0000"/>
              </a:solidFill>
              <a:latin typeface="Times New Roman" panose="02020603050405020304" pitchFamily="18" charset="0"/>
              <a:ea typeface="楷体_GB2312" pitchFamily="49" charset="-122"/>
            </a:endParaRPr>
          </a:p>
        </p:txBody>
      </p:sp>
      <p:sp>
        <p:nvSpPr>
          <p:cNvPr id="19462" name="Text Box 6" descr="20%"/>
          <p:cNvSpPr txBox="1">
            <a:spLocks noChangeArrowheads="1"/>
          </p:cNvSpPr>
          <p:nvPr/>
        </p:nvSpPr>
        <p:spPr bwMode="auto">
          <a:xfrm>
            <a:off x="7394575" y="1623060"/>
            <a:ext cx="623570" cy="1984375"/>
          </a:xfrm>
          <a:prstGeom prst="rect">
            <a:avLst/>
          </a:prstGeom>
          <a:pattFill prst="pct20">
            <a:fgClr>
              <a:schemeClr val="accent2"/>
            </a:fgClr>
            <a:bgClr>
              <a:srgbClr val="FFFFFF"/>
            </a:bgClr>
          </a:pattFill>
          <a:ln w="12700">
            <a:solidFill>
              <a:schemeClr val="accent2"/>
            </a:solidFill>
            <a:prstDash val="sysDot"/>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800" b="1" dirty="0">
                <a:solidFill>
                  <a:srgbClr val="993300"/>
                </a:solidFill>
                <a:latin typeface="Times New Roman" panose="02020603050405020304" pitchFamily="18" charset="0"/>
                <a:ea typeface="隶书" panose="02010509060101010101" pitchFamily="49" charset="-122"/>
              </a:rPr>
              <a:t>  </a:t>
            </a:r>
            <a:r>
              <a:rPr kumimoji="1" lang="zh-CN" altLang="en-US" sz="2800" b="1" dirty="0">
                <a:solidFill>
                  <a:srgbClr val="FF0000"/>
                </a:solidFill>
                <a:latin typeface="Times New Roman" panose="02020603050405020304" pitchFamily="18" charset="0"/>
                <a:ea typeface="隶书" panose="02010509060101010101" pitchFamily="49" charset="-122"/>
              </a:rPr>
              <a:t>结构设计</a:t>
            </a:r>
            <a:endParaRPr kumimoji="1" lang="zh-CN" altLang="en-US" sz="2800" b="1" dirty="0">
              <a:solidFill>
                <a:srgbClr val="FF0000"/>
              </a:solidFill>
              <a:latin typeface="Times New Roman" panose="02020603050405020304" pitchFamily="18" charset="0"/>
              <a:ea typeface="隶书" panose="02010509060101010101" pitchFamily="49" charset="-122"/>
            </a:endParaRPr>
          </a:p>
        </p:txBody>
      </p:sp>
      <p:sp>
        <p:nvSpPr>
          <p:cNvPr id="19463" name="Line 7"/>
          <p:cNvSpPr>
            <a:spLocks noChangeShapeType="1"/>
          </p:cNvSpPr>
          <p:nvPr/>
        </p:nvSpPr>
        <p:spPr bwMode="auto">
          <a:xfrm>
            <a:off x="6432550" y="2348865"/>
            <a:ext cx="914400" cy="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464" name="Text Box 8"/>
          <p:cNvSpPr txBox="1">
            <a:spLocks noChangeArrowheads="1"/>
          </p:cNvSpPr>
          <p:nvPr/>
        </p:nvSpPr>
        <p:spPr bwMode="auto">
          <a:xfrm>
            <a:off x="1071880" y="3314065"/>
            <a:ext cx="5344795" cy="1089025"/>
          </a:xfrm>
          <a:prstGeom prst="rect">
            <a:avLst/>
          </a:prstGeom>
          <a:solidFill>
            <a:srgbClr val="FFFF99"/>
          </a:solidFill>
          <a:ln w="57150" cmpd="thickThin">
            <a:solidFill>
              <a:srgbClr val="CC66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ct val="20000"/>
              </a:spcBef>
            </a:pPr>
            <a:r>
              <a:rPr kumimoji="1" lang="en-US" altLang="zh-CN" sz="2400" b="1" dirty="0">
                <a:solidFill>
                  <a:srgbClr val="993300"/>
                </a:solidFill>
                <a:latin typeface="Times New Roman" panose="02020603050405020304" pitchFamily="18" charset="0"/>
              </a:rPr>
              <a:t>2.   </a:t>
            </a:r>
            <a:r>
              <a:rPr kumimoji="1" lang="zh-CN" altLang="en-US" sz="2400" b="1" dirty="0" smtClean="0">
                <a:solidFill>
                  <a:srgbClr val="993300"/>
                </a:solidFill>
                <a:latin typeface="Times New Roman" panose="02020603050405020304" pitchFamily="18" charset="0"/>
              </a:rPr>
              <a:t>按弯扭合成强度条件计算</a:t>
            </a:r>
            <a:r>
              <a:rPr kumimoji="1" lang="en-US" altLang="zh-CN" sz="2400" dirty="0" smtClean="0">
                <a:latin typeface="Times New Roman" panose="02020603050405020304" pitchFamily="18" charset="0"/>
              </a:rPr>
              <a:t>——</a:t>
            </a:r>
            <a:r>
              <a:rPr kumimoji="1" lang="zh-CN" altLang="en-US" sz="2400" dirty="0">
                <a:latin typeface="Times New Roman" panose="02020603050405020304" pitchFamily="18" charset="0"/>
                <a:ea typeface="华文中宋" panose="02010600040101010101" pitchFamily="2" charset="-122"/>
              </a:rPr>
              <a:t>一般轴</a:t>
            </a:r>
            <a:r>
              <a:rPr kumimoji="1" lang="zh-CN" altLang="en-US" sz="2400" dirty="0">
                <a:latin typeface="Times New Roman" panose="02020603050405020304" pitchFamily="18" charset="0"/>
              </a:rPr>
              <a:t>，</a:t>
            </a:r>
            <a:r>
              <a:rPr kumimoji="1" lang="zh-CN" altLang="en-US" sz="2400" dirty="0">
                <a:latin typeface="Times New Roman" panose="02020603050405020304" pitchFamily="18" charset="0"/>
                <a:ea typeface="华文中宋" panose="02010600040101010101" pitchFamily="2" charset="-122"/>
              </a:rPr>
              <a:t>弯扭合成轴，力的大小和作用点</a:t>
            </a:r>
            <a:r>
              <a:rPr kumimoji="1" lang="zh-CN" altLang="en-US" sz="2400" dirty="0">
                <a:latin typeface="Times New Roman" panose="02020603050405020304" pitchFamily="18" charset="0"/>
              </a:rPr>
              <a:t>     </a:t>
            </a:r>
            <a:r>
              <a:rPr kumimoji="1" lang="zh-CN" altLang="en-US" sz="2400" b="1" dirty="0">
                <a:solidFill>
                  <a:srgbClr val="FF0000"/>
                </a:solidFill>
                <a:latin typeface="Times New Roman" panose="02020603050405020304" pitchFamily="18" charset="0"/>
                <a:ea typeface="楷体_GB2312" pitchFamily="49" charset="-122"/>
              </a:rPr>
              <a:t>（心轴、转轴）</a:t>
            </a:r>
            <a:endParaRPr kumimoji="1" lang="zh-CN" altLang="en-US" sz="2400" b="1" dirty="0">
              <a:solidFill>
                <a:srgbClr val="FF0000"/>
              </a:solidFill>
              <a:latin typeface="Times New Roman" panose="02020603050405020304" pitchFamily="18" charset="0"/>
              <a:ea typeface="楷体_GB2312" pitchFamily="49" charset="-122"/>
            </a:endParaRPr>
          </a:p>
        </p:txBody>
      </p:sp>
      <p:sp>
        <p:nvSpPr>
          <p:cNvPr id="19465" name="Text Box 9"/>
          <p:cNvSpPr txBox="1">
            <a:spLocks noChangeArrowheads="1"/>
          </p:cNvSpPr>
          <p:nvPr/>
        </p:nvSpPr>
        <p:spPr bwMode="auto">
          <a:xfrm>
            <a:off x="1069975" y="5019040"/>
            <a:ext cx="5732145" cy="1089025"/>
          </a:xfrm>
          <a:prstGeom prst="rect">
            <a:avLst/>
          </a:prstGeom>
          <a:solidFill>
            <a:srgbClr val="FFCCCC"/>
          </a:solidFill>
          <a:ln w="57150" cmpd="thinThick">
            <a:solidFill>
              <a:srgbClr val="9933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ct val="20000"/>
              </a:spcBef>
            </a:pPr>
            <a:r>
              <a:rPr kumimoji="1" lang="en-US" altLang="zh-CN" sz="2400" b="1" dirty="0">
                <a:solidFill>
                  <a:srgbClr val="993300"/>
                </a:solidFill>
                <a:latin typeface="Times New Roman" panose="02020603050405020304" pitchFamily="18" charset="0"/>
              </a:rPr>
              <a:t>3.  </a:t>
            </a:r>
            <a:r>
              <a:rPr kumimoji="1" lang="zh-CN" altLang="en-US" sz="2400" b="1" dirty="0" smtClean="0">
                <a:solidFill>
                  <a:srgbClr val="993300"/>
                </a:solidFill>
                <a:latin typeface="Times New Roman" panose="02020603050405020304" pitchFamily="18" charset="0"/>
              </a:rPr>
              <a:t>按疲劳强度条件精确校核</a:t>
            </a:r>
            <a:r>
              <a:rPr kumimoji="1" lang="en-US" altLang="zh-CN" sz="2400" dirty="0" smtClean="0">
                <a:latin typeface="Times New Roman" panose="02020603050405020304" pitchFamily="18" charset="0"/>
              </a:rPr>
              <a:t>——</a:t>
            </a:r>
            <a:r>
              <a:rPr kumimoji="1" lang="zh-CN" altLang="en-US" sz="2400" dirty="0">
                <a:latin typeface="Times New Roman" panose="02020603050405020304" pitchFamily="18" charset="0"/>
                <a:ea typeface="华文中宋" panose="02010600040101010101" pitchFamily="2" charset="-122"/>
              </a:rPr>
              <a:t>复杂，精度高，但要求资料充分</a:t>
            </a:r>
            <a:r>
              <a:rPr kumimoji="1" lang="zh-CN" altLang="en-US" sz="2400" b="1" dirty="0">
                <a:latin typeface="Times New Roman" panose="02020603050405020304" pitchFamily="18" charset="0"/>
                <a:ea typeface="楷体_GB2312" pitchFamily="49" charset="-122"/>
              </a:rPr>
              <a:t>（如过渡圆角、轴毂配合、表面粗糙度） </a:t>
            </a:r>
            <a:endParaRPr kumimoji="1" lang="zh-CN" altLang="en-US" sz="2400" b="1" dirty="0">
              <a:latin typeface="Times New Roman" panose="02020603050405020304" pitchFamily="18" charset="0"/>
              <a:ea typeface="楷体_GB2312" pitchFamily="49" charset="-122"/>
            </a:endParaRPr>
          </a:p>
        </p:txBody>
      </p:sp>
      <p:sp>
        <p:nvSpPr>
          <p:cNvPr id="19466" name="Line 10"/>
          <p:cNvSpPr>
            <a:spLocks noChangeShapeType="1"/>
          </p:cNvSpPr>
          <p:nvPr/>
        </p:nvSpPr>
        <p:spPr bwMode="auto">
          <a:xfrm>
            <a:off x="2897505" y="2651760"/>
            <a:ext cx="3175" cy="662305"/>
          </a:xfrm>
          <a:prstGeom prst="line">
            <a:avLst/>
          </a:prstGeom>
          <a:noFill/>
          <a:ln w="28575">
            <a:solidFill>
              <a:srgbClr val="000099"/>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467" name="Line 11"/>
          <p:cNvSpPr>
            <a:spLocks noChangeShapeType="1"/>
          </p:cNvSpPr>
          <p:nvPr/>
        </p:nvSpPr>
        <p:spPr bwMode="auto">
          <a:xfrm flipH="1">
            <a:off x="2907030" y="4426585"/>
            <a:ext cx="7620" cy="571500"/>
          </a:xfrm>
          <a:prstGeom prst="line">
            <a:avLst/>
          </a:prstGeom>
          <a:noFill/>
          <a:ln w="28575">
            <a:solidFill>
              <a:srgbClr val="000099"/>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468" name="Line 12"/>
          <p:cNvSpPr>
            <a:spLocks noChangeShapeType="1"/>
          </p:cNvSpPr>
          <p:nvPr/>
        </p:nvSpPr>
        <p:spPr bwMode="auto">
          <a:xfrm flipH="1">
            <a:off x="2900680" y="3056890"/>
            <a:ext cx="4382770" cy="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469" name="Text Box 13" descr="25%"/>
          <p:cNvSpPr txBox="1">
            <a:spLocks noChangeArrowheads="1"/>
          </p:cNvSpPr>
          <p:nvPr/>
        </p:nvSpPr>
        <p:spPr bwMode="auto">
          <a:xfrm>
            <a:off x="7702550" y="4466590"/>
            <a:ext cx="1047750" cy="1716405"/>
          </a:xfrm>
          <a:prstGeom prst="rect">
            <a:avLst/>
          </a:prstGeom>
          <a:pattFill prst="pct25">
            <a:fgClr>
              <a:srgbClr val="EDADE5"/>
            </a:fgClr>
            <a:bgClr>
              <a:schemeClr val="bg1"/>
            </a:bgClr>
          </a:pattFill>
          <a:ln w="9525">
            <a:solidFill>
              <a:schemeClr val="folHlink"/>
            </a:solidFill>
            <a:prstDash val="sysDot"/>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dirty="0">
                <a:latin typeface="Times New Roman" panose="02020603050405020304" pitchFamily="18" charset="0"/>
                <a:ea typeface="隶书" panose="02010509060101010101" pitchFamily="49" charset="-122"/>
              </a:rPr>
              <a:t>重要、精度高的轴</a:t>
            </a:r>
            <a:endParaRPr kumimoji="1" lang="zh-CN" altLang="en-US" sz="2800" dirty="0">
              <a:latin typeface="Times New Roman" panose="02020603050405020304" pitchFamily="18" charset="0"/>
              <a:ea typeface="隶书" panose="02010509060101010101" pitchFamily="49" charset="-122"/>
            </a:endParaRPr>
          </a:p>
        </p:txBody>
      </p:sp>
      <p:sp>
        <p:nvSpPr>
          <p:cNvPr id="19470" name="Line 14"/>
          <p:cNvSpPr>
            <a:spLocks noChangeShapeType="1"/>
          </p:cNvSpPr>
          <p:nvPr/>
        </p:nvSpPr>
        <p:spPr bwMode="auto">
          <a:xfrm flipH="1">
            <a:off x="6793230" y="5425440"/>
            <a:ext cx="896620" cy="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 name="Text Box 4"/>
          <p:cNvSpPr txBox="1">
            <a:spLocks noChangeArrowheads="1"/>
          </p:cNvSpPr>
          <p:nvPr/>
        </p:nvSpPr>
        <p:spPr bwMode="auto">
          <a:xfrm>
            <a:off x="5472113" y="174625"/>
            <a:ext cx="23164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sz="2400" dirty="0" smtClean="0">
                <a:solidFill>
                  <a:srgbClr val="CC3300"/>
                </a:solidFill>
                <a:latin typeface="黑体" panose="02010609060101010101" pitchFamily="49" charset="-122"/>
                <a:ea typeface="黑体" panose="02010609060101010101" pitchFamily="49" charset="-122"/>
              </a:rPr>
              <a:t>3.7-3 </a:t>
            </a:r>
            <a:r>
              <a:rPr lang="zh-CN" altLang="en-US" sz="2400" dirty="0">
                <a:solidFill>
                  <a:srgbClr val="CC3300"/>
                </a:solidFill>
                <a:latin typeface="黑体" panose="02010609060101010101" pitchFamily="49" charset="-122"/>
                <a:ea typeface="黑体" panose="02010609060101010101" pitchFamily="49" charset="-122"/>
              </a:rPr>
              <a:t>轴的计算</a:t>
            </a:r>
            <a:endParaRPr lang="zh-CN" altLang="en-US" sz="2400" dirty="0">
              <a:solidFill>
                <a:srgbClr val="CC3300"/>
              </a:solidFill>
              <a:latin typeface="黑体" panose="02010609060101010101" pitchFamily="49" charset="-122"/>
              <a:ea typeface="黑体" panose="02010609060101010101" pitchFamily="49" charset="-122"/>
            </a:endParaRPr>
          </a:p>
        </p:txBody>
      </p:sp>
      <p:sp>
        <p:nvSpPr>
          <p:cNvPr id="16" name="直接连接符 6"/>
          <p:cNvSpPr>
            <a:spLocks noChangeShapeType="1"/>
          </p:cNvSpPr>
          <p:nvPr/>
        </p:nvSpPr>
        <p:spPr bwMode="auto">
          <a:xfrm>
            <a:off x="0" y="73801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7651"/>
                                        </p:tgtEl>
                                        <p:attrNameLst>
                                          <p:attrName>style.visibility</p:attrName>
                                        </p:attrNameLst>
                                      </p:cBhvr>
                                      <p:to>
                                        <p:strVal val="visible"/>
                                      </p:to>
                                    </p:set>
                                    <p:animEffect transition="in" filter="wipe(down)">
                                      <p:cBhvr>
                                        <p:cTn id="7" dur="500"/>
                                        <p:tgtEl>
                                          <p:spTgt spid="2765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9461"/>
                                        </p:tgtEl>
                                        <p:attrNameLst>
                                          <p:attrName>style.visibility</p:attrName>
                                        </p:attrNameLst>
                                      </p:cBhvr>
                                      <p:to>
                                        <p:strVal val="visible"/>
                                      </p:to>
                                    </p:set>
                                    <p:animEffect transition="in" filter="wipe(left)">
                                      <p:cBhvr>
                                        <p:cTn id="12" dur="500"/>
                                        <p:tgtEl>
                                          <p:spTgt spid="1946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9463"/>
                                        </p:tgtEl>
                                        <p:attrNameLst>
                                          <p:attrName>style.visibility</p:attrName>
                                        </p:attrNameLst>
                                      </p:cBhvr>
                                      <p:to>
                                        <p:strVal val="visible"/>
                                      </p:to>
                                    </p:set>
                                    <p:animEffect transition="in" filter="wipe(left)">
                                      <p:cBhvr>
                                        <p:cTn id="17" dur="500"/>
                                        <p:tgtEl>
                                          <p:spTgt spid="1946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9462"/>
                                        </p:tgtEl>
                                        <p:attrNameLst>
                                          <p:attrName>style.visibility</p:attrName>
                                        </p:attrNameLst>
                                      </p:cBhvr>
                                      <p:to>
                                        <p:strVal val="visible"/>
                                      </p:to>
                                    </p:set>
                                    <p:animEffect transition="in" filter="wipe(up)">
                                      <p:cBhvr>
                                        <p:cTn id="22" dur="500"/>
                                        <p:tgtEl>
                                          <p:spTgt spid="1946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19466"/>
                                        </p:tgtEl>
                                        <p:attrNameLst>
                                          <p:attrName>style.visibility</p:attrName>
                                        </p:attrNameLst>
                                      </p:cBhvr>
                                      <p:to>
                                        <p:strVal val="visible"/>
                                      </p:to>
                                    </p:set>
                                    <p:animEffect transition="in" filter="wipe(up)">
                                      <p:cBhvr>
                                        <p:cTn id="27" dur="500"/>
                                        <p:tgtEl>
                                          <p:spTgt spid="1946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19464"/>
                                        </p:tgtEl>
                                        <p:attrNameLst>
                                          <p:attrName>style.visibility</p:attrName>
                                        </p:attrNameLst>
                                      </p:cBhvr>
                                      <p:to>
                                        <p:strVal val="visible"/>
                                      </p:to>
                                    </p:set>
                                    <p:animEffect transition="in" filter="wipe(up)">
                                      <p:cBhvr>
                                        <p:cTn id="32" dur="500"/>
                                        <p:tgtEl>
                                          <p:spTgt spid="1946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2" fill="hold" nodeType="clickEffect">
                                  <p:stCondLst>
                                    <p:cond delay="0"/>
                                  </p:stCondLst>
                                  <p:childTnLst>
                                    <p:set>
                                      <p:cBhvr>
                                        <p:cTn id="36" dur="1" fill="hold">
                                          <p:stCondLst>
                                            <p:cond delay="0"/>
                                          </p:stCondLst>
                                        </p:cTn>
                                        <p:tgtEl>
                                          <p:spTgt spid="19468"/>
                                        </p:tgtEl>
                                        <p:attrNameLst>
                                          <p:attrName>style.visibility</p:attrName>
                                        </p:attrNameLst>
                                      </p:cBhvr>
                                      <p:to>
                                        <p:strVal val="visible"/>
                                      </p:to>
                                    </p:set>
                                    <p:animEffect transition="in" filter="wipe(right)">
                                      <p:cBhvr>
                                        <p:cTn id="37" dur="500"/>
                                        <p:tgtEl>
                                          <p:spTgt spid="19468"/>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19467"/>
                                        </p:tgtEl>
                                        <p:attrNameLst>
                                          <p:attrName>style.visibility</p:attrName>
                                        </p:attrNameLst>
                                      </p:cBhvr>
                                      <p:to>
                                        <p:strVal val="visible"/>
                                      </p:to>
                                    </p:set>
                                    <p:animEffect transition="in" filter="wipe(up)">
                                      <p:cBhvr>
                                        <p:cTn id="42" dur="500"/>
                                        <p:tgtEl>
                                          <p:spTgt spid="19467"/>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19465"/>
                                        </p:tgtEl>
                                        <p:attrNameLst>
                                          <p:attrName>style.visibility</p:attrName>
                                        </p:attrNameLst>
                                      </p:cBhvr>
                                      <p:to>
                                        <p:strVal val="visible"/>
                                      </p:to>
                                    </p:set>
                                    <p:animEffect transition="in" filter="wipe(up)">
                                      <p:cBhvr>
                                        <p:cTn id="47" dur="500"/>
                                        <p:tgtEl>
                                          <p:spTgt spid="19465"/>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19469"/>
                                        </p:tgtEl>
                                        <p:attrNameLst>
                                          <p:attrName>style.visibility</p:attrName>
                                        </p:attrNameLst>
                                      </p:cBhvr>
                                      <p:to>
                                        <p:strVal val="visible"/>
                                      </p:to>
                                    </p:set>
                                    <p:animEffect transition="in" filter="wipe(down)">
                                      <p:cBhvr>
                                        <p:cTn id="52" dur="500"/>
                                        <p:tgtEl>
                                          <p:spTgt spid="19469"/>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2" fill="hold" nodeType="clickEffect">
                                  <p:stCondLst>
                                    <p:cond delay="0"/>
                                  </p:stCondLst>
                                  <p:childTnLst>
                                    <p:set>
                                      <p:cBhvr>
                                        <p:cTn id="56" dur="1" fill="hold">
                                          <p:stCondLst>
                                            <p:cond delay="0"/>
                                          </p:stCondLst>
                                        </p:cTn>
                                        <p:tgtEl>
                                          <p:spTgt spid="19470"/>
                                        </p:tgtEl>
                                        <p:attrNameLst>
                                          <p:attrName>style.visibility</p:attrName>
                                        </p:attrNameLst>
                                      </p:cBhvr>
                                      <p:to>
                                        <p:strVal val="visible"/>
                                      </p:to>
                                    </p:set>
                                    <p:animEffect transition="in" filter="wipe(right)">
                                      <p:cBhvr>
                                        <p:cTn id="57" dur="500"/>
                                        <p:tgtEl>
                                          <p:spTgt spid="194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p:bldP spid="19461" grpId="0" animBg="1"/>
      <p:bldP spid="19462" grpId="0" animBg="1"/>
      <p:bldP spid="19464" grpId="0" animBg="1"/>
      <p:bldP spid="19465" grpId="0" animBg="1"/>
      <p:bldP spid="19469"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2"/>
          <p:cNvSpPr>
            <a:spLocks noGrp="1" noChangeArrowheads="1"/>
          </p:cNvSpPr>
          <p:nvPr>
            <p:ph type="title"/>
          </p:nvPr>
        </p:nvSpPr>
        <p:spPr bwMode="auto">
          <a:xfrm>
            <a:off x="7196138" y="784225"/>
            <a:ext cx="1230312" cy="3079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algn="l" eaLnBrk="1" hangingPunct="1"/>
            <a:r>
              <a:rPr lang="zh-CN" altLang="en-US" sz="800" smtClean="0">
                <a:solidFill>
                  <a:schemeClr val="bg1"/>
                </a:solidFill>
                <a:latin typeface="黑体" panose="02010609060101010101" pitchFamily="49" charset="-122"/>
                <a:ea typeface="黑体" panose="02010609060101010101" pitchFamily="49" charset="-122"/>
              </a:rPr>
              <a:t>轴的计算</a:t>
            </a:r>
            <a:r>
              <a:rPr lang="en-US" altLang="zh-CN" sz="800" smtClean="0">
                <a:solidFill>
                  <a:schemeClr val="bg1"/>
                </a:solidFill>
                <a:latin typeface="黑体" panose="02010609060101010101" pitchFamily="49" charset="-122"/>
                <a:ea typeface="黑体" panose="02010609060101010101" pitchFamily="49" charset="-122"/>
              </a:rPr>
              <a:t>1</a:t>
            </a:r>
            <a:endParaRPr lang="en-US" altLang="zh-CN" sz="800" smtClean="0">
              <a:solidFill>
                <a:schemeClr val="bg1"/>
              </a:solidFill>
              <a:latin typeface="黑体" panose="02010609060101010101" pitchFamily="49" charset="-122"/>
              <a:ea typeface="黑体" panose="02010609060101010101" pitchFamily="49" charset="-122"/>
            </a:endParaRPr>
          </a:p>
        </p:txBody>
      </p:sp>
      <p:sp>
        <p:nvSpPr>
          <p:cNvPr id="6149" name="Text Box 4"/>
          <p:cNvSpPr txBox="1">
            <a:spLocks noChangeArrowheads="1"/>
          </p:cNvSpPr>
          <p:nvPr/>
        </p:nvSpPr>
        <p:spPr bwMode="auto">
          <a:xfrm>
            <a:off x="5472113" y="174625"/>
            <a:ext cx="23164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sz="2400" dirty="0" smtClean="0">
                <a:solidFill>
                  <a:srgbClr val="CC3300"/>
                </a:solidFill>
                <a:latin typeface="黑体" panose="02010609060101010101" pitchFamily="49" charset="-122"/>
                <a:ea typeface="黑体" panose="02010609060101010101" pitchFamily="49" charset="-122"/>
              </a:rPr>
              <a:t>3.7-3 </a:t>
            </a:r>
            <a:r>
              <a:rPr lang="zh-CN" altLang="en-US" sz="2400" dirty="0">
                <a:solidFill>
                  <a:srgbClr val="CC3300"/>
                </a:solidFill>
                <a:latin typeface="黑体" panose="02010609060101010101" pitchFamily="49" charset="-122"/>
                <a:ea typeface="黑体" panose="02010609060101010101" pitchFamily="49" charset="-122"/>
              </a:rPr>
              <a:t>轴的计算</a:t>
            </a:r>
            <a:endParaRPr lang="zh-CN" altLang="en-US" sz="2400" dirty="0">
              <a:solidFill>
                <a:srgbClr val="CC3300"/>
              </a:solidFill>
              <a:latin typeface="黑体" panose="02010609060101010101" pitchFamily="49" charset="-122"/>
              <a:ea typeface="黑体" panose="02010609060101010101" pitchFamily="49" charset="-122"/>
            </a:endParaRPr>
          </a:p>
        </p:txBody>
      </p:sp>
      <p:sp>
        <p:nvSpPr>
          <p:cNvPr id="6176" name="Text Box 5"/>
          <p:cNvSpPr txBox="1">
            <a:spLocks noChangeArrowheads="1"/>
          </p:cNvSpPr>
          <p:nvPr/>
        </p:nvSpPr>
        <p:spPr bwMode="auto">
          <a:xfrm>
            <a:off x="217488" y="846138"/>
            <a:ext cx="2745159"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zh-CN" altLang="en-US" sz="2200" dirty="0">
                <a:solidFill>
                  <a:srgbClr val="C00000"/>
                </a:solidFill>
                <a:latin typeface="黑体" panose="02010609060101010101" pitchFamily="49" charset="-122"/>
                <a:ea typeface="黑体" panose="02010609060101010101" pitchFamily="49" charset="-122"/>
              </a:rPr>
              <a:t>一、轴的强度校核计算 </a:t>
            </a:r>
            <a:endParaRPr lang="zh-CN" altLang="en-US" sz="2200" dirty="0">
              <a:solidFill>
                <a:srgbClr val="C00000"/>
              </a:solidFill>
              <a:latin typeface="黑体" panose="02010609060101010101" pitchFamily="49" charset="-122"/>
              <a:ea typeface="黑体" panose="02010609060101010101" pitchFamily="49" charset="-122"/>
            </a:endParaRPr>
          </a:p>
        </p:txBody>
      </p:sp>
      <p:sp>
        <p:nvSpPr>
          <p:cNvPr id="6177" name="Text Box 6"/>
          <p:cNvSpPr txBox="1">
            <a:spLocks noChangeArrowheads="1"/>
          </p:cNvSpPr>
          <p:nvPr/>
        </p:nvSpPr>
        <p:spPr bwMode="auto">
          <a:xfrm>
            <a:off x="281200" y="1223963"/>
            <a:ext cx="2976880" cy="598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50000"/>
              </a:lnSpc>
            </a:pPr>
            <a:r>
              <a:rPr lang="en-US" altLang="zh-CN" sz="2200" dirty="0">
                <a:solidFill>
                  <a:srgbClr val="FF0000"/>
                </a:solidFill>
                <a:latin typeface="黑体" panose="02010609060101010101" pitchFamily="49" charset="-122"/>
                <a:ea typeface="黑体" panose="02010609060101010101" pitchFamily="49" charset="-122"/>
              </a:rPr>
              <a:t>1</a:t>
            </a:r>
            <a:r>
              <a:rPr lang="zh-CN" altLang="en-US" sz="2200" dirty="0">
                <a:solidFill>
                  <a:srgbClr val="FF0000"/>
                </a:solidFill>
                <a:latin typeface="黑体" panose="02010609060101010101" pitchFamily="49" charset="-122"/>
                <a:ea typeface="黑体" panose="02010609060101010101" pitchFamily="49" charset="-122"/>
              </a:rPr>
              <a:t>．按许用切应力计算 </a:t>
            </a:r>
            <a:endParaRPr lang="zh-CN" altLang="en-US" sz="2200" dirty="0">
              <a:solidFill>
                <a:srgbClr val="FF0000"/>
              </a:solidFill>
              <a:latin typeface="黑体" panose="02010609060101010101" pitchFamily="49" charset="-122"/>
              <a:ea typeface="黑体" panose="02010609060101010101" pitchFamily="49" charset="-122"/>
            </a:endParaRPr>
          </a:p>
        </p:txBody>
      </p:sp>
      <p:sp>
        <p:nvSpPr>
          <p:cNvPr id="6178" name="Text Box 7"/>
          <p:cNvSpPr txBox="1">
            <a:spLocks noChangeArrowheads="1"/>
          </p:cNvSpPr>
          <p:nvPr/>
        </p:nvSpPr>
        <p:spPr bwMode="auto">
          <a:xfrm>
            <a:off x="444500" y="1760220"/>
            <a:ext cx="8481695" cy="902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20000"/>
              </a:lnSpc>
            </a:pPr>
            <a:r>
              <a:rPr lang="zh-CN" altLang="en-US" dirty="0">
                <a:latin typeface="华文中宋" panose="02010600040101010101" pitchFamily="2" charset="-122"/>
              </a:rPr>
              <a:t>　　</a:t>
            </a:r>
            <a:r>
              <a:rPr lang="zh-CN" altLang="en-US" sz="2200" dirty="0">
                <a:latin typeface="华文中宋" panose="02010600040101010101" pitchFamily="2" charset="-122"/>
              </a:rPr>
              <a:t>这种方法用于只受扭矩或主要受扭矩的不太重要的轴的强度计算。</a:t>
            </a:r>
            <a:r>
              <a:rPr lang="zh-CN" altLang="en-US" sz="2200" dirty="0" smtClean="0">
                <a:latin typeface="华文中宋" panose="02010600040101010101" pitchFamily="2" charset="-122"/>
              </a:rPr>
              <a:t>在作</a:t>
            </a:r>
            <a:r>
              <a:rPr lang="zh-CN" altLang="en-US" sz="2200" dirty="0">
                <a:latin typeface="华文中宋" panose="02010600040101010101" pitchFamily="2" charset="-122"/>
              </a:rPr>
              <a:t>轴的结构设计时，通常用这种方法</a:t>
            </a:r>
            <a:r>
              <a:rPr lang="zh-CN" altLang="en-US" sz="2200" dirty="0">
                <a:solidFill>
                  <a:srgbClr val="FF0000"/>
                </a:solidFill>
                <a:latin typeface="华文中宋" panose="02010600040101010101" pitchFamily="2" charset="-122"/>
              </a:rPr>
              <a:t>初步估算轴最小直径</a:t>
            </a:r>
            <a:r>
              <a:rPr lang="zh-CN" altLang="en-US" sz="2200" dirty="0">
                <a:latin typeface="华文中宋" panose="02010600040101010101" pitchFamily="2" charset="-122"/>
              </a:rPr>
              <a:t>。</a:t>
            </a:r>
            <a:endParaRPr lang="zh-CN" altLang="en-US" sz="2200" dirty="0">
              <a:latin typeface="华文中宋" panose="02010600040101010101" pitchFamily="2" charset="-122"/>
            </a:endParaRPr>
          </a:p>
        </p:txBody>
      </p:sp>
      <p:grpSp>
        <p:nvGrpSpPr>
          <p:cNvPr id="3" name="Group 56"/>
          <p:cNvGrpSpPr/>
          <p:nvPr/>
        </p:nvGrpSpPr>
        <p:grpSpPr bwMode="auto">
          <a:xfrm>
            <a:off x="643630" y="4045454"/>
            <a:ext cx="8204201" cy="1031876"/>
            <a:chOff x="369" y="2044"/>
            <a:chExt cx="5168" cy="650"/>
          </a:xfrm>
        </p:grpSpPr>
        <p:sp>
          <p:nvSpPr>
            <p:cNvPr id="6175" name="Text Box 10"/>
            <p:cNvSpPr txBox="1">
              <a:spLocks noChangeArrowheads="1"/>
            </p:cNvSpPr>
            <p:nvPr/>
          </p:nvSpPr>
          <p:spPr bwMode="auto">
            <a:xfrm>
              <a:off x="369" y="2230"/>
              <a:ext cx="1595"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zh-CN" altLang="en-US" sz="2200" dirty="0">
                  <a:latin typeface="华文中宋" panose="02010600040101010101" pitchFamily="2" charset="-122"/>
                </a:rPr>
                <a:t>实心轴的直径为： </a:t>
              </a:r>
              <a:endParaRPr lang="zh-CN" altLang="en-US" sz="2200" dirty="0">
                <a:latin typeface="华文中宋" panose="02010600040101010101" pitchFamily="2" charset="-122"/>
              </a:endParaRPr>
            </a:p>
          </p:txBody>
        </p:sp>
        <p:graphicFrame>
          <p:nvGraphicFramePr>
            <p:cNvPr id="6147" name="Object 11"/>
            <p:cNvGraphicFramePr>
              <a:graphicFrameLocks noChangeAspect="1"/>
            </p:cNvGraphicFramePr>
            <p:nvPr/>
          </p:nvGraphicFramePr>
          <p:xfrm>
            <a:off x="1782" y="2044"/>
            <a:ext cx="3755" cy="650"/>
          </p:xfrm>
          <a:graphic>
            <a:graphicData uri="http://schemas.openxmlformats.org/presentationml/2006/ole">
              <mc:AlternateContent xmlns:mc="http://schemas.openxmlformats.org/markup-compatibility/2006">
                <mc:Choice xmlns:v="urn:schemas-microsoft-com:vml" Requires="v">
                  <p:oleObj spid="_x0000_s6291" name="Equation" r:id="rId1" imgW="2882900" imgH="495300" progId="Equation.3">
                    <p:embed/>
                  </p:oleObj>
                </mc:Choice>
                <mc:Fallback>
                  <p:oleObj name="Equation" r:id="rId1" imgW="2882900" imgH="495300" progId="Equation.3">
                    <p:embed/>
                    <p:pic>
                      <p:nvPicPr>
                        <p:cNvPr id="0" name="Object 11"/>
                        <p:cNvPicPr>
                          <a:picLocks noChangeAspect="1" noChangeArrowheads="1"/>
                        </p:cNvPicPr>
                        <p:nvPr/>
                      </p:nvPicPr>
                      <p:blipFill>
                        <a:blip r:embed="rId2"/>
                        <a:srcRect/>
                        <a:stretch>
                          <a:fillRect/>
                        </a:stretch>
                      </p:blipFill>
                      <p:spPr bwMode="auto">
                        <a:xfrm>
                          <a:off x="1782" y="2044"/>
                          <a:ext cx="3755" cy="650"/>
                        </a:xfrm>
                        <a:prstGeom prst="rect">
                          <a:avLst/>
                        </a:prstGeom>
                        <a:gradFill flip="none" rotWithShape="1">
                          <a:gsLst>
                            <a:gs pos="0">
                              <a:srgbClr val="00B050">
                                <a:tint val="66000"/>
                                <a:satMod val="160000"/>
                              </a:srgbClr>
                            </a:gs>
                            <a:gs pos="50000">
                              <a:srgbClr val="00B050">
                                <a:tint val="44500"/>
                                <a:satMod val="160000"/>
                              </a:srgbClr>
                            </a:gs>
                            <a:gs pos="100000">
                              <a:srgbClr val="00B050">
                                <a:tint val="23500"/>
                                <a:satMod val="160000"/>
                              </a:srgbClr>
                            </a:gs>
                          </a:gsLst>
                          <a:lin ang="5400000" scaled="1"/>
                          <a:tileRect/>
                        </a:gradFill>
                        <a:ln>
                          <a:noFill/>
                        </a:ln>
                        <a:effectLst/>
                      </p:spPr>
                    </p:pic>
                  </p:oleObj>
                </mc:Fallback>
              </mc:AlternateContent>
            </a:graphicData>
          </a:graphic>
        </p:graphicFrame>
      </p:grpSp>
      <p:sp>
        <p:nvSpPr>
          <p:cNvPr id="40981" name="Text Box 21"/>
          <p:cNvSpPr txBox="1">
            <a:spLocks noChangeArrowheads="1"/>
          </p:cNvSpPr>
          <p:nvPr/>
        </p:nvSpPr>
        <p:spPr bwMode="auto">
          <a:xfrm>
            <a:off x="7764463" y="5848350"/>
            <a:ext cx="844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50000"/>
              </a:spcBef>
            </a:pPr>
            <a:r>
              <a:rPr lang="en-US" altLang="zh-CN"/>
              <a:t>     </a:t>
            </a:r>
            <a:endParaRPr lang="en-US" altLang="zh-CN"/>
          </a:p>
        </p:txBody>
      </p:sp>
      <p:grpSp>
        <p:nvGrpSpPr>
          <p:cNvPr id="4" name="Group 55"/>
          <p:cNvGrpSpPr/>
          <p:nvPr/>
        </p:nvGrpSpPr>
        <p:grpSpPr bwMode="auto">
          <a:xfrm>
            <a:off x="713055" y="2787509"/>
            <a:ext cx="6765927" cy="1162049"/>
            <a:chOff x="318" y="1255"/>
            <a:chExt cx="4262" cy="732"/>
          </a:xfrm>
        </p:grpSpPr>
        <p:graphicFrame>
          <p:nvGraphicFramePr>
            <p:cNvPr id="6146" name="Object 8"/>
            <p:cNvGraphicFramePr>
              <a:graphicFrameLocks noChangeAspect="1"/>
            </p:cNvGraphicFramePr>
            <p:nvPr/>
          </p:nvGraphicFramePr>
          <p:xfrm>
            <a:off x="2323" y="1255"/>
            <a:ext cx="2257" cy="732"/>
          </p:xfrm>
          <a:graphic>
            <a:graphicData uri="http://schemas.openxmlformats.org/presentationml/2006/ole">
              <mc:AlternateContent xmlns:mc="http://schemas.openxmlformats.org/markup-compatibility/2006">
                <mc:Choice xmlns:v="urn:schemas-microsoft-com:vml" Requires="v">
                  <p:oleObj spid="_x0000_s6292" name="Equation" r:id="rId3" imgW="1701165" imgH="555625" progId="Equation.3">
                    <p:embed/>
                  </p:oleObj>
                </mc:Choice>
                <mc:Fallback>
                  <p:oleObj name="Equation" r:id="rId3" imgW="1701165" imgH="555625" progId="Equation.3">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23" y="1255"/>
                          <a:ext cx="2257" cy="732"/>
                        </a:xfrm>
                        <a:prstGeom prst="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5400000" scaled="1"/>
                          <a:tileRect/>
                        </a:gradFill>
                      </p:spPr>
                    </p:pic>
                  </p:oleObj>
                </mc:Fallback>
              </mc:AlternateContent>
            </a:graphicData>
          </a:graphic>
        </p:graphicFrame>
        <p:sp>
          <p:nvSpPr>
            <p:cNvPr id="6174" name="Text Box 22"/>
            <p:cNvSpPr txBox="1">
              <a:spLocks noChangeArrowheads="1"/>
            </p:cNvSpPr>
            <p:nvPr/>
          </p:nvSpPr>
          <p:spPr bwMode="auto">
            <a:xfrm>
              <a:off x="318" y="1385"/>
              <a:ext cx="1758"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zh-CN" altLang="en-US" sz="2200" dirty="0">
                  <a:latin typeface="华文中宋" panose="02010600040101010101" pitchFamily="2" charset="-122"/>
                </a:rPr>
                <a:t>轴的扭转强度条件</a:t>
              </a:r>
              <a:r>
                <a:rPr lang="zh-CN" altLang="en-US" sz="2200" dirty="0" smtClean="0">
                  <a:latin typeface="华文中宋" panose="02010600040101010101" pitchFamily="2" charset="-122"/>
                </a:rPr>
                <a:t>为：</a:t>
              </a:r>
              <a:endParaRPr lang="zh-CN" altLang="en-US" sz="2200" dirty="0">
                <a:latin typeface="华文中宋" panose="02010600040101010101" pitchFamily="2" charset="-122"/>
              </a:endParaRPr>
            </a:p>
          </p:txBody>
        </p:sp>
      </p:grpSp>
      <p:sp>
        <p:nvSpPr>
          <p:cNvPr id="6173"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20" name="Text Box 9"/>
          <p:cNvSpPr txBox="1">
            <a:spLocks noChangeArrowheads="1"/>
          </p:cNvSpPr>
          <p:nvPr/>
        </p:nvSpPr>
        <p:spPr bwMode="auto">
          <a:xfrm>
            <a:off x="1331898" y="5120412"/>
            <a:ext cx="5019323"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200" b="1" dirty="0">
                <a:latin typeface="Times New Roman" panose="02020603050405020304" pitchFamily="18" charset="0"/>
                <a:ea typeface="华文中宋" panose="02010600040101010101" pitchFamily="2" charset="-122"/>
              </a:rPr>
              <a:t>式中：</a:t>
            </a:r>
            <a:r>
              <a:rPr kumimoji="1" lang="en-US" altLang="zh-CN" sz="2200" i="1" dirty="0">
                <a:solidFill>
                  <a:schemeClr val="accent2"/>
                </a:solidFill>
                <a:latin typeface="Times New Roman" panose="02020603050405020304" pitchFamily="18" charset="0"/>
                <a:ea typeface="华文中宋" panose="02010600040101010101" pitchFamily="2" charset="-122"/>
              </a:rPr>
              <a:t>W</a:t>
            </a:r>
            <a:r>
              <a:rPr kumimoji="1" lang="en-US" altLang="zh-CN" sz="2200" baseline="-25000" dirty="0">
                <a:solidFill>
                  <a:schemeClr val="accent2"/>
                </a:solidFill>
                <a:latin typeface="Times New Roman" panose="02020603050405020304" pitchFamily="18" charset="0"/>
                <a:ea typeface="华文中宋" panose="02010600040101010101" pitchFamily="2" charset="-122"/>
              </a:rPr>
              <a:t>T</a:t>
            </a:r>
            <a:r>
              <a:rPr kumimoji="1" lang="en-US" altLang="zh-CN" sz="2200" dirty="0" smtClean="0">
                <a:solidFill>
                  <a:schemeClr val="accent2"/>
                </a:solidFill>
                <a:latin typeface="Times New Roman" panose="02020603050405020304" pitchFamily="18" charset="0"/>
                <a:ea typeface="华文中宋" panose="02010600040101010101" pitchFamily="2" charset="-122"/>
              </a:rPr>
              <a:t>——</a:t>
            </a:r>
            <a:r>
              <a:rPr kumimoji="1" lang="zh-CN" altLang="en-US" sz="2200" dirty="0" smtClean="0">
                <a:solidFill>
                  <a:schemeClr val="accent2"/>
                </a:solidFill>
                <a:latin typeface="Times New Roman" panose="02020603050405020304" pitchFamily="18" charset="0"/>
                <a:ea typeface="华文中宋" panose="02010600040101010101" pitchFamily="2" charset="-122"/>
              </a:rPr>
              <a:t>轴的抗</a:t>
            </a:r>
            <a:r>
              <a:rPr kumimoji="1" lang="zh-CN" altLang="en-US" sz="2200" dirty="0">
                <a:solidFill>
                  <a:schemeClr val="accent2"/>
                </a:solidFill>
                <a:latin typeface="Times New Roman" panose="02020603050405020304" pitchFamily="18" charset="0"/>
                <a:ea typeface="华文中宋" panose="02010600040101010101" pitchFamily="2" charset="-122"/>
              </a:rPr>
              <a:t>扭截面系数，</a:t>
            </a:r>
            <a:r>
              <a:rPr kumimoji="1" lang="en-US" altLang="zh-CN" sz="2200" dirty="0">
                <a:solidFill>
                  <a:schemeClr val="accent2"/>
                </a:solidFill>
                <a:latin typeface="Times New Roman" panose="02020603050405020304" pitchFamily="18" charset="0"/>
                <a:ea typeface="华文中宋" panose="02010600040101010101" pitchFamily="2" charset="-122"/>
              </a:rPr>
              <a:t>mm</a:t>
            </a:r>
            <a:r>
              <a:rPr kumimoji="1" lang="en-US" altLang="zh-CN" sz="2200" baseline="30000" dirty="0">
                <a:solidFill>
                  <a:schemeClr val="accent2"/>
                </a:solidFill>
                <a:latin typeface="Times New Roman" panose="02020603050405020304" pitchFamily="18" charset="0"/>
                <a:ea typeface="华文中宋" panose="02010600040101010101" pitchFamily="2" charset="-122"/>
              </a:rPr>
              <a:t>3</a:t>
            </a:r>
            <a:endParaRPr kumimoji="1" lang="en-US" altLang="zh-CN" sz="2200" baseline="30000" dirty="0">
              <a:solidFill>
                <a:schemeClr val="accent2"/>
              </a:solidFill>
              <a:latin typeface="Times New Roman" panose="02020603050405020304" pitchFamily="18" charset="0"/>
              <a:ea typeface="华文中宋" panose="02010600040101010101" pitchFamily="2" charset="-122"/>
            </a:endParaRPr>
          </a:p>
        </p:txBody>
      </p:sp>
      <p:sp>
        <p:nvSpPr>
          <p:cNvPr id="21" name="Text Box 10"/>
          <p:cNvSpPr txBox="1">
            <a:spLocks noChangeArrowheads="1"/>
          </p:cNvSpPr>
          <p:nvPr/>
        </p:nvSpPr>
        <p:spPr bwMode="auto">
          <a:xfrm>
            <a:off x="2200638" y="5706278"/>
            <a:ext cx="4816475"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200" dirty="0">
                <a:solidFill>
                  <a:schemeClr val="accent2"/>
                </a:solidFill>
                <a:latin typeface="Times New Roman" panose="02020603050405020304" pitchFamily="18" charset="0"/>
                <a:ea typeface="华文中宋" panose="02010600040101010101" pitchFamily="2" charset="-122"/>
              </a:rPr>
              <a:t>[</a:t>
            </a:r>
            <a:r>
              <a:rPr kumimoji="1" lang="en-US" altLang="zh-CN" sz="2200" i="1" dirty="0" err="1">
                <a:solidFill>
                  <a:schemeClr val="accent2"/>
                </a:solidFill>
                <a:latin typeface="Times New Roman" panose="02020603050405020304" pitchFamily="18" charset="0"/>
                <a:ea typeface="华文中宋" panose="02010600040101010101" pitchFamily="2" charset="-122"/>
              </a:rPr>
              <a:t>τ</a:t>
            </a:r>
            <a:r>
              <a:rPr kumimoji="1" lang="en-US" altLang="zh-CN" sz="2200" baseline="-25000" dirty="0" err="1">
                <a:solidFill>
                  <a:schemeClr val="accent2"/>
                </a:solidFill>
                <a:latin typeface="Times New Roman" panose="02020603050405020304" pitchFamily="18" charset="0"/>
                <a:ea typeface="华文中宋" panose="02010600040101010101" pitchFamily="2" charset="-122"/>
              </a:rPr>
              <a:t>T</a:t>
            </a:r>
            <a:r>
              <a:rPr kumimoji="1" lang="en-US" altLang="zh-CN" sz="2200" dirty="0">
                <a:solidFill>
                  <a:schemeClr val="accent2"/>
                </a:solidFill>
                <a:latin typeface="Times New Roman" panose="02020603050405020304" pitchFamily="18" charset="0"/>
                <a:ea typeface="华文中宋" panose="02010600040101010101" pitchFamily="2" charset="-122"/>
              </a:rPr>
              <a:t>]——</a:t>
            </a:r>
            <a:r>
              <a:rPr kumimoji="1" lang="zh-CN" altLang="en-US" sz="2200" dirty="0">
                <a:solidFill>
                  <a:schemeClr val="accent2"/>
                </a:solidFill>
                <a:latin typeface="Times New Roman" panose="02020603050405020304" pitchFamily="18" charset="0"/>
                <a:ea typeface="华文中宋" panose="02010600040101010101" pitchFamily="2" charset="-122"/>
              </a:rPr>
              <a:t>许用切应力  </a:t>
            </a:r>
            <a:r>
              <a:rPr kumimoji="1" lang="en-US" altLang="zh-CN" sz="2200" dirty="0" err="1">
                <a:solidFill>
                  <a:schemeClr val="accent2"/>
                </a:solidFill>
                <a:latin typeface="Times New Roman" panose="02020603050405020304" pitchFamily="18" charset="0"/>
                <a:ea typeface="华文中宋" panose="02010600040101010101" pitchFamily="2" charset="-122"/>
              </a:rPr>
              <a:t>MPa</a:t>
            </a:r>
            <a:endParaRPr kumimoji="1" lang="en-US" altLang="zh-CN" sz="2200" dirty="0">
              <a:solidFill>
                <a:schemeClr val="accent2"/>
              </a:solidFill>
              <a:latin typeface="Times New Roman" panose="02020603050405020304" pitchFamily="18" charset="0"/>
              <a:ea typeface="华文中宋" panose="02010600040101010101" pitchFamily="2" charset="-122"/>
            </a:endParaRPr>
          </a:p>
        </p:txBody>
      </p:sp>
      <p:sp>
        <p:nvSpPr>
          <p:cNvPr id="22" name="Text Box 11"/>
          <p:cNvSpPr txBox="1">
            <a:spLocks noChangeArrowheads="1"/>
          </p:cNvSpPr>
          <p:nvPr/>
        </p:nvSpPr>
        <p:spPr bwMode="auto">
          <a:xfrm>
            <a:off x="2188787" y="6207016"/>
            <a:ext cx="3162935" cy="4298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200" i="1" dirty="0" smtClean="0">
                <a:solidFill>
                  <a:schemeClr val="accent2"/>
                </a:solidFill>
                <a:latin typeface="Times New Roman" panose="02020603050405020304" pitchFamily="18" charset="0"/>
                <a:ea typeface="华文中宋" panose="02010600040101010101" pitchFamily="2" charset="-122"/>
              </a:rPr>
              <a:t>C</a:t>
            </a:r>
            <a:r>
              <a:rPr kumimoji="1" lang="en-US" altLang="zh-CN" sz="2200" dirty="0" smtClean="0">
                <a:solidFill>
                  <a:schemeClr val="accent2"/>
                </a:solidFill>
                <a:latin typeface="Times New Roman" panose="02020603050405020304" pitchFamily="18" charset="0"/>
                <a:ea typeface="华文中宋" panose="02010600040101010101" pitchFamily="2" charset="-122"/>
              </a:rPr>
              <a:t>——</a:t>
            </a:r>
            <a:r>
              <a:rPr kumimoji="1" lang="zh-CN" altLang="en-US" sz="2200" dirty="0">
                <a:solidFill>
                  <a:schemeClr val="accent2"/>
                </a:solidFill>
                <a:latin typeface="Times New Roman" panose="02020603050405020304" pitchFamily="18" charset="0"/>
                <a:ea typeface="华文中宋" panose="02010600040101010101" pitchFamily="2" charset="-122"/>
              </a:rPr>
              <a:t>与材料有关的系数</a:t>
            </a:r>
            <a:endParaRPr kumimoji="1" lang="zh-CN" altLang="en-US" sz="2200" dirty="0">
              <a:solidFill>
                <a:schemeClr val="accent2"/>
              </a:solidFill>
              <a:latin typeface="Times New Roman" panose="02020603050405020304" pitchFamily="18" charset="0"/>
              <a:ea typeface="华文中宋" panose="02010600040101010101" pitchFamily="2" charset="-122"/>
            </a:endParaRPr>
          </a:p>
        </p:txBody>
      </p:sp>
      <p:sp>
        <p:nvSpPr>
          <p:cNvPr id="5" name="文本框 4"/>
          <p:cNvSpPr txBox="1"/>
          <p:nvPr/>
        </p:nvSpPr>
        <p:spPr>
          <a:xfrm>
            <a:off x="5667469" y="5966233"/>
            <a:ext cx="2399169" cy="398780"/>
          </a:xfrm>
          <a:prstGeom prst="rect">
            <a:avLst/>
          </a:prstGeom>
          <a:gradFill flip="none" rotWithShape="1">
            <a:gsLst>
              <a:gs pos="0">
                <a:srgbClr val="0070C0">
                  <a:tint val="66000"/>
                  <a:satMod val="160000"/>
                </a:srgbClr>
              </a:gs>
              <a:gs pos="50000">
                <a:srgbClr val="0070C0">
                  <a:tint val="44500"/>
                  <a:satMod val="160000"/>
                </a:srgbClr>
              </a:gs>
              <a:gs pos="100000">
                <a:srgbClr val="0070C0">
                  <a:tint val="23500"/>
                  <a:satMod val="160000"/>
                </a:srgbClr>
              </a:gs>
            </a:gsLst>
            <a:lin ang="5400000" scaled="1"/>
            <a:tileRect/>
          </a:gradFill>
        </p:spPr>
        <p:txBody>
          <a:bodyPr wrap="square" rtlCol="0">
            <a:spAutoFit/>
          </a:bodyPr>
          <a:lstStyle/>
          <a:p>
            <a:r>
              <a:rPr lang="zh-CN" altLang="en-US" dirty="0" smtClean="0">
                <a:solidFill>
                  <a:srgbClr val="FF0000"/>
                </a:solidFill>
              </a:rPr>
              <a:t>见教材</a:t>
            </a:r>
            <a:r>
              <a:rPr lang="en-US" altLang="zh-CN" dirty="0" smtClean="0">
                <a:solidFill>
                  <a:srgbClr val="FF0000"/>
                </a:solidFill>
              </a:rPr>
              <a:t>P316 </a:t>
            </a:r>
            <a:r>
              <a:rPr lang="zh-CN" altLang="en-US" dirty="0" smtClean="0">
                <a:solidFill>
                  <a:srgbClr val="FF0000"/>
                </a:solidFill>
                <a:hlinkClick r:id="rId5" action="ppaction://hlinksldjump"/>
              </a:rPr>
              <a:t>表</a:t>
            </a:r>
            <a:r>
              <a:rPr lang="en-US" altLang="zh-CN" dirty="0" smtClean="0">
                <a:solidFill>
                  <a:srgbClr val="FF0000"/>
                </a:solidFill>
                <a:hlinkClick r:id="rId5" action="ppaction://hlinksldjump"/>
              </a:rPr>
              <a:t>3.7-6</a:t>
            </a:r>
            <a:endParaRPr lang="zh-CN" altLang="en-US"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177"/>
                                        </p:tgtEl>
                                        <p:attrNameLst>
                                          <p:attrName>style.visibility</p:attrName>
                                        </p:attrNameLst>
                                      </p:cBhvr>
                                      <p:to>
                                        <p:strVal val="visible"/>
                                      </p:to>
                                    </p:set>
                                    <p:animEffect transition="in" filter="wipe(left)">
                                      <p:cBhvr>
                                        <p:cTn id="7" dur="500"/>
                                        <p:tgtEl>
                                          <p:spTgt spid="617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178">
                                            <p:txEl>
                                              <p:pRg st="0" end="0"/>
                                            </p:txEl>
                                          </p:spTgt>
                                        </p:tgtEl>
                                        <p:attrNameLst>
                                          <p:attrName>style.visibility</p:attrName>
                                        </p:attrNameLst>
                                      </p:cBhvr>
                                      <p:to>
                                        <p:strVal val="visible"/>
                                      </p:to>
                                    </p:set>
                                    <p:animEffect transition="in" filter="wipe(left)">
                                      <p:cBhvr>
                                        <p:cTn id="12" dur="500"/>
                                        <p:tgtEl>
                                          <p:spTgt spid="617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grpId="0" nodeType="clickEffect">
                                  <p:stCondLst>
                                    <p:cond delay="0"/>
                                  </p:stCondLst>
                                  <p:childTnLst>
                                    <p:set>
                                      <p:cBhvr>
                                        <p:cTn id="26" dur="1" fill="hold">
                                          <p:stCondLst>
                                            <p:cond delay="0"/>
                                          </p:stCondLst>
                                        </p:cTn>
                                        <p:tgtEl>
                                          <p:spTgt spid="40981"/>
                                        </p:tgtEl>
                                        <p:attrNameLst>
                                          <p:attrName>style.visibility</p:attrName>
                                        </p:attrNameLst>
                                      </p:cBhvr>
                                      <p:to>
                                        <p:strVal val="visible"/>
                                      </p:to>
                                    </p:set>
                                    <p:anim calcmode="lin" valueType="num">
                                      <p:cBhvr additive="base">
                                        <p:cTn id="27" dur="500" fill="hold"/>
                                        <p:tgtEl>
                                          <p:spTgt spid="40981"/>
                                        </p:tgtEl>
                                        <p:attrNameLst>
                                          <p:attrName>ppt_x</p:attrName>
                                        </p:attrNameLst>
                                      </p:cBhvr>
                                      <p:tavLst>
                                        <p:tav tm="0">
                                          <p:val>
                                            <p:strVal val="0-#ppt_w/2"/>
                                          </p:val>
                                        </p:tav>
                                        <p:tav tm="100000">
                                          <p:val>
                                            <p:strVal val="#ppt_x"/>
                                          </p:val>
                                        </p:tav>
                                      </p:tavLst>
                                    </p:anim>
                                    <p:anim calcmode="lin" valueType="num">
                                      <p:cBhvr additive="base">
                                        <p:cTn id="28" dur="500" fill="hold"/>
                                        <p:tgtEl>
                                          <p:spTgt spid="40981"/>
                                        </p:tgtEl>
                                        <p:attrNameLst>
                                          <p:attrName>ppt_y</p:attrName>
                                        </p:attrNameLst>
                                      </p:cBhvr>
                                      <p:tavLst>
                                        <p:tav tm="0">
                                          <p:val>
                                            <p:strVal val="#ppt_y"/>
                                          </p:val>
                                        </p:tav>
                                        <p:tav tm="100000">
                                          <p:val>
                                            <p:strVal val="#ppt_y"/>
                                          </p:val>
                                        </p:tav>
                                      </p:tavLst>
                                    </p:anim>
                                  </p:childTnLst>
                                </p:cTn>
                              </p:par>
                            </p:childTnLst>
                          </p:cTn>
                        </p:par>
                        <p:par>
                          <p:cTn id="29" fill="hold">
                            <p:stCondLst>
                              <p:cond delay="500"/>
                            </p:stCondLst>
                            <p:childTnLst>
                              <p:par>
                                <p:cTn id="30" presetID="22" presetClass="entr" presetSubtype="8" fill="hold" grpId="0" nodeType="after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wipe(left)">
                                      <p:cBhvr>
                                        <p:cTn id="32" dur="500"/>
                                        <p:tgtEl>
                                          <p:spTgt spid="20"/>
                                        </p:tgtEl>
                                      </p:cBhvr>
                                    </p:animEffect>
                                  </p:childTnLst>
                                </p:cTn>
                              </p:par>
                            </p:childTnLst>
                          </p:cTn>
                        </p:par>
                        <p:par>
                          <p:cTn id="33" fill="hold">
                            <p:stCondLst>
                              <p:cond delay="1000"/>
                            </p:stCondLst>
                            <p:childTnLst>
                              <p:par>
                                <p:cTn id="34" presetID="22" presetClass="entr" presetSubtype="8" fill="hold" grpId="0" nodeType="after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wipe(left)">
                                      <p:cBhvr>
                                        <p:cTn id="36" dur="500"/>
                                        <p:tgtEl>
                                          <p:spTgt spid="21"/>
                                        </p:tgtEl>
                                      </p:cBhvr>
                                    </p:animEffect>
                                  </p:childTnLst>
                                </p:cTn>
                              </p:par>
                            </p:childTnLst>
                          </p:cTn>
                        </p:par>
                        <p:par>
                          <p:cTn id="37" fill="hold">
                            <p:stCondLst>
                              <p:cond delay="1500"/>
                            </p:stCondLst>
                            <p:childTnLst>
                              <p:par>
                                <p:cTn id="38" presetID="22" presetClass="entr" presetSubtype="8" fill="hold" grpId="0" nodeType="afterEffect">
                                  <p:stCondLst>
                                    <p:cond delay="0"/>
                                  </p:stCondLst>
                                  <p:childTnLst>
                                    <p:set>
                                      <p:cBhvr>
                                        <p:cTn id="39" dur="1" fill="hold">
                                          <p:stCondLst>
                                            <p:cond delay="0"/>
                                          </p:stCondLst>
                                        </p:cTn>
                                        <p:tgtEl>
                                          <p:spTgt spid="22"/>
                                        </p:tgtEl>
                                        <p:attrNameLst>
                                          <p:attrName>style.visibility</p:attrName>
                                        </p:attrNameLst>
                                      </p:cBhvr>
                                      <p:to>
                                        <p:strVal val="visible"/>
                                      </p:to>
                                    </p:set>
                                    <p:animEffect transition="in" filter="wipe(left)">
                                      <p:cBhvr>
                                        <p:cTn id="40" dur="500"/>
                                        <p:tgtEl>
                                          <p:spTgt spid="22"/>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5"/>
                                        </p:tgtEl>
                                        <p:attrNameLst>
                                          <p:attrName>style.visibility</p:attrName>
                                        </p:attrNameLst>
                                      </p:cBhvr>
                                      <p:to>
                                        <p:strVal val="visible"/>
                                      </p:to>
                                    </p:set>
                                    <p:animEffect transition="in" filter="wipe(left)">
                                      <p:cBhvr>
                                        <p:cTn id="4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77" grpId="0"/>
      <p:bldP spid="40981" grpId="0" autoUpdateAnimBg="0"/>
      <p:bldP spid="20" grpId="0" autoUpdateAnimBg="0"/>
      <p:bldP spid="21" grpId="0" autoUpdateAnimBg="0"/>
      <p:bldP spid="22" grpId="0" bldLvl="0" animBg="1" autoUpdateAnimBg="0"/>
      <p:bldP spid="5" grpId="0" bldLvl="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2"/>
          <p:cNvSpPr>
            <a:spLocks noGrp="1" noChangeArrowheads="1"/>
          </p:cNvSpPr>
          <p:nvPr>
            <p:ph type="title"/>
          </p:nvPr>
        </p:nvSpPr>
        <p:spPr bwMode="auto">
          <a:xfrm>
            <a:off x="7196138" y="784225"/>
            <a:ext cx="1230312" cy="3079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algn="l" eaLnBrk="1" hangingPunct="1"/>
            <a:r>
              <a:rPr lang="zh-CN" altLang="en-US" sz="800" smtClean="0">
                <a:solidFill>
                  <a:schemeClr val="bg1"/>
                </a:solidFill>
                <a:latin typeface="黑体" panose="02010609060101010101" pitchFamily="49" charset="-122"/>
                <a:ea typeface="黑体" panose="02010609060101010101" pitchFamily="49" charset="-122"/>
              </a:rPr>
              <a:t>轴的计算</a:t>
            </a:r>
            <a:r>
              <a:rPr lang="en-US" altLang="zh-CN" sz="800" smtClean="0">
                <a:solidFill>
                  <a:schemeClr val="bg1"/>
                </a:solidFill>
                <a:latin typeface="黑体" panose="02010609060101010101" pitchFamily="49" charset="-122"/>
                <a:ea typeface="黑体" panose="02010609060101010101" pitchFamily="49" charset="-122"/>
              </a:rPr>
              <a:t>1</a:t>
            </a:r>
            <a:endParaRPr lang="en-US" altLang="zh-CN" sz="800" smtClean="0">
              <a:solidFill>
                <a:schemeClr val="bg1"/>
              </a:solidFill>
              <a:latin typeface="黑体" panose="02010609060101010101" pitchFamily="49" charset="-122"/>
              <a:ea typeface="黑体" panose="02010609060101010101" pitchFamily="49" charset="-122"/>
            </a:endParaRPr>
          </a:p>
        </p:txBody>
      </p:sp>
      <p:sp>
        <p:nvSpPr>
          <p:cNvPr id="6149" name="Text Box 4"/>
          <p:cNvSpPr txBox="1">
            <a:spLocks noChangeArrowheads="1"/>
          </p:cNvSpPr>
          <p:nvPr/>
        </p:nvSpPr>
        <p:spPr bwMode="auto">
          <a:xfrm>
            <a:off x="5472113" y="174625"/>
            <a:ext cx="23164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sz="2400" dirty="0" smtClean="0">
                <a:solidFill>
                  <a:srgbClr val="CC3300"/>
                </a:solidFill>
                <a:latin typeface="黑体" panose="02010609060101010101" pitchFamily="49" charset="-122"/>
                <a:ea typeface="黑体" panose="02010609060101010101" pitchFamily="49" charset="-122"/>
              </a:rPr>
              <a:t>3.7-3 </a:t>
            </a:r>
            <a:r>
              <a:rPr lang="zh-CN" altLang="en-US" sz="2400" dirty="0">
                <a:solidFill>
                  <a:srgbClr val="CC3300"/>
                </a:solidFill>
                <a:latin typeface="黑体" panose="02010609060101010101" pitchFamily="49" charset="-122"/>
                <a:ea typeface="黑体" panose="02010609060101010101" pitchFamily="49" charset="-122"/>
              </a:rPr>
              <a:t>轴的计算</a:t>
            </a:r>
            <a:endParaRPr lang="zh-CN" altLang="en-US" sz="2400" dirty="0">
              <a:solidFill>
                <a:srgbClr val="CC3300"/>
              </a:solidFill>
              <a:latin typeface="黑体" panose="02010609060101010101" pitchFamily="49" charset="-122"/>
              <a:ea typeface="黑体" panose="02010609060101010101" pitchFamily="49" charset="-122"/>
            </a:endParaRPr>
          </a:p>
        </p:txBody>
      </p:sp>
      <p:grpSp>
        <p:nvGrpSpPr>
          <p:cNvPr id="3" name="Group 56"/>
          <p:cNvGrpSpPr/>
          <p:nvPr/>
        </p:nvGrpSpPr>
        <p:grpSpPr bwMode="auto">
          <a:xfrm>
            <a:off x="897125" y="1106083"/>
            <a:ext cx="4879976" cy="966788"/>
            <a:chOff x="369" y="2063"/>
            <a:chExt cx="3074" cy="609"/>
          </a:xfrm>
        </p:grpSpPr>
        <p:sp>
          <p:nvSpPr>
            <p:cNvPr id="6175" name="Text Box 10"/>
            <p:cNvSpPr txBox="1">
              <a:spLocks noChangeArrowheads="1"/>
            </p:cNvSpPr>
            <p:nvPr/>
          </p:nvSpPr>
          <p:spPr bwMode="auto">
            <a:xfrm>
              <a:off x="369" y="2230"/>
              <a:ext cx="1595"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zh-CN" altLang="en-US" sz="2200" dirty="0" smtClean="0">
                  <a:latin typeface="华文中宋" panose="02010600040101010101" pitchFamily="2" charset="-122"/>
                </a:rPr>
                <a:t>空心</a:t>
              </a:r>
              <a:r>
                <a:rPr lang="zh-CN" altLang="en-US" sz="2200" dirty="0">
                  <a:latin typeface="华文中宋" panose="02010600040101010101" pitchFamily="2" charset="-122"/>
                </a:rPr>
                <a:t>轴的直径为： </a:t>
              </a:r>
              <a:endParaRPr lang="zh-CN" altLang="en-US" sz="2200" dirty="0">
                <a:latin typeface="华文中宋" panose="02010600040101010101" pitchFamily="2" charset="-122"/>
              </a:endParaRPr>
            </a:p>
          </p:txBody>
        </p:sp>
        <p:graphicFrame>
          <p:nvGraphicFramePr>
            <p:cNvPr id="6147" name="Object 11"/>
            <p:cNvGraphicFramePr>
              <a:graphicFrameLocks noChangeAspect="1"/>
            </p:cNvGraphicFramePr>
            <p:nvPr/>
          </p:nvGraphicFramePr>
          <p:xfrm>
            <a:off x="1832" y="2063"/>
            <a:ext cx="1611" cy="609"/>
          </p:xfrm>
          <a:graphic>
            <a:graphicData uri="http://schemas.openxmlformats.org/presentationml/2006/ole">
              <mc:AlternateContent xmlns:mc="http://schemas.openxmlformats.org/markup-compatibility/2006">
                <mc:Choice xmlns:v="urn:schemas-microsoft-com:vml" Requires="v">
                  <p:oleObj spid="_x0000_s22579" name="公式" r:id="rId1" imgW="31699200" imgH="11887200" progId="Equation.3">
                    <p:embed/>
                  </p:oleObj>
                </mc:Choice>
                <mc:Fallback>
                  <p:oleObj name="公式" r:id="rId1" imgW="31699200" imgH="11887200" progId="Equation.3">
                    <p:embed/>
                    <p:pic>
                      <p:nvPicPr>
                        <p:cNvPr id="0" name="图片 22562"/>
                        <p:cNvPicPr>
                          <a:picLocks noChangeAspect="1" noChangeArrowheads="1"/>
                        </p:cNvPicPr>
                        <p:nvPr/>
                      </p:nvPicPr>
                      <p:blipFill>
                        <a:blip r:embed="rId2"/>
                        <a:srcRect/>
                        <a:stretch>
                          <a:fillRect/>
                        </a:stretch>
                      </p:blipFill>
                      <p:spPr bwMode="auto">
                        <a:xfrm>
                          <a:off x="1832" y="2063"/>
                          <a:ext cx="1611" cy="609"/>
                        </a:xfrm>
                        <a:prstGeom prst="rect">
                          <a:avLst/>
                        </a:prstGeom>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ln>
                          <a:noFill/>
                        </a:ln>
                        <a:effectLst/>
                      </p:spPr>
                    </p:pic>
                  </p:oleObj>
                </mc:Fallback>
              </mc:AlternateContent>
            </a:graphicData>
          </a:graphic>
        </p:graphicFrame>
      </p:grpSp>
      <p:sp>
        <p:nvSpPr>
          <p:cNvPr id="40981" name="Text Box 21"/>
          <p:cNvSpPr txBox="1">
            <a:spLocks noChangeArrowheads="1"/>
          </p:cNvSpPr>
          <p:nvPr/>
        </p:nvSpPr>
        <p:spPr bwMode="auto">
          <a:xfrm>
            <a:off x="7764463" y="5848350"/>
            <a:ext cx="844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50000"/>
              </a:spcBef>
            </a:pPr>
            <a:r>
              <a:rPr lang="en-US" altLang="zh-CN"/>
              <a:t>     </a:t>
            </a:r>
            <a:endParaRPr lang="en-US" altLang="zh-CN"/>
          </a:p>
        </p:txBody>
      </p:sp>
      <p:sp>
        <p:nvSpPr>
          <p:cNvPr id="40984" name="Text Box 24"/>
          <p:cNvSpPr txBox="1">
            <a:spLocks noChangeArrowheads="1"/>
          </p:cNvSpPr>
          <p:nvPr/>
        </p:nvSpPr>
        <p:spPr bwMode="auto">
          <a:xfrm>
            <a:off x="397725" y="3711072"/>
            <a:ext cx="6470041"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zh-CN" altLang="en-US" sz="2200" dirty="0"/>
              <a:t>为了计及键槽对轴的削弱，可按以下方式修正轴</a:t>
            </a:r>
            <a:r>
              <a:rPr lang="zh-CN" altLang="en-US" sz="2200" dirty="0" smtClean="0"/>
              <a:t>径</a:t>
            </a:r>
            <a:r>
              <a:rPr lang="en-US" altLang="zh-CN" sz="2200" dirty="0" smtClean="0"/>
              <a:t>:</a:t>
            </a:r>
            <a:endParaRPr lang="zh-CN" altLang="en-US" sz="2200" dirty="0"/>
          </a:p>
        </p:txBody>
      </p:sp>
      <p:graphicFrame>
        <p:nvGraphicFramePr>
          <p:cNvPr id="41014" name="Group 54"/>
          <p:cNvGraphicFramePr>
            <a:graphicFrameLocks noGrp="1"/>
          </p:cNvGraphicFramePr>
          <p:nvPr/>
        </p:nvGraphicFramePr>
        <p:xfrm>
          <a:off x="938290" y="4472434"/>
          <a:ext cx="7318469" cy="1439479"/>
        </p:xfrm>
        <a:graphic>
          <a:graphicData uri="http://schemas.openxmlformats.org/drawingml/2006/table">
            <a:tbl>
              <a:tblPr/>
              <a:tblGrid>
                <a:gridCol w="1897862"/>
                <a:gridCol w="2560814"/>
                <a:gridCol w="2859793"/>
              </a:tblGrid>
              <a:tr h="449717">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1" lang="zh-CN" altLang="zh-CN"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T="45749" marB="45749"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000"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rPr>
                        <a:t>有一个键槽</a:t>
                      </a:r>
                      <a:endParaRPr kumimoji="1" lang="zh-CN" altLang="en-US" sz="2000"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endParaRPr>
                    </a:p>
                  </a:txBody>
                  <a:tcPr marT="45749" marB="4574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000"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rPr>
                        <a:t>有两个键槽</a:t>
                      </a:r>
                      <a:endParaRPr kumimoji="1" lang="zh-CN" altLang="en-US" sz="2000"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endParaRPr>
                    </a:p>
                  </a:txBody>
                  <a:tcPr marT="45749" marB="45749"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9717">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000" b="0" i="0" u="none" strike="noStrike" cap="none" normalizeH="0" baseline="0" dirty="0" smtClean="0">
                          <a:ln>
                            <a:noFill/>
                          </a:ln>
                          <a:solidFill>
                            <a:srgbClr val="000099"/>
                          </a:solidFill>
                          <a:effectLst/>
                          <a:latin typeface="Times New Roman" panose="02020603050405020304" pitchFamily="18" charset="0"/>
                          <a:ea typeface="华文中宋" panose="02010600040101010101" pitchFamily="2" charset="-122"/>
                        </a:rPr>
                        <a:t>轴径</a:t>
                      </a:r>
                      <a:r>
                        <a:rPr kumimoji="1" lang="en-US" altLang="zh-CN" sz="2000" b="0" i="1" u="none" strike="noStrike" cap="none" normalizeH="0" baseline="0" dirty="0" smtClean="0">
                          <a:ln>
                            <a:noFill/>
                          </a:ln>
                          <a:solidFill>
                            <a:srgbClr val="000099"/>
                          </a:solidFill>
                          <a:effectLst/>
                          <a:latin typeface="Times New Roman" panose="02020603050405020304" pitchFamily="18" charset="0"/>
                          <a:ea typeface="华文中宋" panose="02010600040101010101" pitchFamily="2" charset="-122"/>
                        </a:rPr>
                        <a:t>d</a:t>
                      </a:r>
                      <a:r>
                        <a:rPr kumimoji="1" lang="zh-CN" altLang="en-US" sz="2000" b="0" i="0" u="none" strike="noStrike" cap="none" normalizeH="0" baseline="0" dirty="0" smtClean="0">
                          <a:ln>
                            <a:noFill/>
                          </a:ln>
                          <a:solidFill>
                            <a:srgbClr val="000099"/>
                          </a:solidFill>
                          <a:effectLst/>
                          <a:latin typeface="Times New Roman" panose="02020603050405020304" pitchFamily="18" charset="0"/>
                          <a:ea typeface="华文中宋" panose="02010600040101010101" pitchFamily="2" charset="-122"/>
                        </a:rPr>
                        <a:t>＞</a:t>
                      </a:r>
                      <a:r>
                        <a:rPr kumimoji="1" lang="en-US" altLang="zh-CN" sz="2000" b="0" i="0" u="none" strike="noStrike" cap="none" normalizeH="0" baseline="0" dirty="0" smtClean="0">
                          <a:ln>
                            <a:noFill/>
                          </a:ln>
                          <a:solidFill>
                            <a:srgbClr val="000099"/>
                          </a:solidFill>
                          <a:effectLst/>
                          <a:latin typeface="Times New Roman" panose="02020603050405020304" pitchFamily="18" charset="0"/>
                          <a:ea typeface="华文中宋" panose="02010600040101010101" pitchFamily="2" charset="-122"/>
                        </a:rPr>
                        <a:t>100mm</a:t>
                      </a:r>
                      <a:endParaRPr kumimoji="1" lang="en-US" altLang="zh-CN" sz="2000" b="0" i="0" u="none" strike="noStrike" cap="none" normalizeH="0" baseline="0" dirty="0" smtClean="0">
                        <a:ln>
                          <a:noFill/>
                        </a:ln>
                        <a:solidFill>
                          <a:srgbClr val="000099"/>
                        </a:solidFill>
                        <a:effectLst/>
                        <a:latin typeface="Times New Roman" panose="02020603050405020304" pitchFamily="18" charset="0"/>
                        <a:ea typeface="华文中宋" panose="02010600040101010101" pitchFamily="2" charset="-122"/>
                      </a:endParaRPr>
                    </a:p>
                  </a:txBody>
                  <a:tcPr marT="45749" marB="45749"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000" b="0" i="0" u="none" strike="noStrike" cap="none" normalizeH="0" baseline="0" dirty="0" smtClean="0">
                          <a:ln>
                            <a:noFill/>
                          </a:ln>
                          <a:solidFill>
                            <a:srgbClr val="000099"/>
                          </a:solidFill>
                          <a:effectLst/>
                          <a:latin typeface="Times New Roman" panose="02020603050405020304" pitchFamily="18" charset="0"/>
                          <a:ea typeface="华文中宋" panose="02010600040101010101" pitchFamily="2" charset="-122"/>
                        </a:rPr>
                        <a:t>轴径增大</a:t>
                      </a:r>
                      <a:r>
                        <a:rPr kumimoji="1" lang="en-US" altLang="zh-CN" sz="2000" b="0" i="0" u="none" strike="noStrike" cap="none" normalizeH="0" baseline="0" dirty="0" smtClean="0">
                          <a:ln>
                            <a:noFill/>
                          </a:ln>
                          <a:solidFill>
                            <a:srgbClr val="000099"/>
                          </a:solidFill>
                          <a:effectLst/>
                          <a:latin typeface="Times New Roman" panose="02020603050405020304" pitchFamily="18" charset="0"/>
                          <a:ea typeface="华文中宋" panose="02010600040101010101" pitchFamily="2" charset="-122"/>
                        </a:rPr>
                        <a:t>3%</a:t>
                      </a:r>
                      <a:endParaRPr kumimoji="1" lang="en-US" altLang="zh-CN" sz="2000" b="0" i="0" u="none" strike="noStrike" cap="none" normalizeH="0" baseline="0" dirty="0" smtClean="0">
                        <a:ln>
                          <a:noFill/>
                        </a:ln>
                        <a:solidFill>
                          <a:srgbClr val="000099"/>
                        </a:solidFill>
                        <a:effectLst/>
                        <a:latin typeface="Times New Roman" panose="02020603050405020304" pitchFamily="18" charset="0"/>
                        <a:ea typeface="华文中宋" panose="02010600040101010101" pitchFamily="2" charset="-122"/>
                      </a:endParaRPr>
                    </a:p>
                  </a:txBody>
                  <a:tcPr marT="45749" marB="4574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000" b="0" i="0" u="none" strike="noStrike" cap="none" normalizeH="0" baseline="0" dirty="0" smtClean="0">
                          <a:ln>
                            <a:noFill/>
                          </a:ln>
                          <a:solidFill>
                            <a:srgbClr val="000099"/>
                          </a:solidFill>
                          <a:effectLst/>
                          <a:latin typeface="Times New Roman" panose="02020603050405020304" pitchFamily="18" charset="0"/>
                          <a:ea typeface="华文中宋" panose="02010600040101010101" pitchFamily="2" charset="-122"/>
                        </a:rPr>
                        <a:t>轴径增大</a:t>
                      </a:r>
                      <a:r>
                        <a:rPr kumimoji="1" lang="en-US" altLang="zh-CN" sz="2000" b="0" i="0" u="none" strike="noStrike" cap="none" normalizeH="0" baseline="0" dirty="0" smtClean="0">
                          <a:ln>
                            <a:noFill/>
                          </a:ln>
                          <a:solidFill>
                            <a:srgbClr val="000099"/>
                          </a:solidFill>
                          <a:effectLst/>
                          <a:latin typeface="Times New Roman" panose="02020603050405020304" pitchFamily="18" charset="0"/>
                          <a:ea typeface="华文中宋" panose="02010600040101010101" pitchFamily="2" charset="-122"/>
                        </a:rPr>
                        <a:t>7%</a:t>
                      </a:r>
                      <a:endParaRPr kumimoji="1" lang="en-US" altLang="zh-CN" sz="2000" b="0" i="0" u="none" strike="noStrike" cap="none" normalizeH="0" baseline="0" dirty="0" smtClean="0">
                        <a:ln>
                          <a:noFill/>
                        </a:ln>
                        <a:solidFill>
                          <a:srgbClr val="000099"/>
                        </a:solidFill>
                        <a:effectLst/>
                        <a:latin typeface="Times New Roman" panose="02020603050405020304" pitchFamily="18" charset="0"/>
                        <a:ea typeface="华文中宋" panose="02010600040101010101" pitchFamily="2" charset="-122"/>
                      </a:endParaRPr>
                    </a:p>
                  </a:txBody>
                  <a:tcPr marT="45749" marB="45749"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r>
              <a:tr h="54004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000" b="0" i="0" u="none" strike="noStrike" cap="none" normalizeH="0" baseline="0" dirty="0" smtClean="0">
                          <a:ln>
                            <a:noFill/>
                          </a:ln>
                          <a:solidFill>
                            <a:srgbClr val="000099"/>
                          </a:solidFill>
                          <a:effectLst/>
                          <a:latin typeface="Times New Roman" panose="02020603050405020304" pitchFamily="18" charset="0"/>
                          <a:ea typeface="华文中宋" panose="02010600040101010101" pitchFamily="2" charset="-122"/>
                        </a:rPr>
                        <a:t>轴径</a:t>
                      </a:r>
                      <a:r>
                        <a:rPr kumimoji="1" lang="en-US" altLang="zh-CN" sz="2000" b="0" i="1" u="none" strike="noStrike" cap="none" normalizeH="0" baseline="0" dirty="0" smtClean="0">
                          <a:ln>
                            <a:noFill/>
                          </a:ln>
                          <a:solidFill>
                            <a:srgbClr val="000099"/>
                          </a:solidFill>
                          <a:effectLst/>
                          <a:latin typeface="Times New Roman" panose="02020603050405020304" pitchFamily="18" charset="0"/>
                          <a:ea typeface="华文中宋" panose="02010600040101010101" pitchFamily="2" charset="-122"/>
                        </a:rPr>
                        <a:t>d≤</a:t>
                      </a:r>
                      <a:r>
                        <a:rPr kumimoji="1" lang="en-US" altLang="zh-CN" sz="2000" b="0" i="0" u="none" strike="noStrike" cap="none" normalizeH="0" baseline="0" dirty="0" smtClean="0">
                          <a:ln>
                            <a:noFill/>
                          </a:ln>
                          <a:solidFill>
                            <a:srgbClr val="000099"/>
                          </a:solidFill>
                          <a:effectLst/>
                          <a:latin typeface="Times New Roman" panose="02020603050405020304" pitchFamily="18" charset="0"/>
                          <a:ea typeface="华文中宋" panose="02010600040101010101" pitchFamily="2" charset="-122"/>
                        </a:rPr>
                        <a:t>100mm</a:t>
                      </a:r>
                      <a:endParaRPr kumimoji="1" lang="en-US" altLang="zh-CN" sz="2000" b="0" i="0" u="none" strike="noStrike" cap="none" normalizeH="0" baseline="0" dirty="0" smtClean="0">
                        <a:ln>
                          <a:noFill/>
                        </a:ln>
                        <a:solidFill>
                          <a:srgbClr val="000099"/>
                        </a:solidFill>
                        <a:effectLst/>
                        <a:latin typeface="Times New Roman" panose="02020603050405020304" pitchFamily="18" charset="0"/>
                        <a:ea typeface="华文中宋" panose="02010600040101010101" pitchFamily="2" charset="-122"/>
                      </a:endParaRPr>
                    </a:p>
                  </a:txBody>
                  <a:tcPr marT="45749" marB="45749"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000" b="0" i="0" u="none" strike="noStrike" cap="none" normalizeH="0" baseline="0" dirty="0" smtClean="0">
                          <a:ln>
                            <a:noFill/>
                          </a:ln>
                          <a:solidFill>
                            <a:srgbClr val="000099"/>
                          </a:solidFill>
                          <a:effectLst/>
                          <a:latin typeface="Times New Roman" panose="02020603050405020304" pitchFamily="18" charset="0"/>
                          <a:ea typeface="华文中宋" panose="02010600040101010101" pitchFamily="2" charset="-122"/>
                        </a:rPr>
                        <a:t>轴径增大</a:t>
                      </a:r>
                      <a:r>
                        <a:rPr kumimoji="1" lang="en-US" altLang="zh-CN" sz="2000" b="0" i="0" u="none" strike="noStrike" cap="none" normalizeH="0" baseline="0" dirty="0" smtClean="0">
                          <a:ln>
                            <a:noFill/>
                          </a:ln>
                          <a:solidFill>
                            <a:srgbClr val="000099"/>
                          </a:solidFill>
                          <a:effectLst/>
                          <a:latin typeface="Times New Roman" panose="02020603050405020304" pitchFamily="18" charset="0"/>
                          <a:ea typeface="华文中宋" panose="02010600040101010101" pitchFamily="2" charset="-122"/>
                        </a:rPr>
                        <a:t>5%</a:t>
                      </a:r>
                      <a:r>
                        <a:rPr kumimoji="1" lang="zh-CN" altLang="en-US" sz="2000" b="0" i="0" u="none" strike="noStrike" cap="none" normalizeH="0" baseline="0" dirty="0" smtClean="0">
                          <a:ln>
                            <a:noFill/>
                          </a:ln>
                          <a:solidFill>
                            <a:srgbClr val="000099"/>
                          </a:solidFill>
                          <a:effectLst/>
                          <a:latin typeface="Times New Roman" panose="02020603050405020304" pitchFamily="18" charset="0"/>
                          <a:ea typeface="华文中宋" panose="02010600040101010101" pitchFamily="2" charset="-122"/>
                        </a:rPr>
                        <a:t>～</a:t>
                      </a:r>
                      <a:r>
                        <a:rPr kumimoji="1" lang="en-US" altLang="zh-CN" sz="2000" b="0" i="0" u="none" strike="noStrike" cap="none" normalizeH="0" baseline="0" dirty="0" smtClean="0">
                          <a:ln>
                            <a:noFill/>
                          </a:ln>
                          <a:solidFill>
                            <a:srgbClr val="000099"/>
                          </a:solidFill>
                          <a:effectLst/>
                          <a:latin typeface="Times New Roman" panose="02020603050405020304" pitchFamily="18" charset="0"/>
                          <a:ea typeface="华文中宋" panose="02010600040101010101" pitchFamily="2" charset="-122"/>
                        </a:rPr>
                        <a:t>7%</a:t>
                      </a:r>
                      <a:endParaRPr kumimoji="1" lang="en-US" altLang="zh-CN" sz="2000" b="0" i="0" u="none" strike="noStrike" cap="none" normalizeH="0" baseline="0" dirty="0" smtClean="0">
                        <a:ln>
                          <a:noFill/>
                        </a:ln>
                        <a:solidFill>
                          <a:srgbClr val="000099"/>
                        </a:solidFill>
                        <a:effectLst/>
                        <a:latin typeface="Times New Roman" panose="02020603050405020304" pitchFamily="18" charset="0"/>
                        <a:ea typeface="华文中宋" panose="02010600040101010101" pitchFamily="2" charset="-122"/>
                      </a:endParaRPr>
                    </a:p>
                  </a:txBody>
                  <a:tcPr marT="45749" marB="4574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000" b="0" i="0" u="none" strike="noStrike" cap="none" normalizeH="0" baseline="0" dirty="0" smtClean="0">
                          <a:ln>
                            <a:noFill/>
                          </a:ln>
                          <a:solidFill>
                            <a:srgbClr val="000099"/>
                          </a:solidFill>
                          <a:effectLst/>
                          <a:latin typeface="Times New Roman" panose="02020603050405020304" pitchFamily="18" charset="0"/>
                          <a:ea typeface="华文中宋" panose="02010600040101010101" pitchFamily="2" charset="-122"/>
                        </a:rPr>
                        <a:t>轴径增大</a:t>
                      </a:r>
                      <a:r>
                        <a:rPr kumimoji="1" lang="en-US" altLang="zh-CN" sz="2000" b="0" i="0" u="none" strike="noStrike" cap="none" normalizeH="0" baseline="0" dirty="0" smtClean="0">
                          <a:ln>
                            <a:noFill/>
                          </a:ln>
                          <a:solidFill>
                            <a:srgbClr val="000099"/>
                          </a:solidFill>
                          <a:effectLst/>
                          <a:latin typeface="Times New Roman" panose="02020603050405020304" pitchFamily="18" charset="0"/>
                          <a:ea typeface="华文中宋" panose="02010600040101010101" pitchFamily="2" charset="-122"/>
                        </a:rPr>
                        <a:t>10%</a:t>
                      </a:r>
                      <a:r>
                        <a:rPr kumimoji="1" lang="zh-CN" altLang="en-US" sz="2000" b="0" i="0" u="none" strike="noStrike" cap="none" normalizeH="0" baseline="0" dirty="0" smtClean="0">
                          <a:ln>
                            <a:noFill/>
                          </a:ln>
                          <a:solidFill>
                            <a:srgbClr val="000099"/>
                          </a:solidFill>
                          <a:effectLst/>
                          <a:latin typeface="Times New Roman" panose="02020603050405020304" pitchFamily="18" charset="0"/>
                          <a:ea typeface="华文中宋" panose="02010600040101010101" pitchFamily="2" charset="-122"/>
                        </a:rPr>
                        <a:t>～</a:t>
                      </a:r>
                      <a:r>
                        <a:rPr kumimoji="1" lang="en-US" altLang="zh-CN" sz="2000" b="0" i="0" u="none" strike="noStrike" cap="none" normalizeH="0" baseline="0" dirty="0" smtClean="0">
                          <a:ln>
                            <a:noFill/>
                          </a:ln>
                          <a:solidFill>
                            <a:srgbClr val="000099"/>
                          </a:solidFill>
                          <a:effectLst/>
                          <a:latin typeface="Times New Roman" panose="02020603050405020304" pitchFamily="18" charset="0"/>
                          <a:ea typeface="华文中宋" panose="02010600040101010101" pitchFamily="2" charset="-122"/>
                        </a:rPr>
                        <a:t>15%</a:t>
                      </a:r>
                      <a:endParaRPr kumimoji="1" lang="en-US" altLang="zh-CN" sz="2000" b="0" i="0" u="none" strike="noStrike" cap="none" normalizeH="0" baseline="0" dirty="0" smtClean="0">
                        <a:ln>
                          <a:noFill/>
                        </a:ln>
                        <a:solidFill>
                          <a:srgbClr val="000099"/>
                        </a:solidFill>
                        <a:effectLst/>
                        <a:latin typeface="Times New Roman" panose="02020603050405020304" pitchFamily="18" charset="0"/>
                        <a:ea typeface="华文中宋" panose="02010600040101010101" pitchFamily="2" charset="-122"/>
                      </a:endParaRPr>
                    </a:p>
                  </a:txBody>
                  <a:tcPr marT="45749" marB="45749"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r>
            </a:tbl>
          </a:graphicData>
        </a:graphic>
      </p:graphicFrame>
      <p:sp>
        <p:nvSpPr>
          <p:cNvPr id="6173"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mc:AlternateContent xmlns:mc="http://schemas.openxmlformats.org/markup-compatibility/2006">
        <mc:Choice xmlns:a14="http://schemas.microsoft.com/office/drawing/2010/main" Requires="a14">
          <p:sp>
            <p:nvSpPr>
              <p:cNvPr id="5" name="文本框 4"/>
              <p:cNvSpPr txBox="1"/>
              <p:nvPr/>
            </p:nvSpPr>
            <p:spPr>
              <a:xfrm>
                <a:off x="1973655" y="2390115"/>
                <a:ext cx="5640310" cy="918521"/>
              </a:xfrm>
              <a:prstGeom prst="rect">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5400000" scaled="1"/>
                <a:tileRect/>
              </a:gradFill>
            </p:spPr>
            <p:txBody>
              <a:bodyPr wrap="square" rtlCol="0">
                <a:spAutoFit/>
              </a:bodyPr>
              <a:lstStyle/>
              <a:p>
                <a:r>
                  <a:rPr lang="zh-CN" altLang="en-US" sz="2200" dirty="0" smtClean="0"/>
                  <a:t>式中</a:t>
                </a:r>
                <a14:m>
                  <m:oMath xmlns:m="http://schemas.openxmlformats.org/officeDocument/2006/math">
                    <m:r>
                      <a:rPr lang="zh-CN" altLang="en-US" sz="2200" i="1" smtClean="0">
                        <a:latin typeface="Cambria Math" panose="02040503050406030204" pitchFamily="18" charset="0"/>
                      </a:rPr>
                      <m:t>𝛽</m:t>
                    </m:r>
                    <m:r>
                      <a:rPr lang="en-US" altLang="zh-CN" sz="2200" b="0" i="1" smtClean="0">
                        <a:latin typeface="Cambria Math" panose="02040503050406030204" pitchFamily="18" charset="0"/>
                      </a:rPr>
                      <m:t>=</m:t>
                    </m:r>
                    <m:f>
                      <m:fPr>
                        <m:ctrlPr>
                          <a:rPr lang="en-US" altLang="zh-CN" sz="2200" b="0" i="1" smtClean="0">
                            <a:latin typeface="Cambria Math" panose="02040503050406030204" pitchFamily="18" charset="0"/>
                          </a:rPr>
                        </m:ctrlPr>
                      </m:fPr>
                      <m:num>
                        <m:sSub>
                          <m:sSubPr>
                            <m:ctrlPr>
                              <a:rPr lang="en-US" altLang="zh-CN" sz="2200" b="0" i="1" smtClean="0">
                                <a:latin typeface="Cambria Math" panose="02040503050406030204" pitchFamily="18" charset="0"/>
                              </a:rPr>
                            </m:ctrlPr>
                          </m:sSubPr>
                          <m:e>
                            <m:r>
                              <a:rPr lang="en-US" altLang="zh-CN" sz="2200" b="0" i="1" smtClean="0">
                                <a:latin typeface="Cambria Math" panose="02040503050406030204" pitchFamily="18" charset="0"/>
                              </a:rPr>
                              <m:t>𝑑</m:t>
                            </m:r>
                          </m:e>
                          <m:sub>
                            <m:r>
                              <a:rPr lang="en-US" altLang="zh-CN" sz="2200" b="0" i="1" smtClean="0">
                                <a:latin typeface="Cambria Math" panose="02040503050406030204" pitchFamily="18" charset="0"/>
                              </a:rPr>
                              <m:t>1</m:t>
                            </m:r>
                          </m:sub>
                        </m:sSub>
                      </m:num>
                      <m:den>
                        <m:r>
                          <a:rPr lang="en-US" altLang="zh-CN" sz="2200" b="0" i="1" smtClean="0">
                            <a:latin typeface="Cambria Math" panose="02040503050406030204" pitchFamily="18" charset="0"/>
                          </a:rPr>
                          <m:t>𝑑</m:t>
                        </m:r>
                      </m:den>
                    </m:f>
                  </m:oMath>
                </a14:m>
                <a:r>
                  <a:rPr lang="zh-CN" altLang="en-US" sz="2200" dirty="0" smtClean="0"/>
                  <a:t>   即空心轴内径</a:t>
                </a:r>
                <a:r>
                  <a:rPr lang="en-US" altLang="zh-CN" sz="2200" dirty="0" smtClean="0"/>
                  <a:t>d1</a:t>
                </a:r>
                <a:r>
                  <a:rPr lang="zh-CN" altLang="en-US" sz="2200" dirty="0" smtClean="0"/>
                  <a:t>与外径</a:t>
                </a:r>
                <a:r>
                  <a:rPr lang="en-US" altLang="zh-CN" sz="2200" dirty="0" smtClean="0"/>
                  <a:t>d</a:t>
                </a:r>
                <a:r>
                  <a:rPr lang="zh-CN" altLang="en-US" sz="2200" dirty="0" smtClean="0"/>
                  <a:t>之比，</a:t>
                </a:r>
                <a:endParaRPr lang="en-US" altLang="zh-CN" sz="2200" dirty="0" smtClean="0"/>
              </a:p>
              <a:p>
                <a:r>
                  <a:rPr lang="zh-CN" altLang="en-US" sz="2200" dirty="0" smtClean="0"/>
                  <a:t>通常取</a:t>
                </a:r>
                <a14:m>
                  <m:oMath xmlns:m="http://schemas.openxmlformats.org/officeDocument/2006/math">
                    <m:r>
                      <a:rPr lang="zh-CN" altLang="en-US" sz="2200" i="1" smtClean="0">
                        <a:latin typeface="Cambria Math" panose="02040503050406030204" pitchFamily="18" charset="0"/>
                      </a:rPr>
                      <m:t>𝛽</m:t>
                    </m:r>
                    <m:r>
                      <a:rPr lang="en-US" altLang="zh-CN" sz="2200" i="1">
                        <a:latin typeface="Cambria Math" panose="02040503050406030204" pitchFamily="18" charset="0"/>
                      </a:rPr>
                      <m:t>=</m:t>
                    </m:r>
                  </m:oMath>
                </a14:m>
                <a:r>
                  <a:rPr lang="en-US" altLang="zh-CN" sz="2200" dirty="0" smtClean="0"/>
                  <a:t>0.5~0.6</a:t>
                </a:r>
                <a:endParaRPr lang="zh-CN" altLang="en-US" sz="2200" dirty="0"/>
              </a:p>
            </p:txBody>
          </p:sp>
        </mc:Choice>
        <mc:Fallback>
          <p:sp>
            <p:nvSpPr>
              <p:cNvPr id="5" name="文本框 4"/>
              <p:cNvSpPr txBox="1">
                <a:spLocks noRot="1" noChangeAspect="1" noMove="1" noResize="1" noEditPoints="1" noAdjustHandles="1" noChangeArrowheads="1" noChangeShapeType="1" noTextEdit="1"/>
              </p:cNvSpPr>
              <p:nvPr/>
            </p:nvSpPr>
            <p:spPr>
              <a:xfrm>
                <a:off x="1973655" y="2390115"/>
                <a:ext cx="5640310" cy="918521"/>
              </a:xfrm>
              <a:prstGeom prst="rect">
                <a:avLst/>
              </a:prstGeom>
              <a:blipFill rotWithShape="1">
                <a:blip r:embed="rId3"/>
                <a:stretch>
                  <a:fillRect l="-1" t="-66" r="6" b="31"/>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40984"/>
                                        </p:tgtEl>
                                        <p:attrNameLst>
                                          <p:attrName>style.visibility</p:attrName>
                                        </p:attrNameLst>
                                      </p:cBhvr>
                                      <p:to>
                                        <p:strVal val="visible"/>
                                      </p:to>
                                    </p:set>
                                    <p:animEffect transition="in" filter="wipe(up)">
                                      <p:cBhvr>
                                        <p:cTn id="17" dur="500"/>
                                        <p:tgtEl>
                                          <p:spTgt spid="40984"/>
                                        </p:tgtEl>
                                      </p:cBhvr>
                                    </p:animEffect>
                                  </p:childTnLst>
                                </p:cTn>
                              </p:par>
                            </p:childTnLst>
                          </p:cTn>
                        </p:par>
                        <p:par>
                          <p:cTn id="18" fill="hold">
                            <p:stCondLst>
                              <p:cond delay="500"/>
                            </p:stCondLst>
                            <p:childTnLst>
                              <p:par>
                                <p:cTn id="19" presetID="22" presetClass="entr" presetSubtype="1" fill="hold" nodeType="afterEffect">
                                  <p:stCondLst>
                                    <p:cond delay="0"/>
                                  </p:stCondLst>
                                  <p:childTnLst>
                                    <p:set>
                                      <p:cBhvr>
                                        <p:cTn id="20" dur="1" fill="hold">
                                          <p:stCondLst>
                                            <p:cond delay="0"/>
                                          </p:stCondLst>
                                        </p:cTn>
                                        <p:tgtEl>
                                          <p:spTgt spid="41014"/>
                                        </p:tgtEl>
                                        <p:attrNameLst>
                                          <p:attrName>style.visibility</p:attrName>
                                        </p:attrNameLst>
                                      </p:cBhvr>
                                      <p:to>
                                        <p:strVal val="visible"/>
                                      </p:to>
                                    </p:set>
                                    <p:animEffect transition="in" filter="wipe(up)">
                                      <p:cBhvr>
                                        <p:cTn id="21" dur="500"/>
                                        <p:tgtEl>
                                          <p:spTgt spid="41014"/>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8" fill="hold" grpId="0" nodeType="clickEffect">
                                  <p:stCondLst>
                                    <p:cond delay="0"/>
                                  </p:stCondLst>
                                  <p:childTnLst>
                                    <p:set>
                                      <p:cBhvr>
                                        <p:cTn id="25" dur="1" fill="hold">
                                          <p:stCondLst>
                                            <p:cond delay="0"/>
                                          </p:stCondLst>
                                        </p:cTn>
                                        <p:tgtEl>
                                          <p:spTgt spid="40981"/>
                                        </p:tgtEl>
                                        <p:attrNameLst>
                                          <p:attrName>style.visibility</p:attrName>
                                        </p:attrNameLst>
                                      </p:cBhvr>
                                      <p:to>
                                        <p:strVal val="visible"/>
                                      </p:to>
                                    </p:set>
                                    <p:anim calcmode="lin" valueType="num">
                                      <p:cBhvr additive="base">
                                        <p:cTn id="26" dur="500" fill="hold"/>
                                        <p:tgtEl>
                                          <p:spTgt spid="40981"/>
                                        </p:tgtEl>
                                        <p:attrNameLst>
                                          <p:attrName>ppt_x</p:attrName>
                                        </p:attrNameLst>
                                      </p:cBhvr>
                                      <p:tavLst>
                                        <p:tav tm="0">
                                          <p:val>
                                            <p:strVal val="0-#ppt_w/2"/>
                                          </p:val>
                                        </p:tav>
                                        <p:tav tm="100000">
                                          <p:val>
                                            <p:strVal val="#ppt_x"/>
                                          </p:val>
                                        </p:tav>
                                      </p:tavLst>
                                    </p:anim>
                                    <p:anim calcmode="lin" valueType="num">
                                      <p:cBhvr additive="base">
                                        <p:cTn id="27" dur="500" fill="hold"/>
                                        <p:tgtEl>
                                          <p:spTgt spid="4098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81" grpId="0" autoUpdateAnimBg="0"/>
      <p:bldP spid="40984" grpId="0" autoUpdateAnimBg="0"/>
      <p:bldP spid="5"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 Box 2"/>
          <p:cNvSpPr txBox="1">
            <a:spLocks noChangeArrowheads="1"/>
          </p:cNvSpPr>
          <p:nvPr/>
        </p:nvSpPr>
        <p:spPr bwMode="auto">
          <a:xfrm>
            <a:off x="156171" y="902658"/>
            <a:ext cx="8517049" cy="430887"/>
          </a:xfrm>
          <a:prstGeom prst="rect">
            <a:avLst/>
          </a:prstGeom>
          <a:solidFill>
            <a:schemeClr val="bg1">
              <a:lumMod val="95000"/>
            </a:schemeClr>
          </a:solidFill>
          <a:ln>
            <a:noFill/>
          </a:ln>
          <a:effectLst>
            <a:outerShdw dist="35921" dir="2700000" algn="ctr" rotWithShape="0">
              <a:schemeClr val="bg2"/>
            </a:outerShdw>
          </a:effec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200" dirty="0" smtClean="0">
                <a:solidFill>
                  <a:srgbClr val="FF0000"/>
                </a:solidFill>
                <a:latin typeface="黑体" panose="02010609060101010101" pitchFamily="49" charset="-122"/>
                <a:ea typeface="黑体" panose="02010609060101010101" pitchFamily="49" charset="-122"/>
              </a:rPr>
              <a:t>二、按</a:t>
            </a:r>
            <a:r>
              <a:rPr lang="zh-CN" altLang="en-US" sz="2200" dirty="0">
                <a:solidFill>
                  <a:srgbClr val="FF0000"/>
                </a:solidFill>
                <a:latin typeface="黑体" panose="02010609060101010101" pitchFamily="49" charset="-122"/>
                <a:ea typeface="黑体" panose="02010609060101010101" pitchFamily="49" charset="-122"/>
              </a:rPr>
              <a:t>弯</a:t>
            </a:r>
            <a:r>
              <a:rPr lang="zh-CN" altLang="en-US" sz="2200" dirty="0" smtClean="0">
                <a:solidFill>
                  <a:srgbClr val="FF0000"/>
                </a:solidFill>
                <a:latin typeface="黑体" panose="02010609060101010101" pitchFamily="49" charset="-122"/>
                <a:ea typeface="黑体" panose="02010609060101010101" pitchFamily="49" charset="-122"/>
              </a:rPr>
              <a:t>扭合成强度条件计算</a:t>
            </a:r>
            <a:endParaRPr kumimoji="1" lang="en-US" altLang="zh-CN" sz="2200" dirty="0">
              <a:solidFill>
                <a:srgbClr val="660066"/>
              </a:solidFill>
              <a:latin typeface="华文中宋" panose="02010600040101010101" pitchFamily="2" charset="-122"/>
              <a:ea typeface="华文中宋" panose="02010600040101010101" pitchFamily="2" charset="-122"/>
            </a:endParaRPr>
          </a:p>
        </p:txBody>
      </p:sp>
      <p:sp>
        <p:nvSpPr>
          <p:cNvPr id="30723" name="Text Box 3"/>
          <p:cNvSpPr txBox="1">
            <a:spLocks noChangeArrowheads="1"/>
          </p:cNvSpPr>
          <p:nvPr/>
        </p:nvSpPr>
        <p:spPr bwMode="auto">
          <a:xfrm>
            <a:off x="742145" y="1415440"/>
            <a:ext cx="5262979"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200" b="1" dirty="0">
                <a:solidFill>
                  <a:srgbClr val="660066"/>
                </a:solidFill>
                <a:latin typeface="华文中宋" panose="02010600040101010101" pitchFamily="2" charset="-122"/>
                <a:ea typeface="华文中宋" panose="02010600040101010101" pitchFamily="2" charset="-122"/>
              </a:rPr>
              <a:t>已知条件：</a:t>
            </a:r>
            <a:r>
              <a:rPr kumimoji="1" lang="zh-CN" altLang="en-US" sz="2200" dirty="0">
                <a:solidFill>
                  <a:srgbClr val="002060"/>
                </a:solidFill>
                <a:latin typeface="华文中宋" panose="02010600040101010101" pitchFamily="2" charset="-122"/>
                <a:ea typeface="华文中宋" panose="02010600040101010101" pitchFamily="2" charset="-122"/>
              </a:rPr>
              <a:t>支点、作用力点、各轴段尺寸</a:t>
            </a:r>
            <a:endParaRPr kumimoji="1" lang="zh-CN" altLang="en-US" sz="2200" dirty="0">
              <a:solidFill>
                <a:srgbClr val="002060"/>
              </a:solidFill>
              <a:latin typeface="华文中宋" panose="02010600040101010101" pitchFamily="2" charset="-122"/>
              <a:ea typeface="华文中宋" panose="02010600040101010101" pitchFamily="2" charset="-122"/>
            </a:endParaRPr>
          </a:p>
        </p:txBody>
      </p:sp>
      <p:sp>
        <p:nvSpPr>
          <p:cNvPr id="30724" name="Text Box 4"/>
          <p:cNvSpPr txBox="1">
            <a:spLocks noChangeArrowheads="1"/>
          </p:cNvSpPr>
          <p:nvPr/>
        </p:nvSpPr>
        <p:spPr bwMode="auto">
          <a:xfrm>
            <a:off x="955310" y="1809804"/>
            <a:ext cx="7023006" cy="904863"/>
          </a:xfrm>
          <a:prstGeom prst="rect">
            <a:avLst/>
          </a:prstGeom>
          <a:noFill/>
          <a:ln w="9525">
            <a:solidFill>
              <a:srgbClr val="00206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10000"/>
              </a:lnSpc>
            </a:pPr>
            <a:r>
              <a:rPr kumimoji="1" lang="zh-CN" altLang="en-US" sz="2200" dirty="0">
                <a:solidFill>
                  <a:schemeClr val="accent2"/>
                </a:solidFill>
                <a:latin typeface="Times New Roman" panose="02020603050405020304" pitchFamily="18" charset="0"/>
                <a:ea typeface="华文中宋" panose="02010600040101010101" pitchFamily="2" charset="-122"/>
              </a:rPr>
              <a:t>由</a:t>
            </a:r>
            <a:r>
              <a:rPr kumimoji="1" lang="en-US" altLang="zh-CN" sz="2200" b="1" i="1" dirty="0" err="1">
                <a:solidFill>
                  <a:srgbClr val="FF0000"/>
                </a:solidFill>
                <a:latin typeface="Times New Roman" panose="02020603050405020304" pitchFamily="18" charset="0"/>
                <a:ea typeface="华文中宋" panose="02010600040101010101" pitchFamily="2" charset="-122"/>
              </a:rPr>
              <a:t>d</a:t>
            </a:r>
            <a:r>
              <a:rPr kumimoji="1" lang="en-US" altLang="zh-CN" sz="2200" b="1" baseline="-25000" dirty="0" err="1">
                <a:solidFill>
                  <a:srgbClr val="FF0000"/>
                </a:solidFill>
                <a:latin typeface="Times New Roman" panose="02020603050405020304" pitchFamily="18" charset="0"/>
                <a:ea typeface="华文中宋" panose="02010600040101010101" pitchFamily="2" charset="-122"/>
              </a:rPr>
              <a:t>min</a:t>
            </a:r>
            <a:r>
              <a:rPr kumimoji="1" lang="en-US" altLang="zh-CN" sz="2200" dirty="0">
                <a:solidFill>
                  <a:schemeClr val="accent2"/>
                </a:solidFill>
                <a:latin typeface="Times New Roman" panose="02020603050405020304" pitchFamily="18" charset="0"/>
                <a:ea typeface="华文中宋" panose="02010600040101010101" pitchFamily="2" charset="-122"/>
              </a:rPr>
              <a:t>(</a:t>
            </a:r>
            <a:r>
              <a:rPr kumimoji="1" lang="zh-CN" altLang="en-US" sz="2200" dirty="0">
                <a:solidFill>
                  <a:schemeClr val="accent2"/>
                </a:solidFill>
                <a:latin typeface="Times New Roman" panose="02020603050405020304" pitchFamily="18" charset="0"/>
                <a:ea typeface="华文中宋" panose="02010600040101010101" pitchFamily="2" charset="-122"/>
              </a:rPr>
              <a:t>扭转初估</a:t>
            </a:r>
            <a:r>
              <a:rPr kumimoji="1" lang="en-US" altLang="zh-CN" sz="2200" dirty="0">
                <a:solidFill>
                  <a:schemeClr val="accent2"/>
                </a:solidFill>
                <a:latin typeface="Times New Roman" panose="02020603050405020304" pitchFamily="18" charset="0"/>
                <a:ea typeface="华文中宋" panose="02010600040101010101" pitchFamily="2" charset="-122"/>
              </a:rPr>
              <a:t>)</a:t>
            </a:r>
            <a:r>
              <a:rPr kumimoji="1" lang="en-US" altLang="zh-CN" sz="2200" dirty="0" smtClean="0">
                <a:solidFill>
                  <a:srgbClr val="FF0000"/>
                </a:solidFill>
                <a:latin typeface="Times New Roman" panose="02020603050405020304" pitchFamily="18" charset="0"/>
                <a:ea typeface="华文中宋" panose="02010600040101010101" pitchFamily="2" charset="-122"/>
              </a:rPr>
              <a:t>→ </a:t>
            </a:r>
            <a:r>
              <a:rPr kumimoji="1" lang="zh-CN" altLang="en-US" sz="2200" dirty="0" smtClean="0">
                <a:solidFill>
                  <a:schemeClr val="accent2"/>
                </a:solidFill>
                <a:latin typeface="Times New Roman" panose="02020603050405020304" pitchFamily="18" charset="0"/>
                <a:ea typeface="华文中宋" panose="02010600040101010101" pitchFamily="2" charset="-122"/>
              </a:rPr>
              <a:t>结构设计</a:t>
            </a:r>
            <a:r>
              <a:rPr kumimoji="1" lang="zh-CN" altLang="en-US" sz="2200" dirty="0" smtClean="0">
                <a:solidFill>
                  <a:srgbClr val="FF0000"/>
                </a:solidFill>
                <a:latin typeface="Times New Roman" panose="02020603050405020304" pitchFamily="18" charset="0"/>
                <a:ea typeface="华文中宋" panose="02010600040101010101" pitchFamily="2" charset="-122"/>
              </a:rPr>
              <a:t>→</a:t>
            </a:r>
            <a:r>
              <a:rPr kumimoji="1" lang="zh-CN" altLang="en-US" sz="2200" dirty="0" smtClean="0">
                <a:solidFill>
                  <a:schemeClr val="accent2"/>
                </a:solidFill>
                <a:latin typeface="Times New Roman" panose="02020603050405020304" pitchFamily="18" charset="0"/>
                <a:ea typeface="华文中宋" panose="02010600040101010101" pitchFamily="2" charset="-122"/>
              </a:rPr>
              <a:t> 支点</a:t>
            </a:r>
            <a:r>
              <a:rPr kumimoji="1" lang="zh-CN" altLang="en-US" sz="2200" dirty="0">
                <a:solidFill>
                  <a:schemeClr val="accent2"/>
                </a:solidFill>
                <a:latin typeface="Times New Roman" panose="02020603050405020304" pitchFamily="18" charset="0"/>
                <a:ea typeface="华文中宋" panose="02010600040101010101" pitchFamily="2" charset="-122"/>
              </a:rPr>
              <a:t>、力作用点</a:t>
            </a:r>
            <a:endParaRPr kumimoji="1" lang="zh-CN" altLang="en-US" sz="2200" dirty="0">
              <a:solidFill>
                <a:schemeClr val="accent2"/>
              </a:solidFill>
              <a:latin typeface="Times New Roman" panose="02020603050405020304" pitchFamily="18" charset="0"/>
              <a:ea typeface="华文中宋" panose="02010600040101010101" pitchFamily="2" charset="-122"/>
            </a:endParaRPr>
          </a:p>
          <a:p>
            <a:pPr algn="ctr" eaLnBrk="1" hangingPunct="1">
              <a:lnSpc>
                <a:spcPct val="130000"/>
              </a:lnSpc>
            </a:pPr>
            <a:r>
              <a:rPr kumimoji="1" lang="zh-CN" altLang="en-US" sz="2200" dirty="0" smtClean="0">
                <a:solidFill>
                  <a:schemeClr val="accent2"/>
                </a:solidFill>
                <a:latin typeface="Times New Roman" panose="02020603050405020304" pitchFamily="18" charset="0"/>
                <a:ea typeface="华文中宋" panose="02010600040101010101" pitchFamily="2" charset="-122"/>
              </a:rPr>
              <a:t>   </a:t>
            </a:r>
            <a:r>
              <a:rPr kumimoji="1" lang="zh-CN" altLang="en-US" sz="2200" dirty="0" smtClean="0">
                <a:solidFill>
                  <a:srgbClr val="FF0000"/>
                </a:solidFill>
                <a:latin typeface="Times New Roman" panose="02020603050405020304" pitchFamily="18" charset="0"/>
                <a:ea typeface="华文中宋" panose="02010600040101010101" pitchFamily="2" charset="-122"/>
              </a:rPr>
              <a:t>→ </a:t>
            </a:r>
            <a:r>
              <a:rPr kumimoji="1" lang="zh-CN" altLang="en-US" sz="2200" dirty="0" smtClean="0">
                <a:solidFill>
                  <a:schemeClr val="accent2"/>
                </a:solidFill>
                <a:latin typeface="Times New Roman" panose="02020603050405020304" pitchFamily="18" charset="0"/>
                <a:ea typeface="华文中宋" panose="02010600040101010101" pitchFamily="2" charset="-122"/>
              </a:rPr>
              <a:t>画</a:t>
            </a:r>
            <a:r>
              <a:rPr kumimoji="1" lang="zh-CN" altLang="en-US" sz="2200" dirty="0">
                <a:solidFill>
                  <a:schemeClr val="accent2"/>
                </a:solidFill>
                <a:latin typeface="Times New Roman" panose="02020603050405020304" pitchFamily="18" charset="0"/>
                <a:ea typeface="华文中宋" panose="02010600040101010101" pitchFamily="2" charset="-122"/>
              </a:rPr>
              <a:t>出</a:t>
            </a:r>
            <a:r>
              <a:rPr kumimoji="1" lang="en-US" altLang="zh-CN" sz="2200" b="1" i="1" dirty="0">
                <a:solidFill>
                  <a:srgbClr val="800000"/>
                </a:solidFill>
                <a:latin typeface="Times New Roman" panose="02020603050405020304" pitchFamily="18" charset="0"/>
                <a:ea typeface="华文中宋" panose="02010600040101010101" pitchFamily="2" charset="-122"/>
              </a:rPr>
              <a:t>M</a:t>
            </a:r>
            <a:r>
              <a:rPr kumimoji="1" lang="zh-CN" altLang="en-US" sz="2200" dirty="0">
                <a:latin typeface="Times New Roman" panose="02020603050405020304" pitchFamily="18" charset="0"/>
                <a:ea typeface="华文中宋" panose="02010600040101010101" pitchFamily="2" charset="-122"/>
              </a:rPr>
              <a:t>、</a:t>
            </a:r>
            <a:r>
              <a:rPr kumimoji="1" lang="en-US" altLang="zh-CN" sz="2200" b="1" i="1" dirty="0">
                <a:solidFill>
                  <a:srgbClr val="800000"/>
                </a:solidFill>
                <a:latin typeface="Times New Roman" panose="02020603050405020304" pitchFamily="18" charset="0"/>
                <a:ea typeface="华文中宋" panose="02010600040101010101" pitchFamily="2" charset="-122"/>
              </a:rPr>
              <a:t>T</a:t>
            </a:r>
            <a:r>
              <a:rPr kumimoji="1" lang="zh-CN" altLang="en-US" sz="2200" dirty="0">
                <a:solidFill>
                  <a:schemeClr val="accent2"/>
                </a:solidFill>
                <a:latin typeface="Times New Roman" panose="02020603050405020304" pitchFamily="18" charset="0"/>
                <a:ea typeface="华文中宋" panose="02010600040101010101" pitchFamily="2" charset="-122"/>
              </a:rPr>
              <a:t>合成弯矩图</a:t>
            </a:r>
            <a:r>
              <a:rPr kumimoji="1" lang="zh-CN" altLang="en-US" sz="2200" dirty="0" smtClean="0">
                <a:solidFill>
                  <a:srgbClr val="FF0000"/>
                </a:solidFill>
                <a:latin typeface="Times New Roman" panose="02020603050405020304" pitchFamily="18" charset="0"/>
                <a:ea typeface="华文中宋" panose="02010600040101010101" pitchFamily="2" charset="-122"/>
              </a:rPr>
              <a:t>→</a:t>
            </a:r>
            <a:r>
              <a:rPr kumimoji="1" lang="zh-CN" altLang="en-US" sz="2200" dirty="0" smtClean="0">
                <a:solidFill>
                  <a:schemeClr val="accent2"/>
                </a:solidFill>
                <a:latin typeface="Times New Roman" panose="02020603050405020304" pitchFamily="18" charset="0"/>
                <a:ea typeface="华文中宋" panose="02010600040101010101" pitchFamily="2" charset="-122"/>
              </a:rPr>
              <a:t> 危险</a:t>
            </a:r>
            <a:r>
              <a:rPr kumimoji="1" lang="zh-CN" altLang="en-US" sz="2200" dirty="0">
                <a:solidFill>
                  <a:schemeClr val="accent2"/>
                </a:solidFill>
                <a:latin typeface="Times New Roman" panose="02020603050405020304" pitchFamily="18" charset="0"/>
                <a:ea typeface="华文中宋" panose="02010600040101010101" pitchFamily="2" charset="-122"/>
              </a:rPr>
              <a:t>截面</a:t>
            </a:r>
            <a:r>
              <a:rPr kumimoji="1" lang="zh-CN" altLang="en-US" sz="2200" dirty="0" smtClean="0">
                <a:solidFill>
                  <a:srgbClr val="FF0000"/>
                </a:solidFill>
                <a:latin typeface="Times New Roman" panose="02020603050405020304" pitchFamily="18" charset="0"/>
                <a:ea typeface="华文中宋" panose="02010600040101010101" pitchFamily="2" charset="-122"/>
              </a:rPr>
              <a:t>→ </a:t>
            </a:r>
            <a:r>
              <a:rPr kumimoji="1" lang="zh-CN" altLang="en-US" sz="2200" dirty="0" smtClean="0">
                <a:solidFill>
                  <a:schemeClr val="accent2"/>
                </a:solidFill>
                <a:latin typeface="Times New Roman" panose="02020603050405020304" pitchFamily="18" charset="0"/>
                <a:ea typeface="华文中宋" panose="02010600040101010101" pitchFamily="2" charset="-122"/>
              </a:rPr>
              <a:t>计算</a:t>
            </a:r>
            <a:r>
              <a:rPr kumimoji="1" lang="zh-CN" altLang="en-US" sz="2200" dirty="0">
                <a:solidFill>
                  <a:schemeClr val="accent2"/>
                </a:solidFill>
                <a:latin typeface="Times New Roman" panose="02020603050405020304" pitchFamily="18" charset="0"/>
                <a:ea typeface="华文中宋" panose="02010600040101010101" pitchFamily="2" charset="-122"/>
              </a:rPr>
              <a:t>。</a:t>
            </a:r>
            <a:endParaRPr kumimoji="1" lang="zh-CN" altLang="en-US" sz="2200" dirty="0">
              <a:solidFill>
                <a:schemeClr val="accent2"/>
              </a:solidFill>
              <a:latin typeface="Times New Roman" panose="02020603050405020304" pitchFamily="18" charset="0"/>
              <a:ea typeface="华文中宋" panose="02010600040101010101" pitchFamily="2" charset="-122"/>
            </a:endParaRPr>
          </a:p>
        </p:txBody>
      </p:sp>
      <p:sp>
        <p:nvSpPr>
          <p:cNvPr id="30725" name="Text Box 5"/>
          <p:cNvSpPr txBox="1">
            <a:spLocks noChangeArrowheads="1"/>
          </p:cNvSpPr>
          <p:nvPr/>
        </p:nvSpPr>
        <p:spPr bwMode="auto">
          <a:xfrm>
            <a:off x="483766" y="2875567"/>
            <a:ext cx="1031051"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200" dirty="0">
                <a:solidFill>
                  <a:srgbClr val="660066"/>
                </a:solidFill>
                <a:latin typeface="华文中宋" panose="02010600040101010101" pitchFamily="2" charset="-122"/>
                <a:ea typeface="华文中宋" panose="02010600040101010101" pitchFamily="2" charset="-122"/>
              </a:rPr>
              <a:t>步骤：</a:t>
            </a:r>
            <a:endParaRPr kumimoji="1" lang="zh-CN" altLang="en-US" sz="2200" dirty="0">
              <a:solidFill>
                <a:srgbClr val="660066"/>
              </a:solidFill>
              <a:latin typeface="华文中宋" panose="02010600040101010101" pitchFamily="2" charset="-122"/>
              <a:ea typeface="华文中宋" panose="02010600040101010101" pitchFamily="2" charset="-122"/>
            </a:endParaRPr>
          </a:p>
        </p:txBody>
      </p:sp>
      <p:sp>
        <p:nvSpPr>
          <p:cNvPr id="30726" name="Text Box 6"/>
          <p:cNvSpPr txBox="1">
            <a:spLocks noChangeArrowheads="1"/>
          </p:cNvSpPr>
          <p:nvPr/>
        </p:nvSpPr>
        <p:spPr bwMode="auto">
          <a:xfrm>
            <a:off x="619155" y="3167927"/>
            <a:ext cx="3429635" cy="4298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200" dirty="0">
                <a:solidFill>
                  <a:srgbClr val="800000"/>
                </a:solidFill>
                <a:latin typeface="华文中宋" panose="02010600040101010101" pitchFamily="2" charset="-122"/>
                <a:ea typeface="华文中宋" panose="02010600040101010101" pitchFamily="2" charset="-122"/>
              </a:rPr>
              <a:t>1</a:t>
            </a:r>
            <a:r>
              <a:rPr kumimoji="1" lang="zh-CN" altLang="en-US" sz="2200" dirty="0">
                <a:solidFill>
                  <a:srgbClr val="800000"/>
                </a:solidFill>
                <a:latin typeface="华文中宋" panose="02010600040101010101" pitchFamily="2" charset="-122"/>
                <a:ea typeface="华文中宋" panose="02010600040101010101" pitchFamily="2" charset="-122"/>
              </a:rPr>
              <a:t>、确定支点、力作用点。</a:t>
            </a:r>
            <a:endParaRPr kumimoji="1" lang="zh-CN" altLang="en-US" sz="2200" dirty="0">
              <a:solidFill>
                <a:srgbClr val="800000"/>
              </a:solidFill>
              <a:latin typeface="华文中宋" panose="02010600040101010101" pitchFamily="2" charset="-122"/>
              <a:ea typeface="华文中宋" panose="02010600040101010101" pitchFamily="2" charset="-122"/>
            </a:endParaRPr>
          </a:p>
        </p:txBody>
      </p:sp>
      <p:sp>
        <p:nvSpPr>
          <p:cNvPr id="2" name="矩形 1"/>
          <p:cNvSpPr/>
          <p:nvPr/>
        </p:nvSpPr>
        <p:spPr>
          <a:xfrm>
            <a:off x="4484453" y="911256"/>
            <a:ext cx="4416594" cy="430887"/>
          </a:xfrm>
          <a:prstGeom prst="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5400000" scaled="1"/>
            <a:tileRect/>
          </a:gradFill>
          <a:ln>
            <a:solidFill>
              <a:srgbClr val="0070C0"/>
            </a:solidFill>
          </a:ln>
          <a:effectLst>
            <a:outerShdw blurRad="50800" dist="38100" dir="18900000" algn="bl" rotWithShape="0">
              <a:prstClr val="black">
                <a:alpha val="40000"/>
              </a:prstClr>
            </a:outerShdw>
          </a:effectLst>
        </p:spPr>
        <p:txBody>
          <a:bodyPr wrap="none">
            <a:spAutoFit/>
          </a:bodyPr>
          <a:lstStyle/>
          <a:p>
            <a:r>
              <a:rPr lang="zh-CN" altLang="en-US" sz="2200" dirty="0">
                <a:latin typeface="华文中宋" panose="02010600040101010101" pitchFamily="2" charset="-122"/>
              </a:rPr>
              <a:t>一般的转轴强度用这种方法验算。</a:t>
            </a:r>
            <a:endParaRPr lang="zh-CN" altLang="en-US" sz="2200" dirty="0"/>
          </a:p>
        </p:txBody>
      </p:sp>
      <p:sp>
        <p:nvSpPr>
          <p:cNvPr id="9" name="Text Box 4"/>
          <p:cNvSpPr txBox="1">
            <a:spLocks noChangeArrowheads="1"/>
          </p:cNvSpPr>
          <p:nvPr/>
        </p:nvSpPr>
        <p:spPr bwMode="auto">
          <a:xfrm>
            <a:off x="5472113" y="174625"/>
            <a:ext cx="23164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sz="2400" dirty="0" smtClean="0">
                <a:solidFill>
                  <a:srgbClr val="CC3300"/>
                </a:solidFill>
                <a:latin typeface="黑体" panose="02010609060101010101" pitchFamily="49" charset="-122"/>
                <a:ea typeface="黑体" panose="02010609060101010101" pitchFamily="49" charset="-122"/>
              </a:rPr>
              <a:t>3.7-3 </a:t>
            </a:r>
            <a:r>
              <a:rPr lang="zh-CN" altLang="en-US" sz="2400" dirty="0">
                <a:solidFill>
                  <a:srgbClr val="CC3300"/>
                </a:solidFill>
                <a:latin typeface="黑体" panose="02010609060101010101" pitchFamily="49" charset="-122"/>
                <a:ea typeface="黑体" panose="02010609060101010101" pitchFamily="49" charset="-122"/>
              </a:rPr>
              <a:t>轴的计算</a:t>
            </a:r>
            <a:endParaRPr lang="zh-CN" altLang="en-US" sz="2400" dirty="0">
              <a:solidFill>
                <a:srgbClr val="CC3300"/>
              </a:solidFill>
              <a:latin typeface="黑体" panose="02010609060101010101" pitchFamily="49" charset="-122"/>
              <a:ea typeface="黑体" panose="02010609060101010101" pitchFamily="49" charset="-122"/>
            </a:endParaRPr>
          </a:p>
        </p:txBody>
      </p:sp>
      <p:sp>
        <p:nvSpPr>
          <p:cNvPr id="10"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pic>
        <p:nvPicPr>
          <p:cNvPr id="64522" name="Picture 10" descr="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917373" y="3920490"/>
            <a:ext cx="1751012" cy="2792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523" name="Picture 11" descr="3"/>
          <p:cNvPicPr>
            <a:picLocks noChangeAspect="1" noChangeArrowheads="1"/>
          </p:cNvPicPr>
          <p:nvPr/>
        </p:nvPicPr>
        <p:blipFill>
          <a:blip r:embed="rId2">
            <a:lum contrast="6000"/>
            <a:extLst>
              <a:ext uri="{28A0092B-C50C-407E-A947-70E740481C1C}">
                <a14:useLocalDpi xmlns:a14="http://schemas.microsoft.com/office/drawing/2010/main" val="0"/>
              </a:ext>
            </a:extLst>
          </a:blip>
          <a:srcRect/>
          <a:stretch>
            <a:fillRect/>
          </a:stretch>
        </p:blipFill>
        <p:spPr bwMode="auto">
          <a:xfrm>
            <a:off x="549593" y="3987165"/>
            <a:ext cx="1912937" cy="268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524" name="Picture 12" descr="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82875" y="3937000"/>
            <a:ext cx="1990725" cy="2620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525" name="Picture 13" descr="5"/>
          <p:cNvPicPr>
            <a:picLocks noChangeAspect="1" noChangeArrowheads="1"/>
          </p:cNvPicPr>
          <p:nvPr/>
        </p:nvPicPr>
        <p:blipFill>
          <a:blip r:embed="rId4">
            <a:lum contrast="30000"/>
            <a:extLst>
              <a:ext uri="{28A0092B-C50C-407E-A947-70E740481C1C}">
                <a14:useLocalDpi xmlns:a14="http://schemas.microsoft.com/office/drawing/2010/main" val="0"/>
              </a:ext>
            </a:extLst>
          </a:blip>
          <a:srcRect/>
          <a:stretch>
            <a:fillRect/>
          </a:stretch>
        </p:blipFill>
        <p:spPr bwMode="auto">
          <a:xfrm>
            <a:off x="5120323" y="3909695"/>
            <a:ext cx="1714500" cy="2735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文本框 5"/>
          <p:cNvSpPr txBox="1">
            <a:spLocks noChangeArrowheads="1"/>
          </p:cNvSpPr>
          <p:nvPr/>
        </p:nvSpPr>
        <p:spPr bwMode="auto">
          <a:xfrm>
            <a:off x="795020" y="3565525"/>
            <a:ext cx="77708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r>
              <a:rPr lang="zh-CN" altLang="zh-CN"/>
              <a:t>支反力的作用点与轴承的类型和布置方式有关，可按</a:t>
            </a:r>
            <a:r>
              <a:rPr lang="zh-CN" altLang="en-US"/>
              <a:t>下</a:t>
            </a:r>
            <a:r>
              <a:rPr lang="zh-CN" altLang="zh-CN"/>
              <a:t>图来确定。</a:t>
            </a:r>
            <a:endParaRPr lang="zh-CN" altLang="en-US"/>
          </a:p>
        </p:txBody>
      </p:sp>
      <p:sp>
        <p:nvSpPr>
          <p:cNvPr id="3" name="文本框 2"/>
          <p:cNvSpPr txBox="1"/>
          <p:nvPr/>
        </p:nvSpPr>
        <p:spPr>
          <a:xfrm>
            <a:off x="4872355" y="5320665"/>
            <a:ext cx="1379855" cy="398780"/>
          </a:xfrm>
          <a:prstGeom prst="rect">
            <a:avLst/>
          </a:prstGeom>
          <a:noFill/>
        </p:spPr>
        <p:txBody>
          <a:bodyPr wrap="square" rtlCol="0">
            <a:spAutoFit/>
          </a:bodyPr>
          <a:p>
            <a:r>
              <a:rPr lang="zh-CN" altLang="en-US">
                <a:solidFill>
                  <a:srgbClr val="FF0000"/>
                </a:solidFill>
              </a:rPr>
              <a:t>手册</a:t>
            </a:r>
            <a:r>
              <a:rPr lang="en-US" altLang="zh-CN">
                <a:solidFill>
                  <a:srgbClr val="FF0000"/>
                </a:solidFill>
              </a:rPr>
              <a:t>P79</a:t>
            </a:r>
            <a:endParaRPr lang="en-US" altLang="zh-CN">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0722"/>
                                        </p:tgtEl>
                                        <p:attrNameLst>
                                          <p:attrName>style.visibility</p:attrName>
                                        </p:attrNameLst>
                                      </p:cBhvr>
                                      <p:to>
                                        <p:strVal val="visible"/>
                                      </p:to>
                                    </p:set>
                                    <p:animEffect transition="in" filter="wipe(left)">
                                      <p:cBhvr>
                                        <p:cTn id="7" dur="500"/>
                                        <p:tgtEl>
                                          <p:spTgt spid="3072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0723"/>
                                        </p:tgtEl>
                                        <p:attrNameLst>
                                          <p:attrName>style.visibility</p:attrName>
                                        </p:attrNameLst>
                                      </p:cBhvr>
                                      <p:to>
                                        <p:strVal val="visible"/>
                                      </p:to>
                                    </p:set>
                                    <p:animEffect transition="in" filter="wipe(left)">
                                      <p:cBhvr>
                                        <p:cTn id="17" dur="500"/>
                                        <p:tgtEl>
                                          <p:spTgt spid="3072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0724"/>
                                        </p:tgtEl>
                                        <p:attrNameLst>
                                          <p:attrName>style.visibility</p:attrName>
                                        </p:attrNameLst>
                                      </p:cBhvr>
                                      <p:to>
                                        <p:strVal val="visible"/>
                                      </p:to>
                                    </p:set>
                                    <p:animEffect transition="in" filter="wipe(left)">
                                      <p:cBhvr>
                                        <p:cTn id="22" dur="500"/>
                                        <p:tgtEl>
                                          <p:spTgt spid="3072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0725"/>
                                        </p:tgtEl>
                                        <p:attrNameLst>
                                          <p:attrName>style.visibility</p:attrName>
                                        </p:attrNameLst>
                                      </p:cBhvr>
                                      <p:to>
                                        <p:strVal val="visible"/>
                                      </p:to>
                                    </p:set>
                                    <p:animEffect transition="in" filter="wipe(left)">
                                      <p:cBhvr>
                                        <p:cTn id="27" dur="500"/>
                                        <p:tgtEl>
                                          <p:spTgt spid="3072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0726"/>
                                        </p:tgtEl>
                                        <p:attrNameLst>
                                          <p:attrName>style.visibility</p:attrName>
                                        </p:attrNameLst>
                                      </p:cBhvr>
                                      <p:to>
                                        <p:strVal val="visible"/>
                                      </p:to>
                                    </p:set>
                                    <p:animEffect transition="in" filter="wipe(left)">
                                      <p:cBhvr>
                                        <p:cTn id="32" dur="500"/>
                                        <p:tgtEl>
                                          <p:spTgt spid="3072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wipe(left)">
                                      <p:cBhvr>
                                        <p:cTn id="37" dur="500"/>
                                        <p:tgtEl>
                                          <p:spTgt spid="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64523"/>
                                        </p:tgtEl>
                                        <p:attrNameLst>
                                          <p:attrName>style.visibility</p:attrName>
                                        </p:attrNameLst>
                                      </p:cBhvr>
                                      <p:to>
                                        <p:strVal val="visible"/>
                                      </p:to>
                                    </p:set>
                                    <p:animEffect transition="in" filter="wipe(left)">
                                      <p:cBhvr>
                                        <p:cTn id="42" dur="500"/>
                                        <p:tgtEl>
                                          <p:spTgt spid="64523"/>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64524"/>
                                        </p:tgtEl>
                                        <p:attrNameLst>
                                          <p:attrName>style.visibility</p:attrName>
                                        </p:attrNameLst>
                                      </p:cBhvr>
                                      <p:to>
                                        <p:strVal val="visible"/>
                                      </p:to>
                                    </p:set>
                                    <p:animEffect transition="in" filter="wipe(left)">
                                      <p:cBhvr>
                                        <p:cTn id="47" dur="500"/>
                                        <p:tgtEl>
                                          <p:spTgt spid="64524"/>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64525"/>
                                        </p:tgtEl>
                                        <p:attrNameLst>
                                          <p:attrName>style.visibility</p:attrName>
                                        </p:attrNameLst>
                                      </p:cBhvr>
                                      <p:to>
                                        <p:strVal val="visible"/>
                                      </p:to>
                                    </p:set>
                                    <p:animEffect transition="in" filter="wipe(left)">
                                      <p:cBhvr>
                                        <p:cTn id="52" dur="500"/>
                                        <p:tgtEl>
                                          <p:spTgt spid="64525"/>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3"/>
                                        </p:tgtEl>
                                        <p:attrNameLst>
                                          <p:attrName>style.visibility</p:attrName>
                                        </p:attrNameLst>
                                      </p:cBhvr>
                                      <p:to>
                                        <p:strVal val="visible"/>
                                      </p:to>
                                    </p:set>
                                    <p:animEffect transition="in" filter="wipe(left)">
                                      <p:cBhvr>
                                        <p:cTn id="57" dur="500"/>
                                        <p:tgtEl>
                                          <p:spTgt spid="3"/>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64522"/>
                                        </p:tgtEl>
                                        <p:attrNameLst>
                                          <p:attrName>style.visibility</p:attrName>
                                        </p:attrNameLst>
                                      </p:cBhvr>
                                      <p:to>
                                        <p:strVal val="visible"/>
                                      </p:to>
                                    </p:set>
                                    <p:animEffect transition="in" filter="wipe(left)">
                                      <p:cBhvr>
                                        <p:cTn id="62" dur="500"/>
                                        <p:tgtEl>
                                          <p:spTgt spid="645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2" grpId="0" bldLvl="0" animBg="1" autoUpdateAnimBg="0"/>
      <p:bldP spid="30723" grpId="0" bldLvl="0" animBg="1" autoUpdateAnimBg="0"/>
      <p:bldP spid="30724" grpId="0" bldLvl="0" animBg="1" autoUpdateAnimBg="0"/>
      <p:bldP spid="30725" grpId="0" bldLvl="0" animBg="1" autoUpdateAnimBg="0"/>
      <p:bldP spid="30726" grpId="0" bldLvl="0" animBg="1" autoUpdateAnimBg="0"/>
      <p:bldP spid="2" grpId="0" bldLvl="0" animBg="1"/>
      <p:bldP spid="6" grpId="0"/>
      <p:bldP spid="3"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 Box 2"/>
          <p:cNvSpPr txBox="1">
            <a:spLocks noChangeArrowheads="1"/>
          </p:cNvSpPr>
          <p:nvPr/>
        </p:nvSpPr>
        <p:spPr bwMode="auto">
          <a:xfrm>
            <a:off x="156171" y="902658"/>
            <a:ext cx="8517049" cy="430887"/>
          </a:xfrm>
          <a:prstGeom prst="rect">
            <a:avLst/>
          </a:prstGeom>
          <a:solidFill>
            <a:schemeClr val="bg1">
              <a:lumMod val="95000"/>
            </a:schemeClr>
          </a:solidFill>
          <a:ln>
            <a:noFill/>
          </a:ln>
          <a:effectLst>
            <a:outerShdw dist="35921" dir="2700000" algn="ctr" rotWithShape="0">
              <a:schemeClr val="bg2"/>
            </a:outerShdw>
          </a:effec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200" dirty="0" smtClean="0">
                <a:solidFill>
                  <a:srgbClr val="FF0000"/>
                </a:solidFill>
                <a:latin typeface="黑体" panose="02010609060101010101" pitchFamily="49" charset="-122"/>
                <a:ea typeface="黑体" panose="02010609060101010101" pitchFamily="49" charset="-122"/>
              </a:rPr>
              <a:t>二、按</a:t>
            </a:r>
            <a:r>
              <a:rPr lang="zh-CN" altLang="en-US" sz="2200" dirty="0">
                <a:solidFill>
                  <a:srgbClr val="FF0000"/>
                </a:solidFill>
                <a:latin typeface="黑体" panose="02010609060101010101" pitchFamily="49" charset="-122"/>
                <a:ea typeface="黑体" panose="02010609060101010101" pitchFamily="49" charset="-122"/>
              </a:rPr>
              <a:t>弯</a:t>
            </a:r>
            <a:r>
              <a:rPr lang="zh-CN" altLang="en-US" sz="2200" dirty="0" smtClean="0">
                <a:solidFill>
                  <a:srgbClr val="FF0000"/>
                </a:solidFill>
                <a:latin typeface="黑体" panose="02010609060101010101" pitchFamily="49" charset="-122"/>
                <a:ea typeface="黑体" panose="02010609060101010101" pitchFamily="49" charset="-122"/>
              </a:rPr>
              <a:t>扭合成强度条件计算</a:t>
            </a:r>
            <a:endParaRPr kumimoji="1" lang="en-US" altLang="zh-CN" sz="2200" dirty="0">
              <a:solidFill>
                <a:srgbClr val="660066"/>
              </a:solidFill>
              <a:latin typeface="华文中宋" panose="02010600040101010101" pitchFamily="2" charset="-122"/>
              <a:ea typeface="华文中宋" panose="02010600040101010101" pitchFamily="2" charset="-122"/>
            </a:endParaRPr>
          </a:p>
        </p:txBody>
      </p:sp>
      <p:sp>
        <p:nvSpPr>
          <p:cNvPr id="30726" name="Text Box 6"/>
          <p:cNvSpPr txBox="1">
            <a:spLocks noChangeArrowheads="1"/>
          </p:cNvSpPr>
          <p:nvPr/>
        </p:nvSpPr>
        <p:spPr bwMode="auto">
          <a:xfrm>
            <a:off x="915065" y="1631862"/>
            <a:ext cx="5664835" cy="4298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200" dirty="0">
                <a:solidFill>
                  <a:srgbClr val="800000"/>
                </a:solidFill>
                <a:latin typeface="华文中宋" panose="02010600040101010101" pitchFamily="2" charset="-122"/>
                <a:ea typeface="华文中宋" panose="02010600040101010101" pitchFamily="2" charset="-122"/>
              </a:rPr>
              <a:t>2</a:t>
            </a:r>
            <a:r>
              <a:rPr kumimoji="1" lang="zh-CN" altLang="en-US" sz="2200" dirty="0">
                <a:solidFill>
                  <a:srgbClr val="800000"/>
                </a:solidFill>
                <a:latin typeface="华文中宋" panose="02010600040101010101" pitchFamily="2" charset="-122"/>
                <a:ea typeface="华文中宋" panose="02010600040101010101" pitchFamily="2" charset="-122"/>
              </a:rPr>
              <a:t>、画出轴的空间受力简图：水平面、垂直面</a:t>
            </a:r>
            <a:endParaRPr kumimoji="1" lang="zh-CN" altLang="en-US" sz="2200" dirty="0">
              <a:solidFill>
                <a:srgbClr val="800000"/>
              </a:solidFill>
              <a:latin typeface="华文中宋" panose="02010600040101010101" pitchFamily="2" charset="-122"/>
              <a:ea typeface="华文中宋" panose="02010600040101010101" pitchFamily="2" charset="-122"/>
            </a:endParaRPr>
          </a:p>
        </p:txBody>
      </p:sp>
      <p:pic>
        <p:nvPicPr>
          <p:cNvPr id="30727" name="Picture 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50549" y="2530512"/>
            <a:ext cx="5040313" cy="2474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4484453" y="911256"/>
            <a:ext cx="4416594" cy="430887"/>
          </a:xfrm>
          <a:prstGeom prst="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5400000" scaled="1"/>
            <a:tileRect/>
          </a:gradFill>
          <a:ln>
            <a:solidFill>
              <a:srgbClr val="0070C0"/>
            </a:solidFill>
          </a:ln>
          <a:effectLst>
            <a:outerShdw blurRad="50800" dist="38100" dir="18900000" algn="bl" rotWithShape="0">
              <a:prstClr val="black">
                <a:alpha val="40000"/>
              </a:prstClr>
            </a:outerShdw>
          </a:effectLst>
        </p:spPr>
        <p:txBody>
          <a:bodyPr wrap="none">
            <a:spAutoFit/>
          </a:bodyPr>
          <a:lstStyle/>
          <a:p>
            <a:r>
              <a:rPr lang="zh-CN" altLang="en-US" sz="2200" dirty="0">
                <a:latin typeface="华文中宋" panose="02010600040101010101" pitchFamily="2" charset="-122"/>
              </a:rPr>
              <a:t>一般的转轴强度用这种方法验算。</a:t>
            </a:r>
            <a:endParaRPr lang="zh-CN" altLang="en-US" sz="2200" dirty="0"/>
          </a:p>
        </p:txBody>
      </p:sp>
      <p:sp>
        <p:nvSpPr>
          <p:cNvPr id="9" name="Text Box 4"/>
          <p:cNvSpPr txBox="1">
            <a:spLocks noChangeArrowheads="1"/>
          </p:cNvSpPr>
          <p:nvPr/>
        </p:nvSpPr>
        <p:spPr bwMode="auto">
          <a:xfrm>
            <a:off x="5472113" y="174625"/>
            <a:ext cx="23164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sz="2400" dirty="0" smtClean="0">
                <a:solidFill>
                  <a:srgbClr val="CC3300"/>
                </a:solidFill>
                <a:latin typeface="黑体" panose="02010609060101010101" pitchFamily="49" charset="-122"/>
                <a:ea typeface="黑体" panose="02010609060101010101" pitchFamily="49" charset="-122"/>
              </a:rPr>
              <a:t>3.7-3 </a:t>
            </a:r>
            <a:r>
              <a:rPr lang="zh-CN" altLang="en-US" sz="2400" dirty="0">
                <a:solidFill>
                  <a:srgbClr val="CC3300"/>
                </a:solidFill>
                <a:latin typeface="黑体" panose="02010609060101010101" pitchFamily="49" charset="-122"/>
                <a:ea typeface="黑体" panose="02010609060101010101" pitchFamily="49" charset="-122"/>
              </a:rPr>
              <a:t>轴的计算</a:t>
            </a:r>
            <a:endParaRPr lang="zh-CN" altLang="en-US" sz="2400" dirty="0">
              <a:solidFill>
                <a:srgbClr val="CC3300"/>
              </a:solidFill>
              <a:latin typeface="黑体" panose="02010609060101010101" pitchFamily="49" charset="-122"/>
              <a:ea typeface="黑体" panose="02010609060101010101" pitchFamily="49" charset="-122"/>
            </a:endParaRPr>
          </a:p>
        </p:txBody>
      </p:sp>
      <p:sp>
        <p:nvSpPr>
          <p:cNvPr id="10"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0722"/>
                                        </p:tgtEl>
                                        <p:attrNameLst>
                                          <p:attrName>style.visibility</p:attrName>
                                        </p:attrNameLst>
                                      </p:cBhvr>
                                      <p:to>
                                        <p:strVal val="visible"/>
                                      </p:to>
                                    </p:set>
                                    <p:animEffect transition="in" filter="wipe(left)">
                                      <p:cBhvr>
                                        <p:cTn id="7" dur="500"/>
                                        <p:tgtEl>
                                          <p:spTgt spid="3072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0726"/>
                                        </p:tgtEl>
                                        <p:attrNameLst>
                                          <p:attrName>style.visibility</p:attrName>
                                        </p:attrNameLst>
                                      </p:cBhvr>
                                      <p:to>
                                        <p:strVal val="visible"/>
                                      </p:to>
                                    </p:set>
                                    <p:animEffect transition="in" filter="wipe(left)">
                                      <p:cBhvr>
                                        <p:cTn id="17" dur="500"/>
                                        <p:tgtEl>
                                          <p:spTgt spid="30726"/>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30727"/>
                                        </p:tgtEl>
                                        <p:attrNameLst>
                                          <p:attrName>style.visibility</p:attrName>
                                        </p:attrNameLst>
                                      </p:cBhvr>
                                      <p:to>
                                        <p:strVal val="visible"/>
                                      </p:to>
                                    </p:set>
                                    <p:anim calcmode="lin" valueType="num">
                                      <p:cBhvr additive="base">
                                        <p:cTn id="22" dur="500" fill="hold"/>
                                        <p:tgtEl>
                                          <p:spTgt spid="30727"/>
                                        </p:tgtEl>
                                        <p:attrNameLst>
                                          <p:attrName>ppt_x</p:attrName>
                                        </p:attrNameLst>
                                      </p:cBhvr>
                                      <p:tavLst>
                                        <p:tav tm="0">
                                          <p:val>
                                            <p:strVal val="0-#ppt_w/2"/>
                                          </p:val>
                                        </p:tav>
                                        <p:tav tm="100000">
                                          <p:val>
                                            <p:strVal val="#ppt_x"/>
                                          </p:val>
                                        </p:tav>
                                      </p:tavLst>
                                    </p:anim>
                                    <p:anim calcmode="lin" valueType="num">
                                      <p:cBhvr additive="base">
                                        <p:cTn id="23" dur="500" fill="hold"/>
                                        <p:tgtEl>
                                          <p:spTgt spid="3072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2" grpId="0" animBg="1" autoUpdateAnimBg="0"/>
      <p:bldP spid="30726" grpId="0" bldLvl="0" animBg="1" autoUpdateAnimBg="0"/>
      <p:bldP spid="2"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ext Box 2"/>
          <p:cNvSpPr txBox="1">
            <a:spLocks noChangeArrowheads="1"/>
          </p:cNvSpPr>
          <p:nvPr/>
        </p:nvSpPr>
        <p:spPr bwMode="auto">
          <a:xfrm>
            <a:off x="625633" y="934064"/>
            <a:ext cx="5332730" cy="4298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200" dirty="0">
                <a:solidFill>
                  <a:srgbClr val="800000"/>
                </a:solidFill>
                <a:latin typeface="Times New Roman" panose="02020603050405020304" pitchFamily="18" charset="0"/>
                <a:ea typeface="华文中宋" panose="02010600040101010101" pitchFamily="2" charset="-122"/>
              </a:rPr>
              <a:t>3</a:t>
            </a:r>
            <a:r>
              <a:rPr kumimoji="1" lang="zh-CN" altLang="en-US" sz="2200" dirty="0">
                <a:solidFill>
                  <a:srgbClr val="800000"/>
                </a:solidFill>
                <a:latin typeface="Times New Roman" panose="02020603050405020304" pitchFamily="18" charset="0"/>
                <a:ea typeface="华文中宋" panose="02010600040101010101" pitchFamily="2" charset="-122"/>
              </a:rPr>
              <a:t>、作水平面弯矩</a:t>
            </a:r>
            <a:r>
              <a:rPr kumimoji="1" lang="en-US" altLang="zh-CN" sz="2200" i="1" dirty="0" err="1">
                <a:solidFill>
                  <a:srgbClr val="800000"/>
                </a:solidFill>
                <a:latin typeface="Times New Roman" panose="02020603050405020304" pitchFamily="18" charset="0"/>
                <a:ea typeface="华文中宋" panose="02010600040101010101" pitchFamily="2" charset="-122"/>
              </a:rPr>
              <a:t>M</a:t>
            </a:r>
            <a:r>
              <a:rPr kumimoji="1" lang="en-US" altLang="zh-CN" sz="2200" baseline="-25000" dirty="0" err="1">
                <a:solidFill>
                  <a:srgbClr val="800000"/>
                </a:solidFill>
                <a:latin typeface="Times New Roman" panose="02020603050405020304" pitchFamily="18" charset="0"/>
                <a:ea typeface="华文中宋" panose="02010600040101010101" pitchFamily="2" charset="-122"/>
              </a:rPr>
              <a:t>xy</a:t>
            </a:r>
            <a:r>
              <a:rPr kumimoji="1" lang="zh-CN" altLang="en-US" sz="2200" dirty="0">
                <a:solidFill>
                  <a:srgbClr val="800000"/>
                </a:solidFill>
                <a:latin typeface="Times New Roman" panose="02020603050405020304" pitchFamily="18" charset="0"/>
                <a:ea typeface="华文中宋" panose="02010600040101010101" pitchFamily="2" charset="-122"/>
              </a:rPr>
              <a:t>图和垂直面弯矩</a:t>
            </a:r>
            <a:r>
              <a:rPr kumimoji="1" lang="en-US" altLang="zh-CN" sz="2200" i="1" dirty="0" err="1">
                <a:solidFill>
                  <a:srgbClr val="800000"/>
                </a:solidFill>
                <a:latin typeface="Times New Roman" panose="02020603050405020304" pitchFamily="18" charset="0"/>
                <a:ea typeface="华文中宋" panose="02010600040101010101" pitchFamily="2" charset="-122"/>
              </a:rPr>
              <a:t>M</a:t>
            </a:r>
            <a:r>
              <a:rPr kumimoji="1" lang="en-US" altLang="zh-CN" sz="2200" baseline="-25000" dirty="0" err="1">
                <a:solidFill>
                  <a:srgbClr val="800000"/>
                </a:solidFill>
                <a:latin typeface="Times New Roman" panose="02020603050405020304" pitchFamily="18" charset="0"/>
                <a:ea typeface="华文中宋" panose="02010600040101010101" pitchFamily="2" charset="-122"/>
              </a:rPr>
              <a:t>xz</a:t>
            </a:r>
            <a:r>
              <a:rPr kumimoji="1" lang="zh-CN" altLang="en-US" sz="2200" dirty="0">
                <a:solidFill>
                  <a:srgbClr val="800000"/>
                </a:solidFill>
                <a:latin typeface="Times New Roman" panose="02020603050405020304" pitchFamily="18" charset="0"/>
                <a:ea typeface="华文中宋" panose="02010600040101010101" pitchFamily="2" charset="-122"/>
              </a:rPr>
              <a:t>图</a:t>
            </a:r>
            <a:endParaRPr kumimoji="1" lang="zh-CN" altLang="en-US" sz="2200" dirty="0">
              <a:solidFill>
                <a:srgbClr val="800000"/>
              </a:solidFill>
              <a:latin typeface="Times New Roman" panose="02020603050405020304" pitchFamily="18" charset="0"/>
              <a:ea typeface="华文中宋" panose="02010600040101010101" pitchFamily="2" charset="-122"/>
            </a:endParaRPr>
          </a:p>
        </p:txBody>
      </p:sp>
      <p:grpSp>
        <p:nvGrpSpPr>
          <p:cNvPr id="31747" name="Group 3"/>
          <p:cNvGrpSpPr/>
          <p:nvPr/>
        </p:nvGrpSpPr>
        <p:grpSpPr bwMode="auto">
          <a:xfrm>
            <a:off x="988368" y="4081211"/>
            <a:ext cx="5037138" cy="566737"/>
            <a:chOff x="509" y="2135"/>
            <a:chExt cx="3173" cy="357"/>
          </a:xfrm>
        </p:grpSpPr>
        <p:graphicFrame>
          <p:nvGraphicFramePr>
            <p:cNvPr id="23559" name="Object 4"/>
            <p:cNvGraphicFramePr>
              <a:graphicFrameLocks noChangeAspect="1"/>
            </p:cNvGraphicFramePr>
            <p:nvPr/>
          </p:nvGraphicFramePr>
          <p:xfrm>
            <a:off x="1972" y="2135"/>
            <a:ext cx="1381" cy="357"/>
          </p:xfrm>
          <a:graphic>
            <a:graphicData uri="http://schemas.openxmlformats.org/presentationml/2006/ole">
              <mc:AlternateContent xmlns:mc="http://schemas.openxmlformats.org/markup-compatibility/2006">
                <mc:Choice xmlns:v="urn:schemas-microsoft-com:vml" Requires="v">
                  <p:oleObj spid="_x0000_s24623" name="Equation" r:id="rId1" imgW="1180465" imgH="304800" progId="Equation.3">
                    <p:embed/>
                  </p:oleObj>
                </mc:Choice>
                <mc:Fallback>
                  <p:oleObj name="Equation" r:id="rId1" imgW="1180465" imgH="304800" progId="Equation.3">
                    <p:embed/>
                    <p:pic>
                      <p:nvPicPr>
                        <p:cNvPr id="0" name="图片 2460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2" y="2135"/>
                          <a:ext cx="1381" cy="3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560" name="Text Box 5"/>
            <p:cNvSpPr txBox="1">
              <a:spLocks noChangeArrowheads="1"/>
            </p:cNvSpPr>
            <p:nvPr/>
          </p:nvSpPr>
          <p:spPr bwMode="auto">
            <a:xfrm>
              <a:off x="509" y="2156"/>
              <a:ext cx="1456" cy="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200" dirty="0">
                  <a:solidFill>
                    <a:srgbClr val="800000"/>
                  </a:solidFill>
                  <a:latin typeface="华文中宋" panose="02010600040101010101" pitchFamily="2" charset="-122"/>
                  <a:ea typeface="华文中宋" panose="02010600040101010101" pitchFamily="2" charset="-122"/>
                </a:rPr>
                <a:t>4</a:t>
              </a:r>
              <a:r>
                <a:rPr kumimoji="1" lang="zh-CN" altLang="en-US" sz="2200" dirty="0">
                  <a:solidFill>
                    <a:srgbClr val="800000"/>
                  </a:solidFill>
                  <a:latin typeface="华文中宋" panose="02010600040101010101" pitchFamily="2" charset="-122"/>
                  <a:ea typeface="华文中宋" panose="02010600040101010101" pitchFamily="2" charset="-122"/>
                </a:rPr>
                <a:t>、作出合成弯矩</a:t>
              </a:r>
              <a:endParaRPr kumimoji="1" lang="zh-CN" altLang="en-US" sz="2200" dirty="0">
                <a:solidFill>
                  <a:srgbClr val="800000"/>
                </a:solidFill>
                <a:latin typeface="华文中宋" panose="02010600040101010101" pitchFamily="2" charset="-122"/>
                <a:ea typeface="华文中宋" panose="02010600040101010101" pitchFamily="2" charset="-122"/>
              </a:endParaRPr>
            </a:p>
          </p:txBody>
        </p:sp>
        <p:sp>
          <p:nvSpPr>
            <p:cNvPr id="23561" name="Text Box 6"/>
            <p:cNvSpPr txBox="1">
              <a:spLocks noChangeArrowheads="1"/>
            </p:cNvSpPr>
            <p:nvPr/>
          </p:nvSpPr>
          <p:spPr bwMode="auto">
            <a:xfrm>
              <a:off x="3388" y="2160"/>
              <a:ext cx="294" cy="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200" b="1" dirty="0">
                  <a:solidFill>
                    <a:srgbClr val="800000"/>
                  </a:solidFill>
                  <a:latin typeface="华文中宋" panose="02010600040101010101" pitchFamily="2" charset="-122"/>
                  <a:ea typeface="华文中宋" panose="02010600040101010101" pitchFamily="2" charset="-122"/>
                </a:rPr>
                <a:t>图</a:t>
              </a:r>
              <a:endParaRPr kumimoji="1" lang="zh-CN" altLang="en-US" sz="2200" b="1" dirty="0">
                <a:solidFill>
                  <a:srgbClr val="800000"/>
                </a:solidFill>
                <a:latin typeface="华文中宋" panose="02010600040101010101" pitchFamily="2" charset="-122"/>
                <a:ea typeface="华文中宋" panose="02010600040101010101" pitchFamily="2" charset="-122"/>
              </a:endParaRPr>
            </a:p>
          </p:txBody>
        </p:sp>
      </p:grpSp>
      <p:pic>
        <p:nvPicPr>
          <p:cNvPr id="31751"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8004" y="1650843"/>
            <a:ext cx="3800475" cy="205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52"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87417" y="1539026"/>
            <a:ext cx="4140200" cy="2254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53" name="Picture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60525" y="5011534"/>
            <a:ext cx="4098925" cy="1343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 Box 4"/>
          <p:cNvSpPr txBox="1">
            <a:spLocks noChangeArrowheads="1"/>
          </p:cNvSpPr>
          <p:nvPr/>
        </p:nvSpPr>
        <p:spPr bwMode="auto">
          <a:xfrm>
            <a:off x="5472113" y="174625"/>
            <a:ext cx="23164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sz="2400" dirty="0" smtClean="0">
                <a:solidFill>
                  <a:srgbClr val="CC3300"/>
                </a:solidFill>
                <a:latin typeface="黑体" panose="02010609060101010101" pitchFamily="49" charset="-122"/>
                <a:ea typeface="黑体" panose="02010609060101010101" pitchFamily="49" charset="-122"/>
              </a:rPr>
              <a:t>3.7-3 </a:t>
            </a:r>
            <a:r>
              <a:rPr lang="zh-CN" altLang="en-US" sz="2400" dirty="0">
                <a:solidFill>
                  <a:srgbClr val="CC3300"/>
                </a:solidFill>
                <a:latin typeface="黑体" panose="02010609060101010101" pitchFamily="49" charset="-122"/>
                <a:ea typeface="黑体" panose="02010609060101010101" pitchFamily="49" charset="-122"/>
              </a:rPr>
              <a:t>轴的计算</a:t>
            </a:r>
            <a:endParaRPr lang="zh-CN" altLang="en-US" sz="2400" dirty="0">
              <a:solidFill>
                <a:srgbClr val="CC3300"/>
              </a:solidFill>
              <a:latin typeface="黑体" panose="02010609060101010101" pitchFamily="49" charset="-122"/>
              <a:ea typeface="黑体" panose="02010609060101010101" pitchFamily="49" charset="-122"/>
            </a:endParaRPr>
          </a:p>
        </p:txBody>
      </p:sp>
      <p:sp>
        <p:nvSpPr>
          <p:cNvPr id="11"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554"/>
                                        </p:tgtEl>
                                        <p:attrNameLst>
                                          <p:attrName>style.visibility</p:attrName>
                                        </p:attrNameLst>
                                      </p:cBhvr>
                                      <p:to>
                                        <p:strVal val="visible"/>
                                      </p:to>
                                    </p:set>
                                    <p:animEffect transition="in" filter="wipe(left)">
                                      <p:cBhvr>
                                        <p:cTn id="7" dur="500"/>
                                        <p:tgtEl>
                                          <p:spTgt spid="2355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1751"/>
                                        </p:tgtEl>
                                        <p:attrNameLst>
                                          <p:attrName>style.visibility</p:attrName>
                                        </p:attrNameLst>
                                      </p:cBhvr>
                                      <p:to>
                                        <p:strVal val="visible"/>
                                      </p:to>
                                    </p:set>
                                    <p:animEffect transition="in" filter="wipe(left)">
                                      <p:cBhvr>
                                        <p:cTn id="12" dur="500"/>
                                        <p:tgtEl>
                                          <p:spTgt spid="3175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1752"/>
                                        </p:tgtEl>
                                        <p:attrNameLst>
                                          <p:attrName>style.visibility</p:attrName>
                                        </p:attrNameLst>
                                      </p:cBhvr>
                                      <p:to>
                                        <p:strVal val="visible"/>
                                      </p:to>
                                    </p:set>
                                    <p:animEffect transition="in" filter="wipe(left)">
                                      <p:cBhvr>
                                        <p:cTn id="17" dur="500"/>
                                        <p:tgtEl>
                                          <p:spTgt spid="3175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1747"/>
                                        </p:tgtEl>
                                        <p:attrNameLst>
                                          <p:attrName>style.visibility</p:attrName>
                                        </p:attrNameLst>
                                      </p:cBhvr>
                                      <p:to>
                                        <p:strVal val="visible"/>
                                      </p:to>
                                    </p:set>
                                    <p:animEffect transition="in" filter="wipe(left)">
                                      <p:cBhvr>
                                        <p:cTn id="22" dur="500"/>
                                        <p:tgtEl>
                                          <p:spTgt spid="3174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1753"/>
                                        </p:tgtEl>
                                        <p:attrNameLst>
                                          <p:attrName>style.visibility</p:attrName>
                                        </p:attrNameLst>
                                      </p:cBhvr>
                                      <p:to>
                                        <p:strVal val="visible"/>
                                      </p:to>
                                    </p:set>
                                    <p:animEffect transition="in" filter="wipe(left)">
                                      <p:cBhvr>
                                        <p:cTn id="27" dur="500"/>
                                        <p:tgtEl>
                                          <p:spTgt spid="317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4" grpId="0" bldLvl="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770" name="Group 2"/>
          <p:cNvGrpSpPr/>
          <p:nvPr/>
        </p:nvGrpSpPr>
        <p:grpSpPr bwMode="auto">
          <a:xfrm>
            <a:off x="667568" y="2632248"/>
            <a:ext cx="6151563" cy="534988"/>
            <a:chOff x="646" y="183"/>
            <a:chExt cx="3875" cy="337"/>
          </a:xfrm>
        </p:grpSpPr>
        <p:sp>
          <p:nvSpPr>
            <p:cNvPr id="24586" name="Text Box 3"/>
            <p:cNvSpPr txBox="1">
              <a:spLocks noChangeArrowheads="1"/>
            </p:cNvSpPr>
            <p:nvPr/>
          </p:nvSpPr>
          <p:spPr bwMode="auto">
            <a:xfrm>
              <a:off x="646" y="214"/>
              <a:ext cx="1280" cy="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200" dirty="0">
                  <a:solidFill>
                    <a:srgbClr val="800000"/>
                  </a:solidFill>
                  <a:latin typeface="华文中宋" panose="02010600040101010101" pitchFamily="2" charset="-122"/>
                  <a:ea typeface="华文中宋" panose="02010600040101010101" pitchFamily="2" charset="-122"/>
                </a:rPr>
                <a:t>6</a:t>
              </a:r>
              <a:r>
                <a:rPr kumimoji="1" lang="zh-CN" altLang="en-US" sz="2200" dirty="0">
                  <a:solidFill>
                    <a:srgbClr val="800000"/>
                  </a:solidFill>
                  <a:latin typeface="华文中宋" panose="02010600040101010101" pitchFamily="2" charset="-122"/>
                  <a:ea typeface="华文中宋" panose="02010600040101010101" pitchFamily="2" charset="-122"/>
                </a:rPr>
                <a:t>、求当量弯矩</a:t>
              </a:r>
              <a:endParaRPr kumimoji="1" lang="zh-CN" altLang="en-US" sz="2200" dirty="0">
                <a:solidFill>
                  <a:srgbClr val="800000"/>
                </a:solidFill>
                <a:latin typeface="华文中宋" panose="02010600040101010101" pitchFamily="2" charset="-122"/>
                <a:ea typeface="华文中宋" panose="02010600040101010101" pitchFamily="2" charset="-122"/>
              </a:endParaRPr>
            </a:p>
          </p:txBody>
        </p:sp>
        <p:graphicFrame>
          <p:nvGraphicFramePr>
            <p:cNvPr id="24587" name="Object 4"/>
            <p:cNvGraphicFramePr>
              <a:graphicFrameLocks noChangeAspect="1"/>
            </p:cNvGraphicFramePr>
            <p:nvPr/>
          </p:nvGraphicFramePr>
          <p:xfrm>
            <a:off x="1951" y="194"/>
            <a:ext cx="1500" cy="326"/>
          </p:xfrm>
          <a:graphic>
            <a:graphicData uri="http://schemas.openxmlformats.org/presentationml/2006/ole">
              <mc:AlternateContent xmlns:mc="http://schemas.openxmlformats.org/markup-compatibility/2006">
                <mc:Choice xmlns:v="urn:schemas-microsoft-com:vml" Requires="v">
                  <p:oleObj spid="_x0000_s25692" name="Equation" r:id="rId1" imgW="1282700" imgH="279400" progId="Equation.3">
                    <p:embed/>
                  </p:oleObj>
                </mc:Choice>
                <mc:Fallback>
                  <p:oleObj name="Equation" r:id="rId1" imgW="1282700" imgH="279400" progId="Equation.3">
                    <p:embed/>
                    <p:pic>
                      <p:nvPicPr>
                        <p:cNvPr id="0" name="图片 2566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51" y="194"/>
                          <a:ext cx="1500" cy="32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588" name="Text Box 5"/>
            <p:cNvSpPr txBox="1">
              <a:spLocks noChangeArrowheads="1"/>
            </p:cNvSpPr>
            <p:nvPr/>
          </p:nvSpPr>
          <p:spPr bwMode="auto">
            <a:xfrm>
              <a:off x="3424" y="195"/>
              <a:ext cx="472" cy="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200" dirty="0">
                  <a:solidFill>
                    <a:srgbClr val="800000"/>
                  </a:solidFill>
                  <a:latin typeface="华文中宋" panose="02010600040101010101" pitchFamily="2" charset="-122"/>
                  <a:ea typeface="华文中宋" panose="02010600040101010101" pitchFamily="2" charset="-122"/>
                </a:rPr>
                <a:t>，绘</a:t>
              </a:r>
              <a:endParaRPr kumimoji="1" lang="zh-CN" altLang="en-US" sz="2200" dirty="0">
                <a:solidFill>
                  <a:srgbClr val="800000"/>
                </a:solidFill>
                <a:latin typeface="华文中宋" panose="02010600040101010101" pitchFamily="2" charset="-122"/>
                <a:ea typeface="华文中宋" panose="02010600040101010101" pitchFamily="2" charset="-122"/>
              </a:endParaRPr>
            </a:p>
          </p:txBody>
        </p:sp>
        <p:graphicFrame>
          <p:nvGraphicFramePr>
            <p:cNvPr id="24589" name="Object 6"/>
            <p:cNvGraphicFramePr>
              <a:graphicFrameLocks noChangeAspect="1"/>
            </p:cNvGraphicFramePr>
            <p:nvPr/>
          </p:nvGraphicFramePr>
          <p:xfrm>
            <a:off x="3876" y="247"/>
            <a:ext cx="318" cy="207"/>
          </p:xfrm>
          <a:graphic>
            <a:graphicData uri="http://schemas.openxmlformats.org/presentationml/2006/ole">
              <mc:AlternateContent xmlns:mc="http://schemas.openxmlformats.org/markup-compatibility/2006">
                <mc:Choice xmlns:v="urn:schemas-microsoft-com:vml" Requires="v">
                  <p:oleObj spid="_x0000_s25693" name="Equation" r:id="rId3" imgW="254000" imgH="165100" progId="Equation.3">
                    <p:embed/>
                  </p:oleObj>
                </mc:Choice>
                <mc:Fallback>
                  <p:oleObj name="Equation" r:id="rId3" imgW="254000" imgH="165100" progId="Equation.3">
                    <p:embed/>
                    <p:pic>
                      <p:nvPicPr>
                        <p:cNvPr id="0" name="图片 2566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76" y="247"/>
                          <a:ext cx="318" cy="2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590" name="Text Box 7"/>
            <p:cNvSpPr txBox="1">
              <a:spLocks noChangeArrowheads="1"/>
            </p:cNvSpPr>
            <p:nvPr/>
          </p:nvSpPr>
          <p:spPr bwMode="auto">
            <a:xfrm>
              <a:off x="4227" y="183"/>
              <a:ext cx="294" cy="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200" b="1" dirty="0">
                  <a:solidFill>
                    <a:srgbClr val="800000"/>
                  </a:solidFill>
                  <a:latin typeface="华文中宋" panose="02010600040101010101" pitchFamily="2" charset="-122"/>
                  <a:ea typeface="华文中宋" panose="02010600040101010101" pitchFamily="2" charset="-122"/>
                </a:rPr>
                <a:t>图</a:t>
              </a:r>
              <a:endParaRPr kumimoji="1" lang="zh-CN" altLang="en-US" sz="2200" b="1" dirty="0">
                <a:solidFill>
                  <a:srgbClr val="800000"/>
                </a:solidFill>
                <a:latin typeface="华文中宋" panose="02010600040101010101" pitchFamily="2" charset="-122"/>
                <a:ea typeface="华文中宋" panose="02010600040101010101" pitchFamily="2" charset="-122"/>
              </a:endParaRPr>
            </a:p>
          </p:txBody>
        </p:sp>
      </p:grpSp>
      <p:sp>
        <p:nvSpPr>
          <p:cNvPr id="32776" name="Text Box 8"/>
          <p:cNvSpPr txBox="1">
            <a:spLocks noChangeArrowheads="1"/>
          </p:cNvSpPr>
          <p:nvPr/>
        </p:nvSpPr>
        <p:spPr bwMode="auto">
          <a:xfrm>
            <a:off x="1291268" y="4999530"/>
            <a:ext cx="637866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kumimoji="1" lang="en-US" altLang="zh-CN" sz="2800" b="1" i="1" dirty="0">
                <a:solidFill>
                  <a:schemeClr val="accent4">
                    <a:lumMod val="50000"/>
                  </a:schemeClr>
                </a:solidFill>
                <a:latin typeface="Times New Roman" panose="02020603050405020304" pitchFamily="18" charset="0"/>
                <a:ea typeface="华文中宋" panose="02010600040101010101" pitchFamily="2" charset="-122"/>
              </a:rPr>
              <a:t>α</a:t>
            </a:r>
            <a:r>
              <a:rPr kumimoji="1" lang="en-US" altLang="zh-CN" sz="2200" dirty="0">
                <a:solidFill>
                  <a:srgbClr val="002060"/>
                </a:solidFill>
                <a:latin typeface="Times New Roman" panose="02020603050405020304" pitchFamily="18" charset="0"/>
                <a:ea typeface="华文中宋" panose="02010600040101010101" pitchFamily="2" charset="-122"/>
              </a:rPr>
              <a:t>—— </a:t>
            </a:r>
            <a:r>
              <a:rPr kumimoji="1" lang="zh-CN" altLang="en-US" sz="2200" dirty="0">
                <a:solidFill>
                  <a:srgbClr val="002060"/>
                </a:solidFill>
                <a:latin typeface="Times New Roman" panose="02020603050405020304" pitchFamily="18" charset="0"/>
                <a:ea typeface="华文中宋" panose="02010600040101010101" pitchFamily="2" charset="-122"/>
              </a:rPr>
              <a:t>根据</a:t>
            </a:r>
            <a:r>
              <a:rPr kumimoji="1" lang="zh-CN" altLang="en-US" sz="2200" u="sng" dirty="0">
                <a:solidFill>
                  <a:srgbClr val="7030A0"/>
                </a:solidFill>
                <a:effectLst>
                  <a:outerShdw blurRad="38100" dist="38100" dir="2700000" algn="tl">
                    <a:srgbClr val="C0C0C0"/>
                  </a:outerShdw>
                </a:effectLst>
                <a:latin typeface="Times New Roman" panose="02020603050405020304" pitchFamily="18" charset="0"/>
                <a:ea typeface="华文中宋" panose="02010600040101010101" pitchFamily="2" charset="-122"/>
              </a:rPr>
              <a:t>转矩性质不同</a:t>
            </a:r>
            <a:r>
              <a:rPr kumimoji="1" lang="zh-CN" altLang="en-US" sz="2200" dirty="0">
                <a:solidFill>
                  <a:srgbClr val="002060"/>
                </a:solidFill>
                <a:latin typeface="Times New Roman" panose="02020603050405020304" pitchFamily="18" charset="0"/>
                <a:ea typeface="华文中宋" panose="02010600040101010101" pitchFamily="2" charset="-122"/>
              </a:rPr>
              <a:t>而引入</a:t>
            </a:r>
            <a:r>
              <a:rPr kumimoji="1" lang="zh-CN" altLang="en-US" sz="2200" dirty="0" smtClean="0">
                <a:solidFill>
                  <a:srgbClr val="002060"/>
                </a:solidFill>
                <a:latin typeface="Times New Roman" panose="02020603050405020304" pitchFamily="18" charset="0"/>
                <a:ea typeface="华文中宋" panose="02010600040101010101" pitchFamily="2" charset="-122"/>
              </a:rPr>
              <a:t>的</a:t>
            </a:r>
            <a:r>
              <a:rPr kumimoji="1" lang="zh-CN" altLang="en-US" sz="2200" dirty="0" smtClean="0">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rPr>
              <a:t>应力校正系数</a:t>
            </a:r>
            <a:r>
              <a:rPr kumimoji="1" lang="zh-CN" altLang="en-US" sz="2200" dirty="0" smtClean="0">
                <a:solidFill>
                  <a:srgbClr val="FF5050"/>
                </a:solidFill>
                <a:latin typeface="Times New Roman" panose="02020603050405020304" pitchFamily="18" charset="0"/>
                <a:ea typeface="华文中宋" panose="02010600040101010101" pitchFamily="2" charset="-122"/>
              </a:rPr>
              <a:t>。</a:t>
            </a:r>
            <a:endParaRPr kumimoji="1" lang="zh-CN" altLang="en-US" sz="2200" dirty="0">
              <a:solidFill>
                <a:srgbClr val="FF5050"/>
              </a:solidFill>
              <a:latin typeface="Times New Roman" panose="02020603050405020304" pitchFamily="18" charset="0"/>
              <a:ea typeface="华文中宋" panose="02010600040101010101" pitchFamily="2" charset="-122"/>
            </a:endParaRPr>
          </a:p>
        </p:txBody>
      </p:sp>
      <p:grpSp>
        <p:nvGrpSpPr>
          <p:cNvPr id="32777" name="Group 9"/>
          <p:cNvGrpSpPr/>
          <p:nvPr/>
        </p:nvGrpSpPr>
        <p:grpSpPr bwMode="auto">
          <a:xfrm>
            <a:off x="490710" y="5667644"/>
            <a:ext cx="8418513" cy="927101"/>
            <a:chOff x="995" y="1788"/>
            <a:chExt cx="5303" cy="584"/>
          </a:xfrm>
        </p:grpSpPr>
        <p:sp>
          <p:nvSpPr>
            <p:cNvPr id="24584" name="Text Box 10"/>
            <p:cNvSpPr txBox="1">
              <a:spLocks noChangeArrowheads="1"/>
            </p:cNvSpPr>
            <p:nvPr/>
          </p:nvSpPr>
          <p:spPr bwMode="auto">
            <a:xfrm>
              <a:off x="1602" y="1788"/>
              <a:ext cx="4696" cy="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b="1" i="1" dirty="0">
                  <a:solidFill>
                    <a:schemeClr val="accent4">
                      <a:lumMod val="50000"/>
                    </a:schemeClr>
                  </a:solidFill>
                  <a:latin typeface="Times New Roman" panose="02020603050405020304" pitchFamily="18" charset="0"/>
                  <a:ea typeface="华文中宋" panose="02010600040101010101" pitchFamily="2" charset="-122"/>
                </a:rPr>
                <a:t>σ</a:t>
              </a:r>
              <a:r>
                <a:rPr kumimoji="1" lang="en-US" altLang="zh-CN" sz="2800" dirty="0">
                  <a:solidFill>
                    <a:srgbClr val="002060"/>
                  </a:solidFill>
                  <a:latin typeface="Times New Roman" panose="02020603050405020304" pitchFamily="18" charset="0"/>
                  <a:ea typeface="华文中宋" panose="02010600040101010101" pitchFamily="2" charset="-122"/>
                </a:rPr>
                <a:t>—— </a:t>
              </a:r>
              <a:r>
                <a:rPr kumimoji="1" lang="zh-CN" altLang="en-US" sz="2200" dirty="0">
                  <a:solidFill>
                    <a:srgbClr val="002060"/>
                  </a:solidFill>
                  <a:latin typeface="Times New Roman" panose="02020603050405020304" pitchFamily="18" charset="0"/>
                  <a:ea typeface="华文中宋" panose="02010600040101010101" pitchFamily="2" charset="-122"/>
                </a:rPr>
                <a:t>一般为</a:t>
              </a:r>
              <a:r>
                <a:rPr kumimoji="1" lang="zh-CN" altLang="en-US" sz="2200" b="1" dirty="0">
                  <a:solidFill>
                    <a:srgbClr val="FF0000"/>
                  </a:solidFill>
                  <a:latin typeface="Times New Roman" panose="02020603050405020304" pitchFamily="18" charset="0"/>
                  <a:ea typeface="华文中宋" panose="02010600040101010101" pitchFamily="2" charset="-122"/>
                </a:rPr>
                <a:t>对称循环变应力</a:t>
              </a:r>
              <a:r>
                <a:rPr kumimoji="1" lang="zh-CN" altLang="en-US" sz="2200" dirty="0">
                  <a:solidFill>
                    <a:srgbClr val="002060"/>
                  </a:solidFill>
                  <a:latin typeface="Times New Roman" panose="02020603050405020304" pitchFamily="18" charset="0"/>
                  <a:ea typeface="华文中宋" panose="02010600040101010101" pitchFamily="2" charset="-122"/>
                </a:rPr>
                <a:t>（弯矩引起的弯曲应力）</a:t>
              </a:r>
              <a:endParaRPr kumimoji="1" lang="zh-CN" altLang="en-US" sz="2200" dirty="0">
                <a:solidFill>
                  <a:srgbClr val="002060"/>
                </a:solidFill>
                <a:latin typeface="Times New Roman" panose="02020603050405020304" pitchFamily="18" charset="0"/>
                <a:ea typeface="华文中宋" panose="02010600040101010101" pitchFamily="2" charset="-122"/>
              </a:endParaRPr>
            </a:p>
          </p:txBody>
        </p:sp>
        <p:sp>
          <p:nvSpPr>
            <p:cNvPr id="24585" name="Text Box 11"/>
            <p:cNvSpPr txBox="1">
              <a:spLocks noChangeArrowheads="1"/>
            </p:cNvSpPr>
            <p:nvPr/>
          </p:nvSpPr>
          <p:spPr bwMode="auto">
            <a:xfrm>
              <a:off x="995" y="2045"/>
              <a:ext cx="11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kumimoji="1" lang="zh-CN" altLang="zh-CN" sz="2800">
                <a:solidFill>
                  <a:schemeClr val="tx2"/>
                </a:solidFill>
                <a:latin typeface="华文中宋" panose="02010600040101010101" pitchFamily="2" charset="-122"/>
                <a:ea typeface="华文中宋" panose="02010600040101010101" pitchFamily="2" charset="-122"/>
              </a:endParaRPr>
            </a:p>
          </p:txBody>
        </p:sp>
      </p:grpSp>
      <p:pic>
        <p:nvPicPr>
          <p:cNvPr id="32780" name="Picture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76450" y="3117850"/>
            <a:ext cx="4086225" cy="15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81" name="Text Box 13"/>
          <p:cNvSpPr txBox="1">
            <a:spLocks noChangeArrowheads="1"/>
          </p:cNvSpPr>
          <p:nvPr/>
        </p:nvSpPr>
        <p:spPr bwMode="auto">
          <a:xfrm>
            <a:off x="723774" y="933670"/>
            <a:ext cx="3752850" cy="4298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200" dirty="0">
                <a:solidFill>
                  <a:srgbClr val="800000"/>
                </a:solidFill>
                <a:latin typeface="Times New Roman" panose="02020603050405020304" pitchFamily="18" charset="0"/>
                <a:ea typeface="华文中宋" panose="02010600040101010101" pitchFamily="2" charset="-122"/>
              </a:rPr>
              <a:t>5</a:t>
            </a:r>
            <a:r>
              <a:rPr kumimoji="1" lang="zh-CN" altLang="en-US" sz="2200" dirty="0">
                <a:solidFill>
                  <a:srgbClr val="800000"/>
                </a:solidFill>
                <a:latin typeface="Times New Roman" panose="02020603050405020304" pitchFamily="18" charset="0"/>
                <a:ea typeface="华文中宋" panose="02010600040101010101" pitchFamily="2" charset="-122"/>
              </a:rPr>
              <a:t>、绘转矩 </a:t>
            </a:r>
            <a:r>
              <a:rPr kumimoji="1" lang="en-US" altLang="zh-CN" sz="2200" i="1" dirty="0">
                <a:solidFill>
                  <a:srgbClr val="800000"/>
                </a:solidFill>
                <a:latin typeface="Times New Roman" panose="02020603050405020304" pitchFamily="18" charset="0"/>
                <a:ea typeface="华文中宋" panose="02010600040101010101" pitchFamily="2" charset="-122"/>
              </a:rPr>
              <a:t>T </a:t>
            </a:r>
            <a:r>
              <a:rPr kumimoji="1" lang="zh-CN" altLang="en-US" sz="2200" dirty="0">
                <a:solidFill>
                  <a:srgbClr val="800000"/>
                </a:solidFill>
                <a:latin typeface="Times New Roman" panose="02020603050405020304" pitchFamily="18" charset="0"/>
                <a:ea typeface="华文中宋" panose="02010600040101010101" pitchFamily="2" charset="-122"/>
              </a:rPr>
              <a:t>图</a:t>
            </a:r>
            <a:endParaRPr kumimoji="1" lang="zh-CN" altLang="en-US" sz="2200" dirty="0">
              <a:solidFill>
                <a:srgbClr val="800000"/>
              </a:solidFill>
              <a:latin typeface="Times New Roman" panose="02020603050405020304" pitchFamily="18" charset="0"/>
              <a:ea typeface="华文中宋" panose="02010600040101010101" pitchFamily="2" charset="-122"/>
            </a:endParaRPr>
          </a:p>
        </p:txBody>
      </p:sp>
      <p:pic>
        <p:nvPicPr>
          <p:cNvPr id="32782" name="Picture 14"/>
          <p:cNvPicPr>
            <a:picLocks noChangeAspect="1" noChangeArrowheads="1"/>
          </p:cNvPicPr>
          <p:nvPr/>
        </p:nvPicPr>
        <p:blipFill>
          <a:blip r:embed="rId6">
            <a:extLst>
              <a:ext uri="{28A0092B-C50C-407E-A947-70E740481C1C}">
                <a14:useLocalDpi xmlns:a14="http://schemas.microsoft.com/office/drawing/2010/main" val="0"/>
              </a:ext>
            </a:extLst>
          </a:blip>
          <a:srcRect b="10257"/>
          <a:stretch>
            <a:fillRect/>
          </a:stretch>
        </p:blipFill>
        <p:spPr bwMode="auto">
          <a:xfrm>
            <a:off x="1997075" y="1598613"/>
            <a:ext cx="4032250" cy="7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ext Box 4"/>
          <p:cNvSpPr txBox="1">
            <a:spLocks noChangeArrowheads="1"/>
          </p:cNvSpPr>
          <p:nvPr/>
        </p:nvSpPr>
        <p:spPr bwMode="auto">
          <a:xfrm>
            <a:off x="5472113" y="174625"/>
            <a:ext cx="23164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sz="2400" dirty="0" smtClean="0">
                <a:solidFill>
                  <a:srgbClr val="CC3300"/>
                </a:solidFill>
                <a:latin typeface="黑体" panose="02010609060101010101" pitchFamily="49" charset="-122"/>
                <a:ea typeface="黑体" panose="02010609060101010101" pitchFamily="49" charset="-122"/>
              </a:rPr>
              <a:t>3.7-3 </a:t>
            </a:r>
            <a:r>
              <a:rPr lang="zh-CN" altLang="en-US" sz="2400" dirty="0">
                <a:solidFill>
                  <a:srgbClr val="CC3300"/>
                </a:solidFill>
                <a:latin typeface="黑体" panose="02010609060101010101" pitchFamily="49" charset="-122"/>
                <a:ea typeface="黑体" panose="02010609060101010101" pitchFamily="49" charset="-122"/>
              </a:rPr>
              <a:t>轴的计算</a:t>
            </a:r>
            <a:endParaRPr lang="zh-CN" altLang="en-US" sz="2400" dirty="0">
              <a:solidFill>
                <a:srgbClr val="CC3300"/>
              </a:solidFill>
              <a:latin typeface="黑体" panose="02010609060101010101" pitchFamily="49" charset="-122"/>
              <a:ea typeface="黑体" panose="02010609060101010101" pitchFamily="49" charset="-122"/>
            </a:endParaRPr>
          </a:p>
        </p:txBody>
      </p:sp>
      <p:sp>
        <p:nvSpPr>
          <p:cNvPr id="16"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2781"/>
                                        </p:tgtEl>
                                        <p:attrNameLst>
                                          <p:attrName>style.visibility</p:attrName>
                                        </p:attrNameLst>
                                      </p:cBhvr>
                                      <p:to>
                                        <p:strVal val="visible"/>
                                      </p:to>
                                    </p:set>
                                    <p:animEffect transition="in" filter="wipe(left)">
                                      <p:cBhvr>
                                        <p:cTn id="7" dur="500"/>
                                        <p:tgtEl>
                                          <p:spTgt spid="3278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2782"/>
                                        </p:tgtEl>
                                        <p:attrNameLst>
                                          <p:attrName>style.visibility</p:attrName>
                                        </p:attrNameLst>
                                      </p:cBhvr>
                                      <p:to>
                                        <p:strVal val="visible"/>
                                      </p:to>
                                    </p:set>
                                    <p:animEffect transition="in" filter="wipe(left)">
                                      <p:cBhvr>
                                        <p:cTn id="12" dur="500"/>
                                        <p:tgtEl>
                                          <p:spTgt spid="3278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2770"/>
                                        </p:tgtEl>
                                        <p:attrNameLst>
                                          <p:attrName>style.visibility</p:attrName>
                                        </p:attrNameLst>
                                      </p:cBhvr>
                                      <p:to>
                                        <p:strVal val="visible"/>
                                      </p:to>
                                    </p:set>
                                    <p:animEffect transition="in" filter="wipe(down)">
                                      <p:cBhvr>
                                        <p:cTn id="17" dur="500"/>
                                        <p:tgtEl>
                                          <p:spTgt spid="3277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2780"/>
                                        </p:tgtEl>
                                        <p:attrNameLst>
                                          <p:attrName>style.visibility</p:attrName>
                                        </p:attrNameLst>
                                      </p:cBhvr>
                                      <p:to>
                                        <p:strVal val="visible"/>
                                      </p:to>
                                    </p:set>
                                    <p:animEffect transition="in" filter="wipe(left)">
                                      <p:cBhvr>
                                        <p:cTn id="22" dur="500"/>
                                        <p:tgtEl>
                                          <p:spTgt spid="3278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2776"/>
                                        </p:tgtEl>
                                        <p:attrNameLst>
                                          <p:attrName>style.visibility</p:attrName>
                                        </p:attrNameLst>
                                      </p:cBhvr>
                                      <p:to>
                                        <p:strVal val="visible"/>
                                      </p:to>
                                    </p:set>
                                    <p:animEffect transition="in" filter="wipe(left)">
                                      <p:cBhvr>
                                        <p:cTn id="27" dur="500"/>
                                        <p:tgtEl>
                                          <p:spTgt spid="3277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2777"/>
                                        </p:tgtEl>
                                        <p:attrNameLst>
                                          <p:attrName>style.visibility</p:attrName>
                                        </p:attrNameLst>
                                      </p:cBhvr>
                                      <p:to>
                                        <p:strVal val="visible"/>
                                      </p:to>
                                    </p:set>
                                    <p:animEffect transition="in" filter="wipe(left)">
                                      <p:cBhvr>
                                        <p:cTn id="32" dur="500"/>
                                        <p:tgtEl>
                                          <p:spTgt spid="327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6" grpId="0" autoUpdateAnimBg="0"/>
      <p:bldP spid="32781" grpId="0" bldLvl="0" animBg="1" autoUpdateAnimBg="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794" name="Group 2"/>
          <p:cNvGrpSpPr/>
          <p:nvPr/>
        </p:nvGrpSpPr>
        <p:grpSpPr bwMode="auto">
          <a:xfrm>
            <a:off x="947218" y="930118"/>
            <a:ext cx="7861300" cy="1385888"/>
            <a:chOff x="648" y="572"/>
            <a:chExt cx="4952" cy="873"/>
          </a:xfrm>
        </p:grpSpPr>
        <p:sp>
          <p:nvSpPr>
            <p:cNvPr id="25613" name="Text Box 3"/>
            <p:cNvSpPr txBox="1">
              <a:spLocks noChangeArrowheads="1"/>
            </p:cNvSpPr>
            <p:nvPr/>
          </p:nvSpPr>
          <p:spPr bwMode="auto">
            <a:xfrm>
              <a:off x="648" y="572"/>
              <a:ext cx="4952" cy="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200" dirty="0">
                  <a:solidFill>
                    <a:srgbClr val="002060"/>
                  </a:solidFill>
                  <a:latin typeface="华文中宋" panose="02010600040101010101" pitchFamily="2" charset="-122"/>
                  <a:ea typeface="华文中宋" panose="02010600040101010101" pitchFamily="2" charset="-122"/>
                </a:rPr>
                <a:t>1)</a:t>
              </a:r>
              <a:r>
                <a:rPr kumimoji="1" lang="zh-CN" altLang="en-US" sz="2200" dirty="0">
                  <a:solidFill>
                    <a:srgbClr val="002060"/>
                  </a:solidFill>
                  <a:latin typeface="华文中宋" panose="02010600040101010101" pitchFamily="2" charset="-122"/>
                  <a:ea typeface="华文中宋" panose="02010600040101010101" pitchFamily="2" charset="-122"/>
                </a:rPr>
                <a:t>单向旋转、载荷稳定：切应力接近</a:t>
              </a:r>
              <a:r>
                <a:rPr kumimoji="1" lang="zh-CN" altLang="en-US" sz="2200" b="1" u="sng" dirty="0" smtClean="0">
                  <a:solidFill>
                    <a:srgbClr val="660066"/>
                  </a:solidFill>
                  <a:latin typeface="Times New Roman" panose="02020603050405020304" pitchFamily="18" charset="0"/>
                  <a:ea typeface="华文中宋" panose="02010600040101010101" pitchFamily="2" charset="-122"/>
                </a:rPr>
                <a:t>不变   </a:t>
              </a:r>
              <a:r>
                <a:rPr kumimoji="1" lang="zh-CN" altLang="en-US" sz="2200" dirty="0" smtClean="0">
                  <a:solidFill>
                    <a:schemeClr val="tx2"/>
                  </a:solidFill>
                  <a:latin typeface="Times New Roman" panose="02020603050405020304" pitchFamily="18" charset="0"/>
                  <a:ea typeface="华文中宋" panose="02010600040101010101" pitchFamily="2" charset="-122"/>
                </a:rPr>
                <a:t> ，</a:t>
              </a:r>
              <a:endParaRPr kumimoji="1" lang="en-US" altLang="zh-CN" sz="2200" dirty="0" smtClean="0">
                <a:solidFill>
                  <a:schemeClr val="tx2"/>
                </a:solidFill>
                <a:latin typeface="Times New Roman" panose="02020603050405020304" pitchFamily="18" charset="0"/>
                <a:ea typeface="华文中宋" panose="02010600040101010101" pitchFamily="2" charset="-122"/>
              </a:endParaRPr>
            </a:p>
            <a:p>
              <a:pPr eaLnBrk="1" hangingPunct="1"/>
              <a:r>
                <a:rPr lang="en-US" altLang="zh-CN" sz="2200" b="1" i="1" dirty="0">
                  <a:solidFill>
                    <a:srgbClr val="002060"/>
                  </a:solidFill>
                  <a:latin typeface="Times New Roman" panose="02020603050405020304" pitchFamily="18" charset="0"/>
                  <a:ea typeface="华文中宋" panose="02010600040101010101" pitchFamily="2" charset="-122"/>
                </a:rPr>
                <a:t> </a:t>
              </a:r>
              <a:r>
                <a:rPr lang="en-US" altLang="zh-CN" sz="2200" b="1" i="1" dirty="0" smtClean="0">
                  <a:solidFill>
                    <a:srgbClr val="002060"/>
                  </a:solidFill>
                  <a:latin typeface="Times New Roman" panose="02020603050405020304" pitchFamily="18" charset="0"/>
                  <a:ea typeface="华文中宋" panose="02010600040101010101" pitchFamily="2" charset="-122"/>
                </a:rPr>
                <a:t>            </a:t>
              </a:r>
              <a:r>
                <a:rPr kumimoji="1" lang="en-US" altLang="zh-CN" sz="2200" b="1" i="1" dirty="0" smtClean="0">
                  <a:solidFill>
                    <a:srgbClr val="FF0000"/>
                  </a:solidFill>
                  <a:latin typeface="Times New Roman" panose="02020603050405020304" pitchFamily="18" charset="0"/>
                  <a:ea typeface="华文中宋" panose="02010600040101010101" pitchFamily="2" charset="-122"/>
                </a:rPr>
                <a:t>r </a:t>
              </a:r>
              <a:r>
                <a:rPr kumimoji="1" lang="en-US" altLang="zh-CN" sz="2200" dirty="0">
                  <a:solidFill>
                    <a:srgbClr val="FF0000"/>
                  </a:solidFill>
                  <a:latin typeface="Times New Roman" panose="02020603050405020304" pitchFamily="18" charset="0"/>
                  <a:ea typeface="华文中宋" panose="02010600040101010101" pitchFamily="2" charset="-122"/>
                </a:rPr>
                <a:t>=+1</a:t>
              </a:r>
              <a:r>
                <a:rPr kumimoji="1" lang="zh-CN" altLang="en-US" sz="2200" dirty="0">
                  <a:solidFill>
                    <a:srgbClr val="FF0000"/>
                  </a:solidFill>
                  <a:latin typeface="Times New Roman" panose="02020603050405020304" pitchFamily="18" charset="0"/>
                  <a:ea typeface="华文中宋" panose="02010600040101010101" pitchFamily="2" charset="-122"/>
                </a:rPr>
                <a:t>，</a:t>
              </a:r>
              <a:endParaRPr kumimoji="1" lang="zh-CN" altLang="en-US" sz="2200" dirty="0">
                <a:solidFill>
                  <a:srgbClr val="FF0000"/>
                </a:solidFill>
                <a:latin typeface="Times New Roman" panose="02020603050405020304" pitchFamily="18" charset="0"/>
                <a:ea typeface="华文中宋" panose="02010600040101010101" pitchFamily="2" charset="-122"/>
              </a:endParaRPr>
            </a:p>
          </p:txBody>
        </p:sp>
        <p:graphicFrame>
          <p:nvGraphicFramePr>
            <p:cNvPr id="25614" name="Object 4"/>
            <p:cNvGraphicFramePr>
              <a:graphicFrameLocks noChangeAspect="1"/>
            </p:cNvGraphicFramePr>
            <p:nvPr/>
          </p:nvGraphicFramePr>
          <p:xfrm>
            <a:off x="2206" y="989"/>
            <a:ext cx="1621" cy="456"/>
          </p:xfrm>
          <a:graphic>
            <a:graphicData uri="http://schemas.openxmlformats.org/presentationml/2006/ole">
              <mc:AlternateContent xmlns:mc="http://schemas.openxmlformats.org/markup-compatibility/2006">
                <mc:Choice xmlns:v="urn:schemas-microsoft-com:vml" Requires="v">
                  <p:oleObj spid="_x0000_s26763" name="公式" r:id="rId1" imgW="1485900" imgH="419100" progId="Equation.3">
                    <p:embed/>
                  </p:oleObj>
                </mc:Choice>
                <mc:Fallback>
                  <p:oleObj name="公式" r:id="rId1" imgW="1485900" imgH="419100" progId="Equation.3">
                    <p:embed/>
                    <p:pic>
                      <p:nvPicPr>
                        <p:cNvPr id="0" name="图片 2671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6" y="989"/>
                          <a:ext cx="1621" cy="456"/>
                        </a:xfrm>
                        <a:prstGeom prst="rect">
                          <a:avLst/>
                        </a:prstGeom>
                        <a:gradFill flip="none" rotWithShape="1">
                          <a:gsLst>
                            <a:gs pos="0">
                              <a:srgbClr val="00B050">
                                <a:tint val="66000"/>
                                <a:satMod val="160000"/>
                              </a:srgbClr>
                            </a:gs>
                            <a:gs pos="50000">
                              <a:srgbClr val="00B050">
                                <a:tint val="44500"/>
                                <a:satMod val="160000"/>
                              </a:srgbClr>
                            </a:gs>
                            <a:gs pos="100000">
                              <a:srgbClr val="00B050">
                                <a:tint val="23500"/>
                                <a:satMod val="160000"/>
                              </a:srgbClr>
                            </a:gs>
                          </a:gsLst>
                          <a:lin ang="5400000" scaled="1"/>
                          <a:tileRect/>
                        </a:gradFill>
                        <a:ln>
                          <a:noFill/>
                        </a:ln>
                        <a:effectLst/>
                      </p:spPr>
                    </p:pic>
                  </p:oleObj>
                </mc:Fallback>
              </mc:AlternateContent>
            </a:graphicData>
          </a:graphic>
        </p:graphicFrame>
      </p:grpSp>
      <p:grpSp>
        <p:nvGrpSpPr>
          <p:cNvPr id="33797" name="Group 5"/>
          <p:cNvGrpSpPr/>
          <p:nvPr/>
        </p:nvGrpSpPr>
        <p:grpSpPr bwMode="auto">
          <a:xfrm>
            <a:off x="328613" y="884238"/>
            <a:ext cx="730250" cy="2908300"/>
            <a:chOff x="993" y="2562"/>
            <a:chExt cx="470" cy="1329"/>
          </a:xfrm>
        </p:grpSpPr>
        <p:sp>
          <p:nvSpPr>
            <p:cNvPr id="25611" name="Text Box 6"/>
            <p:cNvSpPr txBox="1">
              <a:spLocks noChangeArrowheads="1"/>
            </p:cNvSpPr>
            <p:nvPr/>
          </p:nvSpPr>
          <p:spPr bwMode="auto">
            <a:xfrm>
              <a:off x="993" y="3051"/>
              <a:ext cx="261" cy="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a:solidFill>
                    <a:schemeClr val="tx2"/>
                  </a:solidFill>
                  <a:latin typeface="华文中宋" panose="02010600040101010101" pitchFamily="2" charset="-122"/>
                  <a:ea typeface="华文中宋" panose="02010600040101010101" pitchFamily="2" charset="-122"/>
                </a:rPr>
                <a:t>T</a:t>
              </a:r>
              <a:endParaRPr kumimoji="1" lang="en-US" altLang="zh-CN" sz="2800">
                <a:solidFill>
                  <a:schemeClr val="tx2"/>
                </a:solidFill>
                <a:latin typeface="华文中宋" panose="02010600040101010101" pitchFamily="2" charset="-122"/>
                <a:ea typeface="华文中宋" panose="02010600040101010101" pitchFamily="2" charset="-122"/>
              </a:endParaRPr>
            </a:p>
          </p:txBody>
        </p:sp>
        <p:sp>
          <p:nvSpPr>
            <p:cNvPr id="25612" name="AutoShape 7"/>
            <p:cNvSpPr/>
            <p:nvPr/>
          </p:nvSpPr>
          <p:spPr bwMode="auto">
            <a:xfrm>
              <a:off x="1245" y="2562"/>
              <a:ext cx="218" cy="1329"/>
            </a:xfrm>
            <a:prstGeom prst="leftBrace">
              <a:avLst>
                <a:gd name="adj1" fmla="val 50803"/>
                <a:gd name="adj2" fmla="val 50000"/>
              </a:avLst>
            </a:prstGeom>
            <a:noFill/>
            <a:ln w="9525">
              <a:solidFill>
                <a:schemeClr val="tx2"/>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33800" name="Group 8"/>
          <p:cNvGrpSpPr/>
          <p:nvPr/>
        </p:nvGrpSpPr>
        <p:grpSpPr bwMode="auto">
          <a:xfrm>
            <a:off x="1172094" y="2344755"/>
            <a:ext cx="7159625" cy="1249363"/>
            <a:chOff x="687" y="1446"/>
            <a:chExt cx="4510" cy="787"/>
          </a:xfrm>
        </p:grpSpPr>
        <p:sp>
          <p:nvSpPr>
            <p:cNvPr id="25609" name="Text Box 9"/>
            <p:cNvSpPr txBox="1">
              <a:spLocks noChangeArrowheads="1"/>
            </p:cNvSpPr>
            <p:nvPr/>
          </p:nvSpPr>
          <p:spPr bwMode="auto">
            <a:xfrm>
              <a:off x="687" y="1446"/>
              <a:ext cx="4510" cy="5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529080" indent="-152908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pPr>
              <a:r>
                <a:rPr kumimoji="1" lang="en-US" altLang="zh-CN" sz="2200" dirty="0">
                  <a:solidFill>
                    <a:srgbClr val="002060"/>
                  </a:solidFill>
                  <a:latin typeface="华文中宋" panose="02010600040101010101" pitchFamily="2" charset="-122"/>
                  <a:ea typeface="华文中宋" panose="02010600040101010101" pitchFamily="2" charset="-122"/>
                </a:rPr>
                <a:t>2)</a:t>
              </a:r>
              <a:r>
                <a:rPr kumimoji="1" lang="zh-CN" altLang="en-US" sz="2200" dirty="0">
                  <a:solidFill>
                    <a:srgbClr val="002060"/>
                  </a:solidFill>
                  <a:latin typeface="华文中宋" panose="02010600040101010101" pitchFamily="2" charset="-122"/>
                  <a:ea typeface="华文中宋" panose="02010600040101010101" pitchFamily="2" charset="-122"/>
                </a:rPr>
                <a:t>单向旋转、载荷不稳定：切应力接近</a:t>
              </a:r>
              <a:r>
                <a:rPr kumimoji="1" lang="zh-CN" altLang="en-US" sz="2200" b="1" u="sng" dirty="0">
                  <a:solidFill>
                    <a:srgbClr val="C00000"/>
                  </a:solidFill>
                  <a:latin typeface="华文中宋" panose="02010600040101010101" pitchFamily="2" charset="-122"/>
                  <a:ea typeface="华文中宋" panose="02010600040101010101" pitchFamily="2" charset="-122"/>
                </a:rPr>
                <a:t>脉动</a:t>
              </a:r>
              <a:r>
                <a:rPr kumimoji="1" lang="zh-CN" altLang="en-US" sz="2200" dirty="0">
                  <a:solidFill>
                    <a:srgbClr val="002060"/>
                  </a:solidFill>
                  <a:latin typeface="华文中宋" panose="02010600040101010101" pitchFamily="2" charset="-122"/>
                  <a:ea typeface="华文中宋" panose="02010600040101010101" pitchFamily="2" charset="-122"/>
                </a:rPr>
                <a:t>循环</a:t>
              </a:r>
              <a:r>
                <a:rPr kumimoji="1" lang="zh-CN" altLang="en-US" sz="2200" dirty="0" smtClean="0">
                  <a:solidFill>
                    <a:srgbClr val="002060"/>
                  </a:solidFill>
                  <a:latin typeface="华文中宋" panose="02010600040101010101" pitchFamily="2" charset="-122"/>
                  <a:ea typeface="华文中宋" panose="02010600040101010101" pitchFamily="2" charset="-122"/>
                </a:rPr>
                <a:t>，</a:t>
              </a:r>
              <a:endParaRPr kumimoji="1" lang="en-US" altLang="zh-CN" sz="2200" dirty="0" smtClean="0">
                <a:solidFill>
                  <a:srgbClr val="002060"/>
                </a:solidFill>
                <a:latin typeface="华文中宋" panose="02010600040101010101" pitchFamily="2" charset="-122"/>
                <a:ea typeface="华文中宋" panose="02010600040101010101" pitchFamily="2" charset="-122"/>
              </a:endParaRPr>
            </a:p>
            <a:p>
              <a:pPr eaLnBrk="1" hangingPunct="1">
                <a:lnSpc>
                  <a:spcPct val="120000"/>
                </a:lnSpc>
              </a:pPr>
              <a:r>
                <a:rPr kumimoji="1" lang="en-US" altLang="zh-CN" sz="2200" i="1" dirty="0" smtClean="0">
                  <a:solidFill>
                    <a:srgbClr val="002060"/>
                  </a:solidFill>
                  <a:latin typeface="Times New Roman" panose="02020603050405020304" pitchFamily="18" charset="0"/>
                  <a:ea typeface="华文中宋" panose="02010600040101010101" pitchFamily="2" charset="-122"/>
                </a:rPr>
                <a:t>              </a:t>
              </a:r>
              <a:r>
                <a:rPr kumimoji="1" lang="en-US" altLang="zh-CN" sz="2200" i="1" dirty="0" smtClean="0">
                  <a:solidFill>
                    <a:srgbClr val="FF0000"/>
                  </a:solidFill>
                  <a:latin typeface="Times New Roman" panose="02020603050405020304" pitchFamily="18" charset="0"/>
                  <a:ea typeface="华文中宋" panose="02010600040101010101" pitchFamily="2" charset="-122"/>
                </a:rPr>
                <a:t>r </a:t>
              </a:r>
              <a:r>
                <a:rPr kumimoji="1" lang="zh-CN" altLang="en-US" sz="2200" dirty="0">
                  <a:solidFill>
                    <a:srgbClr val="FF0000"/>
                  </a:solidFill>
                  <a:latin typeface="Times New Roman" panose="02020603050405020304" pitchFamily="18" charset="0"/>
                  <a:ea typeface="华文中宋" panose="02010600040101010101" pitchFamily="2" charset="-122"/>
                </a:rPr>
                <a:t>＝</a:t>
              </a:r>
              <a:r>
                <a:rPr kumimoji="1" lang="en-US" altLang="zh-CN" sz="2200" dirty="0">
                  <a:solidFill>
                    <a:srgbClr val="FF0000"/>
                  </a:solidFill>
                  <a:latin typeface="Times New Roman" panose="02020603050405020304" pitchFamily="18" charset="0"/>
                  <a:ea typeface="华文中宋" panose="02010600040101010101" pitchFamily="2" charset="-122"/>
                </a:rPr>
                <a:t>0 </a:t>
              </a:r>
              <a:endParaRPr kumimoji="1" lang="en-US" altLang="zh-CN" sz="2200" dirty="0">
                <a:solidFill>
                  <a:srgbClr val="FF0000"/>
                </a:solidFill>
                <a:latin typeface="Times New Roman" panose="02020603050405020304" pitchFamily="18" charset="0"/>
                <a:ea typeface="华文中宋" panose="02010600040101010101" pitchFamily="2" charset="-122"/>
              </a:endParaRPr>
            </a:p>
          </p:txBody>
        </p:sp>
        <p:graphicFrame>
          <p:nvGraphicFramePr>
            <p:cNvPr id="25610" name="Object 10"/>
            <p:cNvGraphicFramePr>
              <a:graphicFrameLocks noChangeAspect="1"/>
            </p:cNvGraphicFramePr>
            <p:nvPr/>
          </p:nvGraphicFramePr>
          <p:xfrm>
            <a:off x="2346" y="1786"/>
            <a:ext cx="1546" cy="447"/>
          </p:xfrm>
          <a:graphic>
            <a:graphicData uri="http://schemas.openxmlformats.org/presentationml/2006/ole">
              <mc:AlternateContent xmlns:mc="http://schemas.openxmlformats.org/markup-compatibility/2006">
                <mc:Choice xmlns:v="urn:schemas-microsoft-com:vml" Requires="v">
                  <p:oleObj spid="_x0000_s26764" name="公式" r:id="rId3" imgW="1447800" imgH="419100" progId="Equation.3">
                    <p:embed/>
                  </p:oleObj>
                </mc:Choice>
                <mc:Fallback>
                  <p:oleObj name="公式" r:id="rId3" imgW="1447800" imgH="419100" progId="Equation.3">
                    <p:embed/>
                    <p:pic>
                      <p:nvPicPr>
                        <p:cNvPr id="0" name="图片 2671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46" y="1786"/>
                          <a:ext cx="1546" cy="447"/>
                        </a:xfrm>
                        <a:prstGeom prst="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5400000" scaled="1"/>
                          <a:tileRect/>
                        </a:gradFill>
                        <a:ln>
                          <a:noFill/>
                        </a:ln>
                        <a:effectLst/>
                      </p:spPr>
                    </p:pic>
                  </p:oleObj>
                </mc:Fallback>
              </mc:AlternateContent>
            </a:graphicData>
          </a:graphic>
        </p:graphicFrame>
      </p:grpSp>
      <p:grpSp>
        <p:nvGrpSpPr>
          <p:cNvPr id="33803" name="Group 11"/>
          <p:cNvGrpSpPr/>
          <p:nvPr/>
        </p:nvGrpSpPr>
        <p:grpSpPr bwMode="auto">
          <a:xfrm>
            <a:off x="1087909" y="3772546"/>
            <a:ext cx="7386637" cy="1335088"/>
            <a:chOff x="691" y="2545"/>
            <a:chExt cx="4653" cy="841"/>
          </a:xfrm>
        </p:grpSpPr>
        <p:sp>
          <p:nvSpPr>
            <p:cNvPr id="25607" name="Text Box 12"/>
            <p:cNvSpPr txBox="1">
              <a:spLocks noChangeArrowheads="1"/>
            </p:cNvSpPr>
            <p:nvPr/>
          </p:nvSpPr>
          <p:spPr bwMode="auto">
            <a:xfrm>
              <a:off x="691" y="2545"/>
              <a:ext cx="4653" cy="5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529080" indent="-152908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10000"/>
                </a:lnSpc>
              </a:pPr>
              <a:r>
                <a:rPr kumimoji="1" lang="en-US" altLang="zh-CN" sz="2200" dirty="0">
                  <a:solidFill>
                    <a:srgbClr val="002060"/>
                  </a:solidFill>
                  <a:latin typeface="华文中宋" panose="02010600040101010101" pitchFamily="2" charset="-122"/>
                  <a:ea typeface="华文中宋" panose="02010600040101010101" pitchFamily="2" charset="-122"/>
                </a:rPr>
                <a:t>3)</a:t>
              </a:r>
              <a:r>
                <a:rPr kumimoji="1" lang="zh-CN" altLang="en-US" sz="2200" dirty="0">
                  <a:solidFill>
                    <a:srgbClr val="002060"/>
                  </a:solidFill>
                  <a:latin typeface="华文中宋" panose="02010600040101010101" pitchFamily="2" charset="-122"/>
                  <a:ea typeface="华文中宋" panose="02010600040101010101" pitchFamily="2" charset="-122"/>
                </a:rPr>
                <a:t>连续正反转、载荷不稳定：切应力接近</a:t>
              </a:r>
              <a:r>
                <a:rPr kumimoji="1" lang="zh-CN" altLang="en-US" sz="2200" b="1" u="sng" dirty="0">
                  <a:solidFill>
                    <a:srgbClr val="002060"/>
                  </a:solidFill>
                  <a:latin typeface="华文中宋" panose="02010600040101010101" pitchFamily="2" charset="-122"/>
                  <a:ea typeface="华文中宋" panose="02010600040101010101" pitchFamily="2" charset="-122"/>
                </a:rPr>
                <a:t>对称</a:t>
              </a:r>
              <a:r>
                <a:rPr kumimoji="1" lang="zh-CN" altLang="en-US" sz="2200" dirty="0">
                  <a:solidFill>
                    <a:srgbClr val="002060"/>
                  </a:solidFill>
                  <a:latin typeface="华文中宋" panose="02010600040101010101" pitchFamily="2" charset="-122"/>
                  <a:ea typeface="华文中宋" panose="02010600040101010101" pitchFamily="2" charset="-122"/>
                </a:rPr>
                <a:t>循环</a:t>
              </a:r>
              <a:r>
                <a:rPr kumimoji="1" lang="zh-CN" altLang="en-US" sz="2200" dirty="0" smtClean="0">
                  <a:solidFill>
                    <a:srgbClr val="002060"/>
                  </a:solidFill>
                  <a:latin typeface="Times New Roman" panose="02020603050405020304" pitchFamily="18" charset="0"/>
                  <a:ea typeface="华文中宋" panose="02010600040101010101" pitchFamily="2" charset="-122"/>
                </a:rPr>
                <a:t>，</a:t>
              </a:r>
              <a:endParaRPr kumimoji="1" lang="en-US" altLang="zh-CN" sz="2200" dirty="0" smtClean="0">
                <a:solidFill>
                  <a:srgbClr val="002060"/>
                </a:solidFill>
                <a:latin typeface="Times New Roman" panose="02020603050405020304" pitchFamily="18" charset="0"/>
                <a:ea typeface="华文中宋" panose="02010600040101010101" pitchFamily="2" charset="-122"/>
              </a:endParaRPr>
            </a:p>
            <a:p>
              <a:pPr eaLnBrk="1" hangingPunct="1">
                <a:lnSpc>
                  <a:spcPct val="110000"/>
                </a:lnSpc>
              </a:pPr>
              <a:r>
                <a:rPr kumimoji="1" lang="en-US" altLang="zh-CN" sz="2800" i="1" dirty="0" smtClean="0">
                  <a:solidFill>
                    <a:srgbClr val="002060"/>
                  </a:solidFill>
                  <a:latin typeface="Times New Roman" panose="02020603050405020304" pitchFamily="18" charset="0"/>
                  <a:ea typeface="华文中宋" panose="02010600040101010101" pitchFamily="2" charset="-122"/>
                </a:rPr>
                <a:t>         </a:t>
              </a:r>
              <a:r>
                <a:rPr kumimoji="1" lang="en-US" altLang="zh-CN" sz="2200" i="1" dirty="0" smtClean="0">
                  <a:solidFill>
                    <a:srgbClr val="FF0000"/>
                  </a:solidFill>
                  <a:latin typeface="Times New Roman" panose="02020603050405020304" pitchFamily="18" charset="0"/>
                  <a:ea typeface="华文中宋" panose="02010600040101010101" pitchFamily="2" charset="-122"/>
                </a:rPr>
                <a:t>r </a:t>
              </a:r>
              <a:r>
                <a:rPr kumimoji="1" lang="zh-CN" altLang="en-US" sz="2200" dirty="0">
                  <a:solidFill>
                    <a:srgbClr val="FF0000"/>
                  </a:solidFill>
                  <a:latin typeface="Times New Roman" panose="02020603050405020304" pitchFamily="18" charset="0"/>
                  <a:ea typeface="华文中宋" panose="02010600040101010101" pitchFamily="2" charset="-122"/>
                </a:rPr>
                <a:t>＝－</a:t>
              </a:r>
              <a:r>
                <a:rPr kumimoji="1" lang="en-US" altLang="zh-CN" sz="2200" dirty="0">
                  <a:solidFill>
                    <a:srgbClr val="FF0000"/>
                  </a:solidFill>
                  <a:latin typeface="Times New Roman" panose="02020603050405020304" pitchFamily="18" charset="0"/>
                  <a:ea typeface="华文中宋" panose="02010600040101010101" pitchFamily="2" charset="-122"/>
                </a:rPr>
                <a:t>1</a:t>
              </a:r>
              <a:r>
                <a:rPr kumimoji="1" lang="zh-CN" altLang="en-US" sz="2200" dirty="0">
                  <a:solidFill>
                    <a:srgbClr val="FF0000"/>
                  </a:solidFill>
                  <a:latin typeface="Times New Roman" panose="02020603050405020304" pitchFamily="18" charset="0"/>
                  <a:ea typeface="华文中宋" panose="02010600040101010101" pitchFamily="2" charset="-122"/>
                </a:rPr>
                <a:t>，</a:t>
              </a:r>
              <a:endParaRPr kumimoji="1" lang="zh-CN" altLang="en-US" sz="2200" dirty="0">
                <a:solidFill>
                  <a:srgbClr val="FF0000"/>
                </a:solidFill>
                <a:latin typeface="Times New Roman" panose="02020603050405020304" pitchFamily="18" charset="0"/>
                <a:ea typeface="华文中宋" panose="02010600040101010101" pitchFamily="2" charset="-122"/>
              </a:endParaRPr>
            </a:p>
          </p:txBody>
        </p:sp>
        <p:graphicFrame>
          <p:nvGraphicFramePr>
            <p:cNvPr id="25608" name="Object 13"/>
            <p:cNvGraphicFramePr>
              <a:graphicFrameLocks noChangeAspect="1"/>
            </p:cNvGraphicFramePr>
            <p:nvPr/>
          </p:nvGraphicFramePr>
          <p:xfrm>
            <a:off x="2239" y="2892"/>
            <a:ext cx="1559" cy="494"/>
          </p:xfrm>
          <a:graphic>
            <a:graphicData uri="http://schemas.openxmlformats.org/presentationml/2006/ole">
              <mc:AlternateContent xmlns:mc="http://schemas.openxmlformats.org/markup-compatibility/2006">
                <mc:Choice xmlns:v="urn:schemas-microsoft-com:vml" Requires="v">
                  <p:oleObj spid="_x0000_s26765" name="公式" r:id="rId5" imgW="1320165" imgH="419100" progId="Equation.3">
                    <p:embed/>
                  </p:oleObj>
                </mc:Choice>
                <mc:Fallback>
                  <p:oleObj name="公式" r:id="rId5" imgW="1320165" imgH="419100" progId="Equation.3">
                    <p:embed/>
                    <p:pic>
                      <p:nvPicPr>
                        <p:cNvPr id="0" name="图片 2672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39" y="2892"/>
                          <a:ext cx="1559" cy="494"/>
                        </a:xfrm>
                        <a:prstGeom prst="rect">
                          <a:avLst/>
                        </a:prstGeom>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ln>
                          <a:noFill/>
                        </a:ln>
                        <a:effectLst/>
                      </p:spPr>
                    </p:pic>
                  </p:oleObj>
                </mc:Fallback>
              </mc:AlternateContent>
            </a:graphicData>
          </a:graphic>
        </p:graphicFrame>
      </p:grpSp>
      <p:sp>
        <p:nvSpPr>
          <p:cNvPr id="33806" name="Text Box 14"/>
          <p:cNvSpPr txBox="1">
            <a:spLocks noChangeArrowheads="1"/>
          </p:cNvSpPr>
          <p:nvPr/>
        </p:nvSpPr>
        <p:spPr bwMode="auto">
          <a:xfrm>
            <a:off x="951982" y="5213492"/>
            <a:ext cx="7497762" cy="10495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77825" indent="-377825">
              <a:defRPr>
                <a:solidFill>
                  <a:schemeClr val="tx1"/>
                </a:solidFill>
                <a:latin typeface="Arial" panose="020B0604020202020204" pitchFamily="34" charset="0"/>
                <a:ea typeface="宋体" panose="02010600030101010101" pitchFamily="2" charset="-122"/>
              </a:defRPr>
            </a:lvl1pPr>
            <a:lvl2pPr marL="676275">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defRPr/>
            </a:pPr>
            <a:r>
              <a:rPr kumimoji="1" lang="en-US" altLang="zh-CN" sz="2800" dirty="0" smtClean="0">
                <a:solidFill>
                  <a:srgbClr val="002060"/>
                </a:solidFill>
                <a:latin typeface="华文中宋" panose="02010600040101010101" pitchFamily="2" charset="-122"/>
                <a:ea typeface="华文中宋" panose="02010600040101010101" pitchFamily="2" charset="-122"/>
              </a:rPr>
              <a:t>※ </a:t>
            </a:r>
            <a:r>
              <a:rPr kumimoji="1" lang="zh-CN" altLang="en-US" sz="2200" dirty="0" smtClean="0">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rPr>
              <a:t>实际机器</a:t>
            </a:r>
            <a:r>
              <a:rPr kumimoji="1" lang="zh-CN" altLang="en-US" sz="2200" dirty="0" smtClean="0">
                <a:solidFill>
                  <a:srgbClr val="002060"/>
                </a:solidFill>
                <a:latin typeface="华文中宋" panose="02010600040101010101" pitchFamily="2" charset="-122"/>
                <a:ea typeface="华文中宋" panose="02010600040101010101" pitchFamily="2" charset="-122"/>
              </a:rPr>
              <a:t>运转不可能完全均匀，且有扭转振动的存在，为安全计，常</a:t>
            </a:r>
            <a:r>
              <a:rPr kumimoji="1" lang="zh-CN" altLang="en-US" sz="2200" b="1" dirty="0" smtClean="0">
                <a:latin typeface="华文中宋" panose="02010600040101010101" pitchFamily="2" charset="-122"/>
                <a:ea typeface="华文中宋" panose="02010600040101010101" pitchFamily="2" charset="-122"/>
              </a:rPr>
              <a:t>按</a:t>
            </a:r>
            <a:r>
              <a:rPr kumimoji="1" lang="zh-CN" altLang="en-US" sz="2200" b="1" dirty="0" smtClean="0">
                <a:solidFill>
                  <a:srgbClr val="FF0000"/>
                </a:solidFill>
                <a:latin typeface="华文中宋" panose="02010600040101010101" pitchFamily="2" charset="-122"/>
                <a:ea typeface="华文中宋" panose="02010600040101010101" pitchFamily="2" charset="-122"/>
              </a:rPr>
              <a:t>脉动转矩计算</a:t>
            </a:r>
            <a:r>
              <a:rPr kumimoji="1" lang="zh-CN" altLang="en-US" sz="2200" dirty="0" smtClean="0">
                <a:latin typeface="华文中宋" panose="02010600040101010101" pitchFamily="2" charset="-122"/>
                <a:ea typeface="华文中宋" panose="02010600040101010101" pitchFamily="2" charset="-122"/>
              </a:rPr>
              <a:t>。</a:t>
            </a:r>
            <a:endParaRPr kumimoji="1" lang="zh-CN" altLang="en-US" sz="2200" dirty="0" smtClean="0">
              <a:latin typeface="华文中宋" panose="02010600040101010101" pitchFamily="2" charset="-122"/>
              <a:ea typeface="华文中宋" panose="02010600040101010101" pitchFamily="2" charset="-122"/>
            </a:endParaRPr>
          </a:p>
        </p:txBody>
      </p:sp>
      <p:sp>
        <p:nvSpPr>
          <p:cNvPr id="15" name="Text Box 4"/>
          <p:cNvSpPr txBox="1">
            <a:spLocks noChangeArrowheads="1"/>
          </p:cNvSpPr>
          <p:nvPr/>
        </p:nvSpPr>
        <p:spPr bwMode="auto">
          <a:xfrm>
            <a:off x="5472113" y="174625"/>
            <a:ext cx="23164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sz="2400" dirty="0" smtClean="0">
                <a:solidFill>
                  <a:srgbClr val="CC3300"/>
                </a:solidFill>
                <a:latin typeface="黑体" panose="02010609060101010101" pitchFamily="49" charset="-122"/>
                <a:ea typeface="黑体" panose="02010609060101010101" pitchFamily="49" charset="-122"/>
              </a:rPr>
              <a:t>3.7-3 </a:t>
            </a:r>
            <a:r>
              <a:rPr lang="zh-CN" altLang="en-US" sz="2400" dirty="0">
                <a:solidFill>
                  <a:srgbClr val="CC3300"/>
                </a:solidFill>
                <a:latin typeface="黑体" panose="02010609060101010101" pitchFamily="49" charset="-122"/>
                <a:ea typeface="黑体" panose="02010609060101010101" pitchFamily="49" charset="-122"/>
              </a:rPr>
              <a:t>轴的计算</a:t>
            </a:r>
            <a:endParaRPr lang="zh-CN" altLang="en-US" sz="2400" dirty="0">
              <a:solidFill>
                <a:srgbClr val="CC3300"/>
              </a:solidFill>
              <a:latin typeface="黑体" panose="02010609060101010101" pitchFamily="49" charset="-122"/>
              <a:ea typeface="黑体" panose="02010609060101010101" pitchFamily="49" charset="-122"/>
            </a:endParaRPr>
          </a:p>
        </p:txBody>
      </p:sp>
      <p:sp>
        <p:nvSpPr>
          <p:cNvPr id="16"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3797"/>
                                        </p:tgtEl>
                                        <p:attrNameLst>
                                          <p:attrName>style.visibility</p:attrName>
                                        </p:attrNameLst>
                                      </p:cBhvr>
                                      <p:to>
                                        <p:strVal val="visible"/>
                                      </p:to>
                                    </p:set>
                                    <p:animEffect transition="in" filter="wipe(left)">
                                      <p:cBhvr>
                                        <p:cTn id="7" dur="500"/>
                                        <p:tgtEl>
                                          <p:spTgt spid="3379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3794"/>
                                        </p:tgtEl>
                                        <p:attrNameLst>
                                          <p:attrName>style.visibility</p:attrName>
                                        </p:attrNameLst>
                                      </p:cBhvr>
                                      <p:to>
                                        <p:strVal val="visible"/>
                                      </p:to>
                                    </p:set>
                                    <p:animEffect transition="in" filter="wipe(up)">
                                      <p:cBhvr>
                                        <p:cTn id="12" dur="500"/>
                                        <p:tgtEl>
                                          <p:spTgt spid="3379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33800"/>
                                        </p:tgtEl>
                                        <p:attrNameLst>
                                          <p:attrName>style.visibility</p:attrName>
                                        </p:attrNameLst>
                                      </p:cBhvr>
                                      <p:to>
                                        <p:strVal val="visible"/>
                                      </p:to>
                                    </p:set>
                                    <p:animEffect transition="in" filter="wipe(up)">
                                      <p:cBhvr>
                                        <p:cTn id="17" dur="500"/>
                                        <p:tgtEl>
                                          <p:spTgt spid="3380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33803"/>
                                        </p:tgtEl>
                                        <p:attrNameLst>
                                          <p:attrName>style.visibility</p:attrName>
                                        </p:attrNameLst>
                                      </p:cBhvr>
                                      <p:to>
                                        <p:strVal val="visible"/>
                                      </p:to>
                                    </p:set>
                                    <p:animEffect transition="in" filter="wipe(up)">
                                      <p:cBhvr>
                                        <p:cTn id="22" dur="500"/>
                                        <p:tgtEl>
                                          <p:spTgt spid="3380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3806"/>
                                        </p:tgtEl>
                                        <p:attrNameLst>
                                          <p:attrName>style.visibility</p:attrName>
                                        </p:attrNameLst>
                                      </p:cBhvr>
                                      <p:to>
                                        <p:strVal val="visible"/>
                                      </p:to>
                                    </p:set>
                                    <p:animEffect transition="in" filter="wipe(left)">
                                      <p:cBhvr>
                                        <p:cTn id="27" dur="500"/>
                                        <p:tgtEl>
                                          <p:spTgt spid="338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806" grpId="0" autoUpdateAnimBg="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ext Box 2"/>
          <p:cNvSpPr txBox="1">
            <a:spLocks noChangeArrowheads="1"/>
          </p:cNvSpPr>
          <p:nvPr/>
        </p:nvSpPr>
        <p:spPr bwMode="auto">
          <a:xfrm>
            <a:off x="530351" y="1397757"/>
            <a:ext cx="2037080" cy="4298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200" b="1" dirty="0">
                <a:solidFill>
                  <a:srgbClr val="800000"/>
                </a:solidFill>
                <a:latin typeface="华文中宋" panose="02010600040101010101" pitchFamily="2" charset="-122"/>
                <a:ea typeface="华文中宋" panose="02010600040101010101" pitchFamily="2" charset="-122"/>
              </a:rPr>
              <a:t>8</a:t>
            </a:r>
            <a:r>
              <a:rPr kumimoji="1" lang="zh-CN" altLang="en-US" sz="2200" b="1" dirty="0">
                <a:solidFill>
                  <a:srgbClr val="800000"/>
                </a:solidFill>
                <a:latin typeface="华文中宋" panose="02010600040101010101" pitchFamily="2" charset="-122"/>
                <a:ea typeface="华文中宋" panose="02010600040101010101" pitchFamily="2" charset="-122"/>
              </a:rPr>
              <a:t>、强度计算：</a:t>
            </a:r>
            <a:endParaRPr kumimoji="1" lang="zh-CN" altLang="en-US" sz="2200" b="1" dirty="0">
              <a:solidFill>
                <a:srgbClr val="800000"/>
              </a:solidFill>
              <a:latin typeface="华文中宋" panose="02010600040101010101" pitchFamily="2" charset="-122"/>
              <a:ea typeface="华文中宋" panose="02010600040101010101" pitchFamily="2" charset="-122"/>
            </a:endParaRPr>
          </a:p>
        </p:txBody>
      </p:sp>
      <p:graphicFrame>
        <p:nvGraphicFramePr>
          <p:cNvPr id="34819" name="Object 3"/>
          <p:cNvGraphicFramePr>
            <a:graphicFrameLocks noChangeAspect="1"/>
          </p:cNvGraphicFramePr>
          <p:nvPr/>
        </p:nvGraphicFramePr>
        <p:xfrm>
          <a:off x="909865" y="2566121"/>
          <a:ext cx="5707782" cy="919162"/>
        </p:xfrm>
        <a:graphic>
          <a:graphicData uri="http://schemas.openxmlformats.org/presentationml/2006/ole">
            <mc:AlternateContent xmlns:mc="http://schemas.openxmlformats.org/markup-compatibility/2006">
              <mc:Choice xmlns:v="urn:schemas-microsoft-com:vml" Requires="v">
                <p:oleObj spid="_x0000_s27782" name="公式" r:id="rId1" imgW="65227200" imgH="10972800" progId="Equation.3">
                  <p:embed/>
                </p:oleObj>
              </mc:Choice>
              <mc:Fallback>
                <p:oleObj name="公式" r:id="rId1" imgW="65227200" imgH="10972800" progId="Equation.3">
                  <p:embed/>
                  <p:pic>
                    <p:nvPicPr>
                      <p:cNvPr id="0" name="图片 27737"/>
                      <p:cNvPicPr>
                        <a:picLocks noChangeAspect="1" noChangeArrowheads="1"/>
                      </p:cNvPicPr>
                      <p:nvPr/>
                    </p:nvPicPr>
                    <p:blipFill>
                      <a:blip r:embed="rId2"/>
                      <a:srcRect/>
                      <a:stretch>
                        <a:fillRect/>
                      </a:stretch>
                    </p:blipFill>
                    <p:spPr bwMode="auto">
                      <a:xfrm>
                        <a:off x="909865" y="2566121"/>
                        <a:ext cx="5707782" cy="919162"/>
                      </a:xfrm>
                      <a:prstGeom prst="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5400000" scaled="1"/>
                        <a:tileRect/>
                      </a:gradFill>
                      <a:ln>
                        <a:noFill/>
                      </a:ln>
                      <a:effectLst/>
                    </p:spPr>
                  </p:pic>
                </p:oleObj>
              </mc:Fallback>
            </mc:AlternateContent>
          </a:graphicData>
        </a:graphic>
      </p:graphicFrame>
      <p:grpSp>
        <p:nvGrpSpPr>
          <p:cNvPr id="34827" name="Group 11"/>
          <p:cNvGrpSpPr/>
          <p:nvPr/>
        </p:nvGrpSpPr>
        <p:grpSpPr bwMode="auto">
          <a:xfrm>
            <a:off x="1688483" y="3518635"/>
            <a:ext cx="4341533" cy="1055688"/>
            <a:chOff x="1080" y="1713"/>
            <a:chExt cx="3023" cy="665"/>
          </a:xfrm>
        </p:grpSpPr>
        <p:graphicFrame>
          <p:nvGraphicFramePr>
            <p:cNvPr id="26633" name="Object 5"/>
            <p:cNvGraphicFramePr>
              <a:graphicFrameLocks noChangeAspect="1"/>
            </p:cNvGraphicFramePr>
            <p:nvPr/>
          </p:nvGraphicFramePr>
          <p:xfrm>
            <a:off x="1910" y="1713"/>
            <a:ext cx="2193" cy="665"/>
          </p:xfrm>
          <a:graphic>
            <a:graphicData uri="http://schemas.openxmlformats.org/presentationml/2006/ole">
              <mc:AlternateContent xmlns:mc="http://schemas.openxmlformats.org/markup-compatibility/2006">
                <mc:Choice xmlns:v="urn:schemas-microsoft-com:vml" Requires="v">
                  <p:oleObj spid="_x0000_s27783" name="公式" r:id="rId3" imgW="35356800" imgH="11887200" progId="Equation.3">
                    <p:embed/>
                  </p:oleObj>
                </mc:Choice>
                <mc:Fallback>
                  <p:oleObj name="公式" r:id="rId3" imgW="35356800" imgH="11887200" progId="Equation.3">
                    <p:embed/>
                    <p:pic>
                      <p:nvPicPr>
                        <p:cNvPr id="0" name="图片 27738"/>
                        <p:cNvPicPr>
                          <a:picLocks noChangeAspect="1" noChangeArrowheads="1"/>
                        </p:cNvPicPr>
                        <p:nvPr/>
                      </p:nvPicPr>
                      <p:blipFill>
                        <a:blip r:embed="rId4"/>
                        <a:srcRect/>
                        <a:stretch>
                          <a:fillRect/>
                        </a:stretch>
                      </p:blipFill>
                      <p:spPr bwMode="auto">
                        <a:xfrm>
                          <a:off x="1910" y="1713"/>
                          <a:ext cx="2193" cy="665"/>
                        </a:xfrm>
                        <a:prstGeom prst="rect">
                          <a:avLst/>
                        </a:prstGeom>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ln>
                          <a:noFill/>
                        </a:ln>
                        <a:effectLst/>
                      </p:spPr>
                    </p:pic>
                  </p:oleObj>
                </mc:Fallback>
              </mc:AlternateContent>
            </a:graphicData>
          </a:graphic>
        </p:graphicFrame>
        <p:sp>
          <p:nvSpPr>
            <p:cNvPr id="26634" name="Line 6"/>
            <p:cNvSpPr>
              <a:spLocks noChangeShapeType="1"/>
            </p:cNvSpPr>
            <p:nvPr/>
          </p:nvSpPr>
          <p:spPr bwMode="auto">
            <a:xfrm>
              <a:off x="1080" y="2022"/>
              <a:ext cx="552"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4825" name="Text Box 9"/>
          <p:cNvSpPr txBox="1">
            <a:spLocks noChangeArrowheads="1"/>
          </p:cNvSpPr>
          <p:nvPr/>
        </p:nvSpPr>
        <p:spPr bwMode="auto">
          <a:xfrm>
            <a:off x="601282" y="5431533"/>
            <a:ext cx="3076483"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200" dirty="0">
                <a:solidFill>
                  <a:srgbClr val="002060"/>
                </a:solidFill>
                <a:latin typeface="Times New Roman" panose="02020603050405020304" pitchFamily="18" charset="0"/>
                <a:ea typeface="华文中宋" panose="02010600040101010101" pitchFamily="2" charset="-122"/>
              </a:rPr>
              <a:t>若轴上开键槽：</a:t>
            </a:r>
            <a:r>
              <a:rPr kumimoji="1" lang="en-US" altLang="zh-CN" sz="2200" b="1" i="1" dirty="0">
                <a:solidFill>
                  <a:srgbClr val="002060"/>
                </a:solidFill>
                <a:latin typeface="Times New Roman" panose="02020603050405020304" pitchFamily="18" charset="0"/>
                <a:ea typeface="华文中宋" panose="02010600040101010101" pitchFamily="2" charset="-122"/>
              </a:rPr>
              <a:t>d </a:t>
            </a:r>
            <a:r>
              <a:rPr kumimoji="1" lang="zh-CN" altLang="en-US" sz="2200" dirty="0">
                <a:solidFill>
                  <a:srgbClr val="002060"/>
                </a:solidFill>
                <a:latin typeface="Times New Roman" panose="02020603050405020304" pitchFamily="18" charset="0"/>
                <a:ea typeface="华文中宋" panose="02010600040101010101" pitchFamily="2" charset="-122"/>
              </a:rPr>
              <a:t>适当↑</a:t>
            </a:r>
            <a:endParaRPr kumimoji="1" lang="zh-CN" altLang="en-US" sz="2200" dirty="0">
              <a:solidFill>
                <a:srgbClr val="002060"/>
              </a:solidFill>
              <a:latin typeface="Times New Roman" panose="02020603050405020304" pitchFamily="18" charset="0"/>
              <a:ea typeface="华文中宋" panose="02010600040101010101" pitchFamily="2" charset="-122"/>
            </a:endParaRPr>
          </a:p>
        </p:txBody>
      </p:sp>
      <p:sp>
        <p:nvSpPr>
          <p:cNvPr id="34826" name="Text Box 10"/>
          <p:cNvSpPr txBox="1">
            <a:spLocks noChangeArrowheads="1"/>
          </p:cNvSpPr>
          <p:nvPr/>
        </p:nvSpPr>
        <p:spPr bwMode="auto">
          <a:xfrm>
            <a:off x="3712525" y="5274849"/>
            <a:ext cx="5087262" cy="904863"/>
          </a:xfrm>
          <a:prstGeom prst="rect">
            <a:avLst/>
          </a:prstGeom>
          <a:noFill/>
          <a:ln w="19050">
            <a:solidFill>
              <a:srgbClr val="00B05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lnSpc>
                <a:spcPct val="120000"/>
              </a:lnSpc>
              <a:defRPr/>
            </a:pPr>
            <a:r>
              <a:rPr kumimoji="1" lang="zh-CN" altLang="en-US" sz="2200" b="1" dirty="0">
                <a:solidFill>
                  <a:schemeClr val="accent2"/>
                </a:solidFill>
                <a:effectLst>
                  <a:outerShdw blurRad="38100" dist="38100" dir="2700000" algn="tl">
                    <a:srgbClr val="C0C0C0"/>
                  </a:outerShdw>
                </a:effectLst>
                <a:latin typeface="Times New Roman" panose="02020603050405020304" pitchFamily="18" charset="0"/>
                <a:ea typeface="华文中宋" panose="02010600040101010101" pitchFamily="2" charset="-122"/>
              </a:rPr>
              <a:t>单键</a:t>
            </a:r>
            <a:r>
              <a:rPr kumimoji="1" lang="zh-CN" altLang="en-US" sz="2200" dirty="0">
                <a:solidFill>
                  <a:srgbClr val="002060"/>
                </a:solidFill>
                <a:latin typeface="Times New Roman" panose="02020603050405020304" pitchFamily="18" charset="0"/>
                <a:ea typeface="华文中宋" panose="02010600040101010101" pitchFamily="2" charset="-122"/>
              </a:rPr>
              <a:t>：</a:t>
            </a:r>
            <a:r>
              <a:rPr kumimoji="1" lang="zh-CN" altLang="en-US" sz="2200" b="1" dirty="0">
                <a:solidFill>
                  <a:srgbClr val="FF0000"/>
                </a:solidFill>
                <a:latin typeface="Times New Roman" panose="02020603050405020304" pitchFamily="18" charset="0"/>
                <a:ea typeface="华文中宋" panose="02010600040101010101" pitchFamily="2" charset="-122"/>
              </a:rPr>
              <a:t>↑</a:t>
            </a:r>
            <a:r>
              <a:rPr kumimoji="1" lang="en-US" altLang="zh-CN" sz="2200" b="1" dirty="0">
                <a:solidFill>
                  <a:srgbClr val="FF0000"/>
                </a:solidFill>
                <a:latin typeface="Times New Roman" panose="02020603050405020304" pitchFamily="18" charset="0"/>
                <a:ea typeface="华文中宋" panose="02010600040101010101" pitchFamily="2" charset="-122"/>
              </a:rPr>
              <a:t>(3~5)%</a:t>
            </a:r>
            <a:r>
              <a:rPr kumimoji="1" lang="zh-CN" altLang="en-US" sz="2200" b="1" dirty="0">
                <a:solidFill>
                  <a:srgbClr val="FF0000"/>
                </a:solidFill>
                <a:latin typeface="Times New Roman" panose="02020603050405020304" pitchFamily="18" charset="0"/>
                <a:ea typeface="华文中宋" panose="02010600040101010101" pitchFamily="2" charset="-122"/>
              </a:rPr>
              <a:t>，</a:t>
            </a:r>
            <a:r>
              <a:rPr kumimoji="1" lang="zh-CN" altLang="en-US" sz="2200" b="1" dirty="0">
                <a:solidFill>
                  <a:schemeClr val="accent2"/>
                </a:solidFill>
                <a:effectLst>
                  <a:outerShdw blurRad="38100" dist="38100" dir="2700000" algn="tl">
                    <a:srgbClr val="C0C0C0"/>
                  </a:outerShdw>
                </a:effectLst>
                <a:latin typeface="Times New Roman" panose="02020603050405020304" pitchFamily="18" charset="0"/>
                <a:ea typeface="华文中宋" panose="02010600040101010101" pitchFamily="2" charset="-122"/>
              </a:rPr>
              <a:t>双键</a:t>
            </a:r>
            <a:r>
              <a:rPr kumimoji="1" lang="zh-CN" altLang="en-US" sz="2200" dirty="0">
                <a:solidFill>
                  <a:srgbClr val="002060"/>
                </a:solidFill>
                <a:latin typeface="Times New Roman" panose="02020603050405020304" pitchFamily="18" charset="0"/>
                <a:ea typeface="华文中宋" panose="02010600040101010101" pitchFamily="2" charset="-122"/>
              </a:rPr>
              <a:t>：</a:t>
            </a:r>
            <a:r>
              <a:rPr kumimoji="1" lang="zh-CN" altLang="en-US" sz="2200" b="1" dirty="0">
                <a:solidFill>
                  <a:srgbClr val="FF0000"/>
                </a:solidFill>
                <a:latin typeface="Times New Roman" panose="02020603050405020304" pitchFamily="18" charset="0"/>
                <a:ea typeface="华文中宋" panose="02010600040101010101" pitchFamily="2" charset="-122"/>
              </a:rPr>
              <a:t>↑</a:t>
            </a:r>
            <a:r>
              <a:rPr kumimoji="1" lang="en-US" altLang="zh-CN" sz="2200" b="1" dirty="0">
                <a:solidFill>
                  <a:srgbClr val="FF0000"/>
                </a:solidFill>
                <a:latin typeface="Times New Roman" panose="02020603050405020304" pitchFamily="18" charset="0"/>
                <a:ea typeface="华文中宋" panose="02010600040101010101" pitchFamily="2" charset="-122"/>
              </a:rPr>
              <a:t>(7~10)%</a:t>
            </a:r>
            <a:endParaRPr kumimoji="1" lang="en-US" altLang="zh-CN" sz="2200" b="1" dirty="0">
              <a:solidFill>
                <a:srgbClr val="FF0000"/>
              </a:solidFill>
              <a:latin typeface="Times New Roman" panose="02020603050405020304" pitchFamily="18" charset="0"/>
              <a:ea typeface="华文中宋" panose="02010600040101010101" pitchFamily="2" charset="-122"/>
            </a:endParaRPr>
          </a:p>
          <a:p>
            <a:pPr eaLnBrk="1" hangingPunct="1">
              <a:lnSpc>
                <a:spcPct val="120000"/>
              </a:lnSpc>
              <a:defRPr/>
            </a:pPr>
            <a:r>
              <a:rPr kumimoji="1" lang="zh-CN" altLang="en-US" sz="2200" b="1" dirty="0">
                <a:solidFill>
                  <a:schemeClr val="accent2"/>
                </a:solidFill>
                <a:latin typeface="Times New Roman" panose="02020603050405020304" pitchFamily="18" charset="0"/>
                <a:ea typeface="华文中宋" panose="02010600040101010101" pitchFamily="2" charset="-122"/>
              </a:rPr>
              <a:t>花键：</a:t>
            </a:r>
            <a:r>
              <a:rPr kumimoji="1" lang="zh-CN" altLang="en-US" sz="2200" dirty="0">
                <a:solidFill>
                  <a:srgbClr val="002060"/>
                </a:solidFill>
                <a:latin typeface="Times New Roman" panose="02020603050405020304" pitchFamily="18" charset="0"/>
                <a:ea typeface="华文中宋" panose="02010600040101010101" pitchFamily="2" charset="-122"/>
              </a:rPr>
              <a:t>计算出的 </a:t>
            </a:r>
            <a:r>
              <a:rPr kumimoji="1" lang="en-US" altLang="zh-CN" sz="2200" b="1" i="1" dirty="0">
                <a:solidFill>
                  <a:srgbClr val="002060"/>
                </a:solidFill>
                <a:latin typeface="Times New Roman" panose="02020603050405020304" pitchFamily="18" charset="0"/>
                <a:ea typeface="华文中宋" panose="02010600040101010101" pitchFamily="2" charset="-122"/>
              </a:rPr>
              <a:t>d </a:t>
            </a:r>
            <a:r>
              <a:rPr kumimoji="1" lang="zh-CN" altLang="en-US" sz="2200" dirty="0">
                <a:solidFill>
                  <a:srgbClr val="002060"/>
                </a:solidFill>
                <a:latin typeface="Times New Roman" panose="02020603050405020304" pitchFamily="18" charset="0"/>
                <a:ea typeface="华文中宋" panose="02010600040101010101" pitchFamily="2" charset="-122"/>
              </a:rPr>
              <a:t>为花键内径。</a:t>
            </a:r>
            <a:endParaRPr kumimoji="1" lang="zh-CN" altLang="en-US" sz="2200" dirty="0">
              <a:solidFill>
                <a:srgbClr val="002060"/>
              </a:solidFill>
              <a:latin typeface="Times New Roman" panose="02020603050405020304" pitchFamily="18" charset="0"/>
              <a:ea typeface="华文中宋" panose="02010600040101010101" pitchFamily="2" charset="-122"/>
            </a:endParaRPr>
          </a:p>
        </p:txBody>
      </p:sp>
      <p:sp>
        <p:nvSpPr>
          <p:cNvPr id="26632" name="Text Box 12"/>
          <p:cNvSpPr txBox="1">
            <a:spLocks noChangeArrowheads="1"/>
          </p:cNvSpPr>
          <p:nvPr/>
        </p:nvSpPr>
        <p:spPr bwMode="auto">
          <a:xfrm>
            <a:off x="510311" y="944531"/>
            <a:ext cx="2597150" cy="4298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200" b="1" dirty="0">
                <a:solidFill>
                  <a:srgbClr val="800000"/>
                </a:solidFill>
                <a:latin typeface="华文中宋" panose="02010600040101010101" pitchFamily="2" charset="-122"/>
                <a:ea typeface="华文中宋" panose="02010600040101010101" pitchFamily="2" charset="-122"/>
              </a:rPr>
              <a:t>7</a:t>
            </a:r>
            <a:r>
              <a:rPr kumimoji="1" lang="zh-CN" altLang="en-US" sz="2200" b="1" dirty="0">
                <a:solidFill>
                  <a:srgbClr val="800000"/>
                </a:solidFill>
                <a:latin typeface="华文中宋" panose="02010600040101010101" pitchFamily="2" charset="-122"/>
                <a:ea typeface="华文中宋" panose="02010600040101010101" pitchFamily="2" charset="-122"/>
              </a:rPr>
              <a:t>、确定危险截面。</a:t>
            </a:r>
            <a:endParaRPr kumimoji="1" lang="zh-CN" altLang="en-US" sz="2200" b="1" dirty="0">
              <a:solidFill>
                <a:srgbClr val="800000"/>
              </a:solidFill>
              <a:latin typeface="华文中宋" panose="02010600040101010101" pitchFamily="2" charset="-122"/>
              <a:ea typeface="华文中宋" panose="02010600040101010101" pitchFamily="2" charset="-122"/>
            </a:endParaRPr>
          </a:p>
        </p:txBody>
      </p:sp>
      <p:sp>
        <p:nvSpPr>
          <p:cNvPr id="11" name="Text Box 4"/>
          <p:cNvSpPr txBox="1">
            <a:spLocks noChangeArrowheads="1"/>
          </p:cNvSpPr>
          <p:nvPr/>
        </p:nvSpPr>
        <p:spPr bwMode="auto">
          <a:xfrm>
            <a:off x="5472113" y="174625"/>
            <a:ext cx="23164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sz="2400" dirty="0" smtClean="0">
                <a:solidFill>
                  <a:srgbClr val="CC3300"/>
                </a:solidFill>
                <a:latin typeface="黑体" panose="02010609060101010101" pitchFamily="49" charset="-122"/>
                <a:ea typeface="黑体" panose="02010609060101010101" pitchFamily="49" charset="-122"/>
              </a:rPr>
              <a:t>3.7-3 </a:t>
            </a:r>
            <a:r>
              <a:rPr lang="zh-CN" altLang="en-US" sz="2400" dirty="0">
                <a:solidFill>
                  <a:srgbClr val="CC3300"/>
                </a:solidFill>
                <a:latin typeface="黑体" panose="02010609060101010101" pitchFamily="49" charset="-122"/>
                <a:ea typeface="黑体" panose="02010609060101010101" pitchFamily="49" charset="-122"/>
              </a:rPr>
              <a:t>轴的计算</a:t>
            </a:r>
            <a:endParaRPr lang="zh-CN" altLang="en-US" sz="2400" dirty="0">
              <a:solidFill>
                <a:srgbClr val="CC3300"/>
              </a:solidFill>
              <a:latin typeface="黑体" panose="02010609060101010101" pitchFamily="49" charset="-122"/>
              <a:ea typeface="黑体" panose="02010609060101010101" pitchFamily="49" charset="-122"/>
            </a:endParaRPr>
          </a:p>
        </p:txBody>
      </p:sp>
      <p:sp>
        <p:nvSpPr>
          <p:cNvPr id="12"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13" name="矩形 32"/>
          <p:cNvSpPr>
            <a:spLocks noChangeArrowheads="1"/>
          </p:cNvSpPr>
          <p:nvPr/>
        </p:nvSpPr>
        <p:spPr bwMode="auto">
          <a:xfrm>
            <a:off x="816555" y="1822067"/>
            <a:ext cx="508132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zh-CN" altLang="en-US" dirty="0">
                <a:solidFill>
                  <a:srgbClr val="003399"/>
                </a:solidFill>
              </a:rPr>
              <a:t>对于一般钢制轴，可用第三强度理论（最大切应力理论）求出危险截面</a:t>
            </a:r>
            <a:r>
              <a:rPr lang="zh-CN" altLang="en-US" dirty="0" smtClean="0">
                <a:solidFill>
                  <a:srgbClr val="003399"/>
                </a:solidFill>
              </a:rPr>
              <a:t>的计算应力：</a:t>
            </a:r>
            <a:endParaRPr lang="zh-CN" altLang="en-US" dirty="0">
              <a:solidFill>
                <a:srgbClr val="003399"/>
              </a:solidFill>
            </a:endParaRPr>
          </a:p>
        </p:txBody>
      </p:sp>
      <p:graphicFrame>
        <p:nvGraphicFramePr>
          <p:cNvPr id="14" name="Object 46"/>
          <p:cNvGraphicFramePr>
            <a:graphicFrameLocks noChangeAspect="1"/>
          </p:cNvGraphicFramePr>
          <p:nvPr/>
        </p:nvGraphicFramePr>
        <p:xfrm>
          <a:off x="5913009" y="1884781"/>
          <a:ext cx="2262359" cy="519292"/>
        </p:xfrm>
        <a:graphic>
          <a:graphicData uri="http://schemas.openxmlformats.org/presentationml/2006/ole">
            <mc:AlternateContent xmlns:mc="http://schemas.openxmlformats.org/markup-compatibility/2006">
              <mc:Choice xmlns:v="urn:schemas-microsoft-com:vml" Requires="v">
                <p:oleObj spid="_x0000_s27784" name="公式" r:id="rId5" imgW="1282700" imgH="292100" progId="Equation.3">
                  <p:embed/>
                </p:oleObj>
              </mc:Choice>
              <mc:Fallback>
                <p:oleObj name="公式" r:id="rId5" imgW="1282700" imgH="292100" progId="Equation.3">
                  <p:embed/>
                  <p:pic>
                    <p:nvPicPr>
                      <p:cNvPr id="0" name="图片 2773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13009" y="1884781"/>
                        <a:ext cx="2262359" cy="519292"/>
                      </a:xfrm>
                      <a:prstGeom prst="rect">
                        <a:avLst/>
                      </a:prstGeom>
                      <a:noFill/>
                    </p:spPr>
                  </p:pic>
                </p:oleObj>
              </mc:Fallback>
            </mc:AlternateContent>
          </a:graphicData>
        </a:graphic>
      </p:graphicFrame>
      <p:sp>
        <p:nvSpPr>
          <p:cNvPr id="15" name="Text Box 83"/>
          <p:cNvSpPr txBox="1">
            <a:spLocks noChangeArrowheads="1"/>
          </p:cNvSpPr>
          <p:nvPr/>
        </p:nvSpPr>
        <p:spPr bwMode="auto">
          <a:xfrm>
            <a:off x="1088097" y="4638281"/>
            <a:ext cx="8244565"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10000"/>
              </a:lnSpc>
            </a:pPr>
            <a:r>
              <a:rPr lang="zh-CN" altLang="en-US" dirty="0">
                <a:solidFill>
                  <a:srgbClr val="002060"/>
                </a:solidFill>
                <a:latin typeface="华文中宋" panose="02010600040101010101" pitchFamily="2" charset="-122"/>
              </a:rPr>
              <a:t>式中</a:t>
            </a:r>
            <a:r>
              <a:rPr lang="en-US" altLang="zh-CN" dirty="0">
                <a:solidFill>
                  <a:srgbClr val="002060"/>
                </a:solidFill>
                <a:latin typeface="华文中宋" panose="02010600040101010101" pitchFamily="2" charset="-122"/>
              </a:rPr>
              <a:t>[σ</a:t>
            </a:r>
            <a:r>
              <a:rPr lang="en-US" altLang="zh-CN" baseline="-25000" dirty="0">
                <a:solidFill>
                  <a:srgbClr val="002060"/>
                </a:solidFill>
                <a:latin typeface="华文中宋" panose="02010600040101010101" pitchFamily="2" charset="-122"/>
              </a:rPr>
              <a:t>-1</a:t>
            </a:r>
            <a:r>
              <a:rPr lang="en-US" altLang="zh-CN" dirty="0">
                <a:solidFill>
                  <a:srgbClr val="002060"/>
                </a:solidFill>
                <a:latin typeface="华文中宋" panose="02010600040101010101" pitchFamily="2" charset="-122"/>
              </a:rPr>
              <a:t>]</a:t>
            </a:r>
            <a:r>
              <a:rPr lang="zh-CN" altLang="en-US" dirty="0">
                <a:solidFill>
                  <a:srgbClr val="002060"/>
                </a:solidFill>
                <a:latin typeface="华文中宋" panose="02010600040101010101" pitchFamily="2" charset="-122"/>
              </a:rPr>
              <a:t>为对称循环变应力时轴的许用弯曲应力（可</a:t>
            </a:r>
            <a:r>
              <a:rPr lang="zh-CN" altLang="en-US" dirty="0" smtClean="0">
                <a:solidFill>
                  <a:srgbClr val="002060"/>
                </a:solidFill>
                <a:latin typeface="华文中宋" panose="02010600040101010101" pitchFamily="2" charset="-122"/>
              </a:rPr>
              <a:t>查表</a:t>
            </a:r>
            <a:r>
              <a:rPr lang="en-US" altLang="zh-CN" dirty="0" smtClean="0">
                <a:solidFill>
                  <a:srgbClr val="002060"/>
                </a:solidFill>
                <a:latin typeface="华文中宋" panose="02010600040101010101" pitchFamily="2" charset="-122"/>
              </a:rPr>
              <a:t>3.7-2</a:t>
            </a:r>
            <a:r>
              <a:rPr lang="zh-CN" altLang="en-US" dirty="0" smtClean="0">
                <a:solidFill>
                  <a:srgbClr val="002060"/>
                </a:solidFill>
                <a:latin typeface="华文中宋" panose="02010600040101010101" pitchFamily="2" charset="-122"/>
              </a:rPr>
              <a:t>选取</a:t>
            </a:r>
            <a:r>
              <a:rPr lang="zh-CN" altLang="en-US" dirty="0">
                <a:solidFill>
                  <a:srgbClr val="002060"/>
                </a:solidFill>
                <a:latin typeface="华文中宋" panose="02010600040101010101" pitchFamily="2" charset="-122"/>
              </a:rPr>
              <a:t>）；</a:t>
            </a:r>
            <a:endParaRPr lang="zh-CN" altLang="en-US" dirty="0">
              <a:solidFill>
                <a:srgbClr val="002060"/>
              </a:solidFill>
              <a:latin typeface="华文中宋" panose="02010600040101010101" pitchFamily="2" charset="-122"/>
            </a:endParaRPr>
          </a:p>
        </p:txBody>
      </p:sp>
      <p:sp>
        <p:nvSpPr>
          <p:cNvPr id="2" name="文本框 1"/>
          <p:cNvSpPr txBox="1"/>
          <p:nvPr/>
        </p:nvSpPr>
        <p:spPr>
          <a:xfrm>
            <a:off x="6739128" y="2578608"/>
            <a:ext cx="2020824" cy="1015663"/>
          </a:xfrm>
          <a:prstGeom prst="rect">
            <a:avLst/>
          </a:prstGeom>
          <a:solidFill>
            <a:schemeClr val="accent1">
              <a:lumMod val="20000"/>
              <a:lumOff val="80000"/>
            </a:schemeClr>
          </a:solidFill>
        </p:spPr>
        <p:txBody>
          <a:bodyPr wrap="square" rtlCol="0">
            <a:spAutoFit/>
          </a:bodyPr>
          <a:lstStyle/>
          <a:p>
            <a:r>
              <a:rPr lang="en-US" altLang="zh-CN" dirty="0" smtClean="0"/>
              <a:t>W——</a:t>
            </a:r>
            <a:r>
              <a:rPr lang="zh-CN" altLang="en-US" dirty="0" smtClean="0"/>
              <a:t>轴的抗弯截面系数，见表</a:t>
            </a:r>
            <a:r>
              <a:rPr lang="en-US" altLang="zh-CN" dirty="0" smtClean="0"/>
              <a:t>3.7-7</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4818"/>
                                        </p:tgtEl>
                                        <p:attrNameLst>
                                          <p:attrName>style.visibility</p:attrName>
                                        </p:attrNameLst>
                                      </p:cBhvr>
                                      <p:to>
                                        <p:strVal val="visible"/>
                                      </p:to>
                                    </p:set>
                                    <p:animEffect transition="in" filter="wipe(down)">
                                      <p:cBhvr>
                                        <p:cTn id="7" dur="500"/>
                                        <p:tgtEl>
                                          <p:spTgt spid="34818"/>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childTnLst>
                                </p:cTn>
                              </p:par>
                            </p:childTnLst>
                          </p:cTn>
                        </p:par>
                        <p:par>
                          <p:cTn id="12" fill="hold">
                            <p:stCondLst>
                              <p:cond delay="0"/>
                            </p:stCondLst>
                            <p:childTnLst>
                              <p:par>
                                <p:cTn id="13" presetID="1" presetClass="entr" presetSubtype="0" fill="hold" nodeType="after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34819"/>
                                        </p:tgtEl>
                                        <p:attrNameLst>
                                          <p:attrName>style.visibility</p:attrName>
                                        </p:attrNameLst>
                                      </p:cBhvr>
                                      <p:to>
                                        <p:strVal val="visible"/>
                                      </p:to>
                                    </p:set>
                                    <p:animEffect transition="in" filter="wipe(left)">
                                      <p:cBhvr>
                                        <p:cTn id="19" dur="500"/>
                                        <p:tgtEl>
                                          <p:spTgt spid="34819"/>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wipe(up)">
                                      <p:cBhvr>
                                        <p:cTn id="24" dur="500"/>
                                        <p:tgtEl>
                                          <p:spTgt spid="2"/>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nodeType="clickEffect">
                                  <p:stCondLst>
                                    <p:cond delay="0"/>
                                  </p:stCondLst>
                                  <p:childTnLst>
                                    <p:set>
                                      <p:cBhvr>
                                        <p:cTn id="28" dur="1" fill="hold">
                                          <p:stCondLst>
                                            <p:cond delay="0"/>
                                          </p:stCondLst>
                                        </p:cTn>
                                        <p:tgtEl>
                                          <p:spTgt spid="34827"/>
                                        </p:tgtEl>
                                        <p:attrNameLst>
                                          <p:attrName>style.visibility</p:attrName>
                                        </p:attrNameLst>
                                      </p:cBhvr>
                                      <p:to>
                                        <p:strVal val="visible"/>
                                      </p:to>
                                    </p:set>
                                    <p:animEffect transition="in" filter="wipe(down)">
                                      <p:cBhvr>
                                        <p:cTn id="29" dur="500"/>
                                        <p:tgtEl>
                                          <p:spTgt spid="34827"/>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grpId="0" nodeType="click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wipe(up)">
                                      <p:cBhvr>
                                        <p:cTn id="34" dur="500"/>
                                        <p:tgtEl>
                                          <p:spTgt spid="15"/>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34825"/>
                                        </p:tgtEl>
                                        <p:attrNameLst>
                                          <p:attrName>style.visibility</p:attrName>
                                        </p:attrNameLst>
                                      </p:cBhvr>
                                      <p:to>
                                        <p:strVal val="visible"/>
                                      </p:to>
                                    </p:set>
                                    <p:animEffect transition="in" filter="wipe(left)">
                                      <p:cBhvr>
                                        <p:cTn id="39" dur="500"/>
                                        <p:tgtEl>
                                          <p:spTgt spid="34825"/>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34826"/>
                                        </p:tgtEl>
                                        <p:attrNameLst>
                                          <p:attrName>style.visibility</p:attrName>
                                        </p:attrNameLst>
                                      </p:cBhvr>
                                      <p:to>
                                        <p:strVal val="visible"/>
                                      </p:to>
                                    </p:set>
                                    <p:animEffect transition="in" filter="wipe(left)">
                                      <p:cBhvr>
                                        <p:cTn id="44" dur="500"/>
                                        <p:tgtEl>
                                          <p:spTgt spid="348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8" grpId="0" bldLvl="0" animBg="1"/>
      <p:bldP spid="34825" grpId="0" autoUpdateAnimBg="0"/>
      <p:bldP spid="34826" grpId="0" animBg="1"/>
      <p:bldP spid="13" grpId="0"/>
      <p:bldP spid="15" grpId="0" autoUpdateAnimBg="0"/>
      <p:bldP spid="2"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2" name="Rectangle 2"/>
          <p:cNvSpPr>
            <a:spLocks noGrp="1" noChangeArrowheads="1"/>
          </p:cNvSpPr>
          <p:nvPr>
            <p:ph type="title"/>
          </p:nvPr>
        </p:nvSpPr>
        <p:spPr bwMode="auto">
          <a:xfrm>
            <a:off x="6756400" y="830263"/>
            <a:ext cx="1717675" cy="2762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algn="l" eaLnBrk="1" hangingPunct="1"/>
            <a:r>
              <a:rPr lang="zh-CN" altLang="en-US" sz="800" smtClean="0">
                <a:solidFill>
                  <a:schemeClr val="bg1"/>
                </a:solidFill>
                <a:latin typeface="黑体" panose="02010609060101010101" pitchFamily="49" charset="-122"/>
                <a:ea typeface="黑体" panose="02010609060101010101" pitchFamily="49" charset="-122"/>
              </a:rPr>
              <a:t>轴的计算</a:t>
            </a:r>
            <a:r>
              <a:rPr lang="en-US" altLang="zh-CN" sz="800" smtClean="0">
                <a:solidFill>
                  <a:schemeClr val="bg1"/>
                </a:solidFill>
                <a:latin typeface="黑体" panose="02010609060101010101" pitchFamily="49" charset="-122"/>
                <a:ea typeface="黑体" panose="02010609060101010101" pitchFamily="49" charset="-122"/>
              </a:rPr>
              <a:t>4</a:t>
            </a:r>
            <a:endParaRPr lang="en-US" altLang="zh-CN" sz="800" smtClean="0">
              <a:solidFill>
                <a:schemeClr val="bg1"/>
              </a:solidFill>
              <a:latin typeface="黑体" panose="02010609060101010101" pitchFamily="49" charset="-122"/>
              <a:ea typeface="黑体" panose="02010609060101010101" pitchFamily="49" charset="-122"/>
            </a:endParaRPr>
          </a:p>
        </p:txBody>
      </p:sp>
      <p:sp>
        <p:nvSpPr>
          <p:cNvPr id="9223" name="Text Box 4"/>
          <p:cNvSpPr txBox="1">
            <a:spLocks noChangeArrowheads="1"/>
          </p:cNvSpPr>
          <p:nvPr/>
        </p:nvSpPr>
        <p:spPr bwMode="auto">
          <a:xfrm>
            <a:off x="5472113" y="174625"/>
            <a:ext cx="23164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sz="2400" dirty="0" smtClean="0">
                <a:solidFill>
                  <a:srgbClr val="CC3300"/>
                </a:solidFill>
                <a:latin typeface="黑体" panose="02010609060101010101" pitchFamily="49" charset="-122"/>
                <a:ea typeface="黑体" panose="02010609060101010101" pitchFamily="49" charset="-122"/>
              </a:rPr>
              <a:t>3.7-3 </a:t>
            </a:r>
            <a:r>
              <a:rPr lang="zh-CN" altLang="en-US" sz="2400" dirty="0">
                <a:solidFill>
                  <a:srgbClr val="CC3300"/>
                </a:solidFill>
                <a:latin typeface="黑体" panose="02010609060101010101" pitchFamily="49" charset="-122"/>
                <a:ea typeface="黑体" panose="02010609060101010101" pitchFamily="49" charset="-122"/>
              </a:rPr>
              <a:t>轴的计算</a:t>
            </a:r>
            <a:endParaRPr lang="zh-CN" altLang="en-US" sz="2400" dirty="0">
              <a:solidFill>
                <a:srgbClr val="CC3300"/>
              </a:solidFill>
              <a:latin typeface="黑体" panose="02010609060101010101" pitchFamily="49" charset="-122"/>
              <a:ea typeface="黑体" panose="02010609060101010101" pitchFamily="49" charset="-122"/>
            </a:endParaRPr>
          </a:p>
        </p:txBody>
      </p:sp>
      <p:sp>
        <p:nvSpPr>
          <p:cNvPr id="43013" name="Text Box 5"/>
          <p:cNvSpPr txBox="1">
            <a:spLocks noChangeArrowheads="1"/>
          </p:cNvSpPr>
          <p:nvPr/>
        </p:nvSpPr>
        <p:spPr bwMode="auto">
          <a:xfrm>
            <a:off x="125396" y="931486"/>
            <a:ext cx="42976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zh-CN" altLang="en-US" sz="2400" dirty="0" smtClean="0">
                <a:solidFill>
                  <a:srgbClr val="C00000"/>
                </a:solidFill>
                <a:latin typeface="黑体" panose="02010609060101010101" pitchFamily="49" charset="-122"/>
                <a:ea typeface="黑体" panose="02010609060101010101" pitchFamily="49" charset="-122"/>
              </a:rPr>
              <a:t>三、按</a:t>
            </a:r>
            <a:r>
              <a:rPr lang="zh-CN" altLang="en-US" sz="2400" dirty="0">
                <a:solidFill>
                  <a:srgbClr val="C00000"/>
                </a:solidFill>
                <a:latin typeface="黑体" panose="02010609060101010101" pitchFamily="49" charset="-122"/>
                <a:ea typeface="黑体" panose="02010609060101010101" pitchFamily="49" charset="-122"/>
              </a:rPr>
              <a:t>疲劳强度条件进行校核 </a:t>
            </a:r>
            <a:endParaRPr lang="zh-CN" altLang="en-US" sz="2400" dirty="0">
              <a:solidFill>
                <a:srgbClr val="C00000"/>
              </a:solidFill>
              <a:latin typeface="黑体" panose="02010609060101010101" pitchFamily="49" charset="-122"/>
              <a:ea typeface="黑体" panose="02010609060101010101" pitchFamily="49" charset="-122"/>
            </a:endParaRPr>
          </a:p>
        </p:txBody>
      </p:sp>
      <p:sp>
        <p:nvSpPr>
          <p:cNvPr id="43014" name="Text Box 6"/>
          <p:cNvSpPr txBox="1">
            <a:spLocks noChangeArrowheads="1"/>
          </p:cNvSpPr>
          <p:nvPr/>
        </p:nvSpPr>
        <p:spPr bwMode="auto">
          <a:xfrm>
            <a:off x="70856" y="2030540"/>
            <a:ext cx="8991663" cy="4985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20000"/>
              </a:lnSpc>
            </a:pPr>
            <a:r>
              <a:rPr lang="zh-CN" altLang="en-US" dirty="0">
                <a:solidFill>
                  <a:srgbClr val="002060"/>
                </a:solidFill>
                <a:latin typeface="华文中宋" panose="02010600040101010101" pitchFamily="2" charset="-122"/>
              </a:rPr>
              <a:t>　</a:t>
            </a:r>
            <a:r>
              <a:rPr lang="zh-CN" altLang="en-US" sz="2200" dirty="0" smtClean="0">
                <a:latin typeface="华文中宋" panose="02010600040101010101" pitchFamily="2" charset="-122"/>
              </a:rPr>
              <a:t>在</a:t>
            </a:r>
            <a:r>
              <a:rPr lang="zh-CN" altLang="en-US" sz="2200" dirty="0">
                <a:latin typeface="华文中宋" panose="02010600040101010101" pitchFamily="2" charset="-122"/>
              </a:rPr>
              <a:t>已知轴的外形、尺寸及载荷的情况下，可对轴的疲劳强度进行校核</a:t>
            </a:r>
            <a:r>
              <a:rPr lang="zh-CN" altLang="en-US" sz="2200" dirty="0" smtClean="0">
                <a:latin typeface="华文中宋" panose="02010600040101010101" pitchFamily="2" charset="-122"/>
              </a:rPr>
              <a:t>，</a:t>
            </a:r>
            <a:endParaRPr lang="zh-CN" altLang="en-US" sz="2200" dirty="0">
              <a:latin typeface="华文中宋" panose="02010600040101010101" pitchFamily="2" charset="-122"/>
            </a:endParaRPr>
          </a:p>
        </p:txBody>
      </p:sp>
      <p:graphicFrame>
        <p:nvGraphicFramePr>
          <p:cNvPr id="4098" name="Object 7"/>
          <p:cNvGraphicFramePr>
            <a:graphicFrameLocks noChangeAspect="1"/>
          </p:cNvGraphicFramePr>
          <p:nvPr/>
        </p:nvGraphicFramePr>
        <p:xfrm>
          <a:off x="362121" y="5106014"/>
          <a:ext cx="2323844" cy="887379"/>
        </p:xfrm>
        <a:graphic>
          <a:graphicData uri="http://schemas.openxmlformats.org/presentationml/2006/ole">
            <mc:AlternateContent xmlns:mc="http://schemas.openxmlformats.org/markup-compatibility/2006">
              <mc:Choice xmlns:v="urn:schemas-microsoft-com:vml" Requires="v">
                <p:oleObj spid="_x0000_s9421" name="" r:id="rId1" imgW="1180465" imgH="451485" progId="Equation.3">
                  <p:embed/>
                </p:oleObj>
              </mc:Choice>
              <mc:Fallback>
                <p:oleObj name="" r:id="rId1" imgW="1180465" imgH="451485" progId="Equation.3">
                  <p:embed/>
                  <p:pic>
                    <p:nvPicPr>
                      <p:cNvPr id="0" name="Object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2121" y="5106014"/>
                        <a:ext cx="2323844" cy="887379"/>
                      </a:xfrm>
                      <a:prstGeom prst="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5400000" scaled="1"/>
                        <a:tileRect/>
                      </a:gradFill>
                      <a:ln w="12700">
                        <a:solidFill>
                          <a:srgbClr val="0070C0"/>
                        </a:solidFill>
                      </a:ln>
                    </p:spPr>
                  </p:pic>
                </p:oleObj>
              </mc:Fallback>
            </mc:AlternateContent>
          </a:graphicData>
        </a:graphic>
      </p:graphicFrame>
      <p:sp>
        <p:nvSpPr>
          <p:cNvPr id="9231" name="Text Box 24"/>
          <p:cNvSpPr txBox="1">
            <a:spLocks noChangeArrowheads="1"/>
          </p:cNvSpPr>
          <p:nvPr/>
        </p:nvSpPr>
        <p:spPr bwMode="auto">
          <a:xfrm>
            <a:off x="7764463" y="5848350"/>
            <a:ext cx="844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50000"/>
              </a:spcBef>
            </a:pPr>
            <a:r>
              <a:rPr lang="en-US" altLang="zh-CN"/>
              <a:t>     </a:t>
            </a:r>
            <a:endParaRPr lang="en-US" altLang="zh-CN"/>
          </a:p>
        </p:txBody>
      </p:sp>
      <p:sp>
        <p:nvSpPr>
          <p:cNvPr id="9232" name="Rectangle 2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endParaRPr lang="zh-CN" altLang="en-US"/>
          </a:p>
        </p:txBody>
      </p:sp>
      <p:graphicFrame>
        <p:nvGraphicFramePr>
          <p:cNvPr id="4100" name="Object 26"/>
          <p:cNvGraphicFramePr>
            <a:graphicFrameLocks noChangeAspect="1"/>
          </p:cNvGraphicFramePr>
          <p:nvPr/>
        </p:nvGraphicFramePr>
        <p:xfrm>
          <a:off x="2018294" y="4108766"/>
          <a:ext cx="2363583" cy="822732"/>
        </p:xfrm>
        <a:graphic>
          <a:graphicData uri="http://schemas.openxmlformats.org/presentationml/2006/ole">
            <mc:AlternateContent xmlns:mc="http://schemas.openxmlformats.org/markup-compatibility/2006">
              <mc:Choice xmlns:v="urn:schemas-microsoft-com:vml" Requires="v">
                <p:oleObj spid="_x0000_s9422" name="公式" r:id="rId3" imgW="1282700" imgH="444500" progId="Equation.3">
                  <p:embed/>
                </p:oleObj>
              </mc:Choice>
              <mc:Fallback>
                <p:oleObj name="公式" r:id="rId3" imgW="1282700" imgH="444500" progId="Equation.3">
                  <p:embed/>
                  <p:pic>
                    <p:nvPicPr>
                      <p:cNvPr id="0" name="Object 2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18294" y="4108766"/>
                        <a:ext cx="2363583" cy="822732"/>
                      </a:xfrm>
                      <a:prstGeom prst="rect">
                        <a:avLst/>
                      </a:prstGeom>
                      <a:noFill/>
                    </p:spPr>
                  </p:pic>
                </p:oleObj>
              </mc:Fallback>
            </mc:AlternateContent>
          </a:graphicData>
        </a:graphic>
      </p:graphicFrame>
      <p:sp>
        <p:nvSpPr>
          <p:cNvPr id="9233" name="Rectangle 29"/>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endParaRPr lang="zh-CN" altLang="en-US"/>
          </a:p>
        </p:txBody>
      </p:sp>
      <p:graphicFrame>
        <p:nvGraphicFramePr>
          <p:cNvPr id="4101" name="Object 28"/>
          <p:cNvGraphicFramePr>
            <a:graphicFrameLocks noChangeAspect="1"/>
          </p:cNvGraphicFramePr>
          <p:nvPr/>
        </p:nvGraphicFramePr>
        <p:xfrm>
          <a:off x="6200491" y="4136099"/>
          <a:ext cx="2112166" cy="816146"/>
        </p:xfrm>
        <a:graphic>
          <a:graphicData uri="http://schemas.openxmlformats.org/presentationml/2006/ole">
            <mc:AlternateContent xmlns:mc="http://schemas.openxmlformats.org/markup-compatibility/2006">
              <mc:Choice xmlns:v="urn:schemas-microsoft-com:vml" Requires="v">
                <p:oleObj spid="_x0000_s9423" name="公式" r:id="rId5" imgW="1129665" imgH="431800" progId="Equation.3">
                  <p:embed/>
                </p:oleObj>
              </mc:Choice>
              <mc:Fallback>
                <p:oleObj name="公式" r:id="rId5" imgW="1129665" imgH="431800" progId="Equation.3">
                  <p:embed/>
                  <p:pic>
                    <p:nvPicPr>
                      <p:cNvPr id="0" name="Object 2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00491" y="4136099"/>
                        <a:ext cx="2112166" cy="816146"/>
                      </a:xfrm>
                      <a:prstGeom prst="rect">
                        <a:avLst/>
                      </a:prstGeom>
                      <a:noFill/>
                    </p:spPr>
                  </p:pic>
                </p:oleObj>
              </mc:Fallback>
            </mc:AlternateContent>
          </a:graphicData>
        </a:graphic>
      </p:graphicFrame>
      <p:sp>
        <p:nvSpPr>
          <p:cNvPr id="9234"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19" name="Text Box 9"/>
          <p:cNvSpPr txBox="1">
            <a:spLocks noChangeArrowheads="1"/>
          </p:cNvSpPr>
          <p:nvPr/>
        </p:nvSpPr>
        <p:spPr bwMode="auto">
          <a:xfrm>
            <a:off x="522186" y="1477004"/>
            <a:ext cx="5262979" cy="430887"/>
          </a:xfrm>
          <a:prstGeom prst="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5400000" scaled="1"/>
            <a:tileRect/>
          </a:grad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200" b="1" dirty="0" smtClean="0">
                <a:solidFill>
                  <a:schemeClr val="accent2"/>
                </a:solidFill>
                <a:latin typeface="Times New Roman" panose="02020603050405020304" pitchFamily="18" charset="0"/>
                <a:ea typeface="华文中宋" panose="02010600040101010101" pitchFamily="2" charset="-122"/>
              </a:rPr>
              <a:t>重要轴</a:t>
            </a:r>
            <a:r>
              <a:rPr kumimoji="1" lang="zh-CN" altLang="en-US" sz="2200" dirty="0" smtClean="0">
                <a:solidFill>
                  <a:srgbClr val="002060"/>
                </a:solidFill>
                <a:latin typeface="Times New Roman" panose="02020603050405020304" pitchFamily="18" charset="0"/>
                <a:ea typeface="华文中宋" panose="02010600040101010101" pitchFamily="2" charset="-122"/>
              </a:rPr>
              <a:t>，需</a:t>
            </a:r>
            <a:r>
              <a:rPr kumimoji="1" lang="zh-CN" altLang="en-US" sz="2200" dirty="0">
                <a:solidFill>
                  <a:srgbClr val="002060"/>
                </a:solidFill>
                <a:latin typeface="Times New Roman" panose="02020603050405020304" pitchFamily="18" charset="0"/>
                <a:ea typeface="华文中宋" panose="02010600040101010101" pitchFamily="2" charset="-122"/>
              </a:rPr>
              <a:t>在轴结构细化后进行</a:t>
            </a:r>
            <a:r>
              <a:rPr kumimoji="1" lang="zh-CN" altLang="en-US" sz="2200" b="1" dirty="0">
                <a:solidFill>
                  <a:srgbClr val="FF0000"/>
                </a:solidFill>
                <a:latin typeface="Times New Roman" panose="02020603050405020304" pitchFamily="18" charset="0"/>
                <a:ea typeface="华文中宋" panose="02010600040101010101" pitchFamily="2" charset="-122"/>
              </a:rPr>
              <a:t>精确</a:t>
            </a:r>
            <a:r>
              <a:rPr kumimoji="1" lang="zh-CN" altLang="en-US" sz="2200" b="1" dirty="0" smtClean="0">
                <a:solidFill>
                  <a:srgbClr val="FF0000"/>
                </a:solidFill>
                <a:latin typeface="Times New Roman" panose="02020603050405020304" pitchFamily="18" charset="0"/>
                <a:ea typeface="华文中宋" panose="02010600040101010101" pitchFamily="2" charset="-122"/>
              </a:rPr>
              <a:t>计算</a:t>
            </a:r>
            <a:endParaRPr kumimoji="1" lang="zh-CN" altLang="en-US" sz="2800" dirty="0">
              <a:solidFill>
                <a:srgbClr val="002060"/>
              </a:solidFill>
              <a:latin typeface="Times New Roman" panose="02020603050405020304" pitchFamily="18" charset="0"/>
              <a:ea typeface="华文中宋" panose="02010600040101010101" pitchFamily="2" charset="-122"/>
            </a:endParaRPr>
          </a:p>
        </p:txBody>
      </p:sp>
      <p:sp>
        <p:nvSpPr>
          <p:cNvPr id="2" name="矩形 1"/>
          <p:cNvSpPr/>
          <p:nvPr/>
        </p:nvSpPr>
        <p:spPr>
          <a:xfrm>
            <a:off x="506994" y="2698490"/>
            <a:ext cx="8265813" cy="904863"/>
          </a:xfrm>
          <a:prstGeom prst="rect">
            <a:avLst/>
          </a:prstGeom>
        </p:spPr>
        <p:txBody>
          <a:bodyPr wrap="square">
            <a:spAutoFit/>
          </a:bodyPr>
          <a:lstStyle/>
          <a:p>
            <a:pPr eaLnBrk="1" hangingPunct="1">
              <a:lnSpc>
                <a:spcPct val="120000"/>
              </a:lnSpc>
            </a:pPr>
            <a:r>
              <a:rPr lang="zh-CN" altLang="en-US" b="1" dirty="0" smtClean="0">
                <a:solidFill>
                  <a:srgbClr val="006600"/>
                </a:solidFill>
                <a:latin typeface="华文中宋" panose="02010600040101010101" pitchFamily="2" charset="-122"/>
              </a:rPr>
              <a:t>方</a:t>
            </a:r>
            <a:r>
              <a:rPr lang="zh-CN" altLang="en-US" sz="2200" b="1" dirty="0" smtClean="0">
                <a:solidFill>
                  <a:srgbClr val="006600"/>
                </a:solidFill>
                <a:latin typeface="华文中宋" panose="02010600040101010101" pitchFamily="2" charset="-122"/>
              </a:rPr>
              <a:t>法</a:t>
            </a:r>
            <a:r>
              <a:rPr lang="zh-CN" altLang="en-US" sz="2200" b="1" dirty="0">
                <a:solidFill>
                  <a:srgbClr val="006600"/>
                </a:solidFill>
                <a:latin typeface="华文中宋" panose="02010600040101010101" pitchFamily="2" charset="-122"/>
              </a:rPr>
              <a:t>：</a:t>
            </a:r>
            <a:r>
              <a:rPr lang="zh-CN" altLang="en-US" sz="2200" dirty="0">
                <a:solidFill>
                  <a:srgbClr val="002060"/>
                </a:solidFill>
                <a:latin typeface="华文中宋" panose="02010600040101010101" pitchFamily="2" charset="-122"/>
              </a:rPr>
              <a:t>对轴上若干</a:t>
            </a:r>
            <a:r>
              <a:rPr lang="zh-CN" altLang="en-US" sz="2200" dirty="0">
                <a:solidFill>
                  <a:srgbClr val="002060"/>
                </a:solidFill>
              </a:rPr>
              <a:t>“</a:t>
            </a:r>
            <a:r>
              <a:rPr lang="zh-CN" altLang="en-US" sz="2200" b="1" dirty="0">
                <a:solidFill>
                  <a:srgbClr val="FF0000"/>
                </a:solidFill>
                <a:latin typeface="华文中宋" panose="02010600040101010101" pitchFamily="2" charset="-122"/>
                <a:hlinkClick r:id="" action="ppaction://hlinkshowjump?jump=nextslide"/>
              </a:rPr>
              <a:t>危险剖面</a:t>
            </a:r>
            <a:r>
              <a:rPr lang="zh-CN" altLang="en-US" sz="2200" dirty="0">
                <a:solidFill>
                  <a:srgbClr val="002060"/>
                </a:solidFill>
              </a:rPr>
              <a:t>”</a:t>
            </a:r>
            <a:r>
              <a:rPr lang="zh-CN" altLang="en-US" sz="2200" dirty="0">
                <a:solidFill>
                  <a:srgbClr val="002060"/>
                </a:solidFill>
                <a:latin typeface="华文中宋" panose="02010600040101010101" pitchFamily="2" charset="-122"/>
              </a:rPr>
              <a:t>（实际应力较大的剖面，如受力较大、截面较小及应力集中较严重处）进行安全系数校核。</a:t>
            </a:r>
            <a:endParaRPr lang="zh-CN" altLang="en-US" sz="2200" dirty="0">
              <a:solidFill>
                <a:srgbClr val="002060"/>
              </a:solidFill>
              <a:latin typeface="华文中宋" panose="02010600040101010101" pitchFamily="2" charset="-122"/>
            </a:endParaRPr>
          </a:p>
        </p:txBody>
      </p:sp>
      <p:sp>
        <p:nvSpPr>
          <p:cNvPr id="3" name="矩形 2"/>
          <p:cNvSpPr/>
          <p:nvPr/>
        </p:nvSpPr>
        <p:spPr>
          <a:xfrm>
            <a:off x="386028" y="3690670"/>
            <a:ext cx="3095719" cy="430887"/>
          </a:xfrm>
          <a:prstGeom prst="rect">
            <a:avLst/>
          </a:prstGeom>
        </p:spPr>
        <p:txBody>
          <a:bodyPr wrap="none">
            <a:spAutoFit/>
          </a:bodyPr>
          <a:lstStyle/>
          <a:p>
            <a:pPr eaLnBrk="1" hangingPunct="1"/>
            <a:r>
              <a:rPr lang="zh-CN" altLang="en-US" sz="2200" dirty="0">
                <a:latin typeface="华文中宋" panose="02010600040101010101" pitchFamily="2" charset="-122"/>
              </a:rPr>
              <a:t>轴的疲劳强度条件为 ：</a:t>
            </a:r>
            <a:endParaRPr lang="zh-CN" altLang="en-US" sz="2200" dirty="0">
              <a:latin typeface="华文中宋" panose="02010600040101010101" pitchFamily="2" charset="-122"/>
            </a:endParaRPr>
          </a:p>
        </p:txBody>
      </p:sp>
      <p:sp>
        <p:nvSpPr>
          <p:cNvPr id="4" name="矩形 3"/>
          <p:cNvSpPr/>
          <p:nvPr/>
        </p:nvSpPr>
        <p:spPr>
          <a:xfrm>
            <a:off x="687859" y="4297254"/>
            <a:ext cx="1595309" cy="430887"/>
          </a:xfrm>
          <a:prstGeom prst="rect">
            <a:avLst/>
          </a:prstGeom>
        </p:spPr>
        <p:txBody>
          <a:bodyPr wrap="none">
            <a:spAutoFit/>
          </a:bodyPr>
          <a:lstStyle/>
          <a:p>
            <a:pPr eaLnBrk="1" hangingPunct="1"/>
            <a:r>
              <a:rPr lang="zh-CN" altLang="en-US" sz="2200" dirty="0">
                <a:solidFill>
                  <a:srgbClr val="002060"/>
                </a:solidFill>
                <a:latin typeface="华文中宋" panose="02010600040101010101" pitchFamily="2" charset="-122"/>
              </a:rPr>
              <a:t>单纯</a:t>
            </a:r>
            <a:r>
              <a:rPr lang="zh-CN" altLang="en-US" sz="2200" b="1" u="sng" dirty="0">
                <a:solidFill>
                  <a:srgbClr val="660066"/>
                </a:solidFill>
                <a:latin typeface="华文中宋" panose="02010600040101010101" pitchFamily="2" charset="-122"/>
              </a:rPr>
              <a:t>受弯</a:t>
            </a:r>
            <a:r>
              <a:rPr lang="zh-CN" altLang="en-US" sz="2200" dirty="0">
                <a:solidFill>
                  <a:schemeClr val="tx2"/>
                </a:solidFill>
                <a:latin typeface="华文中宋" panose="02010600040101010101" pitchFamily="2" charset="-122"/>
              </a:rPr>
              <a:t>：</a:t>
            </a:r>
            <a:endParaRPr lang="zh-CN" altLang="en-US" sz="2200" dirty="0">
              <a:solidFill>
                <a:schemeClr val="tx2"/>
              </a:solidFill>
              <a:latin typeface="华文中宋" panose="02010600040101010101" pitchFamily="2" charset="-122"/>
            </a:endParaRPr>
          </a:p>
        </p:txBody>
      </p:sp>
      <p:sp>
        <p:nvSpPr>
          <p:cNvPr id="5" name="矩形 4"/>
          <p:cNvSpPr/>
          <p:nvPr/>
        </p:nvSpPr>
        <p:spPr>
          <a:xfrm>
            <a:off x="4799626" y="4342521"/>
            <a:ext cx="1313180" cy="430887"/>
          </a:xfrm>
          <a:prstGeom prst="rect">
            <a:avLst/>
          </a:prstGeom>
        </p:spPr>
        <p:txBody>
          <a:bodyPr wrap="none">
            <a:spAutoFit/>
          </a:bodyPr>
          <a:lstStyle/>
          <a:p>
            <a:r>
              <a:rPr lang="zh-CN" altLang="en-US" sz="2200" dirty="0">
                <a:solidFill>
                  <a:srgbClr val="002060"/>
                </a:solidFill>
                <a:latin typeface="华文中宋" panose="02010600040101010101" pitchFamily="2" charset="-122"/>
              </a:rPr>
              <a:t>单纯</a:t>
            </a:r>
            <a:r>
              <a:rPr lang="zh-CN" altLang="en-US" sz="2200" b="1" u="sng" dirty="0">
                <a:solidFill>
                  <a:srgbClr val="660066"/>
                </a:solidFill>
                <a:latin typeface="华文中宋" panose="02010600040101010101" pitchFamily="2" charset="-122"/>
              </a:rPr>
              <a:t>受扭</a:t>
            </a:r>
            <a:endParaRPr lang="zh-CN" altLang="en-US" sz="2200" dirty="0"/>
          </a:p>
        </p:txBody>
      </p:sp>
      <p:sp>
        <p:nvSpPr>
          <p:cNvPr id="6" name="文本框 5"/>
          <p:cNvSpPr txBox="1"/>
          <p:nvPr/>
        </p:nvSpPr>
        <p:spPr>
          <a:xfrm>
            <a:off x="2788466" y="5115208"/>
            <a:ext cx="6292159" cy="1168718"/>
          </a:xfrm>
          <a:prstGeom prst="rect">
            <a:avLst/>
          </a:prstGeom>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p:spPr>
        <p:txBody>
          <a:bodyPr wrap="square" rtlCol="0">
            <a:spAutoFit/>
          </a:bodyPr>
          <a:lstStyle/>
          <a:p>
            <a:pPr>
              <a:lnSpc>
                <a:spcPct val="120000"/>
              </a:lnSpc>
            </a:pPr>
            <a:r>
              <a:rPr lang="en-US" altLang="zh-CN" dirty="0" smtClean="0">
                <a:solidFill>
                  <a:srgbClr val="002060"/>
                </a:solidFill>
              </a:rPr>
              <a:t>S=1.3~1.5 </a:t>
            </a:r>
            <a:r>
              <a:rPr lang="zh-CN" altLang="en-US" dirty="0" smtClean="0">
                <a:solidFill>
                  <a:srgbClr val="002060"/>
                </a:solidFill>
              </a:rPr>
              <a:t>材料均匀，载荷与应力计算精确时；</a:t>
            </a:r>
            <a:endParaRPr lang="en-US" altLang="zh-CN" dirty="0" smtClean="0">
              <a:solidFill>
                <a:srgbClr val="002060"/>
              </a:solidFill>
            </a:endParaRPr>
          </a:p>
          <a:p>
            <a:pPr>
              <a:lnSpc>
                <a:spcPct val="120000"/>
              </a:lnSpc>
            </a:pPr>
            <a:r>
              <a:rPr lang="en-US" altLang="zh-CN" dirty="0" smtClean="0">
                <a:solidFill>
                  <a:srgbClr val="002060"/>
                </a:solidFill>
              </a:rPr>
              <a:t>S=1.5~1.8 </a:t>
            </a:r>
            <a:r>
              <a:rPr lang="zh-CN" altLang="en-US" dirty="0" smtClean="0">
                <a:solidFill>
                  <a:srgbClr val="002060"/>
                </a:solidFill>
              </a:rPr>
              <a:t>材料不均匀，计算精确度较低时；</a:t>
            </a:r>
            <a:endParaRPr lang="en-US" altLang="zh-CN" dirty="0" smtClean="0">
              <a:solidFill>
                <a:srgbClr val="002060"/>
              </a:solidFill>
            </a:endParaRPr>
          </a:p>
          <a:p>
            <a:pPr>
              <a:lnSpc>
                <a:spcPct val="120000"/>
              </a:lnSpc>
            </a:pPr>
            <a:r>
              <a:rPr lang="en-US" altLang="zh-CN" dirty="0" smtClean="0">
                <a:solidFill>
                  <a:srgbClr val="002060"/>
                </a:solidFill>
              </a:rPr>
              <a:t>S=1.8~2.5 ,</a:t>
            </a:r>
            <a:r>
              <a:rPr lang="zh-CN" altLang="en-US" dirty="0" smtClean="0">
                <a:solidFill>
                  <a:srgbClr val="002060"/>
                </a:solidFill>
              </a:rPr>
              <a:t>材料均匀性和计算精确度很低，或</a:t>
            </a:r>
            <a:r>
              <a:rPr lang="en-US" altLang="zh-CN" dirty="0" smtClean="0">
                <a:solidFill>
                  <a:srgbClr val="002060"/>
                </a:solidFill>
              </a:rPr>
              <a:t>d&gt;200mm</a:t>
            </a:r>
            <a:r>
              <a:rPr lang="zh-CN" altLang="en-US" dirty="0" smtClean="0">
                <a:solidFill>
                  <a:srgbClr val="002060"/>
                </a:solidFill>
              </a:rPr>
              <a:t>。</a:t>
            </a:r>
            <a:endParaRPr lang="en-US" altLang="zh-CN" dirty="0">
              <a:solidFill>
                <a:srgbClr val="00206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3013"/>
                                        </p:tgtEl>
                                        <p:attrNameLst>
                                          <p:attrName>style.visibility</p:attrName>
                                        </p:attrNameLst>
                                      </p:cBhvr>
                                      <p:to>
                                        <p:strVal val="visible"/>
                                      </p:to>
                                    </p:set>
                                    <p:animEffect transition="in" filter="wipe(left)">
                                      <p:cBhvr>
                                        <p:cTn id="7" dur="500"/>
                                        <p:tgtEl>
                                          <p:spTgt spid="430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wipe(left)">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3014"/>
                                        </p:tgtEl>
                                        <p:attrNameLst>
                                          <p:attrName>style.visibility</p:attrName>
                                        </p:attrNameLst>
                                      </p:cBhvr>
                                      <p:to>
                                        <p:strVal val="visible"/>
                                      </p:to>
                                    </p:set>
                                    <p:animEffect transition="in" filter="wipe(left)">
                                      <p:cBhvr>
                                        <p:cTn id="17" dur="500"/>
                                        <p:tgtEl>
                                          <p:spTgt spid="43014"/>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37"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barn(outVertical)">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wipe(left)">
                                      <p:cBhvr>
                                        <p:cTn id="27" dur="500"/>
                                        <p:tgtEl>
                                          <p:spTgt spid="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4">
                                            <p:txEl>
                                              <p:pRg st="0" end="0"/>
                                            </p:txEl>
                                          </p:spTgt>
                                        </p:tgtEl>
                                        <p:attrNameLst>
                                          <p:attrName>style.visibility</p:attrName>
                                        </p:attrNameLst>
                                      </p:cBhvr>
                                      <p:to>
                                        <p:strVal val="visible"/>
                                      </p:to>
                                    </p:set>
                                    <p:animEffect transition="in" filter="wipe(left)">
                                      <p:cBhvr>
                                        <p:cTn id="32" dur="500"/>
                                        <p:tgtEl>
                                          <p:spTgt spid="4">
                                            <p:txEl>
                                              <p:pRg st="0" end="0"/>
                                            </p:txEl>
                                          </p:spTgt>
                                        </p:tgtEl>
                                      </p:cBhvr>
                                    </p:animEffect>
                                  </p:childTnLst>
                                </p:cTn>
                              </p:par>
                            </p:childTnLst>
                          </p:cTn>
                        </p:par>
                        <p:par>
                          <p:cTn id="33" fill="hold">
                            <p:stCondLst>
                              <p:cond delay="500"/>
                            </p:stCondLst>
                            <p:childTnLst>
                              <p:par>
                                <p:cTn id="34" presetID="1" presetClass="entr" presetSubtype="0" fill="hold" nodeType="afterEffect">
                                  <p:stCondLst>
                                    <p:cond delay="0"/>
                                  </p:stCondLst>
                                  <p:childTnLst>
                                    <p:set>
                                      <p:cBhvr>
                                        <p:cTn id="35" dur="1" fill="hold">
                                          <p:stCondLst>
                                            <p:cond delay="0"/>
                                          </p:stCondLst>
                                        </p:cTn>
                                        <p:tgtEl>
                                          <p:spTgt spid="4100"/>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5"/>
                                        </p:tgtEl>
                                        <p:attrNameLst>
                                          <p:attrName>style.visibility</p:attrName>
                                        </p:attrNameLst>
                                      </p:cBhvr>
                                      <p:to>
                                        <p:strVal val="visible"/>
                                      </p:to>
                                    </p:set>
                                    <p:animEffect transition="in" filter="wipe(left)">
                                      <p:cBhvr>
                                        <p:cTn id="40" dur="500"/>
                                        <p:tgtEl>
                                          <p:spTgt spid="5"/>
                                        </p:tgtEl>
                                      </p:cBhvr>
                                    </p:animEffect>
                                  </p:childTnLst>
                                </p:cTn>
                              </p:par>
                            </p:childTnLst>
                          </p:cTn>
                        </p:par>
                        <p:par>
                          <p:cTn id="41" fill="hold">
                            <p:stCondLst>
                              <p:cond delay="500"/>
                            </p:stCondLst>
                            <p:childTnLst>
                              <p:par>
                                <p:cTn id="42" presetID="1" presetClass="entr" presetSubtype="0" fill="hold" nodeType="afterEffect">
                                  <p:stCondLst>
                                    <p:cond delay="0"/>
                                  </p:stCondLst>
                                  <p:childTnLst>
                                    <p:set>
                                      <p:cBhvr>
                                        <p:cTn id="43" dur="1" fill="hold">
                                          <p:stCondLst>
                                            <p:cond delay="0"/>
                                          </p:stCondLst>
                                        </p:cTn>
                                        <p:tgtEl>
                                          <p:spTgt spid="4101"/>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2" presetClass="entr" presetSubtype="1" fill="hold" nodeType="clickEffect">
                                  <p:stCondLst>
                                    <p:cond delay="0"/>
                                  </p:stCondLst>
                                  <p:childTnLst>
                                    <p:set>
                                      <p:cBhvr>
                                        <p:cTn id="47" dur="1" fill="hold">
                                          <p:stCondLst>
                                            <p:cond delay="0"/>
                                          </p:stCondLst>
                                        </p:cTn>
                                        <p:tgtEl>
                                          <p:spTgt spid="4098"/>
                                        </p:tgtEl>
                                        <p:attrNameLst>
                                          <p:attrName>style.visibility</p:attrName>
                                        </p:attrNameLst>
                                      </p:cBhvr>
                                      <p:to>
                                        <p:strVal val="visible"/>
                                      </p:to>
                                    </p:set>
                                    <p:animEffect transition="in" filter="slide(fromTop)">
                                      <p:cBhvr>
                                        <p:cTn id="48" dur="500"/>
                                        <p:tgtEl>
                                          <p:spTgt spid="4098"/>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6"/>
                                        </p:tgtEl>
                                        <p:attrNameLst>
                                          <p:attrName>style.visibility</p:attrName>
                                        </p:attrNameLst>
                                      </p:cBhvr>
                                      <p:to>
                                        <p:strVal val="visible"/>
                                      </p:to>
                                    </p:set>
                                    <p:animEffect transition="in" filter="wipe(left)">
                                      <p:cBhvr>
                                        <p:cTn id="5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3" grpId="0" autoUpdateAnimBg="0"/>
      <p:bldP spid="43014" grpId="0" autoUpdateAnimBg="0"/>
      <p:bldP spid="19" grpId="0" animBg="1" autoUpdateAnimBg="0"/>
      <p:bldP spid="2" grpId="0"/>
      <p:bldP spid="3" grpId="0"/>
      <p:bldP spid="5" grpId="0"/>
      <p:bldP spid="6" grpId="0" animBg="1"/>
    </p:bldLst>
  </p:timing>
</p:sld>
</file>

<file path=ppt/slides/slide6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9874" name="文本框 3"/>
          <p:cNvSpPr txBox="1">
            <a:spLocks noChangeArrowheads="1"/>
          </p:cNvSpPr>
          <p:nvPr/>
        </p:nvSpPr>
        <p:spPr bwMode="auto">
          <a:xfrm>
            <a:off x="812800" y="849313"/>
            <a:ext cx="43957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r>
              <a:rPr lang="zh-CN" altLang="en-US" sz="2400" dirty="0" smtClean="0">
                <a:solidFill>
                  <a:srgbClr val="C00000"/>
                </a:solidFill>
                <a:latin typeface="黑体" panose="02010609060101010101" pitchFamily="49" charset="-122"/>
                <a:ea typeface="黑体" panose="02010609060101010101" pitchFamily="49" charset="-122"/>
              </a:rPr>
              <a:t>四、</a:t>
            </a:r>
            <a:r>
              <a:rPr lang="zh-CN" altLang="zh-CN" sz="2400" dirty="0" smtClean="0">
                <a:solidFill>
                  <a:srgbClr val="C00000"/>
                </a:solidFill>
                <a:latin typeface="黑体" panose="02010609060101010101" pitchFamily="49" charset="-122"/>
                <a:ea typeface="黑体" panose="02010609060101010101" pitchFamily="49" charset="-122"/>
              </a:rPr>
              <a:t>按</a:t>
            </a:r>
            <a:r>
              <a:rPr lang="zh-CN" altLang="zh-CN" sz="2400" dirty="0">
                <a:solidFill>
                  <a:srgbClr val="C00000"/>
                </a:solidFill>
                <a:latin typeface="黑体" panose="02010609060101010101" pitchFamily="49" charset="-122"/>
                <a:ea typeface="黑体" panose="02010609060101010101" pitchFamily="49" charset="-122"/>
              </a:rPr>
              <a:t>静强度校核</a:t>
            </a:r>
            <a:endParaRPr lang="zh-CN" altLang="zh-CN" sz="2400" dirty="0">
              <a:solidFill>
                <a:srgbClr val="C00000"/>
              </a:solidFill>
              <a:latin typeface="黑体" panose="02010609060101010101" pitchFamily="49" charset="-122"/>
              <a:ea typeface="黑体" panose="02010609060101010101" pitchFamily="49" charset="-122"/>
            </a:endParaRPr>
          </a:p>
        </p:txBody>
      </p:sp>
      <p:pic>
        <p:nvPicPr>
          <p:cNvPr id="6" name="Picture 31" descr="back">
            <a:hlinkClick r:id="" action="ppaction://hlinkshowjump?jump=previousslide"/>
          </p:cNvPr>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332788" y="6532563"/>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32" descr="NEXT">
            <a:hlinkClick r:id="" action="ppaction://hlinkshowjump?jump=nextslide"/>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742363" y="6532563"/>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33" descr="rewind">
            <a:hlinkClick r:id="" action="ppaction://hlinkshowjump?jump=first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24800" y="6532563"/>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4"/>
          <p:cNvSpPr txBox="1">
            <a:spLocks noChangeArrowheads="1"/>
          </p:cNvSpPr>
          <p:nvPr/>
        </p:nvSpPr>
        <p:spPr bwMode="auto">
          <a:xfrm>
            <a:off x="228029" y="1240219"/>
            <a:ext cx="8062912"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a:lnSpc>
                <a:spcPct val="150000"/>
              </a:lnSpc>
            </a:pPr>
            <a:r>
              <a:rPr lang="en-US" altLang="zh-CN" dirty="0"/>
              <a:t>        </a:t>
            </a:r>
            <a:r>
              <a:rPr lang="zh-CN" altLang="zh-CN" dirty="0"/>
              <a:t>静强度校核的目的是为了校核轴对</a:t>
            </a:r>
            <a:r>
              <a:rPr lang="zh-CN" altLang="zh-CN" dirty="0">
                <a:solidFill>
                  <a:srgbClr val="FF0000"/>
                </a:solidFill>
              </a:rPr>
              <a:t>塑性变形</a:t>
            </a:r>
            <a:r>
              <a:rPr lang="zh-CN" altLang="zh-CN" dirty="0"/>
              <a:t>的抵抗能力。因此轴的静强度是根据轴上作用的</a:t>
            </a:r>
            <a:r>
              <a:rPr lang="zh-CN" altLang="zh-CN" dirty="0">
                <a:solidFill>
                  <a:srgbClr val="C00000"/>
                </a:solidFill>
              </a:rPr>
              <a:t>最大瞬时载荷</a:t>
            </a:r>
            <a:r>
              <a:rPr lang="zh-CN" altLang="zh-CN" dirty="0"/>
              <a:t>来校核的。校核过程</a:t>
            </a:r>
            <a:r>
              <a:rPr lang="zh-CN" altLang="zh-CN" dirty="0" smtClean="0"/>
              <a:t>如下</a:t>
            </a:r>
            <a:r>
              <a:rPr lang="zh-CN" altLang="en-US" dirty="0" smtClean="0"/>
              <a:t>：</a:t>
            </a:r>
            <a:endParaRPr lang="zh-CN" altLang="zh-CN" dirty="0"/>
          </a:p>
        </p:txBody>
      </p:sp>
      <p:sp>
        <p:nvSpPr>
          <p:cNvPr id="2" name="文本框 1"/>
          <p:cNvSpPr txBox="1">
            <a:spLocks noRot="1" noChangeAspect="1" noMove="1" noResize="1" noEditPoints="1" noAdjustHandles="1" noChangeArrowheads="1" noChangeShapeType="1" noTextEdit="1"/>
          </p:cNvSpPr>
          <p:nvPr/>
        </p:nvSpPr>
        <p:spPr>
          <a:xfrm>
            <a:off x="3066473" y="2378974"/>
            <a:ext cx="4858327" cy="1762470"/>
          </a:xfrm>
          <a:prstGeom prst="rect">
            <a:avLst/>
          </a:prstGeom>
          <a:blipFill>
            <a:blip r:embed="rId4"/>
            <a:stretch>
              <a:fillRect/>
            </a:stretch>
          </a:blipFill>
        </p:spPr>
        <p:txBody>
          <a:bodyPr/>
          <a:lstStyle/>
          <a:p>
            <a:pPr>
              <a:defRPr/>
            </a:pPr>
            <a:r>
              <a:rPr lang="zh-CN" altLang="en-US">
                <a:noFill/>
              </a:rPr>
              <a:t> </a:t>
            </a:r>
            <a:endParaRPr lang="zh-CN" altLang="en-US">
              <a:noFill/>
            </a:endParaRPr>
          </a:p>
        </p:txBody>
      </p:sp>
      <p:sp>
        <p:nvSpPr>
          <p:cNvPr id="3" name="文本框 2"/>
          <p:cNvSpPr txBox="1">
            <a:spLocks noChangeArrowheads="1"/>
          </p:cNvSpPr>
          <p:nvPr/>
        </p:nvSpPr>
        <p:spPr bwMode="auto">
          <a:xfrm>
            <a:off x="840677" y="4291775"/>
            <a:ext cx="38608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r>
              <a:rPr lang="zh-CN" altLang="zh-CN" dirty="0"/>
              <a:t>则静强度校核时的强度条件</a:t>
            </a:r>
            <a:r>
              <a:rPr lang="zh-CN" altLang="zh-CN" dirty="0" smtClean="0"/>
              <a:t>为</a:t>
            </a:r>
            <a:r>
              <a:rPr lang="zh-CN" altLang="en-US" dirty="0" smtClean="0"/>
              <a:t>：</a:t>
            </a:r>
            <a:endParaRPr lang="zh-CN" altLang="zh-CN" dirty="0"/>
          </a:p>
        </p:txBody>
      </p:sp>
      <p:sp>
        <p:nvSpPr>
          <p:cNvPr id="15" name="文本框 14"/>
          <p:cNvSpPr txBox="1">
            <a:spLocks noRot="1" noChangeAspect="1" noMove="1" noResize="1" noEditPoints="1" noAdjustHandles="1" noChangeArrowheads="1" noChangeShapeType="1" noTextEdit="1"/>
          </p:cNvSpPr>
          <p:nvPr/>
        </p:nvSpPr>
        <p:spPr>
          <a:xfrm>
            <a:off x="3011054" y="4969163"/>
            <a:ext cx="4599709" cy="787973"/>
          </a:xfrm>
          <a:prstGeom prst="rect">
            <a:avLst/>
          </a:prstGeom>
          <a:blipFill>
            <a:blip r:embed="rId5"/>
            <a:stretch>
              <a:fillRect/>
            </a:stretch>
          </a:blipFill>
        </p:spPr>
        <p:txBody>
          <a:bodyPr/>
          <a:lstStyle/>
          <a:p>
            <a:pPr>
              <a:defRPr/>
            </a:pPr>
            <a:r>
              <a:rPr lang="zh-CN" altLang="en-US">
                <a:noFill/>
              </a:rPr>
              <a:t> </a:t>
            </a:r>
            <a:endParaRPr lang="zh-CN" altLang="en-US">
              <a:noFill/>
            </a:endParaRPr>
          </a:p>
        </p:txBody>
      </p:sp>
      <p:sp>
        <p:nvSpPr>
          <p:cNvPr id="11" name="Text Box 4"/>
          <p:cNvSpPr txBox="1">
            <a:spLocks noChangeArrowheads="1"/>
          </p:cNvSpPr>
          <p:nvPr/>
        </p:nvSpPr>
        <p:spPr bwMode="auto">
          <a:xfrm>
            <a:off x="5472113" y="174625"/>
            <a:ext cx="23164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sz="2400" dirty="0" smtClean="0">
                <a:solidFill>
                  <a:srgbClr val="CC3300"/>
                </a:solidFill>
                <a:latin typeface="黑体" panose="02010609060101010101" pitchFamily="49" charset="-122"/>
                <a:ea typeface="黑体" panose="02010609060101010101" pitchFamily="49" charset="-122"/>
              </a:rPr>
              <a:t>3.7-3 </a:t>
            </a:r>
            <a:r>
              <a:rPr lang="zh-CN" altLang="en-US" sz="2400" dirty="0">
                <a:solidFill>
                  <a:srgbClr val="CC3300"/>
                </a:solidFill>
                <a:latin typeface="黑体" panose="02010609060101010101" pitchFamily="49" charset="-122"/>
                <a:ea typeface="黑体" panose="02010609060101010101" pitchFamily="49" charset="-122"/>
              </a:rPr>
              <a:t>轴的计算</a:t>
            </a:r>
            <a:endParaRPr lang="zh-CN" altLang="en-US" sz="2400" dirty="0">
              <a:solidFill>
                <a:srgbClr val="CC3300"/>
              </a:solidFill>
              <a:latin typeface="黑体" panose="02010609060101010101" pitchFamily="49" charset="-122"/>
              <a:ea typeface="黑体" panose="02010609060101010101" pitchFamily="49" charset="-122"/>
            </a:endParaRPr>
          </a:p>
        </p:txBody>
      </p:sp>
      <p:sp>
        <p:nvSpPr>
          <p:cNvPr id="12"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4" name="文本框 3"/>
          <p:cNvSpPr txBox="1"/>
          <p:nvPr/>
        </p:nvSpPr>
        <p:spPr>
          <a:xfrm>
            <a:off x="2011680" y="5888736"/>
            <a:ext cx="5422392" cy="400110"/>
          </a:xfrm>
          <a:prstGeom prst="rect">
            <a:avLst/>
          </a:prstGeom>
          <a:noFill/>
        </p:spPr>
        <p:txBody>
          <a:bodyPr wrap="square" rtlCol="0">
            <a:spAutoFit/>
          </a:bodyPr>
          <a:lstStyle/>
          <a:p>
            <a:r>
              <a:rPr lang="en-US" altLang="zh-CN" dirty="0" smtClean="0">
                <a:solidFill>
                  <a:schemeClr val="accent4">
                    <a:lumMod val="75000"/>
                  </a:schemeClr>
                </a:solidFill>
              </a:rPr>
              <a:t>[</a:t>
            </a:r>
            <a:r>
              <a:rPr lang="en-US" altLang="zh-CN" i="1" dirty="0" smtClean="0">
                <a:solidFill>
                  <a:schemeClr val="accent4">
                    <a:lumMod val="75000"/>
                  </a:schemeClr>
                </a:solidFill>
              </a:rPr>
              <a:t>S</a:t>
            </a:r>
            <a:r>
              <a:rPr lang="en-US" altLang="zh-CN" i="1" baseline="-25000" dirty="0" smtClean="0">
                <a:solidFill>
                  <a:schemeClr val="accent4">
                    <a:lumMod val="75000"/>
                  </a:schemeClr>
                </a:solidFill>
              </a:rPr>
              <a:t>0</a:t>
            </a:r>
            <a:r>
              <a:rPr lang="en-US" altLang="zh-CN" dirty="0" smtClean="0">
                <a:solidFill>
                  <a:schemeClr val="accent4">
                    <a:lumMod val="75000"/>
                  </a:schemeClr>
                </a:solidFill>
              </a:rPr>
              <a:t>]——</a:t>
            </a:r>
            <a:r>
              <a:rPr lang="zh-CN" altLang="en-US" dirty="0" smtClean="0">
                <a:solidFill>
                  <a:schemeClr val="accent4">
                    <a:lumMod val="75000"/>
                  </a:schemeClr>
                </a:solidFill>
              </a:rPr>
              <a:t>静强度的设计安全系数，见教材</a:t>
            </a:r>
            <a:r>
              <a:rPr lang="en-US" altLang="zh-CN" dirty="0" smtClean="0">
                <a:solidFill>
                  <a:schemeClr val="accent4">
                    <a:lumMod val="75000"/>
                  </a:schemeClr>
                </a:solidFill>
              </a:rPr>
              <a:t>P319</a:t>
            </a:r>
            <a:endParaRPr lang="zh-CN" altLang="en-US" dirty="0">
              <a:solidFill>
                <a:schemeClr val="accent4">
                  <a:lumMod val="75000"/>
                </a:schemeClr>
              </a:solidFill>
            </a:endParaRPr>
          </a:p>
        </p:txBody>
      </p:sp>
      <p:sp>
        <p:nvSpPr>
          <p:cNvPr id="14" name="文本框 13"/>
          <p:cNvSpPr txBox="1">
            <a:spLocks noChangeArrowheads="1"/>
          </p:cNvSpPr>
          <p:nvPr/>
        </p:nvSpPr>
        <p:spPr bwMode="auto">
          <a:xfrm>
            <a:off x="785813" y="2472119"/>
            <a:ext cx="2240851"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r>
              <a:rPr lang="zh-CN" altLang="en-US" dirty="0">
                <a:solidFill>
                  <a:schemeClr val="accent4">
                    <a:lumMod val="60000"/>
                    <a:lumOff val="40000"/>
                  </a:schemeClr>
                </a:solidFill>
              </a:rPr>
              <a:t>只</a:t>
            </a:r>
            <a:r>
              <a:rPr lang="zh-CN" altLang="en-US" dirty="0" smtClean="0">
                <a:solidFill>
                  <a:schemeClr val="accent4">
                    <a:lumMod val="60000"/>
                    <a:lumOff val="40000"/>
                  </a:schemeClr>
                </a:solidFill>
              </a:rPr>
              <a:t>考虑弯矩和轴向力时的安全系数</a:t>
            </a:r>
            <a:endParaRPr lang="zh-CN" altLang="zh-CN" dirty="0">
              <a:solidFill>
                <a:schemeClr val="accent4">
                  <a:lumMod val="60000"/>
                  <a:lumOff val="40000"/>
                </a:schemeClr>
              </a:solidFill>
            </a:endParaRPr>
          </a:p>
        </p:txBody>
      </p:sp>
      <p:sp>
        <p:nvSpPr>
          <p:cNvPr id="16" name="文本框 15"/>
          <p:cNvSpPr txBox="1">
            <a:spLocks noChangeArrowheads="1"/>
          </p:cNvSpPr>
          <p:nvPr/>
        </p:nvSpPr>
        <p:spPr bwMode="auto">
          <a:xfrm>
            <a:off x="858965" y="3377375"/>
            <a:ext cx="2240851"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r>
              <a:rPr lang="zh-CN" altLang="en-US" dirty="0">
                <a:solidFill>
                  <a:schemeClr val="accent4">
                    <a:lumMod val="60000"/>
                    <a:lumOff val="40000"/>
                  </a:schemeClr>
                </a:solidFill>
              </a:rPr>
              <a:t>只</a:t>
            </a:r>
            <a:r>
              <a:rPr lang="zh-CN" altLang="en-US" dirty="0" smtClean="0">
                <a:solidFill>
                  <a:schemeClr val="accent4">
                    <a:lumMod val="60000"/>
                    <a:lumOff val="40000"/>
                  </a:schemeClr>
                </a:solidFill>
              </a:rPr>
              <a:t>考虑扭矩时的安全系数</a:t>
            </a:r>
            <a:endParaRPr lang="zh-CN" altLang="zh-CN" dirty="0">
              <a:solidFill>
                <a:schemeClr val="accent4">
                  <a:lumMod val="60000"/>
                  <a:lumOff val="40000"/>
                </a:schemeClr>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6"/>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nodeType="afterEffect">
                                  <p:stCondLst>
                                    <p:cond delay="0"/>
                                  </p:stCondLst>
                                  <p:childTnLst>
                                    <p:set>
                                      <p:cBhvr>
                                        <p:cTn id="9" dur="1" fill="hold">
                                          <p:stCondLst>
                                            <p:cond delay="499"/>
                                          </p:stCondLst>
                                        </p:cTn>
                                        <p:tgtEl>
                                          <p:spTgt spid="7"/>
                                        </p:tgtEl>
                                        <p:attrNameLst>
                                          <p:attrName>style.visibility</p:attrName>
                                        </p:attrNameLst>
                                      </p:cBhvr>
                                      <p:to>
                                        <p:strVal val="visible"/>
                                      </p:to>
                                    </p:set>
                                  </p:childTnLst>
                                </p:cTn>
                              </p:par>
                            </p:childTnLst>
                          </p:cTn>
                        </p:par>
                        <p:par>
                          <p:cTn id="10" fill="hold">
                            <p:stCondLst>
                              <p:cond delay="1000"/>
                            </p:stCondLst>
                            <p:childTnLst>
                              <p:par>
                                <p:cTn id="11" presetID="2" presetClass="entr" presetSubtype="8" fill="hold"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0-#ppt_w/2"/>
                                          </p:val>
                                        </p:tav>
                                        <p:tav tm="100000">
                                          <p:val>
                                            <p:strVal val="#ppt_x"/>
                                          </p:val>
                                        </p:tav>
                                      </p:tavLst>
                                    </p:anim>
                                    <p:anim calcmode="lin" valueType="num">
                                      <p:cBhvr additive="base">
                                        <p:cTn id="14"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wipe(left)">
                                      <p:cBhvr>
                                        <p:cTn id="19" dur="500"/>
                                        <p:tgtEl>
                                          <p:spTgt spid="5"/>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wipe(left)">
                                      <p:cBhvr>
                                        <p:cTn id="24" dur="500"/>
                                        <p:tgtEl>
                                          <p:spTgt spid="2"/>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wipe(left)">
                                      <p:cBhvr>
                                        <p:cTn id="29" dur="500"/>
                                        <p:tgtEl>
                                          <p:spTgt spid="14"/>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wipe(left)">
                                      <p:cBhvr>
                                        <p:cTn id="34" dur="500"/>
                                        <p:tgtEl>
                                          <p:spTgt spid="16"/>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3"/>
                                        </p:tgtEl>
                                        <p:attrNameLst>
                                          <p:attrName>style.visibility</p:attrName>
                                        </p:attrNameLst>
                                      </p:cBhvr>
                                      <p:to>
                                        <p:strVal val="visible"/>
                                      </p:to>
                                    </p:set>
                                    <p:animEffect transition="in" filter="wipe(left)">
                                      <p:cBhvr>
                                        <p:cTn id="39" dur="500"/>
                                        <p:tgtEl>
                                          <p:spTgt spid="3"/>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wipe(left)">
                                      <p:cBhvr>
                                        <p:cTn id="44" dur="500"/>
                                        <p:tgtEl>
                                          <p:spTgt spid="15"/>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4"/>
                                        </p:tgtEl>
                                        <p:attrNameLst>
                                          <p:attrName>style.visibility</p:attrName>
                                        </p:attrNameLst>
                                      </p:cBhvr>
                                      <p:to>
                                        <p:strVal val="visible"/>
                                      </p:to>
                                    </p:set>
                                    <p:animEffect transition="in" filter="wipe(left)">
                                      <p:cBhvr>
                                        <p:cTn id="4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3" grpId="0"/>
      <p:bldP spid="4" grpId="0"/>
      <p:bldP spid="14" grpId="0"/>
      <p:bldP spid="16"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ext Box 2"/>
          <p:cNvSpPr txBox="1">
            <a:spLocks noChangeArrowheads="1"/>
          </p:cNvSpPr>
          <p:nvPr/>
        </p:nvSpPr>
        <p:spPr bwMode="auto">
          <a:xfrm>
            <a:off x="505628" y="768916"/>
            <a:ext cx="198002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dirty="0" smtClean="0">
                <a:solidFill>
                  <a:srgbClr val="800000"/>
                </a:solidFill>
                <a:latin typeface="Times New Roman" panose="02020603050405020304" pitchFamily="18" charset="0"/>
                <a:ea typeface="华文中宋" panose="02010600040101010101" pitchFamily="2" charset="-122"/>
              </a:rPr>
              <a:t>计算应用</a:t>
            </a:r>
            <a:r>
              <a:rPr kumimoji="1" lang="zh-CN" altLang="en-US" sz="2800" b="1" dirty="0">
                <a:solidFill>
                  <a:srgbClr val="800000"/>
                </a:solidFill>
                <a:latin typeface="Times New Roman" panose="02020603050405020304" pitchFamily="18" charset="0"/>
                <a:ea typeface="华文中宋" panose="02010600040101010101" pitchFamily="2" charset="-122"/>
              </a:rPr>
              <a:t>：</a:t>
            </a:r>
            <a:endParaRPr kumimoji="1" lang="zh-CN" altLang="en-US" sz="2800" b="1" dirty="0">
              <a:solidFill>
                <a:srgbClr val="800000"/>
              </a:solidFill>
              <a:latin typeface="Times New Roman" panose="02020603050405020304" pitchFamily="18" charset="0"/>
              <a:ea typeface="华文中宋" panose="02010600040101010101" pitchFamily="2" charset="-122"/>
            </a:endParaRPr>
          </a:p>
        </p:txBody>
      </p:sp>
      <p:sp>
        <p:nvSpPr>
          <p:cNvPr id="29699" name="Text Box 3"/>
          <p:cNvSpPr txBox="1">
            <a:spLocks noChangeArrowheads="1"/>
          </p:cNvSpPr>
          <p:nvPr/>
        </p:nvSpPr>
        <p:spPr bwMode="auto">
          <a:xfrm>
            <a:off x="901826" y="1619990"/>
            <a:ext cx="2864887" cy="430887"/>
          </a:xfrm>
          <a:prstGeom prst="rect">
            <a:avLst/>
          </a:prstGeom>
          <a:noFill/>
          <a:ln w="9525">
            <a:solidFill>
              <a:srgbClr val="00B05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kumimoji="1" lang="en-US" altLang="zh-CN" sz="2200" dirty="0">
                <a:solidFill>
                  <a:srgbClr val="002060"/>
                </a:solidFill>
                <a:latin typeface="Times New Roman" panose="02020603050405020304" pitchFamily="18" charset="0"/>
                <a:ea typeface="华文中宋" panose="02010600040101010101" pitchFamily="2" charset="-122"/>
              </a:rPr>
              <a:t>1</a:t>
            </a:r>
            <a:r>
              <a:rPr kumimoji="1" lang="zh-CN" altLang="en-US" sz="2200" dirty="0">
                <a:solidFill>
                  <a:srgbClr val="002060"/>
                </a:solidFill>
                <a:latin typeface="Times New Roman" panose="02020603050405020304" pitchFamily="18" charset="0"/>
                <a:ea typeface="华文中宋" panose="02010600040101010101" pitchFamily="2" charset="-122"/>
              </a:rPr>
              <a:t>）</a:t>
            </a:r>
            <a:r>
              <a:rPr kumimoji="1" lang="zh-CN" altLang="en-US" sz="2200" b="1" dirty="0">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rPr>
              <a:t>传动轴</a:t>
            </a:r>
            <a:r>
              <a:rPr kumimoji="1" lang="zh-CN" altLang="en-US" sz="2200" dirty="0">
                <a:latin typeface="Times New Roman" panose="02020603050405020304" pitchFamily="18" charset="0"/>
                <a:ea typeface="华文中宋" panose="02010600040101010101" pitchFamily="2" charset="-122"/>
              </a:rPr>
              <a:t>精确计算；</a:t>
            </a:r>
            <a:endParaRPr kumimoji="1" lang="zh-CN" altLang="en-US" sz="2200" dirty="0">
              <a:latin typeface="Times New Roman" panose="02020603050405020304" pitchFamily="18" charset="0"/>
              <a:ea typeface="华文中宋" panose="02010600040101010101" pitchFamily="2" charset="-122"/>
            </a:endParaRPr>
          </a:p>
        </p:txBody>
      </p:sp>
      <p:sp>
        <p:nvSpPr>
          <p:cNvPr id="29700" name="Text Box 4"/>
          <p:cNvSpPr txBox="1">
            <a:spLocks noChangeArrowheads="1"/>
          </p:cNvSpPr>
          <p:nvPr/>
        </p:nvSpPr>
        <p:spPr bwMode="auto">
          <a:xfrm>
            <a:off x="983307" y="2349846"/>
            <a:ext cx="4928606" cy="972574"/>
          </a:xfrm>
          <a:prstGeom prst="rect">
            <a:avLst/>
          </a:prstGeom>
          <a:noFill/>
          <a:ln w="9525">
            <a:solidFill>
              <a:srgbClr val="00B05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533400" indent="-533400">
              <a:defRPr>
                <a:solidFill>
                  <a:schemeClr val="tx1"/>
                </a:solidFill>
                <a:latin typeface="Arial" panose="020B0604020202020204" pitchFamily="34" charset="0"/>
                <a:ea typeface="宋体" panose="02010600030101010101" pitchFamily="2" charset="-122"/>
              </a:defRPr>
            </a:lvl1pPr>
            <a:lvl2pPr marL="802005">
              <a:defRPr>
                <a:solidFill>
                  <a:schemeClr val="tx1"/>
                </a:solidFill>
                <a:latin typeface="Arial" panose="020B0604020202020204" pitchFamily="34" charset="0"/>
                <a:ea typeface="宋体" panose="02010600030101010101" pitchFamily="2" charset="-122"/>
              </a:defRPr>
            </a:lvl2pPr>
            <a:lvl3pPr marL="981075">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defRPr/>
            </a:pPr>
            <a:r>
              <a:rPr kumimoji="1" lang="en-US" altLang="zh-CN" sz="2200" dirty="0" smtClean="0">
                <a:solidFill>
                  <a:srgbClr val="002060"/>
                </a:solidFill>
                <a:latin typeface="Times New Roman" panose="02020603050405020304" pitchFamily="18" charset="0"/>
                <a:ea typeface="华文中宋" panose="02010600040101010101" pitchFamily="2" charset="-122"/>
              </a:rPr>
              <a:t>2</a:t>
            </a:r>
            <a:r>
              <a:rPr kumimoji="1" lang="zh-CN" altLang="en-US" sz="2200" dirty="0" smtClean="0">
                <a:solidFill>
                  <a:srgbClr val="002060"/>
                </a:solidFill>
                <a:latin typeface="Times New Roman" panose="02020603050405020304" pitchFamily="18" charset="0"/>
                <a:ea typeface="华文中宋" panose="02010600040101010101" pitchFamily="2" charset="-122"/>
              </a:rPr>
              <a:t>）</a:t>
            </a:r>
            <a:r>
              <a:rPr kumimoji="1" lang="zh-CN" altLang="en-US" sz="2200" b="1" dirty="0" smtClean="0">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rPr>
              <a:t>转轴</a:t>
            </a:r>
            <a:r>
              <a:rPr kumimoji="1" lang="zh-CN" altLang="en-US" sz="2200" dirty="0" smtClean="0">
                <a:latin typeface="Times New Roman" panose="02020603050405020304" pitchFamily="18" charset="0"/>
                <a:ea typeface="华文中宋" panose="02010600040101010101" pitchFamily="2" charset="-122"/>
              </a:rPr>
              <a:t>的初估轴径 </a:t>
            </a:r>
            <a:r>
              <a:rPr kumimoji="1" lang="en-US" altLang="zh-CN" sz="2200" b="1" i="1" dirty="0" err="1" smtClean="0">
                <a:solidFill>
                  <a:srgbClr val="FF0000"/>
                </a:solidFill>
                <a:latin typeface="Times New Roman" panose="02020603050405020304" pitchFamily="18" charset="0"/>
                <a:ea typeface="华文中宋" panose="02010600040101010101" pitchFamily="2" charset="-122"/>
              </a:rPr>
              <a:t>d</a:t>
            </a:r>
            <a:r>
              <a:rPr kumimoji="1" lang="en-US" altLang="zh-CN" sz="2200" b="1" baseline="-25000" dirty="0" err="1" smtClean="0">
                <a:solidFill>
                  <a:srgbClr val="FF0000"/>
                </a:solidFill>
                <a:latin typeface="Times New Roman" panose="02020603050405020304" pitchFamily="18" charset="0"/>
                <a:ea typeface="华文中宋" panose="02010600040101010101" pitchFamily="2" charset="-122"/>
              </a:rPr>
              <a:t>min</a:t>
            </a:r>
            <a:r>
              <a:rPr kumimoji="1" lang="en-US" altLang="zh-CN" sz="2200" b="1" i="1" baseline="-25000" dirty="0" smtClean="0">
                <a:solidFill>
                  <a:srgbClr val="FF0000"/>
                </a:solidFill>
                <a:latin typeface="Times New Roman" panose="02020603050405020304" pitchFamily="18" charset="0"/>
                <a:ea typeface="华文中宋" panose="02010600040101010101" pitchFamily="2" charset="-122"/>
              </a:rPr>
              <a:t> </a:t>
            </a:r>
            <a:r>
              <a:rPr kumimoji="1" lang="zh-CN" altLang="en-US" sz="2200" dirty="0" smtClean="0">
                <a:solidFill>
                  <a:srgbClr val="002060"/>
                </a:solidFill>
                <a:latin typeface="Times New Roman" panose="02020603050405020304" pitchFamily="18" charset="0"/>
                <a:ea typeface="华文中宋" panose="02010600040101010101" pitchFamily="2" charset="-122"/>
              </a:rPr>
              <a:t>；</a:t>
            </a:r>
            <a:endParaRPr kumimoji="1" lang="zh-CN" altLang="en-US" sz="2200" baseline="-25000" dirty="0" smtClean="0">
              <a:solidFill>
                <a:srgbClr val="002060"/>
              </a:solidFill>
              <a:latin typeface="Times New Roman" panose="02020603050405020304" pitchFamily="18" charset="0"/>
              <a:ea typeface="华文中宋" panose="02010600040101010101" pitchFamily="2" charset="-122"/>
            </a:endParaRPr>
          </a:p>
          <a:p>
            <a:pPr eaLnBrk="1" hangingPunct="1">
              <a:lnSpc>
                <a:spcPct val="130000"/>
              </a:lnSpc>
              <a:defRPr/>
            </a:pPr>
            <a:r>
              <a:rPr kumimoji="1" lang="zh-CN" altLang="en-US" sz="2200" baseline="-25000" dirty="0" smtClean="0">
                <a:solidFill>
                  <a:srgbClr val="002060"/>
                </a:solidFill>
                <a:latin typeface="Times New Roman" panose="02020603050405020304" pitchFamily="18" charset="0"/>
                <a:ea typeface="华文中宋" panose="02010600040101010101" pitchFamily="2" charset="-122"/>
              </a:rPr>
              <a:t>    </a:t>
            </a:r>
            <a:r>
              <a:rPr kumimoji="1" lang="zh-CN" altLang="en-US" sz="2200" dirty="0" smtClean="0">
                <a:solidFill>
                  <a:srgbClr val="002060"/>
                </a:solidFill>
                <a:latin typeface="Times New Roman" panose="02020603050405020304" pitchFamily="18" charset="0"/>
                <a:ea typeface="华文中宋" panose="02010600040101010101" pitchFamily="2" charset="-122"/>
              </a:rPr>
              <a:t>（∵ 支点、力作用点未知）</a:t>
            </a:r>
            <a:endParaRPr kumimoji="1" lang="zh-CN" altLang="en-US" sz="2200" dirty="0" smtClean="0">
              <a:solidFill>
                <a:srgbClr val="002060"/>
              </a:solidFill>
              <a:latin typeface="Times New Roman" panose="02020603050405020304" pitchFamily="18" charset="0"/>
              <a:ea typeface="华文中宋" panose="02010600040101010101" pitchFamily="2" charset="-122"/>
            </a:endParaRPr>
          </a:p>
        </p:txBody>
      </p:sp>
      <p:sp>
        <p:nvSpPr>
          <p:cNvPr id="29701" name="Text Box 5"/>
          <p:cNvSpPr txBox="1">
            <a:spLocks noChangeArrowheads="1"/>
          </p:cNvSpPr>
          <p:nvPr/>
        </p:nvSpPr>
        <p:spPr bwMode="auto">
          <a:xfrm>
            <a:off x="946313" y="3696662"/>
            <a:ext cx="7539038" cy="929357"/>
          </a:xfrm>
          <a:prstGeom prst="rect">
            <a:avLst/>
          </a:prstGeom>
          <a:noFill/>
          <a:ln w="9525">
            <a:solidFill>
              <a:srgbClr val="00B05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kumimoji="1" lang="en-US" altLang="zh-CN" sz="2200" dirty="0">
                <a:solidFill>
                  <a:srgbClr val="002060"/>
                </a:solidFill>
                <a:latin typeface="Times New Roman" panose="02020603050405020304" pitchFamily="18" charset="0"/>
                <a:ea typeface="华文中宋" panose="02010600040101010101" pitchFamily="2" charset="-122"/>
              </a:rPr>
              <a:t>3</a:t>
            </a:r>
            <a:r>
              <a:rPr kumimoji="1" lang="zh-CN" altLang="en-US" sz="2200" dirty="0">
                <a:solidFill>
                  <a:srgbClr val="002060"/>
                </a:solidFill>
                <a:latin typeface="Times New Roman" panose="02020603050405020304" pitchFamily="18" charset="0"/>
                <a:ea typeface="华文中宋" panose="02010600040101010101" pitchFamily="2" charset="-122"/>
              </a:rPr>
              <a:t>）对于转轴：算出</a:t>
            </a:r>
            <a:r>
              <a:rPr kumimoji="1" lang="en-US" altLang="zh-CN" sz="2200" b="1" i="1" dirty="0" err="1">
                <a:solidFill>
                  <a:srgbClr val="FF0000"/>
                </a:solidFill>
                <a:latin typeface="Times New Roman" panose="02020603050405020304" pitchFamily="18" charset="0"/>
                <a:ea typeface="华文中宋" panose="02010600040101010101" pitchFamily="2" charset="-122"/>
              </a:rPr>
              <a:t>d</a:t>
            </a:r>
            <a:r>
              <a:rPr kumimoji="1" lang="en-US" altLang="zh-CN" sz="2200" b="1" baseline="-25000" dirty="0" err="1">
                <a:solidFill>
                  <a:srgbClr val="FF0000"/>
                </a:solidFill>
                <a:latin typeface="Times New Roman" panose="02020603050405020304" pitchFamily="18" charset="0"/>
                <a:ea typeface="华文中宋" panose="02010600040101010101" pitchFamily="2" charset="-122"/>
              </a:rPr>
              <a:t>min</a:t>
            </a:r>
            <a:r>
              <a:rPr kumimoji="1" lang="en-US" altLang="zh-CN" sz="2200" dirty="0">
                <a:solidFill>
                  <a:srgbClr val="002060"/>
                </a:solidFill>
                <a:latin typeface="Times New Roman" panose="02020603050405020304" pitchFamily="18" charset="0"/>
                <a:ea typeface="华文中宋" panose="02010600040101010101" pitchFamily="2" charset="-122"/>
              </a:rPr>
              <a:t>→</a:t>
            </a:r>
            <a:r>
              <a:rPr kumimoji="1" lang="zh-CN" altLang="en-US" sz="2200" dirty="0">
                <a:solidFill>
                  <a:srgbClr val="002060"/>
                </a:solidFill>
                <a:latin typeface="Times New Roman" panose="02020603050405020304" pitchFamily="18" charset="0"/>
                <a:ea typeface="华文中宋" panose="02010600040101010101" pitchFamily="2" charset="-122"/>
              </a:rPr>
              <a:t>结构设计→支点、力作用点→弯矩图→弯扭合成强度计算；</a:t>
            </a:r>
            <a:endParaRPr kumimoji="1" lang="zh-CN" altLang="en-US" sz="2200" dirty="0">
              <a:solidFill>
                <a:srgbClr val="002060"/>
              </a:solidFill>
              <a:latin typeface="Times New Roman" panose="02020603050405020304" pitchFamily="18" charset="0"/>
              <a:ea typeface="华文中宋" panose="02010600040101010101" pitchFamily="2" charset="-122"/>
            </a:endParaRPr>
          </a:p>
        </p:txBody>
      </p:sp>
      <p:sp>
        <p:nvSpPr>
          <p:cNvPr id="29702" name="Text Box 6"/>
          <p:cNvSpPr txBox="1">
            <a:spLocks noChangeArrowheads="1"/>
          </p:cNvSpPr>
          <p:nvPr/>
        </p:nvSpPr>
        <p:spPr bwMode="auto">
          <a:xfrm>
            <a:off x="947093" y="5232307"/>
            <a:ext cx="6078395" cy="430887"/>
          </a:xfrm>
          <a:prstGeom prst="rect">
            <a:avLst/>
          </a:prstGeom>
          <a:noFill/>
          <a:ln w="9525">
            <a:solidFill>
              <a:srgbClr val="00B05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533400" indent="-5334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200" dirty="0" smtClean="0">
                <a:solidFill>
                  <a:srgbClr val="002060"/>
                </a:solidFill>
                <a:latin typeface="Times New Roman" panose="02020603050405020304" pitchFamily="18" charset="0"/>
                <a:ea typeface="华文中宋" panose="02010600040101010101" pitchFamily="2" charset="-122"/>
              </a:rPr>
              <a:t>4</a:t>
            </a:r>
            <a:r>
              <a:rPr kumimoji="1" lang="zh-CN" altLang="en-US" sz="2200" dirty="0" smtClean="0">
                <a:solidFill>
                  <a:srgbClr val="002060"/>
                </a:solidFill>
                <a:latin typeface="Times New Roman" panose="02020603050405020304" pitchFamily="18" charset="0"/>
                <a:ea typeface="华文中宋" panose="02010600040101010101" pitchFamily="2" charset="-122"/>
              </a:rPr>
              <a:t>）有键槽处：</a:t>
            </a:r>
            <a:r>
              <a:rPr kumimoji="1" lang="zh-CN" altLang="en-US" sz="2200" b="1" dirty="0" smtClean="0">
                <a:solidFill>
                  <a:srgbClr val="FF0000"/>
                </a:solidFill>
                <a:latin typeface="Times New Roman" panose="02020603050405020304" pitchFamily="18" charset="0"/>
                <a:ea typeface="华文中宋" panose="02010600040101010101" pitchFamily="2" charset="-122"/>
              </a:rPr>
              <a:t>↑</a:t>
            </a:r>
            <a:r>
              <a:rPr kumimoji="1" lang="en-US" altLang="zh-CN" sz="2200" b="1" i="1" dirty="0" smtClean="0">
                <a:solidFill>
                  <a:srgbClr val="FF0000"/>
                </a:solidFill>
                <a:latin typeface="Times New Roman" panose="02020603050405020304" pitchFamily="18" charset="0"/>
                <a:ea typeface="华文中宋" panose="02010600040101010101" pitchFamily="2" charset="-122"/>
              </a:rPr>
              <a:t>d</a:t>
            </a:r>
            <a:r>
              <a:rPr kumimoji="1" lang="zh-CN" altLang="en-US" sz="2200" dirty="0" smtClean="0">
                <a:solidFill>
                  <a:srgbClr val="002060"/>
                </a:solidFill>
                <a:latin typeface="Times New Roman" panose="02020603050405020304" pitchFamily="18" charset="0"/>
                <a:ea typeface="华文中宋" panose="02010600040101010101" pitchFamily="2" charset="-122"/>
              </a:rPr>
              <a:t>，</a:t>
            </a:r>
            <a:r>
              <a:rPr kumimoji="1" lang="zh-CN" altLang="en-US" sz="2200" b="1" dirty="0" smtClean="0">
                <a:solidFill>
                  <a:srgbClr val="FF0000"/>
                </a:solidFill>
                <a:latin typeface="Times New Roman" panose="02020603050405020304" pitchFamily="18" charset="0"/>
                <a:ea typeface="华文中宋" panose="02010600040101010101" pitchFamily="2" charset="-122"/>
              </a:rPr>
              <a:t>单键</a:t>
            </a:r>
            <a:r>
              <a:rPr kumimoji="1" lang="en-US" altLang="zh-CN" sz="2200" b="1" dirty="0" smtClean="0">
                <a:solidFill>
                  <a:srgbClr val="0000CC"/>
                </a:solidFill>
                <a:latin typeface="Times New Roman" panose="02020603050405020304" pitchFamily="18" charset="0"/>
                <a:ea typeface="华文中宋" panose="02010600040101010101" pitchFamily="2" charset="-122"/>
              </a:rPr>
              <a:t>—</a:t>
            </a:r>
            <a:r>
              <a:rPr kumimoji="1" lang="en-US" altLang="zh-CN" sz="2200" dirty="0" smtClean="0">
                <a:solidFill>
                  <a:srgbClr val="FF0000"/>
                </a:solidFill>
                <a:latin typeface="Times New Roman" panose="02020603050405020304" pitchFamily="18" charset="0"/>
                <a:ea typeface="华文中宋" panose="02010600040101010101" pitchFamily="2" charset="-122"/>
              </a:rPr>
              <a:t>↑</a:t>
            </a:r>
            <a:r>
              <a:rPr kumimoji="1" lang="en-US" altLang="zh-CN" sz="2200" b="1" dirty="0" smtClean="0">
                <a:solidFill>
                  <a:srgbClr val="FF0000"/>
                </a:solidFill>
                <a:latin typeface="Times New Roman" panose="02020603050405020304" pitchFamily="18" charset="0"/>
                <a:ea typeface="华文中宋" panose="02010600040101010101" pitchFamily="2" charset="-122"/>
              </a:rPr>
              <a:t>3%</a:t>
            </a:r>
            <a:r>
              <a:rPr kumimoji="1" lang="zh-CN" altLang="en-US" sz="2200" dirty="0" smtClean="0">
                <a:solidFill>
                  <a:srgbClr val="002060"/>
                </a:solidFill>
                <a:latin typeface="Times New Roman" panose="02020603050405020304" pitchFamily="18" charset="0"/>
                <a:ea typeface="华文中宋" panose="02010600040101010101" pitchFamily="2" charset="-122"/>
              </a:rPr>
              <a:t>；</a:t>
            </a:r>
            <a:r>
              <a:rPr kumimoji="1" lang="zh-CN" altLang="en-US" sz="2200" b="1" dirty="0" smtClean="0">
                <a:solidFill>
                  <a:srgbClr val="FF0000"/>
                </a:solidFill>
                <a:latin typeface="Times New Roman" panose="02020603050405020304" pitchFamily="18" charset="0"/>
                <a:ea typeface="华文中宋" panose="02010600040101010101" pitchFamily="2" charset="-122"/>
              </a:rPr>
              <a:t>双键</a:t>
            </a:r>
            <a:r>
              <a:rPr kumimoji="1" lang="en-US" altLang="zh-CN" sz="2200" b="1" dirty="0" smtClean="0">
                <a:solidFill>
                  <a:srgbClr val="0000CC"/>
                </a:solidFill>
                <a:latin typeface="Times New Roman" panose="02020603050405020304" pitchFamily="18" charset="0"/>
                <a:ea typeface="华文中宋" panose="02010600040101010101" pitchFamily="2" charset="-122"/>
              </a:rPr>
              <a:t>—</a:t>
            </a:r>
            <a:r>
              <a:rPr kumimoji="1" lang="en-US" altLang="zh-CN" sz="2200" b="1" dirty="0" smtClean="0">
                <a:solidFill>
                  <a:srgbClr val="FF0000"/>
                </a:solidFill>
                <a:latin typeface="Times New Roman" panose="02020603050405020304" pitchFamily="18" charset="0"/>
                <a:ea typeface="华文中宋" panose="02010600040101010101" pitchFamily="2" charset="-122"/>
              </a:rPr>
              <a:t>↑7%</a:t>
            </a:r>
            <a:endParaRPr kumimoji="1" lang="en-US" altLang="zh-CN" sz="2200" b="1" dirty="0">
              <a:solidFill>
                <a:srgbClr val="FF0000"/>
              </a:solidFill>
              <a:latin typeface="Times New Roman" panose="02020603050405020304" pitchFamily="18" charset="0"/>
              <a:ea typeface="华文中宋" panose="02010600040101010101" pitchFamily="2" charset="-122"/>
            </a:endParaRPr>
          </a:p>
        </p:txBody>
      </p:sp>
      <p:sp>
        <p:nvSpPr>
          <p:cNvPr id="7" name="Text Box 4"/>
          <p:cNvSpPr txBox="1">
            <a:spLocks noChangeArrowheads="1"/>
          </p:cNvSpPr>
          <p:nvPr/>
        </p:nvSpPr>
        <p:spPr bwMode="auto">
          <a:xfrm>
            <a:off x="5472113" y="174625"/>
            <a:ext cx="23164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sz="2400" dirty="0" smtClean="0">
                <a:solidFill>
                  <a:srgbClr val="CC3300"/>
                </a:solidFill>
                <a:latin typeface="黑体" panose="02010609060101010101" pitchFamily="49" charset="-122"/>
                <a:ea typeface="黑体" panose="02010609060101010101" pitchFamily="49" charset="-122"/>
              </a:rPr>
              <a:t>3.7-3 </a:t>
            </a:r>
            <a:r>
              <a:rPr lang="zh-CN" altLang="en-US" sz="2400" dirty="0">
                <a:solidFill>
                  <a:srgbClr val="CC3300"/>
                </a:solidFill>
                <a:latin typeface="黑体" panose="02010609060101010101" pitchFamily="49" charset="-122"/>
                <a:ea typeface="黑体" panose="02010609060101010101" pitchFamily="49" charset="-122"/>
              </a:rPr>
              <a:t>轴的计算</a:t>
            </a:r>
            <a:endParaRPr lang="zh-CN" altLang="en-US" sz="2400" dirty="0">
              <a:solidFill>
                <a:srgbClr val="CC3300"/>
              </a:solidFill>
              <a:latin typeface="黑体" panose="02010609060101010101" pitchFamily="49" charset="-122"/>
              <a:ea typeface="黑体" panose="02010609060101010101" pitchFamily="49" charset="-122"/>
            </a:endParaRPr>
          </a:p>
        </p:txBody>
      </p:sp>
      <p:sp>
        <p:nvSpPr>
          <p:cNvPr id="8"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9699"/>
                                        </p:tgtEl>
                                        <p:attrNameLst>
                                          <p:attrName>style.visibility</p:attrName>
                                        </p:attrNameLst>
                                      </p:cBhvr>
                                      <p:to>
                                        <p:strVal val="visible"/>
                                      </p:to>
                                    </p:set>
                                    <p:animEffect transition="in" filter="wipe(left)">
                                      <p:cBhvr>
                                        <p:cTn id="7" dur="500"/>
                                        <p:tgtEl>
                                          <p:spTgt spid="2969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9700"/>
                                        </p:tgtEl>
                                        <p:attrNameLst>
                                          <p:attrName>style.visibility</p:attrName>
                                        </p:attrNameLst>
                                      </p:cBhvr>
                                      <p:to>
                                        <p:strVal val="visible"/>
                                      </p:to>
                                    </p:set>
                                    <p:animEffect transition="in" filter="wipe(left)">
                                      <p:cBhvr>
                                        <p:cTn id="12" dur="500"/>
                                        <p:tgtEl>
                                          <p:spTgt spid="2970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9701"/>
                                        </p:tgtEl>
                                        <p:attrNameLst>
                                          <p:attrName>style.visibility</p:attrName>
                                        </p:attrNameLst>
                                      </p:cBhvr>
                                      <p:to>
                                        <p:strVal val="visible"/>
                                      </p:to>
                                    </p:set>
                                    <p:animEffect transition="in" filter="wipe(left)">
                                      <p:cBhvr>
                                        <p:cTn id="17" dur="500"/>
                                        <p:tgtEl>
                                          <p:spTgt spid="2970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9702"/>
                                        </p:tgtEl>
                                        <p:attrNameLst>
                                          <p:attrName>style.visibility</p:attrName>
                                        </p:attrNameLst>
                                      </p:cBhvr>
                                      <p:to>
                                        <p:strVal val="visible"/>
                                      </p:to>
                                    </p:set>
                                    <p:animEffect transition="in" filter="wipe(left)">
                                      <p:cBhvr>
                                        <p:cTn id="22" dur="500"/>
                                        <p:tgtEl>
                                          <p:spTgt spid="297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9" grpId="0" bldLvl="0" animBg="1" autoUpdateAnimBg="0"/>
      <p:bldP spid="29700" grpId="0" bldLvl="0" animBg="1" autoUpdateAnimBg="0"/>
      <p:bldP spid="29701" grpId="0" bldLvl="0" animBg="1" autoUpdateAnimBg="0"/>
      <p:bldP spid="29702" grpId="0" bldLvl="0" animBg="1" autoUpdateAnimBg="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3188"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087563" y="4248150"/>
            <a:ext cx="6175375" cy="216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3" name="Picture 5"/>
          <p:cNvPicPr>
            <a:picLocks noChangeAspect="1" noChangeArrowheads="1"/>
          </p:cNvPicPr>
          <p:nvPr/>
        </p:nvPicPr>
        <p:blipFill>
          <a:blip r:embed="rId2">
            <a:extLst>
              <a:ext uri="{28A0092B-C50C-407E-A947-70E740481C1C}">
                <a14:useLocalDpi xmlns:a14="http://schemas.microsoft.com/office/drawing/2010/main" val="0"/>
              </a:ext>
            </a:extLst>
          </a:blip>
          <a:srcRect l="36311" t="30556" r="1335" b="31163"/>
          <a:stretch>
            <a:fillRect/>
          </a:stretch>
        </p:blipFill>
        <p:spPr bwMode="auto">
          <a:xfrm>
            <a:off x="966788" y="1192213"/>
            <a:ext cx="7451725" cy="3432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99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3190" name="Text Box 6"/>
          <p:cNvSpPr txBox="1">
            <a:spLocks noChangeArrowheads="1"/>
          </p:cNvSpPr>
          <p:nvPr/>
        </p:nvSpPr>
        <p:spPr bwMode="auto">
          <a:xfrm>
            <a:off x="335340" y="202965"/>
            <a:ext cx="2723823"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200" b="1" dirty="0">
                <a:solidFill>
                  <a:srgbClr val="800000"/>
                </a:solidFill>
                <a:latin typeface="华文中宋" panose="02010600040101010101" pitchFamily="2" charset="-122"/>
                <a:ea typeface="华文中宋" panose="02010600040101010101" pitchFamily="2" charset="-122"/>
              </a:rPr>
              <a:t>确定危险截面方法：</a:t>
            </a:r>
            <a:endParaRPr kumimoji="1" lang="zh-CN" altLang="en-US" sz="2200" b="1" dirty="0">
              <a:solidFill>
                <a:srgbClr val="800000"/>
              </a:solidFill>
              <a:latin typeface="华文中宋" panose="02010600040101010101" pitchFamily="2" charset="-122"/>
              <a:ea typeface="华文中宋" panose="02010600040101010101" pitchFamily="2" charset="-122"/>
            </a:endParaRPr>
          </a:p>
        </p:txBody>
      </p:sp>
      <p:grpSp>
        <p:nvGrpSpPr>
          <p:cNvPr id="93198" name="Group 14"/>
          <p:cNvGrpSpPr/>
          <p:nvPr/>
        </p:nvGrpSpPr>
        <p:grpSpPr bwMode="auto">
          <a:xfrm>
            <a:off x="2503488" y="2981325"/>
            <a:ext cx="3311525" cy="3314700"/>
            <a:chOff x="1577" y="1878"/>
            <a:chExt cx="2086" cy="2088"/>
          </a:xfrm>
        </p:grpSpPr>
        <p:sp>
          <p:nvSpPr>
            <p:cNvPr id="30727" name="Line 8"/>
            <p:cNvSpPr>
              <a:spLocks noChangeShapeType="1"/>
            </p:cNvSpPr>
            <p:nvPr/>
          </p:nvSpPr>
          <p:spPr bwMode="auto">
            <a:xfrm>
              <a:off x="3022" y="1879"/>
              <a:ext cx="0" cy="2087"/>
            </a:xfrm>
            <a:prstGeom prst="line">
              <a:avLst/>
            </a:prstGeom>
            <a:noFill/>
            <a:ln w="28575">
              <a:solidFill>
                <a:srgbClr val="66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728" name="Line 9"/>
            <p:cNvSpPr>
              <a:spLocks noChangeShapeType="1"/>
            </p:cNvSpPr>
            <p:nvPr/>
          </p:nvSpPr>
          <p:spPr bwMode="auto">
            <a:xfrm>
              <a:off x="1577" y="1974"/>
              <a:ext cx="0" cy="1992"/>
            </a:xfrm>
            <a:prstGeom prst="line">
              <a:avLst/>
            </a:prstGeom>
            <a:noFill/>
            <a:ln w="28575">
              <a:solidFill>
                <a:srgbClr val="66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729" name="Line 10"/>
            <p:cNvSpPr>
              <a:spLocks noChangeShapeType="1"/>
            </p:cNvSpPr>
            <p:nvPr/>
          </p:nvSpPr>
          <p:spPr bwMode="auto">
            <a:xfrm>
              <a:off x="3351" y="1878"/>
              <a:ext cx="0" cy="2087"/>
            </a:xfrm>
            <a:prstGeom prst="line">
              <a:avLst/>
            </a:prstGeom>
            <a:noFill/>
            <a:ln w="28575">
              <a:solidFill>
                <a:srgbClr val="66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730" name="Text Box 11"/>
            <p:cNvSpPr txBox="1">
              <a:spLocks noChangeArrowheads="1"/>
            </p:cNvSpPr>
            <p:nvPr/>
          </p:nvSpPr>
          <p:spPr bwMode="auto">
            <a:xfrm>
              <a:off x="1625" y="2833"/>
              <a:ext cx="30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b="1">
                  <a:solidFill>
                    <a:srgbClr val="660066"/>
                  </a:solidFill>
                  <a:latin typeface="Times New Roman" panose="02020603050405020304" pitchFamily="18" charset="0"/>
                </a:rPr>
                <a:t>E</a:t>
              </a:r>
              <a:endParaRPr lang="en-US" altLang="zh-CN" b="1">
                <a:solidFill>
                  <a:srgbClr val="660066"/>
                </a:solidFill>
                <a:latin typeface="Times New Roman" panose="02020603050405020304" pitchFamily="18" charset="0"/>
              </a:endParaRPr>
            </a:p>
          </p:txBody>
        </p:sp>
        <p:sp>
          <p:nvSpPr>
            <p:cNvPr id="30731" name="Text Box 12"/>
            <p:cNvSpPr txBox="1">
              <a:spLocks noChangeArrowheads="1"/>
            </p:cNvSpPr>
            <p:nvPr/>
          </p:nvSpPr>
          <p:spPr bwMode="auto">
            <a:xfrm>
              <a:off x="2786" y="2833"/>
              <a:ext cx="30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b="1">
                  <a:solidFill>
                    <a:srgbClr val="660066"/>
                  </a:solidFill>
                  <a:latin typeface="Times New Roman" panose="02020603050405020304" pitchFamily="18" charset="0"/>
                </a:rPr>
                <a:t>F</a:t>
              </a:r>
              <a:endParaRPr lang="en-US" altLang="zh-CN" b="1">
                <a:solidFill>
                  <a:srgbClr val="660066"/>
                </a:solidFill>
                <a:latin typeface="Times New Roman" panose="02020603050405020304" pitchFamily="18" charset="0"/>
              </a:endParaRPr>
            </a:p>
          </p:txBody>
        </p:sp>
        <p:sp>
          <p:nvSpPr>
            <p:cNvPr id="30732" name="Text Box 13"/>
            <p:cNvSpPr txBox="1">
              <a:spLocks noChangeArrowheads="1"/>
            </p:cNvSpPr>
            <p:nvPr/>
          </p:nvSpPr>
          <p:spPr bwMode="auto">
            <a:xfrm>
              <a:off x="3361" y="2843"/>
              <a:ext cx="30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b="1">
                  <a:solidFill>
                    <a:srgbClr val="660066"/>
                  </a:solidFill>
                  <a:latin typeface="Times New Roman" panose="02020603050405020304" pitchFamily="18" charset="0"/>
                </a:rPr>
                <a:t>C</a:t>
              </a:r>
              <a:endParaRPr lang="en-US" altLang="zh-CN" b="1">
                <a:solidFill>
                  <a:srgbClr val="660066"/>
                </a:solidFill>
                <a:latin typeface="Times New Roman" panose="02020603050405020304" pitchFamily="18" charset="0"/>
              </a:endParaRPr>
            </a:p>
          </p:txBody>
        </p:sp>
      </p:grpSp>
      <p:sp>
        <p:nvSpPr>
          <p:cNvPr id="14" name="直接连接符 6"/>
          <p:cNvSpPr>
            <a:spLocks noChangeShapeType="1"/>
          </p:cNvSpPr>
          <p:nvPr/>
        </p:nvSpPr>
        <p:spPr bwMode="auto">
          <a:xfrm>
            <a:off x="0" y="701801"/>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3190"/>
                                        </p:tgtEl>
                                        <p:attrNameLst>
                                          <p:attrName>style.visibility</p:attrName>
                                        </p:attrNameLst>
                                      </p:cBhvr>
                                      <p:to>
                                        <p:strVal val="visible"/>
                                      </p:to>
                                    </p:set>
                                    <p:animEffect transition="in" filter="wipe(left)">
                                      <p:cBhvr>
                                        <p:cTn id="7" dur="500"/>
                                        <p:tgtEl>
                                          <p:spTgt spid="9319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3188"/>
                                        </p:tgtEl>
                                        <p:attrNameLst>
                                          <p:attrName>style.visibility</p:attrName>
                                        </p:attrNameLst>
                                      </p:cBhvr>
                                      <p:to>
                                        <p:strVal val="visible"/>
                                      </p:to>
                                    </p:set>
                                    <p:animEffect transition="in" filter="wipe(left)">
                                      <p:cBhvr>
                                        <p:cTn id="12" dur="500"/>
                                        <p:tgtEl>
                                          <p:spTgt spid="9318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93198"/>
                                        </p:tgtEl>
                                        <p:attrNameLst>
                                          <p:attrName>style.visibility</p:attrName>
                                        </p:attrNameLst>
                                      </p:cBhvr>
                                      <p:to>
                                        <p:strVal val="visible"/>
                                      </p:to>
                                    </p:set>
                                    <p:animEffect transition="in" filter="wipe(down)">
                                      <p:cBhvr>
                                        <p:cTn id="17" dur="500"/>
                                        <p:tgtEl>
                                          <p:spTgt spid="931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90" grpId="0" autoUpdateAnimBg="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2"/>
          <p:cNvSpPr>
            <a:spLocks noGrp="1" noChangeArrowheads="1"/>
          </p:cNvSpPr>
          <p:nvPr>
            <p:ph type="title"/>
          </p:nvPr>
        </p:nvSpPr>
        <p:spPr bwMode="auto">
          <a:xfrm>
            <a:off x="6929438" y="879475"/>
            <a:ext cx="1528762" cy="2603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algn="l" eaLnBrk="1" hangingPunct="1"/>
            <a:r>
              <a:rPr lang="zh-CN" altLang="en-US" sz="800" smtClean="0">
                <a:solidFill>
                  <a:schemeClr val="bg1"/>
                </a:solidFill>
                <a:latin typeface="黑体" panose="02010609060101010101" pitchFamily="49" charset="-122"/>
                <a:ea typeface="黑体" panose="02010609060101010101" pitchFamily="49" charset="-122"/>
              </a:rPr>
              <a:t>轴的计算</a:t>
            </a:r>
            <a:r>
              <a:rPr lang="en-US" altLang="zh-CN" sz="800" smtClean="0">
                <a:solidFill>
                  <a:schemeClr val="bg1"/>
                </a:solidFill>
                <a:latin typeface="黑体" panose="02010609060101010101" pitchFamily="49" charset="-122"/>
                <a:ea typeface="黑体" panose="02010609060101010101" pitchFamily="49" charset="-122"/>
              </a:rPr>
              <a:t>5</a:t>
            </a:r>
            <a:endParaRPr lang="en-US" altLang="zh-CN" sz="800" smtClean="0">
              <a:solidFill>
                <a:schemeClr val="bg1"/>
              </a:solidFill>
              <a:latin typeface="黑体" panose="02010609060101010101" pitchFamily="49" charset="-122"/>
              <a:ea typeface="黑体" panose="02010609060101010101" pitchFamily="49" charset="-122"/>
            </a:endParaRPr>
          </a:p>
        </p:txBody>
      </p:sp>
      <p:sp>
        <p:nvSpPr>
          <p:cNvPr id="10244" name="Text Box 4"/>
          <p:cNvSpPr txBox="1">
            <a:spLocks noChangeArrowheads="1"/>
          </p:cNvSpPr>
          <p:nvPr/>
        </p:nvSpPr>
        <p:spPr bwMode="auto">
          <a:xfrm>
            <a:off x="5472113" y="174625"/>
            <a:ext cx="316388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sz="2400" dirty="0" smtClean="0">
                <a:solidFill>
                  <a:srgbClr val="CC3300"/>
                </a:solidFill>
                <a:latin typeface="黑体" panose="02010609060101010101" pitchFamily="49" charset="-122"/>
                <a:ea typeface="黑体" panose="02010609060101010101" pitchFamily="49" charset="-122"/>
              </a:rPr>
              <a:t>3.7-3 </a:t>
            </a:r>
            <a:r>
              <a:rPr lang="zh-CN" altLang="en-US" sz="2400" dirty="0">
                <a:solidFill>
                  <a:srgbClr val="CC3300"/>
                </a:solidFill>
                <a:latin typeface="黑体" panose="02010609060101010101" pitchFamily="49" charset="-122"/>
                <a:ea typeface="黑体" panose="02010609060101010101" pitchFamily="49" charset="-122"/>
              </a:rPr>
              <a:t>轴的计算</a:t>
            </a:r>
            <a:endParaRPr lang="zh-CN" altLang="en-US" sz="2400" dirty="0">
              <a:solidFill>
                <a:srgbClr val="CC3300"/>
              </a:solidFill>
              <a:latin typeface="黑体" panose="02010609060101010101" pitchFamily="49" charset="-122"/>
              <a:ea typeface="黑体" panose="02010609060101010101" pitchFamily="49" charset="-122"/>
            </a:endParaRPr>
          </a:p>
        </p:txBody>
      </p:sp>
      <p:sp>
        <p:nvSpPr>
          <p:cNvPr id="10245" name="Text Box 6"/>
          <p:cNvSpPr txBox="1">
            <a:spLocks noChangeArrowheads="1"/>
          </p:cNvSpPr>
          <p:nvPr/>
        </p:nvSpPr>
        <p:spPr bwMode="auto">
          <a:xfrm>
            <a:off x="268288" y="755650"/>
            <a:ext cx="3146425"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zh-CN" altLang="en-US" sz="2200">
                <a:solidFill>
                  <a:srgbClr val="C00000"/>
                </a:solidFill>
                <a:latin typeface="黑体" panose="02010609060101010101" pitchFamily="49" charset="-122"/>
                <a:ea typeface="黑体" panose="02010609060101010101" pitchFamily="49" charset="-122"/>
              </a:rPr>
              <a:t>二、轴的刚度校核计算 </a:t>
            </a:r>
            <a:endParaRPr lang="zh-CN" altLang="en-US" sz="2200">
              <a:solidFill>
                <a:srgbClr val="C00000"/>
              </a:solidFill>
              <a:latin typeface="黑体" panose="02010609060101010101" pitchFamily="49" charset="-122"/>
              <a:ea typeface="黑体" panose="02010609060101010101" pitchFamily="49" charset="-122"/>
            </a:endParaRPr>
          </a:p>
        </p:txBody>
      </p:sp>
      <p:sp>
        <p:nvSpPr>
          <p:cNvPr id="44039" name="Text Box 7"/>
          <p:cNvSpPr txBox="1">
            <a:spLocks noChangeArrowheads="1"/>
          </p:cNvSpPr>
          <p:nvPr/>
        </p:nvSpPr>
        <p:spPr bwMode="auto">
          <a:xfrm>
            <a:off x="287338" y="1193800"/>
            <a:ext cx="32308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a:solidFill>
                  <a:srgbClr val="0000FF"/>
                </a:solidFill>
                <a:latin typeface="黑体" panose="02010609060101010101" pitchFamily="49" charset="-122"/>
                <a:ea typeface="黑体" panose="02010609060101010101" pitchFamily="49" charset="-122"/>
                <a:cs typeface="黑体" panose="02010609060101010101" pitchFamily="49" charset="-122"/>
              </a:rPr>
              <a:t>1. </a:t>
            </a:r>
            <a:r>
              <a:rPr lang="zh-CN" altLang="en-US">
                <a:solidFill>
                  <a:srgbClr val="0000FF"/>
                </a:solidFill>
                <a:latin typeface="黑体" panose="02010609060101010101" pitchFamily="49" charset="-122"/>
                <a:ea typeface="黑体" panose="02010609060101010101" pitchFamily="49" charset="-122"/>
                <a:cs typeface="黑体" panose="02010609060101010101" pitchFamily="49" charset="-122"/>
              </a:rPr>
              <a:t>轴的弯曲刚度校核计算 </a:t>
            </a:r>
            <a:endParaRPr lang="zh-CN" altLang="en-US">
              <a:solidFill>
                <a:srgbClr val="0000FF"/>
              </a:solidFill>
              <a:latin typeface="黑体" panose="02010609060101010101" pitchFamily="49" charset="-122"/>
              <a:ea typeface="黑体" panose="02010609060101010101" pitchFamily="49" charset="-122"/>
              <a:cs typeface="黑体" panose="02010609060101010101" pitchFamily="49" charset="-122"/>
            </a:endParaRPr>
          </a:p>
        </p:txBody>
      </p:sp>
      <p:sp>
        <p:nvSpPr>
          <p:cNvPr id="44041" name="Text Box 9"/>
          <p:cNvSpPr txBox="1">
            <a:spLocks noChangeArrowheads="1"/>
          </p:cNvSpPr>
          <p:nvPr/>
        </p:nvSpPr>
        <p:spPr bwMode="auto">
          <a:xfrm>
            <a:off x="314325" y="2854325"/>
            <a:ext cx="25511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zh-CN" altLang="en-US">
                <a:solidFill>
                  <a:schemeClr val="accent4">
                    <a:lumMod val="75000"/>
                  </a:schemeClr>
                </a:solidFill>
                <a:latin typeface="华文中宋" panose="02010600040101010101" pitchFamily="2" charset="-122"/>
              </a:rPr>
              <a:t>轴的弯曲刚度条件为 </a:t>
            </a:r>
            <a:endParaRPr lang="zh-CN" altLang="en-US">
              <a:solidFill>
                <a:schemeClr val="accent4">
                  <a:lumMod val="75000"/>
                </a:schemeClr>
              </a:solidFill>
              <a:latin typeface="华文中宋" panose="02010600040101010101" pitchFamily="2" charset="-122"/>
            </a:endParaRPr>
          </a:p>
        </p:txBody>
      </p:sp>
      <p:sp>
        <p:nvSpPr>
          <p:cNvPr id="44042" name="Text Box 10"/>
          <p:cNvSpPr txBox="1">
            <a:spLocks noChangeArrowheads="1"/>
          </p:cNvSpPr>
          <p:nvPr/>
        </p:nvSpPr>
        <p:spPr bwMode="auto">
          <a:xfrm>
            <a:off x="2225675" y="3295650"/>
            <a:ext cx="2495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zh-CN" altLang="en-US">
                <a:solidFill>
                  <a:schemeClr val="accent4">
                    <a:lumMod val="75000"/>
                  </a:schemeClr>
                </a:solidFill>
              </a:rPr>
              <a:t>挠度　　　　</a:t>
            </a:r>
            <a:r>
              <a:rPr lang="zh-CN" altLang="en-US">
                <a:solidFill>
                  <a:schemeClr val="accent4">
                    <a:lumMod val="75000"/>
                  </a:schemeClr>
                </a:solidFill>
                <a:ea typeface="宋体" panose="02010600030101010101" pitchFamily="2" charset="-122"/>
              </a:rPr>
              <a:t> </a:t>
            </a:r>
            <a:r>
              <a:rPr lang="en-US" altLang="zh-CN" i="1">
                <a:solidFill>
                  <a:schemeClr val="accent4">
                    <a:lumMod val="75000"/>
                  </a:schemeClr>
                </a:solidFill>
                <a:ea typeface="宋体" panose="02010600030101010101" pitchFamily="2" charset="-122"/>
              </a:rPr>
              <a:t>y</a:t>
            </a:r>
            <a:r>
              <a:rPr lang="en-US" altLang="zh-CN" sz="1600">
                <a:solidFill>
                  <a:schemeClr val="accent4">
                    <a:lumMod val="75000"/>
                  </a:schemeClr>
                </a:solidFill>
                <a:ea typeface="宋体" panose="02010600030101010101" pitchFamily="2" charset="-122"/>
              </a:rPr>
              <a:t>≤</a:t>
            </a:r>
            <a:r>
              <a:rPr lang="en-US" altLang="zh-CN">
                <a:solidFill>
                  <a:schemeClr val="accent4">
                    <a:lumMod val="75000"/>
                  </a:schemeClr>
                </a:solidFill>
                <a:ea typeface="宋体" panose="02010600030101010101" pitchFamily="2" charset="-122"/>
              </a:rPr>
              <a:t>[</a:t>
            </a:r>
            <a:r>
              <a:rPr lang="en-US" altLang="zh-CN" i="1">
                <a:solidFill>
                  <a:schemeClr val="accent4">
                    <a:lumMod val="75000"/>
                  </a:schemeClr>
                </a:solidFill>
                <a:ea typeface="宋体" panose="02010600030101010101" pitchFamily="2" charset="-122"/>
              </a:rPr>
              <a:t>y</a:t>
            </a:r>
            <a:r>
              <a:rPr lang="en-US" altLang="zh-CN">
                <a:solidFill>
                  <a:schemeClr val="accent4">
                    <a:lumMod val="75000"/>
                  </a:schemeClr>
                </a:solidFill>
                <a:ea typeface="宋体" panose="02010600030101010101" pitchFamily="2" charset="-122"/>
              </a:rPr>
              <a:t>]</a:t>
            </a:r>
            <a:r>
              <a:rPr lang="en-US" altLang="zh-CN">
                <a:solidFill>
                  <a:schemeClr val="accent4">
                    <a:lumMod val="75000"/>
                  </a:schemeClr>
                </a:solidFill>
              </a:rPr>
              <a:t>  </a:t>
            </a:r>
            <a:endParaRPr lang="en-US" altLang="zh-CN">
              <a:solidFill>
                <a:schemeClr val="accent4">
                  <a:lumMod val="75000"/>
                </a:schemeClr>
              </a:solidFill>
            </a:endParaRPr>
          </a:p>
        </p:txBody>
      </p:sp>
      <p:sp>
        <p:nvSpPr>
          <p:cNvPr id="44043" name="Text Box 11"/>
          <p:cNvSpPr txBox="1">
            <a:spLocks noChangeArrowheads="1"/>
          </p:cNvSpPr>
          <p:nvPr/>
        </p:nvSpPr>
        <p:spPr bwMode="auto">
          <a:xfrm>
            <a:off x="2132013" y="3738563"/>
            <a:ext cx="27019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zh-CN" altLang="en-US">
                <a:solidFill>
                  <a:schemeClr val="accent4">
                    <a:lumMod val="75000"/>
                  </a:schemeClr>
                </a:solidFill>
              </a:rPr>
              <a:t>偏转角　　　</a:t>
            </a:r>
            <a:r>
              <a:rPr lang="en-US" altLang="zh-CN" i="1">
                <a:solidFill>
                  <a:schemeClr val="accent4">
                    <a:lumMod val="75000"/>
                  </a:schemeClr>
                </a:solidFill>
              </a:rPr>
              <a:t>θ</a:t>
            </a:r>
            <a:r>
              <a:rPr lang="en-US" altLang="zh-CN">
                <a:solidFill>
                  <a:schemeClr val="accent4">
                    <a:lumMod val="75000"/>
                  </a:schemeClr>
                </a:solidFill>
              </a:rPr>
              <a:t>≤[</a:t>
            </a:r>
            <a:r>
              <a:rPr lang="en-US" altLang="zh-CN" i="1">
                <a:solidFill>
                  <a:schemeClr val="accent4">
                    <a:lumMod val="75000"/>
                  </a:schemeClr>
                </a:solidFill>
              </a:rPr>
              <a:t>θ</a:t>
            </a:r>
            <a:r>
              <a:rPr lang="en-US" altLang="zh-CN">
                <a:solidFill>
                  <a:schemeClr val="accent4">
                    <a:lumMod val="75000"/>
                  </a:schemeClr>
                </a:solidFill>
              </a:rPr>
              <a:t>]</a:t>
            </a:r>
            <a:r>
              <a:rPr lang="en-US" altLang="zh-CN" u="sng">
                <a:solidFill>
                  <a:schemeClr val="accent4">
                    <a:lumMod val="75000"/>
                  </a:schemeClr>
                </a:solidFill>
              </a:rPr>
              <a:t> </a:t>
            </a:r>
            <a:endParaRPr lang="en-US" altLang="zh-CN" u="sng">
              <a:solidFill>
                <a:schemeClr val="accent4">
                  <a:lumMod val="75000"/>
                </a:schemeClr>
              </a:solidFill>
            </a:endParaRPr>
          </a:p>
        </p:txBody>
      </p:sp>
      <p:sp>
        <p:nvSpPr>
          <p:cNvPr id="44044" name="Text Box 12"/>
          <p:cNvSpPr txBox="1">
            <a:spLocks noChangeArrowheads="1"/>
          </p:cNvSpPr>
          <p:nvPr/>
        </p:nvSpPr>
        <p:spPr bwMode="auto">
          <a:xfrm>
            <a:off x="260178" y="4762846"/>
            <a:ext cx="32308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a:solidFill>
                  <a:srgbClr val="0000FF"/>
                </a:solidFill>
                <a:latin typeface="黑体" panose="02010609060101010101" pitchFamily="49" charset="-122"/>
                <a:ea typeface="黑体" panose="02010609060101010101" pitchFamily="49" charset="-122"/>
                <a:cs typeface="黑体" panose="02010609060101010101" pitchFamily="49" charset="-122"/>
              </a:rPr>
              <a:t>2</a:t>
            </a:r>
            <a:r>
              <a:rPr lang="zh-CN" altLang="en-US">
                <a:solidFill>
                  <a:srgbClr val="0000FF"/>
                </a:solidFill>
                <a:latin typeface="黑体" panose="02010609060101010101" pitchFamily="49" charset="-122"/>
                <a:ea typeface="黑体" panose="02010609060101010101" pitchFamily="49" charset="-122"/>
                <a:cs typeface="黑体" panose="02010609060101010101" pitchFamily="49" charset="-122"/>
              </a:rPr>
              <a:t>．轴的扭转刚度校核计算 </a:t>
            </a:r>
            <a:endParaRPr lang="zh-CN" altLang="en-US">
              <a:solidFill>
                <a:srgbClr val="0000FF"/>
              </a:solidFill>
              <a:latin typeface="黑体" panose="02010609060101010101" pitchFamily="49" charset="-122"/>
              <a:ea typeface="黑体" panose="02010609060101010101" pitchFamily="49" charset="-122"/>
              <a:cs typeface="黑体" panose="02010609060101010101" pitchFamily="49" charset="-122"/>
            </a:endParaRPr>
          </a:p>
        </p:txBody>
      </p:sp>
      <p:sp>
        <p:nvSpPr>
          <p:cNvPr id="44045" name="Text Box 13"/>
          <p:cNvSpPr txBox="1">
            <a:spLocks noChangeArrowheads="1"/>
          </p:cNvSpPr>
          <p:nvPr/>
        </p:nvSpPr>
        <p:spPr bwMode="auto">
          <a:xfrm>
            <a:off x="1003741" y="5352029"/>
            <a:ext cx="62595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zh-CN" altLang="en-US">
                <a:solidFill>
                  <a:schemeClr val="accent4">
                    <a:lumMod val="75000"/>
                  </a:schemeClr>
                </a:solidFill>
                <a:latin typeface="华文中宋" panose="02010600040101010101" pitchFamily="2" charset="-122"/>
              </a:rPr>
              <a:t>轴的扭转刚度以扭转角</a:t>
            </a:r>
            <a:r>
              <a:rPr lang="zh-CN" altLang="en-US" i="1">
                <a:solidFill>
                  <a:schemeClr val="accent4">
                    <a:lumMod val="75000"/>
                  </a:schemeClr>
                </a:solidFill>
                <a:latin typeface="华文中宋" panose="02010600040101010101" pitchFamily="2" charset="-122"/>
                <a:sym typeface="Symbol" panose="05050102010706020507" pitchFamily="18" charset="2"/>
              </a:rPr>
              <a:t></a:t>
            </a:r>
            <a:r>
              <a:rPr lang="zh-CN" altLang="en-US">
                <a:solidFill>
                  <a:schemeClr val="accent4">
                    <a:lumMod val="75000"/>
                  </a:schemeClr>
                </a:solidFill>
                <a:latin typeface="华文中宋" panose="02010600040101010101" pitchFamily="2" charset="-122"/>
              </a:rPr>
              <a:t>来度量。轴的扭转刚度条件为 </a:t>
            </a:r>
            <a:endParaRPr lang="zh-CN" altLang="en-US">
              <a:solidFill>
                <a:schemeClr val="accent4">
                  <a:lumMod val="75000"/>
                </a:schemeClr>
              </a:solidFill>
              <a:latin typeface="华文中宋" panose="02010600040101010101" pitchFamily="2" charset="-122"/>
            </a:endParaRPr>
          </a:p>
        </p:txBody>
      </p:sp>
      <p:graphicFrame>
        <p:nvGraphicFramePr>
          <p:cNvPr id="44048" name="Object 16"/>
          <p:cNvGraphicFramePr>
            <a:graphicFrameLocks noChangeAspect="1"/>
          </p:cNvGraphicFramePr>
          <p:nvPr/>
        </p:nvGraphicFramePr>
        <p:xfrm>
          <a:off x="3603531" y="6021278"/>
          <a:ext cx="954088" cy="412750"/>
        </p:xfrm>
        <a:graphic>
          <a:graphicData uri="http://schemas.openxmlformats.org/presentationml/2006/ole">
            <mc:AlternateContent xmlns:mc="http://schemas.openxmlformats.org/markup-compatibility/2006">
              <mc:Choice xmlns:v="urn:schemas-microsoft-com:vml" Requires="v">
                <p:oleObj spid="_x0000_s10312" name="Equation" r:id="rId1" imgW="427990" imgH="185420" progId="Equation.3">
                  <p:embed/>
                </p:oleObj>
              </mc:Choice>
              <mc:Fallback>
                <p:oleObj name="Equation" r:id="rId1" imgW="427990" imgH="185420" progId="Equation.3">
                  <p:embed/>
                  <p:pic>
                    <p:nvPicPr>
                      <p:cNvPr id="0" name="Object 1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03531" y="6021278"/>
                        <a:ext cx="954088" cy="412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049" name="Text Box 17"/>
          <p:cNvSpPr txBox="1">
            <a:spLocks noChangeArrowheads="1"/>
          </p:cNvSpPr>
          <p:nvPr/>
        </p:nvSpPr>
        <p:spPr bwMode="auto">
          <a:xfrm>
            <a:off x="841375" y="4181475"/>
            <a:ext cx="52689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a:solidFill>
                  <a:schemeClr val="accent4">
                    <a:lumMod val="75000"/>
                  </a:schemeClr>
                </a:solidFill>
              </a:rPr>
              <a:t>[</a:t>
            </a:r>
            <a:r>
              <a:rPr lang="en-US" altLang="zh-CN" i="1">
                <a:solidFill>
                  <a:schemeClr val="accent4">
                    <a:lumMod val="75000"/>
                  </a:schemeClr>
                </a:solidFill>
              </a:rPr>
              <a:t>y</a:t>
            </a:r>
            <a:r>
              <a:rPr lang="en-US" altLang="zh-CN">
                <a:solidFill>
                  <a:schemeClr val="accent4">
                    <a:lumMod val="75000"/>
                  </a:schemeClr>
                </a:solidFill>
              </a:rPr>
              <a:t>]</a:t>
            </a:r>
            <a:r>
              <a:rPr lang="zh-CN" altLang="en-US">
                <a:solidFill>
                  <a:schemeClr val="accent4">
                    <a:lumMod val="75000"/>
                  </a:schemeClr>
                </a:solidFill>
              </a:rPr>
              <a:t>和</a:t>
            </a:r>
            <a:r>
              <a:rPr lang="en-US" altLang="zh-CN">
                <a:solidFill>
                  <a:schemeClr val="accent4">
                    <a:lumMod val="75000"/>
                  </a:schemeClr>
                </a:solidFill>
              </a:rPr>
              <a:t>[</a:t>
            </a:r>
            <a:r>
              <a:rPr lang="en-US" altLang="zh-CN" i="1">
                <a:solidFill>
                  <a:schemeClr val="accent4">
                    <a:lumMod val="75000"/>
                  </a:schemeClr>
                </a:solidFill>
              </a:rPr>
              <a:t>θ</a:t>
            </a:r>
            <a:r>
              <a:rPr lang="en-US" altLang="zh-CN">
                <a:solidFill>
                  <a:schemeClr val="accent4">
                    <a:lumMod val="75000"/>
                  </a:schemeClr>
                </a:solidFill>
              </a:rPr>
              <a:t>]</a:t>
            </a:r>
            <a:r>
              <a:rPr lang="zh-CN" altLang="en-US">
                <a:solidFill>
                  <a:schemeClr val="accent4">
                    <a:lumMod val="75000"/>
                  </a:schemeClr>
                </a:solidFill>
              </a:rPr>
              <a:t>分别为轴的许用挠度及许用偏转角。</a:t>
            </a:r>
            <a:endParaRPr lang="zh-CN" altLang="en-US">
              <a:solidFill>
                <a:schemeClr val="accent4">
                  <a:lumMod val="75000"/>
                </a:schemeClr>
              </a:solidFill>
            </a:endParaRPr>
          </a:p>
        </p:txBody>
      </p:sp>
      <p:sp>
        <p:nvSpPr>
          <p:cNvPr id="44040" name="Text Box 8"/>
          <p:cNvSpPr txBox="1">
            <a:spLocks noChangeArrowheads="1"/>
          </p:cNvSpPr>
          <p:nvPr/>
        </p:nvSpPr>
        <p:spPr bwMode="auto">
          <a:xfrm>
            <a:off x="844550" y="1562100"/>
            <a:ext cx="794385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20000"/>
              </a:lnSpc>
            </a:pPr>
            <a:r>
              <a:rPr lang="zh-CN" altLang="en-US">
                <a:solidFill>
                  <a:schemeClr val="accent4">
                    <a:lumMod val="75000"/>
                  </a:schemeClr>
                </a:solidFill>
              </a:rPr>
              <a:t>轴的弯曲刚度以</a:t>
            </a:r>
            <a:r>
              <a:rPr lang="zh-CN" altLang="en-US">
                <a:solidFill>
                  <a:srgbClr val="FF0000"/>
                </a:solidFill>
              </a:rPr>
              <a:t>挠度</a:t>
            </a:r>
            <a:r>
              <a:rPr lang="en-US" altLang="zh-CN" i="1">
                <a:solidFill>
                  <a:srgbClr val="FF0000"/>
                </a:solidFill>
              </a:rPr>
              <a:t>y</a:t>
            </a:r>
            <a:r>
              <a:rPr lang="zh-CN" altLang="en-US">
                <a:solidFill>
                  <a:schemeClr val="accent4">
                    <a:lumMod val="75000"/>
                  </a:schemeClr>
                </a:solidFill>
              </a:rPr>
              <a:t>和</a:t>
            </a:r>
            <a:r>
              <a:rPr lang="zh-CN" altLang="en-US">
                <a:solidFill>
                  <a:srgbClr val="FF0000"/>
                </a:solidFill>
              </a:rPr>
              <a:t>偏转角</a:t>
            </a:r>
            <a:r>
              <a:rPr lang="en-US" altLang="zh-CN" i="1">
                <a:solidFill>
                  <a:srgbClr val="FF0000"/>
                </a:solidFill>
              </a:rPr>
              <a:t>θ</a:t>
            </a:r>
            <a:r>
              <a:rPr lang="zh-CN" altLang="en-US">
                <a:solidFill>
                  <a:schemeClr val="accent4">
                    <a:lumMod val="75000"/>
                  </a:schemeClr>
                </a:solidFill>
              </a:rPr>
              <a:t>来度量。</a:t>
            </a:r>
            <a:endParaRPr lang="zh-CN" altLang="en-US">
              <a:solidFill>
                <a:schemeClr val="accent4">
                  <a:lumMod val="75000"/>
                </a:schemeClr>
              </a:solidFill>
            </a:endParaRPr>
          </a:p>
          <a:p>
            <a:pPr eaLnBrk="1" hangingPunct="1">
              <a:lnSpc>
                <a:spcPct val="120000"/>
              </a:lnSpc>
            </a:pPr>
            <a:r>
              <a:rPr lang="zh-CN" altLang="en-US">
                <a:solidFill>
                  <a:schemeClr val="accent4">
                    <a:lumMod val="75000"/>
                  </a:schemeClr>
                </a:solidFill>
              </a:rPr>
              <a:t>对于光轴，可直接用材料力学中的公式计算其挠度或偏转角。</a:t>
            </a:r>
            <a:endParaRPr lang="zh-CN" altLang="en-US">
              <a:solidFill>
                <a:schemeClr val="accent4">
                  <a:lumMod val="75000"/>
                </a:schemeClr>
              </a:solidFill>
            </a:endParaRPr>
          </a:p>
          <a:p>
            <a:pPr eaLnBrk="1" hangingPunct="1">
              <a:lnSpc>
                <a:spcPct val="120000"/>
              </a:lnSpc>
            </a:pPr>
            <a:r>
              <a:rPr lang="zh-CN" altLang="en-US">
                <a:solidFill>
                  <a:schemeClr val="accent4">
                    <a:lumMod val="75000"/>
                  </a:schemeClr>
                </a:solidFill>
              </a:rPr>
              <a:t>对于阶梯轴，可将其转化为当量直径的光轴后计算其挠度或偏转角。 </a:t>
            </a:r>
            <a:endParaRPr lang="zh-CN" altLang="en-US">
              <a:solidFill>
                <a:schemeClr val="accent4">
                  <a:lumMod val="75000"/>
                </a:schemeClr>
              </a:solidFill>
            </a:endParaRPr>
          </a:p>
        </p:txBody>
      </p:sp>
      <p:pic>
        <p:nvPicPr>
          <p:cNvPr id="44061" name="Picture 29" descr="back">
            <a:hlinkClick r:id="" action="ppaction://hlinkshowjump?jump=previous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32788" y="6532563"/>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62" name="Picture 30" descr="NEXT">
            <a:hlinkClick r:id="" action="ppaction://hlinkshowjump?jump=nextslide"/>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742363" y="6532563"/>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63" name="Picture 31" descr="rewind">
            <a:hlinkClick r:id="" action="ppaction://hlinkshowjump?jump=firstslide"/>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924800" y="6532563"/>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57" name="Text Box 32"/>
          <p:cNvSpPr txBox="1">
            <a:spLocks noChangeArrowheads="1"/>
          </p:cNvSpPr>
          <p:nvPr/>
        </p:nvSpPr>
        <p:spPr bwMode="auto">
          <a:xfrm>
            <a:off x="7943850" y="6019800"/>
            <a:ext cx="971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50000"/>
              </a:spcBef>
            </a:pPr>
            <a:r>
              <a:rPr lang="en-US" altLang="zh-CN"/>
              <a:t>  </a:t>
            </a:r>
            <a:endParaRPr lang="en-US" altLang="zh-CN"/>
          </a:p>
        </p:txBody>
      </p:sp>
      <p:sp>
        <p:nvSpPr>
          <p:cNvPr id="10258"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4039"/>
                                        </p:tgtEl>
                                        <p:attrNameLst>
                                          <p:attrName>style.visibility</p:attrName>
                                        </p:attrNameLst>
                                      </p:cBhvr>
                                      <p:to>
                                        <p:strVal val="visible"/>
                                      </p:to>
                                    </p:set>
                                    <p:animEffect transition="in" filter="wipe(left)">
                                      <p:cBhvr>
                                        <p:cTn id="7" dur="500"/>
                                        <p:tgtEl>
                                          <p:spTgt spid="4403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4040"/>
                                        </p:tgtEl>
                                        <p:attrNameLst>
                                          <p:attrName>style.visibility</p:attrName>
                                        </p:attrNameLst>
                                      </p:cBhvr>
                                      <p:to>
                                        <p:strVal val="visible"/>
                                      </p:to>
                                    </p:set>
                                    <p:animEffect transition="in" filter="wipe(left)">
                                      <p:cBhvr>
                                        <p:cTn id="12" dur="500"/>
                                        <p:tgtEl>
                                          <p:spTgt spid="44040"/>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44041"/>
                                        </p:tgtEl>
                                        <p:attrNameLst>
                                          <p:attrName>style.visibility</p:attrName>
                                        </p:attrNameLst>
                                      </p:cBhvr>
                                      <p:to>
                                        <p:strVal val="visible"/>
                                      </p:to>
                                    </p:set>
                                    <p:animEffect transition="in" filter="wipe(left)">
                                      <p:cBhvr>
                                        <p:cTn id="16" dur="500"/>
                                        <p:tgtEl>
                                          <p:spTgt spid="44041"/>
                                        </p:tgtEl>
                                      </p:cBhvr>
                                    </p:animEffect>
                                  </p:childTnLst>
                                </p:cTn>
                              </p:par>
                            </p:childTnLst>
                          </p:cTn>
                        </p:par>
                        <p:par>
                          <p:cTn id="17" fill="hold">
                            <p:stCondLst>
                              <p:cond delay="1000"/>
                            </p:stCondLst>
                            <p:childTnLst>
                              <p:par>
                                <p:cTn id="18" presetID="12" presetClass="entr" presetSubtype="4" fill="hold" grpId="0" nodeType="afterEffect">
                                  <p:stCondLst>
                                    <p:cond delay="0"/>
                                  </p:stCondLst>
                                  <p:childTnLst>
                                    <p:set>
                                      <p:cBhvr>
                                        <p:cTn id="19" dur="1" fill="hold">
                                          <p:stCondLst>
                                            <p:cond delay="0"/>
                                          </p:stCondLst>
                                        </p:cTn>
                                        <p:tgtEl>
                                          <p:spTgt spid="44042"/>
                                        </p:tgtEl>
                                        <p:attrNameLst>
                                          <p:attrName>style.visibility</p:attrName>
                                        </p:attrNameLst>
                                      </p:cBhvr>
                                      <p:to>
                                        <p:strVal val="visible"/>
                                      </p:to>
                                    </p:set>
                                    <p:animEffect transition="in" filter="slide(fromBottom)">
                                      <p:cBhvr>
                                        <p:cTn id="20" dur="500"/>
                                        <p:tgtEl>
                                          <p:spTgt spid="44042"/>
                                        </p:tgtEl>
                                      </p:cBhvr>
                                    </p:animEffect>
                                  </p:childTnLst>
                                </p:cTn>
                              </p:par>
                            </p:childTnLst>
                          </p:cTn>
                        </p:par>
                        <p:par>
                          <p:cTn id="21" fill="hold">
                            <p:stCondLst>
                              <p:cond delay="1500"/>
                            </p:stCondLst>
                            <p:childTnLst>
                              <p:par>
                                <p:cTn id="22" presetID="12" presetClass="entr" presetSubtype="4" fill="hold" grpId="0" nodeType="afterEffect">
                                  <p:stCondLst>
                                    <p:cond delay="0"/>
                                  </p:stCondLst>
                                  <p:childTnLst>
                                    <p:set>
                                      <p:cBhvr>
                                        <p:cTn id="23" dur="1" fill="hold">
                                          <p:stCondLst>
                                            <p:cond delay="0"/>
                                          </p:stCondLst>
                                        </p:cTn>
                                        <p:tgtEl>
                                          <p:spTgt spid="44043"/>
                                        </p:tgtEl>
                                        <p:attrNameLst>
                                          <p:attrName>style.visibility</p:attrName>
                                        </p:attrNameLst>
                                      </p:cBhvr>
                                      <p:to>
                                        <p:strVal val="visible"/>
                                      </p:to>
                                    </p:set>
                                    <p:animEffect transition="in" filter="slide(fromBottom)">
                                      <p:cBhvr>
                                        <p:cTn id="24" dur="500"/>
                                        <p:tgtEl>
                                          <p:spTgt spid="44043"/>
                                        </p:tgtEl>
                                      </p:cBhvr>
                                    </p:animEffect>
                                  </p:childTnLst>
                                </p:cTn>
                              </p:par>
                            </p:childTnLst>
                          </p:cTn>
                        </p:par>
                        <p:par>
                          <p:cTn id="25" fill="hold">
                            <p:stCondLst>
                              <p:cond delay="2000"/>
                            </p:stCondLst>
                            <p:childTnLst>
                              <p:par>
                                <p:cTn id="26" presetID="22" presetClass="entr" presetSubtype="8" fill="hold" grpId="0" nodeType="afterEffect">
                                  <p:stCondLst>
                                    <p:cond delay="0"/>
                                  </p:stCondLst>
                                  <p:childTnLst>
                                    <p:set>
                                      <p:cBhvr>
                                        <p:cTn id="27" dur="1" fill="hold">
                                          <p:stCondLst>
                                            <p:cond delay="0"/>
                                          </p:stCondLst>
                                        </p:cTn>
                                        <p:tgtEl>
                                          <p:spTgt spid="44049"/>
                                        </p:tgtEl>
                                        <p:attrNameLst>
                                          <p:attrName>style.visibility</p:attrName>
                                        </p:attrNameLst>
                                      </p:cBhvr>
                                      <p:to>
                                        <p:strVal val="visible"/>
                                      </p:to>
                                    </p:set>
                                    <p:animEffect transition="in" filter="wipe(left)">
                                      <p:cBhvr>
                                        <p:cTn id="28" dur="500"/>
                                        <p:tgtEl>
                                          <p:spTgt spid="44049"/>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404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44045"/>
                                        </p:tgtEl>
                                        <p:attrNameLst>
                                          <p:attrName>style.visibility</p:attrName>
                                        </p:attrNameLst>
                                      </p:cBhvr>
                                      <p:to>
                                        <p:strVal val="visible"/>
                                      </p:to>
                                    </p:set>
                                    <p:animEffect transition="in" filter="wipe(left)">
                                      <p:cBhvr>
                                        <p:cTn id="37" dur="500"/>
                                        <p:tgtEl>
                                          <p:spTgt spid="44045"/>
                                        </p:tgtEl>
                                      </p:cBhvr>
                                    </p:animEffect>
                                  </p:childTnLst>
                                </p:cTn>
                              </p:par>
                            </p:childTnLst>
                          </p:cTn>
                        </p:par>
                        <p:par>
                          <p:cTn id="38" fill="hold">
                            <p:stCondLst>
                              <p:cond delay="500"/>
                            </p:stCondLst>
                            <p:childTnLst>
                              <p:par>
                                <p:cTn id="39" presetID="9" presetClass="entr" presetSubtype="0" fill="hold" nodeType="afterEffect">
                                  <p:stCondLst>
                                    <p:cond delay="0"/>
                                  </p:stCondLst>
                                  <p:childTnLst>
                                    <p:set>
                                      <p:cBhvr>
                                        <p:cTn id="40" dur="1" fill="hold">
                                          <p:stCondLst>
                                            <p:cond delay="0"/>
                                          </p:stCondLst>
                                        </p:cTn>
                                        <p:tgtEl>
                                          <p:spTgt spid="44048"/>
                                        </p:tgtEl>
                                        <p:attrNameLst>
                                          <p:attrName>style.visibility</p:attrName>
                                        </p:attrNameLst>
                                      </p:cBhvr>
                                      <p:to>
                                        <p:strVal val="visible"/>
                                      </p:to>
                                    </p:set>
                                    <p:animEffect transition="in" filter="dissolve">
                                      <p:cBhvr>
                                        <p:cTn id="41" dur="500"/>
                                        <p:tgtEl>
                                          <p:spTgt spid="44048"/>
                                        </p:tgtEl>
                                      </p:cBhvr>
                                    </p:animEffect>
                                  </p:childTnLst>
                                </p:cTn>
                              </p:par>
                            </p:childTnLst>
                          </p:cTn>
                        </p:par>
                        <p:par>
                          <p:cTn id="42" fill="hold">
                            <p:stCondLst>
                              <p:cond delay="1000"/>
                            </p:stCondLst>
                            <p:childTnLst>
                              <p:par>
                                <p:cTn id="43" presetID="1" presetClass="entr" presetSubtype="0" fill="hold" nodeType="afterEffect">
                                  <p:stCondLst>
                                    <p:cond delay="0"/>
                                  </p:stCondLst>
                                  <p:childTnLst>
                                    <p:set>
                                      <p:cBhvr>
                                        <p:cTn id="44" dur="1" fill="hold">
                                          <p:stCondLst>
                                            <p:cond delay="499"/>
                                          </p:stCondLst>
                                        </p:cTn>
                                        <p:tgtEl>
                                          <p:spTgt spid="44061"/>
                                        </p:tgtEl>
                                        <p:attrNameLst>
                                          <p:attrName>style.visibility</p:attrName>
                                        </p:attrNameLst>
                                      </p:cBhvr>
                                      <p:to>
                                        <p:strVal val="visible"/>
                                      </p:to>
                                    </p:set>
                                  </p:childTnLst>
                                </p:cTn>
                              </p:par>
                            </p:childTnLst>
                          </p:cTn>
                        </p:par>
                        <p:par>
                          <p:cTn id="45" fill="hold">
                            <p:stCondLst>
                              <p:cond delay="1500"/>
                            </p:stCondLst>
                            <p:childTnLst>
                              <p:par>
                                <p:cTn id="46" presetID="1" presetClass="entr" presetSubtype="0" fill="hold" nodeType="afterEffect">
                                  <p:stCondLst>
                                    <p:cond delay="0"/>
                                  </p:stCondLst>
                                  <p:childTnLst>
                                    <p:set>
                                      <p:cBhvr>
                                        <p:cTn id="47" dur="1" fill="hold">
                                          <p:stCondLst>
                                            <p:cond delay="499"/>
                                          </p:stCondLst>
                                        </p:cTn>
                                        <p:tgtEl>
                                          <p:spTgt spid="44062"/>
                                        </p:tgtEl>
                                        <p:attrNameLst>
                                          <p:attrName>style.visibility</p:attrName>
                                        </p:attrNameLst>
                                      </p:cBhvr>
                                      <p:to>
                                        <p:strVal val="visible"/>
                                      </p:to>
                                    </p:set>
                                  </p:childTnLst>
                                </p:cTn>
                              </p:par>
                            </p:childTnLst>
                          </p:cTn>
                        </p:par>
                        <p:par>
                          <p:cTn id="48" fill="hold">
                            <p:stCondLst>
                              <p:cond delay="2000"/>
                            </p:stCondLst>
                            <p:childTnLst>
                              <p:par>
                                <p:cTn id="49" presetID="2" presetClass="entr" presetSubtype="8" fill="hold" nodeType="afterEffect">
                                  <p:stCondLst>
                                    <p:cond delay="0"/>
                                  </p:stCondLst>
                                  <p:childTnLst>
                                    <p:set>
                                      <p:cBhvr>
                                        <p:cTn id="50" dur="1" fill="hold">
                                          <p:stCondLst>
                                            <p:cond delay="0"/>
                                          </p:stCondLst>
                                        </p:cTn>
                                        <p:tgtEl>
                                          <p:spTgt spid="44063"/>
                                        </p:tgtEl>
                                        <p:attrNameLst>
                                          <p:attrName>style.visibility</p:attrName>
                                        </p:attrNameLst>
                                      </p:cBhvr>
                                      <p:to>
                                        <p:strVal val="visible"/>
                                      </p:to>
                                    </p:set>
                                    <p:anim calcmode="lin" valueType="num">
                                      <p:cBhvr additive="base">
                                        <p:cTn id="51" dur="500" fill="hold"/>
                                        <p:tgtEl>
                                          <p:spTgt spid="44063"/>
                                        </p:tgtEl>
                                        <p:attrNameLst>
                                          <p:attrName>ppt_x</p:attrName>
                                        </p:attrNameLst>
                                      </p:cBhvr>
                                      <p:tavLst>
                                        <p:tav tm="0">
                                          <p:val>
                                            <p:strVal val="0-#ppt_w/2"/>
                                          </p:val>
                                        </p:tav>
                                        <p:tav tm="100000">
                                          <p:val>
                                            <p:strVal val="#ppt_x"/>
                                          </p:val>
                                        </p:tav>
                                      </p:tavLst>
                                    </p:anim>
                                    <p:anim calcmode="lin" valueType="num">
                                      <p:cBhvr additive="base">
                                        <p:cTn id="52" dur="500" fill="hold"/>
                                        <p:tgtEl>
                                          <p:spTgt spid="4406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9" grpId="0" autoUpdateAnimBg="0"/>
      <p:bldP spid="44041" grpId="0" autoUpdateAnimBg="0"/>
      <p:bldP spid="44042" grpId="0" autoUpdateAnimBg="0"/>
      <p:bldP spid="44043" grpId="0" autoUpdateAnimBg="0"/>
      <p:bldP spid="44044" grpId="0"/>
      <p:bldP spid="44045" grpId="0" autoUpdateAnimBg="0"/>
      <p:bldP spid="44049" grpId="0" autoUpdateAnimBg="0"/>
      <p:bldP spid="44040" grpId="0" autoUpdateAnimBg="0"/>
    </p:bldLst>
  </p:timing>
</p:sld>
</file>

<file path=ppt/slides/slide7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6" name="Picture 31" descr="back">
            <a:hlinkClick r:id="" action="ppaction://hlinkshowjump?jump=previousslide"/>
          </p:cNvPr>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332788" y="6532563"/>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32" descr="NEXT">
            <a:hlinkClick r:id="" action="ppaction://hlinkshowjump?jump=nextslide"/>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742363" y="6532563"/>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33" descr="rewind">
            <a:hlinkClick r:id="" action="ppaction://hlinkshowjump?jump=first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24800" y="6532563"/>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0902" name="矩形 8"/>
          <p:cNvSpPr>
            <a:spLocks noChangeArrowheads="1"/>
          </p:cNvSpPr>
          <p:nvPr/>
        </p:nvSpPr>
        <p:spPr bwMode="auto">
          <a:xfrm>
            <a:off x="263208" y="909320"/>
            <a:ext cx="32308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r>
              <a:rPr lang="zh-CN" altLang="en-US" sz="2400">
                <a:solidFill>
                  <a:srgbClr val="CC0000"/>
                </a:solidFill>
                <a:latin typeface="黑体" panose="02010609060101010101" pitchFamily="49" charset="-122"/>
                <a:ea typeface="黑体" panose="02010609060101010101" pitchFamily="49" charset="-122"/>
              </a:rPr>
              <a:t>二、轴的刚度校核计算</a:t>
            </a:r>
            <a:endParaRPr lang="zh-CN" altLang="en-US" sz="2400">
              <a:solidFill>
                <a:srgbClr val="CC0000"/>
              </a:solidFill>
              <a:latin typeface="黑体" panose="02010609060101010101" pitchFamily="49" charset="-122"/>
              <a:ea typeface="黑体" panose="02010609060101010101" pitchFamily="49" charset="-122"/>
            </a:endParaRPr>
          </a:p>
        </p:txBody>
      </p:sp>
      <p:sp>
        <p:nvSpPr>
          <p:cNvPr id="10" name="文本框 9"/>
          <p:cNvSpPr txBox="1">
            <a:spLocks noChangeArrowheads="1"/>
          </p:cNvSpPr>
          <p:nvPr/>
        </p:nvSpPr>
        <p:spPr bwMode="auto">
          <a:xfrm>
            <a:off x="438468" y="1270953"/>
            <a:ext cx="8150225" cy="142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a:lnSpc>
                <a:spcPct val="150000"/>
              </a:lnSpc>
            </a:pPr>
            <a:r>
              <a:rPr lang="en-US" altLang="zh-CN"/>
              <a:t>        </a:t>
            </a:r>
            <a:r>
              <a:rPr lang="zh-CN" altLang="zh-CN"/>
              <a:t>轴在载荷作用下，会产生</a:t>
            </a:r>
            <a:r>
              <a:rPr lang="zh-CN" altLang="zh-CN">
                <a:solidFill>
                  <a:srgbClr val="FF0000"/>
                </a:solidFill>
              </a:rPr>
              <a:t>弯曲</a:t>
            </a:r>
            <a:r>
              <a:rPr lang="zh-CN" altLang="zh-CN"/>
              <a:t>和</a:t>
            </a:r>
            <a:r>
              <a:rPr lang="zh-CN" altLang="zh-CN">
                <a:solidFill>
                  <a:srgbClr val="FF0000"/>
                </a:solidFill>
              </a:rPr>
              <a:t>扭转变形</a:t>
            </a:r>
            <a:r>
              <a:rPr lang="zh-CN" altLang="zh-CN"/>
              <a:t>。若变形量超过许用的限度，就会影响轴上零件的正常工作或传动精度，甚至会丧失机器应有的工作性能。因此，根据使用要求，有些轴需要进行刚度的校核计算。</a:t>
            </a:r>
            <a:endParaRPr lang="zh-CN" altLang="zh-CN"/>
          </a:p>
        </p:txBody>
      </p:sp>
      <p:sp>
        <p:nvSpPr>
          <p:cNvPr id="11" name="文本框 10"/>
          <p:cNvSpPr txBox="1">
            <a:spLocks noChangeArrowheads="1"/>
          </p:cNvSpPr>
          <p:nvPr/>
        </p:nvSpPr>
        <p:spPr bwMode="auto">
          <a:xfrm>
            <a:off x="750570" y="2807335"/>
            <a:ext cx="2800350"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r>
              <a:rPr lang="en-US" altLang="zh-CN">
                <a:solidFill>
                  <a:srgbClr val="C00000"/>
                </a:solidFill>
              </a:rPr>
              <a:t>1. </a:t>
            </a:r>
            <a:r>
              <a:rPr lang="zh-CN" altLang="zh-CN">
                <a:solidFill>
                  <a:srgbClr val="C00000"/>
                </a:solidFill>
              </a:rPr>
              <a:t>扭转刚度校核计算</a:t>
            </a:r>
            <a:endParaRPr lang="zh-CN" altLang="zh-CN">
              <a:solidFill>
                <a:srgbClr val="C00000"/>
              </a:solidFill>
            </a:endParaRPr>
          </a:p>
          <a:p>
            <a:endParaRPr lang="zh-CN" altLang="en-US"/>
          </a:p>
        </p:txBody>
      </p:sp>
      <p:sp>
        <p:nvSpPr>
          <p:cNvPr id="12" name="文本框 11"/>
          <p:cNvSpPr txBox="1">
            <a:spLocks noRot="1" noChangeAspect="1" noMove="1" noResize="1" noEditPoints="1" noAdjustHandles="1" noChangeArrowheads="1" noChangeShapeType="1" noTextEdit="1"/>
          </p:cNvSpPr>
          <p:nvPr/>
        </p:nvSpPr>
        <p:spPr>
          <a:xfrm>
            <a:off x="639310" y="3167958"/>
            <a:ext cx="7980815" cy="1563698"/>
          </a:xfrm>
          <a:prstGeom prst="rect">
            <a:avLst/>
          </a:prstGeom>
          <a:blipFill>
            <a:blip r:embed="rId4"/>
            <a:stretch>
              <a:fillRect l="-840" r="-153" b="-45703"/>
            </a:stretch>
          </a:blipFill>
        </p:spPr>
        <p:txBody>
          <a:bodyPr/>
          <a:lstStyle/>
          <a:p>
            <a:pPr>
              <a:defRPr/>
            </a:pPr>
            <a:r>
              <a:rPr lang="zh-CN" altLang="en-US">
                <a:noFill/>
              </a:rPr>
              <a:t> </a:t>
            </a:r>
            <a:endParaRPr lang="zh-CN" altLang="en-US">
              <a:noFill/>
            </a:endParaRPr>
          </a:p>
        </p:txBody>
      </p:sp>
      <p:sp>
        <p:nvSpPr>
          <p:cNvPr id="80906" name="文本框 13"/>
          <p:cNvSpPr txBox="1">
            <a:spLocks noChangeArrowheads="1"/>
          </p:cNvSpPr>
          <p:nvPr/>
        </p:nvSpPr>
        <p:spPr bwMode="auto">
          <a:xfrm>
            <a:off x="2346325" y="5394325"/>
            <a:ext cx="44799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endParaRPr lang="zh-CN" altLang="en-US"/>
          </a:p>
        </p:txBody>
      </p:sp>
      <p:sp>
        <p:nvSpPr>
          <p:cNvPr id="23" name="文本框 22"/>
          <p:cNvSpPr txBox="1">
            <a:spLocks noChangeArrowheads="1"/>
          </p:cNvSpPr>
          <p:nvPr/>
        </p:nvSpPr>
        <p:spPr bwMode="auto">
          <a:xfrm>
            <a:off x="1099820" y="5284153"/>
            <a:ext cx="1468438"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r>
              <a:rPr lang="zh-CN" altLang="zh-CN"/>
              <a:t>对于阶梯轴</a:t>
            </a:r>
            <a:r>
              <a:rPr lang="en-US" altLang="zh-CN"/>
              <a:t>:</a:t>
            </a:r>
            <a:r>
              <a:rPr lang="zh-CN" altLang="zh-CN"/>
              <a:t> </a:t>
            </a:r>
            <a:endParaRPr lang="zh-CN" altLang="en-US"/>
          </a:p>
        </p:txBody>
      </p:sp>
      <p:pic>
        <p:nvPicPr>
          <p:cNvPr id="3" name="图片 2"/>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119630" y="5560695"/>
            <a:ext cx="7757795" cy="906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0909" name="图片 3"/>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78523" y="4803458"/>
            <a:ext cx="7686675"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4" name="Text Box 4"/>
          <p:cNvSpPr txBox="1">
            <a:spLocks noChangeArrowheads="1"/>
          </p:cNvSpPr>
          <p:nvPr/>
        </p:nvSpPr>
        <p:spPr bwMode="auto">
          <a:xfrm>
            <a:off x="5472113" y="174625"/>
            <a:ext cx="316388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sz="2400" dirty="0" smtClean="0">
                <a:solidFill>
                  <a:srgbClr val="CC3300"/>
                </a:solidFill>
                <a:latin typeface="黑体" panose="02010609060101010101" pitchFamily="49" charset="-122"/>
                <a:ea typeface="黑体" panose="02010609060101010101" pitchFamily="49" charset="-122"/>
              </a:rPr>
              <a:t>3.7-3 </a:t>
            </a:r>
            <a:r>
              <a:rPr lang="zh-CN" altLang="en-US" sz="2400" dirty="0">
                <a:solidFill>
                  <a:srgbClr val="CC3300"/>
                </a:solidFill>
                <a:latin typeface="黑体" panose="02010609060101010101" pitchFamily="49" charset="-122"/>
                <a:ea typeface="黑体" panose="02010609060101010101" pitchFamily="49" charset="-122"/>
              </a:rPr>
              <a:t>轴的计算</a:t>
            </a:r>
            <a:endParaRPr lang="zh-CN" altLang="en-US" sz="2400" dirty="0">
              <a:solidFill>
                <a:srgbClr val="CC3300"/>
              </a:solidFill>
              <a:latin typeface="黑体" panose="02010609060101010101" pitchFamily="49" charset="-122"/>
              <a:ea typeface="黑体" panose="02010609060101010101" pitchFamily="49" charset="-122"/>
            </a:endParaRPr>
          </a:p>
        </p:txBody>
      </p:sp>
      <p:sp>
        <p:nvSpPr>
          <p:cNvPr id="10258" name="直接连接符 6"/>
          <p:cNvSpPr>
            <a:spLocks noChangeShapeType="1"/>
          </p:cNvSpPr>
          <p:nvPr/>
        </p:nvSpPr>
        <p:spPr bwMode="auto">
          <a:xfrm>
            <a:off x="30480" y="703580"/>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6"/>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nodeType="afterEffect">
                                  <p:stCondLst>
                                    <p:cond delay="0"/>
                                  </p:stCondLst>
                                  <p:childTnLst>
                                    <p:set>
                                      <p:cBhvr>
                                        <p:cTn id="9" dur="1" fill="hold">
                                          <p:stCondLst>
                                            <p:cond delay="499"/>
                                          </p:stCondLst>
                                        </p:cTn>
                                        <p:tgtEl>
                                          <p:spTgt spid="7"/>
                                        </p:tgtEl>
                                        <p:attrNameLst>
                                          <p:attrName>style.visibility</p:attrName>
                                        </p:attrNameLst>
                                      </p:cBhvr>
                                      <p:to>
                                        <p:strVal val="visible"/>
                                      </p:to>
                                    </p:set>
                                  </p:childTnLst>
                                </p:cTn>
                              </p:par>
                            </p:childTnLst>
                          </p:cTn>
                        </p:par>
                        <p:par>
                          <p:cTn id="10" fill="hold">
                            <p:stCondLst>
                              <p:cond delay="1000"/>
                            </p:stCondLst>
                            <p:childTnLst>
                              <p:par>
                                <p:cTn id="11" presetID="2" presetClass="entr" presetSubtype="8" fill="hold"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0-#ppt_w/2"/>
                                          </p:val>
                                        </p:tav>
                                        <p:tav tm="100000">
                                          <p:val>
                                            <p:strVal val="#ppt_x"/>
                                          </p:val>
                                        </p:tav>
                                      </p:tavLst>
                                    </p:anim>
                                    <p:anim calcmode="lin" valueType="num">
                                      <p:cBhvr additive="base">
                                        <p:cTn id="14"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wipe(left)">
                                      <p:cBhvr>
                                        <p:cTn id="19" dur="500"/>
                                        <p:tgtEl>
                                          <p:spTgt spid="10"/>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wipe(left)">
                                      <p:cBhvr>
                                        <p:cTn id="24" dur="500"/>
                                        <p:tgtEl>
                                          <p:spTgt spid="11"/>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wipe(left)">
                                      <p:cBhvr>
                                        <p:cTn id="29" dur="500"/>
                                        <p:tgtEl>
                                          <p:spTgt spid="12"/>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wipe(left)">
                                      <p:cBhvr>
                                        <p:cTn id="34" dur="500"/>
                                        <p:tgtEl>
                                          <p:spTgt spid="23"/>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3"/>
                                        </p:tgtEl>
                                        <p:attrNameLst>
                                          <p:attrName>style.visibility</p:attrName>
                                        </p:attrNameLst>
                                      </p:cBhvr>
                                      <p:to>
                                        <p:strVal val="visible"/>
                                      </p:to>
                                    </p:set>
                                    <p:animEffect transition="in" filter="wipe(left)">
                                      <p:cBhvr>
                                        <p:cTn id="3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23" grpId="0"/>
    </p:bldLst>
  </p:timing>
</p:sld>
</file>

<file path=ppt/slides/slide7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6" name="Picture 31" descr="back">
            <a:hlinkClick r:id="" action="ppaction://hlinkshowjump?jump=previousslide"/>
          </p:cNvPr>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332788" y="6532563"/>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32" descr="NEXT">
            <a:hlinkClick r:id="" action="ppaction://hlinkshowjump?jump=nextslide"/>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742363" y="6532563"/>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33" descr="rewind">
            <a:hlinkClick r:id="" action="ppaction://hlinkshowjump?jump=first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24800" y="6532563"/>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25" name="矩形 12"/>
          <p:cNvSpPr>
            <a:spLocks noChangeArrowheads="1"/>
          </p:cNvSpPr>
          <p:nvPr/>
        </p:nvSpPr>
        <p:spPr bwMode="auto">
          <a:xfrm>
            <a:off x="992188" y="0"/>
            <a:ext cx="182721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r>
              <a:rPr lang="zh-CN" altLang="en-US" sz="3200">
                <a:solidFill>
                  <a:schemeClr val="bg1"/>
                </a:solidFill>
                <a:latin typeface="黑体" panose="02010609060101010101" pitchFamily="49" charset="-122"/>
                <a:ea typeface="黑体" panose="02010609060101010101" pitchFamily="49" charset="-122"/>
              </a:rPr>
              <a:t>轴的计算</a:t>
            </a:r>
            <a:endParaRPr lang="zh-CN" altLang="en-US" sz="3200">
              <a:solidFill>
                <a:schemeClr val="bg1"/>
              </a:solidFill>
              <a:latin typeface="黑体" panose="02010609060101010101" pitchFamily="49" charset="-122"/>
              <a:ea typeface="黑体" panose="02010609060101010101" pitchFamily="49" charset="-122"/>
            </a:endParaRPr>
          </a:p>
        </p:txBody>
      </p:sp>
      <p:sp>
        <p:nvSpPr>
          <p:cNvPr id="81926" name="文本框 13"/>
          <p:cNvSpPr txBox="1">
            <a:spLocks noChangeArrowheads="1"/>
          </p:cNvSpPr>
          <p:nvPr/>
        </p:nvSpPr>
        <p:spPr bwMode="auto">
          <a:xfrm>
            <a:off x="2346325" y="5394325"/>
            <a:ext cx="44799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endParaRPr lang="zh-CN" altLang="en-US"/>
          </a:p>
        </p:txBody>
      </p:sp>
      <p:sp>
        <p:nvSpPr>
          <p:cNvPr id="25" name="文本框 24"/>
          <p:cNvSpPr txBox="1">
            <a:spLocks noChangeArrowheads="1"/>
          </p:cNvSpPr>
          <p:nvPr/>
        </p:nvSpPr>
        <p:spPr bwMode="auto">
          <a:xfrm>
            <a:off x="1003300" y="849313"/>
            <a:ext cx="24939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r>
              <a:rPr lang="zh-CN" altLang="zh-CN"/>
              <a:t>轴的扭转刚度条件为</a:t>
            </a:r>
            <a:endParaRPr lang="zh-CN" altLang="zh-CN"/>
          </a:p>
        </p:txBody>
      </p:sp>
      <p:sp>
        <p:nvSpPr>
          <p:cNvPr id="26" name="文本框 25"/>
          <p:cNvSpPr txBox="1">
            <a:spLocks noRot="1" noChangeAspect="1" noMove="1" noResize="1" noEditPoints="1" noAdjustHandles="1" noChangeArrowheads="1" noChangeShapeType="1" noTextEdit="1"/>
          </p:cNvSpPr>
          <p:nvPr/>
        </p:nvSpPr>
        <p:spPr>
          <a:xfrm>
            <a:off x="3777672" y="1459346"/>
            <a:ext cx="3509819" cy="400110"/>
          </a:xfrm>
          <a:prstGeom prst="rect">
            <a:avLst/>
          </a:prstGeom>
          <a:blipFill>
            <a:blip r:embed="rId4"/>
            <a:stretch>
              <a:fillRect l="-696" t="-7576" r="-1565" b="-25758"/>
            </a:stretch>
          </a:blipFill>
        </p:spPr>
        <p:txBody>
          <a:bodyPr/>
          <a:lstStyle/>
          <a:p>
            <a:pPr>
              <a:defRPr/>
            </a:pPr>
            <a:r>
              <a:rPr lang="zh-CN" altLang="en-US">
                <a:noFill/>
              </a:rPr>
              <a:t> </a:t>
            </a:r>
            <a:endParaRPr lang="zh-CN" altLang="en-US">
              <a:noFill/>
            </a:endParaRPr>
          </a:p>
        </p:txBody>
      </p:sp>
      <p:sp>
        <p:nvSpPr>
          <p:cNvPr id="27" name="文本框 26"/>
          <p:cNvSpPr txBox="1">
            <a:spLocks noRot="1" noChangeAspect="1" noMove="1" noResize="1" noEditPoints="1" noAdjustHandles="1" noChangeArrowheads="1" noChangeShapeType="1" noTextEdit="1"/>
          </p:cNvSpPr>
          <p:nvPr/>
        </p:nvSpPr>
        <p:spPr>
          <a:xfrm>
            <a:off x="828257" y="1895720"/>
            <a:ext cx="7643596" cy="1422634"/>
          </a:xfrm>
          <a:prstGeom prst="rect">
            <a:avLst/>
          </a:prstGeom>
          <a:blipFill>
            <a:blip r:embed="rId5"/>
            <a:stretch>
              <a:fillRect l="-797" b="-6410"/>
            </a:stretch>
          </a:blipFill>
        </p:spPr>
        <p:txBody>
          <a:bodyPr/>
          <a:lstStyle/>
          <a:p>
            <a:pPr>
              <a:defRPr/>
            </a:pPr>
            <a:r>
              <a:rPr lang="zh-CN" altLang="en-US">
                <a:noFill/>
              </a:rPr>
              <a:t> </a:t>
            </a:r>
            <a:endParaRPr lang="zh-CN" altLang="en-US">
              <a:noFill/>
            </a:endParaRPr>
          </a:p>
        </p:txBody>
      </p:sp>
      <p:sp>
        <p:nvSpPr>
          <p:cNvPr id="28" name="文本框 27"/>
          <p:cNvSpPr txBox="1">
            <a:spLocks noChangeArrowheads="1"/>
          </p:cNvSpPr>
          <p:nvPr/>
        </p:nvSpPr>
        <p:spPr bwMode="auto">
          <a:xfrm>
            <a:off x="783908" y="3495675"/>
            <a:ext cx="27352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r>
              <a:rPr lang="en-US" altLang="zh-CN">
                <a:solidFill>
                  <a:srgbClr val="C00000"/>
                </a:solidFill>
              </a:rPr>
              <a:t>2. </a:t>
            </a:r>
            <a:r>
              <a:rPr lang="zh-CN" altLang="zh-CN">
                <a:solidFill>
                  <a:srgbClr val="C00000"/>
                </a:solidFill>
              </a:rPr>
              <a:t>弯曲刚度校核计算</a:t>
            </a:r>
            <a:endParaRPr lang="zh-CN" altLang="zh-CN">
              <a:solidFill>
                <a:srgbClr val="C00000"/>
              </a:solidFill>
            </a:endParaRPr>
          </a:p>
        </p:txBody>
      </p:sp>
      <p:sp>
        <p:nvSpPr>
          <p:cNvPr id="30" name="文本框 29"/>
          <p:cNvSpPr txBox="1">
            <a:spLocks noChangeArrowheads="1"/>
          </p:cNvSpPr>
          <p:nvPr/>
        </p:nvSpPr>
        <p:spPr bwMode="auto">
          <a:xfrm>
            <a:off x="1003300" y="4059238"/>
            <a:ext cx="73294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r>
              <a:rPr lang="zh-CN" altLang="zh-CN"/>
              <a:t>轴受弯矩后，将产生弯曲变形</a:t>
            </a:r>
            <a:r>
              <a:rPr lang="en-US" altLang="zh-CN"/>
              <a:t>,</a:t>
            </a:r>
            <a:r>
              <a:rPr lang="zh-CN" altLang="zh-CN"/>
              <a:t>其刚度条件为（参见图</a:t>
            </a:r>
            <a:r>
              <a:rPr lang="en-US" altLang="zh-CN"/>
              <a:t>3.7-18</a:t>
            </a:r>
            <a:r>
              <a:rPr lang="zh-CN" altLang="zh-CN"/>
              <a:t>）。</a:t>
            </a:r>
            <a:endParaRPr lang="zh-CN" altLang="zh-CN"/>
          </a:p>
        </p:txBody>
      </p:sp>
      <p:pic>
        <p:nvPicPr>
          <p:cNvPr id="31" name="图片 30"/>
          <p:cNvPicPr>
            <a:picLocks noChangeAspect="1" noChangeArrowheads="1"/>
          </p:cNvPicPr>
          <p:nvPr/>
        </p:nvPicPr>
        <p:blipFill>
          <a:blip r:embed="rId6">
            <a:lum bright="12000" contrast="54000"/>
            <a:extLst>
              <a:ext uri="{28A0092B-C50C-407E-A947-70E740481C1C}">
                <a14:useLocalDpi xmlns:a14="http://schemas.microsoft.com/office/drawing/2010/main" val="0"/>
              </a:ext>
            </a:extLst>
          </a:blip>
          <a:srcRect/>
          <a:stretch>
            <a:fillRect/>
          </a:stretch>
        </p:blipFill>
        <p:spPr bwMode="auto">
          <a:xfrm>
            <a:off x="2486025" y="4631055"/>
            <a:ext cx="4198938" cy="113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 name="文本框 31"/>
          <p:cNvSpPr txBox="1">
            <a:spLocks noRot="1" noChangeAspect="1" noMove="1" noResize="1" noEditPoints="1" noAdjustHandles="1" noChangeArrowheads="1" noChangeShapeType="1" noTextEdit="1"/>
          </p:cNvSpPr>
          <p:nvPr/>
        </p:nvSpPr>
        <p:spPr>
          <a:xfrm>
            <a:off x="3161001" y="5978127"/>
            <a:ext cx="4024890" cy="307777"/>
          </a:xfrm>
          <a:prstGeom prst="rect">
            <a:avLst/>
          </a:prstGeom>
          <a:blipFill>
            <a:blip r:embed="rId7"/>
            <a:stretch>
              <a:fillRect l="-455" t="-4000" b="-20000"/>
            </a:stretch>
          </a:blipFill>
        </p:spPr>
        <p:txBody>
          <a:bodyPr/>
          <a:lstStyle/>
          <a:p>
            <a:pPr>
              <a:defRPr/>
            </a:pPr>
            <a:r>
              <a:rPr lang="zh-CN" altLang="en-US">
                <a:noFill/>
              </a:rPr>
              <a:t> </a:t>
            </a:r>
            <a:endParaRPr lang="zh-CN" altLang="en-US">
              <a:noFill/>
            </a:endParaRPr>
          </a:p>
        </p:txBody>
      </p:sp>
      <p:sp>
        <p:nvSpPr>
          <p:cNvPr id="10244" name="Text Box 4"/>
          <p:cNvSpPr txBox="1">
            <a:spLocks noChangeArrowheads="1"/>
          </p:cNvSpPr>
          <p:nvPr/>
        </p:nvSpPr>
        <p:spPr bwMode="auto">
          <a:xfrm>
            <a:off x="5472113" y="174625"/>
            <a:ext cx="316388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sz="2400" dirty="0" smtClean="0">
                <a:solidFill>
                  <a:srgbClr val="CC3300"/>
                </a:solidFill>
                <a:latin typeface="黑体" panose="02010609060101010101" pitchFamily="49" charset="-122"/>
                <a:ea typeface="黑体" panose="02010609060101010101" pitchFamily="49" charset="-122"/>
              </a:rPr>
              <a:t>3.7-3 </a:t>
            </a:r>
            <a:r>
              <a:rPr lang="zh-CN" altLang="en-US" sz="2400" dirty="0">
                <a:solidFill>
                  <a:srgbClr val="CC3300"/>
                </a:solidFill>
                <a:latin typeface="黑体" panose="02010609060101010101" pitchFamily="49" charset="-122"/>
                <a:ea typeface="黑体" panose="02010609060101010101" pitchFamily="49" charset="-122"/>
              </a:rPr>
              <a:t>轴的计算</a:t>
            </a:r>
            <a:endParaRPr lang="zh-CN" altLang="en-US" sz="2400" dirty="0">
              <a:solidFill>
                <a:srgbClr val="CC3300"/>
              </a:solidFill>
              <a:latin typeface="黑体" panose="02010609060101010101" pitchFamily="49" charset="-122"/>
              <a:ea typeface="黑体" panose="02010609060101010101" pitchFamily="49" charset="-122"/>
            </a:endParaRPr>
          </a:p>
        </p:txBody>
      </p:sp>
      <p:sp>
        <p:nvSpPr>
          <p:cNvPr id="10258"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6"/>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nodeType="afterEffect">
                                  <p:stCondLst>
                                    <p:cond delay="0"/>
                                  </p:stCondLst>
                                  <p:childTnLst>
                                    <p:set>
                                      <p:cBhvr>
                                        <p:cTn id="9" dur="1" fill="hold">
                                          <p:stCondLst>
                                            <p:cond delay="499"/>
                                          </p:stCondLst>
                                        </p:cTn>
                                        <p:tgtEl>
                                          <p:spTgt spid="7"/>
                                        </p:tgtEl>
                                        <p:attrNameLst>
                                          <p:attrName>style.visibility</p:attrName>
                                        </p:attrNameLst>
                                      </p:cBhvr>
                                      <p:to>
                                        <p:strVal val="visible"/>
                                      </p:to>
                                    </p:set>
                                  </p:childTnLst>
                                </p:cTn>
                              </p:par>
                            </p:childTnLst>
                          </p:cTn>
                        </p:par>
                        <p:par>
                          <p:cTn id="10" fill="hold">
                            <p:stCondLst>
                              <p:cond delay="1000"/>
                            </p:stCondLst>
                            <p:childTnLst>
                              <p:par>
                                <p:cTn id="11" presetID="2" presetClass="entr" presetSubtype="8" fill="hold"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0-#ppt_w/2"/>
                                          </p:val>
                                        </p:tav>
                                        <p:tav tm="100000">
                                          <p:val>
                                            <p:strVal val="#ppt_x"/>
                                          </p:val>
                                        </p:tav>
                                      </p:tavLst>
                                    </p:anim>
                                    <p:anim calcmode="lin" valueType="num">
                                      <p:cBhvr additive="base">
                                        <p:cTn id="14"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wipe(left)">
                                      <p:cBhvr>
                                        <p:cTn id="19" dur="500"/>
                                        <p:tgtEl>
                                          <p:spTgt spid="25"/>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26"/>
                                        </p:tgtEl>
                                        <p:attrNameLst>
                                          <p:attrName>style.visibility</p:attrName>
                                        </p:attrNameLst>
                                      </p:cBhvr>
                                      <p:to>
                                        <p:strVal val="visible"/>
                                      </p:to>
                                    </p:set>
                                    <p:animEffect transition="in" filter="wipe(left)">
                                      <p:cBhvr>
                                        <p:cTn id="24" dur="500"/>
                                        <p:tgtEl>
                                          <p:spTgt spid="26"/>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27"/>
                                        </p:tgtEl>
                                        <p:attrNameLst>
                                          <p:attrName>style.visibility</p:attrName>
                                        </p:attrNameLst>
                                      </p:cBhvr>
                                      <p:to>
                                        <p:strVal val="visible"/>
                                      </p:to>
                                    </p:set>
                                    <p:animEffect transition="in" filter="wipe(left)">
                                      <p:cBhvr>
                                        <p:cTn id="29" dur="500"/>
                                        <p:tgtEl>
                                          <p:spTgt spid="27"/>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wipe(left)">
                                      <p:cBhvr>
                                        <p:cTn id="34" dur="500"/>
                                        <p:tgtEl>
                                          <p:spTgt spid="28"/>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30"/>
                                        </p:tgtEl>
                                        <p:attrNameLst>
                                          <p:attrName>style.visibility</p:attrName>
                                        </p:attrNameLst>
                                      </p:cBhvr>
                                      <p:to>
                                        <p:strVal val="visible"/>
                                      </p:to>
                                    </p:set>
                                    <p:animEffect transition="in" filter="wipe(left)">
                                      <p:cBhvr>
                                        <p:cTn id="39" dur="500"/>
                                        <p:tgtEl>
                                          <p:spTgt spid="30"/>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31"/>
                                        </p:tgtEl>
                                        <p:attrNameLst>
                                          <p:attrName>style.visibility</p:attrName>
                                        </p:attrNameLst>
                                      </p:cBhvr>
                                      <p:to>
                                        <p:strVal val="visible"/>
                                      </p:to>
                                    </p:set>
                                    <p:animEffect transition="in" filter="wipe(left)">
                                      <p:cBhvr>
                                        <p:cTn id="44" dur="500"/>
                                        <p:tgtEl>
                                          <p:spTgt spid="31"/>
                                        </p:tgtEl>
                                      </p:cBhvr>
                                    </p:animEffect>
                                  </p:childTnLst>
                                </p:cTn>
                              </p:par>
                              <p:par>
                                <p:cTn id="45" presetID="22" presetClass="entr" presetSubtype="8" fill="hold" nodeType="withEffect">
                                  <p:stCondLst>
                                    <p:cond delay="0"/>
                                  </p:stCondLst>
                                  <p:childTnLst>
                                    <p:set>
                                      <p:cBhvr>
                                        <p:cTn id="46" dur="1" fill="hold">
                                          <p:stCondLst>
                                            <p:cond delay="0"/>
                                          </p:stCondLst>
                                        </p:cTn>
                                        <p:tgtEl>
                                          <p:spTgt spid="32"/>
                                        </p:tgtEl>
                                        <p:attrNameLst>
                                          <p:attrName>style.visibility</p:attrName>
                                        </p:attrNameLst>
                                      </p:cBhvr>
                                      <p:to>
                                        <p:strVal val="visible"/>
                                      </p:to>
                                    </p:set>
                                    <p:animEffect transition="in" filter="wipe(left)">
                                      <p:cBhvr>
                                        <p:cTn id="4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8" grpId="0"/>
      <p:bldP spid="30" grpId="0"/>
    </p:bldLst>
  </p:timing>
</p:sld>
</file>

<file path=ppt/slides/slide7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6" name="Picture 31" descr="back">
            <a:hlinkClick r:id="" action="ppaction://hlinkshowjump?jump=previousslide"/>
          </p:cNvPr>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332788" y="6532563"/>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32" descr="NEXT">
            <a:hlinkClick r:id="" action="ppaction://hlinkshowjump?jump=nextslide"/>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742363" y="6532563"/>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33" descr="rewind">
            <a:hlinkClick r:id="" action="ppaction://hlinkshowjump?jump=first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24800" y="6532563"/>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949" name="矩形 12"/>
          <p:cNvSpPr>
            <a:spLocks noChangeArrowheads="1"/>
          </p:cNvSpPr>
          <p:nvPr/>
        </p:nvSpPr>
        <p:spPr bwMode="auto">
          <a:xfrm>
            <a:off x="992188" y="0"/>
            <a:ext cx="182721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r>
              <a:rPr lang="zh-CN" altLang="en-US" sz="3200">
                <a:solidFill>
                  <a:schemeClr val="bg1"/>
                </a:solidFill>
                <a:latin typeface="黑体" panose="02010609060101010101" pitchFamily="49" charset="-122"/>
                <a:ea typeface="黑体" panose="02010609060101010101" pitchFamily="49" charset="-122"/>
              </a:rPr>
              <a:t>轴的计算</a:t>
            </a:r>
            <a:endParaRPr lang="zh-CN" altLang="en-US" sz="3200">
              <a:solidFill>
                <a:schemeClr val="bg1"/>
              </a:solidFill>
              <a:latin typeface="黑体" panose="02010609060101010101" pitchFamily="49" charset="-122"/>
              <a:ea typeface="黑体" panose="02010609060101010101" pitchFamily="49" charset="-122"/>
            </a:endParaRPr>
          </a:p>
        </p:txBody>
      </p:sp>
      <p:sp>
        <p:nvSpPr>
          <p:cNvPr id="82950" name="文本框 13"/>
          <p:cNvSpPr txBox="1">
            <a:spLocks noChangeArrowheads="1"/>
          </p:cNvSpPr>
          <p:nvPr/>
        </p:nvSpPr>
        <p:spPr bwMode="auto">
          <a:xfrm>
            <a:off x="2346325" y="5394325"/>
            <a:ext cx="44799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endParaRPr lang="zh-CN" altLang="en-US"/>
          </a:p>
        </p:txBody>
      </p:sp>
      <p:sp>
        <p:nvSpPr>
          <p:cNvPr id="3" name="文本框 2"/>
          <p:cNvSpPr txBox="1">
            <a:spLocks noRot="1" noChangeAspect="1" noMove="1" noResize="1" noEditPoints="1" noAdjustHandles="1" noChangeArrowheads="1" noChangeShapeType="1" noTextEdit="1"/>
          </p:cNvSpPr>
          <p:nvPr/>
        </p:nvSpPr>
        <p:spPr>
          <a:xfrm>
            <a:off x="1900841" y="895474"/>
            <a:ext cx="5704303" cy="1015663"/>
          </a:xfrm>
          <a:prstGeom prst="rect">
            <a:avLst/>
          </a:prstGeom>
          <a:blipFill>
            <a:blip r:embed="rId4"/>
            <a:stretch>
              <a:fillRect l="-1175" b="-4192"/>
            </a:stretch>
          </a:blipFill>
        </p:spPr>
        <p:txBody>
          <a:bodyPr/>
          <a:lstStyle/>
          <a:p>
            <a:pPr>
              <a:defRPr/>
            </a:pPr>
            <a:r>
              <a:rPr lang="zh-CN" altLang="en-US">
                <a:noFill/>
              </a:rPr>
              <a:t> </a:t>
            </a:r>
            <a:endParaRPr lang="zh-CN" altLang="en-US">
              <a:noFill/>
            </a:endParaRPr>
          </a:p>
        </p:txBody>
      </p:sp>
      <p:sp>
        <p:nvSpPr>
          <p:cNvPr id="4" name="文本框 3"/>
          <p:cNvSpPr txBox="1">
            <a:spLocks noRot="1" noChangeAspect="1" noMove="1" noResize="1" noEditPoints="1" noAdjustHandles="1" noChangeArrowheads="1" noChangeShapeType="1" noTextEdit="1"/>
          </p:cNvSpPr>
          <p:nvPr/>
        </p:nvSpPr>
        <p:spPr>
          <a:xfrm>
            <a:off x="618628" y="1994264"/>
            <a:ext cx="7934038" cy="1323439"/>
          </a:xfrm>
          <a:prstGeom prst="rect">
            <a:avLst/>
          </a:prstGeom>
          <a:blipFill>
            <a:blip r:embed="rId5"/>
            <a:stretch>
              <a:fillRect l="-768"/>
            </a:stretch>
          </a:blipFill>
        </p:spPr>
        <p:txBody>
          <a:bodyPr/>
          <a:lstStyle/>
          <a:p>
            <a:pPr>
              <a:defRPr/>
            </a:pPr>
            <a:r>
              <a:rPr lang="zh-CN" altLang="en-US">
                <a:noFill/>
              </a:rPr>
              <a:t> </a:t>
            </a:r>
            <a:endParaRPr lang="zh-CN" altLang="en-US">
              <a:noFill/>
            </a:endParaRPr>
          </a:p>
        </p:txBody>
      </p:sp>
      <p:pic>
        <p:nvPicPr>
          <p:cNvPr id="5" name="图片 4"/>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38188" y="2870518"/>
            <a:ext cx="7735887" cy="354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4" name="Text Box 4"/>
          <p:cNvSpPr txBox="1">
            <a:spLocks noChangeArrowheads="1"/>
          </p:cNvSpPr>
          <p:nvPr/>
        </p:nvSpPr>
        <p:spPr bwMode="auto">
          <a:xfrm>
            <a:off x="5472113" y="174625"/>
            <a:ext cx="316388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sz="2400" dirty="0" smtClean="0">
                <a:solidFill>
                  <a:srgbClr val="CC3300"/>
                </a:solidFill>
                <a:latin typeface="黑体" panose="02010609060101010101" pitchFamily="49" charset="-122"/>
                <a:ea typeface="黑体" panose="02010609060101010101" pitchFamily="49" charset="-122"/>
              </a:rPr>
              <a:t>3.7-3 </a:t>
            </a:r>
            <a:r>
              <a:rPr lang="zh-CN" altLang="en-US" sz="2400" dirty="0">
                <a:solidFill>
                  <a:srgbClr val="CC3300"/>
                </a:solidFill>
                <a:latin typeface="黑体" panose="02010609060101010101" pitchFamily="49" charset="-122"/>
                <a:ea typeface="黑体" panose="02010609060101010101" pitchFamily="49" charset="-122"/>
              </a:rPr>
              <a:t>轴的计算</a:t>
            </a:r>
            <a:endParaRPr lang="zh-CN" altLang="en-US" sz="2400" dirty="0">
              <a:solidFill>
                <a:srgbClr val="CC3300"/>
              </a:solidFill>
              <a:latin typeface="黑体" panose="02010609060101010101" pitchFamily="49" charset="-122"/>
              <a:ea typeface="黑体" panose="02010609060101010101" pitchFamily="49" charset="-122"/>
            </a:endParaRPr>
          </a:p>
        </p:txBody>
      </p:sp>
      <p:sp>
        <p:nvSpPr>
          <p:cNvPr id="10258"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6"/>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nodeType="afterEffect">
                                  <p:stCondLst>
                                    <p:cond delay="0"/>
                                  </p:stCondLst>
                                  <p:childTnLst>
                                    <p:set>
                                      <p:cBhvr>
                                        <p:cTn id="9" dur="1" fill="hold">
                                          <p:stCondLst>
                                            <p:cond delay="499"/>
                                          </p:stCondLst>
                                        </p:cTn>
                                        <p:tgtEl>
                                          <p:spTgt spid="7"/>
                                        </p:tgtEl>
                                        <p:attrNameLst>
                                          <p:attrName>style.visibility</p:attrName>
                                        </p:attrNameLst>
                                      </p:cBhvr>
                                      <p:to>
                                        <p:strVal val="visible"/>
                                      </p:to>
                                    </p:set>
                                  </p:childTnLst>
                                </p:cTn>
                              </p:par>
                            </p:childTnLst>
                          </p:cTn>
                        </p:par>
                        <p:par>
                          <p:cTn id="10" fill="hold">
                            <p:stCondLst>
                              <p:cond delay="1000"/>
                            </p:stCondLst>
                            <p:childTnLst>
                              <p:par>
                                <p:cTn id="11" presetID="2" presetClass="entr" presetSubtype="8" fill="hold"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0-#ppt_w/2"/>
                                          </p:val>
                                        </p:tav>
                                        <p:tav tm="100000">
                                          <p:val>
                                            <p:strVal val="#ppt_x"/>
                                          </p:val>
                                        </p:tav>
                                      </p:tavLst>
                                    </p:anim>
                                    <p:anim calcmode="lin" valueType="num">
                                      <p:cBhvr additive="base">
                                        <p:cTn id="14"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wipe(left)">
                                      <p:cBhvr>
                                        <p:cTn id="19" dur="500"/>
                                        <p:tgtEl>
                                          <p:spTgt spid="3"/>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wipe(left)">
                                      <p:cBhvr>
                                        <p:cTn id="24" dur="500"/>
                                        <p:tgtEl>
                                          <p:spTgt spid="4"/>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wipe(left)">
                                      <p:cBhvr>
                                        <p:cTn id="2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p:cNvSpPr>
            <a:spLocks noGrp="1" noChangeArrowheads="1"/>
          </p:cNvSpPr>
          <p:nvPr>
            <p:ph type="title"/>
          </p:nvPr>
        </p:nvSpPr>
        <p:spPr bwMode="auto">
          <a:xfrm>
            <a:off x="7356475" y="750888"/>
            <a:ext cx="739775" cy="228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algn="l" eaLnBrk="1" hangingPunct="1"/>
            <a:r>
              <a:rPr lang="zh-CN" altLang="en-US" sz="800" smtClean="0">
                <a:solidFill>
                  <a:schemeClr val="bg1"/>
                </a:solidFill>
                <a:latin typeface="黑体" panose="02010609060101010101" pitchFamily="49" charset="-122"/>
                <a:ea typeface="黑体" panose="02010609060101010101" pitchFamily="49" charset="-122"/>
              </a:rPr>
              <a:t>轴的计算</a:t>
            </a:r>
            <a:r>
              <a:rPr lang="en-US" altLang="zh-CN" sz="800" smtClean="0">
                <a:solidFill>
                  <a:schemeClr val="bg1"/>
                </a:solidFill>
                <a:latin typeface="黑体" panose="02010609060101010101" pitchFamily="49" charset="-122"/>
                <a:ea typeface="黑体" panose="02010609060101010101" pitchFamily="49" charset="-122"/>
              </a:rPr>
              <a:t>6</a:t>
            </a:r>
            <a:endParaRPr lang="en-US" altLang="zh-CN" sz="800" smtClean="0">
              <a:solidFill>
                <a:schemeClr val="bg1"/>
              </a:solidFill>
              <a:latin typeface="黑体" panose="02010609060101010101" pitchFamily="49" charset="-122"/>
              <a:ea typeface="黑体" panose="02010609060101010101" pitchFamily="49" charset="-122"/>
            </a:endParaRPr>
          </a:p>
        </p:txBody>
      </p:sp>
      <p:sp>
        <p:nvSpPr>
          <p:cNvPr id="11268" name="Text Box 4"/>
          <p:cNvSpPr txBox="1">
            <a:spLocks noChangeArrowheads="1"/>
          </p:cNvSpPr>
          <p:nvPr/>
        </p:nvSpPr>
        <p:spPr bwMode="auto">
          <a:xfrm>
            <a:off x="5472113" y="174625"/>
            <a:ext cx="23164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sz="2400" dirty="0" smtClean="0">
                <a:solidFill>
                  <a:srgbClr val="CC3300"/>
                </a:solidFill>
                <a:latin typeface="黑体" panose="02010609060101010101" pitchFamily="49" charset="-122"/>
                <a:ea typeface="黑体" panose="02010609060101010101" pitchFamily="49" charset="-122"/>
              </a:rPr>
              <a:t>3.7-3 </a:t>
            </a:r>
            <a:r>
              <a:rPr lang="zh-CN" altLang="en-US" sz="2400" dirty="0">
                <a:solidFill>
                  <a:srgbClr val="CC3300"/>
                </a:solidFill>
                <a:latin typeface="黑体" panose="02010609060101010101" pitchFamily="49" charset="-122"/>
                <a:ea typeface="黑体" panose="02010609060101010101" pitchFamily="49" charset="-122"/>
              </a:rPr>
              <a:t>轴的计算</a:t>
            </a:r>
            <a:endParaRPr lang="zh-CN" altLang="en-US" sz="2400" dirty="0">
              <a:solidFill>
                <a:srgbClr val="CC3300"/>
              </a:solidFill>
              <a:latin typeface="黑体" panose="02010609060101010101" pitchFamily="49" charset="-122"/>
              <a:ea typeface="黑体" panose="02010609060101010101" pitchFamily="49" charset="-122"/>
            </a:endParaRPr>
          </a:p>
        </p:txBody>
      </p:sp>
      <p:sp>
        <p:nvSpPr>
          <p:cNvPr id="45061" name="Text Box 5"/>
          <p:cNvSpPr txBox="1">
            <a:spLocks noChangeArrowheads="1"/>
          </p:cNvSpPr>
          <p:nvPr/>
        </p:nvSpPr>
        <p:spPr bwMode="auto">
          <a:xfrm>
            <a:off x="352425" y="777875"/>
            <a:ext cx="4557713"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zh-CN" altLang="en-US" sz="2200">
                <a:solidFill>
                  <a:srgbClr val="C00000"/>
                </a:solidFill>
                <a:latin typeface="黑体" panose="02010609060101010101" pitchFamily="49" charset="-122"/>
                <a:ea typeface="黑体" panose="02010609060101010101" pitchFamily="49" charset="-122"/>
              </a:rPr>
              <a:t>三、轴的振动及振动稳定性的概念 </a:t>
            </a:r>
            <a:endParaRPr lang="zh-CN" altLang="en-US" sz="2200">
              <a:solidFill>
                <a:srgbClr val="C00000"/>
              </a:solidFill>
              <a:latin typeface="黑体" panose="02010609060101010101" pitchFamily="49" charset="-122"/>
              <a:ea typeface="黑体" panose="02010609060101010101" pitchFamily="49" charset="-122"/>
            </a:endParaRPr>
          </a:p>
        </p:txBody>
      </p:sp>
      <p:sp>
        <p:nvSpPr>
          <p:cNvPr id="45062" name="Text Box 6"/>
          <p:cNvSpPr txBox="1">
            <a:spLocks noChangeArrowheads="1"/>
          </p:cNvSpPr>
          <p:nvPr/>
        </p:nvSpPr>
        <p:spPr bwMode="auto">
          <a:xfrm>
            <a:off x="339725" y="1196975"/>
            <a:ext cx="8547100"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20000"/>
              </a:lnSpc>
            </a:pPr>
            <a:r>
              <a:rPr lang="en-US" altLang="zh-CN" sz="1400">
                <a:solidFill>
                  <a:srgbClr val="FF0066"/>
                </a:solidFill>
                <a:latin typeface="华文中宋" panose="02010600040101010101" pitchFamily="2" charset="-122"/>
              </a:rPr>
              <a:t>◆ </a:t>
            </a:r>
            <a:r>
              <a:rPr lang="zh-CN" altLang="en-US">
                <a:latin typeface="华文中宋" panose="02010600040101010101" pitchFamily="2" charset="-122"/>
              </a:rPr>
              <a:t>轴是一弹性体，旋转时，会产生弯曲振动、扭转振动及纵向振动。</a:t>
            </a:r>
            <a:endParaRPr lang="zh-CN" altLang="en-US">
              <a:latin typeface="华文中宋" panose="02010600040101010101" pitchFamily="2" charset="-122"/>
            </a:endParaRPr>
          </a:p>
          <a:p>
            <a:pPr eaLnBrk="1" hangingPunct="1">
              <a:lnSpc>
                <a:spcPct val="120000"/>
              </a:lnSpc>
            </a:pPr>
            <a:r>
              <a:rPr lang="zh-CN" altLang="en-US" sz="1400">
                <a:solidFill>
                  <a:srgbClr val="FF0066"/>
                </a:solidFill>
                <a:latin typeface="华文中宋" panose="02010600040101010101" pitchFamily="2" charset="-122"/>
              </a:rPr>
              <a:t>◆ </a:t>
            </a:r>
            <a:r>
              <a:rPr lang="zh-CN" altLang="en-US">
                <a:latin typeface="华文中宋" panose="02010600040101010101" pitchFamily="2" charset="-122"/>
              </a:rPr>
              <a:t>当轴的振动频率与轴的自振频率相同时，就会产生共振。</a:t>
            </a:r>
            <a:endParaRPr lang="zh-CN" altLang="en-US">
              <a:latin typeface="华文中宋" panose="02010600040101010101" pitchFamily="2" charset="-122"/>
            </a:endParaRPr>
          </a:p>
          <a:p>
            <a:pPr eaLnBrk="1" hangingPunct="1">
              <a:lnSpc>
                <a:spcPct val="120000"/>
              </a:lnSpc>
            </a:pPr>
            <a:r>
              <a:rPr lang="zh-CN" altLang="en-US" sz="1400">
                <a:solidFill>
                  <a:srgbClr val="FF0066"/>
                </a:solidFill>
                <a:latin typeface="华文中宋" panose="02010600040101010101" pitchFamily="2" charset="-122"/>
              </a:rPr>
              <a:t>◆ </a:t>
            </a:r>
            <a:r>
              <a:rPr lang="zh-CN" altLang="en-US">
                <a:latin typeface="华文中宋" panose="02010600040101010101" pitchFamily="2" charset="-122"/>
              </a:rPr>
              <a:t>共振时轴的转速称为临界转速。</a:t>
            </a:r>
            <a:endParaRPr lang="zh-CN" altLang="en-US">
              <a:latin typeface="华文中宋" panose="02010600040101010101" pitchFamily="2" charset="-122"/>
            </a:endParaRPr>
          </a:p>
          <a:p>
            <a:pPr eaLnBrk="1" hangingPunct="1">
              <a:lnSpc>
                <a:spcPct val="120000"/>
              </a:lnSpc>
            </a:pPr>
            <a:r>
              <a:rPr lang="zh-CN" altLang="en-US" sz="1400">
                <a:solidFill>
                  <a:srgbClr val="FF0066"/>
                </a:solidFill>
                <a:latin typeface="华文中宋" panose="02010600040101010101" pitchFamily="2" charset="-122"/>
              </a:rPr>
              <a:t>◆ </a:t>
            </a:r>
            <a:r>
              <a:rPr lang="zh-CN" altLang="en-US">
                <a:latin typeface="华文中宋" panose="02010600040101010101" pitchFamily="2" charset="-122"/>
              </a:rPr>
              <a:t>临界转速可以有很多个，其中一阶临界转速下振动最为激烈，最为危险，</a:t>
            </a:r>
            <a:endParaRPr lang="zh-CN" altLang="en-US">
              <a:latin typeface="华文中宋" panose="02010600040101010101" pitchFamily="2" charset="-122"/>
            </a:endParaRPr>
          </a:p>
        </p:txBody>
      </p:sp>
      <p:sp>
        <p:nvSpPr>
          <p:cNvPr id="45063" name="Text Box 7"/>
          <p:cNvSpPr txBox="1">
            <a:spLocks noChangeArrowheads="1"/>
          </p:cNvSpPr>
          <p:nvPr/>
        </p:nvSpPr>
        <p:spPr bwMode="auto">
          <a:xfrm>
            <a:off x="354185" y="2832320"/>
            <a:ext cx="8058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20000"/>
              </a:lnSpc>
            </a:pPr>
            <a:r>
              <a:rPr lang="zh-CN" altLang="en-US" dirty="0">
                <a:latin typeface="华文中宋" panose="02010600040101010101" pitchFamily="2" charset="-122"/>
              </a:rPr>
              <a:t>　　一般通用机械中的轴很少发生共振。若发生共振，多为弯曲共振。</a:t>
            </a:r>
            <a:endParaRPr lang="zh-CN" altLang="en-US" dirty="0">
              <a:latin typeface="华文中宋" panose="02010600040101010101" pitchFamily="2" charset="-122"/>
            </a:endParaRPr>
          </a:p>
        </p:txBody>
      </p:sp>
      <p:sp>
        <p:nvSpPr>
          <p:cNvPr id="45066" name="Text Box 10"/>
          <p:cNvSpPr txBox="1">
            <a:spLocks noChangeArrowheads="1"/>
          </p:cNvSpPr>
          <p:nvPr/>
        </p:nvSpPr>
        <p:spPr bwMode="auto">
          <a:xfrm>
            <a:off x="941734" y="3790620"/>
            <a:ext cx="17891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zh-CN" altLang="en-US">
                <a:latin typeface="华文中宋" panose="02010600040101010101" pitchFamily="2" charset="-122"/>
              </a:rPr>
              <a:t>一阶临界转速 </a:t>
            </a:r>
            <a:endParaRPr lang="zh-CN" altLang="en-US">
              <a:latin typeface="华文中宋" panose="02010600040101010101" pitchFamily="2" charset="-122"/>
            </a:endParaRPr>
          </a:p>
        </p:txBody>
      </p:sp>
      <p:graphicFrame>
        <p:nvGraphicFramePr>
          <p:cNvPr id="45067" name="Object 11"/>
          <p:cNvGraphicFramePr>
            <a:graphicFrameLocks noChangeAspect="1"/>
          </p:cNvGraphicFramePr>
          <p:nvPr/>
        </p:nvGraphicFramePr>
        <p:xfrm>
          <a:off x="2776711" y="3535332"/>
          <a:ext cx="3506788" cy="847725"/>
        </p:xfrm>
        <a:graphic>
          <a:graphicData uri="http://schemas.openxmlformats.org/presentationml/2006/ole">
            <mc:AlternateContent xmlns:mc="http://schemas.openxmlformats.org/markup-compatibility/2006">
              <mc:Choice xmlns:v="urn:schemas-microsoft-com:vml" Requires="v">
                <p:oleObj spid="_x0000_s11332" name="Equation" r:id="rId1" imgW="1805940" imgH="440055" progId="Equation.3">
                  <p:embed/>
                </p:oleObj>
              </mc:Choice>
              <mc:Fallback>
                <p:oleObj name="Equation" r:id="rId1" imgW="1805940" imgH="440055" progId="Equation.3">
                  <p:embed/>
                  <p:pic>
                    <p:nvPicPr>
                      <p:cNvPr id="0" name="Object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76711" y="3535332"/>
                        <a:ext cx="3506788" cy="847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5069" name="Text Box 13"/>
          <p:cNvSpPr txBox="1">
            <a:spLocks noChangeArrowheads="1"/>
          </p:cNvSpPr>
          <p:nvPr/>
        </p:nvSpPr>
        <p:spPr bwMode="auto">
          <a:xfrm>
            <a:off x="701691" y="4603641"/>
            <a:ext cx="52451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20000"/>
              </a:lnSpc>
            </a:pPr>
            <a:r>
              <a:rPr lang="en-US" altLang="zh-CN" sz="1400">
                <a:solidFill>
                  <a:srgbClr val="FF0066"/>
                </a:solidFill>
                <a:latin typeface="华文中宋" panose="02010600040101010101" pitchFamily="2" charset="-122"/>
              </a:rPr>
              <a:t>◆ </a:t>
            </a:r>
            <a:r>
              <a:rPr lang="zh-CN" altLang="en-US"/>
              <a:t>刚性轴：工作转速低于一阶临界转速的轴；</a:t>
            </a:r>
            <a:endParaRPr lang="zh-CN" altLang="en-US"/>
          </a:p>
          <a:p>
            <a:pPr eaLnBrk="1" hangingPunct="1">
              <a:lnSpc>
                <a:spcPct val="120000"/>
              </a:lnSpc>
            </a:pPr>
            <a:r>
              <a:rPr lang="zh-CN" altLang="en-US" sz="1400">
                <a:solidFill>
                  <a:srgbClr val="FF0066"/>
                </a:solidFill>
                <a:latin typeface="华文中宋" panose="02010600040101010101" pitchFamily="2" charset="-122"/>
              </a:rPr>
              <a:t>◆ </a:t>
            </a:r>
            <a:r>
              <a:rPr lang="zh-CN" altLang="en-US"/>
              <a:t>挠性轴：工作转速超过一阶临界转速的轴；</a:t>
            </a:r>
            <a:endParaRPr lang="zh-CN" altLang="en-US"/>
          </a:p>
        </p:txBody>
      </p:sp>
      <p:sp>
        <p:nvSpPr>
          <p:cNvPr id="45070" name="Text Box 14"/>
          <p:cNvSpPr txBox="1">
            <a:spLocks noChangeArrowheads="1"/>
          </p:cNvSpPr>
          <p:nvPr/>
        </p:nvSpPr>
        <p:spPr bwMode="auto">
          <a:xfrm>
            <a:off x="341485" y="5548848"/>
            <a:ext cx="83820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20000"/>
              </a:lnSpc>
            </a:pPr>
            <a:r>
              <a:rPr lang="zh-CN" altLang="en-US"/>
              <a:t>　　一般情况下，应使轴的工作转速</a:t>
            </a:r>
            <a:r>
              <a:rPr lang="en-US" altLang="zh-CN" i="1"/>
              <a:t>n</a:t>
            </a:r>
            <a:r>
              <a:rPr lang="en-US" altLang="zh-CN"/>
              <a:t>&lt;0.85</a:t>
            </a:r>
            <a:r>
              <a:rPr lang="en-US" altLang="zh-CN" i="1"/>
              <a:t>n</a:t>
            </a:r>
            <a:r>
              <a:rPr lang="en-US" altLang="zh-CN" baseline="-30000"/>
              <a:t>c1</a:t>
            </a:r>
            <a:r>
              <a:rPr lang="zh-CN" altLang="en-US"/>
              <a:t>，或</a:t>
            </a:r>
            <a:r>
              <a:rPr lang="en-US" altLang="zh-CN"/>
              <a:t>1.5</a:t>
            </a:r>
            <a:r>
              <a:rPr lang="en-US" altLang="zh-CN" i="1"/>
              <a:t> n</a:t>
            </a:r>
            <a:r>
              <a:rPr lang="en-US" altLang="zh-CN" baseline="-30000"/>
              <a:t>c1</a:t>
            </a:r>
            <a:r>
              <a:rPr lang="en-US" altLang="zh-CN"/>
              <a:t>&lt;</a:t>
            </a:r>
            <a:r>
              <a:rPr lang="en-US" altLang="zh-CN" i="1"/>
              <a:t>n</a:t>
            </a:r>
            <a:r>
              <a:rPr lang="en-US" altLang="zh-CN"/>
              <a:t>&lt;0.85</a:t>
            </a:r>
            <a:r>
              <a:rPr lang="en-US" altLang="zh-CN" i="1"/>
              <a:t> n</a:t>
            </a:r>
            <a:r>
              <a:rPr lang="en-US" altLang="zh-CN" baseline="-30000"/>
              <a:t>c2</a:t>
            </a:r>
            <a:r>
              <a:rPr lang="zh-CN" altLang="en-US"/>
              <a:t>。满足</a:t>
            </a:r>
            <a:endParaRPr lang="zh-CN" altLang="en-US"/>
          </a:p>
          <a:p>
            <a:pPr eaLnBrk="1" hangingPunct="1">
              <a:lnSpc>
                <a:spcPct val="120000"/>
              </a:lnSpc>
            </a:pPr>
            <a:r>
              <a:rPr lang="zh-CN" altLang="en-US"/>
              <a:t>上述条件的轴就是具有了弯曲振动的稳定性。 </a:t>
            </a:r>
            <a:endParaRPr lang="zh-CN" altLang="en-US"/>
          </a:p>
        </p:txBody>
      </p:sp>
      <p:pic>
        <p:nvPicPr>
          <p:cNvPr id="45071" name="Picture 15" descr="back">
            <a:hlinkClick r:id="" action="ppaction://hlinkshowjump?jump=previous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51888" y="6532563"/>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073" name="Picture 17" descr="rewind">
            <a:hlinkClick r:id="" action="ppaction://hlinkshowjump?jump=firstslide"/>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343900" y="6532563"/>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77" name="Text Box 18"/>
          <p:cNvSpPr txBox="1">
            <a:spLocks noChangeArrowheads="1"/>
          </p:cNvSpPr>
          <p:nvPr/>
        </p:nvSpPr>
        <p:spPr bwMode="auto">
          <a:xfrm>
            <a:off x="7943850" y="5775325"/>
            <a:ext cx="971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50000"/>
              </a:spcBef>
            </a:pPr>
            <a:r>
              <a:rPr lang="en-US" altLang="zh-CN"/>
              <a:t>  </a:t>
            </a:r>
            <a:endParaRPr lang="en-US" altLang="zh-CN"/>
          </a:p>
        </p:txBody>
      </p:sp>
      <p:sp>
        <p:nvSpPr>
          <p:cNvPr id="11278"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5061"/>
                                        </p:tgtEl>
                                        <p:attrNameLst>
                                          <p:attrName>style.visibility</p:attrName>
                                        </p:attrNameLst>
                                      </p:cBhvr>
                                      <p:to>
                                        <p:strVal val="visible"/>
                                      </p:to>
                                    </p:set>
                                    <p:animEffect transition="in" filter="wipe(left)">
                                      <p:cBhvr>
                                        <p:cTn id="7" dur="500"/>
                                        <p:tgtEl>
                                          <p:spTgt spid="4506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5062"/>
                                        </p:tgtEl>
                                        <p:attrNameLst>
                                          <p:attrName>style.visibility</p:attrName>
                                        </p:attrNameLst>
                                      </p:cBhvr>
                                      <p:to>
                                        <p:strVal val="visible"/>
                                      </p:to>
                                    </p:set>
                                    <p:animEffect transition="in" filter="wipe(up)">
                                      <p:cBhvr>
                                        <p:cTn id="12" dur="500"/>
                                        <p:tgtEl>
                                          <p:spTgt spid="45062"/>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45063"/>
                                        </p:tgtEl>
                                        <p:attrNameLst>
                                          <p:attrName>style.visibility</p:attrName>
                                        </p:attrNameLst>
                                      </p:cBhvr>
                                      <p:to>
                                        <p:strVal val="visible"/>
                                      </p:to>
                                    </p:set>
                                    <p:animEffect transition="in" filter="strips(downRight)">
                                      <p:cBhvr>
                                        <p:cTn id="17" dur="500"/>
                                        <p:tgtEl>
                                          <p:spTgt spid="45063"/>
                                        </p:tgtEl>
                                      </p:cBhvr>
                                    </p:animEffect>
                                  </p:childTnLst>
                                </p:cTn>
                              </p:par>
                            </p:childTnLst>
                          </p:cTn>
                        </p:par>
                        <p:par>
                          <p:cTn id="18" fill="hold">
                            <p:stCondLst>
                              <p:cond delay="500"/>
                            </p:stCondLst>
                            <p:childTnLst>
                              <p:par>
                                <p:cTn id="19" presetID="22" presetClass="entr" presetSubtype="8" fill="hold" grpId="0" nodeType="afterEffect">
                                  <p:stCondLst>
                                    <p:cond delay="0"/>
                                  </p:stCondLst>
                                  <p:childTnLst>
                                    <p:set>
                                      <p:cBhvr>
                                        <p:cTn id="20" dur="1" fill="hold">
                                          <p:stCondLst>
                                            <p:cond delay="0"/>
                                          </p:stCondLst>
                                        </p:cTn>
                                        <p:tgtEl>
                                          <p:spTgt spid="45066"/>
                                        </p:tgtEl>
                                        <p:attrNameLst>
                                          <p:attrName>style.visibility</p:attrName>
                                        </p:attrNameLst>
                                      </p:cBhvr>
                                      <p:to>
                                        <p:strVal val="visible"/>
                                      </p:to>
                                    </p:set>
                                    <p:animEffect transition="in" filter="wipe(left)">
                                      <p:cBhvr>
                                        <p:cTn id="21" dur="500"/>
                                        <p:tgtEl>
                                          <p:spTgt spid="45066"/>
                                        </p:tgtEl>
                                      </p:cBhvr>
                                    </p:animEffect>
                                  </p:childTnLst>
                                </p:cTn>
                              </p:par>
                            </p:childTnLst>
                          </p:cTn>
                        </p:par>
                        <p:par>
                          <p:cTn id="22" fill="hold">
                            <p:stCondLst>
                              <p:cond delay="1000"/>
                            </p:stCondLst>
                            <p:childTnLst>
                              <p:par>
                                <p:cTn id="23" presetID="9" presetClass="entr" presetSubtype="0" fill="hold" nodeType="afterEffect">
                                  <p:stCondLst>
                                    <p:cond delay="0"/>
                                  </p:stCondLst>
                                  <p:childTnLst>
                                    <p:set>
                                      <p:cBhvr>
                                        <p:cTn id="24" dur="1" fill="hold">
                                          <p:stCondLst>
                                            <p:cond delay="0"/>
                                          </p:stCondLst>
                                        </p:cTn>
                                        <p:tgtEl>
                                          <p:spTgt spid="45067"/>
                                        </p:tgtEl>
                                        <p:attrNameLst>
                                          <p:attrName>style.visibility</p:attrName>
                                        </p:attrNameLst>
                                      </p:cBhvr>
                                      <p:to>
                                        <p:strVal val="visible"/>
                                      </p:to>
                                    </p:set>
                                    <p:animEffect transition="in" filter="dissolve">
                                      <p:cBhvr>
                                        <p:cTn id="25" dur="500"/>
                                        <p:tgtEl>
                                          <p:spTgt spid="45067"/>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45069"/>
                                        </p:tgtEl>
                                        <p:attrNameLst>
                                          <p:attrName>style.visibility</p:attrName>
                                        </p:attrNameLst>
                                      </p:cBhvr>
                                      <p:to>
                                        <p:strVal val="visible"/>
                                      </p:to>
                                    </p:set>
                                    <p:animEffect transition="in" filter="wipe(left)">
                                      <p:cBhvr>
                                        <p:cTn id="30" dur="500"/>
                                        <p:tgtEl>
                                          <p:spTgt spid="45069"/>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45070"/>
                                        </p:tgtEl>
                                        <p:attrNameLst>
                                          <p:attrName>style.visibility</p:attrName>
                                        </p:attrNameLst>
                                      </p:cBhvr>
                                      <p:to>
                                        <p:strVal val="visible"/>
                                      </p:to>
                                    </p:set>
                                    <p:animEffect transition="in" filter="wipe(left)">
                                      <p:cBhvr>
                                        <p:cTn id="35" dur="500"/>
                                        <p:tgtEl>
                                          <p:spTgt spid="45070"/>
                                        </p:tgtEl>
                                      </p:cBhvr>
                                    </p:animEffect>
                                  </p:childTnLst>
                                </p:cTn>
                              </p:par>
                            </p:childTnLst>
                          </p:cTn>
                        </p:par>
                        <p:par>
                          <p:cTn id="36" fill="hold">
                            <p:stCondLst>
                              <p:cond delay="500"/>
                            </p:stCondLst>
                            <p:childTnLst>
                              <p:par>
                                <p:cTn id="37" presetID="1" presetClass="entr" presetSubtype="0" fill="hold" nodeType="afterEffect">
                                  <p:stCondLst>
                                    <p:cond delay="0"/>
                                  </p:stCondLst>
                                  <p:childTnLst>
                                    <p:set>
                                      <p:cBhvr>
                                        <p:cTn id="38" dur="1" fill="hold">
                                          <p:stCondLst>
                                            <p:cond delay="499"/>
                                          </p:stCondLst>
                                        </p:cTn>
                                        <p:tgtEl>
                                          <p:spTgt spid="45071"/>
                                        </p:tgtEl>
                                        <p:attrNameLst>
                                          <p:attrName>style.visibility</p:attrName>
                                        </p:attrNameLst>
                                      </p:cBhvr>
                                      <p:to>
                                        <p:strVal val="visible"/>
                                      </p:to>
                                    </p:set>
                                  </p:childTnLst>
                                </p:cTn>
                              </p:par>
                            </p:childTnLst>
                          </p:cTn>
                        </p:par>
                        <p:par>
                          <p:cTn id="39" fill="hold">
                            <p:stCondLst>
                              <p:cond delay="1000"/>
                            </p:stCondLst>
                            <p:childTnLst>
                              <p:par>
                                <p:cTn id="40" presetID="2" presetClass="entr" presetSubtype="8" fill="hold" nodeType="afterEffect">
                                  <p:stCondLst>
                                    <p:cond delay="0"/>
                                  </p:stCondLst>
                                  <p:childTnLst>
                                    <p:set>
                                      <p:cBhvr>
                                        <p:cTn id="41" dur="1" fill="hold">
                                          <p:stCondLst>
                                            <p:cond delay="0"/>
                                          </p:stCondLst>
                                        </p:cTn>
                                        <p:tgtEl>
                                          <p:spTgt spid="45073"/>
                                        </p:tgtEl>
                                        <p:attrNameLst>
                                          <p:attrName>style.visibility</p:attrName>
                                        </p:attrNameLst>
                                      </p:cBhvr>
                                      <p:to>
                                        <p:strVal val="visible"/>
                                      </p:to>
                                    </p:set>
                                    <p:anim calcmode="lin" valueType="num">
                                      <p:cBhvr additive="base">
                                        <p:cTn id="42" dur="500" fill="hold"/>
                                        <p:tgtEl>
                                          <p:spTgt spid="45073"/>
                                        </p:tgtEl>
                                        <p:attrNameLst>
                                          <p:attrName>ppt_x</p:attrName>
                                        </p:attrNameLst>
                                      </p:cBhvr>
                                      <p:tavLst>
                                        <p:tav tm="0">
                                          <p:val>
                                            <p:strVal val="0-#ppt_w/2"/>
                                          </p:val>
                                        </p:tav>
                                        <p:tav tm="100000">
                                          <p:val>
                                            <p:strVal val="#ppt_x"/>
                                          </p:val>
                                        </p:tav>
                                      </p:tavLst>
                                    </p:anim>
                                    <p:anim calcmode="lin" valueType="num">
                                      <p:cBhvr additive="base">
                                        <p:cTn id="43" dur="500" fill="hold"/>
                                        <p:tgtEl>
                                          <p:spTgt spid="4507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61" grpId="0" autoUpdateAnimBg="0"/>
      <p:bldP spid="45062" grpId="0" autoUpdateAnimBg="0"/>
      <p:bldP spid="45063" grpId="0" autoUpdateAnimBg="0"/>
      <p:bldP spid="45066" grpId="0" autoUpdateAnimBg="0"/>
      <p:bldP spid="45069" grpId="0" autoUpdateAnimBg="0"/>
      <p:bldP spid="45070" grpId="0" autoUpdateAnimBg="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2800" smtClean="0">
                <a:solidFill>
                  <a:srgbClr val="CC3300"/>
                </a:solidFill>
                <a:ea typeface="华文中宋" panose="02010600040101010101" pitchFamily="2" charset="-122"/>
              </a:rPr>
              <a:t>拟定轴上零件的装配方案</a:t>
            </a:r>
            <a:endParaRPr lang="zh-CN" altLang="en-US" sz="2800" smtClean="0">
              <a:solidFill>
                <a:srgbClr val="CC3300"/>
              </a:solidFill>
              <a:ea typeface="华文中宋" panose="02010600040101010101" pitchFamily="2" charset="-122"/>
            </a:endParaRPr>
          </a:p>
        </p:txBody>
      </p:sp>
      <p:pic>
        <p:nvPicPr>
          <p:cNvPr id="36867" name="Picture 6"/>
          <p:cNvPicPr>
            <a:picLocks noChangeAspect="1" noChangeArrowheads="1"/>
          </p:cNvPicPr>
          <p:nvPr/>
        </p:nvPicPr>
        <p:blipFill>
          <a:blip r:embed="rId1" cstate="print">
            <a:extLst>
              <a:ext uri="{28A0092B-C50C-407E-A947-70E740481C1C}">
                <a14:useLocalDpi xmlns:a14="http://schemas.microsoft.com/office/drawing/2010/main" val="0"/>
              </a:ext>
            </a:extLst>
          </a:blip>
          <a:srcRect b="32317"/>
          <a:stretch>
            <a:fillRect/>
          </a:stretch>
        </p:blipFill>
        <p:spPr bwMode="auto">
          <a:xfrm>
            <a:off x="1621864" y="943033"/>
            <a:ext cx="5770562" cy="552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68" name="矩形 5"/>
          <p:cNvSpPr>
            <a:spLocks noChangeArrowheads="1"/>
          </p:cNvSpPr>
          <p:nvPr/>
        </p:nvSpPr>
        <p:spPr bwMode="auto">
          <a:xfrm>
            <a:off x="8147050" y="6289675"/>
            <a:ext cx="6985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zh-CN" altLang="en-US">
                <a:hlinkClick r:id="rId2" action="ppaction://hlinksldjump"/>
              </a:rPr>
              <a:t>返回</a:t>
            </a:r>
            <a:endParaRPr lang="zh-CN" altLang="en-US"/>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4" name="Rectangle 2"/>
          <p:cNvSpPr>
            <a:spLocks noGrp="1" noChangeArrowheads="1"/>
          </p:cNvSpPr>
          <p:nvPr>
            <p:ph type="title"/>
          </p:nvPr>
        </p:nvSpPr>
        <p:spPr bwMode="auto">
          <a:xfrm>
            <a:off x="508000" y="0"/>
            <a:ext cx="8229600" cy="5889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2400" smtClean="0">
                <a:solidFill>
                  <a:srgbClr val="CC3300"/>
                </a:solidFill>
                <a:ea typeface="华文中宋" panose="02010600040101010101" pitchFamily="2" charset="-122"/>
              </a:rPr>
              <a:t>轴上零件轴向定位和固定方法</a:t>
            </a:r>
            <a:endParaRPr lang="zh-CN" altLang="en-US" sz="2400" smtClean="0">
              <a:solidFill>
                <a:srgbClr val="CC3300"/>
              </a:solidFill>
              <a:ea typeface="华文中宋" panose="02010600040101010101" pitchFamily="2" charset="-122"/>
            </a:endParaRPr>
          </a:p>
        </p:txBody>
      </p:sp>
      <p:sp>
        <p:nvSpPr>
          <p:cNvPr id="12295" name="矩形 22"/>
          <p:cNvSpPr>
            <a:spLocks noChangeArrowheads="1"/>
          </p:cNvSpPr>
          <p:nvPr/>
        </p:nvSpPr>
        <p:spPr bwMode="auto">
          <a:xfrm>
            <a:off x="333375" y="612775"/>
            <a:ext cx="16589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a:t>1.</a:t>
            </a:r>
            <a:r>
              <a:rPr lang="zh-CN" altLang="en-US"/>
              <a:t>轴肩和轴环</a:t>
            </a:r>
            <a:endParaRPr lang="zh-CN" altLang="en-US"/>
          </a:p>
        </p:txBody>
      </p:sp>
      <p:pic>
        <p:nvPicPr>
          <p:cNvPr id="14344" name="Picture 25"/>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6667500" y="701675"/>
            <a:ext cx="2476500" cy="2085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2290" name="Object 30"/>
          <p:cNvGraphicFramePr>
            <a:graphicFrameLocks noChangeAspect="1"/>
          </p:cNvGraphicFramePr>
          <p:nvPr/>
        </p:nvGraphicFramePr>
        <p:xfrm>
          <a:off x="3467100" y="1873250"/>
          <a:ext cx="812800" cy="238125"/>
        </p:xfrm>
        <a:graphic>
          <a:graphicData uri="http://schemas.openxmlformats.org/presentationml/2006/ole">
            <mc:AlternateContent xmlns:mc="http://schemas.openxmlformats.org/markup-compatibility/2006">
              <mc:Choice xmlns:v="urn:schemas-microsoft-com:vml" Requires="v">
                <p:oleObj spid="_x0000_s12513" name="公式" r:id="rId2" imgW="621665" imgH="177800" progId="Equation.3">
                  <p:embed/>
                </p:oleObj>
              </mc:Choice>
              <mc:Fallback>
                <p:oleObj name="公式" r:id="rId2" imgW="621665" imgH="177800" progId="Equation.3">
                  <p:embed/>
                  <p:pic>
                    <p:nvPicPr>
                      <p:cNvPr id="0" name="Object 3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67100" y="1873250"/>
                        <a:ext cx="812800" cy="238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291" name="Object 29"/>
          <p:cNvGraphicFramePr>
            <a:graphicFrameLocks noChangeAspect="1"/>
          </p:cNvGraphicFramePr>
          <p:nvPr/>
        </p:nvGraphicFramePr>
        <p:xfrm>
          <a:off x="2209800" y="1831975"/>
          <a:ext cx="901700" cy="276225"/>
        </p:xfrm>
        <a:graphic>
          <a:graphicData uri="http://schemas.openxmlformats.org/presentationml/2006/ole">
            <mc:AlternateContent xmlns:mc="http://schemas.openxmlformats.org/markup-compatibility/2006">
              <mc:Choice xmlns:v="urn:schemas-microsoft-com:vml" Requires="v">
                <p:oleObj spid="_x0000_s12514" name="公式" r:id="rId4" imgW="583565" imgH="177800" progId="Equation.3">
                  <p:embed/>
                </p:oleObj>
              </mc:Choice>
              <mc:Fallback>
                <p:oleObj name="公式" r:id="rId4" imgW="583565" imgH="177800" progId="Equation.3">
                  <p:embed/>
                  <p:pic>
                    <p:nvPicPr>
                      <p:cNvPr id="0" name="Object 2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09800" y="1831975"/>
                        <a:ext cx="901700" cy="276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292" name="Object 28"/>
          <p:cNvGraphicFramePr>
            <a:graphicFrameLocks noChangeAspect="1"/>
          </p:cNvGraphicFramePr>
          <p:nvPr/>
        </p:nvGraphicFramePr>
        <p:xfrm>
          <a:off x="2857500" y="2298700"/>
          <a:ext cx="1544638" cy="314325"/>
        </p:xfrm>
        <a:graphic>
          <a:graphicData uri="http://schemas.openxmlformats.org/presentationml/2006/ole">
            <mc:AlternateContent xmlns:mc="http://schemas.openxmlformats.org/markup-compatibility/2006">
              <mc:Choice xmlns:v="urn:schemas-microsoft-com:vml" Requires="v">
                <p:oleObj spid="_x0000_s12515" name="公式" r:id="rId6" imgW="1078865" imgH="215900" progId="Equation.3">
                  <p:embed/>
                </p:oleObj>
              </mc:Choice>
              <mc:Fallback>
                <p:oleObj name="公式" r:id="rId6" imgW="1078865" imgH="215900" progId="Equation.3">
                  <p:embed/>
                  <p:pic>
                    <p:nvPicPr>
                      <p:cNvPr id="0" name="Object 2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57500" y="2298700"/>
                        <a:ext cx="1544638" cy="314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293" name="Object 26"/>
          <p:cNvGraphicFramePr>
            <a:graphicFrameLocks noChangeAspect="1"/>
          </p:cNvGraphicFramePr>
          <p:nvPr/>
        </p:nvGraphicFramePr>
        <p:xfrm>
          <a:off x="5803900" y="2324100"/>
          <a:ext cx="757238" cy="257175"/>
        </p:xfrm>
        <a:graphic>
          <a:graphicData uri="http://schemas.openxmlformats.org/presentationml/2006/ole">
            <mc:AlternateContent xmlns:mc="http://schemas.openxmlformats.org/markup-compatibility/2006">
              <mc:Choice xmlns:v="urn:schemas-microsoft-com:vml" Requires="v">
                <p:oleObj spid="_x0000_s12516" name="公式" r:id="rId8" imgW="532765" imgH="177800" progId="Equation.3">
                  <p:embed/>
                </p:oleObj>
              </mc:Choice>
              <mc:Fallback>
                <p:oleObj name="公式" r:id="rId8" imgW="532765" imgH="177800" progId="Equation.3">
                  <p:embed/>
                  <p:pic>
                    <p:nvPicPr>
                      <p:cNvPr id="0" name="Object 2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803900" y="2324100"/>
                        <a:ext cx="757238" cy="257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297" name="Rectangle 44"/>
          <p:cNvSpPr>
            <a:spLocks noChangeArrowheads="1"/>
          </p:cNvSpPr>
          <p:nvPr/>
        </p:nvSpPr>
        <p:spPr bwMode="auto">
          <a:xfrm>
            <a:off x="0" y="24669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zh-CN" altLang="zh-CN" sz="800">
                <a:solidFill>
                  <a:schemeClr val="tx1"/>
                </a:solidFill>
                <a:ea typeface="宋体" panose="02010600030101010101" pitchFamily="2" charset="-122"/>
              </a:rPr>
              <a:t> </a:t>
            </a:r>
            <a:endParaRPr lang="zh-CN" altLang="zh-CN" sz="2400">
              <a:solidFill>
                <a:schemeClr val="tx1"/>
              </a:solidFill>
              <a:ea typeface="宋体" panose="02010600030101010101" pitchFamily="2" charset="-122"/>
            </a:endParaRPr>
          </a:p>
        </p:txBody>
      </p:sp>
      <p:sp>
        <p:nvSpPr>
          <p:cNvPr id="12298" name="矩形 43"/>
          <p:cNvSpPr>
            <a:spLocks noChangeArrowheads="1"/>
          </p:cNvSpPr>
          <p:nvPr/>
        </p:nvSpPr>
        <p:spPr bwMode="auto">
          <a:xfrm>
            <a:off x="304800" y="963613"/>
            <a:ext cx="6299200" cy="1211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25000"/>
              </a:lnSpc>
            </a:pPr>
            <a:r>
              <a:rPr lang="zh-CN" altLang="en-US"/>
              <a:t>        由定位面和过渡圆角组成，结构简单可靠，能承受较大的轴向力，应用广泛。为使零件端面与轴肩贴合，应满足如下关系               或</a:t>
            </a:r>
            <a:endParaRPr lang="zh-CN" altLang="en-US"/>
          </a:p>
        </p:txBody>
      </p:sp>
      <p:sp>
        <p:nvSpPr>
          <p:cNvPr id="14348" name="矩形 45"/>
          <p:cNvSpPr>
            <a:spLocks noChangeArrowheads="1"/>
          </p:cNvSpPr>
          <p:nvPr/>
        </p:nvSpPr>
        <p:spPr bwMode="auto">
          <a:xfrm>
            <a:off x="393700" y="2670175"/>
            <a:ext cx="9540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a:t>2.</a:t>
            </a:r>
            <a:r>
              <a:rPr lang="zh-CN" altLang="en-US"/>
              <a:t>套 筒</a:t>
            </a:r>
            <a:endParaRPr lang="zh-CN" altLang="en-US"/>
          </a:p>
        </p:txBody>
      </p:sp>
      <p:pic>
        <p:nvPicPr>
          <p:cNvPr id="14349" name="Picture 45"/>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858000" y="3325813"/>
            <a:ext cx="1927225"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50" name="矩形 47"/>
          <p:cNvSpPr>
            <a:spLocks noChangeArrowheads="1"/>
          </p:cNvSpPr>
          <p:nvPr/>
        </p:nvSpPr>
        <p:spPr bwMode="auto">
          <a:xfrm>
            <a:off x="355600" y="3046413"/>
            <a:ext cx="6134100" cy="1246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25000"/>
              </a:lnSpc>
            </a:pPr>
            <a:r>
              <a:rPr lang="zh-CN" altLang="en-US" dirty="0"/>
              <a:t>        工作可靠，可承受较大的轴向力；用于轴上两零件之间的相对固定和定位；避免套筒轴向尺寸过大。套筒与轴常采用间隙配合。</a:t>
            </a:r>
            <a:endParaRPr lang="zh-CN" altLang="en-US" dirty="0"/>
          </a:p>
        </p:txBody>
      </p:sp>
      <p:pic>
        <p:nvPicPr>
          <p:cNvPr id="14351" name="Picture 46"/>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173038" y="4508500"/>
            <a:ext cx="2081212" cy="194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52" name="Picture 47"/>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2387600" y="4522788"/>
            <a:ext cx="2209800" cy="1941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53" name="Picture 48"/>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4686300" y="5064125"/>
            <a:ext cx="1862138" cy="94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54" name="Picture 49"/>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6692900" y="4968875"/>
            <a:ext cx="2119313" cy="117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55" name="矩形 52"/>
          <p:cNvSpPr>
            <a:spLocks noChangeArrowheads="1"/>
          </p:cNvSpPr>
          <p:nvPr/>
        </p:nvSpPr>
        <p:spPr bwMode="auto">
          <a:xfrm>
            <a:off x="588963" y="6457950"/>
            <a:ext cx="11080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zh-CN" altLang="en-US" sz="1800"/>
              <a:t>轴端挡圈</a:t>
            </a:r>
            <a:endParaRPr lang="zh-CN" altLang="en-US" sz="1800"/>
          </a:p>
        </p:txBody>
      </p:sp>
      <p:sp>
        <p:nvSpPr>
          <p:cNvPr id="14356" name="矩形 53"/>
          <p:cNvSpPr>
            <a:spLocks noChangeArrowheads="1"/>
          </p:cNvSpPr>
          <p:nvPr/>
        </p:nvSpPr>
        <p:spPr bwMode="auto">
          <a:xfrm>
            <a:off x="2841625" y="6457950"/>
            <a:ext cx="11080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zh-CN" altLang="en-US" sz="1800"/>
              <a:t>锁紧挡圈</a:t>
            </a:r>
            <a:endParaRPr lang="zh-CN" altLang="en-US" sz="1800"/>
          </a:p>
        </p:txBody>
      </p:sp>
      <p:sp>
        <p:nvSpPr>
          <p:cNvPr id="14357" name="矩形 54"/>
          <p:cNvSpPr>
            <a:spLocks noChangeArrowheads="1"/>
          </p:cNvSpPr>
          <p:nvPr/>
        </p:nvSpPr>
        <p:spPr bwMode="auto">
          <a:xfrm>
            <a:off x="5148263" y="6457950"/>
            <a:ext cx="8778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zh-CN" altLang="en-US" sz="1800" dirty="0"/>
              <a:t>圆螺母</a:t>
            </a:r>
            <a:endParaRPr lang="zh-CN" altLang="en-US" sz="1800" dirty="0"/>
          </a:p>
        </p:txBody>
      </p:sp>
      <p:sp>
        <p:nvSpPr>
          <p:cNvPr id="14358" name="矩形 55"/>
          <p:cNvSpPr>
            <a:spLocks noChangeArrowheads="1"/>
          </p:cNvSpPr>
          <p:nvPr/>
        </p:nvSpPr>
        <p:spPr bwMode="auto">
          <a:xfrm>
            <a:off x="7058025" y="6488113"/>
            <a:ext cx="11080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zh-CN" altLang="en-US" sz="1800"/>
              <a:t>弹性挡圈</a:t>
            </a:r>
            <a:endParaRPr lang="zh-CN" altLang="en-US" sz="1800"/>
          </a:p>
        </p:txBody>
      </p:sp>
      <p:sp>
        <p:nvSpPr>
          <p:cNvPr id="14359" name="矩形 56"/>
          <p:cNvSpPr>
            <a:spLocks noChangeArrowheads="1"/>
          </p:cNvSpPr>
          <p:nvPr/>
        </p:nvSpPr>
        <p:spPr bwMode="auto">
          <a:xfrm>
            <a:off x="8447088" y="6264275"/>
            <a:ext cx="6969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zh-CN" altLang="en-US">
                <a:hlinkClick r:id="rId15" action="ppaction://hlinksldjump"/>
              </a:rPr>
              <a:t>返回</a:t>
            </a:r>
            <a:endParaRPr lang="zh-CN" altLang="en-US"/>
          </a:p>
        </p:txBody>
      </p:sp>
      <p:sp>
        <p:nvSpPr>
          <p:cNvPr id="24" name="矩形 22"/>
          <p:cNvSpPr>
            <a:spLocks noChangeArrowheads="1"/>
          </p:cNvSpPr>
          <p:nvPr/>
        </p:nvSpPr>
        <p:spPr bwMode="auto">
          <a:xfrm>
            <a:off x="7140575" y="2771775"/>
            <a:ext cx="13382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zh-CN" altLang="en-US" sz="1800"/>
              <a:t>轴肩和轴环</a:t>
            </a:r>
            <a:endParaRPr lang="zh-CN" altLang="en-US" sz="1800"/>
          </a:p>
        </p:txBody>
      </p:sp>
      <p:sp>
        <p:nvSpPr>
          <p:cNvPr id="25" name="矩形 45"/>
          <p:cNvSpPr>
            <a:spLocks noChangeArrowheads="1"/>
          </p:cNvSpPr>
          <p:nvPr/>
        </p:nvSpPr>
        <p:spPr bwMode="auto">
          <a:xfrm>
            <a:off x="7366000" y="4194175"/>
            <a:ext cx="7032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zh-CN" altLang="en-US" sz="1800"/>
              <a:t>套 筒</a:t>
            </a:r>
            <a:endParaRPr lang="zh-CN" altLang="en-US" sz="1800"/>
          </a:p>
        </p:txBody>
      </p:sp>
      <p:sp>
        <p:nvSpPr>
          <p:cNvPr id="12313" name="矩形 44"/>
          <p:cNvSpPr>
            <a:spLocks noChangeArrowheads="1"/>
          </p:cNvSpPr>
          <p:nvPr/>
        </p:nvSpPr>
        <p:spPr bwMode="auto">
          <a:xfrm>
            <a:off x="419100" y="2225675"/>
            <a:ext cx="6172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zh-CN" altLang="en-US" dirty="0"/>
              <a:t>        一般取轴肩高度                          ，轴环宽度</a:t>
            </a:r>
            <a:endParaRPr lang="zh-CN" altLang="en-US" dirty="0"/>
          </a:p>
        </p:txBody>
      </p:sp>
      <p:sp>
        <p:nvSpPr>
          <p:cNvPr id="12314" name="直接连接符 6"/>
          <p:cNvSpPr>
            <a:spLocks noChangeShapeType="1"/>
          </p:cNvSpPr>
          <p:nvPr/>
        </p:nvSpPr>
        <p:spPr bwMode="auto">
          <a:xfrm>
            <a:off x="0" y="6000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14344"/>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24"/>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14348"/>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4350"/>
                                        </p:tgtEl>
                                        <p:attrNameLst>
                                          <p:attrName>style.visibility</p:attrName>
                                        </p:attrNameLst>
                                      </p:cBhvr>
                                      <p:to>
                                        <p:strVal val="visible"/>
                                      </p:to>
                                    </p:set>
                                  </p:childTnLst>
                                </p:cTn>
                              </p:par>
                            </p:childTnLst>
                          </p:cTn>
                        </p:par>
                        <p:par>
                          <p:cTn id="18" fill="hold">
                            <p:stCondLst>
                              <p:cond delay="0"/>
                            </p:stCondLst>
                            <p:childTnLst>
                              <p:par>
                                <p:cTn id="19" presetID="1" presetClass="entr" presetSubtype="0" fill="hold" nodeType="afterEffect">
                                  <p:stCondLst>
                                    <p:cond delay="0"/>
                                  </p:stCondLst>
                                  <p:childTnLst>
                                    <p:set>
                                      <p:cBhvr>
                                        <p:cTn id="20" dur="1" fill="hold">
                                          <p:stCondLst>
                                            <p:cond delay="0"/>
                                          </p:stCondLst>
                                        </p:cTn>
                                        <p:tgtEl>
                                          <p:spTgt spid="14349"/>
                                        </p:tgtEl>
                                        <p:attrNameLst>
                                          <p:attrName>style.visibility</p:attrName>
                                        </p:attrNameLst>
                                      </p:cBhvr>
                                      <p:to>
                                        <p:strVal val="visible"/>
                                      </p:to>
                                    </p:set>
                                  </p:childTnLst>
                                </p:cTn>
                              </p:par>
                            </p:childTnLst>
                          </p:cTn>
                        </p:par>
                        <p:par>
                          <p:cTn id="21" fill="hold">
                            <p:stCondLst>
                              <p:cond delay="0"/>
                            </p:stCondLst>
                            <p:childTnLst>
                              <p:par>
                                <p:cTn id="22" presetID="1" presetClass="entr" presetSubtype="0" fill="hold" grpId="0" nodeType="afterEffect">
                                  <p:stCondLst>
                                    <p:cond delay="0"/>
                                  </p:stCondLst>
                                  <p:childTnLst>
                                    <p:set>
                                      <p:cBhvr>
                                        <p:cTn id="23" dur="1" fill="hold">
                                          <p:stCondLst>
                                            <p:cond delay="0"/>
                                          </p:stCondLst>
                                        </p:cTn>
                                        <p:tgtEl>
                                          <p:spTgt spid="25"/>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14351"/>
                                        </p:tgtEl>
                                        <p:attrNameLst>
                                          <p:attrName>style.visibility</p:attrName>
                                        </p:attrNameLst>
                                      </p:cBhvr>
                                      <p:to>
                                        <p:strVal val="visible"/>
                                      </p:to>
                                    </p:set>
                                  </p:childTnLst>
                                </p:cTn>
                              </p:par>
                            </p:childTnLst>
                          </p:cTn>
                        </p:par>
                        <p:par>
                          <p:cTn id="28" fill="hold">
                            <p:stCondLst>
                              <p:cond delay="0"/>
                            </p:stCondLst>
                            <p:childTnLst>
                              <p:par>
                                <p:cTn id="29" presetID="1" presetClass="entr" presetSubtype="0" fill="hold" grpId="0" nodeType="afterEffect">
                                  <p:stCondLst>
                                    <p:cond delay="0"/>
                                  </p:stCondLst>
                                  <p:childTnLst>
                                    <p:set>
                                      <p:cBhvr>
                                        <p:cTn id="30" dur="1" fill="hold">
                                          <p:stCondLst>
                                            <p:cond delay="0"/>
                                          </p:stCondLst>
                                        </p:cTn>
                                        <p:tgtEl>
                                          <p:spTgt spid="1435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4352"/>
                                        </p:tgtEl>
                                        <p:attrNameLst>
                                          <p:attrName>style.visibility</p:attrName>
                                        </p:attrNameLst>
                                      </p:cBhvr>
                                      <p:to>
                                        <p:strVal val="visible"/>
                                      </p:to>
                                    </p:set>
                                  </p:childTnLst>
                                </p:cTn>
                              </p:par>
                            </p:childTnLst>
                          </p:cTn>
                        </p:par>
                        <p:par>
                          <p:cTn id="35" fill="hold">
                            <p:stCondLst>
                              <p:cond delay="0"/>
                            </p:stCondLst>
                            <p:childTnLst>
                              <p:par>
                                <p:cTn id="36" presetID="1" presetClass="entr" presetSubtype="0" fill="hold" grpId="0" nodeType="afterEffect">
                                  <p:stCondLst>
                                    <p:cond delay="0"/>
                                  </p:stCondLst>
                                  <p:childTnLst>
                                    <p:set>
                                      <p:cBhvr>
                                        <p:cTn id="37" dur="1" fill="hold">
                                          <p:stCondLst>
                                            <p:cond delay="0"/>
                                          </p:stCondLst>
                                        </p:cTn>
                                        <p:tgtEl>
                                          <p:spTgt spid="14356"/>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14353"/>
                                        </p:tgtEl>
                                        <p:attrNameLst>
                                          <p:attrName>style.visibility</p:attrName>
                                        </p:attrNameLst>
                                      </p:cBhvr>
                                      <p:to>
                                        <p:strVal val="visible"/>
                                      </p:to>
                                    </p:set>
                                  </p:childTnLst>
                                </p:cTn>
                              </p:par>
                            </p:childTnLst>
                          </p:cTn>
                        </p:par>
                        <p:par>
                          <p:cTn id="42" fill="hold">
                            <p:stCondLst>
                              <p:cond delay="0"/>
                            </p:stCondLst>
                            <p:childTnLst>
                              <p:par>
                                <p:cTn id="43" presetID="1" presetClass="entr" presetSubtype="0" fill="hold" grpId="0" nodeType="afterEffect">
                                  <p:stCondLst>
                                    <p:cond delay="0"/>
                                  </p:stCondLst>
                                  <p:childTnLst>
                                    <p:set>
                                      <p:cBhvr>
                                        <p:cTn id="44" dur="1" fill="hold">
                                          <p:stCondLst>
                                            <p:cond delay="0"/>
                                          </p:stCondLst>
                                        </p:cTn>
                                        <p:tgtEl>
                                          <p:spTgt spid="14357"/>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4354"/>
                                        </p:tgtEl>
                                        <p:attrNameLst>
                                          <p:attrName>style.visibility</p:attrName>
                                        </p:attrNameLst>
                                      </p:cBhvr>
                                      <p:to>
                                        <p:strVal val="visible"/>
                                      </p:to>
                                    </p:set>
                                  </p:childTnLst>
                                </p:cTn>
                              </p:par>
                            </p:childTnLst>
                          </p:cTn>
                        </p:par>
                        <p:par>
                          <p:cTn id="49" fill="hold">
                            <p:stCondLst>
                              <p:cond delay="0"/>
                            </p:stCondLst>
                            <p:childTnLst>
                              <p:par>
                                <p:cTn id="50" presetID="1" presetClass="entr" presetSubtype="0" fill="hold" grpId="0" nodeType="afterEffect">
                                  <p:stCondLst>
                                    <p:cond delay="0"/>
                                  </p:stCondLst>
                                  <p:childTnLst>
                                    <p:set>
                                      <p:cBhvr>
                                        <p:cTn id="51" dur="1" fill="hold">
                                          <p:stCondLst>
                                            <p:cond delay="0"/>
                                          </p:stCondLst>
                                        </p:cTn>
                                        <p:tgtEl>
                                          <p:spTgt spid="14358"/>
                                        </p:tgtEl>
                                        <p:attrNameLst>
                                          <p:attrName>style.visibility</p:attrName>
                                        </p:attrNameLst>
                                      </p:cBhvr>
                                      <p:to>
                                        <p:strVal val="visible"/>
                                      </p:to>
                                    </p:set>
                                  </p:childTnLst>
                                </p:cTn>
                              </p:par>
                            </p:childTnLst>
                          </p:cTn>
                        </p:par>
                        <p:par>
                          <p:cTn id="52" fill="hold">
                            <p:stCondLst>
                              <p:cond delay="0"/>
                            </p:stCondLst>
                            <p:childTnLst>
                              <p:par>
                                <p:cTn id="53" presetID="1" presetClass="entr" presetSubtype="0" fill="hold" grpId="0" nodeType="afterEffect">
                                  <p:stCondLst>
                                    <p:cond delay="0"/>
                                  </p:stCondLst>
                                  <p:childTnLst>
                                    <p:set>
                                      <p:cBhvr>
                                        <p:cTn id="54" dur="1" fill="hold">
                                          <p:stCondLst>
                                            <p:cond delay="0"/>
                                          </p:stCondLst>
                                        </p:cTn>
                                        <p:tgtEl>
                                          <p:spTgt spid="143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8" grpId="0"/>
      <p:bldP spid="14350" grpId="0"/>
      <p:bldP spid="14355" grpId="0"/>
      <p:bldP spid="14356" grpId="0"/>
      <p:bldP spid="14357" grpId="0"/>
      <p:bldP spid="14358" grpId="0"/>
      <p:bldP spid="14359" grpId="0"/>
      <p:bldP spid="24" grpId="0"/>
      <p:bldP spid="25"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9" name="Rectangle 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endParaRPr lang="zh-CN" altLang="en-US"/>
          </a:p>
        </p:txBody>
      </p:sp>
      <p:graphicFrame>
        <p:nvGraphicFramePr>
          <p:cNvPr id="8" name="表格 7"/>
          <p:cNvGraphicFramePr>
            <a:graphicFrameLocks noGrp="1"/>
          </p:cNvGraphicFramePr>
          <p:nvPr>
            <p:custDataLst>
              <p:tags r:id="rId1"/>
            </p:custDataLst>
          </p:nvPr>
        </p:nvGraphicFramePr>
        <p:xfrm>
          <a:off x="723900" y="2562132"/>
          <a:ext cx="8103228" cy="1759044"/>
        </p:xfrm>
        <a:graphic>
          <a:graphicData uri="http://schemas.openxmlformats.org/drawingml/2006/table">
            <a:tbl>
              <a:tblPr/>
              <a:tblGrid>
                <a:gridCol w="1419028"/>
                <a:gridCol w="1253689"/>
                <a:gridCol w="1252084"/>
                <a:gridCol w="974377"/>
                <a:gridCol w="3204050"/>
              </a:tblGrid>
              <a:tr h="586348">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600" b="0" i="0" u="none" strike="noStrike" cap="none" normalizeH="0" baseline="0" dirty="0" smtClean="0">
                          <a:ln>
                            <a:noFill/>
                          </a:ln>
                          <a:solidFill>
                            <a:srgbClr val="000099"/>
                          </a:solidFill>
                          <a:effectLst/>
                          <a:latin typeface="华文中宋" panose="02010600040101010101" pitchFamily="2" charset="-122"/>
                          <a:ea typeface="宋体" panose="02010600030101010101" pitchFamily="2" charset="-122"/>
                        </a:rPr>
                        <a:t>轴的材料</a:t>
                      </a:r>
                      <a:endParaRPr kumimoji="0" lang="zh-CN" sz="1600" b="0" i="0" u="none" strike="noStrike" cap="none" normalizeH="0" baseline="0" dirty="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anchor="ctr" horzOverflow="overflow">
                    <a:lnL>
                      <a:noFill/>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99"/>
                          </a:solidFill>
                          <a:effectLst/>
                          <a:latin typeface="华文中宋" panose="02010600040101010101" pitchFamily="2" charset="-122"/>
                          <a:ea typeface="宋体" panose="02010600030101010101" pitchFamily="2" charset="-122"/>
                        </a:rPr>
                        <a:t>Q235</a:t>
                      </a:r>
                      <a:r>
                        <a:rPr kumimoji="0" lang="zh-CN" sz="1600" b="0" i="0" u="none" strike="noStrike" cap="none" normalizeH="0" baseline="0" smtClean="0">
                          <a:ln>
                            <a:noFill/>
                          </a:ln>
                          <a:solidFill>
                            <a:srgbClr val="000099"/>
                          </a:solidFill>
                          <a:effectLst/>
                          <a:latin typeface="华文中宋" panose="02010600040101010101" pitchFamily="2" charset="-122"/>
                          <a:ea typeface="宋体" panose="02010600030101010101" pitchFamily="2" charset="-122"/>
                        </a:rPr>
                        <a:t>、</a:t>
                      </a:r>
                      <a:r>
                        <a:rPr kumimoji="0" lang="en-US" altLang="zh-CN" sz="1600" b="0" i="0" u="none" strike="noStrike" cap="none" normalizeH="0" baseline="0" smtClean="0">
                          <a:ln>
                            <a:noFill/>
                          </a:ln>
                          <a:solidFill>
                            <a:srgbClr val="000099"/>
                          </a:solidFill>
                          <a:effectLst/>
                          <a:latin typeface="华文中宋" panose="02010600040101010101" pitchFamily="2" charset="-122"/>
                          <a:ea typeface="宋体" panose="02010600030101010101" pitchFamily="2" charset="-122"/>
                        </a:rPr>
                        <a:t>20</a:t>
                      </a:r>
                      <a:endParaRPr kumimoji="0" lang="zh-CN"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99"/>
                          </a:solidFill>
                          <a:effectLst/>
                          <a:latin typeface="华文中宋" panose="02010600040101010101" pitchFamily="2" charset="-122"/>
                          <a:ea typeface="宋体" panose="02010600030101010101" pitchFamily="2" charset="-122"/>
                        </a:rPr>
                        <a:t>Q275</a:t>
                      </a:r>
                      <a:r>
                        <a:rPr kumimoji="0" lang="zh-CN" sz="1600" b="0" i="0" u="none" strike="noStrike" cap="none" normalizeH="0" baseline="0" smtClean="0">
                          <a:ln>
                            <a:noFill/>
                          </a:ln>
                          <a:solidFill>
                            <a:srgbClr val="000099"/>
                          </a:solidFill>
                          <a:effectLst/>
                          <a:latin typeface="华文中宋" panose="02010600040101010101" pitchFamily="2" charset="-122"/>
                          <a:ea typeface="宋体" panose="02010600030101010101" pitchFamily="2" charset="-122"/>
                        </a:rPr>
                        <a:t>、</a:t>
                      </a:r>
                      <a:r>
                        <a:rPr kumimoji="0" lang="en-US" altLang="zh-CN" sz="1600" b="0" i="0" u="none" strike="noStrike" cap="none" normalizeH="0" baseline="0" smtClean="0">
                          <a:ln>
                            <a:noFill/>
                          </a:ln>
                          <a:solidFill>
                            <a:srgbClr val="000099"/>
                          </a:solidFill>
                          <a:effectLst/>
                          <a:latin typeface="华文中宋" panose="02010600040101010101" pitchFamily="2" charset="-122"/>
                          <a:ea typeface="宋体" panose="02010600030101010101" pitchFamily="2" charset="-122"/>
                        </a:rPr>
                        <a:t>35</a:t>
                      </a:r>
                      <a:endParaRPr kumimoji="0" lang="zh-CN"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2667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99"/>
                          </a:solidFill>
                          <a:effectLst/>
                          <a:latin typeface="华文中宋" panose="02010600040101010101" pitchFamily="2" charset="-122"/>
                          <a:ea typeface="宋体" panose="02010600030101010101" pitchFamily="2" charset="-122"/>
                        </a:rPr>
                        <a:t>45</a:t>
                      </a:r>
                      <a:endParaRPr kumimoji="0" lang="zh-CN"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smtClean="0">
                          <a:ln>
                            <a:noFill/>
                          </a:ln>
                          <a:solidFill>
                            <a:srgbClr val="000099"/>
                          </a:solidFill>
                          <a:effectLst/>
                          <a:latin typeface="华文中宋" panose="02010600040101010101" pitchFamily="2" charset="-122"/>
                          <a:ea typeface="宋体" panose="02010600030101010101" pitchFamily="2" charset="-122"/>
                        </a:rPr>
                        <a:t>40Cr</a:t>
                      </a:r>
                      <a:r>
                        <a:rPr kumimoji="0" lang="zh-CN" sz="1600" b="0" i="0" u="none" strike="noStrike" cap="none" normalizeH="0" baseline="0" dirty="0" smtClean="0">
                          <a:ln>
                            <a:noFill/>
                          </a:ln>
                          <a:solidFill>
                            <a:srgbClr val="000099"/>
                          </a:solidFill>
                          <a:effectLst/>
                          <a:latin typeface="华文中宋" panose="02010600040101010101" pitchFamily="2" charset="-122"/>
                          <a:ea typeface="宋体" panose="02010600030101010101" pitchFamily="2" charset="-122"/>
                        </a:rPr>
                        <a:t>、</a:t>
                      </a:r>
                      <a:r>
                        <a:rPr kumimoji="0" lang="en-US" altLang="zh-CN" sz="1600" b="0" i="0" u="none" strike="noStrike" cap="none" normalizeH="0" baseline="0" dirty="0" smtClean="0">
                          <a:ln>
                            <a:noFill/>
                          </a:ln>
                          <a:solidFill>
                            <a:srgbClr val="000099"/>
                          </a:solidFill>
                          <a:effectLst/>
                          <a:latin typeface="华文中宋" panose="02010600040101010101" pitchFamily="2" charset="-122"/>
                          <a:ea typeface="宋体" panose="02010600030101010101" pitchFamily="2" charset="-122"/>
                        </a:rPr>
                        <a:t>35SiMn</a:t>
                      </a:r>
                      <a:r>
                        <a:rPr kumimoji="0" lang="zh-CN" sz="1600" b="0" i="0" u="none" strike="noStrike" cap="none" normalizeH="0" baseline="0" dirty="0" smtClean="0">
                          <a:ln>
                            <a:noFill/>
                          </a:ln>
                          <a:solidFill>
                            <a:srgbClr val="000099"/>
                          </a:solidFill>
                          <a:effectLst/>
                          <a:latin typeface="华文中宋" panose="02010600040101010101" pitchFamily="2" charset="-122"/>
                          <a:ea typeface="宋体" panose="02010600030101010101" pitchFamily="2" charset="-122"/>
                        </a:rPr>
                        <a:t>、</a:t>
                      </a:r>
                      <a:r>
                        <a:rPr kumimoji="0" lang="en-US" altLang="zh-CN" sz="1600" b="0" i="0" u="none" strike="noStrike" cap="none" normalizeH="0" baseline="0" dirty="0" smtClean="0">
                          <a:ln>
                            <a:noFill/>
                          </a:ln>
                          <a:solidFill>
                            <a:srgbClr val="000099"/>
                          </a:solidFill>
                          <a:effectLst/>
                          <a:latin typeface="华文中宋" panose="02010600040101010101" pitchFamily="2" charset="-122"/>
                          <a:ea typeface="宋体" panose="02010600030101010101" pitchFamily="2" charset="-122"/>
                        </a:rPr>
                        <a:t>38SiMnMo</a:t>
                      </a:r>
                      <a:r>
                        <a:rPr kumimoji="0" lang="zh-CN" sz="1600" b="0" i="0" u="none" strike="noStrike" cap="none" normalizeH="0" baseline="0" dirty="0" smtClean="0">
                          <a:ln>
                            <a:noFill/>
                          </a:ln>
                          <a:solidFill>
                            <a:srgbClr val="000099"/>
                          </a:solidFill>
                          <a:effectLst/>
                          <a:latin typeface="华文中宋" panose="02010600040101010101" pitchFamily="2" charset="-122"/>
                          <a:ea typeface="宋体" panose="02010600030101010101" pitchFamily="2" charset="-122"/>
                        </a:rPr>
                        <a:t>、</a:t>
                      </a:r>
                      <a:r>
                        <a:rPr kumimoji="0" lang="en-US" altLang="zh-CN" sz="1600" b="0" i="0" u="none" strike="noStrike" cap="none" normalizeH="0" baseline="0" dirty="0" smtClean="0">
                          <a:ln>
                            <a:noFill/>
                          </a:ln>
                          <a:solidFill>
                            <a:srgbClr val="000099"/>
                          </a:solidFill>
                          <a:effectLst/>
                          <a:latin typeface="华文中宋" panose="02010600040101010101" pitchFamily="2" charset="-122"/>
                          <a:ea typeface="宋体" panose="02010600030101010101" pitchFamily="2" charset="-122"/>
                        </a:rPr>
                        <a:t>3Cr13</a:t>
                      </a:r>
                      <a:endParaRPr kumimoji="0" lang="zh-CN" altLang="zh-CN" sz="1600" b="0" i="0" u="none" strike="noStrike" cap="none" normalizeH="0" baseline="0" dirty="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86348">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99"/>
                          </a:solidFill>
                          <a:effectLst/>
                          <a:latin typeface="华文中宋" panose="02010600040101010101" pitchFamily="2" charset="-122"/>
                          <a:ea typeface="宋体" panose="02010600030101010101" pitchFamily="2" charset="-122"/>
                        </a:rPr>
                        <a:t>/MPa</a:t>
                      </a:r>
                      <a:endParaRPr kumimoji="0" lang="en-US" altLang="zh-CN" sz="1600" b="0" i="0" u="none" strike="noStrike" cap="none" normalizeH="0" baseline="0" smtClean="0">
                        <a:ln>
                          <a:noFill/>
                        </a:ln>
                        <a:solidFill>
                          <a:srgbClr val="000099"/>
                        </a:solidFill>
                        <a:effectLst/>
                        <a:latin typeface="华文中宋" panose="02010600040101010101" pitchFamily="2" charset="-122"/>
                        <a:ea typeface="宋体" panose="02010600030101010101" pitchFamily="2" charset="-122"/>
                      </a:endParaRPr>
                    </a:p>
                  </a:txBody>
                  <a:tcPr marL="68580" marR="68580" marT="0" marB="0" anchor="ct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13335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99"/>
                          </a:solidFill>
                          <a:effectLst/>
                          <a:latin typeface="华文中宋" panose="02010600040101010101" pitchFamily="2" charset="-122"/>
                          <a:ea typeface="宋体" panose="02010600030101010101" pitchFamily="2" charset="-122"/>
                        </a:rPr>
                        <a:t>15~25</a:t>
                      </a:r>
                      <a:endParaRPr kumimoji="0" lang="zh-CN"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13335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99"/>
                          </a:solidFill>
                          <a:effectLst/>
                          <a:latin typeface="华文中宋" panose="02010600040101010101" pitchFamily="2" charset="-122"/>
                          <a:ea typeface="宋体" panose="02010600030101010101" pitchFamily="2" charset="-122"/>
                        </a:rPr>
                        <a:t>20~35</a:t>
                      </a:r>
                      <a:endParaRPr kumimoji="0" lang="zh-CN"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13335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smtClean="0">
                          <a:ln>
                            <a:noFill/>
                          </a:ln>
                          <a:solidFill>
                            <a:srgbClr val="000099"/>
                          </a:solidFill>
                          <a:effectLst/>
                          <a:latin typeface="华文中宋" panose="02010600040101010101" pitchFamily="2" charset="-122"/>
                          <a:ea typeface="宋体" panose="02010600030101010101" pitchFamily="2" charset="-122"/>
                        </a:rPr>
                        <a:t>25~45</a:t>
                      </a:r>
                      <a:endParaRPr kumimoji="0" lang="zh-CN" altLang="zh-CN" sz="1600" b="0" i="0" u="none" strike="noStrike" cap="none" normalizeH="0" baseline="0" dirty="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8001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99"/>
                          </a:solidFill>
                          <a:effectLst/>
                          <a:latin typeface="华文中宋" panose="02010600040101010101" pitchFamily="2" charset="-122"/>
                          <a:ea typeface="宋体" panose="02010600030101010101" pitchFamily="2" charset="-122"/>
                        </a:rPr>
                        <a:t>35~55</a:t>
                      </a:r>
                      <a:endParaRPr kumimoji="0" lang="zh-CN"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86348">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/MPa</a:t>
                      </a:r>
                      <a:r>
                        <a:rPr kumimoji="0" lang="en-US" altLang="zh-CN" sz="1600" b="0" i="0" u="none" strike="noStrike" cap="none" normalizeH="0" baseline="30000" dirty="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-1/3</a:t>
                      </a:r>
                      <a:endParaRPr kumimoji="0" lang="zh-CN" altLang="zh-CN" sz="1600" b="0" i="0" u="none" strike="noStrike" cap="none" normalizeH="0" baseline="0" dirty="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anchor="ct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13335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smtClean="0">
                          <a:ln>
                            <a:noFill/>
                          </a:ln>
                          <a:solidFill>
                            <a:srgbClr val="000099"/>
                          </a:solidFill>
                          <a:effectLst/>
                          <a:latin typeface="华文中宋" panose="02010600040101010101" pitchFamily="2" charset="-122"/>
                          <a:ea typeface="宋体" panose="02010600030101010101" pitchFamily="2" charset="-122"/>
                        </a:rPr>
                        <a:t>149~126</a:t>
                      </a:r>
                      <a:endParaRPr kumimoji="0" lang="zh-CN" altLang="zh-CN" sz="1600" b="0" i="0" u="none" strike="noStrike" cap="none" normalizeH="0" baseline="0" dirty="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13335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smtClean="0">
                          <a:ln>
                            <a:noFill/>
                          </a:ln>
                          <a:solidFill>
                            <a:srgbClr val="000099"/>
                          </a:solidFill>
                          <a:effectLst/>
                          <a:latin typeface="华文中宋" panose="02010600040101010101" pitchFamily="2" charset="-122"/>
                          <a:ea typeface="宋体" panose="02010600030101010101" pitchFamily="2" charset="-122"/>
                        </a:rPr>
                        <a:t>135~112</a:t>
                      </a:r>
                      <a:endParaRPr kumimoji="0" lang="zh-CN" altLang="zh-CN" sz="1600" b="0" i="0" u="none" strike="noStrike" cap="none" normalizeH="0" baseline="0" dirty="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13335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99"/>
                          </a:solidFill>
                          <a:effectLst/>
                          <a:latin typeface="华文中宋" panose="02010600040101010101" pitchFamily="2" charset="-122"/>
                          <a:ea typeface="宋体" panose="02010600030101010101" pitchFamily="2" charset="-122"/>
                        </a:rPr>
                        <a:t>126~103</a:t>
                      </a:r>
                      <a:endParaRPr kumimoji="0" lang="zh-CN"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8001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smtClean="0">
                          <a:ln>
                            <a:noFill/>
                          </a:ln>
                          <a:solidFill>
                            <a:srgbClr val="000099"/>
                          </a:solidFill>
                          <a:effectLst/>
                          <a:latin typeface="华文中宋" panose="02010600040101010101" pitchFamily="2" charset="-122"/>
                          <a:ea typeface="宋体" panose="02010600030101010101" pitchFamily="2" charset="-122"/>
                        </a:rPr>
                        <a:t>112~97</a:t>
                      </a:r>
                      <a:endParaRPr kumimoji="0" lang="zh-CN" altLang="zh-CN" sz="1600" b="0" i="0" u="none" strike="noStrike" cap="none" normalizeH="0" baseline="0" dirty="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r>
            </a:tbl>
          </a:graphicData>
        </a:graphic>
      </p:graphicFrame>
      <p:graphicFrame>
        <p:nvGraphicFramePr>
          <p:cNvPr id="13315" name="Object 11"/>
          <p:cNvGraphicFramePr>
            <a:graphicFrameLocks noChangeAspect="1"/>
          </p:cNvGraphicFramePr>
          <p:nvPr/>
        </p:nvGraphicFramePr>
        <p:xfrm>
          <a:off x="819150" y="3244850"/>
          <a:ext cx="355600" cy="323850"/>
        </p:xfrm>
        <a:graphic>
          <a:graphicData uri="http://schemas.openxmlformats.org/presentationml/2006/ole">
            <mc:AlternateContent xmlns:mc="http://schemas.openxmlformats.org/markup-compatibility/2006">
              <mc:Choice xmlns:v="urn:schemas-microsoft-com:vml" Requires="v">
                <p:oleObj spid="_x0000_s13460" name="公式" r:id="rId2" imgW="6096000" imgH="5486400" progId="Equation.3">
                  <p:embed/>
                </p:oleObj>
              </mc:Choice>
              <mc:Fallback>
                <p:oleObj name="公式" r:id="rId2" imgW="6096000" imgH="5486400" progId="Equation.3">
                  <p:embed/>
                  <p:pic>
                    <p:nvPicPr>
                      <p:cNvPr id="0" name="Object 11"/>
                      <p:cNvPicPr>
                        <a:picLocks noChangeAspect="1" noChangeArrowheads="1"/>
                      </p:cNvPicPr>
                      <p:nvPr/>
                    </p:nvPicPr>
                    <p:blipFill>
                      <a:blip r:embed="rId3"/>
                      <a:srcRect/>
                      <a:stretch>
                        <a:fillRect/>
                      </a:stretch>
                    </p:blipFill>
                    <p:spPr bwMode="auto">
                      <a:xfrm>
                        <a:off x="819150" y="3244850"/>
                        <a:ext cx="355600" cy="323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316" name="Object 10"/>
          <p:cNvGraphicFramePr>
            <a:graphicFrameLocks noChangeAspect="1"/>
          </p:cNvGraphicFramePr>
          <p:nvPr/>
        </p:nvGraphicFramePr>
        <p:xfrm>
          <a:off x="819944" y="3906203"/>
          <a:ext cx="196850" cy="229870"/>
        </p:xfrm>
        <a:graphic>
          <a:graphicData uri="http://schemas.openxmlformats.org/presentationml/2006/ole">
            <mc:AlternateContent xmlns:mc="http://schemas.openxmlformats.org/markup-compatibility/2006">
              <mc:Choice xmlns:v="urn:schemas-microsoft-com:vml" Requires="v">
                <p:oleObj spid="_x0000_s13461" name="公式" r:id="rId4" imgW="152400" imgH="177165" progId="Equation.3">
                  <p:embed/>
                </p:oleObj>
              </mc:Choice>
              <mc:Fallback>
                <p:oleObj name="公式" r:id="rId4" imgW="152400" imgH="177165" progId="Equation.3">
                  <p:embed/>
                  <p:pic>
                    <p:nvPicPr>
                      <p:cNvPr id="0" name="Object 10"/>
                      <p:cNvPicPr>
                        <a:picLocks noChangeAspect="1" noChangeArrowheads="1"/>
                      </p:cNvPicPr>
                      <p:nvPr/>
                    </p:nvPicPr>
                    <p:blipFill>
                      <a:blip r:embed="rId5"/>
                      <a:srcRect/>
                      <a:stretch>
                        <a:fillRect/>
                      </a:stretch>
                    </p:blipFill>
                    <p:spPr bwMode="auto">
                      <a:xfrm>
                        <a:off x="819944" y="3906203"/>
                        <a:ext cx="196850" cy="22987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392" name="Rectangle 20"/>
          <p:cNvSpPr>
            <a:spLocks noChangeArrowheads="1"/>
          </p:cNvSpPr>
          <p:nvPr/>
        </p:nvSpPr>
        <p:spPr bwMode="auto">
          <a:xfrm>
            <a:off x="321272" y="4802235"/>
            <a:ext cx="8559800" cy="827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304800"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25000"/>
              </a:lnSpc>
            </a:pPr>
            <a:r>
              <a:rPr lang="zh-CN" altLang="en-US" dirty="0"/>
              <a:t>    按上式算出的轴径</a:t>
            </a:r>
            <a:r>
              <a:rPr lang="en-US" altLang="zh-CN" i="1" dirty="0"/>
              <a:t>d</a:t>
            </a:r>
            <a:r>
              <a:rPr lang="zh-CN" altLang="en-US" dirty="0"/>
              <a:t>，如果上面开有键槽，还要考虑键槽对轴强度的削弱影响（开一个键槽时</a:t>
            </a:r>
            <a:r>
              <a:rPr lang="en-US" altLang="zh-CN" i="1" dirty="0"/>
              <a:t>d </a:t>
            </a:r>
            <a:r>
              <a:rPr lang="zh-CN" altLang="en-US" dirty="0"/>
              <a:t>将增大</a:t>
            </a:r>
            <a:r>
              <a:rPr lang="en-US" altLang="zh-CN" dirty="0"/>
              <a:t>3%</a:t>
            </a:r>
            <a:r>
              <a:rPr lang="zh-CN" altLang="en-US" dirty="0"/>
              <a:t>～</a:t>
            </a:r>
            <a:r>
              <a:rPr lang="en-US" altLang="zh-CN" dirty="0"/>
              <a:t>5%</a:t>
            </a:r>
            <a:r>
              <a:rPr lang="zh-CN" altLang="en-US" dirty="0"/>
              <a:t>，开两个键槽时</a:t>
            </a:r>
            <a:r>
              <a:rPr lang="en-US" altLang="zh-CN" i="1" dirty="0"/>
              <a:t>d </a:t>
            </a:r>
            <a:r>
              <a:rPr lang="zh-CN" altLang="en-US" dirty="0"/>
              <a:t>增大</a:t>
            </a:r>
            <a:r>
              <a:rPr lang="en-US" altLang="zh-CN" dirty="0"/>
              <a:t>7%</a:t>
            </a:r>
            <a:r>
              <a:rPr lang="zh-CN" altLang="en-US" dirty="0"/>
              <a:t>～</a:t>
            </a:r>
            <a:r>
              <a:rPr lang="en-US" altLang="zh-CN" dirty="0"/>
              <a:t>10%</a:t>
            </a:r>
            <a:r>
              <a:rPr lang="zh-CN" altLang="en-US" dirty="0"/>
              <a:t>）。</a:t>
            </a:r>
            <a:endParaRPr lang="zh-CN" altLang="en-US" dirty="0"/>
          </a:p>
        </p:txBody>
      </p:sp>
      <p:sp>
        <p:nvSpPr>
          <p:cNvPr id="13345" name="矩形 24"/>
          <p:cNvSpPr>
            <a:spLocks noChangeArrowheads="1"/>
          </p:cNvSpPr>
          <p:nvPr/>
        </p:nvSpPr>
        <p:spPr bwMode="auto">
          <a:xfrm>
            <a:off x="8447088" y="6264275"/>
            <a:ext cx="6969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zh-CN" altLang="en-US" dirty="0">
                <a:hlinkClick r:id="rId6" action="ppaction://hlinksldjump"/>
              </a:rPr>
              <a:t>返回</a:t>
            </a:r>
            <a:endParaRPr lang="zh-CN" altLang="en-US" dirty="0"/>
          </a:p>
        </p:txBody>
      </p:sp>
      <p:sp>
        <p:nvSpPr>
          <p:cNvPr id="13346"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mc:AlternateContent xmlns:mc="http://schemas.openxmlformats.org/markup-compatibility/2006">
        <mc:Choice xmlns:a14="http://schemas.microsoft.com/office/drawing/2010/main" Requires="a14">
          <p:sp>
            <p:nvSpPr>
              <p:cNvPr id="3" name="文本框 2"/>
              <p:cNvSpPr txBox="1"/>
              <p:nvPr/>
            </p:nvSpPr>
            <p:spPr>
              <a:xfrm>
                <a:off x="2009869" y="1783533"/>
                <a:ext cx="5395865" cy="429895"/>
              </a:xfrm>
              <a:prstGeom prst="rect">
                <a:avLst/>
              </a:prstGeom>
              <a:noFill/>
            </p:spPr>
            <p:txBody>
              <a:bodyPr wrap="square" rtlCol="0">
                <a:spAutoFit/>
              </a:bodyPr>
              <a:lstStyle/>
              <a:p>
                <a:r>
                  <a:rPr lang="zh-CN" altLang="en-US" sz="2200" dirty="0" smtClean="0"/>
                  <a:t>表</a:t>
                </a:r>
                <a:r>
                  <a:rPr lang="en-US" altLang="zh-CN" sz="2200" dirty="0" smtClean="0"/>
                  <a:t>3.7-6  </a:t>
                </a:r>
                <a:r>
                  <a:rPr lang="zh-CN" altLang="en-US" sz="2200" dirty="0" smtClean="0"/>
                  <a:t>轴常用几种材料的</a:t>
                </a:r>
                <a14:m>
                  <m:oMath xmlns:m="http://schemas.openxmlformats.org/officeDocument/2006/math">
                    <m:r>
                      <a:rPr lang="en-US" altLang="zh-CN" sz="2200" b="0" i="1" smtClean="0">
                        <a:latin typeface="Cambria Math" panose="02040503050406030204" pitchFamily="18" charset="0"/>
                      </a:rPr>
                      <m:t>[</m:t>
                    </m:r>
                    <m:sSub>
                      <m:sSubPr>
                        <m:ctrlPr>
                          <a:rPr lang="en-US" altLang="zh-CN" sz="2200" b="0" i="1" smtClean="0">
                            <a:latin typeface="Cambria Math" panose="02040503050406030204" pitchFamily="18" charset="0"/>
                          </a:rPr>
                        </m:ctrlPr>
                      </m:sSubPr>
                      <m:e>
                        <m:r>
                          <a:rPr lang="zh-CN" altLang="en-US" sz="2200" b="0" i="1" smtClean="0">
                            <a:latin typeface="Cambria Math" panose="02040503050406030204" pitchFamily="18" charset="0"/>
                          </a:rPr>
                          <m:t>𝜏</m:t>
                        </m:r>
                      </m:e>
                      <m:sub>
                        <m:r>
                          <a:rPr lang="en-US" altLang="zh-CN" sz="2200" b="0" i="1" smtClean="0">
                            <a:latin typeface="Cambria Math" panose="02040503050406030204" pitchFamily="18" charset="0"/>
                          </a:rPr>
                          <m:t>𝑇</m:t>
                        </m:r>
                      </m:sub>
                    </m:sSub>
                  </m:oMath>
                </a14:m>
                <a:r>
                  <a:rPr lang="en-US" altLang="zh-CN" sz="2200" dirty="0" smtClean="0"/>
                  <a:t>]</a:t>
                </a:r>
                <a:r>
                  <a:rPr lang="zh-CN" altLang="en-US" sz="2200" dirty="0" smtClean="0"/>
                  <a:t>及</a:t>
                </a:r>
                <a:r>
                  <a:rPr lang="en-US" altLang="zh-CN" sz="2200" i="1" dirty="0" smtClean="0"/>
                  <a:t>C</a:t>
                </a:r>
                <a:r>
                  <a:rPr lang="zh-CN" altLang="en-US" sz="2200" dirty="0" smtClean="0"/>
                  <a:t>值</a:t>
                </a:r>
                <a:endParaRPr lang="zh-CN" altLang="en-US" sz="2200" dirty="0"/>
              </a:p>
            </p:txBody>
          </p:sp>
        </mc:Choice>
        <mc:Fallback>
          <p:sp>
            <p:nvSpPr>
              <p:cNvPr id="3" name="文本框 2"/>
              <p:cNvSpPr txBox="1">
                <a:spLocks noRot="1" noChangeAspect="1" noMove="1" noResize="1" noEditPoints="1" noAdjustHandles="1" noChangeArrowheads="1" noChangeShapeType="1" noTextEdit="1"/>
              </p:cNvSpPr>
              <p:nvPr/>
            </p:nvSpPr>
            <p:spPr>
              <a:xfrm>
                <a:off x="2009869" y="1783533"/>
                <a:ext cx="5395865" cy="429895"/>
              </a:xfrm>
              <a:prstGeom prst="rect">
                <a:avLst/>
              </a:prstGeom>
              <a:blipFill rotWithShape="1">
                <a:blip r:embed="rId7"/>
                <a:stretch>
                  <a:fillRect l="-2" t="-105" r="7" b="105"/>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3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92"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bwMode="auto">
          <a:xfrm>
            <a:off x="482600" y="173038"/>
            <a:ext cx="82296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3200" smtClean="0">
                <a:solidFill>
                  <a:srgbClr val="CC3300"/>
                </a:solidFill>
                <a:ea typeface="华文中宋" panose="02010600040101010101" pitchFamily="2" charset="-122"/>
              </a:rPr>
              <a:t>便于装拆</a:t>
            </a:r>
            <a:endParaRPr lang="zh-CN" altLang="en-US" sz="3200" smtClean="0">
              <a:solidFill>
                <a:srgbClr val="CC3300"/>
              </a:solidFill>
              <a:ea typeface="华文中宋" panose="02010600040101010101" pitchFamily="2" charset="-122"/>
            </a:endParaRPr>
          </a:p>
        </p:txBody>
      </p:sp>
      <p:pic>
        <p:nvPicPr>
          <p:cNvPr id="31748" name="Picture 6"/>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576263" y="1981200"/>
            <a:ext cx="2687637" cy="224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9" name="矩形 6"/>
          <p:cNvSpPr>
            <a:spLocks noChangeArrowheads="1"/>
          </p:cNvSpPr>
          <p:nvPr/>
        </p:nvSpPr>
        <p:spPr bwMode="auto">
          <a:xfrm>
            <a:off x="317500" y="793750"/>
            <a:ext cx="8826500" cy="1211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25000"/>
              </a:lnSpc>
            </a:pPr>
            <a:r>
              <a:rPr lang="zh-CN" altLang="en-US" dirty="0"/>
              <a:t>        为了使齿轮、轴承等有配合要求的零件装拆方便，并减少配合表面的擦伤，在配合轴段前应采用较小的直径。为了使与轴做过盈配合的零件易于装配，相配轴段的压入端应制出锥度；或在同一轴段的两个部位上采用不同的尺寸公差。</a:t>
            </a:r>
            <a:endParaRPr lang="zh-CN" altLang="en-US" dirty="0"/>
          </a:p>
        </p:txBody>
      </p:sp>
      <p:sp>
        <p:nvSpPr>
          <p:cNvPr id="37893" name="矩形 7"/>
          <p:cNvSpPr>
            <a:spLocks noChangeArrowheads="1"/>
          </p:cNvSpPr>
          <p:nvPr/>
        </p:nvSpPr>
        <p:spPr bwMode="auto">
          <a:xfrm>
            <a:off x="8447088" y="6264275"/>
            <a:ext cx="6969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zh-CN" altLang="en-US" dirty="0">
                <a:hlinkClick r:id="rId2" action="ppaction://hlinksldjump"/>
              </a:rPr>
              <a:t>返回</a:t>
            </a:r>
            <a:endParaRPr lang="zh-CN" altLang="en-US" dirty="0"/>
          </a:p>
        </p:txBody>
      </p:sp>
      <p:pic>
        <p:nvPicPr>
          <p:cNvPr id="31751" name="图片 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81700" y="1968500"/>
            <a:ext cx="2554288" cy="2579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5"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pic>
        <p:nvPicPr>
          <p:cNvPr id="31752"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9263" y="4152900"/>
            <a:ext cx="1666875" cy="236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10"/>
          <p:cNvSpPr>
            <a:spLocks noChangeArrowheads="1"/>
          </p:cNvSpPr>
          <p:nvPr/>
        </p:nvSpPr>
        <p:spPr bwMode="auto">
          <a:xfrm>
            <a:off x="2387600" y="5029200"/>
            <a:ext cx="6438900" cy="86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396875"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a:lnSpc>
                <a:spcPct val="125000"/>
              </a:lnSpc>
            </a:pPr>
            <a:r>
              <a:rPr lang="zh-CN" altLang="en-US">
                <a:solidFill>
                  <a:schemeClr val="tx1"/>
                </a:solidFill>
                <a:latin typeface="华文中宋" panose="02010600040101010101" pitchFamily="2" charset="-122"/>
              </a:rPr>
              <a:t>  滚动轴承的定位轴肩高度应低于轴承内圈端面的高度，以便拆卸轴承。</a:t>
            </a:r>
            <a:endParaRPr lang="zh-CN" altLang="en-US">
              <a:solidFill>
                <a:schemeClr val="tx1"/>
              </a:solidFill>
              <a:latin typeface="华文中宋"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749"/>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31748"/>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nodeType="afterEffect">
                                  <p:stCondLst>
                                    <p:cond delay="0"/>
                                  </p:stCondLst>
                                  <p:childTnLst>
                                    <p:set>
                                      <p:cBhvr>
                                        <p:cTn id="12" dur="1" fill="hold">
                                          <p:stCondLst>
                                            <p:cond delay="0"/>
                                          </p:stCondLst>
                                        </p:cTn>
                                        <p:tgtEl>
                                          <p:spTgt spid="3175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1752"/>
                                        </p:tgtEl>
                                        <p:attrNameLst>
                                          <p:attrName>style.visibility</p:attrName>
                                        </p:attrNameLst>
                                      </p:cBhvr>
                                      <p:to>
                                        <p:strVal val="visible"/>
                                      </p:to>
                                    </p:set>
                                  </p:childTnLst>
                                </p:cTn>
                              </p:par>
                            </p:childTnLst>
                          </p:cTn>
                        </p:par>
                        <p:par>
                          <p:cTn id="17" fill="hold">
                            <p:stCondLst>
                              <p:cond delay="0"/>
                            </p:stCondLst>
                            <p:childTnLst>
                              <p:par>
                                <p:cTn id="18" presetID="1" presetClass="entr" presetSubtype="0" fill="hold" grpId="0" nodeType="afterEffect">
                                  <p:stCondLst>
                                    <p:cond delay="0"/>
                                  </p:stCondLst>
                                  <p:childTnLst>
                                    <p:set>
                                      <p:cBhvr>
                                        <p:cTn id="19"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9" grpId="0"/>
      <p:bldP spid="10"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3200" dirty="0" smtClean="0">
                <a:solidFill>
                  <a:srgbClr val="CC3300"/>
                </a:solidFill>
                <a:ea typeface="华文中宋" panose="02010600040101010101" pitchFamily="2" charset="-122"/>
              </a:rPr>
              <a:t>轴的分类</a:t>
            </a:r>
            <a:endParaRPr lang="zh-CN" altLang="en-US" sz="3200" dirty="0" smtClean="0">
              <a:solidFill>
                <a:srgbClr val="CC3300"/>
              </a:solidFill>
              <a:ea typeface="华文中宋" panose="02010600040101010101" pitchFamily="2" charset="-122"/>
            </a:endParaRPr>
          </a:p>
        </p:txBody>
      </p:sp>
      <p:sp>
        <p:nvSpPr>
          <p:cNvPr id="35844" name="矩形 5"/>
          <p:cNvSpPr>
            <a:spLocks noChangeArrowheads="1"/>
          </p:cNvSpPr>
          <p:nvPr/>
        </p:nvSpPr>
        <p:spPr bwMode="auto">
          <a:xfrm>
            <a:off x="1473200" y="3076575"/>
            <a:ext cx="6461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zh-CN" altLang="en-US" sz="1800" dirty="0">
                <a:solidFill>
                  <a:srgbClr val="C00000"/>
                </a:solidFill>
              </a:rPr>
              <a:t>心轴</a:t>
            </a:r>
            <a:endParaRPr lang="zh-CN" altLang="en-US" sz="1800" dirty="0">
              <a:solidFill>
                <a:srgbClr val="C00000"/>
              </a:solidFill>
            </a:endParaRPr>
          </a:p>
        </p:txBody>
      </p:sp>
      <p:sp>
        <p:nvSpPr>
          <p:cNvPr id="35845" name="矩形 6"/>
          <p:cNvSpPr>
            <a:spLocks noChangeArrowheads="1"/>
          </p:cNvSpPr>
          <p:nvPr/>
        </p:nvSpPr>
        <p:spPr bwMode="auto">
          <a:xfrm>
            <a:off x="4602163" y="3025775"/>
            <a:ext cx="8778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zh-CN" altLang="en-US" sz="1800" dirty="0">
                <a:solidFill>
                  <a:srgbClr val="C00000"/>
                </a:solidFill>
              </a:rPr>
              <a:t>传动轴</a:t>
            </a:r>
            <a:endParaRPr lang="zh-CN" altLang="en-US" sz="1800" dirty="0">
              <a:solidFill>
                <a:srgbClr val="C00000"/>
              </a:solidFill>
            </a:endParaRPr>
          </a:p>
        </p:txBody>
      </p:sp>
      <p:sp>
        <p:nvSpPr>
          <p:cNvPr id="35846" name="矩形 7"/>
          <p:cNvSpPr>
            <a:spLocks noChangeArrowheads="1"/>
          </p:cNvSpPr>
          <p:nvPr/>
        </p:nvSpPr>
        <p:spPr bwMode="auto">
          <a:xfrm>
            <a:off x="7512050" y="3038475"/>
            <a:ext cx="6461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zh-CN" altLang="en-US" sz="1800" dirty="0">
                <a:solidFill>
                  <a:srgbClr val="C00000"/>
                </a:solidFill>
              </a:rPr>
              <a:t>转轴</a:t>
            </a:r>
            <a:endParaRPr lang="zh-CN" altLang="en-US" sz="1800" dirty="0">
              <a:solidFill>
                <a:srgbClr val="C00000"/>
              </a:solidFill>
            </a:endParaRPr>
          </a:p>
        </p:txBody>
      </p:sp>
      <p:pic>
        <p:nvPicPr>
          <p:cNvPr id="35847" name="Picture 7"/>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946117" y="3632420"/>
            <a:ext cx="6054725" cy="301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8" name="矩形 9"/>
          <p:cNvSpPr>
            <a:spLocks noChangeArrowheads="1"/>
          </p:cNvSpPr>
          <p:nvPr/>
        </p:nvSpPr>
        <p:spPr bwMode="auto">
          <a:xfrm>
            <a:off x="208230" y="4197587"/>
            <a:ext cx="1511928"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lnSpc>
                <a:spcPct val="150000"/>
              </a:lnSpc>
            </a:pPr>
            <a:r>
              <a:rPr lang="en-US" altLang="zh-CN" sz="1800" dirty="0">
                <a:solidFill>
                  <a:srgbClr val="C00000"/>
                </a:solidFill>
              </a:rPr>
              <a:t>a</a:t>
            </a:r>
            <a:r>
              <a:rPr lang="zh-CN" altLang="en-US" dirty="0">
                <a:solidFill>
                  <a:srgbClr val="C00000"/>
                </a:solidFill>
              </a:rPr>
              <a:t>）直轴</a:t>
            </a:r>
            <a:r>
              <a:rPr lang="en-US" dirty="0">
                <a:solidFill>
                  <a:srgbClr val="C00000"/>
                </a:solidFill>
              </a:rPr>
              <a:t>   </a:t>
            </a:r>
            <a:endParaRPr lang="en-US" dirty="0" smtClean="0">
              <a:solidFill>
                <a:srgbClr val="C00000"/>
              </a:solidFill>
            </a:endParaRPr>
          </a:p>
          <a:p>
            <a:pPr eaLnBrk="1" hangingPunct="1">
              <a:lnSpc>
                <a:spcPct val="150000"/>
              </a:lnSpc>
            </a:pPr>
            <a:r>
              <a:rPr lang="en-US" altLang="zh-CN" dirty="0" smtClean="0">
                <a:solidFill>
                  <a:srgbClr val="C00000"/>
                </a:solidFill>
              </a:rPr>
              <a:t>b</a:t>
            </a:r>
            <a:r>
              <a:rPr lang="zh-CN" altLang="en-US" dirty="0">
                <a:solidFill>
                  <a:srgbClr val="C00000"/>
                </a:solidFill>
              </a:rPr>
              <a:t>）曲轴</a:t>
            </a:r>
            <a:r>
              <a:rPr lang="en-US" dirty="0">
                <a:solidFill>
                  <a:srgbClr val="C00000"/>
                </a:solidFill>
              </a:rPr>
              <a:t>  </a:t>
            </a:r>
            <a:endParaRPr lang="en-US" dirty="0" smtClean="0">
              <a:solidFill>
                <a:srgbClr val="C00000"/>
              </a:solidFill>
            </a:endParaRPr>
          </a:p>
          <a:p>
            <a:pPr eaLnBrk="1" hangingPunct="1">
              <a:lnSpc>
                <a:spcPct val="150000"/>
              </a:lnSpc>
            </a:pPr>
            <a:r>
              <a:rPr lang="en-US" dirty="0" smtClean="0">
                <a:solidFill>
                  <a:srgbClr val="C00000"/>
                </a:solidFill>
              </a:rPr>
              <a:t> </a:t>
            </a:r>
            <a:r>
              <a:rPr lang="en-US" altLang="zh-CN" dirty="0">
                <a:solidFill>
                  <a:srgbClr val="C00000"/>
                </a:solidFill>
              </a:rPr>
              <a:t>c</a:t>
            </a:r>
            <a:r>
              <a:rPr lang="zh-CN" altLang="en-US" dirty="0">
                <a:solidFill>
                  <a:srgbClr val="C00000"/>
                </a:solidFill>
              </a:rPr>
              <a:t>）挠性轴</a:t>
            </a:r>
            <a:endParaRPr lang="zh-CN" altLang="en-US" dirty="0">
              <a:solidFill>
                <a:srgbClr val="C00000"/>
              </a:solidFill>
            </a:endParaRPr>
          </a:p>
        </p:txBody>
      </p:sp>
      <p:sp>
        <p:nvSpPr>
          <p:cNvPr id="35849" name="矩形 10"/>
          <p:cNvSpPr>
            <a:spLocks noChangeArrowheads="1"/>
          </p:cNvSpPr>
          <p:nvPr/>
        </p:nvSpPr>
        <p:spPr bwMode="auto">
          <a:xfrm>
            <a:off x="8147050" y="6289675"/>
            <a:ext cx="6985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rgbClr val="000099"/>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rgbClr val="000099"/>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rgbClr val="000099"/>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rgbClr val="000099"/>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zh-CN" altLang="en-US">
                <a:hlinkClick r:id="rId2" action="ppaction://hlinksldjump"/>
              </a:rPr>
              <a:t>返回</a:t>
            </a:r>
            <a:endParaRPr lang="zh-CN" altLang="en-US"/>
          </a:p>
        </p:txBody>
      </p:sp>
      <p:grpSp>
        <p:nvGrpSpPr>
          <p:cNvPr id="3" name="组合 2"/>
          <p:cNvGrpSpPr/>
          <p:nvPr/>
        </p:nvGrpSpPr>
        <p:grpSpPr>
          <a:xfrm>
            <a:off x="396404" y="861494"/>
            <a:ext cx="8228013" cy="2198577"/>
            <a:chOff x="360190" y="1087831"/>
            <a:chExt cx="8228013" cy="2198577"/>
          </a:xfrm>
        </p:grpSpPr>
        <p:pic>
          <p:nvPicPr>
            <p:cNvPr id="35843" name="Picture 6"/>
            <p:cNvPicPr>
              <a:picLocks noChangeAspect="1" noChangeArrowheads="1"/>
            </p:cNvPicPr>
            <p:nvPr/>
          </p:nvPicPr>
          <p:blipFill>
            <a:blip r:embed="rId3" cstate="print">
              <a:extLst>
                <a:ext uri="{28A0092B-C50C-407E-A947-70E740481C1C}">
                  <a14:useLocalDpi xmlns:a14="http://schemas.microsoft.com/office/drawing/2010/main" val="0"/>
                </a:ext>
              </a:extLst>
            </a:blip>
            <a:srcRect b="8661"/>
            <a:stretch>
              <a:fillRect/>
            </a:stretch>
          </p:blipFill>
          <p:spPr bwMode="auto">
            <a:xfrm>
              <a:off x="360190" y="1087831"/>
              <a:ext cx="8228013" cy="217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bwMode="auto">
            <a:xfrm>
              <a:off x="606582" y="2933323"/>
              <a:ext cx="2390115" cy="353085"/>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5844"/>
                                        </p:tgtEl>
                                        <p:attrNameLst>
                                          <p:attrName>style.visibility</p:attrName>
                                        </p:attrNameLst>
                                      </p:cBhvr>
                                      <p:to>
                                        <p:strVal val="visible"/>
                                      </p:to>
                                    </p:set>
                                    <p:animEffect transition="in" filter="wipe(left)">
                                      <p:cBhvr>
                                        <p:cTn id="12" dur="500"/>
                                        <p:tgtEl>
                                          <p:spTgt spid="3584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5845"/>
                                        </p:tgtEl>
                                        <p:attrNameLst>
                                          <p:attrName>style.visibility</p:attrName>
                                        </p:attrNameLst>
                                      </p:cBhvr>
                                      <p:to>
                                        <p:strVal val="visible"/>
                                      </p:to>
                                    </p:set>
                                    <p:animEffect transition="in" filter="wipe(left)">
                                      <p:cBhvr>
                                        <p:cTn id="17" dur="500"/>
                                        <p:tgtEl>
                                          <p:spTgt spid="3584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5846"/>
                                        </p:tgtEl>
                                        <p:attrNameLst>
                                          <p:attrName>style.visibility</p:attrName>
                                        </p:attrNameLst>
                                      </p:cBhvr>
                                      <p:to>
                                        <p:strVal val="visible"/>
                                      </p:to>
                                    </p:set>
                                    <p:animEffect transition="in" filter="wipe(left)">
                                      <p:cBhvr>
                                        <p:cTn id="22" dur="500"/>
                                        <p:tgtEl>
                                          <p:spTgt spid="3584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5847"/>
                                        </p:tgtEl>
                                        <p:attrNameLst>
                                          <p:attrName>style.visibility</p:attrName>
                                        </p:attrNameLst>
                                      </p:cBhvr>
                                      <p:to>
                                        <p:strVal val="visible"/>
                                      </p:to>
                                    </p:set>
                                    <p:animEffect transition="in" filter="wipe(left)">
                                      <p:cBhvr>
                                        <p:cTn id="27" dur="500"/>
                                        <p:tgtEl>
                                          <p:spTgt spid="3584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5848">
                                            <p:txEl>
                                              <p:pRg st="0" end="0"/>
                                            </p:txEl>
                                          </p:spTgt>
                                        </p:tgtEl>
                                        <p:attrNameLst>
                                          <p:attrName>style.visibility</p:attrName>
                                        </p:attrNameLst>
                                      </p:cBhvr>
                                      <p:to>
                                        <p:strVal val="visible"/>
                                      </p:to>
                                    </p:set>
                                    <p:animEffect transition="in" filter="wipe(left)">
                                      <p:cBhvr>
                                        <p:cTn id="32" dur="500"/>
                                        <p:tgtEl>
                                          <p:spTgt spid="35848">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35848">
                                            <p:txEl>
                                              <p:pRg st="1" end="1"/>
                                            </p:txEl>
                                          </p:spTgt>
                                        </p:tgtEl>
                                        <p:attrNameLst>
                                          <p:attrName>style.visibility</p:attrName>
                                        </p:attrNameLst>
                                      </p:cBhvr>
                                      <p:to>
                                        <p:strVal val="visible"/>
                                      </p:to>
                                    </p:set>
                                    <p:animEffect transition="in" filter="wipe(left)">
                                      <p:cBhvr>
                                        <p:cTn id="37" dur="500"/>
                                        <p:tgtEl>
                                          <p:spTgt spid="35848">
                                            <p:txEl>
                                              <p:pRg st="1" end="1"/>
                                            </p:txEl>
                                          </p:spTgt>
                                        </p:tgtEl>
                                      </p:cBhvr>
                                    </p:animEffect>
                                  </p:childTnLst>
                                </p:cTn>
                              </p:par>
                              <p:par>
                                <p:cTn id="38" presetID="22" presetClass="entr" presetSubtype="8" fill="hold" nodeType="withEffect">
                                  <p:stCondLst>
                                    <p:cond delay="0"/>
                                  </p:stCondLst>
                                  <p:childTnLst>
                                    <p:set>
                                      <p:cBhvr>
                                        <p:cTn id="39" dur="1" fill="hold">
                                          <p:stCondLst>
                                            <p:cond delay="0"/>
                                          </p:stCondLst>
                                        </p:cTn>
                                        <p:tgtEl>
                                          <p:spTgt spid="35848">
                                            <p:txEl>
                                              <p:pRg st="2" end="2"/>
                                            </p:txEl>
                                          </p:spTgt>
                                        </p:tgtEl>
                                        <p:attrNameLst>
                                          <p:attrName>style.visibility</p:attrName>
                                        </p:attrNameLst>
                                      </p:cBhvr>
                                      <p:to>
                                        <p:strVal val="visible"/>
                                      </p:to>
                                    </p:set>
                                    <p:animEffect transition="in" filter="wipe(left)">
                                      <p:cBhvr>
                                        <p:cTn id="40" dur="500"/>
                                        <p:tgtEl>
                                          <p:spTgt spid="3584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4" grpId="0"/>
      <p:bldP spid="35845" grpId="0"/>
      <p:bldP spid="35846"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1891030" y="173990"/>
            <a:ext cx="5974080" cy="460375"/>
          </a:xfrm>
          <a:prstGeom prst="rect">
            <a:avLst/>
          </a:prstGeom>
          <a:noFill/>
        </p:spPr>
        <p:txBody>
          <a:bodyPr wrap="none" rtlCol="0" anchor="t">
            <a:spAutoFit/>
          </a:bodyPr>
          <a:p>
            <a:r>
              <a:rPr lang="zh-CN" altLang="zh-CN" sz="2400">
                <a:solidFill>
                  <a:srgbClr val="C00000"/>
                </a:solidFill>
                <a:latin typeface="黑体" panose="02010609060101010101" pitchFamily="49" charset="-122"/>
                <a:ea typeface="黑体" panose="02010609060101010101" pitchFamily="49" charset="-122"/>
                <a:sym typeface="+mn-ea"/>
              </a:rPr>
              <a:t>案例</a:t>
            </a:r>
            <a:r>
              <a:rPr lang="en-US" altLang="zh-CN" sz="2400">
                <a:solidFill>
                  <a:srgbClr val="C00000"/>
                </a:solidFill>
                <a:latin typeface="黑体" panose="02010609060101010101" pitchFamily="49" charset="-122"/>
                <a:ea typeface="黑体" panose="02010609060101010101" pitchFamily="49" charset="-122"/>
                <a:sym typeface="+mn-ea"/>
              </a:rPr>
              <a:t>2 </a:t>
            </a:r>
            <a:r>
              <a:rPr lang="zh-CN" altLang="zh-CN" sz="2400">
                <a:solidFill>
                  <a:srgbClr val="C00000"/>
                </a:solidFill>
                <a:latin typeface="黑体" panose="02010609060101010101" pitchFamily="49" charset="-122"/>
                <a:ea typeface="黑体" panose="02010609060101010101" pitchFamily="49" charset="-122"/>
                <a:sym typeface="+mn-ea"/>
              </a:rPr>
              <a:t>某公司垂直提升设备（斗式提升机）</a:t>
            </a:r>
            <a:endParaRPr lang="zh-CN" altLang="zh-CN" sz="2400">
              <a:solidFill>
                <a:srgbClr val="C00000"/>
              </a:solidFill>
              <a:latin typeface="黑体" panose="02010609060101010101" pitchFamily="49" charset="-122"/>
              <a:ea typeface="黑体" panose="02010609060101010101" pitchFamily="49" charset="-122"/>
              <a:sym typeface="+mn-ea"/>
            </a:endParaRPr>
          </a:p>
        </p:txBody>
      </p:sp>
      <p:sp>
        <p:nvSpPr>
          <p:cNvPr id="37895"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p>
            <a:endParaRPr lang="zh-CN" altLang="en-US"/>
          </a:p>
        </p:txBody>
      </p:sp>
      <p:sp>
        <p:nvSpPr>
          <p:cNvPr id="5" name="文本框 4"/>
          <p:cNvSpPr txBox="1"/>
          <p:nvPr/>
        </p:nvSpPr>
        <p:spPr>
          <a:xfrm>
            <a:off x="848360" y="905510"/>
            <a:ext cx="5106035" cy="398780"/>
          </a:xfrm>
          <a:prstGeom prst="rect">
            <a:avLst/>
          </a:prstGeom>
          <a:noFill/>
        </p:spPr>
        <p:txBody>
          <a:bodyPr wrap="square" rtlCol="0">
            <a:spAutoFit/>
          </a:bodyPr>
          <a:p>
            <a:r>
              <a:rPr lang="en-US" altLang="zh-CN">
                <a:latin typeface="黑体" panose="02010609060101010101" pitchFamily="49" charset="-122"/>
                <a:ea typeface="黑体" panose="02010609060101010101" pitchFamily="49" charset="-122"/>
                <a:cs typeface="黑体" panose="02010609060101010101" pitchFamily="49" charset="-122"/>
              </a:rPr>
              <a:t>1</a:t>
            </a:r>
            <a:r>
              <a:rPr lang="zh-CN" altLang="en-US">
                <a:latin typeface="黑体" panose="02010609060101010101" pitchFamily="49" charset="-122"/>
                <a:ea typeface="黑体" panose="02010609060101010101" pitchFamily="49" charset="-122"/>
                <a:cs typeface="黑体" panose="02010609060101010101" pitchFamily="49" charset="-122"/>
              </a:rPr>
              <a:t>、设计条件</a:t>
            </a:r>
            <a:endParaRPr lang="zh-CN" altLang="en-US">
              <a:latin typeface="黑体" panose="02010609060101010101" pitchFamily="49" charset="-122"/>
              <a:ea typeface="黑体" panose="02010609060101010101" pitchFamily="49" charset="-122"/>
              <a:cs typeface="黑体" panose="02010609060101010101" pitchFamily="49" charset="-122"/>
            </a:endParaRPr>
          </a:p>
        </p:txBody>
      </p:sp>
      <p:sp>
        <p:nvSpPr>
          <p:cNvPr id="6" name="文本框 5"/>
          <p:cNvSpPr txBox="1"/>
          <p:nvPr/>
        </p:nvSpPr>
        <p:spPr>
          <a:xfrm>
            <a:off x="888365" y="1323340"/>
            <a:ext cx="5106035" cy="398780"/>
          </a:xfrm>
          <a:prstGeom prst="rect">
            <a:avLst/>
          </a:prstGeom>
          <a:noFill/>
        </p:spPr>
        <p:txBody>
          <a:bodyPr wrap="square" rtlCol="0">
            <a:spAutoFit/>
          </a:bodyPr>
          <a:p>
            <a:r>
              <a:rPr lang="en-US" altLang="zh-CN">
                <a:latin typeface="黑体" panose="02010609060101010101" pitchFamily="49" charset="-122"/>
                <a:ea typeface="黑体" panose="02010609060101010101" pitchFamily="49" charset="-122"/>
                <a:cs typeface="黑体" panose="02010609060101010101" pitchFamily="49" charset="-122"/>
              </a:rPr>
              <a:t>2</a:t>
            </a:r>
            <a:r>
              <a:rPr lang="zh-CN" altLang="en-US">
                <a:latin typeface="黑体" panose="02010609060101010101" pitchFamily="49" charset="-122"/>
                <a:ea typeface="黑体" panose="02010609060101010101" pitchFamily="49" charset="-122"/>
                <a:cs typeface="黑体" panose="02010609060101010101" pitchFamily="49" charset="-122"/>
              </a:rPr>
              <a:t>、板链斗式提升机的组成及工作原理</a:t>
            </a:r>
            <a:endParaRPr lang="zh-CN" altLang="en-US">
              <a:latin typeface="黑体" panose="02010609060101010101" pitchFamily="49" charset="-122"/>
              <a:ea typeface="黑体" panose="02010609060101010101" pitchFamily="49" charset="-122"/>
              <a:cs typeface="黑体" panose="02010609060101010101" pitchFamily="49" charset="-122"/>
            </a:endParaRPr>
          </a:p>
        </p:txBody>
      </p:sp>
      <p:sp>
        <p:nvSpPr>
          <p:cNvPr id="7" name="文本框 6"/>
          <p:cNvSpPr txBox="1"/>
          <p:nvPr/>
        </p:nvSpPr>
        <p:spPr>
          <a:xfrm>
            <a:off x="848360" y="1750695"/>
            <a:ext cx="5106035" cy="398780"/>
          </a:xfrm>
          <a:prstGeom prst="rect">
            <a:avLst/>
          </a:prstGeom>
          <a:noFill/>
        </p:spPr>
        <p:txBody>
          <a:bodyPr wrap="square" rtlCol="0">
            <a:spAutoFit/>
          </a:bodyPr>
          <a:p>
            <a:r>
              <a:rPr lang="en-US" altLang="zh-CN">
                <a:latin typeface="黑体" panose="02010609060101010101" pitchFamily="49" charset="-122"/>
                <a:ea typeface="黑体" panose="02010609060101010101" pitchFamily="49" charset="-122"/>
                <a:cs typeface="黑体" panose="02010609060101010101" pitchFamily="49" charset="-122"/>
              </a:rPr>
              <a:t>3</a:t>
            </a:r>
            <a:r>
              <a:rPr lang="zh-CN" altLang="en-US">
                <a:latin typeface="黑体" panose="02010609060101010101" pitchFamily="49" charset="-122"/>
                <a:ea typeface="黑体" panose="02010609060101010101" pitchFamily="49" charset="-122"/>
                <a:cs typeface="黑体" panose="02010609060101010101" pitchFamily="49" charset="-122"/>
              </a:rPr>
              <a:t>、斗式提升机的整体功能性需求计算</a:t>
            </a:r>
            <a:endParaRPr lang="zh-CN" altLang="en-US">
              <a:latin typeface="黑体" panose="02010609060101010101" pitchFamily="49" charset="-122"/>
              <a:ea typeface="黑体" panose="02010609060101010101" pitchFamily="49" charset="-122"/>
              <a:cs typeface="黑体" panose="02010609060101010101" pitchFamily="49" charset="-122"/>
            </a:endParaRPr>
          </a:p>
        </p:txBody>
      </p:sp>
      <p:sp>
        <p:nvSpPr>
          <p:cNvPr id="8" name="文本框 7"/>
          <p:cNvSpPr txBox="1"/>
          <p:nvPr/>
        </p:nvSpPr>
        <p:spPr>
          <a:xfrm>
            <a:off x="2261235" y="2219325"/>
            <a:ext cx="5534025" cy="398780"/>
          </a:xfrm>
          <a:prstGeom prst="rect">
            <a:avLst/>
          </a:prstGeom>
          <a:noFill/>
          <a:ln>
            <a:solidFill>
              <a:srgbClr val="0070C0"/>
            </a:solidFill>
          </a:ln>
        </p:spPr>
        <p:txBody>
          <a:bodyPr wrap="square" rtlCol="0">
            <a:spAutoFit/>
          </a:bodyPr>
          <a:p>
            <a:r>
              <a:rPr lang="zh-CN" altLang="en-US"/>
              <a:t>计算：执行机构主轴所需输入功率及转速</a:t>
            </a:r>
            <a:endParaRPr lang="zh-CN" altLang="en-US"/>
          </a:p>
        </p:txBody>
      </p:sp>
      <p:sp>
        <p:nvSpPr>
          <p:cNvPr id="9" name="文本框 8"/>
          <p:cNvSpPr txBox="1"/>
          <p:nvPr/>
        </p:nvSpPr>
        <p:spPr>
          <a:xfrm>
            <a:off x="917575" y="2636520"/>
            <a:ext cx="5106035" cy="398780"/>
          </a:xfrm>
          <a:prstGeom prst="rect">
            <a:avLst/>
          </a:prstGeom>
          <a:noFill/>
        </p:spPr>
        <p:txBody>
          <a:bodyPr wrap="square" rtlCol="0">
            <a:spAutoFit/>
          </a:bodyPr>
          <a:p>
            <a:r>
              <a:rPr lang="en-US" altLang="zh-CN">
                <a:latin typeface="黑体" panose="02010609060101010101" pitchFamily="49" charset="-122"/>
                <a:ea typeface="黑体" panose="02010609060101010101" pitchFamily="49" charset="-122"/>
                <a:cs typeface="黑体" panose="02010609060101010101" pitchFamily="49" charset="-122"/>
              </a:rPr>
              <a:t>4</a:t>
            </a:r>
            <a:r>
              <a:rPr lang="zh-CN" altLang="en-US">
                <a:latin typeface="黑体" panose="02010609060101010101" pitchFamily="49" charset="-122"/>
                <a:ea typeface="黑体" panose="02010609060101010101" pitchFamily="49" charset="-122"/>
                <a:cs typeface="黑体" panose="02010609060101010101" pitchFamily="49" charset="-122"/>
              </a:rPr>
              <a:t>、传动方案</a:t>
            </a:r>
            <a:r>
              <a:rPr lang="en-US" altLang="zh-CN">
                <a:latin typeface="黑体" panose="02010609060101010101" pitchFamily="49" charset="-122"/>
                <a:ea typeface="黑体" panose="02010609060101010101" pitchFamily="49" charset="-122"/>
                <a:cs typeface="黑体" panose="02010609060101010101" pitchFamily="49" charset="-122"/>
              </a:rPr>
              <a:t>1</a:t>
            </a:r>
            <a:r>
              <a:rPr lang="zh-CN" altLang="en-US">
                <a:latin typeface="黑体" panose="02010609060101010101" pitchFamily="49" charset="-122"/>
                <a:ea typeface="黑体" panose="02010609060101010101" pitchFamily="49" charset="-122"/>
                <a:cs typeface="黑体" panose="02010609060101010101" pitchFamily="49" charset="-122"/>
              </a:rPr>
              <a:t>传动系统特性参数计算</a:t>
            </a:r>
            <a:endParaRPr lang="zh-CN" altLang="en-US">
              <a:latin typeface="黑体" panose="02010609060101010101" pitchFamily="49" charset="-122"/>
              <a:ea typeface="黑体" panose="02010609060101010101" pitchFamily="49" charset="-122"/>
              <a:cs typeface="黑体" panose="02010609060101010101" pitchFamily="49" charset="-122"/>
            </a:endParaRPr>
          </a:p>
        </p:txBody>
      </p:sp>
      <p:sp>
        <p:nvSpPr>
          <p:cNvPr id="10" name="文本框 9"/>
          <p:cNvSpPr txBox="1"/>
          <p:nvPr/>
        </p:nvSpPr>
        <p:spPr>
          <a:xfrm>
            <a:off x="2341245" y="2955925"/>
            <a:ext cx="5534025" cy="706755"/>
          </a:xfrm>
          <a:prstGeom prst="rect">
            <a:avLst/>
          </a:prstGeom>
          <a:noFill/>
          <a:ln>
            <a:solidFill>
              <a:srgbClr val="0070C0"/>
            </a:solidFill>
          </a:ln>
        </p:spPr>
        <p:txBody>
          <a:bodyPr wrap="square" rtlCol="0">
            <a:spAutoFit/>
          </a:bodyPr>
          <a:p>
            <a:r>
              <a:rPr lang="zh-CN" altLang="en-US"/>
              <a:t>电动机选型、总传动比及各级传动比分配、各轴转速、各轴功率及转矩</a:t>
            </a:r>
            <a:endParaRPr lang="zh-CN" altLang="en-US"/>
          </a:p>
        </p:txBody>
      </p:sp>
      <p:sp>
        <p:nvSpPr>
          <p:cNvPr id="11" name="文本框 10"/>
          <p:cNvSpPr txBox="1"/>
          <p:nvPr/>
        </p:nvSpPr>
        <p:spPr>
          <a:xfrm>
            <a:off x="997585" y="3652520"/>
            <a:ext cx="6898005" cy="398780"/>
          </a:xfrm>
          <a:prstGeom prst="rect">
            <a:avLst/>
          </a:prstGeom>
          <a:noFill/>
        </p:spPr>
        <p:txBody>
          <a:bodyPr wrap="square" rtlCol="0">
            <a:spAutoFit/>
          </a:bodyPr>
          <a:p>
            <a:r>
              <a:rPr lang="en-US" altLang="zh-CN"/>
              <a:t>5</a:t>
            </a:r>
            <a:r>
              <a:rPr lang="zh-CN" altLang="en-US"/>
              <a:t>、带传动设计</a:t>
            </a:r>
            <a:endParaRPr lang="zh-CN" altLang="en-US"/>
          </a:p>
        </p:txBody>
      </p:sp>
      <p:sp>
        <p:nvSpPr>
          <p:cNvPr id="12" name="文本框 11"/>
          <p:cNvSpPr txBox="1"/>
          <p:nvPr/>
        </p:nvSpPr>
        <p:spPr>
          <a:xfrm>
            <a:off x="1008380" y="3991610"/>
            <a:ext cx="6898005" cy="398780"/>
          </a:xfrm>
          <a:prstGeom prst="rect">
            <a:avLst/>
          </a:prstGeom>
          <a:noFill/>
        </p:spPr>
        <p:txBody>
          <a:bodyPr wrap="square" rtlCol="0">
            <a:spAutoFit/>
          </a:bodyPr>
          <a:p>
            <a:r>
              <a:rPr lang="en-US" altLang="zh-CN"/>
              <a:t>6</a:t>
            </a:r>
            <a:r>
              <a:rPr lang="zh-CN" altLang="en-US"/>
              <a:t>、链传动设计</a:t>
            </a:r>
            <a:endParaRPr lang="zh-CN" altLang="en-US"/>
          </a:p>
        </p:txBody>
      </p:sp>
      <p:sp>
        <p:nvSpPr>
          <p:cNvPr id="13" name="文本框 12"/>
          <p:cNvSpPr txBox="1"/>
          <p:nvPr/>
        </p:nvSpPr>
        <p:spPr>
          <a:xfrm>
            <a:off x="948690" y="4359910"/>
            <a:ext cx="6898005" cy="398780"/>
          </a:xfrm>
          <a:prstGeom prst="rect">
            <a:avLst/>
          </a:prstGeom>
          <a:noFill/>
        </p:spPr>
        <p:txBody>
          <a:bodyPr wrap="square" rtlCol="0">
            <a:spAutoFit/>
          </a:bodyPr>
          <a:p>
            <a:r>
              <a:rPr lang="en-US" altLang="zh-CN"/>
              <a:t>7</a:t>
            </a:r>
            <a:r>
              <a:rPr lang="zh-CN" altLang="en-US"/>
              <a:t>、圆柱齿轮传动设计：高速级、低速级</a:t>
            </a:r>
            <a:endParaRPr lang="zh-CN" altLang="en-US"/>
          </a:p>
        </p:txBody>
      </p:sp>
      <p:sp>
        <p:nvSpPr>
          <p:cNvPr id="14" name="文本框 13"/>
          <p:cNvSpPr txBox="1"/>
          <p:nvPr/>
        </p:nvSpPr>
        <p:spPr>
          <a:xfrm>
            <a:off x="988695" y="4748530"/>
            <a:ext cx="6898005" cy="398780"/>
          </a:xfrm>
          <a:prstGeom prst="rect">
            <a:avLst/>
          </a:prstGeom>
          <a:noFill/>
        </p:spPr>
        <p:txBody>
          <a:bodyPr wrap="square" rtlCol="0">
            <a:spAutoFit/>
          </a:bodyPr>
          <a:p>
            <a:r>
              <a:rPr lang="en-US" altLang="zh-CN"/>
              <a:t>8</a:t>
            </a:r>
            <a:r>
              <a:rPr lang="zh-CN" altLang="en-US"/>
              <a:t>、齿轮减速器轴的设计</a:t>
            </a:r>
            <a:endParaRPr lang="zh-CN" altLang="en-US"/>
          </a:p>
        </p:txBody>
      </p:sp>
      <p:sp>
        <p:nvSpPr>
          <p:cNvPr id="15" name="文本框 14"/>
          <p:cNvSpPr txBox="1"/>
          <p:nvPr/>
        </p:nvSpPr>
        <p:spPr>
          <a:xfrm>
            <a:off x="949325" y="5215890"/>
            <a:ext cx="6898005" cy="398780"/>
          </a:xfrm>
          <a:prstGeom prst="rect">
            <a:avLst/>
          </a:prstGeom>
          <a:noFill/>
        </p:spPr>
        <p:txBody>
          <a:bodyPr wrap="square" rtlCol="0">
            <a:spAutoFit/>
          </a:bodyPr>
          <a:p>
            <a:r>
              <a:rPr lang="en-US" altLang="zh-CN"/>
              <a:t>9</a:t>
            </a:r>
            <a:r>
              <a:rPr lang="zh-CN" altLang="en-US"/>
              <a:t>、键连接的选择和计算</a:t>
            </a:r>
            <a:endParaRPr lang="en-US" altLang="zh-CN"/>
          </a:p>
        </p:txBody>
      </p:sp>
      <p:sp>
        <p:nvSpPr>
          <p:cNvPr id="16" name="文本框 15"/>
          <p:cNvSpPr txBox="1"/>
          <p:nvPr/>
        </p:nvSpPr>
        <p:spPr>
          <a:xfrm>
            <a:off x="850265" y="5633720"/>
            <a:ext cx="6898005" cy="398780"/>
          </a:xfrm>
          <a:prstGeom prst="rect">
            <a:avLst/>
          </a:prstGeom>
          <a:noFill/>
        </p:spPr>
        <p:txBody>
          <a:bodyPr wrap="square" rtlCol="0">
            <a:spAutoFit/>
          </a:bodyPr>
          <a:p>
            <a:r>
              <a:rPr lang="en-US" altLang="zh-CN"/>
              <a:t>10</a:t>
            </a:r>
            <a:r>
              <a:rPr lang="zh-CN" altLang="en-US"/>
              <a:t>、滚动轴承的选择和计算</a:t>
            </a:r>
            <a:endParaRPr lang="en-US" altLang="zh-CN"/>
          </a:p>
        </p:txBody>
      </p:sp>
      <p:sp>
        <p:nvSpPr>
          <p:cNvPr id="17" name="文本框 16"/>
          <p:cNvSpPr txBox="1"/>
          <p:nvPr/>
        </p:nvSpPr>
        <p:spPr>
          <a:xfrm>
            <a:off x="909955" y="6101715"/>
            <a:ext cx="6898005" cy="398780"/>
          </a:xfrm>
          <a:prstGeom prst="rect">
            <a:avLst/>
          </a:prstGeom>
          <a:noFill/>
        </p:spPr>
        <p:txBody>
          <a:bodyPr wrap="square" rtlCol="0">
            <a:spAutoFit/>
          </a:bodyPr>
          <a:p>
            <a:r>
              <a:rPr lang="en-US" altLang="zh-CN"/>
              <a:t>11</a:t>
            </a:r>
            <a:r>
              <a:rPr lang="zh-CN" altLang="en-US"/>
              <a:t>、联轴器的选择</a:t>
            </a:r>
            <a:endParaRPr lang="en-US" altLang="zh-CN"/>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6" name="Picture 31" descr="back">
            <a:hlinkClick r:id="" action="ppaction://hlinkshowjump?jump=previousslide"/>
          </p:cNvPr>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332788" y="6532563"/>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32" descr="NEXT">
            <a:hlinkClick r:id="" action="ppaction://hlinkshowjump?jump=nextslide"/>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742363" y="6532563"/>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33" descr="rewind">
            <a:hlinkClick r:id="" action="ppaction://hlinkshowjump?jump=first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24800" y="6532563"/>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286500" y="838200"/>
            <a:ext cx="2284413" cy="314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p:cNvSpPr txBox="1">
            <a:spLocks noChangeArrowheads="1"/>
          </p:cNvSpPr>
          <p:nvPr/>
        </p:nvSpPr>
        <p:spPr bwMode="auto">
          <a:xfrm>
            <a:off x="338455" y="906145"/>
            <a:ext cx="560832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r>
              <a:rPr lang="zh-CN" altLang="zh-CN" sz="2400">
                <a:solidFill>
                  <a:srgbClr val="C00000"/>
                </a:solidFill>
                <a:latin typeface="黑体" panose="02010609060101010101" pitchFamily="49" charset="-122"/>
                <a:ea typeface="黑体" panose="02010609060101010101" pitchFamily="49" charset="-122"/>
                <a:cs typeface="黑体" panose="02010609060101010101" pitchFamily="49" charset="-122"/>
              </a:rPr>
              <a:t>以高速轴</a:t>
            </a:r>
            <a:r>
              <a:rPr lang="en-US" altLang="zh-CN" sz="2400">
                <a:solidFill>
                  <a:srgbClr val="C00000"/>
                </a:solidFill>
                <a:latin typeface="黑体" panose="02010609060101010101" pitchFamily="49" charset="-122"/>
                <a:ea typeface="黑体" panose="02010609060101010101" pitchFamily="49" charset="-122"/>
                <a:cs typeface="黑体" panose="02010609060101010101" pitchFamily="49" charset="-122"/>
              </a:rPr>
              <a:t>I</a:t>
            </a:r>
            <a:r>
              <a:rPr lang="zh-CN" altLang="zh-CN" sz="2400">
                <a:solidFill>
                  <a:srgbClr val="C00000"/>
                </a:solidFill>
                <a:latin typeface="黑体" panose="02010609060101010101" pitchFamily="49" charset="-122"/>
                <a:ea typeface="黑体" panose="02010609060101010101" pitchFamily="49" charset="-122"/>
                <a:cs typeface="黑体" panose="02010609060101010101" pitchFamily="49" charset="-122"/>
              </a:rPr>
              <a:t>的设计为主例，举一反三。 </a:t>
            </a:r>
            <a:endParaRPr lang="zh-CN" altLang="zh-CN" sz="2400">
              <a:solidFill>
                <a:srgbClr val="C00000"/>
              </a:solidFill>
              <a:latin typeface="黑体" panose="02010609060101010101" pitchFamily="49" charset="-122"/>
              <a:ea typeface="黑体" panose="02010609060101010101" pitchFamily="49" charset="-122"/>
              <a:cs typeface="黑体" panose="02010609060101010101" pitchFamily="49" charset="-122"/>
            </a:endParaRPr>
          </a:p>
        </p:txBody>
      </p:sp>
      <p:sp>
        <p:nvSpPr>
          <p:cNvPr id="4" name="文本框 3"/>
          <p:cNvSpPr txBox="1">
            <a:spLocks noRot="1" noChangeAspect="1" noMove="1" noResize="1" noEditPoints="1" noAdjustHandles="1" noChangeArrowheads="1" noChangeShapeType="1" noTextEdit="1"/>
          </p:cNvSpPr>
          <p:nvPr/>
        </p:nvSpPr>
        <p:spPr>
          <a:xfrm>
            <a:off x="493725" y="1360806"/>
            <a:ext cx="5800900" cy="967316"/>
          </a:xfrm>
          <a:prstGeom prst="rect">
            <a:avLst/>
          </a:prstGeom>
          <a:blipFill>
            <a:blip r:embed="rId5"/>
            <a:stretch>
              <a:fillRect l="-1157" r="-210" b="-10759"/>
            </a:stretch>
          </a:blipFill>
        </p:spPr>
        <p:txBody>
          <a:bodyPr/>
          <a:lstStyle/>
          <a:p>
            <a:pPr>
              <a:defRPr/>
            </a:pPr>
            <a:r>
              <a:rPr lang="zh-CN" altLang="en-US">
                <a:noFill/>
              </a:rPr>
              <a:t> </a:t>
            </a:r>
            <a:endParaRPr lang="zh-CN" altLang="en-US">
              <a:noFill/>
            </a:endParaRPr>
          </a:p>
        </p:txBody>
      </p:sp>
      <p:sp>
        <p:nvSpPr>
          <p:cNvPr id="5" name="文本框 4"/>
          <p:cNvSpPr txBox="1">
            <a:spLocks noChangeArrowheads="1"/>
          </p:cNvSpPr>
          <p:nvPr/>
        </p:nvSpPr>
        <p:spPr bwMode="auto">
          <a:xfrm>
            <a:off x="6526213" y="3925888"/>
            <a:ext cx="22161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r>
              <a:rPr lang="zh-CN" altLang="zh-CN" sz="1600"/>
              <a:t>图</a:t>
            </a:r>
            <a:r>
              <a:rPr lang="en-US" altLang="zh-CN" sz="1600"/>
              <a:t>3.7-20 </a:t>
            </a:r>
            <a:r>
              <a:rPr lang="zh-CN" altLang="zh-CN" sz="1600"/>
              <a:t>减速器轴设计</a:t>
            </a:r>
            <a:endParaRPr lang="zh-CN" altLang="zh-CN" sz="1600"/>
          </a:p>
        </p:txBody>
      </p:sp>
      <p:sp>
        <p:nvSpPr>
          <p:cNvPr id="15" name="文本框 14"/>
          <p:cNvSpPr txBox="1">
            <a:spLocks noChangeArrowheads="1"/>
          </p:cNvSpPr>
          <p:nvPr/>
        </p:nvSpPr>
        <p:spPr bwMode="auto">
          <a:xfrm>
            <a:off x="935038" y="2408238"/>
            <a:ext cx="2946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r>
              <a:rPr lang="en-US" altLang="zh-CN">
                <a:solidFill>
                  <a:srgbClr val="C00000"/>
                </a:solidFill>
              </a:rPr>
              <a:t>1.  </a:t>
            </a:r>
            <a:r>
              <a:rPr lang="zh-CN" altLang="zh-CN">
                <a:solidFill>
                  <a:srgbClr val="C00000"/>
                </a:solidFill>
              </a:rPr>
              <a:t>求作用在齿轮上的力</a:t>
            </a:r>
            <a:endParaRPr lang="zh-CN" altLang="zh-CN">
              <a:solidFill>
                <a:srgbClr val="C00000"/>
              </a:solidFill>
            </a:endParaRPr>
          </a:p>
        </p:txBody>
      </p:sp>
      <p:sp>
        <p:nvSpPr>
          <p:cNvPr id="16" name="文本框 15"/>
          <p:cNvSpPr txBox="1">
            <a:spLocks noChangeArrowheads="1"/>
          </p:cNvSpPr>
          <p:nvPr/>
        </p:nvSpPr>
        <p:spPr bwMode="auto">
          <a:xfrm>
            <a:off x="935038" y="2892425"/>
            <a:ext cx="38782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r>
              <a:rPr lang="zh-CN" altLang="zh-CN"/>
              <a:t>已知高速级齿轮的分度圆直径为</a:t>
            </a:r>
            <a:endParaRPr lang="zh-CN" altLang="zh-CN"/>
          </a:p>
        </p:txBody>
      </p:sp>
      <p:sp>
        <p:nvSpPr>
          <p:cNvPr id="17" name="文本框 16"/>
          <p:cNvSpPr txBox="1">
            <a:spLocks noRot="1" noChangeAspect="1" noMove="1" noResize="1" noEditPoints="1" noAdjustHandles="1" noChangeArrowheads="1" noChangeShapeType="1" noTextEdit="1"/>
          </p:cNvSpPr>
          <p:nvPr/>
        </p:nvSpPr>
        <p:spPr>
          <a:xfrm>
            <a:off x="938070" y="3412249"/>
            <a:ext cx="5090555" cy="407099"/>
          </a:xfrm>
          <a:prstGeom prst="rect">
            <a:avLst/>
          </a:prstGeom>
          <a:blipFill>
            <a:blip r:embed="rId6"/>
            <a:stretch>
              <a:fillRect t="-7463" b="-25373"/>
            </a:stretch>
          </a:blipFill>
        </p:spPr>
        <p:txBody>
          <a:bodyPr/>
          <a:lstStyle/>
          <a:p>
            <a:pPr>
              <a:defRPr/>
            </a:pPr>
            <a:r>
              <a:rPr lang="zh-CN" altLang="en-US">
                <a:noFill/>
              </a:rPr>
              <a:t> </a:t>
            </a:r>
            <a:endParaRPr lang="zh-CN" altLang="en-US">
              <a:noFill/>
            </a:endParaRPr>
          </a:p>
        </p:txBody>
      </p:sp>
      <p:sp>
        <p:nvSpPr>
          <p:cNvPr id="19" name="文本框 18"/>
          <p:cNvSpPr txBox="1">
            <a:spLocks noRot="1" noChangeAspect="1" noMove="1" noResize="1" noEditPoints="1" noAdjustHandles="1" noChangeArrowheads="1" noChangeShapeType="1" noTextEdit="1"/>
          </p:cNvSpPr>
          <p:nvPr/>
        </p:nvSpPr>
        <p:spPr>
          <a:xfrm>
            <a:off x="1192255" y="4032909"/>
            <a:ext cx="5710093" cy="2032223"/>
          </a:xfrm>
          <a:prstGeom prst="rect">
            <a:avLst/>
          </a:prstGeom>
          <a:blipFill>
            <a:blip r:embed="rId7"/>
            <a:stretch>
              <a:fillRect b="-4505"/>
            </a:stretch>
          </a:blipFill>
        </p:spPr>
        <p:txBody>
          <a:bodyPr/>
          <a:lstStyle/>
          <a:p>
            <a:pPr>
              <a:defRPr/>
            </a:pPr>
            <a:r>
              <a:rPr lang="zh-CN" altLang="en-US">
                <a:noFill/>
              </a:rPr>
              <a:t> </a:t>
            </a:r>
            <a:endParaRPr lang="zh-CN" altLang="en-US">
              <a:noFill/>
            </a:endParaRPr>
          </a:p>
        </p:txBody>
      </p:sp>
      <p:sp>
        <p:nvSpPr>
          <p:cNvPr id="20" name="文本框 19"/>
          <p:cNvSpPr txBox="1">
            <a:spLocks noChangeArrowheads="1"/>
          </p:cNvSpPr>
          <p:nvPr/>
        </p:nvSpPr>
        <p:spPr bwMode="auto">
          <a:xfrm>
            <a:off x="935038" y="3895725"/>
            <a:ext cx="441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r>
              <a:rPr lang="zh-CN" altLang="en-US"/>
              <a:t>则</a:t>
            </a:r>
            <a:endParaRPr lang="zh-CN" altLang="en-US"/>
          </a:p>
        </p:txBody>
      </p:sp>
      <p:sp>
        <p:nvSpPr>
          <p:cNvPr id="9" name="文本框 8"/>
          <p:cNvSpPr txBox="1"/>
          <p:nvPr/>
        </p:nvSpPr>
        <p:spPr>
          <a:xfrm>
            <a:off x="2926715" y="193675"/>
            <a:ext cx="3840480" cy="460375"/>
          </a:xfrm>
          <a:prstGeom prst="rect">
            <a:avLst/>
          </a:prstGeom>
          <a:noFill/>
        </p:spPr>
        <p:txBody>
          <a:bodyPr wrap="none" rtlCol="0" anchor="t">
            <a:spAutoFit/>
          </a:bodyPr>
          <a:lstStyle/>
          <a:p>
            <a:r>
              <a:rPr lang="zh-CN" altLang="zh-CN" sz="2400">
                <a:solidFill>
                  <a:srgbClr val="C00000"/>
                </a:solidFill>
                <a:latin typeface="黑体" panose="02010609060101010101" pitchFamily="49" charset="-122"/>
                <a:ea typeface="黑体" panose="02010609060101010101" pitchFamily="49" charset="-122"/>
                <a:sym typeface="+mn-ea"/>
              </a:rPr>
              <a:t>案例</a:t>
            </a:r>
            <a:r>
              <a:rPr lang="en-US" altLang="zh-CN" sz="2400">
                <a:solidFill>
                  <a:srgbClr val="C00000"/>
                </a:solidFill>
                <a:latin typeface="黑体" panose="02010609060101010101" pitchFamily="49" charset="-122"/>
                <a:ea typeface="黑体" panose="02010609060101010101" pitchFamily="49" charset="-122"/>
                <a:sym typeface="+mn-ea"/>
              </a:rPr>
              <a:t>2 </a:t>
            </a:r>
            <a:r>
              <a:rPr lang="zh-CN" altLang="zh-CN" sz="2400">
                <a:solidFill>
                  <a:srgbClr val="C00000"/>
                </a:solidFill>
                <a:latin typeface="黑体" panose="02010609060101010101" pitchFamily="49" charset="-122"/>
                <a:ea typeface="黑体" panose="02010609060101010101" pitchFamily="49" charset="-122"/>
                <a:sym typeface="+mn-ea"/>
              </a:rPr>
              <a:t>齿轮减速器轴的设计</a:t>
            </a:r>
            <a:endParaRPr lang="zh-CN" altLang="zh-CN" sz="2400">
              <a:solidFill>
                <a:srgbClr val="C00000"/>
              </a:solidFill>
              <a:latin typeface="黑体" panose="02010609060101010101" pitchFamily="49" charset="-122"/>
              <a:ea typeface="黑体" panose="02010609060101010101" pitchFamily="49" charset="-122"/>
              <a:sym typeface="+mn-ea"/>
            </a:endParaRPr>
          </a:p>
        </p:txBody>
      </p:sp>
      <p:sp>
        <p:nvSpPr>
          <p:cNvPr id="37895"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6"/>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nodeType="afterEffect">
                                  <p:stCondLst>
                                    <p:cond delay="0"/>
                                  </p:stCondLst>
                                  <p:childTnLst>
                                    <p:set>
                                      <p:cBhvr>
                                        <p:cTn id="9" dur="1" fill="hold">
                                          <p:stCondLst>
                                            <p:cond delay="499"/>
                                          </p:stCondLst>
                                        </p:cTn>
                                        <p:tgtEl>
                                          <p:spTgt spid="7"/>
                                        </p:tgtEl>
                                        <p:attrNameLst>
                                          <p:attrName>style.visibility</p:attrName>
                                        </p:attrNameLst>
                                      </p:cBhvr>
                                      <p:to>
                                        <p:strVal val="visible"/>
                                      </p:to>
                                    </p:set>
                                  </p:childTnLst>
                                </p:cTn>
                              </p:par>
                            </p:childTnLst>
                          </p:cTn>
                        </p:par>
                        <p:par>
                          <p:cTn id="10" fill="hold">
                            <p:stCondLst>
                              <p:cond delay="1000"/>
                            </p:stCondLst>
                            <p:childTnLst>
                              <p:par>
                                <p:cTn id="11" presetID="2" presetClass="entr" presetSubtype="8" fill="hold"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0-#ppt_w/2"/>
                                          </p:val>
                                        </p:tav>
                                        <p:tav tm="100000">
                                          <p:val>
                                            <p:strVal val="#ppt_x"/>
                                          </p:val>
                                        </p:tav>
                                      </p:tavLst>
                                    </p:anim>
                                    <p:anim calcmode="lin" valueType="num">
                                      <p:cBhvr additive="base">
                                        <p:cTn id="14"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wipe(left)">
                                      <p:cBhvr>
                                        <p:cTn id="19" dur="500"/>
                                        <p:tgtEl>
                                          <p:spTgt spid="2"/>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wipe(left)">
                                      <p:cBhvr>
                                        <p:cTn id="27" dur="500"/>
                                        <p:tgtEl>
                                          <p:spTgt spid="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wipe(left)">
                                      <p:cBhvr>
                                        <p:cTn id="32" dur="500"/>
                                        <p:tgtEl>
                                          <p:spTgt spid="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wipe(left)">
                                      <p:cBhvr>
                                        <p:cTn id="37" dur="500"/>
                                        <p:tgtEl>
                                          <p:spTgt spid="15"/>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wipe(left)">
                                      <p:cBhvr>
                                        <p:cTn id="42" dur="500"/>
                                        <p:tgtEl>
                                          <p:spTgt spid="16"/>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wipe(left)">
                                      <p:cBhvr>
                                        <p:cTn id="47" dur="500"/>
                                        <p:tgtEl>
                                          <p:spTgt spid="17"/>
                                        </p:tgtEl>
                                      </p:cBhvr>
                                    </p:animEffect>
                                  </p:childTnLst>
                                </p:cTn>
                              </p:par>
                              <p:par>
                                <p:cTn id="48" presetID="22" presetClass="entr" presetSubtype="8" fill="hold" grpId="0" nodeType="with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wipe(left)">
                                      <p:cBhvr>
                                        <p:cTn id="50" dur="500"/>
                                        <p:tgtEl>
                                          <p:spTgt spid="20"/>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wipe(left)">
                                      <p:cBhvr>
                                        <p:cTn id="55"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15" grpId="0"/>
      <p:bldP spid="16" grpId="0"/>
      <p:bldP spid="20" grpId="0"/>
    </p:bldLst>
  </p:timing>
</p:sld>
</file>

<file path=ppt/slides/slide8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6" name="Picture 31" descr="back">
            <a:hlinkClick r:id="" action="ppaction://hlinkshowjump?jump=previousslide"/>
          </p:cNvPr>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332788" y="6532563"/>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32" descr="NEXT">
            <a:hlinkClick r:id="" action="ppaction://hlinkshowjump?jump=nextslide"/>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742363" y="6532563"/>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33" descr="rewind">
            <a:hlinkClick r:id="" action="ppaction://hlinkshowjump?jump=first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24800" y="6532563"/>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文本框 8"/>
          <p:cNvSpPr txBox="1">
            <a:spLocks noChangeArrowheads="1"/>
          </p:cNvSpPr>
          <p:nvPr/>
        </p:nvSpPr>
        <p:spPr bwMode="auto">
          <a:xfrm>
            <a:off x="601663" y="1030605"/>
            <a:ext cx="64738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r>
              <a:rPr lang="en-US" altLang="zh-CN">
                <a:solidFill>
                  <a:srgbClr val="C00000"/>
                </a:solidFill>
              </a:rPr>
              <a:t>2. </a:t>
            </a:r>
            <a:r>
              <a:rPr lang="zh-CN" altLang="zh-CN">
                <a:solidFill>
                  <a:srgbClr val="C00000"/>
                </a:solidFill>
              </a:rPr>
              <a:t>初步确定轴的最小直径</a:t>
            </a:r>
            <a:endParaRPr lang="zh-CN" altLang="en-US">
              <a:solidFill>
                <a:srgbClr val="C00000"/>
              </a:solidFill>
            </a:endParaRPr>
          </a:p>
        </p:txBody>
      </p:sp>
      <p:sp>
        <p:nvSpPr>
          <p:cNvPr id="10" name="文本框 9"/>
          <p:cNvSpPr txBox="1">
            <a:spLocks noChangeArrowheads="1"/>
          </p:cNvSpPr>
          <p:nvPr/>
        </p:nvSpPr>
        <p:spPr bwMode="auto">
          <a:xfrm>
            <a:off x="302260" y="1574165"/>
            <a:ext cx="8709025" cy="1014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a:lnSpc>
                <a:spcPct val="150000"/>
              </a:lnSpc>
            </a:pPr>
            <a:r>
              <a:rPr lang="en-US" altLang="zh-CN"/>
              <a:t>        </a:t>
            </a:r>
            <a:r>
              <a:rPr lang="zh-CN" altLang="zh-CN"/>
              <a:t>由</a:t>
            </a:r>
            <a:r>
              <a:rPr lang="zh-CN" altLang="zh-CN">
                <a:latin typeface="黑体" panose="02010609060101010101" pitchFamily="49" charset="-122"/>
                <a:ea typeface="黑体" panose="02010609060101010101" pitchFamily="49" charset="-122"/>
                <a:cs typeface="黑体" panose="02010609060101010101" pitchFamily="49" charset="-122"/>
              </a:rPr>
              <a:t>式（</a:t>
            </a:r>
            <a:r>
              <a:rPr lang="en-US" altLang="zh-CN">
                <a:latin typeface="黑体" panose="02010609060101010101" pitchFamily="49" charset="-122"/>
                <a:ea typeface="黑体" panose="02010609060101010101" pitchFamily="49" charset="-122"/>
                <a:cs typeface="黑体" panose="02010609060101010101" pitchFamily="49" charset="-122"/>
              </a:rPr>
              <a:t>3.7-2</a:t>
            </a:r>
            <a:r>
              <a:rPr lang="zh-CN" altLang="zh-CN">
                <a:latin typeface="黑体" panose="02010609060101010101" pitchFamily="49" charset="-122"/>
                <a:ea typeface="黑体" panose="02010609060101010101" pitchFamily="49" charset="-122"/>
                <a:cs typeface="黑体" panose="02010609060101010101" pitchFamily="49" charset="-122"/>
              </a:rPr>
              <a:t>）初步估算轴的最小直径。选取轴的材料</a:t>
            </a:r>
            <a:r>
              <a:rPr lang="en-US" altLang="zh-CN">
                <a:latin typeface="黑体" panose="02010609060101010101" pitchFamily="49" charset="-122"/>
                <a:ea typeface="黑体" panose="02010609060101010101" pitchFamily="49" charset="-122"/>
                <a:cs typeface="黑体" panose="02010609060101010101" pitchFamily="49" charset="-122"/>
              </a:rPr>
              <a:t>45</a:t>
            </a:r>
            <a:r>
              <a:rPr lang="zh-CN" altLang="zh-CN">
                <a:latin typeface="黑体" panose="02010609060101010101" pitchFamily="49" charset="-122"/>
                <a:ea typeface="黑体" panose="02010609060101010101" pitchFamily="49" charset="-122"/>
                <a:cs typeface="黑体" panose="02010609060101010101" pitchFamily="49" charset="-122"/>
              </a:rPr>
              <a:t>钢，调制处理。根据表</a:t>
            </a:r>
            <a:r>
              <a:rPr lang="en-US" altLang="zh-CN">
                <a:latin typeface="黑体" panose="02010609060101010101" pitchFamily="49" charset="-122"/>
                <a:ea typeface="黑体" panose="02010609060101010101" pitchFamily="49" charset="-122"/>
                <a:cs typeface="黑体" panose="02010609060101010101" pitchFamily="49" charset="-122"/>
              </a:rPr>
              <a:t>3.7-6</a:t>
            </a:r>
            <a:r>
              <a:rPr lang="zh-CN" altLang="zh-CN">
                <a:latin typeface="黑体" panose="02010609060101010101" pitchFamily="49" charset="-122"/>
                <a:ea typeface="黑体" panose="02010609060101010101" pitchFamily="49" charset="-122"/>
                <a:cs typeface="黑体" panose="02010609060101010101" pitchFamily="49" charset="-122"/>
              </a:rPr>
              <a:t>，取</a:t>
            </a:r>
            <a:r>
              <a:rPr lang="en-US" altLang="zh-CN">
                <a:latin typeface="黑体" panose="02010609060101010101" pitchFamily="49" charset="-122"/>
                <a:ea typeface="黑体" panose="02010609060101010101" pitchFamily="49" charset="-122"/>
                <a:cs typeface="黑体" panose="02010609060101010101" pitchFamily="49" charset="-122"/>
              </a:rPr>
              <a:t>C=112,</a:t>
            </a:r>
            <a:r>
              <a:rPr lang="zh-CN" altLang="zh-CN">
                <a:latin typeface="黑体" panose="02010609060101010101" pitchFamily="49" charset="-122"/>
                <a:ea typeface="黑体" panose="02010609060101010101" pitchFamily="49" charset="-122"/>
                <a:cs typeface="黑体" panose="02010609060101010101" pitchFamily="49" charset="-122"/>
              </a:rPr>
              <a:t>于是得</a:t>
            </a:r>
            <a:endParaRPr lang="zh-CN" altLang="zh-CN">
              <a:latin typeface="黑体" panose="02010609060101010101" pitchFamily="49" charset="-122"/>
              <a:ea typeface="黑体" panose="02010609060101010101" pitchFamily="49" charset="-122"/>
              <a:cs typeface="黑体" panose="02010609060101010101" pitchFamily="49" charset="-122"/>
            </a:endParaRPr>
          </a:p>
        </p:txBody>
      </p:sp>
      <p:sp>
        <p:nvSpPr>
          <p:cNvPr id="11" name="文本框 10"/>
          <p:cNvSpPr txBox="1">
            <a:spLocks noRot="1" noChangeAspect="1" noMove="1" noResize="1" noEditPoints="1" noAdjustHandles="1" noChangeArrowheads="1" noChangeShapeType="1" noTextEdit="1"/>
          </p:cNvSpPr>
          <p:nvPr/>
        </p:nvSpPr>
        <p:spPr>
          <a:xfrm>
            <a:off x="1995054" y="2736342"/>
            <a:ext cx="4740030" cy="737766"/>
          </a:xfrm>
          <a:prstGeom prst="rect">
            <a:avLst/>
          </a:prstGeom>
          <a:blipFill>
            <a:blip r:embed="rId4"/>
            <a:stretch>
              <a:fillRect/>
            </a:stretch>
          </a:blipFill>
        </p:spPr>
        <p:txBody>
          <a:bodyPr/>
          <a:lstStyle/>
          <a:p>
            <a:pPr>
              <a:defRPr/>
            </a:pPr>
            <a:r>
              <a:rPr lang="zh-CN" altLang="en-US">
                <a:noFill/>
              </a:rPr>
              <a:t> </a:t>
            </a:r>
            <a:endParaRPr lang="zh-CN" altLang="en-US">
              <a:noFill/>
            </a:endParaRPr>
          </a:p>
        </p:txBody>
      </p:sp>
      <p:sp>
        <p:nvSpPr>
          <p:cNvPr id="12" name="文本框 11"/>
          <p:cNvSpPr txBox="1">
            <a:spLocks noRot="1" noChangeAspect="1" noMove="1" noResize="1" noEditPoints="1" noAdjustHandles="1" noChangeArrowheads="1" noChangeShapeType="1" noTextEdit="1"/>
          </p:cNvSpPr>
          <p:nvPr/>
        </p:nvSpPr>
        <p:spPr>
          <a:xfrm>
            <a:off x="1286524" y="4163804"/>
            <a:ext cx="3851563" cy="400110"/>
          </a:xfrm>
          <a:prstGeom prst="rect">
            <a:avLst/>
          </a:prstGeom>
          <a:blipFill>
            <a:blip r:embed="rId5"/>
            <a:stretch>
              <a:fillRect l="-1741" t="-7576" r="-316" b="-25758"/>
            </a:stretch>
          </a:blipFill>
        </p:spPr>
        <p:txBody>
          <a:bodyPr/>
          <a:lstStyle/>
          <a:p>
            <a:pPr>
              <a:defRPr/>
            </a:pPr>
            <a:r>
              <a:rPr lang="zh-CN" altLang="en-US">
                <a:noFill/>
              </a:rPr>
              <a:t> </a:t>
            </a:r>
            <a:endParaRPr lang="zh-CN" altLang="en-US">
              <a:noFill/>
            </a:endParaRPr>
          </a:p>
        </p:txBody>
      </p:sp>
      <p:sp>
        <p:nvSpPr>
          <p:cNvPr id="14" name="文本框 13"/>
          <p:cNvSpPr txBox="1">
            <a:spLocks noChangeArrowheads="1"/>
          </p:cNvSpPr>
          <p:nvPr/>
        </p:nvSpPr>
        <p:spPr bwMode="auto">
          <a:xfrm>
            <a:off x="823913" y="4953000"/>
            <a:ext cx="20685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r>
              <a:rPr lang="en-US" altLang="zh-CN">
                <a:solidFill>
                  <a:srgbClr val="C00000"/>
                </a:solidFill>
              </a:rPr>
              <a:t>3. </a:t>
            </a:r>
            <a:r>
              <a:rPr lang="zh-CN" altLang="zh-CN">
                <a:solidFill>
                  <a:srgbClr val="C00000"/>
                </a:solidFill>
              </a:rPr>
              <a:t>轴的结构设计</a:t>
            </a:r>
            <a:endParaRPr lang="zh-CN" altLang="zh-CN">
              <a:solidFill>
                <a:srgbClr val="C00000"/>
              </a:solidFill>
            </a:endParaRPr>
          </a:p>
        </p:txBody>
      </p:sp>
      <p:sp>
        <p:nvSpPr>
          <p:cNvPr id="18" name="文本框 17"/>
          <p:cNvSpPr txBox="1">
            <a:spLocks noChangeArrowheads="1"/>
          </p:cNvSpPr>
          <p:nvPr/>
        </p:nvSpPr>
        <p:spPr bwMode="auto">
          <a:xfrm>
            <a:off x="823913" y="5402898"/>
            <a:ext cx="62341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r>
              <a:rPr lang="zh-CN" altLang="en-US"/>
              <a:t>（</a:t>
            </a:r>
            <a:r>
              <a:rPr lang="en-US" altLang="zh-CN"/>
              <a:t>1</a:t>
            </a:r>
            <a:r>
              <a:rPr lang="zh-CN" altLang="en-US"/>
              <a:t>）</a:t>
            </a:r>
            <a:r>
              <a:rPr lang="zh-CN" altLang="zh-CN"/>
              <a:t>根据轴上所需装配的零件进行轴的结构方案设计</a:t>
            </a:r>
            <a:endParaRPr lang="zh-CN" altLang="zh-CN"/>
          </a:p>
        </p:txBody>
      </p:sp>
      <p:sp>
        <p:nvSpPr>
          <p:cNvPr id="22" name="文本框 21"/>
          <p:cNvSpPr txBox="1">
            <a:spLocks noChangeArrowheads="1"/>
          </p:cNvSpPr>
          <p:nvPr/>
        </p:nvSpPr>
        <p:spPr bwMode="auto">
          <a:xfrm>
            <a:off x="887413" y="5853430"/>
            <a:ext cx="4978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r>
              <a:rPr lang="zh-CN" altLang="zh-CN"/>
              <a:t>先拟定轴的结构草图如下，如图</a:t>
            </a:r>
            <a:r>
              <a:rPr lang="en-US" altLang="zh-CN"/>
              <a:t>3.7</a:t>
            </a:r>
            <a:r>
              <a:rPr lang="zh-CN" altLang="zh-CN"/>
              <a:t>—</a:t>
            </a:r>
            <a:r>
              <a:rPr lang="en-US" altLang="zh-CN"/>
              <a:t>21</a:t>
            </a:r>
            <a:r>
              <a:rPr lang="zh-CN" altLang="zh-CN"/>
              <a:t>。</a:t>
            </a:r>
            <a:endParaRPr lang="zh-CN" altLang="zh-CN"/>
          </a:p>
        </p:txBody>
      </p:sp>
      <p:sp>
        <p:nvSpPr>
          <p:cNvPr id="2" name="文本框 1"/>
          <p:cNvSpPr txBox="1"/>
          <p:nvPr/>
        </p:nvSpPr>
        <p:spPr>
          <a:xfrm>
            <a:off x="2926715" y="193675"/>
            <a:ext cx="3840480" cy="460375"/>
          </a:xfrm>
          <a:prstGeom prst="rect">
            <a:avLst/>
          </a:prstGeom>
          <a:noFill/>
        </p:spPr>
        <p:txBody>
          <a:bodyPr wrap="none" rtlCol="0" anchor="t">
            <a:spAutoFit/>
          </a:bodyPr>
          <a:lstStyle/>
          <a:p>
            <a:r>
              <a:rPr lang="zh-CN" altLang="zh-CN" sz="2400">
                <a:solidFill>
                  <a:srgbClr val="C00000"/>
                </a:solidFill>
                <a:latin typeface="黑体" panose="02010609060101010101" pitchFamily="49" charset="-122"/>
                <a:ea typeface="黑体" panose="02010609060101010101" pitchFamily="49" charset="-122"/>
                <a:sym typeface="+mn-ea"/>
              </a:rPr>
              <a:t>案例</a:t>
            </a:r>
            <a:r>
              <a:rPr lang="en-US" altLang="zh-CN" sz="2400">
                <a:solidFill>
                  <a:srgbClr val="C00000"/>
                </a:solidFill>
                <a:latin typeface="黑体" panose="02010609060101010101" pitchFamily="49" charset="-122"/>
                <a:ea typeface="黑体" panose="02010609060101010101" pitchFamily="49" charset="-122"/>
                <a:sym typeface="+mn-ea"/>
              </a:rPr>
              <a:t>2 </a:t>
            </a:r>
            <a:r>
              <a:rPr lang="zh-CN" altLang="zh-CN" sz="2400">
                <a:solidFill>
                  <a:srgbClr val="C00000"/>
                </a:solidFill>
                <a:latin typeface="黑体" panose="02010609060101010101" pitchFamily="49" charset="-122"/>
                <a:ea typeface="黑体" panose="02010609060101010101" pitchFamily="49" charset="-122"/>
                <a:sym typeface="+mn-ea"/>
              </a:rPr>
              <a:t>齿轮减速器轴的设计</a:t>
            </a:r>
            <a:endParaRPr lang="zh-CN" altLang="zh-CN" sz="2400">
              <a:solidFill>
                <a:srgbClr val="C00000"/>
              </a:solidFill>
              <a:latin typeface="黑体" panose="02010609060101010101" pitchFamily="49" charset="-122"/>
              <a:ea typeface="黑体" panose="02010609060101010101" pitchFamily="49" charset="-122"/>
              <a:sym typeface="+mn-ea"/>
            </a:endParaRPr>
          </a:p>
        </p:txBody>
      </p:sp>
      <p:sp>
        <p:nvSpPr>
          <p:cNvPr id="37895"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 name="文本框 2"/>
          <p:cNvSpPr txBox="1"/>
          <p:nvPr/>
        </p:nvSpPr>
        <p:spPr>
          <a:xfrm>
            <a:off x="1040765" y="3619500"/>
            <a:ext cx="7268210" cy="398780"/>
          </a:xfrm>
          <a:prstGeom prst="rect">
            <a:avLst/>
          </a:prstGeom>
          <a:noFill/>
        </p:spPr>
        <p:txBody>
          <a:bodyPr wrap="square" rtlCol="0">
            <a:spAutoFit/>
          </a:bodyPr>
          <a:p>
            <a:r>
              <a:rPr lang="zh-CN" altLang="en-US">
                <a:latin typeface="黑体" panose="02010609060101010101" pitchFamily="49" charset="-122"/>
                <a:ea typeface="黑体" panose="02010609060101010101" pitchFamily="49" charset="-122"/>
                <a:cs typeface="黑体" panose="02010609060101010101" pitchFamily="49" charset="-122"/>
              </a:rPr>
              <a:t>最小直径轴段装配大带轮，因此查表</a:t>
            </a:r>
            <a:r>
              <a:rPr lang="en-US" altLang="zh-CN">
                <a:latin typeface="黑体" panose="02010609060101010101" pitchFamily="49" charset="-122"/>
                <a:ea typeface="黑体" panose="02010609060101010101" pitchFamily="49" charset="-122"/>
                <a:cs typeface="黑体" panose="02010609060101010101" pitchFamily="49" charset="-122"/>
              </a:rPr>
              <a:t>3.7-5 </a:t>
            </a:r>
            <a:endParaRPr lang="en-US" altLang="zh-CN">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6"/>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nodeType="afterEffect">
                                  <p:stCondLst>
                                    <p:cond delay="0"/>
                                  </p:stCondLst>
                                  <p:childTnLst>
                                    <p:set>
                                      <p:cBhvr>
                                        <p:cTn id="9" dur="1" fill="hold">
                                          <p:stCondLst>
                                            <p:cond delay="499"/>
                                          </p:stCondLst>
                                        </p:cTn>
                                        <p:tgtEl>
                                          <p:spTgt spid="7"/>
                                        </p:tgtEl>
                                        <p:attrNameLst>
                                          <p:attrName>style.visibility</p:attrName>
                                        </p:attrNameLst>
                                      </p:cBhvr>
                                      <p:to>
                                        <p:strVal val="visible"/>
                                      </p:to>
                                    </p:set>
                                  </p:childTnLst>
                                </p:cTn>
                              </p:par>
                            </p:childTnLst>
                          </p:cTn>
                        </p:par>
                        <p:par>
                          <p:cTn id="10" fill="hold">
                            <p:stCondLst>
                              <p:cond delay="1000"/>
                            </p:stCondLst>
                            <p:childTnLst>
                              <p:par>
                                <p:cTn id="11" presetID="2" presetClass="entr" presetSubtype="8" fill="hold"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0-#ppt_w/2"/>
                                          </p:val>
                                        </p:tav>
                                        <p:tav tm="100000">
                                          <p:val>
                                            <p:strVal val="#ppt_x"/>
                                          </p:val>
                                        </p:tav>
                                      </p:tavLst>
                                    </p:anim>
                                    <p:anim calcmode="lin" valueType="num">
                                      <p:cBhvr additive="base">
                                        <p:cTn id="14"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left)">
                                      <p:cBhvr>
                                        <p:cTn id="19" dur="5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wipe(left)">
                                      <p:cBhvr>
                                        <p:cTn id="24" dur="500"/>
                                        <p:tgtEl>
                                          <p:spTgt spid="10"/>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wipe(left)">
                                      <p:cBhvr>
                                        <p:cTn id="29" dur="500"/>
                                        <p:tgtEl>
                                          <p:spTgt spid="11"/>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wipe(left)">
                                      <p:cBhvr>
                                        <p:cTn id="34" dur="500"/>
                                        <p:tgtEl>
                                          <p:spTgt spid="12"/>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wipe(left)">
                                      <p:cBhvr>
                                        <p:cTn id="39" dur="5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wipe(left)">
                                      <p:cBhvr>
                                        <p:cTn id="44" dur="500"/>
                                        <p:tgtEl>
                                          <p:spTgt spid="18"/>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22"/>
                                        </p:tgtEl>
                                        <p:attrNameLst>
                                          <p:attrName>style.visibility</p:attrName>
                                        </p:attrNameLst>
                                      </p:cBhvr>
                                      <p:to>
                                        <p:strVal val="visible"/>
                                      </p:to>
                                    </p:set>
                                    <p:animEffect transition="in" filter="wipe(left)">
                                      <p:cBhvr>
                                        <p:cTn id="49"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4" grpId="0"/>
      <p:bldP spid="18" grpId="0"/>
      <p:bldP spid="22" grpId="0"/>
    </p:bldLst>
  </p:timing>
</p:sld>
</file>

<file path=ppt/slides/slide8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6" name="Picture 31" descr="back">
            <a:hlinkClick r:id="" action="ppaction://hlinkshowjump?jump=previousslide"/>
          </p:cNvPr>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332788" y="6532563"/>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32" descr="NEXT">
            <a:hlinkClick r:id="rId2" action="ppaction://hlinksldjump"/>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42363" y="6532563"/>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33" descr="rewind">
            <a:hlinkClick r:id="" action="ppaction://hlinkshowjump?jump=firstslide"/>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924800" y="6532563"/>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图片 14"/>
          <p:cNvPicPr>
            <a:picLocks noChangeAspect="1" noChangeArrowheads="1"/>
          </p:cNvPicPr>
          <p:nvPr/>
        </p:nvPicPr>
        <p:blipFill>
          <a:blip r:embed="rId5">
            <a:biLevel thresh="50000"/>
            <a:extLst>
              <a:ext uri="{28A0092B-C50C-407E-A947-70E740481C1C}">
                <a14:useLocalDpi xmlns:a14="http://schemas.microsoft.com/office/drawing/2010/main" val="0"/>
              </a:ext>
            </a:extLst>
          </a:blip>
          <a:srcRect/>
          <a:stretch>
            <a:fillRect/>
          </a:stretch>
        </p:blipFill>
        <p:spPr bwMode="auto">
          <a:xfrm>
            <a:off x="1500505" y="1024255"/>
            <a:ext cx="5009515" cy="2256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a:spLocks noChangeArrowheads="1"/>
          </p:cNvSpPr>
          <p:nvPr/>
        </p:nvSpPr>
        <p:spPr bwMode="auto">
          <a:xfrm>
            <a:off x="2477135" y="3368040"/>
            <a:ext cx="2587625" cy="337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r>
              <a:rPr lang="zh-CN" altLang="zh-CN" sz="1600"/>
              <a:t>图</a:t>
            </a:r>
            <a:r>
              <a:rPr lang="en-US" altLang="zh-CN" sz="1600"/>
              <a:t>3.7-21 </a:t>
            </a:r>
            <a:r>
              <a:rPr lang="zh-CN" altLang="zh-CN" sz="1600"/>
              <a:t>轴结构方案草图</a:t>
            </a:r>
            <a:r>
              <a:rPr lang="zh-CN" altLang="en-US" sz="1600"/>
              <a:t>一</a:t>
            </a:r>
            <a:endParaRPr lang="zh-CN" altLang="en-US" sz="1600"/>
          </a:p>
        </p:txBody>
      </p:sp>
      <p:sp>
        <p:nvSpPr>
          <p:cNvPr id="3" name="文本框 2"/>
          <p:cNvSpPr txBox="1">
            <a:spLocks noChangeArrowheads="1"/>
          </p:cNvSpPr>
          <p:nvPr/>
        </p:nvSpPr>
        <p:spPr bwMode="auto">
          <a:xfrm>
            <a:off x="2476500" y="6280468"/>
            <a:ext cx="33337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r>
              <a:rPr lang="zh-CN" altLang="zh-CN" sz="1600"/>
              <a:t>图</a:t>
            </a:r>
            <a:r>
              <a:rPr lang="en-US" altLang="zh-CN" sz="1600"/>
              <a:t>3.7-22 </a:t>
            </a:r>
            <a:r>
              <a:rPr lang="zh-CN" altLang="zh-CN" sz="1600"/>
              <a:t>轴结构方案草图</a:t>
            </a:r>
            <a:r>
              <a:rPr lang="zh-CN" altLang="en-US" sz="1600"/>
              <a:t>二</a:t>
            </a:r>
            <a:endParaRPr lang="zh-CN" altLang="zh-CN" sz="1600"/>
          </a:p>
        </p:txBody>
      </p:sp>
      <p:pic>
        <p:nvPicPr>
          <p:cNvPr id="5" name="图片 4"/>
          <p:cNvPicPr>
            <a:picLocks noChangeAspect="1"/>
          </p:cNvPicPr>
          <p:nvPr/>
        </p:nvPicPr>
        <p:blipFill>
          <a:blip r:embed="rId6">
            <a:biLevel thresh="50000"/>
            <a:extLst>
              <a:ext uri="{28A0092B-C50C-407E-A947-70E740481C1C}">
                <a14:useLocalDpi xmlns:a14="http://schemas.microsoft.com/office/drawing/2010/main" val="0"/>
              </a:ext>
            </a:extLst>
          </a:blip>
          <a:srcRect/>
          <a:stretch>
            <a:fillRect/>
          </a:stretch>
        </p:blipFill>
        <p:spPr bwMode="auto">
          <a:xfrm>
            <a:off x="1238885" y="3813175"/>
            <a:ext cx="5036185" cy="2312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图片 18"/>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6522720" y="1171575"/>
            <a:ext cx="2586355" cy="3555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文本框 19"/>
          <p:cNvSpPr txBox="1">
            <a:spLocks noChangeArrowheads="1"/>
          </p:cNvSpPr>
          <p:nvPr/>
        </p:nvSpPr>
        <p:spPr bwMode="auto">
          <a:xfrm>
            <a:off x="202248" y="2798763"/>
            <a:ext cx="14509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r>
              <a:rPr lang="en-US" altLang="zh-CN" sz="1600"/>
              <a:t>(</a:t>
            </a:r>
            <a:r>
              <a:rPr lang="zh-CN" altLang="en-US" sz="1600">
                <a:hlinkClick r:id="rId8" action="ppaction://hlinksldjump"/>
              </a:rPr>
              <a:t>轴段</a:t>
            </a:r>
            <a:r>
              <a:rPr lang="en-US" altLang="zh-CN" sz="1600">
                <a:hlinkClick r:id="rId8" action="ppaction://hlinksldjump"/>
              </a:rPr>
              <a:t>6</a:t>
            </a:r>
            <a:r>
              <a:rPr lang="zh-CN" altLang="en-US" sz="1600">
                <a:hlinkClick r:id="rId8" action="ppaction://hlinksldjump"/>
              </a:rPr>
              <a:t>的问题</a:t>
            </a:r>
            <a:r>
              <a:rPr lang="en-US" altLang="zh-CN" sz="1600"/>
              <a:t>)</a:t>
            </a:r>
            <a:endParaRPr lang="zh-CN" altLang="en-US" sz="1600"/>
          </a:p>
        </p:txBody>
      </p:sp>
      <p:sp>
        <p:nvSpPr>
          <p:cNvPr id="9" name="文本框 8"/>
          <p:cNvSpPr txBox="1"/>
          <p:nvPr/>
        </p:nvSpPr>
        <p:spPr>
          <a:xfrm>
            <a:off x="2926715" y="193675"/>
            <a:ext cx="3840480" cy="460375"/>
          </a:xfrm>
          <a:prstGeom prst="rect">
            <a:avLst/>
          </a:prstGeom>
          <a:noFill/>
        </p:spPr>
        <p:txBody>
          <a:bodyPr wrap="none" rtlCol="0" anchor="t">
            <a:spAutoFit/>
          </a:bodyPr>
          <a:lstStyle/>
          <a:p>
            <a:r>
              <a:rPr lang="zh-CN" altLang="zh-CN" sz="2400">
                <a:solidFill>
                  <a:srgbClr val="C00000"/>
                </a:solidFill>
                <a:latin typeface="黑体" panose="02010609060101010101" pitchFamily="49" charset="-122"/>
                <a:ea typeface="黑体" panose="02010609060101010101" pitchFamily="49" charset="-122"/>
                <a:sym typeface="+mn-ea"/>
              </a:rPr>
              <a:t>案例</a:t>
            </a:r>
            <a:r>
              <a:rPr lang="en-US" altLang="zh-CN" sz="2400">
                <a:solidFill>
                  <a:srgbClr val="C00000"/>
                </a:solidFill>
                <a:latin typeface="黑体" panose="02010609060101010101" pitchFamily="49" charset="-122"/>
                <a:ea typeface="黑体" panose="02010609060101010101" pitchFamily="49" charset="-122"/>
                <a:sym typeface="+mn-ea"/>
              </a:rPr>
              <a:t>2 </a:t>
            </a:r>
            <a:r>
              <a:rPr lang="zh-CN" altLang="zh-CN" sz="2400">
                <a:solidFill>
                  <a:srgbClr val="C00000"/>
                </a:solidFill>
                <a:latin typeface="黑体" panose="02010609060101010101" pitchFamily="49" charset="-122"/>
                <a:ea typeface="黑体" panose="02010609060101010101" pitchFamily="49" charset="-122"/>
                <a:sym typeface="+mn-ea"/>
              </a:rPr>
              <a:t>齿轮减速器轴的设计</a:t>
            </a:r>
            <a:endParaRPr lang="zh-CN" altLang="zh-CN" sz="2400">
              <a:solidFill>
                <a:srgbClr val="C00000"/>
              </a:solidFill>
              <a:latin typeface="黑体" panose="02010609060101010101" pitchFamily="49" charset="-122"/>
              <a:ea typeface="黑体" panose="02010609060101010101" pitchFamily="49" charset="-122"/>
              <a:sym typeface="+mn-ea"/>
            </a:endParaRPr>
          </a:p>
        </p:txBody>
      </p:sp>
      <p:sp>
        <p:nvSpPr>
          <p:cNvPr id="37895"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4" name="文本框 3"/>
          <p:cNvSpPr txBox="1"/>
          <p:nvPr/>
        </p:nvSpPr>
        <p:spPr>
          <a:xfrm>
            <a:off x="6694805" y="4777740"/>
            <a:ext cx="2301240" cy="706755"/>
          </a:xfrm>
          <a:prstGeom prst="rect">
            <a:avLst/>
          </a:prstGeom>
          <a:noFill/>
        </p:spPr>
        <p:txBody>
          <a:bodyPr wrap="square" rtlCol="0">
            <a:spAutoFit/>
          </a:bodyPr>
          <a:p>
            <a:r>
              <a:rPr lang="en-US" altLang="zh-CN"/>
              <a:t>m</a:t>
            </a:r>
            <a:r>
              <a:rPr lang="en-US" altLang="zh-CN" baseline="-25000"/>
              <a:t>n</a:t>
            </a:r>
            <a:r>
              <a:rPr lang="en-US" altLang="zh-CN"/>
              <a:t>=2mm</a:t>
            </a:r>
            <a:endParaRPr lang="en-US" altLang="zh-CN"/>
          </a:p>
          <a:p>
            <a:r>
              <a:rPr lang="en-US" altLang="zh-CN"/>
              <a:t>d</a:t>
            </a:r>
            <a:r>
              <a:rPr lang="en-US" altLang="zh-CN" baseline="-25000"/>
              <a:t>f</a:t>
            </a:r>
            <a:r>
              <a:rPr lang="en-US" altLang="zh-CN"/>
              <a:t>=54.944mm</a:t>
            </a:r>
            <a:endParaRPr lang="en-US" altLang="zh-CN"/>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6"/>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nodeType="afterEffect">
                                  <p:stCondLst>
                                    <p:cond delay="0"/>
                                  </p:stCondLst>
                                  <p:childTnLst>
                                    <p:set>
                                      <p:cBhvr>
                                        <p:cTn id="9" dur="1" fill="hold">
                                          <p:stCondLst>
                                            <p:cond delay="499"/>
                                          </p:stCondLst>
                                        </p:cTn>
                                        <p:tgtEl>
                                          <p:spTgt spid="7"/>
                                        </p:tgtEl>
                                        <p:attrNameLst>
                                          <p:attrName>style.visibility</p:attrName>
                                        </p:attrNameLst>
                                      </p:cBhvr>
                                      <p:to>
                                        <p:strVal val="visible"/>
                                      </p:to>
                                    </p:set>
                                  </p:childTnLst>
                                </p:cTn>
                              </p:par>
                            </p:childTnLst>
                          </p:cTn>
                        </p:par>
                        <p:par>
                          <p:cTn id="10" fill="hold">
                            <p:stCondLst>
                              <p:cond delay="1000"/>
                            </p:stCondLst>
                            <p:childTnLst>
                              <p:par>
                                <p:cTn id="11" presetID="2" presetClass="entr" presetSubtype="8" fill="hold"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0-#ppt_w/2"/>
                                          </p:val>
                                        </p:tav>
                                        <p:tav tm="100000">
                                          <p:val>
                                            <p:strVal val="#ppt_x"/>
                                          </p:val>
                                        </p:tav>
                                      </p:tavLst>
                                    </p:anim>
                                    <p:anim calcmode="lin" valueType="num">
                                      <p:cBhvr additive="base">
                                        <p:cTn id="14"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wipe(left)">
                                      <p:cBhvr>
                                        <p:cTn id="19" dur="500"/>
                                        <p:tgtEl>
                                          <p:spTgt spid="19"/>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wipe(left)">
                                      <p:cBhvr>
                                        <p:cTn id="24" dur="500"/>
                                        <p:tgtEl>
                                          <p:spTgt spid="15"/>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left)">
                                      <p:cBhvr>
                                        <p:cTn id="27" dur="5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wipe(left)">
                                      <p:cBhvr>
                                        <p:cTn id="32" dur="500"/>
                                        <p:tgtEl>
                                          <p:spTgt spid="2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wipe(left)">
                                      <p:cBhvr>
                                        <p:cTn id="37" dur="500"/>
                                        <p:tgtEl>
                                          <p:spTgt spid="5"/>
                                        </p:tgtEl>
                                      </p:cBhvr>
                                    </p:animEffect>
                                  </p:childTnLst>
                                </p:cTn>
                              </p:par>
                              <p:par>
                                <p:cTn id="38" presetID="22" presetClass="entr" presetSubtype="8" fill="hold" grpId="0" nodeType="withEffect">
                                  <p:stCondLst>
                                    <p:cond delay="0"/>
                                  </p:stCondLst>
                                  <p:childTnLst>
                                    <p:set>
                                      <p:cBhvr>
                                        <p:cTn id="39" dur="1" fill="hold">
                                          <p:stCondLst>
                                            <p:cond delay="0"/>
                                          </p:stCondLst>
                                        </p:cTn>
                                        <p:tgtEl>
                                          <p:spTgt spid="3"/>
                                        </p:tgtEl>
                                        <p:attrNameLst>
                                          <p:attrName>style.visibility</p:attrName>
                                        </p:attrNameLst>
                                      </p:cBhvr>
                                      <p:to>
                                        <p:strVal val="visible"/>
                                      </p:to>
                                    </p:set>
                                    <p:animEffect transition="in" filter="wipe(left)">
                                      <p:cBhvr>
                                        <p:cTn id="40" dur="500"/>
                                        <p:tgtEl>
                                          <p:spTgt spid="3"/>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2" fill="hold" grpId="0" nodeType="clickEffect">
                                  <p:stCondLst>
                                    <p:cond delay="0"/>
                                  </p:stCondLst>
                                  <p:childTnLst>
                                    <p:set>
                                      <p:cBhvr>
                                        <p:cTn id="44" dur="1" fill="hold">
                                          <p:stCondLst>
                                            <p:cond delay="0"/>
                                          </p:stCondLst>
                                        </p:cTn>
                                        <p:tgtEl>
                                          <p:spTgt spid="4"/>
                                        </p:tgtEl>
                                        <p:attrNameLst>
                                          <p:attrName>style.visibility</p:attrName>
                                        </p:attrNameLst>
                                      </p:cBhvr>
                                      <p:to>
                                        <p:strVal val="visible"/>
                                      </p:to>
                                    </p:set>
                                    <p:animEffect transition="in" filter="wipe(right)">
                                      <p:cBhvr>
                                        <p:cTn id="4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20" grpId="0"/>
      <p:bldP spid="4"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矩形 5"/>
          <p:cNvSpPr/>
          <p:nvPr/>
        </p:nvSpPr>
        <p:spPr>
          <a:xfrm>
            <a:off x="6844030" y="3350260"/>
            <a:ext cx="1612265" cy="711200"/>
          </a:xfrm>
          <a:prstGeom prst="rect">
            <a:avLst/>
          </a:prstGeom>
          <a:gradFill>
            <a:gsLst>
              <a:gs pos="57000">
                <a:srgbClr val="9EE256"/>
              </a:gs>
              <a:gs pos="100000">
                <a:srgbClr val="52762D"/>
              </a:gs>
            </a:gsLst>
            <a:lin ang="5400000" scaled="0"/>
          </a:gra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p:txBody>
      </p:sp>
      <p:sp>
        <p:nvSpPr>
          <p:cNvPr id="10" name="文本框 9"/>
          <p:cNvSpPr txBox="1"/>
          <p:nvPr/>
        </p:nvSpPr>
        <p:spPr>
          <a:xfrm>
            <a:off x="6962551" y="4350918"/>
            <a:ext cx="1493819" cy="398780"/>
          </a:xfrm>
          <a:prstGeom prst="rect">
            <a:avLst/>
          </a:prstGeom>
          <a:gradFill flip="none" rotWithShape="1">
            <a:gsLst>
              <a:gs pos="0">
                <a:schemeClr val="accent5">
                  <a:lumMod val="75000"/>
                  <a:shade val="30000"/>
                  <a:satMod val="115000"/>
                </a:schemeClr>
              </a:gs>
              <a:gs pos="50000">
                <a:schemeClr val="accent5">
                  <a:lumMod val="75000"/>
                  <a:shade val="67500"/>
                  <a:satMod val="115000"/>
                </a:schemeClr>
              </a:gs>
              <a:gs pos="100000">
                <a:schemeClr val="accent5">
                  <a:lumMod val="75000"/>
                  <a:shade val="100000"/>
                  <a:satMod val="115000"/>
                </a:schemeClr>
              </a:gs>
            </a:gsLst>
            <a:lin ang="16200000" scaled="1"/>
            <a:tileRect/>
          </a:gradFill>
        </p:spPr>
        <p:txBody>
          <a:bodyPr wrap="square" rtlCol="0">
            <a:spAutoFit/>
          </a:bodyPr>
          <a:p>
            <a:r>
              <a:rPr lang="en-US" altLang="zh-CN" dirty="0" err="1" smtClean="0">
                <a:solidFill>
                  <a:srgbClr val="FF0000"/>
                </a:solidFill>
              </a:rPr>
              <a:t>d</a:t>
            </a:r>
            <a:r>
              <a:rPr lang="en-US" altLang="zh-CN" baseline="-25000" dirty="0" err="1" smtClean="0">
                <a:solidFill>
                  <a:srgbClr val="FF0000"/>
                </a:solidFill>
              </a:rPr>
              <a:t>Ⅰ</a:t>
            </a:r>
            <a:r>
              <a:rPr lang="en-US" altLang="zh-CN" dirty="0" smtClean="0">
                <a:solidFill>
                  <a:srgbClr val="FF0000"/>
                </a:solidFill>
              </a:rPr>
              <a:t>=28mm</a:t>
            </a:r>
            <a:endParaRPr lang="zh-CN" altLang="en-US" dirty="0">
              <a:solidFill>
                <a:srgbClr val="FF0000"/>
              </a:solidFill>
            </a:endParaRPr>
          </a:p>
        </p:txBody>
      </p:sp>
      <p:sp>
        <p:nvSpPr>
          <p:cNvPr id="11" name="文本框 10"/>
          <p:cNvSpPr txBox="1"/>
          <p:nvPr/>
        </p:nvSpPr>
        <p:spPr>
          <a:xfrm>
            <a:off x="7062715" y="4893550"/>
            <a:ext cx="1294646" cy="922020"/>
          </a:xfrm>
          <a:prstGeom prst="rect">
            <a:avLst/>
          </a:prstGeom>
          <a:solidFill>
            <a:schemeClr val="accent5">
              <a:lumMod val="75000"/>
            </a:schemeClr>
          </a:solidFill>
        </p:spPr>
        <p:txBody>
          <a:bodyPr wrap="square" rtlCol="0">
            <a:spAutoFit/>
          </a:bodyPr>
          <a:p>
            <a:r>
              <a:rPr lang="en-US" altLang="zh-CN" sz="1800" i="1" dirty="0" smtClean="0"/>
              <a:t>l</a:t>
            </a:r>
            <a:r>
              <a:rPr lang="en-US" altLang="zh-CN" sz="1800" baseline="-25000" dirty="0" smtClean="0"/>
              <a:t>1</a:t>
            </a:r>
            <a:r>
              <a:rPr lang="en-US" altLang="zh-CN" sz="1800" dirty="0" smtClean="0"/>
              <a:t>=</a:t>
            </a:r>
            <a:r>
              <a:rPr lang="zh-CN" altLang="en-US" sz="1800" dirty="0" smtClean="0"/>
              <a:t>大带轮轮毂宽度</a:t>
            </a:r>
            <a:r>
              <a:rPr lang="en-US" altLang="zh-CN" sz="1800" dirty="0" smtClean="0"/>
              <a:t>-2 mm</a:t>
            </a:r>
            <a:endParaRPr lang="zh-CN" altLang="en-US" sz="1800" dirty="0"/>
          </a:p>
        </p:txBody>
      </p:sp>
      <p:sp>
        <p:nvSpPr>
          <p:cNvPr id="7" name="矩形 6"/>
          <p:cNvSpPr/>
          <p:nvPr/>
        </p:nvSpPr>
        <p:spPr bwMode="auto">
          <a:xfrm>
            <a:off x="5899785" y="3254375"/>
            <a:ext cx="944245" cy="884555"/>
          </a:xfrm>
          <a:prstGeom prst="rect">
            <a:avLst/>
          </a:pr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lin ang="16200000" scaled="1"/>
            <a:tileRect/>
          </a:gra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p:txBody>
      </p:sp>
      <p:sp>
        <p:nvSpPr>
          <p:cNvPr id="12" name="文本框 11"/>
          <p:cNvSpPr txBox="1"/>
          <p:nvPr/>
        </p:nvSpPr>
        <p:spPr>
          <a:xfrm>
            <a:off x="5158740" y="961390"/>
            <a:ext cx="3862070" cy="1318260"/>
          </a:xfrm>
          <a:prstGeom prst="rect">
            <a:avLst/>
          </a:prstGeom>
          <a:solidFill>
            <a:srgbClr val="FFC000"/>
          </a:solidFill>
        </p:spPr>
        <p:txBody>
          <a:bodyPr wrap="square" rtlCol="0">
            <a:noAutofit/>
          </a:bodyPr>
          <a:p>
            <a:r>
              <a:rPr lang="en-US" altLang="zh-CN" dirty="0" err="1" smtClean="0">
                <a:solidFill>
                  <a:srgbClr val="FF0000"/>
                </a:solidFill>
              </a:rPr>
              <a:t>d</a:t>
            </a:r>
            <a:r>
              <a:rPr lang="en-US" altLang="zh-CN" sz="1800" baseline="-25000" dirty="0" err="1" smtClean="0">
                <a:solidFill>
                  <a:srgbClr val="FF0000"/>
                </a:solidFill>
              </a:rPr>
              <a:t>Ⅱ</a:t>
            </a:r>
            <a:r>
              <a:rPr lang="en-US" altLang="zh-CN" sz="1800" dirty="0" smtClean="0">
                <a:solidFill>
                  <a:srgbClr val="FF0000"/>
                </a:solidFill>
              </a:rPr>
              <a:t>=28+2</a:t>
            </a:r>
            <a:r>
              <a:rPr lang="en-US" altLang="zh-CN" sz="1800" dirty="0" smtClean="0">
                <a:solidFill>
                  <a:srgbClr val="FF0000"/>
                </a:solidFill>
                <a:latin typeface="Arial" panose="020B0604020202020204" pitchFamily="34" charset="0"/>
                <a:sym typeface="+mn-ea"/>
              </a:rPr>
              <a:t>×</a:t>
            </a:r>
            <a:r>
              <a:rPr lang="en-US" altLang="zh-CN" sz="1800" dirty="0" smtClean="0">
                <a:solidFill>
                  <a:srgbClr val="FF0000"/>
                </a:solidFill>
              </a:rPr>
              <a:t>28</a:t>
            </a:r>
            <a:r>
              <a:rPr lang="en-US" altLang="zh-CN" sz="1800" dirty="0" smtClean="0">
                <a:solidFill>
                  <a:srgbClr val="FF0000"/>
                </a:solidFill>
                <a:latin typeface="Arial" panose="020B0604020202020204" pitchFamily="34" charset="0"/>
              </a:rPr>
              <a:t>×</a:t>
            </a:r>
            <a:r>
              <a:rPr lang="zh-CN" altLang="en-US" sz="1800" dirty="0" smtClean="0">
                <a:solidFill>
                  <a:srgbClr val="FF0000"/>
                </a:solidFill>
                <a:latin typeface="Arial" panose="020B0604020202020204" pitchFamily="34" charset="0"/>
              </a:rPr>
              <a:t>（</a:t>
            </a:r>
            <a:r>
              <a:rPr lang="en-US" altLang="zh-CN" sz="1800" dirty="0" smtClean="0">
                <a:solidFill>
                  <a:srgbClr val="FF0000"/>
                </a:solidFill>
                <a:latin typeface="Arial" panose="020B0604020202020204" pitchFamily="34" charset="0"/>
              </a:rPr>
              <a:t>0.07~0.1</a:t>
            </a:r>
            <a:r>
              <a:rPr lang="zh-CN" altLang="en-US" sz="1800" dirty="0" smtClean="0">
                <a:solidFill>
                  <a:srgbClr val="FF0000"/>
                </a:solidFill>
                <a:latin typeface="Arial" panose="020B0604020202020204" pitchFamily="34" charset="0"/>
              </a:rPr>
              <a:t>）</a:t>
            </a:r>
            <a:r>
              <a:rPr lang="en-US" altLang="zh-CN" sz="1800" dirty="0" smtClean="0">
                <a:solidFill>
                  <a:srgbClr val="FF0000"/>
                </a:solidFill>
                <a:latin typeface="Arial" panose="020B0604020202020204" pitchFamily="34" charset="0"/>
              </a:rPr>
              <a:t>=31.92~33.6</a:t>
            </a:r>
            <a:r>
              <a:rPr lang="en-US" altLang="zh-CN" sz="1800" dirty="0" smtClean="0">
                <a:solidFill>
                  <a:srgbClr val="FF0000"/>
                </a:solidFill>
              </a:rPr>
              <a:t>35</a:t>
            </a:r>
            <a:r>
              <a:rPr lang="en-US" altLang="zh-CN" sz="1800" dirty="0" smtClean="0">
                <a:solidFill>
                  <a:srgbClr val="FF0000"/>
                </a:solidFill>
              </a:rPr>
              <a:t>mm</a:t>
            </a:r>
            <a:endParaRPr lang="en-US" altLang="zh-CN" sz="1800" dirty="0" smtClean="0">
              <a:solidFill>
                <a:srgbClr val="FF0000"/>
              </a:solidFill>
            </a:endParaRPr>
          </a:p>
          <a:p>
            <a:r>
              <a:rPr lang="zh-CN" altLang="en-US" sz="1800" dirty="0">
                <a:solidFill>
                  <a:srgbClr val="FF0000"/>
                </a:solidFill>
              </a:rPr>
              <a:t>该段装轴承端盖，考虑密封件（查手册</a:t>
            </a:r>
            <a:r>
              <a:rPr lang="en-US" altLang="zh-CN" sz="1800" dirty="0">
                <a:solidFill>
                  <a:srgbClr val="FF0000"/>
                </a:solidFill>
              </a:rPr>
              <a:t>P94~95</a:t>
            </a:r>
            <a:r>
              <a:rPr lang="zh-CN" altLang="en-US" sz="1800" dirty="0">
                <a:solidFill>
                  <a:srgbClr val="FF0000"/>
                </a:solidFill>
              </a:rPr>
              <a:t>，取</a:t>
            </a:r>
            <a:r>
              <a:rPr lang="en-US" altLang="zh-CN" sz="1800" dirty="0" err="1" smtClean="0">
                <a:solidFill>
                  <a:srgbClr val="FF0000"/>
                </a:solidFill>
                <a:sym typeface="+mn-ea"/>
              </a:rPr>
              <a:t>d</a:t>
            </a:r>
            <a:r>
              <a:rPr lang="en-US" altLang="zh-CN" sz="1800" baseline="-25000" dirty="0" err="1" smtClean="0">
                <a:solidFill>
                  <a:srgbClr val="FF0000"/>
                </a:solidFill>
                <a:sym typeface="+mn-ea"/>
              </a:rPr>
              <a:t>Ⅱ</a:t>
            </a:r>
            <a:r>
              <a:rPr lang="en-US" altLang="zh-CN" sz="1800" dirty="0" smtClean="0">
                <a:solidFill>
                  <a:srgbClr val="FF0000"/>
                </a:solidFill>
                <a:sym typeface="+mn-ea"/>
              </a:rPr>
              <a:t>=35mm</a:t>
            </a:r>
            <a:endParaRPr lang="zh-CN" altLang="en-US" sz="1800" dirty="0">
              <a:solidFill>
                <a:srgbClr val="FF0000"/>
              </a:solidFill>
            </a:endParaRPr>
          </a:p>
        </p:txBody>
      </p:sp>
      <p:sp>
        <p:nvSpPr>
          <p:cNvPr id="9" name="矩形 8"/>
          <p:cNvSpPr/>
          <p:nvPr/>
        </p:nvSpPr>
        <p:spPr bwMode="auto">
          <a:xfrm>
            <a:off x="5347335" y="3121025"/>
            <a:ext cx="552450" cy="1123315"/>
          </a:xfrm>
          <a:prstGeom prst="rect">
            <a:avLst/>
          </a:prstGeom>
          <a:gradFill flip="none" rotWithShape="1">
            <a:gsLst>
              <a:gs pos="0">
                <a:schemeClr val="tx1">
                  <a:lumMod val="60000"/>
                  <a:lumOff val="40000"/>
                  <a:shade val="30000"/>
                  <a:satMod val="115000"/>
                </a:schemeClr>
              </a:gs>
              <a:gs pos="31000">
                <a:schemeClr val="tx1">
                  <a:lumMod val="20000"/>
                  <a:lumOff val="80000"/>
                </a:schemeClr>
              </a:gs>
              <a:gs pos="76000">
                <a:schemeClr val="tx1">
                  <a:lumMod val="60000"/>
                  <a:lumOff val="40000"/>
                  <a:shade val="100000"/>
                  <a:satMod val="115000"/>
                </a:schemeClr>
              </a:gs>
            </a:gsLst>
            <a:lin ang="5400000" scaled="1"/>
          </a:gra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p:txBody>
      </p:sp>
      <p:sp>
        <p:nvSpPr>
          <p:cNvPr id="14" name="文本框 13"/>
          <p:cNvSpPr txBox="1"/>
          <p:nvPr/>
        </p:nvSpPr>
        <p:spPr>
          <a:xfrm>
            <a:off x="4778121" y="4445060"/>
            <a:ext cx="1288670" cy="398780"/>
          </a:xfrm>
          <a:prstGeom prst="rect">
            <a:avLst/>
          </a:prstGeom>
          <a:solidFill>
            <a:schemeClr val="tx1">
              <a:lumMod val="60000"/>
              <a:lumOff val="40000"/>
            </a:schemeClr>
          </a:solidFill>
        </p:spPr>
        <p:txBody>
          <a:bodyPr wrap="square" rtlCol="0">
            <a:spAutoFit/>
          </a:bodyPr>
          <a:p>
            <a:r>
              <a:rPr lang="en-US" altLang="zh-CN" dirty="0" err="1" smtClean="0">
                <a:solidFill>
                  <a:schemeClr val="bg1"/>
                </a:solidFill>
              </a:rPr>
              <a:t>d</a:t>
            </a:r>
            <a:r>
              <a:rPr lang="en-US" altLang="zh-CN" baseline="-25000" dirty="0" err="1" smtClean="0">
                <a:solidFill>
                  <a:schemeClr val="bg1"/>
                </a:solidFill>
              </a:rPr>
              <a:t>Ⅲ</a:t>
            </a:r>
            <a:r>
              <a:rPr lang="en-US" altLang="zh-CN" dirty="0" smtClean="0">
                <a:solidFill>
                  <a:schemeClr val="bg1"/>
                </a:solidFill>
              </a:rPr>
              <a:t>=40mm</a:t>
            </a:r>
            <a:endParaRPr lang="en-US" altLang="zh-CN" dirty="0" smtClean="0">
              <a:solidFill>
                <a:schemeClr val="bg1"/>
              </a:solidFill>
            </a:endParaRPr>
          </a:p>
        </p:txBody>
      </p:sp>
      <p:sp>
        <p:nvSpPr>
          <p:cNvPr id="13" name="文本框 12"/>
          <p:cNvSpPr txBox="1"/>
          <p:nvPr/>
        </p:nvSpPr>
        <p:spPr>
          <a:xfrm>
            <a:off x="4816801" y="5013960"/>
            <a:ext cx="1249378" cy="398780"/>
          </a:xfrm>
          <a:prstGeom prst="rect">
            <a:avLst/>
          </a:prstGeom>
          <a:solidFill>
            <a:schemeClr val="tx2">
              <a:lumMod val="85000"/>
            </a:schemeClr>
          </a:solidFill>
        </p:spPr>
        <p:txBody>
          <a:bodyPr wrap="square" rtlCol="0">
            <a:spAutoFit/>
          </a:bodyPr>
          <a:p>
            <a:r>
              <a:rPr lang="en-US" altLang="zh-CN" dirty="0" smtClean="0">
                <a:solidFill>
                  <a:srgbClr val="FF0000"/>
                </a:solidFill>
              </a:rPr>
              <a:t>30308</a:t>
            </a:r>
            <a:endParaRPr lang="zh-CN" altLang="en-US" dirty="0">
              <a:solidFill>
                <a:srgbClr val="FF0000"/>
              </a:solidFill>
            </a:endParaRPr>
          </a:p>
        </p:txBody>
      </p:sp>
      <mc:AlternateContent xmlns:mc="http://schemas.openxmlformats.org/markup-compatibility/2006">
        <mc:Choice xmlns:a14="http://schemas.microsoft.com/office/drawing/2010/main" Requires="a14">
          <p:sp>
            <p:nvSpPr>
              <p:cNvPr id="26" name="文本框 25"/>
              <p:cNvSpPr txBox="1"/>
              <p:nvPr/>
            </p:nvSpPr>
            <p:spPr>
              <a:xfrm>
                <a:off x="4301490" y="5519420"/>
                <a:ext cx="2280920" cy="1014730"/>
              </a:xfrm>
              <a:prstGeom prst="rect">
                <a:avLst/>
              </a:prstGeom>
              <a:solidFill>
                <a:schemeClr val="tx2">
                  <a:lumMod val="85000"/>
                </a:schemeClr>
              </a:solidFill>
            </p:spPr>
            <p:txBody>
              <a:bodyPr wrap="square" rtlCol="0">
                <a:spAutoFit/>
              </a:bodyPr>
              <a:p>
                <a14:m>
                  <m:oMathPara xmlns:m="http://schemas.openxmlformats.org/officeDocument/2006/math">
                    <m:oMathParaPr>
                      <m:jc m:val="centerGroup"/>
                    </m:oMathParaPr>
                    <m:oMath xmlns:m="http://schemas.openxmlformats.org/officeDocument/2006/math">
                      <m:r>
                        <a:rPr lang="en-US" altLang="zh-CN" b="0" i="1" dirty="0" smtClean="0">
                          <a:solidFill>
                            <a:srgbClr val="FF0000"/>
                          </a:solidFill>
                          <a:latin typeface="Cambria Math" panose="02040503050406030204" pitchFamily="18" charset="0"/>
                        </a:rPr>
                        <m:t>𝑑</m:t>
                      </m:r>
                      <m:r>
                        <a:rPr lang="en-US" altLang="zh-CN" b="0" i="1" dirty="0" smtClean="0">
                          <a:solidFill>
                            <a:srgbClr val="FF0000"/>
                          </a:solidFill>
                          <a:latin typeface="Cambria Math" panose="02040503050406030204" pitchFamily="18" charset="0"/>
                        </a:rPr>
                        <m:t>=</m:t>
                      </m:r>
                      <m:r>
                        <a:rPr lang="en-US" altLang="zh-CN" b="0" i="1" dirty="0" smtClean="0">
                          <a:solidFill>
                            <a:srgbClr val="FF0000"/>
                          </a:solidFill>
                          <a:latin typeface="Cambria Math" panose="02040503050406030204" pitchFamily="18" charset="0"/>
                        </a:rPr>
                        <m:t>40</m:t>
                      </m:r>
                      <m:r>
                        <a:rPr lang="en-US" altLang="zh-CN" b="0" i="1" dirty="0" smtClean="0">
                          <a:solidFill>
                            <a:srgbClr val="FF0000"/>
                          </a:solidFill>
                          <a:latin typeface="Cambria Math" panose="02040503050406030204" pitchFamily="18" charset="0"/>
                        </a:rPr>
                        <m:t>,</m:t>
                      </m:r>
                      <m:r>
                        <a:rPr lang="en-US" altLang="zh-CN" b="0" i="1" dirty="0" smtClean="0">
                          <a:solidFill>
                            <a:srgbClr val="FF0000"/>
                          </a:solidFill>
                          <a:latin typeface="Cambria Math" panose="02040503050406030204" pitchFamily="18" charset="0"/>
                          <a:ea typeface="Cambria Math" panose="02040503050406030204" pitchFamily="18" charset="0"/>
                        </a:rPr>
                        <m:t>𝐷</m:t>
                      </m:r>
                      <m:r>
                        <a:rPr lang="en-US" altLang="zh-CN" b="0" i="1" dirty="0" smtClean="0">
                          <a:solidFill>
                            <a:srgbClr val="FF0000"/>
                          </a:solidFill>
                          <a:latin typeface="Cambria Math" panose="02040503050406030204" pitchFamily="18" charset="0"/>
                          <a:ea typeface="Cambria Math" panose="02040503050406030204" pitchFamily="18" charset="0"/>
                        </a:rPr>
                        <m:t>=</m:t>
                      </m:r>
                      <m:r>
                        <a:rPr lang="en-US" altLang="zh-CN" b="0" i="1" dirty="0" smtClean="0">
                          <a:solidFill>
                            <a:srgbClr val="FF0000"/>
                          </a:solidFill>
                          <a:latin typeface="Cambria Math" panose="02040503050406030204" pitchFamily="18" charset="0"/>
                          <a:ea typeface="Cambria Math" panose="02040503050406030204" pitchFamily="18" charset="0"/>
                        </a:rPr>
                        <m:t>90</m:t>
                      </m:r>
                      <m:r>
                        <a:rPr lang="en-US" altLang="zh-CN" b="0" i="1" dirty="0" smtClean="0">
                          <a:solidFill>
                            <a:srgbClr val="FF0000"/>
                          </a:solidFill>
                          <a:latin typeface="Cambria Math" panose="02040503050406030204" pitchFamily="18" charset="0"/>
                          <a:ea typeface="Cambria Math" panose="02040503050406030204" pitchFamily="18" charset="0"/>
                        </a:rPr>
                        <m:t>,</m:t>
                      </m:r>
                    </m:oMath>
                  </m:oMathPara>
                </a14:m>
                <a:endParaRPr lang="en-US" altLang="zh-CN" b="0" i="1" dirty="0" smtClean="0">
                  <a:solidFill>
                    <a:srgbClr val="FF0000"/>
                  </a:solidFill>
                  <a:latin typeface="Cambria Math" panose="02040503050406030204" pitchFamily="18" charset="0"/>
                  <a:ea typeface="Cambria Math" panose="02040503050406030204" pitchFamily="18" charset="0"/>
                </a:endParaRPr>
              </a:p>
              <a:p>
                <a14:m>
                  <m:oMathPara xmlns:m="http://schemas.openxmlformats.org/officeDocument/2006/math">
                    <m:oMathParaPr>
                      <m:jc m:val="centerGroup"/>
                    </m:oMathParaPr>
                    <m:oMath xmlns:m="http://schemas.openxmlformats.org/officeDocument/2006/math">
                      <m:r>
                        <a:rPr lang="en-US" altLang="zh-CN" b="0" i="1" dirty="0" smtClean="0">
                          <a:solidFill>
                            <a:srgbClr val="FF0000"/>
                          </a:solidFill>
                          <a:latin typeface="Cambria Math" panose="02040503050406030204" pitchFamily="18" charset="0"/>
                          <a:ea typeface="Cambria Math" panose="02040503050406030204" pitchFamily="18" charset="0"/>
                        </a:rPr>
                        <m:t>𝑇</m:t>
                      </m:r>
                      <m:r>
                        <a:rPr lang="en-US" altLang="zh-CN" b="0" i="1" dirty="0" smtClean="0">
                          <a:solidFill>
                            <a:srgbClr val="FF0000"/>
                          </a:solidFill>
                          <a:latin typeface="Cambria Math" panose="02040503050406030204" pitchFamily="18" charset="0"/>
                          <a:ea typeface="Cambria Math" panose="02040503050406030204" pitchFamily="18" charset="0"/>
                        </a:rPr>
                        <m:t>=</m:t>
                      </m:r>
                      <m:r>
                        <a:rPr lang="en-US" altLang="zh-CN" b="0" i="1" dirty="0" smtClean="0">
                          <a:solidFill>
                            <a:srgbClr val="FF0000"/>
                          </a:solidFill>
                          <a:latin typeface="Cambria Math" panose="02040503050406030204" pitchFamily="18" charset="0"/>
                          <a:ea typeface="Cambria Math" panose="02040503050406030204" pitchFamily="18" charset="0"/>
                        </a:rPr>
                        <m:t>25</m:t>
                      </m:r>
                      <m:r>
                        <a:rPr lang="en-US" altLang="zh-CN" b="0" i="1" dirty="0" smtClean="0">
                          <a:solidFill>
                            <a:srgbClr val="FF0000"/>
                          </a:solidFill>
                          <a:latin typeface="Cambria Math" panose="02040503050406030204" pitchFamily="18" charset="0"/>
                          <a:ea typeface="Cambria Math" panose="02040503050406030204" pitchFamily="18" charset="0"/>
                        </a:rPr>
                        <m:t>.</m:t>
                      </m:r>
                      <m:r>
                        <a:rPr lang="en-US" altLang="zh-CN" b="0" i="1" dirty="0" smtClean="0">
                          <a:solidFill>
                            <a:srgbClr val="FF0000"/>
                          </a:solidFill>
                          <a:latin typeface="Cambria Math" panose="02040503050406030204" pitchFamily="18" charset="0"/>
                          <a:ea typeface="Cambria Math" panose="02040503050406030204" pitchFamily="18" charset="0"/>
                        </a:rPr>
                        <m:t>25</m:t>
                      </m:r>
                      <m:r>
                        <a:rPr lang="en-US" altLang="zh-CN" b="0" i="1" dirty="0" smtClean="0">
                          <a:solidFill>
                            <a:srgbClr val="FF0000"/>
                          </a:solidFill>
                          <a:latin typeface="Cambria Math" panose="02040503050406030204" pitchFamily="18" charset="0"/>
                          <a:ea typeface="Cambria Math" panose="02040503050406030204" pitchFamily="18" charset="0"/>
                        </a:rPr>
                        <m:t>,</m:t>
                      </m:r>
                    </m:oMath>
                  </m:oMathPara>
                </a14:m>
                <a:endParaRPr lang="en-US" altLang="zh-CN" b="0" i="1" dirty="0" smtClean="0">
                  <a:solidFill>
                    <a:srgbClr val="FF0000"/>
                  </a:solidFill>
                  <a:latin typeface="Cambria Math" panose="02040503050406030204" pitchFamily="18" charset="0"/>
                  <a:ea typeface="Cambria Math" panose="02040503050406030204" pitchFamily="18" charset="0"/>
                </a:endParaRPr>
              </a:p>
              <a:p>
                <a14:m>
                  <m:oMathPara xmlns:m="http://schemas.openxmlformats.org/officeDocument/2006/math">
                    <m:oMathParaPr>
                      <m:jc m:val="centerGroup"/>
                    </m:oMathParaPr>
                    <m:oMath xmlns:m="http://schemas.openxmlformats.org/officeDocument/2006/math">
                      <m:r>
                        <a:rPr lang="en-US" altLang="zh-CN" b="0" i="1" dirty="0" smtClean="0">
                          <a:solidFill>
                            <a:srgbClr val="FF0000"/>
                          </a:solidFill>
                          <a:latin typeface="Cambria Math" panose="02040503050406030204" pitchFamily="18" charset="0"/>
                          <a:ea typeface="Cambria Math" panose="02040503050406030204" pitchFamily="18" charset="0"/>
                        </a:rPr>
                        <m:t>𝐵</m:t>
                      </m:r>
                      <m:r>
                        <a:rPr lang="en-US" altLang="zh-CN" b="0" i="1" dirty="0" smtClean="0">
                          <a:solidFill>
                            <a:srgbClr val="FF0000"/>
                          </a:solidFill>
                          <a:latin typeface="Cambria Math" panose="02040503050406030204" pitchFamily="18" charset="0"/>
                          <a:ea typeface="Cambria Math" panose="02040503050406030204" pitchFamily="18" charset="0"/>
                        </a:rPr>
                        <m:t>=</m:t>
                      </m:r>
                      <m:r>
                        <a:rPr lang="en-US" altLang="zh-CN" b="0" i="1" dirty="0" smtClean="0">
                          <a:solidFill>
                            <a:srgbClr val="FF0000"/>
                          </a:solidFill>
                          <a:latin typeface="Cambria Math" panose="02040503050406030204" pitchFamily="18" charset="0"/>
                          <a:ea typeface="Cambria Math" panose="02040503050406030204" pitchFamily="18" charset="0"/>
                        </a:rPr>
                        <m:t>23</m:t>
                      </m:r>
                      <m:r>
                        <a:rPr lang="en-US" altLang="zh-CN" b="0" i="1" dirty="0" smtClean="0">
                          <a:solidFill>
                            <a:srgbClr val="FF0000"/>
                          </a:solidFill>
                          <a:latin typeface="Cambria Math" panose="02040503050406030204" pitchFamily="18" charset="0"/>
                          <a:ea typeface="Cambria Math" panose="02040503050406030204" pitchFamily="18" charset="0"/>
                        </a:rPr>
                        <m:t>,</m:t>
                      </m:r>
                      <m:r>
                        <a:rPr lang="en-US" altLang="zh-CN" b="0" i="1" dirty="0" smtClean="0">
                          <a:solidFill>
                            <a:srgbClr val="FF0000"/>
                          </a:solidFill>
                          <a:latin typeface="Cambria Math" panose="02040503050406030204" pitchFamily="18" charset="0"/>
                          <a:ea typeface="Cambria Math" panose="02040503050406030204" pitchFamily="18" charset="0"/>
                        </a:rPr>
                        <m:t>𝐶</m:t>
                      </m:r>
                      <m:r>
                        <a:rPr lang="en-US" altLang="zh-CN" b="0" i="1" dirty="0" smtClean="0">
                          <a:solidFill>
                            <a:srgbClr val="FF0000"/>
                          </a:solidFill>
                          <a:latin typeface="Cambria Math" panose="02040503050406030204" pitchFamily="18" charset="0"/>
                          <a:ea typeface="Cambria Math" panose="02040503050406030204" pitchFamily="18" charset="0"/>
                        </a:rPr>
                        <m:t>=</m:t>
                      </m:r>
                      <m:r>
                        <a:rPr lang="en-US" altLang="zh-CN" b="0" i="1" dirty="0" smtClean="0">
                          <a:solidFill>
                            <a:srgbClr val="FF0000"/>
                          </a:solidFill>
                          <a:latin typeface="Cambria Math" panose="02040503050406030204" pitchFamily="18" charset="0"/>
                          <a:ea typeface="Cambria Math" panose="02040503050406030204" pitchFamily="18" charset="0"/>
                        </a:rPr>
                        <m:t>20</m:t>
                      </m:r>
                    </m:oMath>
                  </m:oMathPara>
                </a14:m>
                <a:endParaRPr lang="zh-CN" altLang="en-US" dirty="0">
                  <a:solidFill>
                    <a:srgbClr val="FF0000"/>
                  </a:solidFill>
                </a:endParaRPr>
              </a:p>
            </p:txBody>
          </p:sp>
        </mc:Choice>
        <mc:Fallback>
          <p:sp>
            <p:nvSpPr>
              <p:cNvPr id="26" name="文本框 25"/>
              <p:cNvSpPr txBox="1">
                <a:spLocks noRot="1" noChangeAspect="1" noMove="1" noResize="1" noEditPoints="1" noAdjustHandles="1" noChangeArrowheads="1" noChangeShapeType="1" noTextEdit="1"/>
              </p:cNvSpPr>
              <p:nvPr/>
            </p:nvSpPr>
            <p:spPr>
              <a:xfrm>
                <a:off x="4301490" y="5519420"/>
                <a:ext cx="2280920" cy="1014730"/>
              </a:xfrm>
              <a:prstGeom prst="rect">
                <a:avLst/>
              </a:prstGeom>
              <a:blipFill rotWithShape="1">
                <a:blip r:embed="rId1"/>
                <a:stretch>
                  <a:fillRect/>
                </a:stretch>
              </a:blipFill>
            </p:spPr>
            <p:txBody>
              <a:bodyPr/>
              <a:lstStyle/>
              <a:p>
                <a:r>
                  <a:rPr lang="zh-CN" altLang="en-US">
                    <a:noFill/>
                  </a:rPr>
                  <a:t> </a:t>
                </a:r>
              </a:p>
            </p:txBody>
          </p:sp>
        </mc:Fallback>
      </mc:AlternateContent>
      <p:sp>
        <p:nvSpPr>
          <p:cNvPr id="15" name="矩形 14"/>
          <p:cNvSpPr/>
          <p:nvPr/>
        </p:nvSpPr>
        <p:spPr bwMode="auto">
          <a:xfrm>
            <a:off x="3475355" y="3034030"/>
            <a:ext cx="1871345" cy="1306195"/>
          </a:xfrm>
          <a:prstGeom prst="rect">
            <a:avLst/>
          </a:prstGeom>
          <a:gradFill flip="none" rotWithShape="1">
            <a:gsLst>
              <a:gs pos="0">
                <a:srgbClr val="14CD68"/>
              </a:gs>
              <a:gs pos="100000">
                <a:srgbClr val="0B6E38"/>
              </a:gs>
            </a:gsLst>
            <a:lin ang="16200000" scaled="0"/>
          </a:gra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p:txBody>
      </p:sp>
      <p:sp>
        <p:nvSpPr>
          <p:cNvPr id="17" name="矩形 16"/>
          <p:cNvSpPr/>
          <p:nvPr/>
        </p:nvSpPr>
        <p:spPr bwMode="auto">
          <a:xfrm>
            <a:off x="1373505" y="2995930"/>
            <a:ext cx="680720" cy="1355090"/>
          </a:xfrm>
          <a:prstGeom prst="rect">
            <a:avLst/>
          </a:prstGeom>
          <a:gradFill flip="none" rotWithShape="1">
            <a:gsLst>
              <a:gs pos="0">
                <a:srgbClr val="14CD68"/>
              </a:gs>
              <a:gs pos="100000">
                <a:srgbClr val="0B6E38"/>
              </a:gs>
            </a:gsLst>
            <a:lin ang="16200000" scaled="0"/>
          </a:gra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p:txBody>
      </p:sp>
      <p:sp>
        <p:nvSpPr>
          <p:cNvPr id="18" name="矩形 17"/>
          <p:cNvSpPr/>
          <p:nvPr/>
        </p:nvSpPr>
        <p:spPr bwMode="auto">
          <a:xfrm>
            <a:off x="821055" y="3111500"/>
            <a:ext cx="552450" cy="1123315"/>
          </a:xfrm>
          <a:prstGeom prst="rect">
            <a:avLst/>
          </a:prstGeom>
          <a:gradFill flip="none" rotWithShape="1">
            <a:gsLst>
              <a:gs pos="0">
                <a:schemeClr val="tx1">
                  <a:lumMod val="60000"/>
                  <a:lumOff val="40000"/>
                  <a:shade val="30000"/>
                  <a:satMod val="115000"/>
                </a:schemeClr>
              </a:gs>
              <a:gs pos="50000">
                <a:schemeClr val="tx1">
                  <a:lumMod val="20000"/>
                  <a:lumOff val="80000"/>
                </a:schemeClr>
              </a:gs>
              <a:gs pos="100000">
                <a:schemeClr val="tx1">
                  <a:lumMod val="60000"/>
                  <a:lumOff val="40000"/>
                  <a:shade val="100000"/>
                  <a:satMod val="115000"/>
                </a:schemeClr>
              </a:gs>
            </a:gsLst>
            <a:lin ang="16200000" scaled="1"/>
            <a:tileRect/>
          </a:gra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p:txBody>
      </p:sp>
      <p:sp>
        <p:nvSpPr>
          <p:cNvPr id="20" name="文本框 19"/>
          <p:cNvSpPr txBox="1"/>
          <p:nvPr/>
        </p:nvSpPr>
        <p:spPr>
          <a:xfrm>
            <a:off x="3537585" y="1759585"/>
            <a:ext cx="1543050" cy="398780"/>
          </a:xfrm>
          <a:prstGeom prst="rect">
            <a:avLst/>
          </a:prstGeom>
          <a:solidFill>
            <a:srgbClr val="00B050"/>
          </a:solidFill>
        </p:spPr>
        <p:txBody>
          <a:bodyPr wrap="square" rtlCol="0">
            <a:spAutoFit/>
          </a:bodyPr>
          <a:p>
            <a:r>
              <a:rPr lang="en-US" altLang="zh-CN" dirty="0" err="1" smtClean="0">
                <a:solidFill>
                  <a:schemeClr val="bg1"/>
                </a:solidFill>
              </a:rPr>
              <a:t>d</a:t>
            </a:r>
            <a:r>
              <a:rPr lang="en-US" altLang="zh-CN" baseline="-25000" dirty="0" err="1" smtClean="0">
                <a:solidFill>
                  <a:schemeClr val="bg1"/>
                </a:solidFill>
              </a:rPr>
              <a:t>bmax</a:t>
            </a:r>
            <a:r>
              <a:rPr lang="en-US" altLang="zh-CN" dirty="0" smtClean="0">
                <a:solidFill>
                  <a:schemeClr val="bg1"/>
                </a:solidFill>
              </a:rPr>
              <a:t>=52mm</a:t>
            </a:r>
            <a:endParaRPr lang="en-US" altLang="zh-CN" dirty="0" smtClean="0">
              <a:solidFill>
                <a:schemeClr val="bg1"/>
              </a:solidFill>
            </a:endParaRPr>
          </a:p>
        </p:txBody>
      </p:sp>
      <p:sp>
        <p:nvSpPr>
          <p:cNvPr id="21" name="文本框 20"/>
          <p:cNvSpPr txBox="1"/>
          <p:nvPr/>
        </p:nvSpPr>
        <p:spPr>
          <a:xfrm>
            <a:off x="3721222" y="2119546"/>
            <a:ext cx="1300994" cy="398780"/>
          </a:xfrm>
          <a:prstGeom prst="rect">
            <a:avLst/>
          </a:prstGeom>
          <a:solidFill>
            <a:srgbClr val="00B050"/>
          </a:solidFill>
        </p:spPr>
        <p:txBody>
          <a:bodyPr wrap="square" rtlCol="0">
            <a:spAutoFit/>
          </a:bodyPr>
          <a:p>
            <a:r>
              <a:rPr lang="en-US" altLang="zh-CN" dirty="0" err="1" smtClean="0">
                <a:solidFill>
                  <a:srgbClr val="FF0000"/>
                </a:solidFill>
              </a:rPr>
              <a:t>d</a:t>
            </a:r>
            <a:r>
              <a:rPr lang="en-US" altLang="zh-CN" baseline="-25000" dirty="0" err="1" smtClean="0">
                <a:solidFill>
                  <a:srgbClr val="FF0000"/>
                </a:solidFill>
              </a:rPr>
              <a:t>Ⅳ</a:t>
            </a:r>
            <a:r>
              <a:rPr lang="en-US" altLang="zh-CN" dirty="0" smtClean="0">
                <a:solidFill>
                  <a:srgbClr val="FF0000"/>
                </a:solidFill>
              </a:rPr>
              <a:t>=50mm</a:t>
            </a:r>
            <a:endParaRPr lang="zh-CN" altLang="en-US" dirty="0">
              <a:solidFill>
                <a:srgbClr val="FF0000"/>
              </a:solidFill>
            </a:endParaRPr>
          </a:p>
        </p:txBody>
      </p:sp>
      <p:sp>
        <p:nvSpPr>
          <p:cNvPr id="22" name="文本框 21"/>
          <p:cNvSpPr txBox="1"/>
          <p:nvPr/>
        </p:nvSpPr>
        <p:spPr>
          <a:xfrm>
            <a:off x="1383222" y="1998874"/>
            <a:ext cx="1317905" cy="398780"/>
          </a:xfrm>
          <a:prstGeom prst="rect">
            <a:avLst/>
          </a:prstGeom>
          <a:solidFill>
            <a:srgbClr val="FFFF00"/>
          </a:solidFill>
        </p:spPr>
        <p:txBody>
          <a:bodyPr wrap="square" rtlCol="0">
            <a:spAutoFit/>
          </a:bodyPr>
          <a:p>
            <a:r>
              <a:rPr lang="en-US" altLang="zh-CN" dirty="0" err="1" smtClean="0">
                <a:solidFill>
                  <a:srgbClr val="FF0000"/>
                </a:solidFill>
              </a:rPr>
              <a:t>d</a:t>
            </a:r>
            <a:r>
              <a:rPr lang="en-US" altLang="zh-CN" baseline="-25000" dirty="0" err="1" smtClean="0">
                <a:solidFill>
                  <a:srgbClr val="FF0000"/>
                </a:solidFill>
              </a:rPr>
              <a:t>Ⅵ</a:t>
            </a:r>
            <a:r>
              <a:rPr lang="en-US" altLang="zh-CN" dirty="0" smtClean="0">
                <a:solidFill>
                  <a:srgbClr val="FF0000"/>
                </a:solidFill>
              </a:rPr>
              <a:t>=50mm</a:t>
            </a:r>
            <a:endParaRPr lang="zh-CN" altLang="en-US" dirty="0">
              <a:solidFill>
                <a:srgbClr val="FF0000"/>
              </a:solidFill>
            </a:endParaRPr>
          </a:p>
        </p:txBody>
      </p:sp>
      <p:sp>
        <p:nvSpPr>
          <p:cNvPr id="23" name="文本框 22"/>
          <p:cNvSpPr txBox="1"/>
          <p:nvPr/>
        </p:nvSpPr>
        <p:spPr>
          <a:xfrm>
            <a:off x="2163445" y="5177155"/>
            <a:ext cx="1551940" cy="645160"/>
          </a:xfrm>
          <a:prstGeom prst="rect">
            <a:avLst/>
          </a:prstGeom>
          <a:gradFill flip="none" rotWithShape="1">
            <a:gsLst>
              <a:gs pos="0">
                <a:srgbClr val="7030A0">
                  <a:tint val="66000"/>
                  <a:satMod val="160000"/>
                </a:srgbClr>
              </a:gs>
              <a:gs pos="50000">
                <a:srgbClr val="7030A0">
                  <a:tint val="44500"/>
                  <a:satMod val="160000"/>
                </a:srgbClr>
              </a:gs>
              <a:gs pos="100000">
                <a:srgbClr val="7030A0">
                  <a:tint val="23500"/>
                  <a:satMod val="160000"/>
                </a:srgbClr>
              </a:gs>
            </a:gsLst>
            <a:lin ang="5400000" scaled="1"/>
            <a:tileRect/>
          </a:gradFill>
        </p:spPr>
        <p:txBody>
          <a:bodyPr wrap="square" rtlCol="0">
            <a:spAutoFit/>
          </a:bodyPr>
          <a:p>
            <a:r>
              <a:rPr lang="en-US" altLang="zh-CN" sz="1800" dirty="0" err="1" smtClean="0">
                <a:solidFill>
                  <a:srgbClr val="FF0000"/>
                </a:solidFill>
              </a:rPr>
              <a:t>d</a:t>
            </a:r>
            <a:r>
              <a:rPr lang="en-US" altLang="zh-CN" sz="1800" baseline="-25000" dirty="0" err="1" smtClean="0">
                <a:solidFill>
                  <a:srgbClr val="FF0000"/>
                </a:solidFill>
              </a:rPr>
              <a:t>Ⅴ</a:t>
            </a:r>
            <a:r>
              <a:rPr lang="en-US" altLang="zh-CN" sz="1800" dirty="0" smtClean="0">
                <a:solidFill>
                  <a:srgbClr val="FF0000"/>
                </a:solidFill>
              </a:rPr>
              <a:t>=</a:t>
            </a:r>
            <a:r>
              <a:rPr lang="zh-CN" altLang="en-US" sz="1800" dirty="0" smtClean="0">
                <a:solidFill>
                  <a:srgbClr val="FF0000"/>
                </a:solidFill>
              </a:rPr>
              <a:t>小齿轮的齿顶圆直径</a:t>
            </a:r>
            <a:r>
              <a:rPr lang="en-US" altLang="zh-CN" sz="1800" dirty="0" smtClean="0">
                <a:solidFill>
                  <a:srgbClr val="FF0000"/>
                </a:solidFill>
              </a:rPr>
              <a:t>m</a:t>
            </a:r>
            <a:endParaRPr lang="zh-CN" altLang="en-US" sz="1800" dirty="0">
              <a:solidFill>
                <a:srgbClr val="FF0000"/>
              </a:solidFill>
            </a:endParaRPr>
          </a:p>
        </p:txBody>
      </p:sp>
      <p:sp>
        <p:nvSpPr>
          <p:cNvPr id="24" name="文本框 23"/>
          <p:cNvSpPr txBox="1"/>
          <p:nvPr/>
        </p:nvSpPr>
        <p:spPr>
          <a:xfrm>
            <a:off x="2145030" y="5815330"/>
            <a:ext cx="1392555" cy="675640"/>
          </a:xfrm>
          <a:prstGeom prst="rect">
            <a:avLst/>
          </a:prstGeom>
          <a:gradFill flip="none" rotWithShape="1">
            <a:gsLst>
              <a:gs pos="0">
                <a:srgbClr val="7030A0">
                  <a:tint val="66000"/>
                  <a:satMod val="160000"/>
                </a:srgbClr>
              </a:gs>
              <a:gs pos="50000">
                <a:srgbClr val="7030A0">
                  <a:tint val="44500"/>
                  <a:satMod val="160000"/>
                </a:srgbClr>
              </a:gs>
              <a:gs pos="100000">
                <a:srgbClr val="7030A0">
                  <a:tint val="23500"/>
                  <a:satMod val="160000"/>
                </a:srgbClr>
              </a:gs>
            </a:gsLst>
            <a:lin ang="5400000" scaled="1"/>
            <a:tileRect/>
          </a:gradFill>
        </p:spPr>
        <p:txBody>
          <a:bodyPr wrap="square" rtlCol="0">
            <a:spAutoFit/>
          </a:bodyPr>
          <a:p>
            <a:r>
              <a:rPr lang="en-US" altLang="zh-CN" i="1" dirty="0" smtClean="0"/>
              <a:t>l</a:t>
            </a:r>
            <a:r>
              <a:rPr lang="en-US" altLang="zh-CN" sz="1800" baseline="-25000" dirty="0" smtClean="0"/>
              <a:t>5</a:t>
            </a:r>
            <a:r>
              <a:rPr lang="en-US" altLang="zh-CN" sz="1800" dirty="0" smtClean="0"/>
              <a:t>=</a:t>
            </a:r>
            <a:r>
              <a:rPr lang="zh-CN" altLang="en-US" sz="1800" dirty="0" smtClean="0"/>
              <a:t>小齿轮齿宽</a:t>
            </a:r>
            <a:endParaRPr lang="zh-CN" altLang="en-US" sz="1800" dirty="0"/>
          </a:p>
        </p:txBody>
      </p:sp>
      <p:sp>
        <p:nvSpPr>
          <p:cNvPr id="25" name="文本框 24"/>
          <p:cNvSpPr txBox="1"/>
          <p:nvPr/>
        </p:nvSpPr>
        <p:spPr>
          <a:xfrm>
            <a:off x="458383" y="4677485"/>
            <a:ext cx="1384551" cy="398780"/>
          </a:xfrm>
          <a:prstGeom prst="rect">
            <a:avLst/>
          </a:prstGeom>
          <a:gradFill flip="none" rotWithShape="1">
            <a:gsLst>
              <a:gs pos="0">
                <a:schemeClr val="tx1">
                  <a:lumMod val="60000"/>
                  <a:lumOff val="40000"/>
                  <a:tint val="66000"/>
                  <a:satMod val="160000"/>
                </a:schemeClr>
              </a:gs>
              <a:gs pos="50000">
                <a:schemeClr val="tx1">
                  <a:lumMod val="60000"/>
                  <a:lumOff val="40000"/>
                  <a:tint val="44500"/>
                  <a:satMod val="160000"/>
                </a:schemeClr>
              </a:gs>
              <a:gs pos="100000">
                <a:schemeClr val="tx1">
                  <a:lumMod val="60000"/>
                  <a:lumOff val="40000"/>
                  <a:tint val="23500"/>
                  <a:satMod val="160000"/>
                </a:schemeClr>
              </a:gs>
            </a:gsLst>
            <a:lin ang="5400000" scaled="1"/>
            <a:tileRect/>
          </a:gradFill>
        </p:spPr>
        <p:txBody>
          <a:bodyPr wrap="square" rtlCol="0">
            <a:spAutoFit/>
          </a:bodyPr>
          <a:p>
            <a:r>
              <a:rPr lang="en-US" altLang="zh-CN" dirty="0" err="1" smtClean="0">
                <a:solidFill>
                  <a:srgbClr val="FF0000"/>
                </a:solidFill>
              </a:rPr>
              <a:t>d</a:t>
            </a:r>
            <a:r>
              <a:rPr lang="en-US" altLang="zh-CN" baseline="-25000" dirty="0" err="1" smtClean="0">
                <a:solidFill>
                  <a:srgbClr val="FF0000"/>
                </a:solidFill>
              </a:rPr>
              <a:t>Ⅶ</a:t>
            </a:r>
            <a:r>
              <a:rPr lang="en-US" altLang="zh-CN" dirty="0" smtClean="0">
                <a:solidFill>
                  <a:srgbClr val="FF0000"/>
                </a:solidFill>
              </a:rPr>
              <a:t>=40mm</a:t>
            </a:r>
            <a:endParaRPr lang="zh-CN" altLang="en-US" dirty="0">
              <a:solidFill>
                <a:srgbClr val="FF0000"/>
              </a:solidFill>
            </a:endParaRPr>
          </a:p>
        </p:txBody>
      </p:sp>
      <p:grpSp>
        <p:nvGrpSpPr>
          <p:cNvPr id="29" name="组合 28"/>
          <p:cNvGrpSpPr/>
          <p:nvPr/>
        </p:nvGrpSpPr>
        <p:grpSpPr>
          <a:xfrm>
            <a:off x="1875790" y="2532380"/>
            <a:ext cx="1877060" cy="2299970"/>
            <a:chOff x="3470" y="3974"/>
            <a:chExt cx="2956" cy="3622"/>
          </a:xfrm>
        </p:grpSpPr>
        <p:sp>
          <p:nvSpPr>
            <p:cNvPr id="16" name="矩形 15"/>
            <p:cNvSpPr/>
            <p:nvPr/>
          </p:nvSpPr>
          <p:spPr bwMode="auto">
            <a:xfrm>
              <a:off x="3751" y="3974"/>
              <a:ext cx="2250" cy="3622"/>
            </a:xfrm>
            <a:prstGeom prst="rect">
              <a:avLst/>
            </a:prstGeom>
            <a:gradFill flip="none" rotWithShape="1">
              <a:gsLst>
                <a:gs pos="0">
                  <a:srgbClr val="FFFF00">
                    <a:shade val="30000"/>
                    <a:satMod val="115000"/>
                  </a:srgbClr>
                </a:gs>
                <a:gs pos="50000">
                  <a:srgbClr val="FFFF00">
                    <a:shade val="67500"/>
                    <a:satMod val="115000"/>
                  </a:srgbClr>
                </a:gs>
                <a:gs pos="100000">
                  <a:srgbClr val="FFFF00">
                    <a:shade val="100000"/>
                    <a:satMod val="115000"/>
                  </a:srgbClr>
                </a:gs>
              </a:gsLst>
              <a:lin ang="16200000" scaled="1"/>
              <a:tileRect/>
            </a:gra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p:txBody>
        </p:sp>
        <p:cxnSp>
          <p:nvCxnSpPr>
            <p:cNvPr id="27" name="直接连接符 26"/>
            <p:cNvCxnSpPr/>
            <p:nvPr/>
          </p:nvCxnSpPr>
          <p:spPr>
            <a:xfrm>
              <a:off x="3470" y="4114"/>
              <a:ext cx="2897" cy="0"/>
            </a:xfrm>
            <a:prstGeom prst="line">
              <a:avLst/>
            </a:prstGeom>
            <a:solidFill>
              <a:schemeClr val="accent1"/>
            </a:solidFill>
            <a:ln w="9525" cap="flat" cmpd="sng" algn="ctr">
              <a:solidFill>
                <a:schemeClr val="tx1"/>
              </a:solidFill>
              <a:prstDash val="lgDashDot"/>
              <a:round/>
              <a:headEnd type="none" w="med" len="med"/>
              <a:tailEnd type="none" w="med" len="med"/>
            </a:ln>
          </p:spPr>
        </p:cxnSp>
        <p:cxnSp>
          <p:nvCxnSpPr>
            <p:cNvPr id="28" name="直接连接符 27"/>
            <p:cNvCxnSpPr/>
            <p:nvPr/>
          </p:nvCxnSpPr>
          <p:spPr>
            <a:xfrm>
              <a:off x="3470" y="7467"/>
              <a:ext cx="2956" cy="0"/>
            </a:xfrm>
            <a:prstGeom prst="line">
              <a:avLst/>
            </a:prstGeom>
            <a:solidFill>
              <a:schemeClr val="accent1"/>
            </a:solidFill>
            <a:ln w="9525" cap="flat" cmpd="sng" algn="ctr">
              <a:solidFill>
                <a:schemeClr val="tx1"/>
              </a:solidFill>
              <a:prstDash val="lgDashDot"/>
              <a:round/>
              <a:headEnd type="none" w="med" len="med"/>
              <a:tailEnd type="none" w="med" len="med"/>
            </a:ln>
          </p:spPr>
        </p:cxnSp>
      </p:grpSp>
      <p:cxnSp>
        <p:nvCxnSpPr>
          <p:cNvPr id="4" name="直接连接符 3"/>
          <p:cNvCxnSpPr/>
          <p:nvPr/>
        </p:nvCxnSpPr>
        <p:spPr>
          <a:xfrm>
            <a:off x="687070" y="3705860"/>
            <a:ext cx="7769225" cy="0"/>
          </a:xfrm>
          <a:prstGeom prst="line">
            <a:avLst/>
          </a:prstGeom>
          <a:solidFill>
            <a:schemeClr val="accent1"/>
          </a:solidFill>
          <a:ln w="9525" cap="flat" cmpd="sng" algn="ctr">
            <a:solidFill>
              <a:schemeClr val="tx1"/>
            </a:solidFill>
            <a:prstDash val="lgDashDot"/>
            <a:round/>
            <a:headEnd type="none" w="med" len="med"/>
            <a:tailEnd type="non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left)">
                                      <p:cBhvr>
                                        <p:cTn id="17" dur="500"/>
                                        <p:tgtEl>
                                          <p:spTgt spid="10"/>
                                        </p:tgtEl>
                                      </p:cBhvr>
                                    </p:animEffect>
                                  </p:childTnLst>
                                </p:cTn>
                              </p:par>
                            </p:childTnLst>
                          </p:cTn>
                        </p:par>
                        <p:par>
                          <p:cTn id="18" fill="hold">
                            <p:stCondLst>
                              <p:cond delay="500"/>
                            </p:stCondLst>
                            <p:childTnLst>
                              <p:par>
                                <p:cTn id="19" presetID="22" presetClass="entr" presetSubtype="8" fill="hold" grpId="0" nodeType="after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wipe(left)">
                                      <p:cBhvr>
                                        <p:cTn id="21" dur="500"/>
                                        <p:tgtEl>
                                          <p:spTgt spid="11"/>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wipe(left)">
                                      <p:cBhvr>
                                        <p:cTn id="26" dur="500"/>
                                        <p:tgtEl>
                                          <p:spTgt spid="7"/>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wipe(left)">
                                      <p:cBhvr>
                                        <p:cTn id="31" dur="500"/>
                                        <p:tgtEl>
                                          <p:spTgt spid="12"/>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wipe(left)">
                                      <p:cBhvr>
                                        <p:cTn id="36" dur="500"/>
                                        <p:tgtEl>
                                          <p:spTgt spid="9"/>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wipe(left)">
                                      <p:cBhvr>
                                        <p:cTn id="41" dur="500"/>
                                        <p:tgtEl>
                                          <p:spTgt spid="14"/>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wipe(left)">
                                      <p:cBhvr>
                                        <p:cTn id="46" dur="500"/>
                                        <p:tgtEl>
                                          <p:spTgt spid="13"/>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26">
                                            <p:txEl>
                                              <p:pRg st="0" end="0"/>
                                            </p:txEl>
                                          </p:spTgt>
                                        </p:tgtEl>
                                        <p:attrNameLst>
                                          <p:attrName>style.visibility</p:attrName>
                                        </p:attrNameLst>
                                      </p:cBhvr>
                                      <p:to>
                                        <p:strVal val="visible"/>
                                      </p:to>
                                    </p:set>
                                    <p:animEffect transition="in" filter="wipe(left)">
                                      <p:cBhvr>
                                        <p:cTn id="51" dur="500"/>
                                        <p:tgtEl>
                                          <p:spTgt spid="26">
                                            <p:txEl>
                                              <p:pRg st="0" end="0"/>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26">
                                            <p:txEl>
                                              <p:pRg st="1" end="1"/>
                                            </p:txEl>
                                          </p:spTgt>
                                        </p:tgtEl>
                                        <p:attrNameLst>
                                          <p:attrName>style.visibility</p:attrName>
                                        </p:attrNameLst>
                                      </p:cBhvr>
                                      <p:to>
                                        <p:strVal val="visible"/>
                                      </p:to>
                                    </p:set>
                                    <p:animEffect transition="in" filter="wipe(left)">
                                      <p:cBhvr>
                                        <p:cTn id="56" dur="500"/>
                                        <p:tgtEl>
                                          <p:spTgt spid="26">
                                            <p:txEl>
                                              <p:pRg st="1" end="1"/>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nodeType="clickEffect">
                                  <p:stCondLst>
                                    <p:cond delay="0"/>
                                  </p:stCondLst>
                                  <p:childTnLst>
                                    <p:set>
                                      <p:cBhvr>
                                        <p:cTn id="60" dur="1" fill="hold">
                                          <p:stCondLst>
                                            <p:cond delay="0"/>
                                          </p:stCondLst>
                                        </p:cTn>
                                        <p:tgtEl>
                                          <p:spTgt spid="26">
                                            <p:txEl>
                                              <p:pRg st="2" end="2"/>
                                            </p:txEl>
                                          </p:spTgt>
                                        </p:tgtEl>
                                        <p:attrNameLst>
                                          <p:attrName>style.visibility</p:attrName>
                                        </p:attrNameLst>
                                      </p:cBhvr>
                                      <p:to>
                                        <p:strVal val="visible"/>
                                      </p:to>
                                    </p:set>
                                    <p:animEffect transition="in" filter="wipe(left)">
                                      <p:cBhvr>
                                        <p:cTn id="61" dur="500"/>
                                        <p:tgtEl>
                                          <p:spTgt spid="26">
                                            <p:txEl>
                                              <p:pRg st="2" end="2"/>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26"/>
                                        </p:tgtEl>
                                        <p:attrNameLst>
                                          <p:attrName>style.visibility</p:attrName>
                                        </p:attrNameLst>
                                      </p:cBhvr>
                                      <p:to>
                                        <p:strVal val="visible"/>
                                      </p:to>
                                    </p:set>
                                    <p:animEffect transition="in" filter="wipe(left)">
                                      <p:cBhvr>
                                        <p:cTn id="66" dur="500"/>
                                        <p:tgtEl>
                                          <p:spTgt spid="26"/>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15"/>
                                        </p:tgtEl>
                                        <p:attrNameLst>
                                          <p:attrName>style.visibility</p:attrName>
                                        </p:attrNameLst>
                                      </p:cBhvr>
                                      <p:to>
                                        <p:strVal val="visible"/>
                                      </p:to>
                                    </p:set>
                                    <p:animEffect transition="in" filter="wipe(left)">
                                      <p:cBhvr>
                                        <p:cTn id="71" dur="500"/>
                                        <p:tgtEl>
                                          <p:spTgt spid="15"/>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grpId="0" nodeType="clickEffect">
                                  <p:stCondLst>
                                    <p:cond delay="0"/>
                                  </p:stCondLst>
                                  <p:childTnLst>
                                    <p:set>
                                      <p:cBhvr>
                                        <p:cTn id="75" dur="1" fill="hold">
                                          <p:stCondLst>
                                            <p:cond delay="0"/>
                                          </p:stCondLst>
                                        </p:cTn>
                                        <p:tgtEl>
                                          <p:spTgt spid="20"/>
                                        </p:tgtEl>
                                        <p:attrNameLst>
                                          <p:attrName>style.visibility</p:attrName>
                                        </p:attrNameLst>
                                      </p:cBhvr>
                                      <p:to>
                                        <p:strVal val="visible"/>
                                      </p:to>
                                    </p:set>
                                    <p:animEffect transition="in" filter="wipe(left)">
                                      <p:cBhvr>
                                        <p:cTn id="76" dur="500"/>
                                        <p:tgtEl>
                                          <p:spTgt spid="20"/>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grpId="0" nodeType="clickEffect">
                                  <p:stCondLst>
                                    <p:cond delay="0"/>
                                  </p:stCondLst>
                                  <p:childTnLst>
                                    <p:set>
                                      <p:cBhvr>
                                        <p:cTn id="80" dur="1" fill="hold">
                                          <p:stCondLst>
                                            <p:cond delay="0"/>
                                          </p:stCondLst>
                                        </p:cTn>
                                        <p:tgtEl>
                                          <p:spTgt spid="21"/>
                                        </p:tgtEl>
                                        <p:attrNameLst>
                                          <p:attrName>style.visibility</p:attrName>
                                        </p:attrNameLst>
                                      </p:cBhvr>
                                      <p:to>
                                        <p:strVal val="visible"/>
                                      </p:to>
                                    </p:set>
                                    <p:animEffect transition="in" filter="wipe(left)">
                                      <p:cBhvr>
                                        <p:cTn id="81" dur="500"/>
                                        <p:tgtEl>
                                          <p:spTgt spid="21"/>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2" fill="hold" nodeType="clickEffect">
                                  <p:stCondLst>
                                    <p:cond delay="0"/>
                                  </p:stCondLst>
                                  <p:childTnLst>
                                    <p:set>
                                      <p:cBhvr>
                                        <p:cTn id="85" dur="1" fill="hold">
                                          <p:stCondLst>
                                            <p:cond delay="0"/>
                                          </p:stCondLst>
                                        </p:cTn>
                                        <p:tgtEl>
                                          <p:spTgt spid="29"/>
                                        </p:tgtEl>
                                        <p:attrNameLst>
                                          <p:attrName>style.visibility</p:attrName>
                                        </p:attrNameLst>
                                      </p:cBhvr>
                                      <p:to>
                                        <p:strVal val="visible"/>
                                      </p:to>
                                    </p:set>
                                    <p:animEffect transition="in" filter="wipe(right)">
                                      <p:cBhvr>
                                        <p:cTn id="86" dur="500"/>
                                        <p:tgtEl>
                                          <p:spTgt spid="29"/>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8" fill="hold" grpId="0" nodeType="clickEffect">
                                  <p:stCondLst>
                                    <p:cond delay="0"/>
                                  </p:stCondLst>
                                  <p:childTnLst>
                                    <p:set>
                                      <p:cBhvr>
                                        <p:cTn id="90" dur="1" fill="hold">
                                          <p:stCondLst>
                                            <p:cond delay="0"/>
                                          </p:stCondLst>
                                        </p:cTn>
                                        <p:tgtEl>
                                          <p:spTgt spid="23"/>
                                        </p:tgtEl>
                                        <p:attrNameLst>
                                          <p:attrName>style.visibility</p:attrName>
                                        </p:attrNameLst>
                                      </p:cBhvr>
                                      <p:to>
                                        <p:strVal val="visible"/>
                                      </p:to>
                                    </p:set>
                                    <p:animEffect transition="in" filter="wipe(left)">
                                      <p:cBhvr>
                                        <p:cTn id="91" dur="500"/>
                                        <p:tgtEl>
                                          <p:spTgt spid="23"/>
                                        </p:tgtEl>
                                      </p:cBhvr>
                                    </p:animEffect>
                                  </p:childTnLst>
                                </p:cTn>
                              </p:par>
                            </p:childTnLst>
                          </p:cTn>
                        </p:par>
                        <p:par>
                          <p:cTn id="92" fill="hold">
                            <p:stCondLst>
                              <p:cond delay="500"/>
                            </p:stCondLst>
                            <p:childTnLst>
                              <p:par>
                                <p:cTn id="93" presetID="22" presetClass="entr" presetSubtype="8" fill="hold" grpId="0" nodeType="afterEffect">
                                  <p:stCondLst>
                                    <p:cond delay="0"/>
                                  </p:stCondLst>
                                  <p:childTnLst>
                                    <p:set>
                                      <p:cBhvr>
                                        <p:cTn id="94" dur="1" fill="hold">
                                          <p:stCondLst>
                                            <p:cond delay="0"/>
                                          </p:stCondLst>
                                        </p:cTn>
                                        <p:tgtEl>
                                          <p:spTgt spid="24"/>
                                        </p:tgtEl>
                                        <p:attrNameLst>
                                          <p:attrName>style.visibility</p:attrName>
                                        </p:attrNameLst>
                                      </p:cBhvr>
                                      <p:to>
                                        <p:strVal val="visible"/>
                                      </p:to>
                                    </p:set>
                                    <p:animEffect transition="in" filter="wipe(left)">
                                      <p:cBhvr>
                                        <p:cTn id="95" dur="500"/>
                                        <p:tgtEl>
                                          <p:spTgt spid="24"/>
                                        </p:tgtEl>
                                      </p:cBhvr>
                                    </p:animEffect>
                                  </p:childTnLst>
                                </p:cTn>
                              </p:par>
                            </p:childTnLst>
                          </p:cTn>
                        </p:par>
                      </p:childTnLst>
                    </p:cTn>
                  </p:par>
                  <p:par>
                    <p:cTn id="96" fill="hold">
                      <p:stCondLst>
                        <p:cond delay="indefinite"/>
                      </p:stCondLst>
                      <p:childTnLst>
                        <p:par>
                          <p:cTn id="97" fill="hold">
                            <p:stCondLst>
                              <p:cond delay="0"/>
                            </p:stCondLst>
                            <p:childTnLst>
                              <p:par>
                                <p:cTn id="98" presetID="22" presetClass="entr" presetSubtype="8" fill="hold" grpId="0" nodeType="clickEffect">
                                  <p:stCondLst>
                                    <p:cond delay="0"/>
                                  </p:stCondLst>
                                  <p:childTnLst>
                                    <p:set>
                                      <p:cBhvr>
                                        <p:cTn id="99" dur="1" fill="hold">
                                          <p:stCondLst>
                                            <p:cond delay="0"/>
                                          </p:stCondLst>
                                        </p:cTn>
                                        <p:tgtEl>
                                          <p:spTgt spid="17"/>
                                        </p:tgtEl>
                                        <p:attrNameLst>
                                          <p:attrName>style.visibility</p:attrName>
                                        </p:attrNameLst>
                                      </p:cBhvr>
                                      <p:to>
                                        <p:strVal val="visible"/>
                                      </p:to>
                                    </p:set>
                                    <p:animEffect transition="in" filter="wipe(left)">
                                      <p:cBhvr>
                                        <p:cTn id="100" dur="500"/>
                                        <p:tgtEl>
                                          <p:spTgt spid="17"/>
                                        </p:tgtEl>
                                      </p:cBhvr>
                                    </p:animEffect>
                                  </p:childTnLst>
                                </p:cTn>
                              </p:par>
                            </p:childTnLst>
                          </p:cTn>
                        </p:par>
                      </p:childTnLst>
                    </p:cTn>
                  </p:par>
                  <p:par>
                    <p:cTn id="101" fill="hold">
                      <p:stCondLst>
                        <p:cond delay="indefinite"/>
                      </p:stCondLst>
                      <p:childTnLst>
                        <p:par>
                          <p:cTn id="102" fill="hold">
                            <p:stCondLst>
                              <p:cond delay="0"/>
                            </p:stCondLst>
                            <p:childTnLst>
                              <p:par>
                                <p:cTn id="103" presetID="22" presetClass="entr" presetSubtype="8" fill="hold" grpId="0" nodeType="clickEffect">
                                  <p:stCondLst>
                                    <p:cond delay="0"/>
                                  </p:stCondLst>
                                  <p:childTnLst>
                                    <p:set>
                                      <p:cBhvr>
                                        <p:cTn id="104" dur="1" fill="hold">
                                          <p:stCondLst>
                                            <p:cond delay="0"/>
                                          </p:stCondLst>
                                        </p:cTn>
                                        <p:tgtEl>
                                          <p:spTgt spid="22"/>
                                        </p:tgtEl>
                                        <p:attrNameLst>
                                          <p:attrName>style.visibility</p:attrName>
                                        </p:attrNameLst>
                                      </p:cBhvr>
                                      <p:to>
                                        <p:strVal val="visible"/>
                                      </p:to>
                                    </p:set>
                                    <p:animEffect transition="in" filter="wipe(left)">
                                      <p:cBhvr>
                                        <p:cTn id="105" dur="500"/>
                                        <p:tgtEl>
                                          <p:spTgt spid="22"/>
                                        </p:tgtEl>
                                      </p:cBhvr>
                                    </p:animEffect>
                                  </p:childTnLst>
                                </p:cTn>
                              </p:par>
                            </p:childTnLst>
                          </p:cTn>
                        </p:par>
                      </p:childTnLst>
                    </p:cTn>
                  </p:par>
                  <p:par>
                    <p:cTn id="106" fill="hold">
                      <p:stCondLst>
                        <p:cond delay="indefinite"/>
                      </p:stCondLst>
                      <p:childTnLst>
                        <p:par>
                          <p:cTn id="107" fill="hold">
                            <p:stCondLst>
                              <p:cond delay="0"/>
                            </p:stCondLst>
                            <p:childTnLst>
                              <p:par>
                                <p:cTn id="108" presetID="22" presetClass="entr" presetSubtype="8" fill="hold" grpId="0" nodeType="clickEffect">
                                  <p:stCondLst>
                                    <p:cond delay="0"/>
                                  </p:stCondLst>
                                  <p:childTnLst>
                                    <p:set>
                                      <p:cBhvr>
                                        <p:cTn id="109" dur="1" fill="hold">
                                          <p:stCondLst>
                                            <p:cond delay="0"/>
                                          </p:stCondLst>
                                        </p:cTn>
                                        <p:tgtEl>
                                          <p:spTgt spid="18"/>
                                        </p:tgtEl>
                                        <p:attrNameLst>
                                          <p:attrName>style.visibility</p:attrName>
                                        </p:attrNameLst>
                                      </p:cBhvr>
                                      <p:to>
                                        <p:strVal val="visible"/>
                                      </p:to>
                                    </p:set>
                                    <p:animEffect transition="in" filter="wipe(left)">
                                      <p:cBhvr>
                                        <p:cTn id="110" dur="500"/>
                                        <p:tgtEl>
                                          <p:spTgt spid="18"/>
                                        </p:tgtEl>
                                      </p:cBhvr>
                                    </p:animEffect>
                                  </p:childTnLst>
                                </p:cTn>
                              </p:par>
                            </p:childTnLst>
                          </p:cTn>
                        </p:par>
                      </p:childTnLst>
                    </p:cTn>
                  </p:par>
                  <p:par>
                    <p:cTn id="111" fill="hold">
                      <p:stCondLst>
                        <p:cond delay="indefinite"/>
                      </p:stCondLst>
                      <p:childTnLst>
                        <p:par>
                          <p:cTn id="112" fill="hold">
                            <p:stCondLst>
                              <p:cond delay="0"/>
                            </p:stCondLst>
                            <p:childTnLst>
                              <p:par>
                                <p:cTn id="113" presetID="22" presetClass="entr" presetSubtype="8" fill="hold" grpId="0" nodeType="clickEffect">
                                  <p:stCondLst>
                                    <p:cond delay="0"/>
                                  </p:stCondLst>
                                  <p:childTnLst>
                                    <p:set>
                                      <p:cBhvr>
                                        <p:cTn id="114" dur="1" fill="hold">
                                          <p:stCondLst>
                                            <p:cond delay="0"/>
                                          </p:stCondLst>
                                        </p:cTn>
                                        <p:tgtEl>
                                          <p:spTgt spid="25"/>
                                        </p:tgtEl>
                                        <p:attrNameLst>
                                          <p:attrName>style.visibility</p:attrName>
                                        </p:attrNameLst>
                                      </p:cBhvr>
                                      <p:to>
                                        <p:strVal val="visible"/>
                                      </p:to>
                                    </p:set>
                                    <p:animEffect transition="in" filter="wipe(left)">
                                      <p:cBhvr>
                                        <p:cTn id="115"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10" grpId="0" bldLvl="0" animBg="1"/>
      <p:bldP spid="11" grpId="0" bldLvl="0" animBg="1"/>
      <p:bldP spid="7" grpId="0" bldLvl="0" animBg="1"/>
      <p:bldP spid="12" grpId="0" bldLvl="0" animBg="1"/>
      <p:bldP spid="9" grpId="0" bldLvl="0" animBg="1"/>
      <p:bldP spid="14" grpId="0" bldLvl="0" animBg="1"/>
      <p:bldP spid="13" grpId="0" bldLvl="0" animBg="1"/>
      <p:bldP spid="26" grpId="0" bldLvl="0" animBg="1"/>
      <p:bldP spid="15" grpId="0" bldLvl="0" animBg="1"/>
      <p:bldP spid="17" grpId="0" bldLvl="0" animBg="1"/>
      <p:bldP spid="18" grpId="0" bldLvl="0" animBg="1"/>
      <p:bldP spid="20" grpId="0" bldLvl="0" animBg="1"/>
      <p:bldP spid="21" grpId="0" bldLvl="0" animBg="1"/>
      <p:bldP spid="22" grpId="0" bldLvl="0" animBg="1"/>
      <p:bldP spid="23" grpId="0" bldLvl="0" animBg="1"/>
      <p:bldP spid="24" grpId="0" bldLvl="0" animBg="1"/>
      <p:bldP spid="25" grpId="0" bldLvl="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custDataLst>
              <p:tags r:id="rId1"/>
            </p:custDataLst>
          </p:nvPr>
        </p:nvPicPr>
        <p:blipFill>
          <a:blip r:embed="rId2">
            <a:extLst>
              <a:ext uri="{28A0092B-C50C-407E-A947-70E740481C1C}">
                <a14:useLocalDpi xmlns:a14="http://schemas.microsoft.com/office/drawing/2010/main" val="0"/>
              </a:ext>
            </a:extLst>
          </a:blip>
          <a:stretch>
            <a:fillRect/>
          </a:stretch>
        </p:blipFill>
        <p:spPr>
          <a:xfrm>
            <a:off x="21424" y="287820"/>
            <a:ext cx="9144000" cy="5615444"/>
          </a:xfrm>
          <a:prstGeom prst="rect">
            <a:avLst/>
          </a:prstGeom>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rcRect l="5140" r="6268" b="58768"/>
          <a:stretch>
            <a:fillRect/>
          </a:stretch>
        </p:blipFill>
        <p:spPr>
          <a:xfrm>
            <a:off x="0" y="0"/>
            <a:ext cx="9029065" cy="6330950"/>
          </a:xfrm>
          <a:prstGeom prst="rect">
            <a:avLst/>
          </a:prstGeom>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712470" y="0"/>
            <a:ext cx="7941945" cy="6576695"/>
          </a:xfrm>
          <a:prstGeom prst="rect">
            <a:avLst/>
          </a:prstGeom>
        </p:spPr>
      </p:pic>
      <p:sp>
        <p:nvSpPr>
          <p:cNvPr id="3" name="文本框 2"/>
          <p:cNvSpPr txBox="1"/>
          <p:nvPr/>
        </p:nvSpPr>
        <p:spPr>
          <a:xfrm>
            <a:off x="908050" y="167640"/>
            <a:ext cx="2261870" cy="337185"/>
          </a:xfrm>
          <a:prstGeom prst="rect">
            <a:avLst/>
          </a:prstGeom>
          <a:noFill/>
          <a:ln>
            <a:solidFill>
              <a:srgbClr val="FF0000"/>
            </a:solidFill>
          </a:ln>
        </p:spPr>
        <p:txBody>
          <a:bodyPr wrap="square" rtlCol="0">
            <a:spAutoFit/>
          </a:bodyPr>
          <a:p>
            <a:r>
              <a:rPr lang="zh-CN" altLang="en-US" sz="1600">
                <a:solidFill>
                  <a:schemeClr val="tx1">
                    <a:lumMod val="50000"/>
                  </a:schemeClr>
                </a:solidFill>
                <a:latin typeface="+mn-ea"/>
                <a:ea typeface="+mn-ea"/>
              </a:rPr>
              <a:t>求垂直面内的支点反力：</a:t>
            </a:r>
            <a:endParaRPr lang="zh-CN" altLang="en-US" sz="1600">
              <a:solidFill>
                <a:schemeClr val="tx1">
                  <a:lumMod val="50000"/>
                </a:schemeClr>
              </a:solidFill>
              <a:latin typeface="+mn-ea"/>
              <a:ea typeface="+mn-ea"/>
            </a:endParaRPr>
          </a:p>
        </p:txBody>
      </p:sp>
      <p:sp>
        <p:nvSpPr>
          <p:cNvPr id="4" name="矩形 3"/>
          <p:cNvSpPr/>
          <p:nvPr/>
        </p:nvSpPr>
        <p:spPr>
          <a:xfrm>
            <a:off x="1171575" y="958215"/>
            <a:ext cx="2172335" cy="305435"/>
          </a:xfrm>
          <a:prstGeom prst="rect">
            <a:avLst/>
          </a:prstGeom>
          <a:noFill/>
          <a:ln w="9525" cap="flat" cmpd="sng" algn="ctr">
            <a:solidFill>
              <a:srgbClr val="FF0000"/>
            </a:solidFill>
            <a:prstDash val="solid"/>
            <a:round/>
            <a:headEnd type="none" w="med" len="med"/>
            <a:tailEnd type="none" w="med" len="med"/>
          </a:ln>
          <a:extLst>
            <a:ext uri="{909E8E84-426E-40DD-AFC4-6F175D3DCCD1}">
              <a14:hiddenFill xmlns:a14="http://schemas.microsoft.com/office/drawing/2010/main">
                <a:gradFill>
                  <a:gsLst>
                    <a:gs pos="0">
                      <a:srgbClr val="9EE256"/>
                    </a:gs>
                    <a:gs pos="100000">
                      <a:srgbClr val="52762D"/>
                    </a:gs>
                  </a:gsLst>
                  <a:lin scaled="0"/>
                </a:gradFill>
              </a14:hiddenFill>
            </a:ext>
          </a:extLst>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p:txBody>
      </p:sp>
      <p:sp>
        <p:nvSpPr>
          <p:cNvPr id="5" name="矩形 4"/>
          <p:cNvSpPr/>
          <p:nvPr/>
        </p:nvSpPr>
        <p:spPr>
          <a:xfrm>
            <a:off x="1290955" y="4001770"/>
            <a:ext cx="1491615" cy="305435"/>
          </a:xfrm>
          <a:prstGeom prst="rect">
            <a:avLst/>
          </a:prstGeom>
          <a:noFill/>
          <a:ln w="9525" cap="flat" cmpd="sng" algn="ctr">
            <a:solidFill>
              <a:srgbClr val="FF0000"/>
            </a:solidFill>
            <a:prstDash val="solid"/>
            <a:round/>
            <a:headEnd type="none" w="med" len="med"/>
            <a:tailEnd type="none" w="med" len="med"/>
          </a:ln>
          <a:extLst>
            <a:ext uri="{909E8E84-426E-40DD-AFC4-6F175D3DCCD1}">
              <a14:hiddenFill xmlns:a14="http://schemas.microsoft.com/office/drawing/2010/main">
                <a:gradFill>
                  <a:gsLst>
                    <a:gs pos="0">
                      <a:srgbClr val="9EE256"/>
                    </a:gs>
                    <a:gs pos="100000">
                      <a:srgbClr val="52762D"/>
                    </a:gs>
                  </a:gsLst>
                  <a:lin scaled="0"/>
                </a:gradFill>
              </a14:hiddenFill>
            </a:ext>
          </a:extLst>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p:txBody>
      </p:sp>
      <p:sp>
        <p:nvSpPr>
          <p:cNvPr id="6" name="矩形 5"/>
          <p:cNvSpPr/>
          <p:nvPr/>
        </p:nvSpPr>
        <p:spPr>
          <a:xfrm>
            <a:off x="1290955" y="4839970"/>
            <a:ext cx="1458595" cy="287020"/>
          </a:xfrm>
          <a:prstGeom prst="rect">
            <a:avLst/>
          </a:prstGeom>
          <a:noFill/>
          <a:ln w="9525" cap="flat" cmpd="sng" algn="ctr">
            <a:solidFill>
              <a:srgbClr val="FF0000"/>
            </a:solidFill>
            <a:prstDash val="solid"/>
            <a:round/>
            <a:headEnd type="none" w="med" len="med"/>
            <a:tailEnd type="none" w="med" len="med"/>
          </a:ln>
          <a:extLst>
            <a:ext uri="{909E8E84-426E-40DD-AFC4-6F175D3DCCD1}">
              <a14:hiddenFill xmlns:a14="http://schemas.microsoft.com/office/drawing/2010/main">
                <a:gradFill>
                  <a:gsLst>
                    <a:gs pos="0">
                      <a:srgbClr val="9EE256"/>
                    </a:gs>
                    <a:gs pos="100000">
                      <a:srgbClr val="52762D"/>
                    </a:gs>
                  </a:gsLst>
                  <a:lin scaled="0"/>
                </a:gradFill>
              </a14:hiddenFill>
            </a:ext>
          </a:extLst>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rcRect t="6156" r="7881" b="49289"/>
          <a:stretch>
            <a:fillRect/>
          </a:stretch>
        </p:blipFill>
        <p:spPr>
          <a:xfrm>
            <a:off x="334010" y="492125"/>
            <a:ext cx="8475980" cy="6365875"/>
          </a:xfrm>
          <a:prstGeom prst="rect">
            <a:avLst/>
          </a:prstGeom>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rcRect l="5140" t="40943" r="5140" b="3672"/>
          <a:stretch>
            <a:fillRect/>
          </a:stretch>
        </p:blipFill>
        <p:spPr>
          <a:xfrm>
            <a:off x="796925" y="227965"/>
            <a:ext cx="7129145" cy="6630035"/>
          </a:xfrm>
          <a:prstGeom prst="rect">
            <a:avLst/>
          </a:prstGeom>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rcRect t="50000" b="12698"/>
          <a:stretch>
            <a:fillRect/>
          </a:stretch>
        </p:blipFill>
        <p:spPr>
          <a:xfrm>
            <a:off x="-57150" y="592455"/>
            <a:ext cx="9201150" cy="5329555"/>
          </a:xfrm>
          <a:prstGeom prst="rect">
            <a:avLst/>
          </a:prstGeom>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55575" y="0"/>
            <a:ext cx="9455150" cy="6831965"/>
          </a:xfrm>
          <a:prstGeom prst="rect">
            <a:avLst/>
          </a:prstGeom>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bwMode="auto">
          <a:xfrm>
            <a:off x="5734050" y="895350"/>
            <a:ext cx="1771650" cy="228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a:solidFill>
                  <a:schemeClr val="bg1"/>
                </a:solidFill>
                <a:ea typeface="黑体" panose="02010609060101010101" pitchFamily="49" charset="-122"/>
              </a:rPr>
              <a:t>直齿圆柱齿轮强度计算</a:t>
            </a:r>
            <a:r>
              <a:rPr lang="en-US" altLang="zh-CN" sz="800">
                <a:solidFill>
                  <a:schemeClr val="bg1"/>
                </a:solidFill>
                <a:ea typeface="黑体" panose="02010609060101010101" pitchFamily="49" charset="-122"/>
              </a:rPr>
              <a:t>1</a:t>
            </a:r>
            <a:endParaRPr lang="en-US" altLang="zh-CN" sz="800">
              <a:solidFill>
                <a:schemeClr val="bg1"/>
              </a:solidFill>
              <a:ea typeface="黑体" panose="02010609060101010101" pitchFamily="49" charset="-122"/>
            </a:endParaRPr>
          </a:p>
        </p:txBody>
      </p:sp>
      <p:sp>
        <p:nvSpPr>
          <p:cNvPr id="59429" name="Text Box 37"/>
          <p:cNvSpPr txBox="1">
            <a:spLocks noChangeArrowheads="1"/>
          </p:cNvSpPr>
          <p:nvPr/>
        </p:nvSpPr>
        <p:spPr bwMode="auto">
          <a:xfrm>
            <a:off x="6813550" y="6102350"/>
            <a:ext cx="3429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a:solidFill>
                  <a:schemeClr val="tx1"/>
                </a:solidFill>
                <a:latin typeface="Tahoma" panose="020B0604030504040204" pitchFamily="34" charset="0"/>
                <a:ea typeface="宋体" panose="02010600030101010101" pitchFamily="2" charset="-122"/>
              </a:rPr>
              <a:t>  </a:t>
            </a:r>
            <a:endParaRPr lang="en-US" altLang="zh-CN">
              <a:solidFill>
                <a:schemeClr val="tx1"/>
              </a:solidFill>
              <a:latin typeface="Tahoma" panose="020B0604030504040204" pitchFamily="34" charset="0"/>
              <a:ea typeface="宋体" panose="02010600030101010101" pitchFamily="2" charset="-122"/>
            </a:endParaRPr>
          </a:p>
        </p:txBody>
      </p:sp>
      <p:pic>
        <p:nvPicPr>
          <p:cNvPr id="88069" name="Picture 29" descr="back">
            <a:hlinkClick r:id="" action="ppaction://hlinkshowjump?jump=previousslide"/>
          </p:cNvPr>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680450" y="6562725"/>
            <a:ext cx="287338"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70" name="Rectangle 2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endParaRPr lang="zh-CN" altLang="en-US"/>
          </a:p>
        </p:txBody>
      </p:sp>
      <p:sp>
        <p:nvSpPr>
          <p:cNvPr id="88071" name="Rectangle 23"/>
          <p:cNvSpPr>
            <a:spLocks noChangeArrowheads="1"/>
          </p:cNvSpPr>
          <p:nvPr/>
        </p:nvSpPr>
        <p:spPr bwMode="auto">
          <a:xfrm>
            <a:off x="0" y="4413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r>
              <a:rPr lang="en-US" altLang="zh-CN" sz="1200">
                <a:latin typeface="宋体" panose="02010600030101010101" pitchFamily="2" charset="-122"/>
                <a:cs typeface="Times New Roman" panose="02020603050405020304" pitchFamily="18" charset="0"/>
              </a:rPr>
              <a:t> </a:t>
            </a:r>
            <a:r>
              <a:rPr lang="en-US" altLang="zh-CN" sz="600"/>
              <a:t> </a:t>
            </a:r>
            <a:endParaRPr lang="en-US" altLang="zh-CN"/>
          </a:p>
        </p:txBody>
      </p:sp>
      <p:sp>
        <p:nvSpPr>
          <p:cNvPr id="88072" name="Rectangle 29"/>
          <p:cNvSpPr>
            <a:spLocks noChangeArrowheads="1"/>
          </p:cNvSpPr>
          <p:nvPr/>
        </p:nvSpPr>
        <p:spPr bwMode="auto">
          <a:xfrm>
            <a:off x="5737225" y="7286625"/>
            <a:ext cx="10774363" cy="46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endParaRPr lang="zh-CN" altLang="en-US"/>
          </a:p>
        </p:txBody>
      </p:sp>
      <p:sp>
        <p:nvSpPr>
          <p:cNvPr id="88074" name="Rectangle 2"/>
          <p:cNvSpPr>
            <a:spLocks noChangeArrowheads="1"/>
          </p:cNvSpPr>
          <p:nvPr/>
        </p:nvSpPr>
        <p:spPr bwMode="auto">
          <a:xfrm>
            <a:off x="2971800" y="26336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endParaRPr lang="zh-CN" altLang="en-US"/>
          </a:p>
        </p:txBody>
      </p:sp>
      <p:sp>
        <p:nvSpPr>
          <p:cNvPr id="88075" name="文本框 2"/>
          <p:cNvSpPr txBox="1">
            <a:spLocks noChangeArrowheads="1"/>
          </p:cNvSpPr>
          <p:nvPr/>
        </p:nvSpPr>
        <p:spPr bwMode="auto">
          <a:xfrm>
            <a:off x="214313" y="1204913"/>
            <a:ext cx="8753475" cy="1477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a:lnSpc>
                <a:spcPct val="150000"/>
              </a:lnSpc>
            </a:pPr>
            <a:r>
              <a:rPr lang="en-US" altLang="zh-CN"/>
              <a:t> </a:t>
            </a:r>
            <a:r>
              <a:rPr lang="zh-CN" altLang="en-US"/>
              <a:t>       </a:t>
            </a:r>
            <a:r>
              <a:rPr lang="zh-CN" altLang="zh-CN"/>
              <a:t>齿轮的结构大体分为</a:t>
            </a:r>
            <a:r>
              <a:rPr lang="zh-CN" altLang="zh-CN">
                <a:solidFill>
                  <a:srgbClr val="FF0000"/>
                </a:solidFill>
              </a:rPr>
              <a:t>整体式</a:t>
            </a:r>
            <a:r>
              <a:rPr lang="zh-CN" altLang="zh-CN"/>
              <a:t>、</a:t>
            </a:r>
            <a:r>
              <a:rPr lang="zh-CN" altLang="zh-CN">
                <a:solidFill>
                  <a:srgbClr val="FF0000"/>
                </a:solidFill>
              </a:rPr>
              <a:t>腹板式</a:t>
            </a:r>
            <a:r>
              <a:rPr lang="zh-CN" altLang="zh-CN"/>
              <a:t>和</a:t>
            </a:r>
            <a:r>
              <a:rPr lang="zh-CN" altLang="zh-CN">
                <a:solidFill>
                  <a:srgbClr val="FF0000"/>
                </a:solidFill>
              </a:rPr>
              <a:t>轮辐式</a:t>
            </a:r>
            <a:r>
              <a:rPr lang="zh-CN" altLang="zh-CN"/>
              <a:t>。一般是先根据齿轮的大小选择齿轮的结构形式，然后根据经验公式计算各结构尺寸并随手通过设计将其图形化。</a:t>
            </a:r>
            <a:endParaRPr lang="zh-CN" altLang="zh-CN"/>
          </a:p>
        </p:txBody>
      </p:sp>
      <p:pic>
        <p:nvPicPr>
          <p:cNvPr id="88076" name="图片 1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7563" y="4333875"/>
            <a:ext cx="2959100" cy="156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8077" name="图片 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95825" y="4449763"/>
            <a:ext cx="3849688" cy="157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78" name="矩形 4"/>
          <p:cNvSpPr>
            <a:spLocks noChangeArrowheads="1"/>
          </p:cNvSpPr>
          <p:nvPr/>
        </p:nvSpPr>
        <p:spPr bwMode="auto">
          <a:xfrm>
            <a:off x="1106488" y="5778500"/>
            <a:ext cx="2306637"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r>
              <a:rPr lang="zh-CN" altLang="zh-CN" sz="3600">
                <a:ea typeface="宋体" panose="02010600030101010101" pitchFamily="2" charset="-122"/>
                <a:cs typeface="Times New Roman" panose="02020603050405020304" pitchFamily="18" charset="0"/>
              </a:rPr>
              <a:t> </a:t>
            </a:r>
            <a:r>
              <a:rPr lang="zh-CN" altLang="zh-CN" sz="1600">
                <a:ea typeface="宋体" panose="02010600030101010101" pitchFamily="2" charset="-122"/>
                <a:cs typeface="Times New Roman" panose="02020603050405020304" pitchFamily="18" charset="0"/>
              </a:rPr>
              <a:t>图</a:t>
            </a:r>
            <a:r>
              <a:rPr lang="en-US" altLang="zh-CN" sz="1600">
                <a:ea typeface="宋体" panose="02010600030101010101" pitchFamily="2" charset="-122"/>
                <a:cs typeface="Times New Roman" panose="02020603050405020304" pitchFamily="18" charset="0"/>
              </a:rPr>
              <a:t>3.4-19  </a:t>
            </a:r>
            <a:r>
              <a:rPr lang="zh-CN" altLang="zh-CN" sz="1600">
                <a:ea typeface="宋体" panose="02010600030101010101" pitchFamily="2" charset="-122"/>
                <a:cs typeface="Times New Roman" panose="02020603050405020304" pitchFamily="18" charset="0"/>
              </a:rPr>
              <a:t>圆柱齿轮</a:t>
            </a:r>
            <a:r>
              <a:rPr lang="en-US" altLang="zh-CN" sz="1600">
                <a:ea typeface="宋体" panose="02010600030101010101" pitchFamily="2" charset="-122"/>
                <a:cs typeface="Times New Roman" panose="02020603050405020304" pitchFamily="18" charset="0"/>
              </a:rPr>
              <a:t>e</a:t>
            </a:r>
            <a:r>
              <a:rPr lang="zh-CN" altLang="zh-CN" sz="1600">
                <a:ea typeface="宋体" panose="02010600030101010101" pitchFamily="2" charset="-122"/>
                <a:cs typeface="Times New Roman" panose="02020603050405020304" pitchFamily="18" charset="0"/>
              </a:rPr>
              <a:t>值 </a:t>
            </a:r>
            <a:endParaRPr lang="zh-CN" altLang="en-US" sz="1600">
              <a:ea typeface="宋体" panose="02010600030101010101" pitchFamily="2" charset="-122"/>
              <a:cs typeface="Times New Roman" panose="02020603050405020304" pitchFamily="18" charset="0"/>
            </a:endParaRPr>
          </a:p>
        </p:txBody>
      </p:sp>
      <p:sp>
        <p:nvSpPr>
          <p:cNvPr id="88079" name="矩形 5"/>
          <p:cNvSpPr>
            <a:spLocks noChangeArrowheads="1"/>
          </p:cNvSpPr>
          <p:nvPr/>
        </p:nvSpPr>
        <p:spPr bwMode="auto">
          <a:xfrm>
            <a:off x="5589588" y="6013450"/>
            <a:ext cx="20605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r>
              <a:rPr lang="zh-CN" altLang="zh-CN">
                <a:ea typeface="宋体" panose="02010600030101010101" pitchFamily="2" charset="-122"/>
                <a:cs typeface="Times New Roman" panose="02020603050405020304" pitchFamily="18" charset="0"/>
              </a:rPr>
              <a:t> </a:t>
            </a:r>
            <a:r>
              <a:rPr lang="zh-CN" altLang="zh-CN" sz="1600">
                <a:ea typeface="宋体" panose="02010600030101010101" pitchFamily="2" charset="-122"/>
                <a:cs typeface="Times New Roman" panose="02020603050405020304" pitchFamily="18" charset="0"/>
              </a:rPr>
              <a:t>图</a:t>
            </a:r>
            <a:r>
              <a:rPr lang="en-US" altLang="zh-CN" sz="1600">
                <a:ea typeface="宋体" panose="02010600030101010101" pitchFamily="2" charset="-122"/>
                <a:cs typeface="Times New Roman" panose="02020603050405020304" pitchFamily="18" charset="0"/>
              </a:rPr>
              <a:t>3.4-20 </a:t>
            </a:r>
            <a:r>
              <a:rPr lang="zh-CN" altLang="zh-CN" sz="1600">
                <a:ea typeface="宋体" panose="02010600030101010101" pitchFamily="2" charset="-122"/>
                <a:cs typeface="Times New Roman" panose="02020603050405020304" pitchFamily="18" charset="0"/>
              </a:rPr>
              <a:t>圆柱齿轮轴</a:t>
            </a:r>
            <a:endParaRPr lang="zh-CN" altLang="en-US" sz="1600">
              <a:ea typeface="宋体" panose="02010600030101010101" pitchFamily="2" charset="-122"/>
              <a:cs typeface="Times New Roman" panose="02020603050405020304" pitchFamily="18" charset="0"/>
            </a:endParaRPr>
          </a:p>
        </p:txBody>
      </p:sp>
      <p:sp>
        <p:nvSpPr>
          <p:cNvPr id="7" name="文本框 6"/>
          <p:cNvSpPr txBox="1">
            <a:spLocks noRot="1" noChangeAspect="1" noMove="1" noResize="1" noEditPoints="1" noAdjustHandles="1" noChangeArrowheads="1" noChangeShapeType="1" noTextEdit="1"/>
          </p:cNvSpPr>
          <p:nvPr/>
        </p:nvSpPr>
        <p:spPr>
          <a:xfrm>
            <a:off x="215106" y="2502338"/>
            <a:ext cx="8681244" cy="1938992"/>
          </a:xfrm>
          <a:prstGeom prst="rect">
            <a:avLst/>
          </a:prstGeom>
          <a:blipFill>
            <a:blip r:embed="rId4"/>
            <a:stretch>
              <a:fillRect l="-702" r="-772" b="-1567"/>
            </a:stretch>
          </a:blipFill>
        </p:spPr>
        <p:txBody>
          <a:bodyPr/>
          <a:lstStyle/>
          <a:p>
            <a:pPr>
              <a:defRPr/>
            </a:pPr>
            <a:r>
              <a:rPr lang="zh-CN" altLang="en-US">
                <a:noFill/>
              </a:rPr>
              <a:t> </a:t>
            </a:r>
            <a:endParaRPr lang="zh-CN" altLang="en-US">
              <a:noFill/>
            </a:endParaRPr>
          </a:p>
        </p:txBody>
      </p:sp>
      <p:sp>
        <p:nvSpPr>
          <p:cNvPr id="9" name="文本框 8"/>
          <p:cNvSpPr txBox="1"/>
          <p:nvPr/>
        </p:nvSpPr>
        <p:spPr>
          <a:xfrm>
            <a:off x="2926715" y="193675"/>
            <a:ext cx="3840480" cy="460375"/>
          </a:xfrm>
          <a:prstGeom prst="rect">
            <a:avLst/>
          </a:prstGeom>
          <a:noFill/>
        </p:spPr>
        <p:txBody>
          <a:bodyPr wrap="none" rtlCol="0" anchor="t">
            <a:spAutoFit/>
          </a:bodyPr>
          <a:lstStyle/>
          <a:p>
            <a:r>
              <a:rPr lang="zh-CN" altLang="zh-CN" sz="2400">
                <a:solidFill>
                  <a:srgbClr val="C00000"/>
                </a:solidFill>
                <a:latin typeface="黑体" panose="02010609060101010101" pitchFamily="49" charset="-122"/>
                <a:ea typeface="黑体" panose="02010609060101010101" pitchFamily="49" charset="-122"/>
                <a:sym typeface="+mn-ea"/>
              </a:rPr>
              <a:t>案例</a:t>
            </a:r>
            <a:r>
              <a:rPr lang="en-US" altLang="zh-CN" sz="2400">
                <a:solidFill>
                  <a:srgbClr val="C00000"/>
                </a:solidFill>
                <a:latin typeface="黑体" panose="02010609060101010101" pitchFamily="49" charset="-122"/>
                <a:ea typeface="黑体" panose="02010609060101010101" pitchFamily="49" charset="-122"/>
                <a:sym typeface="+mn-ea"/>
              </a:rPr>
              <a:t>2 </a:t>
            </a:r>
            <a:r>
              <a:rPr lang="zh-CN" altLang="zh-CN" sz="2400">
                <a:solidFill>
                  <a:srgbClr val="C00000"/>
                </a:solidFill>
                <a:latin typeface="黑体" panose="02010609060101010101" pitchFamily="49" charset="-122"/>
                <a:ea typeface="黑体" panose="02010609060101010101" pitchFamily="49" charset="-122"/>
                <a:sym typeface="+mn-ea"/>
              </a:rPr>
              <a:t>齿轮减速器轴的设计</a:t>
            </a:r>
            <a:endParaRPr lang="zh-CN" altLang="zh-CN" sz="2400">
              <a:solidFill>
                <a:srgbClr val="C00000"/>
              </a:solidFill>
              <a:latin typeface="黑体" panose="02010609060101010101" pitchFamily="49" charset="-122"/>
              <a:ea typeface="黑体" panose="02010609060101010101" pitchFamily="49" charset="-122"/>
              <a:sym typeface="+mn-ea"/>
            </a:endParaRPr>
          </a:p>
        </p:txBody>
      </p:sp>
      <p:sp>
        <p:nvSpPr>
          <p:cNvPr id="37895"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9429"/>
                                        </p:tgtEl>
                                        <p:attrNameLst>
                                          <p:attrName>style.visibility</p:attrName>
                                        </p:attrNameLst>
                                      </p:cBhvr>
                                      <p:to>
                                        <p:strVal val="visible"/>
                                      </p:to>
                                    </p:set>
                                    <p:anim calcmode="lin" valueType="num">
                                      <p:cBhvr additive="base">
                                        <p:cTn id="7" dur="500" fill="hold"/>
                                        <p:tgtEl>
                                          <p:spTgt spid="59429"/>
                                        </p:tgtEl>
                                        <p:attrNameLst>
                                          <p:attrName>ppt_x</p:attrName>
                                        </p:attrNameLst>
                                      </p:cBhvr>
                                      <p:tavLst>
                                        <p:tav tm="0">
                                          <p:val>
                                            <p:strVal val="0-#ppt_w/2"/>
                                          </p:val>
                                        </p:tav>
                                        <p:tav tm="100000">
                                          <p:val>
                                            <p:strVal val="#ppt_x"/>
                                          </p:val>
                                        </p:tav>
                                      </p:tavLst>
                                    </p:anim>
                                    <p:anim calcmode="lin" valueType="num">
                                      <p:cBhvr additive="base">
                                        <p:cTn id="8" dur="500" fill="hold"/>
                                        <p:tgtEl>
                                          <p:spTgt spid="5942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429" grpId="0" autoUpdateAnimBg="0"/>
    </p:bldLst>
  </p:timing>
</p:sld>
</file>

<file path=ppt/slides/slide9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6" name="Picture 31" descr="back">
            <a:hlinkClick r:id="" action="ppaction://hlinkshowjump?jump=previousslide"/>
          </p:cNvPr>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332788" y="6532563"/>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32" descr="NEXT">
            <a:hlinkClick r:id="rId2" action="ppaction://hlinksldjump"/>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42363" y="6532563"/>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33" descr="rewind">
            <a:hlinkClick r:id="" action="ppaction://hlinkshowjump?jump=firstslide"/>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924800" y="6532563"/>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文本框 3"/>
          <p:cNvSpPr txBox="1">
            <a:spLocks noChangeArrowheads="1"/>
          </p:cNvSpPr>
          <p:nvPr/>
        </p:nvSpPr>
        <p:spPr bwMode="auto">
          <a:xfrm>
            <a:off x="692150" y="793750"/>
            <a:ext cx="26225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r>
              <a:rPr lang="zh-CN" altLang="en-US"/>
              <a:t>（</a:t>
            </a:r>
            <a:r>
              <a:rPr lang="en-US" altLang="zh-CN"/>
              <a:t>2</a:t>
            </a:r>
            <a:r>
              <a:rPr lang="zh-CN" altLang="en-US"/>
              <a:t>）确定各轴段长度</a:t>
            </a:r>
            <a:endParaRPr lang="zh-CN" altLang="en-US"/>
          </a:p>
        </p:txBody>
      </p:sp>
      <p:sp>
        <p:nvSpPr>
          <p:cNvPr id="5" name="文本框 4"/>
          <p:cNvSpPr txBox="1">
            <a:spLocks noChangeArrowheads="1"/>
          </p:cNvSpPr>
          <p:nvPr/>
        </p:nvSpPr>
        <p:spPr bwMode="auto">
          <a:xfrm>
            <a:off x="527050" y="1193800"/>
            <a:ext cx="8215313" cy="147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a:lnSpc>
                <a:spcPct val="150000"/>
              </a:lnSpc>
            </a:pPr>
            <a:r>
              <a:rPr lang="en-US" altLang="zh-CN"/>
              <a:t>      </a:t>
            </a:r>
            <a:r>
              <a:rPr lang="zh-CN" altLang="zh-CN"/>
              <a:t>接下来我们根据图</a:t>
            </a:r>
            <a:r>
              <a:rPr lang="en-US" altLang="zh-CN"/>
              <a:t>3.7-22</a:t>
            </a:r>
            <a:r>
              <a:rPr lang="zh-CN" altLang="zh-CN"/>
              <a:t>所定轴的结构方案（还包括另外两个轴的方案），直接到</a:t>
            </a:r>
            <a:r>
              <a:rPr lang="zh-CN" altLang="zh-CN">
                <a:hlinkClick r:id="rId5" action="ppaction://hlinksldjump"/>
              </a:rPr>
              <a:t>图</a:t>
            </a:r>
            <a:r>
              <a:rPr lang="en-US" altLang="zh-CN">
                <a:hlinkClick r:id="rId5" action="ppaction://hlinksldjump"/>
              </a:rPr>
              <a:t>3.4-27</a:t>
            </a:r>
            <a:r>
              <a:rPr lang="zh-CN" altLang="zh-CN"/>
              <a:t>中去接着画装配图，并通过画图来确定轴及轴上零件的结构及结构尺寸，包括轴向和周向定位。</a:t>
            </a:r>
            <a:endParaRPr lang="zh-CN" altLang="zh-CN"/>
          </a:p>
        </p:txBody>
      </p:sp>
      <p:sp>
        <p:nvSpPr>
          <p:cNvPr id="9" name="文本框 8"/>
          <p:cNvSpPr txBox="1">
            <a:spLocks noChangeArrowheads="1"/>
          </p:cNvSpPr>
          <p:nvPr/>
        </p:nvSpPr>
        <p:spPr bwMode="auto">
          <a:xfrm>
            <a:off x="949325" y="2625725"/>
            <a:ext cx="2108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r>
              <a:rPr lang="en-US" altLang="zh-CN"/>
              <a:t>1</a:t>
            </a:r>
            <a:r>
              <a:rPr lang="zh-CN" altLang="en-US"/>
              <a:t>）</a:t>
            </a:r>
            <a:r>
              <a:rPr lang="zh-CN" altLang="zh-CN"/>
              <a:t>确定轴承位置</a:t>
            </a:r>
            <a:endParaRPr lang="zh-CN" altLang="en-US"/>
          </a:p>
        </p:txBody>
      </p:sp>
      <p:sp>
        <p:nvSpPr>
          <p:cNvPr id="10" name="文本框 9"/>
          <p:cNvSpPr txBox="1">
            <a:spLocks noChangeArrowheads="1"/>
          </p:cNvSpPr>
          <p:nvPr/>
        </p:nvSpPr>
        <p:spPr bwMode="auto">
          <a:xfrm>
            <a:off x="587375" y="2933700"/>
            <a:ext cx="8154988"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a:lnSpc>
                <a:spcPct val="150000"/>
              </a:lnSpc>
            </a:pPr>
            <a:r>
              <a:rPr lang="en-US" altLang="zh-CN"/>
              <a:t>      </a:t>
            </a:r>
            <a:r>
              <a:rPr lang="zh-CN" altLang="zh-CN"/>
              <a:t>在确定轴承位置之前，我们得先确定给轴承的润滑方式是稀油润滑（图</a:t>
            </a:r>
            <a:r>
              <a:rPr lang="en-US" altLang="zh-CN"/>
              <a:t>3.7-23a</a:t>
            </a:r>
            <a:r>
              <a:rPr lang="zh-CN" altLang="zh-CN"/>
              <a:t>）还是油脂润滑（图</a:t>
            </a:r>
            <a:r>
              <a:rPr lang="en-US" altLang="zh-CN"/>
              <a:t>3.7-23b</a:t>
            </a:r>
            <a:r>
              <a:rPr lang="zh-CN" altLang="zh-CN"/>
              <a:t>）</a:t>
            </a:r>
            <a:r>
              <a:rPr lang="zh-CN" altLang="en-US"/>
              <a:t>，不同润滑方式致结构不同。</a:t>
            </a:r>
            <a:endParaRPr lang="zh-CN" altLang="en-US"/>
          </a:p>
        </p:txBody>
      </p:sp>
      <p:pic>
        <p:nvPicPr>
          <p:cNvPr id="14" name="图片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03425" y="4010025"/>
            <a:ext cx="1520825" cy="156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图片 1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33913" y="4021138"/>
            <a:ext cx="2525712" cy="156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文本框 18"/>
          <p:cNvSpPr txBox="1">
            <a:spLocks noChangeArrowheads="1"/>
          </p:cNvSpPr>
          <p:nvPr/>
        </p:nvSpPr>
        <p:spPr bwMode="auto">
          <a:xfrm>
            <a:off x="1963738" y="5675313"/>
            <a:ext cx="15652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r>
              <a:rPr lang="zh-CN" altLang="zh-CN" sz="1400"/>
              <a:t>（</a:t>
            </a:r>
            <a:r>
              <a:rPr lang="en-US" altLang="zh-CN" sz="1400"/>
              <a:t>a</a:t>
            </a:r>
            <a:r>
              <a:rPr lang="zh-CN" altLang="zh-CN" sz="1400"/>
              <a:t>）油润滑轴承 </a:t>
            </a:r>
            <a:endParaRPr lang="zh-CN" altLang="en-US" sz="1400"/>
          </a:p>
        </p:txBody>
      </p:sp>
      <p:sp>
        <p:nvSpPr>
          <p:cNvPr id="20" name="文本框 19"/>
          <p:cNvSpPr txBox="1">
            <a:spLocks noChangeArrowheads="1"/>
          </p:cNvSpPr>
          <p:nvPr/>
        </p:nvSpPr>
        <p:spPr bwMode="auto">
          <a:xfrm>
            <a:off x="5060950" y="5591175"/>
            <a:ext cx="23193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r>
              <a:rPr lang="zh-CN" altLang="zh-CN"/>
              <a:t> </a:t>
            </a:r>
            <a:r>
              <a:rPr lang="zh-CN" altLang="zh-CN" sz="1400"/>
              <a:t>（</a:t>
            </a:r>
            <a:r>
              <a:rPr lang="en-US" altLang="zh-CN" sz="1400"/>
              <a:t>b</a:t>
            </a:r>
            <a:r>
              <a:rPr lang="zh-CN" altLang="zh-CN" sz="1400"/>
              <a:t>）脂润滑轴承</a:t>
            </a:r>
            <a:endParaRPr lang="zh-CN" altLang="zh-CN" sz="1400"/>
          </a:p>
        </p:txBody>
      </p:sp>
      <p:sp>
        <p:nvSpPr>
          <p:cNvPr id="21" name="文本框 20"/>
          <p:cNvSpPr txBox="1">
            <a:spLocks noChangeArrowheads="1"/>
          </p:cNvSpPr>
          <p:nvPr/>
        </p:nvSpPr>
        <p:spPr bwMode="auto">
          <a:xfrm>
            <a:off x="2979738" y="6086475"/>
            <a:ext cx="3630612"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r>
              <a:rPr lang="zh-CN" altLang="zh-CN" sz="1600"/>
              <a:t>图</a:t>
            </a:r>
            <a:r>
              <a:rPr lang="en-US" altLang="zh-CN" sz="1600"/>
              <a:t>3.7-23 </a:t>
            </a:r>
            <a:r>
              <a:rPr lang="zh-CN" altLang="zh-CN" sz="1600"/>
              <a:t>轴承在箱体中的位置</a:t>
            </a:r>
            <a:endParaRPr lang="zh-CN" altLang="zh-CN" sz="1600"/>
          </a:p>
        </p:txBody>
      </p:sp>
      <p:sp>
        <p:nvSpPr>
          <p:cNvPr id="2" name="文本框 1"/>
          <p:cNvSpPr txBox="1"/>
          <p:nvPr/>
        </p:nvSpPr>
        <p:spPr>
          <a:xfrm>
            <a:off x="2926715" y="193675"/>
            <a:ext cx="3840480" cy="460375"/>
          </a:xfrm>
          <a:prstGeom prst="rect">
            <a:avLst/>
          </a:prstGeom>
          <a:noFill/>
        </p:spPr>
        <p:txBody>
          <a:bodyPr wrap="none" rtlCol="0" anchor="t">
            <a:spAutoFit/>
          </a:bodyPr>
          <a:lstStyle/>
          <a:p>
            <a:r>
              <a:rPr lang="zh-CN" altLang="zh-CN" sz="2400">
                <a:solidFill>
                  <a:srgbClr val="C00000"/>
                </a:solidFill>
                <a:latin typeface="黑体" panose="02010609060101010101" pitchFamily="49" charset="-122"/>
                <a:ea typeface="黑体" panose="02010609060101010101" pitchFamily="49" charset="-122"/>
                <a:sym typeface="+mn-ea"/>
              </a:rPr>
              <a:t>案例</a:t>
            </a:r>
            <a:r>
              <a:rPr lang="en-US" altLang="zh-CN" sz="2400">
                <a:solidFill>
                  <a:srgbClr val="C00000"/>
                </a:solidFill>
                <a:latin typeface="黑体" panose="02010609060101010101" pitchFamily="49" charset="-122"/>
                <a:ea typeface="黑体" panose="02010609060101010101" pitchFamily="49" charset="-122"/>
                <a:sym typeface="+mn-ea"/>
              </a:rPr>
              <a:t>2 </a:t>
            </a:r>
            <a:r>
              <a:rPr lang="zh-CN" altLang="zh-CN" sz="2400">
                <a:solidFill>
                  <a:srgbClr val="C00000"/>
                </a:solidFill>
                <a:latin typeface="黑体" panose="02010609060101010101" pitchFamily="49" charset="-122"/>
                <a:ea typeface="黑体" panose="02010609060101010101" pitchFamily="49" charset="-122"/>
                <a:sym typeface="+mn-ea"/>
              </a:rPr>
              <a:t>齿轮减速器轴的设计</a:t>
            </a:r>
            <a:endParaRPr lang="zh-CN" altLang="zh-CN" sz="2400">
              <a:solidFill>
                <a:srgbClr val="C00000"/>
              </a:solidFill>
              <a:latin typeface="黑体" panose="02010609060101010101" pitchFamily="49" charset="-122"/>
              <a:ea typeface="黑体" panose="02010609060101010101" pitchFamily="49" charset="-122"/>
              <a:sym typeface="+mn-ea"/>
            </a:endParaRPr>
          </a:p>
        </p:txBody>
      </p:sp>
      <p:sp>
        <p:nvSpPr>
          <p:cNvPr id="37895"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6"/>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nodeType="afterEffect">
                                  <p:stCondLst>
                                    <p:cond delay="0"/>
                                  </p:stCondLst>
                                  <p:childTnLst>
                                    <p:set>
                                      <p:cBhvr>
                                        <p:cTn id="9" dur="1" fill="hold">
                                          <p:stCondLst>
                                            <p:cond delay="499"/>
                                          </p:stCondLst>
                                        </p:cTn>
                                        <p:tgtEl>
                                          <p:spTgt spid="7"/>
                                        </p:tgtEl>
                                        <p:attrNameLst>
                                          <p:attrName>style.visibility</p:attrName>
                                        </p:attrNameLst>
                                      </p:cBhvr>
                                      <p:to>
                                        <p:strVal val="visible"/>
                                      </p:to>
                                    </p:set>
                                  </p:childTnLst>
                                </p:cTn>
                              </p:par>
                            </p:childTnLst>
                          </p:cTn>
                        </p:par>
                        <p:par>
                          <p:cTn id="10" fill="hold">
                            <p:stCondLst>
                              <p:cond delay="1000"/>
                            </p:stCondLst>
                            <p:childTnLst>
                              <p:par>
                                <p:cTn id="11" presetID="2" presetClass="entr" presetSubtype="8" fill="hold"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0-#ppt_w/2"/>
                                          </p:val>
                                        </p:tav>
                                        <p:tav tm="100000">
                                          <p:val>
                                            <p:strVal val="#ppt_x"/>
                                          </p:val>
                                        </p:tav>
                                      </p:tavLst>
                                    </p:anim>
                                    <p:anim calcmode="lin" valueType="num">
                                      <p:cBhvr additive="base">
                                        <p:cTn id="14"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wipe(left)">
                                      <p:cBhvr>
                                        <p:cTn id="19" dur="500"/>
                                        <p:tgtEl>
                                          <p:spTgt spid="4"/>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wipe(left)">
                                      <p:cBhvr>
                                        <p:cTn id="24" dur="500"/>
                                        <p:tgtEl>
                                          <p:spTgt spid="5"/>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wipe(left)">
                                      <p:cBhvr>
                                        <p:cTn id="29" dur="500"/>
                                        <p:tgtEl>
                                          <p:spTgt spid="9"/>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wipe(left)">
                                      <p:cBhvr>
                                        <p:cTn id="34" dur="500"/>
                                        <p:tgtEl>
                                          <p:spTgt spid="10"/>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wipe(left)">
                                      <p:cBhvr>
                                        <p:cTn id="39" dur="500"/>
                                        <p:tgtEl>
                                          <p:spTgt spid="14"/>
                                        </p:tgtEl>
                                      </p:cBhvr>
                                    </p:animEffect>
                                  </p:childTnLst>
                                </p:cTn>
                              </p:par>
                              <p:par>
                                <p:cTn id="40" presetID="22" presetClass="entr" presetSubtype="8" fill="hold" grpId="0"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wipe(left)">
                                      <p:cBhvr>
                                        <p:cTn id="42" dur="500"/>
                                        <p:tgtEl>
                                          <p:spTgt spid="19"/>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wipe(left)">
                                      <p:cBhvr>
                                        <p:cTn id="47" dur="500"/>
                                        <p:tgtEl>
                                          <p:spTgt spid="17"/>
                                        </p:tgtEl>
                                      </p:cBhvr>
                                    </p:animEffect>
                                  </p:childTnLst>
                                </p:cTn>
                              </p:par>
                              <p:par>
                                <p:cTn id="48" presetID="22" presetClass="entr" presetSubtype="8" fill="hold" grpId="0" nodeType="with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wipe(left)">
                                      <p:cBhvr>
                                        <p:cTn id="50" dur="500"/>
                                        <p:tgtEl>
                                          <p:spTgt spid="20"/>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wipe(left)">
                                      <p:cBhvr>
                                        <p:cTn id="55"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9" grpId="0"/>
      <p:bldP spid="10" grpId="0"/>
      <p:bldP spid="19" grpId="0"/>
      <p:bldP spid="20" grpId="0"/>
      <p:bldP spid="21"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bwMode="auto">
          <a:xfrm>
            <a:off x="5734050" y="895350"/>
            <a:ext cx="1771650" cy="228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a:solidFill>
                  <a:schemeClr val="bg1"/>
                </a:solidFill>
                <a:ea typeface="黑体" panose="02010609060101010101" pitchFamily="49" charset="-122"/>
              </a:rPr>
              <a:t>直齿圆柱齿轮强度计算</a:t>
            </a:r>
            <a:r>
              <a:rPr lang="en-US" altLang="zh-CN" sz="800">
                <a:solidFill>
                  <a:schemeClr val="bg1"/>
                </a:solidFill>
                <a:ea typeface="黑体" panose="02010609060101010101" pitchFamily="49" charset="-122"/>
              </a:rPr>
              <a:t>1</a:t>
            </a:r>
            <a:endParaRPr lang="en-US" altLang="zh-CN" sz="800">
              <a:solidFill>
                <a:schemeClr val="bg1"/>
              </a:solidFill>
              <a:ea typeface="黑体" panose="02010609060101010101" pitchFamily="49" charset="-122"/>
            </a:endParaRPr>
          </a:p>
        </p:txBody>
      </p:sp>
      <p:sp>
        <p:nvSpPr>
          <p:cNvPr id="59429" name="Text Box 37"/>
          <p:cNvSpPr txBox="1">
            <a:spLocks noChangeArrowheads="1"/>
          </p:cNvSpPr>
          <p:nvPr/>
        </p:nvSpPr>
        <p:spPr bwMode="auto">
          <a:xfrm>
            <a:off x="6813550" y="6102350"/>
            <a:ext cx="3429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a:solidFill>
                  <a:schemeClr val="tx1"/>
                </a:solidFill>
                <a:latin typeface="Tahoma" panose="020B0604030504040204" pitchFamily="34" charset="0"/>
                <a:ea typeface="宋体" panose="02010600030101010101" pitchFamily="2" charset="-122"/>
              </a:rPr>
              <a:t>  </a:t>
            </a:r>
            <a:endParaRPr lang="en-US" altLang="zh-CN">
              <a:solidFill>
                <a:schemeClr val="tx1"/>
              </a:solidFill>
              <a:latin typeface="Tahoma" panose="020B0604030504040204" pitchFamily="34" charset="0"/>
              <a:ea typeface="宋体" panose="02010600030101010101" pitchFamily="2" charset="-122"/>
            </a:endParaRPr>
          </a:p>
        </p:txBody>
      </p:sp>
      <p:sp>
        <p:nvSpPr>
          <p:cNvPr id="90117" name="Rectangle 2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endParaRPr lang="zh-CN" altLang="en-US"/>
          </a:p>
        </p:txBody>
      </p:sp>
      <p:sp>
        <p:nvSpPr>
          <p:cNvPr id="90118" name="Rectangle 23"/>
          <p:cNvSpPr>
            <a:spLocks noChangeArrowheads="1"/>
          </p:cNvSpPr>
          <p:nvPr/>
        </p:nvSpPr>
        <p:spPr bwMode="auto">
          <a:xfrm>
            <a:off x="0" y="4413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r>
              <a:rPr lang="en-US" altLang="zh-CN" sz="1200">
                <a:latin typeface="宋体" panose="02010600030101010101" pitchFamily="2" charset="-122"/>
                <a:cs typeface="Times New Roman" panose="02020603050405020304" pitchFamily="18" charset="0"/>
              </a:rPr>
              <a:t> </a:t>
            </a:r>
            <a:r>
              <a:rPr lang="en-US" altLang="zh-CN" sz="600"/>
              <a:t> </a:t>
            </a:r>
            <a:endParaRPr lang="en-US" altLang="zh-CN"/>
          </a:p>
        </p:txBody>
      </p:sp>
      <p:sp>
        <p:nvSpPr>
          <p:cNvPr id="90119" name="Rectangle 29"/>
          <p:cNvSpPr>
            <a:spLocks noChangeArrowheads="1"/>
          </p:cNvSpPr>
          <p:nvPr/>
        </p:nvSpPr>
        <p:spPr bwMode="auto">
          <a:xfrm>
            <a:off x="5737225" y="7286625"/>
            <a:ext cx="10774363" cy="46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endParaRPr lang="zh-CN" altLang="en-US"/>
          </a:p>
        </p:txBody>
      </p:sp>
      <p:sp>
        <p:nvSpPr>
          <p:cNvPr id="90120" name="矩形 5"/>
          <p:cNvSpPr>
            <a:spLocks noChangeArrowheads="1"/>
          </p:cNvSpPr>
          <p:nvPr/>
        </p:nvSpPr>
        <p:spPr bwMode="auto">
          <a:xfrm>
            <a:off x="2222500" y="6069013"/>
            <a:ext cx="54816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r>
              <a:rPr lang="zh-CN" altLang="zh-CN">
                <a:ea typeface="宋体" panose="02010600030101010101" pitchFamily="2" charset="-122"/>
                <a:cs typeface="Times New Roman" panose="02020603050405020304" pitchFamily="18" charset="0"/>
              </a:rPr>
              <a:t> </a:t>
            </a:r>
            <a:r>
              <a:rPr lang="zh-CN" altLang="zh-CN" sz="1600">
                <a:latin typeface="华文中宋" panose="02010600040101010101" pitchFamily="2" charset="-122"/>
                <a:ea typeface="宋体" panose="02010600030101010101" pitchFamily="2" charset="-122"/>
                <a:cs typeface="Times New Roman" panose="02020603050405020304" pitchFamily="18" charset="0"/>
              </a:rPr>
              <a:t>图</a:t>
            </a:r>
            <a:r>
              <a:rPr lang="en-US" altLang="zh-CN" sz="1600">
                <a:latin typeface="华文中宋" panose="02010600040101010101" pitchFamily="2" charset="-122"/>
                <a:ea typeface="宋体" panose="02010600030101010101" pitchFamily="2" charset="-122"/>
                <a:cs typeface="Times New Roman" panose="02020603050405020304" pitchFamily="18" charset="0"/>
              </a:rPr>
              <a:t>3.4-27 </a:t>
            </a:r>
            <a:r>
              <a:rPr lang="zh-CN" altLang="zh-CN" sz="1600">
                <a:ea typeface="宋体" panose="02010600030101010101" pitchFamily="2" charset="-122"/>
                <a:cs typeface="Times New Roman" panose="02020603050405020304" pitchFamily="18" charset="0"/>
              </a:rPr>
              <a:t>画二级圆柱齿轮减速器装配图的第一步（底图）</a:t>
            </a:r>
            <a:endParaRPr lang="zh-CN" altLang="en-US" sz="1600">
              <a:ea typeface="宋体" panose="02010600030101010101" pitchFamily="2" charset="-122"/>
              <a:cs typeface="Times New Roman" panose="02020603050405020304" pitchFamily="18" charset="0"/>
            </a:endParaRPr>
          </a:p>
        </p:txBody>
      </p:sp>
      <p:pic>
        <p:nvPicPr>
          <p:cNvPr id="90121" name="图片 13"/>
          <p:cNvPicPr>
            <a:picLocks noChangeAspect="1" noChangeArrowheads="1"/>
          </p:cNvPicPr>
          <p:nvPr>
            <p:custDataLst>
              <p:tags r:id="rId1"/>
            </p:custDataLst>
          </p:nvPr>
        </p:nvPicPr>
        <p:blipFill>
          <a:blip r:embed="rId2">
            <a:extLst>
              <a:ext uri="{28A0092B-C50C-407E-A947-70E740481C1C}">
                <a14:useLocalDpi xmlns:a14="http://schemas.microsoft.com/office/drawing/2010/main" val="0"/>
              </a:ext>
            </a:extLst>
          </a:blip>
          <a:srcRect/>
          <a:stretch>
            <a:fillRect/>
          </a:stretch>
        </p:blipFill>
        <p:spPr bwMode="auto">
          <a:xfrm>
            <a:off x="1752600" y="990600"/>
            <a:ext cx="5403850" cy="5078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0122" name="文本框 2"/>
          <p:cNvSpPr txBox="1">
            <a:spLocks noChangeArrowheads="1"/>
          </p:cNvSpPr>
          <p:nvPr/>
        </p:nvSpPr>
        <p:spPr bwMode="auto">
          <a:xfrm>
            <a:off x="481013" y="809625"/>
            <a:ext cx="32623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r>
              <a:rPr lang="zh-CN" altLang="zh-CN" b="1"/>
              <a:t>（二）开始画减速器装配图</a:t>
            </a:r>
            <a:endParaRPr lang="zh-CN" altLang="zh-CN"/>
          </a:p>
        </p:txBody>
      </p:sp>
      <p:pic>
        <p:nvPicPr>
          <p:cNvPr id="90123" name="Picture 29" descr="back">
            <a:hlinkClick r:id="rId3" action="ppaction://hlinksldjump"/>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82038" y="6570663"/>
            <a:ext cx="288925"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文本框 8"/>
          <p:cNvSpPr txBox="1"/>
          <p:nvPr/>
        </p:nvSpPr>
        <p:spPr>
          <a:xfrm>
            <a:off x="2926715" y="193675"/>
            <a:ext cx="3840480" cy="460375"/>
          </a:xfrm>
          <a:prstGeom prst="rect">
            <a:avLst/>
          </a:prstGeom>
          <a:noFill/>
        </p:spPr>
        <p:txBody>
          <a:bodyPr wrap="none" rtlCol="0" anchor="t">
            <a:spAutoFit/>
          </a:bodyPr>
          <a:lstStyle/>
          <a:p>
            <a:r>
              <a:rPr lang="zh-CN" altLang="zh-CN" sz="2400">
                <a:solidFill>
                  <a:srgbClr val="C00000"/>
                </a:solidFill>
                <a:latin typeface="黑体" panose="02010609060101010101" pitchFamily="49" charset="-122"/>
                <a:ea typeface="黑体" panose="02010609060101010101" pitchFamily="49" charset="-122"/>
                <a:sym typeface="+mn-ea"/>
              </a:rPr>
              <a:t>案例</a:t>
            </a:r>
            <a:r>
              <a:rPr lang="en-US" altLang="zh-CN" sz="2400">
                <a:solidFill>
                  <a:srgbClr val="C00000"/>
                </a:solidFill>
                <a:latin typeface="黑体" panose="02010609060101010101" pitchFamily="49" charset="-122"/>
                <a:ea typeface="黑体" panose="02010609060101010101" pitchFamily="49" charset="-122"/>
                <a:sym typeface="+mn-ea"/>
              </a:rPr>
              <a:t>2 </a:t>
            </a:r>
            <a:r>
              <a:rPr lang="zh-CN" altLang="zh-CN" sz="2400">
                <a:solidFill>
                  <a:srgbClr val="C00000"/>
                </a:solidFill>
                <a:latin typeface="黑体" panose="02010609060101010101" pitchFamily="49" charset="-122"/>
                <a:ea typeface="黑体" panose="02010609060101010101" pitchFamily="49" charset="-122"/>
                <a:sym typeface="+mn-ea"/>
              </a:rPr>
              <a:t>齿轮减速器轴的设计</a:t>
            </a:r>
            <a:endParaRPr lang="zh-CN" altLang="zh-CN" sz="2400">
              <a:solidFill>
                <a:srgbClr val="C00000"/>
              </a:solidFill>
              <a:latin typeface="黑体" panose="02010609060101010101" pitchFamily="49" charset="-122"/>
              <a:ea typeface="黑体" panose="02010609060101010101" pitchFamily="49" charset="-122"/>
              <a:sym typeface="+mn-ea"/>
            </a:endParaRPr>
          </a:p>
        </p:txBody>
      </p:sp>
      <p:sp>
        <p:nvSpPr>
          <p:cNvPr id="37895"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9429"/>
                                        </p:tgtEl>
                                        <p:attrNameLst>
                                          <p:attrName>style.visibility</p:attrName>
                                        </p:attrNameLst>
                                      </p:cBhvr>
                                      <p:to>
                                        <p:strVal val="visible"/>
                                      </p:to>
                                    </p:set>
                                    <p:anim calcmode="lin" valueType="num">
                                      <p:cBhvr additive="base">
                                        <p:cTn id="7" dur="500" fill="hold"/>
                                        <p:tgtEl>
                                          <p:spTgt spid="59429"/>
                                        </p:tgtEl>
                                        <p:attrNameLst>
                                          <p:attrName>ppt_x</p:attrName>
                                        </p:attrNameLst>
                                      </p:cBhvr>
                                      <p:tavLst>
                                        <p:tav tm="0">
                                          <p:val>
                                            <p:strVal val="0-#ppt_w/2"/>
                                          </p:val>
                                        </p:tav>
                                        <p:tav tm="100000">
                                          <p:val>
                                            <p:strVal val="#ppt_x"/>
                                          </p:val>
                                        </p:tav>
                                      </p:tavLst>
                                    </p:anim>
                                    <p:anim calcmode="lin" valueType="num">
                                      <p:cBhvr additive="base">
                                        <p:cTn id="8" dur="500" fill="hold"/>
                                        <p:tgtEl>
                                          <p:spTgt spid="5942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429" grpId="0" autoUpdateAnimBg="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 name="矩形 18"/>
          <p:cNvSpPr/>
          <p:nvPr/>
        </p:nvSpPr>
        <p:spPr>
          <a:xfrm>
            <a:off x="3509645" y="5795010"/>
            <a:ext cx="1922780" cy="501650"/>
          </a:xfrm>
          <a:prstGeom prst="rect">
            <a:avLst/>
          </a:prstGeom>
          <a:solidFill>
            <a:schemeClr val="accent1">
              <a:lumMod val="40000"/>
              <a:lumOff val="6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p:txBody>
      </p:sp>
      <p:cxnSp>
        <p:nvCxnSpPr>
          <p:cNvPr id="2" name="直接连接符 1"/>
          <p:cNvCxnSpPr/>
          <p:nvPr/>
        </p:nvCxnSpPr>
        <p:spPr>
          <a:xfrm>
            <a:off x="4492308" y="96838"/>
            <a:ext cx="0" cy="6523990"/>
          </a:xfrm>
          <a:prstGeom prst="line">
            <a:avLst/>
          </a:prstGeom>
          <a:solidFill>
            <a:schemeClr val="accent1"/>
          </a:solidFill>
          <a:ln w="9525" cap="flat" cmpd="sng" algn="ctr">
            <a:solidFill>
              <a:schemeClr val="tx1"/>
            </a:solidFill>
            <a:prstDash val="lgDashDot"/>
            <a:round/>
            <a:headEnd type="none" w="med" len="med"/>
            <a:tailEnd type="none" w="med" len="med"/>
          </a:ln>
        </p:spPr>
      </p:cxnSp>
      <p:sp>
        <p:nvSpPr>
          <p:cNvPr id="3" name="矩形 2"/>
          <p:cNvSpPr/>
          <p:nvPr/>
        </p:nvSpPr>
        <p:spPr>
          <a:xfrm rot="5400000">
            <a:off x="4234815" y="4498340"/>
            <a:ext cx="480695" cy="1494790"/>
          </a:xfrm>
          <a:prstGeom prst="rect">
            <a:avLst/>
          </a:prstGeom>
          <a:solidFill>
            <a:srgbClr val="FFFF00"/>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p:txBody>
      </p:sp>
      <p:cxnSp>
        <p:nvCxnSpPr>
          <p:cNvPr id="4" name="直接连接符 3"/>
          <p:cNvCxnSpPr/>
          <p:nvPr/>
        </p:nvCxnSpPr>
        <p:spPr>
          <a:xfrm flipH="1">
            <a:off x="5145405" y="4817110"/>
            <a:ext cx="3175" cy="765175"/>
          </a:xfrm>
          <a:prstGeom prst="line">
            <a:avLst/>
          </a:prstGeom>
          <a:solidFill>
            <a:schemeClr val="accent1"/>
          </a:solidFill>
          <a:ln w="9525" cap="flat" cmpd="sng" algn="ctr">
            <a:solidFill>
              <a:schemeClr val="tx1"/>
            </a:solidFill>
            <a:prstDash val="lgDashDot"/>
            <a:round/>
            <a:headEnd type="none" w="med" len="med"/>
            <a:tailEnd type="none" w="med" len="med"/>
          </a:ln>
        </p:spPr>
      </p:cxnSp>
      <p:cxnSp>
        <p:nvCxnSpPr>
          <p:cNvPr id="5" name="直接连接符 4"/>
          <p:cNvCxnSpPr/>
          <p:nvPr/>
        </p:nvCxnSpPr>
        <p:spPr>
          <a:xfrm>
            <a:off x="3805873" y="4899978"/>
            <a:ext cx="0" cy="758825"/>
          </a:xfrm>
          <a:prstGeom prst="line">
            <a:avLst/>
          </a:prstGeom>
          <a:solidFill>
            <a:schemeClr val="accent1"/>
          </a:solidFill>
          <a:ln w="9525" cap="flat" cmpd="sng" algn="ctr">
            <a:solidFill>
              <a:schemeClr val="tx1"/>
            </a:solidFill>
            <a:prstDash val="lgDashDot"/>
            <a:round/>
            <a:headEnd type="none" w="med" len="med"/>
            <a:tailEnd type="none" w="med" len="med"/>
          </a:ln>
        </p:spPr>
      </p:cxnSp>
      <p:cxnSp>
        <p:nvCxnSpPr>
          <p:cNvPr id="6" name="直接连接符 5"/>
          <p:cNvCxnSpPr/>
          <p:nvPr/>
        </p:nvCxnSpPr>
        <p:spPr>
          <a:xfrm flipH="1">
            <a:off x="569278" y="5686108"/>
            <a:ext cx="7640320" cy="0"/>
          </a:xfrm>
          <a:prstGeom prst="line">
            <a:avLst/>
          </a:prstGeom>
          <a:solidFill>
            <a:schemeClr val="accent1"/>
          </a:solidFill>
          <a:ln w="19050" cap="flat" cmpd="sng" algn="ctr">
            <a:solidFill>
              <a:schemeClr val="tx1"/>
            </a:solidFill>
            <a:prstDash val="solid"/>
            <a:round/>
            <a:headEnd type="none" w="med" len="med"/>
            <a:tailEnd type="none" w="med" len="med"/>
          </a:ln>
        </p:spPr>
      </p:cxnSp>
      <p:cxnSp>
        <p:nvCxnSpPr>
          <p:cNvPr id="9" name="直接连接符 8"/>
          <p:cNvCxnSpPr/>
          <p:nvPr/>
        </p:nvCxnSpPr>
        <p:spPr>
          <a:xfrm>
            <a:off x="1089660" y="2718435"/>
            <a:ext cx="6776085" cy="0"/>
          </a:xfrm>
          <a:prstGeom prst="line">
            <a:avLst/>
          </a:prstGeom>
          <a:solidFill>
            <a:schemeClr val="accent1"/>
          </a:solidFill>
          <a:ln w="19050" cap="flat" cmpd="sng" algn="ctr">
            <a:solidFill>
              <a:schemeClr val="tx1"/>
            </a:solidFill>
            <a:prstDash val="solid"/>
            <a:round/>
            <a:headEnd type="none" w="med" len="med"/>
            <a:tailEnd type="none" w="med" len="med"/>
          </a:ln>
        </p:spPr>
      </p:cxnSp>
      <p:sp>
        <p:nvSpPr>
          <p:cNvPr id="10" name="矩形 9"/>
          <p:cNvSpPr/>
          <p:nvPr/>
        </p:nvSpPr>
        <p:spPr>
          <a:xfrm>
            <a:off x="3557905" y="2105660"/>
            <a:ext cx="1831340" cy="483235"/>
          </a:xfrm>
          <a:prstGeom prst="rect">
            <a:avLst/>
          </a:prstGeom>
          <a:solidFill>
            <a:schemeClr val="accent1">
              <a:lumMod val="40000"/>
              <a:lumOff val="6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p:txBody>
      </p:sp>
      <p:sp>
        <p:nvSpPr>
          <p:cNvPr id="11" name="矩形 10"/>
          <p:cNvSpPr/>
          <p:nvPr/>
        </p:nvSpPr>
        <p:spPr>
          <a:xfrm>
            <a:off x="4049395" y="2107565"/>
            <a:ext cx="851535" cy="501650"/>
          </a:xfrm>
          <a:prstGeom prst="rect">
            <a:avLst/>
          </a:prstGeom>
          <a:solidFill>
            <a:schemeClr val="tx1">
              <a:lumMod val="60000"/>
              <a:lumOff val="4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p:txBody>
      </p:sp>
      <p:sp>
        <p:nvSpPr>
          <p:cNvPr id="12" name="矩形 11"/>
          <p:cNvSpPr/>
          <p:nvPr/>
        </p:nvSpPr>
        <p:spPr>
          <a:xfrm>
            <a:off x="3987800" y="2600325"/>
            <a:ext cx="1018540" cy="2410460"/>
          </a:xfrm>
          <a:prstGeom prst="rect">
            <a:avLst/>
          </a:prstGeom>
          <a:gradFill>
            <a:gsLst>
              <a:gs pos="0">
                <a:srgbClr val="9EE256"/>
              </a:gs>
              <a:gs pos="100000">
                <a:srgbClr val="52762D"/>
              </a:gs>
            </a:gsLst>
            <a:lin scaled="0"/>
          </a:gra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p:txBody>
      </p:sp>
      <p:sp>
        <p:nvSpPr>
          <p:cNvPr id="14" name="矩形 13"/>
          <p:cNvSpPr/>
          <p:nvPr/>
        </p:nvSpPr>
        <p:spPr>
          <a:xfrm>
            <a:off x="3989070" y="5791200"/>
            <a:ext cx="963930" cy="500380"/>
          </a:xfrm>
          <a:prstGeom prst="rect">
            <a:avLst/>
          </a:prstGeom>
          <a:solidFill>
            <a:schemeClr val="tx1">
              <a:lumMod val="60000"/>
              <a:lumOff val="4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p:txBody>
      </p:sp>
      <p:sp>
        <p:nvSpPr>
          <p:cNvPr id="15" name="矩形 14"/>
          <p:cNvSpPr/>
          <p:nvPr/>
        </p:nvSpPr>
        <p:spPr>
          <a:xfrm>
            <a:off x="3932555" y="5490210"/>
            <a:ext cx="1089660" cy="300990"/>
          </a:xfrm>
          <a:prstGeom prst="rect">
            <a:avLst/>
          </a:prstGeom>
          <a:gradFill>
            <a:gsLst>
              <a:gs pos="0">
                <a:srgbClr val="9EE256"/>
              </a:gs>
              <a:gs pos="100000">
                <a:srgbClr val="52762D"/>
              </a:gs>
            </a:gsLst>
            <a:lin scaled="0"/>
          </a:gra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p:txBody>
      </p:sp>
      <p:sp>
        <p:nvSpPr>
          <p:cNvPr id="17" name="矩形 16"/>
          <p:cNvSpPr/>
          <p:nvPr/>
        </p:nvSpPr>
        <p:spPr>
          <a:xfrm rot="16200000">
            <a:off x="4067175" y="285115"/>
            <a:ext cx="812165" cy="569595"/>
          </a:xfrm>
          <a:prstGeom prst="rect">
            <a:avLst/>
          </a:prstGeom>
          <a:gradFill>
            <a:gsLst>
              <a:gs pos="57000">
                <a:srgbClr val="9EE256"/>
              </a:gs>
              <a:gs pos="100000">
                <a:srgbClr val="52762D"/>
              </a:gs>
            </a:gsLst>
            <a:lin ang="5400000" scaled="0"/>
          </a:gra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p:txBody>
      </p:sp>
      <p:cxnSp>
        <p:nvCxnSpPr>
          <p:cNvPr id="18" name="直接连接符 17"/>
          <p:cNvCxnSpPr/>
          <p:nvPr/>
        </p:nvCxnSpPr>
        <p:spPr>
          <a:xfrm>
            <a:off x="760095" y="1577340"/>
            <a:ext cx="7259320" cy="0"/>
          </a:xfrm>
          <a:prstGeom prst="line">
            <a:avLst/>
          </a:prstGeom>
          <a:solidFill>
            <a:schemeClr val="accent1"/>
          </a:solidFill>
          <a:ln w="19050" cap="flat" cmpd="sng" algn="ctr">
            <a:solidFill>
              <a:schemeClr val="tx1"/>
            </a:solidFill>
            <a:prstDash val="solid"/>
            <a:round/>
            <a:headEnd type="none" w="med" len="med"/>
            <a:tailEnd type="none" w="med" len="med"/>
          </a:ln>
        </p:spPr>
      </p:cxnSp>
      <p:sp>
        <p:nvSpPr>
          <p:cNvPr id="20" name="文本框 19"/>
          <p:cNvSpPr txBox="1">
            <a:spLocks noRot="1" noChangeAspect="1" noMove="1" noResize="1" noEditPoints="1" noAdjustHandles="1" noChangeArrowheads="1" noChangeShapeType="1" noTextEdit="1"/>
          </p:cNvSpPr>
          <p:nvPr/>
        </p:nvSpPr>
        <p:spPr>
          <a:xfrm>
            <a:off x="448310" y="3090545"/>
            <a:ext cx="3305810" cy="401955"/>
          </a:xfrm>
          <a:prstGeom prst="rect">
            <a:avLst/>
          </a:prstGeom>
          <a:blipFill>
            <a:blip r:embed="rId1"/>
            <a:stretch>
              <a:fillRect l="-1316" t="-5455" b="-23636"/>
            </a:stretch>
          </a:blipFill>
        </p:spPr>
        <p:txBody>
          <a:bodyPr/>
          <a:p>
            <a:pPr>
              <a:defRPr/>
            </a:pPr>
            <a:r>
              <a:rPr lang="zh-CN" altLang="en-US">
                <a:noFill/>
              </a:rPr>
              <a:t> </a:t>
            </a:r>
            <a:endParaRPr lang="zh-CN" altLang="en-US">
              <a:noFill/>
            </a:endParaRPr>
          </a:p>
        </p:txBody>
      </p:sp>
      <p:cxnSp>
        <p:nvCxnSpPr>
          <p:cNvPr id="21" name="直接箭头连接符 20"/>
          <p:cNvCxnSpPr/>
          <p:nvPr/>
        </p:nvCxnSpPr>
        <p:spPr>
          <a:xfrm>
            <a:off x="3287395" y="1577340"/>
            <a:ext cx="0" cy="1156335"/>
          </a:xfrm>
          <a:prstGeom prst="straightConnector1">
            <a:avLst/>
          </a:prstGeom>
          <a:solidFill>
            <a:schemeClr val="accent1"/>
          </a:solidFill>
          <a:ln w="9525" cap="flat" cmpd="sng" algn="ctr">
            <a:solidFill>
              <a:schemeClr val="tx1"/>
            </a:solidFill>
            <a:prstDash val="solid"/>
            <a:round/>
            <a:headEnd type="triangle" w="med" len="med"/>
            <a:tailEnd type="triangle" w="med" len="med"/>
          </a:ln>
        </p:spPr>
      </p:cxnSp>
      <p:sp>
        <p:nvSpPr>
          <p:cNvPr id="22" name="文本框 21"/>
          <p:cNvSpPr txBox="1"/>
          <p:nvPr/>
        </p:nvSpPr>
        <p:spPr>
          <a:xfrm>
            <a:off x="2923540" y="1948180"/>
            <a:ext cx="245745" cy="398780"/>
          </a:xfrm>
          <a:prstGeom prst="rect">
            <a:avLst/>
          </a:prstGeom>
          <a:noFill/>
        </p:spPr>
        <p:txBody>
          <a:bodyPr wrap="square" rtlCol="0">
            <a:spAutoFit/>
          </a:bodyPr>
          <a:p>
            <a:r>
              <a:rPr lang="en-US" altLang="zh-CN" i="1"/>
              <a:t>L</a:t>
            </a:r>
            <a:endParaRPr lang="en-US" altLang="zh-CN" i="1"/>
          </a:p>
        </p:txBody>
      </p:sp>
      <p:grpSp>
        <p:nvGrpSpPr>
          <p:cNvPr id="30" name="组合 29"/>
          <p:cNvGrpSpPr/>
          <p:nvPr/>
        </p:nvGrpSpPr>
        <p:grpSpPr>
          <a:xfrm>
            <a:off x="3121660" y="1356360"/>
            <a:ext cx="2694305" cy="760730"/>
            <a:chOff x="4916" y="2136"/>
            <a:chExt cx="4243" cy="1198"/>
          </a:xfrm>
        </p:grpSpPr>
        <p:cxnSp>
          <p:nvCxnSpPr>
            <p:cNvPr id="23" name="直接连接符 22"/>
            <p:cNvCxnSpPr/>
            <p:nvPr/>
          </p:nvCxnSpPr>
          <p:spPr>
            <a:xfrm flipV="1">
              <a:off x="5607" y="2466"/>
              <a:ext cx="0" cy="832"/>
            </a:xfrm>
            <a:prstGeom prst="line">
              <a:avLst/>
            </a:prstGeom>
            <a:solidFill>
              <a:schemeClr val="accent1"/>
            </a:solidFill>
            <a:ln w="9525" cap="flat" cmpd="sng" algn="ctr">
              <a:solidFill>
                <a:srgbClr val="FF0000"/>
              </a:solidFill>
              <a:prstDash val="solid"/>
              <a:round/>
              <a:headEnd type="none" w="med" len="med"/>
              <a:tailEnd type="none" w="med" len="med"/>
            </a:ln>
          </p:spPr>
        </p:cxnSp>
        <p:cxnSp>
          <p:nvCxnSpPr>
            <p:cNvPr id="25" name="直接连接符 24"/>
            <p:cNvCxnSpPr/>
            <p:nvPr/>
          </p:nvCxnSpPr>
          <p:spPr>
            <a:xfrm>
              <a:off x="4916" y="2136"/>
              <a:ext cx="4202" cy="0"/>
            </a:xfrm>
            <a:prstGeom prst="line">
              <a:avLst/>
            </a:prstGeom>
            <a:solidFill>
              <a:schemeClr val="accent1"/>
            </a:solidFill>
            <a:ln w="9525" cap="flat" cmpd="sng" algn="ctr">
              <a:solidFill>
                <a:srgbClr val="FF0000"/>
              </a:solidFill>
              <a:prstDash val="solid"/>
              <a:round/>
              <a:headEnd type="none" w="med" len="med"/>
              <a:tailEnd type="none" w="med" len="med"/>
            </a:ln>
          </p:spPr>
        </p:cxnSp>
        <p:cxnSp>
          <p:nvCxnSpPr>
            <p:cNvPr id="26" name="直接连接符 25"/>
            <p:cNvCxnSpPr/>
            <p:nvPr/>
          </p:nvCxnSpPr>
          <p:spPr>
            <a:xfrm flipV="1">
              <a:off x="8487" y="2502"/>
              <a:ext cx="0" cy="832"/>
            </a:xfrm>
            <a:prstGeom prst="line">
              <a:avLst/>
            </a:prstGeom>
            <a:solidFill>
              <a:schemeClr val="accent1"/>
            </a:solidFill>
            <a:ln w="9525" cap="flat" cmpd="sng" algn="ctr">
              <a:solidFill>
                <a:srgbClr val="FF0000"/>
              </a:solidFill>
              <a:prstDash val="solid"/>
              <a:round/>
              <a:headEnd type="none" w="med" len="med"/>
              <a:tailEnd type="none" w="med" len="med"/>
            </a:ln>
          </p:spPr>
        </p:cxnSp>
        <p:cxnSp>
          <p:nvCxnSpPr>
            <p:cNvPr id="27" name="直接连接符 26"/>
            <p:cNvCxnSpPr/>
            <p:nvPr/>
          </p:nvCxnSpPr>
          <p:spPr>
            <a:xfrm flipV="1">
              <a:off x="4918" y="2136"/>
              <a:ext cx="0" cy="330"/>
            </a:xfrm>
            <a:prstGeom prst="line">
              <a:avLst/>
            </a:prstGeom>
            <a:solidFill>
              <a:schemeClr val="accent1"/>
            </a:solidFill>
            <a:ln w="9525" cap="flat" cmpd="sng" algn="ctr">
              <a:solidFill>
                <a:srgbClr val="FF0000"/>
              </a:solidFill>
              <a:prstDash val="solid"/>
              <a:round/>
              <a:headEnd type="none" w="med" len="med"/>
              <a:tailEnd type="none" w="med" len="med"/>
            </a:ln>
          </p:spPr>
        </p:cxnSp>
        <p:cxnSp>
          <p:nvCxnSpPr>
            <p:cNvPr id="28" name="直接连接符 27"/>
            <p:cNvCxnSpPr/>
            <p:nvPr/>
          </p:nvCxnSpPr>
          <p:spPr>
            <a:xfrm flipV="1">
              <a:off x="9159" y="2136"/>
              <a:ext cx="0" cy="330"/>
            </a:xfrm>
            <a:prstGeom prst="line">
              <a:avLst/>
            </a:prstGeom>
            <a:solidFill>
              <a:schemeClr val="accent1"/>
            </a:solidFill>
            <a:ln w="9525" cap="flat" cmpd="sng" algn="ctr">
              <a:solidFill>
                <a:srgbClr val="FF0000"/>
              </a:solidFill>
              <a:prstDash val="solid"/>
              <a:round/>
              <a:headEnd type="none" w="med" len="med"/>
              <a:tailEnd type="none" w="med" len="med"/>
            </a:ln>
          </p:spPr>
        </p:cxnSp>
      </p:grpSp>
      <p:cxnSp>
        <p:nvCxnSpPr>
          <p:cNvPr id="29" name="直接连接符 28"/>
          <p:cNvCxnSpPr/>
          <p:nvPr/>
        </p:nvCxnSpPr>
        <p:spPr>
          <a:xfrm flipH="1">
            <a:off x="2339975" y="974090"/>
            <a:ext cx="1784985" cy="0"/>
          </a:xfrm>
          <a:prstGeom prst="line">
            <a:avLst/>
          </a:prstGeom>
          <a:solidFill>
            <a:schemeClr val="accent1"/>
          </a:solidFill>
          <a:ln w="9525" cap="flat" cmpd="sng" algn="ctr">
            <a:solidFill>
              <a:srgbClr val="00B050"/>
            </a:solidFill>
            <a:prstDash val="solid"/>
            <a:round/>
            <a:headEnd type="none" w="med" len="med"/>
            <a:tailEnd type="none" w="med" len="med"/>
          </a:ln>
        </p:spPr>
      </p:cxnSp>
      <p:sp>
        <p:nvSpPr>
          <p:cNvPr id="16" name="矩形 15"/>
          <p:cNvSpPr/>
          <p:nvPr/>
        </p:nvSpPr>
        <p:spPr bwMode="auto">
          <a:xfrm rot="16200000">
            <a:off x="3900170" y="1179195"/>
            <a:ext cx="1138555" cy="719455"/>
          </a:xfrm>
          <a:prstGeom prst="rect">
            <a:avLst/>
          </a:pr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lin ang="16200000" scaled="1"/>
            <a:tileRect/>
          </a:gra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p:txBody>
      </p:sp>
      <p:cxnSp>
        <p:nvCxnSpPr>
          <p:cNvPr id="31" name="直接连接符 30"/>
          <p:cNvCxnSpPr/>
          <p:nvPr/>
        </p:nvCxnSpPr>
        <p:spPr>
          <a:xfrm flipH="1">
            <a:off x="2440305" y="1347470"/>
            <a:ext cx="701040" cy="0"/>
          </a:xfrm>
          <a:prstGeom prst="line">
            <a:avLst/>
          </a:prstGeom>
          <a:solidFill>
            <a:schemeClr val="accent1"/>
          </a:solidFill>
          <a:ln w="9525" cap="flat" cmpd="sng" algn="ctr">
            <a:solidFill>
              <a:srgbClr val="00B050"/>
            </a:solidFill>
            <a:prstDash val="solid"/>
            <a:round/>
            <a:headEnd type="none" w="med" len="med"/>
            <a:tailEnd type="none" w="med" len="med"/>
          </a:ln>
        </p:spPr>
      </p:cxnSp>
      <p:cxnSp>
        <p:nvCxnSpPr>
          <p:cNvPr id="32" name="直接箭头连接符 31"/>
          <p:cNvCxnSpPr/>
          <p:nvPr/>
        </p:nvCxnSpPr>
        <p:spPr>
          <a:xfrm>
            <a:off x="2704465" y="974090"/>
            <a:ext cx="0" cy="382270"/>
          </a:xfrm>
          <a:prstGeom prst="straightConnector1">
            <a:avLst/>
          </a:prstGeom>
          <a:solidFill>
            <a:schemeClr val="accent1"/>
          </a:solidFill>
          <a:ln w="9525" cap="flat" cmpd="sng" algn="ctr">
            <a:solidFill>
              <a:schemeClr val="tx1"/>
            </a:solidFill>
            <a:prstDash val="solid"/>
            <a:round/>
            <a:headEnd type="triangle" w="med" len="med"/>
            <a:tailEnd type="triangle" w="med" len="med"/>
          </a:ln>
        </p:spPr>
      </p:cxnSp>
      <p:sp>
        <p:nvSpPr>
          <p:cNvPr id="33" name="文本框 32"/>
          <p:cNvSpPr txBox="1"/>
          <p:nvPr/>
        </p:nvSpPr>
        <p:spPr>
          <a:xfrm>
            <a:off x="2258060" y="975995"/>
            <a:ext cx="327660" cy="368300"/>
          </a:xfrm>
          <a:prstGeom prst="rect">
            <a:avLst/>
          </a:prstGeom>
          <a:noFill/>
        </p:spPr>
        <p:txBody>
          <a:bodyPr wrap="square" rtlCol="0">
            <a:spAutoFit/>
          </a:bodyPr>
          <a:p>
            <a:r>
              <a:rPr lang="en-US" altLang="zh-CN" sz="1800" i="1"/>
              <a:t>L’</a:t>
            </a:r>
            <a:endParaRPr lang="en-US" altLang="zh-CN" sz="1800" i="1"/>
          </a:p>
        </p:txBody>
      </p:sp>
      <p:graphicFrame>
        <p:nvGraphicFramePr>
          <p:cNvPr id="36" name="对象 35">
            <a:hlinkClick r:id="" action="ppaction://ole?verb="/>
          </p:cNvPr>
          <p:cNvGraphicFramePr>
            <a:graphicFrameLocks noChangeAspect="1"/>
          </p:cNvGraphicFramePr>
          <p:nvPr/>
        </p:nvGraphicFramePr>
        <p:xfrm>
          <a:off x="882650" y="744855"/>
          <a:ext cx="1256665" cy="302260"/>
        </p:xfrm>
        <a:graphic>
          <a:graphicData uri="http://schemas.openxmlformats.org/presentationml/2006/ole">
            <mc:AlternateContent xmlns:mc="http://schemas.openxmlformats.org/markup-compatibility/2006">
              <mc:Choice xmlns:v="urn:schemas-microsoft-com:vml" Requires="v">
                <p:oleObj spid="_x0000_s1025" name="" r:id="rId2" imgW="736600" imgH="177165" progId="Equation.KSEE3">
                  <p:embed/>
                </p:oleObj>
              </mc:Choice>
              <mc:Fallback>
                <p:oleObj name="" r:id="rId2" imgW="736600" imgH="177165" progId="Equation.KSEE3">
                  <p:embed/>
                  <p:pic>
                    <p:nvPicPr>
                      <p:cNvPr id="0" name="图片 1024"/>
                      <p:cNvPicPr/>
                      <p:nvPr/>
                    </p:nvPicPr>
                    <p:blipFill>
                      <a:blip r:embed="rId3"/>
                      <a:stretch>
                        <a:fillRect/>
                      </a:stretch>
                    </p:blipFill>
                    <p:spPr>
                      <a:xfrm>
                        <a:off x="882650" y="744855"/>
                        <a:ext cx="1256665" cy="302260"/>
                      </a:xfrm>
                      <a:prstGeom prst="rect">
                        <a:avLst/>
                      </a:prstGeom>
                    </p:spPr>
                  </p:pic>
                </p:oleObj>
              </mc:Fallback>
            </mc:AlternateContent>
          </a:graphicData>
        </a:graphic>
      </p:graphicFrame>
      <p:cxnSp>
        <p:nvCxnSpPr>
          <p:cNvPr id="37" name="直接连接符 36"/>
          <p:cNvCxnSpPr/>
          <p:nvPr/>
        </p:nvCxnSpPr>
        <p:spPr>
          <a:xfrm>
            <a:off x="1081405" y="1675130"/>
            <a:ext cx="2030730" cy="0"/>
          </a:xfrm>
          <a:prstGeom prst="line">
            <a:avLst/>
          </a:prstGeom>
          <a:solidFill>
            <a:schemeClr val="accent1"/>
          </a:solidFill>
          <a:ln w="19050" cap="flat" cmpd="sng" algn="ctr">
            <a:solidFill>
              <a:schemeClr val="tx1">
                <a:lumMod val="60000"/>
                <a:lumOff val="40000"/>
              </a:schemeClr>
            </a:solidFill>
            <a:prstDash val="solid"/>
            <a:round/>
            <a:headEnd type="none" w="med" len="med"/>
            <a:tailEnd type="none" w="med" len="med"/>
          </a:ln>
        </p:spPr>
      </p:cxnSp>
      <p:cxnSp>
        <p:nvCxnSpPr>
          <p:cNvPr id="41" name="直接连接符 40"/>
          <p:cNvCxnSpPr/>
          <p:nvPr/>
        </p:nvCxnSpPr>
        <p:spPr>
          <a:xfrm flipH="1">
            <a:off x="3121025" y="1586865"/>
            <a:ext cx="1905" cy="95885"/>
          </a:xfrm>
          <a:prstGeom prst="line">
            <a:avLst/>
          </a:prstGeom>
          <a:solidFill>
            <a:schemeClr val="accent1"/>
          </a:solidFill>
          <a:ln w="19050" cap="flat" cmpd="sng" algn="ctr">
            <a:solidFill>
              <a:schemeClr val="tx1">
                <a:lumMod val="60000"/>
                <a:lumOff val="40000"/>
              </a:schemeClr>
            </a:solidFill>
            <a:prstDash val="solid"/>
            <a:round/>
            <a:headEnd type="none" w="med" len="med"/>
            <a:tailEnd type="non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par>
                                <p:cTn id="18" presetID="22" presetClass="entr" presetSubtype="8" fill="hold" nodeType="with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wipe(left)">
                                      <p:cBhvr>
                                        <p:cTn id="20" dur="500"/>
                                        <p:tgtEl>
                                          <p:spTgt spid="5"/>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wipe(left)">
                                      <p:cBhvr>
                                        <p:cTn id="25" dur="500"/>
                                        <p:tgtEl>
                                          <p:spTgt spid="6"/>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wipe(left)">
                                      <p:cBhvr>
                                        <p:cTn id="30" dur="500"/>
                                        <p:tgtEl>
                                          <p:spTgt spid="9"/>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wipe(down)">
                                      <p:cBhvr>
                                        <p:cTn id="35" dur="500"/>
                                        <p:tgtEl>
                                          <p:spTgt spid="10"/>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grpId="0" nodeType="click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wipe(down)">
                                      <p:cBhvr>
                                        <p:cTn id="40" dur="500"/>
                                        <p:tgtEl>
                                          <p:spTgt spid="19"/>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4" fill="hold" grpId="0" nodeType="clickEffect">
                                  <p:stCondLst>
                                    <p:cond delay="0"/>
                                  </p:stCondLst>
                                  <p:childTnLst>
                                    <p:set>
                                      <p:cBhvr>
                                        <p:cTn id="44" dur="1" fill="hold">
                                          <p:stCondLst>
                                            <p:cond delay="0"/>
                                          </p:stCondLst>
                                        </p:cTn>
                                        <p:tgtEl>
                                          <p:spTgt spid="11"/>
                                        </p:tgtEl>
                                        <p:attrNameLst>
                                          <p:attrName>style.visibility</p:attrName>
                                        </p:attrNameLst>
                                      </p:cBhvr>
                                      <p:to>
                                        <p:strVal val="visible"/>
                                      </p:to>
                                    </p:set>
                                    <p:animEffect transition="in" filter="wipe(down)">
                                      <p:cBhvr>
                                        <p:cTn id="45" dur="500"/>
                                        <p:tgtEl>
                                          <p:spTgt spid="11"/>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4" fill="hold" grpId="0" nodeType="click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wipe(down)">
                                      <p:cBhvr>
                                        <p:cTn id="50" dur="500"/>
                                        <p:tgtEl>
                                          <p:spTgt spid="14"/>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4" fill="hold" grpId="0" nodeType="clickEffect">
                                  <p:stCondLst>
                                    <p:cond delay="0"/>
                                  </p:stCondLst>
                                  <p:childTnLst>
                                    <p:set>
                                      <p:cBhvr>
                                        <p:cTn id="54" dur="1" fill="hold">
                                          <p:stCondLst>
                                            <p:cond delay="0"/>
                                          </p:stCondLst>
                                        </p:cTn>
                                        <p:tgtEl>
                                          <p:spTgt spid="12"/>
                                        </p:tgtEl>
                                        <p:attrNameLst>
                                          <p:attrName>style.visibility</p:attrName>
                                        </p:attrNameLst>
                                      </p:cBhvr>
                                      <p:to>
                                        <p:strVal val="visible"/>
                                      </p:to>
                                    </p:set>
                                    <p:animEffect transition="in" filter="wipe(down)">
                                      <p:cBhvr>
                                        <p:cTn id="55" dur="500"/>
                                        <p:tgtEl>
                                          <p:spTgt spid="12"/>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4"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wipe(down)">
                                      <p:cBhvr>
                                        <p:cTn id="60" dur="500"/>
                                        <p:tgtEl>
                                          <p:spTgt spid="15"/>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nodeType="clickEffect">
                                  <p:stCondLst>
                                    <p:cond delay="0"/>
                                  </p:stCondLst>
                                  <p:childTnLst>
                                    <p:set>
                                      <p:cBhvr>
                                        <p:cTn id="64" dur="1" fill="hold">
                                          <p:stCondLst>
                                            <p:cond delay="0"/>
                                          </p:stCondLst>
                                        </p:cTn>
                                        <p:tgtEl>
                                          <p:spTgt spid="18"/>
                                        </p:tgtEl>
                                        <p:attrNameLst>
                                          <p:attrName>style.visibility</p:attrName>
                                        </p:attrNameLst>
                                      </p:cBhvr>
                                      <p:to>
                                        <p:strVal val="visible"/>
                                      </p:to>
                                    </p:set>
                                    <p:animEffect transition="in" filter="wipe(left)">
                                      <p:cBhvr>
                                        <p:cTn id="65" dur="500"/>
                                        <p:tgtEl>
                                          <p:spTgt spid="18"/>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4" fill="hold" nodeType="clickEffect">
                                  <p:stCondLst>
                                    <p:cond delay="0"/>
                                  </p:stCondLst>
                                  <p:childTnLst>
                                    <p:set>
                                      <p:cBhvr>
                                        <p:cTn id="69" dur="1" fill="hold">
                                          <p:stCondLst>
                                            <p:cond delay="0"/>
                                          </p:stCondLst>
                                        </p:cTn>
                                        <p:tgtEl>
                                          <p:spTgt spid="21"/>
                                        </p:tgtEl>
                                        <p:attrNameLst>
                                          <p:attrName>style.visibility</p:attrName>
                                        </p:attrNameLst>
                                      </p:cBhvr>
                                      <p:to>
                                        <p:strVal val="visible"/>
                                      </p:to>
                                    </p:set>
                                    <p:animEffect transition="in" filter="wipe(down)">
                                      <p:cBhvr>
                                        <p:cTn id="70" dur="500"/>
                                        <p:tgtEl>
                                          <p:spTgt spid="21"/>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4" fill="hold" grpId="0" nodeType="clickEffect">
                                  <p:stCondLst>
                                    <p:cond delay="0"/>
                                  </p:stCondLst>
                                  <p:childTnLst>
                                    <p:set>
                                      <p:cBhvr>
                                        <p:cTn id="74" dur="1" fill="hold">
                                          <p:stCondLst>
                                            <p:cond delay="0"/>
                                          </p:stCondLst>
                                        </p:cTn>
                                        <p:tgtEl>
                                          <p:spTgt spid="22"/>
                                        </p:tgtEl>
                                        <p:attrNameLst>
                                          <p:attrName>style.visibility</p:attrName>
                                        </p:attrNameLst>
                                      </p:cBhvr>
                                      <p:to>
                                        <p:strVal val="visible"/>
                                      </p:to>
                                    </p:set>
                                    <p:animEffect transition="in" filter="wipe(down)">
                                      <p:cBhvr>
                                        <p:cTn id="75" dur="500"/>
                                        <p:tgtEl>
                                          <p:spTgt spid="22"/>
                                        </p:tgtEl>
                                      </p:cBhvr>
                                    </p:animEffect>
                                  </p:childTnLst>
                                </p:cTn>
                              </p:par>
                              <p:par>
                                <p:cTn id="76" presetID="22" presetClass="entr" presetSubtype="8" fill="hold" nodeType="withEffect">
                                  <p:stCondLst>
                                    <p:cond delay="0"/>
                                  </p:stCondLst>
                                  <p:childTnLst>
                                    <p:set>
                                      <p:cBhvr>
                                        <p:cTn id="77" dur="1" fill="hold">
                                          <p:stCondLst>
                                            <p:cond delay="0"/>
                                          </p:stCondLst>
                                        </p:cTn>
                                        <p:tgtEl>
                                          <p:spTgt spid="20"/>
                                        </p:tgtEl>
                                        <p:attrNameLst>
                                          <p:attrName>style.visibility</p:attrName>
                                        </p:attrNameLst>
                                      </p:cBhvr>
                                      <p:to>
                                        <p:strVal val="visible"/>
                                      </p:to>
                                    </p:set>
                                    <p:animEffect transition="in" filter="wipe(left)">
                                      <p:cBhvr>
                                        <p:cTn id="78" dur="500"/>
                                        <p:tgtEl>
                                          <p:spTgt spid="20"/>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4" fill="hold" grpId="0" nodeType="clickEffect">
                                  <p:stCondLst>
                                    <p:cond delay="0"/>
                                  </p:stCondLst>
                                  <p:childTnLst>
                                    <p:set>
                                      <p:cBhvr>
                                        <p:cTn id="82" dur="1" fill="hold">
                                          <p:stCondLst>
                                            <p:cond delay="0"/>
                                          </p:stCondLst>
                                        </p:cTn>
                                        <p:tgtEl>
                                          <p:spTgt spid="16"/>
                                        </p:tgtEl>
                                        <p:attrNameLst>
                                          <p:attrName>style.visibility</p:attrName>
                                        </p:attrNameLst>
                                      </p:cBhvr>
                                      <p:to>
                                        <p:strVal val="visible"/>
                                      </p:to>
                                    </p:set>
                                    <p:animEffect transition="in" filter="wipe(down)">
                                      <p:cBhvr>
                                        <p:cTn id="83" dur="500"/>
                                        <p:tgtEl>
                                          <p:spTgt spid="16"/>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4" fill="hold" nodeType="clickEffect">
                                  <p:stCondLst>
                                    <p:cond delay="0"/>
                                  </p:stCondLst>
                                  <p:childTnLst>
                                    <p:set>
                                      <p:cBhvr>
                                        <p:cTn id="87" dur="1" fill="hold">
                                          <p:stCondLst>
                                            <p:cond delay="0"/>
                                          </p:stCondLst>
                                        </p:cTn>
                                        <p:tgtEl>
                                          <p:spTgt spid="30"/>
                                        </p:tgtEl>
                                        <p:attrNameLst>
                                          <p:attrName>style.visibility</p:attrName>
                                        </p:attrNameLst>
                                      </p:cBhvr>
                                      <p:to>
                                        <p:strVal val="visible"/>
                                      </p:to>
                                    </p:set>
                                    <p:animEffect transition="in" filter="wipe(down)">
                                      <p:cBhvr>
                                        <p:cTn id="88" dur="500"/>
                                        <p:tgtEl>
                                          <p:spTgt spid="30"/>
                                        </p:tgtEl>
                                      </p:cBhvr>
                                    </p:animEffect>
                                  </p:childTnLst>
                                </p:cTn>
                              </p:par>
                            </p:childTnLst>
                          </p:cTn>
                        </p:par>
                      </p:childTnLst>
                    </p:cTn>
                  </p:par>
                  <p:par>
                    <p:cTn id="89" fill="hold">
                      <p:stCondLst>
                        <p:cond delay="indefinite"/>
                      </p:stCondLst>
                      <p:childTnLst>
                        <p:par>
                          <p:cTn id="90" fill="hold">
                            <p:stCondLst>
                              <p:cond delay="0"/>
                            </p:stCondLst>
                            <p:childTnLst>
                              <p:par>
                                <p:cTn id="91" presetID="22" presetClass="entr" presetSubtype="2" fill="hold" nodeType="clickEffect">
                                  <p:stCondLst>
                                    <p:cond delay="0"/>
                                  </p:stCondLst>
                                  <p:childTnLst>
                                    <p:set>
                                      <p:cBhvr>
                                        <p:cTn id="92" dur="1" fill="hold">
                                          <p:stCondLst>
                                            <p:cond delay="0"/>
                                          </p:stCondLst>
                                        </p:cTn>
                                        <p:tgtEl>
                                          <p:spTgt spid="29"/>
                                        </p:tgtEl>
                                        <p:attrNameLst>
                                          <p:attrName>style.visibility</p:attrName>
                                        </p:attrNameLst>
                                      </p:cBhvr>
                                      <p:to>
                                        <p:strVal val="visible"/>
                                      </p:to>
                                    </p:set>
                                    <p:animEffect transition="in" filter="wipe(right)">
                                      <p:cBhvr>
                                        <p:cTn id="93" dur="500"/>
                                        <p:tgtEl>
                                          <p:spTgt spid="29"/>
                                        </p:tgtEl>
                                      </p:cBhvr>
                                    </p:animEffect>
                                  </p:childTnLst>
                                </p:cTn>
                              </p:par>
                            </p:childTnLst>
                          </p:cTn>
                        </p:par>
                      </p:childTnLst>
                    </p:cTn>
                  </p:par>
                  <p:par>
                    <p:cTn id="94" fill="hold">
                      <p:stCondLst>
                        <p:cond delay="indefinite"/>
                      </p:stCondLst>
                      <p:childTnLst>
                        <p:par>
                          <p:cTn id="95" fill="hold">
                            <p:stCondLst>
                              <p:cond delay="0"/>
                            </p:stCondLst>
                            <p:childTnLst>
                              <p:par>
                                <p:cTn id="96" presetID="22" presetClass="entr" presetSubtype="1" fill="hold" nodeType="clickEffect">
                                  <p:stCondLst>
                                    <p:cond delay="0"/>
                                  </p:stCondLst>
                                  <p:childTnLst>
                                    <p:set>
                                      <p:cBhvr>
                                        <p:cTn id="97" dur="1" fill="hold">
                                          <p:stCondLst>
                                            <p:cond delay="0"/>
                                          </p:stCondLst>
                                        </p:cTn>
                                        <p:tgtEl>
                                          <p:spTgt spid="31"/>
                                        </p:tgtEl>
                                        <p:attrNameLst>
                                          <p:attrName>style.visibility</p:attrName>
                                        </p:attrNameLst>
                                      </p:cBhvr>
                                      <p:to>
                                        <p:strVal val="visible"/>
                                      </p:to>
                                    </p:set>
                                    <p:animEffect transition="in" filter="wipe(up)">
                                      <p:cBhvr>
                                        <p:cTn id="98" dur="500"/>
                                        <p:tgtEl>
                                          <p:spTgt spid="31"/>
                                        </p:tgtEl>
                                      </p:cBhvr>
                                    </p:animEffect>
                                  </p:childTnLst>
                                </p:cTn>
                              </p:par>
                            </p:childTnLst>
                          </p:cTn>
                        </p:par>
                      </p:childTnLst>
                    </p:cTn>
                  </p:par>
                  <p:par>
                    <p:cTn id="99" fill="hold">
                      <p:stCondLst>
                        <p:cond delay="indefinite"/>
                      </p:stCondLst>
                      <p:childTnLst>
                        <p:par>
                          <p:cTn id="100" fill="hold">
                            <p:stCondLst>
                              <p:cond delay="0"/>
                            </p:stCondLst>
                            <p:childTnLst>
                              <p:par>
                                <p:cTn id="101" presetID="22" presetClass="entr" presetSubtype="4" fill="hold" nodeType="clickEffect">
                                  <p:stCondLst>
                                    <p:cond delay="0"/>
                                  </p:stCondLst>
                                  <p:childTnLst>
                                    <p:set>
                                      <p:cBhvr>
                                        <p:cTn id="102" dur="1" fill="hold">
                                          <p:stCondLst>
                                            <p:cond delay="0"/>
                                          </p:stCondLst>
                                        </p:cTn>
                                        <p:tgtEl>
                                          <p:spTgt spid="32"/>
                                        </p:tgtEl>
                                        <p:attrNameLst>
                                          <p:attrName>style.visibility</p:attrName>
                                        </p:attrNameLst>
                                      </p:cBhvr>
                                      <p:to>
                                        <p:strVal val="visible"/>
                                      </p:to>
                                    </p:set>
                                    <p:animEffect transition="in" filter="wipe(down)">
                                      <p:cBhvr>
                                        <p:cTn id="103" dur="500"/>
                                        <p:tgtEl>
                                          <p:spTgt spid="32"/>
                                        </p:tgtEl>
                                      </p:cBhvr>
                                    </p:animEffect>
                                  </p:childTnLst>
                                </p:cTn>
                              </p:par>
                            </p:childTnLst>
                          </p:cTn>
                        </p:par>
                      </p:childTnLst>
                    </p:cTn>
                  </p:par>
                  <p:par>
                    <p:cTn id="104" fill="hold">
                      <p:stCondLst>
                        <p:cond delay="indefinite"/>
                      </p:stCondLst>
                      <p:childTnLst>
                        <p:par>
                          <p:cTn id="105" fill="hold">
                            <p:stCondLst>
                              <p:cond delay="0"/>
                            </p:stCondLst>
                            <p:childTnLst>
                              <p:par>
                                <p:cTn id="106" presetID="22" presetClass="entr" presetSubtype="4" fill="hold" grpId="0" nodeType="clickEffect">
                                  <p:stCondLst>
                                    <p:cond delay="0"/>
                                  </p:stCondLst>
                                  <p:childTnLst>
                                    <p:set>
                                      <p:cBhvr>
                                        <p:cTn id="107" dur="1" fill="hold">
                                          <p:stCondLst>
                                            <p:cond delay="0"/>
                                          </p:stCondLst>
                                        </p:cTn>
                                        <p:tgtEl>
                                          <p:spTgt spid="33"/>
                                        </p:tgtEl>
                                        <p:attrNameLst>
                                          <p:attrName>style.visibility</p:attrName>
                                        </p:attrNameLst>
                                      </p:cBhvr>
                                      <p:to>
                                        <p:strVal val="visible"/>
                                      </p:to>
                                    </p:set>
                                    <p:animEffect transition="in" filter="wipe(down)">
                                      <p:cBhvr>
                                        <p:cTn id="108" dur="500"/>
                                        <p:tgtEl>
                                          <p:spTgt spid="33"/>
                                        </p:tgtEl>
                                      </p:cBhvr>
                                    </p:animEffect>
                                  </p:childTnLst>
                                </p:cTn>
                              </p:par>
                            </p:childTnLst>
                          </p:cTn>
                        </p:par>
                      </p:childTnLst>
                    </p:cTn>
                  </p:par>
                  <p:par>
                    <p:cTn id="109" fill="hold">
                      <p:stCondLst>
                        <p:cond delay="indefinite"/>
                      </p:stCondLst>
                      <p:childTnLst>
                        <p:par>
                          <p:cTn id="110" fill="hold">
                            <p:stCondLst>
                              <p:cond delay="0"/>
                            </p:stCondLst>
                            <p:childTnLst>
                              <p:par>
                                <p:cTn id="111" presetID="22" presetClass="entr" presetSubtype="8" fill="hold" nodeType="clickEffect">
                                  <p:stCondLst>
                                    <p:cond delay="0"/>
                                  </p:stCondLst>
                                  <p:childTnLst>
                                    <p:set>
                                      <p:cBhvr>
                                        <p:cTn id="112" dur="1" fill="hold">
                                          <p:stCondLst>
                                            <p:cond delay="0"/>
                                          </p:stCondLst>
                                        </p:cTn>
                                        <p:tgtEl>
                                          <p:spTgt spid="36"/>
                                        </p:tgtEl>
                                        <p:attrNameLst>
                                          <p:attrName>style.visibility</p:attrName>
                                        </p:attrNameLst>
                                      </p:cBhvr>
                                      <p:to>
                                        <p:strVal val="visible"/>
                                      </p:to>
                                    </p:set>
                                    <p:animEffect transition="in" filter="wipe(left)">
                                      <p:cBhvr>
                                        <p:cTn id="113" dur="500"/>
                                        <p:tgtEl>
                                          <p:spTgt spid="36"/>
                                        </p:tgtEl>
                                      </p:cBhvr>
                                    </p:animEffect>
                                  </p:childTnLst>
                                </p:cTn>
                              </p:par>
                            </p:childTnLst>
                          </p:cTn>
                        </p:par>
                      </p:childTnLst>
                    </p:cTn>
                  </p:par>
                  <p:par>
                    <p:cTn id="114" fill="hold">
                      <p:stCondLst>
                        <p:cond delay="indefinite"/>
                      </p:stCondLst>
                      <p:childTnLst>
                        <p:par>
                          <p:cTn id="115" fill="hold">
                            <p:stCondLst>
                              <p:cond delay="0"/>
                            </p:stCondLst>
                            <p:childTnLst>
                              <p:par>
                                <p:cTn id="116" presetID="22" presetClass="entr" presetSubtype="8" fill="hold" grpId="0" nodeType="clickEffect">
                                  <p:stCondLst>
                                    <p:cond delay="0"/>
                                  </p:stCondLst>
                                  <p:childTnLst>
                                    <p:set>
                                      <p:cBhvr>
                                        <p:cTn id="117" dur="1" fill="hold">
                                          <p:stCondLst>
                                            <p:cond delay="0"/>
                                          </p:stCondLst>
                                        </p:cTn>
                                        <p:tgtEl>
                                          <p:spTgt spid="17"/>
                                        </p:tgtEl>
                                        <p:attrNameLst>
                                          <p:attrName>style.visibility</p:attrName>
                                        </p:attrNameLst>
                                      </p:cBhvr>
                                      <p:to>
                                        <p:strVal val="visible"/>
                                      </p:to>
                                    </p:set>
                                    <p:animEffect transition="in" filter="wipe(left)">
                                      <p:cBhvr>
                                        <p:cTn id="118" dur="500"/>
                                        <p:tgtEl>
                                          <p:spTgt spid="17"/>
                                        </p:tgtEl>
                                      </p:cBhvr>
                                    </p:animEffect>
                                  </p:childTnLst>
                                </p:cTn>
                              </p:par>
                            </p:childTnLst>
                          </p:cTn>
                        </p:par>
                      </p:childTnLst>
                    </p:cTn>
                  </p:par>
                  <p:par>
                    <p:cTn id="119" fill="hold">
                      <p:stCondLst>
                        <p:cond delay="indefinite"/>
                      </p:stCondLst>
                      <p:childTnLst>
                        <p:par>
                          <p:cTn id="120" fill="hold">
                            <p:stCondLst>
                              <p:cond delay="0"/>
                            </p:stCondLst>
                            <p:childTnLst>
                              <p:par>
                                <p:cTn id="121" presetID="22" presetClass="entr" presetSubtype="8" fill="hold" nodeType="clickEffect">
                                  <p:stCondLst>
                                    <p:cond delay="0"/>
                                  </p:stCondLst>
                                  <p:childTnLst>
                                    <p:set>
                                      <p:cBhvr>
                                        <p:cTn id="122" dur="1" fill="hold">
                                          <p:stCondLst>
                                            <p:cond delay="0"/>
                                          </p:stCondLst>
                                        </p:cTn>
                                        <p:tgtEl>
                                          <p:spTgt spid="37"/>
                                        </p:tgtEl>
                                        <p:attrNameLst>
                                          <p:attrName>style.visibility</p:attrName>
                                        </p:attrNameLst>
                                      </p:cBhvr>
                                      <p:to>
                                        <p:strVal val="visible"/>
                                      </p:to>
                                    </p:set>
                                    <p:animEffect transition="in" filter="wipe(left)">
                                      <p:cBhvr>
                                        <p:cTn id="123" dur="500"/>
                                        <p:tgtEl>
                                          <p:spTgt spid="37"/>
                                        </p:tgtEl>
                                      </p:cBhvr>
                                    </p:animEffect>
                                  </p:childTnLst>
                                </p:cTn>
                              </p:par>
                            </p:childTnLst>
                          </p:cTn>
                        </p:par>
                      </p:childTnLst>
                    </p:cTn>
                  </p:par>
                  <p:par>
                    <p:cTn id="124" fill="hold">
                      <p:stCondLst>
                        <p:cond delay="indefinite"/>
                      </p:stCondLst>
                      <p:childTnLst>
                        <p:par>
                          <p:cTn id="125" fill="hold">
                            <p:stCondLst>
                              <p:cond delay="0"/>
                            </p:stCondLst>
                            <p:childTnLst>
                              <p:par>
                                <p:cTn id="126" presetID="22" presetClass="entr" presetSubtype="4" fill="hold" nodeType="clickEffect">
                                  <p:stCondLst>
                                    <p:cond delay="0"/>
                                  </p:stCondLst>
                                  <p:childTnLst>
                                    <p:set>
                                      <p:cBhvr>
                                        <p:cTn id="127" dur="1" fill="hold">
                                          <p:stCondLst>
                                            <p:cond delay="0"/>
                                          </p:stCondLst>
                                        </p:cTn>
                                        <p:tgtEl>
                                          <p:spTgt spid="41"/>
                                        </p:tgtEl>
                                        <p:attrNameLst>
                                          <p:attrName>style.visibility</p:attrName>
                                        </p:attrNameLst>
                                      </p:cBhvr>
                                      <p:to>
                                        <p:strVal val="visible"/>
                                      </p:to>
                                    </p:set>
                                    <p:animEffect transition="in" filter="wipe(down)">
                                      <p:cBhvr>
                                        <p:cTn id="128"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10" grpId="0" bldLvl="0" animBg="1"/>
      <p:bldP spid="11" grpId="0" bldLvl="0" animBg="1"/>
      <p:bldP spid="14" grpId="0" bldLvl="0" animBg="1"/>
      <p:bldP spid="12" grpId="0" bldLvl="0" animBg="1"/>
      <p:bldP spid="15" grpId="0" bldLvl="0" animBg="1"/>
      <p:bldP spid="16" grpId="0" bldLvl="0" animBg="1"/>
      <p:bldP spid="17" grpId="0" bldLvl="0" animBg="1"/>
      <p:bldP spid="19" grpId="0" bldLvl="0" animBg="1"/>
      <p:bldP spid="22" grpId="0"/>
      <p:bldP spid="33" grpId="0"/>
    </p:bldLst>
  </p:timing>
</p:sld>
</file>

<file path=ppt/slides/slide9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6" name="Picture 31" descr="back">
            <a:hlinkClick r:id="" action="ppaction://hlinkshowjump?jump=previousslide"/>
          </p:cNvPr>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332788" y="6532563"/>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32" descr="NEXT">
            <a:hlinkClick r:id="" action="ppaction://hlinkshowjump?jump=nextslide"/>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742363" y="6532563"/>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33" descr="rewind">
            <a:hlinkClick r:id="" action="ppaction://hlinkshowjump?jump=first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24800" y="6532563"/>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a:spLocks noChangeArrowheads="1"/>
          </p:cNvSpPr>
          <p:nvPr/>
        </p:nvSpPr>
        <p:spPr bwMode="auto">
          <a:xfrm>
            <a:off x="577850" y="793750"/>
            <a:ext cx="8164513" cy="188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a:lnSpc>
                <a:spcPct val="150000"/>
              </a:lnSpc>
            </a:pPr>
            <a:r>
              <a:rPr lang="en-US" altLang="zh-CN"/>
              <a:t>        </a:t>
            </a:r>
            <a:r>
              <a:rPr lang="zh-CN" altLang="zh-CN"/>
              <a:t>如我们采用稀油润滑方式，以高速轴</a:t>
            </a:r>
            <a:r>
              <a:rPr lang="en-US" altLang="zh-CN"/>
              <a:t>I</a:t>
            </a:r>
            <a:r>
              <a:rPr lang="zh-CN" altLang="zh-CN"/>
              <a:t>及其一对圆锥滚子轴承</a:t>
            </a:r>
            <a:r>
              <a:rPr lang="en-US" altLang="zh-CN"/>
              <a:t>30308</a:t>
            </a:r>
            <a:r>
              <a:rPr lang="zh-CN" altLang="zh-CN"/>
              <a:t>的设计为例，并同步进行另外两根轴及两对轴承（轴结构方案设计时分别选定的是</a:t>
            </a:r>
            <a:r>
              <a:rPr lang="en-US" altLang="zh-CN"/>
              <a:t>30309</a:t>
            </a:r>
            <a:r>
              <a:rPr lang="zh-CN" altLang="zh-CN"/>
              <a:t>和</a:t>
            </a:r>
            <a:r>
              <a:rPr lang="en-US" altLang="zh-CN"/>
              <a:t>6216</a:t>
            </a:r>
            <a:r>
              <a:rPr lang="zh-CN" altLang="zh-CN"/>
              <a:t>）的设计；各对轴承布置和轴承孔的设计结果如图</a:t>
            </a:r>
            <a:r>
              <a:rPr lang="en-US" altLang="zh-CN"/>
              <a:t>3.7-24</a:t>
            </a:r>
            <a:r>
              <a:rPr lang="zh-CN" altLang="zh-CN"/>
              <a:t>。</a:t>
            </a:r>
            <a:endParaRPr lang="zh-CN" altLang="zh-CN"/>
          </a:p>
        </p:txBody>
      </p:sp>
      <p:pic>
        <p:nvPicPr>
          <p:cNvPr id="16" name="图片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75080" y="2678430"/>
            <a:ext cx="6983730" cy="343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p:cNvSpPr txBox="1">
            <a:spLocks noChangeArrowheads="1"/>
          </p:cNvSpPr>
          <p:nvPr/>
        </p:nvSpPr>
        <p:spPr bwMode="auto">
          <a:xfrm>
            <a:off x="3331845" y="6194743"/>
            <a:ext cx="3030538"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r>
              <a:rPr lang="zh-CN" altLang="zh-CN" sz="1600"/>
              <a:t>图</a:t>
            </a:r>
            <a:r>
              <a:rPr lang="en-US" altLang="zh-CN" sz="1600"/>
              <a:t>3.7-24 </a:t>
            </a:r>
            <a:r>
              <a:rPr lang="zh-CN" altLang="zh-CN" sz="1600"/>
              <a:t>确定轴承位置</a:t>
            </a:r>
            <a:endParaRPr lang="zh-CN" altLang="zh-CN" sz="1600"/>
          </a:p>
        </p:txBody>
      </p:sp>
      <p:sp>
        <p:nvSpPr>
          <p:cNvPr id="9" name="文本框 8"/>
          <p:cNvSpPr txBox="1"/>
          <p:nvPr/>
        </p:nvSpPr>
        <p:spPr>
          <a:xfrm>
            <a:off x="2926715" y="193675"/>
            <a:ext cx="3840480" cy="460375"/>
          </a:xfrm>
          <a:prstGeom prst="rect">
            <a:avLst/>
          </a:prstGeom>
          <a:noFill/>
        </p:spPr>
        <p:txBody>
          <a:bodyPr wrap="none" rtlCol="0" anchor="t">
            <a:spAutoFit/>
          </a:bodyPr>
          <a:lstStyle/>
          <a:p>
            <a:r>
              <a:rPr lang="zh-CN" altLang="zh-CN" sz="2400">
                <a:solidFill>
                  <a:srgbClr val="C00000"/>
                </a:solidFill>
                <a:latin typeface="黑体" panose="02010609060101010101" pitchFamily="49" charset="-122"/>
                <a:ea typeface="黑体" panose="02010609060101010101" pitchFamily="49" charset="-122"/>
                <a:sym typeface="+mn-ea"/>
              </a:rPr>
              <a:t>案例</a:t>
            </a:r>
            <a:r>
              <a:rPr lang="en-US" altLang="zh-CN" sz="2400">
                <a:solidFill>
                  <a:srgbClr val="C00000"/>
                </a:solidFill>
                <a:latin typeface="黑体" panose="02010609060101010101" pitchFamily="49" charset="-122"/>
                <a:ea typeface="黑体" panose="02010609060101010101" pitchFamily="49" charset="-122"/>
                <a:sym typeface="+mn-ea"/>
              </a:rPr>
              <a:t>2 </a:t>
            </a:r>
            <a:r>
              <a:rPr lang="zh-CN" altLang="zh-CN" sz="2400">
                <a:solidFill>
                  <a:srgbClr val="C00000"/>
                </a:solidFill>
                <a:latin typeface="黑体" panose="02010609060101010101" pitchFamily="49" charset="-122"/>
                <a:ea typeface="黑体" panose="02010609060101010101" pitchFamily="49" charset="-122"/>
                <a:sym typeface="+mn-ea"/>
              </a:rPr>
              <a:t>齿轮减速器轴的设计</a:t>
            </a:r>
            <a:endParaRPr lang="zh-CN" altLang="zh-CN" sz="2400">
              <a:solidFill>
                <a:srgbClr val="C00000"/>
              </a:solidFill>
              <a:latin typeface="黑体" panose="02010609060101010101" pitchFamily="49" charset="-122"/>
              <a:ea typeface="黑体" panose="02010609060101010101" pitchFamily="49" charset="-122"/>
              <a:sym typeface="+mn-ea"/>
            </a:endParaRPr>
          </a:p>
        </p:txBody>
      </p:sp>
      <p:sp>
        <p:nvSpPr>
          <p:cNvPr id="37895"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6"/>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nodeType="afterEffect">
                                  <p:stCondLst>
                                    <p:cond delay="0"/>
                                  </p:stCondLst>
                                  <p:childTnLst>
                                    <p:set>
                                      <p:cBhvr>
                                        <p:cTn id="9" dur="1" fill="hold">
                                          <p:stCondLst>
                                            <p:cond delay="499"/>
                                          </p:stCondLst>
                                        </p:cTn>
                                        <p:tgtEl>
                                          <p:spTgt spid="7"/>
                                        </p:tgtEl>
                                        <p:attrNameLst>
                                          <p:attrName>style.visibility</p:attrName>
                                        </p:attrNameLst>
                                      </p:cBhvr>
                                      <p:to>
                                        <p:strVal val="visible"/>
                                      </p:to>
                                    </p:set>
                                  </p:childTnLst>
                                </p:cTn>
                              </p:par>
                            </p:childTnLst>
                          </p:cTn>
                        </p:par>
                        <p:par>
                          <p:cTn id="10" fill="hold">
                            <p:stCondLst>
                              <p:cond delay="1000"/>
                            </p:stCondLst>
                            <p:childTnLst>
                              <p:par>
                                <p:cTn id="11" presetID="2" presetClass="entr" presetSubtype="8" fill="hold"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0-#ppt_w/2"/>
                                          </p:val>
                                        </p:tav>
                                        <p:tav tm="100000">
                                          <p:val>
                                            <p:strVal val="#ppt_x"/>
                                          </p:val>
                                        </p:tav>
                                      </p:tavLst>
                                    </p:anim>
                                    <p:anim calcmode="lin" valueType="num">
                                      <p:cBhvr additive="base">
                                        <p:cTn id="14"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wipe(left)">
                                      <p:cBhvr>
                                        <p:cTn id="19" dur="500"/>
                                        <p:tgtEl>
                                          <p:spTgt spid="2"/>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wipe(left)">
                                      <p:cBhvr>
                                        <p:cTn id="24" dur="500"/>
                                        <p:tgtEl>
                                          <p:spTgt spid="16"/>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wipe(left)">
                                      <p:cBhvr>
                                        <p:cTn id="2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9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6" name="Picture 31" descr="back">
            <a:hlinkClick r:id="" action="ppaction://hlinkshowjump?jump=previousslide"/>
          </p:cNvPr>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332788" y="6532563"/>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32" descr="NEXT">
            <a:hlinkClick r:id="" action="ppaction://hlinkshowjump?jump=nextslide"/>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742363" y="6532563"/>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33" descr="rewind">
            <a:hlinkClick r:id="" action="ppaction://hlinkshowjump?jump=first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24800" y="6532563"/>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p:cNvSpPr txBox="1">
            <a:spLocks noRot="1" noChangeAspect="1" noMove="1" noResize="1" noEditPoints="1" noAdjustHandles="1" noChangeArrowheads="1" noChangeShapeType="1" noTextEdit="1"/>
          </p:cNvSpPr>
          <p:nvPr/>
        </p:nvSpPr>
        <p:spPr>
          <a:xfrm>
            <a:off x="3278910" y="5935222"/>
            <a:ext cx="3528290" cy="338554"/>
          </a:xfrm>
          <a:prstGeom prst="rect">
            <a:avLst/>
          </a:prstGeom>
          <a:blipFill>
            <a:blip r:embed="rId4"/>
            <a:stretch>
              <a:fillRect l="-1036" t="-5455" b="-23636"/>
            </a:stretch>
          </a:blipFill>
        </p:spPr>
        <p:txBody>
          <a:bodyPr/>
          <a:lstStyle/>
          <a:p>
            <a:pPr>
              <a:defRPr/>
            </a:pPr>
            <a:r>
              <a:rPr lang="zh-CN" altLang="en-US">
                <a:noFill/>
              </a:rPr>
              <a:t> </a:t>
            </a:r>
            <a:endParaRPr lang="zh-CN" altLang="en-US">
              <a:noFill/>
            </a:endParaRPr>
          </a:p>
        </p:txBody>
      </p:sp>
      <p:sp>
        <p:nvSpPr>
          <p:cNvPr id="4" name="文本框 3"/>
          <p:cNvSpPr txBox="1">
            <a:spLocks noRot="1" noChangeAspect="1" noMove="1" noResize="1" noEditPoints="1" noAdjustHandles="1" noChangeArrowheads="1" noChangeShapeType="1" noTextEdit="1"/>
          </p:cNvSpPr>
          <p:nvPr/>
        </p:nvSpPr>
        <p:spPr>
          <a:xfrm>
            <a:off x="356734" y="683491"/>
            <a:ext cx="3494830" cy="499304"/>
          </a:xfrm>
          <a:prstGeom prst="rect">
            <a:avLst/>
          </a:prstGeom>
          <a:blipFill>
            <a:blip r:embed="rId5"/>
            <a:stretch>
              <a:fillRect b="-20732"/>
            </a:stretch>
          </a:blipFill>
        </p:spPr>
        <p:txBody>
          <a:bodyPr/>
          <a:lstStyle/>
          <a:p>
            <a:pPr>
              <a:defRPr/>
            </a:pPr>
            <a:r>
              <a:rPr lang="zh-CN" altLang="en-US">
                <a:noFill/>
              </a:rPr>
              <a:t> </a:t>
            </a:r>
            <a:endParaRPr lang="zh-CN" altLang="en-US">
              <a:noFill/>
            </a:endParaRPr>
          </a:p>
        </p:txBody>
      </p:sp>
      <p:sp>
        <p:nvSpPr>
          <p:cNvPr id="5" name="文本框 4"/>
          <p:cNvSpPr txBox="1">
            <a:spLocks noChangeArrowheads="1"/>
          </p:cNvSpPr>
          <p:nvPr/>
        </p:nvSpPr>
        <p:spPr bwMode="auto">
          <a:xfrm>
            <a:off x="430530" y="1161098"/>
            <a:ext cx="8124825"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a:lnSpc>
                <a:spcPct val="150000"/>
              </a:lnSpc>
            </a:pPr>
            <a:r>
              <a:rPr lang="en-US" altLang="zh-CN"/>
              <a:t>      </a:t>
            </a:r>
            <a:r>
              <a:rPr lang="zh-CN" altLang="zh-CN"/>
              <a:t>不用事先计算轴段长度，直接根据结构约束画出即可，如图</a:t>
            </a:r>
            <a:r>
              <a:rPr lang="en-US" altLang="zh-CN"/>
              <a:t>3.7-25</a:t>
            </a:r>
            <a:r>
              <a:rPr lang="zh-CN" altLang="zh-CN"/>
              <a:t>。</a:t>
            </a:r>
            <a:endParaRPr lang="zh-CN" altLang="zh-CN"/>
          </a:p>
        </p:txBody>
      </p:sp>
      <p:pic>
        <p:nvPicPr>
          <p:cNvPr id="11" name="图片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69963" y="2092325"/>
            <a:ext cx="7242175" cy="3925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文本框 8"/>
          <p:cNvSpPr txBox="1"/>
          <p:nvPr/>
        </p:nvSpPr>
        <p:spPr>
          <a:xfrm>
            <a:off x="2926715" y="193675"/>
            <a:ext cx="3840480" cy="460375"/>
          </a:xfrm>
          <a:prstGeom prst="rect">
            <a:avLst/>
          </a:prstGeom>
          <a:noFill/>
        </p:spPr>
        <p:txBody>
          <a:bodyPr wrap="none" rtlCol="0" anchor="t">
            <a:spAutoFit/>
          </a:bodyPr>
          <a:lstStyle/>
          <a:p>
            <a:r>
              <a:rPr lang="zh-CN" altLang="zh-CN" sz="2400">
                <a:solidFill>
                  <a:srgbClr val="C00000"/>
                </a:solidFill>
                <a:latin typeface="黑体" panose="02010609060101010101" pitchFamily="49" charset="-122"/>
                <a:ea typeface="黑体" panose="02010609060101010101" pitchFamily="49" charset="-122"/>
                <a:sym typeface="+mn-ea"/>
              </a:rPr>
              <a:t>案例</a:t>
            </a:r>
            <a:r>
              <a:rPr lang="en-US" altLang="zh-CN" sz="2400">
                <a:solidFill>
                  <a:srgbClr val="C00000"/>
                </a:solidFill>
                <a:latin typeface="黑体" panose="02010609060101010101" pitchFamily="49" charset="-122"/>
                <a:ea typeface="黑体" panose="02010609060101010101" pitchFamily="49" charset="-122"/>
                <a:sym typeface="+mn-ea"/>
              </a:rPr>
              <a:t>2 </a:t>
            </a:r>
            <a:r>
              <a:rPr lang="zh-CN" altLang="zh-CN" sz="2400">
                <a:solidFill>
                  <a:srgbClr val="C00000"/>
                </a:solidFill>
                <a:latin typeface="黑体" panose="02010609060101010101" pitchFamily="49" charset="-122"/>
                <a:ea typeface="黑体" panose="02010609060101010101" pitchFamily="49" charset="-122"/>
                <a:sym typeface="+mn-ea"/>
              </a:rPr>
              <a:t>齿轮减速器轴的设计</a:t>
            </a:r>
            <a:endParaRPr lang="zh-CN" altLang="zh-CN" sz="2400">
              <a:solidFill>
                <a:srgbClr val="C00000"/>
              </a:solidFill>
              <a:latin typeface="黑体" panose="02010609060101010101" pitchFamily="49" charset="-122"/>
              <a:ea typeface="黑体" panose="02010609060101010101" pitchFamily="49" charset="-122"/>
              <a:sym typeface="+mn-ea"/>
            </a:endParaRPr>
          </a:p>
        </p:txBody>
      </p:sp>
      <p:sp>
        <p:nvSpPr>
          <p:cNvPr id="37895"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6"/>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nodeType="afterEffect">
                                  <p:stCondLst>
                                    <p:cond delay="0"/>
                                  </p:stCondLst>
                                  <p:childTnLst>
                                    <p:set>
                                      <p:cBhvr>
                                        <p:cTn id="9" dur="1" fill="hold">
                                          <p:stCondLst>
                                            <p:cond delay="499"/>
                                          </p:stCondLst>
                                        </p:cTn>
                                        <p:tgtEl>
                                          <p:spTgt spid="7"/>
                                        </p:tgtEl>
                                        <p:attrNameLst>
                                          <p:attrName>style.visibility</p:attrName>
                                        </p:attrNameLst>
                                      </p:cBhvr>
                                      <p:to>
                                        <p:strVal val="visible"/>
                                      </p:to>
                                    </p:set>
                                  </p:childTnLst>
                                </p:cTn>
                              </p:par>
                            </p:childTnLst>
                          </p:cTn>
                        </p:par>
                        <p:par>
                          <p:cTn id="10" fill="hold">
                            <p:stCondLst>
                              <p:cond delay="1000"/>
                            </p:stCondLst>
                            <p:childTnLst>
                              <p:par>
                                <p:cTn id="11" presetID="2" presetClass="entr" presetSubtype="8" fill="hold"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0-#ppt_w/2"/>
                                          </p:val>
                                        </p:tav>
                                        <p:tav tm="100000">
                                          <p:val>
                                            <p:strVal val="#ppt_x"/>
                                          </p:val>
                                        </p:tav>
                                      </p:tavLst>
                                    </p:anim>
                                    <p:anim calcmode="lin" valueType="num">
                                      <p:cBhvr additive="base">
                                        <p:cTn id="14"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wipe(left)">
                                      <p:cBhvr>
                                        <p:cTn id="19" dur="500"/>
                                        <p:tgtEl>
                                          <p:spTgt spid="4"/>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wipe(left)">
                                      <p:cBhvr>
                                        <p:cTn id="24" dur="500"/>
                                        <p:tgtEl>
                                          <p:spTgt spid="5"/>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wipe(left)">
                                      <p:cBhvr>
                                        <p:cTn id="29" dur="500"/>
                                        <p:tgtEl>
                                          <p:spTgt spid="11"/>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3"/>
                                        </p:tgtEl>
                                        <p:attrNameLst>
                                          <p:attrName>style.visibility</p:attrName>
                                        </p:attrNameLst>
                                      </p:cBhvr>
                                      <p:to>
                                        <p:strVal val="visible"/>
                                      </p:to>
                                    </p:set>
                                    <p:animEffect transition="in" filter="wipe(left)">
                                      <p:cBhvr>
                                        <p:cTn id="34"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6" name="Picture 31" descr="back">
            <a:hlinkClick r:id="" action="ppaction://hlinkshowjump?jump=previousslide"/>
          </p:cNvPr>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332788" y="6532563"/>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32" descr="NEXT">
            <a:hlinkClick r:id="" action="ppaction://hlinkshowjump?jump=nextslide"/>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742363" y="6532563"/>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33" descr="rewind">
            <a:hlinkClick r:id="" action="ppaction://hlinkshowjump?jump=first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24800" y="6532563"/>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p:cNvSpPr txBox="1">
            <a:spLocks noRot="1" noChangeAspect="1" noMove="1" noResize="1" noEditPoints="1" noAdjustHandles="1" noChangeArrowheads="1" noChangeShapeType="1" noTextEdit="1"/>
          </p:cNvSpPr>
          <p:nvPr/>
        </p:nvSpPr>
        <p:spPr>
          <a:xfrm>
            <a:off x="3029529" y="5928284"/>
            <a:ext cx="4137890" cy="338554"/>
          </a:xfrm>
          <a:prstGeom prst="rect">
            <a:avLst/>
          </a:prstGeom>
          <a:blipFill>
            <a:blip r:embed="rId4"/>
            <a:stretch>
              <a:fillRect l="-884" t="-5357" b="-21429"/>
            </a:stretch>
          </a:blipFill>
        </p:spPr>
        <p:txBody>
          <a:bodyPr/>
          <a:lstStyle/>
          <a:p>
            <a:pPr>
              <a:defRPr/>
            </a:pPr>
            <a:r>
              <a:rPr lang="zh-CN" altLang="en-US">
                <a:noFill/>
              </a:rPr>
              <a:t> </a:t>
            </a:r>
            <a:endParaRPr lang="zh-CN" altLang="en-US">
              <a:noFill/>
            </a:endParaRPr>
          </a:p>
        </p:txBody>
      </p:sp>
      <p:sp>
        <p:nvSpPr>
          <p:cNvPr id="4" name="文本框 3"/>
          <p:cNvSpPr txBox="1">
            <a:spLocks noRot="1" noChangeAspect="1" noMove="1" noResize="1" noEditPoints="1" noAdjustHandles="1" noChangeArrowheads="1" noChangeShapeType="1" noTextEdit="1"/>
          </p:cNvSpPr>
          <p:nvPr/>
        </p:nvSpPr>
        <p:spPr>
          <a:xfrm>
            <a:off x="375206" y="770041"/>
            <a:ext cx="3494830" cy="400110"/>
          </a:xfrm>
          <a:prstGeom prst="rect">
            <a:avLst/>
          </a:prstGeom>
          <a:blipFill>
            <a:blip r:embed="rId5"/>
            <a:stretch>
              <a:fillRect t="-7576" b="-25758"/>
            </a:stretch>
          </a:blipFill>
        </p:spPr>
        <p:txBody>
          <a:bodyPr/>
          <a:lstStyle/>
          <a:p>
            <a:pPr>
              <a:defRPr/>
            </a:pPr>
            <a:r>
              <a:rPr lang="zh-CN" altLang="en-US">
                <a:noFill/>
              </a:rPr>
              <a:t> </a:t>
            </a:r>
            <a:endParaRPr lang="zh-CN" altLang="en-US">
              <a:noFill/>
            </a:endParaRPr>
          </a:p>
        </p:txBody>
      </p:sp>
      <p:pic>
        <p:nvPicPr>
          <p:cNvPr id="10" name="图片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55713" y="1524000"/>
            <a:ext cx="6669087" cy="441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a:spLocks noRot="1" noChangeAspect="1" noMove="1" noResize="1" noEditPoints="1" noAdjustHandles="1" noChangeArrowheads="1" noChangeShapeType="1" noTextEdit="1"/>
          </p:cNvSpPr>
          <p:nvPr/>
        </p:nvSpPr>
        <p:spPr>
          <a:xfrm>
            <a:off x="1013460" y="5019675"/>
            <a:ext cx="3305810" cy="401955"/>
          </a:xfrm>
          <a:prstGeom prst="rect">
            <a:avLst/>
          </a:prstGeom>
          <a:blipFill>
            <a:blip r:embed="rId7"/>
            <a:stretch>
              <a:fillRect l="-1316" t="-5455" b="-23636"/>
            </a:stretch>
          </a:blipFill>
        </p:spPr>
        <p:txBody>
          <a:bodyPr/>
          <a:lstStyle/>
          <a:p>
            <a:pPr>
              <a:defRPr/>
            </a:pPr>
            <a:r>
              <a:rPr lang="zh-CN" altLang="en-US">
                <a:noFill/>
              </a:rPr>
              <a:t> </a:t>
            </a:r>
            <a:endParaRPr lang="zh-CN" altLang="en-US">
              <a:noFill/>
            </a:endParaRPr>
          </a:p>
        </p:txBody>
      </p:sp>
      <p:sp>
        <p:nvSpPr>
          <p:cNvPr id="9" name="文本框 8"/>
          <p:cNvSpPr txBox="1"/>
          <p:nvPr/>
        </p:nvSpPr>
        <p:spPr>
          <a:xfrm>
            <a:off x="2926715" y="193675"/>
            <a:ext cx="3840480" cy="460375"/>
          </a:xfrm>
          <a:prstGeom prst="rect">
            <a:avLst/>
          </a:prstGeom>
          <a:noFill/>
        </p:spPr>
        <p:txBody>
          <a:bodyPr wrap="none" rtlCol="0" anchor="t">
            <a:spAutoFit/>
          </a:bodyPr>
          <a:lstStyle/>
          <a:p>
            <a:r>
              <a:rPr lang="zh-CN" altLang="zh-CN" sz="2400">
                <a:solidFill>
                  <a:srgbClr val="C00000"/>
                </a:solidFill>
                <a:latin typeface="黑体" panose="02010609060101010101" pitchFamily="49" charset="-122"/>
                <a:ea typeface="黑体" panose="02010609060101010101" pitchFamily="49" charset="-122"/>
                <a:sym typeface="+mn-ea"/>
              </a:rPr>
              <a:t>案例</a:t>
            </a:r>
            <a:r>
              <a:rPr lang="en-US" altLang="zh-CN" sz="2400">
                <a:solidFill>
                  <a:srgbClr val="C00000"/>
                </a:solidFill>
                <a:latin typeface="黑体" panose="02010609060101010101" pitchFamily="49" charset="-122"/>
                <a:ea typeface="黑体" panose="02010609060101010101" pitchFamily="49" charset="-122"/>
                <a:sym typeface="+mn-ea"/>
              </a:rPr>
              <a:t>2 </a:t>
            </a:r>
            <a:r>
              <a:rPr lang="zh-CN" altLang="zh-CN" sz="2400">
                <a:solidFill>
                  <a:srgbClr val="C00000"/>
                </a:solidFill>
                <a:latin typeface="黑体" panose="02010609060101010101" pitchFamily="49" charset="-122"/>
                <a:ea typeface="黑体" panose="02010609060101010101" pitchFamily="49" charset="-122"/>
                <a:sym typeface="+mn-ea"/>
              </a:rPr>
              <a:t>齿轮减速器轴的设计</a:t>
            </a:r>
            <a:endParaRPr lang="zh-CN" altLang="zh-CN" sz="2400">
              <a:solidFill>
                <a:srgbClr val="C00000"/>
              </a:solidFill>
              <a:latin typeface="黑体" panose="02010609060101010101" pitchFamily="49" charset="-122"/>
              <a:ea typeface="黑体" panose="02010609060101010101" pitchFamily="49" charset="-122"/>
              <a:sym typeface="+mn-ea"/>
            </a:endParaRPr>
          </a:p>
        </p:txBody>
      </p:sp>
      <p:sp>
        <p:nvSpPr>
          <p:cNvPr id="37895"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6"/>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nodeType="afterEffect">
                                  <p:stCondLst>
                                    <p:cond delay="0"/>
                                  </p:stCondLst>
                                  <p:childTnLst>
                                    <p:set>
                                      <p:cBhvr>
                                        <p:cTn id="9" dur="1" fill="hold">
                                          <p:stCondLst>
                                            <p:cond delay="499"/>
                                          </p:stCondLst>
                                        </p:cTn>
                                        <p:tgtEl>
                                          <p:spTgt spid="7"/>
                                        </p:tgtEl>
                                        <p:attrNameLst>
                                          <p:attrName>style.visibility</p:attrName>
                                        </p:attrNameLst>
                                      </p:cBhvr>
                                      <p:to>
                                        <p:strVal val="visible"/>
                                      </p:to>
                                    </p:set>
                                  </p:childTnLst>
                                </p:cTn>
                              </p:par>
                            </p:childTnLst>
                          </p:cTn>
                        </p:par>
                        <p:par>
                          <p:cTn id="10" fill="hold">
                            <p:stCondLst>
                              <p:cond delay="1000"/>
                            </p:stCondLst>
                            <p:childTnLst>
                              <p:par>
                                <p:cTn id="11" presetID="2" presetClass="entr" presetSubtype="8" fill="hold"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0-#ppt_w/2"/>
                                          </p:val>
                                        </p:tav>
                                        <p:tav tm="100000">
                                          <p:val>
                                            <p:strVal val="#ppt_x"/>
                                          </p:val>
                                        </p:tav>
                                      </p:tavLst>
                                    </p:anim>
                                    <p:anim calcmode="lin" valueType="num">
                                      <p:cBhvr additive="base">
                                        <p:cTn id="14"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wipe(left)">
                                      <p:cBhvr>
                                        <p:cTn id="19" dur="500"/>
                                        <p:tgtEl>
                                          <p:spTgt spid="4"/>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wipe(left)">
                                      <p:cBhvr>
                                        <p:cTn id="24" dur="500"/>
                                        <p:tgtEl>
                                          <p:spTgt spid="10"/>
                                        </p:tgtEl>
                                      </p:cBhvr>
                                    </p:animEffect>
                                  </p:childTnLst>
                                </p:cTn>
                              </p:par>
                              <p:par>
                                <p:cTn id="25" presetID="22" presetClass="entr" presetSubtype="8" fill="hold" nodeType="with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left)">
                                      <p:cBhvr>
                                        <p:cTn id="27" dur="500"/>
                                        <p:tgtEl>
                                          <p:spTgt spid="2"/>
                                        </p:tgtEl>
                                      </p:cBhvr>
                                    </p:animEffect>
                                  </p:childTnLst>
                                </p:cTn>
                              </p:par>
                              <p:par>
                                <p:cTn id="28" presetID="22" presetClass="entr" presetSubtype="8" fill="hold" nodeType="withEffect">
                                  <p:stCondLst>
                                    <p:cond delay="0"/>
                                  </p:stCondLst>
                                  <p:childTnLst>
                                    <p:set>
                                      <p:cBhvr>
                                        <p:cTn id="29" dur="1" fill="hold">
                                          <p:stCondLst>
                                            <p:cond delay="0"/>
                                          </p:stCondLst>
                                        </p:cTn>
                                        <p:tgtEl>
                                          <p:spTgt spid="3"/>
                                        </p:tgtEl>
                                        <p:attrNameLst>
                                          <p:attrName>style.visibility</p:attrName>
                                        </p:attrNameLst>
                                      </p:cBhvr>
                                      <p:to>
                                        <p:strVal val="visible"/>
                                      </p:to>
                                    </p:set>
                                    <p:animEffect transition="in" filter="wipe(left)">
                                      <p:cBhvr>
                                        <p:cTn id="3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6" name="Picture 31" descr="back">
            <a:hlinkClick r:id="" action="ppaction://hlinkshowjump?jump=previousslide"/>
          </p:cNvPr>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332788" y="6532563"/>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32" descr="NEXT">
            <a:hlinkClick r:id="" action="ppaction://hlinkshowjump?jump=nextslide"/>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742363" y="6532563"/>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33" descr="rewind">
            <a:hlinkClick r:id="" action="ppaction://hlinkshowjump?jump=first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24800" y="6532563"/>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4213" name="矩形 12"/>
          <p:cNvSpPr>
            <a:spLocks noChangeArrowheads="1"/>
          </p:cNvSpPr>
          <p:nvPr/>
        </p:nvSpPr>
        <p:spPr bwMode="auto">
          <a:xfrm>
            <a:off x="823913" y="50800"/>
            <a:ext cx="3878262"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r>
              <a:rPr lang="zh-CN" altLang="zh-CN" sz="2400">
                <a:solidFill>
                  <a:schemeClr val="bg1"/>
                </a:solidFill>
                <a:latin typeface="黑体" panose="02010609060101010101" pitchFamily="49" charset="-122"/>
                <a:ea typeface="黑体" panose="02010609060101010101" pitchFamily="49" charset="-122"/>
              </a:rPr>
              <a:t>案例</a:t>
            </a:r>
            <a:r>
              <a:rPr lang="en-US" altLang="zh-CN" sz="2400">
                <a:solidFill>
                  <a:schemeClr val="bg1"/>
                </a:solidFill>
                <a:latin typeface="黑体" panose="02010609060101010101" pitchFamily="49" charset="-122"/>
                <a:ea typeface="黑体" panose="02010609060101010101" pitchFamily="49" charset="-122"/>
              </a:rPr>
              <a:t>2 </a:t>
            </a:r>
            <a:r>
              <a:rPr lang="zh-CN" altLang="zh-CN" sz="2400">
                <a:solidFill>
                  <a:schemeClr val="bg1"/>
                </a:solidFill>
                <a:latin typeface="黑体" panose="02010609060101010101" pitchFamily="49" charset="-122"/>
                <a:ea typeface="黑体" panose="02010609060101010101" pitchFamily="49" charset="-122"/>
              </a:rPr>
              <a:t>齿轮减速器轴的设计</a:t>
            </a:r>
            <a:endParaRPr lang="zh-CN" altLang="en-US" sz="2400">
              <a:solidFill>
                <a:schemeClr val="bg1"/>
              </a:solidFill>
              <a:latin typeface="黑体" panose="02010609060101010101" pitchFamily="49" charset="-122"/>
              <a:ea typeface="黑体" panose="02010609060101010101" pitchFamily="49" charset="-122"/>
            </a:endParaRPr>
          </a:p>
        </p:txBody>
      </p:sp>
      <p:sp>
        <p:nvSpPr>
          <p:cNvPr id="3" name="文本框 2"/>
          <p:cNvSpPr txBox="1">
            <a:spLocks noChangeArrowheads="1"/>
          </p:cNvSpPr>
          <p:nvPr/>
        </p:nvSpPr>
        <p:spPr bwMode="auto">
          <a:xfrm>
            <a:off x="3024188" y="6194425"/>
            <a:ext cx="41370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r>
              <a:rPr lang="zh-CN" altLang="zh-CN" sz="1600"/>
              <a:t>图</a:t>
            </a:r>
            <a:r>
              <a:rPr lang="en-US" altLang="zh-CN" sz="1600"/>
              <a:t>3.7-27 </a:t>
            </a:r>
            <a:r>
              <a:rPr lang="zh-CN" altLang="zh-CN" sz="1600"/>
              <a:t>轴向和周向定位</a:t>
            </a:r>
            <a:endParaRPr lang="zh-CN" altLang="zh-CN" sz="1600"/>
          </a:p>
        </p:txBody>
      </p:sp>
      <p:sp>
        <p:nvSpPr>
          <p:cNvPr id="4" name="文本框 3"/>
          <p:cNvSpPr txBox="1">
            <a:spLocks noChangeArrowheads="1"/>
          </p:cNvSpPr>
          <p:nvPr/>
        </p:nvSpPr>
        <p:spPr bwMode="auto">
          <a:xfrm>
            <a:off x="374650" y="769938"/>
            <a:ext cx="45386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r>
              <a:rPr lang="en-US" altLang="zh-CN"/>
              <a:t>        (3</a:t>
            </a:r>
            <a:r>
              <a:rPr lang="zh-CN" altLang="en-US"/>
              <a:t>）</a:t>
            </a:r>
            <a:r>
              <a:rPr lang="zh-CN" altLang="zh-CN"/>
              <a:t>各轴上零件的轴向和周向定位</a:t>
            </a:r>
            <a:endParaRPr lang="zh-CN" altLang="zh-CN"/>
          </a:p>
        </p:txBody>
      </p:sp>
      <p:pic>
        <p:nvPicPr>
          <p:cNvPr id="11" name="图片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4230" y="1284605"/>
            <a:ext cx="7643495" cy="4617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文本框 8"/>
          <p:cNvSpPr txBox="1"/>
          <p:nvPr/>
        </p:nvSpPr>
        <p:spPr>
          <a:xfrm>
            <a:off x="2926715" y="193675"/>
            <a:ext cx="3840480" cy="460375"/>
          </a:xfrm>
          <a:prstGeom prst="rect">
            <a:avLst/>
          </a:prstGeom>
          <a:noFill/>
        </p:spPr>
        <p:txBody>
          <a:bodyPr wrap="none" rtlCol="0" anchor="t">
            <a:spAutoFit/>
          </a:bodyPr>
          <a:lstStyle/>
          <a:p>
            <a:r>
              <a:rPr lang="zh-CN" altLang="zh-CN" sz="2400">
                <a:solidFill>
                  <a:srgbClr val="C00000"/>
                </a:solidFill>
                <a:latin typeface="黑体" panose="02010609060101010101" pitchFamily="49" charset="-122"/>
                <a:ea typeface="黑体" panose="02010609060101010101" pitchFamily="49" charset="-122"/>
                <a:sym typeface="+mn-ea"/>
              </a:rPr>
              <a:t>案例</a:t>
            </a:r>
            <a:r>
              <a:rPr lang="en-US" altLang="zh-CN" sz="2400">
                <a:solidFill>
                  <a:srgbClr val="C00000"/>
                </a:solidFill>
                <a:latin typeface="黑体" panose="02010609060101010101" pitchFamily="49" charset="-122"/>
                <a:ea typeface="黑体" panose="02010609060101010101" pitchFamily="49" charset="-122"/>
                <a:sym typeface="+mn-ea"/>
              </a:rPr>
              <a:t>2 </a:t>
            </a:r>
            <a:r>
              <a:rPr lang="zh-CN" altLang="zh-CN" sz="2400">
                <a:solidFill>
                  <a:srgbClr val="C00000"/>
                </a:solidFill>
                <a:latin typeface="黑体" panose="02010609060101010101" pitchFamily="49" charset="-122"/>
                <a:ea typeface="黑体" panose="02010609060101010101" pitchFamily="49" charset="-122"/>
                <a:sym typeface="+mn-ea"/>
              </a:rPr>
              <a:t>齿轮减速器轴的设计</a:t>
            </a:r>
            <a:endParaRPr lang="zh-CN" altLang="zh-CN" sz="2400">
              <a:solidFill>
                <a:srgbClr val="C00000"/>
              </a:solidFill>
              <a:latin typeface="黑体" panose="02010609060101010101" pitchFamily="49" charset="-122"/>
              <a:ea typeface="黑体" panose="02010609060101010101" pitchFamily="49" charset="-122"/>
              <a:sym typeface="+mn-ea"/>
            </a:endParaRPr>
          </a:p>
        </p:txBody>
      </p:sp>
      <p:sp>
        <p:nvSpPr>
          <p:cNvPr id="37895"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6"/>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nodeType="afterEffect">
                                  <p:stCondLst>
                                    <p:cond delay="0"/>
                                  </p:stCondLst>
                                  <p:childTnLst>
                                    <p:set>
                                      <p:cBhvr>
                                        <p:cTn id="9" dur="1" fill="hold">
                                          <p:stCondLst>
                                            <p:cond delay="499"/>
                                          </p:stCondLst>
                                        </p:cTn>
                                        <p:tgtEl>
                                          <p:spTgt spid="7"/>
                                        </p:tgtEl>
                                        <p:attrNameLst>
                                          <p:attrName>style.visibility</p:attrName>
                                        </p:attrNameLst>
                                      </p:cBhvr>
                                      <p:to>
                                        <p:strVal val="visible"/>
                                      </p:to>
                                    </p:set>
                                  </p:childTnLst>
                                </p:cTn>
                              </p:par>
                            </p:childTnLst>
                          </p:cTn>
                        </p:par>
                        <p:par>
                          <p:cTn id="10" fill="hold">
                            <p:stCondLst>
                              <p:cond delay="1000"/>
                            </p:stCondLst>
                            <p:childTnLst>
                              <p:par>
                                <p:cTn id="11" presetID="2" presetClass="entr" presetSubtype="8" fill="hold"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0-#ppt_w/2"/>
                                          </p:val>
                                        </p:tav>
                                        <p:tav tm="100000">
                                          <p:val>
                                            <p:strVal val="#ppt_x"/>
                                          </p:val>
                                        </p:tav>
                                      </p:tavLst>
                                    </p:anim>
                                    <p:anim calcmode="lin" valueType="num">
                                      <p:cBhvr additive="base">
                                        <p:cTn id="14"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wipe(left)">
                                      <p:cBhvr>
                                        <p:cTn id="19" dur="500"/>
                                        <p:tgtEl>
                                          <p:spTgt spid="4"/>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wipe(left)">
                                      <p:cBhvr>
                                        <p:cTn id="24" dur="500"/>
                                        <p:tgtEl>
                                          <p:spTgt spid="11"/>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3"/>
                                        </p:tgtEl>
                                        <p:attrNameLst>
                                          <p:attrName>style.visibility</p:attrName>
                                        </p:attrNameLst>
                                      </p:cBhvr>
                                      <p:to>
                                        <p:strVal val="visible"/>
                                      </p:to>
                                    </p:set>
                                    <p:animEffect transition="in" filter="wipe(left)">
                                      <p:cBhvr>
                                        <p:cTn id="2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45670" y="371192"/>
            <a:ext cx="6681458" cy="461665"/>
          </a:xfrm>
          <a:prstGeom prst="rect">
            <a:avLst/>
          </a:prstGeom>
          <a:noFill/>
        </p:spPr>
        <p:txBody>
          <a:bodyPr wrap="square" rtlCol="0">
            <a:spAutoFit/>
          </a:bodyPr>
          <a:lstStyle/>
          <a:p>
            <a:r>
              <a:rPr lang="en-US" altLang="zh-CN" sz="2400" dirty="0" smtClean="0">
                <a:solidFill>
                  <a:srgbClr val="FF0000"/>
                </a:solidFill>
              </a:rPr>
              <a:t>[</a:t>
            </a:r>
            <a:r>
              <a:rPr lang="zh-CN" altLang="en-US" sz="2400" dirty="0" smtClean="0">
                <a:solidFill>
                  <a:srgbClr val="FF0000"/>
                </a:solidFill>
              </a:rPr>
              <a:t>例</a:t>
            </a:r>
            <a:r>
              <a:rPr lang="en-US" altLang="zh-CN" sz="2400" dirty="0" smtClean="0">
                <a:solidFill>
                  <a:srgbClr val="FF0000"/>
                </a:solidFill>
              </a:rPr>
              <a:t>15-1]</a:t>
            </a:r>
            <a:endParaRPr lang="zh-CN" altLang="en-US" sz="2400" dirty="0">
              <a:solidFill>
                <a:srgbClr val="FF0000"/>
              </a:solidFill>
            </a:endParaRPr>
          </a:p>
        </p:txBody>
      </p:sp>
      <p:sp>
        <p:nvSpPr>
          <p:cNvPr id="3" name="文本框 2"/>
          <p:cNvSpPr txBox="1"/>
          <p:nvPr/>
        </p:nvSpPr>
        <p:spPr>
          <a:xfrm>
            <a:off x="398353" y="398352"/>
            <a:ext cx="3051018" cy="430887"/>
          </a:xfrm>
          <a:prstGeom prst="rect">
            <a:avLst/>
          </a:prstGeom>
          <a:noFill/>
        </p:spPr>
        <p:txBody>
          <a:bodyPr wrap="square" rtlCol="0">
            <a:spAutoFit/>
          </a:bodyPr>
          <a:lstStyle/>
          <a:p>
            <a:r>
              <a:rPr lang="zh-CN" altLang="en-US" sz="2200" dirty="0" smtClean="0"/>
              <a:t>教材</a:t>
            </a:r>
            <a:r>
              <a:rPr lang="en-US" altLang="zh-CN" sz="2200" dirty="0" smtClean="0"/>
              <a:t>P390 </a:t>
            </a:r>
            <a:endParaRPr lang="zh-CN" altLang="en-US" sz="2200" dirty="0"/>
          </a:p>
        </p:txBody>
      </p:sp>
      <p:pic>
        <p:nvPicPr>
          <p:cNvPr id="4" name="图片 3"/>
          <p:cNvPicPr>
            <a:picLocks noChangeAspect="1"/>
          </p:cNvPicPr>
          <p:nvPr/>
        </p:nvPicPr>
        <p:blipFill rotWithShape="1">
          <a:blip r:embed="rId1" cstate="print">
            <a:extLst>
              <a:ext uri="{28A0092B-C50C-407E-A947-70E740481C1C}">
                <a14:useLocalDpi xmlns:a14="http://schemas.microsoft.com/office/drawing/2010/main" val="0"/>
              </a:ext>
            </a:extLst>
          </a:blip>
          <a:srcRect b="6535"/>
          <a:stretch>
            <a:fillRect/>
          </a:stretch>
        </p:blipFill>
        <p:spPr>
          <a:xfrm>
            <a:off x="3439968" y="63374"/>
            <a:ext cx="4400684" cy="6409853"/>
          </a:xfrm>
          <a:prstGeom prst="rect">
            <a:avLst/>
          </a:prstGeom>
        </p:spPr>
      </p:pic>
      <p:sp>
        <p:nvSpPr>
          <p:cNvPr id="5" name="文本框 4"/>
          <p:cNvSpPr txBox="1"/>
          <p:nvPr/>
        </p:nvSpPr>
        <p:spPr>
          <a:xfrm>
            <a:off x="3865829" y="6310267"/>
            <a:ext cx="4200808" cy="400110"/>
          </a:xfrm>
          <a:prstGeom prst="rect">
            <a:avLst/>
          </a:prstGeom>
          <a:noFill/>
        </p:spPr>
        <p:txBody>
          <a:bodyPr wrap="square" rtlCol="0">
            <a:spAutoFit/>
          </a:bodyPr>
          <a:lstStyle/>
          <a:p>
            <a:r>
              <a:rPr lang="zh-CN" altLang="en-US" dirty="0" smtClean="0">
                <a:solidFill>
                  <a:srgbClr val="C00000"/>
                </a:solidFill>
              </a:rPr>
              <a:t>图</a:t>
            </a:r>
            <a:r>
              <a:rPr lang="en-US" altLang="zh-CN" dirty="0" smtClean="0">
                <a:solidFill>
                  <a:srgbClr val="C00000"/>
                </a:solidFill>
              </a:rPr>
              <a:t>15-21 </a:t>
            </a:r>
            <a:r>
              <a:rPr lang="zh-CN" altLang="en-US" dirty="0" smtClean="0">
                <a:solidFill>
                  <a:srgbClr val="C00000"/>
                </a:solidFill>
              </a:rPr>
              <a:t>圆锥</a:t>
            </a:r>
            <a:r>
              <a:rPr lang="en-US" altLang="zh-CN" dirty="0" smtClean="0">
                <a:solidFill>
                  <a:srgbClr val="C00000"/>
                </a:solidFill>
              </a:rPr>
              <a:t>-</a:t>
            </a:r>
            <a:r>
              <a:rPr lang="zh-CN" altLang="en-US" dirty="0" smtClean="0">
                <a:solidFill>
                  <a:srgbClr val="C00000"/>
                </a:solidFill>
              </a:rPr>
              <a:t>圆柱齿轮减速器简图</a:t>
            </a:r>
            <a:endParaRPr lang="zh-CN" altLang="en-US" dirty="0">
              <a:solidFill>
                <a:srgbClr val="C00000"/>
              </a:solidFill>
            </a:endParaRPr>
          </a:p>
        </p:txBody>
      </p:sp>
      <p:cxnSp>
        <p:nvCxnSpPr>
          <p:cNvPr id="7" name="直接箭头连接符 6"/>
          <p:cNvCxnSpPr/>
          <p:nvPr/>
        </p:nvCxnSpPr>
        <p:spPr bwMode="auto">
          <a:xfrm>
            <a:off x="3585172" y="4173647"/>
            <a:ext cx="0" cy="588476"/>
          </a:xfrm>
          <a:prstGeom prst="straightConnector1">
            <a:avLst/>
          </a:prstGeom>
          <a:solidFill>
            <a:schemeClr val="accent1"/>
          </a:solidFill>
          <a:ln w="28575" cap="flat" cmpd="sng" algn="ctr">
            <a:solidFill>
              <a:srgbClr val="FF0000"/>
            </a:solidFill>
            <a:prstDash val="solid"/>
            <a:round/>
            <a:headEnd type="none" w="med" len="med"/>
            <a:tailEnd type="triangle"/>
          </a:ln>
          <a:effectLst/>
        </p:spPr>
      </p:cxnSp>
      <p:sp>
        <p:nvSpPr>
          <p:cNvPr id="8" name="文本框 7"/>
          <p:cNvSpPr txBox="1"/>
          <p:nvPr/>
        </p:nvSpPr>
        <p:spPr>
          <a:xfrm>
            <a:off x="1285592" y="3567066"/>
            <a:ext cx="2145671" cy="400110"/>
          </a:xfrm>
          <a:prstGeom prst="rect">
            <a:avLst/>
          </a:prstGeom>
          <a:gradFill flip="none" rotWithShape="1">
            <a:gsLst>
              <a:gs pos="0">
                <a:srgbClr val="00B050">
                  <a:tint val="66000"/>
                  <a:satMod val="160000"/>
                </a:srgbClr>
              </a:gs>
              <a:gs pos="50000">
                <a:srgbClr val="00B050">
                  <a:tint val="44500"/>
                  <a:satMod val="160000"/>
                </a:srgbClr>
              </a:gs>
              <a:gs pos="100000">
                <a:srgbClr val="00B050">
                  <a:tint val="23500"/>
                  <a:satMod val="160000"/>
                </a:srgbClr>
              </a:gs>
            </a:gsLst>
            <a:lin ang="5400000" scaled="1"/>
            <a:tileRect/>
          </a:gradFill>
        </p:spPr>
        <p:txBody>
          <a:bodyPr wrap="square" rtlCol="0">
            <a:spAutoFit/>
          </a:bodyPr>
          <a:lstStyle/>
          <a:p>
            <a:r>
              <a:rPr lang="zh-CN" altLang="en-US" dirty="0" smtClean="0"/>
              <a:t>弹性柱销联轴器</a:t>
            </a:r>
            <a:endParaRPr lang="zh-CN" altLang="en-US" dirty="0"/>
          </a:p>
        </p:txBody>
      </p:sp>
      <p:sp>
        <p:nvSpPr>
          <p:cNvPr id="9" name="文本框 8"/>
          <p:cNvSpPr txBox="1"/>
          <p:nvPr/>
        </p:nvSpPr>
        <p:spPr>
          <a:xfrm>
            <a:off x="1186004" y="4436199"/>
            <a:ext cx="2091350" cy="400110"/>
          </a:xfrm>
          <a:prstGeom prst="rect">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5400000" scaled="1"/>
            <a:tileRect/>
          </a:gradFill>
        </p:spPr>
        <p:txBody>
          <a:bodyPr wrap="square" rtlCol="0">
            <a:spAutoFit/>
          </a:bodyPr>
          <a:lstStyle/>
          <a:p>
            <a:r>
              <a:rPr lang="zh-CN" altLang="en-US" dirty="0" smtClean="0"/>
              <a:t>输出轴单向旋转</a:t>
            </a:r>
            <a:endParaRPr lang="zh-CN" altLang="en-US" dirty="0"/>
          </a:p>
        </p:txBody>
      </p:sp>
      <p:sp>
        <p:nvSpPr>
          <p:cNvPr id="10" name="文本框 9"/>
          <p:cNvSpPr txBox="1"/>
          <p:nvPr/>
        </p:nvSpPr>
        <p:spPr>
          <a:xfrm>
            <a:off x="7487216" y="289711"/>
            <a:ext cx="1149790" cy="1446550"/>
          </a:xfrm>
          <a:prstGeom prst="rect">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5400000" scaled="1"/>
            <a:tileRect/>
          </a:gradFill>
        </p:spPr>
        <p:txBody>
          <a:bodyPr wrap="square" rtlCol="0">
            <a:spAutoFit/>
          </a:bodyPr>
          <a:lstStyle/>
          <a:p>
            <a:r>
              <a:rPr lang="en-US" altLang="zh-CN" sz="2200" dirty="0" smtClean="0"/>
              <a:t>z</a:t>
            </a:r>
            <a:r>
              <a:rPr lang="en-US" altLang="zh-CN" sz="2200" baseline="-25000" dirty="0" smtClean="0"/>
              <a:t>1</a:t>
            </a:r>
            <a:r>
              <a:rPr lang="en-US" altLang="zh-CN" sz="2200" dirty="0" smtClean="0"/>
              <a:t>=20</a:t>
            </a:r>
            <a:endParaRPr lang="en-US" altLang="zh-CN" sz="2200" dirty="0" smtClean="0"/>
          </a:p>
          <a:p>
            <a:r>
              <a:rPr lang="en-US" altLang="zh-CN" sz="2200" dirty="0" smtClean="0"/>
              <a:t>z</a:t>
            </a:r>
            <a:r>
              <a:rPr lang="en-US" altLang="zh-CN" sz="2200" baseline="-25000" dirty="0" smtClean="0"/>
              <a:t>2</a:t>
            </a:r>
            <a:r>
              <a:rPr lang="en-US" altLang="zh-CN" sz="2200" dirty="0" smtClean="0"/>
              <a:t>=75</a:t>
            </a:r>
            <a:endParaRPr lang="en-US" altLang="zh-CN" sz="2200" dirty="0" smtClean="0"/>
          </a:p>
          <a:p>
            <a:r>
              <a:rPr lang="en-US" altLang="zh-CN" sz="2200" dirty="0" err="1" smtClean="0"/>
              <a:t>m</a:t>
            </a:r>
            <a:r>
              <a:rPr lang="en-US" altLang="zh-CN" sz="2200" baseline="-25000" dirty="0" err="1" smtClean="0"/>
              <a:t>t</a:t>
            </a:r>
            <a:r>
              <a:rPr lang="en-US" altLang="zh-CN" sz="2200" dirty="0" smtClean="0"/>
              <a:t>=3.5</a:t>
            </a:r>
            <a:endParaRPr lang="en-US" altLang="zh-CN" sz="2200" dirty="0" smtClean="0"/>
          </a:p>
          <a:p>
            <a:r>
              <a:rPr lang="en-US" altLang="zh-CN" sz="2200" dirty="0" smtClean="0"/>
              <a:t>L=50</a:t>
            </a:r>
            <a:endParaRPr lang="zh-CN" altLang="en-US" sz="2200" dirty="0"/>
          </a:p>
        </p:txBody>
      </p:sp>
      <mc:AlternateContent xmlns:mc="http://schemas.openxmlformats.org/markup-compatibility/2006">
        <mc:Choice xmlns:a14="http://schemas.microsoft.com/office/drawing/2010/main" Requires="a14">
          <p:sp>
            <p:nvSpPr>
              <p:cNvPr id="11" name="文本框 10"/>
              <p:cNvSpPr txBox="1"/>
              <p:nvPr/>
            </p:nvSpPr>
            <p:spPr>
              <a:xfrm>
                <a:off x="2018923" y="977775"/>
                <a:ext cx="1928389" cy="2461260"/>
              </a:xfrm>
              <a:prstGeom prst="rect">
                <a:avLst/>
              </a:prstGeom>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p:spPr>
            <p:txBody>
              <a:bodyPr wrap="square" rtlCol="0">
                <a:spAutoFit/>
              </a:bodyPr>
              <a:lstStyle/>
              <a:p>
                <a:r>
                  <a:rPr lang="en-US" altLang="zh-CN" sz="2200" dirty="0" smtClean="0"/>
                  <a:t>z</a:t>
                </a:r>
                <a:r>
                  <a:rPr lang="en-US" altLang="zh-CN" sz="2200" baseline="-25000" dirty="0" smtClean="0"/>
                  <a:t>3</a:t>
                </a:r>
                <a:r>
                  <a:rPr lang="en-US" altLang="zh-CN" sz="2200" dirty="0" smtClean="0"/>
                  <a:t>=23</a:t>
                </a:r>
                <a:endParaRPr lang="en-US" altLang="zh-CN" sz="2200" dirty="0" smtClean="0"/>
              </a:p>
              <a:p>
                <a:r>
                  <a:rPr lang="en-US" altLang="zh-CN" sz="2200" dirty="0" smtClean="0"/>
                  <a:t>z</a:t>
                </a:r>
                <a:r>
                  <a:rPr lang="en-US" altLang="zh-CN" sz="2200" baseline="-25000" dirty="0" smtClean="0"/>
                  <a:t>4</a:t>
                </a:r>
                <a:r>
                  <a:rPr lang="en-US" altLang="zh-CN" sz="2200" dirty="0" smtClean="0"/>
                  <a:t>=95</a:t>
                </a:r>
                <a:endParaRPr lang="en-US" altLang="zh-CN" sz="2200" dirty="0" smtClean="0"/>
              </a:p>
              <a:p>
                <a:r>
                  <a:rPr lang="en-US" altLang="zh-CN" sz="2200" dirty="0" err="1" smtClean="0"/>
                  <a:t>m</a:t>
                </a:r>
                <a:r>
                  <a:rPr lang="en-US" altLang="zh-CN" sz="2200" baseline="-25000" dirty="0" err="1" smtClean="0"/>
                  <a:t>n</a:t>
                </a:r>
                <a:r>
                  <a:rPr lang="en-US" altLang="zh-CN" sz="2200" dirty="0" smtClean="0"/>
                  <a:t>=4</a:t>
                </a:r>
                <a:endParaRPr lang="en-US" altLang="zh-CN" sz="2200" dirty="0"/>
              </a:p>
              <a:p>
                <a:r>
                  <a:rPr lang="en-US" altLang="zh-CN" sz="2200" dirty="0" err="1" smtClean="0"/>
                  <a:t>m</a:t>
                </a:r>
                <a:r>
                  <a:rPr lang="en-US" altLang="zh-CN" sz="2200" baseline="-25000" dirty="0" err="1" smtClean="0"/>
                  <a:t>t</a:t>
                </a:r>
                <a:r>
                  <a:rPr lang="en-US" altLang="zh-CN" sz="2200" dirty="0" smtClean="0"/>
                  <a:t>=4.0404</a:t>
                </a:r>
                <a:endParaRPr lang="en-US" altLang="zh-CN" sz="2200" dirty="0" smtClean="0"/>
              </a:p>
              <a:p>
                <a14:m>
                  <m:oMathPara xmlns:m="http://schemas.openxmlformats.org/officeDocument/2006/math">
                    <m:oMathParaPr>
                      <m:jc m:val="centerGroup"/>
                    </m:oMathParaPr>
                    <m:oMath xmlns:m="http://schemas.openxmlformats.org/officeDocument/2006/math">
                      <m:r>
                        <a:rPr lang="zh-CN" altLang="en-US" sz="2200" i="1" smtClean="0">
                          <a:latin typeface="Cambria Math" panose="02040503050406030204" pitchFamily="18" charset="0"/>
                        </a:rPr>
                        <m:t>𝛽</m:t>
                      </m:r>
                      <m:r>
                        <a:rPr lang="en-US" altLang="zh-CN" sz="2200" b="0" i="1" smtClean="0">
                          <a:latin typeface="Cambria Math" panose="02040503050406030204" pitchFamily="18" charset="0"/>
                        </a:rPr>
                        <m:t>=</m:t>
                      </m:r>
                      <m:r>
                        <a:rPr lang="en-US" altLang="zh-CN" sz="2200" b="0" i="1" smtClean="0">
                          <a:latin typeface="Cambria Math" panose="02040503050406030204" pitchFamily="18" charset="0"/>
                        </a:rPr>
                        <m:t>8</m:t>
                      </m:r>
                      <m:r>
                        <a:rPr lang="en-US" altLang="zh-CN" sz="2200" b="0" i="1" smtClean="0">
                          <a:latin typeface="Cambria Math" panose="02040503050406030204" pitchFamily="18" charset="0"/>
                          <a:ea typeface="Cambria Math" panose="02040503050406030204" pitchFamily="18" charset="0"/>
                        </a:rPr>
                        <m:t>°</m:t>
                      </m:r>
                      <m:sSup>
                        <m:sSupPr>
                          <m:ctrlPr>
                            <a:rPr lang="en-US" altLang="zh-CN" sz="2200" b="0" i="1" smtClean="0">
                              <a:latin typeface="Cambria Math" panose="02040503050406030204" pitchFamily="18" charset="0"/>
                              <a:ea typeface="Cambria Math" panose="02040503050406030204" pitchFamily="18" charset="0"/>
                            </a:rPr>
                          </m:ctrlPr>
                        </m:sSupPr>
                        <m:e>
                          <m:r>
                            <a:rPr lang="en-US" altLang="zh-CN" sz="2200" b="0" i="1" smtClean="0">
                              <a:latin typeface="Cambria Math" panose="02040503050406030204" pitchFamily="18" charset="0"/>
                              <a:ea typeface="Cambria Math" panose="02040503050406030204" pitchFamily="18" charset="0"/>
                            </a:rPr>
                            <m:t>06</m:t>
                          </m:r>
                        </m:e>
                        <m:sup>
                          <m:r>
                            <a:rPr lang="en-US" altLang="zh-CN" sz="2200" b="0" i="1" smtClean="0">
                              <a:latin typeface="Cambria Math" panose="02040503050406030204" pitchFamily="18" charset="0"/>
                              <a:ea typeface="Cambria Math" panose="02040503050406030204" pitchFamily="18" charset="0"/>
                            </a:rPr>
                            <m:t>′</m:t>
                          </m:r>
                        </m:sup>
                      </m:sSup>
                      <m:r>
                        <a:rPr lang="en-US" altLang="zh-CN" sz="2200" b="0" i="1" smtClean="0">
                          <a:latin typeface="Cambria Math" panose="02040503050406030204" pitchFamily="18" charset="0"/>
                          <a:ea typeface="Cambria Math" panose="02040503050406030204" pitchFamily="18" charset="0"/>
                        </a:rPr>
                        <m:t>34</m:t>
                      </m:r>
                      <m:r>
                        <a:rPr lang="en-US" altLang="zh-CN" sz="2200" b="0" i="1" smtClean="0">
                          <a:latin typeface="Cambria Math" panose="02040503050406030204" pitchFamily="18" charset="0"/>
                          <a:ea typeface="Cambria Math" panose="02040503050406030204" pitchFamily="18" charset="0"/>
                        </a:rPr>
                        <m:t>"</m:t>
                      </m:r>
                    </m:oMath>
                  </m:oMathPara>
                </a14:m>
                <a:endParaRPr lang="en-US" altLang="zh-CN" sz="2200" dirty="0" smtClean="0"/>
              </a:p>
              <a:p>
                <a:r>
                  <a:rPr lang="en-US" altLang="zh-CN" sz="2200" dirty="0" smtClean="0"/>
                  <a:t>B</a:t>
                </a:r>
                <a:r>
                  <a:rPr lang="en-US" altLang="zh-CN" sz="2200" baseline="-25000" dirty="0" smtClean="0"/>
                  <a:t>3</a:t>
                </a:r>
                <a:r>
                  <a:rPr lang="en-US" altLang="zh-CN" sz="2200" dirty="0" smtClean="0"/>
                  <a:t>=85</a:t>
                </a:r>
                <a:endParaRPr lang="en-US" altLang="zh-CN" sz="2200" dirty="0" smtClean="0"/>
              </a:p>
              <a:p>
                <a:r>
                  <a:rPr lang="en-US" altLang="zh-CN" sz="2200" dirty="0" smtClean="0"/>
                  <a:t>B</a:t>
                </a:r>
                <a:r>
                  <a:rPr lang="en-US" altLang="zh-CN" sz="2200" baseline="-25000" dirty="0" smtClean="0"/>
                  <a:t>4</a:t>
                </a:r>
                <a:r>
                  <a:rPr lang="en-US" altLang="zh-CN" sz="2200" dirty="0" smtClean="0"/>
                  <a:t>=80</a:t>
                </a:r>
                <a:endParaRPr lang="zh-CN" altLang="en-US" sz="2200" dirty="0"/>
              </a:p>
            </p:txBody>
          </p:sp>
        </mc:Choice>
        <mc:Fallback>
          <p:sp>
            <p:nvSpPr>
              <p:cNvPr id="11" name="文本框 10"/>
              <p:cNvSpPr txBox="1">
                <a:spLocks noRot="1" noChangeAspect="1" noMove="1" noResize="1" noEditPoints="1" noAdjustHandles="1" noChangeArrowheads="1" noChangeShapeType="1" noTextEdit="1"/>
              </p:cNvSpPr>
              <p:nvPr/>
            </p:nvSpPr>
            <p:spPr>
              <a:xfrm>
                <a:off x="2018923" y="977775"/>
                <a:ext cx="1928389" cy="2461260"/>
              </a:xfrm>
              <a:prstGeom prst="rect">
                <a:avLst/>
              </a:prstGeom>
              <a:blipFill rotWithShape="1">
                <a:blip r:embed="rId2"/>
                <a:stretch>
                  <a:fillRect l="-13" t="-21" r="8" b="21"/>
                </a:stretch>
              </a:blipFill>
            </p:spPr>
            <p:txBody>
              <a:bodyPr/>
              <a:lstStyle/>
              <a:p>
                <a:r>
                  <a:rPr lang="zh-CN" altLang="en-US">
                    <a:noFill/>
                  </a:rPr>
                  <a:t> </a:t>
                </a:r>
              </a:p>
            </p:txBody>
          </p:sp>
        </mc:Fallback>
      </mc:AlternateContent>
      <p:sp>
        <p:nvSpPr>
          <p:cNvPr id="12" name="文本框 11"/>
          <p:cNvSpPr txBox="1"/>
          <p:nvPr/>
        </p:nvSpPr>
        <p:spPr>
          <a:xfrm>
            <a:off x="515383" y="5304251"/>
            <a:ext cx="3223034" cy="43088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5400000" scaled="1"/>
            <a:tileRect/>
          </a:gradFill>
        </p:spPr>
        <p:txBody>
          <a:bodyPr wrap="square" rtlCol="0">
            <a:spAutoFit/>
          </a:bodyPr>
          <a:lstStyle/>
          <a:p>
            <a:r>
              <a:rPr lang="en-US" altLang="zh-CN" sz="2200" i="1" dirty="0" smtClean="0"/>
              <a:t>P</a:t>
            </a:r>
            <a:r>
              <a:rPr lang="en-US" altLang="zh-CN" sz="2200" dirty="0" smtClean="0"/>
              <a:t>=10kW,  </a:t>
            </a:r>
            <a:r>
              <a:rPr lang="en-US" altLang="zh-CN" sz="2200" i="1" dirty="0" smtClean="0"/>
              <a:t>n</a:t>
            </a:r>
            <a:r>
              <a:rPr lang="en-US" altLang="zh-CN" sz="2200" baseline="-25000" dirty="0" smtClean="0"/>
              <a:t>1</a:t>
            </a:r>
            <a:r>
              <a:rPr lang="en-US" altLang="zh-CN" sz="2200" dirty="0" smtClean="0"/>
              <a:t>=1450r/</a:t>
            </a:r>
            <a:r>
              <a:rPr lang="en-US" altLang="zh-CN" sz="2200" dirty="0" err="1" smtClean="0"/>
              <a:t>mim</a:t>
            </a:r>
            <a:endParaRPr lang="zh-CN" altLang="en-US" sz="2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up)">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up)">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up)">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wipe(left)">
                                      <p:cBhvr>
                                        <p:cTn id="3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9" grpId="0" bldLvl="0" animBg="1"/>
      <p:bldP spid="10" grpId="0" bldLvl="0" animBg="1"/>
      <p:bldP spid="11" grpId="0" bldLvl="0" animBg="1"/>
      <p:bldP spid="12" grpId="0" bldLvl="0" animBg="1"/>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rotWithShape="1">
          <a:blip r:embed="rId1" cstate="print">
            <a:extLst>
              <a:ext uri="{28A0092B-C50C-407E-A947-70E740481C1C}">
                <a14:useLocalDpi xmlns:a14="http://schemas.microsoft.com/office/drawing/2010/main" val="0"/>
              </a:ext>
            </a:extLst>
          </a:blip>
          <a:srcRect b="6535"/>
          <a:stretch>
            <a:fillRect/>
          </a:stretch>
        </p:blipFill>
        <p:spPr>
          <a:xfrm>
            <a:off x="171665" y="90535"/>
            <a:ext cx="4400684" cy="6409853"/>
          </a:xfrm>
          <a:prstGeom prst="rect">
            <a:avLst/>
          </a:prstGeom>
        </p:spPr>
      </p:pic>
      <p:sp>
        <p:nvSpPr>
          <p:cNvPr id="5" name="文本框 4"/>
          <p:cNvSpPr txBox="1"/>
          <p:nvPr/>
        </p:nvSpPr>
        <p:spPr>
          <a:xfrm>
            <a:off x="742383" y="6391747"/>
            <a:ext cx="4200808" cy="400110"/>
          </a:xfrm>
          <a:prstGeom prst="rect">
            <a:avLst/>
          </a:prstGeom>
          <a:noFill/>
        </p:spPr>
        <p:txBody>
          <a:bodyPr wrap="square" rtlCol="0">
            <a:spAutoFit/>
          </a:bodyPr>
          <a:lstStyle/>
          <a:p>
            <a:r>
              <a:rPr lang="zh-CN" altLang="en-US" dirty="0" smtClean="0">
                <a:solidFill>
                  <a:srgbClr val="C00000"/>
                </a:solidFill>
              </a:rPr>
              <a:t>图</a:t>
            </a:r>
            <a:r>
              <a:rPr lang="en-US" altLang="zh-CN" dirty="0" smtClean="0">
                <a:solidFill>
                  <a:srgbClr val="C00000"/>
                </a:solidFill>
              </a:rPr>
              <a:t>15-21 </a:t>
            </a:r>
            <a:r>
              <a:rPr lang="zh-CN" altLang="en-US" dirty="0" smtClean="0">
                <a:solidFill>
                  <a:srgbClr val="C00000"/>
                </a:solidFill>
              </a:rPr>
              <a:t>圆锥</a:t>
            </a:r>
            <a:r>
              <a:rPr lang="en-US" altLang="zh-CN" dirty="0" smtClean="0">
                <a:solidFill>
                  <a:srgbClr val="C00000"/>
                </a:solidFill>
              </a:rPr>
              <a:t>-</a:t>
            </a:r>
            <a:r>
              <a:rPr lang="zh-CN" altLang="en-US" dirty="0" smtClean="0">
                <a:solidFill>
                  <a:srgbClr val="C00000"/>
                </a:solidFill>
              </a:rPr>
              <a:t>圆柱齿轮减速器简图</a:t>
            </a:r>
            <a:endParaRPr lang="zh-CN" altLang="en-US" dirty="0">
              <a:solidFill>
                <a:srgbClr val="C00000"/>
              </a:solidFill>
            </a:endParaRPr>
          </a:p>
        </p:txBody>
      </p:sp>
      <p:sp>
        <p:nvSpPr>
          <p:cNvPr id="2" name="文本框 1"/>
          <p:cNvSpPr txBox="1"/>
          <p:nvPr/>
        </p:nvSpPr>
        <p:spPr>
          <a:xfrm>
            <a:off x="4037846" y="597529"/>
            <a:ext cx="4608213" cy="707886"/>
          </a:xfrm>
          <a:prstGeom prst="rect">
            <a:avLst/>
          </a:prstGeom>
          <a:noFill/>
        </p:spPr>
        <p:txBody>
          <a:bodyPr wrap="square" rtlCol="0">
            <a:spAutoFit/>
          </a:bodyPr>
          <a:lstStyle/>
          <a:p>
            <a:r>
              <a:rPr lang="en-US" altLang="zh-CN" dirty="0" smtClean="0">
                <a:solidFill>
                  <a:schemeClr val="accent4">
                    <a:lumMod val="60000"/>
                    <a:lumOff val="40000"/>
                  </a:schemeClr>
                </a:solidFill>
              </a:rPr>
              <a:t>1</a:t>
            </a:r>
            <a:r>
              <a:rPr lang="zh-CN" altLang="en-US" dirty="0" smtClean="0">
                <a:solidFill>
                  <a:schemeClr val="accent4">
                    <a:lumMod val="60000"/>
                    <a:lumOff val="40000"/>
                  </a:schemeClr>
                </a:solidFill>
              </a:rPr>
              <a:t>、求输出轴上的功率</a:t>
            </a:r>
            <a:r>
              <a:rPr lang="en-US" altLang="zh-CN" dirty="0" smtClean="0">
                <a:solidFill>
                  <a:schemeClr val="accent4">
                    <a:lumMod val="60000"/>
                    <a:lumOff val="40000"/>
                  </a:schemeClr>
                </a:solidFill>
              </a:rPr>
              <a:t>P</a:t>
            </a:r>
            <a:r>
              <a:rPr lang="en-US" altLang="zh-CN" baseline="-25000" dirty="0" smtClean="0">
                <a:solidFill>
                  <a:schemeClr val="accent4">
                    <a:lumMod val="60000"/>
                    <a:lumOff val="40000"/>
                  </a:schemeClr>
                </a:solidFill>
              </a:rPr>
              <a:t>3</a:t>
            </a:r>
            <a:r>
              <a:rPr lang="zh-CN" altLang="en-US" dirty="0" smtClean="0">
                <a:solidFill>
                  <a:schemeClr val="accent4">
                    <a:lumMod val="60000"/>
                    <a:lumOff val="40000"/>
                  </a:schemeClr>
                </a:solidFill>
              </a:rPr>
              <a:t>、转速</a:t>
            </a:r>
            <a:r>
              <a:rPr lang="en-US" altLang="zh-CN" dirty="0" smtClean="0">
                <a:solidFill>
                  <a:schemeClr val="accent4">
                    <a:lumMod val="60000"/>
                    <a:lumOff val="40000"/>
                  </a:schemeClr>
                </a:solidFill>
              </a:rPr>
              <a:t>n</a:t>
            </a:r>
            <a:r>
              <a:rPr lang="en-US" altLang="zh-CN" baseline="-25000" dirty="0" smtClean="0">
                <a:solidFill>
                  <a:schemeClr val="accent4">
                    <a:lumMod val="60000"/>
                    <a:lumOff val="40000"/>
                  </a:schemeClr>
                </a:solidFill>
              </a:rPr>
              <a:t>3</a:t>
            </a:r>
            <a:r>
              <a:rPr lang="zh-CN" altLang="en-US" dirty="0" smtClean="0">
                <a:solidFill>
                  <a:schemeClr val="accent4">
                    <a:lumMod val="60000"/>
                    <a:lumOff val="40000"/>
                  </a:schemeClr>
                </a:solidFill>
              </a:rPr>
              <a:t>、和转矩</a:t>
            </a:r>
            <a:r>
              <a:rPr lang="en-US" altLang="zh-CN" dirty="0" smtClean="0">
                <a:solidFill>
                  <a:schemeClr val="accent4">
                    <a:lumMod val="60000"/>
                    <a:lumOff val="40000"/>
                  </a:schemeClr>
                </a:solidFill>
              </a:rPr>
              <a:t>T</a:t>
            </a:r>
            <a:r>
              <a:rPr lang="en-US" altLang="zh-CN" baseline="-25000" dirty="0" smtClean="0">
                <a:solidFill>
                  <a:schemeClr val="accent4">
                    <a:lumMod val="60000"/>
                    <a:lumOff val="40000"/>
                  </a:schemeClr>
                </a:solidFill>
              </a:rPr>
              <a:t>3</a:t>
            </a:r>
            <a:endParaRPr lang="zh-CN" altLang="en-US" baseline="-25000" dirty="0">
              <a:solidFill>
                <a:schemeClr val="accent4">
                  <a:lumMod val="60000"/>
                  <a:lumOff val="40000"/>
                </a:schemeClr>
              </a:solidFill>
            </a:endParaRPr>
          </a:p>
        </p:txBody>
      </p:sp>
      <p:sp>
        <p:nvSpPr>
          <p:cNvPr id="6" name="文本框 5"/>
          <p:cNvSpPr txBox="1"/>
          <p:nvPr/>
        </p:nvSpPr>
        <p:spPr>
          <a:xfrm>
            <a:off x="4589943" y="4845598"/>
            <a:ext cx="3621386" cy="400110"/>
          </a:xfrm>
          <a:prstGeom prst="rect">
            <a:avLst/>
          </a:prstGeom>
          <a:noFill/>
        </p:spPr>
        <p:txBody>
          <a:bodyPr wrap="square" rtlCol="0">
            <a:spAutoFit/>
          </a:bodyPr>
          <a:lstStyle/>
          <a:p>
            <a:r>
              <a:rPr lang="en-US" altLang="zh-CN" dirty="0" smtClean="0">
                <a:solidFill>
                  <a:schemeClr val="accent4">
                    <a:lumMod val="60000"/>
                    <a:lumOff val="40000"/>
                  </a:schemeClr>
                </a:solidFill>
              </a:rPr>
              <a:t>2</a:t>
            </a:r>
            <a:r>
              <a:rPr lang="zh-CN" altLang="en-US" dirty="0" smtClean="0">
                <a:solidFill>
                  <a:schemeClr val="accent4">
                    <a:lumMod val="60000"/>
                    <a:lumOff val="40000"/>
                  </a:schemeClr>
                </a:solidFill>
              </a:rPr>
              <a:t>、求作用在齿轮上的力</a:t>
            </a:r>
            <a:endParaRPr lang="zh-CN" altLang="en-US" dirty="0">
              <a:solidFill>
                <a:schemeClr val="accent4">
                  <a:lumMod val="60000"/>
                  <a:lumOff val="40000"/>
                </a:schemeClr>
              </a:solidFill>
            </a:endParaRPr>
          </a:p>
        </p:txBody>
      </p:sp>
      <p:sp>
        <p:nvSpPr>
          <p:cNvPr id="3" name="文本框 2"/>
          <p:cNvSpPr txBox="1"/>
          <p:nvPr/>
        </p:nvSpPr>
        <p:spPr>
          <a:xfrm>
            <a:off x="4572000" y="1321806"/>
            <a:ext cx="2254313" cy="400110"/>
          </a:xfrm>
          <a:prstGeom prst="rect">
            <a:avLst/>
          </a:prstGeom>
          <a:noFill/>
        </p:spPr>
        <p:txBody>
          <a:bodyPr wrap="square" rtlCol="0">
            <a:spAutoFit/>
          </a:bodyPr>
          <a:lstStyle/>
          <a:p>
            <a:r>
              <a:rPr lang="zh-CN" altLang="en-US" dirty="0" smtClean="0"/>
              <a:t>设计手册</a:t>
            </a:r>
            <a:r>
              <a:rPr lang="en-US" altLang="zh-CN" dirty="0" smtClean="0"/>
              <a:t>P4</a:t>
            </a:r>
            <a:r>
              <a:rPr lang="zh-CN" altLang="en-US" dirty="0" smtClean="0"/>
              <a:t>表</a:t>
            </a:r>
            <a:r>
              <a:rPr lang="en-US" altLang="zh-CN" dirty="0" smtClean="0"/>
              <a:t>1-5</a:t>
            </a:r>
            <a:endParaRPr lang="zh-CN" altLang="en-US" dirty="0"/>
          </a:p>
        </p:txBody>
      </p:sp>
      <mc:AlternateContent xmlns:mc="http://schemas.openxmlformats.org/markup-compatibility/2006">
        <mc:Choice xmlns:a14="http://schemas.microsoft.com/office/drawing/2010/main" Requires="a14">
          <p:sp>
            <p:nvSpPr>
              <p:cNvPr id="8" name="文本框 7"/>
              <p:cNvSpPr txBox="1"/>
              <p:nvPr/>
            </p:nvSpPr>
            <p:spPr>
              <a:xfrm>
                <a:off x="4698748" y="1638677"/>
                <a:ext cx="4255129" cy="400110"/>
              </a:xfrm>
              <a:prstGeom prst="rect">
                <a:avLst/>
              </a:prstGeom>
              <a:noFill/>
            </p:spPr>
            <p:txBody>
              <a:bodyPr wrap="square" rtlCol="0">
                <a:spAutoFit/>
              </a:bodyPr>
              <a:lstStyle/>
              <a:p>
                <a:r>
                  <a:rPr lang="zh-CN" altLang="en-US" dirty="0"/>
                  <a:t>一级</a:t>
                </a:r>
                <a:r>
                  <a:rPr lang="zh-CN" altLang="en-US" dirty="0" smtClean="0"/>
                  <a:t>圆柱齿轮传动 </a:t>
                </a:r>
                <a14:m>
                  <m:oMath xmlns:m="http://schemas.openxmlformats.org/officeDocument/2006/math">
                    <m:r>
                      <a:rPr lang="zh-CN" altLang="en-US" i="1" smtClean="0">
                        <a:latin typeface="Cambria Math" panose="02040503050406030204" pitchFamily="18" charset="0"/>
                      </a:rPr>
                      <m:t>𝜂</m:t>
                    </m:r>
                    <m:r>
                      <a:rPr lang="en-US" altLang="zh-CN" i="1" baseline="-25000">
                        <a:latin typeface="Cambria Math" panose="02040503050406030204" pitchFamily="18" charset="0"/>
                      </a:rPr>
                      <m:t>1</m:t>
                    </m:r>
                    <m:r>
                      <a:rPr lang="en-US" altLang="zh-CN" i="1">
                        <a:latin typeface="Cambria Math" panose="02040503050406030204" pitchFamily="18" charset="0"/>
                      </a:rPr>
                      <m:t>=</m:t>
                    </m:r>
                  </m:oMath>
                </a14:m>
                <a:r>
                  <a:rPr lang="en-US" altLang="zh-CN" dirty="0" smtClean="0"/>
                  <a:t>0.98~0.99</a:t>
                </a:r>
                <a:endParaRPr lang="zh-CN" altLang="en-US" dirty="0"/>
              </a:p>
            </p:txBody>
          </p:sp>
        </mc:Choice>
        <mc:Fallback>
          <p:sp>
            <p:nvSpPr>
              <p:cNvPr id="8" name="文本框 7"/>
              <p:cNvSpPr txBox="1">
                <a:spLocks noRot="1" noChangeAspect="1" noMove="1" noResize="1" noEditPoints="1" noAdjustHandles="1" noChangeArrowheads="1" noChangeShapeType="1" noTextEdit="1"/>
              </p:cNvSpPr>
              <p:nvPr/>
            </p:nvSpPr>
            <p:spPr>
              <a:xfrm>
                <a:off x="4698748" y="1638677"/>
                <a:ext cx="4255129" cy="400110"/>
              </a:xfrm>
              <a:prstGeom prst="rect">
                <a:avLst/>
              </a:prstGeom>
              <a:blipFill rotWithShape="1">
                <a:blip r:embed="rId2"/>
                <a:stretch>
                  <a:fillRect l="-9" t="-94" r="9" b="-20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文本框 8"/>
              <p:cNvSpPr txBox="1"/>
              <p:nvPr/>
            </p:nvSpPr>
            <p:spPr>
              <a:xfrm>
                <a:off x="4716855" y="2299579"/>
                <a:ext cx="4255129" cy="400110"/>
              </a:xfrm>
              <a:prstGeom prst="rect">
                <a:avLst/>
              </a:prstGeom>
              <a:noFill/>
            </p:spPr>
            <p:txBody>
              <a:bodyPr wrap="square" rtlCol="0">
                <a:spAutoFit/>
              </a:bodyPr>
              <a:lstStyle/>
              <a:p>
                <a:r>
                  <a:rPr lang="zh-CN" altLang="en-US" dirty="0" smtClean="0"/>
                  <a:t>一对滚子</a:t>
                </a:r>
                <a14:m>
                  <m:oMath xmlns:m="http://schemas.openxmlformats.org/officeDocument/2006/math">
                    <m:r>
                      <a:rPr lang="zh-CN" altLang="en-US" i="1" dirty="0">
                        <a:latin typeface="Cambria Math" panose="02040503050406030204" pitchFamily="18" charset="0"/>
                      </a:rPr>
                      <m:t>轴承</m:t>
                    </m:r>
                    <m:r>
                      <a:rPr lang="en-US" altLang="zh-CN" b="0" i="1" dirty="0" smtClean="0">
                        <a:latin typeface="Cambria Math" panose="02040503050406030204" pitchFamily="18" charset="0"/>
                      </a:rPr>
                      <m:t> </m:t>
                    </m:r>
                    <m:r>
                      <a:rPr lang="zh-CN" altLang="en-US" i="1" smtClean="0">
                        <a:latin typeface="Cambria Math" panose="02040503050406030204" pitchFamily="18" charset="0"/>
                      </a:rPr>
                      <m:t>𝜂</m:t>
                    </m:r>
                    <m:r>
                      <a:rPr lang="en-US" altLang="zh-CN" i="1" baseline="-25000">
                        <a:latin typeface="Cambria Math" panose="02040503050406030204" pitchFamily="18" charset="0"/>
                      </a:rPr>
                      <m:t>3</m:t>
                    </m:r>
                    <m:r>
                      <a:rPr lang="en-US" altLang="zh-CN" i="1">
                        <a:latin typeface="Cambria Math" panose="02040503050406030204" pitchFamily="18" charset="0"/>
                      </a:rPr>
                      <m:t>=</m:t>
                    </m:r>
                  </m:oMath>
                </a14:m>
                <a:r>
                  <a:rPr lang="en-US" altLang="zh-CN" dirty="0" smtClean="0"/>
                  <a:t>0.98</a:t>
                </a:r>
                <a:endParaRPr lang="zh-CN" altLang="en-US" dirty="0"/>
              </a:p>
            </p:txBody>
          </p:sp>
        </mc:Choice>
        <mc:Fallback>
          <p:sp>
            <p:nvSpPr>
              <p:cNvPr id="9" name="文本框 8"/>
              <p:cNvSpPr txBox="1">
                <a:spLocks noRot="1" noChangeAspect="1" noMove="1" noResize="1" noEditPoints="1" noAdjustHandles="1" noChangeArrowheads="1" noChangeShapeType="1" noTextEdit="1"/>
              </p:cNvSpPr>
              <p:nvPr/>
            </p:nvSpPr>
            <p:spPr>
              <a:xfrm>
                <a:off x="4716855" y="2299579"/>
                <a:ext cx="4255129" cy="400110"/>
              </a:xfrm>
              <a:prstGeom prst="rect">
                <a:avLst/>
              </a:prstGeom>
              <a:blipFill rotWithShape="1">
                <a:blip r:embed="rId3"/>
                <a:stretch>
                  <a:fillRect l="-2" t="-61" r="2" b="-1389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文本框 10"/>
              <p:cNvSpPr txBox="1"/>
              <p:nvPr/>
            </p:nvSpPr>
            <p:spPr>
              <a:xfrm>
                <a:off x="4680641" y="1973654"/>
                <a:ext cx="4255129" cy="400110"/>
              </a:xfrm>
              <a:prstGeom prst="rect">
                <a:avLst/>
              </a:prstGeom>
              <a:noFill/>
            </p:spPr>
            <p:txBody>
              <a:bodyPr wrap="square" rtlCol="0">
                <a:spAutoFit/>
              </a:bodyPr>
              <a:lstStyle/>
              <a:p>
                <a:r>
                  <a:rPr lang="zh-CN" altLang="en-US" dirty="0"/>
                  <a:t>一级</a:t>
                </a:r>
                <a:r>
                  <a:rPr lang="zh-CN" altLang="en-US" dirty="0" smtClean="0"/>
                  <a:t>圆锥齿轮传动 </a:t>
                </a:r>
                <a14:m>
                  <m:oMath xmlns:m="http://schemas.openxmlformats.org/officeDocument/2006/math">
                    <m:r>
                      <a:rPr lang="zh-CN" altLang="en-US" i="1" smtClean="0">
                        <a:latin typeface="Cambria Math" panose="02040503050406030204" pitchFamily="18" charset="0"/>
                      </a:rPr>
                      <m:t>𝜂</m:t>
                    </m:r>
                    <m:r>
                      <a:rPr lang="en-US" altLang="zh-CN" i="1" baseline="-25000">
                        <a:latin typeface="Cambria Math" panose="02040503050406030204" pitchFamily="18" charset="0"/>
                      </a:rPr>
                      <m:t>2</m:t>
                    </m:r>
                    <m:r>
                      <a:rPr lang="en-US" altLang="zh-CN" i="1">
                        <a:latin typeface="Cambria Math" panose="02040503050406030204" pitchFamily="18" charset="0"/>
                      </a:rPr>
                      <m:t>=</m:t>
                    </m:r>
                  </m:oMath>
                </a14:m>
                <a:r>
                  <a:rPr lang="en-US" altLang="zh-CN" dirty="0" smtClean="0"/>
                  <a:t>0.97~0.98</a:t>
                </a:r>
                <a:endParaRPr lang="zh-CN" altLang="en-US" dirty="0"/>
              </a:p>
            </p:txBody>
          </p:sp>
        </mc:Choice>
        <mc:Fallback>
          <p:sp>
            <p:nvSpPr>
              <p:cNvPr id="11" name="文本框 10"/>
              <p:cNvSpPr txBox="1">
                <a:spLocks noRot="1" noChangeAspect="1" noMove="1" noResize="1" noEditPoints="1" noAdjustHandles="1" noChangeArrowheads="1" noChangeShapeType="1" noTextEdit="1"/>
              </p:cNvSpPr>
              <p:nvPr/>
            </p:nvSpPr>
            <p:spPr>
              <a:xfrm>
                <a:off x="4680641" y="1973654"/>
                <a:ext cx="4255129" cy="400110"/>
              </a:xfrm>
              <a:prstGeom prst="rect">
                <a:avLst/>
              </a:prstGeom>
              <a:blipFill rotWithShape="1">
                <a:blip r:embed="rId4"/>
                <a:stretch>
                  <a:fillRect l="-1" t="-18" r="1" b="-28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文本框 11"/>
              <p:cNvSpPr txBox="1"/>
              <p:nvPr/>
            </p:nvSpPr>
            <p:spPr>
              <a:xfrm>
                <a:off x="4888871" y="2652663"/>
                <a:ext cx="4255129" cy="400110"/>
              </a:xfrm>
              <a:prstGeom prst="rect">
                <a:avLst/>
              </a:prstGeom>
              <a:noFill/>
            </p:spPr>
            <p:txBody>
              <a:bodyPr wrap="square" rtlCol="0">
                <a:spAutoFit/>
              </a:bodyPr>
              <a:lstStyle/>
              <a:p>
                <a:r>
                  <a:rPr lang="zh-CN" altLang="en-US" dirty="0" smtClean="0"/>
                  <a:t>弹性</a:t>
                </a:r>
                <a14:m>
                  <m:oMath xmlns:m="http://schemas.openxmlformats.org/officeDocument/2006/math">
                    <m:r>
                      <a:rPr lang="zh-CN" altLang="en-US" b="0" i="1" dirty="0">
                        <a:latin typeface="Cambria Math" panose="02040503050406030204" pitchFamily="18" charset="0"/>
                      </a:rPr>
                      <m:t>柱</m:t>
                    </m:r>
                    <m:r>
                      <a:rPr lang="zh-CN" altLang="en-US" i="1" dirty="0" smtClean="0">
                        <a:latin typeface="Cambria Math" panose="02040503050406030204" pitchFamily="18" charset="0"/>
                      </a:rPr>
                      <m:t>销</m:t>
                    </m:r>
                    <m:r>
                      <a:rPr lang="zh-CN" altLang="en-US" i="1" dirty="0">
                        <a:latin typeface="Cambria Math" panose="02040503050406030204" pitchFamily="18" charset="0"/>
                      </a:rPr>
                      <m:t>联轴器</m:t>
                    </m:r>
                    <m:r>
                      <a:rPr lang="en-US" altLang="zh-CN" b="0" i="1" dirty="0" smtClean="0">
                        <a:latin typeface="Cambria Math" panose="02040503050406030204" pitchFamily="18" charset="0"/>
                      </a:rPr>
                      <m:t> </m:t>
                    </m:r>
                    <m:r>
                      <a:rPr lang="zh-CN" altLang="en-US" i="1" smtClean="0">
                        <a:latin typeface="Cambria Math" panose="02040503050406030204" pitchFamily="18" charset="0"/>
                      </a:rPr>
                      <m:t>𝜂</m:t>
                    </m:r>
                    <m:r>
                      <a:rPr lang="en-US" altLang="zh-CN" i="1" baseline="-25000">
                        <a:latin typeface="Cambria Math" panose="02040503050406030204" pitchFamily="18" charset="0"/>
                      </a:rPr>
                      <m:t>4</m:t>
                    </m:r>
                    <m:r>
                      <a:rPr lang="en-US" altLang="zh-CN" i="1">
                        <a:latin typeface="Cambria Math" panose="02040503050406030204" pitchFamily="18" charset="0"/>
                      </a:rPr>
                      <m:t>=</m:t>
                    </m:r>
                  </m:oMath>
                </a14:m>
                <a:r>
                  <a:rPr lang="en-US" altLang="zh-CN" dirty="0" smtClean="0"/>
                  <a:t>0.99~0.995</a:t>
                </a:r>
                <a:endParaRPr lang="zh-CN" altLang="en-US" dirty="0"/>
              </a:p>
            </p:txBody>
          </p:sp>
        </mc:Choice>
        <mc:Fallback>
          <p:sp>
            <p:nvSpPr>
              <p:cNvPr id="12" name="文本框 11"/>
              <p:cNvSpPr txBox="1">
                <a:spLocks noRot="1" noChangeAspect="1" noMove="1" noResize="1" noEditPoints="1" noAdjustHandles="1" noChangeArrowheads="1" noChangeShapeType="1" noTextEdit="1"/>
              </p:cNvSpPr>
              <p:nvPr/>
            </p:nvSpPr>
            <p:spPr>
              <a:xfrm>
                <a:off x="4888871" y="2652663"/>
                <a:ext cx="4255129" cy="400110"/>
              </a:xfrm>
              <a:prstGeom prst="rect">
                <a:avLst/>
              </a:prstGeom>
              <a:blipFill rotWithShape="1">
                <a:blip r:embed="rId5"/>
                <a:stretch>
                  <a:fillRect t="-67" b="-1388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文本框 12"/>
              <p:cNvSpPr txBox="1"/>
              <p:nvPr/>
            </p:nvSpPr>
            <p:spPr>
              <a:xfrm>
                <a:off x="4725909" y="3268302"/>
                <a:ext cx="4019738" cy="433067"/>
              </a:xfrm>
              <a:prstGeom prst="rect">
                <a:avLst/>
              </a:prstGeom>
              <a:noFill/>
            </p:spPr>
            <p:txBody>
              <a:bodyPr wrap="square" rtlCol="0">
                <a:spAutoFit/>
              </a:bodyPr>
              <a:lstStyle/>
              <a:p>
                <a14:m>
                  <m:oMath xmlns:m="http://schemas.openxmlformats.org/officeDocument/2006/math">
                    <m:r>
                      <a:rPr lang="zh-CN" altLang="en-US" i="1" smtClean="0">
                        <a:latin typeface="Cambria Math" panose="02040503050406030204" pitchFamily="18" charset="0"/>
                      </a:rPr>
                      <m:t>𝜂</m:t>
                    </m:r>
                    <m:r>
                      <a:rPr lang="en-US" altLang="zh-CN" i="1">
                        <a:latin typeface="Cambria Math" panose="02040503050406030204" pitchFamily="18" charset="0"/>
                      </a:rPr>
                      <m:t>=</m:t>
                    </m:r>
                    <m:sSub>
                      <m:sSubPr>
                        <m:ctrlPr>
                          <a:rPr lang="en-US" altLang="zh-CN" i="1" smtClean="0">
                            <a:latin typeface="Cambria Math" panose="02040503050406030204" pitchFamily="18" charset="0"/>
                          </a:rPr>
                        </m:ctrlPr>
                      </m:sSubPr>
                      <m:e>
                        <m:r>
                          <a:rPr lang="zh-CN" altLang="en-US" i="1" smtClean="0">
                            <a:latin typeface="Cambria Math" panose="02040503050406030204" pitchFamily="18" charset="0"/>
                          </a:rPr>
                          <m:t>𝜂</m:t>
                        </m:r>
                      </m:e>
                      <m:sub>
                        <m:r>
                          <a:rPr lang="en-US" altLang="zh-CN" i="1">
                            <a:latin typeface="Cambria Math" panose="02040503050406030204" pitchFamily="18" charset="0"/>
                          </a:rPr>
                          <m:t>4</m:t>
                        </m:r>
                      </m:sub>
                    </m:sSub>
                    <m:sSubSup>
                      <m:sSubSupPr>
                        <m:ctrlPr>
                          <a:rPr lang="en-US" altLang="zh-CN" i="1" smtClean="0">
                            <a:latin typeface="Cambria Math" panose="02040503050406030204" pitchFamily="18" charset="0"/>
                          </a:rPr>
                        </m:ctrlPr>
                      </m:sSubSupPr>
                      <m:e>
                        <m:r>
                          <a:rPr lang="zh-CN" altLang="en-US" i="1">
                            <a:latin typeface="Cambria Math" panose="02040503050406030204" pitchFamily="18" charset="0"/>
                          </a:rPr>
                          <m:t>（</m:t>
                        </m:r>
                        <m:r>
                          <a:rPr lang="zh-CN" altLang="en-US" i="1" smtClean="0">
                            <a:latin typeface="Cambria Math" panose="02040503050406030204" pitchFamily="18" charset="0"/>
                          </a:rPr>
                          <m:t>𝜂</m:t>
                        </m:r>
                      </m:e>
                      <m:sub>
                        <m:r>
                          <a:rPr lang="en-US" altLang="zh-CN" i="1">
                            <a:latin typeface="Cambria Math" panose="02040503050406030204" pitchFamily="18" charset="0"/>
                          </a:rPr>
                          <m:t>3</m:t>
                        </m:r>
                      </m:sub>
                      <m:sup/>
                    </m:sSubSup>
                    <m:sSub>
                      <m:sSubPr>
                        <m:ctrlPr>
                          <a:rPr lang="en-US" altLang="zh-CN" i="1" smtClean="0">
                            <a:latin typeface="Cambria Math" panose="02040503050406030204" pitchFamily="18" charset="0"/>
                          </a:rPr>
                        </m:ctrlPr>
                      </m:sSubPr>
                      <m:e>
                        <m:r>
                          <a:rPr lang="zh-CN" altLang="en-US" i="1" smtClean="0">
                            <a:latin typeface="Cambria Math" panose="02040503050406030204" pitchFamily="18" charset="0"/>
                          </a:rPr>
                          <m:t>𝜂</m:t>
                        </m:r>
                      </m:e>
                      <m:sub>
                        <m:r>
                          <a:rPr lang="en-US" altLang="zh-CN" i="1">
                            <a:latin typeface="Cambria Math" panose="02040503050406030204" pitchFamily="18" charset="0"/>
                          </a:rPr>
                          <m:t>2</m:t>
                        </m:r>
                        <m:r>
                          <m:rPr>
                            <m:nor/>
                          </m:rPr>
                          <a:rPr lang="zh-CN" altLang="en-US" dirty="0">
                            <a:latin typeface="Cambria Math" panose="02040503050406030204" pitchFamily="18" charset="0"/>
                          </a:rPr>
                          <m:t> </m:t>
                        </m:r>
                      </m:sub>
                    </m:sSub>
                    <m:sSub>
                      <m:sSubPr>
                        <m:ctrlPr>
                          <a:rPr lang="en-US" altLang="zh-CN" i="1" smtClean="0">
                            <a:latin typeface="Cambria Math" panose="02040503050406030204" pitchFamily="18" charset="0"/>
                          </a:rPr>
                        </m:ctrlPr>
                      </m:sSubPr>
                      <m:e>
                        <m:r>
                          <a:rPr lang="zh-CN" altLang="en-US" i="1">
                            <a:latin typeface="Cambria Math" panose="02040503050406030204" pitchFamily="18" charset="0"/>
                          </a:rPr>
                          <m:t>）</m:t>
                        </m:r>
                        <m:r>
                          <a:rPr lang="zh-CN" altLang="en-US"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zh-CN" altLang="en-US" i="1" smtClean="0">
                                <a:latin typeface="Cambria Math" panose="02040503050406030204" pitchFamily="18" charset="0"/>
                              </a:rPr>
                              <m:t>𝜂</m:t>
                            </m:r>
                          </m:e>
                          <m:sub>
                            <m:r>
                              <a:rPr lang="en-US" altLang="zh-CN" i="1">
                                <a:latin typeface="Cambria Math" panose="02040503050406030204" pitchFamily="18" charset="0"/>
                              </a:rPr>
                              <m:t>3</m:t>
                            </m:r>
                          </m:sub>
                        </m:sSub>
                        <m:r>
                          <a:rPr lang="zh-CN" altLang="en-US" i="1" smtClean="0">
                            <a:latin typeface="Cambria Math" panose="02040503050406030204" pitchFamily="18" charset="0"/>
                          </a:rPr>
                          <m:t>𝜂</m:t>
                        </m:r>
                      </m:e>
                      <m:sub>
                        <m:r>
                          <a:rPr lang="en-US" altLang="zh-CN" i="1">
                            <a:latin typeface="Cambria Math" panose="02040503050406030204" pitchFamily="18" charset="0"/>
                          </a:rPr>
                          <m:t>1</m:t>
                        </m:r>
                      </m:sub>
                    </m:sSub>
                    <m:r>
                      <a:rPr lang="zh-CN" altLang="en-US" i="1">
                        <a:latin typeface="Cambria Math" panose="02040503050406030204" pitchFamily="18" charset="0"/>
                      </a:rPr>
                      <m:t>）</m:t>
                    </m:r>
                    <m:r>
                      <a:rPr lang="en-US" altLang="zh-CN" i="1">
                        <a:latin typeface="Cambria Math" panose="02040503050406030204" pitchFamily="18" charset="0"/>
                      </a:rPr>
                      <m:t>=</m:t>
                    </m:r>
                  </m:oMath>
                </a14:m>
                <a:r>
                  <a:rPr lang="en-US" altLang="zh-CN" dirty="0" smtClean="0"/>
                  <a:t>0.918</a:t>
                </a:r>
                <a:endParaRPr lang="zh-CN" altLang="en-US" dirty="0"/>
              </a:p>
            </p:txBody>
          </p:sp>
        </mc:Choice>
        <mc:Fallback>
          <p:sp>
            <p:nvSpPr>
              <p:cNvPr id="13" name="文本框 12"/>
              <p:cNvSpPr txBox="1">
                <a:spLocks noRot="1" noChangeAspect="1" noMove="1" noResize="1" noEditPoints="1" noAdjustHandles="1" noChangeArrowheads="1" noChangeShapeType="1" noTextEdit="1"/>
              </p:cNvSpPr>
              <p:nvPr/>
            </p:nvSpPr>
            <p:spPr>
              <a:xfrm>
                <a:off x="4725909" y="3268302"/>
                <a:ext cx="4019738" cy="433067"/>
              </a:xfrm>
              <a:prstGeom prst="rect">
                <a:avLst/>
              </a:prstGeom>
              <a:blipFill rotWithShape="1">
                <a:blip r:embed="rId6"/>
                <a:stretch>
                  <a:fillRect l="-6" t="-137" r="11" b="13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文本框 13"/>
              <p:cNvSpPr txBox="1"/>
              <p:nvPr/>
            </p:nvSpPr>
            <p:spPr>
              <a:xfrm>
                <a:off x="4571999" y="3739082"/>
                <a:ext cx="4019738" cy="400110"/>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m:rPr>
                          <m:sty m:val="p"/>
                        </m:rPr>
                        <a:rPr lang="en-US" altLang="zh-CN" i="1" smtClean="0">
                          <a:latin typeface="Cambria Math" panose="02040503050406030204" pitchFamily="18" charset="0"/>
                        </a:rPr>
                        <m:t>P</m:t>
                      </m:r>
                      <m:r>
                        <a:rPr lang="en-US" altLang="zh-CN" b="0" i="1" smtClean="0">
                          <a:latin typeface="Cambria Math" panose="02040503050406030204" pitchFamily="18" charset="0"/>
                        </a:rPr>
                        <m:t>3</m:t>
                      </m:r>
                      <m:r>
                        <a:rPr lang="en-US" altLang="zh-CN" i="1">
                          <a:latin typeface="Cambria Math" panose="02040503050406030204" pitchFamily="18" charset="0"/>
                        </a:rPr>
                        <m:t>=</m:t>
                      </m:r>
                      <m:r>
                        <a:rPr lang="en-US" altLang="zh-CN" b="0" i="1" smtClean="0">
                          <a:latin typeface="Cambria Math" panose="02040503050406030204" pitchFamily="18" charset="0"/>
                        </a:rPr>
                        <m:t>10</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0</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918</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9</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18</m:t>
                      </m:r>
                      <m:r>
                        <a:rPr lang="en-US" altLang="zh-CN" b="0" i="1" smtClean="0">
                          <a:latin typeface="Cambria Math" panose="02040503050406030204" pitchFamily="18" charset="0"/>
                          <a:ea typeface="Cambria Math" panose="02040503050406030204" pitchFamily="18" charset="0"/>
                        </a:rPr>
                        <m:t>𝑘𝑊</m:t>
                      </m:r>
                    </m:oMath>
                  </m:oMathPara>
                </a14:m>
                <a:endParaRPr lang="zh-CN" altLang="en-US" dirty="0"/>
              </a:p>
            </p:txBody>
          </p:sp>
        </mc:Choice>
        <mc:Fallback>
          <p:sp>
            <p:nvSpPr>
              <p:cNvPr id="14" name="文本框 13"/>
              <p:cNvSpPr txBox="1">
                <a:spLocks noRot="1" noChangeAspect="1" noMove="1" noResize="1" noEditPoints="1" noAdjustHandles="1" noChangeArrowheads="1" noChangeShapeType="1" noTextEdit="1"/>
              </p:cNvSpPr>
              <p:nvPr/>
            </p:nvSpPr>
            <p:spPr>
              <a:xfrm>
                <a:off x="4571999" y="3739082"/>
                <a:ext cx="4019738" cy="400110"/>
              </a:xfrm>
              <a:prstGeom prst="rect">
                <a:avLst/>
              </a:prstGeom>
              <a:blipFill rotWithShape="1">
                <a:blip r:embed="rId7"/>
                <a:stretch>
                  <a:fillRect l="-16" t="-50" r="5" b="6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 name="文本框 14"/>
              <p:cNvSpPr txBox="1"/>
              <p:nvPr/>
            </p:nvSpPr>
            <p:spPr>
              <a:xfrm>
                <a:off x="4399983" y="4282290"/>
                <a:ext cx="4019738" cy="403637"/>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𝑇</m:t>
                      </m:r>
                      <m:r>
                        <a:rPr lang="en-US" altLang="zh-CN" b="0" i="1" smtClean="0">
                          <a:latin typeface="Cambria Math" panose="02040503050406030204" pitchFamily="18" charset="0"/>
                        </a:rPr>
                        <m:t>3</m:t>
                      </m:r>
                      <m:r>
                        <a:rPr lang="en-US" altLang="zh-CN" b="0" i="1" smtClean="0">
                          <a:latin typeface="Cambria Math" panose="02040503050406030204" pitchFamily="18" charset="0"/>
                        </a:rPr>
                        <m:t>=</m:t>
                      </m:r>
                      <m:r>
                        <a:rPr lang="en-US" altLang="zh-CN" b="0" i="1" smtClean="0">
                          <a:latin typeface="Cambria Math" panose="02040503050406030204" pitchFamily="18" charset="0"/>
                        </a:rPr>
                        <m:t>9</m:t>
                      </m:r>
                      <m:r>
                        <a:rPr lang="en-US" altLang="zh-CN" b="0" i="1" smtClean="0">
                          <a:latin typeface="Cambria Math" panose="02040503050406030204" pitchFamily="18" charset="0"/>
                        </a:rPr>
                        <m:t>.</m:t>
                      </m:r>
                      <m:r>
                        <a:rPr lang="en-US" altLang="zh-CN" b="0" i="1" smtClean="0">
                          <a:latin typeface="Cambria Math" panose="02040503050406030204" pitchFamily="18" charset="0"/>
                        </a:rPr>
                        <m:t>60</m:t>
                      </m:r>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10</m:t>
                          </m:r>
                        </m:e>
                        <m:sup>
                          <m:r>
                            <a:rPr lang="en-US" altLang="zh-CN" b="0" i="1" smtClean="0">
                              <a:latin typeface="Cambria Math" panose="02040503050406030204" pitchFamily="18" charset="0"/>
                              <a:ea typeface="Cambria Math" panose="02040503050406030204" pitchFamily="18" charset="0"/>
                            </a:rPr>
                            <m:t>5</m:t>
                          </m:r>
                        </m:sup>
                      </m:sSup>
                      <m:r>
                        <a:rPr lang="en-US" altLang="zh-CN" b="0" i="1" smtClean="0">
                          <a:latin typeface="Cambria Math" panose="02040503050406030204" pitchFamily="18" charset="0"/>
                          <a:ea typeface="Cambria Math" panose="02040503050406030204" pitchFamily="18" charset="0"/>
                        </a:rPr>
                        <m:t>𝑁</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𝑚𝑚</m:t>
                      </m:r>
                    </m:oMath>
                  </m:oMathPara>
                </a14:m>
                <a:endParaRPr lang="zh-CN" altLang="en-US" dirty="0"/>
              </a:p>
            </p:txBody>
          </p:sp>
        </mc:Choice>
        <mc:Fallback>
          <p:sp>
            <p:nvSpPr>
              <p:cNvPr id="15" name="文本框 14"/>
              <p:cNvSpPr txBox="1">
                <a:spLocks noRot="1" noChangeAspect="1" noMove="1" noResize="1" noEditPoints="1" noAdjustHandles="1" noChangeArrowheads="1" noChangeShapeType="1" noTextEdit="1"/>
              </p:cNvSpPr>
              <p:nvPr/>
            </p:nvSpPr>
            <p:spPr>
              <a:xfrm>
                <a:off x="4399983" y="4282290"/>
                <a:ext cx="4019738" cy="403637"/>
              </a:xfrm>
              <a:prstGeom prst="rect">
                <a:avLst/>
              </a:prstGeom>
              <a:blipFill rotWithShape="1">
                <a:blip r:embed="rId8"/>
                <a:stretch>
                  <a:fillRect l="-2" t="-120" r="6" b="65"/>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left)">
                                      <p:cBhvr>
                                        <p:cTn id="15" dur="500"/>
                                        <p:tgtEl>
                                          <p:spTgt spid="8"/>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wipe(left)">
                                      <p:cBhvr>
                                        <p:cTn id="18" dur="500"/>
                                        <p:tgtEl>
                                          <p:spTgt spid="11"/>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wipe(left)">
                                      <p:cBhvr>
                                        <p:cTn id="21" dur="500"/>
                                        <p:tgtEl>
                                          <p:spTgt spid="12"/>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wipe(left)">
                                      <p:cBhvr>
                                        <p:cTn id="24" dur="500"/>
                                        <p:tgtEl>
                                          <p:spTgt spid="9"/>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wipe(left)">
                                      <p:cBhvr>
                                        <p:cTn id="29" dur="5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wipe(left)">
                                      <p:cBhvr>
                                        <p:cTn id="34" dur="500"/>
                                        <p:tgtEl>
                                          <p:spTgt spid="14"/>
                                        </p:tgtEl>
                                      </p:cBhvr>
                                    </p:animEffect>
                                  </p:childTnLst>
                                </p:cTn>
                              </p:par>
                              <p:par>
                                <p:cTn id="35" presetID="22" presetClass="entr" presetSubtype="8"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wipe(left)">
                                      <p:cBhvr>
                                        <p:cTn id="37" dur="500"/>
                                        <p:tgtEl>
                                          <p:spTgt spid="15"/>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wipe(left)">
                                      <p:cBhvr>
                                        <p:cTn id="4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P spid="3" grpId="0"/>
      <p:bldP spid="8" grpId="0"/>
      <p:bldP spid="9" grpId="0"/>
      <p:bldP spid="11" grpId="0"/>
      <p:bldP spid="12" grpId="0"/>
      <p:bldP spid="13" grpId="0"/>
      <p:bldP spid="14" grpId="0"/>
      <p:bldP spid="15" grpId="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25099" y="425512"/>
            <a:ext cx="3621386" cy="400110"/>
          </a:xfrm>
          <a:prstGeom prst="rect">
            <a:avLst/>
          </a:prstGeom>
          <a:noFill/>
        </p:spPr>
        <p:txBody>
          <a:bodyPr wrap="square" rtlCol="0">
            <a:spAutoFit/>
          </a:bodyPr>
          <a:lstStyle/>
          <a:p>
            <a:r>
              <a:rPr lang="en-US" altLang="zh-CN" dirty="0" smtClean="0">
                <a:solidFill>
                  <a:schemeClr val="accent4">
                    <a:lumMod val="60000"/>
                    <a:lumOff val="40000"/>
                  </a:schemeClr>
                </a:solidFill>
              </a:rPr>
              <a:t>3</a:t>
            </a:r>
            <a:r>
              <a:rPr lang="zh-CN" altLang="en-US" dirty="0" smtClean="0">
                <a:solidFill>
                  <a:schemeClr val="accent4">
                    <a:lumMod val="60000"/>
                    <a:lumOff val="40000"/>
                  </a:schemeClr>
                </a:solidFill>
              </a:rPr>
              <a:t>、初步确定轴的最小直径</a:t>
            </a:r>
            <a:endParaRPr lang="zh-CN" altLang="en-US" dirty="0">
              <a:solidFill>
                <a:schemeClr val="accent4">
                  <a:lumMod val="60000"/>
                  <a:lumOff val="40000"/>
                </a:schemeClr>
              </a:solidFill>
            </a:endParaRPr>
          </a:p>
        </p:txBody>
      </p:sp>
      <p:sp>
        <p:nvSpPr>
          <p:cNvPr id="4" name="文本框 3"/>
          <p:cNvSpPr txBox="1"/>
          <p:nvPr/>
        </p:nvSpPr>
        <p:spPr>
          <a:xfrm>
            <a:off x="1004935" y="977774"/>
            <a:ext cx="6083928" cy="398780"/>
          </a:xfrm>
          <a:prstGeom prst="rect">
            <a:avLst/>
          </a:prstGeom>
          <a:noFill/>
        </p:spPr>
        <p:txBody>
          <a:bodyPr wrap="square" rtlCol="0">
            <a:spAutoFit/>
          </a:bodyPr>
          <a:lstStyle/>
          <a:p>
            <a:r>
              <a:rPr lang="zh-CN" altLang="en-US" dirty="0" smtClean="0"/>
              <a:t>轴的材料为</a:t>
            </a:r>
            <a:r>
              <a:rPr lang="en-US" altLang="zh-CN" dirty="0" smtClean="0"/>
              <a:t>45</a:t>
            </a:r>
            <a:r>
              <a:rPr lang="zh-CN" altLang="en-US" dirty="0" smtClean="0"/>
              <a:t>钢，调质处理，查表</a:t>
            </a:r>
            <a:r>
              <a:rPr lang="en-US" altLang="zh-CN" dirty="0" smtClean="0"/>
              <a:t>3.7-6 </a:t>
            </a:r>
            <a:r>
              <a:rPr lang="zh-CN" altLang="en-US" dirty="0" smtClean="0"/>
              <a:t>得</a:t>
            </a:r>
            <a:r>
              <a:rPr lang="en-US" altLang="zh-CN" dirty="0" smtClean="0"/>
              <a:t>C =112</a:t>
            </a:r>
            <a:endParaRPr lang="zh-CN" altLang="en-US" dirty="0"/>
          </a:p>
        </p:txBody>
      </p:sp>
      <p:graphicFrame>
        <p:nvGraphicFramePr>
          <p:cNvPr id="5" name="Object 11"/>
          <p:cNvGraphicFramePr>
            <a:graphicFrameLocks noChangeAspect="1"/>
          </p:cNvGraphicFramePr>
          <p:nvPr/>
        </p:nvGraphicFramePr>
        <p:xfrm>
          <a:off x="2600325" y="1461135"/>
          <a:ext cx="2844165" cy="1064260"/>
        </p:xfrm>
        <a:graphic>
          <a:graphicData uri="http://schemas.openxmlformats.org/presentationml/2006/ole">
            <mc:AlternateContent xmlns:mc="http://schemas.openxmlformats.org/markup-compatibility/2006">
              <mc:Choice xmlns:v="urn:schemas-microsoft-com:vml" Requires="v">
                <p:oleObj spid="_x0000_s33826" name="公式" r:id="rId1" imgW="1308100" imgH="482600" progId="Equation.3">
                  <p:embed/>
                </p:oleObj>
              </mc:Choice>
              <mc:Fallback>
                <p:oleObj name="公式" r:id="rId1" imgW="1308100" imgH="482600" progId="Equation.3">
                  <p:embed/>
                  <p:pic>
                    <p:nvPicPr>
                      <p:cNvPr id="0" name="图片 33809"/>
                      <p:cNvPicPr>
                        <a:picLocks noChangeAspect="1" noChangeArrowheads="1"/>
                      </p:cNvPicPr>
                      <p:nvPr/>
                    </p:nvPicPr>
                    <p:blipFill>
                      <a:blip r:embed="rId2"/>
                      <a:srcRect/>
                      <a:stretch>
                        <a:fillRect/>
                      </a:stretch>
                    </p:blipFill>
                    <p:spPr bwMode="auto">
                      <a:xfrm>
                        <a:off x="2600325" y="1461135"/>
                        <a:ext cx="2844165" cy="1064260"/>
                      </a:xfrm>
                      <a:prstGeom prst="rect">
                        <a:avLst/>
                      </a:prstGeom>
                      <a:gradFill flip="none" rotWithShape="1">
                        <a:gsLst>
                          <a:gs pos="0">
                            <a:srgbClr val="00B050">
                              <a:tint val="66000"/>
                              <a:satMod val="160000"/>
                            </a:srgbClr>
                          </a:gs>
                          <a:gs pos="50000">
                            <a:srgbClr val="00B050">
                              <a:tint val="44500"/>
                              <a:satMod val="160000"/>
                            </a:srgbClr>
                          </a:gs>
                          <a:gs pos="100000">
                            <a:srgbClr val="00B050">
                              <a:tint val="23500"/>
                              <a:satMod val="160000"/>
                            </a:srgbClr>
                          </a:gs>
                        </a:gsLst>
                        <a:lin ang="5400000" scaled="1"/>
                        <a:tileRect/>
                      </a:gradFill>
                      <a:ln>
                        <a:noFill/>
                      </a:ln>
                      <a:effectLst/>
                    </p:spPr>
                  </p:pic>
                </p:oleObj>
              </mc:Fallback>
            </mc:AlternateContent>
          </a:graphicData>
        </a:graphic>
      </p:graphicFrame>
      <mc:AlternateContent xmlns:mc="http://schemas.openxmlformats.org/markup-compatibility/2006">
        <mc:Choice xmlns:a14="http://schemas.microsoft.com/office/drawing/2010/main" Requires="a14">
          <p:sp>
            <p:nvSpPr>
              <p:cNvPr id="6" name="文本框 5"/>
              <p:cNvSpPr txBox="1"/>
              <p:nvPr/>
            </p:nvSpPr>
            <p:spPr>
              <a:xfrm>
                <a:off x="1167896" y="3159659"/>
                <a:ext cx="7405735" cy="403637"/>
              </a:xfrm>
              <a:prstGeom prst="rect">
                <a:avLst/>
              </a:prstGeom>
              <a:noFill/>
            </p:spPr>
            <p:txBody>
              <a:bodyPr wrap="square" rtlCol="0">
                <a:spAutoFit/>
              </a:bodyPr>
              <a:lstStyle/>
              <a:p>
                <a:r>
                  <a:rPr lang="zh-CN" altLang="en-US" dirty="0" smtClean="0"/>
                  <a:t>联轴器的计算转矩：</a:t>
                </a:r>
                <a14:m>
                  <m:oMath xmlns:m="http://schemas.openxmlformats.org/officeDocument/2006/math">
                    <m:sSub>
                      <m:sSubPr>
                        <m:ctrlPr>
                          <a:rPr lang="en-US" altLang="zh-CN" i="1" smtClean="0">
                            <a:latin typeface="Cambria Math" panose="02040503050406030204" pitchFamily="18" charset="0"/>
                          </a:rPr>
                        </m:ctrlPr>
                      </m:sSubPr>
                      <m:e>
                        <m:r>
                          <m:rPr>
                            <m:sty m:val="p"/>
                          </m:rPr>
                          <a:rPr lang="en-US" altLang="zh-CN" i="1">
                            <a:latin typeface="Cambria Math" panose="02040503050406030204" pitchFamily="18" charset="0"/>
                          </a:rPr>
                          <m:t>T</m:t>
                        </m:r>
                      </m:e>
                      <m:sub>
                        <m:r>
                          <a:rPr lang="en-US" altLang="zh-CN" b="0" i="1" smtClean="0">
                            <a:latin typeface="Cambria Math" panose="02040503050406030204" pitchFamily="18" charset="0"/>
                          </a:rPr>
                          <m:t>𝑐𝑎</m:t>
                        </m:r>
                      </m:sub>
                    </m:sSub>
                  </m:oMath>
                </a14:m>
                <a:r>
                  <a:rPr lang="en-US" altLang="zh-CN" dirty="0" smtClean="0"/>
                  <a:t>=K</a:t>
                </a:r>
                <a:r>
                  <a:rPr lang="en-US" altLang="zh-CN" baseline="-25000" dirty="0" smtClean="0"/>
                  <a:t>A</a:t>
                </a:r>
                <a:r>
                  <a:rPr lang="en-US" altLang="zh-CN" dirty="0" smtClean="0"/>
                  <a:t>T</a:t>
                </a:r>
                <a:r>
                  <a:rPr lang="en-US" altLang="zh-CN" baseline="-25000" dirty="0" smtClean="0"/>
                  <a:t>3</a:t>
                </a:r>
                <a:r>
                  <a:rPr lang="en-US" altLang="zh-CN" dirty="0" smtClean="0"/>
                  <a:t>=1.3</a:t>
                </a:r>
                <a14:m>
                  <m:oMath xmlns:m="http://schemas.openxmlformats.org/officeDocument/2006/math">
                    <m:r>
                      <a:rPr lang="en-US" altLang="zh-CN"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9</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6</m:t>
                    </m:r>
                    <m:r>
                      <a:rPr lang="en-US" altLang="zh-CN" b="0" i="1" smtClean="0">
                        <a:latin typeface="Cambria Math" panose="02040503050406030204" pitchFamily="18" charset="0"/>
                        <a:ea typeface="Cambria Math" panose="02040503050406030204" pitchFamily="18" charset="0"/>
                      </a:rPr>
                      <m:t>×</m:t>
                    </m:r>
                    <m:sSup>
                      <m:sSupPr>
                        <m:ctrlPr>
                          <a:rPr lang="en-US" altLang="zh-CN" b="0" i="1" smtClean="0">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10</m:t>
                        </m:r>
                      </m:e>
                      <m:sup>
                        <m:r>
                          <a:rPr lang="en-US" altLang="zh-CN" b="0" i="1" smtClean="0">
                            <a:latin typeface="Cambria Math" panose="02040503050406030204" pitchFamily="18" charset="0"/>
                            <a:ea typeface="Cambria Math" panose="02040503050406030204" pitchFamily="18" charset="0"/>
                          </a:rPr>
                          <m:t>5</m:t>
                        </m:r>
                      </m:sup>
                    </m:sSup>
                  </m:oMath>
                </a14:m>
                <a:r>
                  <a:rPr lang="en-US" altLang="zh-CN" dirty="0" smtClean="0"/>
                  <a:t>=1.248</a:t>
                </a:r>
                <a14:m>
                  <m:oMath xmlns:m="http://schemas.openxmlformats.org/officeDocument/2006/math">
                    <m:r>
                      <a:rPr lang="en-US" altLang="zh-CN"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10</m:t>
                    </m:r>
                    <m:r>
                      <a:rPr lang="en-US" altLang="zh-CN" b="0" i="1" baseline="30000" smtClean="0">
                        <a:latin typeface="Cambria Math" panose="02040503050406030204" pitchFamily="18" charset="0"/>
                        <a:ea typeface="Cambria Math" panose="02040503050406030204" pitchFamily="18" charset="0"/>
                      </a:rPr>
                      <m:t>6</m:t>
                    </m:r>
                    <m:r>
                      <a:rPr lang="en-US" altLang="zh-CN" b="0" i="1" smtClean="0">
                        <a:latin typeface="Cambria Math" panose="02040503050406030204" pitchFamily="18" charset="0"/>
                        <a:ea typeface="Cambria Math" panose="02040503050406030204" pitchFamily="18" charset="0"/>
                      </a:rPr>
                      <m:t>𝑁</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𝑚𝑚</m:t>
                    </m:r>
                  </m:oMath>
                </a14:m>
                <a:endParaRPr lang="zh-CN" altLang="en-US" dirty="0"/>
              </a:p>
            </p:txBody>
          </p:sp>
        </mc:Choice>
        <mc:Fallback>
          <p:sp>
            <p:nvSpPr>
              <p:cNvPr id="6" name="文本框 5"/>
              <p:cNvSpPr txBox="1">
                <a:spLocks noRot="1" noChangeAspect="1" noMove="1" noResize="1" noEditPoints="1" noAdjustHandles="1" noChangeArrowheads="1" noChangeShapeType="1" noTextEdit="1"/>
              </p:cNvSpPr>
              <p:nvPr/>
            </p:nvSpPr>
            <p:spPr>
              <a:xfrm>
                <a:off x="1167896" y="3159659"/>
                <a:ext cx="7405735" cy="403637"/>
              </a:xfrm>
              <a:prstGeom prst="rect">
                <a:avLst/>
              </a:prstGeom>
              <a:blipFill rotWithShape="1">
                <a:blip r:embed="rId3"/>
                <a:stretch>
                  <a:fillRect l="-2" t="-4537" r="7" b="77"/>
                </a:stretch>
              </a:blipFill>
            </p:spPr>
            <p:txBody>
              <a:bodyPr/>
              <a:lstStyle/>
              <a:p>
                <a:r>
                  <a:rPr lang="zh-CN" altLang="en-US">
                    <a:noFill/>
                  </a:rPr>
                  <a:t> </a:t>
                </a:r>
              </a:p>
            </p:txBody>
          </p:sp>
        </mc:Fallback>
      </mc:AlternateContent>
      <p:sp>
        <p:nvSpPr>
          <p:cNvPr id="7" name="文本框 6"/>
          <p:cNvSpPr txBox="1"/>
          <p:nvPr/>
        </p:nvSpPr>
        <p:spPr>
          <a:xfrm>
            <a:off x="887240" y="2688879"/>
            <a:ext cx="3177766" cy="400110"/>
          </a:xfrm>
          <a:prstGeom prst="rect">
            <a:avLst/>
          </a:prstGeom>
          <a:noFill/>
        </p:spPr>
        <p:txBody>
          <a:bodyPr wrap="square" rtlCol="0">
            <a:spAutoFit/>
          </a:bodyPr>
          <a:lstStyle/>
          <a:p>
            <a:r>
              <a:rPr lang="zh-CN" altLang="en-US" dirty="0" smtClean="0"/>
              <a:t>选用弹性柱销联轴器</a:t>
            </a:r>
            <a:endParaRPr lang="zh-CN" altLang="en-US" dirty="0"/>
          </a:p>
        </p:txBody>
      </p:sp>
      <mc:AlternateContent xmlns:mc="http://schemas.openxmlformats.org/markup-compatibility/2006">
        <mc:Choice xmlns:a14="http://schemas.microsoft.com/office/drawing/2010/main" Requires="a14">
          <p:sp>
            <p:nvSpPr>
              <p:cNvPr id="8" name="文本框 7"/>
              <p:cNvSpPr txBox="1"/>
              <p:nvPr/>
            </p:nvSpPr>
            <p:spPr>
              <a:xfrm>
                <a:off x="1169226" y="3524041"/>
                <a:ext cx="6672404" cy="1477328"/>
              </a:xfrm>
              <a:prstGeom prst="rect">
                <a:avLst/>
              </a:prstGeom>
              <a:noFill/>
            </p:spPr>
            <p:txBody>
              <a:bodyPr wrap="square" rtlCol="0">
                <a:spAutoFit/>
              </a:bodyPr>
              <a:lstStyle/>
              <a:p>
                <a:pPr>
                  <a:lnSpc>
                    <a:spcPct val="150000"/>
                  </a:lnSpc>
                </a:pPr>
                <a:r>
                  <a:rPr lang="zh-CN" altLang="en-US" dirty="0" smtClean="0"/>
                  <a:t>选用弹性柱销联轴器，公称转矩</a:t>
                </a:r>
                <a:r>
                  <a:rPr lang="en-US" altLang="zh-CN" dirty="0" smtClean="0"/>
                  <a:t>2.5</a:t>
                </a:r>
                <a14:m>
                  <m:oMath xmlns:m="http://schemas.openxmlformats.org/officeDocument/2006/math">
                    <m:r>
                      <a:rPr lang="en-US" altLang="zh-CN" i="1" smtClean="0">
                        <a:latin typeface="Cambria Math" panose="02040503050406030204" pitchFamily="18" charset="0"/>
                        <a:ea typeface="Cambria Math" panose="02040503050406030204" pitchFamily="18" charset="0"/>
                      </a:rPr>
                      <m:t>×</m:t>
                    </m:r>
                    <m:sSup>
                      <m:sSupPr>
                        <m:ctrlPr>
                          <a:rPr lang="en-US" altLang="zh-CN" i="1" smtClean="0">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10</m:t>
                        </m:r>
                      </m:e>
                      <m:sup>
                        <m:r>
                          <a:rPr lang="en-US" altLang="zh-CN" b="0" i="1" smtClean="0">
                            <a:latin typeface="Cambria Math" panose="02040503050406030204" pitchFamily="18" charset="0"/>
                            <a:ea typeface="Cambria Math" panose="02040503050406030204" pitchFamily="18" charset="0"/>
                          </a:rPr>
                          <m:t>6</m:t>
                        </m:r>
                      </m:sup>
                    </m:sSup>
                    <m:r>
                      <a:rPr lang="en-US" altLang="zh-CN" b="0" i="1" smtClean="0">
                        <a:latin typeface="Cambria Math" panose="02040503050406030204" pitchFamily="18" charset="0"/>
                        <a:ea typeface="Cambria Math" panose="02040503050406030204" pitchFamily="18" charset="0"/>
                      </a:rPr>
                      <m:t>𝑁</m:t>
                    </m:r>
                    <m:r>
                      <a:rPr lang="en-US" altLang="zh-CN" b="0" i="1" smtClean="0">
                        <a:latin typeface="Cambria Math" panose="02040503050406030204" pitchFamily="18" charset="0"/>
                        <a:ea typeface="Cambria Math" panose="02040503050406030204" pitchFamily="18" charset="0"/>
                      </a:rPr>
                      <m:t>∙</m:t>
                    </m:r>
                  </m:oMath>
                </a14:m>
                <a:r>
                  <a:rPr lang="en-US" altLang="zh-CN" dirty="0" smtClean="0"/>
                  <a:t>mm</a:t>
                </a:r>
                <a:endParaRPr lang="en-US" altLang="zh-CN" dirty="0" smtClean="0"/>
              </a:p>
              <a:p>
                <a:pPr>
                  <a:lnSpc>
                    <a:spcPct val="150000"/>
                  </a:lnSpc>
                </a:pPr>
                <a:r>
                  <a:rPr lang="zh-CN" altLang="en-US" dirty="0"/>
                  <a:t>半联轴器的孔径为</a:t>
                </a:r>
                <a:r>
                  <a:rPr lang="en-US" altLang="zh-CN" dirty="0"/>
                  <a:t>55mm</a:t>
                </a:r>
                <a:r>
                  <a:rPr lang="zh-CN" altLang="en-US" dirty="0"/>
                  <a:t>，因此轴径</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𝑑</m:t>
                        </m:r>
                      </m:e>
                      <m:sub>
                        <m:r>
                          <a:rPr lang="en-US" altLang="zh-CN" i="1">
                            <a:latin typeface="Cambria Math" panose="02040503050406030204" pitchFamily="18" charset="0"/>
                          </a:rPr>
                          <m:t>Ⅰ</m:t>
                        </m:r>
                      </m:sub>
                    </m:sSub>
                    <m:r>
                      <a:rPr lang="en-US" altLang="zh-CN" i="1">
                        <a:latin typeface="Cambria Math" panose="02040503050406030204" pitchFamily="18" charset="0"/>
                      </a:rPr>
                      <m:t>=</m:t>
                    </m:r>
                    <m:r>
                      <a:rPr lang="en-US" altLang="zh-CN" i="1">
                        <a:latin typeface="Cambria Math" panose="02040503050406030204" pitchFamily="18" charset="0"/>
                      </a:rPr>
                      <m:t>55</m:t>
                    </m:r>
                    <m:r>
                      <a:rPr lang="en-US" altLang="zh-CN" i="1">
                        <a:latin typeface="Cambria Math" panose="02040503050406030204" pitchFamily="18" charset="0"/>
                      </a:rPr>
                      <m:t>𝑚𝑚</m:t>
                    </m:r>
                  </m:oMath>
                </a14:m>
                <a:endParaRPr lang="zh-CN" altLang="en-US" dirty="0"/>
              </a:p>
              <a:p>
                <a:pPr>
                  <a:lnSpc>
                    <a:spcPct val="150000"/>
                  </a:lnSpc>
                </a:pPr>
                <a:r>
                  <a:rPr lang="en-US" altLang="zh-CN" dirty="0" smtClean="0"/>
                  <a:t>    L</a:t>
                </a:r>
                <a:r>
                  <a:rPr lang="en-US" altLang="zh-CN" baseline="-25000" dirty="0" smtClean="0"/>
                  <a:t>1</a:t>
                </a:r>
                <a:r>
                  <a:rPr lang="en-US" altLang="zh-CN" dirty="0" smtClean="0"/>
                  <a:t>=112mm,    L=84mm</a:t>
                </a:r>
                <a:endParaRPr lang="en-US" altLang="zh-CN" dirty="0" smtClean="0"/>
              </a:p>
            </p:txBody>
          </p:sp>
        </mc:Choice>
        <mc:Fallback>
          <p:sp>
            <p:nvSpPr>
              <p:cNvPr id="8" name="文本框 7"/>
              <p:cNvSpPr txBox="1">
                <a:spLocks noRot="1" noChangeAspect="1" noMove="1" noResize="1" noEditPoints="1" noAdjustHandles="1" noChangeArrowheads="1" noChangeShapeType="1" noTextEdit="1"/>
              </p:cNvSpPr>
              <p:nvPr/>
            </p:nvSpPr>
            <p:spPr>
              <a:xfrm>
                <a:off x="1169226" y="3524041"/>
                <a:ext cx="6672404" cy="1477328"/>
              </a:xfrm>
              <a:prstGeom prst="rect">
                <a:avLst/>
              </a:prstGeom>
              <a:blipFill rotWithShape="1">
                <a:blip r:embed="rId4"/>
                <a:stretch>
                  <a:fillRect l="-3" t="-29" b="-809"/>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left)">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wipe(left)">
                                      <p:cBhvr>
                                        <p:cTn id="3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6" grpId="0"/>
      <p:bldP spid="7" grpId="0"/>
      <p:bldP spid="8" grpId="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906747" y="165916"/>
            <a:ext cx="5118743" cy="4818017"/>
          </a:xfrm>
          <a:prstGeom prst="rect">
            <a:avLst/>
          </a:prstGeom>
        </p:spPr>
      </p:pic>
      <p:sp>
        <p:nvSpPr>
          <p:cNvPr id="3" name="文本框 2"/>
          <p:cNvSpPr txBox="1"/>
          <p:nvPr/>
        </p:nvSpPr>
        <p:spPr>
          <a:xfrm>
            <a:off x="2163778" y="5205743"/>
            <a:ext cx="1620571" cy="400110"/>
          </a:xfrm>
          <a:prstGeom prst="rect">
            <a:avLst/>
          </a:prstGeom>
          <a:noFill/>
        </p:spPr>
        <p:txBody>
          <a:bodyPr wrap="square" rtlCol="0">
            <a:spAutoFit/>
          </a:bodyPr>
          <a:lstStyle/>
          <a:p>
            <a:r>
              <a:rPr lang="en-US" altLang="zh-CN" dirty="0" smtClean="0"/>
              <a:t>LX4</a:t>
            </a:r>
            <a:r>
              <a:rPr lang="zh-CN" altLang="en-US" dirty="0" smtClean="0"/>
              <a:t>联轴器 </a:t>
            </a:r>
            <a:endParaRPr lang="zh-CN" altLang="en-US" dirty="0"/>
          </a:p>
        </p:txBody>
      </p:sp>
      <mc:AlternateContent xmlns:mc="http://schemas.openxmlformats.org/markup-compatibility/2006">
        <mc:Choice xmlns:a14="http://schemas.microsoft.com/office/drawing/2010/main" Requires="a14">
          <p:sp>
            <p:nvSpPr>
              <p:cNvPr id="4" name="文本框 3"/>
              <p:cNvSpPr txBox="1"/>
              <p:nvPr/>
            </p:nvSpPr>
            <p:spPr>
              <a:xfrm>
                <a:off x="3639492" y="4997513"/>
                <a:ext cx="1810693" cy="400110"/>
              </a:xfrm>
              <a:prstGeom prst="rect">
                <a:avLst/>
              </a:prstGeom>
              <a:noFill/>
            </p:spPr>
            <p:txBody>
              <a:bodyPr wrap="square" rtlCol="0">
                <a:spAutoFit/>
              </a:bodyPr>
              <a:lstStyle/>
              <a:p>
                <a:r>
                  <a:rPr lang="en-US" altLang="zh-CN" dirty="0" smtClean="0"/>
                  <a:t>JB55</a:t>
                </a:r>
                <a14:m>
                  <m:oMath xmlns:m="http://schemas.openxmlformats.org/officeDocument/2006/math">
                    <m:r>
                      <a:rPr lang="en-US" altLang="zh-CN" i="1">
                        <a:latin typeface="Cambria Math" panose="02040503050406030204" pitchFamily="18" charset="0"/>
                        <a:ea typeface="Cambria Math" panose="02040503050406030204" pitchFamily="18" charset="0"/>
                      </a:rPr>
                      <m:t>×</m:t>
                    </m:r>
                  </m:oMath>
                </a14:m>
                <a:r>
                  <a:rPr lang="en-US" altLang="zh-CN" dirty="0" smtClean="0"/>
                  <a:t>112</a:t>
                </a:r>
                <a:endParaRPr lang="zh-CN" altLang="en-US" dirty="0"/>
              </a:p>
            </p:txBody>
          </p:sp>
        </mc:Choice>
        <mc:Fallback>
          <p:sp>
            <p:nvSpPr>
              <p:cNvPr id="4" name="文本框 3"/>
              <p:cNvSpPr txBox="1">
                <a:spLocks noRot="1" noChangeAspect="1" noMove="1" noResize="1" noEditPoints="1" noAdjustHandles="1" noChangeArrowheads="1" noChangeShapeType="1" noTextEdit="1"/>
              </p:cNvSpPr>
              <p:nvPr/>
            </p:nvSpPr>
            <p:spPr>
              <a:xfrm>
                <a:off x="3639492" y="4997513"/>
                <a:ext cx="1810693" cy="400110"/>
              </a:xfrm>
              <a:prstGeom prst="rect">
                <a:avLst/>
              </a:prstGeom>
              <a:blipFill rotWithShape="1">
                <a:blip r:embed="rId2"/>
                <a:stretch>
                  <a:fillRect l="-17" t="-16" r="34" b="3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文本框 4"/>
              <p:cNvSpPr txBox="1"/>
              <p:nvPr/>
            </p:nvSpPr>
            <p:spPr>
              <a:xfrm>
                <a:off x="3576118" y="5404919"/>
                <a:ext cx="1810693" cy="400110"/>
              </a:xfrm>
              <a:prstGeom prst="rect">
                <a:avLst/>
              </a:prstGeom>
              <a:noFill/>
            </p:spPr>
            <p:txBody>
              <a:bodyPr wrap="square" rtlCol="0">
                <a:spAutoFit/>
              </a:bodyPr>
              <a:lstStyle/>
              <a:p>
                <a:r>
                  <a:rPr lang="en-US" altLang="zh-CN" dirty="0" smtClean="0"/>
                  <a:t>YB55</a:t>
                </a:r>
                <a14:m>
                  <m:oMath xmlns:m="http://schemas.openxmlformats.org/officeDocument/2006/math">
                    <m:r>
                      <a:rPr lang="en-US" altLang="zh-CN" i="1">
                        <a:latin typeface="Cambria Math" panose="02040503050406030204" pitchFamily="18" charset="0"/>
                        <a:ea typeface="Cambria Math" panose="02040503050406030204" pitchFamily="18" charset="0"/>
                      </a:rPr>
                      <m:t>×</m:t>
                    </m:r>
                  </m:oMath>
                </a14:m>
                <a:r>
                  <a:rPr lang="en-US" altLang="zh-CN" dirty="0" smtClean="0"/>
                  <a:t>112</a:t>
                </a:r>
                <a:endParaRPr lang="zh-CN" altLang="en-US" dirty="0"/>
              </a:p>
            </p:txBody>
          </p:sp>
        </mc:Choice>
        <mc:Fallback>
          <p:sp>
            <p:nvSpPr>
              <p:cNvPr id="5" name="文本框 4"/>
              <p:cNvSpPr txBox="1">
                <a:spLocks noRot="1" noChangeAspect="1" noMove="1" noResize="1" noEditPoints="1" noAdjustHandles="1" noChangeArrowheads="1" noChangeShapeType="1" noTextEdit="1"/>
              </p:cNvSpPr>
              <p:nvPr/>
            </p:nvSpPr>
            <p:spPr>
              <a:xfrm>
                <a:off x="3576118" y="5404919"/>
                <a:ext cx="1810693" cy="400110"/>
              </a:xfrm>
              <a:prstGeom prst="rect">
                <a:avLst/>
              </a:prstGeom>
              <a:blipFill rotWithShape="1">
                <a:blip r:embed="rId3"/>
                <a:stretch>
                  <a:fillRect l="-24" t="-108" r="6" b="123"/>
                </a:stretch>
              </a:blipFill>
            </p:spPr>
            <p:txBody>
              <a:bodyPr/>
              <a:lstStyle/>
              <a:p>
                <a:r>
                  <a:rPr lang="zh-CN" altLang="en-US">
                    <a:noFill/>
                  </a:rPr>
                  <a:t> </a:t>
                </a:r>
              </a:p>
            </p:txBody>
          </p:sp>
        </mc:Fallback>
      </mc:AlternateContent>
      <p:cxnSp>
        <p:nvCxnSpPr>
          <p:cNvPr id="7" name="直接连接符 6"/>
          <p:cNvCxnSpPr/>
          <p:nvPr/>
        </p:nvCxnSpPr>
        <p:spPr bwMode="auto">
          <a:xfrm>
            <a:off x="3630440" y="5404919"/>
            <a:ext cx="1358019"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mc:AlternateContent xmlns:mc="http://schemas.openxmlformats.org/markup-compatibility/2006">
        <mc:Choice xmlns:a14="http://schemas.microsoft.com/office/drawing/2010/main" Requires="a14">
          <p:sp>
            <p:nvSpPr>
              <p:cNvPr id="8" name="文本框 7"/>
              <p:cNvSpPr txBox="1"/>
              <p:nvPr/>
            </p:nvSpPr>
            <p:spPr>
              <a:xfrm>
                <a:off x="5341544" y="5042779"/>
                <a:ext cx="2335794" cy="1015663"/>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𝑑</m:t>
                      </m:r>
                      <m:r>
                        <a:rPr lang="en-US" altLang="zh-CN" b="0" i="1" smtClean="0">
                          <a:latin typeface="Cambria Math" panose="02040503050406030204" pitchFamily="18" charset="0"/>
                        </a:rPr>
                        <m:t>=</m:t>
                      </m:r>
                      <m:r>
                        <a:rPr lang="en-US" altLang="zh-CN" b="0" i="1" smtClean="0">
                          <a:latin typeface="Cambria Math" panose="02040503050406030204" pitchFamily="18" charset="0"/>
                        </a:rPr>
                        <m:t>55</m:t>
                      </m:r>
                      <m:r>
                        <a:rPr lang="en-US" altLang="zh-CN" b="0" i="1" smtClean="0">
                          <a:latin typeface="Cambria Math" panose="02040503050406030204" pitchFamily="18" charset="0"/>
                        </a:rPr>
                        <m:t>𝑚𝑚</m:t>
                      </m:r>
                      <m:r>
                        <a:rPr lang="en-US" altLang="zh-CN" b="0" i="1" smtClean="0">
                          <a:latin typeface="Cambria Math" panose="02040503050406030204" pitchFamily="18" charset="0"/>
                        </a:rPr>
                        <m:t>,</m:t>
                      </m:r>
                    </m:oMath>
                  </m:oMathPara>
                </a14:m>
                <a:endParaRPr lang="en-US" altLang="zh-CN" b="0" i="1" dirty="0" smtClean="0">
                  <a:latin typeface="Cambria Math" panose="02040503050406030204" pitchFamily="18" charset="0"/>
                </a:endParaRPr>
              </a:p>
              <a:p>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𝐿</m:t>
                      </m:r>
                      <m:r>
                        <a:rPr lang="en-US" altLang="zh-CN" b="0" i="1" baseline="-25000" smtClean="0">
                          <a:latin typeface="Cambria Math" panose="02040503050406030204" pitchFamily="18" charset="0"/>
                        </a:rPr>
                        <m:t>1</m:t>
                      </m:r>
                      <m:r>
                        <a:rPr lang="en-US" altLang="zh-CN" b="0" i="1" smtClean="0">
                          <a:latin typeface="Cambria Math" panose="02040503050406030204" pitchFamily="18" charset="0"/>
                        </a:rPr>
                        <m:t>=</m:t>
                      </m:r>
                      <m:r>
                        <a:rPr lang="en-US" altLang="zh-CN" b="0" i="1" smtClean="0">
                          <a:latin typeface="Cambria Math" panose="02040503050406030204" pitchFamily="18" charset="0"/>
                        </a:rPr>
                        <m:t>112</m:t>
                      </m:r>
                      <m:r>
                        <a:rPr lang="en-US" altLang="zh-CN" b="0" i="1" smtClean="0">
                          <a:latin typeface="Cambria Math" panose="02040503050406030204" pitchFamily="18" charset="0"/>
                        </a:rPr>
                        <m:t>𝑚𝑚</m:t>
                      </m:r>
                      <m:r>
                        <a:rPr lang="en-US" altLang="zh-CN" b="0" i="1" smtClean="0">
                          <a:latin typeface="Cambria Math" panose="02040503050406030204" pitchFamily="18" charset="0"/>
                        </a:rPr>
                        <m:t>,</m:t>
                      </m:r>
                    </m:oMath>
                  </m:oMathPara>
                </a14:m>
                <a:endParaRPr lang="en-US" altLang="zh-CN" b="0" i="1" dirty="0" smtClean="0">
                  <a:latin typeface="Cambria Math" panose="02040503050406030204" pitchFamily="18" charset="0"/>
                </a:endParaRPr>
              </a:p>
              <a:p>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𝐿</m:t>
                      </m:r>
                      <m:r>
                        <a:rPr lang="en-US" altLang="zh-CN" b="0" i="1" smtClean="0">
                          <a:latin typeface="Cambria Math" panose="02040503050406030204" pitchFamily="18" charset="0"/>
                        </a:rPr>
                        <m:t>=</m:t>
                      </m:r>
                      <m:r>
                        <a:rPr lang="en-US" altLang="zh-CN" b="0" i="1" smtClean="0">
                          <a:latin typeface="Cambria Math" panose="02040503050406030204" pitchFamily="18" charset="0"/>
                        </a:rPr>
                        <m:t>84</m:t>
                      </m:r>
                      <m:r>
                        <a:rPr lang="en-US" altLang="zh-CN" b="0" i="1" smtClean="0">
                          <a:latin typeface="Cambria Math" panose="02040503050406030204" pitchFamily="18" charset="0"/>
                        </a:rPr>
                        <m:t>𝑚𝑚</m:t>
                      </m:r>
                    </m:oMath>
                  </m:oMathPara>
                </a14:m>
                <a:endParaRPr lang="zh-CN" altLang="en-US" dirty="0"/>
              </a:p>
            </p:txBody>
          </p:sp>
        </mc:Choice>
        <mc:Fallback>
          <p:sp>
            <p:nvSpPr>
              <p:cNvPr id="8" name="文本框 7"/>
              <p:cNvSpPr txBox="1">
                <a:spLocks noRot="1" noChangeAspect="1" noMove="1" noResize="1" noEditPoints="1" noAdjustHandles="1" noChangeArrowheads="1" noChangeShapeType="1" noTextEdit="1"/>
              </p:cNvSpPr>
              <p:nvPr/>
            </p:nvSpPr>
            <p:spPr>
              <a:xfrm>
                <a:off x="5341544" y="5042779"/>
                <a:ext cx="2335794" cy="1015663"/>
              </a:xfrm>
              <a:prstGeom prst="rect">
                <a:avLst/>
              </a:prstGeom>
              <a:blipFill rotWithShape="1">
                <a:blip r:embed="rId4"/>
                <a:stretch>
                  <a:fillRect l="-24" t="-24" r="8" b="53"/>
                </a:stretch>
              </a:blipFill>
            </p:spPr>
            <p:txBody>
              <a:bodyPr/>
              <a:lstStyle/>
              <a:p>
                <a:r>
                  <a:rPr lang="zh-CN" altLang="en-US">
                    <a:noFill/>
                  </a:rPr>
                  <a:t> </a:t>
                </a:r>
              </a:p>
            </p:txBody>
          </p:sp>
        </mc:Fallback>
      </mc:AlternateContent>
      <p:sp>
        <p:nvSpPr>
          <p:cNvPr id="9" name="文本框 8"/>
          <p:cNvSpPr txBox="1"/>
          <p:nvPr/>
        </p:nvSpPr>
        <p:spPr>
          <a:xfrm>
            <a:off x="5857593" y="6074876"/>
            <a:ext cx="1385180" cy="400110"/>
          </a:xfrm>
          <a:prstGeom prst="rect">
            <a:avLst/>
          </a:prstGeom>
          <a:noFill/>
        </p:spPr>
        <p:txBody>
          <a:bodyPr wrap="square" rtlCol="0">
            <a:spAutoFit/>
          </a:bodyPr>
          <a:lstStyle/>
          <a:p>
            <a:r>
              <a:rPr lang="en-US" altLang="zh-CN" dirty="0" smtClean="0"/>
              <a:t>B</a:t>
            </a:r>
            <a:r>
              <a:rPr lang="zh-CN" altLang="en-US" dirty="0" smtClean="0"/>
              <a:t>型键槽</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500"/>
                                        <p:tgtEl>
                                          <p:spTgt spid="4"/>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left)">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wipe(left)">
                                      <p:cBhvr>
                                        <p:cTn id="18" dur="5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wipe(left)">
                                      <p:cBhvr>
                                        <p:cTn id="23" dur="500"/>
                                        <p:tgtEl>
                                          <p:spTgt spid="8"/>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wipe(left)">
                                      <p:cBhvr>
                                        <p:cTn id="2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8" grpId="0"/>
      <p:bldP spid="9" grpId="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62000" y="400050"/>
            <a:ext cx="7620000" cy="6057900"/>
          </a:xfrm>
          <a:prstGeom prst="rect">
            <a:avLst/>
          </a:prstGeom>
        </p:spPr>
      </p:pic>
      <p:sp>
        <p:nvSpPr>
          <p:cNvPr id="3" name="矩形 2"/>
          <p:cNvSpPr/>
          <p:nvPr/>
        </p:nvSpPr>
        <p:spPr bwMode="auto">
          <a:xfrm>
            <a:off x="751438" y="2978591"/>
            <a:ext cx="7731659" cy="479834"/>
          </a:xfrm>
          <a:prstGeom prst="rect">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heel(1)">
                                      <p:cBhvr>
                                        <p:cTn id="7"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p:cNvPicPr>
            <a:picLocks noChangeAspect="1" noChangeArrowheads="1"/>
          </p:cNvPicPr>
          <p:nvPr/>
        </p:nvPicPr>
        <p:blipFill rotWithShape="1">
          <a:blip r:embed="rId1" cstate="print">
            <a:extLst>
              <a:ext uri="{28A0092B-C50C-407E-A947-70E740481C1C}">
                <a14:useLocalDpi xmlns:a14="http://schemas.microsoft.com/office/drawing/2010/main" val="0"/>
              </a:ext>
            </a:extLst>
          </a:blip>
          <a:srcRect b="70513"/>
          <a:stretch>
            <a:fillRect/>
          </a:stretch>
        </p:blipFill>
        <p:spPr bwMode="auto">
          <a:xfrm>
            <a:off x="492675" y="1421393"/>
            <a:ext cx="7884102" cy="3286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p:cNvSpPr txBox="1"/>
          <p:nvPr/>
        </p:nvSpPr>
        <p:spPr>
          <a:xfrm>
            <a:off x="371192" y="479834"/>
            <a:ext cx="4544840" cy="400110"/>
          </a:xfrm>
          <a:prstGeom prst="rect">
            <a:avLst/>
          </a:prstGeom>
          <a:noFill/>
        </p:spPr>
        <p:txBody>
          <a:bodyPr wrap="square" rtlCol="0">
            <a:spAutoFit/>
          </a:bodyPr>
          <a:lstStyle/>
          <a:p>
            <a:r>
              <a:rPr lang="en-US" altLang="zh-CN" dirty="0" smtClean="0">
                <a:solidFill>
                  <a:schemeClr val="accent4">
                    <a:lumMod val="60000"/>
                    <a:lumOff val="40000"/>
                  </a:schemeClr>
                </a:solidFill>
              </a:rPr>
              <a:t>4</a:t>
            </a:r>
            <a:r>
              <a:rPr lang="zh-CN" altLang="en-US" dirty="0" smtClean="0">
                <a:solidFill>
                  <a:schemeClr val="accent4">
                    <a:lumMod val="60000"/>
                    <a:lumOff val="40000"/>
                  </a:schemeClr>
                </a:solidFill>
              </a:rPr>
              <a:t>、轴的结构设计</a:t>
            </a:r>
            <a:endParaRPr lang="zh-CN" altLang="en-US" dirty="0">
              <a:solidFill>
                <a:schemeClr val="accent4">
                  <a:lumMod val="60000"/>
                  <a:lumOff val="40000"/>
                </a:schemeClr>
              </a:solidFill>
            </a:endParaRPr>
          </a:p>
        </p:txBody>
      </p:sp>
      <p:sp>
        <p:nvSpPr>
          <p:cNvPr id="4" name="文本框 3"/>
          <p:cNvSpPr txBox="1"/>
          <p:nvPr/>
        </p:nvSpPr>
        <p:spPr>
          <a:xfrm>
            <a:off x="1059255" y="986828"/>
            <a:ext cx="3648547" cy="400110"/>
          </a:xfrm>
          <a:prstGeom prst="rect">
            <a:avLst/>
          </a:prstGeom>
          <a:noFill/>
        </p:spPr>
        <p:txBody>
          <a:bodyPr wrap="square" rtlCol="0">
            <a:spAutoFit/>
          </a:bodyPr>
          <a:lstStyle/>
          <a:p>
            <a:r>
              <a:rPr lang="zh-CN" altLang="en-US" dirty="0" smtClean="0"/>
              <a:t>拟定轴上零件的装配方案</a:t>
            </a:r>
            <a:endParaRPr lang="zh-CN" altLang="en-US" dirty="0"/>
          </a:p>
        </p:txBody>
      </p:sp>
      <p:sp>
        <p:nvSpPr>
          <p:cNvPr id="5" name="文本框 4"/>
          <p:cNvSpPr txBox="1"/>
          <p:nvPr/>
        </p:nvSpPr>
        <p:spPr>
          <a:xfrm>
            <a:off x="1421396" y="2706985"/>
            <a:ext cx="307817" cy="461665"/>
          </a:xfrm>
          <a:prstGeom prst="rect">
            <a:avLst/>
          </a:prstGeom>
          <a:noFill/>
        </p:spPr>
        <p:txBody>
          <a:bodyPr wrap="square" rtlCol="0">
            <a:spAutoFit/>
          </a:bodyPr>
          <a:lstStyle/>
          <a:p>
            <a:r>
              <a:rPr lang="en-US" altLang="zh-CN" sz="2400" dirty="0" smtClean="0">
                <a:solidFill>
                  <a:srgbClr val="FF0000"/>
                </a:solidFill>
              </a:rPr>
              <a:t>Ⅰ</a:t>
            </a:r>
            <a:endParaRPr lang="zh-CN" altLang="en-US" sz="2400" dirty="0">
              <a:solidFill>
                <a:srgbClr val="FF0000"/>
              </a:solidFill>
            </a:endParaRPr>
          </a:p>
        </p:txBody>
      </p:sp>
      <p:sp>
        <p:nvSpPr>
          <p:cNvPr id="6" name="文本框 5"/>
          <p:cNvSpPr txBox="1"/>
          <p:nvPr/>
        </p:nvSpPr>
        <p:spPr>
          <a:xfrm>
            <a:off x="2163779" y="2743200"/>
            <a:ext cx="878185" cy="430887"/>
          </a:xfrm>
          <a:prstGeom prst="rect">
            <a:avLst/>
          </a:prstGeom>
          <a:noFill/>
        </p:spPr>
        <p:txBody>
          <a:bodyPr wrap="square" rtlCol="0">
            <a:spAutoFit/>
          </a:bodyPr>
          <a:lstStyle/>
          <a:p>
            <a:r>
              <a:rPr lang="en-US" altLang="zh-CN" sz="2200" dirty="0" smtClean="0">
                <a:solidFill>
                  <a:srgbClr val="FF0000"/>
                </a:solidFill>
              </a:rPr>
              <a:t>Ⅱ</a:t>
            </a:r>
            <a:endParaRPr lang="zh-CN" altLang="en-US" sz="2200" dirty="0">
              <a:solidFill>
                <a:srgbClr val="FF0000"/>
              </a:solidFill>
            </a:endParaRPr>
          </a:p>
        </p:txBody>
      </p:sp>
      <p:sp>
        <p:nvSpPr>
          <p:cNvPr id="8" name="文本框 7"/>
          <p:cNvSpPr txBox="1"/>
          <p:nvPr/>
        </p:nvSpPr>
        <p:spPr>
          <a:xfrm>
            <a:off x="4182701" y="2625504"/>
            <a:ext cx="977773" cy="430887"/>
          </a:xfrm>
          <a:prstGeom prst="rect">
            <a:avLst/>
          </a:prstGeom>
          <a:noFill/>
        </p:spPr>
        <p:txBody>
          <a:bodyPr wrap="square" rtlCol="0">
            <a:spAutoFit/>
          </a:bodyPr>
          <a:lstStyle/>
          <a:p>
            <a:r>
              <a:rPr lang="en-US" altLang="zh-CN" sz="2200" dirty="0" smtClean="0">
                <a:solidFill>
                  <a:srgbClr val="FF0000"/>
                </a:solidFill>
              </a:rPr>
              <a:t>Ⅳ</a:t>
            </a:r>
            <a:endParaRPr lang="zh-CN" altLang="en-US" sz="2200" dirty="0">
              <a:solidFill>
                <a:srgbClr val="FF0000"/>
              </a:solidFill>
            </a:endParaRPr>
          </a:p>
        </p:txBody>
      </p:sp>
      <p:sp>
        <p:nvSpPr>
          <p:cNvPr id="11" name="文本框 10"/>
          <p:cNvSpPr txBox="1"/>
          <p:nvPr/>
        </p:nvSpPr>
        <p:spPr>
          <a:xfrm>
            <a:off x="3005752" y="2761307"/>
            <a:ext cx="280658" cy="430887"/>
          </a:xfrm>
          <a:prstGeom prst="rect">
            <a:avLst/>
          </a:prstGeom>
          <a:noFill/>
        </p:spPr>
        <p:txBody>
          <a:bodyPr wrap="square" rtlCol="0">
            <a:spAutoFit/>
          </a:bodyPr>
          <a:lstStyle/>
          <a:p>
            <a:r>
              <a:rPr lang="en-US" altLang="zh-CN" sz="2200" dirty="0" smtClean="0">
                <a:solidFill>
                  <a:srgbClr val="FF0000"/>
                </a:solidFill>
              </a:rPr>
              <a:t>Ⅲ</a:t>
            </a:r>
            <a:endParaRPr lang="zh-CN" altLang="en-US" sz="2200" dirty="0">
              <a:solidFill>
                <a:srgbClr val="FF0000"/>
              </a:solidFill>
            </a:endParaRPr>
          </a:p>
        </p:txBody>
      </p:sp>
      <p:sp>
        <p:nvSpPr>
          <p:cNvPr id="12" name="文本框 11"/>
          <p:cNvSpPr txBox="1"/>
          <p:nvPr/>
        </p:nvSpPr>
        <p:spPr>
          <a:xfrm>
            <a:off x="5223850" y="2670771"/>
            <a:ext cx="624687" cy="430887"/>
          </a:xfrm>
          <a:prstGeom prst="rect">
            <a:avLst/>
          </a:prstGeom>
          <a:noFill/>
        </p:spPr>
        <p:txBody>
          <a:bodyPr wrap="square" rtlCol="0">
            <a:spAutoFit/>
          </a:bodyPr>
          <a:lstStyle/>
          <a:p>
            <a:r>
              <a:rPr lang="en-US" altLang="zh-CN" sz="2200" dirty="0" smtClean="0">
                <a:solidFill>
                  <a:srgbClr val="FF0000"/>
                </a:solidFill>
              </a:rPr>
              <a:t>Ⅴ</a:t>
            </a:r>
            <a:endParaRPr lang="zh-CN" altLang="en-US" sz="2200" dirty="0">
              <a:solidFill>
                <a:srgbClr val="FF0000"/>
              </a:solidFill>
            </a:endParaRPr>
          </a:p>
        </p:txBody>
      </p:sp>
      <p:sp>
        <p:nvSpPr>
          <p:cNvPr id="13" name="文本框 12"/>
          <p:cNvSpPr txBox="1"/>
          <p:nvPr/>
        </p:nvSpPr>
        <p:spPr>
          <a:xfrm>
            <a:off x="6002449" y="2661718"/>
            <a:ext cx="280658" cy="430887"/>
          </a:xfrm>
          <a:prstGeom prst="rect">
            <a:avLst/>
          </a:prstGeom>
          <a:noFill/>
        </p:spPr>
        <p:txBody>
          <a:bodyPr wrap="square" rtlCol="0">
            <a:spAutoFit/>
          </a:bodyPr>
          <a:lstStyle/>
          <a:p>
            <a:r>
              <a:rPr lang="en-US" altLang="zh-CN" sz="2200" dirty="0" smtClean="0">
                <a:solidFill>
                  <a:srgbClr val="FF0000"/>
                </a:solidFill>
              </a:rPr>
              <a:t>Ⅵ</a:t>
            </a:r>
            <a:endParaRPr lang="zh-CN" altLang="en-US" sz="2200" dirty="0">
              <a:solidFill>
                <a:srgbClr val="FF0000"/>
              </a:solidFill>
            </a:endParaRPr>
          </a:p>
        </p:txBody>
      </p:sp>
      <p:sp>
        <p:nvSpPr>
          <p:cNvPr id="14" name="文本框 13"/>
          <p:cNvSpPr txBox="1"/>
          <p:nvPr/>
        </p:nvSpPr>
        <p:spPr>
          <a:xfrm>
            <a:off x="6989276" y="2743200"/>
            <a:ext cx="597528" cy="430887"/>
          </a:xfrm>
          <a:prstGeom prst="rect">
            <a:avLst/>
          </a:prstGeom>
          <a:noFill/>
        </p:spPr>
        <p:txBody>
          <a:bodyPr wrap="square" rtlCol="0">
            <a:spAutoFit/>
          </a:bodyPr>
          <a:lstStyle/>
          <a:p>
            <a:r>
              <a:rPr lang="en-US" altLang="zh-CN" sz="2200" dirty="0" smtClean="0">
                <a:solidFill>
                  <a:srgbClr val="FF0000"/>
                </a:solidFill>
              </a:rPr>
              <a:t>Ⅶ</a:t>
            </a:r>
            <a:endParaRPr lang="zh-CN" altLang="en-US" sz="2200" dirty="0">
              <a:solidFill>
                <a:srgbClr val="FF0000"/>
              </a:solidFill>
            </a:endParaRPr>
          </a:p>
        </p:txBody>
      </p:sp>
      <p:cxnSp>
        <p:nvCxnSpPr>
          <p:cNvPr id="23" name="直接箭头连接符 22"/>
          <p:cNvCxnSpPr/>
          <p:nvPr/>
        </p:nvCxnSpPr>
        <p:spPr bwMode="auto">
          <a:xfrm>
            <a:off x="1955549" y="3720974"/>
            <a:ext cx="407405"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500"/>
                                        <p:tgtEl>
                                          <p:spTgt spid="6"/>
                                        </p:tgtEl>
                                      </p:cBhvr>
                                    </p:animEffect>
                                  </p:childTnLst>
                                </p:cTn>
                              </p:par>
                            </p:childTnLst>
                          </p:cTn>
                        </p:par>
                        <p:par>
                          <p:cTn id="17" fill="hold">
                            <p:stCondLst>
                              <p:cond delay="1000"/>
                            </p:stCondLst>
                            <p:childTnLst>
                              <p:par>
                                <p:cTn id="18" presetID="22" presetClass="entr" presetSubtype="8" fill="hold" grpId="0" nodeType="after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wipe(left)">
                                      <p:cBhvr>
                                        <p:cTn id="20" dur="500"/>
                                        <p:tgtEl>
                                          <p:spTgt spid="11"/>
                                        </p:tgtEl>
                                      </p:cBhvr>
                                    </p:animEffect>
                                  </p:childTnLst>
                                </p:cTn>
                              </p:par>
                            </p:childTnLst>
                          </p:cTn>
                        </p:par>
                        <p:par>
                          <p:cTn id="21" fill="hold">
                            <p:stCondLst>
                              <p:cond delay="1500"/>
                            </p:stCondLst>
                            <p:childTnLst>
                              <p:par>
                                <p:cTn id="22" presetID="22" presetClass="entr" presetSubtype="8" fill="hold" grpId="0" nodeType="after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wipe(left)">
                                      <p:cBhvr>
                                        <p:cTn id="24" dur="500"/>
                                        <p:tgtEl>
                                          <p:spTgt spid="8"/>
                                        </p:tgtEl>
                                      </p:cBhvr>
                                    </p:animEffect>
                                  </p:childTnLst>
                                </p:cTn>
                              </p:par>
                            </p:childTnLst>
                          </p:cTn>
                        </p:par>
                        <p:par>
                          <p:cTn id="25" fill="hold">
                            <p:stCondLst>
                              <p:cond delay="2000"/>
                            </p:stCondLst>
                            <p:childTnLst>
                              <p:par>
                                <p:cTn id="26" presetID="22" presetClass="entr" presetSubtype="8"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wipe(left)">
                                      <p:cBhvr>
                                        <p:cTn id="28" dur="500"/>
                                        <p:tgtEl>
                                          <p:spTgt spid="12"/>
                                        </p:tgtEl>
                                      </p:cBhvr>
                                    </p:animEffect>
                                  </p:childTnLst>
                                </p:cTn>
                              </p:par>
                            </p:childTnLst>
                          </p:cTn>
                        </p:par>
                        <p:par>
                          <p:cTn id="29" fill="hold">
                            <p:stCondLst>
                              <p:cond delay="2500"/>
                            </p:stCondLst>
                            <p:childTnLst>
                              <p:par>
                                <p:cTn id="30" presetID="22" presetClass="entr" presetSubtype="8" fill="hold" grpId="0" nodeType="after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wipe(left)">
                                      <p:cBhvr>
                                        <p:cTn id="32" dur="500"/>
                                        <p:tgtEl>
                                          <p:spTgt spid="13"/>
                                        </p:tgtEl>
                                      </p:cBhvr>
                                    </p:animEffect>
                                  </p:childTnLst>
                                </p:cTn>
                              </p:par>
                            </p:childTnLst>
                          </p:cTn>
                        </p:par>
                        <p:par>
                          <p:cTn id="33" fill="hold">
                            <p:stCondLst>
                              <p:cond delay="3000"/>
                            </p:stCondLst>
                            <p:childTnLst>
                              <p:par>
                                <p:cTn id="34" presetID="22" presetClass="entr" presetSubtype="8" fill="hold" grpId="0" nodeType="after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wipe(left)">
                                      <p:cBhvr>
                                        <p:cTn id="3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8" grpId="0"/>
      <p:bldP spid="11" grpId="0"/>
      <p:bldP spid="12" grpId="0"/>
      <p:bldP spid="13" grpId="0"/>
      <p:bldP spid="14" grpId="0"/>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1" cstate="print">
            <a:extLst>
              <a:ext uri="{28A0092B-C50C-407E-A947-70E740481C1C}">
                <a14:useLocalDpi xmlns:a14="http://schemas.microsoft.com/office/drawing/2010/main" val="0"/>
              </a:ext>
            </a:extLst>
          </a:blip>
          <a:srcRect b="6535"/>
          <a:stretch>
            <a:fillRect/>
          </a:stretch>
        </p:blipFill>
        <p:spPr>
          <a:xfrm>
            <a:off x="280307" y="81482"/>
            <a:ext cx="4400684" cy="6409853"/>
          </a:xfrm>
          <a:prstGeom prst="rect">
            <a:avLst/>
          </a:prstGeom>
        </p:spPr>
      </p:pic>
      <mc:AlternateContent xmlns:mc="http://schemas.openxmlformats.org/markup-compatibility/2006">
        <mc:Choice xmlns:a14="http://schemas.microsoft.com/office/drawing/2010/main" Requires="a14">
          <p:sp>
            <p:nvSpPr>
              <p:cNvPr id="3" name="文本框 2"/>
              <p:cNvSpPr txBox="1"/>
              <p:nvPr/>
            </p:nvSpPr>
            <p:spPr>
              <a:xfrm>
                <a:off x="4679645" y="1492493"/>
                <a:ext cx="3014804" cy="400110"/>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zh-CN" altLang="en-US" i="1" smtClean="0">
                          <a:latin typeface="Cambria Math" panose="02040503050406030204" pitchFamily="18" charset="0"/>
                        </a:rPr>
                        <m:t>∆</m:t>
                      </m:r>
                      <m:r>
                        <a:rPr lang="en-US" altLang="zh-CN" b="0" i="1" baseline="-25000" smtClean="0">
                          <a:latin typeface="Cambria Math" panose="02040503050406030204" pitchFamily="18" charset="0"/>
                        </a:rPr>
                        <m:t>2</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1</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2</m:t>
                      </m:r>
                      <m:r>
                        <a:rPr lang="zh-CN" altLang="en-US" b="0" i="1" smtClean="0">
                          <a:latin typeface="Cambria Math" panose="02040503050406030204" pitchFamily="18" charset="0"/>
                          <a:ea typeface="Cambria Math" panose="02040503050406030204" pitchFamily="18" charset="0"/>
                        </a:rPr>
                        <m:t>𝛿</m:t>
                      </m:r>
                    </m:oMath>
                  </m:oMathPara>
                </a14:m>
                <a:endParaRPr lang="zh-CN" altLang="en-US" dirty="0"/>
              </a:p>
            </p:txBody>
          </p:sp>
        </mc:Choice>
        <mc:Fallback>
          <p:sp>
            <p:nvSpPr>
              <p:cNvPr id="3" name="文本框 2"/>
              <p:cNvSpPr txBox="1">
                <a:spLocks noRot="1" noChangeAspect="1" noMove="1" noResize="1" noEditPoints="1" noAdjustHandles="1" noChangeArrowheads="1" noChangeShapeType="1" noTextEdit="1"/>
              </p:cNvSpPr>
              <p:nvPr/>
            </p:nvSpPr>
            <p:spPr>
              <a:xfrm>
                <a:off x="4679645" y="1492493"/>
                <a:ext cx="3014804" cy="400110"/>
              </a:xfrm>
              <a:prstGeom prst="rect">
                <a:avLst/>
              </a:prstGeom>
              <a:blipFill rotWithShape="1">
                <a:blip r:embed="rId2"/>
                <a:stretch>
                  <a:fillRect l="-11" t="-61" r="5" b="-24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文本框 3"/>
              <p:cNvSpPr txBox="1"/>
              <p:nvPr/>
            </p:nvSpPr>
            <p:spPr>
              <a:xfrm>
                <a:off x="5042780" y="2082297"/>
                <a:ext cx="3014804" cy="398780"/>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zh-CN" altLang="en-US" i="1" smtClean="0">
                          <a:latin typeface="Cambria Math" panose="02040503050406030204" pitchFamily="18" charset="0"/>
                        </a:rPr>
                        <m:t>𝛿</m:t>
                      </m:r>
                      <m:r>
                        <a:rPr lang="en-US" altLang="zh-CN" b="0" i="1" smtClean="0">
                          <a:latin typeface="Cambria Math" panose="02040503050406030204" pitchFamily="18" charset="0"/>
                        </a:rPr>
                        <m:t>=</m:t>
                      </m:r>
                      <m:r>
                        <a:rPr lang="en-US" altLang="zh-CN" b="0" i="1" smtClean="0">
                          <a:latin typeface="Cambria Math" panose="02040503050406030204" pitchFamily="18" charset="0"/>
                        </a:rPr>
                        <m:t>0</m:t>
                      </m:r>
                      <m:r>
                        <a:rPr lang="en-US" altLang="zh-CN" b="0" i="1" smtClean="0">
                          <a:latin typeface="Cambria Math" panose="02040503050406030204" pitchFamily="18" charset="0"/>
                        </a:rPr>
                        <m:t>.</m:t>
                      </m:r>
                      <m:r>
                        <a:rPr lang="en-US" altLang="zh-CN" b="0" i="1" smtClean="0">
                          <a:latin typeface="Cambria Math" panose="02040503050406030204" pitchFamily="18" charset="0"/>
                        </a:rPr>
                        <m:t>025</m:t>
                      </m:r>
                      <m:r>
                        <a:rPr lang="en-US" altLang="zh-CN" b="0" i="1" smtClean="0">
                          <a:latin typeface="Cambria Math" panose="02040503050406030204" pitchFamily="18" charset="0"/>
                        </a:rPr>
                        <m:t>𝑎</m:t>
                      </m:r>
                      <m:r>
                        <a:rPr lang="en-US" altLang="zh-CN" b="0" i="1" smtClean="0">
                          <a:latin typeface="Cambria Math" panose="02040503050406030204" pitchFamily="18" charset="0"/>
                        </a:rPr>
                        <m:t>+</m:t>
                      </m:r>
                      <m:r>
                        <a:rPr lang="en-US" altLang="zh-CN" b="0" i="1" smtClean="0">
                          <a:latin typeface="Cambria Math" panose="02040503050406030204" pitchFamily="18" charset="0"/>
                        </a:rPr>
                        <m:t>3</m:t>
                      </m:r>
                      <m:r>
                        <a:rPr lang="en-US" altLang="zh-CN" b="0" i="1" smtClean="0">
                          <a:latin typeface="Cambria Math" panose="02040503050406030204" pitchFamily="18" charset="0"/>
                        </a:rPr>
                        <m:t>≥</m:t>
                      </m:r>
                      <m:r>
                        <a:rPr lang="en-US" altLang="zh-CN" b="0" i="1" smtClean="0">
                          <a:latin typeface="Cambria Math" panose="02040503050406030204" pitchFamily="18" charset="0"/>
                        </a:rPr>
                        <m:t>8</m:t>
                      </m:r>
                    </m:oMath>
                  </m:oMathPara>
                </a14:m>
                <a:endParaRPr lang="zh-CN" altLang="en-US" dirty="0"/>
              </a:p>
            </p:txBody>
          </p:sp>
        </mc:Choice>
        <mc:Fallback>
          <p:sp>
            <p:nvSpPr>
              <p:cNvPr id="4" name="文本框 3"/>
              <p:cNvSpPr txBox="1">
                <a:spLocks noRot="1" noChangeAspect="1" noMove="1" noResize="1" noEditPoints="1" noAdjustHandles="1" noChangeArrowheads="1" noChangeShapeType="1" noTextEdit="1"/>
              </p:cNvSpPr>
              <p:nvPr/>
            </p:nvSpPr>
            <p:spPr>
              <a:xfrm>
                <a:off x="5042780" y="2082297"/>
                <a:ext cx="3014804" cy="398780"/>
              </a:xfrm>
              <a:prstGeom prst="rect">
                <a:avLst/>
              </a:prstGeom>
              <a:blipFill rotWithShape="1">
                <a:blip r:embed="rId3"/>
                <a:stretch>
                  <a:fillRect l="-8" t="-33" r="2" b="3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文本框 4"/>
              <p:cNvSpPr txBox="1"/>
              <p:nvPr/>
            </p:nvSpPr>
            <p:spPr>
              <a:xfrm>
                <a:off x="5547809" y="2685141"/>
                <a:ext cx="3014804" cy="398780"/>
              </a:xfrm>
              <a:prstGeom prst="rect">
                <a:avLst/>
              </a:prstGeom>
              <a:noFill/>
            </p:spPr>
            <p:txBody>
              <a:bodyPr wrap="square" rtlCol="0">
                <a:spAutoFit/>
              </a:bodyPr>
              <a:lstStyle/>
              <a:p>
                <a14:m>
                  <m:oMath xmlns:m="http://schemas.openxmlformats.org/officeDocument/2006/math">
                    <m:r>
                      <a:rPr lang="zh-CN" altLang="en-US" i="1" smtClean="0">
                        <a:latin typeface="Cambria Math" panose="02040503050406030204" pitchFamily="18" charset="0"/>
                      </a:rPr>
                      <m:t>𝛿</m:t>
                    </m:r>
                    <m:r>
                      <a:rPr lang="en-US" altLang="zh-CN" b="0" i="1" smtClean="0">
                        <a:latin typeface="Cambria Math" panose="02040503050406030204" pitchFamily="18" charset="0"/>
                      </a:rPr>
                      <m:t>=</m:t>
                    </m:r>
                  </m:oMath>
                </a14:m>
                <a:r>
                  <a:rPr lang="en-US" altLang="zh-CN" b="0" i="1" smtClean="0">
                    <a:latin typeface="Cambria Math" panose="02040503050406030204" pitchFamily="18" charset="0"/>
                  </a:rPr>
                  <a:t>10~12</a:t>
                </a:r>
                <a:r>
                  <a:rPr lang="zh-CN" altLang="en-US" b="0" i="1" smtClean="0">
                    <a:latin typeface="Cambria Math" panose="02040503050406030204" pitchFamily="18" charset="0"/>
                  </a:rPr>
                  <a:t>或</a:t>
                </a:r>
                <a:r>
                  <a:rPr lang="en-US" altLang="zh-CN" b="0" i="1" smtClean="0">
                    <a:latin typeface="Cambria Math" panose="02040503050406030204" pitchFamily="18" charset="0"/>
                  </a:rPr>
                  <a:t>15~20 </a:t>
                </a:r>
                <a:r>
                  <a:rPr lang="en-US" altLang="zh-CN" dirty="0" smtClean="0"/>
                  <a:t>mm</a:t>
                </a:r>
                <a:endParaRPr lang="zh-CN" altLang="en-US" dirty="0"/>
              </a:p>
            </p:txBody>
          </p:sp>
        </mc:Choice>
        <mc:Fallback>
          <p:sp>
            <p:nvSpPr>
              <p:cNvPr id="5" name="文本框 4"/>
              <p:cNvSpPr txBox="1">
                <a:spLocks noRot="1" noChangeAspect="1" noMove="1" noResize="1" noEditPoints="1" noAdjustHandles="1" noChangeArrowheads="1" noChangeShapeType="1" noTextEdit="1"/>
              </p:cNvSpPr>
              <p:nvPr/>
            </p:nvSpPr>
            <p:spPr>
              <a:xfrm>
                <a:off x="5547809" y="2685141"/>
                <a:ext cx="3014804" cy="398780"/>
              </a:xfrm>
              <a:prstGeom prst="rect">
                <a:avLst/>
              </a:prstGeom>
              <a:blipFill rotWithShape="1">
                <a:blip r:embed="rId4"/>
                <a:stretch>
                  <a:fillRect l="-15" t="-91" r="9" b="91"/>
                </a:stretch>
              </a:blipFill>
            </p:spPr>
            <p:txBody>
              <a:bodyPr/>
              <a:lstStyle/>
              <a:p>
                <a:r>
                  <a:rPr lang="zh-CN" altLang="en-US">
                    <a:noFill/>
                  </a:rPr>
                  <a:t> </a:t>
                </a:r>
              </a:p>
            </p:txBody>
          </p:sp>
        </mc:Fallback>
      </mc:AlternateContent>
      <p:sp>
        <p:nvSpPr>
          <p:cNvPr id="6" name="文本框 5"/>
          <p:cNvSpPr txBox="1"/>
          <p:nvPr/>
        </p:nvSpPr>
        <p:spPr>
          <a:xfrm>
            <a:off x="5583083" y="3243133"/>
            <a:ext cx="2716040" cy="706755"/>
          </a:xfrm>
          <a:prstGeom prst="rect">
            <a:avLst/>
          </a:prstGeom>
          <a:noFill/>
        </p:spPr>
        <p:txBody>
          <a:bodyPr wrap="square" rtlCol="0">
            <a:spAutoFit/>
          </a:bodyPr>
          <a:lstStyle/>
          <a:p>
            <a:r>
              <a:rPr lang="en-US" altLang="zh-CN" i="1" dirty="0" smtClean="0"/>
              <a:t>s</a:t>
            </a:r>
            <a:r>
              <a:rPr lang="en-US" altLang="zh-CN" dirty="0" smtClean="0"/>
              <a:t>=3~5mm   </a:t>
            </a:r>
            <a:r>
              <a:rPr lang="zh-CN" altLang="en-US" dirty="0" smtClean="0"/>
              <a:t>油润滑</a:t>
            </a:r>
            <a:endParaRPr lang="en-US" altLang="zh-CN" dirty="0" smtClean="0"/>
          </a:p>
          <a:p>
            <a:r>
              <a:rPr lang="en-US" altLang="zh-CN" dirty="0"/>
              <a:t>    8mm        </a:t>
            </a:r>
            <a:r>
              <a:rPr lang="zh-CN" altLang="en-US" dirty="0"/>
              <a:t>脂润滑</a:t>
            </a:r>
            <a:endParaRPr lang="zh-CN" altLang="en-US" dirty="0"/>
          </a:p>
        </p:txBody>
      </p:sp>
      <p:sp>
        <p:nvSpPr>
          <p:cNvPr id="7" name="文本框 6"/>
          <p:cNvSpPr txBox="1"/>
          <p:nvPr/>
        </p:nvSpPr>
        <p:spPr>
          <a:xfrm>
            <a:off x="5460344" y="4170069"/>
            <a:ext cx="2716040" cy="707886"/>
          </a:xfrm>
          <a:prstGeom prst="rect">
            <a:avLst/>
          </a:prstGeom>
          <a:noFill/>
        </p:spPr>
        <p:txBody>
          <a:bodyPr wrap="square" rtlCol="0">
            <a:spAutoFit/>
          </a:bodyPr>
          <a:lstStyle/>
          <a:p>
            <a:r>
              <a:rPr lang="zh-CN" altLang="en-US" dirty="0"/>
              <a:t>两</a:t>
            </a:r>
            <a:r>
              <a:rPr lang="zh-CN" altLang="en-US" dirty="0" smtClean="0"/>
              <a:t>个圆柱齿轮时  </a:t>
            </a:r>
            <a:r>
              <a:rPr lang="en-US" altLang="zh-CN" i="1" dirty="0" smtClean="0"/>
              <a:t>C</a:t>
            </a:r>
            <a:r>
              <a:rPr lang="en-US" altLang="zh-CN" dirty="0" smtClean="0"/>
              <a:t>&gt;2m(</a:t>
            </a:r>
            <a:r>
              <a:rPr lang="zh-CN" altLang="en-US" dirty="0" smtClean="0"/>
              <a:t>模数）</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left)">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p:cNvPicPr>
            <a:picLocks noChangeAspect="1" noChangeArrowheads="1"/>
          </p:cNvPicPr>
          <p:nvPr/>
        </p:nvPicPr>
        <p:blipFill rotWithShape="1">
          <a:blip r:embed="rId1" cstate="print">
            <a:extLst>
              <a:ext uri="{28A0092B-C50C-407E-A947-70E740481C1C}">
                <a14:useLocalDpi xmlns:a14="http://schemas.microsoft.com/office/drawing/2010/main" val="0"/>
              </a:ext>
            </a:extLst>
          </a:blip>
          <a:srcRect b="70513"/>
          <a:stretch>
            <a:fillRect/>
          </a:stretch>
        </p:blipFill>
        <p:spPr bwMode="auto">
          <a:xfrm>
            <a:off x="492675" y="1439500"/>
            <a:ext cx="7884102" cy="3286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p:cNvSpPr txBox="1"/>
          <p:nvPr/>
        </p:nvSpPr>
        <p:spPr>
          <a:xfrm>
            <a:off x="371192" y="479834"/>
            <a:ext cx="4544840" cy="400110"/>
          </a:xfrm>
          <a:prstGeom prst="rect">
            <a:avLst/>
          </a:prstGeom>
          <a:noFill/>
        </p:spPr>
        <p:txBody>
          <a:bodyPr wrap="square" rtlCol="0">
            <a:spAutoFit/>
          </a:bodyPr>
          <a:lstStyle/>
          <a:p>
            <a:r>
              <a:rPr lang="en-US" altLang="zh-CN" dirty="0" smtClean="0"/>
              <a:t>4</a:t>
            </a:r>
            <a:r>
              <a:rPr lang="zh-CN" altLang="en-US" dirty="0" smtClean="0"/>
              <a:t>、轴的结构设计</a:t>
            </a:r>
            <a:endParaRPr lang="zh-CN" altLang="en-US" dirty="0"/>
          </a:p>
        </p:txBody>
      </p:sp>
      <p:sp>
        <p:nvSpPr>
          <p:cNvPr id="4" name="文本框 3"/>
          <p:cNvSpPr txBox="1"/>
          <p:nvPr/>
        </p:nvSpPr>
        <p:spPr>
          <a:xfrm>
            <a:off x="1059255" y="986828"/>
            <a:ext cx="3648547" cy="400110"/>
          </a:xfrm>
          <a:prstGeom prst="rect">
            <a:avLst/>
          </a:prstGeom>
          <a:noFill/>
        </p:spPr>
        <p:txBody>
          <a:bodyPr wrap="square" rtlCol="0">
            <a:spAutoFit/>
          </a:bodyPr>
          <a:lstStyle/>
          <a:p>
            <a:r>
              <a:rPr lang="en-US" altLang="zh-CN" dirty="0" smtClean="0"/>
              <a:t>1</a:t>
            </a:r>
            <a:r>
              <a:rPr lang="zh-CN" altLang="en-US" dirty="0" smtClean="0"/>
              <a:t>）拟定轴上零件的装配方案</a:t>
            </a:r>
            <a:endParaRPr lang="zh-CN" altLang="en-US" dirty="0"/>
          </a:p>
        </p:txBody>
      </p:sp>
      <p:sp>
        <p:nvSpPr>
          <p:cNvPr id="5" name="文本框 4"/>
          <p:cNvSpPr txBox="1"/>
          <p:nvPr/>
        </p:nvSpPr>
        <p:spPr>
          <a:xfrm>
            <a:off x="1421396" y="2706985"/>
            <a:ext cx="307817" cy="461665"/>
          </a:xfrm>
          <a:prstGeom prst="rect">
            <a:avLst/>
          </a:prstGeom>
          <a:noFill/>
        </p:spPr>
        <p:txBody>
          <a:bodyPr wrap="square" rtlCol="0">
            <a:spAutoFit/>
          </a:bodyPr>
          <a:lstStyle/>
          <a:p>
            <a:r>
              <a:rPr lang="en-US" altLang="zh-CN" sz="2400" dirty="0" smtClean="0">
                <a:solidFill>
                  <a:srgbClr val="FF0000"/>
                </a:solidFill>
              </a:rPr>
              <a:t>Ⅰ</a:t>
            </a:r>
            <a:endParaRPr lang="zh-CN" altLang="en-US" sz="2400" dirty="0">
              <a:solidFill>
                <a:srgbClr val="FF0000"/>
              </a:solidFill>
            </a:endParaRPr>
          </a:p>
        </p:txBody>
      </p:sp>
      <p:sp>
        <p:nvSpPr>
          <p:cNvPr id="6" name="文本框 5"/>
          <p:cNvSpPr txBox="1"/>
          <p:nvPr/>
        </p:nvSpPr>
        <p:spPr>
          <a:xfrm>
            <a:off x="2163779" y="2743200"/>
            <a:ext cx="878185" cy="430887"/>
          </a:xfrm>
          <a:prstGeom prst="rect">
            <a:avLst/>
          </a:prstGeom>
          <a:noFill/>
        </p:spPr>
        <p:txBody>
          <a:bodyPr wrap="square" rtlCol="0">
            <a:spAutoFit/>
          </a:bodyPr>
          <a:lstStyle/>
          <a:p>
            <a:r>
              <a:rPr lang="en-US" altLang="zh-CN" sz="2200" dirty="0" smtClean="0">
                <a:solidFill>
                  <a:srgbClr val="FF0000"/>
                </a:solidFill>
              </a:rPr>
              <a:t>Ⅱ</a:t>
            </a:r>
            <a:endParaRPr lang="zh-CN" altLang="en-US" sz="2200" dirty="0">
              <a:solidFill>
                <a:srgbClr val="FF0000"/>
              </a:solidFill>
            </a:endParaRPr>
          </a:p>
        </p:txBody>
      </p:sp>
      <p:sp>
        <p:nvSpPr>
          <p:cNvPr id="8" name="文本框 7"/>
          <p:cNvSpPr txBox="1"/>
          <p:nvPr/>
        </p:nvSpPr>
        <p:spPr>
          <a:xfrm>
            <a:off x="4182701" y="2625504"/>
            <a:ext cx="977773" cy="430887"/>
          </a:xfrm>
          <a:prstGeom prst="rect">
            <a:avLst/>
          </a:prstGeom>
          <a:noFill/>
        </p:spPr>
        <p:txBody>
          <a:bodyPr wrap="square" rtlCol="0">
            <a:spAutoFit/>
          </a:bodyPr>
          <a:lstStyle/>
          <a:p>
            <a:r>
              <a:rPr lang="en-US" altLang="zh-CN" sz="2200" dirty="0" smtClean="0">
                <a:solidFill>
                  <a:srgbClr val="FF0000"/>
                </a:solidFill>
              </a:rPr>
              <a:t>Ⅳ</a:t>
            </a:r>
            <a:endParaRPr lang="zh-CN" altLang="en-US" sz="2200" dirty="0">
              <a:solidFill>
                <a:srgbClr val="FF0000"/>
              </a:solidFill>
            </a:endParaRPr>
          </a:p>
        </p:txBody>
      </p:sp>
      <p:sp>
        <p:nvSpPr>
          <p:cNvPr id="11" name="文本框 10"/>
          <p:cNvSpPr txBox="1"/>
          <p:nvPr/>
        </p:nvSpPr>
        <p:spPr>
          <a:xfrm>
            <a:off x="3005752" y="2761307"/>
            <a:ext cx="280658" cy="430887"/>
          </a:xfrm>
          <a:prstGeom prst="rect">
            <a:avLst/>
          </a:prstGeom>
          <a:noFill/>
        </p:spPr>
        <p:txBody>
          <a:bodyPr wrap="square" rtlCol="0">
            <a:spAutoFit/>
          </a:bodyPr>
          <a:lstStyle/>
          <a:p>
            <a:r>
              <a:rPr lang="en-US" altLang="zh-CN" sz="2200" dirty="0" smtClean="0">
                <a:solidFill>
                  <a:srgbClr val="FF0000"/>
                </a:solidFill>
              </a:rPr>
              <a:t>Ⅲ</a:t>
            </a:r>
            <a:endParaRPr lang="zh-CN" altLang="en-US" sz="2200" dirty="0">
              <a:solidFill>
                <a:srgbClr val="FF0000"/>
              </a:solidFill>
            </a:endParaRPr>
          </a:p>
        </p:txBody>
      </p:sp>
      <p:sp>
        <p:nvSpPr>
          <p:cNvPr id="12" name="文本框 11"/>
          <p:cNvSpPr txBox="1"/>
          <p:nvPr/>
        </p:nvSpPr>
        <p:spPr>
          <a:xfrm>
            <a:off x="5223850" y="2670771"/>
            <a:ext cx="624687" cy="430887"/>
          </a:xfrm>
          <a:prstGeom prst="rect">
            <a:avLst/>
          </a:prstGeom>
          <a:noFill/>
        </p:spPr>
        <p:txBody>
          <a:bodyPr wrap="square" rtlCol="0">
            <a:spAutoFit/>
          </a:bodyPr>
          <a:lstStyle/>
          <a:p>
            <a:r>
              <a:rPr lang="en-US" altLang="zh-CN" sz="2200" dirty="0" smtClean="0">
                <a:solidFill>
                  <a:srgbClr val="FF0000"/>
                </a:solidFill>
              </a:rPr>
              <a:t>Ⅴ</a:t>
            </a:r>
            <a:endParaRPr lang="zh-CN" altLang="en-US" sz="2200" dirty="0">
              <a:solidFill>
                <a:srgbClr val="FF0000"/>
              </a:solidFill>
            </a:endParaRPr>
          </a:p>
        </p:txBody>
      </p:sp>
      <p:sp>
        <p:nvSpPr>
          <p:cNvPr id="13" name="文本框 12"/>
          <p:cNvSpPr txBox="1"/>
          <p:nvPr/>
        </p:nvSpPr>
        <p:spPr>
          <a:xfrm>
            <a:off x="6002449" y="2661718"/>
            <a:ext cx="280658" cy="430887"/>
          </a:xfrm>
          <a:prstGeom prst="rect">
            <a:avLst/>
          </a:prstGeom>
          <a:noFill/>
        </p:spPr>
        <p:txBody>
          <a:bodyPr wrap="square" rtlCol="0">
            <a:spAutoFit/>
          </a:bodyPr>
          <a:lstStyle/>
          <a:p>
            <a:r>
              <a:rPr lang="en-US" altLang="zh-CN" sz="2200" dirty="0" smtClean="0">
                <a:solidFill>
                  <a:srgbClr val="FF0000"/>
                </a:solidFill>
              </a:rPr>
              <a:t>Ⅵ</a:t>
            </a:r>
            <a:endParaRPr lang="zh-CN" altLang="en-US" sz="2200" dirty="0">
              <a:solidFill>
                <a:srgbClr val="FF0000"/>
              </a:solidFill>
            </a:endParaRPr>
          </a:p>
        </p:txBody>
      </p:sp>
      <p:sp>
        <p:nvSpPr>
          <p:cNvPr id="14" name="文本框 13"/>
          <p:cNvSpPr txBox="1"/>
          <p:nvPr/>
        </p:nvSpPr>
        <p:spPr>
          <a:xfrm>
            <a:off x="6989276" y="2743200"/>
            <a:ext cx="597528" cy="430887"/>
          </a:xfrm>
          <a:prstGeom prst="rect">
            <a:avLst/>
          </a:prstGeom>
          <a:noFill/>
        </p:spPr>
        <p:txBody>
          <a:bodyPr wrap="square" rtlCol="0">
            <a:spAutoFit/>
          </a:bodyPr>
          <a:lstStyle/>
          <a:p>
            <a:r>
              <a:rPr lang="en-US" altLang="zh-CN" sz="2200" dirty="0" smtClean="0">
                <a:solidFill>
                  <a:srgbClr val="FF0000"/>
                </a:solidFill>
              </a:rPr>
              <a:t>Ⅶ</a:t>
            </a:r>
            <a:endParaRPr lang="zh-CN" altLang="en-US" sz="2200" dirty="0">
              <a:solidFill>
                <a:srgbClr val="FF0000"/>
              </a:solidFill>
            </a:endParaRPr>
          </a:p>
        </p:txBody>
      </p:sp>
      <p:sp>
        <p:nvSpPr>
          <p:cNvPr id="16" name="文本框 15"/>
          <p:cNvSpPr txBox="1"/>
          <p:nvPr/>
        </p:nvSpPr>
        <p:spPr>
          <a:xfrm>
            <a:off x="479836" y="4988458"/>
            <a:ext cx="1493819" cy="461665"/>
          </a:xfrm>
          <a:prstGeom prst="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5400000" scaled="1"/>
            <a:tileRect/>
          </a:gradFill>
        </p:spPr>
        <p:txBody>
          <a:bodyPr wrap="square" rtlCol="0">
            <a:spAutoFit/>
          </a:bodyPr>
          <a:lstStyle/>
          <a:p>
            <a:r>
              <a:rPr lang="en-US" altLang="zh-CN" sz="2400" dirty="0" err="1" smtClean="0">
                <a:solidFill>
                  <a:srgbClr val="FF0000"/>
                </a:solidFill>
              </a:rPr>
              <a:t>d</a:t>
            </a:r>
            <a:r>
              <a:rPr lang="en-US" altLang="zh-CN" sz="2400" baseline="-25000" dirty="0" err="1" smtClean="0">
                <a:solidFill>
                  <a:srgbClr val="FF0000"/>
                </a:solidFill>
              </a:rPr>
              <a:t>Ⅰ</a:t>
            </a:r>
            <a:r>
              <a:rPr lang="en-US" altLang="zh-CN" sz="2400" dirty="0" smtClean="0">
                <a:solidFill>
                  <a:srgbClr val="FF0000"/>
                </a:solidFill>
              </a:rPr>
              <a:t>=55mm</a:t>
            </a:r>
            <a:endParaRPr lang="zh-CN" altLang="en-US" sz="2400" dirty="0">
              <a:solidFill>
                <a:srgbClr val="FF0000"/>
              </a:solidFill>
            </a:endParaRPr>
          </a:p>
        </p:txBody>
      </p:sp>
      <p:sp>
        <p:nvSpPr>
          <p:cNvPr id="17" name="文本框 16"/>
          <p:cNvSpPr txBox="1"/>
          <p:nvPr/>
        </p:nvSpPr>
        <p:spPr>
          <a:xfrm>
            <a:off x="470780" y="5640310"/>
            <a:ext cx="1294646" cy="400110"/>
          </a:xfrm>
          <a:prstGeom prst="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5400000" scaled="1"/>
            <a:tileRect/>
          </a:gradFill>
        </p:spPr>
        <p:txBody>
          <a:bodyPr wrap="square" rtlCol="0">
            <a:spAutoFit/>
          </a:bodyPr>
          <a:lstStyle/>
          <a:p>
            <a:r>
              <a:rPr lang="en-US" altLang="zh-CN" i="1" dirty="0" smtClean="0"/>
              <a:t>l</a:t>
            </a:r>
            <a:r>
              <a:rPr lang="en-US" altLang="zh-CN" baseline="-25000" dirty="0" smtClean="0"/>
              <a:t>1</a:t>
            </a:r>
            <a:r>
              <a:rPr lang="en-US" altLang="zh-CN" dirty="0" smtClean="0"/>
              <a:t>=82mm</a:t>
            </a:r>
            <a:endParaRPr lang="zh-CN" altLang="en-US" dirty="0"/>
          </a:p>
        </p:txBody>
      </p:sp>
      <p:sp>
        <p:nvSpPr>
          <p:cNvPr id="18" name="文本框 17"/>
          <p:cNvSpPr txBox="1"/>
          <p:nvPr/>
        </p:nvSpPr>
        <p:spPr>
          <a:xfrm>
            <a:off x="570370" y="6219730"/>
            <a:ext cx="1493822" cy="400110"/>
          </a:xfrm>
          <a:prstGeom prst="rect">
            <a:avLst/>
          </a:prstGeom>
          <a:noFill/>
        </p:spPr>
        <p:txBody>
          <a:bodyPr wrap="square" rtlCol="0">
            <a:spAutoFit/>
          </a:bodyPr>
          <a:lstStyle/>
          <a:p>
            <a:r>
              <a:rPr lang="en-US" altLang="zh-CN" dirty="0" smtClean="0"/>
              <a:t>L=84mm</a:t>
            </a:r>
            <a:endParaRPr lang="zh-CN" altLang="en-US" dirty="0"/>
          </a:p>
        </p:txBody>
      </p:sp>
      <p:sp>
        <p:nvSpPr>
          <p:cNvPr id="19" name="文本框 18"/>
          <p:cNvSpPr txBox="1"/>
          <p:nvPr/>
        </p:nvSpPr>
        <p:spPr>
          <a:xfrm>
            <a:off x="2109458" y="4952246"/>
            <a:ext cx="1023041" cy="400110"/>
          </a:xfrm>
          <a:prstGeom prst="rect">
            <a:avLst/>
          </a:prstGeom>
          <a:noFill/>
        </p:spPr>
        <p:txBody>
          <a:bodyPr wrap="square" rtlCol="0">
            <a:spAutoFit/>
          </a:bodyPr>
          <a:lstStyle/>
          <a:p>
            <a:r>
              <a:rPr lang="en-US" altLang="zh-CN" dirty="0" smtClean="0"/>
              <a:t>h=2~3C</a:t>
            </a:r>
            <a:endParaRPr lang="zh-CN" altLang="en-US" dirty="0"/>
          </a:p>
        </p:txBody>
      </p:sp>
      <p:sp>
        <p:nvSpPr>
          <p:cNvPr id="20" name="文本框 19"/>
          <p:cNvSpPr txBox="1"/>
          <p:nvPr/>
        </p:nvSpPr>
        <p:spPr>
          <a:xfrm>
            <a:off x="2145671" y="5368705"/>
            <a:ext cx="1023041" cy="400110"/>
          </a:xfrm>
          <a:prstGeom prst="rect">
            <a:avLst/>
          </a:prstGeom>
          <a:noFill/>
        </p:spPr>
        <p:txBody>
          <a:bodyPr wrap="square" rtlCol="0">
            <a:spAutoFit/>
          </a:bodyPr>
          <a:lstStyle/>
          <a:p>
            <a:r>
              <a:rPr lang="en-US" altLang="zh-CN" dirty="0" smtClean="0"/>
              <a:t>C=2mm</a:t>
            </a:r>
            <a:endParaRPr lang="zh-CN" altLang="en-US" dirty="0"/>
          </a:p>
        </p:txBody>
      </p:sp>
      <p:sp>
        <p:nvSpPr>
          <p:cNvPr id="21" name="文本框 20"/>
          <p:cNvSpPr txBox="1"/>
          <p:nvPr/>
        </p:nvSpPr>
        <p:spPr>
          <a:xfrm>
            <a:off x="2073246" y="5667467"/>
            <a:ext cx="1493819" cy="461665"/>
          </a:xfrm>
          <a:prstGeom prst="rect">
            <a:avLst/>
          </a:prstGeom>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p:spPr>
        <p:txBody>
          <a:bodyPr wrap="square" rtlCol="0">
            <a:spAutoFit/>
          </a:bodyPr>
          <a:lstStyle/>
          <a:p>
            <a:r>
              <a:rPr lang="en-US" altLang="zh-CN" sz="2400" dirty="0" err="1" smtClean="0">
                <a:solidFill>
                  <a:srgbClr val="FF0000"/>
                </a:solidFill>
              </a:rPr>
              <a:t>d</a:t>
            </a:r>
            <a:r>
              <a:rPr lang="en-US" altLang="zh-CN" sz="2400" baseline="-25000" dirty="0" err="1" smtClean="0">
                <a:solidFill>
                  <a:srgbClr val="FF0000"/>
                </a:solidFill>
              </a:rPr>
              <a:t>Ⅱ</a:t>
            </a:r>
            <a:r>
              <a:rPr lang="en-US" altLang="zh-CN" sz="2400" dirty="0" smtClean="0">
                <a:solidFill>
                  <a:srgbClr val="FF0000"/>
                </a:solidFill>
              </a:rPr>
              <a:t>=62mm</a:t>
            </a:r>
            <a:endParaRPr lang="zh-CN" altLang="en-US" sz="2400" dirty="0">
              <a:solidFill>
                <a:srgbClr val="FF0000"/>
              </a:solidFill>
            </a:endParaRPr>
          </a:p>
        </p:txBody>
      </p:sp>
      <p:cxnSp>
        <p:nvCxnSpPr>
          <p:cNvPr id="23" name="直接箭头连接符 22"/>
          <p:cNvCxnSpPr/>
          <p:nvPr/>
        </p:nvCxnSpPr>
        <p:spPr bwMode="auto">
          <a:xfrm>
            <a:off x="1955549" y="3720974"/>
            <a:ext cx="407405" cy="0"/>
          </a:xfrm>
          <a:prstGeom prst="straightConnector1">
            <a:avLst/>
          </a:prstGeom>
          <a:solidFill>
            <a:schemeClr val="accent1"/>
          </a:solidFill>
          <a:ln w="9525" cap="flat" cmpd="sng" algn="ctr">
            <a:solidFill>
              <a:srgbClr val="FF0000"/>
            </a:solidFill>
            <a:prstDash val="solid"/>
            <a:round/>
            <a:headEnd type="triangle" w="med" len="med"/>
            <a:tailEnd type="triangle" w="med" len="med"/>
          </a:ln>
          <a:effectLst/>
        </p:spPr>
      </p:cxnSp>
      <mc:AlternateContent xmlns:mc="http://schemas.openxmlformats.org/markup-compatibility/2006">
        <mc:Choice xmlns:a14="http://schemas.microsoft.com/office/drawing/2010/main" Requires="a14">
          <p:sp>
            <p:nvSpPr>
              <p:cNvPr id="24" name="文本框 23"/>
              <p:cNvSpPr txBox="1"/>
              <p:nvPr/>
            </p:nvSpPr>
            <p:spPr>
              <a:xfrm>
                <a:off x="1122630" y="4616161"/>
                <a:ext cx="2209045" cy="400110"/>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𝐿</m:t>
                          </m:r>
                        </m:e>
                        <m:sup>
                          <m:r>
                            <a:rPr lang="en-US" altLang="zh-CN" b="0" i="1" smtClean="0">
                              <a:latin typeface="Cambria Math" panose="02040503050406030204" pitchFamily="18" charset="0"/>
                            </a:rPr>
                            <m:t>′</m:t>
                          </m:r>
                        </m:sup>
                      </m:sSup>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15</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20</m:t>
                      </m:r>
                      <m:r>
                        <a:rPr lang="en-US" altLang="zh-CN" b="0" i="1" smtClean="0">
                          <a:latin typeface="Cambria Math" panose="02040503050406030204" pitchFamily="18" charset="0"/>
                          <a:ea typeface="Cambria Math" panose="02040503050406030204" pitchFamily="18" charset="0"/>
                        </a:rPr>
                        <m:t>𝑚𝑚</m:t>
                      </m:r>
                    </m:oMath>
                  </m:oMathPara>
                </a14:m>
                <a:endParaRPr lang="zh-CN" altLang="en-US" dirty="0"/>
              </a:p>
            </p:txBody>
          </p:sp>
        </mc:Choice>
        <mc:Fallback>
          <p:sp>
            <p:nvSpPr>
              <p:cNvPr id="24" name="文本框 23"/>
              <p:cNvSpPr txBox="1">
                <a:spLocks noRot="1" noChangeAspect="1" noMove="1" noResize="1" noEditPoints="1" noAdjustHandles="1" noChangeArrowheads="1" noChangeShapeType="1" noTextEdit="1"/>
              </p:cNvSpPr>
              <p:nvPr/>
            </p:nvSpPr>
            <p:spPr>
              <a:xfrm>
                <a:off x="1122630" y="4616161"/>
                <a:ext cx="2209045" cy="400110"/>
              </a:xfrm>
              <a:prstGeom prst="rect">
                <a:avLst/>
              </a:prstGeom>
              <a:blipFill rotWithShape="1">
                <a:blip r:embed="rId2"/>
                <a:stretch>
                  <a:fillRect l="-26" t="-86" r="21" b="101"/>
                </a:stretch>
              </a:blipFill>
            </p:spPr>
            <p:txBody>
              <a:bodyPr/>
              <a:lstStyle/>
              <a:p>
                <a:r>
                  <a:rPr lang="zh-CN" altLang="en-US">
                    <a:noFill/>
                  </a:rPr>
                  <a:t> </a:t>
                </a:r>
              </a:p>
            </p:txBody>
          </p:sp>
        </mc:Fallback>
      </mc:AlternateContent>
      <p:sp>
        <p:nvSpPr>
          <p:cNvPr id="25" name="文本框 24"/>
          <p:cNvSpPr txBox="1"/>
          <p:nvPr/>
        </p:nvSpPr>
        <p:spPr>
          <a:xfrm>
            <a:off x="2041265" y="6267408"/>
            <a:ext cx="2170008" cy="400110"/>
          </a:xfrm>
          <a:prstGeom prst="rect">
            <a:avLst/>
          </a:prstGeom>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p:spPr>
        <p:txBody>
          <a:bodyPr wrap="square" rtlCol="0">
            <a:spAutoFit/>
          </a:bodyPr>
          <a:lstStyle/>
          <a:p>
            <a:r>
              <a:rPr lang="en-US" altLang="zh-CN" i="1" dirty="0" smtClean="0"/>
              <a:t>l</a:t>
            </a:r>
            <a:r>
              <a:rPr lang="en-US" altLang="zh-CN" baseline="-25000" dirty="0" smtClean="0"/>
              <a:t>2</a:t>
            </a:r>
            <a:r>
              <a:rPr lang="en-US" altLang="zh-CN" dirty="0" smtClean="0"/>
              <a:t>=30+20=50mm</a:t>
            </a:r>
            <a:endParaRPr lang="zh-CN" altLang="en-US" dirty="0"/>
          </a:p>
        </p:txBody>
      </p:sp>
      <p:sp>
        <p:nvSpPr>
          <p:cNvPr id="22" name="文本框 21"/>
          <p:cNvSpPr txBox="1"/>
          <p:nvPr/>
        </p:nvSpPr>
        <p:spPr>
          <a:xfrm>
            <a:off x="3467480" y="4997510"/>
            <a:ext cx="1566247" cy="461665"/>
          </a:xfrm>
          <a:prstGeom prst="rect">
            <a:avLst/>
          </a:prstGeom>
          <a:gradFill flip="none" rotWithShape="1">
            <a:gsLst>
              <a:gs pos="0">
                <a:srgbClr val="00B050">
                  <a:tint val="66000"/>
                  <a:satMod val="160000"/>
                </a:srgbClr>
              </a:gs>
              <a:gs pos="50000">
                <a:srgbClr val="00B050">
                  <a:tint val="44500"/>
                  <a:satMod val="160000"/>
                </a:srgbClr>
              </a:gs>
              <a:gs pos="100000">
                <a:srgbClr val="00B050">
                  <a:tint val="23500"/>
                  <a:satMod val="160000"/>
                </a:srgbClr>
              </a:gs>
            </a:gsLst>
            <a:lin ang="5400000" scaled="1"/>
            <a:tileRect/>
          </a:gradFill>
        </p:spPr>
        <p:txBody>
          <a:bodyPr wrap="square" rtlCol="0">
            <a:spAutoFit/>
          </a:bodyPr>
          <a:lstStyle/>
          <a:p>
            <a:r>
              <a:rPr lang="en-US" altLang="zh-CN" sz="2400" dirty="0" err="1" smtClean="0">
                <a:solidFill>
                  <a:srgbClr val="FF0000"/>
                </a:solidFill>
              </a:rPr>
              <a:t>d</a:t>
            </a:r>
            <a:r>
              <a:rPr lang="en-US" altLang="zh-CN" sz="2400" baseline="-25000" dirty="0" err="1" smtClean="0">
                <a:solidFill>
                  <a:srgbClr val="FF0000"/>
                </a:solidFill>
              </a:rPr>
              <a:t>Ⅲ</a:t>
            </a:r>
            <a:r>
              <a:rPr lang="en-US" altLang="zh-CN" sz="2400" dirty="0" smtClean="0">
                <a:solidFill>
                  <a:srgbClr val="FF0000"/>
                </a:solidFill>
              </a:rPr>
              <a:t>=65mm</a:t>
            </a:r>
            <a:endParaRPr lang="zh-CN" altLang="en-US" sz="2400" dirty="0">
              <a:solidFill>
                <a:srgbClr val="FF0000"/>
              </a:solidFill>
            </a:endParaRPr>
          </a:p>
        </p:txBody>
      </p:sp>
      <p:sp>
        <p:nvSpPr>
          <p:cNvPr id="7" name="文本框 6"/>
          <p:cNvSpPr txBox="1"/>
          <p:nvPr/>
        </p:nvSpPr>
        <p:spPr>
          <a:xfrm>
            <a:off x="2761306" y="0"/>
            <a:ext cx="1249378" cy="398353"/>
          </a:xfrm>
          <a:prstGeom prst="rect">
            <a:avLst/>
          </a:prstGeom>
          <a:solidFill>
            <a:schemeClr val="tx2">
              <a:lumMod val="85000"/>
            </a:schemeClr>
          </a:solidFill>
        </p:spPr>
        <p:txBody>
          <a:bodyPr wrap="square" rtlCol="0">
            <a:spAutoFit/>
          </a:bodyPr>
          <a:lstStyle/>
          <a:p>
            <a:r>
              <a:rPr lang="en-US" altLang="zh-CN" dirty="0" smtClean="0">
                <a:solidFill>
                  <a:srgbClr val="FF0000"/>
                </a:solidFill>
              </a:rPr>
              <a:t>30313</a:t>
            </a:r>
            <a:endParaRPr lang="zh-CN" altLang="en-US" dirty="0">
              <a:solidFill>
                <a:srgbClr val="FF0000"/>
              </a:solidFill>
            </a:endParaRPr>
          </a:p>
        </p:txBody>
      </p:sp>
      <mc:AlternateContent xmlns:mc="http://schemas.openxmlformats.org/markup-compatibility/2006">
        <mc:Choice xmlns:a14="http://schemas.microsoft.com/office/drawing/2010/main" Requires="a14">
          <p:sp>
            <p:nvSpPr>
              <p:cNvPr id="26" name="文本框 25"/>
              <p:cNvSpPr txBox="1"/>
              <p:nvPr/>
            </p:nvSpPr>
            <p:spPr>
              <a:xfrm>
                <a:off x="2589291" y="379138"/>
                <a:ext cx="2127564" cy="706755"/>
              </a:xfrm>
              <a:prstGeom prst="rect">
                <a:avLst/>
              </a:prstGeom>
              <a:solidFill>
                <a:schemeClr val="tx2">
                  <a:lumMod val="85000"/>
                </a:schemeClr>
              </a:solid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CN" b="0" i="1" dirty="0" smtClean="0">
                          <a:solidFill>
                            <a:srgbClr val="FF0000"/>
                          </a:solidFill>
                          <a:latin typeface="Cambria Math" panose="02040503050406030204" pitchFamily="18" charset="0"/>
                        </a:rPr>
                        <m:t>𝑑</m:t>
                      </m:r>
                      <m:r>
                        <a:rPr lang="en-US" altLang="zh-CN" b="0" i="1" dirty="0" smtClean="0">
                          <a:solidFill>
                            <a:srgbClr val="FF0000"/>
                          </a:solidFill>
                          <a:latin typeface="Cambria Math" panose="02040503050406030204" pitchFamily="18" charset="0"/>
                          <a:ea typeface="Cambria Math" panose="02040503050406030204" pitchFamily="18" charset="0"/>
                        </a:rPr>
                        <m:t>×</m:t>
                      </m:r>
                      <m:r>
                        <a:rPr lang="en-US" altLang="zh-CN" b="0" i="1" dirty="0" smtClean="0">
                          <a:solidFill>
                            <a:srgbClr val="FF0000"/>
                          </a:solidFill>
                          <a:latin typeface="Cambria Math" panose="02040503050406030204" pitchFamily="18" charset="0"/>
                          <a:ea typeface="Cambria Math" panose="02040503050406030204" pitchFamily="18" charset="0"/>
                        </a:rPr>
                        <m:t>𝐷</m:t>
                      </m:r>
                      <m:r>
                        <a:rPr lang="en-US" altLang="zh-CN" b="0" i="1" dirty="0" smtClean="0">
                          <a:solidFill>
                            <a:srgbClr val="FF0000"/>
                          </a:solidFill>
                          <a:latin typeface="Cambria Math" panose="02040503050406030204" pitchFamily="18" charset="0"/>
                          <a:ea typeface="Cambria Math" panose="02040503050406030204" pitchFamily="18" charset="0"/>
                        </a:rPr>
                        <m:t>×</m:t>
                      </m:r>
                      <m:r>
                        <a:rPr lang="en-US" altLang="zh-CN" b="0" i="1" dirty="0" smtClean="0">
                          <a:solidFill>
                            <a:srgbClr val="FF0000"/>
                          </a:solidFill>
                          <a:latin typeface="Cambria Math" panose="02040503050406030204" pitchFamily="18" charset="0"/>
                          <a:ea typeface="Cambria Math" panose="02040503050406030204" pitchFamily="18" charset="0"/>
                        </a:rPr>
                        <m:t>𝐵</m:t>
                      </m:r>
                      <m:r>
                        <a:rPr lang="en-US" altLang="zh-CN" b="0" i="1" dirty="0" smtClean="0">
                          <a:solidFill>
                            <a:srgbClr val="FF0000"/>
                          </a:solidFill>
                          <a:latin typeface="Cambria Math" panose="02040503050406030204" pitchFamily="18" charset="0"/>
                          <a:ea typeface="Cambria Math" panose="02040503050406030204" pitchFamily="18" charset="0"/>
                        </a:rPr>
                        <m:t>=</m:t>
                      </m:r>
                      <m:r>
                        <a:rPr lang="en-US" altLang="zh-CN" b="0" i="1" dirty="0" smtClean="0">
                          <a:solidFill>
                            <a:srgbClr val="FF0000"/>
                          </a:solidFill>
                          <a:latin typeface="Cambria Math" panose="02040503050406030204" pitchFamily="18" charset="0"/>
                          <a:ea typeface="Cambria Math" panose="02040503050406030204" pitchFamily="18" charset="0"/>
                        </a:rPr>
                        <m:t>65</m:t>
                      </m:r>
                      <m:r>
                        <a:rPr lang="en-US" altLang="zh-CN" b="0" i="1" dirty="0" smtClean="0">
                          <a:solidFill>
                            <a:srgbClr val="FF0000"/>
                          </a:solidFill>
                          <a:latin typeface="Cambria Math" panose="02040503050406030204" pitchFamily="18" charset="0"/>
                          <a:ea typeface="Cambria Math" panose="02040503050406030204" pitchFamily="18" charset="0"/>
                        </a:rPr>
                        <m:t>×</m:t>
                      </m:r>
                      <m:r>
                        <a:rPr lang="en-US" altLang="zh-CN" b="0" i="1" dirty="0" smtClean="0">
                          <a:solidFill>
                            <a:srgbClr val="FF0000"/>
                          </a:solidFill>
                          <a:latin typeface="Cambria Math" panose="02040503050406030204" pitchFamily="18" charset="0"/>
                          <a:ea typeface="Cambria Math" panose="02040503050406030204" pitchFamily="18" charset="0"/>
                        </a:rPr>
                        <m:t>140</m:t>
                      </m:r>
                      <m:r>
                        <a:rPr lang="en-US" altLang="zh-CN" b="0" i="1" dirty="0" smtClean="0">
                          <a:solidFill>
                            <a:srgbClr val="FF0000"/>
                          </a:solidFill>
                          <a:latin typeface="Cambria Math" panose="02040503050406030204" pitchFamily="18" charset="0"/>
                          <a:ea typeface="Cambria Math" panose="02040503050406030204" pitchFamily="18" charset="0"/>
                        </a:rPr>
                        <m:t>×</m:t>
                      </m:r>
                      <m:r>
                        <a:rPr lang="en-US" altLang="zh-CN" b="0" i="1" dirty="0" smtClean="0">
                          <a:solidFill>
                            <a:srgbClr val="FF0000"/>
                          </a:solidFill>
                          <a:latin typeface="Cambria Math" panose="02040503050406030204" pitchFamily="18" charset="0"/>
                          <a:ea typeface="Cambria Math" panose="02040503050406030204" pitchFamily="18" charset="0"/>
                        </a:rPr>
                        <m:t>36</m:t>
                      </m:r>
                    </m:oMath>
                  </m:oMathPara>
                </a14:m>
                <a:endParaRPr lang="zh-CN" altLang="en-US" dirty="0">
                  <a:solidFill>
                    <a:srgbClr val="FF0000"/>
                  </a:solidFill>
                </a:endParaRPr>
              </a:p>
            </p:txBody>
          </p:sp>
        </mc:Choice>
        <mc:Fallback>
          <p:sp>
            <p:nvSpPr>
              <p:cNvPr id="26" name="文本框 25"/>
              <p:cNvSpPr txBox="1">
                <a:spLocks noRot="1" noChangeAspect="1" noMove="1" noResize="1" noEditPoints="1" noAdjustHandles="1" noChangeArrowheads="1" noChangeShapeType="1" noTextEdit="1"/>
              </p:cNvSpPr>
              <p:nvPr/>
            </p:nvSpPr>
            <p:spPr>
              <a:xfrm>
                <a:off x="2589291" y="379138"/>
                <a:ext cx="2127564" cy="706755"/>
              </a:xfrm>
              <a:prstGeom prst="rect">
                <a:avLst/>
              </a:prstGeom>
              <a:blipFill rotWithShape="1">
                <a:blip r:embed="rId3"/>
                <a:stretch>
                  <a:fillRect l="-19" t="-6" r="4" b="6"/>
                </a:stretch>
              </a:blipFill>
            </p:spPr>
            <p:txBody>
              <a:bodyPr/>
              <a:lstStyle/>
              <a:p>
                <a:r>
                  <a:rPr lang="zh-CN" altLang="en-US">
                    <a:noFill/>
                  </a:rPr>
                  <a:t> </a:t>
                </a:r>
              </a:p>
            </p:txBody>
          </p:sp>
        </mc:Fallback>
      </mc:AlternateContent>
      <p:sp>
        <p:nvSpPr>
          <p:cNvPr id="27" name="文本框 26"/>
          <p:cNvSpPr txBox="1"/>
          <p:nvPr/>
        </p:nvSpPr>
        <p:spPr>
          <a:xfrm>
            <a:off x="3558012" y="5486402"/>
            <a:ext cx="1593410" cy="706755"/>
          </a:xfrm>
          <a:prstGeom prst="rect">
            <a:avLst/>
          </a:prstGeom>
          <a:gradFill flip="none" rotWithShape="1">
            <a:gsLst>
              <a:gs pos="0">
                <a:srgbClr val="00B050">
                  <a:tint val="66000"/>
                  <a:satMod val="160000"/>
                </a:srgbClr>
              </a:gs>
              <a:gs pos="50000">
                <a:srgbClr val="00B050">
                  <a:tint val="44500"/>
                  <a:satMod val="160000"/>
                </a:srgbClr>
              </a:gs>
              <a:gs pos="100000">
                <a:srgbClr val="00B050">
                  <a:tint val="23500"/>
                  <a:satMod val="160000"/>
                </a:srgbClr>
              </a:gs>
            </a:gsLst>
            <a:lin ang="5400000" scaled="1"/>
            <a:tileRect/>
          </a:gradFill>
        </p:spPr>
        <p:txBody>
          <a:bodyPr wrap="square" rtlCol="0">
            <a:spAutoFit/>
          </a:bodyPr>
          <a:lstStyle/>
          <a:p>
            <a:r>
              <a:rPr lang="en-US" altLang="zh-CN" i="1" dirty="0" smtClean="0"/>
              <a:t>l</a:t>
            </a:r>
            <a:r>
              <a:rPr lang="en-US" altLang="zh-CN" baseline="-25000" dirty="0" smtClean="0"/>
              <a:t>3</a:t>
            </a:r>
            <a:r>
              <a:rPr lang="en-US" altLang="zh-CN" dirty="0" smtClean="0"/>
              <a:t>=36+8+16+2=62mm</a:t>
            </a:r>
            <a:endParaRPr lang="zh-CN" altLang="en-US" dirty="0"/>
          </a:p>
        </p:txBody>
      </p:sp>
      <p:sp>
        <p:nvSpPr>
          <p:cNvPr id="28" name="文本框 27"/>
          <p:cNvSpPr txBox="1"/>
          <p:nvPr/>
        </p:nvSpPr>
        <p:spPr>
          <a:xfrm>
            <a:off x="5106156" y="5024671"/>
            <a:ext cx="1584355" cy="461665"/>
          </a:xfrm>
          <a:prstGeom prst="rect">
            <a:avLst/>
          </a:prstGeom>
          <a:gradFill flip="none" rotWithShape="1">
            <a:gsLst>
              <a:gs pos="0">
                <a:srgbClr val="0070C0">
                  <a:tint val="66000"/>
                  <a:satMod val="160000"/>
                </a:srgbClr>
              </a:gs>
              <a:gs pos="50000">
                <a:srgbClr val="0070C0">
                  <a:tint val="44500"/>
                  <a:satMod val="160000"/>
                </a:srgbClr>
              </a:gs>
              <a:gs pos="100000">
                <a:srgbClr val="0070C0">
                  <a:tint val="23500"/>
                  <a:satMod val="160000"/>
                </a:srgbClr>
              </a:gs>
            </a:gsLst>
            <a:lin ang="5400000" scaled="1"/>
            <a:tileRect/>
          </a:gradFill>
        </p:spPr>
        <p:txBody>
          <a:bodyPr wrap="square" rtlCol="0">
            <a:spAutoFit/>
          </a:bodyPr>
          <a:lstStyle/>
          <a:p>
            <a:r>
              <a:rPr lang="en-US" altLang="zh-CN" sz="2400" dirty="0" err="1" smtClean="0">
                <a:solidFill>
                  <a:srgbClr val="FF0000"/>
                </a:solidFill>
              </a:rPr>
              <a:t>d</a:t>
            </a:r>
            <a:r>
              <a:rPr lang="en-US" altLang="zh-CN" sz="2400" baseline="-25000" dirty="0" err="1" smtClean="0">
                <a:solidFill>
                  <a:srgbClr val="FF0000"/>
                </a:solidFill>
              </a:rPr>
              <a:t>Ⅳ</a:t>
            </a:r>
            <a:r>
              <a:rPr lang="en-US" altLang="zh-CN" sz="2400" dirty="0" smtClean="0">
                <a:solidFill>
                  <a:srgbClr val="FF0000"/>
                </a:solidFill>
              </a:rPr>
              <a:t>=70mm</a:t>
            </a:r>
            <a:endParaRPr lang="zh-CN" altLang="en-US" sz="2400" dirty="0">
              <a:solidFill>
                <a:srgbClr val="FF0000"/>
              </a:solidFill>
            </a:endParaRPr>
          </a:p>
        </p:txBody>
      </p:sp>
      <p:sp>
        <p:nvSpPr>
          <p:cNvPr id="30" name="文本框 29"/>
          <p:cNvSpPr txBox="1"/>
          <p:nvPr/>
        </p:nvSpPr>
        <p:spPr>
          <a:xfrm>
            <a:off x="5151422" y="5567882"/>
            <a:ext cx="1756372" cy="398780"/>
          </a:xfrm>
          <a:prstGeom prst="rect">
            <a:avLst/>
          </a:prstGeom>
          <a:gradFill flip="none" rotWithShape="1">
            <a:gsLst>
              <a:gs pos="0">
                <a:srgbClr val="0070C0">
                  <a:tint val="66000"/>
                  <a:satMod val="160000"/>
                </a:srgbClr>
              </a:gs>
              <a:gs pos="50000">
                <a:srgbClr val="0070C0">
                  <a:tint val="44500"/>
                  <a:satMod val="160000"/>
                </a:srgbClr>
              </a:gs>
              <a:gs pos="100000">
                <a:srgbClr val="0070C0">
                  <a:tint val="23500"/>
                  <a:satMod val="160000"/>
                </a:srgbClr>
              </a:gs>
            </a:gsLst>
            <a:lin ang="5400000" scaled="1"/>
            <a:tileRect/>
          </a:gradFill>
        </p:spPr>
        <p:txBody>
          <a:bodyPr wrap="square" rtlCol="0">
            <a:spAutoFit/>
          </a:bodyPr>
          <a:lstStyle/>
          <a:p>
            <a:r>
              <a:rPr lang="en-US" altLang="zh-CN" i="1" dirty="0" smtClean="0"/>
              <a:t>l</a:t>
            </a:r>
            <a:r>
              <a:rPr lang="en-US" altLang="zh-CN" baseline="-25000" dirty="0" smtClean="0"/>
              <a:t>4</a:t>
            </a:r>
            <a:r>
              <a:rPr lang="en-US" altLang="zh-CN" dirty="0" smtClean="0"/>
              <a:t>=80-2=78mm</a:t>
            </a:r>
            <a:endParaRPr lang="zh-CN" altLang="en-US" dirty="0"/>
          </a:p>
        </p:txBody>
      </p:sp>
      <p:sp>
        <p:nvSpPr>
          <p:cNvPr id="31" name="文本框 30"/>
          <p:cNvSpPr txBox="1"/>
          <p:nvPr/>
        </p:nvSpPr>
        <p:spPr>
          <a:xfrm>
            <a:off x="6844421" y="4979404"/>
            <a:ext cx="1720157" cy="461665"/>
          </a:xfrm>
          <a:prstGeom prst="rect">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5400000" scaled="1"/>
            <a:tileRect/>
          </a:gradFill>
        </p:spPr>
        <p:txBody>
          <a:bodyPr wrap="square" rtlCol="0">
            <a:spAutoFit/>
          </a:bodyPr>
          <a:lstStyle/>
          <a:p>
            <a:r>
              <a:rPr lang="en-US" altLang="zh-CN" sz="2400" dirty="0" err="1" smtClean="0">
                <a:solidFill>
                  <a:srgbClr val="FF0000"/>
                </a:solidFill>
              </a:rPr>
              <a:t>d</a:t>
            </a:r>
            <a:r>
              <a:rPr lang="en-US" altLang="zh-CN" sz="2400" baseline="-25000" dirty="0" err="1" smtClean="0">
                <a:solidFill>
                  <a:srgbClr val="FF0000"/>
                </a:solidFill>
              </a:rPr>
              <a:t>Ⅴ</a:t>
            </a:r>
            <a:r>
              <a:rPr lang="en-US" altLang="zh-CN" sz="2400" dirty="0" smtClean="0">
                <a:solidFill>
                  <a:srgbClr val="FF0000"/>
                </a:solidFill>
              </a:rPr>
              <a:t>=82mm</a:t>
            </a:r>
            <a:endParaRPr lang="zh-CN" altLang="en-US" sz="2400" dirty="0">
              <a:solidFill>
                <a:srgbClr val="FF0000"/>
              </a:solidFill>
            </a:endParaRPr>
          </a:p>
        </p:txBody>
      </p:sp>
      <p:sp>
        <p:nvSpPr>
          <p:cNvPr id="32" name="文本框 31"/>
          <p:cNvSpPr txBox="1"/>
          <p:nvPr/>
        </p:nvSpPr>
        <p:spPr>
          <a:xfrm>
            <a:off x="6934955" y="5486400"/>
            <a:ext cx="1023041" cy="400110"/>
          </a:xfrm>
          <a:prstGeom prst="rect">
            <a:avLst/>
          </a:prstGeom>
          <a:noFill/>
        </p:spPr>
        <p:txBody>
          <a:bodyPr wrap="square" rtlCol="0">
            <a:spAutoFit/>
          </a:bodyPr>
          <a:lstStyle/>
          <a:p>
            <a:r>
              <a:rPr lang="en-US" altLang="zh-CN" dirty="0" smtClean="0"/>
              <a:t>h=2~3R</a:t>
            </a:r>
            <a:endParaRPr lang="zh-CN" altLang="en-US" dirty="0"/>
          </a:p>
        </p:txBody>
      </p:sp>
      <p:sp>
        <p:nvSpPr>
          <p:cNvPr id="33" name="文本框 32"/>
          <p:cNvSpPr txBox="1"/>
          <p:nvPr/>
        </p:nvSpPr>
        <p:spPr>
          <a:xfrm>
            <a:off x="7061702" y="5866645"/>
            <a:ext cx="1023041" cy="400110"/>
          </a:xfrm>
          <a:prstGeom prst="rect">
            <a:avLst/>
          </a:prstGeom>
          <a:noFill/>
        </p:spPr>
        <p:txBody>
          <a:bodyPr wrap="square" rtlCol="0">
            <a:spAutoFit/>
          </a:bodyPr>
          <a:lstStyle/>
          <a:p>
            <a:r>
              <a:rPr lang="en-US" altLang="zh-CN" dirty="0" smtClean="0"/>
              <a:t>R=2mm</a:t>
            </a:r>
            <a:endParaRPr lang="zh-CN" altLang="en-US" dirty="0"/>
          </a:p>
        </p:txBody>
      </p:sp>
      <p:sp>
        <p:nvSpPr>
          <p:cNvPr id="34" name="文本框 33"/>
          <p:cNvSpPr txBox="1"/>
          <p:nvPr/>
        </p:nvSpPr>
        <p:spPr>
          <a:xfrm>
            <a:off x="6980221" y="6301213"/>
            <a:ext cx="2055137" cy="400110"/>
          </a:xfrm>
          <a:prstGeom prst="rect">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5400000" scaled="1"/>
            <a:tileRect/>
          </a:gradFill>
        </p:spPr>
        <p:txBody>
          <a:bodyPr wrap="square" rtlCol="0">
            <a:spAutoFit/>
          </a:bodyPr>
          <a:lstStyle/>
          <a:p>
            <a:r>
              <a:rPr lang="en-US" altLang="zh-CN" i="1" dirty="0" smtClean="0"/>
              <a:t>l</a:t>
            </a:r>
            <a:r>
              <a:rPr lang="en-US" altLang="zh-CN" baseline="-25000" dirty="0" smtClean="0"/>
              <a:t>5</a:t>
            </a:r>
            <a:r>
              <a:rPr lang="en-US" altLang="zh-CN" dirty="0" smtClean="0"/>
              <a:t>&gt;1.4h=12mm</a:t>
            </a:r>
            <a:endParaRPr lang="zh-CN" altLang="en-US" dirty="0"/>
          </a:p>
        </p:txBody>
      </p:sp>
      <p:sp>
        <p:nvSpPr>
          <p:cNvPr id="35" name="文本框 34"/>
          <p:cNvSpPr txBox="1"/>
          <p:nvPr/>
        </p:nvSpPr>
        <p:spPr>
          <a:xfrm>
            <a:off x="7088865" y="0"/>
            <a:ext cx="1747317" cy="461665"/>
          </a:xfrm>
          <a:prstGeom prst="rect">
            <a:avLst/>
          </a:prstGeom>
          <a:gradFill flip="none" rotWithShape="1">
            <a:gsLst>
              <a:gs pos="0">
                <a:srgbClr val="7030A0">
                  <a:tint val="66000"/>
                  <a:satMod val="160000"/>
                </a:srgbClr>
              </a:gs>
              <a:gs pos="50000">
                <a:srgbClr val="7030A0">
                  <a:tint val="44500"/>
                  <a:satMod val="160000"/>
                </a:srgbClr>
              </a:gs>
              <a:gs pos="100000">
                <a:srgbClr val="7030A0">
                  <a:tint val="23500"/>
                  <a:satMod val="160000"/>
                </a:srgbClr>
              </a:gs>
            </a:gsLst>
            <a:lin ang="5400000" scaled="1"/>
            <a:tileRect/>
          </a:gradFill>
        </p:spPr>
        <p:txBody>
          <a:bodyPr wrap="square" rtlCol="0">
            <a:spAutoFit/>
          </a:bodyPr>
          <a:lstStyle/>
          <a:p>
            <a:r>
              <a:rPr lang="en-US" altLang="zh-CN" sz="2400" dirty="0" err="1" smtClean="0">
                <a:solidFill>
                  <a:srgbClr val="FF0000"/>
                </a:solidFill>
              </a:rPr>
              <a:t>d</a:t>
            </a:r>
            <a:r>
              <a:rPr lang="en-US" altLang="zh-CN" sz="2400" baseline="-25000" dirty="0" err="1" smtClean="0">
                <a:solidFill>
                  <a:srgbClr val="FF0000"/>
                </a:solidFill>
              </a:rPr>
              <a:t>Ⅶ</a:t>
            </a:r>
            <a:r>
              <a:rPr lang="en-US" altLang="zh-CN" sz="2400" dirty="0" smtClean="0">
                <a:solidFill>
                  <a:srgbClr val="FF0000"/>
                </a:solidFill>
              </a:rPr>
              <a:t>=65mm</a:t>
            </a:r>
            <a:endParaRPr lang="zh-CN" altLang="en-US" sz="2400" dirty="0">
              <a:solidFill>
                <a:srgbClr val="FF0000"/>
              </a:solidFill>
            </a:endParaRPr>
          </a:p>
        </p:txBody>
      </p:sp>
      <p:sp>
        <p:nvSpPr>
          <p:cNvPr id="36" name="文本框 35"/>
          <p:cNvSpPr txBox="1"/>
          <p:nvPr/>
        </p:nvSpPr>
        <p:spPr>
          <a:xfrm>
            <a:off x="7197506" y="534155"/>
            <a:ext cx="1593410" cy="400110"/>
          </a:xfrm>
          <a:prstGeom prst="rect">
            <a:avLst/>
          </a:prstGeom>
          <a:gradFill flip="none" rotWithShape="1">
            <a:gsLst>
              <a:gs pos="0">
                <a:srgbClr val="7030A0">
                  <a:tint val="66000"/>
                  <a:satMod val="160000"/>
                </a:srgbClr>
              </a:gs>
              <a:gs pos="50000">
                <a:srgbClr val="7030A0">
                  <a:tint val="44500"/>
                  <a:satMod val="160000"/>
                </a:srgbClr>
              </a:gs>
              <a:gs pos="100000">
                <a:srgbClr val="7030A0">
                  <a:tint val="23500"/>
                  <a:satMod val="160000"/>
                </a:srgbClr>
              </a:gs>
            </a:gsLst>
            <a:lin ang="5400000" scaled="1"/>
            <a:tileRect/>
          </a:gradFill>
        </p:spPr>
        <p:txBody>
          <a:bodyPr wrap="square" rtlCol="0">
            <a:spAutoFit/>
          </a:bodyPr>
          <a:lstStyle/>
          <a:p>
            <a:r>
              <a:rPr lang="en-US" altLang="zh-CN" i="1" dirty="0" smtClean="0"/>
              <a:t>l</a:t>
            </a:r>
            <a:r>
              <a:rPr lang="en-US" altLang="zh-CN" baseline="-25000" dirty="0" smtClean="0"/>
              <a:t>7</a:t>
            </a:r>
            <a:r>
              <a:rPr lang="en-US" altLang="zh-CN" dirty="0" smtClean="0"/>
              <a:t>=36mm</a:t>
            </a:r>
            <a:endParaRPr lang="zh-CN" altLang="en-US" dirty="0"/>
          </a:p>
        </p:txBody>
      </p:sp>
      <p:sp>
        <p:nvSpPr>
          <p:cNvPr id="37" name="文本框 36"/>
          <p:cNvSpPr txBox="1"/>
          <p:nvPr/>
        </p:nvSpPr>
        <p:spPr>
          <a:xfrm>
            <a:off x="4943195" y="0"/>
            <a:ext cx="1865012" cy="461665"/>
          </a:xfrm>
          <a:prstGeom prst="rect">
            <a:avLst/>
          </a:prstGeom>
          <a:solidFill>
            <a:schemeClr val="accent1">
              <a:lumMod val="20000"/>
              <a:lumOff val="80000"/>
            </a:schemeClr>
          </a:solidFill>
        </p:spPr>
        <p:txBody>
          <a:bodyPr wrap="square" rtlCol="0">
            <a:spAutoFit/>
          </a:bodyPr>
          <a:lstStyle/>
          <a:p>
            <a:r>
              <a:rPr lang="en-US" altLang="zh-CN" sz="2400" dirty="0" err="1" smtClean="0">
                <a:solidFill>
                  <a:srgbClr val="FF0000"/>
                </a:solidFill>
              </a:rPr>
              <a:t>d</a:t>
            </a:r>
            <a:r>
              <a:rPr lang="en-US" altLang="zh-CN" sz="2400" baseline="-25000" dirty="0" err="1" smtClean="0">
                <a:solidFill>
                  <a:srgbClr val="FF0000"/>
                </a:solidFill>
              </a:rPr>
              <a:t>Ⅵ</a:t>
            </a:r>
            <a:r>
              <a:rPr lang="en-US" altLang="zh-CN" sz="2400" dirty="0" smtClean="0">
                <a:solidFill>
                  <a:srgbClr val="FF0000"/>
                </a:solidFill>
              </a:rPr>
              <a:t>=77mm</a:t>
            </a:r>
            <a:endParaRPr lang="zh-CN" altLang="en-US" sz="2400" dirty="0">
              <a:solidFill>
                <a:srgbClr val="FF0000"/>
              </a:solidFill>
            </a:endParaRPr>
          </a:p>
        </p:txBody>
      </p:sp>
      <mc:AlternateContent xmlns:mc="http://schemas.openxmlformats.org/markup-compatibility/2006">
        <mc:Choice xmlns:a14="http://schemas.microsoft.com/office/drawing/2010/main" Requires="a14">
          <p:sp>
            <p:nvSpPr>
              <p:cNvPr id="38" name="文本框 37"/>
              <p:cNvSpPr txBox="1"/>
              <p:nvPr/>
            </p:nvSpPr>
            <p:spPr>
              <a:xfrm>
                <a:off x="4807390" y="534155"/>
                <a:ext cx="2227152" cy="1015663"/>
              </a:xfrm>
              <a:prstGeom prst="rect">
                <a:avLst/>
              </a:prstGeom>
              <a:solidFill>
                <a:schemeClr val="accent1">
                  <a:lumMod val="20000"/>
                  <a:lumOff val="80000"/>
                </a:schemeClr>
              </a:solidFill>
            </p:spPr>
            <p:txBody>
              <a:bodyPr wrap="square" rtlCol="0">
                <a:spAutoFit/>
              </a:bodyPr>
              <a:lstStyle/>
              <a:p>
                <a:r>
                  <a:rPr lang="en-US" altLang="zh-CN" i="1" dirty="0" smtClean="0"/>
                  <a:t>l</a:t>
                </a:r>
                <a:r>
                  <a:rPr lang="en-US" altLang="zh-CN" baseline="-25000" dirty="0" smtClean="0"/>
                  <a:t>6</a:t>
                </a:r>
                <a:r>
                  <a:rPr lang="en-US" altLang="zh-CN" dirty="0" smtClean="0"/>
                  <a:t>=C+L+</a:t>
                </a:r>
                <a14:m>
                  <m:oMath xmlns:m="http://schemas.openxmlformats.org/officeDocument/2006/math">
                    <m:r>
                      <a:rPr lang="en-US" altLang="zh-CN"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𝑆</m:t>
                    </m:r>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𝑙</m:t>
                        </m:r>
                      </m:e>
                      <m:sub>
                        <m:r>
                          <a:rPr lang="en-US" altLang="zh-CN" b="0" i="1" smtClean="0">
                            <a:latin typeface="Cambria Math" panose="02040503050406030204" pitchFamily="18" charset="0"/>
                            <a:ea typeface="Cambria Math" panose="02040503050406030204" pitchFamily="18" charset="0"/>
                          </a:rPr>
                          <m:t>5</m:t>
                        </m:r>
                      </m:sub>
                    </m:sSub>
                  </m:oMath>
                </a14:m>
                <a:endParaRPr lang="en-US" altLang="zh-CN" dirty="0" smtClean="0"/>
              </a:p>
              <a:p>
                <a:r>
                  <a:rPr lang="en-US" altLang="zh-CN" dirty="0" smtClean="0"/>
                  <a:t>=20+50+16+8-12</a:t>
                </a:r>
                <a:endParaRPr lang="en-US" altLang="zh-CN" dirty="0" smtClean="0"/>
              </a:p>
              <a:p>
                <a:r>
                  <a:rPr lang="en-US" altLang="zh-CN" dirty="0"/>
                  <a:t> </a:t>
                </a:r>
                <a:r>
                  <a:rPr lang="en-US" altLang="zh-CN" dirty="0" smtClean="0"/>
                  <a:t> =82mm</a:t>
                </a:r>
                <a:endParaRPr lang="zh-CN" altLang="en-US" dirty="0"/>
              </a:p>
            </p:txBody>
          </p:sp>
        </mc:Choice>
        <mc:Fallback>
          <p:sp>
            <p:nvSpPr>
              <p:cNvPr id="38" name="文本框 37"/>
              <p:cNvSpPr txBox="1">
                <a:spLocks noRot="1" noChangeAspect="1" noMove="1" noResize="1" noEditPoints="1" noAdjustHandles="1" noChangeArrowheads="1" noChangeShapeType="1" noTextEdit="1"/>
              </p:cNvSpPr>
              <p:nvPr/>
            </p:nvSpPr>
            <p:spPr>
              <a:xfrm>
                <a:off x="4807390" y="534155"/>
                <a:ext cx="2227152" cy="1015663"/>
              </a:xfrm>
              <a:prstGeom prst="rect">
                <a:avLst/>
              </a:prstGeom>
              <a:blipFill rotWithShape="1">
                <a:blip r:embed="rId4"/>
                <a:stretch>
                  <a:fillRect l="-20" t="-12" r="1" b="41"/>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500"/>
                                        <p:tgtEl>
                                          <p:spTgt spid="6"/>
                                        </p:tgtEl>
                                      </p:cBhvr>
                                    </p:animEffect>
                                  </p:childTnLst>
                                </p:cTn>
                              </p:par>
                            </p:childTnLst>
                          </p:cTn>
                        </p:par>
                        <p:par>
                          <p:cTn id="17" fill="hold">
                            <p:stCondLst>
                              <p:cond delay="1000"/>
                            </p:stCondLst>
                            <p:childTnLst>
                              <p:par>
                                <p:cTn id="18" presetID="22" presetClass="entr" presetSubtype="8" fill="hold" grpId="0" nodeType="after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wipe(left)">
                                      <p:cBhvr>
                                        <p:cTn id="20" dur="500"/>
                                        <p:tgtEl>
                                          <p:spTgt spid="11"/>
                                        </p:tgtEl>
                                      </p:cBhvr>
                                    </p:animEffect>
                                  </p:childTnLst>
                                </p:cTn>
                              </p:par>
                            </p:childTnLst>
                          </p:cTn>
                        </p:par>
                        <p:par>
                          <p:cTn id="21" fill="hold">
                            <p:stCondLst>
                              <p:cond delay="1500"/>
                            </p:stCondLst>
                            <p:childTnLst>
                              <p:par>
                                <p:cTn id="22" presetID="22" presetClass="entr" presetSubtype="8" fill="hold" grpId="0" nodeType="after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wipe(left)">
                                      <p:cBhvr>
                                        <p:cTn id="24" dur="500"/>
                                        <p:tgtEl>
                                          <p:spTgt spid="8"/>
                                        </p:tgtEl>
                                      </p:cBhvr>
                                    </p:animEffect>
                                  </p:childTnLst>
                                </p:cTn>
                              </p:par>
                            </p:childTnLst>
                          </p:cTn>
                        </p:par>
                        <p:par>
                          <p:cTn id="25" fill="hold">
                            <p:stCondLst>
                              <p:cond delay="2000"/>
                            </p:stCondLst>
                            <p:childTnLst>
                              <p:par>
                                <p:cTn id="26" presetID="22" presetClass="entr" presetSubtype="8"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wipe(left)">
                                      <p:cBhvr>
                                        <p:cTn id="28" dur="500"/>
                                        <p:tgtEl>
                                          <p:spTgt spid="12"/>
                                        </p:tgtEl>
                                      </p:cBhvr>
                                    </p:animEffect>
                                  </p:childTnLst>
                                </p:cTn>
                              </p:par>
                            </p:childTnLst>
                          </p:cTn>
                        </p:par>
                        <p:par>
                          <p:cTn id="29" fill="hold">
                            <p:stCondLst>
                              <p:cond delay="2500"/>
                            </p:stCondLst>
                            <p:childTnLst>
                              <p:par>
                                <p:cTn id="30" presetID="22" presetClass="entr" presetSubtype="8" fill="hold" grpId="0" nodeType="after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wipe(left)">
                                      <p:cBhvr>
                                        <p:cTn id="32" dur="500"/>
                                        <p:tgtEl>
                                          <p:spTgt spid="13"/>
                                        </p:tgtEl>
                                      </p:cBhvr>
                                    </p:animEffect>
                                  </p:childTnLst>
                                </p:cTn>
                              </p:par>
                            </p:childTnLst>
                          </p:cTn>
                        </p:par>
                        <p:par>
                          <p:cTn id="33" fill="hold">
                            <p:stCondLst>
                              <p:cond delay="3000"/>
                            </p:stCondLst>
                            <p:childTnLst>
                              <p:par>
                                <p:cTn id="34" presetID="22" presetClass="entr" presetSubtype="8" fill="hold" grpId="0" nodeType="after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wipe(left)">
                                      <p:cBhvr>
                                        <p:cTn id="36" dur="5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wipe(left)">
                                      <p:cBhvr>
                                        <p:cTn id="41" dur="500"/>
                                        <p:tgtEl>
                                          <p:spTgt spid="16"/>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wipe(left)">
                                      <p:cBhvr>
                                        <p:cTn id="46" dur="500"/>
                                        <p:tgtEl>
                                          <p:spTgt spid="18"/>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17"/>
                                        </p:tgtEl>
                                        <p:attrNameLst>
                                          <p:attrName>style.visibility</p:attrName>
                                        </p:attrNameLst>
                                      </p:cBhvr>
                                      <p:to>
                                        <p:strVal val="visible"/>
                                      </p:to>
                                    </p:set>
                                    <p:animEffect transition="in" filter="wipe(left)">
                                      <p:cBhvr>
                                        <p:cTn id="51" dur="500"/>
                                        <p:tgtEl>
                                          <p:spTgt spid="17"/>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wipe(left)">
                                      <p:cBhvr>
                                        <p:cTn id="56" dur="500"/>
                                        <p:tgtEl>
                                          <p:spTgt spid="19"/>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20"/>
                                        </p:tgtEl>
                                        <p:attrNameLst>
                                          <p:attrName>style.visibility</p:attrName>
                                        </p:attrNameLst>
                                      </p:cBhvr>
                                      <p:to>
                                        <p:strVal val="visible"/>
                                      </p:to>
                                    </p:set>
                                    <p:animEffect transition="in" filter="wipe(left)">
                                      <p:cBhvr>
                                        <p:cTn id="61" dur="500"/>
                                        <p:tgtEl>
                                          <p:spTgt spid="20"/>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21"/>
                                        </p:tgtEl>
                                        <p:attrNameLst>
                                          <p:attrName>style.visibility</p:attrName>
                                        </p:attrNameLst>
                                      </p:cBhvr>
                                      <p:to>
                                        <p:strVal val="visible"/>
                                      </p:to>
                                    </p:set>
                                    <p:animEffect transition="in" filter="wipe(left)">
                                      <p:cBhvr>
                                        <p:cTn id="66" dur="500"/>
                                        <p:tgtEl>
                                          <p:spTgt spid="21"/>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nodeType="clickEffect">
                                  <p:stCondLst>
                                    <p:cond delay="0"/>
                                  </p:stCondLst>
                                  <p:childTnLst>
                                    <p:set>
                                      <p:cBhvr>
                                        <p:cTn id="70" dur="1" fill="hold">
                                          <p:stCondLst>
                                            <p:cond delay="0"/>
                                          </p:stCondLst>
                                        </p:cTn>
                                        <p:tgtEl>
                                          <p:spTgt spid="23"/>
                                        </p:tgtEl>
                                        <p:attrNameLst>
                                          <p:attrName>style.visibility</p:attrName>
                                        </p:attrNameLst>
                                      </p:cBhvr>
                                      <p:to>
                                        <p:strVal val="visible"/>
                                      </p:to>
                                    </p:set>
                                    <p:animEffect transition="in" filter="wipe(left)">
                                      <p:cBhvr>
                                        <p:cTn id="71" dur="500"/>
                                        <p:tgtEl>
                                          <p:spTgt spid="23"/>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nodeType="clickEffect">
                                  <p:stCondLst>
                                    <p:cond delay="0"/>
                                  </p:stCondLst>
                                  <p:childTnLst>
                                    <p:set>
                                      <p:cBhvr>
                                        <p:cTn id="75" dur="1" fill="hold">
                                          <p:stCondLst>
                                            <p:cond delay="0"/>
                                          </p:stCondLst>
                                        </p:cTn>
                                        <p:tgtEl>
                                          <p:spTgt spid="24">
                                            <p:txEl>
                                              <p:pRg st="0" end="0"/>
                                            </p:txEl>
                                          </p:spTgt>
                                        </p:tgtEl>
                                        <p:attrNameLst>
                                          <p:attrName>style.visibility</p:attrName>
                                        </p:attrNameLst>
                                      </p:cBhvr>
                                      <p:to>
                                        <p:strVal val="visible"/>
                                      </p:to>
                                    </p:set>
                                    <p:animEffect transition="in" filter="wipe(left)">
                                      <p:cBhvr>
                                        <p:cTn id="76" dur="500"/>
                                        <p:tgtEl>
                                          <p:spTgt spid="24">
                                            <p:txEl>
                                              <p:pRg st="0" end="0"/>
                                            </p:txEl>
                                          </p:spTgt>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grpId="0" nodeType="clickEffect">
                                  <p:stCondLst>
                                    <p:cond delay="0"/>
                                  </p:stCondLst>
                                  <p:childTnLst>
                                    <p:set>
                                      <p:cBhvr>
                                        <p:cTn id="80" dur="1" fill="hold">
                                          <p:stCondLst>
                                            <p:cond delay="0"/>
                                          </p:stCondLst>
                                        </p:cTn>
                                        <p:tgtEl>
                                          <p:spTgt spid="25"/>
                                        </p:tgtEl>
                                        <p:attrNameLst>
                                          <p:attrName>style.visibility</p:attrName>
                                        </p:attrNameLst>
                                      </p:cBhvr>
                                      <p:to>
                                        <p:strVal val="visible"/>
                                      </p:to>
                                    </p:set>
                                    <p:animEffect transition="in" filter="wipe(left)">
                                      <p:cBhvr>
                                        <p:cTn id="81" dur="500"/>
                                        <p:tgtEl>
                                          <p:spTgt spid="25"/>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grpId="0" nodeType="clickEffect">
                                  <p:stCondLst>
                                    <p:cond delay="0"/>
                                  </p:stCondLst>
                                  <p:childTnLst>
                                    <p:set>
                                      <p:cBhvr>
                                        <p:cTn id="85" dur="1" fill="hold">
                                          <p:stCondLst>
                                            <p:cond delay="0"/>
                                          </p:stCondLst>
                                        </p:cTn>
                                        <p:tgtEl>
                                          <p:spTgt spid="7"/>
                                        </p:tgtEl>
                                        <p:attrNameLst>
                                          <p:attrName>style.visibility</p:attrName>
                                        </p:attrNameLst>
                                      </p:cBhvr>
                                      <p:to>
                                        <p:strVal val="visible"/>
                                      </p:to>
                                    </p:set>
                                    <p:animEffect transition="in" filter="wipe(left)">
                                      <p:cBhvr>
                                        <p:cTn id="86" dur="500"/>
                                        <p:tgtEl>
                                          <p:spTgt spid="7"/>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8" fill="hold" nodeType="clickEffect">
                                  <p:stCondLst>
                                    <p:cond delay="0"/>
                                  </p:stCondLst>
                                  <p:childTnLst>
                                    <p:set>
                                      <p:cBhvr>
                                        <p:cTn id="90" dur="1" fill="hold">
                                          <p:stCondLst>
                                            <p:cond delay="0"/>
                                          </p:stCondLst>
                                        </p:cTn>
                                        <p:tgtEl>
                                          <p:spTgt spid="26">
                                            <p:txEl>
                                              <p:pRg st="0" end="0"/>
                                            </p:txEl>
                                          </p:spTgt>
                                        </p:tgtEl>
                                        <p:attrNameLst>
                                          <p:attrName>style.visibility</p:attrName>
                                        </p:attrNameLst>
                                      </p:cBhvr>
                                      <p:to>
                                        <p:strVal val="visible"/>
                                      </p:to>
                                    </p:set>
                                    <p:animEffect transition="in" filter="wipe(left)">
                                      <p:cBhvr>
                                        <p:cTn id="91" dur="500"/>
                                        <p:tgtEl>
                                          <p:spTgt spid="26">
                                            <p:txEl>
                                              <p:pRg st="0" end="0"/>
                                            </p:txEl>
                                          </p:spTgt>
                                        </p:tgtEl>
                                      </p:cBhvr>
                                    </p:animEffect>
                                  </p:childTnLst>
                                </p:cTn>
                              </p:par>
                            </p:childTnLst>
                          </p:cTn>
                        </p:par>
                      </p:childTnLst>
                    </p:cTn>
                  </p:par>
                  <p:par>
                    <p:cTn id="92" fill="hold">
                      <p:stCondLst>
                        <p:cond delay="indefinite"/>
                      </p:stCondLst>
                      <p:childTnLst>
                        <p:par>
                          <p:cTn id="93" fill="hold">
                            <p:stCondLst>
                              <p:cond delay="0"/>
                            </p:stCondLst>
                            <p:childTnLst>
                              <p:par>
                                <p:cTn id="94" presetID="22" presetClass="entr" presetSubtype="8" fill="hold" grpId="0" nodeType="clickEffect">
                                  <p:stCondLst>
                                    <p:cond delay="0"/>
                                  </p:stCondLst>
                                  <p:childTnLst>
                                    <p:set>
                                      <p:cBhvr>
                                        <p:cTn id="95" dur="1" fill="hold">
                                          <p:stCondLst>
                                            <p:cond delay="0"/>
                                          </p:stCondLst>
                                        </p:cTn>
                                        <p:tgtEl>
                                          <p:spTgt spid="26"/>
                                        </p:tgtEl>
                                        <p:attrNameLst>
                                          <p:attrName>style.visibility</p:attrName>
                                        </p:attrNameLst>
                                      </p:cBhvr>
                                      <p:to>
                                        <p:strVal val="visible"/>
                                      </p:to>
                                    </p:set>
                                    <p:animEffect transition="in" filter="wipe(left)">
                                      <p:cBhvr>
                                        <p:cTn id="96" dur="500"/>
                                        <p:tgtEl>
                                          <p:spTgt spid="26"/>
                                        </p:tgtEl>
                                      </p:cBhvr>
                                    </p:animEffect>
                                  </p:childTnLst>
                                </p:cTn>
                              </p:par>
                            </p:childTnLst>
                          </p:cTn>
                        </p:par>
                      </p:childTnLst>
                    </p:cTn>
                  </p:par>
                  <p:par>
                    <p:cTn id="97" fill="hold">
                      <p:stCondLst>
                        <p:cond delay="indefinite"/>
                      </p:stCondLst>
                      <p:childTnLst>
                        <p:par>
                          <p:cTn id="98" fill="hold">
                            <p:stCondLst>
                              <p:cond delay="0"/>
                            </p:stCondLst>
                            <p:childTnLst>
                              <p:par>
                                <p:cTn id="99" presetID="22" presetClass="entr" presetSubtype="8" fill="hold" grpId="0" nodeType="clickEffect">
                                  <p:stCondLst>
                                    <p:cond delay="0"/>
                                  </p:stCondLst>
                                  <p:childTnLst>
                                    <p:set>
                                      <p:cBhvr>
                                        <p:cTn id="100" dur="1" fill="hold">
                                          <p:stCondLst>
                                            <p:cond delay="0"/>
                                          </p:stCondLst>
                                        </p:cTn>
                                        <p:tgtEl>
                                          <p:spTgt spid="22"/>
                                        </p:tgtEl>
                                        <p:attrNameLst>
                                          <p:attrName>style.visibility</p:attrName>
                                        </p:attrNameLst>
                                      </p:cBhvr>
                                      <p:to>
                                        <p:strVal val="visible"/>
                                      </p:to>
                                    </p:set>
                                    <p:animEffect transition="in" filter="wipe(left)">
                                      <p:cBhvr>
                                        <p:cTn id="101" dur="500"/>
                                        <p:tgtEl>
                                          <p:spTgt spid="22"/>
                                        </p:tgtEl>
                                      </p:cBhvr>
                                    </p:animEffect>
                                  </p:childTnLst>
                                </p:cTn>
                              </p:par>
                            </p:childTnLst>
                          </p:cTn>
                        </p:par>
                      </p:childTnLst>
                    </p:cTn>
                  </p:par>
                  <p:par>
                    <p:cTn id="102" fill="hold">
                      <p:stCondLst>
                        <p:cond delay="indefinite"/>
                      </p:stCondLst>
                      <p:childTnLst>
                        <p:par>
                          <p:cTn id="103" fill="hold">
                            <p:stCondLst>
                              <p:cond delay="0"/>
                            </p:stCondLst>
                            <p:childTnLst>
                              <p:par>
                                <p:cTn id="104" presetID="22" presetClass="entr" presetSubtype="8" fill="hold" grpId="0" nodeType="clickEffect">
                                  <p:stCondLst>
                                    <p:cond delay="0"/>
                                  </p:stCondLst>
                                  <p:childTnLst>
                                    <p:set>
                                      <p:cBhvr>
                                        <p:cTn id="105" dur="1" fill="hold">
                                          <p:stCondLst>
                                            <p:cond delay="0"/>
                                          </p:stCondLst>
                                        </p:cTn>
                                        <p:tgtEl>
                                          <p:spTgt spid="28"/>
                                        </p:tgtEl>
                                        <p:attrNameLst>
                                          <p:attrName>style.visibility</p:attrName>
                                        </p:attrNameLst>
                                      </p:cBhvr>
                                      <p:to>
                                        <p:strVal val="visible"/>
                                      </p:to>
                                    </p:set>
                                    <p:animEffect transition="in" filter="wipe(left)">
                                      <p:cBhvr>
                                        <p:cTn id="106" dur="500"/>
                                        <p:tgtEl>
                                          <p:spTgt spid="28"/>
                                        </p:tgtEl>
                                      </p:cBhvr>
                                    </p:animEffect>
                                  </p:childTnLst>
                                </p:cTn>
                              </p:par>
                              <p:par>
                                <p:cTn id="107" presetID="22" presetClass="entr" presetSubtype="8" fill="hold" grpId="0" nodeType="withEffect">
                                  <p:stCondLst>
                                    <p:cond delay="0"/>
                                  </p:stCondLst>
                                  <p:childTnLst>
                                    <p:set>
                                      <p:cBhvr>
                                        <p:cTn id="108" dur="1" fill="hold">
                                          <p:stCondLst>
                                            <p:cond delay="0"/>
                                          </p:stCondLst>
                                        </p:cTn>
                                        <p:tgtEl>
                                          <p:spTgt spid="27"/>
                                        </p:tgtEl>
                                        <p:attrNameLst>
                                          <p:attrName>style.visibility</p:attrName>
                                        </p:attrNameLst>
                                      </p:cBhvr>
                                      <p:to>
                                        <p:strVal val="visible"/>
                                      </p:to>
                                    </p:set>
                                    <p:animEffect transition="in" filter="wipe(left)">
                                      <p:cBhvr>
                                        <p:cTn id="109" dur="500"/>
                                        <p:tgtEl>
                                          <p:spTgt spid="27"/>
                                        </p:tgtEl>
                                      </p:cBhvr>
                                    </p:animEffect>
                                  </p:childTnLst>
                                </p:cTn>
                              </p:par>
                            </p:childTnLst>
                          </p:cTn>
                        </p:par>
                      </p:childTnLst>
                    </p:cTn>
                  </p:par>
                  <p:par>
                    <p:cTn id="110" fill="hold">
                      <p:stCondLst>
                        <p:cond delay="indefinite"/>
                      </p:stCondLst>
                      <p:childTnLst>
                        <p:par>
                          <p:cTn id="111" fill="hold">
                            <p:stCondLst>
                              <p:cond delay="0"/>
                            </p:stCondLst>
                            <p:childTnLst>
                              <p:par>
                                <p:cTn id="112" presetID="22" presetClass="entr" presetSubtype="8" fill="hold" grpId="0" nodeType="clickEffect">
                                  <p:stCondLst>
                                    <p:cond delay="0"/>
                                  </p:stCondLst>
                                  <p:childTnLst>
                                    <p:set>
                                      <p:cBhvr>
                                        <p:cTn id="113" dur="1" fill="hold">
                                          <p:stCondLst>
                                            <p:cond delay="0"/>
                                          </p:stCondLst>
                                        </p:cTn>
                                        <p:tgtEl>
                                          <p:spTgt spid="32"/>
                                        </p:tgtEl>
                                        <p:attrNameLst>
                                          <p:attrName>style.visibility</p:attrName>
                                        </p:attrNameLst>
                                      </p:cBhvr>
                                      <p:to>
                                        <p:strVal val="visible"/>
                                      </p:to>
                                    </p:set>
                                    <p:animEffect transition="in" filter="wipe(left)">
                                      <p:cBhvr>
                                        <p:cTn id="114" dur="500"/>
                                        <p:tgtEl>
                                          <p:spTgt spid="32"/>
                                        </p:tgtEl>
                                      </p:cBhvr>
                                    </p:animEffect>
                                  </p:childTnLst>
                                </p:cTn>
                              </p:par>
                            </p:childTnLst>
                          </p:cTn>
                        </p:par>
                      </p:childTnLst>
                    </p:cTn>
                  </p:par>
                  <p:par>
                    <p:cTn id="115" fill="hold">
                      <p:stCondLst>
                        <p:cond delay="indefinite"/>
                      </p:stCondLst>
                      <p:childTnLst>
                        <p:par>
                          <p:cTn id="116" fill="hold">
                            <p:stCondLst>
                              <p:cond delay="0"/>
                            </p:stCondLst>
                            <p:childTnLst>
                              <p:par>
                                <p:cTn id="117" presetID="22" presetClass="entr" presetSubtype="8" fill="hold" grpId="0" nodeType="clickEffect">
                                  <p:stCondLst>
                                    <p:cond delay="0"/>
                                  </p:stCondLst>
                                  <p:childTnLst>
                                    <p:set>
                                      <p:cBhvr>
                                        <p:cTn id="118" dur="1" fill="hold">
                                          <p:stCondLst>
                                            <p:cond delay="0"/>
                                          </p:stCondLst>
                                        </p:cTn>
                                        <p:tgtEl>
                                          <p:spTgt spid="30"/>
                                        </p:tgtEl>
                                        <p:attrNameLst>
                                          <p:attrName>style.visibility</p:attrName>
                                        </p:attrNameLst>
                                      </p:cBhvr>
                                      <p:to>
                                        <p:strVal val="visible"/>
                                      </p:to>
                                    </p:set>
                                    <p:animEffect transition="in" filter="wipe(left)">
                                      <p:cBhvr>
                                        <p:cTn id="119" dur="500"/>
                                        <p:tgtEl>
                                          <p:spTgt spid="30"/>
                                        </p:tgtEl>
                                      </p:cBhvr>
                                    </p:animEffect>
                                  </p:childTnLst>
                                </p:cTn>
                              </p:par>
                              <p:par>
                                <p:cTn id="120" presetID="22" presetClass="entr" presetSubtype="8" fill="hold" grpId="0" nodeType="withEffect">
                                  <p:stCondLst>
                                    <p:cond delay="0"/>
                                  </p:stCondLst>
                                  <p:childTnLst>
                                    <p:set>
                                      <p:cBhvr>
                                        <p:cTn id="121" dur="1" fill="hold">
                                          <p:stCondLst>
                                            <p:cond delay="0"/>
                                          </p:stCondLst>
                                        </p:cTn>
                                        <p:tgtEl>
                                          <p:spTgt spid="33"/>
                                        </p:tgtEl>
                                        <p:attrNameLst>
                                          <p:attrName>style.visibility</p:attrName>
                                        </p:attrNameLst>
                                      </p:cBhvr>
                                      <p:to>
                                        <p:strVal val="visible"/>
                                      </p:to>
                                    </p:set>
                                    <p:animEffect transition="in" filter="wipe(left)">
                                      <p:cBhvr>
                                        <p:cTn id="122" dur="500"/>
                                        <p:tgtEl>
                                          <p:spTgt spid="33"/>
                                        </p:tgtEl>
                                      </p:cBhvr>
                                    </p:animEffect>
                                  </p:childTnLst>
                                </p:cTn>
                              </p:par>
                            </p:childTnLst>
                          </p:cTn>
                        </p:par>
                      </p:childTnLst>
                    </p:cTn>
                  </p:par>
                  <p:par>
                    <p:cTn id="123" fill="hold">
                      <p:stCondLst>
                        <p:cond delay="indefinite"/>
                      </p:stCondLst>
                      <p:childTnLst>
                        <p:par>
                          <p:cTn id="124" fill="hold">
                            <p:stCondLst>
                              <p:cond delay="0"/>
                            </p:stCondLst>
                            <p:childTnLst>
                              <p:par>
                                <p:cTn id="125" presetID="22" presetClass="entr" presetSubtype="8" fill="hold" grpId="0" nodeType="clickEffect">
                                  <p:stCondLst>
                                    <p:cond delay="0"/>
                                  </p:stCondLst>
                                  <p:childTnLst>
                                    <p:set>
                                      <p:cBhvr>
                                        <p:cTn id="126" dur="1" fill="hold">
                                          <p:stCondLst>
                                            <p:cond delay="0"/>
                                          </p:stCondLst>
                                        </p:cTn>
                                        <p:tgtEl>
                                          <p:spTgt spid="31"/>
                                        </p:tgtEl>
                                        <p:attrNameLst>
                                          <p:attrName>style.visibility</p:attrName>
                                        </p:attrNameLst>
                                      </p:cBhvr>
                                      <p:to>
                                        <p:strVal val="visible"/>
                                      </p:to>
                                    </p:set>
                                    <p:animEffect transition="in" filter="wipe(left)">
                                      <p:cBhvr>
                                        <p:cTn id="127" dur="500"/>
                                        <p:tgtEl>
                                          <p:spTgt spid="31"/>
                                        </p:tgtEl>
                                      </p:cBhvr>
                                    </p:animEffect>
                                  </p:childTnLst>
                                </p:cTn>
                              </p:par>
                            </p:childTnLst>
                          </p:cTn>
                        </p:par>
                      </p:childTnLst>
                    </p:cTn>
                  </p:par>
                  <p:par>
                    <p:cTn id="128" fill="hold">
                      <p:stCondLst>
                        <p:cond delay="indefinite"/>
                      </p:stCondLst>
                      <p:childTnLst>
                        <p:par>
                          <p:cTn id="129" fill="hold">
                            <p:stCondLst>
                              <p:cond delay="0"/>
                            </p:stCondLst>
                            <p:childTnLst>
                              <p:par>
                                <p:cTn id="130" presetID="22" presetClass="entr" presetSubtype="8" fill="hold" grpId="0" nodeType="clickEffect">
                                  <p:stCondLst>
                                    <p:cond delay="0"/>
                                  </p:stCondLst>
                                  <p:childTnLst>
                                    <p:set>
                                      <p:cBhvr>
                                        <p:cTn id="131" dur="1" fill="hold">
                                          <p:stCondLst>
                                            <p:cond delay="0"/>
                                          </p:stCondLst>
                                        </p:cTn>
                                        <p:tgtEl>
                                          <p:spTgt spid="34"/>
                                        </p:tgtEl>
                                        <p:attrNameLst>
                                          <p:attrName>style.visibility</p:attrName>
                                        </p:attrNameLst>
                                      </p:cBhvr>
                                      <p:to>
                                        <p:strVal val="visible"/>
                                      </p:to>
                                    </p:set>
                                    <p:animEffect transition="in" filter="wipe(left)">
                                      <p:cBhvr>
                                        <p:cTn id="132" dur="500"/>
                                        <p:tgtEl>
                                          <p:spTgt spid="34"/>
                                        </p:tgtEl>
                                      </p:cBhvr>
                                    </p:animEffect>
                                  </p:childTnLst>
                                </p:cTn>
                              </p:par>
                            </p:childTnLst>
                          </p:cTn>
                        </p:par>
                      </p:childTnLst>
                    </p:cTn>
                  </p:par>
                  <p:par>
                    <p:cTn id="133" fill="hold">
                      <p:stCondLst>
                        <p:cond delay="indefinite"/>
                      </p:stCondLst>
                      <p:childTnLst>
                        <p:par>
                          <p:cTn id="134" fill="hold">
                            <p:stCondLst>
                              <p:cond delay="0"/>
                            </p:stCondLst>
                            <p:childTnLst>
                              <p:par>
                                <p:cTn id="135" presetID="22" presetClass="entr" presetSubtype="8" fill="hold" grpId="0" nodeType="clickEffect">
                                  <p:stCondLst>
                                    <p:cond delay="0"/>
                                  </p:stCondLst>
                                  <p:childTnLst>
                                    <p:set>
                                      <p:cBhvr>
                                        <p:cTn id="136" dur="1" fill="hold">
                                          <p:stCondLst>
                                            <p:cond delay="0"/>
                                          </p:stCondLst>
                                        </p:cTn>
                                        <p:tgtEl>
                                          <p:spTgt spid="37"/>
                                        </p:tgtEl>
                                        <p:attrNameLst>
                                          <p:attrName>style.visibility</p:attrName>
                                        </p:attrNameLst>
                                      </p:cBhvr>
                                      <p:to>
                                        <p:strVal val="visible"/>
                                      </p:to>
                                    </p:set>
                                    <p:animEffect transition="in" filter="wipe(left)">
                                      <p:cBhvr>
                                        <p:cTn id="137" dur="500"/>
                                        <p:tgtEl>
                                          <p:spTgt spid="37"/>
                                        </p:tgtEl>
                                      </p:cBhvr>
                                    </p:animEffect>
                                  </p:childTnLst>
                                </p:cTn>
                              </p:par>
                            </p:childTnLst>
                          </p:cTn>
                        </p:par>
                      </p:childTnLst>
                    </p:cTn>
                  </p:par>
                  <p:par>
                    <p:cTn id="138" fill="hold">
                      <p:stCondLst>
                        <p:cond delay="indefinite"/>
                      </p:stCondLst>
                      <p:childTnLst>
                        <p:par>
                          <p:cTn id="139" fill="hold">
                            <p:stCondLst>
                              <p:cond delay="0"/>
                            </p:stCondLst>
                            <p:childTnLst>
                              <p:par>
                                <p:cTn id="140" presetID="22" presetClass="entr" presetSubtype="8" fill="hold" nodeType="clickEffect">
                                  <p:stCondLst>
                                    <p:cond delay="0"/>
                                  </p:stCondLst>
                                  <p:childTnLst>
                                    <p:set>
                                      <p:cBhvr>
                                        <p:cTn id="141" dur="1" fill="hold">
                                          <p:stCondLst>
                                            <p:cond delay="0"/>
                                          </p:stCondLst>
                                        </p:cTn>
                                        <p:tgtEl>
                                          <p:spTgt spid="38">
                                            <p:txEl>
                                              <p:pRg st="0" end="0"/>
                                            </p:txEl>
                                          </p:spTgt>
                                        </p:tgtEl>
                                        <p:attrNameLst>
                                          <p:attrName>style.visibility</p:attrName>
                                        </p:attrNameLst>
                                      </p:cBhvr>
                                      <p:to>
                                        <p:strVal val="visible"/>
                                      </p:to>
                                    </p:set>
                                    <p:animEffect transition="in" filter="wipe(left)">
                                      <p:cBhvr>
                                        <p:cTn id="142" dur="500"/>
                                        <p:tgtEl>
                                          <p:spTgt spid="38">
                                            <p:txEl>
                                              <p:pRg st="0" end="0"/>
                                            </p:txEl>
                                          </p:spTgt>
                                        </p:tgtEl>
                                      </p:cBhvr>
                                    </p:animEffect>
                                  </p:childTnLst>
                                </p:cTn>
                              </p:par>
                              <p:par>
                                <p:cTn id="143" presetID="22" presetClass="entr" presetSubtype="8" fill="hold" nodeType="withEffect">
                                  <p:stCondLst>
                                    <p:cond delay="0"/>
                                  </p:stCondLst>
                                  <p:childTnLst>
                                    <p:set>
                                      <p:cBhvr>
                                        <p:cTn id="144" dur="1" fill="hold">
                                          <p:stCondLst>
                                            <p:cond delay="0"/>
                                          </p:stCondLst>
                                        </p:cTn>
                                        <p:tgtEl>
                                          <p:spTgt spid="38">
                                            <p:txEl>
                                              <p:pRg st="1" end="1"/>
                                            </p:txEl>
                                          </p:spTgt>
                                        </p:tgtEl>
                                        <p:attrNameLst>
                                          <p:attrName>style.visibility</p:attrName>
                                        </p:attrNameLst>
                                      </p:cBhvr>
                                      <p:to>
                                        <p:strVal val="visible"/>
                                      </p:to>
                                    </p:set>
                                    <p:animEffect transition="in" filter="wipe(left)">
                                      <p:cBhvr>
                                        <p:cTn id="145" dur="500"/>
                                        <p:tgtEl>
                                          <p:spTgt spid="38">
                                            <p:txEl>
                                              <p:pRg st="1" end="1"/>
                                            </p:txEl>
                                          </p:spTgt>
                                        </p:tgtEl>
                                      </p:cBhvr>
                                    </p:animEffect>
                                  </p:childTnLst>
                                </p:cTn>
                              </p:par>
                              <p:par>
                                <p:cTn id="146" presetID="22" presetClass="entr" presetSubtype="8" fill="hold" nodeType="withEffect">
                                  <p:stCondLst>
                                    <p:cond delay="0"/>
                                  </p:stCondLst>
                                  <p:childTnLst>
                                    <p:set>
                                      <p:cBhvr>
                                        <p:cTn id="147" dur="1" fill="hold">
                                          <p:stCondLst>
                                            <p:cond delay="0"/>
                                          </p:stCondLst>
                                        </p:cTn>
                                        <p:tgtEl>
                                          <p:spTgt spid="38">
                                            <p:txEl>
                                              <p:pRg st="2" end="2"/>
                                            </p:txEl>
                                          </p:spTgt>
                                        </p:tgtEl>
                                        <p:attrNameLst>
                                          <p:attrName>style.visibility</p:attrName>
                                        </p:attrNameLst>
                                      </p:cBhvr>
                                      <p:to>
                                        <p:strVal val="visible"/>
                                      </p:to>
                                    </p:set>
                                    <p:animEffect transition="in" filter="wipe(left)">
                                      <p:cBhvr>
                                        <p:cTn id="148" dur="500"/>
                                        <p:tgtEl>
                                          <p:spTgt spid="38">
                                            <p:txEl>
                                              <p:pRg st="2" end="2"/>
                                            </p:txEl>
                                          </p:spTgt>
                                        </p:tgtEl>
                                      </p:cBhvr>
                                    </p:animEffect>
                                  </p:childTnLst>
                                </p:cTn>
                              </p:par>
                            </p:childTnLst>
                          </p:cTn>
                        </p:par>
                      </p:childTnLst>
                    </p:cTn>
                  </p:par>
                  <p:par>
                    <p:cTn id="149" fill="hold">
                      <p:stCondLst>
                        <p:cond delay="indefinite"/>
                      </p:stCondLst>
                      <p:childTnLst>
                        <p:par>
                          <p:cTn id="150" fill="hold">
                            <p:stCondLst>
                              <p:cond delay="0"/>
                            </p:stCondLst>
                            <p:childTnLst>
                              <p:par>
                                <p:cTn id="151" presetID="22" presetClass="entr" presetSubtype="8" fill="hold" grpId="0" nodeType="clickEffect">
                                  <p:stCondLst>
                                    <p:cond delay="0"/>
                                  </p:stCondLst>
                                  <p:childTnLst>
                                    <p:set>
                                      <p:cBhvr>
                                        <p:cTn id="152" dur="1" fill="hold">
                                          <p:stCondLst>
                                            <p:cond delay="0"/>
                                          </p:stCondLst>
                                        </p:cTn>
                                        <p:tgtEl>
                                          <p:spTgt spid="35"/>
                                        </p:tgtEl>
                                        <p:attrNameLst>
                                          <p:attrName>style.visibility</p:attrName>
                                        </p:attrNameLst>
                                      </p:cBhvr>
                                      <p:to>
                                        <p:strVal val="visible"/>
                                      </p:to>
                                    </p:set>
                                    <p:animEffect transition="in" filter="wipe(left)">
                                      <p:cBhvr>
                                        <p:cTn id="153" dur="500"/>
                                        <p:tgtEl>
                                          <p:spTgt spid="35"/>
                                        </p:tgtEl>
                                      </p:cBhvr>
                                    </p:animEffect>
                                  </p:childTnLst>
                                </p:cTn>
                              </p:par>
                            </p:childTnLst>
                          </p:cTn>
                        </p:par>
                      </p:childTnLst>
                    </p:cTn>
                  </p:par>
                  <p:par>
                    <p:cTn id="154" fill="hold">
                      <p:stCondLst>
                        <p:cond delay="indefinite"/>
                      </p:stCondLst>
                      <p:childTnLst>
                        <p:par>
                          <p:cTn id="155" fill="hold">
                            <p:stCondLst>
                              <p:cond delay="0"/>
                            </p:stCondLst>
                            <p:childTnLst>
                              <p:par>
                                <p:cTn id="156" presetID="22" presetClass="entr" presetSubtype="8" fill="hold" grpId="0" nodeType="clickEffect">
                                  <p:stCondLst>
                                    <p:cond delay="0"/>
                                  </p:stCondLst>
                                  <p:childTnLst>
                                    <p:set>
                                      <p:cBhvr>
                                        <p:cTn id="157" dur="1" fill="hold">
                                          <p:stCondLst>
                                            <p:cond delay="0"/>
                                          </p:stCondLst>
                                        </p:cTn>
                                        <p:tgtEl>
                                          <p:spTgt spid="36"/>
                                        </p:tgtEl>
                                        <p:attrNameLst>
                                          <p:attrName>style.visibility</p:attrName>
                                        </p:attrNameLst>
                                      </p:cBhvr>
                                      <p:to>
                                        <p:strVal val="visible"/>
                                      </p:to>
                                    </p:set>
                                    <p:animEffect transition="in" filter="wipe(left)">
                                      <p:cBhvr>
                                        <p:cTn id="158"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8" grpId="0"/>
      <p:bldP spid="11" grpId="0"/>
      <p:bldP spid="12" grpId="0"/>
      <p:bldP spid="13" grpId="0"/>
      <p:bldP spid="14" grpId="0"/>
      <p:bldP spid="16" grpId="0" bldLvl="0" animBg="1"/>
      <p:bldP spid="17" grpId="0" bldLvl="0" animBg="1"/>
      <p:bldP spid="18" grpId="0"/>
      <p:bldP spid="19" grpId="0"/>
      <p:bldP spid="20" grpId="0"/>
      <p:bldP spid="21" grpId="0" bldLvl="0" animBg="1"/>
      <p:bldP spid="25" grpId="0" bldLvl="0" animBg="1"/>
      <p:bldP spid="22" grpId="0" bldLvl="0" animBg="1"/>
      <p:bldP spid="7" grpId="0" bldLvl="0" animBg="1"/>
      <p:bldP spid="26" grpId="0" bldLvl="0" animBg="1"/>
      <p:bldP spid="27" grpId="0" bldLvl="0" animBg="1"/>
      <p:bldP spid="28" grpId="0" bldLvl="0" animBg="1"/>
      <p:bldP spid="30" grpId="0" bldLvl="0" animBg="1"/>
      <p:bldP spid="31" grpId="0" bldLvl="0" animBg="1"/>
      <p:bldP spid="32" grpId="0"/>
      <p:bldP spid="33" grpId="0"/>
      <p:bldP spid="34" grpId="0" bldLvl="0" animBg="1"/>
      <p:bldP spid="35" grpId="0" bldLvl="0" animBg="1"/>
      <p:bldP spid="36" grpId="0" bldLvl="0" animBg="1"/>
      <p:bldP spid="37" grpId="0" bldLvl="0" animBg="1"/>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p:cNvPicPr>
            <a:picLocks noChangeAspect="1" noChangeArrowheads="1"/>
          </p:cNvPicPr>
          <p:nvPr/>
        </p:nvPicPr>
        <p:blipFill rotWithShape="1">
          <a:blip r:embed="rId1" cstate="print">
            <a:extLst>
              <a:ext uri="{28A0092B-C50C-407E-A947-70E740481C1C}">
                <a14:useLocalDpi xmlns:a14="http://schemas.microsoft.com/office/drawing/2010/main" val="0"/>
              </a:ext>
            </a:extLst>
          </a:blip>
          <a:srcRect b="70513"/>
          <a:stretch>
            <a:fillRect/>
          </a:stretch>
        </p:blipFill>
        <p:spPr bwMode="auto">
          <a:xfrm>
            <a:off x="492675" y="1439500"/>
            <a:ext cx="7884102" cy="3286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p:cNvSpPr/>
          <p:nvPr/>
        </p:nvSpPr>
        <p:spPr bwMode="auto">
          <a:xfrm>
            <a:off x="1200150" y="2838450"/>
            <a:ext cx="723900" cy="596900"/>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6200000" scaled="1"/>
            <a:tileRect/>
          </a:gra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p:txBody>
      </p:sp>
      <p:sp>
        <p:nvSpPr>
          <p:cNvPr id="4" name="矩形 3"/>
          <p:cNvSpPr/>
          <p:nvPr/>
        </p:nvSpPr>
        <p:spPr bwMode="auto">
          <a:xfrm>
            <a:off x="1936750" y="2762250"/>
            <a:ext cx="971550" cy="730250"/>
          </a:xfrm>
          <a:prstGeom prst="rect">
            <a:avLst/>
          </a:pr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lin ang="16200000" scaled="1"/>
            <a:tileRect/>
          </a:gra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p:txBody>
      </p:sp>
      <p:sp>
        <p:nvSpPr>
          <p:cNvPr id="5" name="矩形 4"/>
          <p:cNvSpPr/>
          <p:nvPr/>
        </p:nvSpPr>
        <p:spPr bwMode="auto">
          <a:xfrm>
            <a:off x="2914650" y="2686050"/>
            <a:ext cx="1047750" cy="889000"/>
          </a:xfrm>
          <a:prstGeom prst="rect">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lin ang="16200000" scaled="1"/>
            <a:tileRect/>
          </a:gra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p:txBody>
      </p:sp>
      <p:sp>
        <p:nvSpPr>
          <p:cNvPr id="6" name="矩形 5"/>
          <p:cNvSpPr/>
          <p:nvPr/>
        </p:nvSpPr>
        <p:spPr bwMode="auto">
          <a:xfrm>
            <a:off x="3987800" y="2603500"/>
            <a:ext cx="1263650" cy="1041400"/>
          </a:xfrm>
          <a:prstGeom prst="rect">
            <a:avLst/>
          </a:prstGeom>
          <a:gradFill flip="none" rotWithShape="1">
            <a:gsLst>
              <a:gs pos="0">
                <a:srgbClr val="00B050">
                  <a:shade val="30000"/>
                  <a:satMod val="115000"/>
                </a:srgbClr>
              </a:gs>
              <a:gs pos="50000">
                <a:srgbClr val="00B050">
                  <a:shade val="67500"/>
                  <a:satMod val="115000"/>
                </a:srgbClr>
              </a:gs>
              <a:gs pos="100000">
                <a:srgbClr val="00B050">
                  <a:shade val="100000"/>
                  <a:satMod val="115000"/>
                </a:srgbClr>
              </a:gs>
            </a:gsLst>
            <a:lin ang="16200000" scaled="1"/>
            <a:tileRect/>
          </a:gra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p:txBody>
      </p:sp>
      <p:sp>
        <p:nvSpPr>
          <p:cNvPr id="7" name="矩形 6"/>
          <p:cNvSpPr/>
          <p:nvPr/>
        </p:nvSpPr>
        <p:spPr bwMode="auto">
          <a:xfrm>
            <a:off x="5270500" y="2438400"/>
            <a:ext cx="323850" cy="1397000"/>
          </a:xfrm>
          <a:prstGeom prst="rect">
            <a:avLst/>
          </a:prstGeom>
          <a:gradFill flip="none" rotWithShape="1">
            <a:gsLst>
              <a:gs pos="0">
                <a:srgbClr val="7030A0">
                  <a:shade val="30000"/>
                  <a:satMod val="115000"/>
                </a:srgbClr>
              </a:gs>
              <a:gs pos="50000">
                <a:srgbClr val="7030A0">
                  <a:shade val="67500"/>
                  <a:satMod val="115000"/>
                </a:srgbClr>
              </a:gs>
              <a:gs pos="100000">
                <a:srgbClr val="7030A0">
                  <a:shade val="100000"/>
                  <a:satMod val="115000"/>
                </a:srgbClr>
              </a:gs>
            </a:gsLst>
            <a:lin ang="16200000" scaled="1"/>
            <a:tileRect/>
          </a:gra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p:txBody>
      </p:sp>
      <p:sp>
        <p:nvSpPr>
          <p:cNvPr id="8" name="矩形 7"/>
          <p:cNvSpPr/>
          <p:nvPr/>
        </p:nvSpPr>
        <p:spPr bwMode="auto">
          <a:xfrm>
            <a:off x="5594350" y="2559050"/>
            <a:ext cx="1428750" cy="1162050"/>
          </a:xfrm>
          <a:prstGeom prst="rect">
            <a:avLst/>
          </a:prstGeom>
          <a:gradFill flip="none" rotWithShape="1">
            <a:gsLst>
              <a:gs pos="0">
                <a:srgbClr val="FFFF00">
                  <a:shade val="30000"/>
                  <a:satMod val="115000"/>
                </a:srgbClr>
              </a:gs>
              <a:gs pos="50000">
                <a:srgbClr val="FFFF00">
                  <a:shade val="67500"/>
                  <a:satMod val="115000"/>
                </a:srgbClr>
              </a:gs>
              <a:gs pos="100000">
                <a:srgbClr val="FFFF00">
                  <a:shade val="100000"/>
                  <a:satMod val="115000"/>
                </a:srgbClr>
              </a:gs>
            </a:gsLst>
            <a:lin ang="16200000" scaled="1"/>
            <a:tileRect/>
          </a:gra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p:txBody>
      </p:sp>
      <p:sp>
        <p:nvSpPr>
          <p:cNvPr id="9" name="矩形 8"/>
          <p:cNvSpPr/>
          <p:nvPr/>
        </p:nvSpPr>
        <p:spPr bwMode="auto">
          <a:xfrm>
            <a:off x="7035800" y="2711450"/>
            <a:ext cx="552450" cy="869950"/>
          </a:xfrm>
          <a:prstGeom prst="rect">
            <a:avLst/>
          </a:prstGeom>
          <a:gradFill flip="none" rotWithShape="1">
            <a:gsLst>
              <a:gs pos="0">
                <a:schemeClr val="tx1">
                  <a:lumMod val="60000"/>
                  <a:lumOff val="40000"/>
                  <a:shade val="30000"/>
                  <a:satMod val="115000"/>
                </a:schemeClr>
              </a:gs>
              <a:gs pos="50000">
                <a:schemeClr val="tx1">
                  <a:lumMod val="60000"/>
                  <a:lumOff val="40000"/>
                  <a:shade val="67500"/>
                  <a:satMod val="115000"/>
                </a:schemeClr>
              </a:gs>
              <a:gs pos="100000">
                <a:schemeClr val="tx1">
                  <a:lumMod val="60000"/>
                  <a:lumOff val="40000"/>
                  <a:shade val="100000"/>
                  <a:satMod val="115000"/>
                </a:schemeClr>
              </a:gs>
            </a:gsLst>
            <a:lin ang="16200000" scaled="1"/>
            <a:tileRect/>
          </a:gra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p:txBody>
      </p:sp>
      <p:sp>
        <p:nvSpPr>
          <p:cNvPr id="10" name="文本框 9"/>
          <p:cNvSpPr txBox="1"/>
          <p:nvPr/>
        </p:nvSpPr>
        <p:spPr>
          <a:xfrm>
            <a:off x="479836" y="4988458"/>
            <a:ext cx="1493819" cy="400110"/>
          </a:xfrm>
          <a:prstGeom prst="rect">
            <a:avLst/>
          </a:prstGeom>
          <a:gradFill flip="none" rotWithShape="1">
            <a:gsLst>
              <a:gs pos="0">
                <a:schemeClr val="accent5">
                  <a:lumMod val="75000"/>
                  <a:shade val="30000"/>
                  <a:satMod val="115000"/>
                </a:schemeClr>
              </a:gs>
              <a:gs pos="50000">
                <a:schemeClr val="accent5">
                  <a:lumMod val="75000"/>
                  <a:shade val="67500"/>
                  <a:satMod val="115000"/>
                </a:schemeClr>
              </a:gs>
              <a:gs pos="100000">
                <a:schemeClr val="accent5">
                  <a:lumMod val="75000"/>
                  <a:shade val="100000"/>
                  <a:satMod val="115000"/>
                </a:schemeClr>
              </a:gs>
            </a:gsLst>
            <a:lin ang="16200000" scaled="1"/>
            <a:tileRect/>
          </a:gradFill>
        </p:spPr>
        <p:txBody>
          <a:bodyPr wrap="square" rtlCol="0">
            <a:spAutoFit/>
          </a:bodyPr>
          <a:lstStyle/>
          <a:p>
            <a:r>
              <a:rPr lang="en-US" altLang="zh-CN" dirty="0" err="1" smtClean="0">
                <a:solidFill>
                  <a:srgbClr val="FF0000"/>
                </a:solidFill>
              </a:rPr>
              <a:t>d</a:t>
            </a:r>
            <a:r>
              <a:rPr lang="en-US" altLang="zh-CN" baseline="-25000" dirty="0" err="1" smtClean="0">
                <a:solidFill>
                  <a:srgbClr val="FF0000"/>
                </a:solidFill>
              </a:rPr>
              <a:t>Ⅰ</a:t>
            </a:r>
            <a:r>
              <a:rPr lang="en-US" altLang="zh-CN" dirty="0" smtClean="0">
                <a:solidFill>
                  <a:srgbClr val="FF0000"/>
                </a:solidFill>
              </a:rPr>
              <a:t>=55mm</a:t>
            </a:r>
            <a:endParaRPr lang="zh-CN" altLang="en-US" dirty="0">
              <a:solidFill>
                <a:srgbClr val="FF0000"/>
              </a:solidFill>
            </a:endParaRPr>
          </a:p>
        </p:txBody>
      </p:sp>
      <p:sp>
        <p:nvSpPr>
          <p:cNvPr id="11" name="文本框 10"/>
          <p:cNvSpPr txBox="1"/>
          <p:nvPr/>
        </p:nvSpPr>
        <p:spPr>
          <a:xfrm>
            <a:off x="470780" y="5640310"/>
            <a:ext cx="1294646" cy="400110"/>
          </a:xfrm>
          <a:prstGeom prst="rect">
            <a:avLst/>
          </a:prstGeom>
          <a:solidFill>
            <a:schemeClr val="accent5">
              <a:lumMod val="75000"/>
            </a:schemeClr>
          </a:solidFill>
        </p:spPr>
        <p:txBody>
          <a:bodyPr wrap="square" rtlCol="0">
            <a:spAutoFit/>
          </a:bodyPr>
          <a:lstStyle/>
          <a:p>
            <a:r>
              <a:rPr lang="en-US" altLang="zh-CN" i="1" dirty="0" smtClean="0"/>
              <a:t>l</a:t>
            </a:r>
            <a:r>
              <a:rPr lang="en-US" altLang="zh-CN" baseline="-25000" dirty="0" smtClean="0"/>
              <a:t>1</a:t>
            </a:r>
            <a:r>
              <a:rPr lang="en-US" altLang="zh-CN" dirty="0" smtClean="0"/>
              <a:t>=82mm</a:t>
            </a:r>
            <a:endParaRPr lang="zh-CN" altLang="en-US" dirty="0"/>
          </a:p>
        </p:txBody>
      </p:sp>
      <p:sp>
        <p:nvSpPr>
          <p:cNvPr id="12" name="文本框 11"/>
          <p:cNvSpPr txBox="1"/>
          <p:nvPr/>
        </p:nvSpPr>
        <p:spPr>
          <a:xfrm>
            <a:off x="2047847" y="5026117"/>
            <a:ext cx="1222404" cy="400110"/>
          </a:xfrm>
          <a:prstGeom prst="rect">
            <a:avLst/>
          </a:prstGeom>
          <a:solidFill>
            <a:srgbClr val="FFC000"/>
          </a:solidFill>
        </p:spPr>
        <p:txBody>
          <a:bodyPr wrap="square" rtlCol="0">
            <a:spAutoFit/>
          </a:bodyPr>
          <a:lstStyle/>
          <a:p>
            <a:r>
              <a:rPr lang="en-US" altLang="zh-CN" dirty="0" err="1" smtClean="0">
                <a:solidFill>
                  <a:srgbClr val="FF0000"/>
                </a:solidFill>
              </a:rPr>
              <a:t>d</a:t>
            </a:r>
            <a:r>
              <a:rPr lang="en-US" altLang="zh-CN" baseline="-25000" dirty="0" err="1" smtClean="0">
                <a:solidFill>
                  <a:srgbClr val="FF0000"/>
                </a:solidFill>
              </a:rPr>
              <a:t>Ⅱ</a:t>
            </a:r>
            <a:r>
              <a:rPr lang="en-US" altLang="zh-CN" dirty="0" smtClean="0">
                <a:solidFill>
                  <a:srgbClr val="FF0000"/>
                </a:solidFill>
              </a:rPr>
              <a:t>=62mm</a:t>
            </a:r>
            <a:endParaRPr lang="zh-CN" altLang="en-US" dirty="0">
              <a:solidFill>
                <a:srgbClr val="FF0000"/>
              </a:solidFill>
            </a:endParaRPr>
          </a:p>
        </p:txBody>
      </p:sp>
      <p:sp>
        <p:nvSpPr>
          <p:cNvPr id="13" name="文本框 12"/>
          <p:cNvSpPr txBox="1"/>
          <p:nvPr/>
        </p:nvSpPr>
        <p:spPr>
          <a:xfrm>
            <a:off x="2005846" y="5650118"/>
            <a:ext cx="1181854" cy="400110"/>
          </a:xfrm>
          <a:prstGeom prst="rect">
            <a:avLst/>
          </a:prstGeom>
          <a:solidFill>
            <a:srgbClr val="FFC000"/>
          </a:solidFill>
        </p:spPr>
        <p:txBody>
          <a:bodyPr wrap="square" rtlCol="0">
            <a:spAutoFit/>
          </a:bodyPr>
          <a:lstStyle/>
          <a:p>
            <a:r>
              <a:rPr lang="en-US" altLang="zh-CN" i="1" dirty="0" smtClean="0"/>
              <a:t>l</a:t>
            </a:r>
            <a:r>
              <a:rPr lang="en-US" altLang="zh-CN" baseline="-25000" dirty="0" smtClean="0"/>
              <a:t>2</a:t>
            </a:r>
            <a:r>
              <a:rPr lang="en-US" altLang="zh-CN" dirty="0" smtClean="0"/>
              <a:t>=50mm</a:t>
            </a:r>
            <a:endParaRPr lang="zh-CN" altLang="en-US" dirty="0"/>
          </a:p>
        </p:txBody>
      </p:sp>
      <p:sp>
        <p:nvSpPr>
          <p:cNvPr id="14" name="文本框 13"/>
          <p:cNvSpPr txBox="1"/>
          <p:nvPr/>
        </p:nvSpPr>
        <p:spPr>
          <a:xfrm>
            <a:off x="3384931" y="5048310"/>
            <a:ext cx="1288670" cy="400110"/>
          </a:xfrm>
          <a:prstGeom prst="rect">
            <a:avLst/>
          </a:prstGeom>
          <a:solidFill>
            <a:srgbClr val="0070C0"/>
          </a:solidFill>
        </p:spPr>
        <p:txBody>
          <a:bodyPr wrap="square" rtlCol="0">
            <a:spAutoFit/>
          </a:bodyPr>
          <a:lstStyle/>
          <a:p>
            <a:r>
              <a:rPr lang="en-US" altLang="zh-CN" dirty="0" err="1" smtClean="0">
                <a:solidFill>
                  <a:srgbClr val="FF0000"/>
                </a:solidFill>
              </a:rPr>
              <a:t>d</a:t>
            </a:r>
            <a:r>
              <a:rPr lang="en-US" altLang="zh-CN" baseline="-25000" dirty="0" err="1" smtClean="0">
                <a:solidFill>
                  <a:srgbClr val="FF0000"/>
                </a:solidFill>
              </a:rPr>
              <a:t>Ⅲ</a:t>
            </a:r>
            <a:r>
              <a:rPr lang="en-US" altLang="zh-CN" dirty="0" smtClean="0">
                <a:solidFill>
                  <a:srgbClr val="FF0000"/>
                </a:solidFill>
              </a:rPr>
              <a:t>=65mm</a:t>
            </a:r>
            <a:endParaRPr lang="zh-CN" altLang="en-US" dirty="0">
              <a:solidFill>
                <a:srgbClr val="FF0000"/>
              </a:solidFill>
            </a:endParaRPr>
          </a:p>
        </p:txBody>
      </p:sp>
      <p:sp>
        <p:nvSpPr>
          <p:cNvPr id="15" name="文本框 14"/>
          <p:cNvSpPr txBox="1"/>
          <p:nvPr/>
        </p:nvSpPr>
        <p:spPr>
          <a:xfrm>
            <a:off x="3373862" y="5613402"/>
            <a:ext cx="1140988" cy="398780"/>
          </a:xfrm>
          <a:prstGeom prst="rect">
            <a:avLst/>
          </a:prstGeom>
          <a:solidFill>
            <a:srgbClr val="0070C0"/>
          </a:solidFill>
        </p:spPr>
        <p:txBody>
          <a:bodyPr wrap="square" rtlCol="0">
            <a:spAutoFit/>
          </a:bodyPr>
          <a:lstStyle/>
          <a:p>
            <a:r>
              <a:rPr lang="en-US" altLang="zh-CN" i="1" dirty="0" smtClean="0"/>
              <a:t>l</a:t>
            </a:r>
            <a:r>
              <a:rPr lang="en-US" altLang="zh-CN" baseline="-25000" dirty="0" smtClean="0"/>
              <a:t>3</a:t>
            </a:r>
            <a:r>
              <a:rPr lang="en-US" altLang="zh-CN" dirty="0" smtClean="0"/>
              <a:t>=62mm</a:t>
            </a:r>
            <a:endParaRPr lang="zh-CN" altLang="en-US" dirty="0"/>
          </a:p>
        </p:txBody>
      </p:sp>
      <p:sp>
        <p:nvSpPr>
          <p:cNvPr id="16" name="文本框 15"/>
          <p:cNvSpPr txBox="1"/>
          <p:nvPr/>
        </p:nvSpPr>
        <p:spPr>
          <a:xfrm>
            <a:off x="4769607" y="5011971"/>
            <a:ext cx="1300994" cy="400110"/>
          </a:xfrm>
          <a:prstGeom prst="rect">
            <a:avLst/>
          </a:prstGeom>
          <a:solidFill>
            <a:srgbClr val="00B050"/>
          </a:solidFill>
        </p:spPr>
        <p:txBody>
          <a:bodyPr wrap="square" rtlCol="0">
            <a:spAutoFit/>
          </a:bodyPr>
          <a:lstStyle/>
          <a:p>
            <a:r>
              <a:rPr lang="en-US" altLang="zh-CN" dirty="0" err="1" smtClean="0">
                <a:solidFill>
                  <a:srgbClr val="FF0000"/>
                </a:solidFill>
              </a:rPr>
              <a:t>d</a:t>
            </a:r>
            <a:r>
              <a:rPr lang="en-US" altLang="zh-CN" baseline="-25000" dirty="0" err="1" smtClean="0">
                <a:solidFill>
                  <a:srgbClr val="FF0000"/>
                </a:solidFill>
              </a:rPr>
              <a:t>Ⅳ</a:t>
            </a:r>
            <a:r>
              <a:rPr lang="en-US" altLang="zh-CN" dirty="0" smtClean="0">
                <a:solidFill>
                  <a:srgbClr val="FF0000"/>
                </a:solidFill>
              </a:rPr>
              <a:t>=70mm</a:t>
            </a:r>
            <a:endParaRPr lang="zh-CN" altLang="en-US" dirty="0">
              <a:solidFill>
                <a:srgbClr val="FF0000"/>
              </a:solidFill>
            </a:endParaRPr>
          </a:p>
        </p:txBody>
      </p:sp>
      <p:sp>
        <p:nvSpPr>
          <p:cNvPr id="17" name="文本框 16"/>
          <p:cNvSpPr txBox="1"/>
          <p:nvPr/>
        </p:nvSpPr>
        <p:spPr>
          <a:xfrm>
            <a:off x="4729618" y="5556125"/>
            <a:ext cx="1271132" cy="398780"/>
          </a:xfrm>
          <a:prstGeom prst="rect">
            <a:avLst/>
          </a:prstGeom>
          <a:solidFill>
            <a:srgbClr val="00B050"/>
          </a:solidFill>
        </p:spPr>
        <p:txBody>
          <a:bodyPr wrap="square" rtlCol="0">
            <a:spAutoFit/>
          </a:bodyPr>
          <a:lstStyle/>
          <a:p>
            <a:r>
              <a:rPr lang="en-US" altLang="zh-CN" i="1" dirty="0" smtClean="0"/>
              <a:t>l</a:t>
            </a:r>
            <a:r>
              <a:rPr lang="en-US" altLang="zh-CN" baseline="-25000" dirty="0" smtClean="0"/>
              <a:t>4</a:t>
            </a:r>
            <a:r>
              <a:rPr lang="en-US" altLang="zh-CN" dirty="0" smtClean="0"/>
              <a:t>=78mm</a:t>
            </a:r>
            <a:endParaRPr lang="zh-CN" altLang="en-US" dirty="0"/>
          </a:p>
        </p:txBody>
      </p:sp>
      <p:sp>
        <p:nvSpPr>
          <p:cNvPr id="18" name="文本框 17"/>
          <p:cNvSpPr txBox="1"/>
          <p:nvPr/>
        </p:nvSpPr>
        <p:spPr>
          <a:xfrm>
            <a:off x="4806071" y="890004"/>
            <a:ext cx="1270879" cy="400110"/>
          </a:xfrm>
          <a:prstGeom prst="rect">
            <a:avLst/>
          </a:prstGeom>
          <a:gradFill flip="none" rotWithShape="1">
            <a:gsLst>
              <a:gs pos="0">
                <a:srgbClr val="7030A0">
                  <a:tint val="66000"/>
                  <a:satMod val="160000"/>
                </a:srgbClr>
              </a:gs>
              <a:gs pos="50000">
                <a:srgbClr val="7030A0">
                  <a:tint val="44500"/>
                  <a:satMod val="160000"/>
                </a:srgbClr>
              </a:gs>
              <a:gs pos="100000">
                <a:srgbClr val="7030A0">
                  <a:tint val="23500"/>
                  <a:satMod val="160000"/>
                </a:srgbClr>
              </a:gs>
            </a:gsLst>
            <a:lin ang="5400000" scaled="1"/>
            <a:tileRect/>
          </a:gradFill>
        </p:spPr>
        <p:txBody>
          <a:bodyPr wrap="square" rtlCol="0">
            <a:spAutoFit/>
          </a:bodyPr>
          <a:lstStyle/>
          <a:p>
            <a:r>
              <a:rPr lang="en-US" altLang="zh-CN" dirty="0" err="1" smtClean="0">
                <a:solidFill>
                  <a:srgbClr val="FF0000"/>
                </a:solidFill>
              </a:rPr>
              <a:t>d</a:t>
            </a:r>
            <a:r>
              <a:rPr lang="en-US" altLang="zh-CN" baseline="-25000" dirty="0" err="1" smtClean="0">
                <a:solidFill>
                  <a:srgbClr val="FF0000"/>
                </a:solidFill>
              </a:rPr>
              <a:t>Ⅴ</a:t>
            </a:r>
            <a:r>
              <a:rPr lang="en-US" altLang="zh-CN" dirty="0" smtClean="0">
                <a:solidFill>
                  <a:srgbClr val="FF0000"/>
                </a:solidFill>
              </a:rPr>
              <a:t>=82mm</a:t>
            </a:r>
            <a:endParaRPr lang="zh-CN" altLang="en-US" dirty="0">
              <a:solidFill>
                <a:srgbClr val="FF0000"/>
              </a:solidFill>
            </a:endParaRPr>
          </a:p>
        </p:txBody>
      </p:sp>
      <p:sp>
        <p:nvSpPr>
          <p:cNvPr id="19" name="文本框 18"/>
          <p:cNvSpPr txBox="1"/>
          <p:nvPr/>
        </p:nvSpPr>
        <p:spPr>
          <a:xfrm>
            <a:off x="4852971" y="1335513"/>
            <a:ext cx="1192229" cy="400110"/>
          </a:xfrm>
          <a:prstGeom prst="rect">
            <a:avLst/>
          </a:prstGeom>
          <a:gradFill flip="none" rotWithShape="1">
            <a:gsLst>
              <a:gs pos="0">
                <a:srgbClr val="7030A0">
                  <a:tint val="66000"/>
                  <a:satMod val="160000"/>
                </a:srgbClr>
              </a:gs>
              <a:gs pos="50000">
                <a:srgbClr val="7030A0">
                  <a:tint val="44500"/>
                  <a:satMod val="160000"/>
                </a:srgbClr>
              </a:gs>
              <a:gs pos="100000">
                <a:srgbClr val="7030A0">
                  <a:tint val="23500"/>
                  <a:satMod val="160000"/>
                </a:srgbClr>
              </a:gs>
            </a:gsLst>
            <a:lin ang="5400000" scaled="1"/>
            <a:tileRect/>
          </a:gradFill>
        </p:spPr>
        <p:txBody>
          <a:bodyPr wrap="square" rtlCol="0">
            <a:spAutoFit/>
          </a:bodyPr>
          <a:lstStyle/>
          <a:p>
            <a:r>
              <a:rPr lang="en-US" altLang="zh-CN" i="1" dirty="0" smtClean="0"/>
              <a:t>l</a:t>
            </a:r>
            <a:r>
              <a:rPr lang="en-US" altLang="zh-CN" baseline="-25000" dirty="0" smtClean="0"/>
              <a:t>5</a:t>
            </a:r>
            <a:r>
              <a:rPr lang="en-US" altLang="zh-CN" dirty="0" smtClean="0"/>
              <a:t>=12mm</a:t>
            </a:r>
            <a:endParaRPr lang="zh-CN" altLang="en-US" dirty="0"/>
          </a:p>
        </p:txBody>
      </p:sp>
      <p:sp>
        <p:nvSpPr>
          <p:cNvPr id="20" name="文本框 19"/>
          <p:cNvSpPr txBox="1"/>
          <p:nvPr/>
        </p:nvSpPr>
        <p:spPr>
          <a:xfrm>
            <a:off x="6172392" y="4957339"/>
            <a:ext cx="1317905" cy="400110"/>
          </a:xfrm>
          <a:prstGeom prst="rect">
            <a:avLst/>
          </a:prstGeom>
          <a:solidFill>
            <a:srgbClr val="FFFF00"/>
          </a:solidFill>
        </p:spPr>
        <p:txBody>
          <a:bodyPr wrap="square" rtlCol="0">
            <a:spAutoFit/>
          </a:bodyPr>
          <a:lstStyle/>
          <a:p>
            <a:r>
              <a:rPr lang="en-US" altLang="zh-CN" dirty="0" err="1" smtClean="0">
                <a:solidFill>
                  <a:srgbClr val="FF0000"/>
                </a:solidFill>
              </a:rPr>
              <a:t>d</a:t>
            </a:r>
            <a:r>
              <a:rPr lang="en-US" altLang="zh-CN" baseline="-25000" dirty="0" err="1" smtClean="0">
                <a:solidFill>
                  <a:srgbClr val="FF0000"/>
                </a:solidFill>
              </a:rPr>
              <a:t>Ⅵ</a:t>
            </a:r>
            <a:r>
              <a:rPr lang="en-US" altLang="zh-CN" dirty="0" smtClean="0">
                <a:solidFill>
                  <a:srgbClr val="FF0000"/>
                </a:solidFill>
              </a:rPr>
              <a:t>=77mm</a:t>
            </a:r>
            <a:endParaRPr lang="zh-CN" altLang="en-US" dirty="0">
              <a:solidFill>
                <a:srgbClr val="FF0000"/>
              </a:solidFill>
            </a:endParaRPr>
          </a:p>
        </p:txBody>
      </p:sp>
      <p:sp>
        <p:nvSpPr>
          <p:cNvPr id="21" name="文本框 20"/>
          <p:cNvSpPr txBox="1"/>
          <p:nvPr/>
        </p:nvSpPr>
        <p:spPr>
          <a:xfrm>
            <a:off x="6155351" y="5476907"/>
            <a:ext cx="1244160" cy="400110"/>
          </a:xfrm>
          <a:prstGeom prst="rect">
            <a:avLst/>
          </a:prstGeom>
          <a:solidFill>
            <a:srgbClr val="FFFF00"/>
          </a:solidFill>
        </p:spPr>
        <p:txBody>
          <a:bodyPr wrap="square" rtlCol="0">
            <a:spAutoFit/>
          </a:bodyPr>
          <a:lstStyle/>
          <a:p>
            <a:r>
              <a:rPr lang="en-US" altLang="zh-CN" i="1" dirty="0" smtClean="0"/>
              <a:t>l</a:t>
            </a:r>
            <a:r>
              <a:rPr lang="en-US" altLang="zh-CN" baseline="-25000" dirty="0" smtClean="0"/>
              <a:t>6</a:t>
            </a:r>
            <a:r>
              <a:rPr lang="en-US" altLang="zh-CN" dirty="0" smtClean="0"/>
              <a:t> =82mm</a:t>
            </a:r>
            <a:endParaRPr lang="zh-CN" altLang="en-US" dirty="0"/>
          </a:p>
        </p:txBody>
      </p:sp>
      <p:sp>
        <p:nvSpPr>
          <p:cNvPr id="22" name="文本框 21"/>
          <p:cNvSpPr txBox="1"/>
          <p:nvPr/>
        </p:nvSpPr>
        <p:spPr>
          <a:xfrm>
            <a:off x="7552603" y="4989905"/>
            <a:ext cx="1384551" cy="400110"/>
          </a:xfrm>
          <a:prstGeom prst="rect">
            <a:avLst/>
          </a:prstGeom>
          <a:gradFill flip="none" rotWithShape="1">
            <a:gsLst>
              <a:gs pos="0">
                <a:schemeClr val="tx1">
                  <a:lumMod val="60000"/>
                  <a:lumOff val="40000"/>
                  <a:tint val="66000"/>
                  <a:satMod val="160000"/>
                </a:schemeClr>
              </a:gs>
              <a:gs pos="50000">
                <a:schemeClr val="tx1">
                  <a:lumMod val="60000"/>
                  <a:lumOff val="40000"/>
                  <a:tint val="44500"/>
                  <a:satMod val="160000"/>
                </a:schemeClr>
              </a:gs>
              <a:gs pos="100000">
                <a:schemeClr val="tx1">
                  <a:lumMod val="60000"/>
                  <a:lumOff val="40000"/>
                  <a:tint val="23500"/>
                  <a:satMod val="160000"/>
                </a:schemeClr>
              </a:gs>
            </a:gsLst>
            <a:lin ang="5400000" scaled="1"/>
            <a:tileRect/>
          </a:gradFill>
        </p:spPr>
        <p:txBody>
          <a:bodyPr wrap="square" rtlCol="0">
            <a:spAutoFit/>
          </a:bodyPr>
          <a:lstStyle/>
          <a:p>
            <a:r>
              <a:rPr lang="en-US" altLang="zh-CN" dirty="0" err="1" smtClean="0">
                <a:solidFill>
                  <a:srgbClr val="FF0000"/>
                </a:solidFill>
              </a:rPr>
              <a:t>d</a:t>
            </a:r>
            <a:r>
              <a:rPr lang="en-US" altLang="zh-CN" baseline="-25000" dirty="0" err="1" smtClean="0">
                <a:solidFill>
                  <a:srgbClr val="FF0000"/>
                </a:solidFill>
              </a:rPr>
              <a:t>Ⅶ</a:t>
            </a:r>
            <a:r>
              <a:rPr lang="en-US" altLang="zh-CN" dirty="0" smtClean="0">
                <a:solidFill>
                  <a:srgbClr val="FF0000"/>
                </a:solidFill>
              </a:rPr>
              <a:t>=65mm</a:t>
            </a:r>
            <a:endParaRPr lang="zh-CN" altLang="en-US" dirty="0">
              <a:solidFill>
                <a:srgbClr val="FF0000"/>
              </a:solidFill>
            </a:endParaRPr>
          </a:p>
        </p:txBody>
      </p:sp>
      <p:sp>
        <p:nvSpPr>
          <p:cNvPr id="23" name="文本框 22"/>
          <p:cNvSpPr txBox="1"/>
          <p:nvPr/>
        </p:nvSpPr>
        <p:spPr>
          <a:xfrm>
            <a:off x="7607613" y="5500546"/>
            <a:ext cx="1142560" cy="400110"/>
          </a:xfrm>
          <a:prstGeom prst="rect">
            <a:avLst/>
          </a:prstGeom>
          <a:gradFill flip="none" rotWithShape="1">
            <a:gsLst>
              <a:gs pos="0">
                <a:schemeClr val="tx1">
                  <a:lumMod val="60000"/>
                  <a:lumOff val="40000"/>
                  <a:tint val="66000"/>
                  <a:satMod val="160000"/>
                </a:schemeClr>
              </a:gs>
              <a:gs pos="50000">
                <a:schemeClr val="tx1">
                  <a:lumMod val="60000"/>
                  <a:lumOff val="40000"/>
                  <a:tint val="44500"/>
                  <a:satMod val="160000"/>
                </a:schemeClr>
              </a:gs>
              <a:gs pos="100000">
                <a:schemeClr val="tx1">
                  <a:lumMod val="60000"/>
                  <a:lumOff val="40000"/>
                  <a:tint val="23500"/>
                  <a:satMod val="160000"/>
                </a:schemeClr>
              </a:gs>
            </a:gsLst>
            <a:lin ang="5400000" scaled="1"/>
            <a:tileRect/>
          </a:gradFill>
        </p:spPr>
        <p:txBody>
          <a:bodyPr wrap="square" rtlCol="0">
            <a:spAutoFit/>
          </a:bodyPr>
          <a:lstStyle/>
          <a:p>
            <a:r>
              <a:rPr lang="en-US" altLang="zh-CN" i="1" dirty="0" smtClean="0"/>
              <a:t>l</a:t>
            </a:r>
            <a:r>
              <a:rPr lang="en-US" altLang="zh-CN" baseline="-25000" dirty="0" smtClean="0"/>
              <a:t>7</a:t>
            </a:r>
            <a:r>
              <a:rPr lang="en-US" altLang="zh-CN" dirty="0" smtClean="0"/>
              <a:t>=36mm</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left)">
                                      <p:cBhvr>
                                        <p:cTn id="17" dur="500"/>
                                        <p:tgtEl>
                                          <p:spTgt spid="10"/>
                                        </p:tgtEl>
                                      </p:cBhvr>
                                    </p:animEffect>
                                  </p:childTnLst>
                                </p:cTn>
                              </p:par>
                            </p:childTnLst>
                          </p:cTn>
                        </p:par>
                        <p:par>
                          <p:cTn id="18" fill="hold">
                            <p:stCondLst>
                              <p:cond delay="500"/>
                            </p:stCondLst>
                            <p:childTnLst>
                              <p:par>
                                <p:cTn id="19" presetID="22" presetClass="entr" presetSubtype="8" fill="hold" grpId="0" nodeType="after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wipe(left)">
                                      <p:cBhvr>
                                        <p:cTn id="21" dur="500"/>
                                        <p:tgtEl>
                                          <p:spTgt spid="11"/>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wipe(left)">
                                      <p:cBhvr>
                                        <p:cTn id="26" dur="500"/>
                                        <p:tgtEl>
                                          <p:spTgt spid="4"/>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wipe(left)">
                                      <p:cBhvr>
                                        <p:cTn id="31" dur="500"/>
                                        <p:tgtEl>
                                          <p:spTgt spid="12"/>
                                        </p:tgtEl>
                                      </p:cBhvr>
                                    </p:animEffect>
                                  </p:childTnLst>
                                </p:cTn>
                              </p:par>
                            </p:childTnLst>
                          </p:cTn>
                        </p:par>
                        <p:par>
                          <p:cTn id="32" fill="hold">
                            <p:stCondLst>
                              <p:cond delay="500"/>
                            </p:stCondLst>
                            <p:childTnLst>
                              <p:par>
                                <p:cTn id="33" presetID="22" presetClass="entr" presetSubtype="8" fill="hold" grpId="0" nodeType="after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wipe(left)">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5"/>
                                        </p:tgtEl>
                                        <p:attrNameLst>
                                          <p:attrName>style.visibility</p:attrName>
                                        </p:attrNameLst>
                                      </p:cBhvr>
                                      <p:to>
                                        <p:strVal val="visible"/>
                                      </p:to>
                                    </p:set>
                                    <p:animEffect transition="in" filter="wipe(left)">
                                      <p:cBhvr>
                                        <p:cTn id="40" dur="500"/>
                                        <p:tgtEl>
                                          <p:spTgt spid="5"/>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14"/>
                                        </p:tgtEl>
                                        <p:attrNameLst>
                                          <p:attrName>style.visibility</p:attrName>
                                        </p:attrNameLst>
                                      </p:cBhvr>
                                      <p:to>
                                        <p:strVal val="visible"/>
                                      </p:to>
                                    </p:set>
                                    <p:animEffect transition="in" filter="wipe(left)">
                                      <p:cBhvr>
                                        <p:cTn id="45" dur="500"/>
                                        <p:tgtEl>
                                          <p:spTgt spid="14"/>
                                        </p:tgtEl>
                                      </p:cBhvr>
                                    </p:animEffect>
                                  </p:childTnLst>
                                </p:cTn>
                              </p:par>
                            </p:childTnLst>
                          </p:cTn>
                        </p:par>
                        <p:par>
                          <p:cTn id="46" fill="hold">
                            <p:stCondLst>
                              <p:cond delay="500"/>
                            </p:stCondLst>
                            <p:childTnLst>
                              <p:par>
                                <p:cTn id="47" presetID="22" presetClass="entr" presetSubtype="8" fill="hold" grpId="0" nodeType="afterEffect">
                                  <p:stCondLst>
                                    <p:cond delay="0"/>
                                  </p:stCondLst>
                                  <p:childTnLst>
                                    <p:set>
                                      <p:cBhvr>
                                        <p:cTn id="48" dur="1" fill="hold">
                                          <p:stCondLst>
                                            <p:cond delay="0"/>
                                          </p:stCondLst>
                                        </p:cTn>
                                        <p:tgtEl>
                                          <p:spTgt spid="15"/>
                                        </p:tgtEl>
                                        <p:attrNameLst>
                                          <p:attrName>style.visibility</p:attrName>
                                        </p:attrNameLst>
                                      </p:cBhvr>
                                      <p:to>
                                        <p:strVal val="visible"/>
                                      </p:to>
                                    </p:set>
                                    <p:animEffect transition="in" filter="wipe(left)">
                                      <p:cBhvr>
                                        <p:cTn id="49" dur="500"/>
                                        <p:tgtEl>
                                          <p:spTgt spid="15"/>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6"/>
                                        </p:tgtEl>
                                        <p:attrNameLst>
                                          <p:attrName>style.visibility</p:attrName>
                                        </p:attrNameLst>
                                      </p:cBhvr>
                                      <p:to>
                                        <p:strVal val="visible"/>
                                      </p:to>
                                    </p:set>
                                    <p:animEffect transition="in" filter="wipe(left)">
                                      <p:cBhvr>
                                        <p:cTn id="54" dur="500"/>
                                        <p:tgtEl>
                                          <p:spTgt spid="6"/>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16"/>
                                        </p:tgtEl>
                                        <p:attrNameLst>
                                          <p:attrName>style.visibility</p:attrName>
                                        </p:attrNameLst>
                                      </p:cBhvr>
                                      <p:to>
                                        <p:strVal val="visible"/>
                                      </p:to>
                                    </p:set>
                                    <p:animEffect transition="in" filter="wipe(left)">
                                      <p:cBhvr>
                                        <p:cTn id="59" dur="500"/>
                                        <p:tgtEl>
                                          <p:spTgt spid="16"/>
                                        </p:tgtEl>
                                      </p:cBhvr>
                                    </p:animEffect>
                                  </p:childTnLst>
                                </p:cTn>
                              </p:par>
                            </p:childTnLst>
                          </p:cTn>
                        </p:par>
                        <p:par>
                          <p:cTn id="60" fill="hold">
                            <p:stCondLst>
                              <p:cond delay="500"/>
                            </p:stCondLst>
                            <p:childTnLst>
                              <p:par>
                                <p:cTn id="61" presetID="22" presetClass="entr" presetSubtype="8" fill="hold" grpId="0" nodeType="afterEffect">
                                  <p:stCondLst>
                                    <p:cond delay="0"/>
                                  </p:stCondLst>
                                  <p:childTnLst>
                                    <p:set>
                                      <p:cBhvr>
                                        <p:cTn id="62" dur="1" fill="hold">
                                          <p:stCondLst>
                                            <p:cond delay="0"/>
                                          </p:stCondLst>
                                        </p:cTn>
                                        <p:tgtEl>
                                          <p:spTgt spid="17"/>
                                        </p:tgtEl>
                                        <p:attrNameLst>
                                          <p:attrName>style.visibility</p:attrName>
                                        </p:attrNameLst>
                                      </p:cBhvr>
                                      <p:to>
                                        <p:strVal val="visible"/>
                                      </p:to>
                                    </p:set>
                                    <p:animEffect transition="in" filter="wipe(left)">
                                      <p:cBhvr>
                                        <p:cTn id="63" dur="500"/>
                                        <p:tgtEl>
                                          <p:spTgt spid="17"/>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7"/>
                                        </p:tgtEl>
                                        <p:attrNameLst>
                                          <p:attrName>style.visibility</p:attrName>
                                        </p:attrNameLst>
                                      </p:cBhvr>
                                      <p:to>
                                        <p:strVal val="visible"/>
                                      </p:to>
                                    </p:set>
                                    <p:animEffect transition="in" filter="wipe(left)">
                                      <p:cBhvr>
                                        <p:cTn id="68" dur="500"/>
                                        <p:tgtEl>
                                          <p:spTgt spid="7"/>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grpId="0" nodeType="clickEffect">
                                  <p:stCondLst>
                                    <p:cond delay="0"/>
                                  </p:stCondLst>
                                  <p:childTnLst>
                                    <p:set>
                                      <p:cBhvr>
                                        <p:cTn id="72" dur="1" fill="hold">
                                          <p:stCondLst>
                                            <p:cond delay="0"/>
                                          </p:stCondLst>
                                        </p:cTn>
                                        <p:tgtEl>
                                          <p:spTgt spid="18"/>
                                        </p:tgtEl>
                                        <p:attrNameLst>
                                          <p:attrName>style.visibility</p:attrName>
                                        </p:attrNameLst>
                                      </p:cBhvr>
                                      <p:to>
                                        <p:strVal val="visible"/>
                                      </p:to>
                                    </p:set>
                                    <p:animEffect transition="in" filter="wipe(left)">
                                      <p:cBhvr>
                                        <p:cTn id="73" dur="500"/>
                                        <p:tgtEl>
                                          <p:spTgt spid="18"/>
                                        </p:tgtEl>
                                      </p:cBhvr>
                                    </p:animEffect>
                                  </p:childTnLst>
                                </p:cTn>
                              </p:par>
                            </p:childTnLst>
                          </p:cTn>
                        </p:par>
                        <p:par>
                          <p:cTn id="74" fill="hold">
                            <p:stCondLst>
                              <p:cond delay="500"/>
                            </p:stCondLst>
                            <p:childTnLst>
                              <p:par>
                                <p:cTn id="75" presetID="22" presetClass="entr" presetSubtype="8" fill="hold" grpId="0" nodeType="afterEffect">
                                  <p:stCondLst>
                                    <p:cond delay="0"/>
                                  </p:stCondLst>
                                  <p:childTnLst>
                                    <p:set>
                                      <p:cBhvr>
                                        <p:cTn id="76" dur="1" fill="hold">
                                          <p:stCondLst>
                                            <p:cond delay="0"/>
                                          </p:stCondLst>
                                        </p:cTn>
                                        <p:tgtEl>
                                          <p:spTgt spid="19"/>
                                        </p:tgtEl>
                                        <p:attrNameLst>
                                          <p:attrName>style.visibility</p:attrName>
                                        </p:attrNameLst>
                                      </p:cBhvr>
                                      <p:to>
                                        <p:strVal val="visible"/>
                                      </p:to>
                                    </p:set>
                                    <p:animEffect transition="in" filter="wipe(left)">
                                      <p:cBhvr>
                                        <p:cTn id="77" dur="500"/>
                                        <p:tgtEl>
                                          <p:spTgt spid="19"/>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8"/>
                                        </p:tgtEl>
                                        <p:attrNameLst>
                                          <p:attrName>style.visibility</p:attrName>
                                        </p:attrNameLst>
                                      </p:cBhvr>
                                      <p:to>
                                        <p:strVal val="visible"/>
                                      </p:to>
                                    </p:set>
                                    <p:animEffect transition="in" filter="wipe(left)">
                                      <p:cBhvr>
                                        <p:cTn id="82" dur="500"/>
                                        <p:tgtEl>
                                          <p:spTgt spid="8"/>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grpId="0" nodeType="clickEffect">
                                  <p:stCondLst>
                                    <p:cond delay="0"/>
                                  </p:stCondLst>
                                  <p:childTnLst>
                                    <p:set>
                                      <p:cBhvr>
                                        <p:cTn id="86" dur="1" fill="hold">
                                          <p:stCondLst>
                                            <p:cond delay="0"/>
                                          </p:stCondLst>
                                        </p:cTn>
                                        <p:tgtEl>
                                          <p:spTgt spid="20"/>
                                        </p:tgtEl>
                                        <p:attrNameLst>
                                          <p:attrName>style.visibility</p:attrName>
                                        </p:attrNameLst>
                                      </p:cBhvr>
                                      <p:to>
                                        <p:strVal val="visible"/>
                                      </p:to>
                                    </p:set>
                                    <p:animEffect transition="in" filter="wipe(left)">
                                      <p:cBhvr>
                                        <p:cTn id="87" dur="500"/>
                                        <p:tgtEl>
                                          <p:spTgt spid="20"/>
                                        </p:tgtEl>
                                      </p:cBhvr>
                                    </p:animEffect>
                                  </p:childTnLst>
                                </p:cTn>
                              </p:par>
                            </p:childTnLst>
                          </p:cTn>
                        </p:par>
                        <p:par>
                          <p:cTn id="88" fill="hold">
                            <p:stCondLst>
                              <p:cond delay="500"/>
                            </p:stCondLst>
                            <p:childTnLst>
                              <p:par>
                                <p:cTn id="89" presetID="22" presetClass="entr" presetSubtype="8" fill="hold" grpId="0" nodeType="afterEffect">
                                  <p:stCondLst>
                                    <p:cond delay="0"/>
                                  </p:stCondLst>
                                  <p:childTnLst>
                                    <p:set>
                                      <p:cBhvr>
                                        <p:cTn id="90" dur="1" fill="hold">
                                          <p:stCondLst>
                                            <p:cond delay="0"/>
                                          </p:stCondLst>
                                        </p:cTn>
                                        <p:tgtEl>
                                          <p:spTgt spid="21"/>
                                        </p:tgtEl>
                                        <p:attrNameLst>
                                          <p:attrName>style.visibility</p:attrName>
                                        </p:attrNameLst>
                                      </p:cBhvr>
                                      <p:to>
                                        <p:strVal val="visible"/>
                                      </p:to>
                                    </p:set>
                                    <p:animEffect transition="in" filter="wipe(left)">
                                      <p:cBhvr>
                                        <p:cTn id="91" dur="500"/>
                                        <p:tgtEl>
                                          <p:spTgt spid="21"/>
                                        </p:tgtEl>
                                      </p:cBhvr>
                                    </p:animEffect>
                                  </p:childTnLst>
                                </p:cTn>
                              </p:par>
                            </p:childTnLst>
                          </p:cTn>
                        </p:par>
                      </p:childTnLst>
                    </p:cTn>
                  </p:par>
                  <p:par>
                    <p:cTn id="92" fill="hold">
                      <p:stCondLst>
                        <p:cond delay="indefinite"/>
                      </p:stCondLst>
                      <p:childTnLst>
                        <p:par>
                          <p:cTn id="93" fill="hold">
                            <p:stCondLst>
                              <p:cond delay="0"/>
                            </p:stCondLst>
                            <p:childTnLst>
                              <p:par>
                                <p:cTn id="94" presetID="22" presetClass="entr" presetSubtype="8" fill="hold" grpId="0" nodeType="clickEffect">
                                  <p:stCondLst>
                                    <p:cond delay="0"/>
                                  </p:stCondLst>
                                  <p:childTnLst>
                                    <p:set>
                                      <p:cBhvr>
                                        <p:cTn id="95" dur="1" fill="hold">
                                          <p:stCondLst>
                                            <p:cond delay="0"/>
                                          </p:stCondLst>
                                        </p:cTn>
                                        <p:tgtEl>
                                          <p:spTgt spid="9"/>
                                        </p:tgtEl>
                                        <p:attrNameLst>
                                          <p:attrName>style.visibility</p:attrName>
                                        </p:attrNameLst>
                                      </p:cBhvr>
                                      <p:to>
                                        <p:strVal val="visible"/>
                                      </p:to>
                                    </p:set>
                                    <p:animEffect transition="in" filter="wipe(left)">
                                      <p:cBhvr>
                                        <p:cTn id="96" dur="500"/>
                                        <p:tgtEl>
                                          <p:spTgt spid="9"/>
                                        </p:tgtEl>
                                      </p:cBhvr>
                                    </p:animEffect>
                                  </p:childTnLst>
                                </p:cTn>
                              </p:par>
                            </p:childTnLst>
                          </p:cTn>
                        </p:par>
                      </p:childTnLst>
                    </p:cTn>
                  </p:par>
                  <p:par>
                    <p:cTn id="97" fill="hold">
                      <p:stCondLst>
                        <p:cond delay="indefinite"/>
                      </p:stCondLst>
                      <p:childTnLst>
                        <p:par>
                          <p:cTn id="98" fill="hold">
                            <p:stCondLst>
                              <p:cond delay="0"/>
                            </p:stCondLst>
                            <p:childTnLst>
                              <p:par>
                                <p:cTn id="99" presetID="22" presetClass="entr" presetSubtype="8" fill="hold" grpId="0" nodeType="clickEffect">
                                  <p:stCondLst>
                                    <p:cond delay="0"/>
                                  </p:stCondLst>
                                  <p:childTnLst>
                                    <p:set>
                                      <p:cBhvr>
                                        <p:cTn id="100" dur="1" fill="hold">
                                          <p:stCondLst>
                                            <p:cond delay="0"/>
                                          </p:stCondLst>
                                        </p:cTn>
                                        <p:tgtEl>
                                          <p:spTgt spid="22"/>
                                        </p:tgtEl>
                                        <p:attrNameLst>
                                          <p:attrName>style.visibility</p:attrName>
                                        </p:attrNameLst>
                                      </p:cBhvr>
                                      <p:to>
                                        <p:strVal val="visible"/>
                                      </p:to>
                                    </p:set>
                                    <p:animEffect transition="in" filter="wipe(left)">
                                      <p:cBhvr>
                                        <p:cTn id="101" dur="500"/>
                                        <p:tgtEl>
                                          <p:spTgt spid="22"/>
                                        </p:tgtEl>
                                      </p:cBhvr>
                                    </p:animEffect>
                                  </p:childTnLst>
                                </p:cTn>
                              </p:par>
                            </p:childTnLst>
                          </p:cTn>
                        </p:par>
                        <p:par>
                          <p:cTn id="102" fill="hold">
                            <p:stCondLst>
                              <p:cond delay="500"/>
                            </p:stCondLst>
                            <p:childTnLst>
                              <p:par>
                                <p:cTn id="103" presetID="22" presetClass="entr" presetSubtype="8" fill="hold" grpId="0" nodeType="afterEffect">
                                  <p:stCondLst>
                                    <p:cond delay="0"/>
                                  </p:stCondLst>
                                  <p:childTnLst>
                                    <p:set>
                                      <p:cBhvr>
                                        <p:cTn id="104" dur="1" fill="hold">
                                          <p:stCondLst>
                                            <p:cond delay="0"/>
                                          </p:stCondLst>
                                        </p:cTn>
                                        <p:tgtEl>
                                          <p:spTgt spid="23"/>
                                        </p:tgtEl>
                                        <p:attrNameLst>
                                          <p:attrName>style.visibility</p:attrName>
                                        </p:attrNameLst>
                                      </p:cBhvr>
                                      <p:to>
                                        <p:strVal val="visible"/>
                                      </p:to>
                                    </p:set>
                                    <p:animEffect transition="in" filter="wipe(left)">
                                      <p:cBhvr>
                                        <p:cTn id="105"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4" grpId="0" bldLvl="0" animBg="1"/>
      <p:bldP spid="5" grpId="0" bldLvl="0" animBg="1"/>
      <p:bldP spid="6" grpId="0" bldLvl="0" animBg="1"/>
      <p:bldP spid="7" grpId="0" bldLvl="0" animBg="1"/>
      <p:bldP spid="8" grpId="0" bldLvl="0" animBg="1"/>
      <p:bldP spid="9" grpId="0" bldLvl="0" animBg="1"/>
      <p:bldP spid="10" grpId="0" bldLvl="0" animBg="1"/>
      <p:bldP spid="11" grpId="0" bldLvl="0" animBg="1"/>
      <p:bldP spid="12" grpId="0" bldLvl="0" animBg="1"/>
      <p:bldP spid="13" grpId="0" bldLvl="0" animBg="1"/>
      <p:bldP spid="14" grpId="0" bldLvl="0" animBg="1"/>
      <p:bldP spid="15" grpId="0" bldLvl="0" animBg="1"/>
      <p:bldP spid="16" grpId="0" bldLvl="0" animBg="1"/>
      <p:bldP spid="17" grpId="0" bldLvl="0" animBg="1"/>
      <p:bldP spid="18" grpId="0" bldLvl="0" animBg="1"/>
      <p:bldP spid="19" grpId="0" bldLvl="0" animBg="1"/>
      <p:bldP spid="20" grpId="0" bldLvl="0" animBg="1"/>
      <p:bldP spid="21" grpId="0" bldLvl="0" animBg="1"/>
      <p:bldP spid="22" grpId="0" bldLvl="0" animBg="1"/>
      <p:bldP spid="23" grpId="0" bldLvl="0" animBg="1"/>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29845" y="1321435"/>
            <a:ext cx="9144000" cy="3757369"/>
            <a:chOff x="141" y="1861"/>
            <a:chExt cx="14400" cy="5917"/>
          </a:xfrm>
        </p:grpSpPr>
        <p:pic>
          <p:nvPicPr>
            <p:cNvPr id="2" name="图片 1"/>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41" y="1964"/>
              <a:ext cx="14400" cy="5814"/>
            </a:xfrm>
            <a:prstGeom prst="rect">
              <a:avLst/>
            </a:prstGeom>
          </p:spPr>
        </p:pic>
        <p:sp>
          <p:nvSpPr>
            <p:cNvPr id="3" name="文本框 2"/>
            <p:cNvSpPr txBox="1"/>
            <p:nvPr/>
          </p:nvSpPr>
          <p:spPr>
            <a:xfrm>
              <a:off x="6118" y="1880"/>
              <a:ext cx="704" cy="531"/>
            </a:xfrm>
            <a:prstGeom prst="rect">
              <a:avLst/>
            </a:prstGeom>
            <a:solidFill>
              <a:schemeClr val="bg1"/>
            </a:solidFill>
          </p:spPr>
          <p:txBody>
            <a:bodyPr wrap="square" rtlCol="0">
              <a:spAutoFit/>
            </a:bodyPr>
            <a:lstStyle/>
            <a:p>
              <a:r>
                <a:rPr lang="en-US" altLang="zh-CN" sz="1600" b="1">
                  <a:solidFill>
                    <a:schemeClr val="tx1">
                      <a:lumMod val="50000"/>
                    </a:schemeClr>
                  </a:solidFill>
                </a:rPr>
                <a:t>62</a:t>
              </a:r>
              <a:endParaRPr lang="en-US" altLang="zh-CN" sz="1600" b="1">
                <a:solidFill>
                  <a:schemeClr val="tx1">
                    <a:lumMod val="50000"/>
                  </a:schemeClr>
                </a:solidFill>
              </a:endParaRPr>
            </a:p>
          </p:txBody>
        </p:sp>
        <p:sp>
          <p:nvSpPr>
            <p:cNvPr id="4" name="文本框 3"/>
            <p:cNvSpPr txBox="1"/>
            <p:nvPr/>
          </p:nvSpPr>
          <p:spPr>
            <a:xfrm>
              <a:off x="8205" y="1861"/>
              <a:ext cx="893" cy="531"/>
            </a:xfrm>
            <a:prstGeom prst="rect">
              <a:avLst/>
            </a:prstGeom>
            <a:solidFill>
              <a:schemeClr val="bg1"/>
            </a:solidFill>
          </p:spPr>
          <p:txBody>
            <a:bodyPr wrap="square" rtlCol="0">
              <a:spAutoFit/>
            </a:bodyPr>
            <a:lstStyle/>
            <a:p>
              <a:r>
                <a:rPr lang="en-US" altLang="zh-CN" sz="1600" b="1">
                  <a:solidFill>
                    <a:schemeClr val="tx1">
                      <a:lumMod val="50000"/>
                    </a:schemeClr>
                  </a:solidFill>
                </a:rPr>
                <a:t>78</a:t>
              </a:r>
              <a:endParaRPr lang="en-US" altLang="zh-CN" sz="1600" b="1">
                <a:solidFill>
                  <a:schemeClr val="tx1">
                    <a:lumMod val="50000"/>
                  </a:schemeClr>
                </a:solidFill>
              </a:endParaRPr>
            </a:p>
          </p:txBody>
        </p:sp>
      </p:grpSp>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18796" y="978106"/>
            <a:ext cx="5368954" cy="430887"/>
          </a:xfrm>
          <a:prstGeom prst="rect">
            <a:avLst/>
          </a:prstGeom>
          <a:noFill/>
        </p:spPr>
        <p:txBody>
          <a:bodyPr wrap="square" rtlCol="0">
            <a:spAutoFit/>
          </a:bodyPr>
          <a:lstStyle/>
          <a:p>
            <a:r>
              <a:rPr lang="en-US" altLang="zh-CN" sz="2200" dirty="0" smtClean="0">
                <a:solidFill>
                  <a:schemeClr val="tx1">
                    <a:lumMod val="60000"/>
                    <a:lumOff val="40000"/>
                  </a:schemeClr>
                </a:solidFill>
              </a:rPr>
              <a:t>5</a:t>
            </a:r>
            <a:r>
              <a:rPr lang="zh-CN" altLang="en-US" sz="2200" dirty="0" smtClean="0">
                <a:solidFill>
                  <a:schemeClr val="tx1">
                    <a:lumMod val="60000"/>
                    <a:lumOff val="40000"/>
                  </a:schemeClr>
                </a:solidFill>
              </a:rPr>
              <a:t>、求轴上的载荷</a:t>
            </a:r>
            <a:endParaRPr lang="zh-CN" altLang="en-US" sz="2200" dirty="0">
              <a:solidFill>
                <a:schemeClr val="tx1">
                  <a:lumMod val="60000"/>
                  <a:lumOff val="40000"/>
                </a:schemeClr>
              </a:solidFill>
            </a:endParaRPr>
          </a:p>
        </p:txBody>
      </p:sp>
      <p:sp>
        <p:nvSpPr>
          <p:cNvPr id="3" name="文本框 2"/>
          <p:cNvSpPr txBox="1"/>
          <p:nvPr/>
        </p:nvSpPr>
        <p:spPr>
          <a:xfrm>
            <a:off x="733165" y="1650058"/>
            <a:ext cx="5368954" cy="430887"/>
          </a:xfrm>
          <a:prstGeom prst="rect">
            <a:avLst/>
          </a:prstGeom>
          <a:noFill/>
        </p:spPr>
        <p:txBody>
          <a:bodyPr wrap="square" rtlCol="0">
            <a:spAutoFit/>
          </a:bodyPr>
          <a:lstStyle/>
          <a:p>
            <a:r>
              <a:rPr lang="en-US" altLang="zh-CN" sz="2200" dirty="0" smtClean="0">
                <a:solidFill>
                  <a:schemeClr val="tx1">
                    <a:lumMod val="60000"/>
                    <a:lumOff val="40000"/>
                  </a:schemeClr>
                </a:solidFill>
              </a:rPr>
              <a:t>6</a:t>
            </a:r>
            <a:r>
              <a:rPr lang="zh-CN" altLang="en-US" sz="2200" dirty="0" smtClean="0">
                <a:solidFill>
                  <a:schemeClr val="tx1">
                    <a:lumMod val="60000"/>
                    <a:lumOff val="40000"/>
                  </a:schemeClr>
                </a:solidFill>
              </a:rPr>
              <a:t>、按弯扭合成应力校核轴的强度</a:t>
            </a:r>
            <a:endParaRPr lang="zh-CN" altLang="en-US" sz="2200" dirty="0">
              <a:solidFill>
                <a:schemeClr val="tx1">
                  <a:lumMod val="60000"/>
                  <a:lumOff val="40000"/>
                </a:schemeClr>
              </a:solidFill>
            </a:endParaRPr>
          </a:p>
        </p:txBody>
      </p:sp>
      <p:sp>
        <p:nvSpPr>
          <p:cNvPr id="4" name="文本框 3"/>
          <p:cNvSpPr txBox="1"/>
          <p:nvPr/>
        </p:nvSpPr>
        <p:spPr>
          <a:xfrm>
            <a:off x="685239" y="2400415"/>
            <a:ext cx="5368954" cy="430887"/>
          </a:xfrm>
          <a:prstGeom prst="rect">
            <a:avLst/>
          </a:prstGeom>
          <a:noFill/>
        </p:spPr>
        <p:txBody>
          <a:bodyPr wrap="square" rtlCol="0">
            <a:spAutoFit/>
          </a:bodyPr>
          <a:lstStyle/>
          <a:p>
            <a:r>
              <a:rPr lang="en-US" altLang="zh-CN" sz="2200" dirty="0" smtClean="0">
                <a:solidFill>
                  <a:schemeClr val="tx1">
                    <a:lumMod val="60000"/>
                    <a:lumOff val="40000"/>
                  </a:schemeClr>
                </a:solidFill>
              </a:rPr>
              <a:t>7</a:t>
            </a:r>
            <a:r>
              <a:rPr lang="zh-CN" altLang="en-US" sz="2200" dirty="0" smtClean="0">
                <a:solidFill>
                  <a:schemeClr val="tx1">
                    <a:lumMod val="60000"/>
                    <a:lumOff val="40000"/>
                  </a:schemeClr>
                </a:solidFill>
              </a:rPr>
              <a:t>、精确校核轴的疲劳强度（视情况而定）</a:t>
            </a:r>
            <a:endParaRPr lang="zh-CN" altLang="en-US" sz="2200" dirty="0">
              <a:solidFill>
                <a:schemeClr val="tx1">
                  <a:lumMod val="60000"/>
                  <a:lumOff val="40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10160" y="174625"/>
            <a:ext cx="9144000" cy="6576060"/>
            <a:chOff x="16" y="275"/>
            <a:chExt cx="14400" cy="10356"/>
          </a:xfrm>
        </p:grpSpPr>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6" y="275"/>
              <a:ext cx="14400" cy="10357"/>
            </a:xfrm>
            <a:prstGeom prst="rect">
              <a:avLst/>
            </a:prstGeom>
          </p:spPr>
        </p:pic>
        <p:sp>
          <p:nvSpPr>
            <p:cNvPr id="3" name="文本框 2"/>
            <p:cNvSpPr txBox="1"/>
            <p:nvPr/>
          </p:nvSpPr>
          <p:spPr>
            <a:xfrm>
              <a:off x="5632" y="5292"/>
              <a:ext cx="596" cy="434"/>
            </a:xfrm>
            <a:prstGeom prst="rect">
              <a:avLst/>
            </a:prstGeom>
            <a:solidFill>
              <a:schemeClr val="bg1"/>
            </a:solidFill>
          </p:spPr>
          <p:txBody>
            <a:bodyPr wrap="square" rtlCol="0">
              <a:spAutoFit/>
            </a:bodyPr>
            <a:lstStyle/>
            <a:p>
              <a:r>
                <a:rPr lang="en-US" altLang="zh-CN" sz="1200" b="1">
                  <a:solidFill>
                    <a:schemeClr val="tx1">
                      <a:lumMod val="50000"/>
                    </a:schemeClr>
                  </a:solidFill>
                </a:rPr>
                <a:t>62</a:t>
              </a:r>
              <a:endParaRPr lang="en-US" altLang="zh-CN" sz="1200" b="1">
                <a:solidFill>
                  <a:schemeClr val="tx1">
                    <a:lumMod val="50000"/>
                  </a:schemeClr>
                </a:solidFill>
              </a:endParaRPr>
            </a:p>
          </p:txBody>
        </p:sp>
        <p:sp>
          <p:nvSpPr>
            <p:cNvPr id="4" name="文本框 3"/>
            <p:cNvSpPr txBox="1"/>
            <p:nvPr/>
          </p:nvSpPr>
          <p:spPr>
            <a:xfrm>
              <a:off x="7544" y="5280"/>
              <a:ext cx="642" cy="434"/>
            </a:xfrm>
            <a:prstGeom prst="rect">
              <a:avLst/>
            </a:prstGeom>
            <a:solidFill>
              <a:schemeClr val="bg1"/>
            </a:solidFill>
          </p:spPr>
          <p:txBody>
            <a:bodyPr wrap="square" rtlCol="0">
              <a:spAutoFit/>
            </a:bodyPr>
            <a:lstStyle/>
            <a:p>
              <a:r>
                <a:rPr lang="en-US" altLang="zh-CN" sz="1200" b="1">
                  <a:solidFill>
                    <a:schemeClr val="tx1">
                      <a:lumMod val="50000"/>
                    </a:schemeClr>
                  </a:solidFill>
                </a:rPr>
                <a:t>78</a:t>
              </a:r>
              <a:endParaRPr lang="en-US" altLang="zh-CN" sz="1200" b="1">
                <a:solidFill>
                  <a:schemeClr val="tx1">
                    <a:lumMod val="50000"/>
                  </a:schemeClr>
                </a:solidFill>
              </a:endParaRPr>
            </a:p>
          </p:txBody>
        </p:sp>
      </p:grpSp>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8" name="Text Box 4"/>
          <p:cNvSpPr txBox="1">
            <a:spLocks noChangeArrowheads="1"/>
          </p:cNvSpPr>
          <p:nvPr/>
        </p:nvSpPr>
        <p:spPr bwMode="auto">
          <a:xfrm>
            <a:off x="276987" y="475615"/>
            <a:ext cx="788987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dirty="0">
                <a:solidFill>
                  <a:srgbClr val="C00000"/>
                </a:solidFill>
                <a:latin typeface="黑体" panose="02010609060101010101" pitchFamily="49" charset="-122"/>
                <a:ea typeface="黑体" panose="02010609060101010101" pitchFamily="49" charset="-122"/>
              </a:rPr>
              <a:t>轴的零件工作</a:t>
            </a:r>
            <a:r>
              <a:rPr lang="zh-CN" altLang="en-US" sz="2400" dirty="0" smtClean="0">
                <a:solidFill>
                  <a:srgbClr val="C00000"/>
                </a:solidFill>
                <a:latin typeface="黑体" panose="02010609060101010101" pitchFamily="49" charset="-122"/>
                <a:ea typeface="黑体" panose="02010609060101010101" pitchFamily="49" charset="-122"/>
              </a:rPr>
              <a:t>图：</a:t>
            </a:r>
            <a:endParaRPr lang="zh-CN" altLang="en-US" sz="2400" dirty="0">
              <a:solidFill>
                <a:srgbClr val="C00000"/>
              </a:solidFill>
              <a:latin typeface="黑体" panose="02010609060101010101" pitchFamily="49" charset="-122"/>
              <a:ea typeface="黑体" panose="02010609060101010101" pitchFamily="49" charset="-122"/>
            </a:endParaRPr>
          </a:p>
        </p:txBody>
      </p:sp>
      <p:sp>
        <p:nvSpPr>
          <p:cNvPr id="262149" name="Text Box 5"/>
          <p:cNvSpPr txBox="1">
            <a:spLocks noChangeArrowheads="1"/>
          </p:cNvSpPr>
          <p:nvPr/>
        </p:nvSpPr>
        <p:spPr bwMode="auto">
          <a:xfrm>
            <a:off x="354013" y="973138"/>
            <a:ext cx="7905750" cy="58169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dirty="0" smtClean="0">
                <a:solidFill>
                  <a:schemeClr val="accent4">
                    <a:lumMod val="50000"/>
                  </a:schemeClr>
                </a:solidFill>
              </a:rPr>
              <a:t>1.  </a:t>
            </a:r>
            <a:r>
              <a:rPr lang="zh-CN" altLang="en-US" sz="2400" dirty="0" smtClean="0">
                <a:solidFill>
                  <a:schemeClr val="accent4">
                    <a:lumMod val="50000"/>
                  </a:schemeClr>
                </a:solidFill>
              </a:rPr>
              <a:t>轴</a:t>
            </a:r>
            <a:r>
              <a:rPr lang="zh-CN" altLang="en-US" sz="2400" dirty="0">
                <a:solidFill>
                  <a:schemeClr val="accent4">
                    <a:lumMod val="50000"/>
                  </a:schemeClr>
                </a:solidFill>
              </a:rPr>
              <a:t>上零件的周向固定型式选择和计算</a:t>
            </a:r>
            <a:endParaRPr lang="zh-CN" altLang="en-US" sz="2400" dirty="0">
              <a:solidFill>
                <a:schemeClr val="accent4">
                  <a:lumMod val="50000"/>
                </a:schemeClr>
              </a:solidFill>
            </a:endParaRPr>
          </a:p>
          <a:p>
            <a:pPr>
              <a:spcBef>
                <a:spcPct val="50000"/>
              </a:spcBef>
            </a:pPr>
            <a:r>
              <a:rPr lang="en-US" altLang="zh-CN" sz="2400" dirty="0">
                <a:solidFill>
                  <a:schemeClr val="accent4">
                    <a:lumMod val="50000"/>
                  </a:schemeClr>
                </a:solidFill>
              </a:rPr>
              <a:t>2 </a:t>
            </a:r>
            <a:r>
              <a:rPr lang="en-US" altLang="zh-CN" sz="2400" dirty="0" smtClean="0">
                <a:solidFill>
                  <a:schemeClr val="accent4">
                    <a:lumMod val="50000"/>
                  </a:schemeClr>
                </a:solidFill>
              </a:rPr>
              <a:t>. </a:t>
            </a:r>
            <a:r>
              <a:rPr lang="zh-CN" altLang="en-US" sz="2400" dirty="0">
                <a:solidFill>
                  <a:schemeClr val="accent4">
                    <a:lumMod val="50000"/>
                  </a:schemeClr>
                </a:solidFill>
              </a:rPr>
              <a:t>轴上零件定位和固定的结构和尺寸的确定（螺钉孔、挡	圈槽等）</a:t>
            </a:r>
            <a:endParaRPr lang="zh-CN" altLang="en-US" sz="2400" dirty="0">
              <a:solidFill>
                <a:schemeClr val="accent4">
                  <a:lumMod val="50000"/>
                </a:schemeClr>
              </a:solidFill>
            </a:endParaRPr>
          </a:p>
          <a:p>
            <a:pPr>
              <a:spcBef>
                <a:spcPct val="50000"/>
              </a:spcBef>
            </a:pPr>
            <a:r>
              <a:rPr lang="en-US" altLang="zh-CN" sz="2400" dirty="0" smtClean="0">
                <a:solidFill>
                  <a:schemeClr val="accent4">
                    <a:lumMod val="50000"/>
                  </a:schemeClr>
                </a:solidFill>
              </a:rPr>
              <a:t>3.  </a:t>
            </a:r>
            <a:r>
              <a:rPr lang="zh-CN" altLang="en-US" sz="2400" dirty="0">
                <a:solidFill>
                  <a:schemeClr val="accent4">
                    <a:lumMod val="50000"/>
                  </a:schemeClr>
                </a:solidFill>
              </a:rPr>
              <a:t>各轴肩的过渡圆角半径</a:t>
            </a:r>
            <a:endParaRPr lang="zh-CN" altLang="en-US" sz="2400" dirty="0">
              <a:solidFill>
                <a:schemeClr val="accent4">
                  <a:lumMod val="50000"/>
                </a:schemeClr>
              </a:solidFill>
            </a:endParaRPr>
          </a:p>
          <a:p>
            <a:pPr>
              <a:spcBef>
                <a:spcPct val="50000"/>
              </a:spcBef>
            </a:pPr>
            <a:r>
              <a:rPr lang="en-US" altLang="zh-CN" sz="2400" dirty="0" smtClean="0">
                <a:solidFill>
                  <a:schemeClr val="accent4">
                    <a:lumMod val="50000"/>
                  </a:schemeClr>
                </a:solidFill>
              </a:rPr>
              <a:t>4. </a:t>
            </a:r>
            <a:r>
              <a:rPr lang="zh-CN" altLang="en-US" sz="2400" dirty="0">
                <a:solidFill>
                  <a:schemeClr val="accent4">
                    <a:lumMod val="50000"/>
                  </a:schemeClr>
                </a:solidFill>
              </a:rPr>
              <a:t>各轴段轴端的倒角</a:t>
            </a:r>
            <a:endParaRPr lang="zh-CN" altLang="en-US" sz="2400" dirty="0">
              <a:solidFill>
                <a:schemeClr val="accent4">
                  <a:lumMod val="50000"/>
                </a:schemeClr>
              </a:solidFill>
            </a:endParaRPr>
          </a:p>
          <a:p>
            <a:pPr>
              <a:spcBef>
                <a:spcPct val="50000"/>
              </a:spcBef>
            </a:pPr>
            <a:r>
              <a:rPr lang="en-US" altLang="zh-CN" sz="2400" dirty="0" smtClean="0">
                <a:solidFill>
                  <a:schemeClr val="accent4">
                    <a:lumMod val="50000"/>
                  </a:schemeClr>
                </a:solidFill>
              </a:rPr>
              <a:t>5.  </a:t>
            </a:r>
            <a:r>
              <a:rPr lang="zh-CN" altLang="en-US" sz="2400" dirty="0">
                <a:solidFill>
                  <a:schemeClr val="accent4">
                    <a:lumMod val="50000"/>
                  </a:schemeClr>
                </a:solidFill>
              </a:rPr>
              <a:t>加工工艺结构（砂轮越程槽、螺纹退刀槽、中心孔）</a:t>
            </a:r>
            <a:endParaRPr lang="zh-CN" altLang="en-US" sz="2400" dirty="0">
              <a:solidFill>
                <a:schemeClr val="accent4">
                  <a:lumMod val="50000"/>
                </a:schemeClr>
              </a:solidFill>
            </a:endParaRPr>
          </a:p>
          <a:p>
            <a:pPr>
              <a:spcBef>
                <a:spcPct val="50000"/>
              </a:spcBef>
            </a:pPr>
            <a:r>
              <a:rPr lang="en-US" altLang="zh-CN" sz="2400" dirty="0">
                <a:solidFill>
                  <a:schemeClr val="accent4">
                    <a:lumMod val="50000"/>
                  </a:schemeClr>
                </a:solidFill>
              </a:rPr>
              <a:t>6  </a:t>
            </a:r>
            <a:r>
              <a:rPr lang="en-US" altLang="zh-CN" sz="2400" dirty="0" smtClean="0">
                <a:solidFill>
                  <a:schemeClr val="accent4">
                    <a:lumMod val="50000"/>
                  </a:schemeClr>
                </a:solidFill>
              </a:rPr>
              <a:t>.</a:t>
            </a:r>
            <a:r>
              <a:rPr lang="zh-CN" altLang="en-US" sz="2400" dirty="0" smtClean="0">
                <a:solidFill>
                  <a:schemeClr val="accent4">
                    <a:lumMod val="50000"/>
                  </a:schemeClr>
                </a:solidFill>
              </a:rPr>
              <a:t>尺寸</a:t>
            </a:r>
            <a:r>
              <a:rPr lang="zh-CN" altLang="en-US" sz="2400" dirty="0">
                <a:solidFill>
                  <a:schemeClr val="accent4">
                    <a:lumMod val="50000"/>
                  </a:schemeClr>
                </a:solidFill>
              </a:rPr>
              <a:t>的标注</a:t>
            </a:r>
            <a:endParaRPr lang="zh-CN" altLang="en-US" sz="2400" dirty="0">
              <a:solidFill>
                <a:schemeClr val="accent4">
                  <a:lumMod val="50000"/>
                </a:schemeClr>
              </a:solidFill>
            </a:endParaRPr>
          </a:p>
          <a:p>
            <a:pPr>
              <a:spcBef>
                <a:spcPct val="50000"/>
              </a:spcBef>
            </a:pPr>
            <a:r>
              <a:rPr lang="en-US" altLang="zh-CN" sz="2400" dirty="0">
                <a:solidFill>
                  <a:schemeClr val="accent4">
                    <a:lumMod val="50000"/>
                  </a:schemeClr>
                </a:solidFill>
              </a:rPr>
              <a:t>7 </a:t>
            </a:r>
            <a:r>
              <a:rPr lang="en-US" altLang="zh-CN" sz="2400" dirty="0" smtClean="0">
                <a:solidFill>
                  <a:schemeClr val="accent4">
                    <a:lumMod val="50000"/>
                  </a:schemeClr>
                </a:solidFill>
              </a:rPr>
              <a:t>. </a:t>
            </a:r>
            <a:r>
              <a:rPr lang="zh-CN" altLang="en-US" sz="2400" dirty="0">
                <a:solidFill>
                  <a:schemeClr val="accent4">
                    <a:lumMod val="50000"/>
                  </a:schemeClr>
                </a:solidFill>
              </a:rPr>
              <a:t>公差配合的标注</a:t>
            </a:r>
            <a:endParaRPr lang="zh-CN" altLang="en-US" sz="2400" dirty="0">
              <a:solidFill>
                <a:schemeClr val="accent4">
                  <a:lumMod val="50000"/>
                </a:schemeClr>
              </a:solidFill>
            </a:endParaRPr>
          </a:p>
          <a:p>
            <a:pPr>
              <a:spcBef>
                <a:spcPct val="50000"/>
              </a:spcBef>
            </a:pPr>
            <a:r>
              <a:rPr lang="en-US" altLang="zh-CN" sz="2400" dirty="0" smtClean="0">
                <a:solidFill>
                  <a:schemeClr val="accent4">
                    <a:lumMod val="50000"/>
                  </a:schemeClr>
                </a:solidFill>
              </a:rPr>
              <a:t>8.  </a:t>
            </a:r>
            <a:r>
              <a:rPr lang="zh-CN" altLang="en-US" sz="2400" dirty="0">
                <a:solidFill>
                  <a:schemeClr val="accent4">
                    <a:lumMod val="50000"/>
                  </a:schemeClr>
                </a:solidFill>
              </a:rPr>
              <a:t>形位公差的标注</a:t>
            </a:r>
            <a:endParaRPr lang="zh-CN" altLang="en-US" sz="2400" dirty="0">
              <a:solidFill>
                <a:schemeClr val="accent4">
                  <a:lumMod val="50000"/>
                </a:schemeClr>
              </a:solidFill>
            </a:endParaRPr>
          </a:p>
          <a:p>
            <a:pPr>
              <a:spcBef>
                <a:spcPct val="50000"/>
              </a:spcBef>
            </a:pPr>
            <a:r>
              <a:rPr lang="en-US" altLang="zh-CN" sz="2400" dirty="0">
                <a:solidFill>
                  <a:schemeClr val="accent4">
                    <a:lumMod val="50000"/>
                  </a:schemeClr>
                </a:solidFill>
              </a:rPr>
              <a:t>9 </a:t>
            </a:r>
            <a:r>
              <a:rPr lang="en-US" altLang="zh-CN" sz="2400" dirty="0" smtClean="0">
                <a:solidFill>
                  <a:schemeClr val="accent4">
                    <a:lumMod val="50000"/>
                  </a:schemeClr>
                </a:solidFill>
              </a:rPr>
              <a:t>. </a:t>
            </a:r>
            <a:r>
              <a:rPr lang="zh-CN" altLang="en-US" sz="2400" dirty="0">
                <a:solidFill>
                  <a:schemeClr val="accent4">
                    <a:lumMod val="50000"/>
                  </a:schemeClr>
                </a:solidFill>
              </a:rPr>
              <a:t>表面粗糙度的标注</a:t>
            </a:r>
            <a:endParaRPr lang="zh-CN" altLang="en-US" sz="2400" dirty="0">
              <a:solidFill>
                <a:schemeClr val="accent4">
                  <a:lumMod val="50000"/>
                </a:schemeClr>
              </a:solidFill>
            </a:endParaRPr>
          </a:p>
          <a:p>
            <a:pPr>
              <a:spcBef>
                <a:spcPct val="50000"/>
              </a:spcBef>
            </a:pPr>
            <a:r>
              <a:rPr lang="en-US" altLang="zh-CN" sz="2400" dirty="0" smtClean="0">
                <a:solidFill>
                  <a:schemeClr val="accent4">
                    <a:lumMod val="50000"/>
                  </a:schemeClr>
                </a:solidFill>
              </a:rPr>
              <a:t>10.  </a:t>
            </a:r>
            <a:r>
              <a:rPr lang="zh-CN" altLang="en-US" sz="2400" dirty="0">
                <a:solidFill>
                  <a:schemeClr val="accent4">
                    <a:lumMod val="50000"/>
                  </a:schemeClr>
                </a:solidFill>
              </a:rPr>
              <a:t>技术条件（热处理、表面处理等要求）</a:t>
            </a:r>
            <a:endParaRPr lang="zh-CN" altLang="en-US" sz="2400" dirty="0">
              <a:solidFill>
                <a:schemeClr val="accent4">
                  <a:lumMod val="50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62149">
                                            <p:txEl>
                                              <p:pRg st="0" end="0"/>
                                            </p:txEl>
                                          </p:spTgt>
                                        </p:tgtEl>
                                        <p:attrNameLst>
                                          <p:attrName>style.visibility</p:attrName>
                                        </p:attrNameLst>
                                      </p:cBhvr>
                                      <p:to>
                                        <p:strVal val="visible"/>
                                      </p:to>
                                    </p:set>
                                    <p:animEffect transition="in" filter="wipe(left)">
                                      <p:cBhvr>
                                        <p:cTn id="7" dur="500"/>
                                        <p:tgtEl>
                                          <p:spTgt spid="26214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62149">
                                            <p:txEl>
                                              <p:pRg st="1" end="1"/>
                                            </p:txEl>
                                          </p:spTgt>
                                        </p:tgtEl>
                                        <p:attrNameLst>
                                          <p:attrName>style.visibility</p:attrName>
                                        </p:attrNameLst>
                                      </p:cBhvr>
                                      <p:to>
                                        <p:strVal val="visible"/>
                                      </p:to>
                                    </p:set>
                                    <p:animEffect transition="in" filter="wipe(left)">
                                      <p:cBhvr>
                                        <p:cTn id="12" dur="500"/>
                                        <p:tgtEl>
                                          <p:spTgt spid="26214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62149">
                                            <p:txEl>
                                              <p:pRg st="2" end="2"/>
                                            </p:txEl>
                                          </p:spTgt>
                                        </p:tgtEl>
                                        <p:attrNameLst>
                                          <p:attrName>style.visibility</p:attrName>
                                        </p:attrNameLst>
                                      </p:cBhvr>
                                      <p:to>
                                        <p:strVal val="visible"/>
                                      </p:to>
                                    </p:set>
                                    <p:animEffect transition="in" filter="wipe(left)">
                                      <p:cBhvr>
                                        <p:cTn id="17" dur="500"/>
                                        <p:tgtEl>
                                          <p:spTgt spid="26214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62149">
                                            <p:txEl>
                                              <p:pRg st="3" end="3"/>
                                            </p:txEl>
                                          </p:spTgt>
                                        </p:tgtEl>
                                        <p:attrNameLst>
                                          <p:attrName>style.visibility</p:attrName>
                                        </p:attrNameLst>
                                      </p:cBhvr>
                                      <p:to>
                                        <p:strVal val="visible"/>
                                      </p:to>
                                    </p:set>
                                    <p:animEffect transition="in" filter="wipe(left)">
                                      <p:cBhvr>
                                        <p:cTn id="22" dur="500"/>
                                        <p:tgtEl>
                                          <p:spTgt spid="26214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62149">
                                            <p:txEl>
                                              <p:pRg st="4" end="4"/>
                                            </p:txEl>
                                          </p:spTgt>
                                        </p:tgtEl>
                                        <p:attrNameLst>
                                          <p:attrName>style.visibility</p:attrName>
                                        </p:attrNameLst>
                                      </p:cBhvr>
                                      <p:to>
                                        <p:strVal val="visible"/>
                                      </p:to>
                                    </p:set>
                                    <p:animEffect transition="in" filter="wipe(left)">
                                      <p:cBhvr>
                                        <p:cTn id="27" dur="500"/>
                                        <p:tgtEl>
                                          <p:spTgt spid="26214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62149">
                                            <p:txEl>
                                              <p:pRg st="5" end="5"/>
                                            </p:txEl>
                                          </p:spTgt>
                                        </p:tgtEl>
                                        <p:attrNameLst>
                                          <p:attrName>style.visibility</p:attrName>
                                        </p:attrNameLst>
                                      </p:cBhvr>
                                      <p:to>
                                        <p:strVal val="visible"/>
                                      </p:to>
                                    </p:set>
                                    <p:animEffect transition="in" filter="wipe(left)">
                                      <p:cBhvr>
                                        <p:cTn id="32" dur="500"/>
                                        <p:tgtEl>
                                          <p:spTgt spid="262149">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62149">
                                            <p:txEl>
                                              <p:pRg st="6" end="6"/>
                                            </p:txEl>
                                          </p:spTgt>
                                        </p:tgtEl>
                                        <p:attrNameLst>
                                          <p:attrName>style.visibility</p:attrName>
                                        </p:attrNameLst>
                                      </p:cBhvr>
                                      <p:to>
                                        <p:strVal val="visible"/>
                                      </p:to>
                                    </p:set>
                                    <p:animEffect transition="in" filter="wipe(left)">
                                      <p:cBhvr>
                                        <p:cTn id="37" dur="500"/>
                                        <p:tgtEl>
                                          <p:spTgt spid="262149">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62149">
                                            <p:txEl>
                                              <p:pRg st="7" end="7"/>
                                            </p:txEl>
                                          </p:spTgt>
                                        </p:tgtEl>
                                        <p:attrNameLst>
                                          <p:attrName>style.visibility</p:attrName>
                                        </p:attrNameLst>
                                      </p:cBhvr>
                                      <p:to>
                                        <p:strVal val="visible"/>
                                      </p:to>
                                    </p:set>
                                    <p:animEffect transition="in" filter="wipe(left)">
                                      <p:cBhvr>
                                        <p:cTn id="42" dur="500"/>
                                        <p:tgtEl>
                                          <p:spTgt spid="262149">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262149">
                                            <p:txEl>
                                              <p:pRg st="8" end="8"/>
                                            </p:txEl>
                                          </p:spTgt>
                                        </p:tgtEl>
                                        <p:attrNameLst>
                                          <p:attrName>style.visibility</p:attrName>
                                        </p:attrNameLst>
                                      </p:cBhvr>
                                      <p:to>
                                        <p:strVal val="visible"/>
                                      </p:to>
                                    </p:set>
                                    <p:animEffect transition="in" filter="wipe(left)">
                                      <p:cBhvr>
                                        <p:cTn id="47" dur="500"/>
                                        <p:tgtEl>
                                          <p:spTgt spid="262149">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262149">
                                            <p:txEl>
                                              <p:pRg st="9" end="9"/>
                                            </p:txEl>
                                          </p:spTgt>
                                        </p:tgtEl>
                                        <p:attrNameLst>
                                          <p:attrName>style.visibility</p:attrName>
                                        </p:attrNameLst>
                                      </p:cBhvr>
                                      <p:to>
                                        <p:strVal val="visible"/>
                                      </p:to>
                                    </p:set>
                                    <p:animEffect transition="in" filter="wipe(left)">
                                      <p:cBhvr>
                                        <p:cTn id="52" dur="500"/>
                                        <p:tgtEl>
                                          <p:spTgt spid="262149">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p="http://schemas.openxmlformats.org/presentationml/2006/main">
  <p:tag name="KSO_WM_UNIT_TABLE_BEAUTIFY" val="smartTable{53e89416-6a1d-445a-8916-d913a65b2e4b}"/>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UNIT_PLACING_PICTURE_USER_VIEWPORT" val="{&quot;height&quot;:7997.500787401575,&quot;width&quot;:8510}"/>
</p:tagLst>
</file>

<file path=ppt/tags/tag4.xml><?xml version="1.0" encoding="utf-8"?>
<p:tagLst xmlns:p="http://schemas.openxmlformats.org/presentationml/2006/main">
  <p:tag name="KSO_WPP_MARK_KEY" val="d7d9a00b-f510-444a-b4ea-d2028a3c5345"/>
  <p:tag name="COMMONDATA" val="eyJoZGlkIjoiZmYwY2UxNzI0ODdjMTkzYTM2NmQ4OTdkNGYwMzJlYmMifQ=="/>
  <p:tag name="commondata" val="eyJoZGlkIjoiNDFlMTNlOGUzMzA2YWFjZWU2YmQ1ZmM4Zjg4ZjUxOWYifQ=="/>
</p:tagLst>
</file>

<file path=ppt/theme/theme1.xml><?xml version="1.0" encoding="utf-8"?>
<a:theme xmlns:a="http://schemas.openxmlformats.org/drawingml/2006/main" name="默认设计模板">
  <a:themeElements>
    <a:clrScheme name="">
      <a:dk1>
        <a:srgbClr val="000099"/>
      </a:dk1>
      <a:lt1>
        <a:srgbClr val="FFFFFF"/>
      </a:lt1>
      <a:dk2>
        <a:srgbClr val="FFFFFF"/>
      </a:dk2>
      <a:lt2>
        <a:srgbClr val="808080"/>
      </a:lt2>
      <a:accent1>
        <a:srgbClr val="00CC99"/>
      </a:accent1>
      <a:accent2>
        <a:srgbClr val="3333CC"/>
      </a:accent2>
      <a:accent3>
        <a:srgbClr val="FFFFFF"/>
      </a:accent3>
      <a:accent4>
        <a:srgbClr val="000082"/>
      </a:accent4>
      <a:accent5>
        <a:srgbClr val="AAE2CA"/>
      </a:accent5>
      <a:accent6>
        <a:srgbClr val="2D2DB9"/>
      </a:accent6>
      <a:hlink>
        <a:srgbClr val="0000FF"/>
      </a:hlink>
      <a:folHlink>
        <a:srgbClr val="0000FF"/>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gradFill>
          <a:gsLst>
            <a:gs pos="0">
              <a:srgbClr val="9EE256"/>
            </a:gs>
            <a:gs pos="100000">
              <a:srgbClr val="52762D"/>
            </a:gs>
          </a:gsLst>
          <a:lin scaled="0"/>
        </a:gra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11570</Words>
  <Application>WPS 演示</Application>
  <PresentationFormat>全屏显示(4:3)</PresentationFormat>
  <Paragraphs>1571</Paragraphs>
  <Slides>112</Slides>
  <Notes>14</Notes>
  <HiddenSlides>0</HiddenSlides>
  <MMClips>0</MMClips>
  <ScaleCrop>false</ScaleCrop>
  <HeadingPairs>
    <vt:vector size="8" baseType="variant">
      <vt:variant>
        <vt:lpstr>已用的字体</vt:lpstr>
      </vt:variant>
      <vt:variant>
        <vt:i4>24</vt:i4>
      </vt:variant>
      <vt:variant>
        <vt:lpstr>主题</vt:lpstr>
      </vt:variant>
      <vt:variant>
        <vt:i4>1</vt:i4>
      </vt:variant>
      <vt:variant>
        <vt:lpstr>嵌入 OLE 服务器</vt:lpstr>
      </vt:variant>
      <vt:variant>
        <vt:i4>39</vt:i4>
      </vt:variant>
      <vt:variant>
        <vt:lpstr>幻灯片标题</vt:lpstr>
      </vt:variant>
      <vt:variant>
        <vt:i4>112</vt:i4>
      </vt:variant>
    </vt:vector>
  </HeadingPairs>
  <TitlesOfParts>
    <vt:vector size="176" baseType="lpstr">
      <vt:lpstr>Arial</vt:lpstr>
      <vt:lpstr>宋体</vt:lpstr>
      <vt:lpstr>Wingdings</vt:lpstr>
      <vt:lpstr>Times New Roman</vt:lpstr>
      <vt:lpstr>华文中宋</vt:lpstr>
      <vt:lpstr>黑体</vt:lpstr>
      <vt:lpstr>幼圆</vt:lpstr>
      <vt:lpstr>华文宋体</vt:lpstr>
      <vt:lpstr>微软雅黑</vt:lpstr>
      <vt:lpstr>Arial Unicode MS</vt:lpstr>
      <vt:lpstr>Calibri</vt:lpstr>
      <vt:lpstr>仿宋_GB2312</vt:lpstr>
      <vt:lpstr>仿宋</vt:lpstr>
      <vt:lpstr>华文楷体</vt:lpstr>
      <vt:lpstr>Arial Unicode MS</vt:lpstr>
      <vt:lpstr>Monotype Sorts</vt:lpstr>
      <vt:lpstr>Wingdings</vt:lpstr>
      <vt:lpstr>楷体_GB2312</vt:lpstr>
      <vt:lpstr>新宋体</vt:lpstr>
      <vt:lpstr>隶书</vt:lpstr>
      <vt:lpstr>Cambria Math</vt:lpstr>
      <vt:lpstr>Symbol</vt:lpstr>
      <vt:lpstr>Tahoma</vt:lpstr>
      <vt:lpstr>Toots Regular</vt:lpstr>
      <vt:lpstr>默认设计模板</vt:lpstr>
      <vt:lpstr>Paint.Picture</vt:lpstr>
      <vt:lpstr>Paint.Picture</vt:lpstr>
      <vt:lpstr>Equation.3</vt:lpstr>
      <vt:lpstr>Package</vt:lpstr>
      <vt:lpstr>Equation.3</vt:lpstr>
      <vt:lpstr>Equation.3</vt:lpstr>
      <vt:lpstr>Equation.3</vt:lpstr>
      <vt:lpstr>Equation.3</vt:lpstr>
      <vt:lpstr>Equation.3</vt:lpstr>
      <vt:lpstr>Equation.3</vt:lpstr>
      <vt:lpstr>Equation.3</vt:lpstr>
      <vt:lpstr>Paint.Picture</vt:lpstr>
      <vt:lpstr>Equation.3</vt:lpstr>
      <vt:lpstr>Equation.3</vt:lpstr>
      <vt:lpstr>Equation.3</vt:lpstr>
      <vt:lpstr>Equation.3</vt:lpstr>
      <vt:lpstr>Equation.3</vt:lpstr>
      <vt:lpstr>Equation.3</vt:lpstr>
      <vt:lpstr>Equation.3</vt:lpstr>
      <vt:lpstr>Equation.3</vt:lpstr>
      <vt:lpstr>Equation.3</vt:lpstr>
      <vt:lpstr>Equation.3</vt:lpstr>
      <vt:lpstr>Paint.Picture</vt:lpstr>
      <vt:lpstr>Equation.3</vt:lpstr>
      <vt:lpstr>Equation.3</vt:lpstr>
      <vt:lpstr>Equation.3</vt:lpstr>
      <vt:lpstr>Equation.3</vt:lpstr>
      <vt:lpstr>Equation.3</vt:lpstr>
      <vt:lpstr>Equation.3</vt:lpstr>
      <vt:lpstr>Equation.3</vt:lpstr>
      <vt:lpstr>Equation.3</vt:lpstr>
      <vt:lpstr>Equation.KSEE3</vt:lpstr>
      <vt:lpstr>Equation.3</vt:lpstr>
      <vt:lpstr>MSPhotoEd.3</vt:lpstr>
      <vt:lpstr>Paint.Picture</vt:lpstr>
      <vt:lpstr>AutoCAD.Drawing.14</vt:lpstr>
      <vt:lpstr>AutoCAD.Drawing.14</vt:lpstr>
      <vt:lpstr>Paint.Picture</vt:lpstr>
      <vt:lpstr>Paint.Picture</vt:lpstr>
      <vt:lpstr>第3.7章   轴</vt:lpstr>
      <vt:lpstr>第3.7章 轴</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轴的概述2</vt:lpstr>
      <vt:lpstr>PowerPoint 演示文稿</vt:lpstr>
      <vt:lpstr>PowerPoint 演示文稿</vt:lpstr>
      <vt:lpstr>PowerPoint 演示文稿</vt:lpstr>
      <vt:lpstr>PowerPoint 演示文稿</vt:lpstr>
      <vt:lpstr>PowerPoint 演示文稿</vt:lpstr>
      <vt:lpstr>PowerPoint 演示文稿</vt:lpstr>
      <vt:lpstr>轴的结构设计1</vt:lpstr>
      <vt:lpstr>PowerPoint 演示文稿</vt:lpstr>
      <vt:lpstr>PowerPoint 演示文稿</vt:lpstr>
      <vt:lpstr>PowerPoint 演示文稿</vt:lpstr>
      <vt:lpstr>轴的结构设计1</vt:lpstr>
      <vt:lpstr>PowerPoint 演示文稿</vt:lpstr>
      <vt:lpstr>PowerPoint 演示文稿</vt:lpstr>
      <vt:lpstr>轴的结构设计1</vt:lpstr>
      <vt:lpstr>PowerPoint 演示文稿</vt:lpstr>
      <vt:lpstr>PowerPoint 演示文稿</vt:lpstr>
      <vt:lpstr>(2) 圆螺母和弹性档圈</vt:lpstr>
      <vt:lpstr>PowerPoint 演示文稿</vt:lpstr>
      <vt:lpstr>PowerPoint 演示文稿</vt:lpstr>
      <vt:lpstr>PowerPoint 演示文稿</vt:lpstr>
      <vt:lpstr>轴的结构设计2</vt:lpstr>
      <vt:lpstr>PowerPoint 演示文稿</vt:lpstr>
      <vt:lpstr>PowerPoint 演示文稿</vt:lpstr>
      <vt:lpstr>PowerPoint 演示文稿</vt:lpstr>
      <vt:lpstr>轴的结构设计2</vt:lpstr>
      <vt:lpstr>减小轴所受的转矩</vt:lpstr>
      <vt:lpstr>减小轴的载荷</vt:lpstr>
      <vt:lpstr>PowerPoint 演示文稿</vt:lpstr>
      <vt:lpstr>减小应力集中的影响</vt:lpstr>
      <vt:lpstr>减小应力集中的影响</vt:lpstr>
      <vt:lpstr>PowerPoint 演示文稿</vt:lpstr>
      <vt:lpstr>轴系结构改错</vt:lpstr>
      <vt:lpstr>轴系结构改错</vt:lpstr>
      <vt:lpstr>轴系结构改错</vt:lpstr>
      <vt:lpstr>PowerPoint 演示文稿</vt:lpstr>
      <vt:lpstr>PowerPoint 演示文稿</vt:lpstr>
      <vt:lpstr>PowerPoint 演示文稿</vt:lpstr>
      <vt:lpstr>六、轴的结构设计举例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轴的计算1</vt:lpstr>
      <vt:lpstr>轴的计算1</vt:lpstr>
      <vt:lpstr>PowerPoint 演示文稿</vt:lpstr>
      <vt:lpstr>PowerPoint 演示文稿</vt:lpstr>
      <vt:lpstr>PowerPoint 演示文稿</vt:lpstr>
      <vt:lpstr>PowerPoint 演示文稿</vt:lpstr>
      <vt:lpstr>PowerPoint 演示文稿</vt:lpstr>
      <vt:lpstr>PowerPoint 演示文稿</vt:lpstr>
      <vt:lpstr>轴的计算4</vt:lpstr>
      <vt:lpstr>PowerPoint 演示文稿</vt:lpstr>
      <vt:lpstr>PowerPoint 演示文稿</vt:lpstr>
      <vt:lpstr>PowerPoint 演示文稿</vt:lpstr>
      <vt:lpstr>轴的计算5</vt:lpstr>
      <vt:lpstr>PowerPoint 演示文稿</vt:lpstr>
      <vt:lpstr>PowerPoint 演示文稿</vt:lpstr>
      <vt:lpstr>PowerPoint 演示文稿</vt:lpstr>
      <vt:lpstr>轴的计算6</vt:lpstr>
      <vt:lpstr>拟定轴上零件的装配方案</vt:lpstr>
      <vt:lpstr>轴上零件轴向定位和固定方法</vt:lpstr>
      <vt:lpstr>PowerPoint 演示文稿</vt:lpstr>
      <vt:lpstr>便于装拆</vt:lpstr>
      <vt:lpstr>轴的分类</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直齿圆柱齿轮强度计算1</vt:lpstr>
      <vt:lpstr>PowerPoint 演示文稿</vt:lpstr>
      <vt:lpstr>直齿圆柱齿轮强度计算1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NWPU-209</Company>
  <LinksUpToDate>false</LinksUpToDate>
  <SharedDoc>false</SharedDoc>
  <HyperlinksChanged>false</HyperlinksChanged>
  <AppVersion>14.0000</AppVersion>
  <Manager>NWPU</Manager>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滑动轴承</dc:title>
  <dc:creator>wuliyan</dc:creator>
  <dc:subject>机械设计电子教案</dc:subject>
  <cp:lastModifiedBy>DQH</cp:lastModifiedBy>
  <cp:revision>394</cp:revision>
  <dcterms:created xsi:type="dcterms:W3CDTF">2002-05-18T11:28:00Z</dcterms:created>
  <dcterms:modified xsi:type="dcterms:W3CDTF">2025-11-10T14:08:40Z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EB75C000422D4A51868671F7481CDF8C</vt:lpwstr>
  </property>
  <property fmtid="{D5CDD505-2E9C-101B-9397-08002B2CF9AE}" pid="3" name="KSOProductBuildVer">
    <vt:lpwstr>2052-12.1.0.23542</vt:lpwstr>
  </property>
</Properties>
</file>