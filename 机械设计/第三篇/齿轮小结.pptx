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9" r:id="rId3"/>
    <p:sldId id="260" r:id="rId4"/>
    <p:sldId id="261" r:id="rId5"/>
    <p:sldId id="262" r:id="rId6"/>
    <p:sldId id="263" r:id="rId7"/>
    <p:sldId id="265" r:id="rId8"/>
    <p:sldId id="266" r:id="rId9"/>
    <p:sldId id="267" r:id="rId11"/>
    <p:sldId id="268" r:id="rId12"/>
  </p:sldIdLst>
  <p:sldSz cx="9144000" cy="6858000" type="screen4x3"/>
  <p:notesSz cx="6858000" cy="9144000"/>
  <p:custDataLst>
    <p:tags r:id="rId16"/>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60" autoAdjust="0"/>
  </p:normalViewPr>
  <p:slideViewPr>
    <p:cSldViewPr showGuides="1">
      <p:cViewPr varScale="1">
        <p:scale>
          <a:sx n="66" d="100"/>
          <a:sy n="66" d="100"/>
        </p:scale>
        <p:origin x="1280" y="40"/>
      </p:cViewPr>
      <p:guideLst>
        <p:guide orient="horz" pos="2160"/>
        <p:guide pos="289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2.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20EA272-9BBD-4F0E-851D-084E8C93EFAD}" type="slidenum">
              <a:rPr lang="en-US" altLang="zh-CN"/>
            </a:fld>
            <a:endParaRPr lang="en-US" altLang="zh-CN"/>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3CF32C6-930F-45FD-BA19-DBEF8B4D22DB}" type="slidenum">
              <a:rPr lang="en-US" altLang="zh-CN"/>
            </a:fld>
            <a:endParaRPr lang="en-US" altLang="zh-CN"/>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7378EBD-AB0E-49CE-BE55-16B91ABD39CD}" type="slidenum">
              <a:rPr lang="en-US" altLang="zh-CN"/>
            </a:fld>
            <a:endParaRPr lang="en-US" altLang="zh-CN"/>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D2B48A6-4100-4350-BD31-F442FBF577EC}" type="slidenum">
              <a:rPr lang="en-US" altLang="zh-CN"/>
            </a:fld>
            <a:endParaRPr lang="en-US" altLang="zh-CN"/>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BBB9B16C-A5F6-4403-BB52-CB29FE4A63EC}" type="slidenum">
              <a:rPr lang="en-US" altLang="zh-CN"/>
            </a:fld>
            <a:endParaRPr lang="en-US" altLang="zh-CN"/>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BBAA0B49-7139-4F24-A0B6-E2F5BB4E00D2}" type="slidenum">
              <a:rPr lang="en-US" altLang="zh-CN"/>
            </a:fld>
            <a:endParaRPr lang="en-US" altLang="zh-CN"/>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6585EA46-CE5A-44A9-AC7B-9C859196721F}" type="slidenum">
              <a:rPr lang="en-US" altLang="zh-CN"/>
            </a:fld>
            <a:endParaRPr lang="en-US" altLang="zh-CN"/>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8164A1E-5AB3-4092-BCF6-E4A72099C5A0}" type="slidenum">
              <a:rPr lang="en-US" altLang="zh-CN"/>
            </a:fld>
            <a:endParaRPr lang="en-US" altLang="zh-CN"/>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FA64831-1A9A-4E70-8CEC-E7CEFF4A02EE}" type="slidenum">
              <a:rPr lang="en-US" altLang="zh-CN"/>
            </a:fld>
            <a:endParaRPr lang="en-US" altLang="zh-CN"/>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518ECAB-A91E-459A-9188-A822C0010495}" type="slidenum">
              <a:rPr lang="en-US" altLang="zh-CN"/>
            </a:fld>
            <a:endParaRPr lang="en-US" altLang="zh-CN"/>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D7035BB-5273-43C0-BA66-048C91D4A943}" type="slidenum">
              <a:rPr lang="en-US" altLang="zh-CN"/>
            </a:fld>
            <a:endParaRPr lang="en-US" altLang="zh-CN"/>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576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57700"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endParaRPr lang="en-US" altLang="zh-CN"/>
          </a:p>
        </p:txBody>
      </p:sp>
      <p:sp>
        <p:nvSpPr>
          <p:cNvPr id="157701"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ltLang="zh-CN"/>
          </a:p>
        </p:txBody>
      </p:sp>
      <p:sp>
        <p:nvSpPr>
          <p:cNvPr id="157702"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3FAE6E7F-E016-44AA-9CEF-C5971152E22D}"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dir="vert"/>
  </p:transition>
  <p:timing>
    <p:tnLst>
      <p:par>
        <p:cTn id="1" dur="indefinite" restart="never" nodeType="tmRoot"/>
      </p:par>
    </p:tnLst>
  </p:timing>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hemeOverride" Target="../theme/themeOverride1.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p:cNvSpPr txBox="1">
            <a:spLocks noChangeArrowheads="1"/>
          </p:cNvSpPr>
          <p:nvPr/>
        </p:nvSpPr>
        <p:spPr bwMode="auto">
          <a:xfrm>
            <a:off x="107950" y="404495"/>
            <a:ext cx="8940800" cy="113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sz="2000" b="1" dirty="0" smtClean="0">
                <a:solidFill>
                  <a:srgbClr val="C00000"/>
                </a:solidFill>
                <a:latin typeface="Tahoma" panose="020B0604030504040204" pitchFamily="34" charset="0"/>
                <a:sym typeface="Webdings" panose="05030102010509060703" pitchFamily="18" charset="2"/>
              </a:rPr>
              <a:t>1</a:t>
            </a:r>
            <a:r>
              <a:rPr lang="zh-CN" altLang="en-US" sz="2000" b="1" dirty="0" smtClean="0">
                <a:solidFill>
                  <a:srgbClr val="C00000"/>
                </a:solidFill>
                <a:latin typeface="Tahoma" panose="020B0604030504040204" pitchFamily="34" charset="0"/>
                <a:sym typeface="Webdings" panose="05030102010509060703" pitchFamily="18" charset="2"/>
              </a:rPr>
              <a:t>、</a:t>
            </a:r>
            <a:r>
              <a:rPr lang="zh-CN" altLang="en-US" sz="2000" b="1" dirty="0" smtClean="0">
                <a:solidFill>
                  <a:srgbClr val="C00000"/>
                </a:solidFill>
                <a:latin typeface="Tahoma" panose="020B0604030504040204" pitchFamily="34" charset="0"/>
              </a:rPr>
              <a:t>用</a:t>
            </a:r>
            <a:r>
              <a:rPr lang="zh-CN" altLang="en-US" sz="2000" b="1" dirty="0">
                <a:solidFill>
                  <a:srgbClr val="C00000"/>
                </a:solidFill>
                <a:latin typeface="Tahoma" panose="020B0604030504040204" pitchFamily="34" charset="0"/>
              </a:rPr>
              <a:t>同一牌号钢材料制造一配对软齿面齿轮，其热处理方案应选</a:t>
            </a:r>
            <a:r>
              <a:rPr lang="en-US" altLang="zh-CN" sz="2000" b="1" dirty="0">
                <a:solidFill>
                  <a:srgbClr val="C00000"/>
                </a:solidFill>
                <a:latin typeface="Tahoma" panose="020B0604030504040204" pitchFamily="34" charset="0"/>
              </a:rPr>
              <a:t> </a:t>
            </a:r>
            <a:r>
              <a:rPr lang="en-US" altLang="zh-CN" sz="2000" b="1" u="sng" dirty="0">
                <a:solidFill>
                  <a:srgbClr val="C00000"/>
                </a:solidFill>
                <a:latin typeface="Tahoma" panose="020B0604030504040204" pitchFamily="34" charset="0"/>
              </a:rPr>
              <a:t>      </a:t>
            </a:r>
            <a:r>
              <a:rPr lang="zh-CN" altLang="en-US" sz="2000" b="1" dirty="0">
                <a:solidFill>
                  <a:srgbClr val="C00000"/>
                </a:solidFill>
                <a:latin typeface="Tahoma" panose="020B0604030504040204" pitchFamily="34" charset="0"/>
              </a:rPr>
              <a:t>：</a:t>
            </a:r>
            <a:r>
              <a:rPr lang="en-US" altLang="zh-CN" sz="2000" b="1" dirty="0">
                <a:solidFill>
                  <a:srgbClr val="C00000"/>
                </a:solidFill>
                <a:latin typeface="Tahoma" panose="020B0604030504040204" pitchFamily="34" charset="0"/>
              </a:rPr>
              <a:t> </a:t>
            </a:r>
            <a:endParaRPr lang="zh-CN" altLang="en-US" sz="2400" b="1" u="sng" dirty="0">
              <a:solidFill>
                <a:srgbClr val="C00000"/>
              </a:solidFill>
              <a:latin typeface="Tahoma" panose="020B0604030504040204" pitchFamily="34" charset="0"/>
            </a:endParaRPr>
          </a:p>
          <a:p>
            <a:pPr eaLnBrk="1" latinLnBrk="0" hangingPunct="1">
              <a:spcBef>
                <a:spcPts val="0"/>
              </a:spcBef>
            </a:pPr>
            <a:r>
              <a:rPr lang="zh-CN" altLang="en-US" sz="2400" b="1" dirty="0">
                <a:solidFill>
                  <a:schemeClr val="hlink"/>
                </a:solidFill>
                <a:latin typeface="Tahoma" panose="020B0604030504040204" pitchFamily="34" charset="0"/>
              </a:rPr>
              <a:t> </a:t>
            </a:r>
            <a:r>
              <a:rPr lang="en-US" altLang="zh-CN" sz="2400" b="1" dirty="0">
                <a:solidFill>
                  <a:schemeClr val="hlink"/>
                </a:solidFill>
                <a:latin typeface="Tahoma" panose="020B0604030504040204" pitchFamily="34" charset="0"/>
              </a:rPr>
              <a:t>   </a:t>
            </a:r>
            <a:r>
              <a:rPr lang="en-US" altLang="zh-CN" sz="2000" dirty="0">
                <a:latin typeface="黑体" panose="02010609060101010101" pitchFamily="49" charset="-122"/>
                <a:ea typeface="黑体" panose="02010609060101010101" pitchFamily="49" charset="-122"/>
                <a:cs typeface="黑体" panose="02010609060101010101" pitchFamily="49" charset="-122"/>
              </a:rPr>
              <a:t>A </a:t>
            </a:r>
            <a:r>
              <a:rPr lang="zh-CN" altLang="en-US" sz="2000" dirty="0">
                <a:latin typeface="黑体" panose="02010609060101010101" pitchFamily="49" charset="-122"/>
                <a:ea typeface="黑体" panose="02010609060101010101" pitchFamily="49" charset="-122"/>
                <a:cs typeface="黑体" panose="02010609060101010101" pitchFamily="49" charset="-122"/>
              </a:rPr>
              <a:t>小轮正火，大轮调质              </a:t>
            </a:r>
            <a:r>
              <a:rPr lang="en-US" altLang="zh-CN" sz="2000" dirty="0">
                <a:latin typeface="黑体" panose="02010609060101010101" pitchFamily="49" charset="-122"/>
                <a:ea typeface="黑体" panose="02010609060101010101" pitchFamily="49" charset="-122"/>
                <a:cs typeface="黑体" panose="02010609060101010101" pitchFamily="49" charset="-122"/>
              </a:rPr>
              <a:t>B </a:t>
            </a:r>
            <a:r>
              <a:rPr lang="zh-CN" altLang="en-US" sz="2000" dirty="0">
                <a:latin typeface="黑体" panose="02010609060101010101" pitchFamily="49" charset="-122"/>
                <a:ea typeface="黑体" panose="02010609060101010101" pitchFamily="49" charset="-122"/>
                <a:cs typeface="黑体" panose="02010609060101010101" pitchFamily="49" charset="-122"/>
              </a:rPr>
              <a:t>小轮调质，大轮正火  </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a:p>
            <a:pPr eaLnBrk="1" latinLnBrk="0" hangingPunct="1">
              <a:spcBef>
                <a:spcPts val="0"/>
              </a:spcBef>
            </a:pPr>
            <a:r>
              <a:rPr lang="en-US" altLang="zh-CN" sz="2000" dirty="0">
                <a:latin typeface="黑体" panose="02010609060101010101" pitchFamily="49" charset="-122"/>
                <a:ea typeface="黑体" panose="02010609060101010101" pitchFamily="49" charset="-122"/>
                <a:cs typeface="黑体" panose="02010609060101010101" pitchFamily="49" charset="-122"/>
              </a:rPr>
              <a:t>   C </a:t>
            </a:r>
            <a:r>
              <a:rPr lang="zh-CN" altLang="en-US" sz="2000" dirty="0">
                <a:latin typeface="黑体" panose="02010609060101010101" pitchFamily="49" charset="-122"/>
                <a:ea typeface="黑体" panose="02010609060101010101" pitchFamily="49" charset="-122"/>
                <a:cs typeface="黑体" panose="02010609060101010101" pitchFamily="49" charset="-122"/>
              </a:rPr>
              <a:t>小轮氮化，大轮淬火          </a:t>
            </a:r>
            <a:r>
              <a:rPr lang="en-US" altLang="zh-CN" sz="2000" dirty="0">
                <a:latin typeface="黑体" panose="02010609060101010101" pitchFamily="49" charset="-122"/>
                <a:ea typeface="黑体" panose="02010609060101010101" pitchFamily="49" charset="-122"/>
                <a:cs typeface="黑体" panose="02010609060101010101" pitchFamily="49" charset="-122"/>
              </a:rPr>
              <a:t> </a:t>
            </a:r>
            <a:r>
              <a:rPr lang="zh-CN" altLang="en-US" sz="2000" dirty="0">
                <a:latin typeface="黑体" panose="02010609060101010101" pitchFamily="49" charset="-122"/>
                <a:ea typeface="黑体" panose="02010609060101010101" pitchFamily="49" charset="-122"/>
                <a:cs typeface="黑体" panose="02010609060101010101" pitchFamily="49" charset="-122"/>
              </a:rPr>
              <a:t> </a:t>
            </a:r>
            <a:r>
              <a:rPr lang="en-US" altLang="zh-CN" sz="2000" dirty="0">
                <a:latin typeface="黑体" panose="02010609060101010101" pitchFamily="49" charset="-122"/>
                <a:ea typeface="黑体" panose="02010609060101010101" pitchFamily="49" charset="-122"/>
                <a:cs typeface="黑体" panose="02010609060101010101" pitchFamily="49" charset="-122"/>
              </a:rPr>
              <a:t>  D </a:t>
            </a:r>
            <a:r>
              <a:rPr lang="zh-CN" altLang="en-US" sz="2000" dirty="0">
                <a:latin typeface="黑体" panose="02010609060101010101" pitchFamily="49" charset="-122"/>
                <a:ea typeface="黑体" panose="02010609060101010101" pitchFamily="49" charset="-122"/>
                <a:cs typeface="黑体" panose="02010609060101010101" pitchFamily="49" charset="-122"/>
              </a:rPr>
              <a:t>小轮调质，大轮淬火 ；</a:t>
            </a:r>
            <a:r>
              <a:rPr lang="zh-CN" altLang="en-US" sz="2400" b="1" dirty="0">
                <a:solidFill>
                  <a:schemeClr val="hlink"/>
                </a:solidFill>
                <a:latin typeface="Tahoma" panose="020B0604030504040204" pitchFamily="34" charset="0"/>
              </a:rPr>
              <a:t>                                        </a:t>
            </a:r>
            <a:endParaRPr lang="zh-CN" altLang="en-US" sz="2400" b="1" dirty="0">
              <a:solidFill>
                <a:schemeClr val="hlink"/>
              </a:solidFill>
              <a:latin typeface="Tahoma" panose="020B0604030504040204" pitchFamily="34" charset="0"/>
            </a:endParaRPr>
          </a:p>
        </p:txBody>
      </p:sp>
      <p:sp>
        <p:nvSpPr>
          <p:cNvPr id="142339" name="Text Box 3"/>
          <p:cNvSpPr txBox="1">
            <a:spLocks noChangeArrowheads="1"/>
          </p:cNvSpPr>
          <p:nvPr/>
        </p:nvSpPr>
        <p:spPr bwMode="auto">
          <a:xfrm>
            <a:off x="107950" y="1720533"/>
            <a:ext cx="89408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2</a:t>
            </a:r>
            <a:r>
              <a:rPr lang="zh-CN" altLang="en-US" sz="2000" b="1" dirty="0" smtClean="0">
                <a:solidFill>
                  <a:srgbClr val="C00000"/>
                </a:solidFill>
                <a:latin typeface="Tahoma" panose="020B0604030504040204" pitchFamily="34" charset="0"/>
                <a:sym typeface="Webdings" panose="05030102010509060703" pitchFamily="18" charset="2"/>
              </a:rPr>
              <a:t>、</a:t>
            </a:r>
            <a:r>
              <a:rPr lang="zh-CN" altLang="en-US" sz="2000" b="1" dirty="0" smtClean="0">
                <a:solidFill>
                  <a:srgbClr val="C00000"/>
                </a:solidFill>
                <a:latin typeface="Tahoma" panose="020B0604030504040204" pitchFamily="34" charset="0"/>
              </a:rPr>
              <a:t>一般</a:t>
            </a:r>
            <a:r>
              <a:rPr lang="zh-CN" altLang="en-US" sz="2000" b="1" dirty="0">
                <a:solidFill>
                  <a:srgbClr val="C00000"/>
                </a:solidFill>
                <a:latin typeface="Tahoma" panose="020B0604030504040204" pitchFamily="34" charset="0"/>
              </a:rPr>
              <a:t>开式齿轮传动，其主要失效形式是</a:t>
            </a:r>
            <a:r>
              <a:rPr lang="en-US" altLang="zh-CN" sz="2000" b="1" u="sng" dirty="0">
                <a:solidFill>
                  <a:srgbClr val="C00000"/>
                </a:solidFill>
                <a:latin typeface="Tahoma" panose="020B0604030504040204" pitchFamily="34" charset="0"/>
              </a:rPr>
              <a:t>        </a:t>
            </a:r>
            <a:r>
              <a:rPr lang="zh-CN" altLang="en-US" sz="2000" b="1" dirty="0">
                <a:solidFill>
                  <a:srgbClr val="C00000"/>
                </a:solidFill>
                <a:latin typeface="Tahoma" panose="020B0604030504040204" pitchFamily="34" charset="0"/>
              </a:rPr>
              <a:t>：</a:t>
            </a:r>
            <a:endParaRPr lang="zh-CN" altLang="en-US" sz="2000" b="1" dirty="0">
              <a:solidFill>
                <a:srgbClr val="C00000"/>
              </a:solidFill>
              <a:latin typeface="Tahoma" panose="020B0604030504040204" pitchFamily="34" charset="0"/>
            </a:endParaRPr>
          </a:p>
          <a:p>
            <a:pPr>
              <a:spcBef>
                <a:spcPct val="50000"/>
              </a:spcBef>
            </a:pPr>
            <a:r>
              <a:rPr lang="zh-CN" altLang="en-US" sz="2400" b="1" dirty="0">
                <a:solidFill>
                  <a:schemeClr val="hlink"/>
                </a:solidFill>
                <a:latin typeface="Tahoma" panose="020B0604030504040204" pitchFamily="34" charset="0"/>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齿面点蚀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B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齿面磨粒磨损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C</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齿面塑性变形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D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齿面胶合</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p:txBody>
      </p:sp>
      <p:sp>
        <p:nvSpPr>
          <p:cNvPr id="142340" name="Text Box 4"/>
          <p:cNvSpPr txBox="1">
            <a:spLocks noChangeArrowheads="1"/>
          </p:cNvSpPr>
          <p:nvPr/>
        </p:nvSpPr>
        <p:spPr bwMode="auto">
          <a:xfrm>
            <a:off x="-36830" y="2853055"/>
            <a:ext cx="914400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3</a:t>
            </a:r>
            <a:r>
              <a:rPr lang="zh-CN" altLang="en-US" sz="2000" b="1" dirty="0" smtClean="0">
                <a:solidFill>
                  <a:srgbClr val="C00000"/>
                </a:solidFill>
                <a:latin typeface="Tahoma" panose="020B0604030504040204" pitchFamily="34" charset="0"/>
                <a:sym typeface="Webdings" panose="05030102010509060703" pitchFamily="18" charset="2"/>
              </a:rPr>
              <a:t>、</a:t>
            </a:r>
            <a:r>
              <a:rPr lang="en-US" altLang="zh-CN" sz="2000" b="1" dirty="0" smtClean="0">
                <a:solidFill>
                  <a:srgbClr val="C00000"/>
                </a:solidFill>
                <a:latin typeface="宋体" panose="02010600030101010101" pitchFamily="2" charset="-122"/>
              </a:rPr>
              <a:t> </a:t>
            </a:r>
            <a:r>
              <a:rPr lang="zh-CN" altLang="en-US" sz="2000" b="1" dirty="0">
                <a:solidFill>
                  <a:srgbClr val="C00000"/>
                </a:solidFill>
                <a:latin typeface="宋体" panose="02010600030101010101" pitchFamily="2" charset="-122"/>
              </a:rPr>
              <a:t>一对</a:t>
            </a:r>
            <a:r>
              <a:rPr lang="zh-CN" altLang="en-US" sz="2000" b="1" dirty="0">
                <a:solidFill>
                  <a:schemeClr val="hlink"/>
                </a:solidFill>
                <a:latin typeface="宋体" panose="02010600030101010101" pitchFamily="2" charset="-122"/>
              </a:rPr>
              <a:t>减速齿轮传动，主动轮</a:t>
            </a:r>
            <a:r>
              <a:rPr lang="en-US" altLang="zh-CN" sz="2000" b="1" dirty="0">
                <a:solidFill>
                  <a:schemeClr val="hlink"/>
                </a:solidFill>
                <a:latin typeface="宋体" panose="02010600030101010101" pitchFamily="2" charset="-122"/>
              </a:rPr>
              <a:t>1</a:t>
            </a:r>
            <a:r>
              <a:rPr lang="zh-CN" altLang="en-US" sz="2000" b="1" dirty="0">
                <a:solidFill>
                  <a:schemeClr val="hlink"/>
                </a:solidFill>
                <a:latin typeface="宋体" panose="02010600030101010101" pitchFamily="2" charset="-122"/>
              </a:rPr>
              <a:t>用</a:t>
            </a:r>
            <a:r>
              <a:rPr lang="en-US" altLang="zh-CN" sz="2000" b="1" dirty="0">
                <a:solidFill>
                  <a:schemeClr val="hlink"/>
                </a:solidFill>
                <a:latin typeface="宋体" panose="02010600030101010101" pitchFamily="2" charset="-122"/>
              </a:rPr>
              <a:t>45</a:t>
            </a:r>
            <a:r>
              <a:rPr lang="zh-CN" altLang="en-US" sz="2000" b="1" dirty="0">
                <a:solidFill>
                  <a:schemeClr val="hlink"/>
                </a:solidFill>
                <a:latin typeface="宋体" panose="02010600030101010101" pitchFamily="2" charset="-122"/>
              </a:rPr>
              <a:t>钢调质，从动轮</a:t>
            </a:r>
            <a:r>
              <a:rPr lang="en-US" altLang="zh-CN" sz="2000" b="1" dirty="0">
                <a:solidFill>
                  <a:schemeClr val="hlink"/>
                </a:solidFill>
                <a:latin typeface="宋体" panose="02010600030101010101" pitchFamily="2" charset="-122"/>
              </a:rPr>
              <a:t>2</a:t>
            </a:r>
            <a:r>
              <a:rPr lang="zh-CN" altLang="en-US" sz="2000" b="1" dirty="0">
                <a:solidFill>
                  <a:schemeClr val="hlink"/>
                </a:solidFill>
                <a:latin typeface="宋体" panose="02010600030101010101" pitchFamily="2" charset="-122"/>
              </a:rPr>
              <a:t>用</a:t>
            </a:r>
            <a:r>
              <a:rPr lang="en-US" altLang="zh-CN" sz="2000" b="1" dirty="0">
                <a:solidFill>
                  <a:schemeClr val="hlink"/>
                </a:solidFill>
                <a:latin typeface="宋体" panose="02010600030101010101" pitchFamily="2" charset="-122"/>
              </a:rPr>
              <a:t>45</a:t>
            </a:r>
            <a:r>
              <a:rPr lang="zh-CN" altLang="en-US" sz="2000" b="1" dirty="0">
                <a:solidFill>
                  <a:schemeClr val="hlink"/>
                </a:solidFill>
                <a:latin typeface="宋体" panose="02010600030101010101" pitchFamily="2" charset="-122"/>
              </a:rPr>
              <a:t>钢正火，则它们的齿面接触应力的关系是 </a:t>
            </a:r>
            <a:r>
              <a:rPr lang="zh-CN" altLang="en-US" sz="2000" b="1" u="sng" dirty="0">
                <a:solidFill>
                  <a:schemeClr val="hlink"/>
                </a:solidFill>
                <a:latin typeface="宋体" panose="02010600030101010101" pitchFamily="2" charset="-122"/>
              </a:rPr>
              <a:t>    </a:t>
            </a:r>
            <a:r>
              <a:rPr lang="zh-CN" altLang="en-US" sz="2400" b="1" dirty="0">
                <a:solidFill>
                  <a:schemeClr val="hlink"/>
                </a:solidFill>
                <a:latin typeface="宋体" panose="02010600030101010101" pitchFamily="2" charset="-122"/>
              </a:rPr>
              <a:t>；</a:t>
            </a:r>
            <a:endParaRPr lang="zh-CN" altLang="en-US" sz="2400" b="1" dirty="0">
              <a:solidFill>
                <a:schemeClr val="hlink"/>
              </a:solidFill>
              <a:latin typeface="宋体" panose="02010600030101010101" pitchFamily="2" charset="-122"/>
            </a:endParaRPr>
          </a:p>
          <a:p>
            <a:pPr>
              <a:spcBef>
                <a:spcPct val="50000"/>
              </a:spcBef>
            </a:pPr>
            <a:r>
              <a:rPr lang="zh-CN" altLang="en-US" sz="2400" b="1" dirty="0">
                <a:solidFill>
                  <a:schemeClr val="hlink"/>
                </a:solidFill>
                <a:latin typeface="宋体" panose="02010600030101010101" pitchFamily="2" charset="-122"/>
              </a:rPr>
              <a:t>  </a:t>
            </a:r>
            <a:r>
              <a:rPr lang="en-US" altLang="zh-CN" sz="2400" b="1" dirty="0">
                <a:latin typeface="宋体" panose="02010600030101010101" pitchFamily="2" charset="-122"/>
              </a:rPr>
              <a:t>A </a:t>
            </a:r>
            <a:r>
              <a:rPr lang="el-GR" altLang="zh-CN" sz="2400" b="1" dirty="0">
                <a:latin typeface="宋体" panose="02010600030101010101" pitchFamily="2" charset="-122"/>
              </a:rPr>
              <a:t>σ</a:t>
            </a:r>
            <a:r>
              <a:rPr lang="el-GR" altLang="zh-CN" sz="2400" b="1" baseline="-25000" dirty="0">
                <a:latin typeface="宋体" panose="02010600030101010101" pitchFamily="2" charset="-122"/>
              </a:rPr>
              <a:t>H1</a:t>
            </a:r>
            <a:r>
              <a:rPr lang="en-US" altLang="zh-CN" sz="2400" b="1" dirty="0">
                <a:latin typeface="宋体" panose="02010600030101010101" pitchFamily="2" charset="-122"/>
              </a:rPr>
              <a:t>= </a:t>
            </a:r>
            <a:r>
              <a:rPr lang="el-GR" altLang="zh-CN" sz="2400" b="1" dirty="0">
                <a:latin typeface="宋体" panose="02010600030101010101" pitchFamily="2" charset="-122"/>
              </a:rPr>
              <a:t>σ</a:t>
            </a:r>
            <a:r>
              <a:rPr lang="el-GR" altLang="zh-CN" sz="2400" b="1" baseline="-25000" dirty="0">
                <a:latin typeface="宋体" panose="02010600030101010101" pitchFamily="2" charset="-122"/>
              </a:rPr>
              <a:t>H2 </a:t>
            </a:r>
            <a:r>
              <a:rPr lang="en-US" altLang="zh-CN" sz="2400" b="1" baseline="-25000" dirty="0">
                <a:latin typeface="宋体" panose="02010600030101010101" pitchFamily="2" charset="-122"/>
              </a:rPr>
              <a:t>    </a:t>
            </a:r>
            <a:r>
              <a:rPr lang="en-US" altLang="zh-CN" sz="2400" b="1" dirty="0">
                <a:latin typeface="宋体" panose="02010600030101010101" pitchFamily="2" charset="-122"/>
              </a:rPr>
              <a:t>B </a:t>
            </a:r>
            <a:r>
              <a:rPr lang="el-GR" altLang="zh-CN" sz="2400" b="1" dirty="0">
                <a:latin typeface="宋体" panose="02010600030101010101" pitchFamily="2" charset="-122"/>
              </a:rPr>
              <a:t>σ</a:t>
            </a:r>
            <a:r>
              <a:rPr lang="el-GR" altLang="zh-CN" sz="2400" b="1" baseline="-25000" dirty="0">
                <a:latin typeface="宋体" panose="02010600030101010101" pitchFamily="2" charset="-122"/>
              </a:rPr>
              <a:t>H1</a:t>
            </a:r>
            <a:r>
              <a:rPr lang="en-US" altLang="zh-CN" sz="2400" b="1" dirty="0">
                <a:latin typeface="宋体" panose="02010600030101010101" pitchFamily="2" charset="-122"/>
              </a:rPr>
              <a:t>&gt; </a:t>
            </a:r>
            <a:r>
              <a:rPr lang="el-GR" altLang="zh-CN" sz="2400" b="1" dirty="0">
                <a:latin typeface="宋体" panose="02010600030101010101" pitchFamily="2" charset="-122"/>
              </a:rPr>
              <a:t>σ</a:t>
            </a:r>
            <a:r>
              <a:rPr lang="el-GR" altLang="zh-CN" sz="2400" b="1" baseline="-25000" dirty="0">
                <a:latin typeface="宋体" panose="02010600030101010101" pitchFamily="2" charset="-122"/>
              </a:rPr>
              <a:t>H2 </a:t>
            </a:r>
            <a:r>
              <a:rPr lang="en-US" altLang="zh-CN" sz="2400" b="1" baseline="-25000" dirty="0">
                <a:latin typeface="宋体" panose="02010600030101010101" pitchFamily="2" charset="-122"/>
              </a:rPr>
              <a:t>      </a:t>
            </a:r>
            <a:r>
              <a:rPr lang="en-US" altLang="zh-CN" sz="2400" b="1" dirty="0">
                <a:latin typeface="宋体" panose="02010600030101010101" pitchFamily="2" charset="-122"/>
              </a:rPr>
              <a:t>C </a:t>
            </a:r>
            <a:r>
              <a:rPr lang="el-GR" altLang="zh-CN" sz="2400" b="1" dirty="0">
                <a:latin typeface="宋体" panose="02010600030101010101" pitchFamily="2" charset="-122"/>
              </a:rPr>
              <a:t>σ</a:t>
            </a:r>
            <a:r>
              <a:rPr lang="el-GR" altLang="zh-CN" sz="2400" b="1" baseline="-25000" dirty="0">
                <a:latin typeface="宋体" panose="02010600030101010101" pitchFamily="2" charset="-122"/>
              </a:rPr>
              <a:t>H1</a:t>
            </a:r>
            <a:r>
              <a:rPr lang="en-US" altLang="zh-CN" sz="2400" b="1" dirty="0">
                <a:latin typeface="宋体" panose="02010600030101010101" pitchFamily="2" charset="-122"/>
              </a:rPr>
              <a:t>&lt; </a:t>
            </a:r>
            <a:r>
              <a:rPr lang="el-GR" altLang="zh-CN" sz="2400" b="1" dirty="0">
                <a:latin typeface="宋体" panose="02010600030101010101" pitchFamily="2" charset="-122"/>
              </a:rPr>
              <a:t>σ</a:t>
            </a:r>
            <a:r>
              <a:rPr lang="el-GR" altLang="zh-CN" sz="2400" b="1" baseline="-25000" dirty="0">
                <a:latin typeface="宋体" panose="02010600030101010101" pitchFamily="2" charset="-122"/>
              </a:rPr>
              <a:t>H2 </a:t>
            </a:r>
            <a:r>
              <a:rPr lang="en-US" altLang="zh-CN" sz="2400" b="1" dirty="0">
                <a:latin typeface="宋体" panose="02010600030101010101" pitchFamily="2" charset="-122"/>
              </a:rPr>
              <a:t>  D </a:t>
            </a:r>
            <a:r>
              <a:rPr lang="zh-CN" altLang="en-US" sz="2000" dirty="0">
                <a:latin typeface="黑体" panose="02010609060101010101" pitchFamily="49" charset="-122"/>
                <a:ea typeface="黑体" panose="02010609060101010101" pitchFamily="49" charset="-122"/>
                <a:cs typeface="黑体" panose="02010609060101010101" pitchFamily="49" charset="-122"/>
              </a:rPr>
              <a:t>无法确定   </a:t>
            </a:r>
            <a:r>
              <a:rPr lang="zh-CN" altLang="en-US" sz="2400" b="1" baseline="-25000" dirty="0">
                <a:solidFill>
                  <a:schemeClr val="hlink"/>
                </a:solidFill>
                <a:latin typeface="宋体" panose="02010600030101010101" pitchFamily="2" charset="-122"/>
              </a:rPr>
              <a:t>                                                  </a:t>
            </a:r>
            <a:endParaRPr lang="zh-CN" altLang="en-US" sz="2400" b="1" baseline="-25000" dirty="0">
              <a:solidFill>
                <a:schemeClr val="hlink"/>
              </a:solidFill>
              <a:latin typeface="宋体" panose="02010600030101010101" pitchFamily="2" charset="-122"/>
            </a:endParaRPr>
          </a:p>
        </p:txBody>
      </p:sp>
      <p:sp>
        <p:nvSpPr>
          <p:cNvPr id="142341" name="Text Box 5"/>
          <p:cNvSpPr txBox="1">
            <a:spLocks noChangeArrowheads="1"/>
          </p:cNvSpPr>
          <p:nvPr/>
        </p:nvSpPr>
        <p:spPr bwMode="auto">
          <a:xfrm>
            <a:off x="0" y="4653280"/>
            <a:ext cx="8817610" cy="1414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4</a:t>
            </a:r>
            <a:r>
              <a:rPr lang="zh-CN" altLang="en-US" sz="2000" b="1" dirty="0" smtClean="0">
                <a:solidFill>
                  <a:srgbClr val="C00000"/>
                </a:solidFill>
                <a:latin typeface="Tahoma" panose="020B0604030504040204" pitchFamily="34" charset="0"/>
                <a:sym typeface="Webdings" panose="05030102010509060703" pitchFamily="18" charset="2"/>
              </a:rPr>
              <a:t>、</a:t>
            </a:r>
            <a:r>
              <a:rPr lang="zh-CN" altLang="en-US" sz="2000" b="1" dirty="0" smtClean="0">
                <a:solidFill>
                  <a:schemeClr val="hlink"/>
                </a:solidFill>
                <a:latin typeface="Tahoma" panose="020B0604030504040204" pitchFamily="34" charset="0"/>
              </a:rPr>
              <a:t>在</a:t>
            </a:r>
            <a:r>
              <a:rPr lang="zh-CN" altLang="en-US" sz="2000" b="1" dirty="0">
                <a:solidFill>
                  <a:schemeClr val="hlink"/>
                </a:solidFill>
                <a:latin typeface="Tahoma" panose="020B0604030504040204" pitchFamily="34" charset="0"/>
              </a:rPr>
              <a:t>直齿圆柱齿轮设计中，若中心距保持不变，增大模数</a:t>
            </a:r>
            <a:r>
              <a:rPr lang="en-US" altLang="zh-CN" sz="2000" b="1" dirty="0">
                <a:solidFill>
                  <a:schemeClr val="hlink"/>
                </a:solidFill>
                <a:latin typeface="Tahoma" panose="020B0604030504040204" pitchFamily="34" charset="0"/>
              </a:rPr>
              <a:t>m</a:t>
            </a:r>
            <a:r>
              <a:rPr lang="zh-CN" altLang="en-US" sz="2000" b="1" dirty="0">
                <a:solidFill>
                  <a:schemeClr val="hlink"/>
                </a:solidFill>
                <a:latin typeface="Tahoma" panose="020B0604030504040204" pitchFamily="34" charset="0"/>
              </a:rPr>
              <a:t>，则可以</a:t>
            </a:r>
            <a:r>
              <a:rPr lang="en-US" altLang="zh-CN" sz="2000" b="1" u="sng" dirty="0">
                <a:solidFill>
                  <a:schemeClr val="hlink"/>
                </a:solidFill>
                <a:latin typeface="Tahoma" panose="020B0604030504040204" pitchFamily="34" charset="0"/>
              </a:rPr>
              <a:t>       </a:t>
            </a:r>
            <a:r>
              <a:rPr lang="zh-CN" altLang="en-US" sz="2000" b="1" dirty="0">
                <a:solidFill>
                  <a:schemeClr val="hlink"/>
                </a:solidFill>
                <a:latin typeface="Tahoma" panose="020B0604030504040204" pitchFamily="34" charset="0"/>
              </a:rPr>
              <a:t>：</a:t>
            </a:r>
            <a:endParaRPr lang="zh-CN" altLang="en-US" sz="2000" b="1" dirty="0">
              <a:solidFill>
                <a:schemeClr val="hlink"/>
              </a:solidFill>
              <a:latin typeface="Tahoma" panose="020B0604030504040204" pitchFamily="34" charset="0"/>
            </a:endParaRPr>
          </a:p>
          <a:p>
            <a:pPr>
              <a:spcBef>
                <a:spcPct val="50000"/>
              </a:spcBef>
            </a:pPr>
            <a:r>
              <a:rPr lang="zh-CN" altLang="en-US" sz="2400" b="1" dirty="0">
                <a:solidFill>
                  <a:schemeClr val="bg2"/>
                </a:solidFill>
                <a:latin typeface="Tahoma" panose="020B0604030504040204" pitchFamily="34" charset="0"/>
              </a:rPr>
              <a:t> </a:t>
            </a:r>
            <a:r>
              <a:rPr lang="en-US" altLang="zh-CN" sz="2400" b="1" dirty="0">
                <a:solidFill>
                  <a:schemeClr val="bg2"/>
                </a:solidFill>
                <a:latin typeface="Tahoma" panose="020B0604030504040204" pitchFamily="34" charset="0"/>
              </a:rPr>
              <a:t> </a:t>
            </a:r>
            <a:r>
              <a:rPr lang="en-US" altLang="zh-CN" sz="2000" dirty="0">
                <a:latin typeface="黑体" panose="02010609060101010101" pitchFamily="49" charset="-122"/>
                <a:ea typeface="黑体" panose="02010609060101010101" pitchFamily="49" charset="-122"/>
                <a:cs typeface="黑体" panose="02010609060101010101" pitchFamily="49" charset="-122"/>
              </a:rPr>
              <a:t>A </a:t>
            </a:r>
            <a:r>
              <a:rPr lang="zh-CN" altLang="en-US" sz="2000" dirty="0">
                <a:latin typeface="黑体" panose="02010609060101010101" pitchFamily="49" charset="-122"/>
                <a:ea typeface="黑体" panose="02010609060101010101" pitchFamily="49" charset="-122"/>
                <a:cs typeface="黑体" panose="02010609060101010101" pitchFamily="49" charset="-122"/>
              </a:rPr>
              <a:t>提高齿轮接触强度                  </a:t>
            </a:r>
            <a:r>
              <a:rPr lang="en-US" altLang="zh-CN" sz="2000" dirty="0">
                <a:latin typeface="黑体" panose="02010609060101010101" pitchFamily="49" charset="-122"/>
                <a:ea typeface="黑体" panose="02010609060101010101" pitchFamily="49" charset="-122"/>
                <a:cs typeface="黑体" panose="02010609060101010101" pitchFamily="49" charset="-122"/>
              </a:rPr>
              <a:t>B </a:t>
            </a:r>
            <a:r>
              <a:rPr lang="zh-CN" altLang="en-US" sz="2000" dirty="0">
                <a:latin typeface="黑体" panose="02010609060101010101" pitchFamily="49" charset="-122"/>
                <a:ea typeface="黑体" panose="02010609060101010101" pitchFamily="49" charset="-122"/>
                <a:cs typeface="黑体" panose="02010609060101010101" pitchFamily="49" charset="-122"/>
              </a:rPr>
              <a:t>提高齿轮的弯曲强度</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zh-CN" altLang="en-US" sz="2000" dirty="0">
                <a:latin typeface="黑体" panose="02010609060101010101" pitchFamily="49" charset="-122"/>
                <a:ea typeface="黑体" panose="02010609060101010101" pitchFamily="49" charset="-122"/>
                <a:cs typeface="黑体" panose="02010609060101010101" pitchFamily="49" charset="-122"/>
              </a:rPr>
              <a:t> </a:t>
            </a:r>
            <a:r>
              <a:rPr lang="en-US" altLang="zh-CN" sz="2000" dirty="0">
                <a:latin typeface="黑体" panose="02010609060101010101" pitchFamily="49" charset="-122"/>
                <a:ea typeface="黑体" panose="02010609060101010101" pitchFamily="49" charset="-122"/>
                <a:cs typeface="黑体" panose="02010609060101010101" pitchFamily="49" charset="-122"/>
              </a:rPr>
              <a:t>C </a:t>
            </a:r>
            <a:r>
              <a:rPr lang="zh-CN" altLang="en-US" sz="2000" dirty="0">
                <a:latin typeface="黑体" panose="02010609060101010101" pitchFamily="49" charset="-122"/>
                <a:ea typeface="黑体" panose="02010609060101010101" pitchFamily="49" charset="-122"/>
                <a:cs typeface="黑体" panose="02010609060101010101" pitchFamily="49" charset="-122"/>
              </a:rPr>
              <a:t>弯曲与接触强度均可提高     </a:t>
            </a:r>
            <a:r>
              <a:rPr lang="en-US" altLang="zh-CN" sz="2000" dirty="0">
                <a:latin typeface="黑体" panose="02010609060101010101" pitchFamily="49" charset="-122"/>
                <a:ea typeface="黑体" panose="02010609060101010101" pitchFamily="49" charset="-122"/>
                <a:cs typeface="黑体" panose="02010609060101010101" pitchFamily="49" charset="-122"/>
              </a:rPr>
              <a:t>      </a:t>
            </a:r>
            <a:r>
              <a:rPr lang="zh-CN" altLang="en-US" sz="2000" dirty="0">
                <a:latin typeface="黑体" panose="02010609060101010101" pitchFamily="49" charset="-122"/>
                <a:ea typeface="黑体" panose="02010609060101010101" pitchFamily="49" charset="-122"/>
                <a:cs typeface="黑体" panose="02010609060101010101" pitchFamily="49" charset="-122"/>
              </a:rPr>
              <a:t>  </a:t>
            </a:r>
            <a:r>
              <a:rPr lang="en-US" altLang="zh-CN" sz="2000" dirty="0">
                <a:latin typeface="黑体" panose="02010609060101010101" pitchFamily="49" charset="-122"/>
                <a:ea typeface="黑体" panose="02010609060101010101" pitchFamily="49" charset="-122"/>
                <a:cs typeface="黑体" panose="02010609060101010101" pitchFamily="49" charset="-122"/>
              </a:rPr>
              <a:t>D </a:t>
            </a:r>
            <a:r>
              <a:rPr lang="zh-CN" altLang="en-US" sz="2000" dirty="0">
                <a:latin typeface="黑体" panose="02010609060101010101" pitchFamily="49" charset="-122"/>
                <a:ea typeface="黑体" panose="02010609060101010101" pitchFamily="49" charset="-122"/>
                <a:cs typeface="黑体" panose="02010609060101010101" pitchFamily="49" charset="-122"/>
              </a:rPr>
              <a:t>弯曲与接触强度均不变</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2338">
                                            <p:txEl>
                                              <p:pRg st="0" end="0"/>
                                            </p:txEl>
                                          </p:spTgt>
                                        </p:tgtEl>
                                        <p:attrNameLst>
                                          <p:attrName>style.visibility</p:attrName>
                                        </p:attrNameLst>
                                      </p:cBhvr>
                                      <p:to>
                                        <p:strVal val="visible"/>
                                      </p:to>
                                    </p:set>
                                    <p:animEffect transition="in" filter="wipe(left)">
                                      <p:cBhvr>
                                        <p:cTn id="7" dur="500"/>
                                        <p:tgtEl>
                                          <p:spTgt spid="142338">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2338">
                                            <p:txEl>
                                              <p:pRg st="1" end="1"/>
                                            </p:txEl>
                                          </p:spTgt>
                                        </p:tgtEl>
                                        <p:attrNameLst>
                                          <p:attrName>style.visibility</p:attrName>
                                        </p:attrNameLst>
                                      </p:cBhvr>
                                      <p:to>
                                        <p:strVal val="visible"/>
                                      </p:to>
                                    </p:set>
                                    <p:animEffect transition="in" filter="wipe(left)">
                                      <p:cBhvr>
                                        <p:cTn id="11" dur="500"/>
                                        <p:tgtEl>
                                          <p:spTgt spid="142338">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2338">
                                            <p:txEl>
                                              <p:pRg st="2" end="2"/>
                                            </p:txEl>
                                          </p:spTgt>
                                        </p:tgtEl>
                                        <p:attrNameLst>
                                          <p:attrName>style.visibility</p:attrName>
                                        </p:attrNameLst>
                                      </p:cBhvr>
                                      <p:to>
                                        <p:strVal val="visible"/>
                                      </p:to>
                                    </p:set>
                                    <p:animEffect transition="in" filter="wipe(left)">
                                      <p:cBhvr>
                                        <p:cTn id="15" dur="500"/>
                                        <p:tgtEl>
                                          <p:spTgt spid="14233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42339">
                                            <p:txEl>
                                              <p:pRg st="0" end="0"/>
                                            </p:txEl>
                                          </p:spTgt>
                                        </p:tgtEl>
                                        <p:attrNameLst>
                                          <p:attrName>style.visibility</p:attrName>
                                        </p:attrNameLst>
                                      </p:cBhvr>
                                      <p:to>
                                        <p:strVal val="visible"/>
                                      </p:to>
                                    </p:set>
                                    <p:animEffect transition="in" filter="wipe(left)">
                                      <p:cBhvr>
                                        <p:cTn id="20" dur="500"/>
                                        <p:tgtEl>
                                          <p:spTgt spid="142339">
                                            <p:txEl>
                                              <p:pRg st="0" end="0"/>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42339">
                                            <p:txEl>
                                              <p:pRg st="1" end="1"/>
                                            </p:txEl>
                                          </p:spTgt>
                                        </p:tgtEl>
                                        <p:attrNameLst>
                                          <p:attrName>style.visibility</p:attrName>
                                        </p:attrNameLst>
                                      </p:cBhvr>
                                      <p:to>
                                        <p:strVal val="visible"/>
                                      </p:to>
                                    </p:set>
                                    <p:animEffect transition="in" filter="wipe(left)">
                                      <p:cBhvr>
                                        <p:cTn id="24" dur="500"/>
                                        <p:tgtEl>
                                          <p:spTgt spid="14233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2340">
                                            <p:txEl>
                                              <p:pRg st="0" end="0"/>
                                            </p:txEl>
                                          </p:spTgt>
                                        </p:tgtEl>
                                        <p:attrNameLst>
                                          <p:attrName>style.visibility</p:attrName>
                                        </p:attrNameLst>
                                      </p:cBhvr>
                                      <p:to>
                                        <p:strVal val="visible"/>
                                      </p:to>
                                    </p:set>
                                    <p:animEffect transition="in" filter="wipe(left)">
                                      <p:cBhvr>
                                        <p:cTn id="29" dur="500"/>
                                        <p:tgtEl>
                                          <p:spTgt spid="142340">
                                            <p:txEl>
                                              <p:pRg st="0" end="0"/>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42340">
                                            <p:txEl>
                                              <p:pRg st="1" end="1"/>
                                            </p:txEl>
                                          </p:spTgt>
                                        </p:tgtEl>
                                        <p:attrNameLst>
                                          <p:attrName>style.visibility</p:attrName>
                                        </p:attrNameLst>
                                      </p:cBhvr>
                                      <p:to>
                                        <p:strVal val="visible"/>
                                      </p:to>
                                    </p:set>
                                    <p:animEffect transition="in" filter="wipe(left)">
                                      <p:cBhvr>
                                        <p:cTn id="33" dur="500"/>
                                        <p:tgtEl>
                                          <p:spTgt spid="142340">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2341">
                                            <p:txEl>
                                              <p:pRg st="0" end="0"/>
                                            </p:txEl>
                                          </p:spTgt>
                                        </p:tgtEl>
                                        <p:attrNameLst>
                                          <p:attrName>style.visibility</p:attrName>
                                        </p:attrNameLst>
                                      </p:cBhvr>
                                      <p:to>
                                        <p:strVal val="visible"/>
                                      </p:to>
                                    </p:set>
                                    <p:animEffect transition="in" filter="wipe(left)">
                                      <p:cBhvr>
                                        <p:cTn id="38" dur="500"/>
                                        <p:tgtEl>
                                          <p:spTgt spid="142341">
                                            <p:txEl>
                                              <p:pRg st="0" end="0"/>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42341">
                                            <p:txEl>
                                              <p:pRg st="1" end="1"/>
                                            </p:txEl>
                                          </p:spTgt>
                                        </p:tgtEl>
                                        <p:attrNameLst>
                                          <p:attrName>style.visibility</p:attrName>
                                        </p:attrNameLst>
                                      </p:cBhvr>
                                      <p:to>
                                        <p:strVal val="visible"/>
                                      </p:to>
                                    </p:set>
                                    <p:animEffect transition="in" filter="wipe(left)">
                                      <p:cBhvr>
                                        <p:cTn id="42" dur="500"/>
                                        <p:tgtEl>
                                          <p:spTgt spid="142341">
                                            <p:txEl>
                                              <p:pRg st="1" end="1"/>
                                            </p:txEl>
                                          </p:spTgt>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142341">
                                            <p:txEl>
                                              <p:pRg st="2" end="2"/>
                                            </p:txEl>
                                          </p:spTgt>
                                        </p:tgtEl>
                                        <p:attrNameLst>
                                          <p:attrName>style.visibility</p:attrName>
                                        </p:attrNameLst>
                                      </p:cBhvr>
                                      <p:to>
                                        <p:strVal val="visible"/>
                                      </p:to>
                                    </p:set>
                                    <p:animEffect transition="in" filter="wipe(left)">
                                      <p:cBhvr>
                                        <p:cTn id="46" dur="500"/>
                                        <p:tgtEl>
                                          <p:spTgt spid="1423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ChangeArrowheads="1"/>
          </p:cNvSpPr>
          <p:nvPr/>
        </p:nvSpPr>
        <p:spPr bwMode="auto">
          <a:xfrm>
            <a:off x="179705" y="582082"/>
            <a:ext cx="9144000" cy="569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000" b="1" dirty="0" smtClean="0">
                <a:solidFill>
                  <a:srgbClr val="C00000"/>
                </a:solidFill>
                <a:latin typeface="Tahoma" panose="020B0604030504040204" pitchFamily="34" charset="0"/>
              </a:rPr>
              <a:t>5</a:t>
            </a:r>
            <a:r>
              <a:rPr lang="zh-CN" altLang="en-US" sz="2000" b="1" dirty="0" smtClean="0">
                <a:solidFill>
                  <a:srgbClr val="C00000"/>
                </a:solidFill>
                <a:latin typeface="Tahoma" panose="020B0604030504040204" pitchFamily="34" charset="0"/>
              </a:rPr>
              <a:t>、</a:t>
            </a:r>
            <a:r>
              <a:rPr lang="zh-CN" altLang="en-US" sz="2000" b="1" dirty="0" smtClean="0">
                <a:solidFill>
                  <a:schemeClr val="hlink"/>
                </a:solidFill>
                <a:latin typeface="Tahoma" panose="020B0604030504040204" pitchFamily="34" charset="0"/>
              </a:rPr>
              <a:t>高速</a:t>
            </a:r>
            <a:r>
              <a:rPr lang="zh-CN" altLang="en-US" sz="2000" b="1" dirty="0">
                <a:solidFill>
                  <a:schemeClr val="hlink"/>
                </a:solidFill>
                <a:latin typeface="Tahoma" panose="020B0604030504040204" pitchFamily="34" charset="0"/>
              </a:rPr>
              <a:t>重载齿轮传动的主要失效形式为</a:t>
            </a:r>
            <a:r>
              <a:rPr lang="en-US" altLang="zh-CN" sz="2000" b="1" dirty="0">
                <a:solidFill>
                  <a:schemeClr val="hlink"/>
                </a:solidFill>
                <a:latin typeface="Tahoma" panose="020B0604030504040204" pitchFamily="34" charset="0"/>
              </a:rPr>
              <a:t>____</a:t>
            </a:r>
            <a:r>
              <a:rPr lang="zh-CN" altLang="en-US" sz="2000" b="1" dirty="0">
                <a:solidFill>
                  <a:schemeClr val="hlink"/>
                </a:solidFill>
                <a:latin typeface="Tahoma" panose="020B0604030504040204" pitchFamily="34" charset="0"/>
              </a:rPr>
              <a:t>：</a:t>
            </a:r>
            <a:endParaRPr lang="zh-CN" altLang="en-US" sz="2400" b="1" dirty="0">
              <a:solidFill>
                <a:schemeClr val="hlink"/>
              </a:solidFill>
              <a:latin typeface="Tahoma" panose="020B0604030504040204" pitchFamily="34" charset="0"/>
            </a:endParaRPr>
          </a:p>
          <a:p>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齿根折断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B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齿面磨损和齿面点蚀</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C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齿面点蚀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D</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齿面胶合</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endParaRPr lang="en-US" altLang="zh-CN" sz="2000" b="1" dirty="0" smtClean="0">
              <a:solidFill>
                <a:srgbClr val="C00000"/>
              </a:solidFill>
              <a:latin typeface="Tahoma" panose="020B0604030504040204" pitchFamily="34" charset="0"/>
              <a:sym typeface="Webdings" panose="05030102010509060703" pitchFamily="18" charset="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6、</a:t>
            </a:r>
            <a:r>
              <a:rPr lang="en-US" altLang="zh-CN" sz="2000" b="1" dirty="0" smtClean="0">
                <a:solidFill>
                  <a:srgbClr val="C00000"/>
                </a:solidFill>
                <a:latin typeface="Tahoma" panose="020B0604030504040204" pitchFamily="34" charset="0"/>
              </a:rPr>
              <a:t>小齿轮的齿面硬度应____相啮合的大齿轮。</a:t>
            </a:r>
            <a:endParaRPr lang="zh-CN" altLang="en-US" sz="2400" b="1" dirty="0">
              <a:solidFill>
                <a:schemeClr val="hlink"/>
              </a:solidFill>
              <a:latin typeface="Tahoma" panose="020B0604030504040204" pitchFamily="34" charset="0"/>
            </a:endParaRPr>
          </a:p>
          <a:p>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B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C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t>
            </a:r>
            <a:endParaRPr lang="en-US" altLang="zh-CN" sz="2000" b="1" dirty="0" smtClean="0">
              <a:solidFill>
                <a:srgbClr val="C00000"/>
              </a:solidFill>
              <a:latin typeface="Tahoma" panose="020B0604030504040204" pitchFamily="34" charset="0"/>
              <a:sym typeface="Webdings" panose="05030102010509060703" pitchFamily="18" charset="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7、</a:t>
            </a:r>
            <a:r>
              <a:rPr lang="en-US" altLang="zh-CN" sz="2000" b="1" dirty="0" smtClean="0">
                <a:solidFill>
                  <a:srgbClr val="C00000"/>
                </a:solidFill>
                <a:latin typeface="Tahoma" panose="020B0604030504040204" pitchFamily="34" charset="0"/>
              </a:rPr>
              <a:t>轮齿的弯曲疲劳裂纹多发生在____</a:t>
            </a:r>
            <a:r>
              <a:rPr lang="zh-CN" altLang="en-US" sz="2000" b="1" dirty="0" smtClean="0">
                <a:solidFill>
                  <a:srgbClr val="C00000"/>
                </a:solidFill>
                <a:latin typeface="Tahoma" panose="020B0604030504040204" pitchFamily="34" charset="0"/>
              </a:rPr>
              <a:t>：</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齿顶附近      B  齿根附近      C 轮齿节点附近</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8、</a:t>
            </a:r>
            <a:r>
              <a:rPr lang="en-US" altLang="zh-CN" sz="2000" b="1" dirty="0" smtClean="0">
                <a:solidFill>
                  <a:srgbClr val="C00000"/>
                </a:solidFill>
                <a:latin typeface="Tahoma" panose="020B0604030504040204" pitchFamily="34" charset="0"/>
              </a:rPr>
              <a:t>齿面点蚀多发生在____</a:t>
            </a:r>
            <a:r>
              <a:rPr lang="zh-CN" altLang="en-US" sz="2000" b="1" dirty="0" smtClean="0">
                <a:solidFill>
                  <a:srgbClr val="C00000"/>
                </a:solidFill>
                <a:latin typeface="Tahoma" panose="020B0604030504040204" pitchFamily="34" charset="0"/>
              </a:rPr>
              <a:t>：</a:t>
            </a:r>
            <a:endParaRPr lang="zh-CN" altLang="en-US" sz="2400" b="1" dirty="0">
              <a:solidFill>
                <a:schemeClr val="hlink"/>
              </a:solidFill>
              <a:latin typeface="Tahoma" panose="020B0604030504040204" pitchFamily="34" charset="0"/>
            </a:endParaRPr>
          </a:p>
          <a:p>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齿顶附近      B 轮齿节点附近      C 齿根附近</a:t>
            </a:r>
            <a:endParaRPr lang="zh-CN" altLang="en-US" sz="2400" b="1" dirty="0">
              <a:solidFill>
                <a:schemeClr val="tx2"/>
              </a:solidFill>
              <a:latin typeface="Tahoma" panose="020B0604030504040204" pitchFamily="34" charset="0"/>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9、</a:t>
            </a:r>
            <a:r>
              <a:rPr lang="en-US" altLang="zh-CN" sz="2000" b="1" dirty="0" smtClean="0">
                <a:solidFill>
                  <a:srgbClr val="C00000"/>
                </a:solidFill>
                <a:latin typeface="Tahoma" panose="020B0604030504040204" pitchFamily="34" charset="0"/>
              </a:rPr>
              <a:t> ____可使齿轮轮齿的齿顶变尖、齿根粗壮，提高其承载能力。</a:t>
            </a:r>
            <a:endParaRPr lang="zh-CN" altLang="en-US" sz="2400" b="1" dirty="0">
              <a:solidFill>
                <a:schemeClr val="hlink"/>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正变位     B 负变位</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10、</a:t>
            </a:r>
            <a:r>
              <a:rPr lang="en-US" altLang="zh-CN" sz="2000" b="1" dirty="0" smtClean="0">
                <a:solidFill>
                  <a:srgbClr val="C00000"/>
                </a:solidFill>
                <a:latin typeface="Tahoma" panose="020B0604030504040204" pitchFamily="34" charset="0"/>
              </a:rPr>
              <a:t>齿轮最常用____制造。</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合金钢     B 铸铁      C 青铜       D 碳钢</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62">
                                            <p:txEl>
                                              <p:pRg st="0" end="0"/>
                                            </p:txEl>
                                          </p:spTgt>
                                        </p:tgtEl>
                                        <p:attrNameLst>
                                          <p:attrName>style.visibility</p:attrName>
                                        </p:attrNameLst>
                                      </p:cBhvr>
                                      <p:to>
                                        <p:strVal val="visible"/>
                                      </p:to>
                                    </p:set>
                                    <p:animEffect transition="in" filter="wipe(left)">
                                      <p:cBhvr>
                                        <p:cTn id="7" dur="500"/>
                                        <p:tgtEl>
                                          <p:spTgt spid="14336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3362">
                                            <p:txEl>
                                              <p:pRg st="1" end="1"/>
                                            </p:txEl>
                                          </p:spTgt>
                                        </p:tgtEl>
                                        <p:attrNameLst>
                                          <p:attrName>style.visibility</p:attrName>
                                        </p:attrNameLst>
                                      </p:cBhvr>
                                      <p:to>
                                        <p:strVal val="visible"/>
                                      </p:to>
                                    </p:set>
                                    <p:animEffect transition="in" filter="wipe(left)">
                                      <p:cBhvr>
                                        <p:cTn id="11" dur="500"/>
                                        <p:tgtEl>
                                          <p:spTgt spid="143362">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3362">
                                            <p:txEl>
                                              <p:pRg st="2" end="2"/>
                                            </p:txEl>
                                          </p:spTgt>
                                        </p:tgtEl>
                                        <p:attrNameLst>
                                          <p:attrName>style.visibility</p:attrName>
                                        </p:attrNameLst>
                                      </p:cBhvr>
                                      <p:to>
                                        <p:strVal val="visible"/>
                                      </p:to>
                                    </p:set>
                                    <p:animEffect transition="in" filter="wipe(left)">
                                      <p:cBhvr>
                                        <p:cTn id="15" dur="500"/>
                                        <p:tgtEl>
                                          <p:spTgt spid="14336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43362">
                                            <p:txEl>
                                              <p:pRg st="4" end="4"/>
                                            </p:txEl>
                                          </p:spTgt>
                                        </p:tgtEl>
                                        <p:attrNameLst>
                                          <p:attrName>style.visibility</p:attrName>
                                        </p:attrNameLst>
                                      </p:cBhvr>
                                      <p:to>
                                        <p:strVal val="visible"/>
                                      </p:to>
                                    </p:set>
                                    <p:animEffect transition="in" filter="wipe(left)">
                                      <p:cBhvr>
                                        <p:cTn id="20" dur="500"/>
                                        <p:tgtEl>
                                          <p:spTgt spid="143362">
                                            <p:txEl>
                                              <p:pRg st="4" end="4"/>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43362">
                                            <p:txEl>
                                              <p:pRg st="5" end="5"/>
                                            </p:txEl>
                                          </p:spTgt>
                                        </p:tgtEl>
                                        <p:attrNameLst>
                                          <p:attrName>style.visibility</p:attrName>
                                        </p:attrNameLst>
                                      </p:cBhvr>
                                      <p:to>
                                        <p:strVal val="visible"/>
                                      </p:to>
                                    </p:set>
                                    <p:animEffect transition="in" filter="wipe(left)">
                                      <p:cBhvr>
                                        <p:cTn id="24" dur="500"/>
                                        <p:tgtEl>
                                          <p:spTgt spid="14336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3362">
                                            <p:txEl>
                                              <p:pRg st="6" end="6"/>
                                            </p:txEl>
                                          </p:spTgt>
                                        </p:tgtEl>
                                        <p:attrNameLst>
                                          <p:attrName>style.visibility</p:attrName>
                                        </p:attrNameLst>
                                      </p:cBhvr>
                                      <p:to>
                                        <p:strVal val="visible"/>
                                      </p:to>
                                    </p:set>
                                    <p:animEffect transition="in" filter="wipe(left)">
                                      <p:cBhvr>
                                        <p:cTn id="29" dur="500"/>
                                        <p:tgtEl>
                                          <p:spTgt spid="143362">
                                            <p:txEl>
                                              <p:pRg st="6" end="6"/>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43362">
                                            <p:txEl>
                                              <p:pRg st="7" end="7"/>
                                            </p:txEl>
                                          </p:spTgt>
                                        </p:tgtEl>
                                        <p:attrNameLst>
                                          <p:attrName>style.visibility</p:attrName>
                                        </p:attrNameLst>
                                      </p:cBhvr>
                                      <p:to>
                                        <p:strVal val="visible"/>
                                      </p:to>
                                    </p:set>
                                    <p:animEffect transition="in" filter="wipe(left)">
                                      <p:cBhvr>
                                        <p:cTn id="33" dur="500"/>
                                        <p:tgtEl>
                                          <p:spTgt spid="143362">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3362">
                                            <p:txEl>
                                              <p:pRg st="8" end="8"/>
                                            </p:txEl>
                                          </p:spTgt>
                                        </p:tgtEl>
                                        <p:attrNameLst>
                                          <p:attrName>style.visibility</p:attrName>
                                        </p:attrNameLst>
                                      </p:cBhvr>
                                      <p:to>
                                        <p:strVal val="visible"/>
                                      </p:to>
                                    </p:set>
                                    <p:animEffect transition="in" filter="wipe(left)">
                                      <p:cBhvr>
                                        <p:cTn id="38" dur="500"/>
                                        <p:tgtEl>
                                          <p:spTgt spid="143362">
                                            <p:txEl>
                                              <p:pRg st="8" end="8"/>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43362">
                                            <p:txEl>
                                              <p:pRg st="9" end="9"/>
                                            </p:txEl>
                                          </p:spTgt>
                                        </p:tgtEl>
                                        <p:attrNameLst>
                                          <p:attrName>style.visibility</p:attrName>
                                        </p:attrNameLst>
                                      </p:cBhvr>
                                      <p:to>
                                        <p:strVal val="visible"/>
                                      </p:to>
                                    </p:set>
                                    <p:animEffect transition="in" filter="wipe(left)">
                                      <p:cBhvr>
                                        <p:cTn id="42" dur="500"/>
                                        <p:tgtEl>
                                          <p:spTgt spid="143362">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3362">
                                            <p:txEl>
                                              <p:pRg st="10" end="10"/>
                                            </p:txEl>
                                          </p:spTgt>
                                        </p:tgtEl>
                                        <p:attrNameLst>
                                          <p:attrName>style.visibility</p:attrName>
                                        </p:attrNameLst>
                                      </p:cBhvr>
                                      <p:to>
                                        <p:strVal val="visible"/>
                                      </p:to>
                                    </p:set>
                                    <p:animEffect transition="in" filter="wipe(left)">
                                      <p:cBhvr>
                                        <p:cTn id="47" dur="500"/>
                                        <p:tgtEl>
                                          <p:spTgt spid="143362">
                                            <p:txEl>
                                              <p:pRg st="10" end="10"/>
                                            </p:txEl>
                                          </p:spTgt>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43362">
                                            <p:txEl>
                                              <p:pRg st="11" end="11"/>
                                            </p:txEl>
                                          </p:spTgt>
                                        </p:tgtEl>
                                        <p:attrNameLst>
                                          <p:attrName>style.visibility</p:attrName>
                                        </p:attrNameLst>
                                      </p:cBhvr>
                                      <p:to>
                                        <p:strVal val="visible"/>
                                      </p:to>
                                    </p:set>
                                    <p:animEffect transition="in" filter="wipe(left)">
                                      <p:cBhvr>
                                        <p:cTn id="51" dur="500"/>
                                        <p:tgtEl>
                                          <p:spTgt spid="143362">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43362">
                                            <p:txEl>
                                              <p:pRg st="12" end="12"/>
                                            </p:txEl>
                                          </p:spTgt>
                                        </p:tgtEl>
                                        <p:attrNameLst>
                                          <p:attrName>style.visibility</p:attrName>
                                        </p:attrNameLst>
                                      </p:cBhvr>
                                      <p:to>
                                        <p:strVal val="visible"/>
                                      </p:to>
                                    </p:set>
                                    <p:animEffect transition="in" filter="wipe(left)">
                                      <p:cBhvr>
                                        <p:cTn id="56" dur="500"/>
                                        <p:tgtEl>
                                          <p:spTgt spid="143362">
                                            <p:txEl>
                                              <p:pRg st="12" end="12"/>
                                            </p:txEl>
                                          </p:spTgt>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43362">
                                            <p:txEl>
                                              <p:pRg st="13" end="13"/>
                                            </p:txEl>
                                          </p:spTgt>
                                        </p:tgtEl>
                                        <p:attrNameLst>
                                          <p:attrName>style.visibility</p:attrName>
                                        </p:attrNameLst>
                                      </p:cBhvr>
                                      <p:to>
                                        <p:strVal val="visible"/>
                                      </p:to>
                                    </p:set>
                                    <p:animEffect transition="in" filter="wipe(left)">
                                      <p:cBhvr>
                                        <p:cTn id="60" dur="500"/>
                                        <p:tgtEl>
                                          <p:spTgt spid="14336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ChangeArrowheads="1"/>
          </p:cNvSpPr>
          <p:nvPr/>
        </p:nvSpPr>
        <p:spPr bwMode="auto">
          <a:xfrm>
            <a:off x="106998" y="835978"/>
            <a:ext cx="8967787" cy="3261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11、</a:t>
            </a:r>
            <a:r>
              <a:rPr lang="en-US" altLang="zh-CN" sz="2000" b="1" dirty="0" smtClean="0">
                <a:solidFill>
                  <a:srgbClr val="C00000"/>
                </a:solidFill>
                <a:latin typeface="Tahoma" panose="020B0604030504040204" pitchFamily="34" charset="0"/>
              </a:rPr>
              <a:t>齿轮传动中，小齿轮齿面硬度与大齿轮齿面硬度差，应取____较为合理。</a:t>
            </a:r>
            <a:endParaRPr lang="zh-CN" altLang="en-US" sz="2400" b="1" dirty="0">
              <a:solidFill>
                <a:schemeClr val="hlink"/>
              </a:solidFill>
              <a:latin typeface="Tahoma" panose="020B0604030504040204" pitchFamily="34" charset="0"/>
            </a:endParaRPr>
          </a:p>
          <a:p>
            <a:pPr algn="l">
              <a:buClrTx/>
              <a:buSzTx/>
              <a:buNone/>
            </a:pPr>
            <a:r>
              <a:rPr lang="en-US" altLang="zh-CN" sz="2400"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30～50HB</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W</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B 0     C 小于30HB</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W    D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大于</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50HBW</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endParaRPr lang="en-US" altLang="zh-CN" b="1" dirty="0" smtClean="0">
              <a:solidFill>
                <a:srgbClr val="C00000"/>
              </a:solidFill>
              <a:latin typeface="Tahoma" panose="020B0604030504040204" pitchFamily="34" charset="0"/>
              <a:sym typeface="Webdings" panose="05030102010509060703" pitchFamily="18" charset="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12、</a:t>
            </a:r>
            <a:r>
              <a:rPr lang="en-US" altLang="zh-CN" sz="2000" b="1" dirty="0" smtClean="0">
                <a:solidFill>
                  <a:srgbClr val="C00000"/>
                </a:solidFill>
                <a:latin typeface="Tahoma" panose="020B0604030504040204" pitchFamily="34" charset="0"/>
              </a:rPr>
              <a:t>闭式软齿面齿轮传动最可能出现的失效形式是____。</a:t>
            </a:r>
            <a:endParaRPr lang="en-US" altLang="zh-CN" sz="2000" b="1" dirty="0" smtClean="0">
              <a:solidFill>
                <a:srgbClr val="C00000"/>
              </a:solidFill>
              <a:latin typeface="Tahoma" panose="020B0604030504040204" pitchFamily="34" charset="0"/>
            </a:endParaRPr>
          </a:p>
          <a:p>
            <a:pPr algn="l" eaLnBrk="1" latinLnBrk="0" hangingPunct="1">
              <a:spcBef>
                <a:spcPts val="600"/>
              </a:spcBef>
              <a:buClrTx/>
              <a:buSzTx/>
              <a:buNone/>
            </a:pP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轮齿折断</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B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齿面疲劳点蚀</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C 齿面磨损     D 齿面胶合</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eaLnBrk="1" latinLnBrk="0" hangingPunct="1">
              <a:spcBef>
                <a:spcPts val="600"/>
              </a:spcBef>
              <a:buClrTx/>
              <a:buSzTx/>
              <a:buNone/>
            </a:pP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13、</a:t>
            </a:r>
            <a:r>
              <a:rPr lang="en-US" altLang="zh-CN" sz="2000" b="1" dirty="0" smtClean="0">
                <a:solidFill>
                  <a:srgbClr val="C00000"/>
                </a:solidFill>
                <a:latin typeface="Tahoma" panose="020B0604030504040204" pitchFamily="34" charset="0"/>
              </a:rPr>
              <a:t>齿面抗点蚀的能力主要和齿面的____有关。</a:t>
            </a:r>
            <a:endParaRPr lang="en-US" altLang="zh-CN" sz="2000" b="1" dirty="0" smtClean="0">
              <a:solidFill>
                <a:srgbClr val="C00000"/>
              </a:solidFill>
              <a:latin typeface="Tahoma" panose="020B0604030504040204" pitchFamily="34" charset="0"/>
            </a:endParaRPr>
          </a:p>
          <a:p>
            <a:pPr algn="l" eaLnBrk="1" latinLnBrk="0" hangingPunct="1">
              <a:spcBef>
                <a:spcPts val="600"/>
              </a:spcBef>
              <a:buClrTx/>
              <a:buSzTx/>
              <a:buNone/>
            </a:pP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表面粗糙度</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B 精度     C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硬度 </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179070" y="4580890"/>
            <a:ext cx="8375650" cy="1076325"/>
          </a:xfrm>
          <a:prstGeom prst="rect">
            <a:avLst/>
          </a:prstGeom>
          <a:noFill/>
        </p:spPr>
        <p:txBody>
          <a:bodyPr wrap="square" rtlCol="0" anchor="t">
            <a:spAutoFit/>
          </a:bodyPr>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14、</a:t>
            </a:r>
            <a:r>
              <a:rPr lang="en-US" altLang="zh-CN" sz="2000" b="1" dirty="0" smtClean="0">
                <a:solidFill>
                  <a:srgbClr val="C00000"/>
                </a:solidFill>
                <a:latin typeface="Tahoma" panose="020B0604030504040204" pitchFamily="34" charset="0"/>
                <a:sym typeface="+mn-ea"/>
              </a:rPr>
              <a:t>在计算齿轮的弯曲强度时，把轮齿看作一个悬臂梁，并假设全部载荷都作用在轮齿的____处。</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sym typeface="+mn-ea"/>
              </a:rPr>
              <a:t>  </a:t>
            </a:r>
            <a:r>
              <a:rPr lang="en-US" altLang="zh-CN" sz="2400" b="1" dirty="0">
                <a:solidFill>
                  <a:schemeClr val="tx2"/>
                </a:solidFill>
                <a:latin typeface="Tahoma" panose="020B0604030504040204" pitchFamily="34" charset="0"/>
                <a:sym typeface="+mn-ea"/>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A</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分度圆      B 齿根         C 节圆        D齿顶</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4386">
                                            <p:txEl>
                                              <p:pRg st="0" end="0"/>
                                            </p:txEl>
                                          </p:spTgt>
                                        </p:tgtEl>
                                        <p:attrNameLst>
                                          <p:attrName>style.visibility</p:attrName>
                                        </p:attrNameLst>
                                      </p:cBhvr>
                                      <p:to>
                                        <p:strVal val="visible"/>
                                      </p:to>
                                    </p:set>
                                    <p:animEffect transition="in" filter="wipe(left)">
                                      <p:cBhvr>
                                        <p:cTn id="7" dur="500"/>
                                        <p:tgtEl>
                                          <p:spTgt spid="144386">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4386">
                                            <p:txEl>
                                              <p:pRg st="1" end="1"/>
                                            </p:txEl>
                                          </p:spTgt>
                                        </p:tgtEl>
                                        <p:attrNameLst>
                                          <p:attrName>style.visibility</p:attrName>
                                        </p:attrNameLst>
                                      </p:cBhvr>
                                      <p:to>
                                        <p:strVal val="visible"/>
                                      </p:to>
                                    </p:set>
                                    <p:animEffect transition="in" filter="wipe(left)">
                                      <p:cBhvr>
                                        <p:cTn id="11" dur="500"/>
                                        <p:tgtEl>
                                          <p:spTgt spid="14438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4386">
                                            <p:txEl>
                                              <p:pRg st="3" end="3"/>
                                            </p:txEl>
                                          </p:spTgt>
                                        </p:tgtEl>
                                        <p:attrNameLst>
                                          <p:attrName>style.visibility</p:attrName>
                                        </p:attrNameLst>
                                      </p:cBhvr>
                                      <p:to>
                                        <p:strVal val="visible"/>
                                      </p:to>
                                    </p:set>
                                    <p:animEffect transition="in" filter="wipe(left)">
                                      <p:cBhvr>
                                        <p:cTn id="16" dur="500"/>
                                        <p:tgtEl>
                                          <p:spTgt spid="144386">
                                            <p:txEl>
                                              <p:pRg st="3" end="3"/>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44386">
                                            <p:txEl>
                                              <p:pRg st="4" end="4"/>
                                            </p:txEl>
                                          </p:spTgt>
                                        </p:tgtEl>
                                        <p:attrNameLst>
                                          <p:attrName>style.visibility</p:attrName>
                                        </p:attrNameLst>
                                      </p:cBhvr>
                                      <p:to>
                                        <p:strVal val="visible"/>
                                      </p:to>
                                    </p:set>
                                    <p:animEffect transition="in" filter="wipe(left)">
                                      <p:cBhvr>
                                        <p:cTn id="20" dur="500"/>
                                        <p:tgtEl>
                                          <p:spTgt spid="144386">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44386">
                                            <p:txEl>
                                              <p:pRg st="6" end="6"/>
                                            </p:txEl>
                                          </p:spTgt>
                                        </p:tgtEl>
                                        <p:attrNameLst>
                                          <p:attrName>style.visibility</p:attrName>
                                        </p:attrNameLst>
                                      </p:cBhvr>
                                      <p:to>
                                        <p:strVal val="visible"/>
                                      </p:to>
                                    </p:set>
                                    <p:animEffect transition="in" filter="wipe(left)">
                                      <p:cBhvr>
                                        <p:cTn id="25" dur="500"/>
                                        <p:tgtEl>
                                          <p:spTgt spid="144386">
                                            <p:txEl>
                                              <p:pRg st="6" end="6"/>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44386">
                                            <p:txEl>
                                              <p:pRg st="7" end="7"/>
                                            </p:txEl>
                                          </p:spTgt>
                                        </p:tgtEl>
                                        <p:attrNameLst>
                                          <p:attrName>style.visibility</p:attrName>
                                        </p:attrNameLst>
                                      </p:cBhvr>
                                      <p:to>
                                        <p:strVal val="visible"/>
                                      </p:to>
                                    </p:set>
                                    <p:animEffect transition="in" filter="wipe(left)">
                                      <p:cBhvr>
                                        <p:cTn id="29" dur="500"/>
                                        <p:tgtEl>
                                          <p:spTgt spid="14438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0" y="457200"/>
            <a:ext cx="9144000" cy="3353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15、</a:t>
            </a:r>
            <a:r>
              <a:rPr lang="en-US" altLang="zh-CN" sz="2000" b="1" dirty="0" smtClean="0">
                <a:solidFill>
                  <a:srgbClr val="C00000"/>
                </a:solidFill>
                <a:latin typeface="Tahoma" panose="020B0604030504040204" pitchFamily="34" charset="0"/>
              </a:rPr>
              <a:t>用一对齿轮来传递两转向相同的平行轴之间的运动时，宜采用____传动。</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外啮合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B 内啮合       C   齿轮齿条</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16、</a:t>
            </a:r>
            <a:r>
              <a:rPr lang="en-US" altLang="zh-CN" sz="2000" b="1" dirty="0" smtClean="0">
                <a:solidFill>
                  <a:srgbClr val="C00000"/>
                </a:solidFill>
                <a:latin typeface="Tahoma" panose="020B0604030504040204" pitchFamily="34" charset="0"/>
              </a:rPr>
              <a:t>塑性变形一般在____时容易发生。</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开式齿轮传动润滑不良           B  硬齿面齿轮高速重载工作</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C 软齿面齿轮低速重载工作         D  淬火钢过载工作</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17、</a:t>
            </a:r>
            <a:r>
              <a:rPr lang="en-US" altLang="zh-CN" sz="2000" b="1" dirty="0" smtClean="0">
                <a:solidFill>
                  <a:srgbClr val="C00000"/>
                </a:solidFill>
                <a:latin typeface="Tahoma" panose="020B0604030504040204" pitchFamily="34" charset="0"/>
              </a:rPr>
              <a:t>为了提高齿轮的齿面接触强度应____。</a:t>
            </a:r>
            <a:endParaRPr lang="zh-CN" altLang="en-US" sz="2400" b="1" dirty="0">
              <a:solidFill>
                <a:schemeClr val="hlink"/>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增大模数</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B</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增大分度圆直径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C 增加齿数     D 减小齿宽</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文本框 2"/>
          <p:cNvSpPr txBox="1"/>
          <p:nvPr/>
        </p:nvSpPr>
        <p:spPr>
          <a:xfrm>
            <a:off x="107315" y="4364990"/>
            <a:ext cx="8806815" cy="953135"/>
          </a:xfrm>
          <a:prstGeom prst="rect">
            <a:avLst/>
          </a:prstGeom>
          <a:noFill/>
        </p:spPr>
        <p:txBody>
          <a:bodyPr wrap="square" rtlCol="0" anchor="t">
            <a:spAutoFit/>
          </a:bodyPr>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18、</a:t>
            </a:r>
            <a:r>
              <a:rPr lang="en-US" altLang="zh-CN" sz="2000" b="1" dirty="0" smtClean="0">
                <a:solidFill>
                  <a:srgbClr val="C00000"/>
                </a:solidFill>
                <a:latin typeface="Tahoma" panose="020B0604030504040204" pitchFamily="34" charset="0"/>
                <a:sym typeface="+mn-ea"/>
              </a:rPr>
              <a:t>____对齿面接触应力的大小无直接影响。</a:t>
            </a:r>
            <a:endParaRPr lang="en-US" altLang="zh-CN" sz="2000" b="1" dirty="0" smtClean="0">
              <a:solidFill>
                <a:srgbClr val="C00000"/>
              </a:solidFill>
              <a:latin typeface="Tahoma" panose="020B0604030504040204" pitchFamily="34" charset="0"/>
            </a:endParaRPr>
          </a:p>
          <a:p>
            <a:pPr algn="l">
              <a:spcBef>
                <a:spcPct val="50000"/>
              </a:spcBef>
              <a:buClrTx/>
              <a:buSzTx/>
              <a:buNone/>
            </a:pPr>
            <a:r>
              <a:rPr lang="zh-CN" altLang="en-US" sz="2400" b="1" dirty="0">
                <a:solidFill>
                  <a:schemeClr val="tx2"/>
                </a:solidFill>
                <a:latin typeface="Tahoma" panose="020B0604030504040204" pitchFamily="34" charset="0"/>
                <a:sym typeface="+mn-ea"/>
              </a:rPr>
              <a:t> </a:t>
            </a:r>
            <a:r>
              <a:rPr lang="en-US" altLang="zh-CN" sz="2400" b="1" dirty="0">
                <a:solidFill>
                  <a:schemeClr val="tx2"/>
                </a:solidFill>
                <a:latin typeface="Tahoma" panose="020B0604030504040204" pitchFamily="34" charset="0"/>
                <a:sym typeface="+mn-ea"/>
              </a:rPr>
              <a:t>  </a:t>
            </a:r>
            <a:r>
              <a:rPr lang="zh-CN" altLang="en-US" sz="2400" b="1" dirty="0">
                <a:solidFill>
                  <a:schemeClr val="tx2"/>
                </a:solidFill>
                <a:latin typeface="Tahoma" panose="020B0604030504040204" pitchFamily="34" charset="0"/>
                <a:sym typeface="+mn-ea"/>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rPr>
              <a:t>A 模数    B 中心距   C 齿宽    D 传动比</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5410">
                                            <p:txEl>
                                              <p:pRg st="0" end="0"/>
                                            </p:txEl>
                                          </p:spTgt>
                                        </p:tgtEl>
                                        <p:attrNameLst>
                                          <p:attrName>style.visibility</p:attrName>
                                        </p:attrNameLst>
                                      </p:cBhvr>
                                      <p:to>
                                        <p:strVal val="visible"/>
                                      </p:to>
                                    </p:set>
                                    <p:animEffect transition="in" filter="wipe(left)">
                                      <p:cBhvr>
                                        <p:cTn id="7" dur="500"/>
                                        <p:tgtEl>
                                          <p:spTgt spid="145410">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5410">
                                            <p:txEl>
                                              <p:pRg st="1" end="1"/>
                                            </p:txEl>
                                          </p:spTgt>
                                        </p:tgtEl>
                                        <p:attrNameLst>
                                          <p:attrName>style.visibility</p:attrName>
                                        </p:attrNameLst>
                                      </p:cBhvr>
                                      <p:to>
                                        <p:strVal val="visible"/>
                                      </p:to>
                                    </p:set>
                                    <p:animEffect transition="in" filter="wipe(left)">
                                      <p:cBhvr>
                                        <p:cTn id="11" dur="500"/>
                                        <p:tgtEl>
                                          <p:spTgt spid="145410">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5410">
                                            <p:txEl>
                                              <p:pRg st="3" end="3"/>
                                            </p:txEl>
                                          </p:spTgt>
                                        </p:tgtEl>
                                        <p:attrNameLst>
                                          <p:attrName>style.visibility</p:attrName>
                                        </p:attrNameLst>
                                      </p:cBhvr>
                                      <p:to>
                                        <p:strVal val="visible"/>
                                      </p:to>
                                    </p:set>
                                    <p:animEffect transition="in" filter="wipe(left)">
                                      <p:cBhvr>
                                        <p:cTn id="16" dur="500"/>
                                        <p:tgtEl>
                                          <p:spTgt spid="145410">
                                            <p:txEl>
                                              <p:pRg st="3" end="3"/>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45410">
                                            <p:txEl>
                                              <p:pRg st="4" end="4"/>
                                            </p:txEl>
                                          </p:spTgt>
                                        </p:tgtEl>
                                        <p:attrNameLst>
                                          <p:attrName>style.visibility</p:attrName>
                                        </p:attrNameLst>
                                      </p:cBhvr>
                                      <p:to>
                                        <p:strVal val="visible"/>
                                      </p:to>
                                    </p:set>
                                    <p:animEffect transition="in" filter="wipe(left)">
                                      <p:cBhvr>
                                        <p:cTn id="20" dur="500"/>
                                        <p:tgtEl>
                                          <p:spTgt spid="145410">
                                            <p:txEl>
                                              <p:pRg st="4" end="4"/>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45410">
                                            <p:txEl>
                                              <p:pRg st="5" end="5"/>
                                            </p:txEl>
                                          </p:spTgt>
                                        </p:tgtEl>
                                        <p:attrNameLst>
                                          <p:attrName>style.visibility</p:attrName>
                                        </p:attrNameLst>
                                      </p:cBhvr>
                                      <p:to>
                                        <p:strVal val="visible"/>
                                      </p:to>
                                    </p:set>
                                    <p:animEffect transition="in" filter="wipe(left)">
                                      <p:cBhvr>
                                        <p:cTn id="24" dur="500"/>
                                        <p:tgtEl>
                                          <p:spTgt spid="145410">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5410">
                                            <p:txEl>
                                              <p:pRg st="7" end="7"/>
                                            </p:txEl>
                                          </p:spTgt>
                                        </p:tgtEl>
                                        <p:attrNameLst>
                                          <p:attrName>style.visibility</p:attrName>
                                        </p:attrNameLst>
                                      </p:cBhvr>
                                      <p:to>
                                        <p:strVal val="visible"/>
                                      </p:to>
                                    </p:set>
                                    <p:animEffect transition="in" filter="wipe(left)">
                                      <p:cBhvr>
                                        <p:cTn id="29" dur="500"/>
                                        <p:tgtEl>
                                          <p:spTgt spid="145410">
                                            <p:txEl>
                                              <p:pRg st="7" end="7"/>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45410">
                                            <p:txEl>
                                              <p:pRg st="8" end="8"/>
                                            </p:txEl>
                                          </p:spTgt>
                                        </p:tgtEl>
                                        <p:attrNameLst>
                                          <p:attrName>style.visibility</p:attrName>
                                        </p:attrNameLst>
                                      </p:cBhvr>
                                      <p:to>
                                        <p:strVal val="visible"/>
                                      </p:to>
                                    </p:set>
                                    <p:animEffect transition="in" filter="wipe(left)">
                                      <p:cBhvr>
                                        <p:cTn id="33" dur="500"/>
                                        <p:tgtEl>
                                          <p:spTgt spid="1454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ChangeArrowheads="1"/>
          </p:cNvSpPr>
          <p:nvPr/>
        </p:nvSpPr>
        <p:spPr bwMode="auto">
          <a:xfrm>
            <a:off x="0" y="836295"/>
            <a:ext cx="9144000" cy="221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19、</a:t>
            </a:r>
            <a:r>
              <a:rPr lang="en-US" altLang="zh-CN" sz="2000" b="1" dirty="0" smtClean="0">
                <a:solidFill>
                  <a:srgbClr val="C00000"/>
                </a:solidFill>
                <a:latin typeface="Tahoma" panose="020B0604030504040204" pitchFamily="34" charset="0"/>
              </a:rPr>
              <a:t>在齿轮传动中，若分度圆直径不变而把模数减少，则会____。</a:t>
            </a:r>
            <a:endParaRPr lang="zh-CN" altLang="en-US" sz="2400" b="1" dirty="0">
              <a:solidFill>
                <a:schemeClr val="hlink"/>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增加传动的平稳性        B 提高齿根的弯曲强度</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C 降低齿面的接触强度     D 减少齿轮对轴的压力</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20、</a:t>
            </a:r>
            <a:r>
              <a:rPr lang="en-US" altLang="zh-CN" sz="2000" b="1" dirty="0" smtClean="0">
                <a:solidFill>
                  <a:srgbClr val="C00000"/>
                </a:solidFill>
                <a:latin typeface="Tahoma" panose="020B0604030504040204" pitchFamily="34" charset="0"/>
              </a:rPr>
              <a:t>对于传递动力的齿轮传动，为防止意外断齿，模数通常不小于____mm。</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0.5～1      B 1.5～2       C  2.5～3      D  3.5～4</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p:txBody>
      </p:sp>
      <p:sp>
        <p:nvSpPr>
          <p:cNvPr id="147458" name="Rectangle 2"/>
          <p:cNvSpPr>
            <a:spLocks noChangeArrowheads="1"/>
          </p:cNvSpPr>
          <p:nvPr>
            <p:custDataLst>
              <p:tags r:id="rId1"/>
            </p:custDataLst>
          </p:nvPr>
        </p:nvSpPr>
        <p:spPr bwMode="auto">
          <a:xfrm>
            <a:off x="35560" y="3356610"/>
            <a:ext cx="9204960"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p>
            <a:r>
              <a:rPr lang="en-US" altLang="zh-CN" sz="2000" b="1" dirty="0" smtClean="0">
                <a:solidFill>
                  <a:srgbClr val="C00000"/>
                </a:solidFill>
                <a:latin typeface="Tahoma" panose="020B0604030504040204" pitchFamily="34" charset="0"/>
                <a:sym typeface="Webdings" panose="05030102010509060703" pitchFamily="18" charset="2"/>
              </a:rPr>
              <a:t>21、</a:t>
            </a:r>
            <a:r>
              <a:rPr lang="en-US" altLang="zh-CN" sz="2000" b="1" dirty="0" smtClean="0">
                <a:solidFill>
                  <a:srgbClr val="C00000"/>
                </a:solidFill>
                <a:latin typeface="Tahoma" panose="020B0604030504040204" pitchFamily="34" charset="0"/>
              </a:rPr>
              <a:t>采用浸油润滑时，齿轮浸入油中的深度至少为____mm。</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10          B  12            C 40</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22、</a:t>
            </a:r>
            <a:r>
              <a:rPr lang="en-US" altLang="zh-CN" sz="2000" b="1" dirty="0" smtClean="0">
                <a:solidFill>
                  <a:srgbClr val="C00000"/>
                </a:solidFill>
                <a:latin typeface="Tahoma" panose="020B0604030504040204" pitchFamily="34" charset="0"/>
              </a:rPr>
              <a:t>当齿轮的齿顶圆直径da&gt;500mm时，可采用____式结构。</a:t>
            </a:r>
            <a:endParaRPr lang="zh-CN" altLang="en-US" sz="2400" b="1" dirty="0">
              <a:solidFill>
                <a:schemeClr val="hlink"/>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实体       B 腹板         C 轮辐</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spcBef>
                <a:spcPct val="50000"/>
              </a:spcBef>
            </a:pPr>
            <a:r>
              <a:rPr lang="en-US" altLang="zh-CN" sz="2000" b="1" dirty="0" smtClean="0">
                <a:solidFill>
                  <a:srgbClr val="C00000"/>
                </a:solidFill>
                <a:latin typeface="Tahoma" panose="020B0604030504040204" pitchFamily="34" charset="0"/>
                <a:sym typeface="Webdings" panose="05030102010509060703" pitchFamily="18" charset="2"/>
              </a:rPr>
              <a:t>23、</a:t>
            </a:r>
            <a:r>
              <a:rPr lang="en-US" altLang="zh-CN" sz="2000" b="1" dirty="0" smtClean="0">
                <a:solidFill>
                  <a:srgbClr val="C00000"/>
                </a:solidFill>
                <a:latin typeface="Tahoma" panose="020B0604030504040204" pitchFamily="34" charset="0"/>
              </a:rPr>
              <a:t>选择齿轮毛坯的型式时，主要考虑____。</a:t>
            </a:r>
            <a:endParaRPr lang="en-US" altLang="zh-CN" sz="2000" b="1" dirty="0" smtClean="0">
              <a:solidFill>
                <a:srgbClr val="C00000"/>
              </a:solidFill>
              <a:latin typeface="Tahoma" panose="020B0604030504040204" pitchFamily="34" charset="0"/>
            </a:endParaRPr>
          </a:p>
          <a:p>
            <a:pPr algn="l">
              <a:buClrTx/>
              <a:buSzTx/>
              <a:buNone/>
            </a:pPr>
            <a:r>
              <a:rPr lang="zh-CN" altLang="en-US" sz="2400" b="1" dirty="0">
                <a:solidFill>
                  <a:schemeClr val="tx2"/>
                </a:solidFill>
                <a:latin typeface="Tahoma" panose="020B0604030504040204" pitchFamily="34" charset="0"/>
              </a:rPr>
              <a:t>    </a:t>
            </a:r>
            <a:r>
              <a:rPr lang="en-US" altLang="zh-CN" sz="2400" b="1" dirty="0">
                <a:solidFill>
                  <a:schemeClr val="tx2"/>
                </a:solidFill>
                <a:latin typeface="Tahoma" panose="020B0604030504040204" pitchFamily="34" charset="0"/>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A 齿宽                   B  齿轮直径</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 C 齿轮精度             </a:t>
            </a:r>
            <a:r>
              <a:rPr lang="en-US" altLang="zh-CN" sz="2000" dirty="0">
                <a:solidFill>
                  <a:schemeClr val="tx2"/>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rPr>
              <a:t>D 齿轮在轴上的布置位置</a:t>
            </a: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a:p>
            <a:pPr algn="l">
              <a:buClrTx/>
              <a:buSzTx/>
              <a:buNone/>
            </a:pPr>
            <a:endParaRPr lang="zh-CN" altLang="en-US" sz="2000" dirty="0">
              <a:solidFill>
                <a:schemeClr val="tx2"/>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6434">
                                            <p:txEl>
                                              <p:pRg st="0" end="0"/>
                                            </p:txEl>
                                          </p:spTgt>
                                        </p:tgtEl>
                                        <p:attrNameLst>
                                          <p:attrName>style.visibility</p:attrName>
                                        </p:attrNameLst>
                                      </p:cBhvr>
                                      <p:to>
                                        <p:strVal val="visible"/>
                                      </p:to>
                                    </p:set>
                                    <p:animEffect transition="in" filter="wipe(left)">
                                      <p:cBhvr>
                                        <p:cTn id="7" dur="500"/>
                                        <p:tgtEl>
                                          <p:spTgt spid="14643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6434">
                                            <p:txEl>
                                              <p:pRg st="1" end="1"/>
                                            </p:txEl>
                                          </p:spTgt>
                                        </p:tgtEl>
                                        <p:attrNameLst>
                                          <p:attrName>style.visibility</p:attrName>
                                        </p:attrNameLst>
                                      </p:cBhvr>
                                      <p:to>
                                        <p:strVal val="visible"/>
                                      </p:to>
                                    </p:set>
                                    <p:animEffect transition="in" filter="wipe(left)">
                                      <p:cBhvr>
                                        <p:cTn id="11" dur="500"/>
                                        <p:tgtEl>
                                          <p:spTgt spid="146434">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46434">
                                            <p:txEl>
                                              <p:pRg st="2" end="2"/>
                                            </p:txEl>
                                          </p:spTgt>
                                        </p:tgtEl>
                                        <p:attrNameLst>
                                          <p:attrName>style.visibility</p:attrName>
                                        </p:attrNameLst>
                                      </p:cBhvr>
                                      <p:to>
                                        <p:strVal val="visible"/>
                                      </p:to>
                                    </p:set>
                                    <p:animEffect transition="in" filter="wipe(left)">
                                      <p:cBhvr>
                                        <p:cTn id="15" dur="500"/>
                                        <p:tgtEl>
                                          <p:spTgt spid="14643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46434">
                                            <p:txEl>
                                              <p:pRg st="4" end="4"/>
                                            </p:txEl>
                                          </p:spTgt>
                                        </p:tgtEl>
                                        <p:attrNameLst>
                                          <p:attrName>style.visibility</p:attrName>
                                        </p:attrNameLst>
                                      </p:cBhvr>
                                      <p:to>
                                        <p:strVal val="visible"/>
                                      </p:to>
                                    </p:set>
                                    <p:animEffect transition="in" filter="wipe(left)">
                                      <p:cBhvr>
                                        <p:cTn id="20" dur="500"/>
                                        <p:tgtEl>
                                          <p:spTgt spid="146434">
                                            <p:txEl>
                                              <p:pRg st="4" end="4"/>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46434">
                                            <p:txEl>
                                              <p:pRg st="5" end="5"/>
                                            </p:txEl>
                                          </p:spTgt>
                                        </p:tgtEl>
                                        <p:attrNameLst>
                                          <p:attrName>style.visibility</p:attrName>
                                        </p:attrNameLst>
                                      </p:cBhvr>
                                      <p:to>
                                        <p:strVal val="visible"/>
                                      </p:to>
                                    </p:set>
                                    <p:animEffect transition="in" filter="wipe(left)">
                                      <p:cBhvr>
                                        <p:cTn id="24" dur="500"/>
                                        <p:tgtEl>
                                          <p:spTgt spid="14643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7458">
                                            <p:txEl>
                                              <p:pRg st="0" end="0"/>
                                            </p:txEl>
                                          </p:spTgt>
                                        </p:tgtEl>
                                        <p:attrNameLst>
                                          <p:attrName>style.visibility</p:attrName>
                                        </p:attrNameLst>
                                      </p:cBhvr>
                                      <p:to>
                                        <p:strVal val="visible"/>
                                      </p:to>
                                    </p:set>
                                    <p:animEffect transition="in" filter="wipe(left)">
                                      <p:cBhvr>
                                        <p:cTn id="29" dur="500"/>
                                        <p:tgtEl>
                                          <p:spTgt spid="147458">
                                            <p:txEl>
                                              <p:pRg st="0" end="0"/>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47458">
                                            <p:txEl>
                                              <p:pRg st="1" end="1"/>
                                            </p:txEl>
                                          </p:spTgt>
                                        </p:tgtEl>
                                        <p:attrNameLst>
                                          <p:attrName>style.visibility</p:attrName>
                                        </p:attrNameLst>
                                      </p:cBhvr>
                                      <p:to>
                                        <p:strVal val="visible"/>
                                      </p:to>
                                    </p:set>
                                    <p:animEffect transition="in" filter="wipe(left)">
                                      <p:cBhvr>
                                        <p:cTn id="33" dur="500"/>
                                        <p:tgtEl>
                                          <p:spTgt spid="147458">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7458">
                                            <p:txEl>
                                              <p:pRg st="2" end="2"/>
                                            </p:txEl>
                                          </p:spTgt>
                                        </p:tgtEl>
                                        <p:attrNameLst>
                                          <p:attrName>style.visibility</p:attrName>
                                        </p:attrNameLst>
                                      </p:cBhvr>
                                      <p:to>
                                        <p:strVal val="visible"/>
                                      </p:to>
                                    </p:set>
                                    <p:animEffect transition="in" filter="wipe(left)">
                                      <p:cBhvr>
                                        <p:cTn id="38" dur="500"/>
                                        <p:tgtEl>
                                          <p:spTgt spid="147458">
                                            <p:txEl>
                                              <p:pRg st="2" end="2"/>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47458">
                                            <p:txEl>
                                              <p:pRg st="3" end="3"/>
                                            </p:txEl>
                                          </p:spTgt>
                                        </p:tgtEl>
                                        <p:attrNameLst>
                                          <p:attrName>style.visibility</p:attrName>
                                        </p:attrNameLst>
                                      </p:cBhvr>
                                      <p:to>
                                        <p:strVal val="visible"/>
                                      </p:to>
                                    </p:set>
                                    <p:animEffect transition="in" filter="wipe(left)">
                                      <p:cBhvr>
                                        <p:cTn id="42" dur="500"/>
                                        <p:tgtEl>
                                          <p:spTgt spid="14745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7458">
                                            <p:txEl>
                                              <p:pRg st="4" end="4"/>
                                            </p:txEl>
                                          </p:spTgt>
                                        </p:tgtEl>
                                        <p:attrNameLst>
                                          <p:attrName>style.visibility</p:attrName>
                                        </p:attrNameLst>
                                      </p:cBhvr>
                                      <p:to>
                                        <p:strVal val="visible"/>
                                      </p:to>
                                    </p:set>
                                    <p:animEffect transition="in" filter="wipe(left)">
                                      <p:cBhvr>
                                        <p:cTn id="47" dur="500"/>
                                        <p:tgtEl>
                                          <p:spTgt spid="147458">
                                            <p:txEl>
                                              <p:pRg st="4" end="4"/>
                                            </p:txEl>
                                          </p:spTgt>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47458">
                                            <p:txEl>
                                              <p:pRg st="5" end="5"/>
                                            </p:txEl>
                                          </p:spTgt>
                                        </p:tgtEl>
                                        <p:attrNameLst>
                                          <p:attrName>style.visibility</p:attrName>
                                        </p:attrNameLst>
                                      </p:cBhvr>
                                      <p:to>
                                        <p:strVal val="visible"/>
                                      </p:to>
                                    </p:set>
                                    <p:animEffect transition="in" filter="wipe(left)">
                                      <p:cBhvr>
                                        <p:cTn id="51" dur="500"/>
                                        <p:tgtEl>
                                          <p:spTgt spid="147458">
                                            <p:txEl>
                                              <p:pRg st="5" end="5"/>
                                            </p:txEl>
                                          </p:spTgt>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147458">
                                            <p:txEl>
                                              <p:pRg st="6" end="6"/>
                                            </p:txEl>
                                          </p:spTgt>
                                        </p:tgtEl>
                                        <p:attrNameLst>
                                          <p:attrName>style.visibility</p:attrName>
                                        </p:attrNameLst>
                                      </p:cBhvr>
                                      <p:to>
                                        <p:strVal val="visible"/>
                                      </p:to>
                                    </p:set>
                                    <p:animEffect transition="in" filter="wipe(left)">
                                      <p:cBhvr>
                                        <p:cTn id="55" dur="500"/>
                                        <p:tgtEl>
                                          <p:spTgt spid="14745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0339" name="Rectangle 3"/>
          <p:cNvSpPr>
            <a:spLocks noGrp="1" noChangeArrowheads="1"/>
          </p:cNvSpPr>
          <p:nvPr>
            <p:ph type="body" idx="4294967295"/>
          </p:nvPr>
        </p:nvSpPr>
        <p:spPr>
          <a:xfrm>
            <a:off x="685800" y="457200"/>
            <a:ext cx="7902575" cy="5791200"/>
          </a:xfrm>
          <a:prstGeom prst="rect">
            <a:avLst/>
          </a:prstGeom>
        </p:spPr>
        <p:txBody>
          <a:bodyPr/>
          <a:lstStyle/>
          <a:p>
            <a:pPr marL="0" algn="just" eaLnBrk="1" hangingPunct="1">
              <a:lnSpc>
                <a:spcPct val="160000"/>
              </a:lnSpc>
              <a:buClrTx/>
              <a:buSzTx/>
              <a:buFontTx/>
              <a:buNone/>
            </a:pPr>
            <a:r>
              <a:rPr lang="en-US" sz="2000" dirty="0" smtClean="0">
                <a:solidFill>
                  <a:srgbClr val="C00000"/>
                </a:solidFill>
              </a:rPr>
              <a:t>24</a:t>
            </a:r>
            <a:r>
              <a:rPr lang="zh-CN" altLang="en-US" sz="2000" dirty="0" smtClean="0">
                <a:solidFill>
                  <a:srgbClr val="C00000"/>
                </a:solidFill>
              </a:rPr>
              <a:t>、</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在设计圆柱齿轮传动时，通常使小齿轮的宽度比大齿轮宽一些，其目的是 </a:t>
            </a:r>
            <a:r>
              <a:rPr lang="en-US" sz="2000" u="sng"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a:t>
            </a:r>
            <a:endPar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lnSpc>
                <a:spcPct val="160000"/>
              </a:lnSpc>
              <a:buFontTx/>
              <a:buNone/>
            </a:pPr>
            <a:r>
              <a:rPr lang="zh-CN" altLang="en-US" sz="2000" dirty="0"/>
              <a:t>（</a:t>
            </a:r>
            <a:r>
              <a:rPr lang="en-US" sz="2000" dirty="0"/>
              <a:t>1</a:t>
            </a:r>
            <a:r>
              <a:rPr lang="zh-CN" altLang="en-US" sz="2000" dirty="0"/>
              <a:t>）使小齿轮和大齿轮的强度接近相等；（</a:t>
            </a:r>
            <a:r>
              <a:rPr lang="en-US" sz="2000" dirty="0"/>
              <a:t>2</a:t>
            </a:r>
            <a:r>
              <a:rPr lang="zh-CN" altLang="en-US" sz="2000" dirty="0"/>
              <a:t>）为了使传动更平稳；（</a:t>
            </a:r>
            <a:r>
              <a:rPr lang="en-US" sz="2000" dirty="0"/>
              <a:t>3</a:t>
            </a:r>
            <a:r>
              <a:rPr lang="zh-CN" altLang="en-US" sz="2000" dirty="0"/>
              <a:t>）为了补偿可能的安装误差以保证接触线长度；</a:t>
            </a:r>
            <a:endParaRPr lang="zh-CN" altLang="en-US" dirty="0"/>
          </a:p>
          <a:p>
            <a:pPr marL="0" indent="0" algn="just" eaLnBrk="1" hangingPunct="1">
              <a:lnSpc>
                <a:spcPct val="160000"/>
              </a:lnSpc>
              <a:buFontTx/>
              <a:buNone/>
            </a:pPr>
            <a:r>
              <a:rPr lang="en-US" sz="2000" dirty="0" smtClean="0">
                <a:solidFill>
                  <a:srgbClr val="C00000"/>
                </a:solidFill>
              </a:rPr>
              <a:t>2</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5</a:t>
            </a:r>
            <a:r>
              <a:rPr lang="zh-CN" alt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设计斜齿圆柱齿轮传动时，螺旋角</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一般在</a:t>
            </a:r>
            <a:r>
              <a:rPr 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8</a:t>
            </a:r>
            <a:r>
              <a:rPr 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20</a:t>
            </a:r>
            <a:r>
              <a:rPr 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范围内选取，</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zh-CN" altLang="en-US" sz="2000" dirty="0">
                <a:solidFill>
                  <a:srgbClr val="C00000"/>
                </a:solidFill>
                <a:latin typeface="黑体" panose="02010609060101010101" pitchFamily="49" charset="-122"/>
                <a:ea typeface="黑体" panose="02010609060101010101" pitchFamily="49" charset="-122"/>
                <a:cs typeface="黑体" panose="02010609060101010101" pitchFamily="49" charset="-122"/>
              </a:rPr>
              <a:t>太小斜齿轮传动的优点不明显，太大则会引起</a:t>
            </a:r>
            <a:r>
              <a:rPr lang="zh-CN" altLang="en-US" sz="2000" u="sng" dirty="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u="sng" dirty="0">
                <a:latin typeface="黑体" panose="02010609060101010101" pitchFamily="49" charset="-122"/>
                <a:ea typeface="黑体" panose="02010609060101010101" pitchFamily="49" charset="-122"/>
                <a:cs typeface="黑体" panose="02010609060101010101" pitchFamily="49" charset="-122"/>
              </a:rPr>
              <a:t>           </a:t>
            </a:r>
            <a:r>
              <a:rPr lang="zh-CN" altLang="en-US" sz="2000" dirty="0">
                <a:latin typeface="黑体" panose="02010609060101010101" pitchFamily="49" charset="-122"/>
                <a:ea typeface="黑体" panose="02010609060101010101" pitchFamily="49" charset="-122"/>
                <a:cs typeface="黑体" panose="02010609060101010101" pitchFamily="49" charset="-122"/>
              </a:rPr>
              <a:t>。</a:t>
            </a:r>
            <a:endParaRPr lang="zh-CN" altLang="en-US" dirty="0">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lnSpc>
                <a:spcPct val="160000"/>
              </a:lnSpc>
              <a:buFontTx/>
              <a:buNone/>
            </a:pPr>
            <a:r>
              <a:rPr lang="zh-CN" altLang="en-US" sz="2000" dirty="0"/>
              <a:t>（</a:t>
            </a:r>
            <a:r>
              <a:rPr lang="en-US" sz="2000" dirty="0"/>
              <a:t>1</a:t>
            </a:r>
            <a:r>
              <a:rPr lang="zh-CN" altLang="en-US" sz="2000" dirty="0"/>
              <a:t>）啮合不良；（</a:t>
            </a:r>
            <a:r>
              <a:rPr lang="en-US" sz="2000" dirty="0"/>
              <a:t>2</a:t>
            </a:r>
            <a:r>
              <a:rPr lang="zh-CN" altLang="en-US" sz="2000" dirty="0"/>
              <a:t>）制造困难；（</a:t>
            </a:r>
            <a:r>
              <a:rPr lang="en-US" sz="2000" dirty="0"/>
              <a:t>3</a:t>
            </a:r>
            <a:r>
              <a:rPr lang="zh-CN" altLang="en-US" sz="2000" dirty="0"/>
              <a:t>）轴向力太大；（</a:t>
            </a:r>
            <a:r>
              <a:rPr lang="en-US" sz="2000" dirty="0"/>
              <a:t>4</a:t>
            </a:r>
            <a:r>
              <a:rPr lang="zh-CN" altLang="en-US" sz="2000" dirty="0"/>
              <a:t>）传动平稳性下降；</a:t>
            </a:r>
            <a:endParaRPr lang="zh-CN" altLang="en-US" sz="2000" dirty="0"/>
          </a:p>
          <a:p>
            <a:pPr marL="0" algn="just" eaLnBrk="1" hangingPunct="1">
              <a:lnSpc>
                <a:spcPct val="160000"/>
              </a:lnSpc>
              <a:buClrTx/>
              <a:buSzTx/>
              <a:buFontTx/>
              <a:buNone/>
            </a:pP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26、由于断齿破坏比点蚀破坏更具有严重的后果，所以通常设计齿轮时，抗弯强度的安全系数SF应</a:t>
            </a:r>
            <a:r>
              <a:rPr lang="en-US" sz="2000" u="sng"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接触强度的安全系数SH。</a:t>
            </a:r>
            <a:endPar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endParaRPr>
          </a:p>
          <a:p>
            <a:pPr marL="0" indent="0" algn="just" eaLnBrk="1" hangingPunct="1">
              <a:lnSpc>
                <a:spcPct val="160000"/>
              </a:lnSpc>
              <a:buFontTx/>
              <a:buNone/>
            </a:pPr>
            <a:r>
              <a:rPr lang="zh-CN" altLang="en-US" sz="2000" dirty="0"/>
              <a:t>（</a:t>
            </a:r>
            <a:r>
              <a:rPr lang="en-US" sz="2000" dirty="0"/>
              <a:t>1</a:t>
            </a:r>
            <a:r>
              <a:rPr lang="zh-CN" altLang="en-US" sz="2000" dirty="0"/>
              <a:t>）大于；（</a:t>
            </a:r>
            <a:r>
              <a:rPr lang="en-US" sz="2000" dirty="0"/>
              <a:t>2</a:t>
            </a:r>
            <a:r>
              <a:rPr lang="zh-CN" altLang="en-US" sz="2000" dirty="0"/>
              <a:t>）等于；（</a:t>
            </a:r>
            <a:r>
              <a:rPr lang="en-US" sz="2000" dirty="0"/>
              <a:t>3</a:t>
            </a:r>
            <a:r>
              <a:rPr lang="zh-CN" altLang="en-US" sz="2000" dirty="0"/>
              <a:t>）小于；</a:t>
            </a:r>
            <a:endParaRPr lang="zh-CN" altLang="en-US" dirty="0"/>
          </a:p>
        </p:txBody>
      </p:sp>
      <p:sp>
        <p:nvSpPr>
          <p:cNvPr id="270340" name="Text Box 4"/>
          <p:cNvSpPr txBox="1">
            <a:spLocks noChangeArrowheads="1"/>
          </p:cNvSpPr>
          <p:nvPr/>
        </p:nvSpPr>
        <p:spPr bwMode="auto">
          <a:xfrm>
            <a:off x="2123728" y="980728"/>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solidFill>
                  <a:srgbClr val="FF0000"/>
                </a:solidFill>
              </a:rPr>
              <a:t>3</a:t>
            </a:r>
            <a:endParaRPr lang="en-US"/>
          </a:p>
        </p:txBody>
      </p:sp>
      <p:sp>
        <p:nvSpPr>
          <p:cNvPr id="270341" name="Text Box 5"/>
          <p:cNvSpPr txBox="1">
            <a:spLocks noChangeArrowheads="1"/>
          </p:cNvSpPr>
          <p:nvPr/>
        </p:nvSpPr>
        <p:spPr bwMode="auto">
          <a:xfrm>
            <a:off x="6096000" y="312420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solidFill>
                  <a:srgbClr val="FF0000"/>
                </a:solidFill>
              </a:rPr>
              <a:t>3</a:t>
            </a:r>
            <a:endParaRPr lang="en-US"/>
          </a:p>
        </p:txBody>
      </p:sp>
      <p:sp>
        <p:nvSpPr>
          <p:cNvPr id="270342" name="Text Box 6"/>
          <p:cNvSpPr txBox="1">
            <a:spLocks noChangeArrowheads="1"/>
          </p:cNvSpPr>
          <p:nvPr/>
        </p:nvSpPr>
        <p:spPr bwMode="auto">
          <a:xfrm>
            <a:off x="4495800" y="518160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dirty="0">
                <a:solidFill>
                  <a:srgbClr val="FF0000"/>
                </a:solidFill>
              </a:rPr>
              <a:t>1</a:t>
            </a:r>
            <a:endParaRPr lang="en-US" dirty="0"/>
          </a:p>
        </p:txBody>
      </p:sp>
    </p:spTree>
  </p:cSld>
  <p:clrMapOvr>
    <a:overrideClrMapping bg1="lt1" tx1="dk1" bg2="lt2" tx2="dk2" accent1="accent1" accent2="accent2" accent3="accent3" accent4="accent4" accent5="accent5" accent6="accent6" hlink="hlink" folHlink="folHlink"/>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0339">
                                            <p:txEl>
                                              <p:pRg st="0" end="0"/>
                                            </p:txEl>
                                          </p:spTgt>
                                        </p:tgtEl>
                                        <p:attrNameLst>
                                          <p:attrName>style.visibility</p:attrName>
                                        </p:attrNameLst>
                                      </p:cBhvr>
                                      <p:to>
                                        <p:strVal val="visible"/>
                                      </p:to>
                                    </p:set>
                                    <p:animEffect transition="in" filter="wipe(up)">
                                      <p:cBhvr>
                                        <p:cTn id="7" dur="500"/>
                                        <p:tgtEl>
                                          <p:spTgt spid="270339">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70339">
                                            <p:txEl>
                                              <p:pRg st="1" end="1"/>
                                            </p:txEl>
                                          </p:spTgt>
                                        </p:tgtEl>
                                        <p:attrNameLst>
                                          <p:attrName>style.visibility</p:attrName>
                                        </p:attrNameLst>
                                      </p:cBhvr>
                                      <p:to>
                                        <p:strVal val="visible"/>
                                      </p:to>
                                    </p:set>
                                    <p:animEffect transition="in" filter="wipe(up)">
                                      <p:cBhvr>
                                        <p:cTn id="10" dur="500"/>
                                        <p:tgtEl>
                                          <p:spTgt spid="27033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70340"/>
                                        </p:tgtEl>
                                        <p:attrNameLst>
                                          <p:attrName>style.visibility</p:attrName>
                                        </p:attrNameLst>
                                      </p:cBhvr>
                                      <p:to>
                                        <p:strVal val="visible"/>
                                      </p:to>
                                    </p:set>
                                    <p:animEffect transition="in" filter="wipe(down)">
                                      <p:cBhvr>
                                        <p:cTn id="15" dur="500"/>
                                        <p:tgtEl>
                                          <p:spTgt spid="27034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70339">
                                            <p:txEl>
                                              <p:pRg st="2" end="2"/>
                                            </p:txEl>
                                          </p:spTgt>
                                        </p:tgtEl>
                                        <p:attrNameLst>
                                          <p:attrName>style.visibility</p:attrName>
                                        </p:attrNameLst>
                                      </p:cBhvr>
                                      <p:to>
                                        <p:strVal val="visible"/>
                                      </p:to>
                                    </p:set>
                                    <p:animEffect transition="in" filter="wipe(up)">
                                      <p:cBhvr>
                                        <p:cTn id="20" dur="500"/>
                                        <p:tgtEl>
                                          <p:spTgt spid="270339">
                                            <p:txEl>
                                              <p:pRg st="2" end="2"/>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270339">
                                            <p:txEl>
                                              <p:pRg st="3" end="3"/>
                                            </p:txEl>
                                          </p:spTgt>
                                        </p:tgtEl>
                                        <p:attrNameLst>
                                          <p:attrName>style.visibility</p:attrName>
                                        </p:attrNameLst>
                                      </p:cBhvr>
                                      <p:to>
                                        <p:strVal val="visible"/>
                                      </p:to>
                                    </p:set>
                                    <p:animEffect transition="in" filter="wipe(up)">
                                      <p:cBhvr>
                                        <p:cTn id="23" dur="500"/>
                                        <p:tgtEl>
                                          <p:spTgt spid="27033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3" fill="hold" grpId="0" nodeType="clickEffect">
                                  <p:stCondLst>
                                    <p:cond delay="0"/>
                                  </p:stCondLst>
                                  <p:iterate type="lt">
                                    <p:tmPct val="100000"/>
                                  </p:iterate>
                                  <p:childTnLst>
                                    <p:set>
                                      <p:cBhvr>
                                        <p:cTn id="27" dur="1" fill="hold">
                                          <p:stCondLst>
                                            <p:cond delay="0"/>
                                          </p:stCondLst>
                                        </p:cTn>
                                        <p:tgtEl>
                                          <p:spTgt spid="270341">
                                            <p:txEl>
                                              <p:pRg st="0" end="0"/>
                                            </p:txEl>
                                          </p:spTgt>
                                        </p:tgtEl>
                                        <p:attrNameLst>
                                          <p:attrName>style.visibility</p:attrName>
                                        </p:attrNameLst>
                                      </p:cBhvr>
                                      <p:to>
                                        <p:strVal val="visible"/>
                                      </p:to>
                                    </p:set>
                                    <p:anim calcmode="lin" valueType="num">
                                      <p:cBhvr additive="base">
                                        <p:cTn id="28" dur="75" fill="hold"/>
                                        <p:tgtEl>
                                          <p:spTgt spid="270341">
                                            <p:txEl>
                                              <p:pRg st="0" end="0"/>
                                            </p:txEl>
                                          </p:spTgt>
                                        </p:tgtEl>
                                        <p:attrNameLst>
                                          <p:attrName>ppt_x</p:attrName>
                                        </p:attrNameLst>
                                      </p:cBhvr>
                                      <p:tavLst>
                                        <p:tav tm="0">
                                          <p:val>
                                            <p:strVal val="1+#ppt_w/2"/>
                                          </p:val>
                                        </p:tav>
                                        <p:tav tm="100000">
                                          <p:val>
                                            <p:strVal val="#ppt_x"/>
                                          </p:val>
                                        </p:tav>
                                      </p:tavLst>
                                    </p:anim>
                                    <p:anim calcmode="lin" valueType="num">
                                      <p:cBhvr additive="base">
                                        <p:cTn id="29" dur="75" fill="hold"/>
                                        <p:tgtEl>
                                          <p:spTgt spid="270341">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1" name="LASER.WAV"/>
                                        </p:tgtEl>
                                      </p:cMediaNode>
                                    </p:audio>
                                  </p:sub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70339">
                                            <p:txEl>
                                              <p:pRg st="4" end="4"/>
                                            </p:txEl>
                                          </p:spTgt>
                                        </p:tgtEl>
                                        <p:attrNameLst>
                                          <p:attrName>style.visibility</p:attrName>
                                        </p:attrNameLst>
                                      </p:cBhvr>
                                      <p:to>
                                        <p:strVal val="visible"/>
                                      </p:to>
                                    </p:set>
                                    <p:animEffect transition="in" filter="wipe(up)">
                                      <p:cBhvr>
                                        <p:cTn id="34" dur="500"/>
                                        <p:tgtEl>
                                          <p:spTgt spid="270339">
                                            <p:txEl>
                                              <p:pRg st="4" end="4"/>
                                            </p:txEl>
                                          </p:spTgt>
                                        </p:tgtEl>
                                      </p:cBhvr>
                                    </p:animEffect>
                                  </p:childTnLst>
                                </p:cTn>
                              </p:par>
                              <p:par>
                                <p:cTn id="35" presetID="22" presetClass="entr" presetSubtype="1" fill="hold" nodeType="withEffect">
                                  <p:stCondLst>
                                    <p:cond delay="0"/>
                                  </p:stCondLst>
                                  <p:childTnLst>
                                    <p:set>
                                      <p:cBhvr>
                                        <p:cTn id="36" dur="1" fill="hold">
                                          <p:stCondLst>
                                            <p:cond delay="0"/>
                                          </p:stCondLst>
                                        </p:cTn>
                                        <p:tgtEl>
                                          <p:spTgt spid="270339">
                                            <p:txEl>
                                              <p:pRg st="5" end="5"/>
                                            </p:txEl>
                                          </p:spTgt>
                                        </p:tgtEl>
                                        <p:attrNameLst>
                                          <p:attrName>style.visibility</p:attrName>
                                        </p:attrNameLst>
                                      </p:cBhvr>
                                      <p:to>
                                        <p:strVal val="visible"/>
                                      </p:to>
                                    </p:set>
                                    <p:animEffect transition="in" filter="wipe(up)">
                                      <p:cBhvr>
                                        <p:cTn id="37" dur="500"/>
                                        <p:tgtEl>
                                          <p:spTgt spid="27033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3" fill="hold" grpId="0" nodeType="clickEffect">
                                  <p:stCondLst>
                                    <p:cond delay="0"/>
                                  </p:stCondLst>
                                  <p:iterate type="lt">
                                    <p:tmPct val="100000"/>
                                  </p:iterate>
                                  <p:childTnLst>
                                    <p:set>
                                      <p:cBhvr>
                                        <p:cTn id="41" dur="1" fill="hold">
                                          <p:stCondLst>
                                            <p:cond delay="0"/>
                                          </p:stCondLst>
                                        </p:cTn>
                                        <p:tgtEl>
                                          <p:spTgt spid="270342">
                                            <p:txEl>
                                              <p:pRg st="0" end="0"/>
                                            </p:txEl>
                                          </p:spTgt>
                                        </p:tgtEl>
                                        <p:attrNameLst>
                                          <p:attrName>style.visibility</p:attrName>
                                        </p:attrNameLst>
                                      </p:cBhvr>
                                      <p:to>
                                        <p:strVal val="visible"/>
                                      </p:to>
                                    </p:set>
                                    <p:anim calcmode="lin" valueType="num">
                                      <p:cBhvr additive="base">
                                        <p:cTn id="42" dur="75" fill="hold"/>
                                        <p:tgtEl>
                                          <p:spTgt spid="270342">
                                            <p:txEl>
                                              <p:pRg st="0" end="0"/>
                                            </p:txEl>
                                          </p:spTgt>
                                        </p:tgtEl>
                                        <p:attrNameLst>
                                          <p:attrName>ppt_x</p:attrName>
                                        </p:attrNameLst>
                                      </p:cBhvr>
                                      <p:tavLst>
                                        <p:tav tm="0">
                                          <p:val>
                                            <p:strVal val="1+#ppt_w/2"/>
                                          </p:val>
                                        </p:tav>
                                        <p:tav tm="100000">
                                          <p:val>
                                            <p:strVal val="#ppt_x"/>
                                          </p:val>
                                        </p:tav>
                                      </p:tavLst>
                                    </p:anim>
                                    <p:anim calcmode="lin" valueType="num">
                                      <p:cBhvr additive="base">
                                        <p:cTn id="43" dur="75" fill="hold"/>
                                        <p:tgtEl>
                                          <p:spTgt spid="270342">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1"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p:bldP spid="270341" grpId="0" autoUpdateAnimBg="0" build="p"/>
      <p:bldP spid="270342"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3" name="Rectangle 3"/>
          <p:cNvSpPr>
            <a:spLocks noGrp="1" noChangeArrowheads="1"/>
          </p:cNvSpPr>
          <p:nvPr>
            <p:ph type="body" idx="4294967295"/>
          </p:nvPr>
        </p:nvSpPr>
        <p:spPr>
          <a:xfrm>
            <a:off x="381000" y="304800"/>
            <a:ext cx="8763000" cy="6324600"/>
          </a:xfrm>
          <a:prstGeom prst="rect">
            <a:avLst/>
          </a:prstGeom>
        </p:spPr>
        <p:txBody>
          <a:bodyPr/>
          <a:lstStyle/>
          <a:p>
            <a:pPr marL="0" indent="0" algn="just" eaLnBrk="1" hangingPunct="1">
              <a:lnSpc>
                <a:spcPct val="130000"/>
              </a:lnSpc>
              <a:buFontTx/>
              <a:buNone/>
            </a:pPr>
            <a:r>
              <a:rPr lang="en-US" sz="2000" dirty="0" smtClean="0"/>
              <a:t>27</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sz="2000" baseline="-25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Hlim</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和</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sym typeface="Symbol" panose="05050102010706020507" pitchFamily="18" charset="2"/>
              </a:rPr>
              <a:t></a:t>
            </a:r>
            <a:r>
              <a:rPr lang="en-US" sz="2000" baseline="-25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Flim</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值是试验齿轮在持久寿命期内按 </a:t>
            </a:r>
            <a:r>
              <a:rPr lang="en-US" sz="2000" u="sng"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，通过长期持续重复载荷作用或经长期持续的脉动载荷作用而获得的齿面接触疲劳强度极限应力和齿根弯曲疲劳极限应力。</a:t>
            </a:r>
            <a:endParaRPr lang="zh-CN" altLang="en-US" sz="2000" dirty="0"/>
          </a:p>
          <a:p>
            <a:pPr marL="0" indent="0" algn="just" eaLnBrk="1" hangingPunct="1">
              <a:lnSpc>
                <a:spcPct val="130000"/>
              </a:lnSpc>
              <a:buFontTx/>
              <a:buNone/>
            </a:pPr>
            <a:r>
              <a:rPr lang="zh-CN" altLang="en-US" sz="2000" dirty="0"/>
              <a:t>（</a:t>
            </a:r>
            <a:r>
              <a:rPr lang="en-US" sz="2000" dirty="0"/>
              <a:t>1</a:t>
            </a:r>
            <a:r>
              <a:rPr lang="zh-CN" altLang="en-US" sz="2000" dirty="0"/>
              <a:t>）可靠度为</a:t>
            </a:r>
            <a:r>
              <a:rPr lang="en-US" sz="2000" dirty="0"/>
              <a:t>90%</a:t>
            </a:r>
            <a:r>
              <a:rPr lang="zh-CN" altLang="en-US" sz="2000" dirty="0"/>
              <a:t>；（</a:t>
            </a:r>
            <a:r>
              <a:rPr lang="en-US" sz="2000" dirty="0"/>
              <a:t>2</a:t>
            </a:r>
            <a:r>
              <a:rPr lang="zh-CN" altLang="en-US" sz="2000" dirty="0"/>
              <a:t>）失效概率为</a:t>
            </a:r>
            <a:r>
              <a:rPr lang="en-US" sz="2000" dirty="0"/>
              <a:t>1%</a:t>
            </a:r>
            <a:r>
              <a:rPr lang="zh-CN" altLang="en-US" sz="2000" dirty="0"/>
              <a:t>；（</a:t>
            </a:r>
            <a:r>
              <a:rPr lang="en-US" sz="2000" dirty="0"/>
              <a:t>3</a:t>
            </a:r>
            <a:r>
              <a:rPr lang="zh-CN" altLang="en-US" sz="2000" dirty="0"/>
              <a:t>）失效概率为</a:t>
            </a:r>
            <a:r>
              <a:rPr lang="en-US" sz="2000" dirty="0"/>
              <a:t>99%</a:t>
            </a:r>
            <a:r>
              <a:rPr lang="zh-CN" altLang="en-US" sz="2000" dirty="0"/>
              <a:t>；（</a:t>
            </a:r>
            <a:r>
              <a:rPr lang="en-US" sz="2000" dirty="0"/>
              <a:t>4</a:t>
            </a:r>
            <a:r>
              <a:rPr lang="zh-CN" altLang="en-US" sz="2000" dirty="0"/>
              <a:t>）可靠度为</a:t>
            </a:r>
            <a:r>
              <a:rPr lang="en-US" sz="2000" dirty="0"/>
              <a:t>10%</a:t>
            </a:r>
            <a:r>
              <a:rPr lang="zh-CN" altLang="en-US" sz="2000" dirty="0"/>
              <a:t>；</a:t>
            </a:r>
            <a:endParaRPr lang="zh-CN" altLang="en-US" sz="2000" dirty="0"/>
          </a:p>
          <a:p>
            <a:pPr marL="0" indent="0" algn="just" eaLnBrk="1" hangingPunct="1">
              <a:lnSpc>
                <a:spcPct val="130000"/>
              </a:lnSpc>
              <a:buFontTx/>
              <a:buNone/>
            </a:pPr>
            <a:r>
              <a:rPr lang="en-US" sz="2000" dirty="0" smtClean="0"/>
              <a:t>28</a:t>
            </a:r>
            <a:r>
              <a:rPr lang="zh-CN" altLang="en-US" sz="2000" dirty="0" smtClean="0"/>
              <a:t>、</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直齿锥齿轮的标准模数是</a:t>
            </a:r>
            <a:r>
              <a:rPr lang="zh-CN" altLang="en-US" sz="2000" u="sng" dirty="0"/>
              <a:t>            </a:t>
            </a:r>
            <a:r>
              <a:rPr lang="zh-CN" altLang="en-US" sz="2000" dirty="0"/>
              <a:t>。</a:t>
            </a:r>
            <a:endParaRPr lang="zh-CN" altLang="en-US" dirty="0"/>
          </a:p>
          <a:p>
            <a:pPr marL="0" indent="0" algn="just" eaLnBrk="1" hangingPunct="1">
              <a:lnSpc>
                <a:spcPct val="130000"/>
              </a:lnSpc>
              <a:buFontTx/>
              <a:buNone/>
            </a:pPr>
            <a:r>
              <a:rPr lang="zh-CN" altLang="en-US" sz="2000" dirty="0"/>
              <a:t>（</a:t>
            </a:r>
            <a:r>
              <a:rPr lang="en-US" sz="2000" dirty="0"/>
              <a:t>1</a:t>
            </a:r>
            <a:r>
              <a:rPr lang="zh-CN" altLang="en-US" sz="2000" dirty="0"/>
              <a:t>）小端模数；（</a:t>
            </a:r>
            <a:r>
              <a:rPr lang="en-US" sz="2000" dirty="0"/>
              <a:t>2</a:t>
            </a:r>
            <a:r>
              <a:rPr lang="zh-CN" altLang="en-US" sz="2000" dirty="0"/>
              <a:t>）大端端面模数；（</a:t>
            </a:r>
            <a:r>
              <a:rPr lang="en-US" sz="2000" dirty="0"/>
              <a:t>3</a:t>
            </a:r>
            <a:r>
              <a:rPr lang="zh-CN" altLang="en-US" sz="2000" dirty="0"/>
              <a:t>）齿宽中点法向模数；（</a:t>
            </a:r>
            <a:r>
              <a:rPr lang="en-US" sz="2000" dirty="0"/>
              <a:t>4</a:t>
            </a:r>
            <a:r>
              <a:rPr lang="zh-CN" altLang="en-US" sz="2000" dirty="0"/>
              <a:t>）齿宽中点的平均模数；</a:t>
            </a:r>
            <a:endParaRPr lang="zh-CN" altLang="en-US" sz="2000" dirty="0"/>
          </a:p>
          <a:p>
            <a:pPr marL="0" indent="0" algn="just" eaLnBrk="1" hangingPunct="1">
              <a:lnSpc>
                <a:spcPct val="130000"/>
              </a:lnSpc>
              <a:buFontTx/>
              <a:buNone/>
            </a:pPr>
            <a:r>
              <a:rPr lang="en-US" sz="2000" dirty="0" smtClean="0"/>
              <a:t>29</a:t>
            </a:r>
            <a:r>
              <a:rPr lang="zh-CN" altLang="en-US" sz="2000" dirty="0" smtClean="0"/>
              <a:t>、</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直齿锥齿轮传动的强度计算方法是以</a:t>
            </a:r>
            <a:r>
              <a:rPr lang="zh-CN" altLang="en-US" sz="2000" u="sng" dirty="0"/>
              <a:t>          </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的当量圆柱齿轮为计算基础。</a:t>
            </a:r>
            <a:endParaRPr lang="zh-CN" altLang="en-US" sz="2000" dirty="0"/>
          </a:p>
          <a:p>
            <a:pPr marL="0" indent="0" algn="just" eaLnBrk="1" hangingPunct="1">
              <a:lnSpc>
                <a:spcPct val="130000"/>
              </a:lnSpc>
              <a:buFontTx/>
              <a:buNone/>
            </a:pPr>
            <a:r>
              <a:rPr lang="zh-CN" altLang="en-US" sz="2000" dirty="0"/>
              <a:t>（</a:t>
            </a:r>
            <a:r>
              <a:rPr lang="en-US" sz="2000" dirty="0"/>
              <a:t>1</a:t>
            </a:r>
            <a:r>
              <a:rPr lang="zh-CN" altLang="en-US" sz="2000" dirty="0"/>
              <a:t>）小端；（</a:t>
            </a:r>
            <a:r>
              <a:rPr lang="en-US" sz="2000" dirty="0"/>
              <a:t>2</a:t>
            </a:r>
            <a:r>
              <a:rPr lang="zh-CN" altLang="en-US" sz="2000" dirty="0"/>
              <a:t>）大端；（</a:t>
            </a:r>
            <a:r>
              <a:rPr lang="en-US" sz="2000" dirty="0"/>
              <a:t>3</a:t>
            </a:r>
            <a:r>
              <a:rPr lang="zh-CN" altLang="en-US" sz="2000" dirty="0"/>
              <a:t>）齿宽中点处；</a:t>
            </a:r>
            <a:endParaRPr lang="zh-CN" altLang="en-US" sz="2000" dirty="0"/>
          </a:p>
          <a:p>
            <a:pPr marL="0" indent="0" algn="just" eaLnBrk="1" hangingPunct="1">
              <a:lnSpc>
                <a:spcPct val="140000"/>
              </a:lnSpc>
              <a:buFontTx/>
              <a:buNone/>
            </a:pPr>
            <a:r>
              <a:rPr lang="en-US" sz="2000" dirty="0" smtClean="0"/>
              <a:t>30</a:t>
            </a:r>
            <a:r>
              <a:rPr lang="zh-CN" altLang="en-US" sz="2000" dirty="0" smtClean="0"/>
              <a:t>、</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在闭式减速软齿面圆锥齿轮传动中，载荷平稳，按</a:t>
            </a:r>
            <a:r>
              <a:rPr lang="en-US" sz="2000" u="sng"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a:t>
            </a:r>
            <a:r>
              <a:rPr lang="en-US" sz="2000" dirty="0" smtClean="0">
                <a:solidFill>
                  <a:srgbClr val="C00000"/>
                </a:solidFill>
                <a:latin typeface="黑体" panose="02010609060101010101" pitchFamily="49" charset="-122"/>
                <a:ea typeface="黑体" panose="02010609060101010101" pitchFamily="49" charset="-122"/>
                <a:cs typeface="黑体" panose="02010609060101010101" pitchFamily="49" charset="-122"/>
              </a:rPr>
              <a:t> 作为计算齿轮工作能力准则是最可能的</a:t>
            </a:r>
            <a:r>
              <a:rPr lang="zh-CN" altLang="en-US" sz="2000" dirty="0"/>
              <a:t>。</a:t>
            </a:r>
            <a:endParaRPr lang="zh-CN" altLang="en-US" sz="2000" dirty="0"/>
          </a:p>
          <a:p>
            <a:pPr marL="0" indent="0" algn="just" eaLnBrk="1" hangingPunct="1">
              <a:lnSpc>
                <a:spcPct val="140000"/>
              </a:lnSpc>
              <a:buFontTx/>
              <a:buNone/>
            </a:pPr>
            <a:r>
              <a:rPr lang="zh-CN" altLang="en-US" sz="2000" dirty="0"/>
              <a:t>（</a:t>
            </a:r>
            <a:r>
              <a:rPr lang="en-US" sz="2000" dirty="0"/>
              <a:t>1</a:t>
            </a:r>
            <a:r>
              <a:rPr lang="zh-CN" altLang="en-US" sz="2000" dirty="0"/>
              <a:t>）齿根弯曲疲劳强度；（</a:t>
            </a:r>
            <a:r>
              <a:rPr lang="en-US" sz="2000" dirty="0"/>
              <a:t>2</a:t>
            </a:r>
            <a:r>
              <a:rPr lang="zh-CN" altLang="en-US" sz="2000" dirty="0"/>
              <a:t>）齿根弯曲静强度；（</a:t>
            </a:r>
            <a:r>
              <a:rPr lang="en-US" sz="2000" dirty="0"/>
              <a:t>3</a:t>
            </a:r>
            <a:r>
              <a:rPr lang="zh-CN" altLang="en-US" sz="2000" dirty="0"/>
              <a:t>）齿面接触疲劳强度；（</a:t>
            </a:r>
            <a:r>
              <a:rPr lang="en-US" sz="2000" dirty="0"/>
              <a:t>4</a:t>
            </a:r>
            <a:r>
              <a:rPr lang="zh-CN" altLang="en-US" sz="2000" dirty="0"/>
              <a:t>）齿面接触静强度；</a:t>
            </a:r>
            <a:endParaRPr lang="zh-CN" altLang="en-US" sz="2000" dirty="0"/>
          </a:p>
        </p:txBody>
      </p:sp>
      <p:sp>
        <p:nvSpPr>
          <p:cNvPr id="271364" name="Text Box 4"/>
          <p:cNvSpPr txBox="1">
            <a:spLocks noChangeArrowheads="1"/>
          </p:cNvSpPr>
          <p:nvPr/>
        </p:nvSpPr>
        <p:spPr bwMode="auto">
          <a:xfrm>
            <a:off x="6299835" y="33274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solidFill>
                  <a:srgbClr val="FF0000"/>
                </a:solidFill>
              </a:rPr>
              <a:t>2</a:t>
            </a:r>
            <a:endParaRPr lang="en-US"/>
          </a:p>
        </p:txBody>
      </p:sp>
      <p:sp>
        <p:nvSpPr>
          <p:cNvPr id="271365" name="Text Box 5"/>
          <p:cNvSpPr txBox="1">
            <a:spLocks noChangeArrowheads="1"/>
          </p:cNvSpPr>
          <p:nvPr/>
        </p:nvSpPr>
        <p:spPr bwMode="auto">
          <a:xfrm>
            <a:off x="3962400" y="243840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solidFill>
                  <a:srgbClr val="FF0000"/>
                </a:solidFill>
              </a:rPr>
              <a:t>2</a:t>
            </a:r>
            <a:endParaRPr lang="en-US"/>
          </a:p>
        </p:txBody>
      </p:sp>
      <p:sp>
        <p:nvSpPr>
          <p:cNvPr id="271366" name="Text Box 6"/>
          <p:cNvSpPr txBox="1">
            <a:spLocks noChangeArrowheads="1"/>
          </p:cNvSpPr>
          <p:nvPr/>
        </p:nvSpPr>
        <p:spPr bwMode="auto">
          <a:xfrm>
            <a:off x="5181600" y="373380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solidFill>
                  <a:srgbClr val="FF0000"/>
                </a:solidFill>
              </a:rPr>
              <a:t>3</a:t>
            </a:r>
            <a:endParaRPr lang="en-US"/>
          </a:p>
        </p:txBody>
      </p:sp>
      <p:sp>
        <p:nvSpPr>
          <p:cNvPr id="271367" name="Text Box 8"/>
          <p:cNvSpPr txBox="1">
            <a:spLocks noChangeArrowheads="1"/>
          </p:cNvSpPr>
          <p:nvPr/>
        </p:nvSpPr>
        <p:spPr bwMode="auto">
          <a:xfrm>
            <a:off x="6705600" y="4648200"/>
            <a:ext cx="381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solidFill>
                  <a:srgbClr val="FF0000"/>
                </a:solidFill>
              </a:rPr>
              <a:t>3</a:t>
            </a:r>
            <a:endParaRPr 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1363">
                                            <p:txEl>
                                              <p:pRg st="0" end="0"/>
                                            </p:txEl>
                                          </p:spTgt>
                                        </p:tgtEl>
                                        <p:attrNameLst>
                                          <p:attrName>style.visibility</p:attrName>
                                        </p:attrNameLst>
                                      </p:cBhvr>
                                      <p:to>
                                        <p:strVal val="visible"/>
                                      </p:to>
                                    </p:set>
                                    <p:animEffect transition="in" filter="wipe(up)">
                                      <p:cBhvr>
                                        <p:cTn id="7" dur="500"/>
                                        <p:tgtEl>
                                          <p:spTgt spid="271363">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71363">
                                            <p:txEl>
                                              <p:pRg st="1" end="1"/>
                                            </p:txEl>
                                          </p:spTgt>
                                        </p:tgtEl>
                                        <p:attrNameLst>
                                          <p:attrName>style.visibility</p:attrName>
                                        </p:attrNameLst>
                                      </p:cBhvr>
                                      <p:to>
                                        <p:strVal val="visible"/>
                                      </p:to>
                                    </p:set>
                                    <p:animEffect transition="in" filter="wipe(up)">
                                      <p:cBhvr>
                                        <p:cTn id="10" dur="500"/>
                                        <p:tgtEl>
                                          <p:spTgt spid="27136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3" fill="hold" grpId="0" nodeType="clickEffect">
                                  <p:stCondLst>
                                    <p:cond delay="0"/>
                                  </p:stCondLst>
                                  <p:iterate type="lt">
                                    <p:tmPct val="100000"/>
                                  </p:iterate>
                                  <p:childTnLst>
                                    <p:set>
                                      <p:cBhvr>
                                        <p:cTn id="14" dur="1" fill="hold">
                                          <p:stCondLst>
                                            <p:cond delay="0"/>
                                          </p:stCondLst>
                                        </p:cTn>
                                        <p:tgtEl>
                                          <p:spTgt spid="271364">
                                            <p:txEl>
                                              <p:pRg st="0" end="0"/>
                                            </p:txEl>
                                          </p:spTgt>
                                        </p:tgtEl>
                                        <p:attrNameLst>
                                          <p:attrName>style.visibility</p:attrName>
                                        </p:attrNameLst>
                                      </p:cBhvr>
                                      <p:to>
                                        <p:strVal val="visible"/>
                                      </p:to>
                                    </p:set>
                                    <p:anim calcmode="lin" valueType="num">
                                      <p:cBhvr additive="base">
                                        <p:cTn id="15" dur="75" fill="hold"/>
                                        <p:tgtEl>
                                          <p:spTgt spid="271364">
                                            <p:txEl>
                                              <p:pRg st="0" end="0"/>
                                            </p:txEl>
                                          </p:spTgt>
                                        </p:tgtEl>
                                        <p:attrNameLst>
                                          <p:attrName>ppt_x</p:attrName>
                                        </p:attrNameLst>
                                      </p:cBhvr>
                                      <p:tavLst>
                                        <p:tav tm="0">
                                          <p:val>
                                            <p:strVal val="1+#ppt_w/2"/>
                                          </p:val>
                                        </p:tav>
                                        <p:tav tm="100000">
                                          <p:val>
                                            <p:strVal val="#ppt_x"/>
                                          </p:val>
                                        </p:tav>
                                      </p:tavLst>
                                    </p:anim>
                                    <p:anim calcmode="lin" valueType="num">
                                      <p:cBhvr additive="base">
                                        <p:cTn id="16" dur="75" fill="hold"/>
                                        <p:tgtEl>
                                          <p:spTgt spid="271364">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1" name="LASER.WAV"/>
                                        </p:tgtEl>
                                      </p:cMediaNode>
                                    </p:audio>
                                  </p:sub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71363">
                                            <p:txEl>
                                              <p:pRg st="2" end="2"/>
                                            </p:txEl>
                                          </p:spTgt>
                                        </p:tgtEl>
                                        <p:attrNameLst>
                                          <p:attrName>style.visibility</p:attrName>
                                        </p:attrNameLst>
                                      </p:cBhvr>
                                      <p:to>
                                        <p:strVal val="visible"/>
                                      </p:to>
                                    </p:set>
                                    <p:animEffect transition="in" filter="wipe(up)">
                                      <p:cBhvr>
                                        <p:cTn id="21" dur="500"/>
                                        <p:tgtEl>
                                          <p:spTgt spid="271363">
                                            <p:txEl>
                                              <p:pRg st="2" end="2"/>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271363">
                                            <p:txEl>
                                              <p:pRg st="3" end="3"/>
                                            </p:txEl>
                                          </p:spTgt>
                                        </p:tgtEl>
                                        <p:attrNameLst>
                                          <p:attrName>style.visibility</p:attrName>
                                        </p:attrNameLst>
                                      </p:cBhvr>
                                      <p:to>
                                        <p:strVal val="visible"/>
                                      </p:to>
                                    </p:set>
                                    <p:animEffect transition="in" filter="wipe(up)">
                                      <p:cBhvr>
                                        <p:cTn id="24" dur="500"/>
                                        <p:tgtEl>
                                          <p:spTgt spid="27136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3" fill="hold" grpId="0" nodeType="clickEffect">
                                  <p:stCondLst>
                                    <p:cond delay="0"/>
                                  </p:stCondLst>
                                  <p:iterate type="lt">
                                    <p:tmPct val="100000"/>
                                  </p:iterate>
                                  <p:childTnLst>
                                    <p:set>
                                      <p:cBhvr>
                                        <p:cTn id="28" dur="1" fill="hold">
                                          <p:stCondLst>
                                            <p:cond delay="0"/>
                                          </p:stCondLst>
                                        </p:cTn>
                                        <p:tgtEl>
                                          <p:spTgt spid="271365">
                                            <p:txEl>
                                              <p:pRg st="0" end="0"/>
                                            </p:txEl>
                                          </p:spTgt>
                                        </p:tgtEl>
                                        <p:attrNameLst>
                                          <p:attrName>style.visibility</p:attrName>
                                        </p:attrNameLst>
                                      </p:cBhvr>
                                      <p:to>
                                        <p:strVal val="visible"/>
                                      </p:to>
                                    </p:set>
                                    <p:anim calcmode="lin" valueType="num">
                                      <p:cBhvr additive="base">
                                        <p:cTn id="29" dur="75" fill="hold"/>
                                        <p:tgtEl>
                                          <p:spTgt spid="271365">
                                            <p:txEl>
                                              <p:pRg st="0" end="0"/>
                                            </p:txEl>
                                          </p:spTgt>
                                        </p:tgtEl>
                                        <p:attrNameLst>
                                          <p:attrName>ppt_x</p:attrName>
                                        </p:attrNameLst>
                                      </p:cBhvr>
                                      <p:tavLst>
                                        <p:tav tm="0">
                                          <p:val>
                                            <p:strVal val="1+#ppt_w/2"/>
                                          </p:val>
                                        </p:tav>
                                        <p:tav tm="100000">
                                          <p:val>
                                            <p:strVal val="#ppt_x"/>
                                          </p:val>
                                        </p:tav>
                                      </p:tavLst>
                                    </p:anim>
                                    <p:anim calcmode="lin" valueType="num">
                                      <p:cBhvr additive="base">
                                        <p:cTn id="30" dur="75" fill="hold"/>
                                        <p:tgtEl>
                                          <p:spTgt spid="271365">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1" name="LASER.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71363">
                                            <p:txEl>
                                              <p:pRg st="4" end="4"/>
                                            </p:txEl>
                                          </p:spTgt>
                                        </p:tgtEl>
                                        <p:attrNameLst>
                                          <p:attrName>style.visibility</p:attrName>
                                        </p:attrNameLst>
                                      </p:cBhvr>
                                      <p:to>
                                        <p:strVal val="visible"/>
                                      </p:to>
                                    </p:set>
                                    <p:animEffect transition="in" filter="wipe(left)">
                                      <p:cBhvr>
                                        <p:cTn id="35" dur="500"/>
                                        <p:tgtEl>
                                          <p:spTgt spid="271363">
                                            <p:txEl>
                                              <p:pRg st="4" end="4"/>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271363">
                                            <p:txEl>
                                              <p:pRg st="5" end="5"/>
                                            </p:txEl>
                                          </p:spTgt>
                                        </p:tgtEl>
                                        <p:attrNameLst>
                                          <p:attrName>style.visibility</p:attrName>
                                        </p:attrNameLst>
                                      </p:cBhvr>
                                      <p:to>
                                        <p:strVal val="visible"/>
                                      </p:to>
                                    </p:set>
                                    <p:animEffect transition="in" filter="wipe(left)">
                                      <p:cBhvr>
                                        <p:cTn id="38" dur="500"/>
                                        <p:tgtEl>
                                          <p:spTgt spid="27136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3" fill="hold" grpId="0" nodeType="clickEffect">
                                  <p:stCondLst>
                                    <p:cond delay="0"/>
                                  </p:stCondLst>
                                  <p:iterate type="lt">
                                    <p:tmPct val="100000"/>
                                  </p:iterate>
                                  <p:childTnLst>
                                    <p:set>
                                      <p:cBhvr>
                                        <p:cTn id="42" dur="1" fill="hold">
                                          <p:stCondLst>
                                            <p:cond delay="0"/>
                                          </p:stCondLst>
                                        </p:cTn>
                                        <p:tgtEl>
                                          <p:spTgt spid="271366">
                                            <p:txEl>
                                              <p:pRg st="0" end="0"/>
                                            </p:txEl>
                                          </p:spTgt>
                                        </p:tgtEl>
                                        <p:attrNameLst>
                                          <p:attrName>style.visibility</p:attrName>
                                        </p:attrNameLst>
                                      </p:cBhvr>
                                      <p:to>
                                        <p:strVal val="visible"/>
                                      </p:to>
                                    </p:set>
                                    <p:anim calcmode="lin" valueType="num">
                                      <p:cBhvr additive="base">
                                        <p:cTn id="43" dur="75" fill="hold"/>
                                        <p:tgtEl>
                                          <p:spTgt spid="271366">
                                            <p:txEl>
                                              <p:pRg st="0" end="0"/>
                                            </p:txEl>
                                          </p:spTgt>
                                        </p:tgtEl>
                                        <p:attrNameLst>
                                          <p:attrName>ppt_x</p:attrName>
                                        </p:attrNameLst>
                                      </p:cBhvr>
                                      <p:tavLst>
                                        <p:tav tm="0">
                                          <p:val>
                                            <p:strVal val="1+#ppt_w/2"/>
                                          </p:val>
                                        </p:tav>
                                        <p:tav tm="100000">
                                          <p:val>
                                            <p:strVal val="#ppt_x"/>
                                          </p:val>
                                        </p:tav>
                                      </p:tavLst>
                                    </p:anim>
                                    <p:anim calcmode="lin" valueType="num">
                                      <p:cBhvr additive="base">
                                        <p:cTn id="44" dur="75" fill="hold"/>
                                        <p:tgtEl>
                                          <p:spTgt spid="271366">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1" name="LASER.WAV"/>
                                        </p:tgtEl>
                                      </p:cMediaNode>
                                    </p:audio>
                                  </p:sub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271363">
                                            <p:txEl>
                                              <p:pRg st="6" end="6"/>
                                            </p:txEl>
                                          </p:spTgt>
                                        </p:tgtEl>
                                        <p:attrNameLst>
                                          <p:attrName>style.visibility</p:attrName>
                                        </p:attrNameLst>
                                      </p:cBhvr>
                                      <p:to>
                                        <p:strVal val="visible"/>
                                      </p:to>
                                    </p:set>
                                    <p:animEffect transition="in" filter="wipe(up)">
                                      <p:cBhvr>
                                        <p:cTn id="49" dur="500"/>
                                        <p:tgtEl>
                                          <p:spTgt spid="271363">
                                            <p:txEl>
                                              <p:pRg st="6" end="6"/>
                                            </p:txEl>
                                          </p:spTgt>
                                        </p:tgtEl>
                                      </p:cBhvr>
                                    </p:animEffect>
                                  </p:childTnLst>
                                </p:cTn>
                              </p:par>
                              <p:par>
                                <p:cTn id="50" presetID="22" presetClass="entr" presetSubtype="1" fill="hold" nodeType="withEffect">
                                  <p:stCondLst>
                                    <p:cond delay="0"/>
                                  </p:stCondLst>
                                  <p:childTnLst>
                                    <p:set>
                                      <p:cBhvr>
                                        <p:cTn id="51" dur="1" fill="hold">
                                          <p:stCondLst>
                                            <p:cond delay="0"/>
                                          </p:stCondLst>
                                        </p:cTn>
                                        <p:tgtEl>
                                          <p:spTgt spid="271363">
                                            <p:txEl>
                                              <p:pRg st="7" end="7"/>
                                            </p:txEl>
                                          </p:spTgt>
                                        </p:tgtEl>
                                        <p:attrNameLst>
                                          <p:attrName>style.visibility</p:attrName>
                                        </p:attrNameLst>
                                      </p:cBhvr>
                                      <p:to>
                                        <p:strVal val="visible"/>
                                      </p:to>
                                    </p:set>
                                    <p:animEffect transition="in" filter="wipe(up)">
                                      <p:cBhvr>
                                        <p:cTn id="52" dur="500"/>
                                        <p:tgtEl>
                                          <p:spTgt spid="27136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3" fill="hold" grpId="0" nodeType="clickEffect">
                                  <p:stCondLst>
                                    <p:cond delay="0"/>
                                  </p:stCondLst>
                                  <p:iterate type="lt">
                                    <p:tmPct val="100000"/>
                                  </p:iterate>
                                  <p:childTnLst>
                                    <p:set>
                                      <p:cBhvr>
                                        <p:cTn id="56" dur="1" fill="hold">
                                          <p:stCondLst>
                                            <p:cond delay="0"/>
                                          </p:stCondLst>
                                        </p:cTn>
                                        <p:tgtEl>
                                          <p:spTgt spid="271367">
                                            <p:txEl>
                                              <p:pRg st="0" end="0"/>
                                            </p:txEl>
                                          </p:spTgt>
                                        </p:tgtEl>
                                        <p:attrNameLst>
                                          <p:attrName>style.visibility</p:attrName>
                                        </p:attrNameLst>
                                      </p:cBhvr>
                                      <p:to>
                                        <p:strVal val="visible"/>
                                      </p:to>
                                    </p:set>
                                    <p:anim calcmode="lin" valueType="num">
                                      <p:cBhvr additive="base">
                                        <p:cTn id="57" dur="75" fill="hold"/>
                                        <p:tgtEl>
                                          <p:spTgt spid="271367">
                                            <p:txEl>
                                              <p:pRg st="0" end="0"/>
                                            </p:txEl>
                                          </p:spTgt>
                                        </p:tgtEl>
                                        <p:attrNameLst>
                                          <p:attrName>ppt_x</p:attrName>
                                        </p:attrNameLst>
                                      </p:cBhvr>
                                      <p:tavLst>
                                        <p:tav tm="0">
                                          <p:val>
                                            <p:strVal val="1+#ppt_w/2"/>
                                          </p:val>
                                        </p:tav>
                                        <p:tav tm="100000">
                                          <p:val>
                                            <p:strVal val="#ppt_x"/>
                                          </p:val>
                                        </p:tav>
                                      </p:tavLst>
                                    </p:anim>
                                    <p:anim calcmode="lin" valueType="num">
                                      <p:cBhvr additive="base">
                                        <p:cTn id="58" dur="75" fill="hold"/>
                                        <p:tgtEl>
                                          <p:spTgt spid="271367">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1"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4" grpId="0" autoUpdateAnimBg="0" build="p"/>
      <p:bldP spid="271365" grpId="0" autoUpdateAnimBg="0" build="p"/>
      <p:bldP spid="271366" grpId="0" autoUpdateAnimBg="0" build="p"/>
      <p:bldP spid="271367"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323528" y="404664"/>
                <a:ext cx="8352928" cy="2677784"/>
              </a:xfrm>
              <a:prstGeom prst="rect">
                <a:avLst/>
              </a:prstGeom>
              <a:noFill/>
              <a:ln w="12700">
                <a:solidFill>
                  <a:srgbClr val="00B0F0"/>
                </a:solidFill>
              </a:ln>
            </p:spPr>
            <p:txBody>
              <a:bodyPr wrap="square" rtlCol="0">
                <a:spAutoFit/>
              </a:bodyPr>
              <a:lstStyle/>
              <a:p>
                <a:pPr>
                  <a:lnSpc>
                    <a:spcPct val="150000"/>
                  </a:lnSpc>
                </a:pPr>
                <a:r>
                  <a:rPr lang="zh-CN" altLang="en-US" sz="2200" dirty="0" smtClean="0"/>
                  <a:t>一闭式直齿圆柱齿轮传动，已知：齿数</a:t>
                </a:r>
                <a:r>
                  <a:rPr lang="en-US" altLang="zh-CN" sz="2200" dirty="0" smtClean="0"/>
                  <a:t>z</a:t>
                </a:r>
                <a:r>
                  <a:rPr lang="en-US" altLang="zh-CN" sz="2200" baseline="-25000" dirty="0" smtClean="0"/>
                  <a:t>1</a:t>
                </a:r>
                <a:r>
                  <a:rPr lang="en-US" altLang="zh-CN" sz="2200" dirty="0" smtClean="0"/>
                  <a:t>=20,z</a:t>
                </a:r>
                <a:r>
                  <a:rPr lang="en-US" altLang="zh-CN" sz="2200" baseline="-25000" dirty="0" smtClean="0"/>
                  <a:t>2</a:t>
                </a:r>
                <a:r>
                  <a:rPr lang="en-US" altLang="zh-CN" sz="2200" dirty="0" smtClean="0"/>
                  <a:t>=60,</a:t>
                </a:r>
                <a:r>
                  <a:rPr lang="zh-CN" altLang="en-US" sz="2200" dirty="0" smtClean="0"/>
                  <a:t>模数</a:t>
                </a:r>
                <a:r>
                  <a:rPr lang="en-US" altLang="zh-CN" sz="2200" dirty="0" smtClean="0"/>
                  <a:t>m=3mm</a:t>
                </a:r>
                <a:r>
                  <a:rPr lang="zh-CN" altLang="en-US" sz="2200" dirty="0" smtClean="0"/>
                  <a:t>，齿宽系数</a:t>
                </a:r>
                <a:r>
                  <a:rPr lang="en-US" altLang="zh-CN" sz="2200" dirty="0" err="1" smtClean="0"/>
                  <a:t>φ</a:t>
                </a:r>
                <a:r>
                  <a:rPr lang="en-US" altLang="zh-CN" sz="2200" baseline="-25000" dirty="0" err="1" smtClean="0"/>
                  <a:t>d</a:t>
                </a:r>
                <a:r>
                  <a:rPr lang="en-US" altLang="zh-CN" sz="2200" dirty="0" smtClean="0"/>
                  <a:t>=1,</a:t>
                </a:r>
                <a:r>
                  <a:rPr lang="zh-CN" altLang="en-US" sz="2200" dirty="0" smtClean="0"/>
                  <a:t>小齿轮转速</a:t>
                </a:r>
                <a:r>
                  <a:rPr lang="en-US" altLang="zh-CN" sz="2200" dirty="0" smtClean="0"/>
                  <a:t>n</a:t>
                </a:r>
                <a:r>
                  <a:rPr lang="en-US" altLang="zh-CN" sz="2200" baseline="-25000" dirty="0" smtClean="0"/>
                  <a:t>1</a:t>
                </a:r>
                <a:r>
                  <a:rPr lang="en-US" altLang="zh-CN" sz="2200" dirty="0" smtClean="0"/>
                  <a:t>=750r/min</a:t>
                </a:r>
                <a:r>
                  <a:rPr lang="zh-CN" altLang="en-US" sz="2200" dirty="0" smtClean="0"/>
                  <a:t>。若主、从动轮的许用应力</a:t>
                </a:r>
                <a:r>
                  <a:rPr lang="en-US" altLang="zh-CN" sz="2200" dirty="0" smtClean="0"/>
                  <a:t>[</a:t>
                </a:r>
                <a:r>
                  <a:rPr lang="en-US" altLang="zh-CN" sz="2200" dirty="0" err="1" smtClean="0"/>
                  <a:t>σ</a:t>
                </a:r>
                <a:r>
                  <a:rPr lang="en-US" altLang="zh-CN" sz="2200" baseline="-25000" dirty="0" err="1" smtClean="0"/>
                  <a:t>H</a:t>
                </a:r>
                <a:r>
                  <a:rPr lang="en-US" altLang="zh-CN" sz="2200" dirty="0" smtClean="0"/>
                  <a:t>]</a:t>
                </a:r>
                <a:r>
                  <a:rPr lang="en-US" altLang="zh-CN" sz="2200" baseline="-25000" dirty="0" smtClean="0"/>
                  <a:t>1</a:t>
                </a:r>
                <a:r>
                  <a:rPr lang="en-US" altLang="zh-CN" sz="2200" dirty="0" smtClean="0"/>
                  <a:t>=700MPa</a:t>
                </a:r>
                <a:r>
                  <a:rPr lang="zh-CN" altLang="en-US" sz="2200" dirty="0" smtClean="0"/>
                  <a:t>，</a:t>
                </a:r>
                <a:r>
                  <a:rPr lang="en-US" altLang="zh-CN" sz="2200" dirty="0"/>
                  <a:t>[</a:t>
                </a:r>
                <a:r>
                  <a:rPr lang="en-US" altLang="zh-CN" sz="2200" dirty="0" err="1" smtClean="0"/>
                  <a:t>σ</a:t>
                </a:r>
                <a:r>
                  <a:rPr lang="en-US" altLang="zh-CN" sz="2200" baseline="-25000" dirty="0" err="1" smtClean="0"/>
                  <a:t>H</a:t>
                </a:r>
                <a:r>
                  <a:rPr lang="en-US" altLang="zh-CN" sz="2200" dirty="0" smtClean="0"/>
                  <a:t>]</a:t>
                </a:r>
                <a:r>
                  <a:rPr lang="en-US" altLang="zh-CN" sz="2200" baseline="-25000" dirty="0" smtClean="0"/>
                  <a:t>2</a:t>
                </a:r>
                <a:r>
                  <a:rPr lang="en-US" altLang="zh-CN" sz="2200" dirty="0" smtClean="0"/>
                  <a:t>=650MPa</a:t>
                </a:r>
                <a:r>
                  <a:rPr lang="zh-CN" altLang="en-US" sz="2200" dirty="0" smtClean="0"/>
                  <a:t>；载荷系数</a:t>
                </a:r>
                <a:r>
                  <a:rPr lang="en-US" altLang="zh-CN" sz="2200" dirty="0" smtClean="0"/>
                  <a:t>K=1.6</a:t>
                </a:r>
                <a:r>
                  <a:rPr lang="zh-CN" altLang="en-US" sz="2200" dirty="0" smtClean="0"/>
                  <a:t>；节点区域系数</a:t>
                </a:r>
                <a:r>
                  <a:rPr lang="en-US" altLang="zh-CN" sz="2200" dirty="0" smtClean="0"/>
                  <a:t>Z</a:t>
                </a:r>
                <a:r>
                  <a:rPr lang="en-US" altLang="zh-CN" sz="2200" baseline="-25000" dirty="0" smtClean="0"/>
                  <a:t>H</a:t>
                </a:r>
                <a:r>
                  <a:rPr lang="en-US" altLang="zh-CN" sz="2200" dirty="0" smtClean="0"/>
                  <a:t>=2.5</a:t>
                </a:r>
                <a:r>
                  <a:rPr lang="zh-CN" altLang="en-US" sz="2200" dirty="0" smtClean="0"/>
                  <a:t>，弹性系数</a:t>
                </a:r>
                <a:r>
                  <a:rPr lang="en-US" altLang="zh-CN" sz="2200" dirty="0" smtClean="0"/>
                  <a:t>Z</a:t>
                </a:r>
                <a:r>
                  <a:rPr lang="en-US" altLang="zh-CN" sz="2200" baseline="-25000" dirty="0" smtClean="0"/>
                  <a:t>E</a:t>
                </a:r>
                <a:r>
                  <a:rPr lang="en-US" altLang="zh-CN" sz="2200" dirty="0" smtClean="0"/>
                  <a:t>=189.8</a:t>
                </a:r>
                <a14:m>
                  <m:oMath xmlns:m="http://schemas.openxmlformats.org/officeDocument/2006/math">
                    <m:rad>
                      <m:radPr>
                        <m:degHide m:val="on"/>
                        <m:ctrlPr>
                          <a:rPr lang="en-US" altLang="zh-CN" sz="2200" i="1" smtClean="0">
                            <a:latin typeface="Cambria Math" panose="02040503050406030204" pitchFamily="18" charset="0"/>
                          </a:rPr>
                        </m:ctrlPr>
                      </m:radPr>
                      <m:deg/>
                      <m:e>
                        <m:r>
                          <a:rPr lang="en-US" altLang="zh-CN" sz="2200" b="0" i="1" smtClean="0">
                            <a:latin typeface="Cambria Math" panose="02040503050406030204" pitchFamily="18" charset="0"/>
                          </a:rPr>
                          <m:t>𝑀𝑃𝑎</m:t>
                        </m:r>
                      </m:e>
                    </m:rad>
                  </m:oMath>
                </a14:m>
                <a:r>
                  <a:rPr lang="zh-CN" altLang="en-US" sz="2200" dirty="0" smtClean="0"/>
                  <a:t>，重合度系数</a:t>
                </a:r>
                <a14:m>
                  <m:oMath xmlns:m="http://schemas.openxmlformats.org/officeDocument/2006/math">
                    <m:sSub>
                      <m:sSubPr>
                        <m:ctrlPr>
                          <a:rPr lang="en-US" altLang="zh-CN" sz="2200" i="1" smtClean="0">
                            <a:latin typeface="Cambria Math" panose="02040503050406030204" pitchFamily="18" charset="0"/>
                          </a:rPr>
                        </m:ctrlPr>
                      </m:sSubPr>
                      <m:e>
                        <m:r>
                          <m:rPr>
                            <m:sty m:val="p"/>
                          </m:rPr>
                          <a:rPr lang="en-US" altLang="zh-CN" sz="2200" i="1">
                            <a:latin typeface="Cambria Math" panose="02040503050406030204" pitchFamily="18" charset="0"/>
                          </a:rPr>
                          <m:t>Z</m:t>
                        </m:r>
                      </m:e>
                      <m:sub>
                        <m:r>
                          <a:rPr lang="zh-CN" altLang="en-US" sz="2200" i="1" smtClean="0">
                            <a:latin typeface="Cambria Math" panose="02040503050406030204" pitchFamily="18" charset="0"/>
                          </a:rPr>
                          <m:t>𝜀</m:t>
                        </m:r>
                      </m:sub>
                    </m:sSub>
                    <m:r>
                      <a:rPr lang="en-US" altLang="zh-CN" sz="2200" i="1">
                        <a:latin typeface="Cambria Math" panose="02040503050406030204" pitchFamily="18" charset="0"/>
                      </a:rPr>
                      <m:t>=</m:t>
                    </m:r>
                  </m:oMath>
                </a14:m>
                <a:r>
                  <a:rPr lang="en-US" altLang="zh-CN" sz="2200" dirty="0" smtClean="0"/>
                  <a:t>0.9,</a:t>
                </a:r>
                <a:r>
                  <a:rPr lang="zh-CN" altLang="en-US" sz="2200" dirty="0" smtClean="0"/>
                  <a:t>。试按接触疲劳强度，求该齿轮传动所能传递的功率。</a:t>
                </a:r>
                <a:endParaRPr lang="zh-CN" altLang="en-US" sz="2200" dirty="0"/>
              </a:p>
            </p:txBody>
          </p:sp>
        </mc:Choice>
        <mc:Fallback>
          <p:sp>
            <p:nvSpPr>
              <p:cNvPr id="2" name="文本框 1"/>
              <p:cNvSpPr txBox="1">
                <a:spLocks noRot="1" noChangeAspect="1" noMove="1" noResize="1" noEditPoints="1" noAdjustHandles="1" noChangeArrowheads="1" noChangeShapeType="1" noTextEdit="1"/>
              </p:cNvSpPr>
              <p:nvPr/>
            </p:nvSpPr>
            <p:spPr>
              <a:xfrm>
                <a:off x="323528" y="404664"/>
                <a:ext cx="8352928" cy="2677784"/>
              </a:xfrm>
              <a:prstGeom prst="rect">
                <a:avLst/>
              </a:prstGeom>
              <a:blipFill rotWithShape="1">
                <a:blip r:embed="rId1"/>
                <a:stretch>
                  <a:fillRect l="-80" t="-243" r="-71" b="-231"/>
                </a:stretch>
              </a:blipFill>
              <a:ln w="12700">
                <a:solidFill>
                  <a:srgbClr val="00B0F0"/>
                </a:solidFill>
              </a:ln>
            </p:spPr>
            <p:txBody>
              <a:bodyPr/>
              <a:lstStyle/>
              <a:p>
                <a:r>
                  <a:rPr lang="zh-CN" altLang="en-US">
                    <a:noFill/>
                  </a:rPr>
                  <a:t> </a:t>
                </a:r>
              </a:p>
            </p:txBody>
          </p:sp>
        </mc:Fallback>
      </mc:AlternateContent>
      <p:sp>
        <p:nvSpPr>
          <p:cNvPr id="3" name="文本框 2"/>
          <p:cNvSpPr txBox="1"/>
          <p:nvPr/>
        </p:nvSpPr>
        <p:spPr>
          <a:xfrm>
            <a:off x="611560" y="3284984"/>
            <a:ext cx="2304256" cy="461665"/>
          </a:xfrm>
          <a:prstGeom prst="rect">
            <a:avLst/>
          </a:prstGeom>
          <a:noFill/>
        </p:spPr>
        <p:txBody>
          <a:bodyPr wrap="square" rtlCol="0">
            <a:spAutoFit/>
          </a:bodyPr>
          <a:lstStyle/>
          <a:p>
            <a:r>
              <a:rPr lang="zh-CN" altLang="en-US" sz="2400" b="1" dirty="0" smtClean="0">
                <a:solidFill>
                  <a:srgbClr val="C00000"/>
                </a:solidFill>
              </a:rPr>
              <a:t>解：</a:t>
            </a:r>
            <a:endParaRPr lang="zh-CN" altLang="en-US" sz="2400" b="1" dirty="0">
              <a:solidFill>
                <a:srgbClr val="C00000"/>
              </a:solidFill>
            </a:endParaRPr>
          </a:p>
        </p:txBody>
      </p:sp>
      <p:sp>
        <p:nvSpPr>
          <p:cNvPr id="4" name="矩形 3"/>
          <p:cNvSpPr/>
          <p:nvPr/>
        </p:nvSpPr>
        <p:spPr>
          <a:xfrm>
            <a:off x="1331640" y="3501008"/>
            <a:ext cx="3853940" cy="600164"/>
          </a:xfrm>
          <a:prstGeom prst="rect">
            <a:avLst/>
          </a:prstGeom>
        </p:spPr>
        <p:txBody>
          <a:bodyPr wrap="none">
            <a:spAutoFit/>
          </a:bodyPr>
          <a:lstStyle/>
          <a:p>
            <a:pPr eaLnBrk="1" hangingPunct="1">
              <a:lnSpc>
                <a:spcPct val="150000"/>
              </a:lnSpc>
            </a:pPr>
            <a:r>
              <a:rPr lang="zh-CN" altLang="en-US" sz="2200" dirty="0" smtClean="0">
                <a:solidFill>
                  <a:srgbClr val="000099"/>
                </a:solidFill>
                <a:latin typeface="黑体" panose="02010609060101010101" pitchFamily="49" charset="-122"/>
                <a:ea typeface="黑体" panose="02010609060101010101" pitchFamily="49" charset="-122"/>
              </a:rPr>
              <a:t>齿数比 </a:t>
            </a:r>
            <a:r>
              <a:rPr lang="zh-CN" altLang="en-US" sz="2200" dirty="0" smtClean="0">
                <a:solidFill>
                  <a:srgbClr val="000099"/>
                </a:solidFill>
              </a:rPr>
              <a:t>    </a:t>
            </a:r>
            <a:r>
              <a:rPr lang="en-US" altLang="zh-CN" sz="2200" i="1" dirty="0" smtClean="0">
                <a:solidFill>
                  <a:srgbClr val="000099"/>
                </a:solidFill>
              </a:rPr>
              <a:t>u</a:t>
            </a:r>
            <a:r>
              <a:rPr lang="en-US" altLang="zh-CN" sz="2200" dirty="0" smtClean="0">
                <a:solidFill>
                  <a:srgbClr val="000099"/>
                </a:solidFill>
              </a:rPr>
              <a:t>=</a:t>
            </a:r>
            <a:r>
              <a:rPr lang="en-US" altLang="zh-CN" sz="2200" i="1" dirty="0" smtClean="0">
                <a:solidFill>
                  <a:srgbClr val="000099"/>
                </a:solidFill>
              </a:rPr>
              <a:t>z</a:t>
            </a:r>
            <a:r>
              <a:rPr lang="en-US" altLang="zh-CN" sz="2200" baseline="-25000" dirty="0" smtClean="0">
                <a:solidFill>
                  <a:srgbClr val="000099"/>
                </a:solidFill>
              </a:rPr>
              <a:t>2</a:t>
            </a:r>
            <a:r>
              <a:rPr lang="en-US" altLang="zh-CN" sz="2200" dirty="0" smtClean="0">
                <a:solidFill>
                  <a:srgbClr val="000099"/>
                </a:solidFill>
              </a:rPr>
              <a:t>/</a:t>
            </a:r>
            <a:r>
              <a:rPr lang="en-US" altLang="zh-CN" sz="2200" i="1" dirty="0" smtClean="0">
                <a:solidFill>
                  <a:srgbClr val="000099"/>
                </a:solidFill>
              </a:rPr>
              <a:t>z</a:t>
            </a:r>
            <a:r>
              <a:rPr lang="en-US" altLang="zh-CN" sz="2200" baseline="-25000" dirty="0" smtClean="0">
                <a:solidFill>
                  <a:srgbClr val="000099"/>
                </a:solidFill>
              </a:rPr>
              <a:t>1</a:t>
            </a:r>
            <a:r>
              <a:rPr lang="en-US" altLang="zh-CN" sz="2200" dirty="0" smtClean="0">
                <a:solidFill>
                  <a:srgbClr val="000099"/>
                </a:solidFill>
              </a:rPr>
              <a:t>=60/20=3</a:t>
            </a:r>
            <a:r>
              <a:rPr lang="zh-CN" altLang="en-US" sz="2200" dirty="0" smtClean="0">
                <a:solidFill>
                  <a:srgbClr val="000099"/>
                </a:solidFill>
              </a:rPr>
              <a:t>；</a:t>
            </a:r>
            <a:endParaRPr lang="en-US" altLang="zh-CN" sz="2200" dirty="0">
              <a:solidFill>
                <a:srgbClr val="000099"/>
              </a:solidFill>
            </a:endParaRPr>
          </a:p>
        </p:txBody>
      </p:sp>
      <p:sp>
        <p:nvSpPr>
          <p:cNvPr id="5" name="文本框 4"/>
          <p:cNvSpPr txBox="1"/>
          <p:nvPr/>
        </p:nvSpPr>
        <p:spPr>
          <a:xfrm>
            <a:off x="1187624" y="4149080"/>
            <a:ext cx="6768752" cy="430887"/>
          </a:xfrm>
          <a:prstGeom prst="rect">
            <a:avLst/>
          </a:prstGeom>
          <a:noFill/>
        </p:spPr>
        <p:txBody>
          <a:bodyPr wrap="square" rtlCol="0">
            <a:spAutoFit/>
          </a:bodyPr>
          <a:lstStyle/>
          <a:p>
            <a:r>
              <a:rPr lang="zh-CN" altLang="en-US" sz="2200" dirty="0" smtClean="0">
                <a:latin typeface="黑体" panose="02010609060101010101" pitchFamily="49" charset="-122"/>
                <a:ea typeface="黑体" panose="02010609060101010101" pitchFamily="49" charset="-122"/>
              </a:rPr>
              <a:t>小齿轮分度圆直径   </a:t>
            </a:r>
            <a:r>
              <a:rPr lang="en-US" altLang="zh-CN" sz="2200" dirty="0" smtClean="0"/>
              <a:t>d</a:t>
            </a:r>
            <a:r>
              <a:rPr lang="en-US" altLang="zh-CN" sz="2200" baseline="-25000" dirty="0" smtClean="0"/>
              <a:t>1</a:t>
            </a:r>
            <a:r>
              <a:rPr lang="en-US" altLang="zh-CN" sz="2200" dirty="0" smtClean="0"/>
              <a:t>=mz</a:t>
            </a:r>
            <a:r>
              <a:rPr lang="en-US" altLang="zh-CN" sz="2200" baseline="-25000" dirty="0" smtClean="0"/>
              <a:t>1</a:t>
            </a:r>
            <a:r>
              <a:rPr lang="en-US" altLang="zh-CN" sz="2200" dirty="0" smtClean="0"/>
              <a:t>=3×20=60mm</a:t>
            </a:r>
            <a:endParaRPr lang="zh-CN" altLang="en-US" sz="2200" dirty="0"/>
          </a:p>
        </p:txBody>
      </p:sp>
      <p:sp>
        <p:nvSpPr>
          <p:cNvPr id="6" name="文本框 5"/>
          <p:cNvSpPr txBox="1"/>
          <p:nvPr/>
        </p:nvSpPr>
        <p:spPr>
          <a:xfrm>
            <a:off x="1115616" y="4725144"/>
            <a:ext cx="6768752" cy="430887"/>
          </a:xfrm>
          <a:prstGeom prst="rect">
            <a:avLst/>
          </a:prstGeom>
          <a:noFill/>
        </p:spPr>
        <p:txBody>
          <a:bodyPr wrap="square" rtlCol="0">
            <a:spAutoFit/>
          </a:bodyPr>
          <a:lstStyle/>
          <a:p>
            <a:r>
              <a:rPr lang="zh-CN" altLang="en-US" sz="2200" dirty="0" smtClean="0">
                <a:latin typeface="黑体" panose="02010609060101010101" pitchFamily="49" charset="-122"/>
                <a:ea typeface="黑体" panose="02010609060101010101" pitchFamily="49" charset="-122"/>
              </a:rPr>
              <a:t>小齿轮的齿宽   </a:t>
            </a:r>
            <a:r>
              <a:rPr lang="en-US" altLang="zh-CN" sz="2200" dirty="0" smtClean="0"/>
              <a:t>b=φ</a:t>
            </a:r>
            <a:r>
              <a:rPr lang="en-US" altLang="zh-CN" sz="2200" baseline="-25000" dirty="0" smtClean="0"/>
              <a:t>d</a:t>
            </a:r>
            <a:r>
              <a:rPr lang="en-US" altLang="zh-CN" sz="2200" dirty="0" smtClean="0"/>
              <a:t>d</a:t>
            </a:r>
            <a:r>
              <a:rPr lang="en-US" altLang="zh-CN" sz="2200" baseline="-25000" dirty="0" smtClean="0"/>
              <a:t>1</a:t>
            </a:r>
            <a:r>
              <a:rPr lang="en-US" altLang="zh-CN" sz="2200" dirty="0" smtClean="0"/>
              <a:t>=1×60=60mm</a:t>
            </a:r>
            <a:endParaRPr lang="zh-CN" altLang="en-US" sz="2200" dirty="0"/>
          </a:p>
        </p:txBody>
      </p:sp>
      <p:grpSp>
        <p:nvGrpSpPr>
          <p:cNvPr id="7" name="Group 35"/>
          <p:cNvGrpSpPr/>
          <p:nvPr/>
        </p:nvGrpSpPr>
        <p:grpSpPr bwMode="auto">
          <a:xfrm>
            <a:off x="755576" y="5661119"/>
            <a:ext cx="7246938" cy="877887"/>
            <a:chOff x="308" y="2299"/>
            <a:chExt cx="4565" cy="553"/>
          </a:xfrm>
        </p:grpSpPr>
        <p:sp>
          <p:nvSpPr>
            <p:cNvPr id="8" name="Text Box 12"/>
            <p:cNvSpPr txBox="1">
              <a:spLocks noChangeArrowheads="1"/>
            </p:cNvSpPr>
            <p:nvPr/>
          </p:nvSpPr>
          <p:spPr bwMode="auto">
            <a:xfrm>
              <a:off x="308" y="2405"/>
              <a:ext cx="2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Times New Roman" panose="02020603050405020304" pitchFamily="18" charset="0"/>
                  <a:ea typeface="华文中宋" panose="02010600040101010101" pitchFamily="2" charset="-122"/>
                </a:defRPr>
              </a:lvl1pPr>
              <a:lvl2pPr marL="742950" indent="-285750" eaLnBrk="0" hangingPunct="0">
                <a:defRPr kumimoji="1" sz="2000">
                  <a:solidFill>
                    <a:schemeClr val="tx1"/>
                  </a:solidFill>
                  <a:latin typeface="Times New Roman" panose="02020603050405020304" pitchFamily="18" charset="0"/>
                  <a:ea typeface="华文中宋" panose="02010600040101010101" pitchFamily="2" charset="-122"/>
                </a:defRPr>
              </a:lvl2pPr>
              <a:lvl3pPr marL="1143000" indent="-228600" eaLnBrk="0" hangingPunct="0">
                <a:defRPr kumimoji="1" sz="2000">
                  <a:solidFill>
                    <a:schemeClr val="tx1"/>
                  </a:solidFill>
                  <a:latin typeface="Times New Roman" panose="02020603050405020304" pitchFamily="18" charset="0"/>
                  <a:ea typeface="华文中宋" panose="02010600040101010101" pitchFamily="2" charset="-122"/>
                </a:defRPr>
              </a:lvl3pPr>
              <a:lvl4pPr marL="1600200" indent="-228600" eaLnBrk="0" hangingPunct="0">
                <a:defRPr kumimoji="1" sz="2000">
                  <a:solidFill>
                    <a:schemeClr val="tx1"/>
                  </a:solidFill>
                  <a:latin typeface="Times New Roman" panose="02020603050405020304" pitchFamily="18" charset="0"/>
                  <a:ea typeface="华文中宋" panose="02010600040101010101" pitchFamily="2" charset="-122"/>
                </a:defRPr>
              </a:lvl4pPr>
              <a:lvl5pPr marL="2057400" indent="-228600" eaLnBrk="0" hangingPunct="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dirty="0">
                  <a:solidFill>
                    <a:srgbClr val="000099"/>
                  </a:solidFill>
                </a:rPr>
                <a:t>按</a:t>
              </a:r>
              <a:r>
                <a:rPr lang="zh-CN" altLang="en-US" dirty="0" smtClean="0">
                  <a:solidFill>
                    <a:srgbClr val="000099"/>
                  </a:solidFill>
                </a:rPr>
                <a:t>齿面</a:t>
              </a:r>
              <a:r>
                <a:rPr lang="zh-CN" altLang="en-US" dirty="0">
                  <a:solidFill>
                    <a:srgbClr val="000099"/>
                  </a:solidFill>
                </a:rPr>
                <a:t>接触疲劳强度</a:t>
              </a:r>
              <a:r>
                <a:rPr lang="zh-CN" altLang="en-US" dirty="0" smtClean="0">
                  <a:solidFill>
                    <a:srgbClr val="000099"/>
                  </a:solidFill>
                </a:rPr>
                <a:t>的</a:t>
              </a:r>
              <a:r>
                <a:rPr lang="zh-CN" altLang="en-US" dirty="0" smtClean="0">
                  <a:solidFill>
                    <a:srgbClr val="000099"/>
                  </a:solidFill>
                </a:rPr>
                <a:t>条件： </a:t>
              </a:r>
              <a:endParaRPr lang="zh-CN" altLang="en-US" dirty="0">
                <a:solidFill>
                  <a:srgbClr val="000099"/>
                </a:solidFill>
              </a:endParaRPr>
            </a:p>
          </p:txBody>
        </p:sp>
        <p:graphicFrame>
          <p:nvGraphicFramePr>
            <p:cNvPr id="9" name="Object 13"/>
            <p:cNvGraphicFramePr>
              <a:graphicFrameLocks noChangeAspect="1"/>
            </p:cNvGraphicFramePr>
            <p:nvPr/>
          </p:nvGraphicFramePr>
          <p:xfrm>
            <a:off x="2457" y="2299"/>
            <a:ext cx="2416" cy="553"/>
          </p:xfrm>
          <a:graphic>
            <a:graphicData uri="http://schemas.openxmlformats.org/presentationml/2006/ole">
              <mc:AlternateContent xmlns:mc="http://schemas.openxmlformats.org/markup-compatibility/2006">
                <mc:Choice xmlns:v="urn:schemas-microsoft-com:vml" Requires="v">
                  <p:oleObj spid="_x0000_s1030" name="公式" r:id="rId2" imgW="1932940" imgH="440055" progId="Equation.3">
                    <p:embed/>
                  </p:oleObj>
                </mc:Choice>
                <mc:Fallback>
                  <p:oleObj name="公式" r:id="rId2" imgW="1932940" imgH="440055" progId="Equation.3">
                    <p:embed/>
                    <p:pic>
                      <p:nvPicPr>
                        <p:cNvPr id="0" name="图片 1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 y="2299"/>
                          <a:ext cx="2416" cy="553"/>
                        </a:xfrm>
                        <a:prstGeom prst="rect">
                          <a:avLst/>
                        </a:prstGeom>
                        <a:solidFill>
                          <a:srgbClr val="FFFF00"/>
                        </a:solidFill>
                      </p:spPr>
                    </p:pic>
                  </p:oleObj>
                </mc:Fallback>
              </mc:AlternateContent>
            </a:graphicData>
          </a:graphic>
        </p:graphicFrame>
      </p:grpSp>
      <p:sp>
        <p:nvSpPr>
          <p:cNvPr id="10" name="矩形 9"/>
          <p:cNvSpPr/>
          <p:nvPr/>
        </p:nvSpPr>
        <p:spPr>
          <a:xfrm>
            <a:off x="1043355" y="5229453"/>
            <a:ext cx="3336170" cy="369332"/>
          </a:xfrm>
          <a:prstGeom prst="rect">
            <a:avLst/>
          </a:prstGeom>
        </p:spPr>
        <p:txBody>
          <a:bodyPr wrap="none">
            <a:spAutoFit/>
          </a:bodyPr>
          <a:lstStyle/>
          <a:p>
            <a:r>
              <a:rPr lang="en-US" altLang="zh-CN" dirty="0"/>
              <a:t>[</a:t>
            </a:r>
            <a:r>
              <a:rPr lang="en-US" altLang="zh-CN" dirty="0" err="1" smtClean="0"/>
              <a:t>σ</a:t>
            </a:r>
            <a:r>
              <a:rPr lang="en-US" altLang="zh-CN" baseline="-25000" dirty="0" err="1" smtClean="0"/>
              <a:t>H</a:t>
            </a:r>
            <a:r>
              <a:rPr lang="en-US" altLang="zh-CN" dirty="0" smtClean="0"/>
              <a:t>]</a:t>
            </a:r>
            <a:r>
              <a:rPr lang="en-US" altLang="zh-CN" baseline="-25000" dirty="0" smtClean="0"/>
              <a:t>1</a:t>
            </a:r>
            <a:r>
              <a:rPr lang="en-US" altLang="zh-CN" dirty="0" smtClean="0"/>
              <a:t>=700MPa&gt;[</a:t>
            </a:r>
            <a:r>
              <a:rPr lang="en-US" altLang="zh-CN" dirty="0" err="1"/>
              <a:t>σ</a:t>
            </a:r>
            <a:r>
              <a:rPr lang="en-US" altLang="zh-CN" baseline="-25000" dirty="0" err="1"/>
              <a:t>H</a:t>
            </a:r>
            <a:r>
              <a:rPr lang="en-US" altLang="zh-CN" dirty="0"/>
              <a:t>]</a:t>
            </a:r>
            <a:r>
              <a:rPr lang="en-US" altLang="zh-CN" baseline="-25000" dirty="0"/>
              <a:t>2</a:t>
            </a:r>
            <a:r>
              <a:rPr lang="en-US" altLang="zh-CN" dirty="0"/>
              <a:t>=650MPa</a:t>
            </a:r>
            <a:endParaRPr lang="zh-CN" altLang="en-US" dirty="0"/>
          </a:p>
        </p:txBody>
      </p:sp>
      <p:sp>
        <p:nvSpPr>
          <p:cNvPr id="11" name="文本框 10"/>
          <p:cNvSpPr txBox="1"/>
          <p:nvPr/>
        </p:nvSpPr>
        <p:spPr>
          <a:xfrm>
            <a:off x="4356229" y="5156810"/>
            <a:ext cx="4283968" cy="430887"/>
          </a:xfrm>
          <a:prstGeom prst="rect">
            <a:avLst/>
          </a:prstGeom>
          <a:noFill/>
        </p:spPr>
        <p:txBody>
          <a:bodyPr wrap="square" rtlCol="0">
            <a:spAutoFit/>
          </a:bodyPr>
          <a:lstStyle/>
          <a:p>
            <a:r>
              <a:rPr lang="zh-CN" altLang="en-US" sz="2200" dirty="0" smtClean="0"/>
              <a:t>按大齿轮的许用接触应力计算</a:t>
            </a:r>
            <a:endParaRPr lang="zh-CN" altLang="en-US" sz="2200" dirty="0"/>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3"/>
          <p:cNvGraphicFramePr>
            <a:graphicFrameLocks noChangeAspect="1"/>
          </p:cNvGraphicFramePr>
          <p:nvPr/>
        </p:nvGraphicFramePr>
        <p:xfrm>
          <a:off x="1043608" y="620688"/>
          <a:ext cx="5667375" cy="2282825"/>
        </p:xfrm>
        <a:graphic>
          <a:graphicData uri="http://schemas.openxmlformats.org/presentationml/2006/ole">
            <mc:AlternateContent xmlns:mc="http://schemas.openxmlformats.org/markup-compatibility/2006">
              <mc:Choice xmlns:v="urn:schemas-microsoft-com:vml" Requires="v">
                <p:oleObj spid="_x0000_s2054" name="公式" r:id="rId1" imgW="68580000" imgH="27432000" progId="Equation.3">
                  <p:embed/>
                </p:oleObj>
              </mc:Choice>
              <mc:Fallback>
                <p:oleObj name="公式" r:id="rId1" imgW="68580000" imgH="27432000" progId="Equation.3">
                  <p:embed/>
                  <p:pic>
                    <p:nvPicPr>
                      <p:cNvPr id="0" name="图片 2053"/>
                      <p:cNvPicPr>
                        <a:picLocks noChangeAspect="1" noChangeArrowheads="1"/>
                      </p:cNvPicPr>
                      <p:nvPr/>
                    </p:nvPicPr>
                    <p:blipFill>
                      <a:blip r:embed="rId2"/>
                      <a:srcRect/>
                      <a:stretch>
                        <a:fillRect/>
                      </a:stretch>
                    </p:blipFill>
                    <p:spPr bwMode="auto">
                      <a:xfrm>
                        <a:off x="1043608" y="620688"/>
                        <a:ext cx="5667375" cy="2282825"/>
                      </a:xfrm>
                      <a:prstGeom prst="rect">
                        <a:avLst/>
                      </a:prstGeom>
                      <a:solidFill>
                        <a:srgbClr val="FFFF00"/>
                      </a:solidFill>
                    </p:spPr>
                  </p:pic>
                </p:oleObj>
              </mc:Fallback>
            </mc:AlternateContent>
          </a:graphicData>
        </a:graphic>
      </p:graphicFrame>
      <p:sp>
        <p:nvSpPr>
          <p:cNvPr id="3" name="文本框 2"/>
          <p:cNvSpPr txBox="1"/>
          <p:nvPr/>
        </p:nvSpPr>
        <p:spPr>
          <a:xfrm>
            <a:off x="755576" y="3212976"/>
            <a:ext cx="3672408" cy="430887"/>
          </a:xfrm>
          <a:prstGeom prst="rect">
            <a:avLst/>
          </a:prstGeom>
          <a:noFill/>
        </p:spPr>
        <p:txBody>
          <a:bodyPr wrap="square" rtlCol="0">
            <a:spAutoFit/>
          </a:bodyPr>
          <a:lstStyle/>
          <a:p>
            <a:r>
              <a:rPr lang="zh-CN" altLang="en-US" sz="2200" dirty="0" smtClean="0">
                <a:latin typeface="黑体" panose="02010609060101010101" pitchFamily="49" charset="-122"/>
                <a:ea typeface="黑体" panose="02010609060101010101" pitchFamily="49" charset="-122"/>
              </a:rPr>
              <a:t>该齿轮传动能传递的功率：</a:t>
            </a:r>
            <a:endParaRPr lang="zh-CN" altLang="en-US" sz="2200"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4" name="文本框 3"/>
              <p:cNvSpPr txBox="1"/>
              <p:nvPr/>
            </p:nvSpPr>
            <p:spPr>
              <a:xfrm>
                <a:off x="1187624" y="3789293"/>
                <a:ext cx="5976664" cy="709938"/>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𝑃</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𝑇</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𝑛</m:t>
                              </m:r>
                            </m:e>
                            <m:sub>
                              <m:r>
                                <a:rPr lang="en-US" altLang="zh-CN" sz="2000" b="0" i="1" smtClean="0">
                                  <a:latin typeface="Cambria Math" panose="02040503050406030204" pitchFamily="18" charset="0"/>
                                </a:rPr>
                                <m:t>1</m:t>
                              </m:r>
                            </m:sub>
                          </m:sSub>
                        </m:num>
                        <m:den>
                          <m:r>
                            <a:rPr lang="en-US" altLang="zh-CN" sz="2000" b="0" i="1" smtClean="0">
                              <a:latin typeface="Cambria Math" panose="02040503050406030204" pitchFamily="18" charset="0"/>
                            </a:rPr>
                            <m:t>9</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55</m:t>
                          </m:r>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10</m:t>
                              </m:r>
                            </m:e>
                            <m:sup>
                              <m:r>
                                <a:rPr lang="en-US" altLang="zh-CN" sz="2000" b="0" i="1" smtClean="0">
                                  <a:latin typeface="Cambria Math" panose="02040503050406030204" pitchFamily="18" charset="0"/>
                                  <a:ea typeface="Cambria Math" panose="02040503050406030204" pitchFamily="18" charset="0"/>
                                </a:rPr>
                                <m:t>6</m:t>
                              </m:r>
                            </m:sup>
                          </m:sSup>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95</m:t>
                          </m:r>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10</m:t>
                              </m:r>
                            </m:e>
                            <m:sup>
                              <m:r>
                                <a:rPr lang="en-US" altLang="zh-CN" sz="2000" b="0" i="1" smtClean="0">
                                  <a:latin typeface="Cambria Math" panose="02040503050406030204" pitchFamily="18" charset="0"/>
                                  <a:ea typeface="Cambria Math" panose="02040503050406030204" pitchFamily="18" charset="0"/>
                                </a:rPr>
                                <m:t>3</m:t>
                              </m:r>
                            </m:sup>
                          </m:sSup>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750</m:t>
                          </m:r>
                        </m:num>
                        <m:den>
                          <m:r>
                            <a:rPr lang="en-US" altLang="zh-CN" sz="2000" i="1">
                              <a:latin typeface="Cambria Math" panose="02040503050406030204" pitchFamily="18" charset="0"/>
                            </a:rPr>
                            <m:t>9</m:t>
                          </m:r>
                          <m:r>
                            <a:rPr lang="en-US" altLang="zh-CN" sz="2000" i="1">
                              <a:latin typeface="Cambria Math" panose="02040503050406030204" pitchFamily="18" charset="0"/>
                            </a:rPr>
                            <m:t>.</m:t>
                          </m:r>
                          <m:r>
                            <a:rPr lang="en-US" altLang="zh-CN" sz="2000" i="1">
                              <a:latin typeface="Cambria Math" panose="02040503050406030204" pitchFamily="18" charset="0"/>
                            </a:rPr>
                            <m:t>55</m:t>
                          </m:r>
                          <m:r>
                            <a:rPr lang="en-US" altLang="zh-CN" sz="2000" i="1">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10</m:t>
                              </m:r>
                            </m:e>
                            <m:sup>
                              <m:r>
                                <a:rPr lang="en-US" altLang="zh-CN" sz="2000" i="1">
                                  <a:latin typeface="Cambria Math" panose="02040503050406030204" pitchFamily="18" charset="0"/>
                                  <a:ea typeface="Cambria Math" panose="02040503050406030204" pitchFamily="18" charset="0"/>
                                </a:rPr>
                                <m:t>6</m:t>
                              </m:r>
                            </m:sup>
                          </m:sSup>
                        </m:den>
                      </m:f>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7</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46</m:t>
                      </m:r>
                      <m:r>
                        <a:rPr lang="en-US" altLang="zh-CN" sz="2000" b="0" i="1" smtClean="0">
                          <a:latin typeface="Cambria Math" panose="02040503050406030204" pitchFamily="18" charset="0"/>
                        </a:rPr>
                        <m:t>𝑘𝑊</m:t>
                      </m:r>
                    </m:oMath>
                  </m:oMathPara>
                </a14:m>
                <a:endParaRPr lang="zh-CN" altLang="en-US" sz="2000" dirty="0"/>
              </a:p>
            </p:txBody>
          </p:sp>
        </mc:Choice>
        <mc:Fallback>
          <p:sp>
            <p:nvSpPr>
              <p:cNvPr id="4" name="文本框 3"/>
              <p:cNvSpPr txBox="1">
                <a:spLocks noRot="1" noChangeAspect="1" noMove="1" noResize="1" noEditPoints="1" noAdjustHandles="1" noChangeArrowheads="1" noChangeShapeType="1" noTextEdit="1"/>
              </p:cNvSpPr>
              <p:nvPr/>
            </p:nvSpPr>
            <p:spPr>
              <a:xfrm>
                <a:off x="1187624" y="3789293"/>
                <a:ext cx="5976664" cy="709938"/>
              </a:xfrm>
              <a:prstGeom prst="rect">
                <a:avLst/>
              </a:prstGeom>
              <a:blipFill rotWithShape="1">
                <a:blip r:embed="rId3"/>
                <a:stretch>
                  <a:fillRect l="-3" t="-35" r="4" b="36"/>
                </a:stretch>
              </a:blipFill>
            </p:spPr>
            <p:txBody>
              <a:bodyPr/>
              <a:lstStyle/>
              <a:p>
                <a:r>
                  <a:rPr lang="zh-CN" altLang="en-US">
                    <a:noFill/>
                  </a:rPr>
                  <a:t> </a:t>
                </a:r>
              </a:p>
            </p:txBody>
          </p:sp>
        </mc:Fallback>
      </mc:AlternateContent>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4c014841-80b5-4943-8b3c-319f8551d9b2"/>
  <p:tag name="COMMONDATA" val="eyJoZGlkIjoiZmYwY2UxNzI0ODdjMTkzYTM2NmQ4OTdkNGYwMzJlYmM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spPr>
      <a:bodyPr vert="horz" wrap="square" lIns="91440" tIns="45720" rIns="91440" bIns="45720" numCol="1" anchor="ctr" anchorCtr="1"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spPr>
      <a:bodyPr vert="horz" wrap="square" lIns="91440" tIns="45720" rIns="91440" bIns="45720" numCol="1" anchor="ctr" anchorCtr="1"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themeOverride>
</file>

<file path=docProps/app.xml><?xml version="1.0" encoding="utf-8"?>
<Properties xmlns="http://schemas.openxmlformats.org/officeDocument/2006/extended-properties" xmlns:vt="http://schemas.openxmlformats.org/officeDocument/2006/docPropsVTypes">
  <TotalTime>0</TotalTime>
  <Words>2927</Words>
  <Application>WPS 演示</Application>
  <PresentationFormat>全屏显示(4:3)</PresentationFormat>
  <Paragraphs>120</Paragraphs>
  <Slides>9</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9</vt:i4>
      </vt:variant>
    </vt:vector>
  </HeadingPairs>
  <TitlesOfParts>
    <vt:vector size="25" baseType="lpstr">
      <vt:lpstr>Arial</vt:lpstr>
      <vt:lpstr>宋体</vt:lpstr>
      <vt:lpstr>Wingdings</vt:lpstr>
      <vt:lpstr>Tahoma</vt:lpstr>
      <vt:lpstr>Webdings</vt:lpstr>
      <vt:lpstr>黑体</vt:lpstr>
      <vt:lpstr>Symbol</vt:lpstr>
      <vt:lpstr>Times New Roman</vt:lpstr>
      <vt:lpstr>Cambria Math</vt:lpstr>
      <vt:lpstr>华文中宋</vt:lpstr>
      <vt:lpstr>微软雅黑</vt:lpstr>
      <vt:lpstr>Arial Unicode MS</vt:lpstr>
      <vt:lpstr>Calibri</vt:lpstr>
      <vt:lpstr>默认设计模板</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22725</cp:lastModifiedBy>
  <cp:revision>16</cp:revision>
  <cp:lastPrinted>2113-01-01T00:00:00Z</cp:lastPrinted>
  <dcterms:created xsi:type="dcterms:W3CDTF">2011-04-13T12:36:00Z</dcterms:created>
  <dcterms:modified xsi:type="dcterms:W3CDTF">2025-10-20T11:44:34Z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3</vt:i4>
  </property>
  <property fmtid="{D5CDD505-2E9C-101B-9397-08002B2CF9AE}" pid="3" name="KSOProductBuildVer">
    <vt:lpwstr>2052-12.1.0.22529</vt:lpwstr>
  </property>
  <property fmtid="{D5CDD505-2E9C-101B-9397-08002B2CF9AE}" pid="4" name="ICV">
    <vt:lpwstr>3969B8A2E6994866812958BCC8ADCD0C</vt:lpwstr>
  </property>
</Properties>
</file>